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4F589DF-CA1D-4F8A-8FC2-E190E73F66DF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EEC97D-496C-4673-918C-36E7ACCB164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EDCC25-CF9B-4B6F-A090-F7E7CAD11BA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F105AF-CB6D-4D9E-BDD9-323001B67025}" type="slidenum">
              <a:rPr b="0" lang="en-US" sz="1200" spc="-1" strike="noStrike">
                <a:latin typeface="Times New Roman"/>
              </a:rPr>
              <a:t>&lt;number&gt;</a:t>
            </a:fld>
            <a:r>
              <a:rPr b="0" lang="en-US" sz="1200" spc="-1" strike="noStrike">
                <a:latin typeface="Times New Roman"/>
              </a:rPr>
              <a:t>Es: 15% revenue growth demonstrates continued monetization Emphasis: 15% revenue growth demonstrates continued monetization strength. WeChat MAU milestone of 1.41 billion users.strength. WeChat MAU milestone of 1.41 billion users.mphasi</a:t>
            </a:r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41029B-B4F6-4F7B-8334-A5127DA0E54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F77BB2-5E08-4C46-994D-3B618E6D212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334B2E-FC5B-452E-96A3-1E855E3C055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B878C9-DCEE-416E-AE4C-A801F050115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D92219-5F24-4EA2-B4E6-39F80E4E314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46752F-E6D3-4676-9BF3-2438473D7FE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83A2A6-1459-48CF-9D21-E04EDEA92AA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AE666C-AB63-498A-BB52-914F1BF9A6C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91A957-D579-43DF-ADF0-6D136C159F5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87440" cy="68533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2340000" y="3431520"/>
            <a:ext cx="12187440" cy="685332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80000"/>
                </a:srgbClr>
              </a:gs>
              <a:gs pos="100000">
                <a:srgbClr val="191919">
                  <a:alpha val="6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1"/>
          <p:cNvSpPr/>
          <p:nvPr/>
        </p:nvSpPr>
        <p:spPr>
          <a:xfrm>
            <a:off x="380880" y="38088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2"/>
          <p:cNvSpPr/>
          <p:nvPr/>
        </p:nvSpPr>
        <p:spPr>
          <a:xfrm>
            <a:off x="495360" y="495360"/>
            <a:ext cx="223920" cy="22392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3"/>
          <p:cNvSpPr/>
          <p:nvPr/>
        </p:nvSpPr>
        <p:spPr>
          <a:xfrm>
            <a:off x="952560" y="514440"/>
            <a:ext cx="19861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4400" spc="18" strike="noStrike">
                <a:solidFill>
                  <a:srgbClr val="2a6099"/>
                </a:solidFill>
                <a:latin typeface="Liter"/>
                <a:ea typeface="Liter"/>
              </a:rPr>
              <a:t>INTERIM FINANCIAL REPORT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380880" y="2057400"/>
            <a:ext cx="11768400" cy="171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2a6099"/>
                </a:solidFill>
                <a:latin typeface="Liter"/>
                <a:ea typeface="Liter"/>
              </a:rPr>
              <a:t>Tencent Holdings</a:t>
            </a:r>
            <a:endParaRPr b="0" lang="en-HK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2a6099"/>
                </a:solidFill>
                <a:latin typeface="Liter"/>
                <a:ea typeface="Liter"/>
              </a:rPr>
              <a:t>Limited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380880" y="4000680"/>
            <a:ext cx="909720" cy="3348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380880" y="4267080"/>
            <a:ext cx="115398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4400" spc="-1" strike="noStrike">
                <a:solidFill>
                  <a:srgbClr val="2a6099"/>
                </a:solidFill>
                <a:latin typeface="Liter"/>
                <a:ea typeface="Liter"/>
              </a:rPr>
              <a:t>2025 Interim Report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380880" y="4800600"/>
            <a:ext cx="1151100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4400" spc="-1" strike="noStrike">
                <a:solidFill>
                  <a:srgbClr val="2a6099"/>
                </a:solidFill>
                <a:latin typeface="Liter"/>
                <a:ea typeface="Liter"/>
              </a:rPr>
              <a:t>Three and Six Months Ended 30 June 2025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09680" y="6305400"/>
            <a:ext cx="128520" cy="147600"/>
          </a:xfrm>
          <a:custGeom>
            <a:avLst/>
            <a:gdLst/>
            <a:ah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647640" y="6286680"/>
            <a:ext cx="824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4400" spc="-1" strike="noStrike">
                <a:solidFill>
                  <a:srgbClr val="2a6099"/>
                </a:solidFill>
                <a:latin typeface="Liter"/>
                <a:ea typeface="Liter"/>
              </a:rPr>
              <a:t>August 2025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757160" y="6305400"/>
            <a:ext cx="109800" cy="14760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1"/>
          <p:cNvSpPr/>
          <p:nvPr/>
        </p:nvSpPr>
        <p:spPr>
          <a:xfrm>
            <a:off x="1985760" y="6286680"/>
            <a:ext cx="7858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4400" spc="-1" strike="noStrike">
                <a:solidFill>
                  <a:srgbClr val="2a6099"/>
                </a:solidFill>
                <a:latin typeface="Liter"/>
                <a:ea typeface="Liter"/>
              </a:rPr>
              <a:t>HKEX: 0700</a:t>
            </a:r>
            <a:endParaRPr b="0" lang="en-HK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380880" y="380880"/>
            <a:ext cx="114919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18" strike="noStrike">
                <a:solidFill>
                  <a:srgbClr val="6366f1"/>
                </a:solidFill>
                <a:latin typeface="Liter"/>
                <a:ea typeface="Liter"/>
              </a:rPr>
              <a:t>PRESENTATION OVERVIEW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80880" y="647640"/>
            <a:ext cx="116539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efefef"/>
                </a:solidFill>
                <a:latin typeface="Liter"/>
                <a:ea typeface="Liter"/>
              </a:rPr>
              <a:t>Contents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385920" y="1414440"/>
            <a:ext cx="3672000" cy="179568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619200" y="164772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"/>
          <p:cNvSpPr/>
          <p:nvPr/>
        </p:nvSpPr>
        <p:spPr>
          <a:xfrm>
            <a:off x="748800" y="1743120"/>
            <a:ext cx="29052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619200" y="225756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Executive Summary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619200" y="2600280"/>
            <a:ext cx="327204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Key performance highlights and strategic achievements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4259160" y="1414440"/>
            <a:ext cx="3672000" cy="179568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8"/>
          <p:cNvSpPr/>
          <p:nvPr/>
        </p:nvSpPr>
        <p:spPr>
          <a:xfrm>
            <a:off x="4492440" y="164772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9"/>
          <p:cNvSpPr/>
          <p:nvPr/>
        </p:nvSpPr>
        <p:spPr>
          <a:xfrm>
            <a:off x="4605120" y="1743120"/>
            <a:ext cx="31932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492440" y="225756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Financial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492440" y="260028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Q2 and H1 2025 results with YoY comparisons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8132760" y="1414440"/>
            <a:ext cx="3672000" cy="179568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13"/>
          <p:cNvSpPr/>
          <p:nvPr/>
        </p:nvSpPr>
        <p:spPr>
          <a:xfrm>
            <a:off x="8366040" y="164772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4"/>
          <p:cNvSpPr/>
          <p:nvPr/>
        </p:nvSpPr>
        <p:spPr>
          <a:xfrm>
            <a:off x="8477640" y="1743120"/>
            <a:ext cx="3286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8366040" y="225756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Revenue by Segment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8366040" y="260028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Breakdown across VAS, Marketing, and FinTech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385920" y="3414600"/>
            <a:ext cx="3672000" cy="160488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18"/>
          <p:cNvSpPr/>
          <p:nvPr/>
        </p:nvSpPr>
        <p:spPr>
          <a:xfrm>
            <a:off x="619200" y="364824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19"/>
          <p:cNvSpPr/>
          <p:nvPr/>
        </p:nvSpPr>
        <p:spPr>
          <a:xfrm>
            <a:off x="730800" y="3743280"/>
            <a:ext cx="3286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04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619200" y="425772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Profitability &amp; Margins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619200" y="460044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Gross margin expansion and cost efficiency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9" name="Shape 22"/>
          <p:cNvSpPr/>
          <p:nvPr/>
        </p:nvSpPr>
        <p:spPr>
          <a:xfrm>
            <a:off x="4259160" y="3414600"/>
            <a:ext cx="3672000" cy="160488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3"/>
          <p:cNvSpPr/>
          <p:nvPr/>
        </p:nvSpPr>
        <p:spPr>
          <a:xfrm>
            <a:off x="4492440" y="364824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4"/>
          <p:cNvSpPr/>
          <p:nvPr/>
        </p:nvSpPr>
        <p:spPr>
          <a:xfrm>
            <a:off x="4605480" y="3743280"/>
            <a:ext cx="31932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05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4492440" y="425772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Games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4492440" y="460044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Domestic and international games growth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8132760" y="3414600"/>
            <a:ext cx="3672000" cy="160488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28"/>
          <p:cNvSpPr/>
          <p:nvPr/>
        </p:nvSpPr>
        <p:spPr>
          <a:xfrm>
            <a:off x="8366040" y="364824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9"/>
          <p:cNvSpPr/>
          <p:nvPr/>
        </p:nvSpPr>
        <p:spPr>
          <a:xfrm>
            <a:off x="8476920" y="3743280"/>
            <a:ext cx="3286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06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8366040" y="425772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AI Integration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8366040" y="460044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Technology innovation across all platforms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385920" y="5224320"/>
            <a:ext cx="3672000" cy="160488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33"/>
          <p:cNvSpPr/>
          <p:nvPr/>
        </p:nvSpPr>
        <p:spPr>
          <a:xfrm>
            <a:off x="619200" y="545796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4"/>
          <p:cNvSpPr/>
          <p:nvPr/>
        </p:nvSpPr>
        <p:spPr>
          <a:xfrm>
            <a:off x="738360" y="5553000"/>
            <a:ext cx="30960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07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619200" y="606744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User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619200" y="641016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Platform engagement and subscriber data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4" name="Shape 37"/>
          <p:cNvSpPr/>
          <p:nvPr/>
        </p:nvSpPr>
        <p:spPr>
          <a:xfrm>
            <a:off x="4259160" y="5224320"/>
            <a:ext cx="3672000" cy="160488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38"/>
          <p:cNvSpPr/>
          <p:nvPr/>
        </p:nvSpPr>
        <p:spPr>
          <a:xfrm>
            <a:off x="4492440" y="545796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9"/>
          <p:cNvSpPr/>
          <p:nvPr/>
        </p:nvSpPr>
        <p:spPr>
          <a:xfrm>
            <a:off x="4601880" y="5553000"/>
            <a:ext cx="3286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08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4492440" y="606744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4492440" y="641016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Financial position and liquidity analysis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8132760" y="5224320"/>
            <a:ext cx="3672000" cy="160488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43"/>
          <p:cNvSpPr/>
          <p:nvPr/>
        </p:nvSpPr>
        <p:spPr>
          <a:xfrm>
            <a:off x="8366040" y="5457960"/>
            <a:ext cx="452520" cy="45252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44"/>
          <p:cNvSpPr/>
          <p:nvPr/>
        </p:nvSpPr>
        <p:spPr>
          <a:xfrm>
            <a:off x="8476920" y="5553000"/>
            <a:ext cx="3286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" name="Text 45"/>
          <p:cNvSpPr/>
          <p:nvPr/>
        </p:nvSpPr>
        <p:spPr>
          <a:xfrm>
            <a:off x="8366040" y="6067440"/>
            <a:ext cx="3300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Strategic Outlook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8366040" y="6410160"/>
            <a:ext cx="3272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Future priorities and growth initiatives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379080" y="379080"/>
            <a:ext cx="11495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15" strike="noStrike">
                <a:solidFill>
                  <a:srgbClr val="6366f1"/>
                </a:solidFill>
                <a:latin typeface="Liter"/>
                <a:ea typeface="Liter"/>
              </a:rPr>
              <a:t>PERFORMANCE OVERVIEW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379080" y="644040"/>
            <a:ext cx="115999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80" spc="-1" strike="noStrike">
                <a:solidFill>
                  <a:srgbClr val="efefef"/>
                </a:solidFill>
                <a:latin typeface="Liter"/>
                <a:ea typeface="Liter"/>
              </a:rPr>
              <a:t>Executive Summary</a:t>
            </a:r>
            <a:endParaRPr b="0" lang="en-HK" sz="2680" spc="-1" strike="noStrike"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383760" y="1255320"/>
            <a:ext cx="6645600" cy="172908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3"/>
          <p:cNvSpPr/>
          <p:nvPr/>
        </p:nvSpPr>
        <p:spPr>
          <a:xfrm>
            <a:off x="615600" y="1487160"/>
            <a:ext cx="374400" cy="37440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4"/>
          <p:cNvSpPr/>
          <p:nvPr/>
        </p:nvSpPr>
        <p:spPr>
          <a:xfrm>
            <a:off x="729360" y="1600920"/>
            <a:ext cx="146880" cy="146880"/>
          </a:xfrm>
          <a:custGeom>
            <a:avLst/>
            <a:gdLst/>
            <a:ahLst/>
            <a:rect l="l" t="t" r="r" b="b"/>
            <a:pathLst>
              <a:path w="151571" h="151571">
                <a:moveTo>
                  <a:pt x="37893" y="94732"/>
                </a:moveTo>
                <a:lnTo>
                  <a:pt x="7253" y="94732"/>
                </a:lnTo>
                <a:cubicBezTo>
                  <a:pt x="-118" y="94732"/>
                  <a:pt x="-4648" y="86709"/>
                  <a:pt x="-859" y="80374"/>
                </a:cubicBezTo>
                <a:lnTo>
                  <a:pt x="14802" y="54264"/>
                </a:lnTo>
                <a:cubicBezTo>
                  <a:pt x="17377" y="49971"/>
                  <a:pt x="21996" y="47366"/>
                  <a:pt x="26999" y="47366"/>
                </a:cubicBezTo>
                <a:lnTo>
                  <a:pt x="55122" y="47366"/>
                </a:lnTo>
                <a:cubicBezTo>
                  <a:pt x="77651" y="9207"/>
                  <a:pt x="111251" y="7283"/>
                  <a:pt x="133720" y="10569"/>
                </a:cubicBezTo>
                <a:cubicBezTo>
                  <a:pt x="137509" y="11131"/>
                  <a:pt x="140470" y="14091"/>
                  <a:pt x="141003" y="17851"/>
                </a:cubicBezTo>
                <a:cubicBezTo>
                  <a:pt x="144289" y="40320"/>
                  <a:pt x="142364" y="73921"/>
                  <a:pt x="104205" y="96449"/>
                </a:cubicBezTo>
                <a:lnTo>
                  <a:pt x="104205" y="124572"/>
                </a:lnTo>
                <a:cubicBezTo>
                  <a:pt x="104205" y="129576"/>
                  <a:pt x="101600" y="134194"/>
                  <a:pt x="97307" y="136769"/>
                </a:cubicBezTo>
                <a:lnTo>
                  <a:pt x="71197" y="152430"/>
                </a:lnTo>
                <a:cubicBezTo>
                  <a:pt x="64891" y="156219"/>
                  <a:pt x="56839" y="151660"/>
                  <a:pt x="56839" y="144318"/>
                </a:cubicBezTo>
                <a:lnTo>
                  <a:pt x="56839" y="113678"/>
                </a:lnTo>
                <a:cubicBezTo>
                  <a:pt x="56839" y="103228"/>
                  <a:pt x="48343" y="94732"/>
                  <a:pt x="37893" y="94732"/>
                </a:cubicBezTo>
                <a:lnTo>
                  <a:pt x="37863" y="94732"/>
                </a:lnTo>
                <a:close/>
                <a:moveTo>
                  <a:pt x="118415" y="47366"/>
                </a:moveTo>
                <a:cubicBezTo>
                  <a:pt x="118415" y="39523"/>
                  <a:pt x="112048" y="33156"/>
                  <a:pt x="104205" y="33156"/>
                </a:cubicBezTo>
                <a:cubicBezTo>
                  <a:pt x="96363" y="33156"/>
                  <a:pt x="89995" y="39523"/>
                  <a:pt x="89995" y="47366"/>
                </a:cubicBezTo>
                <a:cubicBezTo>
                  <a:pt x="89995" y="55209"/>
                  <a:pt x="96363" y="61576"/>
                  <a:pt x="104205" y="61576"/>
                </a:cubicBezTo>
                <a:cubicBezTo>
                  <a:pt x="112048" y="61576"/>
                  <a:pt x="118415" y="55209"/>
                  <a:pt x="118415" y="4736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5"/>
          <p:cNvSpPr/>
          <p:nvPr/>
        </p:nvSpPr>
        <p:spPr>
          <a:xfrm>
            <a:off x="1108440" y="1544040"/>
            <a:ext cx="241092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Strong Double-Digit Growth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615600" y="2017800"/>
            <a:ext cx="625716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Delivered robust performance in Q2 and H1 2025 with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15% YoY revenue growth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and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17% profit increase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in Q2, driven by strategic AI investments and operational excellence across all business segments.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383760" y="3187800"/>
            <a:ext cx="6645600" cy="172908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8"/>
          <p:cNvSpPr/>
          <p:nvPr/>
        </p:nvSpPr>
        <p:spPr>
          <a:xfrm>
            <a:off x="615600" y="3420000"/>
            <a:ext cx="374400" cy="37440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9"/>
          <p:cNvSpPr/>
          <p:nvPr/>
        </p:nvSpPr>
        <p:spPr>
          <a:xfrm>
            <a:off x="710640" y="3533400"/>
            <a:ext cx="184680" cy="146880"/>
          </a:xfrm>
          <a:custGeom>
            <a:avLst/>
            <a:gdLst/>
            <a:ahLst/>
            <a:rect l="l" t="t" r="r" b="b"/>
            <a:pathLst>
              <a:path w="189464" h="151571">
                <a:moveTo>
                  <a:pt x="132625" y="18946"/>
                </a:moveTo>
                <a:cubicBezTo>
                  <a:pt x="164005" y="18946"/>
                  <a:pt x="189464" y="44406"/>
                  <a:pt x="189464" y="75786"/>
                </a:cubicBezTo>
                <a:cubicBezTo>
                  <a:pt x="189464" y="107166"/>
                  <a:pt x="164005" y="132625"/>
                  <a:pt x="132625" y="132625"/>
                </a:cubicBezTo>
                <a:lnTo>
                  <a:pt x="56839" y="132625"/>
                </a:lnTo>
                <a:cubicBezTo>
                  <a:pt x="25459" y="132625"/>
                  <a:pt x="0" y="107166"/>
                  <a:pt x="0" y="75786"/>
                </a:cubicBezTo>
                <a:cubicBezTo>
                  <a:pt x="0" y="44406"/>
                  <a:pt x="25459" y="18946"/>
                  <a:pt x="56839" y="18946"/>
                </a:cubicBezTo>
                <a:lnTo>
                  <a:pt x="132625" y="18946"/>
                </a:lnTo>
                <a:close/>
                <a:moveTo>
                  <a:pt x="56839" y="52103"/>
                </a:moveTo>
                <a:cubicBezTo>
                  <a:pt x="52902" y="52103"/>
                  <a:pt x="49734" y="55270"/>
                  <a:pt x="49734" y="59207"/>
                </a:cubicBezTo>
                <a:lnTo>
                  <a:pt x="49734" y="68681"/>
                </a:lnTo>
                <a:lnTo>
                  <a:pt x="40261" y="68681"/>
                </a:lnTo>
                <a:cubicBezTo>
                  <a:pt x="36324" y="68681"/>
                  <a:pt x="33156" y="71848"/>
                  <a:pt x="33156" y="75786"/>
                </a:cubicBezTo>
                <a:cubicBezTo>
                  <a:pt x="33156" y="79723"/>
                  <a:pt x="36324" y="82890"/>
                  <a:pt x="40261" y="82890"/>
                </a:cubicBezTo>
                <a:lnTo>
                  <a:pt x="49734" y="82890"/>
                </a:lnTo>
                <a:lnTo>
                  <a:pt x="49734" y="92364"/>
                </a:lnTo>
                <a:cubicBezTo>
                  <a:pt x="49734" y="96301"/>
                  <a:pt x="52902" y="99469"/>
                  <a:pt x="56839" y="99469"/>
                </a:cubicBezTo>
                <a:cubicBezTo>
                  <a:pt x="60776" y="99469"/>
                  <a:pt x="63944" y="96301"/>
                  <a:pt x="63944" y="92364"/>
                </a:cubicBezTo>
                <a:lnTo>
                  <a:pt x="63944" y="82890"/>
                </a:lnTo>
                <a:lnTo>
                  <a:pt x="73417" y="82890"/>
                </a:lnTo>
                <a:cubicBezTo>
                  <a:pt x="77355" y="82890"/>
                  <a:pt x="80522" y="79723"/>
                  <a:pt x="80522" y="75786"/>
                </a:cubicBezTo>
                <a:cubicBezTo>
                  <a:pt x="80522" y="71848"/>
                  <a:pt x="77355" y="68681"/>
                  <a:pt x="73417" y="68681"/>
                </a:cubicBezTo>
                <a:lnTo>
                  <a:pt x="63944" y="68681"/>
                </a:lnTo>
                <a:lnTo>
                  <a:pt x="63944" y="59207"/>
                </a:lnTo>
                <a:cubicBezTo>
                  <a:pt x="63944" y="55270"/>
                  <a:pt x="60776" y="52103"/>
                  <a:pt x="56839" y="52103"/>
                </a:cubicBezTo>
                <a:close/>
                <a:moveTo>
                  <a:pt x="127888" y="80522"/>
                </a:moveTo>
                <a:cubicBezTo>
                  <a:pt x="122660" y="80522"/>
                  <a:pt x="118415" y="84767"/>
                  <a:pt x="118415" y="89995"/>
                </a:cubicBezTo>
                <a:cubicBezTo>
                  <a:pt x="118415" y="95224"/>
                  <a:pt x="122660" y="99469"/>
                  <a:pt x="127888" y="99469"/>
                </a:cubicBezTo>
                <a:cubicBezTo>
                  <a:pt x="133117" y="99469"/>
                  <a:pt x="137361" y="95224"/>
                  <a:pt x="137361" y="89995"/>
                </a:cubicBezTo>
                <a:cubicBezTo>
                  <a:pt x="137361" y="84767"/>
                  <a:pt x="133117" y="80522"/>
                  <a:pt x="127888" y="80522"/>
                </a:cubicBezTo>
                <a:close/>
                <a:moveTo>
                  <a:pt x="146834" y="52103"/>
                </a:moveTo>
                <a:cubicBezTo>
                  <a:pt x="141606" y="52103"/>
                  <a:pt x="137361" y="56347"/>
                  <a:pt x="137361" y="61576"/>
                </a:cubicBezTo>
                <a:cubicBezTo>
                  <a:pt x="137361" y="66804"/>
                  <a:pt x="141606" y="71049"/>
                  <a:pt x="146834" y="71049"/>
                </a:cubicBezTo>
                <a:cubicBezTo>
                  <a:pt x="152063" y="71049"/>
                  <a:pt x="156308" y="66804"/>
                  <a:pt x="156308" y="61576"/>
                </a:cubicBezTo>
                <a:cubicBezTo>
                  <a:pt x="156308" y="56347"/>
                  <a:pt x="152063" y="52103"/>
                  <a:pt x="146834" y="521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0"/>
          <p:cNvSpPr/>
          <p:nvPr/>
        </p:nvSpPr>
        <p:spPr>
          <a:xfrm>
            <a:off x="1108440" y="3476520"/>
            <a:ext cx="16437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Games Leadership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615600" y="3950280"/>
            <a:ext cx="625716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Domestic games revenue grew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17% YoY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with Delta Force achieving 20M+ DAU and ranking top 3 industry-wide. International games surged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35% YoY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driven by Supercell and PUBG MOBILE.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383760" y="5120280"/>
            <a:ext cx="6645600" cy="172908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13"/>
          <p:cNvSpPr/>
          <p:nvPr/>
        </p:nvSpPr>
        <p:spPr>
          <a:xfrm>
            <a:off x="615600" y="5352480"/>
            <a:ext cx="374400" cy="37440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14"/>
          <p:cNvSpPr/>
          <p:nvPr/>
        </p:nvSpPr>
        <p:spPr>
          <a:xfrm>
            <a:off x="729360" y="5465880"/>
            <a:ext cx="146880" cy="146880"/>
          </a:xfrm>
          <a:custGeom>
            <a:avLst/>
            <a:gdLst/>
            <a:ahLst/>
            <a:rect l="l" t="t" r="r" b="b"/>
            <a:pathLst>
              <a:path w="151571" h="151571">
                <a:moveTo>
                  <a:pt x="18946" y="18946"/>
                </a:moveTo>
                <a:cubicBezTo>
                  <a:pt x="8496" y="18946"/>
                  <a:pt x="0" y="27443"/>
                  <a:pt x="0" y="37893"/>
                </a:cubicBezTo>
                <a:lnTo>
                  <a:pt x="0" y="113678"/>
                </a:lnTo>
                <a:cubicBezTo>
                  <a:pt x="0" y="124128"/>
                  <a:pt x="8496" y="132625"/>
                  <a:pt x="18946" y="132625"/>
                </a:cubicBezTo>
                <a:lnTo>
                  <a:pt x="132625" y="132625"/>
                </a:lnTo>
                <a:cubicBezTo>
                  <a:pt x="143075" y="132625"/>
                  <a:pt x="151571" y="124128"/>
                  <a:pt x="151571" y="113678"/>
                </a:cubicBezTo>
                <a:lnTo>
                  <a:pt x="151571" y="37893"/>
                </a:lnTo>
                <a:cubicBezTo>
                  <a:pt x="151571" y="27443"/>
                  <a:pt x="143075" y="18946"/>
                  <a:pt x="132625" y="18946"/>
                </a:cubicBezTo>
                <a:lnTo>
                  <a:pt x="18946" y="18946"/>
                </a:lnTo>
                <a:close/>
                <a:moveTo>
                  <a:pt x="123152" y="54471"/>
                </a:moveTo>
                <a:lnTo>
                  <a:pt x="123152" y="97100"/>
                </a:lnTo>
                <a:cubicBezTo>
                  <a:pt x="123152" y="101038"/>
                  <a:pt x="119984" y="104205"/>
                  <a:pt x="116047" y="104205"/>
                </a:cubicBezTo>
                <a:cubicBezTo>
                  <a:pt x="113945" y="104205"/>
                  <a:pt x="112050" y="103287"/>
                  <a:pt x="110748" y="101837"/>
                </a:cubicBezTo>
                <a:cubicBezTo>
                  <a:pt x="107728" y="103347"/>
                  <a:pt x="104294" y="104205"/>
                  <a:pt x="100653" y="104205"/>
                </a:cubicBezTo>
                <a:cubicBezTo>
                  <a:pt x="88219" y="104205"/>
                  <a:pt x="78154" y="94140"/>
                  <a:pt x="78154" y="81706"/>
                </a:cubicBezTo>
                <a:cubicBezTo>
                  <a:pt x="78154" y="69273"/>
                  <a:pt x="88219" y="59207"/>
                  <a:pt x="100653" y="59207"/>
                </a:cubicBezTo>
                <a:cubicBezTo>
                  <a:pt x="103583" y="59207"/>
                  <a:pt x="106366" y="59770"/>
                  <a:pt x="108942" y="60776"/>
                </a:cubicBezTo>
                <a:lnTo>
                  <a:pt x="108942" y="54471"/>
                </a:lnTo>
                <a:cubicBezTo>
                  <a:pt x="108942" y="50534"/>
                  <a:pt x="112109" y="47366"/>
                  <a:pt x="116047" y="47366"/>
                </a:cubicBezTo>
                <a:cubicBezTo>
                  <a:pt x="119984" y="47366"/>
                  <a:pt x="123152" y="50534"/>
                  <a:pt x="123152" y="54471"/>
                </a:cubicBezTo>
                <a:close/>
                <a:moveTo>
                  <a:pt x="108942" y="81706"/>
                </a:moveTo>
                <a:cubicBezTo>
                  <a:pt x="108942" y="77131"/>
                  <a:pt x="105228" y="73417"/>
                  <a:pt x="100653" y="73417"/>
                </a:cubicBezTo>
                <a:cubicBezTo>
                  <a:pt x="96078" y="73417"/>
                  <a:pt x="92364" y="77131"/>
                  <a:pt x="92364" y="81706"/>
                </a:cubicBezTo>
                <a:cubicBezTo>
                  <a:pt x="92364" y="86281"/>
                  <a:pt x="96078" y="89995"/>
                  <a:pt x="100653" y="89995"/>
                </a:cubicBezTo>
                <a:cubicBezTo>
                  <a:pt x="105228" y="89995"/>
                  <a:pt x="108942" y="86281"/>
                  <a:pt x="108942" y="81706"/>
                </a:cubicBezTo>
                <a:close/>
                <a:moveTo>
                  <a:pt x="47366" y="61576"/>
                </a:moveTo>
                <a:cubicBezTo>
                  <a:pt x="44761" y="61576"/>
                  <a:pt x="42629" y="63707"/>
                  <a:pt x="42629" y="66312"/>
                </a:cubicBezTo>
                <a:lnTo>
                  <a:pt x="42629" y="75786"/>
                </a:lnTo>
                <a:lnTo>
                  <a:pt x="56839" y="75786"/>
                </a:lnTo>
                <a:lnTo>
                  <a:pt x="56839" y="66312"/>
                </a:lnTo>
                <a:cubicBezTo>
                  <a:pt x="56839" y="63707"/>
                  <a:pt x="54708" y="61576"/>
                  <a:pt x="52103" y="61576"/>
                </a:cubicBezTo>
                <a:lnTo>
                  <a:pt x="47366" y="61576"/>
                </a:lnTo>
                <a:close/>
                <a:moveTo>
                  <a:pt x="56839" y="89995"/>
                </a:moveTo>
                <a:lnTo>
                  <a:pt x="42629" y="89995"/>
                </a:lnTo>
                <a:lnTo>
                  <a:pt x="42629" y="97100"/>
                </a:lnTo>
                <a:cubicBezTo>
                  <a:pt x="42629" y="101038"/>
                  <a:pt x="39462" y="104205"/>
                  <a:pt x="35524" y="104205"/>
                </a:cubicBezTo>
                <a:cubicBezTo>
                  <a:pt x="31587" y="104205"/>
                  <a:pt x="28420" y="101038"/>
                  <a:pt x="28420" y="97100"/>
                </a:cubicBezTo>
                <a:lnTo>
                  <a:pt x="28420" y="66312"/>
                </a:lnTo>
                <a:cubicBezTo>
                  <a:pt x="28420" y="55862"/>
                  <a:pt x="36916" y="47366"/>
                  <a:pt x="47366" y="47366"/>
                </a:cubicBezTo>
                <a:lnTo>
                  <a:pt x="52103" y="47366"/>
                </a:lnTo>
                <a:cubicBezTo>
                  <a:pt x="62553" y="47366"/>
                  <a:pt x="71049" y="55862"/>
                  <a:pt x="71049" y="66312"/>
                </a:cubicBezTo>
                <a:lnTo>
                  <a:pt x="71049" y="97100"/>
                </a:lnTo>
                <a:cubicBezTo>
                  <a:pt x="71049" y="101038"/>
                  <a:pt x="67881" y="104205"/>
                  <a:pt x="63944" y="104205"/>
                </a:cubicBezTo>
                <a:cubicBezTo>
                  <a:pt x="60007" y="104205"/>
                  <a:pt x="56839" y="101038"/>
                  <a:pt x="56839" y="97100"/>
                </a:cubicBezTo>
                <a:lnTo>
                  <a:pt x="56839" y="89995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5"/>
          <p:cNvSpPr/>
          <p:nvPr/>
        </p:nvSpPr>
        <p:spPr>
          <a:xfrm>
            <a:off x="1108440" y="5409360"/>
            <a:ext cx="197532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AI-Powered Marketing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615600" y="5882760"/>
            <a:ext cx="625716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Marketing Services revenue increased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20% YoY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through AI-driven advertising platform upgrades, enhancing click-through rates and advertiser ROI across Video Accounts, Mini Programs, and Weixin Search.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7271640" y="1255320"/>
            <a:ext cx="4533120" cy="5594040"/>
          </a:xfrm>
          <a:custGeom>
            <a:avLst/>
            <a:gdLst/>
            <a:ahLst/>
            <a:rect l="l" t="t" r="r" b="b"/>
            <a:pathLst>
              <a:path w="4537660" h="5598657">
                <a:moveTo>
                  <a:pt x="113668" y="0"/>
                </a:moveTo>
                <a:lnTo>
                  <a:pt x="4423991" y="0"/>
                </a:lnTo>
                <a:cubicBezTo>
                  <a:pt x="4486769" y="0"/>
                  <a:pt x="4537660" y="50891"/>
                  <a:pt x="4537660" y="113668"/>
                </a:cubicBezTo>
                <a:lnTo>
                  <a:pt x="4537660" y="5484989"/>
                </a:lnTo>
                <a:cubicBezTo>
                  <a:pt x="4537660" y="5547766"/>
                  <a:pt x="4486769" y="5598657"/>
                  <a:pt x="4423991" y="5598657"/>
                </a:cubicBezTo>
                <a:lnTo>
                  <a:pt x="113668" y="5598657"/>
                </a:lnTo>
                <a:cubicBezTo>
                  <a:pt x="50891" y="5598657"/>
                  <a:pt x="0" y="5547766"/>
                  <a:pt x="0" y="5484989"/>
                </a:cubicBezTo>
                <a:lnTo>
                  <a:pt x="0" y="113668"/>
                </a:lnTo>
                <a:cubicBezTo>
                  <a:pt x="0" y="50891"/>
                  <a:pt x="50891" y="0"/>
                  <a:pt x="11366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8"/>
          <p:cNvSpPr/>
          <p:nvPr/>
        </p:nvSpPr>
        <p:spPr>
          <a:xfrm>
            <a:off x="7503840" y="1487160"/>
            <a:ext cx="374400" cy="37440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9"/>
          <p:cNvSpPr/>
          <p:nvPr/>
        </p:nvSpPr>
        <p:spPr>
          <a:xfrm>
            <a:off x="7626960" y="1600920"/>
            <a:ext cx="127800" cy="146880"/>
          </a:xfrm>
          <a:custGeom>
            <a:avLst/>
            <a:gdLst/>
            <a:ahLst/>
            <a:rect l="l" t="t" r="r" b="b"/>
            <a:pathLst>
              <a:path w="132625" h="151571">
                <a:moveTo>
                  <a:pt x="0" y="63944"/>
                </a:moveTo>
                <a:cubicBezTo>
                  <a:pt x="0" y="44317"/>
                  <a:pt x="15897" y="28420"/>
                  <a:pt x="35524" y="28420"/>
                </a:cubicBezTo>
                <a:lnTo>
                  <a:pt x="37893" y="28420"/>
                </a:lnTo>
                <a:cubicBezTo>
                  <a:pt x="43133" y="28420"/>
                  <a:pt x="47366" y="32653"/>
                  <a:pt x="47366" y="37893"/>
                </a:cubicBezTo>
                <a:cubicBezTo>
                  <a:pt x="47366" y="43133"/>
                  <a:pt x="43133" y="47366"/>
                  <a:pt x="37893" y="47366"/>
                </a:cubicBezTo>
                <a:lnTo>
                  <a:pt x="35524" y="47366"/>
                </a:lnTo>
                <a:cubicBezTo>
                  <a:pt x="26377" y="47366"/>
                  <a:pt x="18946" y="54797"/>
                  <a:pt x="18946" y="63944"/>
                </a:cubicBezTo>
                <a:lnTo>
                  <a:pt x="18946" y="66312"/>
                </a:lnTo>
                <a:lnTo>
                  <a:pt x="37893" y="66312"/>
                </a:lnTo>
                <a:cubicBezTo>
                  <a:pt x="48343" y="66312"/>
                  <a:pt x="56839" y="74809"/>
                  <a:pt x="56839" y="85259"/>
                </a:cubicBezTo>
                <a:lnTo>
                  <a:pt x="56839" y="104205"/>
                </a:lnTo>
                <a:cubicBezTo>
                  <a:pt x="56839" y="114655"/>
                  <a:pt x="48343" y="123152"/>
                  <a:pt x="37893" y="123152"/>
                </a:cubicBezTo>
                <a:lnTo>
                  <a:pt x="18946" y="123152"/>
                </a:lnTo>
                <a:cubicBezTo>
                  <a:pt x="8496" y="123152"/>
                  <a:pt x="0" y="114655"/>
                  <a:pt x="0" y="104205"/>
                </a:cubicBezTo>
                <a:lnTo>
                  <a:pt x="0" y="63944"/>
                </a:lnTo>
                <a:close/>
                <a:moveTo>
                  <a:pt x="75786" y="63944"/>
                </a:moveTo>
                <a:cubicBezTo>
                  <a:pt x="75786" y="44317"/>
                  <a:pt x="91683" y="28420"/>
                  <a:pt x="111310" y="28420"/>
                </a:cubicBezTo>
                <a:lnTo>
                  <a:pt x="113678" y="28420"/>
                </a:lnTo>
                <a:cubicBezTo>
                  <a:pt x="118918" y="28420"/>
                  <a:pt x="123152" y="32653"/>
                  <a:pt x="123152" y="37893"/>
                </a:cubicBezTo>
                <a:cubicBezTo>
                  <a:pt x="123152" y="43133"/>
                  <a:pt x="118918" y="47366"/>
                  <a:pt x="113678" y="47366"/>
                </a:cubicBezTo>
                <a:lnTo>
                  <a:pt x="111310" y="47366"/>
                </a:lnTo>
                <a:cubicBezTo>
                  <a:pt x="102162" y="47366"/>
                  <a:pt x="94732" y="54797"/>
                  <a:pt x="94732" y="63944"/>
                </a:cubicBezTo>
                <a:lnTo>
                  <a:pt x="94732" y="66312"/>
                </a:lnTo>
                <a:lnTo>
                  <a:pt x="113678" y="66312"/>
                </a:lnTo>
                <a:cubicBezTo>
                  <a:pt x="124128" y="66312"/>
                  <a:pt x="132625" y="74809"/>
                  <a:pt x="132625" y="85259"/>
                </a:cubicBezTo>
                <a:lnTo>
                  <a:pt x="132625" y="104205"/>
                </a:lnTo>
                <a:cubicBezTo>
                  <a:pt x="132625" y="114655"/>
                  <a:pt x="124128" y="123152"/>
                  <a:pt x="113678" y="123152"/>
                </a:cubicBezTo>
                <a:lnTo>
                  <a:pt x="94732" y="123152"/>
                </a:lnTo>
                <a:cubicBezTo>
                  <a:pt x="84282" y="123152"/>
                  <a:pt x="75786" y="114655"/>
                  <a:pt x="75786" y="104205"/>
                </a:cubicBezTo>
                <a:lnTo>
                  <a:pt x="75786" y="6394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0"/>
          <p:cNvSpPr/>
          <p:nvPr/>
        </p:nvSpPr>
        <p:spPr>
          <a:xfrm>
            <a:off x="7996320" y="1544040"/>
            <a:ext cx="19371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Chairman's Statement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7522920" y="2017800"/>
            <a:ext cx="4050000" cy="3330000"/>
          </a:xfrm>
          <a:custGeom>
            <a:avLst/>
            <a:gdLst/>
            <a:ahLst/>
            <a:rect l="l" t="t" r="r" b="b"/>
            <a:pathLst>
              <a:path w="4054527" h="3334564">
                <a:moveTo>
                  <a:pt x="37893" y="0"/>
                </a:moveTo>
                <a:lnTo>
                  <a:pt x="3978732" y="0"/>
                </a:lnTo>
                <a:cubicBezTo>
                  <a:pt x="4020592" y="0"/>
                  <a:pt x="4054527" y="33934"/>
                  <a:pt x="4054527" y="75795"/>
                </a:cubicBezTo>
                <a:lnTo>
                  <a:pt x="4054527" y="3258769"/>
                </a:lnTo>
                <a:cubicBezTo>
                  <a:pt x="4054527" y="3300630"/>
                  <a:pt x="4020592" y="3334564"/>
                  <a:pt x="3978732" y="3334564"/>
                </a:cubicBez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2"/>
          <p:cNvSpPr/>
          <p:nvPr/>
        </p:nvSpPr>
        <p:spPr>
          <a:xfrm>
            <a:off x="7522920" y="2017800"/>
            <a:ext cx="33120" cy="3330000"/>
          </a:xfrm>
          <a:custGeom>
            <a:avLst/>
            <a:gdLst/>
            <a:ah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3"/>
          <p:cNvSpPr/>
          <p:nvPr/>
        </p:nvSpPr>
        <p:spPr>
          <a:xfrm>
            <a:off x="7731000" y="2821680"/>
            <a:ext cx="3737160" cy="13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"During the second quarter of 2025, we delivered double-digit revenue and non-IFRS operating profit growth on a year-on-year basis, as we invested in, and also benefitted from, utilising AI."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7731000" y="4358880"/>
            <a:ext cx="37184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— </a:t>
            </a: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Ma Huateng, Chairman &amp; CEO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7508520" y="5546520"/>
            <a:ext cx="1946880" cy="1065960"/>
          </a:xfrm>
          <a:custGeom>
            <a:avLst/>
            <a:gdLst/>
            <a:ah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6"/>
          <p:cNvSpPr/>
          <p:nvPr/>
        </p:nvSpPr>
        <p:spPr>
          <a:xfrm>
            <a:off x="7631640" y="5702760"/>
            <a:ext cx="1700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WeChat MAU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7593840" y="5930280"/>
            <a:ext cx="17762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40" spc="-1" strike="noStrike">
                <a:solidFill>
                  <a:srgbClr val="6366f1"/>
                </a:solidFill>
                <a:latin typeface="Liter"/>
                <a:ea typeface="Liter"/>
              </a:rPr>
              <a:t>1.41B</a:t>
            </a:r>
            <a:endParaRPr b="0" lang="en-HK" sz="2240" spc="-1" strike="noStrike">
              <a:latin typeface="Arial"/>
            </a:endParaRPr>
          </a:p>
        </p:txBody>
      </p:sp>
      <p:sp>
        <p:nvSpPr>
          <p:cNvPr id="132" name="Text 28"/>
          <p:cNvSpPr/>
          <p:nvPr/>
        </p:nvSpPr>
        <p:spPr>
          <a:xfrm>
            <a:off x="7636320" y="6309000"/>
            <a:ext cx="169092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+3%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33" name="Shape 29"/>
          <p:cNvSpPr/>
          <p:nvPr/>
        </p:nvSpPr>
        <p:spPr>
          <a:xfrm>
            <a:off x="9621000" y="5546520"/>
            <a:ext cx="1946880" cy="1065960"/>
          </a:xfrm>
          <a:custGeom>
            <a:avLst/>
            <a:gdLst/>
            <a:ah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0"/>
          <p:cNvSpPr/>
          <p:nvPr/>
        </p:nvSpPr>
        <p:spPr>
          <a:xfrm>
            <a:off x="9744120" y="5702760"/>
            <a:ext cx="1700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Gross Margin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35" name="Text 31"/>
          <p:cNvSpPr/>
          <p:nvPr/>
        </p:nvSpPr>
        <p:spPr>
          <a:xfrm>
            <a:off x="9706320" y="5930280"/>
            <a:ext cx="17762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40" spc="-1" strike="noStrike">
                <a:solidFill>
                  <a:srgbClr val="6366f1"/>
                </a:solidFill>
                <a:latin typeface="Liter"/>
                <a:ea typeface="Liter"/>
              </a:rPr>
              <a:t>57%</a:t>
            </a:r>
            <a:endParaRPr b="0" lang="en-HK" sz="2240" spc="-1" strike="noStrike">
              <a:latin typeface="Arial"/>
            </a:endParaRPr>
          </a:p>
        </p:txBody>
      </p:sp>
      <p:sp>
        <p:nvSpPr>
          <p:cNvPr id="136" name="Text 32"/>
          <p:cNvSpPr/>
          <p:nvPr/>
        </p:nvSpPr>
        <p:spPr>
          <a:xfrm>
            <a:off x="9748800" y="6309000"/>
            <a:ext cx="169092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+4pp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556040" y="4860000"/>
            <a:ext cx="396396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HK" sz="1800" spc="-1" strike="noStrike">
                <a:latin typeface="Arial"/>
              </a:rPr>
              <a:t>Emphasis: 15% revenue growth demonstrates continued monetization strength. WeChat MAU milestone of 1.41 billion users.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365400" y="365400"/>
            <a:ext cx="1152072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15" strike="noStrike">
                <a:solidFill>
                  <a:srgbClr val="6366f1"/>
                </a:solidFill>
                <a:latin typeface="Liter"/>
                <a:ea typeface="Liter"/>
              </a:rPr>
              <a:t>FINANCIAL PERFORMANCE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365400" y="621000"/>
            <a:ext cx="116211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Q2 2025 Highlights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365400" y="1059480"/>
            <a:ext cx="1152972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50" spc="-1" strike="noStrike">
                <a:solidFill>
                  <a:srgbClr val="8f8f8f"/>
                </a:solidFill>
                <a:latin typeface="Liter"/>
                <a:ea typeface="Liter"/>
              </a:rPr>
              <a:t>Three months ended 30 June 2025</a:t>
            </a:r>
            <a:endParaRPr b="0" lang="en-HK" sz="1150" spc="-1" strike="noStrike"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369720" y="1356120"/>
            <a:ext cx="3173400" cy="124632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4"/>
          <p:cNvSpPr/>
          <p:nvPr/>
        </p:nvSpPr>
        <p:spPr>
          <a:xfrm>
            <a:off x="556920" y="1561680"/>
            <a:ext cx="60732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Revenues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2957760" y="1543320"/>
            <a:ext cx="397080" cy="214560"/>
          </a:xfrm>
          <a:custGeom>
            <a:avLst/>
            <a:gdLst/>
            <a:ah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6"/>
          <p:cNvSpPr/>
          <p:nvPr/>
        </p:nvSpPr>
        <p:spPr>
          <a:xfrm>
            <a:off x="2957760" y="1543320"/>
            <a:ext cx="4518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+15%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556920" y="1872360"/>
            <a:ext cx="2963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184.5B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556920" y="2274120"/>
            <a:ext cx="285372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3700800" y="1356120"/>
            <a:ext cx="3173400" cy="124632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0"/>
          <p:cNvSpPr/>
          <p:nvPr/>
        </p:nvSpPr>
        <p:spPr>
          <a:xfrm>
            <a:off x="3888000" y="1561680"/>
            <a:ext cx="72576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6268320" y="1543320"/>
            <a:ext cx="415440" cy="214560"/>
          </a:xfrm>
          <a:custGeom>
            <a:avLst/>
            <a:gdLst/>
            <a:ahLst/>
            <a:rect l="l" t="t" r="r" b="b"/>
            <a:pathLst>
              <a:path w="420099" h="219182">
                <a:moveTo>
                  <a:pt x="36531" y="0"/>
                </a:moveTo>
                <a:lnTo>
                  <a:pt x="383568" y="0"/>
                </a:lnTo>
                <a:cubicBezTo>
                  <a:pt x="403743" y="0"/>
                  <a:pt x="420099" y="16356"/>
                  <a:pt x="420099" y="36531"/>
                </a:cubicBezTo>
                <a:lnTo>
                  <a:pt x="420099" y="182651"/>
                </a:lnTo>
                <a:cubicBezTo>
                  <a:pt x="420099" y="202827"/>
                  <a:pt x="403743" y="219182"/>
                  <a:pt x="383568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2"/>
          <p:cNvSpPr/>
          <p:nvPr/>
        </p:nvSpPr>
        <p:spPr>
          <a:xfrm>
            <a:off x="6268320" y="1543320"/>
            <a:ext cx="47016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+22%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3888000" y="1872360"/>
            <a:ext cx="2963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105.0B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3888000" y="2274120"/>
            <a:ext cx="285372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369720" y="2762640"/>
            <a:ext cx="3173400" cy="124632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6"/>
          <p:cNvSpPr/>
          <p:nvPr/>
        </p:nvSpPr>
        <p:spPr>
          <a:xfrm>
            <a:off x="556920" y="2968200"/>
            <a:ext cx="96336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2953440" y="2949840"/>
            <a:ext cx="397080" cy="214560"/>
          </a:xfrm>
          <a:custGeom>
            <a:avLst/>
            <a:gdLst/>
            <a:ah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8"/>
          <p:cNvSpPr/>
          <p:nvPr/>
        </p:nvSpPr>
        <p:spPr>
          <a:xfrm>
            <a:off x="2953440" y="2949840"/>
            <a:ext cx="4518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+18%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556920" y="3278520"/>
            <a:ext cx="2963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60.1B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556920" y="3680280"/>
            <a:ext cx="285372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9" name="Shape 21"/>
          <p:cNvSpPr/>
          <p:nvPr/>
        </p:nvSpPr>
        <p:spPr>
          <a:xfrm>
            <a:off x="3700800" y="2762640"/>
            <a:ext cx="3173400" cy="124632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2"/>
          <p:cNvSpPr/>
          <p:nvPr/>
        </p:nvSpPr>
        <p:spPr>
          <a:xfrm>
            <a:off x="3888000" y="2968200"/>
            <a:ext cx="10638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61" name="Shape 23"/>
          <p:cNvSpPr/>
          <p:nvPr/>
        </p:nvSpPr>
        <p:spPr>
          <a:xfrm>
            <a:off x="6295680" y="2949840"/>
            <a:ext cx="388080" cy="214560"/>
          </a:xfrm>
          <a:custGeom>
            <a:avLst/>
            <a:gdLst/>
            <a:ahLst/>
            <a:rect l="l" t="t" r="r" b="b"/>
            <a:pathLst>
              <a:path w="392701" h="219182">
                <a:moveTo>
                  <a:pt x="36531" y="0"/>
                </a:moveTo>
                <a:lnTo>
                  <a:pt x="356170" y="0"/>
                </a:lnTo>
                <a:cubicBezTo>
                  <a:pt x="376346" y="0"/>
                  <a:pt x="392701" y="16356"/>
                  <a:pt x="392701" y="36531"/>
                </a:cubicBezTo>
                <a:lnTo>
                  <a:pt x="392701" y="182651"/>
                </a:lnTo>
                <a:cubicBezTo>
                  <a:pt x="392701" y="202827"/>
                  <a:pt x="376346" y="219182"/>
                  <a:pt x="356170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24"/>
          <p:cNvSpPr/>
          <p:nvPr/>
        </p:nvSpPr>
        <p:spPr>
          <a:xfrm>
            <a:off x="6295680" y="2949840"/>
            <a:ext cx="4428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+17%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63" name="Text 25"/>
          <p:cNvSpPr/>
          <p:nvPr/>
        </p:nvSpPr>
        <p:spPr>
          <a:xfrm>
            <a:off x="3888000" y="3278520"/>
            <a:ext cx="29635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55.6B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64" name="Text 26"/>
          <p:cNvSpPr/>
          <p:nvPr/>
        </p:nvSpPr>
        <p:spPr>
          <a:xfrm>
            <a:off x="3888000" y="3680280"/>
            <a:ext cx="285372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65" name="Shape 27"/>
          <p:cNvSpPr/>
          <p:nvPr/>
        </p:nvSpPr>
        <p:spPr>
          <a:xfrm>
            <a:off x="369720" y="4169160"/>
            <a:ext cx="6497640" cy="2680200"/>
          </a:xfrm>
          <a:custGeom>
            <a:avLst/>
            <a:gdLst/>
            <a:ahLst/>
            <a:rect l="l" t="t" r="r" b="b"/>
            <a:pathLst>
              <a:path w="6502400" h="2684980">
                <a:moveTo>
                  <a:pt x="109601" y="0"/>
                </a:moveTo>
                <a:lnTo>
                  <a:pt x="6392799" y="0"/>
                </a:lnTo>
                <a:cubicBezTo>
                  <a:pt x="6453330" y="0"/>
                  <a:pt x="6502400" y="49070"/>
                  <a:pt x="6502400" y="109601"/>
                </a:cubicBezTo>
                <a:lnTo>
                  <a:pt x="6502400" y="2575379"/>
                </a:lnTo>
                <a:cubicBezTo>
                  <a:pt x="6502400" y="2635869"/>
                  <a:pt x="6453289" y="2684980"/>
                  <a:pt x="6392799" y="2684980"/>
                </a:cubicBezTo>
                <a:lnTo>
                  <a:pt x="109601" y="2684980"/>
                </a:lnTo>
                <a:cubicBezTo>
                  <a:pt x="49070" y="2684980"/>
                  <a:pt x="0" y="2635910"/>
                  <a:pt x="0" y="2575379"/>
                </a:cubicBezTo>
                <a:lnTo>
                  <a:pt x="0" y="109601"/>
                </a:lnTo>
                <a:cubicBezTo>
                  <a:pt x="0" y="49070"/>
                  <a:pt x="49070" y="0"/>
                  <a:pt x="109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8"/>
          <p:cNvSpPr/>
          <p:nvPr/>
        </p:nvSpPr>
        <p:spPr>
          <a:xfrm>
            <a:off x="556920" y="4356360"/>
            <a:ext cx="62053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00" spc="-1" strike="noStrike">
                <a:solidFill>
                  <a:srgbClr val="efefef"/>
                </a:solidFill>
                <a:latin typeface="Liter"/>
                <a:ea typeface="Liter"/>
              </a:rPr>
              <a:t>Earnings Per Share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167" name="Shape 29"/>
          <p:cNvSpPr/>
          <p:nvPr/>
        </p:nvSpPr>
        <p:spPr>
          <a:xfrm>
            <a:off x="556920" y="4721400"/>
            <a:ext cx="2990880" cy="1054800"/>
          </a:xfrm>
          <a:custGeom>
            <a:avLst/>
            <a:gdLst/>
            <a:ah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0"/>
          <p:cNvSpPr/>
          <p:nvPr/>
        </p:nvSpPr>
        <p:spPr>
          <a:xfrm>
            <a:off x="703080" y="4867560"/>
            <a:ext cx="276264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Basic EPS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69" name="Text 31"/>
          <p:cNvSpPr/>
          <p:nvPr/>
        </p:nvSpPr>
        <p:spPr>
          <a:xfrm>
            <a:off x="703080" y="5123520"/>
            <a:ext cx="2808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29" spc="-1" strike="noStrike">
                <a:solidFill>
                  <a:srgbClr val="efefef"/>
                </a:solidFill>
                <a:latin typeface="Liter"/>
                <a:ea typeface="Liter"/>
              </a:rPr>
              <a:t>RMB 6.115</a:t>
            </a:r>
            <a:endParaRPr b="0" lang="en-HK" sz="1729" spc="-1" strike="noStrike">
              <a:latin typeface="Arial"/>
            </a:endParaRPr>
          </a:p>
        </p:txBody>
      </p:sp>
      <p:sp>
        <p:nvSpPr>
          <p:cNvPr id="170" name="Text 32"/>
          <p:cNvSpPr/>
          <p:nvPr/>
        </p:nvSpPr>
        <p:spPr>
          <a:xfrm>
            <a:off x="703080" y="5452200"/>
            <a:ext cx="276264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1" name="Shape 33"/>
          <p:cNvSpPr/>
          <p:nvPr/>
        </p:nvSpPr>
        <p:spPr>
          <a:xfrm>
            <a:off x="3696120" y="4721400"/>
            <a:ext cx="2990880" cy="1054800"/>
          </a:xfrm>
          <a:custGeom>
            <a:avLst/>
            <a:gdLst/>
            <a:ah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4"/>
          <p:cNvSpPr/>
          <p:nvPr/>
        </p:nvSpPr>
        <p:spPr>
          <a:xfrm>
            <a:off x="3842280" y="4867560"/>
            <a:ext cx="276264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Diluted EPS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3" name="Text 35"/>
          <p:cNvSpPr/>
          <p:nvPr/>
        </p:nvSpPr>
        <p:spPr>
          <a:xfrm>
            <a:off x="3842280" y="5123520"/>
            <a:ext cx="2808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29" spc="-1" strike="noStrike">
                <a:solidFill>
                  <a:srgbClr val="efefef"/>
                </a:solidFill>
                <a:latin typeface="Liter"/>
                <a:ea typeface="Liter"/>
              </a:rPr>
              <a:t>RMB 5.996</a:t>
            </a:r>
            <a:endParaRPr b="0" lang="en-HK" sz="1729" spc="-1" strike="noStrike">
              <a:latin typeface="Arial"/>
            </a:endParaRPr>
          </a:p>
        </p:txBody>
      </p:sp>
      <p:sp>
        <p:nvSpPr>
          <p:cNvPr id="174" name="Text 36"/>
          <p:cNvSpPr/>
          <p:nvPr/>
        </p:nvSpPr>
        <p:spPr>
          <a:xfrm>
            <a:off x="3842280" y="5452200"/>
            <a:ext cx="276264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5" name="Shape 37"/>
          <p:cNvSpPr/>
          <p:nvPr/>
        </p:nvSpPr>
        <p:spPr>
          <a:xfrm>
            <a:off x="556920" y="5931720"/>
            <a:ext cx="6123240" cy="4320"/>
          </a:xfrm>
          <a:custGeom>
            <a:avLst/>
            <a:gdLst/>
            <a:ahLst/>
            <a:rect l="l" t="t" r="r" b="b"/>
            <a:pathLst>
              <a:path w="6127964" h="9133">
                <a:moveTo>
                  <a:pt x="0" y="0"/>
                </a:moveTo>
                <a:lnTo>
                  <a:pt x="6127964" y="0"/>
                </a:lnTo>
                <a:lnTo>
                  <a:pt x="6127964" y="9133"/>
                </a:lnTo>
                <a:lnTo>
                  <a:pt x="0" y="913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38"/>
          <p:cNvSpPr/>
          <p:nvPr/>
        </p:nvSpPr>
        <p:spPr>
          <a:xfrm>
            <a:off x="556920" y="6082200"/>
            <a:ext cx="618732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Non-IFRS 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7" name="Text 39"/>
          <p:cNvSpPr/>
          <p:nvPr/>
        </p:nvSpPr>
        <p:spPr>
          <a:xfrm>
            <a:off x="556920" y="6338160"/>
            <a:ext cx="143820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50" spc="-1" strike="noStrike">
                <a:solidFill>
                  <a:srgbClr val="6366f1"/>
                </a:solidFill>
                <a:latin typeface="Liter"/>
                <a:ea typeface="Liter"/>
              </a:rPr>
              <a:t>RMB 63.1B</a:t>
            </a:r>
            <a:endParaRPr b="0" lang="en-HK" sz="2150" spc="-1" strike="noStrike">
              <a:latin typeface="Arial"/>
            </a:endParaRPr>
          </a:p>
        </p:txBody>
      </p:sp>
      <p:sp>
        <p:nvSpPr>
          <p:cNvPr id="178" name="Shape 40"/>
          <p:cNvSpPr/>
          <p:nvPr/>
        </p:nvSpPr>
        <p:spPr>
          <a:xfrm>
            <a:off x="1974240" y="6447600"/>
            <a:ext cx="625320" cy="214560"/>
          </a:xfrm>
          <a:custGeom>
            <a:avLst/>
            <a:gdLst/>
            <a:ahLst/>
            <a:rect l="l" t="t" r="r" b="b"/>
            <a:pathLst>
              <a:path w="630148" h="219182">
                <a:moveTo>
                  <a:pt x="36531" y="0"/>
                </a:moveTo>
                <a:lnTo>
                  <a:pt x="593617" y="0"/>
                </a:lnTo>
                <a:cubicBezTo>
                  <a:pt x="613793" y="0"/>
                  <a:pt x="630148" y="16356"/>
                  <a:pt x="630148" y="36531"/>
                </a:cubicBezTo>
                <a:lnTo>
                  <a:pt x="630148" y="182651"/>
                </a:lnTo>
                <a:cubicBezTo>
                  <a:pt x="630148" y="202827"/>
                  <a:pt x="613793" y="219182"/>
                  <a:pt x="593617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41"/>
          <p:cNvSpPr/>
          <p:nvPr/>
        </p:nvSpPr>
        <p:spPr>
          <a:xfrm>
            <a:off x="1974240" y="6447600"/>
            <a:ext cx="6804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+10% YoY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80" name="Shape 42"/>
          <p:cNvSpPr/>
          <p:nvPr/>
        </p:nvSpPr>
        <p:spPr>
          <a:xfrm>
            <a:off x="7104960" y="1356120"/>
            <a:ext cx="4716720" cy="5493240"/>
          </a:xfrm>
          <a:custGeom>
            <a:avLst/>
            <a:gdLst/>
            <a:ahLst/>
            <a:rect l="l" t="t" r="r" b="b"/>
            <a:pathLst>
              <a:path w="4721546" h="5497816">
                <a:moveTo>
                  <a:pt x="109587" y="0"/>
                </a:moveTo>
                <a:lnTo>
                  <a:pt x="4611959" y="0"/>
                </a:lnTo>
                <a:cubicBezTo>
                  <a:pt x="4672482" y="0"/>
                  <a:pt x="4721546" y="49064"/>
                  <a:pt x="4721546" y="109587"/>
                </a:cubicBezTo>
                <a:lnTo>
                  <a:pt x="4721546" y="5388229"/>
                </a:lnTo>
                <a:cubicBezTo>
                  <a:pt x="4721546" y="5448752"/>
                  <a:pt x="4672482" y="5497816"/>
                  <a:pt x="4611959" y="5497816"/>
                </a:cubicBezTo>
                <a:lnTo>
                  <a:pt x="109587" y="5497816"/>
                </a:lnTo>
                <a:cubicBezTo>
                  <a:pt x="49064" y="5497816"/>
                  <a:pt x="0" y="5448752"/>
                  <a:pt x="0" y="5388229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43"/>
          <p:cNvSpPr/>
          <p:nvPr/>
        </p:nvSpPr>
        <p:spPr>
          <a:xfrm>
            <a:off x="7292160" y="1543320"/>
            <a:ext cx="442476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00" spc="-1" strike="noStrike">
                <a:solidFill>
                  <a:srgbClr val="efefef"/>
                </a:solidFill>
                <a:latin typeface="Liter"/>
                <a:ea typeface="Liter"/>
              </a:rPr>
              <a:t>Quarter-on-Quarter Performance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182" name="Shape 44"/>
          <p:cNvSpPr/>
          <p:nvPr/>
        </p:nvSpPr>
        <p:spPr>
          <a:xfrm>
            <a:off x="7292160" y="1945080"/>
            <a:ext cx="4342320" cy="98172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45"/>
          <p:cNvSpPr/>
          <p:nvPr/>
        </p:nvSpPr>
        <p:spPr>
          <a:xfrm>
            <a:off x="7438320" y="2091240"/>
            <a:ext cx="60732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Revenues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4" name="Text 46"/>
          <p:cNvSpPr/>
          <p:nvPr/>
        </p:nvSpPr>
        <p:spPr>
          <a:xfrm>
            <a:off x="11243160" y="2091240"/>
            <a:ext cx="3060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5" name="Text 47"/>
          <p:cNvSpPr/>
          <p:nvPr/>
        </p:nvSpPr>
        <p:spPr>
          <a:xfrm>
            <a:off x="7438320" y="2347200"/>
            <a:ext cx="41414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184.5B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86" name="Text 48"/>
          <p:cNvSpPr/>
          <p:nvPr/>
        </p:nvSpPr>
        <p:spPr>
          <a:xfrm>
            <a:off x="7438320" y="2639160"/>
            <a:ext cx="410508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180.0B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87" name="Shape 49"/>
          <p:cNvSpPr/>
          <p:nvPr/>
        </p:nvSpPr>
        <p:spPr>
          <a:xfrm>
            <a:off x="7292160" y="3077640"/>
            <a:ext cx="4342320" cy="98172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50"/>
          <p:cNvSpPr/>
          <p:nvPr/>
        </p:nvSpPr>
        <p:spPr>
          <a:xfrm>
            <a:off x="7438320" y="3223800"/>
            <a:ext cx="72576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9" name="Text 51"/>
          <p:cNvSpPr/>
          <p:nvPr/>
        </p:nvSpPr>
        <p:spPr>
          <a:xfrm>
            <a:off x="11242080" y="3223800"/>
            <a:ext cx="3060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+4%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0" name="Text 52"/>
          <p:cNvSpPr/>
          <p:nvPr/>
        </p:nvSpPr>
        <p:spPr>
          <a:xfrm>
            <a:off x="7438320" y="3479400"/>
            <a:ext cx="41414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105.0B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91" name="Text 53"/>
          <p:cNvSpPr/>
          <p:nvPr/>
        </p:nvSpPr>
        <p:spPr>
          <a:xfrm>
            <a:off x="7438320" y="3771720"/>
            <a:ext cx="410508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100.5B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92" name="Shape 54"/>
          <p:cNvSpPr/>
          <p:nvPr/>
        </p:nvSpPr>
        <p:spPr>
          <a:xfrm>
            <a:off x="7292160" y="4210200"/>
            <a:ext cx="4342320" cy="98172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55"/>
          <p:cNvSpPr/>
          <p:nvPr/>
        </p:nvSpPr>
        <p:spPr>
          <a:xfrm>
            <a:off x="7438320" y="4356360"/>
            <a:ext cx="96336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4" name="Text 56"/>
          <p:cNvSpPr/>
          <p:nvPr/>
        </p:nvSpPr>
        <p:spPr>
          <a:xfrm>
            <a:off x="11242080" y="4356360"/>
            <a:ext cx="3060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+4%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5" name="Text 57"/>
          <p:cNvSpPr/>
          <p:nvPr/>
        </p:nvSpPr>
        <p:spPr>
          <a:xfrm>
            <a:off x="7438320" y="4611960"/>
            <a:ext cx="41414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60.1B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96" name="Text 58"/>
          <p:cNvSpPr/>
          <p:nvPr/>
        </p:nvSpPr>
        <p:spPr>
          <a:xfrm>
            <a:off x="7438320" y="4904280"/>
            <a:ext cx="410508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57.6B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97" name="Shape 59"/>
          <p:cNvSpPr/>
          <p:nvPr/>
        </p:nvSpPr>
        <p:spPr>
          <a:xfrm>
            <a:off x="7292160" y="5342400"/>
            <a:ext cx="4342320" cy="98172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60"/>
          <p:cNvSpPr/>
          <p:nvPr/>
        </p:nvSpPr>
        <p:spPr>
          <a:xfrm>
            <a:off x="7438320" y="5488560"/>
            <a:ext cx="10638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9" name="Text 61"/>
          <p:cNvSpPr/>
          <p:nvPr/>
        </p:nvSpPr>
        <p:spPr>
          <a:xfrm>
            <a:off x="11189880" y="5488560"/>
            <a:ext cx="36072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+16%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200" name="Text 62"/>
          <p:cNvSpPr/>
          <p:nvPr/>
        </p:nvSpPr>
        <p:spPr>
          <a:xfrm>
            <a:off x="7438320" y="5744520"/>
            <a:ext cx="41414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55.6B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201" name="Text 63"/>
          <p:cNvSpPr/>
          <p:nvPr/>
        </p:nvSpPr>
        <p:spPr>
          <a:xfrm>
            <a:off x="7438320" y="6036480"/>
            <a:ext cx="410508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47.8B</a:t>
            </a:r>
            <a:endParaRPr b="0" lang="en-HK" sz="86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331200" y="331200"/>
            <a:ext cx="115826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20" spc="9" strike="noStrike">
                <a:solidFill>
                  <a:srgbClr val="6366f1"/>
                </a:solidFill>
                <a:latin typeface="Liter"/>
                <a:ea typeface="Liter"/>
              </a:rPr>
              <a:t>FIRST HALF 2025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331200" y="563040"/>
            <a:ext cx="11673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350" spc="-1" strike="noStrike">
                <a:solidFill>
                  <a:srgbClr val="efefef"/>
                </a:solidFill>
                <a:latin typeface="Liter"/>
                <a:ea typeface="Liter"/>
              </a:rPr>
              <a:t>H1 2025 Consolidated Results</a:t>
            </a:r>
            <a:endParaRPr b="0" lang="en-HK" sz="2350" spc="-1" strike="noStrike"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331200" y="960840"/>
            <a:ext cx="115909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Six months ended 30 June 2025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335520" y="1296360"/>
            <a:ext cx="6215400" cy="5553000"/>
          </a:xfrm>
          <a:custGeom>
            <a:avLst/>
            <a:gdLst/>
            <a:ahLst/>
            <a:rect l="l" t="t" r="r" b="b"/>
            <a:pathLst>
              <a:path w="6220239" h="5557630">
                <a:moveTo>
                  <a:pt x="99370" y="0"/>
                </a:moveTo>
                <a:lnTo>
                  <a:pt x="6120869" y="0"/>
                </a:lnTo>
                <a:cubicBezTo>
                  <a:pt x="6175749" y="0"/>
                  <a:pt x="6220239" y="44490"/>
                  <a:pt x="6220239" y="99370"/>
                </a:cubicBezTo>
                <a:lnTo>
                  <a:pt x="6220239" y="5458260"/>
                </a:lnTo>
                <a:cubicBezTo>
                  <a:pt x="6220239" y="5513141"/>
                  <a:pt x="6175749" y="5557630"/>
                  <a:pt x="6120869" y="5557630"/>
                </a:cubicBezTo>
                <a:lnTo>
                  <a:pt x="99370" y="5557630"/>
                </a:lnTo>
                <a:cubicBezTo>
                  <a:pt x="44490" y="5557630"/>
                  <a:pt x="0" y="5513141"/>
                  <a:pt x="0" y="5458260"/>
                </a:cubicBezTo>
                <a:lnTo>
                  <a:pt x="0" y="99370"/>
                </a:lnTo>
                <a:cubicBezTo>
                  <a:pt x="0" y="44526"/>
                  <a:pt x="44526" y="0"/>
                  <a:pt x="993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Image 0"/>
          <p:cNvSpPr/>
          <p:nvPr/>
        </p:nvSpPr>
        <p:spPr>
          <a:xfrm>
            <a:off x="538200" y="1499040"/>
            <a:ext cx="4939920" cy="514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4"/>
          <p:cNvSpPr/>
          <p:nvPr/>
        </p:nvSpPr>
        <p:spPr>
          <a:xfrm>
            <a:off x="6766200" y="1296360"/>
            <a:ext cx="2471760" cy="1295640"/>
          </a:xfrm>
          <a:custGeom>
            <a:avLst/>
            <a:gdLst/>
            <a:ah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5"/>
          <p:cNvSpPr/>
          <p:nvPr/>
        </p:nvSpPr>
        <p:spPr>
          <a:xfrm>
            <a:off x="6935760" y="1465920"/>
            <a:ext cx="21902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Total Revenues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6935760" y="1697760"/>
            <a:ext cx="2256480" cy="2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364.5B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10" name="Shape 7"/>
          <p:cNvSpPr/>
          <p:nvPr/>
        </p:nvSpPr>
        <p:spPr>
          <a:xfrm>
            <a:off x="6935760" y="2062440"/>
            <a:ext cx="359640" cy="19404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8"/>
          <p:cNvSpPr/>
          <p:nvPr/>
        </p:nvSpPr>
        <p:spPr>
          <a:xfrm>
            <a:off x="6935760" y="2062440"/>
            <a:ext cx="4093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+14%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7367040" y="2095560"/>
            <a:ext cx="227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6935760" y="2294280"/>
            <a:ext cx="21819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9381600" y="1296360"/>
            <a:ext cx="2471760" cy="1295640"/>
          </a:xfrm>
          <a:custGeom>
            <a:avLst/>
            <a:gdLst/>
            <a:ah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2"/>
          <p:cNvSpPr/>
          <p:nvPr/>
        </p:nvSpPr>
        <p:spPr>
          <a:xfrm>
            <a:off x="9551520" y="1465920"/>
            <a:ext cx="21902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9551520" y="1697760"/>
            <a:ext cx="2256480" cy="2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205.5B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9551520" y="2062440"/>
            <a:ext cx="359640" cy="19404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5"/>
          <p:cNvSpPr/>
          <p:nvPr/>
        </p:nvSpPr>
        <p:spPr>
          <a:xfrm>
            <a:off x="9551520" y="2062440"/>
            <a:ext cx="4093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+21%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9981720" y="2095560"/>
            <a:ext cx="227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9551520" y="2294280"/>
            <a:ext cx="21819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6766200" y="2737440"/>
            <a:ext cx="5088960" cy="1295640"/>
          </a:xfrm>
          <a:custGeom>
            <a:avLst/>
            <a:gdLst/>
            <a:ah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9"/>
          <p:cNvSpPr/>
          <p:nvPr/>
        </p:nvSpPr>
        <p:spPr>
          <a:xfrm>
            <a:off x="6935760" y="2907360"/>
            <a:ext cx="48074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6935760" y="3139200"/>
            <a:ext cx="4873680" cy="2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117.7B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24" name="Shape 21"/>
          <p:cNvSpPr/>
          <p:nvPr/>
        </p:nvSpPr>
        <p:spPr>
          <a:xfrm>
            <a:off x="6935760" y="3503520"/>
            <a:ext cx="359640" cy="19404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22"/>
          <p:cNvSpPr/>
          <p:nvPr/>
        </p:nvSpPr>
        <p:spPr>
          <a:xfrm>
            <a:off x="6935760" y="3503520"/>
            <a:ext cx="4093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+14%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6" name="Text 23"/>
          <p:cNvSpPr/>
          <p:nvPr/>
        </p:nvSpPr>
        <p:spPr>
          <a:xfrm>
            <a:off x="7367040" y="3536640"/>
            <a:ext cx="227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7" name="Text 24"/>
          <p:cNvSpPr/>
          <p:nvPr/>
        </p:nvSpPr>
        <p:spPr>
          <a:xfrm>
            <a:off x="6935760" y="3735360"/>
            <a:ext cx="4799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8" name="Shape 25"/>
          <p:cNvSpPr/>
          <p:nvPr/>
        </p:nvSpPr>
        <p:spPr>
          <a:xfrm>
            <a:off x="6766200" y="4178520"/>
            <a:ext cx="5088960" cy="1295640"/>
          </a:xfrm>
          <a:custGeom>
            <a:avLst/>
            <a:gdLst/>
            <a:ah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26"/>
          <p:cNvSpPr/>
          <p:nvPr/>
        </p:nvSpPr>
        <p:spPr>
          <a:xfrm>
            <a:off x="6935760" y="4348440"/>
            <a:ext cx="48074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6935760" y="4580280"/>
            <a:ext cx="4873680" cy="2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103.4B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31" name="Shape 28"/>
          <p:cNvSpPr/>
          <p:nvPr/>
        </p:nvSpPr>
        <p:spPr>
          <a:xfrm>
            <a:off x="6935760" y="4944600"/>
            <a:ext cx="359640" cy="19404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29"/>
          <p:cNvSpPr/>
          <p:nvPr/>
        </p:nvSpPr>
        <p:spPr>
          <a:xfrm>
            <a:off x="6935760" y="4944600"/>
            <a:ext cx="4093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+16%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3" name="Text 30"/>
          <p:cNvSpPr/>
          <p:nvPr/>
        </p:nvSpPr>
        <p:spPr>
          <a:xfrm>
            <a:off x="7367760" y="4977720"/>
            <a:ext cx="227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4" name="Text 31"/>
          <p:cNvSpPr/>
          <p:nvPr/>
        </p:nvSpPr>
        <p:spPr>
          <a:xfrm>
            <a:off x="6935760" y="5176800"/>
            <a:ext cx="4799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5" name="Shape 32"/>
          <p:cNvSpPr/>
          <p:nvPr/>
        </p:nvSpPr>
        <p:spPr>
          <a:xfrm>
            <a:off x="6766200" y="5619600"/>
            <a:ext cx="5088960" cy="1229400"/>
          </a:xfrm>
          <a:custGeom>
            <a:avLst/>
            <a:gdLst/>
            <a:ahLst/>
            <a:rect l="l" t="t" r="r" b="b"/>
            <a:pathLst>
              <a:path w="5093804" h="1234109">
                <a:moveTo>
                  <a:pt x="99395" y="0"/>
                </a:moveTo>
                <a:lnTo>
                  <a:pt x="4994409" y="0"/>
                </a:lnTo>
                <a:cubicBezTo>
                  <a:pt x="5049304" y="0"/>
                  <a:pt x="5093804" y="44501"/>
                  <a:pt x="5093804" y="99395"/>
                </a:cubicBezTo>
                <a:lnTo>
                  <a:pt x="5093804" y="1134714"/>
                </a:lnTo>
                <a:cubicBezTo>
                  <a:pt x="5093804" y="1189608"/>
                  <a:pt x="5049304" y="1234109"/>
                  <a:pt x="4994409" y="1234109"/>
                </a:cubicBezTo>
                <a:lnTo>
                  <a:pt x="99395" y="1234109"/>
                </a:lnTo>
                <a:cubicBezTo>
                  <a:pt x="44501" y="1234109"/>
                  <a:pt x="0" y="1189608"/>
                  <a:pt x="0" y="1134714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33"/>
          <p:cNvSpPr/>
          <p:nvPr/>
        </p:nvSpPr>
        <p:spPr>
          <a:xfrm>
            <a:off x="6935760" y="5789520"/>
            <a:ext cx="4824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efefef"/>
                </a:solidFill>
                <a:latin typeface="Liter"/>
                <a:ea typeface="Liter"/>
              </a:rPr>
              <a:t>H1 2025 EPS Performance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7" name="Text 34"/>
          <p:cNvSpPr/>
          <p:nvPr/>
        </p:nvSpPr>
        <p:spPr>
          <a:xfrm>
            <a:off x="6935760" y="6120720"/>
            <a:ext cx="1055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Basic EPS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38" name="Text 35"/>
          <p:cNvSpPr/>
          <p:nvPr/>
        </p:nvSpPr>
        <p:spPr>
          <a:xfrm>
            <a:off x="6935760" y="6286680"/>
            <a:ext cx="109692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60" spc="-1" strike="noStrike">
                <a:solidFill>
                  <a:srgbClr val="efefef"/>
                </a:solidFill>
                <a:latin typeface="Liter"/>
                <a:ea typeface="Liter"/>
              </a:rPr>
              <a:t>RMB 11.367</a:t>
            </a:r>
            <a:endParaRPr b="0" lang="en-HK" sz="1560" spc="-1" strike="noStrike">
              <a:latin typeface="Arial"/>
            </a:endParaRPr>
          </a:p>
        </p:txBody>
      </p:sp>
      <p:sp>
        <p:nvSpPr>
          <p:cNvPr id="239" name="Text 36"/>
          <p:cNvSpPr/>
          <p:nvPr/>
        </p:nvSpPr>
        <p:spPr>
          <a:xfrm>
            <a:off x="6935760" y="6551640"/>
            <a:ext cx="1047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+19% 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40" name="Text 37"/>
          <p:cNvSpPr/>
          <p:nvPr/>
        </p:nvSpPr>
        <p:spPr>
          <a:xfrm>
            <a:off x="10646640" y="6120720"/>
            <a:ext cx="103896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Diluted EPS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41" name="Text 38"/>
          <p:cNvSpPr/>
          <p:nvPr/>
        </p:nvSpPr>
        <p:spPr>
          <a:xfrm>
            <a:off x="10605240" y="6286680"/>
            <a:ext cx="108036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60" spc="-1" strike="noStrike">
                <a:solidFill>
                  <a:srgbClr val="efefef"/>
                </a:solidFill>
                <a:latin typeface="Liter"/>
                <a:ea typeface="Liter"/>
              </a:rPr>
              <a:t>RMB 11.126</a:t>
            </a:r>
            <a:endParaRPr b="0" lang="en-HK" sz="1560" spc="-1" strike="noStrike">
              <a:latin typeface="Arial"/>
            </a:endParaRPr>
          </a:p>
        </p:txBody>
      </p:sp>
      <p:sp>
        <p:nvSpPr>
          <p:cNvPr id="242" name="Text 39"/>
          <p:cNvSpPr/>
          <p:nvPr/>
        </p:nvSpPr>
        <p:spPr>
          <a:xfrm>
            <a:off x="10654920" y="6551640"/>
            <a:ext cx="1030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+19% YoY</a:t>
            </a:r>
            <a:endParaRPr b="0" lang="en-HK" sz="7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0"/>
          <p:cNvSpPr/>
          <p:nvPr/>
        </p:nvSpPr>
        <p:spPr>
          <a:xfrm>
            <a:off x="380880" y="380880"/>
            <a:ext cx="114919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18" strike="noStrike">
                <a:solidFill>
                  <a:srgbClr val="6366f1"/>
                </a:solidFill>
                <a:latin typeface="Liter"/>
                <a:ea typeface="Liter"/>
              </a:rPr>
              <a:t>BUSINESS SEGMENTS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380880" y="647640"/>
            <a:ext cx="115966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efefef"/>
                </a:solidFill>
                <a:latin typeface="Liter"/>
                <a:ea typeface="Liter"/>
              </a:rPr>
              <a:t>Revenue Analysis by Segment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380880" y="1104840"/>
            <a:ext cx="115016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Q2 2025 segment performance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385920" y="1414440"/>
            <a:ext cx="5786640" cy="5052960"/>
          </a:xfrm>
          <a:custGeom>
            <a:avLst/>
            <a:gdLst/>
            <a:ahLst/>
            <a:rect l="l" t="t" r="r" b="b"/>
            <a:pathLst>
              <a:path w="5791200" h="5057775">
                <a:moveTo>
                  <a:pt x="114306" y="0"/>
                </a:moveTo>
                <a:lnTo>
                  <a:pt x="5676894" y="0"/>
                </a:lnTo>
                <a:cubicBezTo>
                  <a:pt x="5740024" y="0"/>
                  <a:pt x="5791200" y="51176"/>
                  <a:pt x="5791200" y="114306"/>
                </a:cubicBezTo>
                <a:lnTo>
                  <a:pt x="5791200" y="4943469"/>
                </a:lnTo>
                <a:cubicBezTo>
                  <a:pt x="5791200" y="5006599"/>
                  <a:pt x="5740024" y="5057775"/>
                  <a:pt x="5676894" y="5057775"/>
                </a:cubicBezTo>
                <a:lnTo>
                  <a:pt x="114306" y="5057775"/>
                </a:lnTo>
                <a:cubicBezTo>
                  <a:pt x="51176" y="5057775"/>
                  <a:pt x="0" y="5006599"/>
                  <a:pt x="0" y="49434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Image 0"/>
          <p:cNvSpPr/>
          <p:nvPr/>
        </p:nvSpPr>
        <p:spPr>
          <a:xfrm>
            <a:off x="581040" y="1609560"/>
            <a:ext cx="5396040" cy="46627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4"/>
          <p:cNvSpPr/>
          <p:nvPr/>
        </p:nvSpPr>
        <p:spPr>
          <a:xfrm>
            <a:off x="6429240" y="1414440"/>
            <a:ext cx="5372280" cy="2033640"/>
          </a:xfrm>
          <a:custGeom>
            <a:avLst/>
            <a:gdLst/>
            <a:ahLst/>
            <a:rect l="l" t="t" r="r" b="b"/>
            <a:pathLst>
              <a:path w="5376863" h="2038350">
                <a:moveTo>
                  <a:pt x="114290" y="0"/>
                </a:moveTo>
                <a:lnTo>
                  <a:pt x="5262572" y="0"/>
                </a:lnTo>
                <a:cubicBezTo>
                  <a:pt x="5325693" y="0"/>
                  <a:pt x="5376863" y="51170"/>
                  <a:pt x="5376863" y="114290"/>
                </a:cubicBezTo>
                <a:lnTo>
                  <a:pt x="5376863" y="1924060"/>
                </a:lnTo>
                <a:cubicBezTo>
                  <a:pt x="5376863" y="1987180"/>
                  <a:pt x="5325693" y="2038350"/>
                  <a:pt x="5262572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5"/>
          <p:cNvSpPr/>
          <p:nvPr/>
        </p:nvSpPr>
        <p:spPr>
          <a:xfrm>
            <a:off x="6600960" y="1571760"/>
            <a:ext cx="17668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Value-Added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11267280" y="1590840"/>
            <a:ext cx="376200" cy="223920"/>
          </a:xfrm>
          <a:custGeom>
            <a:avLst/>
            <a:gdLst/>
            <a:ah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7"/>
          <p:cNvSpPr/>
          <p:nvPr/>
        </p:nvSpPr>
        <p:spPr>
          <a:xfrm>
            <a:off x="11267280" y="1590840"/>
            <a:ext cx="4334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50%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2" name="Text 8"/>
          <p:cNvSpPr/>
          <p:nvPr/>
        </p:nvSpPr>
        <p:spPr>
          <a:xfrm>
            <a:off x="6600960" y="1914480"/>
            <a:ext cx="518652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91.4B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53" name="Text 9"/>
          <p:cNvSpPr/>
          <p:nvPr/>
        </p:nvSpPr>
        <p:spPr>
          <a:xfrm>
            <a:off x="6600960" y="2295360"/>
            <a:ext cx="6429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+16%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7255440" y="2314440"/>
            <a:ext cx="132876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Games + Social Networks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5" name="Shape 11"/>
          <p:cNvSpPr/>
          <p:nvPr/>
        </p:nvSpPr>
        <p:spPr>
          <a:xfrm>
            <a:off x="6600960" y="2604960"/>
            <a:ext cx="5043600" cy="4680"/>
          </a:xfrm>
          <a:custGeom>
            <a:avLst/>
            <a:gdLst/>
            <a:ah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  <a:lnTo>
                  <a:pt x="5048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12"/>
          <p:cNvSpPr/>
          <p:nvPr/>
        </p:nvSpPr>
        <p:spPr>
          <a:xfrm>
            <a:off x="6600960" y="2724120"/>
            <a:ext cx="25192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Domestic Games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7" name="Text 13"/>
          <p:cNvSpPr/>
          <p:nvPr/>
        </p:nvSpPr>
        <p:spPr>
          <a:xfrm>
            <a:off x="6600960" y="2876400"/>
            <a:ext cx="25480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RMB 40.4B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58" name="Text 14"/>
          <p:cNvSpPr/>
          <p:nvPr/>
        </p:nvSpPr>
        <p:spPr>
          <a:xfrm>
            <a:off x="6600960" y="3143160"/>
            <a:ext cx="25192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+17%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9182160" y="2724120"/>
            <a:ext cx="25192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International Games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0" name="Text 16"/>
          <p:cNvSpPr/>
          <p:nvPr/>
        </p:nvSpPr>
        <p:spPr>
          <a:xfrm>
            <a:off x="9182160" y="2876400"/>
            <a:ext cx="25480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RMB 18.8B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61" name="Text 17"/>
          <p:cNvSpPr/>
          <p:nvPr/>
        </p:nvSpPr>
        <p:spPr>
          <a:xfrm>
            <a:off x="9182160" y="3143160"/>
            <a:ext cx="25192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+35%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2" name="Shape 18"/>
          <p:cNvSpPr/>
          <p:nvPr/>
        </p:nvSpPr>
        <p:spPr>
          <a:xfrm>
            <a:off x="6429240" y="3538440"/>
            <a:ext cx="5372280" cy="1224000"/>
          </a:xfrm>
          <a:custGeom>
            <a:avLst/>
            <a:gdLst/>
            <a:ah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9"/>
          <p:cNvSpPr/>
          <p:nvPr/>
        </p:nvSpPr>
        <p:spPr>
          <a:xfrm>
            <a:off x="6600960" y="3695760"/>
            <a:ext cx="15382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Marketing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64" name="Shape 20"/>
          <p:cNvSpPr/>
          <p:nvPr/>
        </p:nvSpPr>
        <p:spPr>
          <a:xfrm>
            <a:off x="11292120" y="3714840"/>
            <a:ext cx="347760" cy="223920"/>
          </a:xfrm>
          <a:custGeom>
            <a:avLst/>
            <a:gdLst/>
            <a:ahLst/>
            <a:rect l="l" t="t" r="r" b="b"/>
            <a:pathLst>
              <a:path w="352425" h="228600">
                <a:moveTo>
                  <a:pt x="38101" y="0"/>
                </a:moveTo>
                <a:lnTo>
                  <a:pt x="314324" y="0"/>
                </a:lnTo>
                <a:cubicBezTo>
                  <a:pt x="335367" y="0"/>
                  <a:pt x="352425" y="17058"/>
                  <a:pt x="352425" y="38101"/>
                </a:cubicBezTo>
                <a:lnTo>
                  <a:pt x="352425" y="190499"/>
                </a:lnTo>
                <a:cubicBezTo>
                  <a:pt x="352425" y="211542"/>
                  <a:pt x="335367" y="228600"/>
                  <a:pt x="314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21"/>
          <p:cNvSpPr/>
          <p:nvPr/>
        </p:nvSpPr>
        <p:spPr>
          <a:xfrm>
            <a:off x="11292120" y="3714840"/>
            <a:ext cx="4050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19%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6" name="Text 22"/>
          <p:cNvSpPr/>
          <p:nvPr/>
        </p:nvSpPr>
        <p:spPr>
          <a:xfrm>
            <a:off x="6600960" y="4038480"/>
            <a:ext cx="518652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35.8B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67" name="Text 23"/>
          <p:cNvSpPr/>
          <p:nvPr/>
        </p:nvSpPr>
        <p:spPr>
          <a:xfrm>
            <a:off x="6600960" y="4419720"/>
            <a:ext cx="6717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8" name="Text 24"/>
          <p:cNvSpPr/>
          <p:nvPr/>
        </p:nvSpPr>
        <p:spPr>
          <a:xfrm>
            <a:off x="7284960" y="4438800"/>
            <a:ext cx="16812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AI-powered advertising platform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9" name="Shape 25"/>
          <p:cNvSpPr/>
          <p:nvPr/>
        </p:nvSpPr>
        <p:spPr>
          <a:xfrm>
            <a:off x="6429240" y="4853160"/>
            <a:ext cx="5372280" cy="1224000"/>
          </a:xfrm>
          <a:custGeom>
            <a:avLst/>
            <a:gdLst/>
            <a:ah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6"/>
          <p:cNvSpPr/>
          <p:nvPr/>
        </p:nvSpPr>
        <p:spPr>
          <a:xfrm>
            <a:off x="6600960" y="5010120"/>
            <a:ext cx="22528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FinTech &amp; Business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71" name="Shape 27"/>
          <p:cNvSpPr/>
          <p:nvPr/>
        </p:nvSpPr>
        <p:spPr>
          <a:xfrm>
            <a:off x="11265480" y="5029200"/>
            <a:ext cx="376200" cy="223920"/>
          </a:xfrm>
          <a:custGeom>
            <a:avLst/>
            <a:gdLst/>
            <a:ah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28"/>
          <p:cNvSpPr/>
          <p:nvPr/>
        </p:nvSpPr>
        <p:spPr>
          <a:xfrm>
            <a:off x="11265480" y="5029200"/>
            <a:ext cx="4334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30%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73" name="Text 29"/>
          <p:cNvSpPr/>
          <p:nvPr/>
        </p:nvSpPr>
        <p:spPr>
          <a:xfrm>
            <a:off x="6600960" y="5353200"/>
            <a:ext cx="518652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55.5B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74" name="Text 30"/>
          <p:cNvSpPr/>
          <p:nvPr/>
        </p:nvSpPr>
        <p:spPr>
          <a:xfrm>
            <a:off x="6600960" y="5734080"/>
            <a:ext cx="6429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+10%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75" name="Text 31"/>
          <p:cNvSpPr/>
          <p:nvPr/>
        </p:nvSpPr>
        <p:spPr>
          <a:xfrm>
            <a:off x="7260840" y="5753160"/>
            <a:ext cx="15670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Payment + Cloud + AI services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0"/>
          <p:cNvSpPr/>
          <p:nvPr/>
        </p:nvSpPr>
        <p:spPr>
          <a:xfrm>
            <a:off x="380880" y="380880"/>
            <a:ext cx="114919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18" strike="noStrike">
                <a:solidFill>
                  <a:srgbClr val="6366f1"/>
                </a:solidFill>
                <a:latin typeface="Liter"/>
                <a:ea typeface="Liter"/>
              </a:rPr>
              <a:t>MARGIN EXPANSION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380880" y="647640"/>
            <a:ext cx="115966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efefef"/>
                </a:solidFill>
                <a:latin typeface="Liter"/>
                <a:ea typeface="Liter"/>
              </a:rPr>
              <a:t>Profitability &amp; Margins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380880" y="1104840"/>
            <a:ext cx="115016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Gross margin improvement driven by high-margin revenue streams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9" name="Shape 3"/>
          <p:cNvSpPr/>
          <p:nvPr/>
        </p:nvSpPr>
        <p:spPr>
          <a:xfrm>
            <a:off x="385920" y="1414440"/>
            <a:ext cx="6329520" cy="5310360"/>
          </a:xfrm>
          <a:custGeom>
            <a:avLst/>
            <a:gdLst/>
            <a:ahLst/>
            <a:rect l="l" t="t" r="r" b="b"/>
            <a:pathLst>
              <a:path w="6334125" h="5314950">
                <a:moveTo>
                  <a:pt x="114325" y="0"/>
                </a:moveTo>
                <a:lnTo>
                  <a:pt x="6219800" y="0"/>
                </a:lnTo>
                <a:cubicBezTo>
                  <a:pt x="6282940" y="0"/>
                  <a:pt x="6334125" y="51185"/>
                  <a:pt x="6334125" y="114325"/>
                </a:cubicBezTo>
                <a:lnTo>
                  <a:pt x="6334125" y="5200625"/>
                </a:lnTo>
                <a:cubicBezTo>
                  <a:pt x="6334125" y="5263765"/>
                  <a:pt x="6282940" y="5314950"/>
                  <a:pt x="6219800" y="5314950"/>
                </a:cubicBezTo>
                <a:lnTo>
                  <a:pt x="114325" y="5314950"/>
                </a:lnTo>
                <a:cubicBezTo>
                  <a:pt x="51185" y="5314950"/>
                  <a:pt x="0" y="5263765"/>
                  <a:pt x="0" y="5200625"/>
                </a:cubicBezTo>
                <a:lnTo>
                  <a:pt x="0" y="114325"/>
                </a:lnTo>
                <a:cubicBezTo>
                  <a:pt x="0" y="51185"/>
                  <a:pt x="51185" y="0"/>
                  <a:pt x="1143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Image 0"/>
          <p:cNvSpPr/>
          <p:nvPr/>
        </p:nvSpPr>
        <p:spPr>
          <a:xfrm>
            <a:off x="581040" y="1609560"/>
            <a:ext cx="5938920" cy="49197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4"/>
          <p:cNvSpPr/>
          <p:nvPr/>
        </p:nvSpPr>
        <p:spPr>
          <a:xfrm>
            <a:off x="6958080" y="1414440"/>
            <a:ext cx="4843440" cy="2576520"/>
          </a:xfrm>
          <a:custGeom>
            <a:avLst/>
            <a:gdLst/>
            <a:ahLst/>
            <a:rect l="l" t="t" r="r" b="b"/>
            <a:pathLst>
              <a:path w="4848225" h="2581275">
                <a:moveTo>
                  <a:pt x="114299" y="0"/>
                </a:moveTo>
                <a:lnTo>
                  <a:pt x="4733926" y="0"/>
                </a:lnTo>
                <a:cubicBezTo>
                  <a:pt x="4797052" y="0"/>
                  <a:pt x="4848225" y="51173"/>
                  <a:pt x="4848225" y="114299"/>
                </a:cubicBezTo>
                <a:lnTo>
                  <a:pt x="4848225" y="2466976"/>
                </a:lnTo>
                <a:cubicBezTo>
                  <a:pt x="4848225" y="2530102"/>
                  <a:pt x="4797052" y="2581275"/>
                  <a:pt x="4733926" y="2581275"/>
                </a:cubicBezTo>
                <a:lnTo>
                  <a:pt x="114299" y="2581275"/>
                </a:lnTo>
                <a:cubicBezTo>
                  <a:pt x="51173" y="2581275"/>
                  <a:pt x="0" y="2530102"/>
                  <a:pt x="0" y="24669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5"/>
          <p:cNvSpPr/>
          <p:nvPr/>
        </p:nvSpPr>
        <p:spPr>
          <a:xfrm>
            <a:off x="7153200" y="1609560"/>
            <a:ext cx="376200" cy="37620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6"/>
          <p:cNvSpPr/>
          <p:nvPr/>
        </p:nvSpPr>
        <p:spPr>
          <a:xfrm>
            <a:off x="7267680" y="1724040"/>
            <a:ext cx="147600" cy="14760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7"/>
          <p:cNvSpPr/>
          <p:nvPr/>
        </p:nvSpPr>
        <p:spPr>
          <a:xfrm>
            <a:off x="7648560" y="1666800"/>
            <a:ext cx="184320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Overall Gross Margin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7153200" y="2104920"/>
            <a:ext cx="10810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6366f1"/>
                </a:solidFill>
                <a:latin typeface="Liter"/>
                <a:ea typeface="Liter"/>
              </a:rPr>
              <a:t>57%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8127720" y="2300400"/>
            <a:ext cx="452520" cy="262080"/>
          </a:xfrm>
          <a:custGeom>
            <a:avLst/>
            <a:gdLst/>
            <a:ahLst/>
            <a:rect l="l" t="t" r="r" b="b"/>
            <a:pathLst>
              <a:path w="457200" h="2667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228599"/>
                </a:lnTo>
                <a:cubicBezTo>
                  <a:pt x="457200" y="249628"/>
                  <a:pt x="440128" y="266700"/>
                  <a:pt x="419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10"/>
          <p:cNvSpPr/>
          <p:nvPr/>
        </p:nvSpPr>
        <p:spPr>
          <a:xfrm>
            <a:off x="8127720" y="2300400"/>
            <a:ext cx="51912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+4pp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7153200" y="2643120"/>
            <a:ext cx="4519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vs 53% in Q2 2024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9" name="Shape 12"/>
          <p:cNvSpPr/>
          <p:nvPr/>
        </p:nvSpPr>
        <p:spPr>
          <a:xfrm>
            <a:off x="7153200" y="2990880"/>
            <a:ext cx="4453200" cy="4680"/>
          </a:xfrm>
          <a:custGeom>
            <a:avLst/>
            <a:gdLst/>
            <a:ahLst/>
            <a:rect l="l" t="t" r="r" b="b"/>
            <a:pathLst>
              <a:path w="4457700" h="9525">
                <a:moveTo>
                  <a:pt x="0" y="0"/>
                </a:moveTo>
                <a:lnTo>
                  <a:pt x="4457700" y="0"/>
                </a:lnTo>
                <a:lnTo>
                  <a:pt x="4457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13"/>
          <p:cNvSpPr/>
          <p:nvPr/>
        </p:nvSpPr>
        <p:spPr>
          <a:xfrm>
            <a:off x="7153200" y="3147840"/>
            <a:ext cx="451980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Driven by increased contributions from high-margin revenue streams including Domestic Games, Video Accounts, and Weixin Search, alongside enhanced cost efficiency.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1" name="Shape 14"/>
          <p:cNvSpPr/>
          <p:nvPr/>
        </p:nvSpPr>
        <p:spPr>
          <a:xfrm>
            <a:off x="6958080" y="4079160"/>
            <a:ext cx="4843440" cy="2633760"/>
          </a:xfrm>
          <a:custGeom>
            <a:avLst/>
            <a:gdLst/>
            <a:ahLst/>
            <a:rect l="l" t="t" r="r" b="b"/>
            <a:pathLst>
              <a:path w="4848225" h="2638425">
                <a:moveTo>
                  <a:pt x="114297" y="0"/>
                </a:moveTo>
                <a:lnTo>
                  <a:pt x="4733928" y="0"/>
                </a:lnTo>
                <a:cubicBezTo>
                  <a:pt x="4797053" y="0"/>
                  <a:pt x="4848225" y="51172"/>
                  <a:pt x="4848225" y="114297"/>
                </a:cubicBezTo>
                <a:lnTo>
                  <a:pt x="4848225" y="2524128"/>
                </a:lnTo>
                <a:cubicBezTo>
                  <a:pt x="4848225" y="2587253"/>
                  <a:pt x="4797053" y="2638425"/>
                  <a:pt x="4733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15"/>
          <p:cNvSpPr/>
          <p:nvPr/>
        </p:nvSpPr>
        <p:spPr>
          <a:xfrm>
            <a:off x="7153200" y="4274280"/>
            <a:ext cx="45388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Segment Gross Margins (Q2 2025)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7153200" y="4712400"/>
            <a:ext cx="3193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VAS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11301840" y="4693320"/>
            <a:ext cx="3762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60%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5" name="Shape 18"/>
          <p:cNvSpPr/>
          <p:nvPr/>
        </p:nvSpPr>
        <p:spPr>
          <a:xfrm>
            <a:off x="7153200" y="4960080"/>
            <a:ext cx="4453200" cy="7164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19"/>
          <p:cNvSpPr/>
          <p:nvPr/>
        </p:nvSpPr>
        <p:spPr>
          <a:xfrm>
            <a:off x="7153200" y="4960080"/>
            <a:ext cx="2671920" cy="71640"/>
          </a:xfrm>
          <a:custGeom>
            <a:avLst/>
            <a:gdLst/>
            <a:ahLst/>
            <a:rect l="l" t="t" r="r" b="b"/>
            <a:pathLst>
              <a:path w="2676525" h="76200">
                <a:moveTo>
                  <a:pt x="38100" y="0"/>
                </a:moveTo>
                <a:lnTo>
                  <a:pt x="2638425" y="0"/>
                </a:lnTo>
                <a:cubicBezTo>
                  <a:pt x="2659453" y="0"/>
                  <a:pt x="2676525" y="17072"/>
                  <a:pt x="2676525" y="38100"/>
                </a:cubicBezTo>
                <a:lnTo>
                  <a:pt x="2676525" y="38100"/>
                </a:lnTo>
                <a:cubicBezTo>
                  <a:pt x="2676525" y="59128"/>
                  <a:pt x="2659453" y="76200"/>
                  <a:pt x="2638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20"/>
          <p:cNvSpPr/>
          <p:nvPr/>
        </p:nvSpPr>
        <p:spPr>
          <a:xfrm>
            <a:off x="7153200" y="5074560"/>
            <a:ext cx="45100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57% in Q2 2024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7153200" y="5360040"/>
            <a:ext cx="11955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Marketing Services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9" name="Text 22"/>
          <p:cNvSpPr/>
          <p:nvPr/>
        </p:nvSpPr>
        <p:spPr>
          <a:xfrm>
            <a:off x="11308680" y="5341320"/>
            <a:ext cx="3762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58%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0" name="Shape 23"/>
          <p:cNvSpPr/>
          <p:nvPr/>
        </p:nvSpPr>
        <p:spPr>
          <a:xfrm>
            <a:off x="7153200" y="5607720"/>
            <a:ext cx="4453200" cy="7164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Shape 24"/>
          <p:cNvSpPr/>
          <p:nvPr/>
        </p:nvSpPr>
        <p:spPr>
          <a:xfrm>
            <a:off x="7153200" y="5607720"/>
            <a:ext cx="2576520" cy="71640"/>
          </a:xfrm>
          <a:custGeom>
            <a:avLst/>
            <a:gdLst/>
            <a:ahLst/>
            <a:rect l="l" t="t" r="r" b="b"/>
            <a:pathLst>
              <a:path w="2581275" h="76200">
                <a:moveTo>
                  <a:pt x="38100" y="0"/>
                </a:moveTo>
                <a:lnTo>
                  <a:pt x="2543175" y="0"/>
                </a:lnTo>
                <a:cubicBezTo>
                  <a:pt x="2564203" y="0"/>
                  <a:pt x="2581275" y="17072"/>
                  <a:pt x="2581275" y="38100"/>
                </a:cubicBezTo>
                <a:lnTo>
                  <a:pt x="2581275" y="38100"/>
                </a:lnTo>
                <a:cubicBezTo>
                  <a:pt x="2581275" y="59128"/>
                  <a:pt x="2564203" y="76200"/>
                  <a:pt x="2543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25"/>
          <p:cNvSpPr/>
          <p:nvPr/>
        </p:nvSpPr>
        <p:spPr>
          <a:xfrm>
            <a:off x="7153200" y="5722200"/>
            <a:ext cx="45100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56% in Q2 2024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303" name="Text 26"/>
          <p:cNvSpPr/>
          <p:nvPr/>
        </p:nvSpPr>
        <p:spPr>
          <a:xfrm>
            <a:off x="7153200" y="6008040"/>
            <a:ext cx="12146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FinTech &amp; Business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04" name="Text 27"/>
          <p:cNvSpPr/>
          <p:nvPr/>
        </p:nvSpPr>
        <p:spPr>
          <a:xfrm>
            <a:off x="11313720" y="5988960"/>
            <a:ext cx="3668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52%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5" name="Shape 28"/>
          <p:cNvSpPr/>
          <p:nvPr/>
        </p:nvSpPr>
        <p:spPr>
          <a:xfrm>
            <a:off x="7153200" y="6255720"/>
            <a:ext cx="4453200" cy="7164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Shape 29"/>
          <p:cNvSpPr/>
          <p:nvPr/>
        </p:nvSpPr>
        <p:spPr>
          <a:xfrm>
            <a:off x="7153200" y="6255720"/>
            <a:ext cx="2309760" cy="71640"/>
          </a:xfrm>
          <a:custGeom>
            <a:avLst/>
            <a:gdLst/>
            <a:ahLst/>
            <a:rect l="l" t="t" r="r" b="b"/>
            <a:pathLst>
              <a:path w="2314575" h="76200">
                <a:moveTo>
                  <a:pt x="38100" y="0"/>
                </a:moveTo>
                <a:lnTo>
                  <a:pt x="2276475" y="0"/>
                </a:lnTo>
                <a:cubicBezTo>
                  <a:pt x="2297503" y="0"/>
                  <a:pt x="2314575" y="17072"/>
                  <a:pt x="2314575" y="38100"/>
                </a:cubicBezTo>
                <a:lnTo>
                  <a:pt x="2314575" y="38100"/>
                </a:lnTo>
                <a:cubicBezTo>
                  <a:pt x="2314575" y="59128"/>
                  <a:pt x="2297503" y="76200"/>
                  <a:pt x="2276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30"/>
          <p:cNvSpPr/>
          <p:nvPr/>
        </p:nvSpPr>
        <p:spPr>
          <a:xfrm>
            <a:off x="7153200" y="6369840"/>
            <a:ext cx="45100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48% in Q2 2024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/>
          <p:nvPr/>
        </p:nvSpPr>
        <p:spPr>
          <a:xfrm>
            <a:off x="370440" y="370440"/>
            <a:ext cx="115113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15" strike="noStrike">
                <a:solidFill>
                  <a:srgbClr val="6366f1"/>
                </a:solidFill>
                <a:latin typeface="Liter"/>
                <a:ea typeface="Liter"/>
              </a:rPr>
              <a:t>GAMING BUSINESS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370440" y="629640"/>
            <a:ext cx="1161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Games Performance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370440" y="1073880"/>
            <a:ext cx="115207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8f8f8f"/>
                </a:solidFill>
                <a:latin typeface="Liter"/>
                <a:ea typeface="Liter"/>
              </a:rPr>
              <a:t>Domestic and international games driving VAS growth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388800" y="1374840"/>
            <a:ext cx="5628600" cy="3753720"/>
          </a:xfrm>
          <a:custGeom>
            <a:avLst/>
            <a:gdLst/>
            <a:ahLst/>
            <a:rect l="l" t="t" r="r" b="b"/>
            <a:pathLst>
              <a:path w="5633130" h="3758506">
                <a:moveTo>
                  <a:pt x="111101" y="0"/>
                </a:moveTo>
                <a:lnTo>
                  <a:pt x="5522028" y="0"/>
                </a:lnTo>
                <a:cubicBezTo>
                  <a:pt x="5583388" y="0"/>
                  <a:pt x="5633130" y="49742"/>
                  <a:pt x="5633130" y="111101"/>
                </a:cubicBezTo>
                <a:lnTo>
                  <a:pt x="5633130" y="3647404"/>
                </a:lnTo>
                <a:cubicBezTo>
                  <a:pt x="5633130" y="3708723"/>
                  <a:pt x="5583347" y="3758506"/>
                  <a:pt x="5522028" y="3758506"/>
                </a:cubicBezTo>
                <a:lnTo>
                  <a:pt x="111101" y="3758506"/>
                </a:lnTo>
                <a:cubicBezTo>
                  <a:pt x="49742" y="3758506"/>
                  <a:pt x="0" y="3708764"/>
                  <a:pt x="0" y="3647404"/>
                </a:cubicBezTo>
                <a:lnTo>
                  <a:pt x="0" y="111101"/>
                </a:lnTo>
                <a:cubicBezTo>
                  <a:pt x="0" y="49742"/>
                  <a:pt x="49742" y="0"/>
                  <a:pt x="1111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4"/>
          <p:cNvSpPr/>
          <p:nvPr/>
        </p:nvSpPr>
        <p:spPr>
          <a:xfrm>
            <a:off x="592560" y="1564560"/>
            <a:ext cx="439560" cy="439560"/>
          </a:xfrm>
          <a:custGeom>
            <a:avLst/>
            <a:gdLst/>
            <a:ah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5"/>
          <p:cNvSpPr/>
          <p:nvPr/>
        </p:nvSpPr>
        <p:spPr>
          <a:xfrm>
            <a:off x="722160" y="1694160"/>
            <a:ext cx="180360" cy="180360"/>
          </a:xfrm>
          <a:custGeom>
            <a:avLst/>
            <a:gdLst/>
            <a:ahLst/>
            <a:rect l="l" t="t" r="r" b="b"/>
            <a:pathLst>
              <a:path w="185148" h="185148">
                <a:moveTo>
                  <a:pt x="100457" y="3110"/>
                </a:moveTo>
                <a:cubicBezTo>
                  <a:pt x="96009" y="-1013"/>
                  <a:pt x="89139" y="-1013"/>
                  <a:pt x="84727" y="3110"/>
                </a:cubicBezTo>
                <a:lnTo>
                  <a:pt x="3725" y="78326"/>
                </a:lnTo>
                <a:cubicBezTo>
                  <a:pt x="253" y="81581"/>
                  <a:pt x="-904" y="86607"/>
                  <a:pt x="832" y="91019"/>
                </a:cubicBezTo>
                <a:cubicBezTo>
                  <a:pt x="2567" y="95431"/>
                  <a:pt x="6798" y="98360"/>
                  <a:pt x="11572" y="98360"/>
                </a:cubicBezTo>
                <a:lnTo>
                  <a:pt x="17358" y="98360"/>
                </a:lnTo>
                <a:lnTo>
                  <a:pt x="17358" y="162005"/>
                </a:lnTo>
                <a:cubicBezTo>
                  <a:pt x="17358" y="174770"/>
                  <a:pt x="27736" y="185148"/>
                  <a:pt x="40501" y="185148"/>
                </a:cubicBezTo>
                <a:lnTo>
                  <a:pt x="144647" y="185148"/>
                </a:lnTo>
                <a:cubicBezTo>
                  <a:pt x="157412" y="185148"/>
                  <a:pt x="167790" y="174770"/>
                  <a:pt x="167790" y="162005"/>
                </a:cubicBezTo>
                <a:lnTo>
                  <a:pt x="167790" y="98360"/>
                </a:lnTo>
                <a:lnTo>
                  <a:pt x="173576" y="98360"/>
                </a:lnTo>
                <a:cubicBezTo>
                  <a:pt x="178350" y="98360"/>
                  <a:pt x="182617" y="95431"/>
                  <a:pt x="184353" y="91019"/>
                </a:cubicBezTo>
                <a:cubicBezTo>
                  <a:pt x="186088" y="86607"/>
                  <a:pt x="184931" y="81545"/>
                  <a:pt x="181460" y="78326"/>
                </a:cubicBezTo>
                <a:lnTo>
                  <a:pt x="100457" y="3110"/>
                </a:lnTo>
                <a:close/>
                <a:moveTo>
                  <a:pt x="86788" y="115718"/>
                </a:moveTo>
                <a:lnTo>
                  <a:pt x="98360" y="115718"/>
                </a:lnTo>
                <a:cubicBezTo>
                  <a:pt x="107943" y="115718"/>
                  <a:pt x="115718" y="123492"/>
                  <a:pt x="115718" y="133075"/>
                </a:cubicBezTo>
                <a:lnTo>
                  <a:pt x="115718" y="167790"/>
                </a:lnTo>
                <a:lnTo>
                  <a:pt x="69431" y="167790"/>
                </a:lnTo>
                <a:lnTo>
                  <a:pt x="69431" y="133075"/>
                </a:lnTo>
                <a:cubicBezTo>
                  <a:pt x="69431" y="123492"/>
                  <a:pt x="77205" y="115718"/>
                  <a:pt x="86788" y="115718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6"/>
          <p:cNvSpPr/>
          <p:nvPr/>
        </p:nvSpPr>
        <p:spPr>
          <a:xfrm>
            <a:off x="1148040" y="1564560"/>
            <a:ext cx="1476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efefef"/>
                </a:solidFill>
                <a:latin typeface="Liter"/>
                <a:ea typeface="Liter"/>
              </a:rPr>
              <a:t>Domestic Games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1148040" y="1823760"/>
            <a:ext cx="1448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China market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592560" y="2157120"/>
            <a:ext cx="52999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592560" y="2379240"/>
            <a:ext cx="1828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RMB 40.4B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2369880" y="2494800"/>
            <a:ext cx="698760" cy="254520"/>
          </a:xfrm>
          <a:custGeom>
            <a:avLst/>
            <a:gdLst/>
            <a:ahLst/>
            <a:rect l="l" t="t" r="r" b="b"/>
            <a:pathLst>
              <a:path w="703563" h="259207">
                <a:moveTo>
                  <a:pt x="37030" y="0"/>
                </a:moveTo>
                <a:lnTo>
                  <a:pt x="666532" y="0"/>
                </a:lnTo>
                <a:cubicBezTo>
                  <a:pt x="686984" y="0"/>
                  <a:pt x="703563" y="16579"/>
                  <a:pt x="703563" y="37030"/>
                </a:cubicBezTo>
                <a:lnTo>
                  <a:pt x="703563" y="222177"/>
                </a:lnTo>
                <a:cubicBezTo>
                  <a:pt x="703563" y="242628"/>
                  <a:pt x="686984" y="259207"/>
                  <a:pt x="666532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11"/>
          <p:cNvSpPr/>
          <p:nvPr/>
        </p:nvSpPr>
        <p:spPr>
          <a:xfrm>
            <a:off x="2369880" y="2494800"/>
            <a:ext cx="7635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4160" rIns="7416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+17%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592560" y="2902320"/>
            <a:ext cx="5235120" cy="1143360"/>
          </a:xfrm>
          <a:custGeom>
            <a:avLst/>
            <a:gdLst/>
            <a:ahLst/>
            <a:rect l="l" t="t" r="r" b="b"/>
            <a:pathLst>
              <a:path w="5239690" h="1147918">
                <a:moveTo>
                  <a:pt x="74064" y="0"/>
                </a:moveTo>
                <a:lnTo>
                  <a:pt x="5165627" y="0"/>
                </a:lnTo>
                <a:cubicBezTo>
                  <a:pt x="5206531" y="0"/>
                  <a:pt x="5239690" y="33159"/>
                  <a:pt x="5239690" y="74064"/>
                </a:cubicBezTo>
                <a:lnTo>
                  <a:pt x="5239690" y="1073854"/>
                </a:lnTo>
                <a:cubicBezTo>
                  <a:pt x="5239690" y="1114759"/>
                  <a:pt x="5206531" y="1147918"/>
                  <a:pt x="5165627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13"/>
          <p:cNvSpPr/>
          <p:nvPr/>
        </p:nvSpPr>
        <p:spPr>
          <a:xfrm>
            <a:off x="703440" y="3013200"/>
            <a:ext cx="50868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Delta Force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703440" y="3272400"/>
            <a:ext cx="50778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First-person shooter released Sep 2024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703440" y="3531600"/>
            <a:ext cx="745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20M+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703440" y="3790800"/>
            <a:ext cx="70812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Monthly DAU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1508040" y="3531600"/>
            <a:ext cx="10044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Top 5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6" name="Text 18"/>
          <p:cNvSpPr/>
          <p:nvPr/>
        </p:nvSpPr>
        <p:spPr>
          <a:xfrm>
            <a:off x="1508040" y="3790800"/>
            <a:ext cx="96732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Industry DAU Rank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7" name="Text 19"/>
          <p:cNvSpPr/>
          <p:nvPr/>
        </p:nvSpPr>
        <p:spPr>
          <a:xfrm>
            <a:off x="2575800" y="3531600"/>
            <a:ext cx="10875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Top 3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2575800" y="3790800"/>
            <a:ext cx="105084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Gross Receipts Rank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9" name="Shape 21"/>
          <p:cNvSpPr/>
          <p:nvPr/>
        </p:nvSpPr>
        <p:spPr>
          <a:xfrm>
            <a:off x="592560" y="4161240"/>
            <a:ext cx="5235120" cy="772920"/>
          </a:xfrm>
          <a:custGeom>
            <a:avLst/>
            <a:gdLst/>
            <a:ahLst/>
            <a:rect l="l" t="t" r="r" b="b"/>
            <a:pathLst>
              <a:path w="5239690" h="777622">
                <a:moveTo>
                  <a:pt x="74061" y="0"/>
                </a:moveTo>
                <a:lnTo>
                  <a:pt x="5165629" y="0"/>
                </a:lnTo>
                <a:cubicBezTo>
                  <a:pt x="5206532" y="0"/>
                  <a:pt x="5239690" y="33158"/>
                  <a:pt x="5239690" y="74061"/>
                </a:cubicBezTo>
                <a:lnTo>
                  <a:pt x="5239690" y="703561"/>
                </a:lnTo>
                <a:cubicBezTo>
                  <a:pt x="5239690" y="744464"/>
                  <a:pt x="5206532" y="777622"/>
                  <a:pt x="5165629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22"/>
          <p:cNvSpPr/>
          <p:nvPr/>
        </p:nvSpPr>
        <p:spPr>
          <a:xfrm>
            <a:off x="703440" y="4272120"/>
            <a:ext cx="50868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Evergreen Titles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31" name="Shape 23"/>
          <p:cNvSpPr/>
          <p:nvPr/>
        </p:nvSpPr>
        <p:spPr>
          <a:xfrm>
            <a:off x="703440" y="4568400"/>
            <a:ext cx="1059840" cy="254520"/>
          </a:xfrm>
          <a:custGeom>
            <a:avLst/>
            <a:gdLst/>
            <a:ahLst/>
            <a:rect l="l" t="t" r="r" b="b"/>
            <a:pathLst>
              <a:path w="1064601" h="259207">
                <a:moveTo>
                  <a:pt x="129604" y="0"/>
                </a:moveTo>
                <a:lnTo>
                  <a:pt x="934998" y="0"/>
                </a:lnTo>
                <a:cubicBezTo>
                  <a:pt x="1006576" y="0"/>
                  <a:pt x="1064601" y="58026"/>
                  <a:pt x="1064601" y="129604"/>
                </a:cubicBezTo>
                <a:lnTo>
                  <a:pt x="1064601" y="129604"/>
                </a:lnTo>
                <a:cubicBezTo>
                  <a:pt x="1064601" y="201182"/>
                  <a:pt x="1006576" y="259207"/>
                  <a:pt x="93499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24"/>
          <p:cNvSpPr/>
          <p:nvPr/>
        </p:nvSpPr>
        <p:spPr>
          <a:xfrm>
            <a:off x="703440" y="4568400"/>
            <a:ext cx="11246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Honor of Kings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3" name="Shape 25"/>
          <p:cNvSpPr/>
          <p:nvPr/>
        </p:nvSpPr>
        <p:spPr>
          <a:xfrm>
            <a:off x="1843560" y="4568400"/>
            <a:ext cx="1235880" cy="254520"/>
          </a:xfrm>
          <a:custGeom>
            <a:avLst/>
            <a:gdLst/>
            <a:ahLst/>
            <a:rect l="l" t="t" r="r" b="b"/>
            <a:pathLst>
              <a:path w="1240492" h="259207">
                <a:moveTo>
                  <a:pt x="129604" y="0"/>
                </a:moveTo>
                <a:lnTo>
                  <a:pt x="1110888" y="0"/>
                </a:lnTo>
                <a:cubicBezTo>
                  <a:pt x="1182466" y="0"/>
                  <a:pt x="1240492" y="58026"/>
                  <a:pt x="1240492" y="129604"/>
                </a:cubicBezTo>
                <a:lnTo>
                  <a:pt x="1240492" y="129604"/>
                </a:lnTo>
                <a:cubicBezTo>
                  <a:pt x="1240492" y="201182"/>
                  <a:pt x="1182466" y="259207"/>
                  <a:pt x="111088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6"/>
          <p:cNvSpPr/>
          <p:nvPr/>
        </p:nvSpPr>
        <p:spPr>
          <a:xfrm>
            <a:off x="1843560" y="4568400"/>
            <a:ext cx="13006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Peacekeeper Elite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5" name="Shape 27"/>
          <p:cNvSpPr/>
          <p:nvPr/>
        </p:nvSpPr>
        <p:spPr>
          <a:xfrm>
            <a:off x="3161880" y="4568400"/>
            <a:ext cx="893160" cy="254520"/>
          </a:xfrm>
          <a:custGeom>
            <a:avLst/>
            <a:gdLst/>
            <a:ahLst/>
            <a:rect l="l" t="t" r="r" b="b"/>
            <a:pathLst>
              <a:path w="897968" h="259207">
                <a:moveTo>
                  <a:pt x="129604" y="0"/>
                </a:moveTo>
                <a:lnTo>
                  <a:pt x="768364" y="0"/>
                </a:lnTo>
                <a:cubicBezTo>
                  <a:pt x="839943" y="0"/>
                  <a:pt x="897968" y="58026"/>
                  <a:pt x="897968" y="129604"/>
                </a:cubicBezTo>
                <a:lnTo>
                  <a:pt x="897968" y="129604"/>
                </a:lnTo>
                <a:cubicBezTo>
                  <a:pt x="897968" y="201182"/>
                  <a:pt x="839943" y="259207"/>
                  <a:pt x="76836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28"/>
          <p:cNvSpPr/>
          <p:nvPr/>
        </p:nvSpPr>
        <p:spPr>
          <a:xfrm>
            <a:off x="3161880" y="4568400"/>
            <a:ext cx="957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VALORANT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7" name="Shape 29"/>
          <p:cNvSpPr/>
          <p:nvPr/>
        </p:nvSpPr>
        <p:spPr>
          <a:xfrm>
            <a:off x="6190200" y="1374840"/>
            <a:ext cx="5628600" cy="4124160"/>
          </a:xfrm>
          <a:custGeom>
            <a:avLst/>
            <a:gdLst/>
            <a:ahLst/>
            <a:rect l="l" t="t" r="r" b="b"/>
            <a:pathLst>
              <a:path w="5633130" h="4128802">
                <a:moveTo>
                  <a:pt x="111106" y="0"/>
                </a:moveTo>
                <a:lnTo>
                  <a:pt x="5522024" y="0"/>
                </a:lnTo>
                <a:cubicBezTo>
                  <a:pt x="5583386" y="0"/>
                  <a:pt x="5633130" y="49744"/>
                  <a:pt x="5633130" y="111106"/>
                </a:cubicBezTo>
                <a:lnTo>
                  <a:pt x="5633130" y="4017696"/>
                </a:lnTo>
                <a:cubicBezTo>
                  <a:pt x="5633130" y="4079058"/>
                  <a:pt x="5583386" y="4128802"/>
                  <a:pt x="5522024" y="4128802"/>
                </a:cubicBezTo>
                <a:lnTo>
                  <a:pt x="111106" y="4128802"/>
                </a:lnTo>
                <a:cubicBezTo>
                  <a:pt x="49744" y="4128802"/>
                  <a:pt x="0" y="4079058"/>
                  <a:pt x="0" y="4017696"/>
                </a:cubicBezTo>
                <a:lnTo>
                  <a:pt x="0" y="111106"/>
                </a:lnTo>
                <a:cubicBezTo>
                  <a:pt x="0" y="49785"/>
                  <a:pt x="49785" y="0"/>
                  <a:pt x="1111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30"/>
          <p:cNvSpPr/>
          <p:nvPr/>
        </p:nvSpPr>
        <p:spPr>
          <a:xfrm>
            <a:off x="6393600" y="1564560"/>
            <a:ext cx="439560" cy="439560"/>
          </a:xfrm>
          <a:custGeom>
            <a:avLst/>
            <a:gdLst/>
            <a:ah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31"/>
          <p:cNvSpPr/>
          <p:nvPr/>
        </p:nvSpPr>
        <p:spPr>
          <a:xfrm>
            <a:off x="6523200" y="1694160"/>
            <a:ext cx="180360" cy="180360"/>
          </a:xfrm>
          <a:custGeom>
            <a:avLst/>
            <a:gdLst/>
            <a:ahLst/>
            <a:rect l="l" t="t" r="r" b="b"/>
            <a:pathLst>
              <a:path w="185148" h="185148">
                <a:moveTo>
                  <a:pt x="127253" y="101253"/>
                </a:moveTo>
                <a:lnTo>
                  <a:pt x="58220" y="101253"/>
                </a:lnTo>
                <a:cubicBezTo>
                  <a:pt x="59269" y="124577"/>
                  <a:pt x="64440" y="146057"/>
                  <a:pt x="71781" y="161788"/>
                </a:cubicBezTo>
                <a:cubicBezTo>
                  <a:pt x="75903" y="170647"/>
                  <a:pt x="80351" y="176903"/>
                  <a:pt x="84474" y="180736"/>
                </a:cubicBezTo>
                <a:cubicBezTo>
                  <a:pt x="88524" y="184533"/>
                  <a:pt x="91308" y="185148"/>
                  <a:pt x="92755" y="185148"/>
                </a:cubicBezTo>
                <a:cubicBezTo>
                  <a:pt x="94201" y="185148"/>
                  <a:pt x="96986" y="184533"/>
                  <a:pt x="101036" y="180736"/>
                </a:cubicBezTo>
                <a:cubicBezTo>
                  <a:pt x="105158" y="176903"/>
                  <a:pt x="109606" y="170611"/>
                  <a:pt x="113729" y="161788"/>
                </a:cubicBezTo>
                <a:cubicBezTo>
                  <a:pt x="121069" y="146057"/>
                  <a:pt x="126241" y="124577"/>
                  <a:pt x="127289" y="101253"/>
                </a:cubicBezTo>
                <a:close/>
                <a:moveTo>
                  <a:pt x="58184" y="83895"/>
                </a:moveTo>
                <a:lnTo>
                  <a:pt x="127217" y="83895"/>
                </a:lnTo>
                <a:cubicBezTo>
                  <a:pt x="126204" y="60571"/>
                  <a:pt x="121033" y="39091"/>
                  <a:pt x="113692" y="23360"/>
                </a:cubicBezTo>
                <a:cubicBezTo>
                  <a:pt x="109570" y="14537"/>
                  <a:pt x="105122" y="8245"/>
                  <a:pt x="101000" y="4412"/>
                </a:cubicBezTo>
                <a:cubicBezTo>
                  <a:pt x="96950" y="615"/>
                  <a:pt x="94165" y="0"/>
                  <a:pt x="92719" y="0"/>
                </a:cubicBezTo>
                <a:cubicBezTo>
                  <a:pt x="91272" y="0"/>
                  <a:pt x="88488" y="615"/>
                  <a:pt x="84438" y="4412"/>
                </a:cubicBezTo>
                <a:cubicBezTo>
                  <a:pt x="80315" y="8245"/>
                  <a:pt x="75867" y="14537"/>
                  <a:pt x="71745" y="23360"/>
                </a:cubicBezTo>
                <a:cubicBezTo>
                  <a:pt x="64404" y="39091"/>
                  <a:pt x="59233" y="60571"/>
                  <a:pt x="58184" y="83895"/>
                </a:cubicBezTo>
                <a:close/>
                <a:moveTo>
                  <a:pt x="40827" y="83895"/>
                </a:moveTo>
                <a:cubicBezTo>
                  <a:pt x="42092" y="52941"/>
                  <a:pt x="50084" y="24192"/>
                  <a:pt x="61764" y="5316"/>
                </a:cubicBezTo>
                <a:cubicBezTo>
                  <a:pt x="28459" y="17104"/>
                  <a:pt x="3942" y="47444"/>
                  <a:pt x="542" y="83895"/>
                </a:cubicBezTo>
                <a:lnTo>
                  <a:pt x="40827" y="83895"/>
                </a:lnTo>
                <a:close/>
                <a:moveTo>
                  <a:pt x="542" y="101253"/>
                </a:moveTo>
                <a:cubicBezTo>
                  <a:pt x="3942" y="137704"/>
                  <a:pt x="28459" y="168044"/>
                  <a:pt x="61764" y="179832"/>
                </a:cubicBezTo>
                <a:cubicBezTo>
                  <a:pt x="50084" y="160956"/>
                  <a:pt x="42092" y="132207"/>
                  <a:pt x="40827" y="101253"/>
                </a:cubicBezTo>
                <a:lnTo>
                  <a:pt x="542" y="101253"/>
                </a:lnTo>
                <a:close/>
                <a:moveTo>
                  <a:pt x="144611" y="101253"/>
                </a:moveTo>
                <a:cubicBezTo>
                  <a:pt x="143345" y="132207"/>
                  <a:pt x="135353" y="160956"/>
                  <a:pt x="123673" y="179832"/>
                </a:cubicBezTo>
                <a:cubicBezTo>
                  <a:pt x="156978" y="168007"/>
                  <a:pt x="181496" y="137704"/>
                  <a:pt x="184895" y="101253"/>
                </a:cubicBezTo>
                <a:lnTo>
                  <a:pt x="144611" y="101253"/>
                </a:lnTo>
                <a:close/>
                <a:moveTo>
                  <a:pt x="184895" y="83895"/>
                </a:moveTo>
                <a:cubicBezTo>
                  <a:pt x="181496" y="47444"/>
                  <a:pt x="156978" y="17104"/>
                  <a:pt x="123673" y="5316"/>
                </a:cubicBezTo>
                <a:cubicBezTo>
                  <a:pt x="135353" y="24192"/>
                  <a:pt x="143345" y="52941"/>
                  <a:pt x="144611" y="83895"/>
                </a:cubicBezTo>
                <a:lnTo>
                  <a:pt x="184895" y="83895"/>
                </a:ln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32"/>
          <p:cNvSpPr/>
          <p:nvPr/>
        </p:nvSpPr>
        <p:spPr>
          <a:xfrm>
            <a:off x="6949080" y="1564560"/>
            <a:ext cx="1717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efefef"/>
                </a:solidFill>
                <a:latin typeface="Liter"/>
                <a:ea typeface="Liter"/>
              </a:rPr>
              <a:t>International Games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41" name="Text 33"/>
          <p:cNvSpPr/>
          <p:nvPr/>
        </p:nvSpPr>
        <p:spPr>
          <a:xfrm>
            <a:off x="6949080" y="1823760"/>
            <a:ext cx="16894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Global markets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2" name="Text 34"/>
          <p:cNvSpPr/>
          <p:nvPr/>
        </p:nvSpPr>
        <p:spPr>
          <a:xfrm>
            <a:off x="6393600" y="2157120"/>
            <a:ext cx="52999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3" name="Text 35"/>
          <p:cNvSpPr/>
          <p:nvPr/>
        </p:nvSpPr>
        <p:spPr>
          <a:xfrm>
            <a:off x="6393600" y="2379240"/>
            <a:ext cx="1763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RMB 18.8B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44" name="Shape 36"/>
          <p:cNvSpPr/>
          <p:nvPr/>
        </p:nvSpPr>
        <p:spPr>
          <a:xfrm>
            <a:off x="8108640" y="2494800"/>
            <a:ext cx="726480" cy="254520"/>
          </a:xfrm>
          <a:custGeom>
            <a:avLst/>
            <a:gdLst/>
            <a:ahLst/>
            <a:rect l="l" t="t" r="r" b="b"/>
            <a:pathLst>
              <a:path w="731335" h="259207">
                <a:moveTo>
                  <a:pt x="37030" y="0"/>
                </a:moveTo>
                <a:lnTo>
                  <a:pt x="694304" y="0"/>
                </a:lnTo>
                <a:cubicBezTo>
                  <a:pt x="714756" y="0"/>
                  <a:pt x="731335" y="16579"/>
                  <a:pt x="731335" y="37030"/>
                </a:cubicBezTo>
                <a:lnTo>
                  <a:pt x="731335" y="222177"/>
                </a:lnTo>
                <a:cubicBezTo>
                  <a:pt x="731335" y="242628"/>
                  <a:pt x="714756" y="259207"/>
                  <a:pt x="694304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37"/>
          <p:cNvSpPr/>
          <p:nvPr/>
        </p:nvSpPr>
        <p:spPr>
          <a:xfrm>
            <a:off x="8108640" y="2494800"/>
            <a:ext cx="791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4160" rIns="7416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+35%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6" name="Text 38"/>
          <p:cNvSpPr/>
          <p:nvPr/>
        </p:nvSpPr>
        <p:spPr>
          <a:xfrm>
            <a:off x="6393600" y="2791080"/>
            <a:ext cx="529056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+33% on constant currency basis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47" name="Shape 39"/>
          <p:cNvSpPr/>
          <p:nvPr/>
        </p:nvSpPr>
        <p:spPr>
          <a:xfrm>
            <a:off x="6393600" y="3087360"/>
            <a:ext cx="5235120" cy="1217160"/>
          </a:xfrm>
          <a:custGeom>
            <a:avLst/>
            <a:gdLst/>
            <a:ahLst/>
            <a:rect l="l" t="t" r="r" b="b"/>
            <a:pathLst>
              <a:path w="5239690" h="1221977">
                <a:moveTo>
                  <a:pt x="74064" y="0"/>
                </a:moveTo>
                <a:lnTo>
                  <a:pt x="5165626" y="0"/>
                </a:lnTo>
                <a:cubicBezTo>
                  <a:pt x="5206531" y="0"/>
                  <a:pt x="5239690" y="33160"/>
                  <a:pt x="5239690" y="74064"/>
                </a:cubicBezTo>
                <a:lnTo>
                  <a:pt x="5239690" y="1147913"/>
                </a:lnTo>
                <a:cubicBezTo>
                  <a:pt x="5239690" y="1188818"/>
                  <a:pt x="5206531" y="1221977"/>
                  <a:pt x="5165626" y="1221977"/>
                </a:cubicBezTo>
                <a:lnTo>
                  <a:pt x="74064" y="1221977"/>
                </a:lnTo>
                <a:cubicBezTo>
                  <a:pt x="33160" y="1221977"/>
                  <a:pt x="0" y="1188818"/>
                  <a:pt x="0" y="1147913"/>
                </a:cubicBezTo>
                <a:lnTo>
                  <a:pt x="0" y="74064"/>
                </a:lnTo>
                <a:cubicBezTo>
                  <a:pt x="0" y="33160"/>
                  <a:pt x="33160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40"/>
          <p:cNvSpPr/>
          <p:nvPr/>
        </p:nvSpPr>
        <p:spPr>
          <a:xfrm>
            <a:off x="6504840" y="3198600"/>
            <a:ext cx="50868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Key Growth Drivers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49" name="Shape 41"/>
          <p:cNvSpPr/>
          <p:nvPr/>
        </p:nvSpPr>
        <p:spPr>
          <a:xfrm>
            <a:off x="6523200" y="3513240"/>
            <a:ext cx="143280" cy="14328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42"/>
          <p:cNvSpPr/>
          <p:nvPr/>
        </p:nvSpPr>
        <p:spPr>
          <a:xfrm>
            <a:off x="6764040" y="3494520"/>
            <a:ext cx="1772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Supercell games performance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1" name="Shape 43"/>
          <p:cNvSpPr/>
          <p:nvPr/>
        </p:nvSpPr>
        <p:spPr>
          <a:xfrm>
            <a:off x="6523200" y="3772440"/>
            <a:ext cx="143280" cy="14328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44"/>
          <p:cNvSpPr/>
          <p:nvPr/>
        </p:nvSpPr>
        <p:spPr>
          <a:xfrm>
            <a:off x="6764040" y="3753720"/>
            <a:ext cx="13284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PUBG MOBILE growth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3" name="Shape 45"/>
          <p:cNvSpPr/>
          <p:nvPr/>
        </p:nvSpPr>
        <p:spPr>
          <a:xfrm>
            <a:off x="6523200" y="4031640"/>
            <a:ext cx="143280" cy="14328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46"/>
          <p:cNvSpPr/>
          <p:nvPr/>
        </p:nvSpPr>
        <p:spPr>
          <a:xfrm>
            <a:off x="6764040" y="4012920"/>
            <a:ext cx="1772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Dune: Awakening contribution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5" name="Shape 47"/>
          <p:cNvSpPr/>
          <p:nvPr/>
        </p:nvSpPr>
        <p:spPr>
          <a:xfrm>
            <a:off x="6393600" y="4420440"/>
            <a:ext cx="5235120" cy="884160"/>
          </a:xfrm>
          <a:custGeom>
            <a:avLst/>
            <a:gdLst/>
            <a:ahLst/>
            <a:rect l="l" t="t" r="r" b="b"/>
            <a:pathLst>
              <a:path w="5239690" h="888711">
                <a:moveTo>
                  <a:pt x="74056" y="0"/>
                </a:moveTo>
                <a:lnTo>
                  <a:pt x="5165634" y="0"/>
                </a:lnTo>
                <a:cubicBezTo>
                  <a:pt x="5206534" y="0"/>
                  <a:pt x="5239690" y="33156"/>
                  <a:pt x="5239690" y="74056"/>
                </a:cubicBezTo>
                <a:lnTo>
                  <a:pt x="5239690" y="814654"/>
                </a:lnTo>
                <a:cubicBezTo>
                  <a:pt x="5239690" y="855555"/>
                  <a:pt x="5206534" y="888711"/>
                  <a:pt x="5165634" y="888711"/>
                </a:cubicBezTo>
                <a:lnTo>
                  <a:pt x="74056" y="888711"/>
                </a:lnTo>
                <a:cubicBezTo>
                  <a:pt x="33156" y="888711"/>
                  <a:pt x="0" y="855555"/>
                  <a:pt x="0" y="814654"/>
                </a:cubicBezTo>
                <a:lnTo>
                  <a:pt x="0" y="74056"/>
                </a:lnTo>
                <a:cubicBezTo>
                  <a:pt x="0" y="33156"/>
                  <a:pt x="33156" y="0"/>
                  <a:pt x="74056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48"/>
          <p:cNvSpPr/>
          <p:nvPr/>
        </p:nvSpPr>
        <p:spPr>
          <a:xfrm>
            <a:off x="6504840" y="4531320"/>
            <a:ext cx="50868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Clash Royale Highlights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57" name="Text 49"/>
          <p:cNvSpPr/>
          <p:nvPr/>
        </p:nvSpPr>
        <p:spPr>
          <a:xfrm>
            <a:off x="6504840" y="4827600"/>
            <a:ext cx="5077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More frequent content updates, optimized reward system, and community events boosted DAU to a </a:t>
            </a: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7-year high</a:t>
            </a: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 in June 2025.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8" name="Shape 50"/>
          <p:cNvSpPr/>
          <p:nvPr/>
        </p:nvSpPr>
        <p:spPr>
          <a:xfrm>
            <a:off x="374760" y="5582160"/>
            <a:ext cx="3707640" cy="126360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Shape 51"/>
          <p:cNvSpPr/>
          <p:nvPr/>
        </p:nvSpPr>
        <p:spPr>
          <a:xfrm>
            <a:off x="2091240" y="5734800"/>
            <a:ext cx="272880" cy="217440"/>
          </a:xfrm>
          <a:custGeom>
            <a:avLst/>
            <a:gdLst/>
            <a:ahLst/>
            <a:rect l="l" t="t" r="r" b="b"/>
            <a:pathLst>
              <a:path w="277722" h="222178">
                <a:moveTo>
                  <a:pt x="194405" y="27772"/>
                </a:moveTo>
                <a:cubicBezTo>
                  <a:pt x="240403" y="27772"/>
                  <a:pt x="277722" y="65091"/>
                  <a:pt x="277722" y="111089"/>
                </a:cubicBezTo>
                <a:cubicBezTo>
                  <a:pt x="277722" y="157087"/>
                  <a:pt x="240403" y="194405"/>
                  <a:pt x="194405" y="194405"/>
                </a:cubicBezTo>
                <a:lnTo>
                  <a:pt x="83317" y="194405"/>
                </a:lnTo>
                <a:cubicBezTo>
                  <a:pt x="37319" y="194405"/>
                  <a:pt x="0" y="157087"/>
                  <a:pt x="0" y="111089"/>
                </a:cubicBezTo>
                <a:cubicBezTo>
                  <a:pt x="0" y="65091"/>
                  <a:pt x="37319" y="27772"/>
                  <a:pt x="83317" y="27772"/>
                </a:cubicBezTo>
                <a:lnTo>
                  <a:pt x="194405" y="27772"/>
                </a:lnTo>
                <a:close/>
                <a:moveTo>
                  <a:pt x="83317" y="76374"/>
                </a:moveTo>
                <a:cubicBezTo>
                  <a:pt x="77545" y="76374"/>
                  <a:pt x="72902" y="81017"/>
                  <a:pt x="72902" y="86788"/>
                </a:cubicBezTo>
                <a:lnTo>
                  <a:pt x="72902" y="100674"/>
                </a:lnTo>
                <a:lnTo>
                  <a:pt x="59016" y="100674"/>
                </a:lnTo>
                <a:cubicBezTo>
                  <a:pt x="53245" y="100674"/>
                  <a:pt x="48601" y="105317"/>
                  <a:pt x="48601" y="111089"/>
                </a:cubicBezTo>
                <a:cubicBezTo>
                  <a:pt x="48601" y="116860"/>
                  <a:pt x="53245" y="121503"/>
                  <a:pt x="59016" y="121503"/>
                </a:cubicBezTo>
                <a:lnTo>
                  <a:pt x="72902" y="121503"/>
                </a:lnTo>
                <a:lnTo>
                  <a:pt x="72902" y="135390"/>
                </a:lnTo>
                <a:cubicBezTo>
                  <a:pt x="72902" y="141161"/>
                  <a:pt x="77545" y="145804"/>
                  <a:pt x="83317" y="145804"/>
                </a:cubicBezTo>
                <a:cubicBezTo>
                  <a:pt x="89088" y="145804"/>
                  <a:pt x="93731" y="141161"/>
                  <a:pt x="93731" y="135390"/>
                </a:cubicBezTo>
                <a:lnTo>
                  <a:pt x="93731" y="121503"/>
                </a:lnTo>
                <a:lnTo>
                  <a:pt x="107617" y="121503"/>
                </a:lnTo>
                <a:cubicBezTo>
                  <a:pt x="113389" y="121503"/>
                  <a:pt x="118032" y="116860"/>
                  <a:pt x="118032" y="111089"/>
                </a:cubicBezTo>
                <a:cubicBezTo>
                  <a:pt x="118032" y="105317"/>
                  <a:pt x="113389" y="100674"/>
                  <a:pt x="107617" y="100674"/>
                </a:cubicBezTo>
                <a:lnTo>
                  <a:pt x="93731" y="100674"/>
                </a:lnTo>
                <a:lnTo>
                  <a:pt x="93731" y="86788"/>
                </a:lnTo>
                <a:cubicBezTo>
                  <a:pt x="93731" y="81017"/>
                  <a:pt x="89088" y="76374"/>
                  <a:pt x="83317" y="76374"/>
                </a:cubicBezTo>
                <a:close/>
                <a:moveTo>
                  <a:pt x="187462" y="118032"/>
                </a:moveTo>
                <a:cubicBezTo>
                  <a:pt x="179798" y="118032"/>
                  <a:pt x="173576" y="124254"/>
                  <a:pt x="173576" y="131918"/>
                </a:cubicBezTo>
                <a:cubicBezTo>
                  <a:pt x="173576" y="139582"/>
                  <a:pt x="179798" y="145804"/>
                  <a:pt x="187462" y="145804"/>
                </a:cubicBezTo>
                <a:cubicBezTo>
                  <a:pt x="195126" y="145804"/>
                  <a:pt x="201349" y="139582"/>
                  <a:pt x="201349" y="131918"/>
                </a:cubicBezTo>
                <a:cubicBezTo>
                  <a:pt x="201349" y="124254"/>
                  <a:pt x="195126" y="118032"/>
                  <a:pt x="187462" y="118032"/>
                </a:cubicBezTo>
                <a:close/>
                <a:moveTo>
                  <a:pt x="215235" y="76374"/>
                </a:moveTo>
                <a:cubicBezTo>
                  <a:pt x="207571" y="76374"/>
                  <a:pt x="201349" y="82596"/>
                  <a:pt x="201349" y="90260"/>
                </a:cubicBezTo>
                <a:cubicBezTo>
                  <a:pt x="201349" y="97924"/>
                  <a:pt x="207571" y="104146"/>
                  <a:pt x="215235" y="104146"/>
                </a:cubicBezTo>
                <a:cubicBezTo>
                  <a:pt x="222899" y="104146"/>
                  <a:pt x="229121" y="97924"/>
                  <a:pt x="229121" y="90260"/>
                </a:cubicBezTo>
                <a:cubicBezTo>
                  <a:pt x="229121" y="82596"/>
                  <a:pt x="222899" y="76374"/>
                  <a:pt x="215235" y="7637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52"/>
          <p:cNvSpPr/>
          <p:nvPr/>
        </p:nvSpPr>
        <p:spPr>
          <a:xfrm>
            <a:off x="495360" y="6031080"/>
            <a:ext cx="34668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Total Games 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1" name="Text 53"/>
          <p:cNvSpPr/>
          <p:nvPr/>
        </p:nvSpPr>
        <p:spPr>
          <a:xfrm>
            <a:off x="471960" y="6216480"/>
            <a:ext cx="3513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RMB 59.2B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62" name="Text 54"/>
          <p:cNvSpPr/>
          <p:nvPr/>
        </p:nvSpPr>
        <p:spPr>
          <a:xfrm>
            <a:off x="495360" y="6512760"/>
            <a:ext cx="34668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+22%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3" name="Shape 55"/>
          <p:cNvSpPr/>
          <p:nvPr/>
        </p:nvSpPr>
        <p:spPr>
          <a:xfrm>
            <a:off x="4242600" y="5582160"/>
            <a:ext cx="3707640" cy="126360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Shape 56"/>
          <p:cNvSpPr/>
          <p:nvPr/>
        </p:nvSpPr>
        <p:spPr>
          <a:xfrm>
            <a:off x="6014160" y="5734800"/>
            <a:ext cx="162000" cy="217440"/>
          </a:xfrm>
          <a:custGeom>
            <a:avLst/>
            <a:gdLst/>
            <a:ahLst/>
            <a:rect l="l" t="t" r="r" b="b"/>
            <a:pathLst>
              <a:path w="166633" h="222178">
                <a:moveTo>
                  <a:pt x="6943" y="27772"/>
                </a:moveTo>
                <a:cubicBezTo>
                  <a:pt x="6943" y="12454"/>
                  <a:pt x="19397" y="0"/>
                  <a:pt x="34715" y="0"/>
                </a:cubicBezTo>
                <a:lnTo>
                  <a:pt x="131918" y="0"/>
                </a:lnTo>
                <a:cubicBezTo>
                  <a:pt x="147236" y="0"/>
                  <a:pt x="159690" y="12454"/>
                  <a:pt x="159690" y="27772"/>
                </a:cubicBezTo>
                <a:lnTo>
                  <a:pt x="159690" y="194405"/>
                </a:lnTo>
                <a:cubicBezTo>
                  <a:pt x="159690" y="209724"/>
                  <a:pt x="147236" y="222178"/>
                  <a:pt x="131918" y="222178"/>
                </a:cubicBezTo>
                <a:lnTo>
                  <a:pt x="34715" y="222178"/>
                </a:lnTo>
                <a:cubicBezTo>
                  <a:pt x="19397" y="222178"/>
                  <a:pt x="6943" y="209724"/>
                  <a:pt x="6943" y="194405"/>
                </a:cubicBezTo>
                <a:lnTo>
                  <a:pt x="6943" y="27772"/>
                </a:lnTo>
                <a:close/>
                <a:moveTo>
                  <a:pt x="34715" y="27772"/>
                </a:moveTo>
                <a:lnTo>
                  <a:pt x="34715" y="159690"/>
                </a:lnTo>
                <a:lnTo>
                  <a:pt x="131918" y="159690"/>
                </a:lnTo>
                <a:lnTo>
                  <a:pt x="131918" y="27772"/>
                </a:lnTo>
                <a:lnTo>
                  <a:pt x="34715" y="27772"/>
                </a:lnTo>
                <a:close/>
                <a:moveTo>
                  <a:pt x="83317" y="204820"/>
                </a:moveTo>
                <a:cubicBezTo>
                  <a:pt x="90997" y="204820"/>
                  <a:pt x="97203" y="198615"/>
                  <a:pt x="97203" y="190934"/>
                </a:cubicBezTo>
                <a:cubicBezTo>
                  <a:pt x="97203" y="183253"/>
                  <a:pt x="90997" y="177048"/>
                  <a:pt x="83317" y="177048"/>
                </a:cubicBezTo>
                <a:cubicBezTo>
                  <a:pt x="75636" y="177048"/>
                  <a:pt x="69431" y="183253"/>
                  <a:pt x="69431" y="190934"/>
                </a:cubicBezTo>
                <a:cubicBezTo>
                  <a:pt x="69431" y="198615"/>
                  <a:pt x="75636" y="204820"/>
                  <a:pt x="83317" y="20482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57"/>
          <p:cNvSpPr/>
          <p:nvPr/>
        </p:nvSpPr>
        <p:spPr>
          <a:xfrm>
            <a:off x="4362840" y="6031080"/>
            <a:ext cx="34668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Mini Games Gross Receipts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6" name="Text 58"/>
          <p:cNvSpPr/>
          <p:nvPr/>
        </p:nvSpPr>
        <p:spPr>
          <a:xfrm>
            <a:off x="4339800" y="6216480"/>
            <a:ext cx="3513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+20%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67" name="Text 59"/>
          <p:cNvSpPr/>
          <p:nvPr/>
        </p:nvSpPr>
        <p:spPr>
          <a:xfrm>
            <a:off x="4362840" y="6512760"/>
            <a:ext cx="34668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YoY Growth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8" name="Shape 60"/>
          <p:cNvSpPr/>
          <p:nvPr/>
        </p:nvSpPr>
        <p:spPr>
          <a:xfrm>
            <a:off x="8110080" y="5582160"/>
            <a:ext cx="3707640" cy="126360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Shape 61"/>
          <p:cNvSpPr/>
          <p:nvPr/>
        </p:nvSpPr>
        <p:spPr>
          <a:xfrm>
            <a:off x="9826200" y="5734800"/>
            <a:ext cx="272880" cy="217440"/>
          </a:xfrm>
          <a:custGeom>
            <a:avLst/>
            <a:gdLst/>
            <a:ahLst/>
            <a:rect l="l" t="t" r="r" b="b"/>
            <a:pathLst>
              <a:path w="277722" h="222178">
                <a:moveTo>
                  <a:pt x="152747" y="0"/>
                </a:moveTo>
                <a:cubicBezTo>
                  <a:pt x="152747" y="-7681"/>
                  <a:pt x="146542" y="-13886"/>
                  <a:pt x="138861" y="-13886"/>
                </a:cubicBezTo>
                <a:cubicBezTo>
                  <a:pt x="131180" y="-13886"/>
                  <a:pt x="124975" y="-7681"/>
                  <a:pt x="124975" y="0"/>
                </a:cubicBezTo>
                <a:lnTo>
                  <a:pt x="124975" y="27772"/>
                </a:lnTo>
                <a:lnTo>
                  <a:pt x="83317" y="27772"/>
                </a:lnTo>
                <a:cubicBezTo>
                  <a:pt x="60318" y="27772"/>
                  <a:pt x="41658" y="46432"/>
                  <a:pt x="41658" y="69431"/>
                </a:cubicBezTo>
                <a:lnTo>
                  <a:pt x="41658" y="166633"/>
                </a:lnTo>
                <a:cubicBezTo>
                  <a:pt x="41658" y="189632"/>
                  <a:pt x="60318" y="208292"/>
                  <a:pt x="83317" y="208292"/>
                </a:cubicBezTo>
                <a:lnTo>
                  <a:pt x="194405" y="208292"/>
                </a:lnTo>
                <a:cubicBezTo>
                  <a:pt x="217404" y="208292"/>
                  <a:pt x="236064" y="189632"/>
                  <a:pt x="236064" y="166633"/>
                </a:cubicBezTo>
                <a:lnTo>
                  <a:pt x="236064" y="69431"/>
                </a:lnTo>
                <a:cubicBezTo>
                  <a:pt x="236064" y="46432"/>
                  <a:pt x="217404" y="27772"/>
                  <a:pt x="194405" y="27772"/>
                </a:cubicBezTo>
                <a:lnTo>
                  <a:pt x="152747" y="27772"/>
                </a:lnTo>
                <a:lnTo>
                  <a:pt x="152747" y="0"/>
                </a:lnTo>
                <a:close/>
                <a:moveTo>
                  <a:pt x="69431" y="159690"/>
                </a:moveTo>
                <a:cubicBezTo>
                  <a:pt x="69431" y="153919"/>
                  <a:pt x="74074" y="149276"/>
                  <a:pt x="79845" y="149276"/>
                </a:cubicBezTo>
                <a:lnTo>
                  <a:pt x="93731" y="149276"/>
                </a:lnTo>
                <a:cubicBezTo>
                  <a:pt x="99503" y="149276"/>
                  <a:pt x="104146" y="153919"/>
                  <a:pt x="104146" y="159690"/>
                </a:cubicBezTo>
                <a:cubicBezTo>
                  <a:pt x="104146" y="165462"/>
                  <a:pt x="99503" y="170105"/>
                  <a:pt x="93731" y="170105"/>
                </a:cubicBezTo>
                <a:lnTo>
                  <a:pt x="79845" y="170105"/>
                </a:lnTo>
                <a:cubicBezTo>
                  <a:pt x="74074" y="170105"/>
                  <a:pt x="69431" y="165462"/>
                  <a:pt x="69431" y="159690"/>
                </a:cubicBezTo>
                <a:close/>
                <a:moveTo>
                  <a:pt x="121503" y="159690"/>
                </a:moveTo>
                <a:cubicBezTo>
                  <a:pt x="121503" y="153919"/>
                  <a:pt x="126147" y="149276"/>
                  <a:pt x="131918" y="149276"/>
                </a:cubicBezTo>
                <a:lnTo>
                  <a:pt x="145804" y="149276"/>
                </a:lnTo>
                <a:cubicBezTo>
                  <a:pt x="151576" y="149276"/>
                  <a:pt x="156219" y="153919"/>
                  <a:pt x="156219" y="159690"/>
                </a:cubicBezTo>
                <a:cubicBezTo>
                  <a:pt x="156219" y="165462"/>
                  <a:pt x="151576" y="170105"/>
                  <a:pt x="145804" y="170105"/>
                </a:cubicBezTo>
                <a:lnTo>
                  <a:pt x="131918" y="170105"/>
                </a:lnTo>
                <a:cubicBezTo>
                  <a:pt x="126147" y="170105"/>
                  <a:pt x="121503" y="165462"/>
                  <a:pt x="121503" y="159690"/>
                </a:cubicBezTo>
                <a:close/>
                <a:moveTo>
                  <a:pt x="173576" y="159690"/>
                </a:moveTo>
                <a:cubicBezTo>
                  <a:pt x="173576" y="153919"/>
                  <a:pt x="178219" y="149276"/>
                  <a:pt x="183991" y="149276"/>
                </a:cubicBezTo>
                <a:lnTo>
                  <a:pt x="197877" y="149276"/>
                </a:lnTo>
                <a:cubicBezTo>
                  <a:pt x="203648" y="149276"/>
                  <a:pt x="208292" y="153919"/>
                  <a:pt x="208292" y="159690"/>
                </a:cubicBezTo>
                <a:cubicBezTo>
                  <a:pt x="208292" y="165462"/>
                  <a:pt x="203648" y="170105"/>
                  <a:pt x="197877" y="170105"/>
                </a:cubicBezTo>
                <a:lnTo>
                  <a:pt x="183991" y="170105"/>
                </a:lnTo>
                <a:cubicBezTo>
                  <a:pt x="178219" y="170105"/>
                  <a:pt x="173576" y="165462"/>
                  <a:pt x="173576" y="159690"/>
                </a:cubicBezTo>
                <a:close/>
                <a:moveTo>
                  <a:pt x="97203" y="76374"/>
                </a:moveTo>
                <a:cubicBezTo>
                  <a:pt x="108699" y="76374"/>
                  <a:pt x="118032" y="85707"/>
                  <a:pt x="118032" y="97203"/>
                </a:cubicBezTo>
                <a:cubicBezTo>
                  <a:pt x="118032" y="108699"/>
                  <a:pt x="108699" y="118032"/>
                  <a:pt x="97203" y="118032"/>
                </a:cubicBezTo>
                <a:cubicBezTo>
                  <a:pt x="85707" y="118032"/>
                  <a:pt x="76374" y="108699"/>
                  <a:pt x="76374" y="97203"/>
                </a:cubicBezTo>
                <a:cubicBezTo>
                  <a:pt x="76374" y="85707"/>
                  <a:pt x="85707" y="76374"/>
                  <a:pt x="97203" y="76374"/>
                </a:cubicBezTo>
                <a:close/>
                <a:moveTo>
                  <a:pt x="159690" y="97203"/>
                </a:moveTo>
                <a:cubicBezTo>
                  <a:pt x="159690" y="85707"/>
                  <a:pt x="169023" y="76374"/>
                  <a:pt x="180519" y="76374"/>
                </a:cubicBezTo>
                <a:cubicBezTo>
                  <a:pt x="192015" y="76374"/>
                  <a:pt x="201349" y="85707"/>
                  <a:pt x="201349" y="97203"/>
                </a:cubicBezTo>
                <a:cubicBezTo>
                  <a:pt x="201349" y="108699"/>
                  <a:pt x="192015" y="118032"/>
                  <a:pt x="180519" y="118032"/>
                </a:cubicBezTo>
                <a:cubicBezTo>
                  <a:pt x="169023" y="118032"/>
                  <a:pt x="159690" y="108699"/>
                  <a:pt x="159690" y="97203"/>
                </a:cubicBezTo>
                <a:close/>
                <a:moveTo>
                  <a:pt x="27772" y="97203"/>
                </a:moveTo>
                <a:cubicBezTo>
                  <a:pt x="27772" y="89522"/>
                  <a:pt x="21567" y="83317"/>
                  <a:pt x="13886" y="83317"/>
                </a:cubicBezTo>
                <a:cubicBezTo>
                  <a:pt x="6205" y="83317"/>
                  <a:pt x="0" y="89522"/>
                  <a:pt x="0" y="97203"/>
                </a:cubicBezTo>
                <a:lnTo>
                  <a:pt x="0" y="138861"/>
                </a:lnTo>
                <a:cubicBezTo>
                  <a:pt x="0" y="146542"/>
                  <a:pt x="6205" y="152747"/>
                  <a:pt x="13886" y="152747"/>
                </a:cubicBezTo>
                <a:cubicBezTo>
                  <a:pt x="21567" y="152747"/>
                  <a:pt x="27772" y="146542"/>
                  <a:pt x="27772" y="138861"/>
                </a:cubicBezTo>
                <a:lnTo>
                  <a:pt x="27772" y="97203"/>
                </a:lnTo>
                <a:close/>
                <a:moveTo>
                  <a:pt x="263836" y="83317"/>
                </a:moveTo>
                <a:cubicBezTo>
                  <a:pt x="256155" y="83317"/>
                  <a:pt x="249950" y="89522"/>
                  <a:pt x="249950" y="97203"/>
                </a:cubicBezTo>
                <a:lnTo>
                  <a:pt x="249950" y="138861"/>
                </a:lnTo>
                <a:cubicBezTo>
                  <a:pt x="249950" y="146542"/>
                  <a:pt x="256155" y="152747"/>
                  <a:pt x="263836" y="152747"/>
                </a:cubicBezTo>
                <a:cubicBezTo>
                  <a:pt x="271517" y="152747"/>
                  <a:pt x="277722" y="146542"/>
                  <a:pt x="277722" y="138861"/>
                </a:cubicBezTo>
                <a:lnTo>
                  <a:pt x="277722" y="97203"/>
                </a:lnTo>
                <a:cubicBezTo>
                  <a:pt x="277722" y="89522"/>
                  <a:pt x="271517" y="83317"/>
                  <a:pt x="263836" y="8331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62"/>
          <p:cNvSpPr/>
          <p:nvPr/>
        </p:nvSpPr>
        <p:spPr>
          <a:xfrm>
            <a:off x="8230320" y="6031080"/>
            <a:ext cx="34668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AI in Games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71" name="Text 63"/>
          <p:cNvSpPr/>
          <p:nvPr/>
        </p:nvSpPr>
        <p:spPr>
          <a:xfrm>
            <a:off x="8207280" y="6216480"/>
            <a:ext cx="3513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Deployed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72" name="Text 64"/>
          <p:cNvSpPr/>
          <p:nvPr/>
        </p:nvSpPr>
        <p:spPr>
          <a:xfrm>
            <a:off x="8230320" y="6512760"/>
            <a:ext cx="34668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Content &amp; NPCs</a:t>
            </a:r>
            <a:endParaRPr b="0" lang="en-HK" sz="10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Image 0"/>
          <p:cNvSpPr/>
          <p:nvPr/>
        </p:nvSpPr>
        <p:spPr>
          <a:xfrm>
            <a:off x="0" y="0"/>
            <a:ext cx="12187440" cy="68536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Shape 0"/>
          <p:cNvSpPr/>
          <p:nvPr/>
        </p:nvSpPr>
        <p:spPr>
          <a:xfrm>
            <a:off x="0" y="0"/>
            <a:ext cx="12187440" cy="6853680"/>
          </a:xfrm>
          <a:custGeom>
            <a:avLst/>
            <a:gdLst/>
            <a:ah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90196"/>
                </a:srgbClr>
              </a:gs>
              <a:gs pos="100000">
                <a:srgbClr val="191919">
                  <a:alpha val="70196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Text 1"/>
          <p:cNvSpPr/>
          <p:nvPr/>
        </p:nvSpPr>
        <p:spPr>
          <a:xfrm>
            <a:off x="344520" y="344520"/>
            <a:ext cx="11558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12" strike="noStrike">
                <a:solidFill>
                  <a:srgbClr val="6366f1"/>
                </a:solidFill>
                <a:latin typeface="Liter"/>
                <a:ea typeface="Liter"/>
              </a:rPr>
              <a:t>TECHNOLOGY INNOVATION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344520" y="586080"/>
            <a:ext cx="116532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40" spc="-1" strike="noStrike">
                <a:solidFill>
                  <a:srgbClr val="efefef"/>
                </a:solidFill>
                <a:latin typeface="Liter"/>
                <a:ea typeface="Liter"/>
              </a:rPr>
              <a:t>AI Integration &amp; Innovation</a:t>
            </a:r>
            <a:endParaRPr b="0" lang="en-HK" sz="2440" spc="-1" strike="noStrike"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344520" y="999360"/>
            <a:ext cx="1156680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90" spc="-1" strike="noStrike">
                <a:solidFill>
                  <a:srgbClr val="8f8f8f"/>
                </a:solidFill>
                <a:latin typeface="Liter"/>
                <a:ea typeface="Liter"/>
              </a:rPr>
              <a:t>AI driving value creation across all platforms and services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78" name="Shape 4"/>
          <p:cNvSpPr/>
          <p:nvPr/>
        </p:nvSpPr>
        <p:spPr>
          <a:xfrm>
            <a:off x="348840" y="1348560"/>
            <a:ext cx="5673600" cy="2761200"/>
          </a:xfrm>
          <a:custGeom>
            <a:avLst/>
            <a:gdLst/>
            <a:ah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Shape 5"/>
          <p:cNvSpPr/>
          <p:nvPr/>
        </p:nvSpPr>
        <p:spPr>
          <a:xfrm>
            <a:off x="525600" y="1524960"/>
            <a:ext cx="408960" cy="40896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Shape 6"/>
          <p:cNvSpPr/>
          <p:nvPr/>
        </p:nvSpPr>
        <p:spPr>
          <a:xfrm>
            <a:off x="635400" y="1645560"/>
            <a:ext cx="189360" cy="167760"/>
          </a:xfrm>
          <a:custGeom>
            <a:avLst/>
            <a:gdLst/>
            <a:ahLst/>
            <a:rect l="l" t="t" r="r" b="b"/>
            <a:pathLst>
              <a:path w="193866" h="172325">
                <a:moveTo>
                  <a:pt x="129244" y="48466"/>
                </a:moveTo>
                <a:cubicBezTo>
                  <a:pt x="129244" y="81181"/>
                  <a:pt x="100299" y="107703"/>
                  <a:pt x="64622" y="107703"/>
                </a:cubicBezTo>
                <a:cubicBezTo>
                  <a:pt x="55635" y="107703"/>
                  <a:pt x="47086" y="106020"/>
                  <a:pt x="39312" y="102991"/>
                </a:cubicBezTo>
                <a:lnTo>
                  <a:pt x="11847" y="117531"/>
                </a:lnTo>
                <a:cubicBezTo>
                  <a:pt x="8717" y="119180"/>
                  <a:pt x="4880" y="118608"/>
                  <a:pt x="2356" y="116117"/>
                </a:cubicBezTo>
                <a:cubicBezTo>
                  <a:pt x="-168" y="113627"/>
                  <a:pt x="-740" y="109756"/>
                  <a:pt x="942" y="106626"/>
                </a:cubicBezTo>
                <a:lnTo>
                  <a:pt x="12924" y="84008"/>
                </a:lnTo>
                <a:cubicBezTo>
                  <a:pt x="4813" y="74113"/>
                  <a:pt x="0" y="61795"/>
                  <a:pt x="0" y="48466"/>
                </a:cubicBezTo>
                <a:cubicBezTo>
                  <a:pt x="0" y="15752"/>
                  <a:pt x="28945" y="-10770"/>
                  <a:pt x="64622" y="-10770"/>
                </a:cubicBezTo>
                <a:cubicBezTo>
                  <a:pt x="100299" y="-10770"/>
                  <a:pt x="129244" y="15752"/>
                  <a:pt x="129244" y="48466"/>
                </a:cubicBezTo>
                <a:close/>
                <a:moveTo>
                  <a:pt x="129244" y="172325"/>
                </a:moveTo>
                <a:cubicBezTo>
                  <a:pt x="97572" y="172325"/>
                  <a:pt x="71219" y="151424"/>
                  <a:pt x="65699" y="123859"/>
                </a:cubicBezTo>
                <a:cubicBezTo>
                  <a:pt x="106088" y="123354"/>
                  <a:pt x="141192" y="94611"/>
                  <a:pt x="145063" y="55635"/>
                </a:cubicBezTo>
                <a:cubicBezTo>
                  <a:pt x="173099" y="62098"/>
                  <a:pt x="193866" y="85355"/>
                  <a:pt x="193866" y="113088"/>
                </a:cubicBezTo>
                <a:cubicBezTo>
                  <a:pt x="193866" y="126417"/>
                  <a:pt x="189053" y="138735"/>
                  <a:pt x="180941" y="148630"/>
                </a:cubicBezTo>
                <a:lnTo>
                  <a:pt x="192923" y="171248"/>
                </a:lnTo>
                <a:cubicBezTo>
                  <a:pt x="194573" y="174378"/>
                  <a:pt x="194000" y="178215"/>
                  <a:pt x="191510" y="180739"/>
                </a:cubicBezTo>
                <a:cubicBezTo>
                  <a:pt x="189019" y="183264"/>
                  <a:pt x="185148" y="183836"/>
                  <a:pt x="182018" y="182153"/>
                </a:cubicBezTo>
                <a:lnTo>
                  <a:pt x="154554" y="167613"/>
                </a:lnTo>
                <a:cubicBezTo>
                  <a:pt x="146779" y="170642"/>
                  <a:pt x="138230" y="172325"/>
                  <a:pt x="129244" y="17232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7"/>
          <p:cNvSpPr/>
          <p:nvPr/>
        </p:nvSpPr>
        <p:spPr>
          <a:xfrm>
            <a:off x="1042560" y="1611360"/>
            <a:ext cx="15030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Weixin AI Features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82" name="Shape 8"/>
          <p:cNvSpPr/>
          <p:nvPr/>
        </p:nvSpPr>
        <p:spPr>
          <a:xfrm>
            <a:off x="525600" y="2076480"/>
            <a:ext cx="5320080" cy="54684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Shape 9"/>
          <p:cNvSpPr/>
          <p:nvPr/>
        </p:nvSpPr>
        <p:spPr>
          <a:xfrm>
            <a:off x="654840" y="2214360"/>
            <a:ext cx="115920" cy="133200"/>
          </a:xfrm>
          <a:custGeom>
            <a:avLst/>
            <a:gdLst/>
            <a:ahLst/>
            <a:rect l="l" t="t" r="r" b="b"/>
            <a:pathLst>
              <a:path w="120628" h="137860">
                <a:moveTo>
                  <a:pt x="120628" y="79700"/>
                </a:moveTo>
                <a:cubicBezTo>
                  <a:pt x="120628" y="97552"/>
                  <a:pt x="106168" y="112011"/>
                  <a:pt x="88317" y="112011"/>
                </a:cubicBezTo>
                <a:lnTo>
                  <a:pt x="86163" y="112011"/>
                </a:lnTo>
                <a:cubicBezTo>
                  <a:pt x="81397" y="112011"/>
                  <a:pt x="77546" y="108161"/>
                  <a:pt x="77546" y="103395"/>
                </a:cubicBezTo>
                <a:cubicBezTo>
                  <a:pt x="77546" y="98629"/>
                  <a:pt x="81397" y="94779"/>
                  <a:pt x="86163" y="94779"/>
                </a:cubicBezTo>
                <a:lnTo>
                  <a:pt x="88317" y="94779"/>
                </a:lnTo>
                <a:cubicBezTo>
                  <a:pt x="96637" y="94779"/>
                  <a:pt x="103395" y="88020"/>
                  <a:pt x="103395" y="79700"/>
                </a:cubicBezTo>
                <a:lnTo>
                  <a:pt x="103395" y="77546"/>
                </a:lnTo>
                <a:lnTo>
                  <a:pt x="86163" y="77546"/>
                </a:lnTo>
                <a:cubicBezTo>
                  <a:pt x="76658" y="77546"/>
                  <a:pt x="68930" y="69819"/>
                  <a:pt x="68930" y="60314"/>
                </a:cubicBezTo>
                <a:lnTo>
                  <a:pt x="68930" y="43081"/>
                </a:lnTo>
                <a:cubicBezTo>
                  <a:pt x="68930" y="33576"/>
                  <a:pt x="76658" y="25849"/>
                  <a:pt x="86163" y="25849"/>
                </a:cubicBezTo>
                <a:lnTo>
                  <a:pt x="103395" y="25849"/>
                </a:lnTo>
                <a:cubicBezTo>
                  <a:pt x="112900" y="25849"/>
                  <a:pt x="120628" y="33576"/>
                  <a:pt x="120628" y="43081"/>
                </a:cubicBezTo>
                <a:lnTo>
                  <a:pt x="120628" y="79700"/>
                </a:lnTo>
                <a:close/>
                <a:moveTo>
                  <a:pt x="51698" y="79700"/>
                </a:moveTo>
                <a:cubicBezTo>
                  <a:pt x="51698" y="97552"/>
                  <a:pt x="37238" y="112011"/>
                  <a:pt x="19387" y="112011"/>
                </a:cubicBezTo>
                <a:lnTo>
                  <a:pt x="17233" y="112011"/>
                </a:lnTo>
                <a:cubicBezTo>
                  <a:pt x="12467" y="112011"/>
                  <a:pt x="8616" y="108161"/>
                  <a:pt x="8616" y="103395"/>
                </a:cubicBezTo>
                <a:cubicBezTo>
                  <a:pt x="8616" y="98629"/>
                  <a:pt x="12467" y="94779"/>
                  <a:pt x="17233" y="94779"/>
                </a:cubicBezTo>
                <a:lnTo>
                  <a:pt x="19387" y="94779"/>
                </a:lnTo>
                <a:cubicBezTo>
                  <a:pt x="27707" y="94779"/>
                  <a:pt x="34465" y="88020"/>
                  <a:pt x="34465" y="79700"/>
                </a:cubicBezTo>
                <a:lnTo>
                  <a:pt x="34465" y="77546"/>
                </a:lnTo>
                <a:lnTo>
                  <a:pt x="17233" y="77546"/>
                </a:lnTo>
                <a:cubicBezTo>
                  <a:pt x="7728" y="77546"/>
                  <a:pt x="0" y="69819"/>
                  <a:pt x="0" y="60314"/>
                </a:cubicBezTo>
                <a:lnTo>
                  <a:pt x="0" y="43081"/>
                </a:lnTo>
                <a:cubicBezTo>
                  <a:pt x="0" y="33576"/>
                  <a:pt x="7728" y="25849"/>
                  <a:pt x="17233" y="25849"/>
                </a:cubicBezTo>
                <a:lnTo>
                  <a:pt x="34465" y="25849"/>
                </a:lnTo>
                <a:cubicBezTo>
                  <a:pt x="43970" y="25849"/>
                  <a:pt x="51698" y="33576"/>
                  <a:pt x="51698" y="43081"/>
                </a:cubicBezTo>
                <a:lnTo>
                  <a:pt x="51698" y="79700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10"/>
          <p:cNvSpPr/>
          <p:nvPr/>
        </p:nvSpPr>
        <p:spPr>
          <a:xfrm>
            <a:off x="904680" y="2179800"/>
            <a:ext cx="3260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AI-Powered Citations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5" name="Text 11"/>
          <p:cNvSpPr/>
          <p:nvPr/>
        </p:nvSpPr>
        <p:spPr>
          <a:xfrm>
            <a:off x="904680" y="2352240"/>
            <a:ext cx="3260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Intelligent content citations and references in Weixin content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6" name="Shape 12"/>
          <p:cNvSpPr/>
          <p:nvPr/>
        </p:nvSpPr>
        <p:spPr>
          <a:xfrm>
            <a:off x="525600" y="2731320"/>
            <a:ext cx="5320080" cy="54684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Shape 13"/>
          <p:cNvSpPr/>
          <p:nvPr/>
        </p:nvSpPr>
        <p:spPr>
          <a:xfrm>
            <a:off x="646200" y="2869200"/>
            <a:ext cx="133200" cy="13320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8266" y="19467"/>
                </a:moveTo>
                <a:cubicBezTo>
                  <a:pt x="10124" y="13032"/>
                  <a:pt x="16021" y="8616"/>
                  <a:pt x="22725" y="8616"/>
                </a:cubicBezTo>
                <a:lnTo>
                  <a:pt x="115350" y="8616"/>
                </a:lnTo>
                <a:cubicBezTo>
                  <a:pt x="122055" y="8616"/>
                  <a:pt x="127951" y="13032"/>
                  <a:pt x="129836" y="19467"/>
                </a:cubicBezTo>
                <a:lnTo>
                  <a:pt x="136137" y="41062"/>
                </a:lnTo>
                <a:cubicBezTo>
                  <a:pt x="139583" y="52828"/>
                  <a:pt x="130725" y="64622"/>
                  <a:pt x="118473" y="64622"/>
                </a:cubicBezTo>
                <a:cubicBezTo>
                  <a:pt x="111392" y="64622"/>
                  <a:pt x="105172" y="60610"/>
                  <a:pt x="102103" y="54632"/>
                </a:cubicBezTo>
                <a:cubicBezTo>
                  <a:pt x="98979" y="60529"/>
                  <a:pt x="92786" y="64622"/>
                  <a:pt x="85570" y="64622"/>
                </a:cubicBezTo>
                <a:cubicBezTo>
                  <a:pt x="78408" y="64622"/>
                  <a:pt x="72188" y="60583"/>
                  <a:pt x="69065" y="54659"/>
                </a:cubicBezTo>
                <a:cubicBezTo>
                  <a:pt x="65941" y="60583"/>
                  <a:pt x="59721" y="64622"/>
                  <a:pt x="52559" y="64622"/>
                </a:cubicBezTo>
                <a:cubicBezTo>
                  <a:pt x="45343" y="64622"/>
                  <a:pt x="39150" y="60556"/>
                  <a:pt x="36027" y="54632"/>
                </a:cubicBezTo>
                <a:cubicBezTo>
                  <a:pt x="32957" y="60583"/>
                  <a:pt x="26737" y="64622"/>
                  <a:pt x="19656" y="64622"/>
                </a:cubicBezTo>
                <a:cubicBezTo>
                  <a:pt x="7378" y="64622"/>
                  <a:pt x="-1454" y="52855"/>
                  <a:pt x="1993" y="41062"/>
                </a:cubicBezTo>
                <a:lnTo>
                  <a:pt x="8266" y="19467"/>
                </a:lnTo>
                <a:close/>
                <a:moveTo>
                  <a:pt x="25956" y="94779"/>
                </a:moveTo>
                <a:lnTo>
                  <a:pt x="112119" y="94779"/>
                </a:lnTo>
                <a:lnTo>
                  <a:pt x="112119" y="76900"/>
                </a:lnTo>
                <a:cubicBezTo>
                  <a:pt x="114165" y="77331"/>
                  <a:pt x="116293" y="77546"/>
                  <a:pt x="118447" y="77546"/>
                </a:cubicBezTo>
                <a:cubicBezTo>
                  <a:pt x="122297" y="77546"/>
                  <a:pt x="125986" y="76846"/>
                  <a:pt x="129352" y="75608"/>
                </a:cubicBezTo>
                <a:lnTo>
                  <a:pt x="129352" y="116319"/>
                </a:lnTo>
                <a:cubicBezTo>
                  <a:pt x="129352" y="123455"/>
                  <a:pt x="123562" y="129244"/>
                  <a:pt x="116427" y="129244"/>
                </a:cubicBezTo>
                <a:lnTo>
                  <a:pt x="21648" y="129244"/>
                </a:lnTo>
                <a:cubicBezTo>
                  <a:pt x="14513" y="129244"/>
                  <a:pt x="8724" y="123455"/>
                  <a:pt x="8724" y="116319"/>
                </a:cubicBezTo>
                <a:lnTo>
                  <a:pt x="8724" y="75608"/>
                </a:lnTo>
                <a:cubicBezTo>
                  <a:pt x="12090" y="76846"/>
                  <a:pt x="15752" y="77546"/>
                  <a:pt x="19629" y="77546"/>
                </a:cubicBezTo>
                <a:cubicBezTo>
                  <a:pt x="21810" y="77546"/>
                  <a:pt x="23910" y="77331"/>
                  <a:pt x="25956" y="76900"/>
                </a:cubicBezTo>
                <a:lnTo>
                  <a:pt x="25956" y="94779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14"/>
          <p:cNvSpPr/>
          <p:nvPr/>
        </p:nvSpPr>
        <p:spPr>
          <a:xfrm>
            <a:off x="904680" y="2834640"/>
            <a:ext cx="31662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Mini Shops Intelligence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9" name="Text 15"/>
          <p:cNvSpPr/>
          <p:nvPr/>
        </p:nvSpPr>
        <p:spPr>
          <a:xfrm>
            <a:off x="904680" y="3007080"/>
            <a:ext cx="31662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Automated responses to customer enquiries for merchants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0" name="Shape 16"/>
          <p:cNvSpPr/>
          <p:nvPr/>
        </p:nvSpPr>
        <p:spPr>
          <a:xfrm>
            <a:off x="525600" y="3386160"/>
            <a:ext cx="5320080" cy="54684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Shape 17"/>
          <p:cNvSpPr/>
          <p:nvPr/>
        </p:nvSpPr>
        <p:spPr>
          <a:xfrm>
            <a:off x="637560" y="3524040"/>
            <a:ext cx="150480" cy="133200"/>
          </a:xfrm>
          <a:custGeom>
            <a:avLst/>
            <a:gdLst/>
            <a:ahLst/>
            <a:rect l="l" t="t" r="r" b="b"/>
            <a:pathLst>
              <a:path w="155093" h="137860">
                <a:moveTo>
                  <a:pt x="25849" y="17233"/>
                </a:moveTo>
                <a:cubicBezTo>
                  <a:pt x="16344" y="17233"/>
                  <a:pt x="8616" y="24960"/>
                  <a:pt x="8616" y="34465"/>
                </a:cubicBezTo>
                <a:lnTo>
                  <a:pt x="8616" y="103395"/>
                </a:lnTo>
                <a:cubicBezTo>
                  <a:pt x="8616" y="112900"/>
                  <a:pt x="16344" y="120628"/>
                  <a:pt x="25849" y="120628"/>
                </a:cubicBezTo>
                <a:lnTo>
                  <a:pt x="94779" y="120628"/>
                </a:lnTo>
                <a:cubicBezTo>
                  <a:pt x="104284" y="120628"/>
                  <a:pt x="112011" y="112900"/>
                  <a:pt x="112011" y="103395"/>
                </a:cubicBezTo>
                <a:lnTo>
                  <a:pt x="112011" y="34465"/>
                </a:lnTo>
                <a:cubicBezTo>
                  <a:pt x="112011" y="24960"/>
                  <a:pt x="104284" y="17233"/>
                  <a:pt x="94779" y="17233"/>
                </a:cubicBezTo>
                <a:lnTo>
                  <a:pt x="25849" y="17233"/>
                </a:lnTo>
                <a:close/>
                <a:moveTo>
                  <a:pt x="124936" y="90471"/>
                </a:moveTo>
                <a:lnTo>
                  <a:pt x="144726" y="106303"/>
                </a:lnTo>
                <a:cubicBezTo>
                  <a:pt x="145857" y="107219"/>
                  <a:pt x="147257" y="107703"/>
                  <a:pt x="148711" y="107703"/>
                </a:cubicBezTo>
                <a:cubicBezTo>
                  <a:pt x="152238" y="107703"/>
                  <a:pt x="155093" y="104849"/>
                  <a:pt x="155093" y="101322"/>
                </a:cubicBezTo>
                <a:lnTo>
                  <a:pt x="155093" y="36538"/>
                </a:lnTo>
                <a:cubicBezTo>
                  <a:pt x="155093" y="33011"/>
                  <a:pt x="152238" y="30157"/>
                  <a:pt x="148711" y="30157"/>
                </a:cubicBezTo>
                <a:cubicBezTo>
                  <a:pt x="147257" y="30157"/>
                  <a:pt x="145857" y="30642"/>
                  <a:pt x="144726" y="31557"/>
                </a:cubicBezTo>
                <a:lnTo>
                  <a:pt x="124936" y="47389"/>
                </a:lnTo>
                <a:lnTo>
                  <a:pt x="124936" y="90471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18"/>
          <p:cNvSpPr/>
          <p:nvPr/>
        </p:nvSpPr>
        <p:spPr>
          <a:xfrm>
            <a:off x="904680" y="3489480"/>
            <a:ext cx="280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Video Summaries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3" name="Text 19"/>
          <p:cNvSpPr/>
          <p:nvPr/>
        </p:nvSpPr>
        <p:spPr>
          <a:xfrm>
            <a:off x="904680" y="3661920"/>
            <a:ext cx="280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Automated text summaries for Video Accounts clips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4" name="Shape 20"/>
          <p:cNvSpPr/>
          <p:nvPr/>
        </p:nvSpPr>
        <p:spPr>
          <a:xfrm>
            <a:off x="6169680" y="1348560"/>
            <a:ext cx="5673600" cy="2761200"/>
          </a:xfrm>
          <a:custGeom>
            <a:avLst/>
            <a:gdLst/>
            <a:ah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Shape 21"/>
          <p:cNvSpPr/>
          <p:nvPr/>
        </p:nvSpPr>
        <p:spPr>
          <a:xfrm>
            <a:off x="6346440" y="1524960"/>
            <a:ext cx="408960" cy="40896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Shape 22"/>
          <p:cNvSpPr/>
          <p:nvPr/>
        </p:nvSpPr>
        <p:spPr>
          <a:xfrm>
            <a:off x="6445440" y="1645560"/>
            <a:ext cx="210600" cy="167760"/>
          </a:xfrm>
          <a:custGeom>
            <a:avLst/>
            <a:gdLst/>
            <a:ahLst/>
            <a:rect l="l" t="t" r="r" b="b"/>
            <a:pathLst>
              <a:path w="215406" h="172325">
                <a:moveTo>
                  <a:pt x="150784" y="21541"/>
                </a:moveTo>
                <a:cubicBezTo>
                  <a:pt x="186461" y="21541"/>
                  <a:pt x="215406" y="50486"/>
                  <a:pt x="215406" y="86163"/>
                </a:cubicBezTo>
                <a:cubicBezTo>
                  <a:pt x="215406" y="121839"/>
                  <a:pt x="186461" y="150784"/>
                  <a:pt x="150784" y="150784"/>
                </a:cubicBezTo>
                <a:lnTo>
                  <a:pt x="64622" y="150784"/>
                </a:lnTo>
                <a:cubicBezTo>
                  <a:pt x="28945" y="150784"/>
                  <a:pt x="0" y="121839"/>
                  <a:pt x="0" y="86163"/>
                </a:cubicBezTo>
                <a:cubicBezTo>
                  <a:pt x="0" y="50486"/>
                  <a:pt x="28945" y="21541"/>
                  <a:pt x="64622" y="21541"/>
                </a:cubicBezTo>
                <a:lnTo>
                  <a:pt x="150784" y="21541"/>
                </a:lnTo>
                <a:close/>
                <a:moveTo>
                  <a:pt x="64622" y="59237"/>
                </a:moveTo>
                <a:cubicBezTo>
                  <a:pt x="60145" y="59237"/>
                  <a:pt x="56544" y="62838"/>
                  <a:pt x="56544" y="67314"/>
                </a:cubicBezTo>
                <a:lnTo>
                  <a:pt x="56544" y="78085"/>
                </a:lnTo>
                <a:lnTo>
                  <a:pt x="45774" y="78085"/>
                </a:lnTo>
                <a:cubicBezTo>
                  <a:pt x="41297" y="78085"/>
                  <a:pt x="37696" y="81686"/>
                  <a:pt x="37696" y="86163"/>
                </a:cubicBezTo>
                <a:cubicBezTo>
                  <a:pt x="37696" y="90639"/>
                  <a:pt x="41297" y="94240"/>
                  <a:pt x="45774" y="94240"/>
                </a:cubicBezTo>
                <a:lnTo>
                  <a:pt x="56544" y="94240"/>
                </a:lnTo>
                <a:lnTo>
                  <a:pt x="56544" y="105011"/>
                </a:lnTo>
                <a:cubicBezTo>
                  <a:pt x="56544" y="109487"/>
                  <a:pt x="60145" y="113088"/>
                  <a:pt x="64622" y="113088"/>
                </a:cubicBezTo>
                <a:cubicBezTo>
                  <a:pt x="69098" y="113088"/>
                  <a:pt x="72700" y="109487"/>
                  <a:pt x="72700" y="105011"/>
                </a:cubicBezTo>
                <a:lnTo>
                  <a:pt x="72700" y="94240"/>
                </a:lnTo>
                <a:lnTo>
                  <a:pt x="83470" y="94240"/>
                </a:lnTo>
                <a:cubicBezTo>
                  <a:pt x="87946" y="94240"/>
                  <a:pt x="91548" y="90639"/>
                  <a:pt x="91548" y="86163"/>
                </a:cubicBezTo>
                <a:cubicBezTo>
                  <a:pt x="91548" y="81686"/>
                  <a:pt x="87946" y="78085"/>
                  <a:pt x="83470" y="78085"/>
                </a:cubicBezTo>
                <a:lnTo>
                  <a:pt x="72700" y="78085"/>
                </a:lnTo>
                <a:lnTo>
                  <a:pt x="72700" y="67314"/>
                </a:lnTo>
                <a:cubicBezTo>
                  <a:pt x="72700" y="62838"/>
                  <a:pt x="69098" y="59237"/>
                  <a:pt x="64622" y="59237"/>
                </a:cubicBezTo>
                <a:close/>
                <a:moveTo>
                  <a:pt x="145399" y="91548"/>
                </a:moveTo>
                <a:cubicBezTo>
                  <a:pt x="139455" y="91548"/>
                  <a:pt x="134629" y="96374"/>
                  <a:pt x="134629" y="102318"/>
                </a:cubicBezTo>
                <a:cubicBezTo>
                  <a:pt x="134629" y="108262"/>
                  <a:pt x="139455" y="113088"/>
                  <a:pt x="145399" y="113088"/>
                </a:cubicBezTo>
                <a:cubicBezTo>
                  <a:pt x="151344" y="113088"/>
                  <a:pt x="156170" y="108262"/>
                  <a:pt x="156170" y="102318"/>
                </a:cubicBezTo>
                <a:cubicBezTo>
                  <a:pt x="156170" y="96374"/>
                  <a:pt x="151344" y="91548"/>
                  <a:pt x="145399" y="91548"/>
                </a:cubicBezTo>
                <a:close/>
                <a:moveTo>
                  <a:pt x="166940" y="59237"/>
                </a:moveTo>
                <a:cubicBezTo>
                  <a:pt x="160996" y="59237"/>
                  <a:pt x="156170" y="64063"/>
                  <a:pt x="156170" y="70007"/>
                </a:cubicBezTo>
                <a:cubicBezTo>
                  <a:pt x="156170" y="75951"/>
                  <a:pt x="160996" y="80777"/>
                  <a:pt x="166940" y="80777"/>
                </a:cubicBezTo>
                <a:cubicBezTo>
                  <a:pt x="172884" y="80777"/>
                  <a:pt x="177710" y="75951"/>
                  <a:pt x="177710" y="70007"/>
                </a:cubicBezTo>
                <a:cubicBezTo>
                  <a:pt x="177710" y="64063"/>
                  <a:pt x="172884" y="59237"/>
                  <a:pt x="166940" y="5923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23"/>
          <p:cNvSpPr/>
          <p:nvPr/>
        </p:nvSpPr>
        <p:spPr>
          <a:xfrm>
            <a:off x="6863400" y="1611360"/>
            <a:ext cx="1175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Game AI Tools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98" name="Shape 24"/>
          <p:cNvSpPr/>
          <p:nvPr/>
        </p:nvSpPr>
        <p:spPr>
          <a:xfrm>
            <a:off x="6346440" y="2076480"/>
            <a:ext cx="5320080" cy="54684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Shape 25"/>
          <p:cNvSpPr/>
          <p:nvPr/>
        </p:nvSpPr>
        <p:spPr>
          <a:xfrm>
            <a:off x="6475680" y="2214360"/>
            <a:ext cx="115920" cy="133200"/>
          </a:xfrm>
          <a:custGeom>
            <a:avLst/>
            <a:gdLst/>
            <a:ahLst/>
            <a:rect l="l" t="t" r="r" b="b"/>
            <a:pathLst>
              <a:path w="120628" h="137860">
                <a:moveTo>
                  <a:pt x="91225" y="-2666"/>
                </a:moveTo>
                <a:cubicBezTo>
                  <a:pt x="94429" y="-350"/>
                  <a:pt x="95613" y="3850"/>
                  <a:pt x="94160" y="7512"/>
                </a:cubicBezTo>
                <a:lnTo>
                  <a:pt x="73050" y="60314"/>
                </a:lnTo>
                <a:lnTo>
                  <a:pt x="112011" y="60314"/>
                </a:lnTo>
                <a:cubicBezTo>
                  <a:pt x="115646" y="60314"/>
                  <a:pt x="118877" y="62576"/>
                  <a:pt x="120116" y="65995"/>
                </a:cubicBezTo>
                <a:cubicBezTo>
                  <a:pt x="121355" y="69415"/>
                  <a:pt x="120304" y="73238"/>
                  <a:pt x="117531" y="75554"/>
                </a:cubicBezTo>
                <a:lnTo>
                  <a:pt x="39985" y="140176"/>
                </a:lnTo>
                <a:cubicBezTo>
                  <a:pt x="36942" y="142707"/>
                  <a:pt x="32607" y="142841"/>
                  <a:pt x="29403" y="140526"/>
                </a:cubicBezTo>
                <a:cubicBezTo>
                  <a:pt x="26199" y="138210"/>
                  <a:pt x="25014" y="134010"/>
                  <a:pt x="26468" y="130348"/>
                </a:cubicBezTo>
                <a:lnTo>
                  <a:pt x="47578" y="77546"/>
                </a:lnTo>
                <a:lnTo>
                  <a:pt x="8616" y="77546"/>
                </a:lnTo>
                <a:cubicBezTo>
                  <a:pt x="4981" y="77546"/>
                  <a:pt x="1750" y="75285"/>
                  <a:pt x="512" y="71865"/>
                </a:cubicBezTo>
                <a:cubicBezTo>
                  <a:pt x="-727" y="68445"/>
                  <a:pt x="323" y="64622"/>
                  <a:pt x="3096" y="62306"/>
                </a:cubicBezTo>
                <a:lnTo>
                  <a:pt x="80643" y="-2316"/>
                </a:lnTo>
                <a:cubicBezTo>
                  <a:pt x="83685" y="-4847"/>
                  <a:pt x="88020" y="-4981"/>
                  <a:pt x="91225" y="-266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26"/>
          <p:cNvSpPr/>
          <p:nvPr/>
        </p:nvSpPr>
        <p:spPr>
          <a:xfrm>
            <a:off x="6725520" y="2179800"/>
            <a:ext cx="27957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Content Production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1" name="Text 27"/>
          <p:cNvSpPr/>
          <p:nvPr/>
        </p:nvSpPr>
        <p:spPr>
          <a:xfrm>
            <a:off x="6725520" y="2352240"/>
            <a:ext cx="27957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AI tools accelerating game content creation pipeline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2" name="Shape 28"/>
          <p:cNvSpPr/>
          <p:nvPr/>
        </p:nvSpPr>
        <p:spPr>
          <a:xfrm>
            <a:off x="6346440" y="2731320"/>
            <a:ext cx="5320080" cy="54684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Shape 29"/>
          <p:cNvSpPr/>
          <p:nvPr/>
        </p:nvSpPr>
        <p:spPr>
          <a:xfrm>
            <a:off x="6449760" y="2869200"/>
            <a:ext cx="167760" cy="133200"/>
          </a:xfrm>
          <a:custGeom>
            <a:avLst/>
            <a:gdLst/>
            <a:ahLst/>
            <a:rect l="l" t="t" r="r" b="b"/>
            <a:pathLst>
              <a:path w="172325" h="137860">
                <a:moveTo>
                  <a:pt x="86163" y="4308"/>
                </a:moveTo>
                <a:cubicBezTo>
                  <a:pt x="101618" y="4308"/>
                  <a:pt x="114165" y="16856"/>
                  <a:pt x="114165" y="32311"/>
                </a:cubicBezTo>
                <a:cubicBezTo>
                  <a:pt x="114165" y="47766"/>
                  <a:pt x="101618" y="60314"/>
                  <a:pt x="86163" y="60314"/>
                </a:cubicBezTo>
                <a:cubicBezTo>
                  <a:pt x="70707" y="60314"/>
                  <a:pt x="58160" y="47766"/>
                  <a:pt x="58160" y="32311"/>
                </a:cubicBezTo>
                <a:cubicBezTo>
                  <a:pt x="58160" y="16856"/>
                  <a:pt x="70707" y="4308"/>
                  <a:pt x="86163" y="4308"/>
                </a:cubicBezTo>
                <a:close/>
                <a:moveTo>
                  <a:pt x="25849" y="23695"/>
                </a:moveTo>
                <a:cubicBezTo>
                  <a:pt x="36549" y="23695"/>
                  <a:pt x="45235" y="32382"/>
                  <a:pt x="45235" y="43081"/>
                </a:cubicBezTo>
                <a:cubicBezTo>
                  <a:pt x="45235" y="53781"/>
                  <a:pt x="36549" y="62468"/>
                  <a:pt x="25849" y="62468"/>
                </a:cubicBezTo>
                <a:cubicBezTo>
                  <a:pt x="15149" y="62468"/>
                  <a:pt x="6462" y="53781"/>
                  <a:pt x="6462" y="43081"/>
                </a:cubicBezTo>
                <a:cubicBezTo>
                  <a:pt x="6462" y="32382"/>
                  <a:pt x="15149" y="23695"/>
                  <a:pt x="25849" y="23695"/>
                </a:cubicBezTo>
                <a:close/>
                <a:moveTo>
                  <a:pt x="0" y="112011"/>
                </a:moveTo>
                <a:cubicBezTo>
                  <a:pt x="0" y="92975"/>
                  <a:pt x="15428" y="77546"/>
                  <a:pt x="34465" y="77546"/>
                </a:cubicBezTo>
                <a:cubicBezTo>
                  <a:pt x="37912" y="77546"/>
                  <a:pt x="41250" y="78058"/>
                  <a:pt x="44401" y="79000"/>
                </a:cubicBezTo>
                <a:cubicBezTo>
                  <a:pt x="35542" y="88909"/>
                  <a:pt x="30157" y="101995"/>
                  <a:pt x="30157" y="116319"/>
                </a:cubicBezTo>
                <a:lnTo>
                  <a:pt x="30157" y="120628"/>
                </a:lnTo>
                <a:cubicBezTo>
                  <a:pt x="30157" y="123697"/>
                  <a:pt x="30803" y="126605"/>
                  <a:pt x="31961" y="129244"/>
                </a:cubicBezTo>
                <a:lnTo>
                  <a:pt x="8616" y="129244"/>
                </a:lnTo>
                <a:cubicBezTo>
                  <a:pt x="3850" y="129244"/>
                  <a:pt x="0" y="125393"/>
                  <a:pt x="0" y="120628"/>
                </a:cubicBezTo>
                <a:lnTo>
                  <a:pt x="0" y="112011"/>
                </a:lnTo>
                <a:close/>
                <a:moveTo>
                  <a:pt x="140364" y="129244"/>
                </a:moveTo>
                <a:cubicBezTo>
                  <a:pt x="141522" y="126605"/>
                  <a:pt x="142168" y="123697"/>
                  <a:pt x="142168" y="120628"/>
                </a:cubicBezTo>
                <a:lnTo>
                  <a:pt x="142168" y="116319"/>
                </a:lnTo>
                <a:cubicBezTo>
                  <a:pt x="142168" y="101995"/>
                  <a:pt x="136783" y="88909"/>
                  <a:pt x="127924" y="79000"/>
                </a:cubicBezTo>
                <a:cubicBezTo>
                  <a:pt x="131075" y="78058"/>
                  <a:pt x="134414" y="77546"/>
                  <a:pt x="137860" y="77546"/>
                </a:cubicBezTo>
                <a:cubicBezTo>
                  <a:pt x="156897" y="77546"/>
                  <a:pt x="172325" y="92975"/>
                  <a:pt x="172325" y="112011"/>
                </a:cubicBezTo>
                <a:lnTo>
                  <a:pt x="172325" y="120628"/>
                </a:lnTo>
                <a:cubicBezTo>
                  <a:pt x="172325" y="125393"/>
                  <a:pt x="168475" y="129244"/>
                  <a:pt x="163709" y="129244"/>
                </a:cubicBezTo>
                <a:lnTo>
                  <a:pt x="140364" y="129244"/>
                </a:lnTo>
                <a:close/>
                <a:moveTo>
                  <a:pt x="127090" y="43081"/>
                </a:moveTo>
                <a:cubicBezTo>
                  <a:pt x="127090" y="32382"/>
                  <a:pt x="135777" y="23695"/>
                  <a:pt x="146476" y="23695"/>
                </a:cubicBezTo>
                <a:cubicBezTo>
                  <a:pt x="157176" y="23695"/>
                  <a:pt x="165863" y="32382"/>
                  <a:pt x="165863" y="43081"/>
                </a:cubicBezTo>
                <a:cubicBezTo>
                  <a:pt x="165863" y="53781"/>
                  <a:pt x="157176" y="62468"/>
                  <a:pt x="146476" y="62468"/>
                </a:cubicBezTo>
                <a:cubicBezTo>
                  <a:pt x="135777" y="62468"/>
                  <a:pt x="127090" y="53781"/>
                  <a:pt x="127090" y="43081"/>
                </a:cubicBezTo>
                <a:close/>
                <a:moveTo>
                  <a:pt x="43081" y="116319"/>
                </a:moveTo>
                <a:cubicBezTo>
                  <a:pt x="43081" y="92517"/>
                  <a:pt x="62360" y="73238"/>
                  <a:pt x="86163" y="73238"/>
                </a:cubicBezTo>
                <a:cubicBezTo>
                  <a:pt x="109965" y="73238"/>
                  <a:pt x="129244" y="92517"/>
                  <a:pt x="129244" y="116319"/>
                </a:cubicBezTo>
                <a:lnTo>
                  <a:pt x="129244" y="120628"/>
                </a:lnTo>
                <a:cubicBezTo>
                  <a:pt x="129244" y="125393"/>
                  <a:pt x="125393" y="129244"/>
                  <a:pt x="120628" y="129244"/>
                </a:cubicBezTo>
                <a:lnTo>
                  <a:pt x="51698" y="129244"/>
                </a:lnTo>
                <a:cubicBezTo>
                  <a:pt x="46932" y="129244"/>
                  <a:pt x="43081" y="125393"/>
                  <a:pt x="43081" y="120628"/>
                </a:cubicBezTo>
                <a:lnTo>
                  <a:pt x="43081" y="116319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30"/>
          <p:cNvSpPr/>
          <p:nvPr/>
        </p:nvSpPr>
        <p:spPr>
          <a:xfrm>
            <a:off x="6725520" y="2834640"/>
            <a:ext cx="2873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Virtual Teammates &amp; NPCs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5" name="Text 31"/>
          <p:cNvSpPr/>
          <p:nvPr/>
        </p:nvSpPr>
        <p:spPr>
          <a:xfrm>
            <a:off x="6725520" y="3007080"/>
            <a:ext cx="2873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Realistic AI-powered characters enhancing gameplay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6" name="Shape 32"/>
          <p:cNvSpPr/>
          <p:nvPr/>
        </p:nvSpPr>
        <p:spPr>
          <a:xfrm>
            <a:off x="6346440" y="3386160"/>
            <a:ext cx="5320080" cy="54684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Shape 33"/>
          <p:cNvSpPr/>
          <p:nvPr/>
        </p:nvSpPr>
        <p:spPr>
          <a:xfrm>
            <a:off x="6467040" y="3524040"/>
            <a:ext cx="133200" cy="13320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124182" y="5089"/>
                </a:moveTo>
                <a:cubicBezTo>
                  <a:pt x="127278" y="6462"/>
                  <a:pt x="129244" y="9532"/>
                  <a:pt x="129244" y="12924"/>
                </a:cubicBezTo>
                <a:lnTo>
                  <a:pt x="129244" y="124936"/>
                </a:lnTo>
                <a:cubicBezTo>
                  <a:pt x="129244" y="128328"/>
                  <a:pt x="127278" y="131398"/>
                  <a:pt x="124182" y="132771"/>
                </a:cubicBezTo>
                <a:cubicBezTo>
                  <a:pt x="121085" y="134144"/>
                  <a:pt x="117504" y="133633"/>
                  <a:pt x="114946" y="131398"/>
                </a:cubicBezTo>
                <a:lnTo>
                  <a:pt x="102399" y="120439"/>
                </a:lnTo>
                <a:cubicBezTo>
                  <a:pt x="90659" y="110180"/>
                  <a:pt x="75823" y="104203"/>
                  <a:pt x="60287" y="103476"/>
                </a:cubicBezTo>
                <a:lnTo>
                  <a:pt x="60287" y="129244"/>
                </a:lnTo>
                <a:cubicBezTo>
                  <a:pt x="60287" y="134010"/>
                  <a:pt x="56436" y="137860"/>
                  <a:pt x="51671" y="137860"/>
                </a:cubicBezTo>
                <a:lnTo>
                  <a:pt x="43054" y="137860"/>
                </a:lnTo>
                <a:cubicBezTo>
                  <a:pt x="38288" y="137860"/>
                  <a:pt x="34438" y="134010"/>
                  <a:pt x="34438" y="129244"/>
                </a:cubicBezTo>
                <a:lnTo>
                  <a:pt x="34438" y="103395"/>
                </a:lnTo>
                <a:cubicBezTo>
                  <a:pt x="15428" y="103395"/>
                  <a:pt x="0" y="87967"/>
                  <a:pt x="0" y="68930"/>
                </a:cubicBezTo>
                <a:cubicBezTo>
                  <a:pt x="0" y="49893"/>
                  <a:pt x="15428" y="34465"/>
                  <a:pt x="34465" y="34465"/>
                </a:cubicBezTo>
                <a:lnTo>
                  <a:pt x="57217" y="34465"/>
                </a:lnTo>
                <a:cubicBezTo>
                  <a:pt x="73857" y="34411"/>
                  <a:pt x="89905" y="28353"/>
                  <a:pt x="102426" y="17421"/>
                </a:cubicBezTo>
                <a:lnTo>
                  <a:pt x="114973" y="6462"/>
                </a:lnTo>
                <a:cubicBezTo>
                  <a:pt x="117504" y="4227"/>
                  <a:pt x="121139" y="3716"/>
                  <a:pt x="124209" y="5089"/>
                </a:cubicBezTo>
                <a:close/>
                <a:moveTo>
                  <a:pt x="60314" y="86163"/>
                </a:moveTo>
                <a:lnTo>
                  <a:pt x="60314" y="86216"/>
                </a:lnTo>
                <a:cubicBezTo>
                  <a:pt x="79243" y="86943"/>
                  <a:pt x="97418" y="93890"/>
                  <a:pt x="112011" y="105980"/>
                </a:cubicBezTo>
                <a:lnTo>
                  <a:pt x="112011" y="31853"/>
                </a:lnTo>
                <a:cubicBezTo>
                  <a:pt x="97418" y="43943"/>
                  <a:pt x="79243" y="50890"/>
                  <a:pt x="60314" y="51617"/>
                </a:cubicBezTo>
                <a:lnTo>
                  <a:pt x="60314" y="86163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34"/>
          <p:cNvSpPr/>
          <p:nvPr/>
        </p:nvSpPr>
        <p:spPr>
          <a:xfrm>
            <a:off x="6725520" y="3489480"/>
            <a:ext cx="24336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 Marketing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9" name="Text 35"/>
          <p:cNvSpPr/>
          <p:nvPr/>
        </p:nvSpPr>
        <p:spPr>
          <a:xfrm>
            <a:off x="6725520" y="3661920"/>
            <a:ext cx="24336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User acquisition and engagement campaigns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0" name="Shape 36"/>
          <p:cNvSpPr/>
          <p:nvPr/>
        </p:nvSpPr>
        <p:spPr>
          <a:xfrm>
            <a:off x="348840" y="4260600"/>
            <a:ext cx="5673600" cy="2588760"/>
          </a:xfrm>
          <a:custGeom>
            <a:avLst/>
            <a:gdLst/>
            <a:ah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Shape 37"/>
          <p:cNvSpPr/>
          <p:nvPr/>
        </p:nvSpPr>
        <p:spPr>
          <a:xfrm>
            <a:off x="525600" y="4437360"/>
            <a:ext cx="408960" cy="40896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Shape 38"/>
          <p:cNvSpPr/>
          <p:nvPr/>
        </p:nvSpPr>
        <p:spPr>
          <a:xfrm>
            <a:off x="646200" y="4557960"/>
            <a:ext cx="167760" cy="167760"/>
          </a:xfrm>
          <a:custGeom>
            <a:avLst/>
            <a:gdLst/>
            <a:ahLst/>
            <a:rect l="l" t="t" r="r" b="b"/>
            <a:pathLst>
              <a:path w="172325" h="172325">
                <a:moveTo>
                  <a:pt x="21541" y="21541"/>
                </a:moveTo>
                <a:cubicBezTo>
                  <a:pt x="9660" y="21541"/>
                  <a:pt x="0" y="31200"/>
                  <a:pt x="0" y="43081"/>
                </a:cubicBezTo>
                <a:lnTo>
                  <a:pt x="0" y="129244"/>
                </a:lnTo>
                <a:cubicBezTo>
                  <a:pt x="0" y="141125"/>
                  <a:pt x="9660" y="150784"/>
                  <a:pt x="21541" y="150784"/>
                </a:cubicBezTo>
                <a:lnTo>
                  <a:pt x="150784" y="150784"/>
                </a:lnTo>
                <a:cubicBezTo>
                  <a:pt x="162665" y="150784"/>
                  <a:pt x="172325" y="141125"/>
                  <a:pt x="172325" y="129244"/>
                </a:cubicBezTo>
                <a:lnTo>
                  <a:pt x="172325" y="43081"/>
                </a:lnTo>
                <a:cubicBezTo>
                  <a:pt x="172325" y="31200"/>
                  <a:pt x="162665" y="21541"/>
                  <a:pt x="150784" y="21541"/>
                </a:cubicBezTo>
                <a:lnTo>
                  <a:pt x="21541" y="21541"/>
                </a:lnTo>
                <a:close/>
                <a:moveTo>
                  <a:pt x="140014" y="61929"/>
                </a:moveTo>
                <a:lnTo>
                  <a:pt x="140014" y="110396"/>
                </a:lnTo>
                <a:cubicBezTo>
                  <a:pt x="140014" y="114872"/>
                  <a:pt x="136413" y="118473"/>
                  <a:pt x="131936" y="118473"/>
                </a:cubicBezTo>
                <a:cubicBezTo>
                  <a:pt x="129547" y="118473"/>
                  <a:pt x="127393" y="117430"/>
                  <a:pt x="125912" y="115781"/>
                </a:cubicBezTo>
                <a:cubicBezTo>
                  <a:pt x="122479" y="117497"/>
                  <a:pt x="118574" y="118473"/>
                  <a:pt x="114435" y="118473"/>
                </a:cubicBezTo>
                <a:cubicBezTo>
                  <a:pt x="100299" y="118473"/>
                  <a:pt x="88855" y="107030"/>
                  <a:pt x="88855" y="92894"/>
                </a:cubicBezTo>
                <a:cubicBezTo>
                  <a:pt x="88855" y="78758"/>
                  <a:pt x="100299" y="67314"/>
                  <a:pt x="114435" y="67314"/>
                </a:cubicBezTo>
                <a:cubicBezTo>
                  <a:pt x="117767" y="67314"/>
                  <a:pt x="120930" y="67954"/>
                  <a:pt x="123859" y="69098"/>
                </a:cubicBezTo>
                <a:lnTo>
                  <a:pt x="123859" y="61929"/>
                </a:lnTo>
                <a:cubicBezTo>
                  <a:pt x="123859" y="57453"/>
                  <a:pt x="127460" y="53852"/>
                  <a:pt x="131936" y="53852"/>
                </a:cubicBezTo>
                <a:cubicBezTo>
                  <a:pt x="136413" y="53852"/>
                  <a:pt x="140014" y="57453"/>
                  <a:pt x="140014" y="61929"/>
                </a:cubicBezTo>
                <a:close/>
                <a:moveTo>
                  <a:pt x="123859" y="92894"/>
                </a:moveTo>
                <a:cubicBezTo>
                  <a:pt x="123859" y="87693"/>
                  <a:pt x="119636" y="83470"/>
                  <a:pt x="114435" y="83470"/>
                </a:cubicBezTo>
                <a:cubicBezTo>
                  <a:pt x="109233" y="83470"/>
                  <a:pt x="105011" y="87693"/>
                  <a:pt x="105011" y="92894"/>
                </a:cubicBezTo>
                <a:cubicBezTo>
                  <a:pt x="105011" y="98095"/>
                  <a:pt x="109233" y="102318"/>
                  <a:pt x="114435" y="102318"/>
                </a:cubicBezTo>
                <a:cubicBezTo>
                  <a:pt x="119636" y="102318"/>
                  <a:pt x="123859" y="98095"/>
                  <a:pt x="123859" y="92894"/>
                </a:cubicBezTo>
                <a:close/>
                <a:moveTo>
                  <a:pt x="53852" y="70007"/>
                </a:moveTo>
                <a:cubicBezTo>
                  <a:pt x="50890" y="70007"/>
                  <a:pt x="48466" y="72430"/>
                  <a:pt x="48466" y="75392"/>
                </a:cubicBezTo>
                <a:lnTo>
                  <a:pt x="48466" y="86163"/>
                </a:lnTo>
                <a:lnTo>
                  <a:pt x="64622" y="86163"/>
                </a:lnTo>
                <a:lnTo>
                  <a:pt x="64622" y="75392"/>
                </a:lnTo>
                <a:cubicBezTo>
                  <a:pt x="64622" y="72430"/>
                  <a:pt x="62199" y="70007"/>
                  <a:pt x="59237" y="70007"/>
                </a:cubicBezTo>
                <a:lnTo>
                  <a:pt x="53852" y="70007"/>
                </a:lnTo>
                <a:close/>
                <a:moveTo>
                  <a:pt x="64622" y="102318"/>
                </a:moveTo>
                <a:lnTo>
                  <a:pt x="48466" y="102318"/>
                </a:lnTo>
                <a:lnTo>
                  <a:pt x="48466" y="110396"/>
                </a:lnTo>
                <a:cubicBezTo>
                  <a:pt x="48466" y="114872"/>
                  <a:pt x="44865" y="118473"/>
                  <a:pt x="40389" y="118473"/>
                </a:cubicBezTo>
                <a:cubicBezTo>
                  <a:pt x="35912" y="118473"/>
                  <a:pt x="32311" y="114872"/>
                  <a:pt x="32311" y="110396"/>
                </a:cubicBezTo>
                <a:lnTo>
                  <a:pt x="32311" y="75392"/>
                </a:lnTo>
                <a:cubicBezTo>
                  <a:pt x="32311" y="63511"/>
                  <a:pt x="41971" y="53852"/>
                  <a:pt x="53852" y="53852"/>
                </a:cubicBezTo>
                <a:lnTo>
                  <a:pt x="59237" y="53852"/>
                </a:lnTo>
                <a:cubicBezTo>
                  <a:pt x="71118" y="53852"/>
                  <a:pt x="80777" y="63511"/>
                  <a:pt x="80777" y="75392"/>
                </a:cubicBezTo>
                <a:lnTo>
                  <a:pt x="80777" y="110396"/>
                </a:lnTo>
                <a:cubicBezTo>
                  <a:pt x="80777" y="114872"/>
                  <a:pt x="77176" y="118473"/>
                  <a:pt x="72700" y="118473"/>
                </a:cubicBezTo>
                <a:cubicBezTo>
                  <a:pt x="68223" y="118473"/>
                  <a:pt x="64622" y="114872"/>
                  <a:pt x="64622" y="110396"/>
                </a:cubicBezTo>
                <a:lnTo>
                  <a:pt x="64622" y="102318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Text 39"/>
          <p:cNvSpPr/>
          <p:nvPr/>
        </p:nvSpPr>
        <p:spPr>
          <a:xfrm>
            <a:off x="1042560" y="4523400"/>
            <a:ext cx="16408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Advertising Platform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414" name="Shape 40"/>
          <p:cNvSpPr/>
          <p:nvPr/>
        </p:nvSpPr>
        <p:spPr>
          <a:xfrm>
            <a:off x="525600" y="4988880"/>
            <a:ext cx="5320080" cy="615600"/>
          </a:xfrm>
          <a:custGeom>
            <a:avLst/>
            <a:gdLst/>
            <a:ahLst/>
            <a:rect l="l" t="t" r="r" b="b"/>
            <a:pathLst>
              <a:path w="5324845" h="620370">
                <a:moveTo>
                  <a:pt x="68929" y="0"/>
                </a:moveTo>
                <a:lnTo>
                  <a:pt x="5255916" y="0"/>
                </a:lnTo>
                <a:cubicBezTo>
                  <a:pt x="5293985" y="0"/>
                  <a:pt x="5324845" y="30861"/>
                  <a:pt x="5324845" y="68929"/>
                </a:cubicBezTo>
                <a:lnTo>
                  <a:pt x="5324845" y="551441"/>
                </a:lnTo>
                <a:cubicBezTo>
                  <a:pt x="5324845" y="589510"/>
                  <a:pt x="5293985" y="620370"/>
                  <a:pt x="525591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41"/>
          <p:cNvSpPr/>
          <p:nvPr/>
        </p:nvSpPr>
        <p:spPr>
          <a:xfrm>
            <a:off x="628920" y="5092200"/>
            <a:ext cx="5173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 Foundation Model Upgrade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6" name="Text 42"/>
          <p:cNvSpPr/>
          <p:nvPr/>
        </p:nvSpPr>
        <p:spPr>
          <a:xfrm>
            <a:off x="628920" y="5333400"/>
            <a:ext cx="5173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Enhanced advertising performance across Video Accounts, Mini Programs, and Weixin Search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7" name="Shape 43"/>
          <p:cNvSpPr/>
          <p:nvPr/>
        </p:nvSpPr>
        <p:spPr>
          <a:xfrm>
            <a:off x="525600" y="5712480"/>
            <a:ext cx="2606040" cy="615600"/>
          </a:xfrm>
          <a:custGeom>
            <a:avLst/>
            <a:gdLst/>
            <a:ah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44"/>
          <p:cNvSpPr/>
          <p:nvPr/>
        </p:nvSpPr>
        <p:spPr>
          <a:xfrm>
            <a:off x="577440" y="5815800"/>
            <a:ext cx="25027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6366f1"/>
                </a:solidFill>
                <a:latin typeface="Liter"/>
                <a:ea typeface="Liter"/>
              </a:rPr>
              <a:t>+20%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419" name="Text 45"/>
          <p:cNvSpPr/>
          <p:nvPr/>
        </p:nvSpPr>
        <p:spPr>
          <a:xfrm>
            <a:off x="603000" y="6091560"/>
            <a:ext cx="2450880" cy="1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820" spc="-1" strike="noStrike">
                <a:solidFill>
                  <a:srgbClr val="8f8f8f"/>
                </a:solidFill>
                <a:latin typeface="Liter"/>
                <a:ea typeface="Liter"/>
              </a:rPr>
              <a:t>Marketing Services Revenue</a:t>
            </a:r>
            <a:endParaRPr b="0" lang="en-HK" sz="820" spc="-1" strike="noStrike">
              <a:latin typeface="Arial"/>
            </a:endParaRPr>
          </a:p>
        </p:txBody>
      </p:sp>
      <p:sp>
        <p:nvSpPr>
          <p:cNvPr id="420" name="Shape 46"/>
          <p:cNvSpPr/>
          <p:nvPr/>
        </p:nvSpPr>
        <p:spPr>
          <a:xfrm>
            <a:off x="3237840" y="5712480"/>
            <a:ext cx="2606040" cy="615600"/>
          </a:xfrm>
          <a:custGeom>
            <a:avLst/>
            <a:gdLst/>
            <a:ah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Text 47"/>
          <p:cNvSpPr/>
          <p:nvPr/>
        </p:nvSpPr>
        <p:spPr>
          <a:xfrm>
            <a:off x="3289320" y="5815800"/>
            <a:ext cx="25027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6366f1"/>
                </a:solidFill>
                <a:latin typeface="Liter"/>
                <a:ea typeface="Liter"/>
              </a:rPr>
              <a:t>Higher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422" name="Text 48"/>
          <p:cNvSpPr/>
          <p:nvPr/>
        </p:nvSpPr>
        <p:spPr>
          <a:xfrm>
            <a:off x="3315240" y="6091560"/>
            <a:ext cx="2450880" cy="1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820" spc="-1" strike="noStrike">
                <a:solidFill>
                  <a:srgbClr val="8f8f8f"/>
                </a:solidFill>
                <a:latin typeface="Liter"/>
                <a:ea typeface="Liter"/>
              </a:rPr>
              <a:t>CTR &amp; Conversions</a:t>
            </a:r>
            <a:endParaRPr b="0" lang="en-HK" sz="820" spc="-1" strike="noStrike">
              <a:latin typeface="Arial"/>
            </a:endParaRPr>
          </a:p>
        </p:txBody>
      </p:sp>
      <p:sp>
        <p:nvSpPr>
          <p:cNvPr id="423" name="Shape 49"/>
          <p:cNvSpPr/>
          <p:nvPr/>
        </p:nvSpPr>
        <p:spPr>
          <a:xfrm>
            <a:off x="6169680" y="4260600"/>
            <a:ext cx="5673600" cy="2588760"/>
          </a:xfrm>
          <a:custGeom>
            <a:avLst/>
            <a:gdLst/>
            <a:ah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Shape 50"/>
          <p:cNvSpPr/>
          <p:nvPr/>
        </p:nvSpPr>
        <p:spPr>
          <a:xfrm>
            <a:off x="6346440" y="4437360"/>
            <a:ext cx="408960" cy="40896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Shape 51"/>
          <p:cNvSpPr/>
          <p:nvPr/>
        </p:nvSpPr>
        <p:spPr>
          <a:xfrm>
            <a:off x="6467040" y="4557960"/>
            <a:ext cx="167760" cy="167760"/>
          </a:xfrm>
          <a:custGeom>
            <a:avLst/>
            <a:gdLst/>
            <a:ahLst/>
            <a:rect l="l" t="t" r="r" b="b"/>
            <a:pathLst>
              <a:path w="172325" h="172325">
                <a:moveTo>
                  <a:pt x="75493" y="-841"/>
                </a:moveTo>
                <a:cubicBezTo>
                  <a:pt x="82157" y="-4678"/>
                  <a:pt x="90370" y="-4678"/>
                  <a:pt x="97034" y="-841"/>
                </a:cubicBezTo>
                <a:lnTo>
                  <a:pt x="156237" y="33321"/>
                </a:lnTo>
                <a:cubicBezTo>
                  <a:pt x="162901" y="37158"/>
                  <a:pt x="167007" y="44293"/>
                  <a:pt x="167007" y="51967"/>
                </a:cubicBezTo>
                <a:lnTo>
                  <a:pt x="167007" y="120291"/>
                </a:lnTo>
                <a:cubicBezTo>
                  <a:pt x="167007" y="127998"/>
                  <a:pt x="162901" y="135100"/>
                  <a:pt x="156237" y="138937"/>
                </a:cubicBezTo>
                <a:lnTo>
                  <a:pt x="97034" y="173167"/>
                </a:lnTo>
                <a:cubicBezTo>
                  <a:pt x="90370" y="177003"/>
                  <a:pt x="82157" y="177003"/>
                  <a:pt x="75493" y="173167"/>
                </a:cubicBezTo>
                <a:lnTo>
                  <a:pt x="16324" y="139004"/>
                </a:lnTo>
                <a:cubicBezTo>
                  <a:pt x="9660" y="135167"/>
                  <a:pt x="5553" y="128032"/>
                  <a:pt x="5553" y="120358"/>
                </a:cubicBezTo>
                <a:lnTo>
                  <a:pt x="5553" y="52034"/>
                </a:lnTo>
                <a:cubicBezTo>
                  <a:pt x="5553" y="44327"/>
                  <a:pt x="9660" y="37225"/>
                  <a:pt x="16324" y="33388"/>
                </a:cubicBezTo>
                <a:lnTo>
                  <a:pt x="75493" y="-841"/>
                </a:lnTo>
                <a:close/>
                <a:moveTo>
                  <a:pt x="145433" y="120325"/>
                </a:moveTo>
                <a:lnTo>
                  <a:pt x="145433" y="64420"/>
                </a:lnTo>
                <a:lnTo>
                  <a:pt x="97034" y="92355"/>
                </a:lnTo>
                <a:lnTo>
                  <a:pt x="97034" y="148260"/>
                </a:lnTo>
                <a:lnTo>
                  <a:pt x="145433" y="120325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Text 52"/>
          <p:cNvSpPr/>
          <p:nvPr/>
        </p:nvSpPr>
        <p:spPr>
          <a:xfrm>
            <a:off x="6863400" y="4523400"/>
            <a:ext cx="1382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HunYuan Models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427" name="Shape 53"/>
          <p:cNvSpPr/>
          <p:nvPr/>
        </p:nvSpPr>
        <p:spPr>
          <a:xfrm>
            <a:off x="6346440" y="4988880"/>
            <a:ext cx="5320080" cy="788040"/>
          </a:xfrm>
          <a:custGeom>
            <a:avLst/>
            <a:gdLst/>
            <a:ah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Shape 54"/>
          <p:cNvSpPr/>
          <p:nvPr/>
        </p:nvSpPr>
        <p:spPr>
          <a:xfrm>
            <a:off x="6467040" y="5109480"/>
            <a:ext cx="133200" cy="13320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38854" y="0"/>
                </a:moveTo>
                <a:lnTo>
                  <a:pt x="99168" y="0"/>
                </a:lnTo>
                <a:cubicBezTo>
                  <a:pt x="106303" y="0"/>
                  <a:pt x="112119" y="5870"/>
                  <a:pt x="111850" y="12978"/>
                </a:cubicBezTo>
                <a:cubicBezTo>
                  <a:pt x="111796" y="14405"/>
                  <a:pt x="111742" y="15832"/>
                  <a:pt x="111661" y="17233"/>
                </a:cubicBezTo>
                <a:lnTo>
                  <a:pt x="125016" y="17233"/>
                </a:lnTo>
                <a:cubicBezTo>
                  <a:pt x="132044" y="17233"/>
                  <a:pt x="138237" y="23048"/>
                  <a:pt x="137699" y="30642"/>
                </a:cubicBezTo>
                <a:cubicBezTo>
                  <a:pt x="135679" y="58564"/>
                  <a:pt x="121408" y="73911"/>
                  <a:pt x="105926" y="81935"/>
                </a:cubicBezTo>
                <a:cubicBezTo>
                  <a:pt x="101672" y="84143"/>
                  <a:pt x="97337" y="85786"/>
                  <a:pt x="93217" y="86997"/>
                </a:cubicBezTo>
                <a:cubicBezTo>
                  <a:pt x="87778" y="94698"/>
                  <a:pt x="82124" y="98764"/>
                  <a:pt x="77627" y="100945"/>
                </a:cubicBezTo>
                <a:lnTo>
                  <a:pt x="77627" y="120628"/>
                </a:lnTo>
                <a:lnTo>
                  <a:pt x="94860" y="120628"/>
                </a:lnTo>
                <a:cubicBezTo>
                  <a:pt x="99625" y="120628"/>
                  <a:pt x="103476" y="124478"/>
                  <a:pt x="103476" y="129244"/>
                </a:cubicBezTo>
                <a:cubicBezTo>
                  <a:pt x="103476" y="134010"/>
                  <a:pt x="99625" y="137860"/>
                  <a:pt x="94860" y="137860"/>
                </a:cubicBezTo>
                <a:lnTo>
                  <a:pt x="43162" y="137860"/>
                </a:lnTo>
                <a:cubicBezTo>
                  <a:pt x="38396" y="137860"/>
                  <a:pt x="34546" y="134010"/>
                  <a:pt x="34546" y="129244"/>
                </a:cubicBezTo>
                <a:cubicBezTo>
                  <a:pt x="34546" y="124478"/>
                  <a:pt x="38396" y="120628"/>
                  <a:pt x="43162" y="120628"/>
                </a:cubicBezTo>
                <a:lnTo>
                  <a:pt x="60395" y="120628"/>
                </a:lnTo>
                <a:lnTo>
                  <a:pt x="60395" y="100945"/>
                </a:lnTo>
                <a:cubicBezTo>
                  <a:pt x="56086" y="98872"/>
                  <a:pt x="50728" y="95021"/>
                  <a:pt x="45505" y="87940"/>
                </a:cubicBezTo>
                <a:cubicBezTo>
                  <a:pt x="40550" y="86647"/>
                  <a:pt x="35165" y="84682"/>
                  <a:pt x="29915" y="81720"/>
                </a:cubicBezTo>
                <a:cubicBezTo>
                  <a:pt x="15348" y="73561"/>
                  <a:pt x="2208" y="58187"/>
                  <a:pt x="323" y="30588"/>
                </a:cubicBezTo>
                <a:cubicBezTo>
                  <a:pt x="-188" y="23022"/>
                  <a:pt x="5978" y="17206"/>
                  <a:pt x="13005" y="17206"/>
                </a:cubicBezTo>
                <a:lnTo>
                  <a:pt x="26360" y="17206"/>
                </a:lnTo>
                <a:cubicBezTo>
                  <a:pt x="26280" y="15805"/>
                  <a:pt x="26226" y="14405"/>
                  <a:pt x="26172" y="12951"/>
                </a:cubicBezTo>
                <a:cubicBezTo>
                  <a:pt x="25903" y="5816"/>
                  <a:pt x="31719" y="-27"/>
                  <a:pt x="38854" y="-27"/>
                </a:cubicBezTo>
                <a:close/>
                <a:moveTo>
                  <a:pt x="27330" y="30157"/>
                </a:moveTo>
                <a:lnTo>
                  <a:pt x="13221" y="30157"/>
                </a:lnTo>
                <a:cubicBezTo>
                  <a:pt x="14890" y="52963"/>
                  <a:pt x="25364" y="64380"/>
                  <a:pt x="36161" y="70438"/>
                </a:cubicBezTo>
                <a:cubicBezTo>
                  <a:pt x="32284" y="60395"/>
                  <a:pt x="29080" y="47282"/>
                  <a:pt x="27330" y="30157"/>
                </a:cubicBezTo>
                <a:close/>
                <a:moveTo>
                  <a:pt x="102318" y="69145"/>
                </a:moveTo>
                <a:cubicBezTo>
                  <a:pt x="113223" y="62737"/>
                  <a:pt x="123078" y="51347"/>
                  <a:pt x="124747" y="30157"/>
                </a:cubicBezTo>
                <a:lnTo>
                  <a:pt x="110665" y="30157"/>
                </a:lnTo>
                <a:cubicBezTo>
                  <a:pt x="108996" y="46555"/>
                  <a:pt x="105980" y="59291"/>
                  <a:pt x="102318" y="6914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55"/>
          <p:cNvSpPr/>
          <p:nvPr/>
        </p:nvSpPr>
        <p:spPr>
          <a:xfrm>
            <a:off x="6690960" y="5092200"/>
            <a:ext cx="17359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HunYuan 3D Model - Ranked #1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0" name="Text 56"/>
          <p:cNvSpPr/>
          <p:nvPr/>
        </p:nvSpPr>
        <p:spPr>
          <a:xfrm>
            <a:off x="6449760" y="5333400"/>
            <a:ext cx="51735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Leading Hugging Face leaderboard for geometric precision, texture fidelity, and prompt-3D alignment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1" name="Shape 57"/>
          <p:cNvSpPr/>
          <p:nvPr/>
        </p:nvSpPr>
        <p:spPr>
          <a:xfrm>
            <a:off x="6346440" y="5884920"/>
            <a:ext cx="5320080" cy="788040"/>
          </a:xfrm>
          <a:custGeom>
            <a:avLst/>
            <a:gdLst/>
            <a:ah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58"/>
          <p:cNvSpPr/>
          <p:nvPr/>
        </p:nvSpPr>
        <p:spPr>
          <a:xfrm>
            <a:off x="6449760" y="5988240"/>
            <a:ext cx="5173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Adoption Growing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3" name="Text 59"/>
          <p:cNvSpPr/>
          <p:nvPr/>
        </p:nvSpPr>
        <p:spPr>
          <a:xfrm>
            <a:off x="6449760" y="6229440"/>
            <a:ext cx="51735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Game developers, 3D printing enterprises, and design professionals increasingly adopting HunYuan 3D</a:t>
            </a:r>
            <a:endParaRPr b="0" lang="en-HK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0"/>
          <p:cNvSpPr/>
          <p:nvPr/>
        </p:nvSpPr>
        <p:spPr>
          <a:xfrm>
            <a:off x="339480" y="339480"/>
            <a:ext cx="115675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12" strike="noStrike">
                <a:solidFill>
                  <a:srgbClr val="6366f1"/>
                </a:solidFill>
                <a:latin typeface="Liter"/>
                <a:ea typeface="Liter"/>
              </a:rPr>
              <a:t>PLATFORM ENGAGEMENT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35" name="Text 1"/>
          <p:cNvSpPr/>
          <p:nvPr/>
        </p:nvSpPr>
        <p:spPr>
          <a:xfrm>
            <a:off x="339480" y="577440"/>
            <a:ext cx="116607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efefef"/>
                </a:solidFill>
                <a:latin typeface="Liter"/>
                <a:ea typeface="Liter"/>
              </a:rPr>
              <a:t>User Metrics &amp; Engagement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339480" y="984960"/>
            <a:ext cx="11576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70" spc="-1" strike="noStrike">
                <a:solidFill>
                  <a:srgbClr val="8f8f8f"/>
                </a:solidFill>
                <a:latin typeface="Liter"/>
                <a:ea typeface="Liter"/>
              </a:rPr>
              <a:t>Strong user base across social platforms and content services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37" name="Shape 3"/>
          <p:cNvSpPr/>
          <p:nvPr/>
        </p:nvSpPr>
        <p:spPr>
          <a:xfrm>
            <a:off x="343800" y="1328760"/>
            <a:ext cx="5641200" cy="164232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Shape 4"/>
          <p:cNvSpPr/>
          <p:nvPr/>
        </p:nvSpPr>
        <p:spPr>
          <a:xfrm>
            <a:off x="551880" y="1536840"/>
            <a:ext cx="402840" cy="40284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Shape 5"/>
          <p:cNvSpPr/>
          <p:nvPr/>
        </p:nvSpPr>
        <p:spPr>
          <a:xfrm>
            <a:off x="641160" y="1638720"/>
            <a:ext cx="224640" cy="199080"/>
          </a:xfrm>
          <a:custGeom>
            <a:avLst/>
            <a:gdLst/>
            <a:ahLst/>
            <a:rect l="l" t="t" r="r" b="b"/>
            <a:pathLst>
              <a:path w="229237" h="203766">
                <a:moveTo>
                  <a:pt x="153302" y="66702"/>
                </a:moveTo>
                <a:cubicBezTo>
                  <a:pt x="155849" y="66702"/>
                  <a:pt x="158317" y="66821"/>
                  <a:pt x="160784" y="67139"/>
                </a:cubicBezTo>
                <a:cubicBezTo>
                  <a:pt x="154178" y="35938"/>
                  <a:pt x="120707" y="12735"/>
                  <a:pt x="82661" y="12735"/>
                </a:cubicBezTo>
                <a:cubicBezTo>
                  <a:pt x="39997" y="12735"/>
                  <a:pt x="5174" y="41708"/>
                  <a:pt x="5174" y="78561"/>
                </a:cubicBezTo>
                <a:cubicBezTo>
                  <a:pt x="5174" y="99814"/>
                  <a:pt x="16835" y="117364"/>
                  <a:pt x="36176" y="130936"/>
                </a:cubicBezTo>
                <a:lnTo>
                  <a:pt x="28495" y="154257"/>
                </a:lnTo>
                <a:lnTo>
                  <a:pt x="55558" y="140686"/>
                </a:lnTo>
                <a:cubicBezTo>
                  <a:pt x="65269" y="142596"/>
                  <a:pt x="72990" y="144547"/>
                  <a:pt x="82700" y="144547"/>
                </a:cubicBezTo>
                <a:cubicBezTo>
                  <a:pt x="85168" y="144547"/>
                  <a:pt x="87516" y="144427"/>
                  <a:pt x="89983" y="144228"/>
                </a:cubicBezTo>
                <a:cubicBezTo>
                  <a:pt x="88391" y="139094"/>
                  <a:pt x="87516" y="133642"/>
                  <a:pt x="87516" y="127991"/>
                </a:cubicBezTo>
                <a:cubicBezTo>
                  <a:pt x="87476" y="94202"/>
                  <a:pt x="116529" y="66702"/>
                  <a:pt x="153302" y="66702"/>
                </a:cubicBezTo>
                <a:close/>
                <a:moveTo>
                  <a:pt x="111713" y="45648"/>
                </a:moveTo>
                <a:cubicBezTo>
                  <a:pt x="117484" y="45648"/>
                  <a:pt x="121344" y="49509"/>
                  <a:pt x="121344" y="55359"/>
                </a:cubicBezTo>
                <a:cubicBezTo>
                  <a:pt x="121344" y="61130"/>
                  <a:pt x="117484" y="64990"/>
                  <a:pt x="111713" y="64990"/>
                </a:cubicBezTo>
                <a:cubicBezTo>
                  <a:pt x="105823" y="64990"/>
                  <a:pt x="100052" y="61130"/>
                  <a:pt x="100052" y="55359"/>
                </a:cubicBezTo>
                <a:cubicBezTo>
                  <a:pt x="100092" y="49509"/>
                  <a:pt x="105863" y="45648"/>
                  <a:pt x="111713" y="45648"/>
                </a:cubicBezTo>
                <a:close/>
                <a:moveTo>
                  <a:pt x="57429" y="64990"/>
                </a:moveTo>
                <a:cubicBezTo>
                  <a:pt x="51658" y="64990"/>
                  <a:pt x="45768" y="61130"/>
                  <a:pt x="45768" y="55359"/>
                </a:cubicBezTo>
                <a:cubicBezTo>
                  <a:pt x="45768" y="49469"/>
                  <a:pt x="51658" y="45648"/>
                  <a:pt x="57429" y="45648"/>
                </a:cubicBezTo>
                <a:cubicBezTo>
                  <a:pt x="63319" y="45648"/>
                  <a:pt x="67139" y="49509"/>
                  <a:pt x="67139" y="55359"/>
                </a:cubicBezTo>
                <a:cubicBezTo>
                  <a:pt x="67139" y="61170"/>
                  <a:pt x="63319" y="64990"/>
                  <a:pt x="57429" y="64990"/>
                </a:cubicBezTo>
                <a:close/>
                <a:moveTo>
                  <a:pt x="224063" y="127115"/>
                </a:moveTo>
                <a:cubicBezTo>
                  <a:pt x="224063" y="96112"/>
                  <a:pt x="193060" y="70880"/>
                  <a:pt x="158237" y="70880"/>
                </a:cubicBezTo>
                <a:cubicBezTo>
                  <a:pt x="121344" y="70880"/>
                  <a:pt x="92411" y="96112"/>
                  <a:pt x="92411" y="127115"/>
                </a:cubicBezTo>
                <a:cubicBezTo>
                  <a:pt x="92411" y="158118"/>
                  <a:pt x="121384" y="183350"/>
                  <a:pt x="158237" y="183350"/>
                </a:cubicBezTo>
                <a:cubicBezTo>
                  <a:pt x="165918" y="183350"/>
                  <a:pt x="173718" y="181320"/>
                  <a:pt x="181559" y="179410"/>
                </a:cubicBezTo>
                <a:lnTo>
                  <a:pt x="202811" y="191070"/>
                </a:lnTo>
                <a:lnTo>
                  <a:pt x="196921" y="171729"/>
                </a:lnTo>
                <a:cubicBezTo>
                  <a:pt x="212522" y="160028"/>
                  <a:pt x="224063" y="144547"/>
                  <a:pt x="224063" y="127115"/>
                </a:cubicBezTo>
                <a:close/>
                <a:moveTo>
                  <a:pt x="136865" y="117364"/>
                </a:moveTo>
                <a:cubicBezTo>
                  <a:pt x="133005" y="117364"/>
                  <a:pt x="129184" y="113504"/>
                  <a:pt x="129184" y="109564"/>
                </a:cubicBezTo>
                <a:cubicBezTo>
                  <a:pt x="129184" y="105704"/>
                  <a:pt x="133045" y="101883"/>
                  <a:pt x="136865" y="101883"/>
                </a:cubicBezTo>
                <a:cubicBezTo>
                  <a:pt x="142756" y="101883"/>
                  <a:pt x="146576" y="105743"/>
                  <a:pt x="146576" y="109564"/>
                </a:cubicBezTo>
                <a:cubicBezTo>
                  <a:pt x="146576" y="113544"/>
                  <a:pt x="142716" y="117364"/>
                  <a:pt x="136865" y="117364"/>
                </a:cubicBezTo>
                <a:close/>
                <a:moveTo>
                  <a:pt x="179489" y="117364"/>
                </a:moveTo>
                <a:cubicBezTo>
                  <a:pt x="175629" y="117364"/>
                  <a:pt x="171808" y="113504"/>
                  <a:pt x="171808" y="109564"/>
                </a:cubicBezTo>
                <a:cubicBezTo>
                  <a:pt x="171808" y="105704"/>
                  <a:pt x="175669" y="101883"/>
                  <a:pt x="179489" y="101883"/>
                </a:cubicBezTo>
                <a:cubicBezTo>
                  <a:pt x="185260" y="101883"/>
                  <a:pt x="189200" y="105743"/>
                  <a:pt x="189200" y="109564"/>
                </a:cubicBezTo>
                <a:cubicBezTo>
                  <a:pt x="189240" y="113544"/>
                  <a:pt x="185260" y="117364"/>
                  <a:pt x="179489" y="11736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Text 6"/>
          <p:cNvSpPr/>
          <p:nvPr/>
        </p:nvSpPr>
        <p:spPr>
          <a:xfrm>
            <a:off x="1061280" y="1536840"/>
            <a:ext cx="14047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Weixin &amp; WeChat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41" name="Text 7"/>
          <p:cNvSpPr/>
          <p:nvPr/>
        </p:nvSpPr>
        <p:spPr>
          <a:xfrm>
            <a:off x="1061280" y="1774440"/>
            <a:ext cx="13791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Combined MAU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2" name="Text 8"/>
          <p:cNvSpPr/>
          <p:nvPr/>
        </p:nvSpPr>
        <p:spPr>
          <a:xfrm>
            <a:off x="551880" y="2080080"/>
            <a:ext cx="127728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6366f1"/>
                </a:solidFill>
                <a:latin typeface="Liter"/>
                <a:ea typeface="Liter"/>
              </a:rPr>
              <a:t>1.411B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43" name="Shape 9"/>
          <p:cNvSpPr/>
          <p:nvPr/>
        </p:nvSpPr>
        <p:spPr>
          <a:xfrm>
            <a:off x="1730160" y="2254320"/>
            <a:ext cx="597960" cy="232920"/>
          </a:xfrm>
          <a:custGeom>
            <a:avLst/>
            <a:gdLst/>
            <a:ahLst/>
            <a:rect l="l" t="t" r="r" b="b"/>
            <a:pathLst>
              <a:path w="602808" h="237727">
                <a:moveTo>
                  <a:pt x="33962" y="0"/>
                </a:moveTo>
                <a:lnTo>
                  <a:pt x="568846" y="0"/>
                </a:lnTo>
                <a:cubicBezTo>
                  <a:pt x="587603" y="0"/>
                  <a:pt x="602808" y="15205"/>
                  <a:pt x="602808" y="33962"/>
                </a:cubicBezTo>
                <a:lnTo>
                  <a:pt x="602808" y="203765"/>
                </a:lnTo>
                <a:cubicBezTo>
                  <a:pt x="602808" y="222522"/>
                  <a:pt x="587603" y="237727"/>
                  <a:pt x="568846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Text 10"/>
          <p:cNvSpPr/>
          <p:nvPr/>
        </p:nvSpPr>
        <p:spPr>
          <a:xfrm>
            <a:off x="1730160" y="2254320"/>
            <a:ext cx="6577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6366f1"/>
                </a:solidFill>
                <a:latin typeface="Liter"/>
                <a:ea typeface="Liter"/>
              </a:rPr>
              <a:t>+3%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5" name="Text 11"/>
          <p:cNvSpPr/>
          <p:nvPr/>
        </p:nvSpPr>
        <p:spPr>
          <a:xfrm>
            <a:off x="551880" y="2593800"/>
            <a:ext cx="528480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Sustained leadership in China's social messaging market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6" name="Shape 12"/>
          <p:cNvSpPr/>
          <p:nvPr/>
        </p:nvSpPr>
        <p:spPr>
          <a:xfrm>
            <a:off x="343800" y="3115800"/>
            <a:ext cx="5641200" cy="164232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Shape 13"/>
          <p:cNvSpPr/>
          <p:nvPr/>
        </p:nvSpPr>
        <p:spPr>
          <a:xfrm>
            <a:off x="551880" y="3323880"/>
            <a:ext cx="402840" cy="40284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Shape 14"/>
          <p:cNvSpPr/>
          <p:nvPr/>
        </p:nvSpPr>
        <p:spPr>
          <a:xfrm>
            <a:off x="666360" y="3425760"/>
            <a:ext cx="173520" cy="199080"/>
          </a:xfrm>
          <a:custGeom>
            <a:avLst/>
            <a:gdLst/>
            <a:ahLst/>
            <a:rect l="l" t="t" r="r" b="b"/>
            <a:pathLst>
              <a:path w="178295" h="203766">
                <a:moveTo>
                  <a:pt x="172763" y="167311"/>
                </a:moveTo>
                <a:cubicBezTo>
                  <a:pt x="168187" y="167868"/>
                  <a:pt x="154894" y="146337"/>
                  <a:pt x="154894" y="146337"/>
                </a:cubicBezTo>
                <a:cubicBezTo>
                  <a:pt x="154894" y="158794"/>
                  <a:pt x="148487" y="175072"/>
                  <a:pt x="134597" y="186852"/>
                </a:cubicBezTo>
                <a:cubicBezTo>
                  <a:pt x="141283" y="188921"/>
                  <a:pt x="156406" y="194493"/>
                  <a:pt x="152825" y="200542"/>
                </a:cubicBezTo>
                <a:cubicBezTo>
                  <a:pt x="149919" y="205438"/>
                  <a:pt x="102878" y="203686"/>
                  <a:pt x="89307" y="202134"/>
                </a:cubicBezTo>
                <a:cubicBezTo>
                  <a:pt x="75736" y="203647"/>
                  <a:pt x="28694" y="205438"/>
                  <a:pt x="25789" y="200542"/>
                </a:cubicBezTo>
                <a:cubicBezTo>
                  <a:pt x="22207" y="194493"/>
                  <a:pt x="37291" y="188921"/>
                  <a:pt x="44017" y="186852"/>
                </a:cubicBezTo>
                <a:cubicBezTo>
                  <a:pt x="30127" y="175111"/>
                  <a:pt x="23680" y="158834"/>
                  <a:pt x="23680" y="146337"/>
                </a:cubicBezTo>
                <a:cubicBezTo>
                  <a:pt x="23680" y="146337"/>
                  <a:pt x="10427" y="167868"/>
                  <a:pt x="5811" y="167311"/>
                </a:cubicBezTo>
                <a:cubicBezTo>
                  <a:pt x="3661" y="167072"/>
                  <a:pt x="876" y="155531"/>
                  <a:pt x="9512" y="127632"/>
                </a:cubicBezTo>
                <a:cubicBezTo>
                  <a:pt x="13611" y="114499"/>
                  <a:pt x="18267" y="103555"/>
                  <a:pt x="25471" y="85526"/>
                </a:cubicBezTo>
                <a:cubicBezTo>
                  <a:pt x="24237" y="39002"/>
                  <a:pt x="43459" y="-40"/>
                  <a:pt x="89267" y="-40"/>
                </a:cubicBezTo>
                <a:cubicBezTo>
                  <a:pt x="134517" y="-40"/>
                  <a:pt x="154217" y="38206"/>
                  <a:pt x="153063" y="85526"/>
                </a:cubicBezTo>
                <a:cubicBezTo>
                  <a:pt x="160267" y="103515"/>
                  <a:pt x="164963" y="114539"/>
                  <a:pt x="169022" y="127632"/>
                </a:cubicBezTo>
                <a:cubicBezTo>
                  <a:pt x="177698" y="155531"/>
                  <a:pt x="174873" y="167072"/>
                  <a:pt x="172724" y="167311"/>
                </a:cubicBez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Text 15"/>
          <p:cNvSpPr/>
          <p:nvPr/>
        </p:nvSpPr>
        <p:spPr>
          <a:xfrm>
            <a:off x="1061280" y="3323880"/>
            <a:ext cx="11077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QQ Mobile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50" name="Text 16"/>
          <p:cNvSpPr/>
          <p:nvPr/>
        </p:nvSpPr>
        <p:spPr>
          <a:xfrm>
            <a:off x="1061280" y="3561840"/>
            <a:ext cx="10821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Mobile device MAU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1" name="Text 17"/>
          <p:cNvSpPr/>
          <p:nvPr/>
        </p:nvSpPr>
        <p:spPr>
          <a:xfrm>
            <a:off x="551880" y="3867480"/>
            <a:ext cx="127728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efefef"/>
                </a:solidFill>
                <a:latin typeface="Liter"/>
                <a:ea typeface="Liter"/>
              </a:rPr>
              <a:t>532M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52" name="Shape 18"/>
          <p:cNvSpPr/>
          <p:nvPr/>
        </p:nvSpPr>
        <p:spPr>
          <a:xfrm>
            <a:off x="1729440" y="4041360"/>
            <a:ext cx="572760" cy="232920"/>
          </a:xfrm>
          <a:custGeom>
            <a:avLst/>
            <a:gdLst/>
            <a:ahLst/>
            <a:rect l="l" t="t" r="r" b="b"/>
            <a:pathLst>
              <a:path w="577337" h="237727">
                <a:moveTo>
                  <a:pt x="33962" y="0"/>
                </a:moveTo>
                <a:lnTo>
                  <a:pt x="543375" y="0"/>
                </a:lnTo>
                <a:cubicBezTo>
                  <a:pt x="562132" y="0"/>
                  <a:pt x="577337" y="15205"/>
                  <a:pt x="577337" y="33962"/>
                </a:cubicBezTo>
                <a:lnTo>
                  <a:pt x="577337" y="203765"/>
                </a:lnTo>
                <a:cubicBezTo>
                  <a:pt x="577337" y="222522"/>
                  <a:pt x="562132" y="237727"/>
                  <a:pt x="543375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Text 19"/>
          <p:cNvSpPr/>
          <p:nvPr/>
        </p:nvSpPr>
        <p:spPr>
          <a:xfrm>
            <a:off x="1729440" y="4041360"/>
            <a:ext cx="6321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-7%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4" name="Text 20"/>
          <p:cNvSpPr/>
          <p:nvPr/>
        </p:nvSpPr>
        <p:spPr>
          <a:xfrm>
            <a:off x="551880" y="4380840"/>
            <a:ext cx="528480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Strategic focus shift to younger demographics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5" name="Shape 21"/>
          <p:cNvSpPr/>
          <p:nvPr/>
        </p:nvSpPr>
        <p:spPr>
          <a:xfrm>
            <a:off x="343800" y="4903200"/>
            <a:ext cx="5641200" cy="164232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Shape 22"/>
          <p:cNvSpPr/>
          <p:nvPr/>
        </p:nvSpPr>
        <p:spPr>
          <a:xfrm>
            <a:off x="551880" y="5111280"/>
            <a:ext cx="402840" cy="40284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Shape 23"/>
          <p:cNvSpPr/>
          <p:nvPr/>
        </p:nvSpPr>
        <p:spPr>
          <a:xfrm>
            <a:off x="641160" y="5213160"/>
            <a:ext cx="224640" cy="199080"/>
          </a:xfrm>
          <a:custGeom>
            <a:avLst/>
            <a:gdLst/>
            <a:ahLst/>
            <a:rect l="l" t="t" r="r" b="b"/>
            <a:pathLst>
              <a:path w="229237" h="203766">
                <a:moveTo>
                  <a:pt x="124568" y="34704"/>
                </a:moveTo>
                <a:cubicBezTo>
                  <a:pt x="128229" y="31799"/>
                  <a:pt x="130538" y="27301"/>
                  <a:pt x="130538" y="22287"/>
                </a:cubicBezTo>
                <a:cubicBezTo>
                  <a:pt x="130538" y="13492"/>
                  <a:pt x="123414" y="6368"/>
                  <a:pt x="114618" y="6368"/>
                </a:cubicBezTo>
                <a:cubicBezTo>
                  <a:pt x="105823" y="6368"/>
                  <a:pt x="98699" y="13492"/>
                  <a:pt x="98699" y="22287"/>
                </a:cubicBezTo>
                <a:cubicBezTo>
                  <a:pt x="98699" y="27301"/>
                  <a:pt x="101047" y="31799"/>
                  <a:pt x="104669" y="34704"/>
                </a:cubicBezTo>
                <a:lnTo>
                  <a:pt x="77447" y="77527"/>
                </a:lnTo>
                <a:cubicBezTo>
                  <a:pt x="73467" y="83775"/>
                  <a:pt x="64990" y="85327"/>
                  <a:pt x="59060" y="80870"/>
                </a:cubicBezTo>
                <a:lnTo>
                  <a:pt x="35380" y="63160"/>
                </a:lnTo>
                <a:cubicBezTo>
                  <a:pt x="37171" y="60612"/>
                  <a:pt x="38206" y="57468"/>
                  <a:pt x="38206" y="54125"/>
                </a:cubicBezTo>
                <a:cubicBezTo>
                  <a:pt x="38206" y="45330"/>
                  <a:pt x="31082" y="38206"/>
                  <a:pt x="22287" y="38206"/>
                </a:cubicBezTo>
                <a:cubicBezTo>
                  <a:pt x="13492" y="38206"/>
                  <a:pt x="6368" y="45330"/>
                  <a:pt x="6368" y="54125"/>
                </a:cubicBezTo>
                <a:cubicBezTo>
                  <a:pt x="6368" y="62801"/>
                  <a:pt x="13332" y="69885"/>
                  <a:pt x="21969" y="70045"/>
                </a:cubicBezTo>
                <a:lnTo>
                  <a:pt x="34943" y="156605"/>
                </a:lnTo>
                <a:cubicBezTo>
                  <a:pt x="36813" y="169062"/>
                  <a:pt x="47519" y="178295"/>
                  <a:pt x="60135" y="178295"/>
                </a:cubicBezTo>
                <a:lnTo>
                  <a:pt x="169102" y="178295"/>
                </a:lnTo>
                <a:cubicBezTo>
                  <a:pt x="181718" y="178295"/>
                  <a:pt x="192424" y="169062"/>
                  <a:pt x="194294" y="156605"/>
                </a:cubicBezTo>
                <a:lnTo>
                  <a:pt x="207268" y="70045"/>
                </a:lnTo>
                <a:cubicBezTo>
                  <a:pt x="215904" y="69885"/>
                  <a:pt x="222869" y="62801"/>
                  <a:pt x="222869" y="54125"/>
                </a:cubicBezTo>
                <a:cubicBezTo>
                  <a:pt x="222869" y="45330"/>
                  <a:pt x="215745" y="38206"/>
                  <a:pt x="206950" y="38206"/>
                </a:cubicBezTo>
                <a:cubicBezTo>
                  <a:pt x="198154" y="38206"/>
                  <a:pt x="191031" y="45330"/>
                  <a:pt x="191031" y="54125"/>
                </a:cubicBezTo>
                <a:cubicBezTo>
                  <a:pt x="191031" y="57468"/>
                  <a:pt x="192065" y="60612"/>
                  <a:pt x="193856" y="63160"/>
                </a:cubicBezTo>
                <a:lnTo>
                  <a:pt x="170216" y="80909"/>
                </a:lnTo>
                <a:cubicBezTo>
                  <a:pt x="164286" y="85367"/>
                  <a:pt x="155809" y="83815"/>
                  <a:pt x="151830" y="77566"/>
                </a:cubicBezTo>
                <a:lnTo>
                  <a:pt x="124568" y="3470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Text 24"/>
          <p:cNvSpPr/>
          <p:nvPr/>
        </p:nvSpPr>
        <p:spPr>
          <a:xfrm>
            <a:off x="1061280" y="5111280"/>
            <a:ext cx="12434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Fee-based VAS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59" name="Text 25"/>
          <p:cNvSpPr/>
          <p:nvPr/>
        </p:nvSpPr>
        <p:spPr>
          <a:xfrm>
            <a:off x="1061280" y="5348880"/>
            <a:ext cx="121788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Paying users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0" name="Text 26"/>
          <p:cNvSpPr/>
          <p:nvPr/>
        </p:nvSpPr>
        <p:spPr>
          <a:xfrm>
            <a:off x="551880" y="5654520"/>
            <a:ext cx="128592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efefef"/>
                </a:solidFill>
                <a:latin typeface="Liter"/>
                <a:ea typeface="Liter"/>
              </a:rPr>
              <a:t>264M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61" name="Shape 27"/>
          <p:cNvSpPr/>
          <p:nvPr/>
        </p:nvSpPr>
        <p:spPr>
          <a:xfrm>
            <a:off x="1737720" y="5828400"/>
            <a:ext cx="699840" cy="232920"/>
          </a:xfrm>
          <a:custGeom>
            <a:avLst/>
            <a:gdLst/>
            <a:ahLst/>
            <a:rect l="l" t="t" r="r" b="b"/>
            <a:pathLst>
              <a:path w="704691" h="237727">
                <a:moveTo>
                  <a:pt x="33962" y="0"/>
                </a:moveTo>
                <a:lnTo>
                  <a:pt x="670729" y="0"/>
                </a:lnTo>
                <a:cubicBezTo>
                  <a:pt x="689486" y="0"/>
                  <a:pt x="704691" y="15205"/>
                  <a:pt x="704691" y="33962"/>
                </a:cubicBezTo>
                <a:lnTo>
                  <a:pt x="704691" y="203765"/>
                </a:lnTo>
                <a:cubicBezTo>
                  <a:pt x="704691" y="222522"/>
                  <a:pt x="689486" y="237727"/>
                  <a:pt x="670729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Text 28"/>
          <p:cNvSpPr/>
          <p:nvPr/>
        </p:nvSpPr>
        <p:spPr>
          <a:xfrm>
            <a:off x="1737720" y="5828400"/>
            <a:ext cx="7596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6366f1"/>
                </a:solidFill>
                <a:latin typeface="Liter"/>
                <a:ea typeface="Liter"/>
              </a:rPr>
              <a:t>+0.4%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3" name="Text 29"/>
          <p:cNvSpPr/>
          <p:nvPr/>
        </p:nvSpPr>
        <p:spPr>
          <a:xfrm>
            <a:off x="551880" y="6168240"/>
            <a:ext cx="528480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Stable premium subscriber base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4" name="Shape 30"/>
          <p:cNvSpPr/>
          <p:nvPr/>
        </p:nvSpPr>
        <p:spPr>
          <a:xfrm>
            <a:off x="6203880" y="1328760"/>
            <a:ext cx="5641200" cy="2822400"/>
          </a:xfrm>
          <a:custGeom>
            <a:avLst/>
            <a:gdLst/>
            <a:ahLst/>
            <a:rect l="l" t="t" r="r" b="b"/>
            <a:pathLst>
              <a:path w="5646017" h="2827253">
                <a:moveTo>
                  <a:pt x="101894" y="0"/>
                </a:moveTo>
                <a:lnTo>
                  <a:pt x="5544122" y="0"/>
                </a:lnTo>
                <a:cubicBezTo>
                  <a:pt x="5600397" y="0"/>
                  <a:pt x="5646017" y="45620"/>
                  <a:pt x="5646017" y="101894"/>
                </a:cubicBezTo>
                <a:lnTo>
                  <a:pt x="5646017" y="2725359"/>
                </a:lnTo>
                <a:cubicBezTo>
                  <a:pt x="5646017" y="2781634"/>
                  <a:pt x="5600397" y="2827253"/>
                  <a:pt x="5544122" y="2827253"/>
                </a:cubicBezTo>
                <a:lnTo>
                  <a:pt x="101894" y="2827253"/>
                </a:lnTo>
                <a:cubicBezTo>
                  <a:pt x="45657" y="2827253"/>
                  <a:pt x="0" y="2781596"/>
                  <a:pt x="0" y="2725359"/>
                </a:cubicBezTo>
                <a:lnTo>
                  <a:pt x="0" y="101894"/>
                </a:lnTo>
                <a:cubicBezTo>
                  <a:pt x="0" y="45657"/>
                  <a:pt x="45657" y="0"/>
                  <a:pt x="10189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Text 31"/>
          <p:cNvSpPr/>
          <p:nvPr/>
        </p:nvSpPr>
        <p:spPr>
          <a:xfrm>
            <a:off x="6411960" y="1536840"/>
            <a:ext cx="53103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Content Services Subscribers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66" name="Shape 32"/>
          <p:cNvSpPr/>
          <p:nvPr/>
        </p:nvSpPr>
        <p:spPr>
          <a:xfrm>
            <a:off x="6411960" y="1910160"/>
            <a:ext cx="5225400" cy="946080"/>
          </a:xfrm>
          <a:custGeom>
            <a:avLst/>
            <a:gdLst/>
            <a:ah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Shape 33"/>
          <p:cNvSpPr/>
          <p:nvPr/>
        </p:nvSpPr>
        <p:spPr>
          <a:xfrm>
            <a:off x="6568920" y="2097000"/>
            <a:ext cx="165240" cy="165240"/>
          </a:xfrm>
          <a:custGeom>
            <a:avLst/>
            <a:gdLst/>
            <a:ahLst/>
            <a:rect l="l" t="t" r="r" b="b"/>
            <a:pathLst>
              <a:path w="169805" h="169805">
                <a:moveTo>
                  <a:pt x="0" y="84903"/>
                </a:moveTo>
                <a:cubicBezTo>
                  <a:pt x="0" y="38044"/>
                  <a:pt x="38044" y="0"/>
                  <a:pt x="84903" y="0"/>
                </a:cubicBezTo>
                <a:cubicBezTo>
                  <a:pt x="131761" y="0"/>
                  <a:pt x="169805" y="38044"/>
                  <a:pt x="169805" y="84903"/>
                </a:cubicBezTo>
                <a:cubicBezTo>
                  <a:pt x="169805" y="131761"/>
                  <a:pt x="131761" y="169805"/>
                  <a:pt x="84903" y="169805"/>
                </a:cubicBezTo>
                <a:cubicBezTo>
                  <a:pt x="38044" y="169805"/>
                  <a:pt x="0" y="131761"/>
                  <a:pt x="0" y="84903"/>
                </a:cubicBezTo>
                <a:close/>
                <a:moveTo>
                  <a:pt x="62450" y="48786"/>
                </a:moveTo>
                <a:cubicBezTo>
                  <a:pt x="59929" y="50179"/>
                  <a:pt x="58370" y="52865"/>
                  <a:pt x="58370" y="55717"/>
                </a:cubicBezTo>
                <a:lnTo>
                  <a:pt x="58370" y="114088"/>
                </a:lnTo>
                <a:cubicBezTo>
                  <a:pt x="58370" y="116973"/>
                  <a:pt x="59929" y="119626"/>
                  <a:pt x="62450" y="121019"/>
                </a:cubicBezTo>
                <a:cubicBezTo>
                  <a:pt x="64970" y="122412"/>
                  <a:pt x="68022" y="122379"/>
                  <a:pt x="70509" y="120853"/>
                </a:cubicBezTo>
                <a:lnTo>
                  <a:pt x="118267" y="91668"/>
                </a:lnTo>
                <a:cubicBezTo>
                  <a:pt x="120621" y="90209"/>
                  <a:pt x="122081" y="87655"/>
                  <a:pt x="122081" y="84869"/>
                </a:cubicBezTo>
                <a:cubicBezTo>
                  <a:pt x="122081" y="82083"/>
                  <a:pt x="120621" y="79530"/>
                  <a:pt x="118267" y="78071"/>
                </a:cubicBezTo>
                <a:lnTo>
                  <a:pt x="70509" y="48885"/>
                </a:lnTo>
                <a:cubicBezTo>
                  <a:pt x="68055" y="47393"/>
                  <a:pt x="64970" y="47327"/>
                  <a:pt x="62450" y="48719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Text 34"/>
          <p:cNvSpPr/>
          <p:nvPr/>
        </p:nvSpPr>
        <p:spPr>
          <a:xfrm>
            <a:off x="6861960" y="2080080"/>
            <a:ext cx="9378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70" spc="-1" strike="noStrike">
                <a:solidFill>
                  <a:srgbClr val="efefef"/>
                </a:solidFill>
                <a:latin typeface="Liter"/>
                <a:ea typeface="Liter"/>
              </a:rPr>
              <a:t>Tencent Video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69" name="Text 35"/>
          <p:cNvSpPr/>
          <p:nvPr/>
        </p:nvSpPr>
        <p:spPr>
          <a:xfrm>
            <a:off x="11043000" y="2046240"/>
            <a:ext cx="5641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00" spc="-1" strike="noStrike">
                <a:solidFill>
                  <a:srgbClr val="6366f1"/>
                </a:solidFill>
                <a:latin typeface="Liter"/>
                <a:ea typeface="Liter"/>
              </a:rPr>
              <a:t>114M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470" name="Text 36"/>
          <p:cNvSpPr/>
          <p:nvPr/>
        </p:nvSpPr>
        <p:spPr>
          <a:xfrm>
            <a:off x="6547680" y="2385720"/>
            <a:ext cx="501300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Leading position in China's long-form video market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71" name="Text 37"/>
          <p:cNvSpPr/>
          <p:nvPr/>
        </p:nvSpPr>
        <p:spPr>
          <a:xfrm>
            <a:off x="6547680" y="2589480"/>
            <a:ext cx="500472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Average daily paying users in Q2 2025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72" name="Shape 38"/>
          <p:cNvSpPr/>
          <p:nvPr/>
        </p:nvSpPr>
        <p:spPr>
          <a:xfrm>
            <a:off x="6411960" y="2997000"/>
            <a:ext cx="5225400" cy="946080"/>
          </a:xfrm>
          <a:custGeom>
            <a:avLst/>
            <a:gdLst/>
            <a:ah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Shape 39"/>
          <p:cNvSpPr/>
          <p:nvPr/>
        </p:nvSpPr>
        <p:spPr>
          <a:xfrm>
            <a:off x="6568920" y="3183840"/>
            <a:ext cx="165240" cy="165240"/>
          </a:xfrm>
          <a:custGeom>
            <a:avLst/>
            <a:gdLst/>
            <a:ahLst/>
            <a:rect l="l" t="t" r="r" b="b"/>
            <a:pathLst>
              <a:path w="169805" h="169805">
                <a:moveTo>
                  <a:pt x="155212" y="2322"/>
                </a:moveTo>
                <a:cubicBezTo>
                  <a:pt x="157733" y="4345"/>
                  <a:pt x="159192" y="7396"/>
                  <a:pt x="159192" y="10613"/>
                </a:cubicBezTo>
                <a:lnTo>
                  <a:pt x="159192" y="111435"/>
                </a:lnTo>
                <a:cubicBezTo>
                  <a:pt x="159192" y="126093"/>
                  <a:pt x="144931" y="137967"/>
                  <a:pt x="127354" y="137967"/>
                </a:cubicBezTo>
                <a:cubicBezTo>
                  <a:pt x="109776" y="137967"/>
                  <a:pt x="95515" y="126093"/>
                  <a:pt x="95515" y="111435"/>
                </a:cubicBezTo>
                <a:cubicBezTo>
                  <a:pt x="95515" y="96776"/>
                  <a:pt x="109776" y="84903"/>
                  <a:pt x="127354" y="84903"/>
                </a:cubicBezTo>
                <a:cubicBezTo>
                  <a:pt x="131068" y="84903"/>
                  <a:pt x="134650" y="85433"/>
                  <a:pt x="137967" y="86428"/>
                </a:cubicBezTo>
                <a:lnTo>
                  <a:pt x="137967" y="47724"/>
                </a:lnTo>
                <a:lnTo>
                  <a:pt x="63677" y="64241"/>
                </a:lnTo>
                <a:lnTo>
                  <a:pt x="63677" y="132660"/>
                </a:lnTo>
                <a:cubicBezTo>
                  <a:pt x="63677" y="147319"/>
                  <a:pt x="49416" y="159192"/>
                  <a:pt x="31838" y="159192"/>
                </a:cubicBezTo>
                <a:cubicBezTo>
                  <a:pt x="14261" y="159192"/>
                  <a:pt x="0" y="147319"/>
                  <a:pt x="0" y="132660"/>
                </a:cubicBezTo>
                <a:cubicBezTo>
                  <a:pt x="0" y="118001"/>
                  <a:pt x="14261" y="106128"/>
                  <a:pt x="31838" y="106128"/>
                </a:cubicBezTo>
                <a:cubicBezTo>
                  <a:pt x="35553" y="106128"/>
                  <a:pt x="39135" y="106659"/>
                  <a:pt x="42451" y="107654"/>
                </a:cubicBezTo>
                <a:lnTo>
                  <a:pt x="42451" y="31838"/>
                </a:lnTo>
                <a:cubicBezTo>
                  <a:pt x="42451" y="26864"/>
                  <a:pt x="45900" y="22552"/>
                  <a:pt x="50776" y="21491"/>
                </a:cubicBezTo>
                <a:lnTo>
                  <a:pt x="146291" y="265"/>
                </a:lnTo>
                <a:cubicBezTo>
                  <a:pt x="149442" y="-431"/>
                  <a:pt x="152725" y="332"/>
                  <a:pt x="155246" y="235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Text 40"/>
          <p:cNvSpPr/>
          <p:nvPr/>
        </p:nvSpPr>
        <p:spPr>
          <a:xfrm>
            <a:off x="6861960" y="3166920"/>
            <a:ext cx="9547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70" spc="-1" strike="noStrike">
                <a:solidFill>
                  <a:srgbClr val="efefef"/>
                </a:solidFill>
                <a:latin typeface="Liter"/>
                <a:ea typeface="Liter"/>
              </a:rPr>
              <a:t>Tencent Music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75" name="Text 41"/>
          <p:cNvSpPr/>
          <p:nvPr/>
        </p:nvSpPr>
        <p:spPr>
          <a:xfrm>
            <a:off x="11006280" y="3133080"/>
            <a:ext cx="59796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00" spc="-1" strike="noStrike">
                <a:solidFill>
                  <a:srgbClr val="6366f1"/>
                </a:solidFill>
                <a:latin typeface="Liter"/>
                <a:ea typeface="Liter"/>
              </a:rPr>
              <a:t>124M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476" name="Text 42"/>
          <p:cNvSpPr/>
          <p:nvPr/>
        </p:nvSpPr>
        <p:spPr>
          <a:xfrm>
            <a:off x="6547680" y="3472560"/>
            <a:ext cx="501300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Leading music streaming platform in China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77" name="Text 43"/>
          <p:cNvSpPr/>
          <p:nvPr/>
        </p:nvSpPr>
        <p:spPr>
          <a:xfrm>
            <a:off x="6547680" y="3676320"/>
            <a:ext cx="500472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Average paying users at quarter-end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78" name="Shape 44"/>
          <p:cNvSpPr/>
          <p:nvPr/>
        </p:nvSpPr>
        <p:spPr>
          <a:xfrm>
            <a:off x="6203880" y="4300200"/>
            <a:ext cx="5641200" cy="2550960"/>
          </a:xfrm>
          <a:custGeom>
            <a:avLst/>
            <a:gdLst/>
            <a:ahLst/>
            <a:rect l="l" t="t" r="r" b="b"/>
            <a:pathLst>
              <a:path w="5646017" h="2555565">
                <a:moveTo>
                  <a:pt x="101890" y="0"/>
                </a:moveTo>
                <a:lnTo>
                  <a:pt x="5544126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2453675"/>
                </a:lnTo>
                <a:cubicBezTo>
                  <a:pt x="5646017" y="2509948"/>
                  <a:pt x="5600399" y="2555565"/>
                  <a:pt x="5544126" y="2555565"/>
                </a:cubicBezTo>
                <a:lnTo>
                  <a:pt x="101890" y="2555565"/>
                </a:lnTo>
                <a:cubicBezTo>
                  <a:pt x="45618" y="2555565"/>
                  <a:pt x="0" y="2509948"/>
                  <a:pt x="0" y="2453675"/>
                </a:cubicBezTo>
                <a:lnTo>
                  <a:pt x="0" y="101890"/>
                </a:lnTo>
                <a:cubicBezTo>
                  <a:pt x="0" y="45618"/>
                  <a:pt x="45618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Text 45"/>
          <p:cNvSpPr/>
          <p:nvPr/>
        </p:nvSpPr>
        <p:spPr>
          <a:xfrm>
            <a:off x="6411960" y="4508280"/>
            <a:ext cx="53103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Mini Games Performance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80" name="Shape 46"/>
          <p:cNvSpPr/>
          <p:nvPr/>
        </p:nvSpPr>
        <p:spPr>
          <a:xfrm>
            <a:off x="6411960" y="4881960"/>
            <a:ext cx="5225400" cy="1761120"/>
          </a:xfrm>
          <a:custGeom>
            <a:avLst/>
            <a:gdLst/>
            <a:ahLst/>
            <a:rect l="l" t="t" r="r" b="b"/>
            <a:pathLst>
              <a:path w="5229994" h="1765972">
                <a:moveTo>
                  <a:pt x="67919" y="0"/>
                </a:moveTo>
                <a:lnTo>
                  <a:pt x="5162075" y="0"/>
                </a:lnTo>
                <a:cubicBezTo>
                  <a:pt x="5199586" y="0"/>
                  <a:pt x="5229994" y="30409"/>
                  <a:pt x="5229994" y="67919"/>
                </a:cubicBezTo>
                <a:lnTo>
                  <a:pt x="5229994" y="1698053"/>
                </a:lnTo>
                <a:cubicBezTo>
                  <a:pt x="5229994" y="1735564"/>
                  <a:pt x="5199586" y="1765972"/>
                  <a:pt x="5162075" y="1765972"/>
                </a:cubicBezTo>
                <a:lnTo>
                  <a:pt x="67919" y="1765972"/>
                </a:lnTo>
                <a:cubicBezTo>
                  <a:pt x="30409" y="1765972"/>
                  <a:pt x="0" y="1735564"/>
                  <a:pt x="0" y="1698053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47"/>
          <p:cNvSpPr/>
          <p:nvPr/>
        </p:nvSpPr>
        <p:spPr>
          <a:xfrm>
            <a:off x="6581880" y="5102640"/>
            <a:ext cx="538560" cy="538560"/>
          </a:xfrm>
          <a:custGeom>
            <a:avLst/>
            <a:gdLst/>
            <a:ah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Shape 48"/>
          <p:cNvSpPr/>
          <p:nvPr/>
        </p:nvSpPr>
        <p:spPr>
          <a:xfrm>
            <a:off x="6728400" y="5247000"/>
            <a:ext cx="250200" cy="250200"/>
          </a:xfrm>
          <a:custGeom>
            <a:avLst/>
            <a:gdLst/>
            <a:ahLst/>
            <a:rect l="l" t="t" r="r" b="b"/>
            <a:pathLst>
              <a:path w="254708" h="254708">
                <a:moveTo>
                  <a:pt x="63677" y="159192"/>
                </a:moveTo>
                <a:lnTo>
                  <a:pt x="12188" y="159192"/>
                </a:lnTo>
                <a:cubicBezTo>
                  <a:pt x="-199" y="159192"/>
                  <a:pt x="-7810" y="145711"/>
                  <a:pt x="-1443" y="135065"/>
                </a:cubicBezTo>
                <a:lnTo>
                  <a:pt x="24874" y="91187"/>
                </a:lnTo>
                <a:cubicBezTo>
                  <a:pt x="29202" y="83974"/>
                  <a:pt x="36962" y="79596"/>
                  <a:pt x="45370" y="79596"/>
                </a:cubicBezTo>
                <a:lnTo>
                  <a:pt x="92630" y="79596"/>
                </a:lnTo>
                <a:cubicBezTo>
                  <a:pt x="130488" y="15471"/>
                  <a:pt x="186951" y="12238"/>
                  <a:pt x="224710" y="17760"/>
                </a:cubicBezTo>
                <a:cubicBezTo>
                  <a:pt x="231077" y="18705"/>
                  <a:pt x="236052" y="23680"/>
                  <a:pt x="236948" y="29998"/>
                </a:cubicBezTo>
                <a:cubicBezTo>
                  <a:pt x="242470" y="67756"/>
                  <a:pt x="239236" y="124220"/>
                  <a:pt x="175111" y="162078"/>
                </a:cubicBezTo>
                <a:lnTo>
                  <a:pt x="175111" y="209338"/>
                </a:lnTo>
                <a:cubicBezTo>
                  <a:pt x="175111" y="217745"/>
                  <a:pt x="170734" y="225506"/>
                  <a:pt x="163520" y="229834"/>
                </a:cubicBezTo>
                <a:lnTo>
                  <a:pt x="119643" y="256150"/>
                </a:lnTo>
                <a:cubicBezTo>
                  <a:pt x="109047" y="262518"/>
                  <a:pt x="95515" y="254857"/>
                  <a:pt x="95515" y="242519"/>
                </a:cubicBezTo>
                <a:lnTo>
                  <a:pt x="95515" y="191031"/>
                </a:lnTo>
                <a:cubicBezTo>
                  <a:pt x="95515" y="173470"/>
                  <a:pt x="81238" y="159192"/>
                  <a:pt x="63677" y="159192"/>
                </a:cubicBezTo>
                <a:lnTo>
                  <a:pt x="63627" y="159192"/>
                </a:lnTo>
                <a:close/>
                <a:moveTo>
                  <a:pt x="198990" y="79596"/>
                </a:moveTo>
                <a:cubicBezTo>
                  <a:pt x="198990" y="66417"/>
                  <a:pt x="188291" y="55717"/>
                  <a:pt x="175111" y="55717"/>
                </a:cubicBezTo>
                <a:cubicBezTo>
                  <a:pt x="161932" y="55717"/>
                  <a:pt x="151233" y="66417"/>
                  <a:pt x="151233" y="79596"/>
                </a:cubicBezTo>
                <a:cubicBezTo>
                  <a:pt x="151233" y="92775"/>
                  <a:pt x="161932" y="103475"/>
                  <a:pt x="175111" y="103475"/>
                </a:cubicBezTo>
                <a:cubicBezTo>
                  <a:pt x="188291" y="103475"/>
                  <a:pt x="198990" y="92775"/>
                  <a:pt x="198990" y="7959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Text 49"/>
          <p:cNvSpPr/>
          <p:nvPr/>
        </p:nvSpPr>
        <p:spPr>
          <a:xfrm>
            <a:off x="7261200" y="5051520"/>
            <a:ext cx="12517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Gross Receipts Growth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84" name="Text 50"/>
          <p:cNvSpPr/>
          <p:nvPr/>
        </p:nvSpPr>
        <p:spPr>
          <a:xfrm>
            <a:off x="7261200" y="5221440"/>
            <a:ext cx="13453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6366f1"/>
                </a:solidFill>
                <a:latin typeface="Liter"/>
                <a:ea typeface="Liter"/>
              </a:rPr>
              <a:t>+20%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485" name="Text 51"/>
          <p:cNvSpPr/>
          <p:nvPr/>
        </p:nvSpPr>
        <p:spPr>
          <a:xfrm>
            <a:off x="7261200" y="5561280"/>
            <a:ext cx="124344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Year-on-year in Q2 2025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86" name="Shape 52"/>
          <p:cNvSpPr/>
          <p:nvPr/>
        </p:nvSpPr>
        <p:spPr>
          <a:xfrm>
            <a:off x="6598800" y="5858280"/>
            <a:ext cx="114120" cy="11412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Text 53"/>
          <p:cNvSpPr/>
          <p:nvPr/>
        </p:nvSpPr>
        <p:spPr>
          <a:xfrm>
            <a:off x="6798240" y="5832720"/>
            <a:ext cx="19821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Expanded game engine compatibility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88" name="Shape 54"/>
          <p:cNvSpPr/>
          <p:nvPr/>
        </p:nvSpPr>
        <p:spPr>
          <a:xfrm>
            <a:off x="6598800" y="6095880"/>
            <a:ext cx="114120" cy="11412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Text 55"/>
          <p:cNvSpPr/>
          <p:nvPr/>
        </p:nvSpPr>
        <p:spPr>
          <a:xfrm>
            <a:off x="6798240" y="6070680"/>
            <a:ext cx="15829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Enhanced graphics rendering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90" name="Shape 56"/>
          <p:cNvSpPr/>
          <p:nvPr/>
        </p:nvSpPr>
        <p:spPr>
          <a:xfrm>
            <a:off x="6598800" y="6333840"/>
            <a:ext cx="114120" cy="11412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Text 57"/>
          <p:cNvSpPr/>
          <p:nvPr/>
        </p:nvSpPr>
        <p:spPr>
          <a:xfrm>
            <a:off x="6798240" y="6308280"/>
            <a:ext cx="10227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Reduced load time</a:t>
            </a:r>
            <a:endParaRPr b="0" lang="en-HK" sz="93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 0"/>
          <p:cNvSpPr/>
          <p:nvPr/>
        </p:nvSpPr>
        <p:spPr>
          <a:xfrm>
            <a:off x="317520" y="317520"/>
            <a:ext cx="1160784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9" strike="noStrike">
                <a:solidFill>
                  <a:srgbClr val="6366f1"/>
                </a:solidFill>
                <a:latin typeface="Liter"/>
                <a:ea typeface="Liter"/>
              </a:rPr>
              <a:t>FINANCIAL POSITION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3" name="Text 1"/>
          <p:cNvSpPr/>
          <p:nvPr/>
        </p:nvSpPr>
        <p:spPr>
          <a:xfrm>
            <a:off x="317520" y="539640"/>
            <a:ext cx="1169532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 &amp; Liquidity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94" name="Text 2"/>
          <p:cNvSpPr/>
          <p:nvPr/>
        </p:nvSpPr>
        <p:spPr>
          <a:xfrm>
            <a:off x="317520" y="920880"/>
            <a:ext cx="116157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8f8f8f"/>
                </a:solidFill>
                <a:latin typeface="Liter"/>
                <a:ea typeface="Liter"/>
              </a:rPr>
              <a:t>Strong financial foundation supporting strategic growth initiatives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5" name="Shape 3"/>
          <p:cNvSpPr/>
          <p:nvPr/>
        </p:nvSpPr>
        <p:spPr>
          <a:xfrm>
            <a:off x="321480" y="1178640"/>
            <a:ext cx="6091200" cy="2638440"/>
          </a:xfrm>
          <a:custGeom>
            <a:avLst/>
            <a:gdLst/>
            <a:ahLst/>
            <a:rect l="l" t="t" r="r" b="b"/>
            <a:pathLst>
              <a:path w="6096000" h="2643188">
                <a:moveTo>
                  <a:pt x="95260" y="0"/>
                </a:moveTo>
                <a:lnTo>
                  <a:pt x="6000740" y="0"/>
                </a:lnTo>
                <a:cubicBezTo>
                  <a:pt x="6053350" y="0"/>
                  <a:pt x="6096000" y="42650"/>
                  <a:pt x="6096000" y="95260"/>
                </a:cubicBezTo>
                <a:lnTo>
                  <a:pt x="6096000" y="2547927"/>
                </a:lnTo>
                <a:cubicBezTo>
                  <a:pt x="6096000" y="2600538"/>
                  <a:pt x="6053350" y="2643188"/>
                  <a:pt x="6000740" y="2643188"/>
                </a:cubicBezTo>
                <a:lnTo>
                  <a:pt x="95260" y="2643188"/>
                </a:lnTo>
                <a:cubicBezTo>
                  <a:pt x="42650" y="2643188"/>
                  <a:pt x="0" y="2600538"/>
                  <a:pt x="0" y="2547927"/>
                </a:cubicBezTo>
                <a:lnTo>
                  <a:pt x="0" y="95260"/>
                </a:lnTo>
                <a:cubicBezTo>
                  <a:pt x="0" y="42650"/>
                  <a:pt x="42650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Text 4"/>
          <p:cNvSpPr/>
          <p:nvPr/>
        </p:nvSpPr>
        <p:spPr>
          <a:xfrm>
            <a:off x="484200" y="1341360"/>
            <a:ext cx="5845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 (as of 30 June 2025)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97" name="Shape 5"/>
          <p:cNvSpPr/>
          <p:nvPr/>
        </p:nvSpPr>
        <p:spPr>
          <a:xfrm>
            <a:off x="484200" y="1690560"/>
            <a:ext cx="2813040" cy="91620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Text 6"/>
          <p:cNvSpPr/>
          <p:nvPr/>
        </p:nvSpPr>
        <p:spPr>
          <a:xfrm>
            <a:off x="611280" y="1817640"/>
            <a:ext cx="26146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Total Portfolio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9" name="Text 7"/>
          <p:cNvSpPr/>
          <p:nvPr/>
        </p:nvSpPr>
        <p:spPr>
          <a:xfrm>
            <a:off x="611280" y="2039760"/>
            <a:ext cx="26780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6366f1"/>
                </a:solidFill>
                <a:latin typeface="Liter"/>
                <a:ea typeface="Liter"/>
              </a:rPr>
              <a:t>RMB 948.3B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0" name="Text 8"/>
          <p:cNvSpPr/>
          <p:nvPr/>
        </p:nvSpPr>
        <p:spPr>
          <a:xfrm>
            <a:off x="611280" y="2357280"/>
            <a:ext cx="260676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vs RMB 817.7B in Dec 2024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1" name="Shape 9"/>
          <p:cNvSpPr/>
          <p:nvPr/>
        </p:nvSpPr>
        <p:spPr>
          <a:xfrm>
            <a:off x="3432600" y="1690560"/>
            <a:ext cx="2813040" cy="91620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Text 10"/>
          <p:cNvSpPr/>
          <p:nvPr/>
        </p:nvSpPr>
        <p:spPr>
          <a:xfrm>
            <a:off x="3559680" y="1817640"/>
            <a:ext cx="26146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Listed Investee Companies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3" name="Text 11"/>
          <p:cNvSpPr/>
          <p:nvPr/>
        </p:nvSpPr>
        <p:spPr>
          <a:xfrm>
            <a:off x="3559680" y="2039760"/>
            <a:ext cx="26780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fefef"/>
                </a:solidFill>
                <a:latin typeface="Liter"/>
                <a:ea typeface="Liter"/>
              </a:rPr>
              <a:t>RMB 714.3B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4" name="Text 12"/>
          <p:cNvSpPr/>
          <p:nvPr/>
        </p:nvSpPr>
        <p:spPr>
          <a:xfrm>
            <a:off x="3559680" y="2357280"/>
            <a:ext cx="260676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Fair value of shareholdings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5" name="Shape 13"/>
          <p:cNvSpPr/>
          <p:nvPr/>
        </p:nvSpPr>
        <p:spPr>
          <a:xfrm>
            <a:off x="484200" y="2738520"/>
            <a:ext cx="2813040" cy="91620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Text 14"/>
          <p:cNvSpPr/>
          <p:nvPr/>
        </p:nvSpPr>
        <p:spPr>
          <a:xfrm>
            <a:off x="611280" y="2865600"/>
            <a:ext cx="26146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Unlisted Investee Companies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7" name="Text 15"/>
          <p:cNvSpPr/>
          <p:nvPr/>
        </p:nvSpPr>
        <p:spPr>
          <a:xfrm>
            <a:off x="611280" y="3087720"/>
            <a:ext cx="26780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fefef"/>
                </a:solidFill>
                <a:latin typeface="Liter"/>
                <a:ea typeface="Liter"/>
              </a:rPr>
              <a:t>RMB 342.3B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8" name="Text 16"/>
          <p:cNvSpPr/>
          <p:nvPr/>
        </p:nvSpPr>
        <p:spPr>
          <a:xfrm>
            <a:off x="611280" y="3405240"/>
            <a:ext cx="260676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Carrying book value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9" name="Shape 17"/>
          <p:cNvSpPr/>
          <p:nvPr/>
        </p:nvSpPr>
        <p:spPr>
          <a:xfrm>
            <a:off x="3432600" y="2738520"/>
            <a:ext cx="2813040" cy="91620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18"/>
          <p:cNvSpPr/>
          <p:nvPr/>
        </p:nvSpPr>
        <p:spPr>
          <a:xfrm>
            <a:off x="3559680" y="2865600"/>
            <a:ext cx="26146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H1 2025 Return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11" name="Text 19"/>
          <p:cNvSpPr/>
          <p:nvPr/>
        </p:nvSpPr>
        <p:spPr>
          <a:xfrm>
            <a:off x="3559680" y="3087720"/>
            <a:ext cx="26780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6366f1"/>
                </a:solidFill>
                <a:latin typeface="Liter"/>
                <a:ea typeface="Liter"/>
              </a:rPr>
              <a:t>RMB 10.6B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12" name="Text 20"/>
          <p:cNvSpPr/>
          <p:nvPr/>
        </p:nvSpPr>
        <p:spPr>
          <a:xfrm>
            <a:off x="3559680" y="3405240"/>
            <a:ext cx="260676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+28% vs H1 2024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13" name="Shape 21"/>
          <p:cNvSpPr/>
          <p:nvPr/>
        </p:nvSpPr>
        <p:spPr>
          <a:xfrm>
            <a:off x="321480" y="3956760"/>
            <a:ext cx="6091200" cy="3368880"/>
          </a:xfrm>
          <a:custGeom>
            <a:avLst/>
            <a:gdLst/>
            <a:ahLst/>
            <a:rect l="l" t="t" r="r" b="b"/>
            <a:pathLst>
              <a:path w="6096000" h="3373438">
                <a:moveTo>
                  <a:pt x="95266" y="0"/>
                </a:moveTo>
                <a:lnTo>
                  <a:pt x="6000734" y="0"/>
                </a:lnTo>
                <a:cubicBezTo>
                  <a:pt x="6053348" y="0"/>
                  <a:pt x="6096000" y="42652"/>
                  <a:pt x="6096000" y="95266"/>
                </a:cubicBezTo>
                <a:lnTo>
                  <a:pt x="6096000" y="3278172"/>
                </a:lnTo>
                <a:cubicBezTo>
                  <a:pt x="6096000" y="3330786"/>
                  <a:pt x="6053348" y="3373437"/>
                  <a:pt x="6000734" y="3373438"/>
                </a:cubicBezTo>
                <a:lnTo>
                  <a:pt x="95266" y="3373438"/>
                </a:lnTo>
                <a:cubicBezTo>
                  <a:pt x="42652" y="3373438"/>
                  <a:pt x="0" y="3330786"/>
                  <a:pt x="0" y="3278172"/>
                </a:cubicBezTo>
                <a:lnTo>
                  <a:pt x="0" y="95266"/>
                </a:lnTo>
                <a:cubicBezTo>
                  <a:pt x="0" y="42652"/>
                  <a:pt x="42652" y="0"/>
                  <a:pt x="9526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22"/>
          <p:cNvSpPr/>
          <p:nvPr/>
        </p:nvSpPr>
        <p:spPr>
          <a:xfrm>
            <a:off x="484200" y="4119480"/>
            <a:ext cx="5845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Cash Flow &amp; Liquidity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15" name="Shape 23"/>
          <p:cNvSpPr/>
          <p:nvPr/>
        </p:nvSpPr>
        <p:spPr>
          <a:xfrm>
            <a:off x="484200" y="4468680"/>
            <a:ext cx="5765760" cy="884160"/>
          </a:xfrm>
          <a:custGeom>
            <a:avLst/>
            <a:gdLst/>
            <a:ah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Text 24"/>
          <p:cNvSpPr/>
          <p:nvPr/>
        </p:nvSpPr>
        <p:spPr>
          <a:xfrm>
            <a:off x="611280" y="4627440"/>
            <a:ext cx="10508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Net Cash Position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17" name="Text 25"/>
          <p:cNvSpPr/>
          <p:nvPr/>
        </p:nvSpPr>
        <p:spPr>
          <a:xfrm>
            <a:off x="5196600" y="4595760"/>
            <a:ext cx="101916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74.6B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18" name="Text 26"/>
          <p:cNvSpPr/>
          <p:nvPr/>
        </p:nvSpPr>
        <p:spPr>
          <a:xfrm>
            <a:off x="611280" y="4913280"/>
            <a:ext cx="556740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As of 30 June 2025 (vs RMB 90.2B in Q1 2025)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19" name="Text 27"/>
          <p:cNvSpPr/>
          <p:nvPr/>
        </p:nvSpPr>
        <p:spPr>
          <a:xfrm>
            <a:off x="611280" y="5103720"/>
            <a:ext cx="55594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Decrease due to FY2024 final dividend payment of RMB 37.5B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20" name="Shape 28"/>
          <p:cNvSpPr/>
          <p:nvPr/>
        </p:nvSpPr>
        <p:spPr>
          <a:xfrm>
            <a:off x="484200" y="5452920"/>
            <a:ext cx="5765760" cy="725400"/>
          </a:xfrm>
          <a:custGeom>
            <a:avLst/>
            <a:gdLst/>
            <a:ahLst/>
            <a:rect l="l" t="t" r="r" b="b"/>
            <a:pathLst>
              <a:path w="5770563" h="730250">
                <a:moveTo>
                  <a:pt x="63503" y="0"/>
                </a:moveTo>
                <a:lnTo>
                  <a:pt x="5707060" y="0"/>
                </a:lnTo>
                <a:cubicBezTo>
                  <a:pt x="5742131" y="0"/>
                  <a:pt x="5770563" y="28431"/>
                  <a:pt x="5770563" y="63503"/>
                </a:cubicBezTo>
                <a:lnTo>
                  <a:pt x="5770563" y="666747"/>
                </a:lnTo>
                <a:cubicBezTo>
                  <a:pt x="5770563" y="701819"/>
                  <a:pt x="5742131" y="730250"/>
                  <a:pt x="5707060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29"/>
          <p:cNvSpPr/>
          <p:nvPr/>
        </p:nvSpPr>
        <p:spPr>
          <a:xfrm>
            <a:off x="611280" y="5611680"/>
            <a:ext cx="11066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Q2 Free Cash Flow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22" name="Text 30"/>
          <p:cNvSpPr/>
          <p:nvPr/>
        </p:nvSpPr>
        <p:spPr>
          <a:xfrm>
            <a:off x="5174280" y="5580000"/>
            <a:ext cx="10429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43.0B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3" name="Text 31"/>
          <p:cNvSpPr/>
          <p:nvPr/>
        </p:nvSpPr>
        <p:spPr>
          <a:xfrm>
            <a:off x="611280" y="5897520"/>
            <a:ext cx="556740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Operating cash flow RMB 74.4B offset by capex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4" name="Shape 32"/>
          <p:cNvSpPr/>
          <p:nvPr/>
        </p:nvSpPr>
        <p:spPr>
          <a:xfrm>
            <a:off x="484200" y="6278400"/>
            <a:ext cx="5765760" cy="884160"/>
          </a:xfrm>
          <a:custGeom>
            <a:avLst/>
            <a:gdLst/>
            <a:ah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33"/>
          <p:cNvSpPr/>
          <p:nvPr/>
        </p:nvSpPr>
        <p:spPr>
          <a:xfrm>
            <a:off x="611280" y="6437160"/>
            <a:ext cx="13845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H1 Capital Expenditures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26" name="Text 34"/>
          <p:cNvSpPr/>
          <p:nvPr/>
        </p:nvSpPr>
        <p:spPr>
          <a:xfrm>
            <a:off x="5180400" y="6405480"/>
            <a:ext cx="1035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46.6B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7" name="Text 35"/>
          <p:cNvSpPr/>
          <p:nvPr/>
        </p:nvSpPr>
        <p:spPr>
          <a:xfrm>
            <a:off x="611280" y="6723000"/>
            <a:ext cx="556740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vs RMB 23.1B in H1 2024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8" name="Text 36"/>
          <p:cNvSpPr/>
          <p:nvPr/>
        </p:nvSpPr>
        <p:spPr>
          <a:xfrm>
            <a:off x="611280" y="6913440"/>
            <a:ext cx="55594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Primarily for AI infrastructure and data centers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29" name="Shape 37"/>
          <p:cNvSpPr/>
          <p:nvPr/>
        </p:nvSpPr>
        <p:spPr>
          <a:xfrm>
            <a:off x="6551640" y="1178640"/>
            <a:ext cx="5313600" cy="6147000"/>
          </a:xfrm>
          <a:custGeom>
            <a:avLst/>
            <a:gdLst/>
            <a:ahLst/>
            <a:rect l="l" t="t" r="r" b="b"/>
            <a:pathLst>
              <a:path w="5318125" h="6151563">
                <a:moveTo>
                  <a:pt x="95248" y="0"/>
                </a:moveTo>
                <a:lnTo>
                  <a:pt x="5222877" y="0"/>
                </a:lnTo>
                <a:cubicBezTo>
                  <a:pt x="5275481" y="0"/>
                  <a:pt x="5318125" y="42644"/>
                  <a:pt x="5318125" y="95248"/>
                </a:cubicBezTo>
                <a:lnTo>
                  <a:pt x="5318125" y="6056315"/>
                </a:lnTo>
                <a:cubicBezTo>
                  <a:pt x="5318125" y="6108919"/>
                  <a:pt x="5275481" y="6151563"/>
                  <a:pt x="5222877" y="6151563"/>
                </a:cubicBezTo>
                <a:lnTo>
                  <a:pt x="95248" y="6151563"/>
                </a:lnTo>
                <a:cubicBezTo>
                  <a:pt x="42644" y="6151563"/>
                  <a:pt x="0" y="6108919"/>
                  <a:pt x="0" y="60563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Text 38"/>
          <p:cNvSpPr/>
          <p:nvPr/>
        </p:nvSpPr>
        <p:spPr>
          <a:xfrm>
            <a:off x="6714360" y="1341360"/>
            <a:ext cx="50673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Major Investment: Sea Limited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31" name="Shape 39"/>
          <p:cNvSpPr/>
          <p:nvPr/>
        </p:nvSpPr>
        <p:spPr>
          <a:xfrm>
            <a:off x="6714360" y="1690560"/>
            <a:ext cx="4988160" cy="2797200"/>
          </a:xfrm>
          <a:custGeom>
            <a:avLst/>
            <a:gdLst/>
            <a:ahLst/>
            <a:rect l="l" t="t" r="r" b="b"/>
            <a:pathLst>
              <a:path w="4992688" h="2801938">
                <a:moveTo>
                  <a:pt x="63492" y="0"/>
                </a:moveTo>
                <a:lnTo>
                  <a:pt x="4929196" y="0"/>
                </a:lnTo>
                <a:cubicBezTo>
                  <a:pt x="4964261" y="0"/>
                  <a:pt x="4992688" y="28426"/>
                  <a:pt x="4992688" y="63492"/>
                </a:cubicBezTo>
                <a:lnTo>
                  <a:pt x="4992688" y="2738446"/>
                </a:lnTo>
                <a:cubicBezTo>
                  <a:pt x="4992688" y="2773511"/>
                  <a:pt x="4964261" y="2801938"/>
                  <a:pt x="4929196" y="2801938"/>
                </a:cubicBezTo>
                <a:lnTo>
                  <a:pt x="63492" y="2801938"/>
                </a:lnTo>
                <a:cubicBezTo>
                  <a:pt x="28426" y="2801938"/>
                  <a:pt x="0" y="2773511"/>
                  <a:pt x="0" y="2738446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Shape 40"/>
          <p:cNvSpPr/>
          <p:nvPr/>
        </p:nvSpPr>
        <p:spPr>
          <a:xfrm>
            <a:off x="6873120" y="1849320"/>
            <a:ext cx="376200" cy="37620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Shape 41"/>
          <p:cNvSpPr/>
          <p:nvPr/>
        </p:nvSpPr>
        <p:spPr>
          <a:xfrm>
            <a:off x="7004160" y="1960560"/>
            <a:ext cx="114480" cy="154080"/>
          </a:xfrm>
          <a:custGeom>
            <a:avLst/>
            <a:gdLst/>
            <a:ah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54570" y="109141"/>
                </a:moveTo>
                <a:lnTo>
                  <a:pt x="64492" y="109141"/>
                </a:lnTo>
                <a:cubicBezTo>
                  <a:pt x="69980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44648" y="143867"/>
                </a:lnTo>
                <a:lnTo>
                  <a:pt x="44648" y="119062"/>
                </a:lnTo>
                <a:cubicBezTo>
                  <a:pt x="44648" y="113574"/>
                  <a:pt x="49082" y="109141"/>
                  <a:pt x="54570" y="109141"/>
                </a:cubicBezTo>
                <a:close/>
                <a:moveTo>
                  <a:pt x="29766" y="34727"/>
                </a:moveTo>
                <a:cubicBezTo>
                  <a:pt x="29766" y="31998"/>
                  <a:pt x="31998" y="29766"/>
                  <a:pt x="34727" y="29766"/>
                </a:cubicBezTo>
                <a:lnTo>
                  <a:pt x="44648" y="29766"/>
                </a:lnTo>
                <a:cubicBezTo>
                  <a:pt x="47377" y="29766"/>
                  <a:pt x="49609" y="31998"/>
                  <a:pt x="49609" y="34727"/>
                </a:cubicBezTo>
                <a:lnTo>
                  <a:pt x="49609" y="44648"/>
                </a:lnTo>
                <a:cubicBezTo>
                  <a:pt x="49609" y="47377"/>
                  <a:pt x="47377" y="49609"/>
                  <a:pt x="44648" y="49609"/>
                </a:cubicBezTo>
                <a:lnTo>
                  <a:pt x="34727" y="49609"/>
                </a:lnTo>
                <a:cubicBezTo>
                  <a:pt x="31998" y="49609"/>
                  <a:pt x="29766" y="47377"/>
                  <a:pt x="29766" y="44648"/>
                </a:cubicBezTo>
                <a:lnTo>
                  <a:pt x="29766" y="34727"/>
                </a:lnTo>
                <a:close/>
                <a:moveTo>
                  <a:pt x="74414" y="29766"/>
                </a:moveTo>
                <a:lnTo>
                  <a:pt x="84336" y="29766"/>
                </a:lnTo>
                <a:cubicBezTo>
                  <a:pt x="87064" y="29766"/>
                  <a:pt x="89297" y="31998"/>
                  <a:pt x="89297" y="34727"/>
                </a:cubicBezTo>
                <a:lnTo>
                  <a:pt x="89297" y="44648"/>
                </a:lnTo>
                <a:cubicBezTo>
                  <a:pt x="89297" y="47377"/>
                  <a:pt x="87064" y="49609"/>
                  <a:pt x="84336" y="49609"/>
                </a:cubicBezTo>
                <a:lnTo>
                  <a:pt x="74414" y="49609"/>
                </a:lnTo>
                <a:cubicBezTo>
                  <a:pt x="71686" y="49609"/>
                  <a:pt x="69453" y="47377"/>
                  <a:pt x="69453" y="44648"/>
                </a:cubicBezTo>
                <a:lnTo>
                  <a:pt x="69453" y="34727"/>
                </a:lnTo>
                <a:cubicBezTo>
                  <a:pt x="69453" y="31998"/>
                  <a:pt x="71686" y="29766"/>
                  <a:pt x="74414" y="29766"/>
                </a:cubicBezTo>
                <a:close/>
                <a:moveTo>
                  <a:pt x="29766" y="74414"/>
                </a:moveTo>
                <a:cubicBezTo>
                  <a:pt x="29766" y="71686"/>
                  <a:pt x="31998" y="69453"/>
                  <a:pt x="34727" y="69453"/>
                </a:cubicBezTo>
                <a:lnTo>
                  <a:pt x="44648" y="69453"/>
                </a:lnTo>
                <a:cubicBezTo>
                  <a:pt x="47377" y="69453"/>
                  <a:pt x="49609" y="71686"/>
                  <a:pt x="49609" y="74414"/>
                </a:cubicBezTo>
                <a:lnTo>
                  <a:pt x="49609" y="84336"/>
                </a:lnTo>
                <a:cubicBezTo>
                  <a:pt x="49609" y="87064"/>
                  <a:pt x="47377" y="89297"/>
                  <a:pt x="44648" y="89297"/>
                </a:cubicBezTo>
                <a:lnTo>
                  <a:pt x="34727" y="89297"/>
                </a:lnTo>
                <a:cubicBezTo>
                  <a:pt x="31998" y="89297"/>
                  <a:pt x="29766" y="87064"/>
                  <a:pt x="29766" y="84336"/>
                </a:cubicBezTo>
                <a:lnTo>
                  <a:pt x="29766" y="74414"/>
                </a:lnTo>
                <a:close/>
                <a:moveTo>
                  <a:pt x="74414" y="69453"/>
                </a:moveTo>
                <a:lnTo>
                  <a:pt x="84336" y="69453"/>
                </a:lnTo>
                <a:cubicBezTo>
                  <a:pt x="87064" y="69453"/>
                  <a:pt x="89297" y="71686"/>
                  <a:pt x="89297" y="74414"/>
                </a:cubicBezTo>
                <a:lnTo>
                  <a:pt x="89297" y="84336"/>
                </a:lnTo>
                <a:cubicBezTo>
                  <a:pt x="89297" y="87064"/>
                  <a:pt x="87064" y="89297"/>
                  <a:pt x="84336" y="89297"/>
                </a:cubicBezTo>
                <a:lnTo>
                  <a:pt x="74414" y="89297"/>
                </a:lnTo>
                <a:cubicBezTo>
                  <a:pt x="71686" y="89297"/>
                  <a:pt x="69453" y="87064"/>
                  <a:pt x="69453" y="84336"/>
                </a:cubicBezTo>
                <a:lnTo>
                  <a:pt x="69453" y="74414"/>
                </a:lnTo>
                <a:cubicBezTo>
                  <a:pt x="69453" y="71686"/>
                  <a:pt x="71686" y="69453"/>
                  <a:pt x="74414" y="6945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 42"/>
          <p:cNvSpPr/>
          <p:nvPr/>
        </p:nvSpPr>
        <p:spPr>
          <a:xfrm>
            <a:off x="7349400" y="1865160"/>
            <a:ext cx="30114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Sea Limited (NYSE: SE)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5" name="Text 43"/>
          <p:cNvSpPr/>
          <p:nvPr/>
        </p:nvSpPr>
        <p:spPr>
          <a:xfrm>
            <a:off x="7349400" y="2055960"/>
            <a:ext cx="30034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eCommerce, Digital Financial Services, Digital Entertainment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6" name="Text 44"/>
          <p:cNvSpPr/>
          <p:nvPr/>
        </p:nvSpPr>
        <p:spPr>
          <a:xfrm>
            <a:off x="6873120" y="2373480"/>
            <a:ext cx="70164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Shareholding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7" name="Text 45"/>
          <p:cNvSpPr/>
          <p:nvPr/>
        </p:nvSpPr>
        <p:spPr>
          <a:xfrm>
            <a:off x="10321560" y="2357280"/>
            <a:ext cx="12891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~17.6% (104M shares)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8" name="Text 46"/>
          <p:cNvSpPr/>
          <p:nvPr/>
        </p:nvSpPr>
        <p:spPr>
          <a:xfrm>
            <a:off x="6873120" y="2674800"/>
            <a:ext cx="7732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Carrying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9" name="Text 47"/>
          <p:cNvSpPr/>
          <p:nvPr/>
        </p:nvSpPr>
        <p:spPr>
          <a:xfrm>
            <a:off x="10810080" y="2643120"/>
            <a:ext cx="8049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6366f1"/>
                </a:solidFill>
                <a:latin typeface="Liter"/>
                <a:ea typeface="Liter"/>
              </a:rPr>
              <a:t>RMB 119.4B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40" name="Text 48"/>
          <p:cNvSpPr/>
          <p:nvPr/>
        </p:nvSpPr>
        <p:spPr>
          <a:xfrm>
            <a:off x="6873120" y="2976480"/>
            <a:ext cx="55080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Total Cost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1" name="Text 49"/>
          <p:cNvSpPr/>
          <p:nvPr/>
        </p:nvSpPr>
        <p:spPr>
          <a:xfrm>
            <a:off x="11028960" y="2960640"/>
            <a:ext cx="5828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RMB 1.7B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2" name="Text 50"/>
          <p:cNvSpPr/>
          <p:nvPr/>
        </p:nvSpPr>
        <p:spPr>
          <a:xfrm>
            <a:off x="6873120" y="3262320"/>
            <a:ext cx="8920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% of Total Assets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3" name="Text 51"/>
          <p:cNvSpPr/>
          <p:nvPr/>
        </p:nvSpPr>
        <p:spPr>
          <a:xfrm>
            <a:off x="11202840" y="3246480"/>
            <a:ext cx="4082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~5.9%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4" name="Shape 52"/>
          <p:cNvSpPr/>
          <p:nvPr/>
        </p:nvSpPr>
        <p:spPr>
          <a:xfrm>
            <a:off x="6873120" y="3567960"/>
            <a:ext cx="4670640" cy="3240"/>
          </a:xfrm>
          <a:custGeom>
            <a:avLst/>
            <a:gdLst/>
            <a:ahLst/>
            <a:rect l="l" t="t" r="r" b="b"/>
            <a:pathLst>
              <a:path w="4675188" h="7938">
                <a:moveTo>
                  <a:pt x="0" y="0"/>
                </a:moveTo>
                <a:lnTo>
                  <a:pt x="4675188" y="0"/>
                </a:lnTo>
                <a:lnTo>
                  <a:pt x="467518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Text 53"/>
          <p:cNvSpPr/>
          <p:nvPr/>
        </p:nvSpPr>
        <p:spPr>
          <a:xfrm>
            <a:off x="6873120" y="3699000"/>
            <a:ext cx="47260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H1 2025 Unrealized Gains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6" name="Text 54"/>
          <p:cNvSpPr/>
          <p:nvPr/>
        </p:nvSpPr>
        <p:spPr>
          <a:xfrm>
            <a:off x="6873120" y="3921120"/>
            <a:ext cx="47656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40.3B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7" name="Text 55"/>
          <p:cNvSpPr/>
          <p:nvPr/>
        </p:nvSpPr>
        <p:spPr>
          <a:xfrm>
            <a:off x="6873120" y="4206960"/>
            <a:ext cx="471816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Included in other reserves under equity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48" name="Shape 56"/>
          <p:cNvSpPr/>
          <p:nvPr/>
        </p:nvSpPr>
        <p:spPr>
          <a:xfrm>
            <a:off x="6718320" y="4623480"/>
            <a:ext cx="4980240" cy="1177920"/>
          </a:xfrm>
          <a:custGeom>
            <a:avLst/>
            <a:gdLst/>
            <a:ahLst/>
            <a:rect l="l" t="t" r="r" b="b"/>
            <a:pathLst>
              <a:path w="4984750" h="1182688">
                <a:moveTo>
                  <a:pt x="95254" y="0"/>
                </a:moveTo>
                <a:lnTo>
                  <a:pt x="4889496" y="0"/>
                </a:lnTo>
                <a:cubicBezTo>
                  <a:pt x="4942103" y="0"/>
                  <a:pt x="4984750" y="42647"/>
                  <a:pt x="4984750" y="95254"/>
                </a:cubicBezTo>
                <a:lnTo>
                  <a:pt x="4984750" y="1087434"/>
                </a:lnTo>
                <a:cubicBezTo>
                  <a:pt x="4984750" y="1140041"/>
                  <a:pt x="4942103" y="1182688"/>
                  <a:pt x="4889496" y="1182688"/>
                </a:cubicBezTo>
                <a:lnTo>
                  <a:pt x="95254" y="1182688"/>
                </a:lnTo>
                <a:cubicBezTo>
                  <a:pt x="42682" y="1182688"/>
                  <a:pt x="0" y="1140006"/>
                  <a:pt x="0" y="1087434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Text 57"/>
          <p:cNvSpPr/>
          <p:nvPr/>
        </p:nvSpPr>
        <p:spPr>
          <a:xfrm>
            <a:off x="6849360" y="4754520"/>
            <a:ext cx="4789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efefef"/>
                </a:solidFill>
                <a:latin typeface="Liter"/>
                <a:ea typeface="Liter"/>
              </a:rPr>
              <a:t>Key Financial Ratios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50" name="Shape 58"/>
          <p:cNvSpPr/>
          <p:nvPr/>
        </p:nvSpPr>
        <p:spPr>
          <a:xfrm>
            <a:off x="6849360" y="5072040"/>
            <a:ext cx="2313000" cy="598680"/>
          </a:xfrm>
          <a:custGeom>
            <a:avLst/>
            <a:gdLst/>
            <a:ah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Text 59"/>
          <p:cNvSpPr/>
          <p:nvPr/>
        </p:nvSpPr>
        <p:spPr>
          <a:xfrm>
            <a:off x="6920640" y="5167440"/>
            <a:ext cx="21700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Total Debts / Adj. EBITDA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52" name="Text 60"/>
          <p:cNvSpPr/>
          <p:nvPr/>
        </p:nvSpPr>
        <p:spPr>
          <a:xfrm>
            <a:off x="6896880" y="5326200"/>
            <a:ext cx="221796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1.29x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53" name="Shape 61"/>
          <p:cNvSpPr/>
          <p:nvPr/>
        </p:nvSpPr>
        <p:spPr>
          <a:xfrm>
            <a:off x="9258840" y="5072040"/>
            <a:ext cx="2313000" cy="598680"/>
          </a:xfrm>
          <a:custGeom>
            <a:avLst/>
            <a:gdLst/>
            <a:ah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62"/>
          <p:cNvSpPr/>
          <p:nvPr/>
        </p:nvSpPr>
        <p:spPr>
          <a:xfrm>
            <a:off x="9330120" y="5167440"/>
            <a:ext cx="21700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Adj. EBITDA Margin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55" name="Text 63"/>
          <p:cNvSpPr/>
          <p:nvPr/>
        </p:nvSpPr>
        <p:spPr>
          <a:xfrm>
            <a:off x="9306360" y="5326200"/>
            <a:ext cx="221796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46%</a:t>
            </a:r>
            <a:endParaRPr b="0" lang="en-HK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Image 0"/>
          <p:cNvSpPr/>
          <p:nvPr/>
        </p:nvSpPr>
        <p:spPr>
          <a:xfrm>
            <a:off x="0" y="0"/>
            <a:ext cx="12187440" cy="68533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Shape 0"/>
          <p:cNvSpPr/>
          <p:nvPr/>
        </p:nvSpPr>
        <p:spPr>
          <a:xfrm>
            <a:off x="0" y="0"/>
            <a:ext cx="12187440" cy="685332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90196"/>
                </a:srgbClr>
              </a:gs>
              <a:gs pos="100000">
                <a:srgbClr val="191919">
                  <a:alpha val="8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Text 1"/>
          <p:cNvSpPr/>
          <p:nvPr/>
        </p:nvSpPr>
        <p:spPr>
          <a:xfrm>
            <a:off x="380880" y="380880"/>
            <a:ext cx="114919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18" strike="noStrike">
                <a:solidFill>
                  <a:srgbClr val="6366f1"/>
                </a:solidFill>
                <a:latin typeface="Liter"/>
                <a:ea typeface="Liter"/>
              </a:rPr>
              <a:t>LOOKING AHEAD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380880" y="647640"/>
            <a:ext cx="116539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efefef"/>
                </a:solidFill>
                <a:latin typeface="Liter"/>
                <a:ea typeface="Liter"/>
              </a:rPr>
              <a:t>Strategic Outlook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380880" y="1219320"/>
            <a:ext cx="1151100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8f8f8f"/>
                </a:solidFill>
                <a:latin typeface="Liter"/>
                <a:ea typeface="Liter"/>
              </a:rPr>
              <a:t>Continued innovation and AI-driven growth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61" name="Shape 4"/>
          <p:cNvSpPr/>
          <p:nvPr/>
        </p:nvSpPr>
        <p:spPr>
          <a:xfrm>
            <a:off x="385920" y="1643040"/>
            <a:ext cx="3272040" cy="174780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Shape 5"/>
          <p:cNvSpPr/>
          <p:nvPr/>
        </p:nvSpPr>
        <p:spPr>
          <a:xfrm>
            <a:off x="581040" y="1838160"/>
            <a:ext cx="376200" cy="37620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Shape 6"/>
          <p:cNvSpPr/>
          <p:nvPr/>
        </p:nvSpPr>
        <p:spPr>
          <a:xfrm>
            <a:off x="695160" y="1952640"/>
            <a:ext cx="147600" cy="14760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4" name="Text 7"/>
          <p:cNvSpPr/>
          <p:nvPr/>
        </p:nvSpPr>
        <p:spPr>
          <a:xfrm>
            <a:off x="1076400" y="1895400"/>
            <a:ext cx="111924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AI Leadership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65" name="Text 8"/>
          <p:cNvSpPr/>
          <p:nvPr/>
        </p:nvSpPr>
        <p:spPr>
          <a:xfrm>
            <a:off x="581040" y="2333520"/>
            <a:ext cx="2948040" cy="86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Continue investing in AI capabilities across all business lines, upgrading HunYuan foundation models, and expanding AI use cases within Weixin ecosystem.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66" name="Shape 9"/>
          <p:cNvSpPr/>
          <p:nvPr/>
        </p:nvSpPr>
        <p:spPr>
          <a:xfrm>
            <a:off x="3822480" y="1643040"/>
            <a:ext cx="3272040" cy="174780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Shape 10"/>
          <p:cNvSpPr/>
          <p:nvPr/>
        </p:nvSpPr>
        <p:spPr>
          <a:xfrm>
            <a:off x="4017600" y="1838160"/>
            <a:ext cx="376200" cy="37620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Shape 11"/>
          <p:cNvSpPr/>
          <p:nvPr/>
        </p:nvSpPr>
        <p:spPr>
          <a:xfrm>
            <a:off x="4113000" y="1952640"/>
            <a:ext cx="185760" cy="147600"/>
          </a:xfrm>
          <a:custGeom>
            <a:avLst/>
            <a:gdLst/>
            <a:ah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Text 12"/>
          <p:cNvSpPr/>
          <p:nvPr/>
        </p:nvSpPr>
        <p:spPr>
          <a:xfrm>
            <a:off x="4512960" y="1895400"/>
            <a:ext cx="146232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Games Excellence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70" name="Text 13"/>
          <p:cNvSpPr/>
          <p:nvPr/>
        </p:nvSpPr>
        <p:spPr>
          <a:xfrm>
            <a:off x="4017600" y="2333520"/>
            <a:ext cx="2948040" cy="86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Maintain leadership in domestic and international markets through evergreen title evolution, new game launches, and AI-enhanced gaming experiences.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71" name="Shape 14"/>
          <p:cNvSpPr/>
          <p:nvPr/>
        </p:nvSpPr>
        <p:spPr>
          <a:xfrm>
            <a:off x="385920" y="3557520"/>
            <a:ext cx="3272040" cy="174780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Shape 15"/>
          <p:cNvSpPr/>
          <p:nvPr/>
        </p:nvSpPr>
        <p:spPr>
          <a:xfrm>
            <a:off x="581040" y="3753000"/>
            <a:ext cx="376200" cy="37620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Shape 16"/>
          <p:cNvSpPr/>
          <p:nvPr/>
        </p:nvSpPr>
        <p:spPr>
          <a:xfrm>
            <a:off x="695160" y="3867120"/>
            <a:ext cx="147600" cy="14760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23825" y="54769"/>
                </a:moveTo>
                <a:lnTo>
                  <a:pt x="123825" y="97631"/>
                </a:lnTo>
                <a:cubicBezTo>
                  <a:pt x="123825" y="101590"/>
                  <a:pt x="120640" y="104775"/>
                  <a:pt x="116681" y="104775"/>
                </a:cubicBezTo>
                <a:cubicBezTo>
                  <a:pt x="114568" y="104775"/>
                  <a:pt x="112663" y="103852"/>
                  <a:pt x="111353" y="102394"/>
                </a:cubicBezTo>
                <a:cubicBezTo>
                  <a:pt x="108317" y="103912"/>
                  <a:pt x="104864" y="104775"/>
                  <a:pt x="101203" y="104775"/>
                </a:cubicBezTo>
                <a:cubicBezTo>
                  <a:pt x="88702" y="104775"/>
                  <a:pt x="78581" y="94655"/>
                  <a:pt x="78581" y="82153"/>
                </a:cubicBezTo>
                <a:cubicBezTo>
                  <a:pt x="78581" y="69652"/>
                  <a:pt x="88702" y="59531"/>
                  <a:pt x="101203" y="59531"/>
                </a:cubicBezTo>
                <a:cubicBezTo>
                  <a:pt x="104150" y="59531"/>
                  <a:pt x="106948" y="60097"/>
                  <a:pt x="109537" y="61109"/>
                </a:cubicBezTo>
                <a:lnTo>
                  <a:pt x="109537" y="54769"/>
                </a:lnTo>
                <a:cubicBezTo>
                  <a:pt x="109537" y="50810"/>
                  <a:pt x="112722" y="47625"/>
                  <a:pt x="116681" y="47625"/>
                </a:cubicBezTo>
                <a:cubicBezTo>
                  <a:pt x="120640" y="47625"/>
                  <a:pt x="123825" y="50810"/>
                  <a:pt x="123825" y="54769"/>
                </a:cubicBezTo>
                <a:close/>
                <a:moveTo>
                  <a:pt x="109537" y="82153"/>
                </a:moveTo>
                <a:cubicBezTo>
                  <a:pt x="109537" y="77553"/>
                  <a:pt x="105803" y="73819"/>
                  <a:pt x="101203" y="73819"/>
                </a:cubicBezTo>
                <a:cubicBezTo>
                  <a:pt x="96603" y="73819"/>
                  <a:pt x="92869" y="77553"/>
                  <a:pt x="92869" y="82153"/>
                </a:cubicBezTo>
                <a:cubicBezTo>
                  <a:pt x="92869" y="86753"/>
                  <a:pt x="96603" y="90488"/>
                  <a:pt x="101203" y="90488"/>
                </a:cubicBezTo>
                <a:cubicBezTo>
                  <a:pt x="105803" y="90488"/>
                  <a:pt x="109537" y="86753"/>
                  <a:pt x="109537" y="82153"/>
                </a:cubicBezTo>
                <a:close/>
                <a:moveTo>
                  <a:pt x="47625" y="61912"/>
                </a:moveTo>
                <a:cubicBezTo>
                  <a:pt x="45006" y="61912"/>
                  <a:pt x="42863" y="64056"/>
                  <a:pt x="42863" y="66675"/>
                </a:cubicBezTo>
                <a:lnTo>
                  <a:pt x="42863" y="76200"/>
                </a:lnTo>
                <a:lnTo>
                  <a:pt x="57150" y="76200"/>
                </a:lnTo>
                <a:lnTo>
                  <a:pt x="57150" y="66675"/>
                </a:lnTo>
                <a:cubicBezTo>
                  <a:pt x="57150" y="64056"/>
                  <a:pt x="55007" y="61912"/>
                  <a:pt x="52388" y="61912"/>
                </a:cubicBezTo>
                <a:lnTo>
                  <a:pt x="47625" y="61912"/>
                </a:lnTo>
                <a:close/>
                <a:moveTo>
                  <a:pt x="57150" y="90488"/>
                </a:moveTo>
                <a:lnTo>
                  <a:pt x="42863" y="90488"/>
                </a:lnTo>
                <a:lnTo>
                  <a:pt x="42863" y="97631"/>
                </a:lnTo>
                <a:cubicBezTo>
                  <a:pt x="42863" y="101590"/>
                  <a:pt x="39678" y="104775"/>
                  <a:pt x="35719" y="104775"/>
                </a:cubicBezTo>
                <a:cubicBezTo>
                  <a:pt x="31760" y="104775"/>
                  <a:pt x="28575" y="101590"/>
                  <a:pt x="28575" y="97631"/>
                </a:cubicBezTo>
                <a:lnTo>
                  <a:pt x="28575" y="66675"/>
                </a:lnTo>
                <a:cubicBezTo>
                  <a:pt x="28575" y="56168"/>
                  <a:pt x="37118" y="47625"/>
                  <a:pt x="47625" y="47625"/>
                </a:cubicBezTo>
                <a:lnTo>
                  <a:pt x="52388" y="47625"/>
                </a:lnTo>
                <a:cubicBezTo>
                  <a:pt x="62895" y="47625"/>
                  <a:pt x="71438" y="56168"/>
                  <a:pt x="71438" y="66675"/>
                </a:cubicBezTo>
                <a:lnTo>
                  <a:pt x="71438" y="97631"/>
                </a:lnTo>
                <a:cubicBezTo>
                  <a:pt x="71438" y="101590"/>
                  <a:pt x="68253" y="104775"/>
                  <a:pt x="64294" y="104775"/>
                </a:cubicBezTo>
                <a:cubicBezTo>
                  <a:pt x="60335" y="104775"/>
                  <a:pt x="57150" y="101590"/>
                  <a:pt x="57150" y="97631"/>
                </a:cubicBezTo>
                <a:lnTo>
                  <a:pt x="57150" y="90488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Text 17"/>
          <p:cNvSpPr/>
          <p:nvPr/>
        </p:nvSpPr>
        <p:spPr>
          <a:xfrm>
            <a:off x="1076400" y="3809880"/>
            <a:ext cx="15382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Advertising Growth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75" name="Text 18"/>
          <p:cNvSpPr/>
          <p:nvPr/>
        </p:nvSpPr>
        <p:spPr>
          <a:xfrm>
            <a:off x="581040" y="4248000"/>
            <a:ext cx="2948040" cy="86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Leverage AI-powered advertising platform to drive higher ROI for advertisers and capture growing demand across Video Accounts and Mini Programs.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76" name="Shape 19"/>
          <p:cNvSpPr/>
          <p:nvPr/>
        </p:nvSpPr>
        <p:spPr>
          <a:xfrm>
            <a:off x="3822480" y="3557520"/>
            <a:ext cx="3272040" cy="174780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7" name="Shape 20"/>
          <p:cNvSpPr/>
          <p:nvPr/>
        </p:nvSpPr>
        <p:spPr>
          <a:xfrm>
            <a:off x="4017600" y="3753000"/>
            <a:ext cx="376200" cy="37620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Shape 21"/>
          <p:cNvSpPr/>
          <p:nvPr/>
        </p:nvSpPr>
        <p:spPr>
          <a:xfrm>
            <a:off x="4122360" y="3867120"/>
            <a:ext cx="166680" cy="147600"/>
          </a:xfrm>
          <a:custGeom>
            <a:avLst/>
            <a:gdLst/>
            <a:ah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Text 22"/>
          <p:cNvSpPr/>
          <p:nvPr/>
        </p:nvSpPr>
        <p:spPr>
          <a:xfrm>
            <a:off x="4512960" y="3809880"/>
            <a:ext cx="13384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Cloud &amp; FinTech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80" name="Text 23"/>
          <p:cNvSpPr/>
          <p:nvPr/>
        </p:nvSpPr>
        <p:spPr>
          <a:xfrm>
            <a:off x="4017600" y="4248000"/>
            <a:ext cx="2948040" cy="86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Expand enterprise AI-related services including GPU rental and API token usage, while growing commercial payment volume and wealth management services.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1" name="Shape 24"/>
          <p:cNvSpPr/>
          <p:nvPr/>
        </p:nvSpPr>
        <p:spPr>
          <a:xfrm>
            <a:off x="385920" y="5472000"/>
            <a:ext cx="6710400" cy="1319400"/>
          </a:xfrm>
          <a:custGeom>
            <a:avLst/>
            <a:gdLst/>
            <a:ahLst/>
            <a:rect l="l" t="t" r="r" b="b"/>
            <a:pathLst>
              <a:path w="6715125" h="1323975">
                <a:moveTo>
                  <a:pt x="114299" y="0"/>
                </a:moveTo>
                <a:lnTo>
                  <a:pt x="6600826" y="0"/>
                </a:lnTo>
                <a:cubicBezTo>
                  <a:pt x="6663952" y="0"/>
                  <a:pt x="6715125" y="51173"/>
                  <a:pt x="6715125" y="114299"/>
                </a:cubicBezTo>
                <a:lnTo>
                  <a:pt x="6715125" y="1209676"/>
                </a:lnTo>
                <a:cubicBezTo>
                  <a:pt x="6715125" y="1272802"/>
                  <a:pt x="6663952" y="1323975"/>
                  <a:pt x="6600826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Shape 25"/>
          <p:cNvSpPr/>
          <p:nvPr/>
        </p:nvSpPr>
        <p:spPr>
          <a:xfrm>
            <a:off x="581040" y="5667480"/>
            <a:ext cx="376200" cy="37620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Shape 26"/>
          <p:cNvSpPr/>
          <p:nvPr/>
        </p:nvSpPr>
        <p:spPr>
          <a:xfrm>
            <a:off x="714240" y="5781600"/>
            <a:ext cx="109800" cy="14760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Text 27"/>
          <p:cNvSpPr/>
          <p:nvPr/>
        </p:nvSpPr>
        <p:spPr>
          <a:xfrm>
            <a:off x="1076400" y="5724360"/>
            <a:ext cx="205272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Yuanbao &amp; AI Native Apps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85" name="Text 28"/>
          <p:cNvSpPr/>
          <p:nvPr/>
        </p:nvSpPr>
        <p:spPr>
          <a:xfrm>
            <a:off x="581040" y="6162840"/>
            <a:ext cx="638676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 adoption of AI native app Yuanbao and bring further benefits of AI to consumers and enterprises through powering more use cases within Weixin and beyond.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6" name="Shape 29"/>
          <p:cNvSpPr/>
          <p:nvPr/>
        </p:nvSpPr>
        <p:spPr>
          <a:xfrm>
            <a:off x="7335360" y="1643040"/>
            <a:ext cx="4462560" cy="3872160"/>
          </a:xfrm>
          <a:custGeom>
            <a:avLst/>
            <a:gdLst/>
            <a:ahLst/>
            <a:rect l="l" t="t" r="r" b="b"/>
            <a:pathLst>
              <a:path w="4467225" h="3876675">
                <a:moveTo>
                  <a:pt x="114284" y="0"/>
                </a:moveTo>
                <a:lnTo>
                  <a:pt x="4352941" y="0"/>
                </a:lnTo>
                <a:cubicBezTo>
                  <a:pt x="4416058" y="0"/>
                  <a:pt x="4467225" y="51167"/>
                  <a:pt x="4467225" y="114284"/>
                </a:cubicBezTo>
                <a:lnTo>
                  <a:pt x="4467225" y="3762391"/>
                </a:lnTo>
                <a:cubicBezTo>
                  <a:pt x="4467225" y="3825508"/>
                  <a:pt x="4416058" y="3876675"/>
                  <a:pt x="4352941" y="3876675"/>
                </a:cubicBezTo>
                <a:lnTo>
                  <a:pt x="114284" y="3876675"/>
                </a:lnTo>
                <a:cubicBezTo>
                  <a:pt x="51167" y="3876675"/>
                  <a:pt x="0" y="3825508"/>
                  <a:pt x="0" y="376239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Shape 30"/>
          <p:cNvSpPr/>
          <p:nvPr/>
        </p:nvSpPr>
        <p:spPr>
          <a:xfrm>
            <a:off x="7611480" y="1895400"/>
            <a:ext cx="195480" cy="223920"/>
          </a:xfrm>
          <a:custGeom>
            <a:avLst/>
            <a:gdLst/>
            <a:ah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Text 31"/>
          <p:cNvSpPr/>
          <p:nvPr/>
        </p:nvSpPr>
        <p:spPr>
          <a:xfrm>
            <a:off x="7968600" y="1876320"/>
            <a:ext cx="153828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Our Commitment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89" name="Shape 32"/>
          <p:cNvSpPr/>
          <p:nvPr/>
        </p:nvSpPr>
        <p:spPr>
          <a:xfrm>
            <a:off x="7587720" y="2295360"/>
            <a:ext cx="3976920" cy="1081080"/>
          </a:xfrm>
          <a:custGeom>
            <a:avLst/>
            <a:gdLst/>
            <a:ahLst/>
            <a:rect l="l" t="t" r="r" b="b"/>
            <a:pathLst>
              <a:path w="3981450" h="1085850">
                <a:moveTo>
                  <a:pt x="38100" y="0"/>
                </a:moveTo>
                <a:lnTo>
                  <a:pt x="3905245" y="0"/>
                </a:lnTo>
                <a:cubicBezTo>
                  <a:pt x="3947332" y="0"/>
                  <a:pt x="3981450" y="34118"/>
                  <a:pt x="3981450" y="76205"/>
                </a:cubicBezTo>
                <a:lnTo>
                  <a:pt x="3981450" y="1009645"/>
                </a:lnTo>
                <a:cubicBezTo>
                  <a:pt x="3981450" y="1051732"/>
                  <a:pt x="3947332" y="1085850"/>
                  <a:pt x="39052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Shape 33"/>
          <p:cNvSpPr/>
          <p:nvPr/>
        </p:nvSpPr>
        <p:spPr>
          <a:xfrm>
            <a:off x="7587720" y="2295360"/>
            <a:ext cx="33480" cy="1081080"/>
          </a:xfrm>
          <a:custGeom>
            <a:avLst/>
            <a:gdLst/>
            <a:ah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Text 34"/>
          <p:cNvSpPr/>
          <p:nvPr/>
        </p:nvSpPr>
        <p:spPr>
          <a:xfrm>
            <a:off x="7759080" y="2448000"/>
            <a:ext cx="373860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"Value for User, Tech for Good"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92" name="Text 35"/>
          <p:cNvSpPr/>
          <p:nvPr/>
        </p:nvSpPr>
        <p:spPr>
          <a:xfrm>
            <a:off x="7759080" y="2790720"/>
            <a:ext cx="371952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We remain committed to our core principle and continue to deliver meaningful impact through technology.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3" name="Shape 36"/>
          <p:cNvSpPr/>
          <p:nvPr/>
        </p:nvSpPr>
        <p:spPr>
          <a:xfrm>
            <a:off x="7568640" y="3529080"/>
            <a:ext cx="300240" cy="30024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Shape 37"/>
          <p:cNvSpPr/>
          <p:nvPr/>
        </p:nvSpPr>
        <p:spPr>
          <a:xfrm>
            <a:off x="7673400" y="3614760"/>
            <a:ext cx="95400" cy="128520"/>
          </a:xfrm>
          <a:custGeom>
            <a:avLst/>
            <a:gdLst/>
            <a:ah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Text 38"/>
          <p:cNvSpPr/>
          <p:nvPr/>
        </p:nvSpPr>
        <p:spPr>
          <a:xfrm>
            <a:off x="7987680" y="3586320"/>
            <a:ext cx="10144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 innovation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6" name="Shape 39"/>
          <p:cNvSpPr/>
          <p:nvPr/>
        </p:nvSpPr>
        <p:spPr>
          <a:xfrm>
            <a:off x="7568640" y="3948120"/>
            <a:ext cx="300240" cy="30024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7" name="Shape 40"/>
          <p:cNvSpPr/>
          <p:nvPr/>
        </p:nvSpPr>
        <p:spPr>
          <a:xfrm>
            <a:off x="7639920" y="4033800"/>
            <a:ext cx="162000" cy="128520"/>
          </a:xfrm>
          <a:custGeom>
            <a:avLst/>
            <a:gdLst/>
            <a:ah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8" name="Text 41"/>
          <p:cNvSpPr/>
          <p:nvPr/>
        </p:nvSpPr>
        <p:spPr>
          <a:xfrm>
            <a:off x="7987680" y="4005360"/>
            <a:ext cx="21574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Adapt to evolving community needs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9" name="Shape 42"/>
          <p:cNvSpPr/>
          <p:nvPr/>
        </p:nvSpPr>
        <p:spPr>
          <a:xfrm>
            <a:off x="7568640" y="4367160"/>
            <a:ext cx="300240" cy="30024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Shape 43"/>
          <p:cNvSpPr/>
          <p:nvPr/>
        </p:nvSpPr>
        <p:spPr>
          <a:xfrm>
            <a:off x="7656840" y="4452840"/>
            <a:ext cx="128520" cy="128520"/>
          </a:xfrm>
          <a:custGeom>
            <a:avLst/>
            <a:gdLst/>
            <a:ah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Text 44"/>
          <p:cNvSpPr/>
          <p:nvPr/>
        </p:nvSpPr>
        <p:spPr>
          <a:xfrm>
            <a:off x="7987680" y="4424400"/>
            <a:ext cx="24908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Contribute to inclusive, sustainable future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02" name="Shape 45"/>
          <p:cNvSpPr/>
          <p:nvPr/>
        </p:nvSpPr>
        <p:spPr>
          <a:xfrm>
            <a:off x="7335360" y="5676840"/>
            <a:ext cx="4462560" cy="1109880"/>
          </a:xfrm>
          <a:custGeom>
            <a:avLst/>
            <a:gdLst/>
            <a:ahLst/>
            <a:rect l="l" t="t" r="r" b="b"/>
            <a:pathLst>
              <a:path w="4467225" h="1114425">
                <a:moveTo>
                  <a:pt x="114295" y="0"/>
                </a:moveTo>
                <a:lnTo>
                  <a:pt x="4352930" y="0"/>
                </a:lnTo>
                <a:cubicBezTo>
                  <a:pt x="4416011" y="0"/>
                  <a:pt x="4467225" y="51214"/>
                  <a:pt x="4467225" y="114295"/>
                </a:cubicBezTo>
                <a:lnTo>
                  <a:pt x="4467225" y="1000130"/>
                </a:lnTo>
                <a:cubicBezTo>
                  <a:pt x="4467225" y="1063211"/>
                  <a:pt x="4416011" y="1114425"/>
                  <a:pt x="43529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Text 46"/>
          <p:cNvSpPr/>
          <p:nvPr/>
        </p:nvSpPr>
        <p:spPr>
          <a:xfrm>
            <a:off x="7497000" y="5872320"/>
            <a:ext cx="41385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Thank you for your trust and support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04" name="Text 47"/>
          <p:cNvSpPr/>
          <p:nvPr/>
        </p:nvSpPr>
        <p:spPr>
          <a:xfrm>
            <a:off x="7492320" y="6138720"/>
            <a:ext cx="414828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efefef"/>
                </a:solidFill>
                <a:latin typeface="Liter"/>
                <a:ea typeface="Liter"/>
              </a:rPr>
              <a:t>Tencent Holdings Limited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05" name="Text 48"/>
          <p:cNvSpPr/>
          <p:nvPr/>
        </p:nvSpPr>
        <p:spPr>
          <a:xfrm>
            <a:off x="7497000" y="6405480"/>
            <a:ext cx="41385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HKEX: 0700 | www.tencent.com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2026-03-18T07:40:13Z</dcterms:created>
  <dc:creator>Kimi</dc:creator>
  <dc:description/>
  <dc:language>en-HK</dc:language>
  <cp:lastModifiedBy/>
  <dcterms:modified xsi:type="dcterms:W3CDTF">2026-04-27T01:00:07Z</dcterms:modified>
  <cp:revision>13</cp:revision>
  <dc:subject>Tencent Holdings Limited - 2025 Interim Report</dc:subject>
  <dc:title>Tencent Holdings Limited - 2025 Interim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{"Label":"Tencent Holdings Limited - 2025 Interim Report","ContentProducer":"001191110108MACG2KBH8F10000","ProduceID":"19cffe21-aa22-8ca2-8000-0000d6c8a249","ReservedCode1":"","ContentPropagator":"001191110108MACG2KBH8F20000","PropagateID":"19cffe21-aa22-8ca2-8000-0000d6c8a249","ReservedCode2":""}</vt:lpwstr>
  </property>
  <property fmtid="{D5CDD505-2E9C-101B-9397-08002B2CF9AE}" pid="3" name="Notes">
    <vt:i4>12</vt:i4>
  </property>
  <property fmtid="{D5CDD505-2E9C-101B-9397-08002B2CF9AE}" pid="4" name="PresentationFormat">
    <vt:lpwstr>On-screen Show (16:9)</vt:lpwstr>
  </property>
  <property fmtid="{D5CDD505-2E9C-101B-9397-08002B2CF9AE}" pid="5" name="Slides">
    <vt:i4>12</vt:i4>
  </property>
</Properties>
</file>