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FBFE82DC-35DA-4D11-B366-03311F9C4574}"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3160" cy="3083040"/>
          </a:xfrm>
          <a:prstGeom prst="rect">
            <a:avLst/>
          </a:prstGeom>
          <a:ln w="0">
            <a:noFill/>
          </a:ln>
        </p:spPr>
      </p:sp>
      <p:sp>
        <p:nvSpPr>
          <p:cNvPr id="55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55" name="PlaceHolder 3"/>
          <p:cNvSpPr>
            <a:spLocks noGrp="1"/>
          </p:cNvSpPr>
          <p:nvPr>
            <p:ph type="sldNum" idx="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9F06EDD-E208-4FD8-B9C3-7AF464D9B55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3160" cy="3083040"/>
          </a:xfrm>
          <a:prstGeom prst="rect">
            <a:avLst/>
          </a:prstGeom>
          <a:ln w="0">
            <a:noFill/>
          </a:ln>
        </p:spPr>
      </p:sp>
      <p:sp>
        <p:nvSpPr>
          <p:cNvPr id="55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58" name="PlaceHolder 3"/>
          <p:cNvSpPr>
            <a:spLocks noGrp="1"/>
          </p:cNvSpPr>
          <p:nvPr>
            <p:ph type="sldNum" idx="5"/>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DB639E5-A94A-4D1F-B231-FA8D529BCD1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3160" cy="3083040"/>
          </a:xfrm>
          <a:prstGeom prst="rect">
            <a:avLst/>
          </a:prstGeom>
          <a:ln w="0">
            <a:noFill/>
          </a:ln>
        </p:spPr>
      </p:sp>
      <p:sp>
        <p:nvSpPr>
          <p:cNvPr id="560"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1" name="PlaceHolder 3"/>
          <p:cNvSpPr>
            <a:spLocks noGrp="1"/>
          </p:cNvSpPr>
          <p:nvPr>
            <p:ph type="sldNum" idx="6"/>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CD3CDF0-7B30-4019-9DED-6404C62662C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3160" cy="3083040"/>
          </a:xfrm>
          <a:prstGeom prst="rect">
            <a:avLst/>
          </a:prstGeom>
          <a:ln w="0">
            <a:noFill/>
          </a:ln>
        </p:spPr>
      </p:sp>
      <p:sp>
        <p:nvSpPr>
          <p:cNvPr id="563"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4" name="PlaceHolder 3"/>
          <p:cNvSpPr>
            <a:spLocks noGrp="1"/>
          </p:cNvSpPr>
          <p:nvPr>
            <p:ph type="sldNum" idx="7"/>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CE7E768-8ABD-4D66-97F9-9A4EA56155C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685800" y="1143000"/>
            <a:ext cx="5483160" cy="3083040"/>
          </a:xfrm>
          <a:prstGeom prst="rect">
            <a:avLst/>
          </a:prstGeom>
          <a:ln w="0">
            <a:noFill/>
          </a:ln>
        </p:spPr>
      </p:sp>
      <p:sp>
        <p:nvSpPr>
          <p:cNvPr id="566"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7" name="PlaceHolder 3"/>
          <p:cNvSpPr>
            <a:spLocks noGrp="1"/>
          </p:cNvSpPr>
          <p:nvPr>
            <p:ph type="sldNum" idx="8"/>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B898975-0ACF-453B-99DF-5CB83A56C96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685800" y="1143000"/>
            <a:ext cx="5483160" cy="3083040"/>
          </a:xfrm>
          <a:prstGeom prst="rect">
            <a:avLst/>
          </a:prstGeom>
          <a:ln w="0">
            <a:noFill/>
          </a:ln>
        </p:spPr>
      </p:sp>
      <p:sp>
        <p:nvSpPr>
          <p:cNvPr id="569"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0" name="PlaceHolder 3"/>
          <p:cNvSpPr>
            <a:spLocks noGrp="1"/>
          </p:cNvSpPr>
          <p:nvPr>
            <p:ph type="sldNum" idx="9"/>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9BF4C96-61B9-4954-B5FE-D88D6933EB7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685800" y="1143000"/>
            <a:ext cx="5483160" cy="3083040"/>
          </a:xfrm>
          <a:prstGeom prst="rect">
            <a:avLst/>
          </a:prstGeom>
          <a:ln w="0">
            <a:noFill/>
          </a:ln>
        </p:spPr>
      </p:sp>
      <p:sp>
        <p:nvSpPr>
          <p:cNvPr id="572"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3" name="PlaceHolder 3"/>
          <p:cNvSpPr>
            <a:spLocks noGrp="1"/>
          </p:cNvSpPr>
          <p:nvPr>
            <p:ph type="sldNum" idx="10"/>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14B24D1-5BC3-43DF-9716-5B98CE25F2E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685800" y="1143000"/>
            <a:ext cx="5483160" cy="3083040"/>
          </a:xfrm>
          <a:prstGeom prst="rect">
            <a:avLst/>
          </a:prstGeom>
          <a:ln w="0">
            <a:noFill/>
          </a:ln>
        </p:spPr>
      </p:sp>
      <p:sp>
        <p:nvSpPr>
          <p:cNvPr id="575"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6" name="PlaceHolder 3"/>
          <p:cNvSpPr>
            <a:spLocks noGrp="1"/>
          </p:cNvSpPr>
          <p:nvPr>
            <p:ph type="sldNum" idx="11"/>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0325394-B2E5-4BC1-BCEA-C9B7F43A8ED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685800" y="1143000"/>
            <a:ext cx="5483160" cy="3083040"/>
          </a:xfrm>
          <a:prstGeom prst="rect">
            <a:avLst/>
          </a:prstGeom>
          <a:ln w="0">
            <a:noFill/>
          </a:ln>
        </p:spPr>
      </p:sp>
      <p:sp>
        <p:nvSpPr>
          <p:cNvPr id="578"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9" name="PlaceHolder 3"/>
          <p:cNvSpPr>
            <a:spLocks noGrp="1"/>
          </p:cNvSpPr>
          <p:nvPr>
            <p:ph type="sldNum" idx="12"/>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2568FA8-5EBE-4958-BF7E-253C9B320B7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685800" y="1143000"/>
            <a:ext cx="5483160" cy="3083040"/>
          </a:xfrm>
          <a:prstGeom prst="rect">
            <a:avLst/>
          </a:prstGeom>
          <a:ln w="0">
            <a:noFill/>
          </a:ln>
        </p:spPr>
      </p:sp>
      <p:sp>
        <p:nvSpPr>
          <p:cNvPr id="581"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2" name="PlaceHolder 3"/>
          <p:cNvSpPr>
            <a:spLocks noGrp="1"/>
          </p:cNvSpPr>
          <p:nvPr>
            <p:ph type="sldNum" idx="13"/>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84840E9-8FEF-479C-B158-9986FA75F70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685800" y="1143000"/>
            <a:ext cx="5483160" cy="3083040"/>
          </a:xfrm>
          <a:prstGeom prst="rect">
            <a:avLst/>
          </a:prstGeom>
          <a:ln w="0">
            <a:noFill/>
          </a:ln>
        </p:spPr>
      </p:sp>
      <p:sp>
        <p:nvSpPr>
          <p:cNvPr id="58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5" name="PlaceHolder 3"/>
          <p:cNvSpPr>
            <a:spLocks noGrp="1"/>
          </p:cNvSpPr>
          <p:nvPr>
            <p:ph type="sldNum" idx="1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BD16EA9-689B-4D68-B371-9CAFE62C80F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685800" y="1143000"/>
            <a:ext cx="5483160" cy="3083040"/>
          </a:xfrm>
          <a:prstGeom prst="rect">
            <a:avLst/>
          </a:prstGeom>
          <a:ln w="0">
            <a:noFill/>
          </a:ln>
        </p:spPr>
      </p:sp>
      <p:sp>
        <p:nvSpPr>
          <p:cNvPr id="58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8" name="PlaceHolder 3"/>
          <p:cNvSpPr>
            <a:spLocks noGrp="1"/>
          </p:cNvSpPr>
          <p:nvPr>
            <p:ph type="sldNum" idx="15"/>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8EF10FB-8CFE-455E-99DF-6018DD9E64E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685800" y="1143000"/>
            <a:ext cx="5483160" cy="3083040"/>
          </a:xfrm>
          <a:prstGeom prst="rect">
            <a:avLst/>
          </a:prstGeom>
          <a:ln w="0">
            <a:noFill/>
          </a:ln>
        </p:spPr>
      </p:sp>
      <p:sp>
        <p:nvSpPr>
          <p:cNvPr id="590"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1" name="PlaceHolder 3"/>
          <p:cNvSpPr>
            <a:spLocks noGrp="1"/>
          </p:cNvSpPr>
          <p:nvPr>
            <p:ph type="sldNum" idx="16"/>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F7689C0-187A-4869-AB02-323FB849824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3160" cy="3083040"/>
          </a:xfrm>
          <a:prstGeom prst="rect">
            <a:avLst/>
          </a:prstGeom>
          <a:ln w="0">
            <a:noFill/>
          </a:ln>
        </p:spPr>
      </p:sp>
      <p:sp>
        <p:nvSpPr>
          <p:cNvPr id="593"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4" name="PlaceHolder 3"/>
          <p:cNvSpPr>
            <a:spLocks noGrp="1"/>
          </p:cNvSpPr>
          <p:nvPr>
            <p:ph type="sldNum" idx="17"/>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96E0698-187A-4FA1-99A0-BED53EC9E74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3160" cy="3083040"/>
          </a:xfrm>
          <a:prstGeom prst="rect">
            <a:avLst/>
          </a:prstGeom>
          <a:ln w="0">
            <a:noFill/>
          </a:ln>
        </p:spPr>
      </p:sp>
      <p:sp>
        <p:nvSpPr>
          <p:cNvPr id="596"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7" name="PlaceHolder 3"/>
          <p:cNvSpPr>
            <a:spLocks noGrp="1"/>
          </p:cNvSpPr>
          <p:nvPr>
            <p:ph type="sldNum" idx="18"/>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1EB2240-51E8-4471-BB8D-78D2A309646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3160" cy="3083040"/>
          </a:xfrm>
          <a:prstGeom prst="rect">
            <a:avLst/>
          </a:prstGeom>
          <a:ln w="0">
            <a:noFill/>
          </a:ln>
        </p:spPr>
      </p:sp>
      <p:sp>
        <p:nvSpPr>
          <p:cNvPr id="599"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0" name="PlaceHolder 3"/>
          <p:cNvSpPr>
            <a:spLocks noGrp="1"/>
          </p:cNvSpPr>
          <p:nvPr>
            <p:ph type="sldNum" idx="19"/>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C40D198-587F-434A-B80D-FF1A398606A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3160" cy="3083040"/>
          </a:xfrm>
          <a:prstGeom prst="rect">
            <a:avLst/>
          </a:prstGeom>
          <a:ln w="0">
            <a:noFill/>
          </a:ln>
        </p:spPr>
      </p:sp>
      <p:sp>
        <p:nvSpPr>
          <p:cNvPr id="602"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3" name="PlaceHolder 3"/>
          <p:cNvSpPr>
            <a:spLocks noGrp="1"/>
          </p:cNvSpPr>
          <p:nvPr>
            <p:ph type="sldNum" idx="20"/>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D44A0FD-DD27-4B30-B9B1-3D47E32CF80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3160" cy="3083040"/>
          </a:xfrm>
          <a:prstGeom prst="rect">
            <a:avLst/>
          </a:prstGeom>
          <a:ln w="0">
            <a:noFill/>
          </a:ln>
        </p:spPr>
      </p:sp>
      <p:sp>
        <p:nvSpPr>
          <p:cNvPr id="605"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6" name="PlaceHolder 3"/>
          <p:cNvSpPr>
            <a:spLocks noGrp="1"/>
          </p:cNvSpPr>
          <p:nvPr>
            <p:ph type="sldNum" idx="21"/>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5EE8F04-E539-49F6-BE95-087862EB739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3160" cy="3083040"/>
          </a:xfrm>
          <a:prstGeom prst="rect">
            <a:avLst/>
          </a:prstGeom>
          <a:ln w="0">
            <a:noFill/>
          </a:ln>
        </p:spPr>
      </p:sp>
      <p:sp>
        <p:nvSpPr>
          <p:cNvPr id="608"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9" name="PlaceHolder 3"/>
          <p:cNvSpPr>
            <a:spLocks noGrp="1"/>
          </p:cNvSpPr>
          <p:nvPr>
            <p:ph type="sldNum" idx="22"/>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C6E0E65-69C0-423B-A974-99B7AD67829E}"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alpha val="80000"/>
                </a:srgbClr>
              </a:gs>
              <a:gs pos="100000">
                <a:srgbClr val="111111">
                  <a:alpha val="60000"/>
                </a:srgbClr>
              </a:gs>
            </a:gsLst>
            <a:lin ang="2700000"/>
          </a:gradFill>
          <a:ln w="0">
            <a:noFill/>
          </a:ln>
        </p:spPr>
        <p:style>
          <a:lnRef idx="0"/>
          <a:fillRef idx="0"/>
          <a:effectRef idx="0"/>
          <a:fontRef idx="minor"/>
        </p:style>
      </p:sp>
      <p:sp>
        <p:nvSpPr>
          <p:cNvPr id="46" name="Shape 1"/>
          <p:cNvSpPr/>
          <p:nvPr/>
        </p:nvSpPr>
        <p:spPr>
          <a:xfrm>
            <a:off x="385920" y="763920"/>
            <a:ext cx="2816280" cy="387360"/>
          </a:xfrm>
          <a:custGeom>
            <a:avLst/>
            <a:gdLst/>
            <a:ah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7" name="Text 2"/>
          <p:cNvSpPr/>
          <p:nvPr/>
        </p:nvSpPr>
        <p:spPr>
          <a:xfrm>
            <a:off x="581040" y="844920"/>
            <a:ext cx="250200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35" strike="noStrike">
                <a:solidFill>
                  <a:srgbClr val="c9a36a"/>
                </a:solidFill>
                <a:latin typeface="Quattrocento Sans"/>
                <a:ea typeface="Quattrocento Sans"/>
              </a:rPr>
              <a:t>Art History Lecture</a:t>
            </a:r>
            <a:endParaRPr b="0" lang="en-HK" sz="1200" spc="-1" strike="noStrike">
              <a:latin typeface="Arial"/>
            </a:endParaRPr>
          </a:p>
        </p:txBody>
      </p:sp>
      <p:sp>
        <p:nvSpPr>
          <p:cNvPr id="48" name="Text 3"/>
          <p:cNvSpPr/>
          <p:nvPr/>
        </p:nvSpPr>
        <p:spPr>
          <a:xfrm>
            <a:off x="380880" y="1387800"/>
            <a:ext cx="6950160" cy="2606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7200" spc="-1" strike="noStrike">
                <a:solidFill>
                  <a:srgbClr val="f2f2f2"/>
                </a:solidFill>
                <a:latin typeface="Oranienbaum"/>
                <a:ea typeface="Oranienbaum"/>
              </a:rPr>
              <a:t>V</a:t>
            </a:r>
            <a:r>
              <a:rPr b="1" lang="en-US" sz="7200" spc="-1" strike="noStrike">
                <a:solidFill>
                  <a:srgbClr val="f2f2f2"/>
                </a:solidFill>
                <a:latin typeface="Oranienbaum"/>
                <a:ea typeface="Oranienbaum"/>
              </a:rPr>
              <a:t>ince</a:t>
            </a:r>
            <a:r>
              <a:rPr b="1" i="1" lang="en-US" sz="7200" spc="-1" strike="noStrike">
                <a:solidFill>
                  <a:srgbClr val="f2f2f2"/>
                </a:solidFill>
                <a:latin typeface="Oranienbaum"/>
                <a:ea typeface="Oranienbaum"/>
              </a:rPr>
              <a:t>nt van Gogh:</a:t>
            </a:r>
            <a:endParaRPr b="0" lang="en-HK" sz="7200" spc="-1" strike="noStrike">
              <a:latin typeface="Arial"/>
            </a:endParaRPr>
          </a:p>
          <a:p>
            <a:pPr>
              <a:lnSpc>
                <a:spcPct val="80000"/>
              </a:lnSpc>
              <a:buNone/>
            </a:pPr>
            <a:r>
              <a:rPr b="1" i="1" lang="en-US" sz="7200" spc="-1" strike="noStrike">
                <a:solidFill>
                  <a:srgbClr val="c9a36a"/>
                </a:solidFill>
                <a:latin typeface="Oranienbaum"/>
                <a:ea typeface="Oranienbaum"/>
              </a:rPr>
              <a:t>A Life of Passionand Color</a:t>
            </a:r>
            <a:endParaRPr b="0" lang="en-HK" sz="7200" spc="-1" strike="noStrike">
              <a:latin typeface="Arial"/>
            </a:endParaRPr>
          </a:p>
        </p:txBody>
      </p:sp>
      <p:sp>
        <p:nvSpPr>
          <p:cNvPr id="49" name="Shape 4"/>
          <p:cNvSpPr/>
          <p:nvPr/>
        </p:nvSpPr>
        <p:spPr>
          <a:xfrm>
            <a:off x="380880" y="4298400"/>
            <a:ext cx="1520640" cy="25200"/>
          </a:xfrm>
          <a:custGeom>
            <a:avLst/>
            <a:gdLst/>
            <a:ahLst/>
            <a:rect l="l" t="t" r="r" b="b"/>
            <a:pathLst>
              <a:path w="1524000" h="28575">
                <a:moveTo>
                  <a:pt x="0" y="0"/>
                </a:moveTo>
                <a:lnTo>
                  <a:pt x="1524000" y="0"/>
                </a:lnTo>
                <a:lnTo>
                  <a:pt x="1524000" y="28575"/>
                </a:lnTo>
                <a:lnTo>
                  <a:pt x="0" y="28575"/>
                </a:lnTo>
                <a:lnTo>
                  <a:pt x="0" y="0"/>
                </a:lnTo>
                <a:close/>
              </a:path>
            </a:pathLst>
          </a:custGeom>
          <a:solidFill>
            <a:srgbClr val="c9a36a"/>
          </a:solidFill>
          <a:ln w="0">
            <a:noFill/>
          </a:ln>
        </p:spPr>
        <p:style>
          <a:lnRef idx="0"/>
          <a:fillRef idx="0"/>
          <a:effectRef idx="0"/>
          <a:fontRef idx="minor"/>
        </p:style>
      </p:sp>
      <p:sp>
        <p:nvSpPr>
          <p:cNvPr id="50" name="Text 5"/>
          <p:cNvSpPr/>
          <p:nvPr/>
        </p:nvSpPr>
        <p:spPr>
          <a:xfrm>
            <a:off x="380880" y="4631760"/>
            <a:ext cx="6512040" cy="73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b8b8b8"/>
                </a:solidFill>
                <a:latin typeface="Quattrocento Sans"/>
                <a:ea typeface="Quattrocento Sans"/>
              </a:rPr>
              <a:t>Exploring the Art, Struggles, and Legacy of a Post-Impressionist Master</a:t>
            </a:r>
            <a:endParaRPr b="0" lang="en-HK" sz="1800" spc="-1" strike="noStrike">
              <a:latin typeface="Arial"/>
            </a:endParaRPr>
          </a:p>
        </p:txBody>
      </p:sp>
      <p:sp>
        <p:nvSpPr>
          <p:cNvPr id="51" name="Shape 6"/>
          <p:cNvSpPr/>
          <p:nvPr/>
        </p:nvSpPr>
        <p:spPr>
          <a:xfrm>
            <a:off x="416880" y="5870160"/>
            <a:ext cx="163440" cy="187200"/>
          </a:xfrm>
          <a:custGeom>
            <a:avLst/>
            <a:gdLst/>
            <a:ah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w="0">
            <a:noFill/>
          </a:ln>
        </p:spPr>
        <p:style>
          <a:lnRef idx="0"/>
          <a:fillRef idx="0"/>
          <a:effectRef idx="0"/>
          <a:fontRef idx="minor"/>
        </p:style>
      </p:sp>
      <p:sp>
        <p:nvSpPr>
          <p:cNvPr id="52" name="Text 7"/>
          <p:cNvSpPr/>
          <p:nvPr/>
        </p:nvSpPr>
        <p:spPr>
          <a:xfrm>
            <a:off x="733320" y="5832000"/>
            <a:ext cx="939600" cy="263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1853 - 1890</a:t>
            </a:r>
            <a:endParaRPr b="0" lang="en-HK" sz="1350" spc="-1" strike="noStrike">
              <a:latin typeface="Arial"/>
            </a:endParaRPr>
          </a:p>
        </p:txBody>
      </p:sp>
      <p:sp>
        <p:nvSpPr>
          <p:cNvPr id="53" name="Shape 8"/>
          <p:cNvSpPr/>
          <p:nvPr/>
        </p:nvSpPr>
        <p:spPr>
          <a:xfrm>
            <a:off x="1919160" y="5870160"/>
            <a:ext cx="187200" cy="187200"/>
          </a:xfrm>
          <a:custGeom>
            <a:avLst/>
            <a:gdLst/>
            <a:ah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w="0">
            <a:noFill/>
          </a:ln>
        </p:spPr>
        <p:style>
          <a:lnRef idx="0"/>
          <a:fillRef idx="0"/>
          <a:effectRef idx="0"/>
          <a:fontRef idx="minor"/>
        </p:style>
      </p:sp>
      <p:sp>
        <p:nvSpPr>
          <p:cNvPr id="54" name="Text 9"/>
          <p:cNvSpPr/>
          <p:nvPr/>
        </p:nvSpPr>
        <p:spPr>
          <a:xfrm>
            <a:off x="2247840" y="5832000"/>
            <a:ext cx="1415880" cy="263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860+ Oil Paintings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5" name="Text 0"/>
          <p:cNvSpPr/>
          <p:nvPr/>
        </p:nvSpPr>
        <p:spPr>
          <a:xfrm>
            <a:off x="380880" y="380880"/>
            <a:ext cx="1150308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200" spc="276" strike="noStrike">
                <a:solidFill>
                  <a:srgbClr val="c9a36a"/>
                </a:solidFill>
                <a:latin typeface="Quattrocento Sans"/>
                <a:ea typeface="Quattrocento Sans"/>
              </a:rPr>
              <a:t>Lecture Overview</a:t>
            </a:r>
            <a:endParaRPr b="0" lang="en-HK" sz="1200" spc="-1" strike="noStrike">
              <a:latin typeface="Arial"/>
            </a:endParaRPr>
          </a:p>
        </p:txBody>
      </p:sp>
      <p:sp>
        <p:nvSpPr>
          <p:cNvPr id="56" name="Text 1"/>
          <p:cNvSpPr/>
          <p:nvPr/>
        </p:nvSpPr>
        <p:spPr>
          <a:xfrm>
            <a:off x="380880" y="723960"/>
            <a:ext cx="1171260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f2f2f2"/>
                </a:solidFill>
                <a:latin typeface="Oranienbaum"/>
                <a:ea typeface="Oranienbaum"/>
              </a:rPr>
              <a:t>C</a:t>
            </a:r>
            <a:r>
              <a:rPr b="0" lang="en-US" sz="4500" spc="-1" strike="noStrike">
                <a:solidFill>
                  <a:srgbClr val="f2f2f2"/>
                </a:solidFill>
                <a:latin typeface="Oranienbaum"/>
                <a:ea typeface="Oranienbaum"/>
              </a:rPr>
              <a:t>ontent</a:t>
            </a:r>
            <a:r>
              <a:rPr b="1" i="1" lang="en-US" sz="4500" spc="-1" strike="noStrike">
                <a:solidFill>
                  <a:srgbClr val="f2f2f2"/>
                </a:solidFill>
                <a:latin typeface="Oranienbaum"/>
                <a:ea typeface="Oranienbaum"/>
              </a:rPr>
              <a:t>s</a:t>
            </a:r>
            <a:endParaRPr b="0" lang="en-HK" sz="4500" spc="-1" strike="noStrike">
              <a:latin typeface="Arial"/>
            </a:endParaRPr>
          </a:p>
        </p:txBody>
      </p:sp>
      <p:sp>
        <p:nvSpPr>
          <p:cNvPr id="57" name="Shape 2"/>
          <p:cNvSpPr/>
          <p:nvPr/>
        </p:nvSpPr>
        <p:spPr>
          <a:xfrm>
            <a:off x="380880" y="1486080"/>
            <a:ext cx="1216080" cy="25200"/>
          </a:xfrm>
          <a:custGeom>
            <a:avLst/>
            <a:gdLst/>
            <a:ahLst/>
            <a:rect l="l" t="t" r="r" b="b"/>
            <a:pathLst>
              <a:path w="1219200" h="28575">
                <a:moveTo>
                  <a:pt x="0" y="0"/>
                </a:moveTo>
                <a:lnTo>
                  <a:pt x="1219200" y="0"/>
                </a:lnTo>
                <a:lnTo>
                  <a:pt x="1219200" y="28575"/>
                </a:lnTo>
                <a:lnTo>
                  <a:pt x="0" y="28575"/>
                </a:lnTo>
                <a:lnTo>
                  <a:pt x="0" y="0"/>
                </a:lnTo>
                <a:close/>
              </a:path>
            </a:pathLst>
          </a:custGeom>
          <a:solidFill>
            <a:srgbClr val="c9a36a"/>
          </a:solidFill>
          <a:ln w="0">
            <a:noFill/>
          </a:ln>
        </p:spPr>
        <p:style>
          <a:lnRef idx="0"/>
          <a:fillRef idx="0"/>
          <a:effectRef idx="0"/>
          <a:fontRef idx="minor"/>
        </p:style>
      </p:sp>
      <p:sp>
        <p:nvSpPr>
          <p:cNvPr id="58" name="Shape 3"/>
          <p:cNvSpPr/>
          <p:nvPr/>
        </p:nvSpPr>
        <p:spPr>
          <a:xfrm>
            <a:off x="399960" y="181944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59" name="Shape 4"/>
          <p:cNvSpPr/>
          <p:nvPr/>
        </p:nvSpPr>
        <p:spPr>
          <a:xfrm>
            <a:off x="399960" y="181944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0" name="Shape 5"/>
          <p:cNvSpPr/>
          <p:nvPr/>
        </p:nvSpPr>
        <p:spPr>
          <a:xfrm>
            <a:off x="647640" y="204804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1" name="Text 6"/>
          <p:cNvSpPr/>
          <p:nvPr/>
        </p:nvSpPr>
        <p:spPr>
          <a:xfrm>
            <a:off x="798480" y="2143080"/>
            <a:ext cx="36828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01</a:t>
            </a:r>
            <a:endParaRPr b="0" lang="en-HK" sz="2250" spc="-1" strike="noStrike">
              <a:latin typeface="Arial"/>
            </a:endParaRPr>
          </a:p>
        </p:txBody>
      </p:sp>
      <p:sp>
        <p:nvSpPr>
          <p:cNvPr id="62" name="Text 7"/>
          <p:cNvSpPr/>
          <p:nvPr/>
        </p:nvSpPr>
        <p:spPr>
          <a:xfrm>
            <a:off x="1371600" y="204804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Early Life and Artistic Beginnings</a:t>
            </a:r>
            <a:endParaRPr b="0" lang="en-HK" sz="1800" spc="-1" strike="noStrike">
              <a:latin typeface="Arial"/>
            </a:endParaRPr>
          </a:p>
        </p:txBody>
      </p:sp>
      <p:sp>
        <p:nvSpPr>
          <p:cNvPr id="63" name="Text 8"/>
          <p:cNvSpPr/>
          <p:nvPr/>
        </p:nvSpPr>
        <p:spPr>
          <a:xfrm>
            <a:off x="1371600" y="24289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The journey from a troubled youth to a passionate artist</a:t>
            </a:r>
            <a:endParaRPr b="0" lang="en-HK" sz="1200" spc="-1" strike="noStrike">
              <a:latin typeface="Arial"/>
            </a:endParaRPr>
          </a:p>
        </p:txBody>
      </p:sp>
      <p:sp>
        <p:nvSpPr>
          <p:cNvPr id="64" name="Shape 9"/>
          <p:cNvSpPr/>
          <p:nvPr/>
        </p:nvSpPr>
        <p:spPr>
          <a:xfrm>
            <a:off x="6267600" y="181944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65" name="Shape 10"/>
          <p:cNvSpPr/>
          <p:nvPr/>
        </p:nvSpPr>
        <p:spPr>
          <a:xfrm>
            <a:off x="6267600" y="181944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6" name="Shape 11"/>
          <p:cNvSpPr/>
          <p:nvPr/>
        </p:nvSpPr>
        <p:spPr>
          <a:xfrm>
            <a:off x="6515280" y="204804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7" name="Text 12"/>
          <p:cNvSpPr/>
          <p:nvPr/>
        </p:nvSpPr>
        <p:spPr>
          <a:xfrm>
            <a:off x="6639480" y="21430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02</a:t>
            </a:r>
            <a:endParaRPr b="0" lang="en-HK" sz="2250" spc="-1" strike="noStrike">
              <a:latin typeface="Arial"/>
            </a:endParaRPr>
          </a:p>
        </p:txBody>
      </p:sp>
      <p:sp>
        <p:nvSpPr>
          <p:cNvPr id="68" name="Text 13"/>
          <p:cNvSpPr/>
          <p:nvPr/>
        </p:nvSpPr>
        <p:spPr>
          <a:xfrm>
            <a:off x="7238880" y="204804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The Evolution of Style</a:t>
            </a:r>
            <a:endParaRPr b="0" lang="en-HK" sz="1800" spc="-1" strike="noStrike">
              <a:latin typeface="Arial"/>
            </a:endParaRPr>
          </a:p>
        </p:txBody>
      </p:sp>
      <p:sp>
        <p:nvSpPr>
          <p:cNvPr id="69" name="Text 14"/>
          <p:cNvSpPr/>
          <p:nvPr/>
        </p:nvSpPr>
        <p:spPr>
          <a:xfrm>
            <a:off x="7238880" y="24289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From dark realism to vibrant expression across five periods</a:t>
            </a:r>
            <a:endParaRPr b="0" lang="en-HK" sz="1200" spc="-1" strike="noStrike">
              <a:latin typeface="Arial"/>
            </a:endParaRPr>
          </a:p>
        </p:txBody>
      </p:sp>
      <p:sp>
        <p:nvSpPr>
          <p:cNvPr id="70" name="Shape 15"/>
          <p:cNvSpPr/>
          <p:nvPr/>
        </p:nvSpPr>
        <p:spPr>
          <a:xfrm>
            <a:off x="399960" y="335268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1" name="Shape 16"/>
          <p:cNvSpPr/>
          <p:nvPr/>
        </p:nvSpPr>
        <p:spPr>
          <a:xfrm>
            <a:off x="399960" y="335268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2" name="Shape 17"/>
          <p:cNvSpPr/>
          <p:nvPr/>
        </p:nvSpPr>
        <p:spPr>
          <a:xfrm>
            <a:off x="647640" y="35812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3" name="Text 18"/>
          <p:cNvSpPr/>
          <p:nvPr/>
        </p:nvSpPr>
        <p:spPr>
          <a:xfrm>
            <a:off x="771480" y="36766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03</a:t>
            </a:r>
            <a:endParaRPr b="0" lang="en-HK" sz="2250" spc="-1" strike="noStrike">
              <a:latin typeface="Arial"/>
            </a:endParaRPr>
          </a:p>
        </p:txBody>
      </p:sp>
      <p:sp>
        <p:nvSpPr>
          <p:cNvPr id="74" name="Text 19"/>
          <p:cNvSpPr/>
          <p:nvPr/>
        </p:nvSpPr>
        <p:spPr>
          <a:xfrm>
            <a:off x="1371600" y="35812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Masterpieces That Define an Era</a:t>
            </a:r>
            <a:endParaRPr b="0" lang="en-HK" sz="1800" spc="-1" strike="noStrike">
              <a:latin typeface="Arial"/>
            </a:endParaRPr>
          </a:p>
        </p:txBody>
      </p:sp>
      <p:sp>
        <p:nvSpPr>
          <p:cNvPr id="75" name="Text 20"/>
          <p:cNvSpPr/>
          <p:nvPr/>
        </p:nvSpPr>
        <p:spPr>
          <a:xfrm>
            <a:off x="1371600" y="39625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Iconic works that continue to captivate the world</a:t>
            </a:r>
            <a:endParaRPr b="0" lang="en-HK" sz="1200" spc="-1" strike="noStrike">
              <a:latin typeface="Arial"/>
            </a:endParaRPr>
          </a:p>
        </p:txBody>
      </p:sp>
      <p:sp>
        <p:nvSpPr>
          <p:cNvPr id="76" name="Shape 21"/>
          <p:cNvSpPr/>
          <p:nvPr/>
        </p:nvSpPr>
        <p:spPr>
          <a:xfrm>
            <a:off x="6267600" y="335268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7" name="Shape 22"/>
          <p:cNvSpPr/>
          <p:nvPr/>
        </p:nvSpPr>
        <p:spPr>
          <a:xfrm>
            <a:off x="6267600" y="335268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8" name="Shape 23"/>
          <p:cNvSpPr/>
          <p:nvPr/>
        </p:nvSpPr>
        <p:spPr>
          <a:xfrm>
            <a:off x="6515280" y="35812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9" name="Text 24"/>
          <p:cNvSpPr/>
          <p:nvPr/>
        </p:nvSpPr>
        <p:spPr>
          <a:xfrm>
            <a:off x="6632280" y="3676680"/>
            <a:ext cx="43488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04</a:t>
            </a:r>
            <a:endParaRPr b="0" lang="en-HK" sz="2250" spc="-1" strike="noStrike">
              <a:latin typeface="Arial"/>
            </a:endParaRPr>
          </a:p>
        </p:txBody>
      </p:sp>
      <p:sp>
        <p:nvSpPr>
          <p:cNvPr id="80" name="Text 25"/>
          <p:cNvSpPr/>
          <p:nvPr/>
        </p:nvSpPr>
        <p:spPr>
          <a:xfrm>
            <a:off x="7238880" y="35812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Mental Health and the Price of Genius</a:t>
            </a:r>
            <a:endParaRPr b="0" lang="en-HK" sz="1800" spc="-1" strike="noStrike">
              <a:latin typeface="Arial"/>
            </a:endParaRPr>
          </a:p>
        </p:txBody>
      </p:sp>
      <p:sp>
        <p:nvSpPr>
          <p:cNvPr id="81" name="Text 26"/>
          <p:cNvSpPr/>
          <p:nvPr/>
        </p:nvSpPr>
        <p:spPr>
          <a:xfrm>
            <a:off x="7238880" y="39625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The complex relationship between creativity and struggle</a:t>
            </a:r>
            <a:endParaRPr b="0" lang="en-HK" sz="1200" spc="-1" strike="noStrike">
              <a:latin typeface="Arial"/>
            </a:endParaRPr>
          </a:p>
        </p:txBody>
      </p:sp>
      <p:sp>
        <p:nvSpPr>
          <p:cNvPr id="82" name="Shape 27"/>
          <p:cNvSpPr/>
          <p:nvPr/>
        </p:nvSpPr>
        <p:spPr>
          <a:xfrm>
            <a:off x="399960" y="4886280"/>
            <a:ext cx="5540400" cy="158760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3" name="Shape 28"/>
          <p:cNvSpPr/>
          <p:nvPr/>
        </p:nvSpPr>
        <p:spPr>
          <a:xfrm>
            <a:off x="399960" y="4886280"/>
            <a:ext cx="34920" cy="158760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84" name="Shape 29"/>
          <p:cNvSpPr/>
          <p:nvPr/>
        </p:nvSpPr>
        <p:spPr>
          <a:xfrm>
            <a:off x="647640" y="51148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85" name="Text 30"/>
          <p:cNvSpPr/>
          <p:nvPr/>
        </p:nvSpPr>
        <p:spPr>
          <a:xfrm>
            <a:off x="772920" y="52102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05</a:t>
            </a:r>
            <a:endParaRPr b="0" lang="en-HK" sz="2250" spc="-1" strike="noStrike">
              <a:latin typeface="Arial"/>
            </a:endParaRPr>
          </a:p>
        </p:txBody>
      </p:sp>
      <p:sp>
        <p:nvSpPr>
          <p:cNvPr id="86" name="Text 31"/>
          <p:cNvSpPr/>
          <p:nvPr/>
        </p:nvSpPr>
        <p:spPr>
          <a:xfrm>
            <a:off x="1371600" y="51148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The Unbreakable Bond</a:t>
            </a:r>
            <a:endParaRPr b="0" lang="en-HK" sz="1800" spc="-1" strike="noStrike">
              <a:latin typeface="Arial"/>
            </a:endParaRPr>
          </a:p>
        </p:txBody>
      </p:sp>
      <p:sp>
        <p:nvSpPr>
          <p:cNvPr id="87" name="Text 32"/>
          <p:cNvSpPr/>
          <p:nvPr/>
        </p:nvSpPr>
        <p:spPr>
          <a:xfrm>
            <a:off x="1371600" y="549576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Vincent and Theo: A brotherhood that sustained genius</a:t>
            </a:r>
            <a:endParaRPr b="0" lang="en-HK" sz="1200" spc="-1" strike="noStrike">
              <a:latin typeface="Arial"/>
            </a:endParaRPr>
          </a:p>
        </p:txBody>
      </p:sp>
      <p:sp>
        <p:nvSpPr>
          <p:cNvPr id="88" name="Shape 33"/>
          <p:cNvSpPr/>
          <p:nvPr/>
        </p:nvSpPr>
        <p:spPr>
          <a:xfrm>
            <a:off x="6267600" y="4886280"/>
            <a:ext cx="5540400" cy="158760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9" name="Shape 34"/>
          <p:cNvSpPr/>
          <p:nvPr/>
        </p:nvSpPr>
        <p:spPr>
          <a:xfrm>
            <a:off x="6267600" y="4886280"/>
            <a:ext cx="34920" cy="158760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90" name="Shape 35"/>
          <p:cNvSpPr/>
          <p:nvPr/>
        </p:nvSpPr>
        <p:spPr>
          <a:xfrm>
            <a:off x="6515280" y="51148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91" name="Text 36"/>
          <p:cNvSpPr/>
          <p:nvPr/>
        </p:nvSpPr>
        <p:spPr>
          <a:xfrm>
            <a:off x="6636600" y="52102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2250" spc="-1" strike="noStrike">
                <a:solidFill>
                  <a:srgbClr val="c9a36a"/>
                </a:solidFill>
                <a:latin typeface="Oranienbaum"/>
                <a:ea typeface="Oranienbaum"/>
              </a:rPr>
              <a:t>06</a:t>
            </a:r>
            <a:endParaRPr b="0" lang="en-HK" sz="2250" spc="-1" strike="noStrike">
              <a:latin typeface="Arial"/>
            </a:endParaRPr>
          </a:p>
        </p:txBody>
      </p:sp>
      <p:sp>
        <p:nvSpPr>
          <p:cNvPr id="92" name="Text 37"/>
          <p:cNvSpPr/>
          <p:nvPr/>
        </p:nvSpPr>
        <p:spPr>
          <a:xfrm>
            <a:off x="7238880" y="51148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800" spc="-1" strike="noStrike">
                <a:solidFill>
                  <a:srgbClr val="f2f2f2"/>
                </a:solidFill>
                <a:latin typeface="Oranienbaum"/>
                <a:ea typeface="Oranienbaum"/>
              </a:rPr>
              <a:t>Enduring Legacy and Influence</a:t>
            </a:r>
            <a:endParaRPr b="0" lang="en-HK" sz="1800" spc="-1" strike="noStrike">
              <a:latin typeface="Arial"/>
            </a:endParaRPr>
          </a:p>
        </p:txBody>
      </p:sp>
      <p:sp>
        <p:nvSpPr>
          <p:cNvPr id="93" name="Text 38"/>
          <p:cNvSpPr/>
          <p:nvPr/>
        </p:nvSpPr>
        <p:spPr>
          <a:xfrm>
            <a:off x="7238880" y="5495760"/>
            <a:ext cx="441648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200" spc="-1" strike="noStrike">
                <a:solidFill>
                  <a:srgbClr val="b8b8b8"/>
                </a:solidFill>
                <a:latin typeface="Quattrocento Sans"/>
                <a:ea typeface="Quattrocento Sans"/>
              </a:rPr>
              <a:t>From obscurity to becoming one of history's most celebrated artists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9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96" name="Shape 1"/>
          <p:cNvSpPr/>
          <p:nvPr/>
        </p:nvSpPr>
        <p:spPr>
          <a:xfrm>
            <a:off x="385920" y="1231200"/>
            <a:ext cx="930240" cy="806400"/>
          </a:xfrm>
          <a:custGeom>
            <a:avLst/>
            <a:gdLst/>
            <a:ah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97" name="Text 2"/>
          <p:cNvSpPr/>
          <p:nvPr/>
        </p:nvSpPr>
        <p:spPr>
          <a:xfrm>
            <a:off x="619200" y="1307160"/>
            <a:ext cx="74556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01</a:t>
            </a:r>
            <a:endParaRPr b="0" lang="en-HK" sz="4500" spc="-1" strike="noStrike">
              <a:latin typeface="Arial"/>
            </a:endParaRPr>
          </a:p>
        </p:txBody>
      </p:sp>
      <p:sp>
        <p:nvSpPr>
          <p:cNvPr id="98" name="Text 3"/>
          <p:cNvSpPr/>
          <p:nvPr/>
        </p:nvSpPr>
        <p:spPr>
          <a:xfrm>
            <a:off x="38088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5400" spc="-1" strike="noStrike">
                <a:solidFill>
                  <a:srgbClr val="f2f2f2"/>
                </a:solidFill>
                <a:latin typeface="Oranienbaum"/>
                <a:ea typeface="Oranienbaum"/>
              </a:rPr>
              <a:t>Early Life and</a:t>
            </a:r>
            <a:endParaRPr b="0" lang="en-HK" sz="5400" spc="-1" strike="noStrike">
              <a:latin typeface="Arial"/>
            </a:endParaRPr>
          </a:p>
          <a:p>
            <a:pPr>
              <a:lnSpc>
                <a:spcPct val="100000"/>
              </a:lnSpc>
              <a:buNone/>
            </a:pPr>
            <a:r>
              <a:rPr b="0" lang="en-US" sz="5400" spc="-1" strike="noStrike">
                <a:solidFill>
                  <a:srgbClr val="f2f2f2"/>
                </a:solidFill>
                <a:latin typeface="Oranienbaum"/>
                <a:ea typeface="Oranienbaum"/>
              </a:rPr>
              <a:t>Artistic Beginning</a:t>
            </a:r>
            <a:r>
              <a:rPr b="1" i="1" lang="en-US" sz="5400" spc="-1" strike="noStrike">
                <a:solidFill>
                  <a:srgbClr val="f2f2f2"/>
                </a:solidFill>
                <a:latin typeface="Oranienbaum"/>
                <a:ea typeface="Oranienbaum"/>
              </a:rPr>
              <a:t>s</a:t>
            </a:r>
            <a:endParaRPr b="0" lang="en-HK" sz="5400" spc="-1" strike="noStrike">
              <a:latin typeface="Arial"/>
            </a:endParaRPr>
          </a:p>
        </p:txBody>
      </p:sp>
      <p:sp>
        <p:nvSpPr>
          <p:cNvPr id="99"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00"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2250" spc="-1" strike="noStrike">
                <a:solidFill>
                  <a:srgbClr val="b8b8b8"/>
                </a:solidFill>
                <a:latin typeface="Quattrocento Sans"/>
                <a:ea typeface="Quattrocento Sans"/>
              </a:rPr>
              <a:t>The journey from a troubled youth to a passionate artist</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1" name="Text 0"/>
          <p:cNvSpPr/>
          <p:nvPr/>
        </p:nvSpPr>
        <p:spPr>
          <a:xfrm>
            <a:off x="353520" y="353520"/>
            <a:ext cx="1155276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199" strike="noStrike">
                <a:solidFill>
                  <a:srgbClr val="c9a36a"/>
                </a:solidFill>
                <a:latin typeface="Quattrocento Sans"/>
                <a:ea typeface="Quattrocento Sans"/>
              </a:rPr>
              <a:t>Chapter 01</a:t>
            </a:r>
            <a:endParaRPr b="0" lang="en-HK" sz="1110" spc="-1" strike="noStrike">
              <a:latin typeface="Arial"/>
            </a:endParaRPr>
          </a:p>
        </p:txBody>
      </p:sp>
      <p:sp>
        <p:nvSpPr>
          <p:cNvPr id="102" name="Text 1"/>
          <p:cNvSpPr/>
          <p:nvPr/>
        </p:nvSpPr>
        <p:spPr>
          <a:xfrm>
            <a:off x="7200000" y="636120"/>
            <a:ext cx="4847400" cy="420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340" spc="-1" strike="noStrike">
                <a:solidFill>
                  <a:srgbClr val="f2f2f2"/>
                </a:solidFill>
                <a:latin typeface="Oranienbaum"/>
                <a:ea typeface="Oranienbaum"/>
              </a:rPr>
              <a:t>From Zundert to the Canvas</a:t>
            </a:r>
            <a:endParaRPr b="0" lang="en-HK" sz="3340" spc="-1" strike="noStrike">
              <a:latin typeface="Arial"/>
            </a:endParaRPr>
          </a:p>
        </p:txBody>
      </p:sp>
      <p:sp>
        <p:nvSpPr>
          <p:cNvPr id="103" name="Shape 2"/>
          <p:cNvSpPr/>
          <p:nvPr/>
        </p:nvSpPr>
        <p:spPr>
          <a:xfrm>
            <a:off x="353520" y="1201680"/>
            <a:ext cx="986400" cy="14400"/>
          </a:xfrm>
          <a:custGeom>
            <a:avLst/>
            <a:gdLst/>
            <a:ahLst/>
            <a:rect l="l" t="t" r="r" b="b"/>
            <a:pathLst>
              <a:path w="989496" h="17670">
                <a:moveTo>
                  <a:pt x="0" y="0"/>
                </a:moveTo>
                <a:lnTo>
                  <a:pt x="989496" y="0"/>
                </a:lnTo>
                <a:lnTo>
                  <a:pt x="989496" y="17670"/>
                </a:lnTo>
                <a:lnTo>
                  <a:pt x="0" y="17670"/>
                </a:lnTo>
                <a:lnTo>
                  <a:pt x="0" y="0"/>
                </a:lnTo>
                <a:close/>
              </a:path>
            </a:pathLst>
          </a:custGeom>
          <a:solidFill>
            <a:srgbClr val="c9a36a"/>
          </a:solidFill>
          <a:ln w="0">
            <a:noFill/>
          </a:ln>
        </p:spPr>
        <p:style>
          <a:lnRef idx="0"/>
          <a:fillRef idx="0"/>
          <a:effectRef idx="0"/>
          <a:fontRef idx="minor"/>
        </p:style>
      </p:sp>
      <p:sp>
        <p:nvSpPr>
          <p:cNvPr id="104" name="Shape 3"/>
          <p:cNvSpPr/>
          <p:nvPr/>
        </p:nvSpPr>
        <p:spPr>
          <a:xfrm>
            <a:off x="366480" y="1431360"/>
            <a:ext cx="6185520" cy="1763640"/>
          </a:xfrm>
          <a:custGeom>
            <a:avLst/>
            <a:gdLst/>
            <a:ah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05" name="Shape 4"/>
          <p:cNvSpPr/>
          <p:nvPr/>
        </p:nvSpPr>
        <p:spPr>
          <a:xfrm>
            <a:off x="366480" y="1431360"/>
            <a:ext cx="23400" cy="1763640"/>
          </a:xfrm>
          <a:custGeom>
            <a:avLst/>
            <a:gdLst/>
            <a:ah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06" name="Shape 5"/>
          <p:cNvSpPr/>
          <p:nvPr/>
        </p:nvSpPr>
        <p:spPr>
          <a:xfrm>
            <a:off x="644760" y="1678680"/>
            <a:ext cx="155880" cy="208800"/>
          </a:xfrm>
          <a:custGeom>
            <a:avLst/>
            <a:gdLst/>
            <a:ah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w="0">
            <a:noFill/>
          </a:ln>
        </p:spPr>
        <p:style>
          <a:lnRef idx="0"/>
          <a:fillRef idx="0"/>
          <a:effectRef idx="0"/>
          <a:fontRef idx="minor"/>
        </p:style>
      </p:sp>
      <p:sp>
        <p:nvSpPr>
          <p:cNvPr id="107" name="Text 6"/>
          <p:cNvSpPr/>
          <p:nvPr/>
        </p:nvSpPr>
        <p:spPr>
          <a:xfrm>
            <a:off x="963000" y="1643400"/>
            <a:ext cx="178128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70" spc="-1" strike="noStrike">
                <a:solidFill>
                  <a:srgbClr val="f2f2f2"/>
                </a:solidFill>
                <a:latin typeface="Oranienbaum"/>
                <a:ea typeface="Oranienbaum"/>
              </a:rPr>
              <a:t>Birth and Childhood</a:t>
            </a:r>
            <a:endParaRPr b="0" lang="en-HK" sz="1670" spc="-1" strike="noStrike">
              <a:latin typeface="Arial"/>
            </a:endParaRPr>
          </a:p>
        </p:txBody>
      </p:sp>
      <p:sp>
        <p:nvSpPr>
          <p:cNvPr id="108" name="Text 7"/>
          <p:cNvSpPr/>
          <p:nvPr/>
        </p:nvSpPr>
        <p:spPr>
          <a:xfrm>
            <a:off x="591840" y="2067480"/>
            <a:ext cx="5819040" cy="915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2f2f2"/>
                </a:solidFill>
                <a:latin typeface="Quattrocento Sans"/>
                <a:ea typeface="Quattrocento Sans"/>
              </a:rPr>
              <a:t>March 30, 1853</a:t>
            </a:r>
            <a:r>
              <a:rPr b="0" lang="en-US" sz="1110" spc="-1" strike="noStrike">
                <a:solidFill>
                  <a:srgbClr val="b8b8b8"/>
                </a:solidFill>
                <a:latin typeface="Quattrocento Sans"/>
                <a:ea typeface="Quattrocento Sans"/>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b="0" lang="en-HK" sz="1110" spc="-1" strike="noStrike">
              <a:latin typeface="Arial"/>
            </a:endParaRPr>
          </a:p>
        </p:txBody>
      </p:sp>
      <p:sp>
        <p:nvSpPr>
          <p:cNvPr id="109" name="Shape 8"/>
          <p:cNvSpPr/>
          <p:nvPr/>
        </p:nvSpPr>
        <p:spPr>
          <a:xfrm>
            <a:off x="366480" y="3375000"/>
            <a:ext cx="6185520" cy="153396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0" name="Shape 9"/>
          <p:cNvSpPr/>
          <p:nvPr/>
        </p:nvSpPr>
        <p:spPr>
          <a:xfrm>
            <a:off x="366480" y="3375000"/>
            <a:ext cx="23400" cy="153396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1" name="Shape 10"/>
          <p:cNvSpPr/>
          <p:nvPr/>
        </p:nvSpPr>
        <p:spPr>
          <a:xfrm>
            <a:off x="618480" y="3622320"/>
            <a:ext cx="208800" cy="208800"/>
          </a:xfrm>
          <a:custGeom>
            <a:avLst/>
            <a:gdLst/>
            <a:ah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w="0">
            <a:noFill/>
          </a:ln>
        </p:spPr>
        <p:style>
          <a:lnRef idx="0"/>
          <a:fillRef idx="0"/>
          <a:effectRef idx="0"/>
          <a:fontRef idx="minor"/>
        </p:style>
      </p:sp>
      <p:sp>
        <p:nvSpPr>
          <p:cNvPr id="112" name="Text 11"/>
          <p:cNvSpPr/>
          <p:nvPr/>
        </p:nvSpPr>
        <p:spPr>
          <a:xfrm>
            <a:off x="963000" y="3587040"/>
            <a:ext cx="149868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70" spc="-1" strike="noStrike">
                <a:solidFill>
                  <a:srgbClr val="f2f2f2"/>
                </a:solidFill>
                <a:latin typeface="Oranienbaum"/>
                <a:ea typeface="Oranienbaum"/>
              </a:rPr>
              <a:t>Career Struggles</a:t>
            </a:r>
            <a:endParaRPr b="0" lang="en-HK" sz="1670" spc="-1" strike="noStrike">
              <a:latin typeface="Arial"/>
            </a:endParaRPr>
          </a:p>
        </p:txBody>
      </p:sp>
      <p:sp>
        <p:nvSpPr>
          <p:cNvPr id="113" name="Text 12"/>
          <p:cNvSpPr/>
          <p:nvPr/>
        </p:nvSpPr>
        <p:spPr>
          <a:xfrm>
            <a:off x="591840" y="4011120"/>
            <a:ext cx="5819040" cy="68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10" spc="-1" strike="noStrike">
                <a:solidFill>
                  <a:srgbClr val="b8b8b8"/>
                </a:solidFill>
                <a:latin typeface="Quattrocento Sans"/>
                <a:ea typeface="Quattrocento Sans"/>
              </a:rPr>
              <a:t>Before becoming an artist, Van Gogh tried multiple careers: </a:t>
            </a:r>
            <a:r>
              <a:rPr b="1" i="1" lang="en-US" sz="1110" spc="-1" strike="noStrike">
                <a:solidFill>
                  <a:srgbClr val="f2f2f2"/>
                </a:solidFill>
                <a:latin typeface="Quattrocento Sans"/>
                <a:ea typeface="Quattrocento Sans"/>
              </a:rPr>
              <a:t>art dealer at Goupil &amp; Cie</a:t>
            </a:r>
            <a:r>
              <a:rPr b="1" i="1" lang="en-US" sz="1110" spc="-1" strike="noStrike">
                <a:solidFill>
                  <a:srgbClr val="b8b8b8"/>
                </a:solidFill>
                <a:latin typeface="Quattrocento Sans"/>
                <a:ea typeface="Quattrocento Sans"/>
              </a:rPr>
              <a:t> (The Hague, London, Paris), </a:t>
            </a:r>
            <a:r>
              <a:rPr b="1" i="1" lang="en-US" sz="1110" spc="-1" strike="noStrike">
                <a:solidFill>
                  <a:srgbClr val="f2f2f2"/>
                </a:solidFill>
                <a:latin typeface="Quattrocento Sans"/>
                <a:ea typeface="Quattrocento Sans"/>
              </a:rPr>
              <a:t>teacher in England</a:t>
            </a:r>
            <a:r>
              <a:rPr b="1" i="1" lang="en-US" sz="1110" spc="-1" strike="noStrike">
                <a:solidFill>
                  <a:srgbClr val="b8b8b8"/>
                </a:solidFill>
                <a:latin typeface="Quattrocento Sans"/>
                <a:ea typeface="Quattrocento Sans"/>
              </a:rPr>
              <a:t>, and </a:t>
            </a:r>
            <a:r>
              <a:rPr b="1" i="1" lang="en-US" sz="1110" spc="-1" strike="noStrike">
                <a:solidFill>
                  <a:srgbClr val="f2f2f2"/>
                </a:solidFill>
                <a:latin typeface="Quattrocento Sans"/>
                <a:ea typeface="Quattrocento Sans"/>
              </a:rPr>
              <a:t>preacher among poor miners in Belgium</a:t>
            </a:r>
            <a:r>
              <a:rPr b="1" i="1" lang="en-US" sz="1110" spc="-1" strike="noStrike">
                <a:solidFill>
                  <a:srgbClr val="b8b8b8"/>
                </a:solidFill>
                <a:latin typeface="Quattrocento Sans"/>
                <a:ea typeface="Quattrocento Sans"/>
              </a:rPr>
              <a:t>. Each attempt ended in failure or dismissal, deepening his sense of isolation and purposelessness.</a:t>
            </a:r>
            <a:endParaRPr b="0" lang="en-HK" sz="1110" spc="-1" strike="noStrike">
              <a:latin typeface="Arial"/>
            </a:endParaRPr>
          </a:p>
        </p:txBody>
      </p:sp>
      <p:sp>
        <p:nvSpPr>
          <p:cNvPr id="114" name="Shape 13"/>
          <p:cNvSpPr/>
          <p:nvPr/>
        </p:nvSpPr>
        <p:spPr>
          <a:xfrm>
            <a:off x="366480" y="5088960"/>
            <a:ext cx="6185520" cy="153396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5" name="Shape 14"/>
          <p:cNvSpPr/>
          <p:nvPr/>
        </p:nvSpPr>
        <p:spPr>
          <a:xfrm>
            <a:off x="366480" y="5088960"/>
            <a:ext cx="23400" cy="153396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6" name="Shape 15"/>
          <p:cNvSpPr/>
          <p:nvPr/>
        </p:nvSpPr>
        <p:spPr>
          <a:xfrm>
            <a:off x="605160" y="5336280"/>
            <a:ext cx="235440" cy="208800"/>
          </a:xfrm>
          <a:custGeom>
            <a:avLst/>
            <a:gdLst/>
            <a:ah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w="0">
            <a:noFill/>
          </a:ln>
        </p:spPr>
        <p:style>
          <a:lnRef idx="0"/>
          <a:fillRef idx="0"/>
          <a:effectRef idx="0"/>
          <a:fontRef idx="minor"/>
        </p:style>
      </p:sp>
      <p:sp>
        <p:nvSpPr>
          <p:cNvPr id="117" name="Text 16"/>
          <p:cNvSpPr/>
          <p:nvPr/>
        </p:nvSpPr>
        <p:spPr>
          <a:xfrm>
            <a:off x="963000" y="5301000"/>
            <a:ext cx="162252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70" spc="-1" strike="noStrike">
                <a:solidFill>
                  <a:srgbClr val="f2f2f2"/>
                </a:solidFill>
                <a:latin typeface="Oranienbaum"/>
                <a:ea typeface="Oranienbaum"/>
              </a:rPr>
              <a:t>The Turning Point</a:t>
            </a:r>
            <a:endParaRPr b="0" lang="en-HK" sz="1670" spc="-1" strike="noStrike">
              <a:latin typeface="Arial"/>
            </a:endParaRPr>
          </a:p>
        </p:txBody>
      </p:sp>
      <p:sp>
        <p:nvSpPr>
          <p:cNvPr id="118" name="Text 17"/>
          <p:cNvSpPr/>
          <p:nvPr/>
        </p:nvSpPr>
        <p:spPr>
          <a:xfrm>
            <a:off x="591840" y="5725080"/>
            <a:ext cx="5819040" cy="68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10" spc="-1" strike="noStrike">
                <a:solidFill>
                  <a:srgbClr val="f2f2f2"/>
                </a:solidFill>
                <a:latin typeface="Quattrocento Sans"/>
                <a:ea typeface="Quattrocento Sans"/>
              </a:rPr>
              <a:t>1880, Age 27</a:t>
            </a:r>
            <a:r>
              <a:rPr b="1" i="1" lang="en-US" sz="1110" spc="-1" strike="noStrike">
                <a:solidFill>
                  <a:srgbClr val="b8b8b8"/>
                </a:solidFill>
                <a:latin typeface="Quattrocento Sans"/>
                <a:ea typeface="Quattrocento Sans"/>
              </a:rPr>
              <a:t> — After years of wandering and despair, Van Gogh finally committed himself to art. This late start meant he had only </a:t>
            </a:r>
            <a:r>
              <a:rPr b="1" i="1" lang="en-US" sz="1110" spc="-1" strike="noStrike">
                <a:solidFill>
                  <a:srgbClr val="c9a36a"/>
                </a:solidFill>
                <a:latin typeface="Quattrocento Sans"/>
                <a:ea typeface="Quattrocento Sans"/>
              </a:rPr>
              <a:t>ten years</a:t>
            </a:r>
            <a:r>
              <a:rPr b="1" i="1" lang="en-US" sz="1110" spc="-1" strike="noStrike">
                <a:solidFill>
                  <a:srgbClr val="b8b8b8"/>
                </a:solidFill>
                <a:latin typeface="Quattrocento Sans"/>
                <a:ea typeface="Quattrocento Sans"/>
              </a:rPr>
              <a:t> to create his entire body of work, making his subsequent productivity all the more remarkable.</a:t>
            </a:r>
            <a:endParaRPr b="0" lang="en-HK" sz="1110" spc="-1" strike="noStrike">
              <a:latin typeface="Arial"/>
            </a:endParaRPr>
          </a:p>
        </p:txBody>
      </p:sp>
      <p:sp>
        <p:nvSpPr>
          <p:cNvPr id="119" name="Shape 18"/>
          <p:cNvSpPr/>
          <p:nvPr/>
        </p:nvSpPr>
        <p:spPr>
          <a:xfrm>
            <a:off x="6763680" y="1431360"/>
            <a:ext cx="5068080" cy="2682360"/>
          </a:xfrm>
          <a:custGeom>
            <a:avLst/>
            <a:gdLst/>
            <a:ah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w="0">
            <a:noFill/>
          </a:ln>
        </p:spPr>
        <p:style>
          <a:lnRef idx="0"/>
          <a:fillRef idx="0"/>
          <a:effectRef idx="0"/>
          <a:fontRef idx="minor"/>
        </p:style>
      </p:sp>
      <p:sp>
        <p:nvSpPr>
          <p:cNvPr id="120" name="Text 19"/>
          <p:cNvSpPr/>
          <p:nvPr/>
        </p:nvSpPr>
        <p:spPr>
          <a:xfrm>
            <a:off x="6975720" y="1643400"/>
            <a:ext cx="4732200" cy="244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390" spc="-1" strike="noStrike">
                <a:solidFill>
                  <a:srgbClr val="c9a36a"/>
                </a:solidFill>
                <a:latin typeface="Oranienbaum"/>
                <a:ea typeface="Oranienbaum"/>
              </a:rPr>
              <a:t>Key Timeline</a:t>
            </a:r>
            <a:endParaRPr b="0" lang="en-HK" sz="1390" spc="-1" strike="noStrike">
              <a:latin typeface="Arial"/>
            </a:endParaRPr>
          </a:p>
        </p:txBody>
      </p:sp>
      <p:sp>
        <p:nvSpPr>
          <p:cNvPr id="121" name="Shape 20"/>
          <p:cNvSpPr/>
          <p:nvPr/>
        </p:nvSpPr>
        <p:spPr>
          <a:xfrm>
            <a:off x="6975720" y="210276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2" name="Text 21"/>
          <p:cNvSpPr/>
          <p:nvPr/>
        </p:nvSpPr>
        <p:spPr>
          <a:xfrm>
            <a:off x="7152120" y="2031840"/>
            <a:ext cx="160452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1" strike="noStrike">
                <a:solidFill>
                  <a:srgbClr val="c9a36a"/>
                </a:solidFill>
                <a:latin typeface="Quattrocento Sans"/>
                <a:ea typeface="Quattrocento Sans"/>
              </a:rPr>
              <a:t>1853</a:t>
            </a:r>
            <a:endParaRPr b="0" lang="en-HK" sz="1110" spc="-1" strike="noStrike">
              <a:latin typeface="Arial"/>
            </a:endParaRPr>
          </a:p>
        </p:txBody>
      </p:sp>
      <p:sp>
        <p:nvSpPr>
          <p:cNvPr id="123" name="Text 22"/>
          <p:cNvSpPr/>
          <p:nvPr/>
        </p:nvSpPr>
        <p:spPr>
          <a:xfrm>
            <a:off x="7152120" y="2243880"/>
            <a:ext cx="15958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80" spc="-1" strike="noStrike">
                <a:solidFill>
                  <a:srgbClr val="b8b8b8"/>
                </a:solidFill>
                <a:latin typeface="Quattrocento Sans"/>
                <a:ea typeface="Quattrocento Sans"/>
              </a:rPr>
              <a:t>Born in Zundert, Netherlands</a:t>
            </a:r>
            <a:endParaRPr b="0" lang="en-HK" sz="980" spc="-1" strike="noStrike">
              <a:latin typeface="Arial"/>
            </a:endParaRPr>
          </a:p>
        </p:txBody>
      </p:sp>
      <p:sp>
        <p:nvSpPr>
          <p:cNvPr id="124" name="Shape 23"/>
          <p:cNvSpPr/>
          <p:nvPr/>
        </p:nvSpPr>
        <p:spPr>
          <a:xfrm>
            <a:off x="6975720" y="259740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5" name="Text 24"/>
          <p:cNvSpPr/>
          <p:nvPr/>
        </p:nvSpPr>
        <p:spPr>
          <a:xfrm>
            <a:off x="7152120" y="2526840"/>
            <a:ext cx="140148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1" strike="noStrike">
                <a:solidFill>
                  <a:srgbClr val="c9a36a"/>
                </a:solidFill>
                <a:latin typeface="Quattrocento Sans"/>
                <a:ea typeface="Quattrocento Sans"/>
              </a:rPr>
              <a:t>1869</a:t>
            </a:r>
            <a:endParaRPr b="0" lang="en-HK" sz="1110" spc="-1" strike="noStrike">
              <a:latin typeface="Arial"/>
            </a:endParaRPr>
          </a:p>
        </p:txBody>
      </p:sp>
      <p:sp>
        <p:nvSpPr>
          <p:cNvPr id="126" name="Text 25"/>
          <p:cNvSpPr/>
          <p:nvPr/>
        </p:nvSpPr>
        <p:spPr>
          <a:xfrm>
            <a:off x="7152120" y="2738880"/>
            <a:ext cx="13924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80" spc="-1" strike="noStrike">
                <a:solidFill>
                  <a:srgbClr val="b8b8b8"/>
                </a:solidFill>
                <a:latin typeface="Quattrocento Sans"/>
                <a:ea typeface="Quattrocento Sans"/>
              </a:rPr>
              <a:t>Begins work as art dealer</a:t>
            </a:r>
            <a:endParaRPr b="0" lang="en-HK" sz="980" spc="-1" strike="noStrike">
              <a:latin typeface="Arial"/>
            </a:endParaRPr>
          </a:p>
        </p:txBody>
      </p:sp>
      <p:sp>
        <p:nvSpPr>
          <p:cNvPr id="127" name="Shape 26"/>
          <p:cNvSpPr/>
          <p:nvPr/>
        </p:nvSpPr>
        <p:spPr>
          <a:xfrm>
            <a:off x="6975720" y="309204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8" name="Text 27"/>
          <p:cNvSpPr/>
          <p:nvPr/>
        </p:nvSpPr>
        <p:spPr>
          <a:xfrm>
            <a:off x="7152120" y="3021480"/>
            <a:ext cx="126900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1" strike="noStrike">
                <a:solidFill>
                  <a:srgbClr val="c9a36a"/>
                </a:solidFill>
                <a:latin typeface="Quattrocento Sans"/>
                <a:ea typeface="Quattrocento Sans"/>
              </a:rPr>
              <a:t>1879</a:t>
            </a:r>
            <a:endParaRPr b="0" lang="en-HK" sz="1110" spc="-1" strike="noStrike">
              <a:latin typeface="Arial"/>
            </a:endParaRPr>
          </a:p>
        </p:txBody>
      </p:sp>
      <p:sp>
        <p:nvSpPr>
          <p:cNvPr id="129" name="Text 28"/>
          <p:cNvSpPr/>
          <p:nvPr/>
        </p:nvSpPr>
        <p:spPr>
          <a:xfrm>
            <a:off x="7152120" y="3233520"/>
            <a:ext cx="126000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80" spc="-1" strike="noStrike">
                <a:solidFill>
                  <a:srgbClr val="b8b8b8"/>
                </a:solidFill>
                <a:latin typeface="Quattrocento Sans"/>
                <a:ea typeface="Quattrocento Sans"/>
              </a:rPr>
              <a:t>Dismissed as preacher</a:t>
            </a:r>
            <a:endParaRPr b="0" lang="en-HK" sz="980" spc="-1" strike="noStrike">
              <a:latin typeface="Arial"/>
            </a:endParaRPr>
          </a:p>
        </p:txBody>
      </p:sp>
      <p:sp>
        <p:nvSpPr>
          <p:cNvPr id="130" name="Shape 29"/>
          <p:cNvSpPr/>
          <p:nvPr/>
        </p:nvSpPr>
        <p:spPr>
          <a:xfrm>
            <a:off x="6975720" y="358704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31" name="Text 30"/>
          <p:cNvSpPr/>
          <p:nvPr/>
        </p:nvSpPr>
        <p:spPr>
          <a:xfrm>
            <a:off x="7152120" y="3516120"/>
            <a:ext cx="136620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1" strike="noStrike">
                <a:solidFill>
                  <a:srgbClr val="c9a36a"/>
                </a:solidFill>
                <a:latin typeface="Quattrocento Sans"/>
                <a:ea typeface="Quattrocento Sans"/>
              </a:rPr>
              <a:t>1880</a:t>
            </a:r>
            <a:endParaRPr b="0" lang="en-HK" sz="1110" spc="-1" strike="noStrike">
              <a:latin typeface="Arial"/>
            </a:endParaRPr>
          </a:p>
        </p:txBody>
      </p:sp>
      <p:sp>
        <p:nvSpPr>
          <p:cNvPr id="132" name="Text 31"/>
          <p:cNvSpPr/>
          <p:nvPr/>
        </p:nvSpPr>
        <p:spPr>
          <a:xfrm>
            <a:off x="7152120" y="3728160"/>
            <a:ext cx="135720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80" spc="-1" strike="noStrike">
                <a:solidFill>
                  <a:srgbClr val="b8b8b8"/>
                </a:solidFill>
                <a:latin typeface="Quattrocento Sans"/>
                <a:ea typeface="Quattrocento Sans"/>
              </a:rPr>
              <a:t>Commits to art at age 27</a:t>
            </a:r>
            <a:endParaRPr b="0" lang="en-HK" sz="980" spc="-1" strike="noStrike">
              <a:latin typeface="Arial"/>
            </a:endParaRPr>
          </a:p>
        </p:txBody>
      </p:sp>
      <p:sp>
        <p:nvSpPr>
          <p:cNvPr id="133" name="Shape 32"/>
          <p:cNvSpPr/>
          <p:nvPr/>
        </p:nvSpPr>
        <p:spPr>
          <a:xfrm>
            <a:off x="6768000" y="4298040"/>
            <a:ext cx="5059080" cy="2320200"/>
          </a:xfrm>
          <a:custGeom>
            <a:avLst/>
            <a:gdLst/>
            <a:ah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134" name="Shape 33"/>
          <p:cNvSpPr/>
          <p:nvPr/>
        </p:nvSpPr>
        <p:spPr>
          <a:xfrm>
            <a:off x="9185400" y="4936320"/>
            <a:ext cx="228600" cy="261720"/>
          </a:xfrm>
          <a:custGeom>
            <a:avLst/>
            <a:gdLst/>
            <a:ah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w="0">
            <a:noFill/>
          </a:ln>
        </p:spPr>
        <p:style>
          <a:lnRef idx="0"/>
          <a:fillRef idx="0"/>
          <a:effectRef idx="0"/>
          <a:fontRef idx="minor"/>
        </p:style>
      </p:sp>
      <p:sp>
        <p:nvSpPr>
          <p:cNvPr id="135" name="Text 34"/>
          <p:cNvSpPr/>
          <p:nvPr/>
        </p:nvSpPr>
        <p:spPr>
          <a:xfrm>
            <a:off x="6940080" y="5342760"/>
            <a:ext cx="4714560" cy="2883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1" i="1" lang="en-US" sz="1390" spc="-1" strike="noStrike">
                <a:solidFill>
                  <a:srgbClr val="f2f2f2"/>
                </a:solidFill>
                <a:latin typeface="Quattrocento Sans"/>
                <a:ea typeface="Quattrocento Sans"/>
              </a:rPr>
              <a:t>"I am seeking, I am striving, I am in it with all my heart."</a:t>
            </a:r>
            <a:endParaRPr b="0" lang="en-HK" sz="1390" spc="-1" strike="noStrike">
              <a:latin typeface="Arial"/>
            </a:endParaRPr>
          </a:p>
        </p:txBody>
      </p:sp>
      <p:sp>
        <p:nvSpPr>
          <p:cNvPr id="136" name="Text 35"/>
          <p:cNvSpPr/>
          <p:nvPr/>
        </p:nvSpPr>
        <p:spPr>
          <a:xfrm>
            <a:off x="6949080" y="5771160"/>
            <a:ext cx="469692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i="1" lang="en-US" sz="1110" spc="-1" strike="noStrike">
                <a:solidFill>
                  <a:srgbClr val="c9a36a"/>
                </a:solidFill>
                <a:latin typeface="Quattrocento Sans"/>
                <a:ea typeface="Quattrocento Sans"/>
              </a:rPr>
              <a:t>— </a:t>
            </a:r>
            <a:r>
              <a:rPr b="1" i="1" lang="en-US" sz="1110" spc="-1" strike="noStrike">
                <a:solidFill>
                  <a:srgbClr val="c9a36a"/>
                </a:solidFill>
                <a:latin typeface="Quattrocento Sans"/>
                <a:ea typeface="Quattrocento Sans"/>
              </a:rPr>
              <a:t>Vincent van Gogh</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37"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138"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139" name="Shape 1"/>
          <p:cNvSpPr/>
          <p:nvPr/>
        </p:nvSpPr>
        <p:spPr>
          <a:xfrm>
            <a:off x="385920" y="1231200"/>
            <a:ext cx="1035000" cy="80640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140" name="Text 2"/>
          <p:cNvSpPr/>
          <p:nvPr/>
        </p:nvSpPr>
        <p:spPr>
          <a:xfrm>
            <a:off x="619200" y="1307160"/>
            <a:ext cx="85104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02</a:t>
            </a:r>
            <a:endParaRPr b="0" lang="en-HK" sz="4500" spc="-1" strike="noStrike">
              <a:latin typeface="Arial"/>
            </a:endParaRPr>
          </a:p>
        </p:txBody>
      </p:sp>
      <p:sp>
        <p:nvSpPr>
          <p:cNvPr id="141" name="Text 3"/>
          <p:cNvSpPr/>
          <p:nvPr/>
        </p:nvSpPr>
        <p:spPr>
          <a:xfrm>
            <a:off x="3365280" y="33278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The Evolution</a:t>
            </a:r>
            <a:endParaRPr b="0" lang="en-HK" sz="5400" spc="-1" strike="noStrike">
              <a:latin typeface="Arial"/>
            </a:endParaRPr>
          </a:p>
          <a:p>
            <a:pPr>
              <a:lnSpc>
                <a:spcPct val="100000"/>
              </a:lnSpc>
              <a:buNone/>
            </a:pPr>
            <a:r>
              <a:rPr b="1" i="1" lang="en-US" sz="5400" spc="-1" strike="noStrike">
                <a:solidFill>
                  <a:srgbClr val="f2f2f2"/>
                </a:solidFill>
                <a:latin typeface="Oranienbaum"/>
                <a:ea typeface="Oranienbaum"/>
              </a:rPr>
              <a:t>of Style</a:t>
            </a:r>
            <a:endParaRPr b="0" lang="en-HK" sz="5400" spc="-1" strike="noStrike">
              <a:latin typeface="Arial"/>
            </a:endParaRPr>
          </a:p>
        </p:txBody>
      </p:sp>
      <p:sp>
        <p:nvSpPr>
          <p:cNvPr id="142"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43"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2250" spc="-1" strike="noStrike">
                <a:solidFill>
                  <a:srgbClr val="b8b8b8"/>
                </a:solidFill>
                <a:latin typeface="Quattrocento Sans"/>
                <a:ea typeface="Quattrocento Sans"/>
              </a:rPr>
              <a:t>A decade of transformation across five distinct artistic periods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44" name="Text 0"/>
          <p:cNvSpPr/>
          <p:nvPr/>
        </p:nvSpPr>
        <p:spPr>
          <a:xfrm>
            <a:off x="323280" y="323280"/>
            <a:ext cx="1160676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80" strike="noStrike">
                <a:solidFill>
                  <a:srgbClr val="c9a36a"/>
                </a:solidFill>
                <a:latin typeface="Quattrocento Sans"/>
                <a:ea typeface="Quattrocento Sans"/>
              </a:rPr>
              <a:t>Chapter 02</a:t>
            </a:r>
            <a:endParaRPr b="0" lang="en-HK" sz="1020" spc="-1" strike="noStrike">
              <a:latin typeface="Arial"/>
            </a:endParaRPr>
          </a:p>
        </p:txBody>
      </p:sp>
      <p:sp>
        <p:nvSpPr>
          <p:cNvPr id="145" name="Text 1"/>
          <p:cNvSpPr/>
          <p:nvPr/>
        </p:nvSpPr>
        <p:spPr>
          <a:xfrm>
            <a:off x="7920000" y="582120"/>
            <a:ext cx="4139280" cy="38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60" spc="-1" strike="noStrike">
                <a:solidFill>
                  <a:srgbClr val="f2f2f2"/>
                </a:solidFill>
                <a:latin typeface="Oranienbaum"/>
                <a:ea typeface="Oranienbaum"/>
              </a:rPr>
              <a:t>Five Periods of Artistic Revolution</a:t>
            </a:r>
            <a:endParaRPr b="0" lang="en-HK" sz="3060" spc="-1" strike="noStrike">
              <a:latin typeface="Arial"/>
            </a:endParaRPr>
          </a:p>
        </p:txBody>
      </p:sp>
      <p:sp>
        <p:nvSpPr>
          <p:cNvPr id="146" name="Shape 2"/>
          <p:cNvSpPr/>
          <p:nvPr/>
        </p:nvSpPr>
        <p:spPr>
          <a:xfrm>
            <a:off x="323280" y="1099440"/>
            <a:ext cx="902160" cy="12960"/>
          </a:xfrm>
          <a:custGeom>
            <a:avLst/>
            <a:gdLst/>
            <a:ahLst/>
            <a:rect l="l" t="t" r="r" b="b"/>
            <a:pathLst>
              <a:path w="905507" h="16170">
                <a:moveTo>
                  <a:pt x="0" y="0"/>
                </a:moveTo>
                <a:lnTo>
                  <a:pt x="905507" y="0"/>
                </a:lnTo>
                <a:lnTo>
                  <a:pt x="905507" y="16170"/>
                </a:lnTo>
                <a:lnTo>
                  <a:pt x="0" y="16170"/>
                </a:lnTo>
                <a:lnTo>
                  <a:pt x="0" y="0"/>
                </a:lnTo>
                <a:close/>
              </a:path>
            </a:pathLst>
          </a:custGeom>
          <a:solidFill>
            <a:srgbClr val="c9a36a"/>
          </a:solidFill>
          <a:ln w="0">
            <a:noFill/>
          </a:ln>
        </p:spPr>
        <p:style>
          <a:lnRef idx="0"/>
          <a:fillRef idx="0"/>
          <a:effectRef idx="0"/>
          <a:fontRef idx="minor"/>
        </p:style>
      </p:sp>
      <p:sp>
        <p:nvSpPr>
          <p:cNvPr id="147" name="Shape 3"/>
          <p:cNvSpPr/>
          <p:nvPr/>
        </p:nvSpPr>
        <p:spPr>
          <a:xfrm>
            <a:off x="323280" y="12895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48" name="Shape 4"/>
          <p:cNvSpPr/>
          <p:nvPr/>
        </p:nvSpPr>
        <p:spPr>
          <a:xfrm>
            <a:off x="323280" y="12895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49" name="Text 5"/>
          <p:cNvSpPr/>
          <p:nvPr/>
        </p:nvSpPr>
        <p:spPr>
          <a:xfrm>
            <a:off x="484920" y="1463400"/>
            <a:ext cx="13874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The Hague / Nuenen</a:t>
            </a:r>
            <a:endParaRPr b="0" lang="en-HK" sz="1280" spc="-1" strike="noStrike">
              <a:latin typeface="Arial"/>
            </a:endParaRPr>
          </a:p>
        </p:txBody>
      </p:sp>
      <p:sp>
        <p:nvSpPr>
          <p:cNvPr id="150" name="Text 6"/>
          <p:cNvSpPr/>
          <p:nvPr/>
        </p:nvSpPr>
        <p:spPr>
          <a:xfrm>
            <a:off x="5352480" y="1495800"/>
            <a:ext cx="5709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1880-1886</a:t>
            </a:r>
            <a:endParaRPr b="0" lang="en-HK" sz="889" spc="-1" strike="noStrike">
              <a:latin typeface="Arial"/>
            </a:endParaRPr>
          </a:p>
        </p:txBody>
      </p:sp>
      <p:sp>
        <p:nvSpPr>
          <p:cNvPr id="151" name="Text 7"/>
          <p:cNvSpPr/>
          <p:nvPr/>
        </p:nvSpPr>
        <p:spPr>
          <a:xfrm>
            <a:off x="484920" y="17866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020" spc="-1" strike="noStrike">
                <a:solidFill>
                  <a:srgbClr val="b8b8b8"/>
                </a:solidFill>
                <a:latin typeface="Quattrocento Sans"/>
                <a:ea typeface="Quattrocento Sans"/>
              </a:rPr>
              <a:t>Van Gogh's early period was characterized by </a:t>
            </a:r>
            <a:r>
              <a:rPr b="1" i="1" lang="en-US" sz="1020" spc="-1" strike="noStrike">
                <a:solidFill>
                  <a:srgbClr val="f2f2f2"/>
                </a:solidFill>
                <a:latin typeface="Quattrocento Sans"/>
                <a:ea typeface="Quattrocento Sans"/>
              </a:rPr>
              <a:t>dark, earthy tones</a:t>
            </a:r>
            <a:r>
              <a:rPr b="1" i="1" lang="en-US" sz="1020" spc="-1" strike="noStrike">
                <a:solidFill>
                  <a:srgbClr val="b8b8b8"/>
                </a:solidFill>
                <a:latin typeface="Quattrocento Sans"/>
                <a:ea typeface="Quattrocento Sans"/>
              </a:rPr>
              <a:t> and a focus on peasant life. Influenced by Dutch Realism and artists like Millet, he depicted the harsh realities of rural existence with rough textures and somber colors.</a:t>
            </a:r>
            <a:endParaRPr b="0" lang="en-HK" sz="1020" spc="-1" strike="noStrike">
              <a:latin typeface="Arial"/>
            </a:endParaRPr>
          </a:p>
        </p:txBody>
      </p:sp>
      <p:sp>
        <p:nvSpPr>
          <p:cNvPr id="152" name="Shape 8"/>
          <p:cNvSpPr/>
          <p:nvPr/>
        </p:nvSpPr>
        <p:spPr>
          <a:xfrm>
            <a:off x="484920" y="251424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53" name="Text 9"/>
          <p:cNvSpPr/>
          <p:nvPr/>
        </p:nvSpPr>
        <p:spPr>
          <a:xfrm>
            <a:off x="582120" y="26114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54" name="Text 10"/>
          <p:cNvSpPr/>
          <p:nvPr/>
        </p:nvSpPr>
        <p:spPr>
          <a:xfrm>
            <a:off x="582120" y="28054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 strike="noStrike">
                <a:solidFill>
                  <a:srgbClr val="f2f2f2"/>
                </a:solidFill>
                <a:latin typeface="Quattrocento Sans"/>
                <a:ea typeface="Quattrocento Sans"/>
              </a:rPr>
              <a:t>The Potato Eaters (1885)</a:t>
            </a:r>
            <a:endParaRPr b="0" lang="en-HK" sz="1020" spc="-1" strike="noStrike">
              <a:latin typeface="Arial"/>
            </a:endParaRPr>
          </a:p>
        </p:txBody>
      </p:sp>
      <p:sp>
        <p:nvSpPr>
          <p:cNvPr id="155" name="Shape 11"/>
          <p:cNvSpPr/>
          <p:nvPr/>
        </p:nvSpPr>
        <p:spPr>
          <a:xfrm>
            <a:off x="48492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w="0">
            <a:noFill/>
          </a:ln>
        </p:spPr>
        <p:style>
          <a:lnRef idx="0"/>
          <a:fillRef idx="0"/>
          <a:effectRef idx="0"/>
          <a:fontRef idx="minor"/>
        </p:style>
      </p:sp>
      <p:sp>
        <p:nvSpPr>
          <p:cNvPr id="156" name="Shape 12"/>
          <p:cNvSpPr/>
          <p:nvPr/>
        </p:nvSpPr>
        <p:spPr>
          <a:xfrm>
            <a:off x="67896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w="0">
            <a:noFill/>
          </a:ln>
        </p:spPr>
        <p:style>
          <a:lnRef idx="0"/>
          <a:fillRef idx="0"/>
          <a:effectRef idx="0"/>
          <a:fontRef idx="minor"/>
        </p:style>
      </p:sp>
      <p:sp>
        <p:nvSpPr>
          <p:cNvPr id="157" name="Shape 13"/>
          <p:cNvSpPr/>
          <p:nvPr/>
        </p:nvSpPr>
        <p:spPr>
          <a:xfrm>
            <a:off x="87300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w="0">
            <a:noFill/>
          </a:ln>
        </p:spPr>
        <p:style>
          <a:lnRef idx="0"/>
          <a:fillRef idx="0"/>
          <a:effectRef idx="0"/>
          <a:fontRef idx="minor"/>
        </p:style>
      </p:sp>
      <p:sp>
        <p:nvSpPr>
          <p:cNvPr id="158" name="Text 14"/>
          <p:cNvSpPr/>
          <p:nvPr/>
        </p:nvSpPr>
        <p:spPr>
          <a:xfrm>
            <a:off x="1131840" y="3193560"/>
            <a:ext cx="9266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a3a3a3"/>
                </a:solidFill>
                <a:latin typeface="Quattrocento Sans"/>
                <a:ea typeface="Quattrocento Sans"/>
              </a:rPr>
              <a:t>Dark Earth Palette</a:t>
            </a:r>
            <a:endParaRPr b="0" lang="en-HK" sz="889" spc="-1" strike="noStrike">
              <a:latin typeface="Arial"/>
            </a:endParaRPr>
          </a:p>
        </p:txBody>
      </p:sp>
      <p:sp>
        <p:nvSpPr>
          <p:cNvPr id="159" name="Shape 15"/>
          <p:cNvSpPr/>
          <p:nvPr/>
        </p:nvSpPr>
        <p:spPr>
          <a:xfrm>
            <a:off x="6158880" y="12895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60" name="Shape 16"/>
          <p:cNvSpPr/>
          <p:nvPr/>
        </p:nvSpPr>
        <p:spPr>
          <a:xfrm>
            <a:off x="6158880" y="12895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61" name="Text 17"/>
          <p:cNvSpPr/>
          <p:nvPr/>
        </p:nvSpPr>
        <p:spPr>
          <a:xfrm>
            <a:off x="6320520" y="1463400"/>
            <a:ext cx="85392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Paris Period</a:t>
            </a:r>
            <a:endParaRPr b="0" lang="en-HK" sz="1280" spc="-1" strike="noStrike">
              <a:latin typeface="Arial"/>
            </a:endParaRPr>
          </a:p>
        </p:txBody>
      </p:sp>
      <p:sp>
        <p:nvSpPr>
          <p:cNvPr id="162" name="Text 18"/>
          <p:cNvSpPr/>
          <p:nvPr/>
        </p:nvSpPr>
        <p:spPr>
          <a:xfrm>
            <a:off x="11198160" y="1495800"/>
            <a:ext cx="554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1886-1888</a:t>
            </a:r>
            <a:endParaRPr b="0" lang="en-HK" sz="889" spc="-1" strike="noStrike">
              <a:latin typeface="Arial"/>
            </a:endParaRPr>
          </a:p>
        </p:txBody>
      </p:sp>
      <p:sp>
        <p:nvSpPr>
          <p:cNvPr id="163" name="Text 19"/>
          <p:cNvSpPr/>
          <p:nvPr/>
        </p:nvSpPr>
        <p:spPr>
          <a:xfrm>
            <a:off x="6320520" y="17866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020" spc="-1" strike="noStrike">
                <a:solidFill>
                  <a:srgbClr val="b8b8b8"/>
                </a:solidFill>
                <a:latin typeface="Quattrocento Sans"/>
                <a:ea typeface="Quattrocento Sans"/>
              </a:rPr>
              <a:t>Moving to Paris transformed his palette. Through brother Theo, he met </a:t>
            </a:r>
            <a:r>
              <a:rPr b="1" i="1" lang="en-US" sz="1020" spc="-1" strike="noStrike">
                <a:solidFill>
                  <a:srgbClr val="f2f2f2"/>
                </a:solidFill>
                <a:latin typeface="Quattrocento Sans"/>
                <a:ea typeface="Quattrocento Sans"/>
              </a:rPr>
              <a:t>Impressionists like Pissarro, Degas, and Seurat</a:t>
            </a:r>
            <a:r>
              <a:rPr b="1" i="1" lang="en-US" sz="1020" spc="-1" strike="noStrike">
                <a:solidFill>
                  <a:srgbClr val="b8b8b8"/>
                </a:solidFill>
                <a:latin typeface="Quattrocento Sans"/>
                <a:ea typeface="Quattrocento Sans"/>
              </a:rPr>
              <a:t>, embracing brighter colors, broken brushwork, and the influence of Japanese ukiyo-e prints.</a:t>
            </a:r>
            <a:endParaRPr b="0" lang="en-HK" sz="1020" spc="-1" strike="noStrike">
              <a:latin typeface="Arial"/>
            </a:endParaRPr>
          </a:p>
        </p:txBody>
      </p:sp>
      <p:sp>
        <p:nvSpPr>
          <p:cNvPr id="164" name="Shape 20"/>
          <p:cNvSpPr/>
          <p:nvPr/>
        </p:nvSpPr>
        <p:spPr>
          <a:xfrm>
            <a:off x="6320520" y="251424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65" name="Text 21"/>
          <p:cNvSpPr/>
          <p:nvPr/>
        </p:nvSpPr>
        <p:spPr>
          <a:xfrm>
            <a:off x="6417720" y="26114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Key Development:</a:t>
            </a:r>
            <a:endParaRPr b="0" lang="en-HK" sz="889" spc="-1" strike="noStrike">
              <a:latin typeface="Arial"/>
            </a:endParaRPr>
          </a:p>
        </p:txBody>
      </p:sp>
      <p:sp>
        <p:nvSpPr>
          <p:cNvPr id="166" name="Text 22"/>
          <p:cNvSpPr/>
          <p:nvPr/>
        </p:nvSpPr>
        <p:spPr>
          <a:xfrm>
            <a:off x="6417720" y="28054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 strike="noStrike">
                <a:solidFill>
                  <a:srgbClr val="f2f2f2"/>
                </a:solidFill>
                <a:latin typeface="Quattrocento Sans"/>
                <a:ea typeface="Quattrocento Sans"/>
              </a:rPr>
              <a:t>Discovery of pure color</a:t>
            </a:r>
            <a:endParaRPr b="0" lang="en-HK" sz="1020" spc="-1" strike="noStrike">
              <a:latin typeface="Arial"/>
            </a:endParaRPr>
          </a:p>
        </p:txBody>
      </p:sp>
      <p:sp>
        <p:nvSpPr>
          <p:cNvPr id="167" name="Shape 23"/>
          <p:cNvSpPr/>
          <p:nvPr/>
        </p:nvSpPr>
        <p:spPr>
          <a:xfrm>
            <a:off x="632052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68" name="Shape 24"/>
          <p:cNvSpPr/>
          <p:nvPr/>
        </p:nvSpPr>
        <p:spPr>
          <a:xfrm>
            <a:off x="651456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w="0">
            <a:noFill/>
          </a:ln>
        </p:spPr>
        <p:style>
          <a:lnRef idx="0"/>
          <a:fillRef idx="0"/>
          <a:effectRef idx="0"/>
          <a:fontRef idx="minor"/>
        </p:style>
      </p:sp>
      <p:sp>
        <p:nvSpPr>
          <p:cNvPr id="169" name="Shape 25"/>
          <p:cNvSpPr/>
          <p:nvPr/>
        </p:nvSpPr>
        <p:spPr>
          <a:xfrm>
            <a:off x="670860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w="0">
            <a:noFill/>
          </a:ln>
        </p:spPr>
        <p:style>
          <a:lnRef idx="0"/>
          <a:fillRef idx="0"/>
          <a:effectRef idx="0"/>
          <a:fontRef idx="minor"/>
        </p:style>
      </p:sp>
      <p:sp>
        <p:nvSpPr>
          <p:cNvPr id="170" name="Text 26"/>
          <p:cNvSpPr/>
          <p:nvPr/>
        </p:nvSpPr>
        <p:spPr>
          <a:xfrm>
            <a:off x="6967440" y="3193560"/>
            <a:ext cx="1379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a3a3a3"/>
                </a:solidFill>
                <a:latin typeface="Quattrocento Sans"/>
                <a:ea typeface="Quattrocento Sans"/>
              </a:rPr>
              <a:t>Bright Impressionist Palette</a:t>
            </a:r>
            <a:endParaRPr b="0" lang="en-HK" sz="889" spc="-1" strike="noStrike">
              <a:latin typeface="Arial"/>
            </a:endParaRPr>
          </a:p>
        </p:txBody>
      </p:sp>
      <p:sp>
        <p:nvSpPr>
          <p:cNvPr id="171" name="Shape 27"/>
          <p:cNvSpPr/>
          <p:nvPr/>
        </p:nvSpPr>
        <p:spPr>
          <a:xfrm>
            <a:off x="323280" y="36583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72" name="Shape 28"/>
          <p:cNvSpPr/>
          <p:nvPr/>
        </p:nvSpPr>
        <p:spPr>
          <a:xfrm>
            <a:off x="323280" y="36583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73" name="Text 29"/>
          <p:cNvSpPr/>
          <p:nvPr/>
        </p:nvSpPr>
        <p:spPr>
          <a:xfrm>
            <a:off x="484920" y="3832200"/>
            <a:ext cx="8456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Arles Period</a:t>
            </a:r>
            <a:endParaRPr b="0" lang="en-HK" sz="1280" spc="-1" strike="noStrike">
              <a:latin typeface="Arial"/>
            </a:endParaRPr>
          </a:p>
        </p:txBody>
      </p:sp>
      <p:sp>
        <p:nvSpPr>
          <p:cNvPr id="174" name="Text 30"/>
          <p:cNvSpPr/>
          <p:nvPr/>
        </p:nvSpPr>
        <p:spPr>
          <a:xfrm>
            <a:off x="5362560" y="3864600"/>
            <a:ext cx="554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1888-1889</a:t>
            </a:r>
            <a:endParaRPr b="0" lang="en-HK" sz="889" spc="-1" strike="noStrike">
              <a:latin typeface="Arial"/>
            </a:endParaRPr>
          </a:p>
        </p:txBody>
      </p:sp>
      <p:sp>
        <p:nvSpPr>
          <p:cNvPr id="175" name="Text 31"/>
          <p:cNvSpPr/>
          <p:nvPr/>
        </p:nvSpPr>
        <p:spPr>
          <a:xfrm>
            <a:off x="484920" y="41554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020" spc="-1" strike="noStrike">
                <a:solidFill>
                  <a:srgbClr val="b8b8b8"/>
                </a:solidFill>
                <a:latin typeface="Quattrocento Sans"/>
                <a:ea typeface="Quattrocento Sans"/>
              </a:rPr>
              <a:t>Seeking the "Japanese" light of the South, Van Gogh created his most iconic works. The </a:t>
            </a:r>
            <a:r>
              <a:rPr b="1" i="1" lang="en-US" sz="1020" spc="-1" strike="noStrike">
                <a:solidFill>
                  <a:srgbClr val="f2f2f2"/>
                </a:solidFill>
                <a:latin typeface="Quattrocento Sans"/>
                <a:ea typeface="Quattrocento Sans"/>
              </a:rPr>
              <a:t>intense Provençal sun</a:t>
            </a:r>
            <a:r>
              <a:rPr b="1" i="1" lang="en-US" sz="1020" spc="-1" strike="noStrike">
                <a:solidFill>
                  <a:srgbClr val="b8b8b8"/>
                </a:solidFill>
                <a:latin typeface="Quattrocento Sans"/>
                <a:ea typeface="Quattrocento Sans"/>
              </a:rPr>
              <a:t> pushed his colors to pure saturation, developing his signature bold brushwork and emotional expression.</a:t>
            </a:r>
            <a:endParaRPr b="0" lang="en-HK" sz="1020" spc="-1" strike="noStrike">
              <a:latin typeface="Arial"/>
            </a:endParaRPr>
          </a:p>
        </p:txBody>
      </p:sp>
      <p:sp>
        <p:nvSpPr>
          <p:cNvPr id="176" name="Shape 32"/>
          <p:cNvSpPr/>
          <p:nvPr/>
        </p:nvSpPr>
        <p:spPr>
          <a:xfrm>
            <a:off x="484920" y="488340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77" name="Text 33"/>
          <p:cNvSpPr/>
          <p:nvPr/>
        </p:nvSpPr>
        <p:spPr>
          <a:xfrm>
            <a:off x="582120" y="49802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Masterpieces:</a:t>
            </a:r>
            <a:endParaRPr b="0" lang="en-HK" sz="889" spc="-1" strike="noStrike">
              <a:latin typeface="Arial"/>
            </a:endParaRPr>
          </a:p>
        </p:txBody>
      </p:sp>
      <p:sp>
        <p:nvSpPr>
          <p:cNvPr id="178" name="Text 34"/>
          <p:cNvSpPr/>
          <p:nvPr/>
        </p:nvSpPr>
        <p:spPr>
          <a:xfrm>
            <a:off x="582120" y="51742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 strike="noStrike">
                <a:solidFill>
                  <a:srgbClr val="f2f2f2"/>
                </a:solidFill>
                <a:latin typeface="Quattrocento Sans"/>
                <a:ea typeface="Quattrocento Sans"/>
              </a:rPr>
              <a:t>Sunflowers, The Bedroom</a:t>
            </a:r>
            <a:endParaRPr b="0" lang="en-HK" sz="1020" spc="-1" strike="noStrike">
              <a:latin typeface="Arial"/>
            </a:endParaRPr>
          </a:p>
        </p:txBody>
      </p:sp>
      <p:sp>
        <p:nvSpPr>
          <p:cNvPr id="179" name="Shape 35"/>
          <p:cNvSpPr/>
          <p:nvPr/>
        </p:nvSpPr>
        <p:spPr>
          <a:xfrm>
            <a:off x="48492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80" name="Shape 36"/>
          <p:cNvSpPr/>
          <p:nvPr/>
        </p:nvSpPr>
        <p:spPr>
          <a:xfrm>
            <a:off x="67896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w="0">
            <a:noFill/>
          </a:ln>
        </p:spPr>
        <p:style>
          <a:lnRef idx="0"/>
          <a:fillRef idx="0"/>
          <a:effectRef idx="0"/>
          <a:fontRef idx="minor"/>
        </p:style>
      </p:sp>
      <p:sp>
        <p:nvSpPr>
          <p:cNvPr id="181" name="Shape 37"/>
          <p:cNvSpPr/>
          <p:nvPr/>
        </p:nvSpPr>
        <p:spPr>
          <a:xfrm>
            <a:off x="87300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w="0">
            <a:noFill/>
          </a:ln>
        </p:spPr>
        <p:style>
          <a:lnRef idx="0"/>
          <a:fillRef idx="0"/>
          <a:effectRef idx="0"/>
          <a:fontRef idx="minor"/>
        </p:style>
      </p:sp>
      <p:sp>
        <p:nvSpPr>
          <p:cNvPr id="182" name="Text 38"/>
          <p:cNvSpPr/>
          <p:nvPr/>
        </p:nvSpPr>
        <p:spPr>
          <a:xfrm>
            <a:off x="1131840" y="5562360"/>
            <a:ext cx="11286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a3a3a3"/>
                </a:solidFill>
                <a:latin typeface="Quattrocento Sans"/>
                <a:ea typeface="Quattrocento Sans"/>
              </a:rPr>
              <a:t>Pure Color Expression</a:t>
            </a:r>
            <a:endParaRPr b="0" lang="en-HK" sz="889" spc="-1" strike="noStrike">
              <a:latin typeface="Arial"/>
            </a:endParaRPr>
          </a:p>
        </p:txBody>
      </p:sp>
      <p:sp>
        <p:nvSpPr>
          <p:cNvPr id="183" name="Shape 39"/>
          <p:cNvSpPr/>
          <p:nvPr/>
        </p:nvSpPr>
        <p:spPr>
          <a:xfrm>
            <a:off x="6158880" y="36583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84" name="Shape 40"/>
          <p:cNvSpPr/>
          <p:nvPr/>
        </p:nvSpPr>
        <p:spPr>
          <a:xfrm>
            <a:off x="6158880" y="36583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85" name="Text 41"/>
          <p:cNvSpPr/>
          <p:nvPr/>
        </p:nvSpPr>
        <p:spPr>
          <a:xfrm>
            <a:off x="6320520" y="3832200"/>
            <a:ext cx="8294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Saint-Rémy</a:t>
            </a:r>
            <a:endParaRPr b="0" lang="en-HK" sz="1280" spc="-1" strike="noStrike">
              <a:latin typeface="Arial"/>
            </a:endParaRPr>
          </a:p>
        </p:txBody>
      </p:sp>
      <p:sp>
        <p:nvSpPr>
          <p:cNvPr id="186" name="Text 42"/>
          <p:cNvSpPr/>
          <p:nvPr/>
        </p:nvSpPr>
        <p:spPr>
          <a:xfrm>
            <a:off x="11188440" y="3864600"/>
            <a:ext cx="5709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1889-1890</a:t>
            </a:r>
            <a:endParaRPr b="0" lang="en-HK" sz="889" spc="-1" strike="noStrike">
              <a:latin typeface="Arial"/>
            </a:endParaRPr>
          </a:p>
        </p:txBody>
      </p:sp>
      <p:sp>
        <p:nvSpPr>
          <p:cNvPr id="187" name="Text 43"/>
          <p:cNvSpPr/>
          <p:nvPr/>
        </p:nvSpPr>
        <p:spPr>
          <a:xfrm>
            <a:off x="6320520" y="41554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020" spc="-1" strike="noStrike">
                <a:solidFill>
                  <a:srgbClr val="b8b8b8"/>
                </a:solidFill>
                <a:latin typeface="Quattrocento Sans"/>
                <a:ea typeface="Quattrocento Sans"/>
              </a:rPr>
              <a:t>During his asylum stay, Van Gogh painted </a:t>
            </a:r>
            <a:r>
              <a:rPr b="1" i="1" lang="en-US" sz="1020" spc="-1" strike="noStrike">
                <a:solidFill>
                  <a:srgbClr val="f2f2f2"/>
                </a:solidFill>
                <a:latin typeface="Quattrocento Sans"/>
                <a:ea typeface="Quattrocento Sans"/>
              </a:rPr>
              <a:t>over 150 works in one year</a:t>
            </a:r>
            <a:r>
              <a:rPr b="1" i="1" lang="en-US" sz="1020" spc="-1" strike="noStrike">
                <a:solidFill>
                  <a:srgbClr val="b8b8b8"/>
                </a:solidFill>
                <a:latin typeface="Quattrocento Sans"/>
                <a:ea typeface="Quattrocento Sans"/>
              </a:rPr>
              <a:t>. Confined but prolific, he created swirling, visionary masterpieces that channeled his inner turmoil into transcendent beauty.</a:t>
            </a:r>
            <a:endParaRPr b="0" lang="en-HK" sz="1020" spc="-1" strike="noStrike">
              <a:latin typeface="Arial"/>
            </a:endParaRPr>
          </a:p>
        </p:txBody>
      </p:sp>
      <p:sp>
        <p:nvSpPr>
          <p:cNvPr id="188" name="Shape 44"/>
          <p:cNvSpPr/>
          <p:nvPr/>
        </p:nvSpPr>
        <p:spPr>
          <a:xfrm>
            <a:off x="6320520" y="488340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89" name="Text 45"/>
          <p:cNvSpPr/>
          <p:nvPr/>
        </p:nvSpPr>
        <p:spPr>
          <a:xfrm>
            <a:off x="6417720" y="49802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90" name="Text 46"/>
          <p:cNvSpPr/>
          <p:nvPr/>
        </p:nvSpPr>
        <p:spPr>
          <a:xfrm>
            <a:off x="6417720" y="51742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 strike="noStrike">
                <a:solidFill>
                  <a:srgbClr val="f2f2f2"/>
                </a:solidFill>
                <a:latin typeface="Quattrocento Sans"/>
                <a:ea typeface="Quattrocento Sans"/>
              </a:rPr>
              <a:t>The Starry Night (1889)</a:t>
            </a:r>
            <a:endParaRPr b="0" lang="en-HK" sz="1020" spc="-1" strike="noStrike">
              <a:latin typeface="Arial"/>
            </a:endParaRPr>
          </a:p>
        </p:txBody>
      </p:sp>
      <p:sp>
        <p:nvSpPr>
          <p:cNvPr id="191" name="Shape 47"/>
          <p:cNvSpPr/>
          <p:nvPr/>
        </p:nvSpPr>
        <p:spPr>
          <a:xfrm>
            <a:off x="632052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w="0">
            <a:noFill/>
          </a:ln>
        </p:spPr>
        <p:style>
          <a:lnRef idx="0"/>
          <a:fillRef idx="0"/>
          <a:effectRef idx="0"/>
          <a:fontRef idx="minor"/>
        </p:style>
      </p:sp>
      <p:sp>
        <p:nvSpPr>
          <p:cNvPr id="192" name="Shape 48"/>
          <p:cNvSpPr/>
          <p:nvPr/>
        </p:nvSpPr>
        <p:spPr>
          <a:xfrm>
            <a:off x="651456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93" name="Shape 49"/>
          <p:cNvSpPr/>
          <p:nvPr/>
        </p:nvSpPr>
        <p:spPr>
          <a:xfrm>
            <a:off x="670860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w="0">
            <a:noFill/>
          </a:ln>
        </p:spPr>
        <p:style>
          <a:lnRef idx="0"/>
          <a:fillRef idx="0"/>
          <a:effectRef idx="0"/>
          <a:fontRef idx="minor"/>
        </p:style>
      </p:sp>
      <p:sp>
        <p:nvSpPr>
          <p:cNvPr id="194" name="Text 50"/>
          <p:cNvSpPr/>
          <p:nvPr/>
        </p:nvSpPr>
        <p:spPr>
          <a:xfrm>
            <a:off x="6967440" y="5562360"/>
            <a:ext cx="869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a3a3a3"/>
                </a:solidFill>
                <a:latin typeface="Quattrocento Sans"/>
                <a:ea typeface="Quattrocento Sans"/>
              </a:rPr>
              <a:t>Visionary Palette</a:t>
            </a:r>
            <a:endParaRPr b="0" lang="en-HK" sz="889" spc="-1" strike="noStrike">
              <a:latin typeface="Arial"/>
            </a:endParaRPr>
          </a:p>
        </p:txBody>
      </p:sp>
      <p:sp>
        <p:nvSpPr>
          <p:cNvPr id="195" name="Shape 51"/>
          <p:cNvSpPr/>
          <p:nvPr/>
        </p:nvSpPr>
        <p:spPr>
          <a:xfrm>
            <a:off x="335520" y="6015240"/>
            <a:ext cx="11529720" cy="837720"/>
          </a:xfrm>
          <a:custGeom>
            <a:avLst/>
            <a:gdLst/>
            <a:ah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96" name="Shape 52"/>
          <p:cNvSpPr/>
          <p:nvPr/>
        </p:nvSpPr>
        <p:spPr>
          <a:xfrm>
            <a:off x="335520" y="6015240"/>
            <a:ext cx="20880" cy="837720"/>
          </a:xfrm>
          <a:custGeom>
            <a:avLst/>
            <a:gdLst/>
            <a:ah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97" name="Text 53"/>
          <p:cNvSpPr/>
          <p:nvPr/>
        </p:nvSpPr>
        <p:spPr>
          <a:xfrm>
            <a:off x="477000" y="6241680"/>
            <a:ext cx="140364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50" spc="-1" strike="noStrike">
                <a:solidFill>
                  <a:srgbClr val="f2f2f2"/>
                </a:solidFill>
                <a:latin typeface="Oranienbaum"/>
                <a:ea typeface="Oranienbaum"/>
              </a:rPr>
              <a:t>Auvers-sur-Oise Period</a:t>
            </a:r>
            <a:endParaRPr b="0" lang="en-HK" sz="1150" spc="-1" strike="noStrike">
              <a:latin typeface="Arial"/>
            </a:endParaRPr>
          </a:p>
        </p:txBody>
      </p:sp>
      <p:sp>
        <p:nvSpPr>
          <p:cNvPr id="198" name="Text 54"/>
          <p:cNvSpPr/>
          <p:nvPr/>
        </p:nvSpPr>
        <p:spPr>
          <a:xfrm>
            <a:off x="477000" y="6467760"/>
            <a:ext cx="13874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1890 • Final Months</a:t>
            </a:r>
            <a:endParaRPr b="0" lang="en-HK" sz="889" spc="-1" strike="noStrike">
              <a:latin typeface="Arial"/>
            </a:endParaRPr>
          </a:p>
        </p:txBody>
      </p:sp>
      <p:sp>
        <p:nvSpPr>
          <p:cNvPr id="199" name="Text 55"/>
          <p:cNvSpPr/>
          <p:nvPr/>
        </p:nvSpPr>
        <p:spPr>
          <a:xfrm>
            <a:off x="6302520" y="6144480"/>
            <a:ext cx="5494320" cy="57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 strike="noStrike">
                <a:solidFill>
                  <a:srgbClr val="b8b8b8"/>
                </a:solidFill>
                <a:latin typeface="Quattrocento Sans"/>
                <a:ea typeface="Quattrocento Sans"/>
              </a:rPr>
              <a:t>In his final two months, Van Gogh produced </a:t>
            </a:r>
            <a:r>
              <a:rPr b="1" i="1" lang="en-US" sz="1020" spc="-1" strike="noStrike">
                <a:solidFill>
                  <a:srgbClr val="f2f2f2"/>
                </a:solidFill>
                <a:latin typeface="Quattrocento Sans"/>
                <a:ea typeface="Quattrocento Sans"/>
              </a:rPr>
              <a:t>70+ paintings</a:t>
            </a:r>
            <a:r>
              <a:rPr b="1" i="1" lang="en-US" sz="1020" spc="-1" strike="noStrike">
                <a:solidFill>
                  <a:srgbClr val="b8b8b8"/>
                </a:solidFill>
                <a:latin typeface="Quattrocento Sans"/>
                <a:ea typeface="Quattrocento Sans"/>
              </a:rPr>
              <a:t> with urgent, dramatic brushwork. Works like "Wheatfield with Crows" show heightened emotional intensity and a sense of impending tragedy.</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00" name="Text 0"/>
          <p:cNvSpPr/>
          <p:nvPr/>
        </p:nvSpPr>
        <p:spPr>
          <a:xfrm>
            <a:off x="367920" y="367920"/>
            <a:ext cx="11526840" cy="217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160" spc="208" strike="noStrike">
                <a:solidFill>
                  <a:srgbClr val="c9a36a"/>
                </a:solidFill>
                <a:latin typeface="Quattrocento Sans"/>
                <a:ea typeface="Quattrocento Sans"/>
              </a:rPr>
              <a:t>Chapter 02</a:t>
            </a:r>
            <a:endParaRPr b="0" lang="en-HK" sz="1160" spc="-1" strike="noStrike">
              <a:latin typeface="Arial"/>
            </a:endParaRPr>
          </a:p>
        </p:txBody>
      </p:sp>
      <p:sp>
        <p:nvSpPr>
          <p:cNvPr id="201" name="Text 1"/>
          <p:cNvSpPr/>
          <p:nvPr/>
        </p:nvSpPr>
        <p:spPr>
          <a:xfrm>
            <a:off x="367920" y="662040"/>
            <a:ext cx="11673720" cy="438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480" spc="-1" strike="noStrike">
                <a:solidFill>
                  <a:srgbClr val="f2f2f2"/>
                </a:solidFill>
                <a:latin typeface="Oranienbaum"/>
                <a:ea typeface="Oranienbaum"/>
              </a:rPr>
              <a:t>Signature Techniques: Impasto and Expressive Brushwork</a:t>
            </a:r>
            <a:endParaRPr b="0" lang="en-HK" sz="3480" spc="-1" strike="noStrike">
              <a:latin typeface="Arial"/>
            </a:endParaRPr>
          </a:p>
        </p:txBody>
      </p:sp>
      <p:sp>
        <p:nvSpPr>
          <p:cNvPr id="202" name="Shape 2"/>
          <p:cNvSpPr/>
          <p:nvPr/>
        </p:nvSpPr>
        <p:spPr>
          <a:xfrm>
            <a:off x="367920" y="1250640"/>
            <a:ext cx="1026720" cy="15120"/>
          </a:xfrm>
          <a:custGeom>
            <a:avLst/>
            <a:gdLst/>
            <a:ahLst/>
            <a:rect l="l" t="t" r="r" b="b"/>
            <a:pathLst>
              <a:path w="1029792" h="18389">
                <a:moveTo>
                  <a:pt x="0" y="0"/>
                </a:moveTo>
                <a:lnTo>
                  <a:pt x="1029792" y="0"/>
                </a:lnTo>
                <a:lnTo>
                  <a:pt x="1029792" y="18389"/>
                </a:lnTo>
                <a:lnTo>
                  <a:pt x="0" y="18389"/>
                </a:lnTo>
                <a:lnTo>
                  <a:pt x="0" y="0"/>
                </a:lnTo>
                <a:close/>
              </a:path>
            </a:pathLst>
          </a:custGeom>
          <a:solidFill>
            <a:srgbClr val="c9a36a"/>
          </a:solidFill>
          <a:ln w="0">
            <a:noFill/>
          </a:ln>
        </p:spPr>
        <p:style>
          <a:lnRef idx="0"/>
          <a:fillRef idx="0"/>
          <a:effectRef idx="0"/>
          <a:fontRef idx="minor"/>
        </p:style>
      </p:sp>
      <p:sp>
        <p:nvSpPr>
          <p:cNvPr id="203" name="Shape 3"/>
          <p:cNvSpPr/>
          <p:nvPr/>
        </p:nvSpPr>
        <p:spPr>
          <a:xfrm>
            <a:off x="381600" y="1452600"/>
            <a:ext cx="5600880" cy="358272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04" name="Shape 4"/>
          <p:cNvSpPr/>
          <p:nvPr/>
        </p:nvSpPr>
        <p:spPr>
          <a:xfrm>
            <a:off x="381600" y="1452600"/>
            <a:ext cx="24480" cy="358272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05" name="Shape 5"/>
          <p:cNvSpPr/>
          <p:nvPr/>
        </p:nvSpPr>
        <p:spPr>
          <a:xfrm>
            <a:off x="579240" y="16365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06" name="Shape 6"/>
          <p:cNvSpPr/>
          <p:nvPr/>
        </p:nvSpPr>
        <p:spPr>
          <a:xfrm>
            <a:off x="708120" y="1765440"/>
            <a:ext cx="180720" cy="180720"/>
          </a:xfrm>
          <a:custGeom>
            <a:avLst/>
            <a:gdLst/>
            <a:ah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w="0">
            <a:noFill/>
          </a:ln>
        </p:spPr>
        <p:style>
          <a:lnRef idx="0"/>
          <a:fillRef idx="0"/>
          <a:effectRef idx="0"/>
          <a:fontRef idx="minor"/>
        </p:style>
      </p:sp>
      <p:sp>
        <p:nvSpPr>
          <p:cNvPr id="207" name="Text 7"/>
          <p:cNvSpPr/>
          <p:nvPr/>
        </p:nvSpPr>
        <p:spPr>
          <a:xfrm>
            <a:off x="1130760" y="1710360"/>
            <a:ext cx="215748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740" spc="-1" strike="noStrike">
                <a:solidFill>
                  <a:srgbClr val="f2f2f2"/>
                </a:solidFill>
                <a:latin typeface="Oranienbaum"/>
                <a:ea typeface="Oranienbaum"/>
              </a:rPr>
              <a:t>The Impasto Technique</a:t>
            </a:r>
            <a:endParaRPr b="0" lang="en-HK" sz="1740" spc="-1" strike="noStrike">
              <a:latin typeface="Arial"/>
            </a:endParaRPr>
          </a:p>
        </p:txBody>
      </p:sp>
      <p:sp>
        <p:nvSpPr>
          <p:cNvPr id="208" name="Text 8"/>
          <p:cNvSpPr/>
          <p:nvPr/>
        </p:nvSpPr>
        <p:spPr>
          <a:xfrm>
            <a:off x="579240" y="2225160"/>
            <a:ext cx="5292720" cy="952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60" spc="-1" strike="noStrike">
                <a:solidFill>
                  <a:srgbClr val="b8b8b8"/>
                </a:solidFill>
                <a:latin typeface="Quattrocento Sans"/>
                <a:ea typeface="Quattrocento Sans"/>
              </a:rPr>
              <a:t>Van Gogh revolutionized painting with </a:t>
            </a:r>
            <a:r>
              <a:rPr b="1" i="1" lang="en-US" sz="1160" spc="-1" strike="noStrike">
                <a:solidFill>
                  <a:srgbClr val="f2f2f2"/>
                </a:solidFill>
                <a:latin typeface="Quattrocento Sans"/>
                <a:ea typeface="Quattrocento Sans"/>
              </a:rPr>
              <a:t>impasto</a:t>
            </a:r>
            <a:r>
              <a:rPr b="1" i="1" lang="en-US" sz="1160" spc="-1" strike="noStrike">
                <a:solidFill>
                  <a:srgbClr val="b8b8b8"/>
                </a:solidFill>
                <a:latin typeface="Quattrocento Sans"/>
                <a:ea typeface="Quattrocento Sans"/>
              </a:rPr>
              <a:t>—applying paint so thickly that brush or palette knife strokes remain visible, creating a textured, three-dimensional surface. This technique transformed paint from mere color into physical matter with its own presence.</a:t>
            </a:r>
            <a:endParaRPr b="0" lang="en-HK" sz="1160" spc="-1" strike="noStrike">
              <a:latin typeface="Arial"/>
            </a:endParaRPr>
          </a:p>
        </p:txBody>
      </p:sp>
      <p:sp>
        <p:nvSpPr>
          <p:cNvPr id="209" name="Shape 9"/>
          <p:cNvSpPr/>
          <p:nvPr/>
        </p:nvSpPr>
        <p:spPr>
          <a:xfrm>
            <a:off x="579240" y="3328560"/>
            <a:ext cx="5219280" cy="1394280"/>
          </a:xfrm>
          <a:custGeom>
            <a:avLst/>
            <a:gdLst/>
            <a:ah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w="0">
            <a:noFill/>
          </a:ln>
        </p:spPr>
        <p:style>
          <a:lnRef idx="0"/>
          <a:fillRef idx="0"/>
          <a:effectRef idx="0"/>
          <a:fontRef idx="minor"/>
        </p:style>
      </p:sp>
      <p:sp>
        <p:nvSpPr>
          <p:cNvPr id="210" name="Text 10"/>
          <p:cNvSpPr/>
          <p:nvPr/>
        </p:nvSpPr>
        <p:spPr>
          <a:xfrm>
            <a:off x="726480" y="347544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c9a36a"/>
                </a:solidFill>
                <a:latin typeface="Quattrocento Sans"/>
                <a:ea typeface="Quattrocento Sans"/>
              </a:rPr>
              <a:t>Technical Characteristics:</a:t>
            </a:r>
            <a:endParaRPr b="0" lang="en-HK" sz="1010" spc="-1" strike="noStrike">
              <a:latin typeface="Arial"/>
            </a:endParaRPr>
          </a:p>
        </p:txBody>
      </p:sp>
      <p:sp>
        <p:nvSpPr>
          <p:cNvPr id="211" name="Text 11"/>
          <p:cNvSpPr/>
          <p:nvPr/>
        </p:nvSpPr>
        <p:spPr>
          <a:xfrm>
            <a:off x="726480" y="373284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b8b8b8"/>
                </a:solidFill>
                <a:latin typeface="Quattrocento Sans"/>
                <a:ea typeface="Quattrocento Sans"/>
              </a:rPr>
              <a:t>• </a:t>
            </a:r>
            <a:r>
              <a:rPr b="1" i="1" lang="en-US" sz="1010" spc="-1" strike="noStrike">
                <a:solidFill>
                  <a:srgbClr val="b8b8b8"/>
                </a:solidFill>
                <a:latin typeface="Quattrocento Sans"/>
                <a:ea typeface="Quattrocento Sans"/>
              </a:rPr>
              <a:t>Paint applied straight from tubes without pre-mixing</a:t>
            </a:r>
            <a:endParaRPr b="0" lang="en-HK" sz="1010" spc="-1" strike="noStrike">
              <a:latin typeface="Arial"/>
            </a:endParaRPr>
          </a:p>
        </p:txBody>
      </p:sp>
      <p:sp>
        <p:nvSpPr>
          <p:cNvPr id="212" name="Text 12"/>
          <p:cNvSpPr/>
          <p:nvPr/>
        </p:nvSpPr>
        <p:spPr>
          <a:xfrm>
            <a:off x="726480" y="395352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b8b8b8"/>
                </a:solidFill>
                <a:latin typeface="Quattrocento Sans"/>
                <a:ea typeface="Quattrocento Sans"/>
              </a:rPr>
              <a:t>• </a:t>
            </a:r>
            <a:r>
              <a:rPr b="1" i="1" lang="en-US" sz="1010" spc="-1" strike="noStrike">
                <a:solidFill>
                  <a:srgbClr val="b8b8b8"/>
                </a:solidFill>
                <a:latin typeface="Quattrocento Sans"/>
                <a:ea typeface="Quattrocento Sans"/>
              </a:rPr>
              <a:t>Thick ridges and valleys catch light dynamically</a:t>
            </a:r>
            <a:endParaRPr b="0" lang="en-HK" sz="1010" spc="-1" strike="noStrike">
              <a:latin typeface="Arial"/>
            </a:endParaRPr>
          </a:p>
        </p:txBody>
      </p:sp>
      <p:sp>
        <p:nvSpPr>
          <p:cNvPr id="213" name="Text 13"/>
          <p:cNvSpPr/>
          <p:nvPr/>
        </p:nvSpPr>
        <p:spPr>
          <a:xfrm>
            <a:off x="726480" y="417420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b8b8b8"/>
                </a:solidFill>
                <a:latin typeface="Quattrocento Sans"/>
                <a:ea typeface="Quattrocento Sans"/>
              </a:rPr>
              <a:t>• </a:t>
            </a:r>
            <a:r>
              <a:rPr b="1" i="1" lang="en-US" sz="1010" spc="-1" strike="noStrike">
                <a:solidFill>
                  <a:srgbClr val="b8b8b8"/>
                </a:solidFill>
                <a:latin typeface="Quattrocento Sans"/>
                <a:ea typeface="Quattrocento Sans"/>
              </a:rPr>
              <a:t>Creates tactile, sculptural quality on canvas</a:t>
            </a:r>
            <a:endParaRPr b="0" lang="en-HK" sz="1010" spc="-1" strike="noStrike">
              <a:latin typeface="Arial"/>
            </a:endParaRPr>
          </a:p>
        </p:txBody>
      </p:sp>
      <p:sp>
        <p:nvSpPr>
          <p:cNvPr id="214" name="Text 14"/>
          <p:cNvSpPr/>
          <p:nvPr/>
        </p:nvSpPr>
        <p:spPr>
          <a:xfrm>
            <a:off x="726480" y="439488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b8b8b8"/>
                </a:solidFill>
                <a:latin typeface="Quattrocento Sans"/>
                <a:ea typeface="Quattrocento Sans"/>
              </a:rPr>
              <a:t>• </a:t>
            </a:r>
            <a:r>
              <a:rPr b="1" i="1" lang="en-US" sz="1010" spc="-1" strike="noStrike">
                <a:solidFill>
                  <a:srgbClr val="b8b8b8"/>
                </a:solidFill>
                <a:latin typeface="Quattrocento Sans"/>
                <a:ea typeface="Quattrocento Sans"/>
              </a:rPr>
              <a:t>Enhances emotional intensity through physical texture</a:t>
            </a:r>
            <a:endParaRPr b="0" lang="en-HK" sz="1010" spc="-1" strike="noStrike">
              <a:latin typeface="Arial"/>
            </a:endParaRPr>
          </a:p>
        </p:txBody>
      </p:sp>
      <p:sp>
        <p:nvSpPr>
          <p:cNvPr id="215" name="Shape 15"/>
          <p:cNvSpPr/>
          <p:nvPr/>
        </p:nvSpPr>
        <p:spPr>
          <a:xfrm>
            <a:off x="381600" y="5185800"/>
            <a:ext cx="5600880" cy="167004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16" name="Shape 16"/>
          <p:cNvSpPr/>
          <p:nvPr/>
        </p:nvSpPr>
        <p:spPr>
          <a:xfrm>
            <a:off x="381600" y="5185800"/>
            <a:ext cx="24480" cy="167004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17" name="Shape 17"/>
          <p:cNvSpPr/>
          <p:nvPr/>
        </p:nvSpPr>
        <p:spPr>
          <a:xfrm>
            <a:off x="579240" y="53697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18" name="Shape 18"/>
          <p:cNvSpPr/>
          <p:nvPr/>
        </p:nvSpPr>
        <p:spPr>
          <a:xfrm>
            <a:off x="708120" y="5498280"/>
            <a:ext cx="180720" cy="180720"/>
          </a:xfrm>
          <a:custGeom>
            <a:avLst/>
            <a:gdLst/>
            <a:ah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w="0">
            <a:noFill/>
          </a:ln>
        </p:spPr>
        <p:style>
          <a:lnRef idx="0"/>
          <a:fillRef idx="0"/>
          <a:effectRef idx="0"/>
          <a:fontRef idx="minor"/>
        </p:style>
      </p:sp>
      <p:sp>
        <p:nvSpPr>
          <p:cNvPr id="219" name="Text 19"/>
          <p:cNvSpPr/>
          <p:nvPr/>
        </p:nvSpPr>
        <p:spPr>
          <a:xfrm>
            <a:off x="1130760" y="5443200"/>
            <a:ext cx="205632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740" spc="-1" strike="noStrike">
                <a:solidFill>
                  <a:srgbClr val="f2f2f2"/>
                </a:solidFill>
                <a:latin typeface="Oranienbaum"/>
                <a:ea typeface="Oranienbaum"/>
              </a:rPr>
              <a:t>Directional Brushwork</a:t>
            </a:r>
            <a:endParaRPr b="0" lang="en-HK" sz="1740" spc="-1" strike="noStrike">
              <a:latin typeface="Arial"/>
            </a:endParaRPr>
          </a:p>
        </p:txBody>
      </p:sp>
      <p:sp>
        <p:nvSpPr>
          <p:cNvPr id="220" name="Text 20"/>
          <p:cNvSpPr/>
          <p:nvPr/>
        </p:nvSpPr>
        <p:spPr>
          <a:xfrm>
            <a:off x="579240" y="595800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60" spc="-1" strike="noStrike">
                <a:solidFill>
                  <a:srgbClr val="b8b8b8"/>
                </a:solidFill>
                <a:latin typeface="Quattrocento Sans"/>
                <a:ea typeface="Quattrocento Sans"/>
              </a:rPr>
              <a:t>His brushstrokes </a:t>
            </a:r>
            <a:r>
              <a:rPr b="1" i="1" lang="en-US" sz="1160" spc="-1" strike="noStrike">
                <a:solidFill>
                  <a:srgbClr val="f2f2f2"/>
                </a:solidFill>
                <a:latin typeface="Quattrocento Sans"/>
                <a:ea typeface="Quattrocento Sans"/>
              </a:rPr>
              <a:t>follow the form</a:t>
            </a:r>
            <a:r>
              <a:rPr b="1" i="1" lang="en-US" sz="1160" spc="-1" strike="noStrike">
                <a:solidFill>
                  <a:srgbClr val="b8b8b8"/>
                </a:solidFill>
                <a:latin typeface="Quattrocento Sans"/>
                <a:ea typeface="Quattrocento Sans"/>
              </a:rPr>
              <a:t> of what he painted—radiating like sunlight, undulating like earth, swirling like wind. This creates visual movement that makes static paintings feel alive with energy.</a:t>
            </a:r>
            <a:endParaRPr b="0" lang="en-HK" sz="1160" spc="-1" strike="noStrike">
              <a:latin typeface="Arial"/>
            </a:endParaRPr>
          </a:p>
        </p:txBody>
      </p:sp>
      <p:sp>
        <p:nvSpPr>
          <p:cNvPr id="221" name="Shape 21"/>
          <p:cNvSpPr/>
          <p:nvPr/>
        </p:nvSpPr>
        <p:spPr>
          <a:xfrm>
            <a:off x="6221160" y="1452600"/>
            <a:ext cx="5600880" cy="358272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22" name="Shape 22"/>
          <p:cNvSpPr/>
          <p:nvPr/>
        </p:nvSpPr>
        <p:spPr>
          <a:xfrm>
            <a:off x="6221160" y="1452600"/>
            <a:ext cx="24480" cy="358272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23" name="Shape 23"/>
          <p:cNvSpPr/>
          <p:nvPr/>
        </p:nvSpPr>
        <p:spPr>
          <a:xfrm>
            <a:off x="6418800" y="16365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24" name="Shape 24"/>
          <p:cNvSpPr/>
          <p:nvPr/>
        </p:nvSpPr>
        <p:spPr>
          <a:xfrm>
            <a:off x="6547680" y="1765440"/>
            <a:ext cx="180720" cy="180720"/>
          </a:xfrm>
          <a:custGeom>
            <a:avLst/>
            <a:gdLst/>
            <a:ah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w="0">
            <a:noFill/>
          </a:ln>
        </p:spPr>
        <p:style>
          <a:lnRef idx="0"/>
          <a:fillRef idx="0"/>
          <a:effectRef idx="0"/>
          <a:fontRef idx="minor"/>
        </p:style>
      </p:sp>
      <p:sp>
        <p:nvSpPr>
          <p:cNvPr id="225" name="Text 25"/>
          <p:cNvSpPr/>
          <p:nvPr/>
        </p:nvSpPr>
        <p:spPr>
          <a:xfrm>
            <a:off x="6970320" y="1710360"/>
            <a:ext cx="198288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740" spc="-1" strike="noStrike">
                <a:solidFill>
                  <a:srgbClr val="f2f2f2"/>
                </a:solidFill>
                <a:latin typeface="Oranienbaum"/>
                <a:ea typeface="Oranienbaum"/>
              </a:rPr>
              <a:t>Color Theory Mastery</a:t>
            </a:r>
            <a:endParaRPr b="0" lang="en-HK" sz="1740" spc="-1" strike="noStrike">
              <a:latin typeface="Arial"/>
            </a:endParaRPr>
          </a:p>
        </p:txBody>
      </p:sp>
      <p:sp>
        <p:nvSpPr>
          <p:cNvPr id="226" name="Text 26"/>
          <p:cNvSpPr/>
          <p:nvPr/>
        </p:nvSpPr>
        <p:spPr>
          <a:xfrm>
            <a:off x="6418800" y="222516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60" spc="-1" strike="noStrike">
                <a:solidFill>
                  <a:srgbClr val="b8b8b8"/>
                </a:solidFill>
                <a:latin typeface="Quattrocento Sans"/>
                <a:ea typeface="Quattrocento Sans"/>
              </a:rPr>
              <a:t>Van Gogh used </a:t>
            </a:r>
            <a:r>
              <a:rPr b="1" i="1" lang="en-US" sz="1160" spc="-1" strike="noStrike">
                <a:solidFill>
                  <a:srgbClr val="f2f2f2"/>
                </a:solidFill>
                <a:latin typeface="Quattrocento Sans"/>
                <a:ea typeface="Quattrocento Sans"/>
              </a:rPr>
              <a:t>complementary colors</a:t>
            </a:r>
            <a:r>
              <a:rPr b="1" i="1" lang="en-US" sz="1160" spc="-1" strike="noStrike">
                <a:solidFill>
                  <a:srgbClr val="b8b8b8"/>
                </a:solidFill>
                <a:latin typeface="Quattrocento Sans"/>
                <a:ea typeface="Quattrocento Sans"/>
              </a:rPr>
              <a:t> (blue-orange, yellow-purple, red-green) in bold contrasts to create visual vibration and emotional intensity. He painted not what he saw, but what he felt.</a:t>
            </a:r>
            <a:endParaRPr b="0" lang="en-HK" sz="1160" spc="-1" strike="noStrike">
              <a:latin typeface="Arial"/>
            </a:endParaRPr>
          </a:p>
        </p:txBody>
      </p:sp>
      <p:sp>
        <p:nvSpPr>
          <p:cNvPr id="227" name="Shape 27"/>
          <p:cNvSpPr/>
          <p:nvPr/>
        </p:nvSpPr>
        <p:spPr>
          <a:xfrm>
            <a:off x="641880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4169e1"/>
              </a:gs>
              <a:gs pos="100000">
                <a:srgbClr val="ffd700"/>
              </a:gs>
            </a:gsLst>
            <a:lin ang="2700000"/>
          </a:gradFill>
          <a:ln w="0">
            <a:noFill/>
          </a:ln>
        </p:spPr>
        <p:style>
          <a:lnRef idx="0"/>
          <a:fillRef idx="0"/>
          <a:effectRef idx="0"/>
          <a:fontRef idx="minor"/>
        </p:style>
      </p:sp>
      <p:sp>
        <p:nvSpPr>
          <p:cNvPr id="228" name="Text 28"/>
          <p:cNvSpPr/>
          <p:nvPr/>
        </p:nvSpPr>
        <p:spPr>
          <a:xfrm>
            <a:off x="639108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i="1" lang="en-US" sz="870" spc="-1" strike="noStrike">
                <a:solidFill>
                  <a:srgbClr val="a3a3a3"/>
                </a:solidFill>
                <a:latin typeface="Quattrocento Sans"/>
                <a:ea typeface="Quattrocento Sans"/>
              </a:rPr>
              <a:t>Blue/Yellow</a:t>
            </a:r>
            <a:endParaRPr b="0" lang="en-HK" sz="870" spc="-1" strike="noStrike">
              <a:latin typeface="Arial"/>
            </a:endParaRPr>
          </a:p>
        </p:txBody>
      </p:sp>
      <p:sp>
        <p:nvSpPr>
          <p:cNvPr id="229" name="Shape 29"/>
          <p:cNvSpPr/>
          <p:nvPr/>
        </p:nvSpPr>
        <p:spPr>
          <a:xfrm>
            <a:off x="819684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ff6347"/>
              </a:gs>
              <a:gs pos="100000">
                <a:srgbClr val="40e0d0"/>
              </a:gs>
            </a:gsLst>
            <a:lin ang="2700000"/>
          </a:gradFill>
          <a:ln w="0">
            <a:noFill/>
          </a:ln>
        </p:spPr>
        <p:style>
          <a:lnRef idx="0"/>
          <a:fillRef idx="0"/>
          <a:effectRef idx="0"/>
          <a:fontRef idx="minor"/>
        </p:style>
      </p:sp>
      <p:sp>
        <p:nvSpPr>
          <p:cNvPr id="230" name="Text 30"/>
          <p:cNvSpPr/>
          <p:nvPr/>
        </p:nvSpPr>
        <p:spPr>
          <a:xfrm>
            <a:off x="816912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i="1" lang="en-US" sz="870" spc="-1" strike="noStrike">
                <a:solidFill>
                  <a:srgbClr val="a3a3a3"/>
                </a:solidFill>
                <a:latin typeface="Quattrocento Sans"/>
                <a:ea typeface="Quattrocento Sans"/>
              </a:rPr>
              <a:t>Red/Cyan</a:t>
            </a:r>
            <a:endParaRPr b="0" lang="en-HK" sz="870" spc="-1" strike="noStrike">
              <a:latin typeface="Arial"/>
            </a:endParaRPr>
          </a:p>
        </p:txBody>
      </p:sp>
      <p:sp>
        <p:nvSpPr>
          <p:cNvPr id="231" name="Shape 31"/>
          <p:cNvSpPr/>
          <p:nvPr/>
        </p:nvSpPr>
        <p:spPr>
          <a:xfrm>
            <a:off x="997452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8b4513"/>
              </a:gs>
              <a:gs pos="100000">
                <a:srgbClr val="87ceeb"/>
              </a:gs>
            </a:gsLst>
            <a:lin ang="2700000"/>
          </a:gradFill>
          <a:ln w="0">
            <a:noFill/>
          </a:ln>
        </p:spPr>
        <p:style>
          <a:lnRef idx="0"/>
          <a:fillRef idx="0"/>
          <a:effectRef idx="0"/>
          <a:fontRef idx="minor"/>
        </p:style>
      </p:sp>
      <p:sp>
        <p:nvSpPr>
          <p:cNvPr id="232" name="Text 32"/>
          <p:cNvSpPr/>
          <p:nvPr/>
        </p:nvSpPr>
        <p:spPr>
          <a:xfrm>
            <a:off x="994716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i="1" lang="en-US" sz="870" spc="-1" strike="noStrike">
                <a:solidFill>
                  <a:srgbClr val="a3a3a3"/>
                </a:solidFill>
                <a:latin typeface="Quattrocento Sans"/>
                <a:ea typeface="Quattrocento Sans"/>
              </a:rPr>
              <a:t>Brown/Sky</a:t>
            </a:r>
            <a:endParaRPr b="0" lang="en-HK" sz="870" spc="-1" strike="noStrike">
              <a:latin typeface="Arial"/>
            </a:endParaRPr>
          </a:p>
        </p:txBody>
      </p:sp>
      <p:sp>
        <p:nvSpPr>
          <p:cNvPr id="233" name="Shape 33"/>
          <p:cNvSpPr/>
          <p:nvPr/>
        </p:nvSpPr>
        <p:spPr>
          <a:xfrm>
            <a:off x="6418800" y="4045680"/>
            <a:ext cx="5219280" cy="806040"/>
          </a:xfrm>
          <a:custGeom>
            <a:avLst/>
            <a:gdLst/>
            <a:ah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w="0">
            <a:noFill/>
          </a:ln>
        </p:spPr>
        <p:style>
          <a:lnRef idx="0"/>
          <a:fillRef idx="0"/>
          <a:effectRef idx="0"/>
          <a:fontRef idx="minor"/>
        </p:style>
      </p:sp>
      <p:sp>
        <p:nvSpPr>
          <p:cNvPr id="234" name="Text 34"/>
          <p:cNvSpPr/>
          <p:nvPr/>
        </p:nvSpPr>
        <p:spPr>
          <a:xfrm>
            <a:off x="6529320" y="4155840"/>
            <a:ext cx="50630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c9a36a"/>
                </a:solidFill>
                <a:latin typeface="Quattrocento Sans"/>
                <a:ea typeface="Quattrocento Sans"/>
              </a:rPr>
              <a:t>Philosophy:</a:t>
            </a:r>
            <a:endParaRPr b="0" lang="en-HK" sz="1010" spc="-1" strike="noStrike">
              <a:latin typeface="Arial"/>
            </a:endParaRPr>
          </a:p>
        </p:txBody>
      </p:sp>
      <p:sp>
        <p:nvSpPr>
          <p:cNvPr id="235" name="Text 35"/>
          <p:cNvSpPr/>
          <p:nvPr/>
        </p:nvSpPr>
        <p:spPr>
          <a:xfrm>
            <a:off x="6529320" y="4376520"/>
            <a:ext cx="5063040" cy="364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010" spc="-1" strike="noStrike">
                <a:solidFill>
                  <a:srgbClr val="b8b8b8"/>
                </a:solidFill>
                <a:latin typeface="Quattrocento Sans"/>
                <a:ea typeface="Quattrocento Sans"/>
              </a:rPr>
              <a:t>"Color expresses something in itself... I use color arbitrarily to express myself more forcefully."</a:t>
            </a:r>
            <a:endParaRPr b="0" lang="en-HK" sz="1010" spc="-1" strike="noStrike">
              <a:latin typeface="Arial"/>
            </a:endParaRPr>
          </a:p>
        </p:txBody>
      </p:sp>
      <p:sp>
        <p:nvSpPr>
          <p:cNvPr id="236" name="Shape 36"/>
          <p:cNvSpPr/>
          <p:nvPr/>
        </p:nvSpPr>
        <p:spPr>
          <a:xfrm>
            <a:off x="6221160" y="5185800"/>
            <a:ext cx="5600880" cy="167004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37" name="Shape 37"/>
          <p:cNvSpPr/>
          <p:nvPr/>
        </p:nvSpPr>
        <p:spPr>
          <a:xfrm>
            <a:off x="6221160" y="5185800"/>
            <a:ext cx="24480" cy="167004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38" name="Shape 38"/>
          <p:cNvSpPr/>
          <p:nvPr/>
        </p:nvSpPr>
        <p:spPr>
          <a:xfrm>
            <a:off x="6418800" y="53697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39" name="Shape 39"/>
          <p:cNvSpPr/>
          <p:nvPr/>
        </p:nvSpPr>
        <p:spPr>
          <a:xfrm>
            <a:off x="6559200" y="5498280"/>
            <a:ext cx="157680" cy="180720"/>
          </a:xfrm>
          <a:custGeom>
            <a:avLst/>
            <a:gdLst/>
            <a:ah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w="0">
            <a:noFill/>
          </a:ln>
        </p:spPr>
        <p:style>
          <a:lnRef idx="0"/>
          <a:fillRef idx="0"/>
          <a:effectRef idx="0"/>
          <a:fontRef idx="minor"/>
        </p:style>
      </p:sp>
      <p:sp>
        <p:nvSpPr>
          <p:cNvPr id="240" name="Text 40"/>
          <p:cNvSpPr/>
          <p:nvPr/>
        </p:nvSpPr>
        <p:spPr>
          <a:xfrm>
            <a:off x="6970320" y="5443200"/>
            <a:ext cx="180792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740" spc="-1" strike="noStrike">
                <a:solidFill>
                  <a:srgbClr val="f2f2f2"/>
                </a:solidFill>
                <a:latin typeface="Oranienbaum"/>
                <a:ea typeface="Oranienbaum"/>
              </a:rPr>
              <a:t>Japanese Influence</a:t>
            </a:r>
            <a:endParaRPr b="0" lang="en-HK" sz="1740" spc="-1" strike="noStrike">
              <a:latin typeface="Arial"/>
            </a:endParaRPr>
          </a:p>
        </p:txBody>
      </p:sp>
      <p:sp>
        <p:nvSpPr>
          <p:cNvPr id="241" name="Text 41"/>
          <p:cNvSpPr/>
          <p:nvPr/>
        </p:nvSpPr>
        <p:spPr>
          <a:xfrm>
            <a:off x="6418800" y="595800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160" spc="-1" strike="noStrike">
                <a:solidFill>
                  <a:srgbClr val="b8b8b8"/>
                </a:solidFill>
                <a:latin typeface="Quattrocento Sans"/>
                <a:ea typeface="Quattrocento Sans"/>
              </a:rPr>
              <a:t>Van Gogh collected hundreds of </a:t>
            </a:r>
            <a:r>
              <a:rPr b="1" i="1" lang="en-US" sz="1160" spc="-1" strike="noStrike">
                <a:solidFill>
                  <a:srgbClr val="f2f2f2"/>
                </a:solidFill>
                <a:latin typeface="Quattrocento Sans"/>
                <a:ea typeface="Quattrocento Sans"/>
              </a:rPr>
              <a:t>ukiyo-e woodblock prints</a:t>
            </a:r>
            <a:r>
              <a:rPr b="1" i="1" lang="en-US" sz="1160" spc="-1" strike="noStrike">
                <a:solidFill>
                  <a:srgbClr val="b8b8b8"/>
                </a:solidFill>
                <a:latin typeface="Quattrocento Sans"/>
                <a:ea typeface="Quattrocento Sans"/>
              </a:rPr>
              <a:t>, which influenced his use of bold outlines, flat areas of color, cropped compositions, and decorative patterning—liberating him from Western academic conventions.</a:t>
            </a:r>
            <a:endParaRPr b="0" lang="en-HK" sz="116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2"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243"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244" name="Shape 1"/>
          <p:cNvSpPr/>
          <p:nvPr/>
        </p:nvSpPr>
        <p:spPr>
          <a:xfrm>
            <a:off x="385920" y="1463400"/>
            <a:ext cx="1035000" cy="80640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245" name="Text 2"/>
          <p:cNvSpPr/>
          <p:nvPr/>
        </p:nvSpPr>
        <p:spPr>
          <a:xfrm>
            <a:off x="619200" y="1539360"/>
            <a:ext cx="85392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03</a:t>
            </a:r>
            <a:endParaRPr b="0" lang="en-HK" sz="4500" spc="-1" strike="noStrike">
              <a:latin typeface="Arial"/>
            </a:endParaRPr>
          </a:p>
        </p:txBody>
      </p:sp>
      <p:sp>
        <p:nvSpPr>
          <p:cNvPr id="246" name="Text 3"/>
          <p:cNvSpPr/>
          <p:nvPr/>
        </p:nvSpPr>
        <p:spPr>
          <a:xfrm>
            <a:off x="380880" y="25826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5400" spc="-1" strike="noStrike">
                <a:solidFill>
                  <a:srgbClr val="f2f2f2"/>
                </a:solidFill>
                <a:latin typeface="Oranienbaum"/>
                <a:ea typeface="Oranienbaum"/>
              </a:rPr>
              <a:t>Masterpieces That</a:t>
            </a:r>
            <a:endParaRPr b="0" lang="en-HK" sz="5400" spc="-1" strike="noStrike">
              <a:latin typeface="Arial"/>
            </a:endParaRPr>
          </a:p>
          <a:p>
            <a:pPr>
              <a:lnSpc>
                <a:spcPct val="100000"/>
              </a:lnSpc>
              <a:buNone/>
            </a:pPr>
            <a:r>
              <a:rPr b="0" lang="en-US" sz="5400" spc="-1" strike="noStrike">
                <a:solidFill>
                  <a:srgbClr val="f2f2f2"/>
                </a:solidFill>
                <a:latin typeface="Oranienbaum"/>
                <a:ea typeface="Oranienbaum"/>
              </a:rPr>
              <a:t>Define an Er</a:t>
            </a:r>
            <a:r>
              <a:rPr b="1" i="1" lang="en-US" sz="5400" spc="-1" strike="noStrike">
                <a:solidFill>
                  <a:srgbClr val="f2f2f2"/>
                </a:solidFill>
                <a:latin typeface="Oranienbaum"/>
                <a:ea typeface="Oranienbaum"/>
              </a:rPr>
              <a:t>a</a:t>
            </a:r>
            <a:endParaRPr b="0" lang="en-HK" sz="5400" spc="-1" strike="noStrike">
              <a:latin typeface="Arial"/>
            </a:endParaRPr>
          </a:p>
        </p:txBody>
      </p:sp>
      <p:sp>
        <p:nvSpPr>
          <p:cNvPr id="247" name="Shape 4"/>
          <p:cNvSpPr/>
          <p:nvPr/>
        </p:nvSpPr>
        <p:spPr>
          <a:xfrm>
            <a:off x="380880" y="46018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248" name="Text 5"/>
          <p:cNvSpPr/>
          <p:nvPr/>
        </p:nvSpPr>
        <p:spPr>
          <a:xfrm>
            <a:off x="380880" y="4935240"/>
            <a:ext cx="6540480" cy="463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2250" spc="-1" strike="noStrike">
                <a:solidFill>
                  <a:srgbClr val="b8b8b8"/>
                </a:solidFill>
                <a:latin typeface="Quattrocento Sans"/>
                <a:ea typeface="Quattrocento Sans"/>
              </a:rPr>
              <a:t>Iconic works that continue to captivate the world</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9" name="Text 0"/>
          <p:cNvSpPr/>
          <p:nvPr/>
        </p:nvSpPr>
        <p:spPr>
          <a:xfrm>
            <a:off x="317520" y="317520"/>
            <a:ext cx="1161720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50" name="Text 1"/>
          <p:cNvSpPr/>
          <p:nvPr/>
        </p:nvSpPr>
        <p:spPr>
          <a:xfrm>
            <a:off x="317520" y="571680"/>
            <a:ext cx="11744280" cy="377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000" spc="-1" strike="noStrike">
                <a:solidFill>
                  <a:srgbClr val="f2f2f2"/>
                </a:solidFill>
                <a:latin typeface="Oranienbaum"/>
                <a:ea typeface="Oranienbaum"/>
              </a:rPr>
              <a:t>The Starry Night: A Visionary Masterp</a:t>
            </a:r>
            <a:r>
              <a:rPr b="1" i="1" lang="en-US" sz="3000" spc="-1" strike="noStrike">
                <a:solidFill>
                  <a:srgbClr val="f2f2f2"/>
                </a:solidFill>
                <a:latin typeface="Oranienbaum"/>
                <a:ea typeface="Oranienbaum"/>
              </a:rPr>
              <a:t>iece</a:t>
            </a:r>
            <a:endParaRPr b="0" lang="en-HK" sz="3000" spc="-1" strike="noStrike">
              <a:latin typeface="Arial"/>
            </a:endParaRPr>
          </a:p>
        </p:txBody>
      </p:sp>
      <p:sp>
        <p:nvSpPr>
          <p:cNvPr id="251" name="Shape 2"/>
          <p:cNvSpPr/>
          <p:nvPr/>
        </p:nvSpPr>
        <p:spPr>
          <a:xfrm>
            <a:off x="317520" y="1079640"/>
            <a:ext cx="885600" cy="1260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52" name="Shape 3"/>
          <p:cNvSpPr/>
          <p:nvPr/>
        </p:nvSpPr>
        <p:spPr>
          <a:xfrm>
            <a:off x="321480" y="1226520"/>
            <a:ext cx="5100480" cy="4044960"/>
          </a:xfrm>
          <a:custGeom>
            <a:avLst/>
            <a:gdLst/>
            <a:ah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round/>
          </a:ln>
        </p:spPr>
        <p:style>
          <a:lnRef idx="0"/>
          <a:fillRef idx="0"/>
          <a:effectRef idx="0"/>
          <a:fontRef idx="minor"/>
        </p:style>
      </p:sp>
      <p:sp>
        <p:nvSpPr>
          <p:cNvPr id="253" name="Image 0"/>
          <p:cNvSpPr/>
          <p:nvPr/>
        </p:nvSpPr>
        <p:spPr>
          <a:xfrm>
            <a:off x="325440" y="1230480"/>
            <a:ext cx="5092560" cy="4037040"/>
          </a:xfrm>
          <a:prstGeom prst="roundRect">
            <a:avLst>
              <a:gd name="adj" fmla="val 1572"/>
            </a:avLst>
          </a:prstGeom>
          <a:blipFill rotWithShape="0">
            <a:blip r:embed="rId1"/>
            <a:srcRect/>
            <a:stretch/>
          </a:blipFill>
          <a:ln w="0">
            <a:noFill/>
          </a:ln>
        </p:spPr>
        <p:style>
          <a:lnRef idx="0"/>
          <a:fillRef idx="0"/>
          <a:effectRef idx="0"/>
          <a:fontRef idx="minor"/>
        </p:style>
      </p:sp>
      <p:sp>
        <p:nvSpPr>
          <p:cNvPr id="254" name="Shape 4"/>
          <p:cNvSpPr/>
          <p:nvPr/>
        </p:nvSpPr>
        <p:spPr>
          <a:xfrm>
            <a:off x="329400" y="5404680"/>
            <a:ext cx="5096520" cy="1171440"/>
          </a:xfrm>
          <a:custGeom>
            <a:avLst/>
            <a:gdLst/>
            <a:ah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55" name="Shape 5"/>
          <p:cNvSpPr/>
          <p:nvPr/>
        </p:nvSpPr>
        <p:spPr>
          <a:xfrm>
            <a:off x="329400" y="5404680"/>
            <a:ext cx="20520" cy="1171440"/>
          </a:xfrm>
          <a:custGeom>
            <a:avLst/>
            <a:gdLst/>
            <a:ah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56" name="Text 6"/>
          <p:cNvSpPr/>
          <p:nvPr/>
        </p:nvSpPr>
        <p:spPr>
          <a:xfrm>
            <a:off x="468360" y="5531760"/>
            <a:ext cx="48862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c9a36a"/>
                </a:solidFill>
                <a:latin typeface="Quattrocento Sans"/>
                <a:ea typeface="Quattrocento Sans"/>
              </a:rPr>
              <a:t>Painting Details</a:t>
            </a:r>
            <a:endParaRPr b="0" lang="en-HK" sz="880" spc="-1" strike="noStrike">
              <a:latin typeface="Arial"/>
            </a:endParaRPr>
          </a:p>
        </p:txBody>
      </p:sp>
      <p:sp>
        <p:nvSpPr>
          <p:cNvPr id="257" name="Text 7"/>
          <p:cNvSpPr/>
          <p:nvPr/>
        </p:nvSpPr>
        <p:spPr>
          <a:xfrm>
            <a:off x="468360" y="575388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a3a3a3"/>
                </a:solidFill>
                <a:latin typeface="Quattrocento Sans"/>
                <a:ea typeface="Quattrocento Sans"/>
              </a:rPr>
              <a:t>Year</a:t>
            </a:r>
            <a:endParaRPr b="0" lang="en-HK" sz="880" spc="-1" strike="noStrike">
              <a:latin typeface="Arial"/>
            </a:endParaRPr>
          </a:p>
        </p:txBody>
      </p:sp>
      <p:sp>
        <p:nvSpPr>
          <p:cNvPr id="258" name="Text 8"/>
          <p:cNvSpPr/>
          <p:nvPr/>
        </p:nvSpPr>
        <p:spPr>
          <a:xfrm>
            <a:off x="468360" y="591264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f2f2f2"/>
                </a:solidFill>
                <a:latin typeface="Quattrocento Sans"/>
                <a:ea typeface="Quattrocento Sans"/>
              </a:rPr>
              <a:t>June 1889</a:t>
            </a:r>
            <a:endParaRPr b="0" lang="en-HK" sz="880" spc="-1" strike="noStrike">
              <a:latin typeface="Arial"/>
            </a:endParaRPr>
          </a:p>
        </p:txBody>
      </p:sp>
      <p:sp>
        <p:nvSpPr>
          <p:cNvPr id="259" name="Text 9"/>
          <p:cNvSpPr/>
          <p:nvPr/>
        </p:nvSpPr>
        <p:spPr>
          <a:xfrm>
            <a:off x="2918520" y="575388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a3a3a3"/>
                </a:solidFill>
                <a:latin typeface="Quattrocento Sans"/>
                <a:ea typeface="Quattrocento Sans"/>
              </a:rPr>
              <a:t>Medium</a:t>
            </a:r>
            <a:endParaRPr b="0" lang="en-HK" sz="880" spc="-1" strike="noStrike">
              <a:latin typeface="Arial"/>
            </a:endParaRPr>
          </a:p>
        </p:txBody>
      </p:sp>
      <p:sp>
        <p:nvSpPr>
          <p:cNvPr id="260" name="Text 10"/>
          <p:cNvSpPr/>
          <p:nvPr/>
        </p:nvSpPr>
        <p:spPr>
          <a:xfrm>
            <a:off x="2918520" y="591264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f2f2f2"/>
                </a:solidFill>
                <a:latin typeface="Quattrocento Sans"/>
                <a:ea typeface="Quattrocento Sans"/>
              </a:rPr>
              <a:t>Oil on canvas</a:t>
            </a:r>
            <a:endParaRPr b="0" lang="en-HK" sz="880" spc="-1" strike="noStrike">
              <a:latin typeface="Arial"/>
            </a:endParaRPr>
          </a:p>
        </p:txBody>
      </p:sp>
      <p:sp>
        <p:nvSpPr>
          <p:cNvPr id="261" name="Text 11"/>
          <p:cNvSpPr/>
          <p:nvPr/>
        </p:nvSpPr>
        <p:spPr>
          <a:xfrm>
            <a:off x="468360" y="613476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a3a3a3"/>
                </a:solidFill>
                <a:latin typeface="Quattrocento Sans"/>
                <a:ea typeface="Quattrocento Sans"/>
              </a:rPr>
              <a:t>Dimensions</a:t>
            </a:r>
            <a:endParaRPr b="0" lang="en-HK" sz="880" spc="-1" strike="noStrike">
              <a:latin typeface="Arial"/>
            </a:endParaRPr>
          </a:p>
        </p:txBody>
      </p:sp>
      <p:sp>
        <p:nvSpPr>
          <p:cNvPr id="262" name="Text 12"/>
          <p:cNvSpPr/>
          <p:nvPr/>
        </p:nvSpPr>
        <p:spPr>
          <a:xfrm>
            <a:off x="468360" y="629352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f2f2f2"/>
                </a:solidFill>
                <a:latin typeface="Quattrocento Sans"/>
                <a:ea typeface="Quattrocento Sans"/>
              </a:rPr>
              <a:t>73.7 × 92.1 cm</a:t>
            </a:r>
            <a:endParaRPr b="0" lang="en-HK" sz="880" spc="-1" strike="noStrike">
              <a:latin typeface="Arial"/>
            </a:endParaRPr>
          </a:p>
        </p:txBody>
      </p:sp>
      <p:sp>
        <p:nvSpPr>
          <p:cNvPr id="263" name="Text 13"/>
          <p:cNvSpPr/>
          <p:nvPr/>
        </p:nvSpPr>
        <p:spPr>
          <a:xfrm>
            <a:off x="2918520" y="613476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a3a3a3"/>
                </a:solidFill>
                <a:latin typeface="Quattrocento Sans"/>
                <a:ea typeface="Quattrocento Sans"/>
              </a:rPr>
              <a:t>Location</a:t>
            </a:r>
            <a:endParaRPr b="0" lang="en-HK" sz="880" spc="-1" strike="noStrike">
              <a:latin typeface="Arial"/>
            </a:endParaRPr>
          </a:p>
        </p:txBody>
      </p:sp>
      <p:sp>
        <p:nvSpPr>
          <p:cNvPr id="264" name="Text 14"/>
          <p:cNvSpPr/>
          <p:nvPr/>
        </p:nvSpPr>
        <p:spPr>
          <a:xfrm>
            <a:off x="2918520" y="629352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f2f2f2"/>
                </a:solidFill>
                <a:latin typeface="Quattrocento Sans"/>
                <a:ea typeface="Quattrocento Sans"/>
              </a:rPr>
              <a:t>MoMA, New York</a:t>
            </a:r>
            <a:endParaRPr b="0" lang="en-HK" sz="880" spc="-1" strike="noStrike">
              <a:latin typeface="Arial"/>
            </a:endParaRPr>
          </a:p>
        </p:txBody>
      </p:sp>
      <p:sp>
        <p:nvSpPr>
          <p:cNvPr id="265" name="Shape 15"/>
          <p:cNvSpPr/>
          <p:nvPr/>
        </p:nvSpPr>
        <p:spPr>
          <a:xfrm>
            <a:off x="5634720" y="1222200"/>
            <a:ext cx="6239520" cy="199692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66" name="Shape 16"/>
          <p:cNvSpPr/>
          <p:nvPr/>
        </p:nvSpPr>
        <p:spPr>
          <a:xfrm>
            <a:off x="5634720" y="1222200"/>
            <a:ext cx="20520" cy="199692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67" name="Text 17"/>
          <p:cNvSpPr/>
          <p:nvPr/>
        </p:nvSpPr>
        <p:spPr>
          <a:xfrm>
            <a:off x="5805360" y="138096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500" spc="-1" strike="noStrike">
                <a:solidFill>
                  <a:srgbClr val="f2f2f2"/>
                </a:solidFill>
                <a:latin typeface="Oranienbaum"/>
                <a:ea typeface="Oranienbaum"/>
              </a:rPr>
              <a:t>A View from the Asylum</a:t>
            </a:r>
            <a:endParaRPr b="0" lang="en-HK" sz="1500" spc="-1" strike="noStrike">
              <a:latin typeface="Arial"/>
            </a:endParaRPr>
          </a:p>
        </p:txBody>
      </p:sp>
      <p:sp>
        <p:nvSpPr>
          <p:cNvPr id="268" name="Text 18"/>
          <p:cNvSpPr/>
          <p:nvPr/>
        </p:nvSpPr>
        <p:spPr>
          <a:xfrm>
            <a:off x="5805360" y="173052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00" spc="-1" strike="noStrike">
                <a:solidFill>
                  <a:srgbClr val="b8b8b8"/>
                </a:solidFill>
                <a:latin typeface="Quattrocento Sans"/>
                <a:ea typeface="Quattrocento Sans"/>
              </a:rPr>
              <a:t>Painted during his stay at </a:t>
            </a:r>
            <a:r>
              <a:rPr b="0" i="1" lang="en-US" sz="1000" spc="-1" strike="noStrike">
                <a:solidFill>
                  <a:srgbClr val="f2f2f2"/>
                </a:solidFill>
                <a:latin typeface="Quattrocento Sans"/>
                <a:ea typeface="Quattrocento Sans"/>
              </a:rPr>
              <a:t>Saint-Paul-de-Mausole asylum</a:t>
            </a:r>
            <a:r>
              <a:rPr b="0" i="1" lang="en-US" sz="1000" spc="-1" strike="noStrike">
                <a:solidFill>
                  <a:srgbClr val="b8b8b8"/>
                </a:solidFill>
                <a:latin typeface="Quattrocento Sans"/>
                <a:ea typeface="Quattrocento Sans"/>
              </a:rPr>
              <a:t> in Saint-Rémy-de-Provence, "The Starry Night" depicts the view from his bedroom window just before sunrise. However, Van Gogh painted this masterpiece from memory during the day, transforming observation into visionary experience.</a:t>
            </a:r>
            <a:endParaRPr b="0" lang="en-HK" sz="1000" spc="-1" strike="noStrike">
              <a:latin typeface="Arial"/>
            </a:endParaRPr>
          </a:p>
        </p:txBody>
      </p:sp>
      <p:sp>
        <p:nvSpPr>
          <p:cNvPr id="269" name="Text 19"/>
          <p:cNvSpPr/>
          <p:nvPr/>
        </p:nvSpPr>
        <p:spPr>
          <a:xfrm>
            <a:off x="5805360" y="2444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00" spc="-1" strike="noStrike">
                <a:solidFill>
                  <a:srgbClr val="b8b8b8"/>
                </a:solidFill>
                <a:latin typeface="Quattrocento Sans"/>
                <a:ea typeface="Quattrocento Sans"/>
              </a:rPr>
              <a:t>The painting represents both his </a:t>
            </a:r>
            <a:r>
              <a:rPr b="0" i="1" lang="en-US" sz="1000" spc="-1" strike="noStrike">
                <a:solidFill>
                  <a:srgbClr val="c9a36a"/>
                </a:solidFill>
                <a:latin typeface="Quattrocento Sans"/>
                <a:ea typeface="Quattrocento Sans"/>
              </a:rPr>
              <a:t>inner turmoil</a:t>
            </a:r>
            <a:r>
              <a:rPr b="0" i="1" lang="en-US" sz="1000" spc="-1" strike="noStrike">
                <a:solidFill>
                  <a:srgbClr val="b8b8b8"/>
                </a:solidFill>
                <a:latin typeface="Quattrocento Sans"/>
                <a:ea typeface="Quattrocento Sans"/>
              </a:rPr>
              <a:t> and his </a:t>
            </a:r>
            <a:r>
              <a:rPr b="0" i="1" lang="en-US" sz="1000" spc="-1" strike="noStrike">
                <a:solidFill>
                  <a:srgbClr val="c9a36a"/>
                </a:solidFill>
                <a:latin typeface="Quattrocento Sans"/>
                <a:ea typeface="Quattrocento Sans"/>
              </a:rPr>
              <a:t>transcendent hope</a:t>
            </a:r>
            <a:r>
              <a:rPr b="0" i="1" lang="en-US" sz="1000" spc="-1" strike="noStrike">
                <a:solidFill>
                  <a:srgbClr val="b8b8b8"/>
                </a:solidFill>
                <a:latin typeface="Quattrocento Sans"/>
                <a:ea typeface="Quattrocento Sans"/>
              </a:rPr>
              <a:t>—the swirling chaos of the sky contrasted with the peaceful village below, suggesting that even in madness, beauty and meaning can be found.</a:t>
            </a:r>
            <a:endParaRPr b="0" lang="en-HK" sz="1000" spc="-1" strike="noStrike">
              <a:latin typeface="Arial"/>
            </a:endParaRPr>
          </a:p>
        </p:txBody>
      </p:sp>
      <p:sp>
        <p:nvSpPr>
          <p:cNvPr id="270" name="Shape 20"/>
          <p:cNvSpPr/>
          <p:nvPr/>
        </p:nvSpPr>
        <p:spPr>
          <a:xfrm>
            <a:off x="5634720" y="3349800"/>
            <a:ext cx="6239520" cy="207648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71" name="Shape 21"/>
          <p:cNvSpPr/>
          <p:nvPr/>
        </p:nvSpPr>
        <p:spPr>
          <a:xfrm>
            <a:off x="5634720" y="3349800"/>
            <a:ext cx="20520" cy="207648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72" name="Text 22"/>
          <p:cNvSpPr/>
          <p:nvPr/>
        </p:nvSpPr>
        <p:spPr>
          <a:xfrm>
            <a:off x="5805360" y="350820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500" spc="-1" strike="noStrike">
                <a:solidFill>
                  <a:srgbClr val="f2f2f2"/>
                </a:solidFill>
                <a:latin typeface="Oranienbaum"/>
                <a:ea typeface="Oranienbaum"/>
              </a:rPr>
              <a:t>Scientific Revelation</a:t>
            </a:r>
            <a:endParaRPr b="0" lang="en-HK" sz="1500" spc="-1" strike="noStrike">
              <a:latin typeface="Arial"/>
            </a:endParaRPr>
          </a:p>
        </p:txBody>
      </p:sp>
      <p:sp>
        <p:nvSpPr>
          <p:cNvPr id="273" name="Text 23"/>
          <p:cNvSpPr/>
          <p:nvPr/>
        </p:nvSpPr>
        <p:spPr>
          <a:xfrm>
            <a:off x="5805360" y="3857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00" spc="-1" strike="noStrike">
                <a:solidFill>
                  <a:srgbClr val="b8b8b8"/>
                </a:solidFill>
                <a:latin typeface="Quattrocento Sans"/>
                <a:ea typeface="Quattrocento Sans"/>
              </a:rPr>
              <a:t>In 2006, scientists analyzing the painting's swirling patterns discovered something remarkable: </a:t>
            </a:r>
            <a:r>
              <a:rPr b="0" i="1" lang="en-US" sz="1000" spc="-1" strike="noStrike">
                <a:solidFill>
                  <a:srgbClr val="f2f2f2"/>
                </a:solidFill>
                <a:latin typeface="Quattrocento Sans"/>
                <a:ea typeface="Quattrocento Sans"/>
              </a:rPr>
              <a:t>Van Gogh's turbulent brushstrokes accurately depict the physics of fluid turbulence</a:t>
            </a:r>
            <a:r>
              <a:rPr b="0" i="1" lang="en-US" sz="1000" spc="-1" strike="noStrike">
                <a:solidFill>
                  <a:srgbClr val="b8b8b8"/>
                </a:solidFill>
                <a:latin typeface="Quattrocento Sans"/>
                <a:ea typeface="Quattrocento Sans"/>
              </a:rPr>
              <a:t>—mathematical patterns that scientists wouldn't fully understand until decades after his death.</a:t>
            </a:r>
            <a:endParaRPr b="0" lang="en-HK" sz="1000" spc="-1" strike="noStrike">
              <a:latin typeface="Arial"/>
            </a:endParaRPr>
          </a:p>
        </p:txBody>
      </p:sp>
      <p:sp>
        <p:nvSpPr>
          <p:cNvPr id="274" name="Shape 24"/>
          <p:cNvSpPr/>
          <p:nvPr/>
        </p:nvSpPr>
        <p:spPr>
          <a:xfrm>
            <a:off x="5805360" y="4572000"/>
            <a:ext cx="5910120" cy="69516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75" name="Text 25"/>
          <p:cNvSpPr/>
          <p:nvPr/>
        </p:nvSpPr>
        <p:spPr>
          <a:xfrm>
            <a:off x="5900760" y="4667400"/>
            <a:ext cx="57751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0" spc="-1" strike="noStrike">
                <a:solidFill>
                  <a:srgbClr val="c9a36a"/>
                </a:solidFill>
                <a:latin typeface="Quattrocento Sans"/>
                <a:ea typeface="Quattrocento Sans"/>
              </a:rPr>
              <a:t>Key Insight:</a:t>
            </a:r>
            <a:endParaRPr b="0" lang="en-HK" sz="880" spc="-1" strike="noStrike">
              <a:latin typeface="Arial"/>
            </a:endParaRPr>
          </a:p>
        </p:txBody>
      </p:sp>
      <p:sp>
        <p:nvSpPr>
          <p:cNvPr id="276" name="Text 26"/>
          <p:cNvSpPr/>
          <p:nvPr/>
        </p:nvSpPr>
        <p:spPr>
          <a:xfrm>
            <a:off x="5900760" y="4857840"/>
            <a:ext cx="5775120" cy="31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b8b8b8"/>
                </a:solidFill>
                <a:latin typeface="Quattrocento Sans"/>
                <a:ea typeface="Quattrocento Sans"/>
              </a:rPr>
              <a:t>The spiral patterns in "The Starry Night" follow Kolmogorov's theory of turbulence, showing Van Gogh's intuitive grasp of natural phenomena that science would later formalize.</a:t>
            </a:r>
            <a:endParaRPr b="0" lang="en-HK" sz="880" spc="-1" strike="noStrike">
              <a:latin typeface="Arial"/>
            </a:endParaRPr>
          </a:p>
        </p:txBody>
      </p:sp>
      <p:sp>
        <p:nvSpPr>
          <p:cNvPr id="277" name="Shape 27"/>
          <p:cNvSpPr/>
          <p:nvPr/>
        </p:nvSpPr>
        <p:spPr>
          <a:xfrm>
            <a:off x="5626800" y="5560200"/>
            <a:ext cx="6243480" cy="893520"/>
          </a:xfrm>
          <a:custGeom>
            <a:avLst/>
            <a:gdLst/>
            <a:ah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78" name="Shape 28"/>
          <p:cNvSpPr/>
          <p:nvPr/>
        </p:nvSpPr>
        <p:spPr>
          <a:xfrm>
            <a:off x="5763960" y="5722920"/>
            <a:ext cx="135720" cy="15552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79" name="Text 29"/>
          <p:cNvSpPr/>
          <p:nvPr/>
        </p:nvSpPr>
        <p:spPr>
          <a:xfrm>
            <a:off x="6002640" y="5691240"/>
            <a:ext cx="5799240" cy="409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00" spc="-1" strike="noStrike">
                <a:solidFill>
                  <a:srgbClr val="f2f2f2"/>
                </a:solidFill>
                <a:latin typeface="Quattrocento Sans"/>
                <a:ea typeface="Quattrocento Sans"/>
              </a:rPr>
              <a:t>"This morning I saw the countryside from my window a long time before sunrise, with nothing but the morning star, which looked very big."</a:t>
            </a:r>
            <a:endParaRPr b="0" lang="en-HK" sz="1000" spc="-1" strike="noStrike">
              <a:latin typeface="Arial"/>
            </a:endParaRPr>
          </a:p>
        </p:txBody>
      </p:sp>
      <p:sp>
        <p:nvSpPr>
          <p:cNvPr id="280" name="Text 30"/>
          <p:cNvSpPr/>
          <p:nvPr/>
        </p:nvSpPr>
        <p:spPr>
          <a:xfrm>
            <a:off x="6002640" y="6167520"/>
            <a:ext cx="57909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0" spc="-1" strike="noStrike">
                <a:solidFill>
                  <a:srgbClr val="c9a36a"/>
                </a:solidFill>
                <a:latin typeface="Quattrocento Sans"/>
                <a:ea typeface="Quattrocento Sans"/>
              </a:rPr>
              <a:t>— </a:t>
            </a:r>
            <a:r>
              <a:rPr b="0" i="1" lang="en-US" sz="880" spc="-1" strike="noStrike">
                <a:solidFill>
                  <a:srgbClr val="c9a36a"/>
                </a:solidFill>
                <a:latin typeface="Quattrocento Sans"/>
                <a:ea typeface="Quattrocento Sans"/>
              </a:rPr>
              <a:t>Letter to Theo, June 1889</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81" name="Text 0"/>
          <p:cNvSpPr/>
          <p:nvPr/>
        </p:nvSpPr>
        <p:spPr>
          <a:xfrm>
            <a:off x="317520" y="317520"/>
            <a:ext cx="1161720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82" name="Text 1"/>
          <p:cNvSpPr/>
          <p:nvPr/>
        </p:nvSpPr>
        <p:spPr>
          <a:xfrm>
            <a:off x="9360000" y="571680"/>
            <a:ext cx="2701800" cy="377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000" spc="-1" strike="noStrike">
                <a:solidFill>
                  <a:srgbClr val="f2f2f2"/>
                </a:solidFill>
                <a:latin typeface="Oranienbaum"/>
                <a:ea typeface="Oranienbaum"/>
              </a:rPr>
              <a:t>Sunflowers: The Celebration of Color and Light</a:t>
            </a:r>
            <a:endParaRPr b="0" lang="en-HK" sz="3000" spc="-1" strike="noStrike">
              <a:latin typeface="Arial"/>
            </a:endParaRPr>
          </a:p>
        </p:txBody>
      </p:sp>
      <p:sp>
        <p:nvSpPr>
          <p:cNvPr id="283" name="Shape 2"/>
          <p:cNvSpPr/>
          <p:nvPr/>
        </p:nvSpPr>
        <p:spPr>
          <a:xfrm>
            <a:off x="317520" y="1079640"/>
            <a:ext cx="885600" cy="1260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84" name="Shape 3"/>
          <p:cNvSpPr/>
          <p:nvPr/>
        </p:nvSpPr>
        <p:spPr>
          <a:xfrm>
            <a:off x="329400" y="1222200"/>
            <a:ext cx="6239520" cy="199692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85" name="Shape 4"/>
          <p:cNvSpPr/>
          <p:nvPr/>
        </p:nvSpPr>
        <p:spPr>
          <a:xfrm>
            <a:off x="329400" y="1222200"/>
            <a:ext cx="20520" cy="199692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86" name="Text 5"/>
          <p:cNvSpPr/>
          <p:nvPr/>
        </p:nvSpPr>
        <p:spPr>
          <a:xfrm>
            <a:off x="500040" y="138096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Series of Joy</a:t>
            </a:r>
            <a:endParaRPr b="0" lang="en-HK" sz="1500" spc="-1" strike="noStrike">
              <a:latin typeface="Arial"/>
            </a:endParaRPr>
          </a:p>
        </p:txBody>
      </p:sp>
      <p:sp>
        <p:nvSpPr>
          <p:cNvPr id="287" name="Text 6"/>
          <p:cNvSpPr/>
          <p:nvPr/>
        </p:nvSpPr>
        <p:spPr>
          <a:xfrm>
            <a:off x="500040" y="173052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Van Gogh painted </a:t>
            </a:r>
            <a:r>
              <a:rPr b="0" lang="en-US" sz="1000" spc="-1" strike="noStrike">
                <a:solidFill>
                  <a:srgbClr val="f2f2f2"/>
                </a:solidFill>
                <a:latin typeface="Quattrocento Sans"/>
                <a:ea typeface="Quattrocento Sans"/>
              </a:rPr>
              <a:t>five versions of sunflowers</a:t>
            </a:r>
            <a:r>
              <a:rPr b="0" lang="en-US" sz="1000" spc="-1" strike="noStrike">
                <a:solidFill>
                  <a:srgbClr val="b8b8b8"/>
                </a:solidFill>
                <a:latin typeface="Quattrocento Sans"/>
                <a:ea typeface="Quattrocento Sans"/>
              </a:rPr>
              <a:t> in Arles between 1888-1889, using only three shades of yellow and nothing else. This deliberate limitation was an artistic challenge—to create variety and depth using a single color family.</a:t>
            </a:r>
            <a:endParaRPr b="0" lang="en-HK" sz="1000" spc="-1" strike="noStrike">
              <a:latin typeface="Arial"/>
            </a:endParaRPr>
          </a:p>
        </p:txBody>
      </p:sp>
      <p:sp>
        <p:nvSpPr>
          <p:cNvPr id="288" name="Text 7"/>
          <p:cNvSpPr/>
          <p:nvPr/>
        </p:nvSpPr>
        <p:spPr>
          <a:xfrm>
            <a:off x="500040" y="2444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00" spc="-1" strike="noStrike">
                <a:solidFill>
                  <a:srgbClr val="b8b8b8"/>
                </a:solidFill>
                <a:latin typeface="Quattrocento Sans"/>
                <a:ea typeface="Quattrocento Sans"/>
              </a:rPr>
              <a:t>The flowers represent </a:t>
            </a:r>
            <a:r>
              <a:rPr b="0" i="1" lang="en-US" sz="1000" spc="-1" strike="noStrike">
                <a:solidFill>
                  <a:srgbClr val="c9a36a"/>
                </a:solidFill>
                <a:latin typeface="Quattrocento Sans"/>
                <a:ea typeface="Quattrocento Sans"/>
              </a:rPr>
              <a:t>gratitude and friendship</a:t>
            </a:r>
            <a:r>
              <a:rPr b="0" i="1" lang="en-US" sz="1000" spc="-1" strike="noStrike">
                <a:solidFill>
                  <a:srgbClr val="b8b8b8"/>
                </a:solidFill>
                <a:latin typeface="Quattrocento Sans"/>
                <a:ea typeface="Quattrocento Sans"/>
              </a:rPr>
              <a:t>. Van Gogh painted them to decorate the room where his friend Paul Gauguin would stay, hoping to create an artist's colony in the Yellow House. The series embodies his search for joy and connection.</a:t>
            </a:r>
            <a:endParaRPr b="0" lang="en-HK" sz="1000" spc="-1" strike="noStrike">
              <a:latin typeface="Arial"/>
            </a:endParaRPr>
          </a:p>
        </p:txBody>
      </p:sp>
      <p:sp>
        <p:nvSpPr>
          <p:cNvPr id="289" name="Shape 8"/>
          <p:cNvSpPr/>
          <p:nvPr/>
        </p:nvSpPr>
        <p:spPr>
          <a:xfrm>
            <a:off x="329400" y="3349800"/>
            <a:ext cx="6239520" cy="207648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90" name="Shape 9"/>
          <p:cNvSpPr/>
          <p:nvPr/>
        </p:nvSpPr>
        <p:spPr>
          <a:xfrm>
            <a:off x="329400" y="3349800"/>
            <a:ext cx="20520" cy="207648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91" name="Text 10"/>
          <p:cNvSpPr/>
          <p:nvPr/>
        </p:nvSpPr>
        <p:spPr>
          <a:xfrm>
            <a:off x="500040" y="350820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Color as Emotion</a:t>
            </a:r>
            <a:endParaRPr b="0" lang="en-HK" sz="1500" spc="-1" strike="noStrike">
              <a:latin typeface="Arial"/>
            </a:endParaRPr>
          </a:p>
        </p:txBody>
      </p:sp>
      <p:sp>
        <p:nvSpPr>
          <p:cNvPr id="292" name="Text 11"/>
          <p:cNvSpPr/>
          <p:nvPr/>
        </p:nvSpPr>
        <p:spPr>
          <a:xfrm>
            <a:off x="500040" y="3857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vibrant yellows were revolutionary. Van Gogh used newly developed </a:t>
            </a:r>
            <a:r>
              <a:rPr b="0" lang="en-US" sz="1000" spc="-1" strike="noStrike">
                <a:solidFill>
                  <a:srgbClr val="f2f2f2"/>
                </a:solidFill>
                <a:latin typeface="Quattrocento Sans"/>
                <a:ea typeface="Quattrocento Sans"/>
              </a:rPr>
              <a:t>chrome yellow pigments</a:t>
            </a:r>
            <a:r>
              <a:rPr b="0" lang="en-US" sz="1000" spc="-1" strike="noStrike">
                <a:solidFill>
                  <a:srgbClr val="b8b8b8"/>
                </a:solidFill>
                <a:latin typeface="Quattrocento Sans"/>
                <a:ea typeface="Quattrocento Sans"/>
              </a:rPr>
              <a:t> that were more intense than any previously available. The thick impasto technique makes the petals feel almost three-dimensional, as if reaching toward the viewer.</a:t>
            </a:r>
            <a:endParaRPr b="0" lang="en-HK" sz="1000" spc="-1" strike="noStrike">
              <a:latin typeface="Arial"/>
            </a:endParaRPr>
          </a:p>
        </p:txBody>
      </p:sp>
      <p:sp>
        <p:nvSpPr>
          <p:cNvPr id="293" name="Shape 12"/>
          <p:cNvSpPr/>
          <p:nvPr/>
        </p:nvSpPr>
        <p:spPr>
          <a:xfrm>
            <a:off x="500040" y="4572000"/>
            <a:ext cx="5910120" cy="69516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94" name="Text 13"/>
          <p:cNvSpPr/>
          <p:nvPr/>
        </p:nvSpPr>
        <p:spPr>
          <a:xfrm>
            <a:off x="595440" y="4667400"/>
            <a:ext cx="57751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Symbolic Meaning:</a:t>
            </a:r>
            <a:endParaRPr b="0" lang="en-HK" sz="880" spc="-1" strike="noStrike">
              <a:latin typeface="Arial"/>
            </a:endParaRPr>
          </a:p>
        </p:txBody>
      </p:sp>
      <p:sp>
        <p:nvSpPr>
          <p:cNvPr id="295" name="Text 14"/>
          <p:cNvSpPr/>
          <p:nvPr/>
        </p:nvSpPr>
        <p:spPr>
          <a:xfrm>
            <a:off x="595440" y="4857840"/>
            <a:ext cx="5775120" cy="31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Sunflowers follow the sun—turning their faces toward light. For Van Gogh, they represented faith, adoration, and the pursuit of light even in darkness.</a:t>
            </a:r>
            <a:endParaRPr b="0" lang="en-HK" sz="880" spc="-1" strike="noStrike">
              <a:latin typeface="Arial"/>
            </a:endParaRPr>
          </a:p>
        </p:txBody>
      </p:sp>
      <p:sp>
        <p:nvSpPr>
          <p:cNvPr id="296" name="Shape 15"/>
          <p:cNvSpPr/>
          <p:nvPr/>
        </p:nvSpPr>
        <p:spPr>
          <a:xfrm>
            <a:off x="321480" y="5560200"/>
            <a:ext cx="6243480" cy="687240"/>
          </a:xfrm>
          <a:custGeom>
            <a:avLst/>
            <a:gdLst/>
            <a:ah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97" name="Shape 16"/>
          <p:cNvSpPr/>
          <p:nvPr/>
        </p:nvSpPr>
        <p:spPr>
          <a:xfrm>
            <a:off x="482040" y="5722920"/>
            <a:ext cx="135720" cy="15552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98" name="Text 17"/>
          <p:cNvSpPr/>
          <p:nvPr/>
        </p:nvSpPr>
        <p:spPr>
          <a:xfrm>
            <a:off x="746280" y="5691240"/>
            <a:ext cx="1893960" cy="203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"The sunflower is mine, in a way."</a:t>
            </a:r>
            <a:endParaRPr b="0" lang="en-HK" sz="1000" spc="-1" strike="noStrike">
              <a:latin typeface="Arial"/>
            </a:endParaRPr>
          </a:p>
        </p:txBody>
      </p:sp>
      <p:sp>
        <p:nvSpPr>
          <p:cNvPr id="299" name="Text 18"/>
          <p:cNvSpPr/>
          <p:nvPr/>
        </p:nvSpPr>
        <p:spPr>
          <a:xfrm>
            <a:off x="746280" y="5961240"/>
            <a:ext cx="188604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Vincent van Gogh</a:t>
            </a:r>
            <a:endParaRPr b="0" lang="en-HK" sz="880" spc="-1" strike="noStrike">
              <a:latin typeface="Arial"/>
            </a:endParaRPr>
          </a:p>
        </p:txBody>
      </p:sp>
      <p:sp>
        <p:nvSpPr>
          <p:cNvPr id="300" name="Shape 19"/>
          <p:cNvSpPr/>
          <p:nvPr/>
        </p:nvSpPr>
        <p:spPr>
          <a:xfrm>
            <a:off x="6763680" y="1226520"/>
            <a:ext cx="5100480" cy="6902280"/>
          </a:xfrm>
          <a:custGeom>
            <a:avLst/>
            <a:gdLst/>
            <a:ah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round/>
          </a:ln>
        </p:spPr>
        <p:style>
          <a:lnRef idx="0"/>
          <a:fillRef idx="0"/>
          <a:effectRef idx="0"/>
          <a:fontRef idx="minor"/>
        </p:style>
      </p:sp>
      <p:sp>
        <p:nvSpPr>
          <p:cNvPr id="301" name="Image 0"/>
          <p:cNvSpPr/>
          <p:nvPr/>
        </p:nvSpPr>
        <p:spPr>
          <a:xfrm>
            <a:off x="6767640" y="1230480"/>
            <a:ext cx="5092560" cy="6894360"/>
          </a:xfrm>
          <a:prstGeom prst="roundRect">
            <a:avLst>
              <a:gd name="adj" fmla="val 1246"/>
            </a:avLst>
          </a:prstGeom>
          <a:blipFill rotWithShape="0">
            <a:blip r:embed="rId1"/>
            <a:srcRect/>
            <a:stretch/>
          </a:blipFill>
          <a:ln w="0">
            <a:noFill/>
          </a:ln>
        </p:spPr>
        <p:style>
          <a:lnRef idx="0"/>
          <a:fillRef idx="0"/>
          <a:effectRef idx="0"/>
          <a:fontRef idx="minor"/>
        </p:style>
      </p:sp>
      <p:sp>
        <p:nvSpPr>
          <p:cNvPr id="302" name="Shape 20"/>
          <p:cNvSpPr/>
          <p:nvPr/>
        </p:nvSpPr>
        <p:spPr>
          <a:xfrm>
            <a:off x="6771600" y="8259840"/>
            <a:ext cx="5096520" cy="1298520"/>
          </a:xfrm>
          <a:custGeom>
            <a:avLst/>
            <a:gdLst/>
            <a:ah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303" name="Shape 21"/>
          <p:cNvSpPr/>
          <p:nvPr/>
        </p:nvSpPr>
        <p:spPr>
          <a:xfrm>
            <a:off x="6771600" y="8259840"/>
            <a:ext cx="20520" cy="1298520"/>
          </a:xfrm>
          <a:custGeom>
            <a:avLst/>
            <a:gdLst/>
            <a:ah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304" name="Text 22"/>
          <p:cNvSpPr/>
          <p:nvPr/>
        </p:nvSpPr>
        <p:spPr>
          <a:xfrm>
            <a:off x="6910560" y="8386920"/>
            <a:ext cx="48862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Series Overview</a:t>
            </a:r>
            <a:endParaRPr b="0" lang="en-HK" sz="880" spc="-1" strike="noStrike">
              <a:latin typeface="Arial"/>
            </a:endParaRPr>
          </a:p>
        </p:txBody>
      </p:sp>
      <p:sp>
        <p:nvSpPr>
          <p:cNvPr id="305" name="Text 23"/>
          <p:cNvSpPr/>
          <p:nvPr/>
        </p:nvSpPr>
        <p:spPr>
          <a:xfrm>
            <a:off x="6910560" y="8609040"/>
            <a:ext cx="8539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Versions Painted</a:t>
            </a:r>
            <a:endParaRPr b="0" lang="en-HK" sz="880" spc="-1" strike="noStrike">
              <a:latin typeface="Arial"/>
            </a:endParaRPr>
          </a:p>
        </p:txBody>
      </p:sp>
      <p:sp>
        <p:nvSpPr>
          <p:cNvPr id="306" name="Text 24"/>
          <p:cNvSpPr/>
          <p:nvPr/>
        </p:nvSpPr>
        <p:spPr>
          <a:xfrm>
            <a:off x="10954080" y="8609040"/>
            <a:ext cx="846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5 major versions</a:t>
            </a:r>
            <a:endParaRPr b="0" lang="en-HK" sz="880" spc="-1" strike="noStrike">
              <a:latin typeface="Arial"/>
            </a:endParaRPr>
          </a:p>
        </p:txBody>
      </p:sp>
      <p:sp>
        <p:nvSpPr>
          <p:cNvPr id="307" name="Text 25"/>
          <p:cNvSpPr/>
          <p:nvPr/>
        </p:nvSpPr>
        <p:spPr>
          <a:xfrm>
            <a:off x="6910560" y="8831160"/>
            <a:ext cx="6238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Time Period</a:t>
            </a:r>
            <a:endParaRPr b="0" lang="en-HK" sz="880" spc="-1" strike="noStrike">
              <a:latin typeface="Arial"/>
            </a:endParaRPr>
          </a:p>
        </p:txBody>
      </p:sp>
      <p:sp>
        <p:nvSpPr>
          <p:cNvPr id="308" name="Text 26"/>
          <p:cNvSpPr/>
          <p:nvPr/>
        </p:nvSpPr>
        <p:spPr>
          <a:xfrm>
            <a:off x="11251800" y="8831160"/>
            <a:ext cx="5443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1888-1889</a:t>
            </a:r>
            <a:endParaRPr b="0" lang="en-HK" sz="880" spc="-1" strike="noStrike">
              <a:latin typeface="Arial"/>
            </a:endParaRPr>
          </a:p>
        </p:txBody>
      </p:sp>
      <p:sp>
        <p:nvSpPr>
          <p:cNvPr id="309" name="Text 27"/>
          <p:cNvSpPr/>
          <p:nvPr/>
        </p:nvSpPr>
        <p:spPr>
          <a:xfrm>
            <a:off x="6910560" y="9053640"/>
            <a:ext cx="711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Primary Color</a:t>
            </a:r>
            <a:endParaRPr b="0" lang="en-HK" sz="880" spc="-1" strike="noStrike">
              <a:latin typeface="Arial"/>
            </a:endParaRPr>
          </a:p>
        </p:txBody>
      </p:sp>
      <p:sp>
        <p:nvSpPr>
          <p:cNvPr id="310" name="Text 28"/>
          <p:cNvSpPr/>
          <p:nvPr/>
        </p:nvSpPr>
        <p:spPr>
          <a:xfrm>
            <a:off x="11006640" y="9053640"/>
            <a:ext cx="7905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Chrome Yellow</a:t>
            </a:r>
            <a:endParaRPr b="0" lang="en-HK" sz="880" spc="-1" strike="noStrike">
              <a:latin typeface="Arial"/>
            </a:endParaRPr>
          </a:p>
        </p:txBody>
      </p:sp>
      <p:sp>
        <p:nvSpPr>
          <p:cNvPr id="311" name="Text 29"/>
          <p:cNvSpPr/>
          <p:nvPr/>
        </p:nvSpPr>
        <p:spPr>
          <a:xfrm>
            <a:off x="6910560" y="9275760"/>
            <a:ext cx="711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Current Value</a:t>
            </a:r>
            <a:endParaRPr b="0" lang="en-HK" sz="880" spc="-1" strike="noStrike">
              <a:latin typeface="Arial"/>
            </a:endParaRPr>
          </a:p>
        </p:txBody>
      </p:sp>
      <p:sp>
        <p:nvSpPr>
          <p:cNvPr id="312" name="Text 30"/>
          <p:cNvSpPr/>
          <p:nvPr/>
        </p:nvSpPr>
        <p:spPr>
          <a:xfrm>
            <a:off x="11105280" y="9275760"/>
            <a:ext cx="6951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$100+ million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13" name="Text 0"/>
          <p:cNvSpPr/>
          <p:nvPr/>
        </p:nvSpPr>
        <p:spPr>
          <a:xfrm>
            <a:off x="333360" y="333360"/>
            <a:ext cx="115887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50" spc="185" strike="noStrike">
                <a:solidFill>
                  <a:srgbClr val="c9a36a"/>
                </a:solidFill>
                <a:latin typeface="Quattrocento Sans"/>
                <a:ea typeface="Quattrocento Sans"/>
              </a:rPr>
              <a:t>Chapter 03</a:t>
            </a:r>
            <a:endParaRPr b="0" lang="en-HK" sz="1050" spc="-1" strike="noStrike">
              <a:latin typeface="Arial"/>
            </a:endParaRPr>
          </a:p>
        </p:txBody>
      </p:sp>
      <p:sp>
        <p:nvSpPr>
          <p:cNvPr id="314" name="Text 1"/>
          <p:cNvSpPr/>
          <p:nvPr/>
        </p:nvSpPr>
        <p:spPr>
          <a:xfrm>
            <a:off x="333360" y="600120"/>
            <a:ext cx="11721960" cy="396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150" spc="-1" strike="noStrike">
                <a:solidFill>
                  <a:srgbClr val="f2f2f2"/>
                </a:solidFill>
                <a:latin typeface="Oranienbaum"/>
                <a:ea typeface="Oranienbaum"/>
              </a:rPr>
              <a:t>Other Iconic Works: From Irises to Wheatf</a:t>
            </a:r>
            <a:r>
              <a:rPr b="0" lang="en-US" sz="3150" spc="-1" strike="noStrike">
                <a:solidFill>
                  <a:srgbClr val="f2f2f2"/>
                </a:solidFill>
                <a:latin typeface="Oranienbaum"/>
                <a:ea typeface="Oranienbaum"/>
              </a:rPr>
              <a:t>ields</a:t>
            </a:r>
            <a:endParaRPr b="0" lang="en-HK" sz="3150" spc="-1" strike="noStrike">
              <a:latin typeface="Arial"/>
            </a:endParaRPr>
          </a:p>
        </p:txBody>
      </p:sp>
      <p:sp>
        <p:nvSpPr>
          <p:cNvPr id="315" name="Shape 2"/>
          <p:cNvSpPr/>
          <p:nvPr/>
        </p:nvSpPr>
        <p:spPr>
          <a:xfrm>
            <a:off x="333360" y="1133280"/>
            <a:ext cx="930240" cy="13320"/>
          </a:xfrm>
          <a:custGeom>
            <a:avLst/>
            <a:gdLst/>
            <a:ahLst/>
            <a:rect l="l" t="t" r="r" b="b"/>
            <a:pathLst>
              <a:path w="933359" h="16667">
                <a:moveTo>
                  <a:pt x="0" y="0"/>
                </a:moveTo>
                <a:lnTo>
                  <a:pt x="933359" y="0"/>
                </a:lnTo>
                <a:lnTo>
                  <a:pt x="933359" y="16667"/>
                </a:lnTo>
                <a:lnTo>
                  <a:pt x="0" y="16667"/>
                </a:lnTo>
                <a:lnTo>
                  <a:pt x="0" y="0"/>
                </a:lnTo>
                <a:close/>
              </a:path>
            </a:pathLst>
          </a:custGeom>
          <a:solidFill>
            <a:srgbClr val="c9a36a"/>
          </a:solidFill>
          <a:ln w="0">
            <a:noFill/>
          </a:ln>
        </p:spPr>
        <p:style>
          <a:lnRef idx="0"/>
          <a:fillRef idx="0"/>
          <a:effectRef idx="0"/>
          <a:fontRef idx="minor"/>
        </p:style>
      </p:sp>
      <p:sp>
        <p:nvSpPr>
          <p:cNvPr id="316" name="Shape 3"/>
          <p:cNvSpPr/>
          <p:nvPr/>
        </p:nvSpPr>
        <p:spPr>
          <a:xfrm>
            <a:off x="337680" y="132084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17" name="Image 0"/>
          <p:cNvSpPr/>
          <p:nvPr/>
        </p:nvSpPr>
        <p:spPr>
          <a:xfrm>
            <a:off x="341640" y="1325160"/>
            <a:ext cx="5663520" cy="1163520"/>
          </a:xfrm>
          <a:prstGeom prst="roundRect">
            <a:avLst>
              <a:gd name="adj" fmla="val 0"/>
            </a:avLst>
          </a:prstGeom>
          <a:blipFill rotWithShape="0">
            <a:blip r:embed="rId1"/>
            <a:srcRect/>
            <a:stretch/>
          </a:blipFill>
          <a:ln w="0">
            <a:noFill/>
          </a:ln>
        </p:spPr>
        <p:style>
          <a:lnRef idx="0"/>
          <a:fillRef idx="0"/>
          <a:effectRef idx="0"/>
          <a:fontRef idx="minor"/>
        </p:style>
      </p:sp>
      <p:sp>
        <p:nvSpPr>
          <p:cNvPr id="318" name="Text 4"/>
          <p:cNvSpPr/>
          <p:nvPr/>
        </p:nvSpPr>
        <p:spPr>
          <a:xfrm>
            <a:off x="474840" y="2625120"/>
            <a:ext cx="43848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310" spc="-1" strike="noStrike">
                <a:solidFill>
                  <a:srgbClr val="f2f2f2"/>
                </a:solidFill>
                <a:latin typeface="Oranienbaum"/>
                <a:ea typeface="Oranienbaum"/>
              </a:rPr>
              <a:t>Irises</a:t>
            </a:r>
            <a:endParaRPr b="0" lang="en-HK" sz="1310" spc="-1" strike="noStrike">
              <a:latin typeface="Arial"/>
            </a:endParaRPr>
          </a:p>
        </p:txBody>
      </p:sp>
      <p:sp>
        <p:nvSpPr>
          <p:cNvPr id="319" name="Text 5"/>
          <p:cNvSpPr/>
          <p:nvPr/>
        </p:nvSpPr>
        <p:spPr>
          <a:xfrm>
            <a:off x="5639760" y="2658240"/>
            <a:ext cx="2883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20" spc="-1" strike="noStrike">
                <a:solidFill>
                  <a:srgbClr val="c9a36a"/>
                </a:solidFill>
                <a:latin typeface="Quattrocento Sans"/>
                <a:ea typeface="Quattrocento Sans"/>
              </a:rPr>
              <a:t>1889</a:t>
            </a:r>
            <a:endParaRPr b="0" lang="en-HK" sz="920" spc="-1" strike="noStrike">
              <a:latin typeface="Arial"/>
            </a:endParaRPr>
          </a:p>
        </p:txBody>
      </p:sp>
      <p:sp>
        <p:nvSpPr>
          <p:cNvPr id="320" name="Text 6"/>
          <p:cNvSpPr/>
          <p:nvPr/>
        </p:nvSpPr>
        <p:spPr>
          <a:xfrm>
            <a:off x="474840" y="292500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920" spc="-1" strike="noStrike">
                <a:solidFill>
                  <a:srgbClr val="b8b8b8"/>
                </a:solidFill>
                <a:latin typeface="Quattrocento Sans"/>
                <a:ea typeface="Quattrocento Sans"/>
              </a:rPr>
              <a:t>Painted in the asylum garden, this work showcases Van Gogh's study of color with </a:t>
            </a:r>
            <a:r>
              <a:rPr b="0" i="1" lang="en-US" sz="920" spc="-1" strike="noStrike">
                <a:solidFill>
                  <a:srgbClr val="f2f2f2"/>
                </a:solidFill>
                <a:latin typeface="Quattrocento Sans"/>
                <a:ea typeface="Quattrocento Sans"/>
              </a:rPr>
              <a:t>vibrant blues and greens</a:t>
            </a:r>
            <a:r>
              <a:rPr b="0" i="1" lang="en-US" sz="920" spc="-1" strike="noStrike">
                <a:solidFill>
                  <a:srgbClr val="b8b8b8"/>
                </a:solidFill>
                <a:latin typeface="Quattrocento Sans"/>
                <a:ea typeface="Quattrocento Sans"/>
              </a:rPr>
              <a:t>. Originally the irises were purple, but the pigment faded over time to cobalt blue.</a:t>
            </a:r>
            <a:endParaRPr b="0" lang="en-HK" sz="920" spc="-1" strike="noStrike">
              <a:latin typeface="Arial"/>
            </a:endParaRPr>
          </a:p>
        </p:txBody>
      </p:sp>
      <p:sp>
        <p:nvSpPr>
          <p:cNvPr id="321" name="Shape 7"/>
          <p:cNvSpPr/>
          <p:nvPr/>
        </p:nvSpPr>
        <p:spPr>
          <a:xfrm>
            <a:off x="474840" y="34293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2" name="Text 8"/>
          <p:cNvSpPr/>
          <p:nvPr/>
        </p:nvSpPr>
        <p:spPr>
          <a:xfrm>
            <a:off x="541800" y="34959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i="1" lang="en-US" sz="790" spc="-1" strike="noStrike">
                <a:solidFill>
                  <a:srgbClr val="a3a3a3"/>
                </a:solidFill>
                <a:latin typeface="Quattrocento Sans"/>
                <a:ea typeface="Quattrocento Sans"/>
              </a:rPr>
              <a:t>Location: Getty Center, Los Angeles</a:t>
            </a:r>
            <a:endParaRPr b="0" lang="en-HK" sz="790" spc="-1" strike="noStrike">
              <a:latin typeface="Arial"/>
            </a:endParaRPr>
          </a:p>
        </p:txBody>
      </p:sp>
      <p:sp>
        <p:nvSpPr>
          <p:cNvPr id="323" name="Shape 9"/>
          <p:cNvSpPr/>
          <p:nvPr/>
        </p:nvSpPr>
        <p:spPr>
          <a:xfrm>
            <a:off x="6184080" y="132084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24" name="Image 1"/>
          <p:cNvSpPr/>
          <p:nvPr/>
        </p:nvSpPr>
        <p:spPr>
          <a:xfrm>
            <a:off x="6188040" y="1325160"/>
            <a:ext cx="5663520" cy="1163520"/>
          </a:xfrm>
          <a:prstGeom prst="roundRect">
            <a:avLst>
              <a:gd name="adj" fmla="val 0"/>
            </a:avLst>
          </a:prstGeom>
          <a:blipFill rotWithShape="0">
            <a:blip r:embed="rId2"/>
            <a:srcRect/>
            <a:stretch/>
          </a:blipFill>
          <a:ln w="0">
            <a:noFill/>
          </a:ln>
        </p:spPr>
        <p:style>
          <a:lnRef idx="0"/>
          <a:fillRef idx="0"/>
          <a:effectRef idx="0"/>
          <a:fontRef idx="minor"/>
        </p:style>
      </p:sp>
      <p:sp>
        <p:nvSpPr>
          <p:cNvPr id="325" name="Text 10"/>
          <p:cNvSpPr/>
          <p:nvPr/>
        </p:nvSpPr>
        <p:spPr>
          <a:xfrm>
            <a:off x="6321600" y="2625120"/>
            <a:ext cx="94680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310" spc="-1" strike="noStrike">
                <a:solidFill>
                  <a:srgbClr val="f2f2f2"/>
                </a:solidFill>
                <a:latin typeface="Oranienbaum"/>
                <a:ea typeface="Oranienbaum"/>
              </a:rPr>
              <a:t>The Bedroom</a:t>
            </a:r>
            <a:endParaRPr b="0" lang="en-HK" sz="1310" spc="-1" strike="noStrike">
              <a:latin typeface="Arial"/>
            </a:endParaRPr>
          </a:p>
        </p:txBody>
      </p:sp>
      <p:sp>
        <p:nvSpPr>
          <p:cNvPr id="326" name="Text 11"/>
          <p:cNvSpPr/>
          <p:nvPr/>
        </p:nvSpPr>
        <p:spPr>
          <a:xfrm>
            <a:off x="11485440" y="2658240"/>
            <a:ext cx="2883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20" spc="-1" strike="noStrike">
                <a:solidFill>
                  <a:srgbClr val="c9a36a"/>
                </a:solidFill>
                <a:latin typeface="Quattrocento Sans"/>
                <a:ea typeface="Quattrocento Sans"/>
              </a:rPr>
              <a:t>1888</a:t>
            </a:r>
            <a:endParaRPr b="0" lang="en-HK" sz="920" spc="-1" strike="noStrike">
              <a:latin typeface="Arial"/>
            </a:endParaRPr>
          </a:p>
        </p:txBody>
      </p:sp>
      <p:sp>
        <p:nvSpPr>
          <p:cNvPr id="327" name="Text 12"/>
          <p:cNvSpPr/>
          <p:nvPr/>
        </p:nvSpPr>
        <p:spPr>
          <a:xfrm>
            <a:off x="6321600" y="292500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920" spc="-1" strike="noStrike">
                <a:solidFill>
                  <a:srgbClr val="b8b8b8"/>
                </a:solidFill>
                <a:latin typeface="Quattrocento Sans"/>
                <a:ea typeface="Quattrocento Sans"/>
              </a:rPr>
              <a:t>A glimpse into Van Gogh's personal space in Arles, featuring </a:t>
            </a:r>
            <a:r>
              <a:rPr b="0" i="1" lang="en-US" sz="920" spc="-1" strike="noStrike">
                <a:solidFill>
                  <a:srgbClr val="f2f2f2"/>
                </a:solidFill>
                <a:latin typeface="Quattrocento Sans"/>
                <a:ea typeface="Quattrocento Sans"/>
              </a:rPr>
              <a:t>distorted perspective</a:t>
            </a:r>
            <a:r>
              <a:rPr b="0" i="1" lang="en-US" sz="920" spc="-1" strike="noStrike">
                <a:solidFill>
                  <a:srgbClr val="b8b8b8"/>
                </a:solidFill>
                <a:latin typeface="Quattrocento Sans"/>
                <a:ea typeface="Quattrocento Sans"/>
              </a:rPr>
              <a:t> and bold colors. The painting reflects his desire for tranquility and simplicity.</a:t>
            </a:r>
            <a:endParaRPr b="0" lang="en-HK" sz="920" spc="-1" strike="noStrike">
              <a:latin typeface="Arial"/>
            </a:endParaRPr>
          </a:p>
        </p:txBody>
      </p:sp>
      <p:sp>
        <p:nvSpPr>
          <p:cNvPr id="328" name="Shape 13"/>
          <p:cNvSpPr/>
          <p:nvPr/>
        </p:nvSpPr>
        <p:spPr>
          <a:xfrm>
            <a:off x="6321600" y="34293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9" name="Text 14"/>
          <p:cNvSpPr/>
          <p:nvPr/>
        </p:nvSpPr>
        <p:spPr>
          <a:xfrm>
            <a:off x="6388200" y="34959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i="1"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0" name="Shape 15"/>
          <p:cNvSpPr/>
          <p:nvPr/>
        </p:nvSpPr>
        <p:spPr>
          <a:xfrm>
            <a:off x="337680" y="400860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1" name="Image 2"/>
          <p:cNvSpPr/>
          <p:nvPr/>
        </p:nvSpPr>
        <p:spPr>
          <a:xfrm>
            <a:off x="341640" y="4012560"/>
            <a:ext cx="5663520" cy="1163520"/>
          </a:xfrm>
          <a:prstGeom prst="roundRect">
            <a:avLst>
              <a:gd name="adj" fmla="val 0"/>
            </a:avLst>
          </a:prstGeom>
          <a:solidFill>
            <a:srgbClr val="729fcf"/>
          </a:solidFill>
          <a:ln w="0">
            <a:noFill/>
          </a:ln>
        </p:spPr>
        <p:style>
          <a:lnRef idx="0"/>
          <a:fillRef idx="0"/>
          <a:effectRef idx="0"/>
          <a:fontRef idx="minor"/>
        </p:style>
      </p:sp>
      <p:sp>
        <p:nvSpPr>
          <p:cNvPr id="332" name="Text 16"/>
          <p:cNvSpPr/>
          <p:nvPr/>
        </p:nvSpPr>
        <p:spPr>
          <a:xfrm>
            <a:off x="474840" y="5312520"/>
            <a:ext cx="158004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310" spc="-1" strike="noStrike">
                <a:solidFill>
                  <a:srgbClr val="f2f2f2"/>
                </a:solidFill>
                <a:latin typeface="Oranienbaum"/>
                <a:ea typeface="Oranienbaum"/>
              </a:rPr>
              <a:t>Wheatfield with Crows</a:t>
            </a:r>
            <a:endParaRPr b="0" lang="en-HK" sz="1310" spc="-1" strike="noStrike">
              <a:latin typeface="Arial"/>
            </a:endParaRPr>
          </a:p>
        </p:txBody>
      </p:sp>
      <p:sp>
        <p:nvSpPr>
          <p:cNvPr id="333" name="Text 17"/>
          <p:cNvSpPr/>
          <p:nvPr/>
        </p:nvSpPr>
        <p:spPr>
          <a:xfrm>
            <a:off x="5629320" y="5346000"/>
            <a:ext cx="2966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20" spc="-1" strike="noStrike">
                <a:solidFill>
                  <a:srgbClr val="c9a36a"/>
                </a:solidFill>
                <a:latin typeface="Quattrocento Sans"/>
                <a:ea typeface="Quattrocento Sans"/>
              </a:rPr>
              <a:t>1890</a:t>
            </a:r>
            <a:endParaRPr b="0" lang="en-HK" sz="920" spc="-1" strike="noStrike">
              <a:latin typeface="Arial"/>
            </a:endParaRPr>
          </a:p>
        </p:txBody>
      </p:sp>
      <p:sp>
        <p:nvSpPr>
          <p:cNvPr id="334" name="Text 18"/>
          <p:cNvSpPr/>
          <p:nvPr/>
        </p:nvSpPr>
        <p:spPr>
          <a:xfrm>
            <a:off x="474840" y="561276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920" spc="-1" strike="noStrike">
                <a:solidFill>
                  <a:srgbClr val="b8b8b8"/>
                </a:solidFill>
                <a:latin typeface="Quattrocento Sans"/>
                <a:ea typeface="Quattrocento Sans"/>
              </a:rPr>
              <a:t>Often considered his final painting, this work shows </a:t>
            </a:r>
            <a:r>
              <a:rPr b="0" i="1" lang="en-US" sz="920" spc="-1" strike="noStrike">
                <a:solidFill>
                  <a:srgbClr val="f2f2f2"/>
                </a:solidFill>
                <a:latin typeface="Quattrocento Sans"/>
                <a:ea typeface="Quattrocento Sans"/>
              </a:rPr>
              <a:t>menacing skies</a:t>
            </a:r>
            <a:r>
              <a:rPr b="0" i="1" lang="en-US" sz="920" spc="-1" strike="noStrike">
                <a:solidFill>
                  <a:srgbClr val="b8b8b8"/>
                </a:solidFill>
                <a:latin typeface="Quattrocento Sans"/>
                <a:ea typeface="Quattrocento Sans"/>
              </a:rPr>
              <a:t>, dark crows, and a dead-end path—interpreted as expressing his emotional turmoil and foreshadowing his death.</a:t>
            </a:r>
            <a:endParaRPr b="0" lang="en-HK" sz="920" spc="-1" strike="noStrike">
              <a:latin typeface="Arial"/>
            </a:endParaRPr>
          </a:p>
        </p:txBody>
      </p:sp>
      <p:sp>
        <p:nvSpPr>
          <p:cNvPr id="335" name="Shape 19"/>
          <p:cNvSpPr/>
          <p:nvPr/>
        </p:nvSpPr>
        <p:spPr>
          <a:xfrm>
            <a:off x="474840" y="61167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36" name="Text 20"/>
          <p:cNvSpPr/>
          <p:nvPr/>
        </p:nvSpPr>
        <p:spPr>
          <a:xfrm>
            <a:off x="541800" y="61833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i="1"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7" name="Shape 21"/>
          <p:cNvSpPr/>
          <p:nvPr/>
        </p:nvSpPr>
        <p:spPr>
          <a:xfrm>
            <a:off x="6184080" y="400860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8" name="Image 3"/>
          <p:cNvSpPr/>
          <p:nvPr/>
        </p:nvSpPr>
        <p:spPr>
          <a:xfrm>
            <a:off x="6188040" y="4012560"/>
            <a:ext cx="5663520" cy="1163520"/>
          </a:xfrm>
          <a:prstGeom prst="roundRect">
            <a:avLst>
              <a:gd name="adj" fmla="val 0"/>
            </a:avLst>
          </a:prstGeom>
          <a:blipFill rotWithShape="0">
            <a:blip r:embed="rId3"/>
            <a:srcRect/>
            <a:stretch/>
          </a:blipFill>
          <a:ln w="0">
            <a:noFill/>
          </a:ln>
        </p:spPr>
        <p:style>
          <a:lnRef idx="0"/>
          <a:fillRef idx="0"/>
          <a:effectRef idx="0"/>
          <a:fontRef idx="minor"/>
        </p:style>
      </p:sp>
      <p:sp>
        <p:nvSpPr>
          <p:cNvPr id="339" name="Text 22"/>
          <p:cNvSpPr/>
          <p:nvPr/>
        </p:nvSpPr>
        <p:spPr>
          <a:xfrm>
            <a:off x="6321600" y="5312520"/>
            <a:ext cx="117180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310" spc="-1" strike="noStrike">
                <a:solidFill>
                  <a:srgbClr val="f2f2f2"/>
                </a:solidFill>
                <a:latin typeface="Oranienbaum"/>
                <a:ea typeface="Oranienbaum"/>
              </a:rPr>
              <a:t>Almond Blossom</a:t>
            </a:r>
            <a:endParaRPr b="0" lang="en-HK" sz="1310" spc="-1" strike="noStrike">
              <a:latin typeface="Arial"/>
            </a:endParaRPr>
          </a:p>
        </p:txBody>
      </p:sp>
      <p:sp>
        <p:nvSpPr>
          <p:cNvPr id="340" name="Text 23"/>
          <p:cNvSpPr/>
          <p:nvPr/>
        </p:nvSpPr>
        <p:spPr>
          <a:xfrm>
            <a:off x="11475720" y="5346000"/>
            <a:ext cx="2966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20" spc="-1" strike="noStrike">
                <a:solidFill>
                  <a:srgbClr val="c9a36a"/>
                </a:solidFill>
                <a:latin typeface="Quattrocento Sans"/>
                <a:ea typeface="Quattrocento Sans"/>
              </a:rPr>
              <a:t>1890</a:t>
            </a:r>
            <a:endParaRPr b="0" lang="en-HK" sz="920" spc="-1" strike="noStrike">
              <a:latin typeface="Arial"/>
            </a:endParaRPr>
          </a:p>
        </p:txBody>
      </p:sp>
      <p:sp>
        <p:nvSpPr>
          <p:cNvPr id="341" name="Text 24"/>
          <p:cNvSpPr/>
          <p:nvPr/>
        </p:nvSpPr>
        <p:spPr>
          <a:xfrm>
            <a:off x="6321600" y="561276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920" spc="-1" strike="noStrike">
                <a:solidFill>
                  <a:srgbClr val="b8b8b8"/>
                </a:solidFill>
                <a:latin typeface="Quattrocento Sans"/>
                <a:ea typeface="Quattrocento Sans"/>
              </a:rPr>
              <a:t>Painted as a gift for his newborn nephew, this work shows </a:t>
            </a:r>
            <a:r>
              <a:rPr b="0" i="1" lang="en-US" sz="920" spc="-1" strike="noStrike">
                <a:solidFill>
                  <a:srgbClr val="f2f2f2"/>
                </a:solidFill>
                <a:latin typeface="Quattrocento Sans"/>
                <a:ea typeface="Quattrocento Sans"/>
              </a:rPr>
              <a:t>delicate branches against turquoise sky</a:t>
            </a:r>
            <a:r>
              <a:rPr b="0" i="1" lang="en-US" sz="920" spc="-1" strike="noStrike">
                <a:solidFill>
                  <a:srgbClr val="b8b8b8"/>
                </a:solidFill>
                <a:latin typeface="Quattrocento Sans"/>
                <a:ea typeface="Quattrocento Sans"/>
              </a:rPr>
              <a:t>. It represents new life and hope, heavily influenced by Japanese prints.</a:t>
            </a:r>
            <a:endParaRPr b="0" lang="en-HK" sz="920" spc="-1" strike="noStrike">
              <a:latin typeface="Arial"/>
            </a:endParaRPr>
          </a:p>
        </p:txBody>
      </p:sp>
      <p:sp>
        <p:nvSpPr>
          <p:cNvPr id="342" name="Shape 25"/>
          <p:cNvSpPr/>
          <p:nvPr/>
        </p:nvSpPr>
        <p:spPr>
          <a:xfrm>
            <a:off x="6321600" y="61167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43" name="Text 26"/>
          <p:cNvSpPr/>
          <p:nvPr/>
        </p:nvSpPr>
        <p:spPr>
          <a:xfrm>
            <a:off x="6388200" y="61833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i="1"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4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34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46" name="Shape 1"/>
          <p:cNvSpPr/>
          <p:nvPr/>
        </p:nvSpPr>
        <p:spPr>
          <a:xfrm>
            <a:off x="385920" y="1231200"/>
            <a:ext cx="1063440" cy="806400"/>
          </a:xfrm>
          <a:custGeom>
            <a:avLst/>
            <a:gdLst/>
            <a:ah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47" name="Text 2"/>
          <p:cNvSpPr/>
          <p:nvPr/>
        </p:nvSpPr>
        <p:spPr>
          <a:xfrm>
            <a:off x="619200" y="1307160"/>
            <a:ext cx="87984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04</a:t>
            </a:r>
            <a:endParaRPr b="0" lang="en-HK" sz="4500" spc="-1" strike="noStrike">
              <a:latin typeface="Arial"/>
            </a:endParaRPr>
          </a:p>
        </p:txBody>
      </p:sp>
      <p:sp>
        <p:nvSpPr>
          <p:cNvPr id="348" name="Text 3"/>
          <p:cNvSpPr/>
          <p:nvPr/>
        </p:nvSpPr>
        <p:spPr>
          <a:xfrm>
            <a:off x="774000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Mental Health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the Price of Genius</a:t>
            </a:r>
            <a:endParaRPr b="0" lang="en-HK" sz="5400" spc="-1" strike="noStrike">
              <a:latin typeface="Arial"/>
            </a:endParaRPr>
          </a:p>
        </p:txBody>
      </p:sp>
      <p:sp>
        <p:nvSpPr>
          <p:cNvPr id="349"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50"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b8b8b8"/>
                </a:solidFill>
                <a:latin typeface="Quattrocento Sans"/>
                <a:ea typeface="Quattrocento Sans"/>
              </a:rPr>
              <a:t>The complex relationship between creativity and psychological struggle</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51" name="Text 0"/>
          <p:cNvSpPr/>
          <p:nvPr/>
        </p:nvSpPr>
        <p:spPr>
          <a:xfrm>
            <a:off x="337680" y="337680"/>
            <a:ext cx="115808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70" spc="188" strike="noStrike">
                <a:solidFill>
                  <a:srgbClr val="c9a36a"/>
                </a:solidFill>
                <a:latin typeface="Quattrocento Sans"/>
                <a:ea typeface="Quattrocento Sans"/>
              </a:rPr>
              <a:t>Chapter 04</a:t>
            </a:r>
            <a:endParaRPr b="0" lang="en-HK" sz="1070" spc="-1" strike="noStrike">
              <a:latin typeface="Arial"/>
            </a:endParaRPr>
          </a:p>
        </p:txBody>
      </p:sp>
      <p:sp>
        <p:nvSpPr>
          <p:cNvPr id="352" name="Text 1"/>
          <p:cNvSpPr/>
          <p:nvPr/>
        </p:nvSpPr>
        <p:spPr>
          <a:xfrm>
            <a:off x="337680" y="608040"/>
            <a:ext cx="11715840" cy="402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190" spc="-1" strike="noStrike">
                <a:solidFill>
                  <a:srgbClr val="f2f2f2"/>
                </a:solidFill>
                <a:latin typeface="Oranienbaum"/>
                <a:ea typeface="Oranienbaum"/>
              </a:rPr>
              <a:t>The Struggle Within: Mental Health and Artistic Cr</a:t>
            </a:r>
            <a:r>
              <a:rPr b="0" lang="en-US" sz="3190" spc="-1" strike="noStrike">
                <a:solidFill>
                  <a:srgbClr val="f2f2f2"/>
                </a:solidFill>
                <a:latin typeface="Oranienbaum"/>
                <a:ea typeface="Oranienbaum"/>
              </a:rPr>
              <a:t>eation</a:t>
            </a:r>
            <a:endParaRPr b="0" lang="en-HK" sz="3190" spc="-1" strike="noStrike">
              <a:latin typeface="Arial"/>
            </a:endParaRPr>
          </a:p>
        </p:txBody>
      </p:sp>
      <p:sp>
        <p:nvSpPr>
          <p:cNvPr id="353" name="Shape 2"/>
          <p:cNvSpPr/>
          <p:nvPr/>
        </p:nvSpPr>
        <p:spPr>
          <a:xfrm>
            <a:off x="337680" y="1148400"/>
            <a:ext cx="942480" cy="13680"/>
          </a:xfrm>
          <a:custGeom>
            <a:avLst/>
            <a:gdLst/>
            <a:ahLst/>
            <a:rect l="l" t="t" r="r" b="b"/>
            <a:pathLst>
              <a:path w="945640" h="16886">
                <a:moveTo>
                  <a:pt x="0" y="0"/>
                </a:moveTo>
                <a:lnTo>
                  <a:pt x="945640" y="0"/>
                </a:lnTo>
                <a:lnTo>
                  <a:pt x="945640" y="16886"/>
                </a:lnTo>
                <a:lnTo>
                  <a:pt x="0" y="16886"/>
                </a:lnTo>
                <a:lnTo>
                  <a:pt x="0" y="0"/>
                </a:lnTo>
                <a:close/>
              </a:path>
            </a:pathLst>
          </a:custGeom>
          <a:solidFill>
            <a:srgbClr val="c9a36a"/>
          </a:solidFill>
          <a:ln w="0">
            <a:noFill/>
          </a:ln>
        </p:spPr>
        <p:style>
          <a:lnRef idx="0"/>
          <a:fillRef idx="0"/>
          <a:effectRef idx="0"/>
          <a:fontRef idx="minor"/>
        </p:style>
      </p:sp>
      <p:sp>
        <p:nvSpPr>
          <p:cNvPr id="354" name="Shape 3"/>
          <p:cNvSpPr/>
          <p:nvPr/>
        </p:nvSpPr>
        <p:spPr>
          <a:xfrm>
            <a:off x="350280" y="1334160"/>
            <a:ext cx="5641200" cy="3306600"/>
          </a:xfrm>
          <a:custGeom>
            <a:avLst/>
            <a:gdLst/>
            <a:ah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55" name="Shape 4"/>
          <p:cNvSpPr/>
          <p:nvPr/>
        </p:nvSpPr>
        <p:spPr>
          <a:xfrm>
            <a:off x="350280" y="1334160"/>
            <a:ext cx="21960" cy="3306600"/>
          </a:xfrm>
          <a:custGeom>
            <a:avLst/>
            <a:gdLst/>
            <a:ah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56" name="Shape 5"/>
          <p:cNvSpPr/>
          <p:nvPr/>
        </p:nvSpPr>
        <p:spPr>
          <a:xfrm>
            <a:off x="532080" y="150300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57" name="Shape 6"/>
          <p:cNvSpPr/>
          <p:nvPr/>
        </p:nvSpPr>
        <p:spPr>
          <a:xfrm>
            <a:off x="650160" y="1621080"/>
            <a:ext cx="165600" cy="165600"/>
          </a:xfrm>
          <a:custGeom>
            <a:avLst/>
            <a:gdLst/>
            <a:ah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w="0">
            <a:noFill/>
          </a:ln>
        </p:spPr>
        <p:style>
          <a:lnRef idx="0"/>
          <a:fillRef idx="0"/>
          <a:effectRef idx="0"/>
          <a:fontRef idx="minor"/>
        </p:style>
      </p:sp>
      <p:sp>
        <p:nvSpPr>
          <p:cNvPr id="358" name="Text 7"/>
          <p:cNvSpPr/>
          <p:nvPr/>
        </p:nvSpPr>
        <p:spPr>
          <a:xfrm>
            <a:off x="1038600" y="1570320"/>
            <a:ext cx="161784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00" spc="-1" strike="noStrike">
                <a:solidFill>
                  <a:srgbClr val="f2f2f2"/>
                </a:solidFill>
                <a:latin typeface="Oranienbaum"/>
                <a:ea typeface="Oranienbaum"/>
              </a:rPr>
              <a:t>Possible Diagnoses</a:t>
            </a:r>
            <a:endParaRPr b="0" lang="en-HK" sz="1600" spc="-1" strike="noStrike">
              <a:latin typeface="Arial"/>
            </a:endParaRPr>
          </a:p>
        </p:txBody>
      </p:sp>
      <p:sp>
        <p:nvSpPr>
          <p:cNvPr id="359" name="Text 8"/>
          <p:cNvSpPr/>
          <p:nvPr/>
        </p:nvSpPr>
        <p:spPr>
          <a:xfrm>
            <a:off x="532080" y="2043360"/>
            <a:ext cx="535824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70" spc="-1" strike="noStrike">
                <a:solidFill>
                  <a:srgbClr val="b8b8b8"/>
                </a:solidFill>
                <a:latin typeface="Quattrocento Sans"/>
                <a:ea typeface="Quattrocento Sans"/>
              </a:rPr>
              <a:t>Modern psychiatrists have proposed various diagnoses for Van Gogh's condition, though no consensus exists. The leading theories include:</a:t>
            </a:r>
            <a:endParaRPr b="0" lang="en-HK" sz="1070" spc="-1" strike="noStrike">
              <a:latin typeface="Arial"/>
            </a:endParaRPr>
          </a:p>
        </p:txBody>
      </p:sp>
      <p:sp>
        <p:nvSpPr>
          <p:cNvPr id="360" name="Shape 9"/>
          <p:cNvSpPr/>
          <p:nvPr/>
        </p:nvSpPr>
        <p:spPr>
          <a:xfrm>
            <a:off x="532080" y="261756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1" name="Text 10"/>
          <p:cNvSpPr/>
          <p:nvPr/>
        </p:nvSpPr>
        <p:spPr>
          <a:xfrm>
            <a:off x="633240" y="27187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30" spc="-1" strike="noStrike">
                <a:solidFill>
                  <a:srgbClr val="c9a36a"/>
                </a:solidFill>
                <a:latin typeface="Quattrocento Sans"/>
                <a:ea typeface="Quattrocento Sans"/>
              </a:rPr>
              <a:t>Bipolar Disorder</a:t>
            </a:r>
            <a:endParaRPr b="0" lang="en-HK" sz="930" spc="-1" strike="noStrike">
              <a:latin typeface="Arial"/>
            </a:endParaRPr>
          </a:p>
        </p:txBody>
      </p:sp>
      <p:sp>
        <p:nvSpPr>
          <p:cNvPr id="362" name="Text 11"/>
          <p:cNvSpPr/>
          <p:nvPr/>
        </p:nvSpPr>
        <p:spPr>
          <a:xfrm>
            <a:off x="633240" y="292140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30" spc="-1" strike="noStrike">
                <a:solidFill>
                  <a:srgbClr val="b8b8b8"/>
                </a:solidFill>
                <a:latin typeface="Quattrocento Sans"/>
                <a:ea typeface="Quattrocento Sans"/>
              </a:rPr>
              <a:t>Cycles of intense creativity and deep depression match his productive patterns</a:t>
            </a:r>
            <a:endParaRPr b="0" lang="en-HK" sz="930" spc="-1" strike="noStrike">
              <a:latin typeface="Arial"/>
            </a:endParaRPr>
          </a:p>
        </p:txBody>
      </p:sp>
      <p:sp>
        <p:nvSpPr>
          <p:cNvPr id="363" name="Shape 12"/>
          <p:cNvSpPr/>
          <p:nvPr/>
        </p:nvSpPr>
        <p:spPr>
          <a:xfrm>
            <a:off x="532080" y="325908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4" name="Text 13"/>
          <p:cNvSpPr/>
          <p:nvPr/>
        </p:nvSpPr>
        <p:spPr>
          <a:xfrm>
            <a:off x="633240" y="336024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30" spc="-1" strike="noStrike">
                <a:solidFill>
                  <a:srgbClr val="c9a36a"/>
                </a:solidFill>
                <a:latin typeface="Quattrocento Sans"/>
                <a:ea typeface="Quattrocento Sans"/>
              </a:rPr>
              <a:t>Temporal Lobe Epilepsy</a:t>
            </a:r>
            <a:endParaRPr b="0" lang="en-HK" sz="930" spc="-1" strike="noStrike">
              <a:latin typeface="Arial"/>
            </a:endParaRPr>
          </a:p>
        </p:txBody>
      </p:sp>
      <p:sp>
        <p:nvSpPr>
          <p:cNvPr id="365" name="Text 14"/>
          <p:cNvSpPr/>
          <p:nvPr/>
        </p:nvSpPr>
        <p:spPr>
          <a:xfrm>
            <a:off x="633240" y="35629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30" spc="-1" strike="noStrike">
                <a:solidFill>
                  <a:srgbClr val="b8b8b8"/>
                </a:solidFill>
                <a:latin typeface="Quattrocento Sans"/>
                <a:ea typeface="Quattrocento Sans"/>
              </a:rPr>
              <a:t>Could explain his religious fervor, altered perceptions, and aura experiences</a:t>
            </a:r>
            <a:endParaRPr b="0" lang="en-HK" sz="930" spc="-1" strike="noStrike">
              <a:latin typeface="Arial"/>
            </a:endParaRPr>
          </a:p>
        </p:txBody>
      </p:sp>
      <p:sp>
        <p:nvSpPr>
          <p:cNvPr id="366" name="Shape 15"/>
          <p:cNvSpPr/>
          <p:nvPr/>
        </p:nvSpPr>
        <p:spPr>
          <a:xfrm>
            <a:off x="532080" y="390060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7" name="Text 16"/>
          <p:cNvSpPr/>
          <p:nvPr/>
        </p:nvSpPr>
        <p:spPr>
          <a:xfrm>
            <a:off x="633240" y="40021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30" spc="-1" strike="noStrike">
                <a:solidFill>
                  <a:srgbClr val="c9a36a"/>
                </a:solidFill>
                <a:latin typeface="Quattrocento Sans"/>
                <a:ea typeface="Quattrocento Sans"/>
              </a:rPr>
              <a:t>Schizophrenia</a:t>
            </a:r>
            <a:endParaRPr b="0" lang="en-HK" sz="930" spc="-1" strike="noStrike">
              <a:latin typeface="Arial"/>
            </a:endParaRPr>
          </a:p>
        </p:txBody>
      </p:sp>
      <p:sp>
        <p:nvSpPr>
          <p:cNvPr id="368" name="Text 17"/>
          <p:cNvSpPr/>
          <p:nvPr/>
        </p:nvSpPr>
        <p:spPr>
          <a:xfrm>
            <a:off x="633240" y="420480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30" spc="-1" strike="noStrike">
                <a:solidFill>
                  <a:srgbClr val="b8b8b8"/>
                </a:solidFill>
                <a:latin typeface="Quattrocento Sans"/>
                <a:ea typeface="Quattrocento Sans"/>
              </a:rPr>
              <a:t>His psychotic episodes, paranoia, and hallucinations support this theory</a:t>
            </a:r>
            <a:endParaRPr b="0" lang="en-HK" sz="930" spc="-1" strike="noStrike">
              <a:latin typeface="Arial"/>
            </a:endParaRPr>
          </a:p>
        </p:txBody>
      </p:sp>
      <p:sp>
        <p:nvSpPr>
          <p:cNvPr id="369" name="Shape 18"/>
          <p:cNvSpPr/>
          <p:nvPr/>
        </p:nvSpPr>
        <p:spPr>
          <a:xfrm>
            <a:off x="350280" y="4779000"/>
            <a:ext cx="5641200" cy="1533600"/>
          </a:xfrm>
          <a:custGeom>
            <a:avLst/>
            <a:gdLst/>
            <a:ah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0" name="Shape 19"/>
          <p:cNvSpPr/>
          <p:nvPr/>
        </p:nvSpPr>
        <p:spPr>
          <a:xfrm>
            <a:off x="350280" y="4779000"/>
            <a:ext cx="21960" cy="1533600"/>
          </a:xfrm>
          <a:custGeom>
            <a:avLst/>
            <a:gdLst/>
            <a:ah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1" name="Shape 20"/>
          <p:cNvSpPr/>
          <p:nvPr/>
        </p:nvSpPr>
        <p:spPr>
          <a:xfrm>
            <a:off x="532080" y="494784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2" name="Shape 21"/>
          <p:cNvSpPr/>
          <p:nvPr/>
        </p:nvSpPr>
        <p:spPr>
          <a:xfrm>
            <a:off x="639720" y="5065920"/>
            <a:ext cx="186840" cy="165600"/>
          </a:xfrm>
          <a:custGeom>
            <a:avLst/>
            <a:gdLst/>
            <a:ah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w="0">
            <a:noFill/>
          </a:ln>
        </p:spPr>
        <p:style>
          <a:lnRef idx="0"/>
          <a:fillRef idx="0"/>
          <a:effectRef idx="0"/>
          <a:fontRef idx="minor"/>
        </p:style>
      </p:sp>
      <p:sp>
        <p:nvSpPr>
          <p:cNvPr id="373" name="Text 22"/>
          <p:cNvSpPr/>
          <p:nvPr/>
        </p:nvSpPr>
        <p:spPr>
          <a:xfrm>
            <a:off x="1038600" y="5015160"/>
            <a:ext cx="171900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00" spc="-1" strike="noStrike">
                <a:solidFill>
                  <a:srgbClr val="f2f2f2"/>
                </a:solidFill>
                <a:latin typeface="Oranienbaum"/>
                <a:ea typeface="Oranienbaum"/>
              </a:rPr>
              <a:t>Asylum Productivity</a:t>
            </a:r>
            <a:endParaRPr b="0" lang="en-HK" sz="1600" spc="-1" strike="noStrike">
              <a:latin typeface="Arial"/>
            </a:endParaRPr>
          </a:p>
        </p:txBody>
      </p:sp>
      <p:sp>
        <p:nvSpPr>
          <p:cNvPr id="374" name="Text 23"/>
          <p:cNvSpPr/>
          <p:nvPr/>
        </p:nvSpPr>
        <p:spPr>
          <a:xfrm>
            <a:off x="532080" y="548820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70" spc="-1" strike="noStrike">
                <a:solidFill>
                  <a:srgbClr val="b8b8b8"/>
                </a:solidFill>
                <a:latin typeface="Quattrocento Sans"/>
                <a:ea typeface="Quattrocento Sans"/>
              </a:rPr>
              <a:t>Paradoxically, his time at Saint-Rémy was one of his most productive periods. Despite confinement and mental anguish, he created </a:t>
            </a:r>
            <a:r>
              <a:rPr b="0" i="1" lang="en-US" sz="1070" spc="-1" strike="noStrike">
                <a:solidFill>
                  <a:srgbClr val="f2f2f2"/>
                </a:solidFill>
                <a:latin typeface="Quattrocento Sans"/>
                <a:ea typeface="Quattrocento Sans"/>
              </a:rPr>
              <a:t>over 150 works in one year</a:t>
            </a:r>
            <a:r>
              <a:rPr b="0" i="1" lang="en-US" sz="1070" spc="-1" strike="noStrike">
                <a:solidFill>
                  <a:srgbClr val="b8b8b8"/>
                </a:solidFill>
                <a:latin typeface="Quattrocento Sans"/>
                <a:ea typeface="Quattrocento Sans"/>
              </a:rPr>
              <a:t>, including "The Starry Night" and "Irises." His art became both therapy and transcendence.</a:t>
            </a:r>
            <a:endParaRPr b="0" lang="en-HK" sz="1070" spc="-1" strike="noStrike">
              <a:latin typeface="Arial"/>
            </a:endParaRPr>
          </a:p>
        </p:txBody>
      </p:sp>
      <p:sp>
        <p:nvSpPr>
          <p:cNvPr id="375" name="Shape 24"/>
          <p:cNvSpPr/>
          <p:nvPr/>
        </p:nvSpPr>
        <p:spPr>
          <a:xfrm>
            <a:off x="6208200" y="1334160"/>
            <a:ext cx="5641200" cy="3205080"/>
          </a:xfrm>
          <a:custGeom>
            <a:avLst/>
            <a:gdLst/>
            <a:ah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6" name="Shape 25"/>
          <p:cNvSpPr/>
          <p:nvPr/>
        </p:nvSpPr>
        <p:spPr>
          <a:xfrm>
            <a:off x="6208200" y="1334160"/>
            <a:ext cx="21960" cy="3205080"/>
          </a:xfrm>
          <a:custGeom>
            <a:avLst/>
            <a:gdLst/>
            <a:ah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7" name="Shape 26"/>
          <p:cNvSpPr/>
          <p:nvPr/>
        </p:nvSpPr>
        <p:spPr>
          <a:xfrm>
            <a:off x="6389640" y="150300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8" name="Shape 27"/>
          <p:cNvSpPr/>
          <p:nvPr/>
        </p:nvSpPr>
        <p:spPr>
          <a:xfrm>
            <a:off x="6507720" y="1621080"/>
            <a:ext cx="165600" cy="165600"/>
          </a:xfrm>
          <a:custGeom>
            <a:avLst/>
            <a:gdLst/>
            <a:ah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w="0">
            <a:noFill/>
          </a:ln>
        </p:spPr>
        <p:style>
          <a:lnRef idx="0"/>
          <a:fillRef idx="0"/>
          <a:effectRef idx="0"/>
          <a:fontRef idx="minor"/>
        </p:style>
      </p:sp>
      <p:sp>
        <p:nvSpPr>
          <p:cNvPr id="379" name="Text 28"/>
          <p:cNvSpPr/>
          <p:nvPr/>
        </p:nvSpPr>
        <p:spPr>
          <a:xfrm>
            <a:off x="6896160" y="1570320"/>
            <a:ext cx="143208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i="1" lang="en-US" sz="1600" spc="-1" strike="noStrike">
                <a:solidFill>
                  <a:srgbClr val="f2f2f2"/>
                </a:solidFill>
                <a:latin typeface="Oranienbaum"/>
                <a:ea typeface="Oranienbaum"/>
              </a:rPr>
              <a:t>The Ear Incident</a:t>
            </a:r>
            <a:endParaRPr b="0" lang="en-HK" sz="1600" spc="-1" strike="noStrike">
              <a:latin typeface="Arial"/>
            </a:endParaRPr>
          </a:p>
        </p:txBody>
      </p:sp>
      <p:sp>
        <p:nvSpPr>
          <p:cNvPr id="380" name="Text 29"/>
          <p:cNvSpPr/>
          <p:nvPr/>
        </p:nvSpPr>
        <p:spPr>
          <a:xfrm>
            <a:off x="6389640" y="204336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070" spc="-1" strike="noStrike">
                <a:solidFill>
                  <a:srgbClr val="f2f2f2"/>
                </a:solidFill>
                <a:latin typeface="Quattrocento Sans"/>
                <a:ea typeface="Quattrocento Sans"/>
              </a:rPr>
              <a:t>December 23, 1888</a:t>
            </a:r>
            <a:r>
              <a:rPr b="0" i="1" lang="en-US" sz="1070" spc="-1" strike="noStrike">
                <a:solidFill>
                  <a:srgbClr val="b8b8b8"/>
                </a:solidFill>
                <a:latin typeface="Quattrocento Sans"/>
                <a:ea typeface="Quattrocento Sans"/>
              </a:rPr>
              <a:t> — After a heated argument with Paul Gauguin in Arles, Van Gogh suffered a severe mental breakdown. He </a:t>
            </a:r>
            <a:r>
              <a:rPr b="0" i="1" lang="en-US" sz="1070" spc="-1" strike="noStrike">
                <a:solidFill>
                  <a:srgbClr val="f2f2f2"/>
                </a:solidFill>
                <a:latin typeface="Quattrocento Sans"/>
                <a:ea typeface="Quattrocento Sans"/>
              </a:rPr>
              <a:t>severed part of his left ear</a:t>
            </a:r>
            <a:r>
              <a:rPr b="0" i="1" lang="en-US" sz="1070" spc="-1" strike="noStrike">
                <a:solidFill>
                  <a:srgbClr val="b8b8b8"/>
                </a:solidFill>
                <a:latin typeface="Quattrocento Sans"/>
                <a:ea typeface="Quattrocento Sans"/>
              </a:rPr>
              <a:t> with a razor, wrapped it in paper, and delivered it to a woman at a nearby brothel.</a:t>
            </a:r>
            <a:endParaRPr b="0" lang="en-HK" sz="1070" spc="-1" strike="noStrike">
              <a:latin typeface="Arial"/>
            </a:endParaRPr>
          </a:p>
        </p:txBody>
      </p:sp>
      <p:sp>
        <p:nvSpPr>
          <p:cNvPr id="381" name="Text 30"/>
          <p:cNvSpPr/>
          <p:nvPr/>
        </p:nvSpPr>
        <p:spPr>
          <a:xfrm>
            <a:off x="6389640" y="283680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70" spc="-1" strike="noStrike">
                <a:solidFill>
                  <a:srgbClr val="b8b8b8"/>
                </a:solidFill>
                <a:latin typeface="Quattrocento Sans"/>
                <a:ea typeface="Quattrocento Sans"/>
              </a:rPr>
              <a:t>The incident marked a turning point. Gauguin left Arles permanently, and Van Gogh was hospitalized. The exact circumstances remain debated—some theories suggest Gauguin may have been involved, while others attribute it solely to Van Gogh's psychosis.</a:t>
            </a:r>
            <a:endParaRPr b="0" lang="en-HK" sz="1070" spc="-1" strike="noStrike">
              <a:latin typeface="Arial"/>
            </a:endParaRPr>
          </a:p>
        </p:txBody>
      </p:sp>
      <p:sp>
        <p:nvSpPr>
          <p:cNvPr id="382" name="Shape 31"/>
          <p:cNvSpPr/>
          <p:nvPr/>
        </p:nvSpPr>
        <p:spPr>
          <a:xfrm>
            <a:off x="6389640" y="3630600"/>
            <a:ext cx="5290560" cy="739800"/>
          </a:xfrm>
          <a:custGeom>
            <a:avLst/>
            <a:gdLst/>
            <a:ah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w="0">
            <a:noFill/>
          </a:ln>
        </p:spPr>
        <p:style>
          <a:lnRef idx="0"/>
          <a:fillRef idx="0"/>
          <a:effectRef idx="0"/>
          <a:fontRef idx="minor"/>
        </p:style>
      </p:sp>
      <p:sp>
        <p:nvSpPr>
          <p:cNvPr id="383" name="Text 32"/>
          <p:cNvSpPr/>
          <p:nvPr/>
        </p:nvSpPr>
        <p:spPr>
          <a:xfrm>
            <a:off x="6490800" y="373176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930" spc="-1" strike="noStrike">
                <a:solidFill>
                  <a:srgbClr val="c9a36a"/>
                </a:solidFill>
                <a:latin typeface="Quattrocento Sans"/>
                <a:ea typeface="Quattrocento Sans"/>
              </a:rPr>
              <a:t>Aftermath:</a:t>
            </a:r>
            <a:endParaRPr b="0" lang="en-HK" sz="930" spc="-1" strike="noStrike">
              <a:latin typeface="Arial"/>
            </a:endParaRPr>
          </a:p>
        </p:txBody>
      </p:sp>
      <p:sp>
        <p:nvSpPr>
          <p:cNvPr id="384" name="Text 33"/>
          <p:cNvSpPr/>
          <p:nvPr/>
        </p:nvSpPr>
        <p:spPr>
          <a:xfrm>
            <a:off x="6490800" y="3934440"/>
            <a:ext cx="5147280" cy="33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930" spc="-1" strike="noStrike">
                <a:solidFill>
                  <a:srgbClr val="b8b8b8"/>
                </a:solidFill>
                <a:latin typeface="Quattrocento Sans"/>
                <a:ea typeface="Quattrocento Sans"/>
              </a:rPr>
              <a:t>Van Gogh painted "Self-Portrait with Bandaged Ear" (1889) as both documentation and artistic transformation of trauma.</a:t>
            </a:r>
            <a:endParaRPr b="0" lang="en-HK" sz="930" spc="-1" strike="noStrike">
              <a:latin typeface="Arial"/>
            </a:endParaRPr>
          </a:p>
        </p:txBody>
      </p:sp>
      <p:sp>
        <p:nvSpPr>
          <p:cNvPr id="385" name="Shape 34"/>
          <p:cNvSpPr/>
          <p:nvPr/>
        </p:nvSpPr>
        <p:spPr>
          <a:xfrm>
            <a:off x="6199560" y="4681800"/>
            <a:ext cx="5645160" cy="1828800"/>
          </a:xfrm>
          <a:custGeom>
            <a:avLst/>
            <a:gdLst/>
            <a:ah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386" name="Shape 35"/>
          <p:cNvSpPr/>
          <p:nvPr/>
        </p:nvSpPr>
        <p:spPr>
          <a:xfrm>
            <a:off x="8930160" y="4905360"/>
            <a:ext cx="186840" cy="250200"/>
          </a:xfrm>
          <a:custGeom>
            <a:avLst/>
            <a:gdLst/>
            <a:ah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w="0">
            <a:noFill/>
          </a:ln>
        </p:spPr>
        <p:style>
          <a:lnRef idx="0"/>
          <a:fillRef idx="0"/>
          <a:effectRef idx="0"/>
          <a:fontRef idx="minor"/>
        </p:style>
      </p:sp>
      <p:sp>
        <p:nvSpPr>
          <p:cNvPr id="387" name="Text 36"/>
          <p:cNvSpPr/>
          <p:nvPr/>
        </p:nvSpPr>
        <p:spPr>
          <a:xfrm>
            <a:off x="6330600" y="5293800"/>
            <a:ext cx="5383440" cy="233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1330" spc="-1" strike="noStrike">
                <a:solidFill>
                  <a:srgbClr val="f2f2f2"/>
                </a:solidFill>
                <a:latin typeface="Oranienbaum"/>
                <a:ea typeface="Oranienbaum"/>
              </a:rPr>
              <a:t>The Paradox of Creativity</a:t>
            </a:r>
            <a:endParaRPr b="0" lang="en-HK" sz="1330" spc="-1" strike="noStrike">
              <a:latin typeface="Arial"/>
            </a:endParaRPr>
          </a:p>
        </p:txBody>
      </p:sp>
      <p:sp>
        <p:nvSpPr>
          <p:cNvPr id="388" name="Text 37"/>
          <p:cNvSpPr/>
          <p:nvPr/>
        </p:nvSpPr>
        <p:spPr>
          <a:xfrm>
            <a:off x="6338880" y="5631480"/>
            <a:ext cx="5366520" cy="6552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i="1" lang="en-US" sz="1070" spc="-1" strike="noStrike">
                <a:solidFill>
                  <a:srgbClr val="b8b8b8"/>
                </a:solidFill>
                <a:latin typeface="Quattrocento Sans"/>
                <a:ea typeface="Quattrocento Sans"/>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b="0" lang="en-HK" sz="107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89"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390"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91" name="Shape 1"/>
          <p:cNvSpPr/>
          <p:nvPr/>
        </p:nvSpPr>
        <p:spPr>
          <a:xfrm>
            <a:off x="385920" y="1463400"/>
            <a:ext cx="1025640" cy="806400"/>
          </a:xfrm>
          <a:custGeom>
            <a:avLst/>
            <a:gdLst/>
            <a:ah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92" name="Text 2"/>
          <p:cNvSpPr/>
          <p:nvPr/>
        </p:nvSpPr>
        <p:spPr>
          <a:xfrm>
            <a:off x="619200" y="1539360"/>
            <a:ext cx="84852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05</a:t>
            </a:r>
            <a:endParaRPr b="0" lang="en-HK" sz="4500" spc="-1" strike="noStrike">
              <a:latin typeface="Arial"/>
            </a:endParaRPr>
          </a:p>
        </p:txBody>
      </p:sp>
      <p:sp>
        <p:nvSpPr>
          <p:cNvPr id="393" name="Text 3"/>
          <p:cNvSpPr/>
          <p:nvPr/>
        </p:nvSpPr>
        <p:spPr>
          <a:xfrm>
            <a:off x="380880" y="25826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Unbreakable</a:t>
            </a:r>
            <a:endParaRPr b="0" lang="en-HK" sz="5400" spc="-1" strike="noStrike">
              <a:latin typeface="Arial"/>
            </a:endParaRPr>
          </a:p>
          <a:p>
            <a:pPr>
              <a:lnSpc>
                <a:spcPct val="100000"/>
              </a:lnSpc>
              <a:buNone/>
            </a:pPr>
            <a:r>
              <a:rPr b="0" i="1" lang="en-US" sz="5400" spc="-1" strike="noStrike">
                <a:solidFill>
                  <a:srgbClr val="f2f2f2"/>
                </a:solidFill>
                <a:latin typeface="Oranienbaum"/>
                <a:ea typeface="Oranienbaum"/>
              </a:rPr>
              <a:t>Bond: Vincent and Theo</a:t>
            </a:r>
            <a:endParaRPr b="0" lang="en-HK" sz="5400" spc="-1" strike="noStrike">
              <a:latin typeface="Arial"/>
            </a:endParaRPr>
          </a:p>
        </p:txBody>
      </p:sp>
      <p:sp>
        <p:nvSpPr>
          <p:cNvPr id="394" name="Shape 4"/>
          <p:cNvSpPr/>
          <p:nvPr/>
        </p:nvSpPr>
        <p:spPr>
          <a:xfrm>
            <a:off x="380880" y="46018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95" name="Text 5"/>
          <p:cNvSpPr/>
          <p:nvPr/>
        </p:nvSpPr>
        <p:spPr>
          <a:xfrm>
            <a:off x="380880" y="4935240"/>
            <a:ext cx="6540480" cy="463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A brotherhood that sustained an artistic genius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96" name="Text 0"/>
          <p:cNvSpPr/>
          <p:nvPr/>
        </p:nvSpPr>
        <p:spPr>
          <a:xfrm>
            <a:off x="320400" y="320400"/>
            <a:ext cx="11612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05</a:t>
            </a:r>
            <a:endParaRPr b="0" lang="en-HK" sz="1010" spc="-1" strike="noStrike">
              <a:latin typeface="Arial"/>
            </a:endParaRPr>
          </a:p>
        </p:txBody>
      </p:sp>
      <p:sp>
        <p:nvSpPr>
          <p:cNvPr id="397" name="Text 1"/>
          <p:cNvSpPr/>
          <p:nvPr/>
        </p:nvSpPr>
        <p:spPr>
          <a:xfrm>
            <a:off x="320400" y="576720"/>
            <a:ext cx="11740320" cy="381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30" spc="-1" strike="noStrike">
                <a:solidFill>
                  <a:srgbClr val="f2f2f2"/>
                </a:solidFill>
                <a:latin typeface="Oranienbaum"/>
                <a:ea typeface="Oranienbaum"/>
              </a:rPr>
              <a:t>Theo van Gogh: The Brother Behind the A</a:t>
            </a:r>
            <a:r>
              <a:rPr b="0" lang="en-US" sz="3030" spc="-1" strike="noStrike">
                <a:solidFill>
                  <a:srgbClr val="f2f2f2"/>
                </a:solidFill>
                <a:latin typeface="Oranienbaum"/>
                <a:ea typeface="Oranienbaum"/>
              </a:rPr>
              <a:t>rtist</a:t>
            </a:r>
            <a:endParaRPr b="0" lang="en-HK" sz="3030" spc="-1" strike="noStrike">
              <a:latin typeface="Arial"/>
            </a:endParaRPr>
          </a:p>
        </p:txBody>
      </p:sp>
      <p:sp>
        <p:nvSpPr>
          <p:cNvPr id="398" name="Shape 2"/>
          <p:cNvSpPr/>
          <p:nvPr/>
        </p:nvSpPr>
        <p:spPr>
          <a:xfrm>
            <a:off x="320400" y="1089360"/>
            <a:ext cx="893880" cy="1296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399" name="Shape 3"/>
          <p:cNvSpPr/>
          <p:nvPr/>
        </p:nvSpPr>
        <p:spPr>
          <a:xfrm>
            <a:off x="332280" y="1265760"/>
            <a:ext cx="6233040" cy="3040920"/>
          </a:xfrm>
          <a:custGeom>
            <a:avLst/>
            <a:gdLst/>
            <a:ah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00" name="Shape 4"/>
          <p:cNvSpPr/>
          <p:nvPr/>
        </p:nvSpPr>
        <p:spPr>
          <a:xfrm>
            <a:off x="332280" y="1265760"/>
            <a:ext cx="20880" cy="304092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01" name="Shape 5"/>
          <p:cNvSpPr/>
          <p:nvPr/>
        </p:nvSpPr>
        <p:spPr>
          <a:xfrm>
            <a:off x="50472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02" name="Shape 6"/>
          <p:cNvSpPr/>
          <p:nvPr/>
        </p:nvSpPr>
        <p:spPr>
          <a:xfrm>
            <a:off x="616680" y="1537920"/>
            <a:ext cx="156960" cy="156960"/>
          </a:xfrm>
          <a:custGeom>
            <a:avLst/>
            <a:gdLst/>
            <a:ah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w="0">
            <a:noFill/>
          </a:ln>
        </p:spPr>
        <p:style>
          <a:lnRef idx="0"/>
          <a:fillRef idx="0"/>
          <a:effectRef idx="0"/>
          <a:fontRef idx="minor"/>
        </p:style>
      </p:sp>
      <p:sp>
        <p:nvSpPr>
          <p:cNvPr id="403" name="Text 7"/>
          <p:cNvSpPr/>
          <p:nvPr/>
        </p:nvSpPr>
        <p:spPr>
          <a:xfrm>
            <a:off x="985320" y="1490040"/>
            <a:ext cx="262404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600+ Letters: A Lifelong Dialogue</a:t>
            </a:r>
            <a:endParaRPr b="0" lang="en-HK" sz="1510" spc="-1" strike="noStrike">
              <a:latin typeface="Arial"/>
            </a:endParaRPr>
          </a:p>
        </p:txBody>
      </p:sp>
      <p:sp>
        <p:nvSpPr>
          <p:cNvPr id="404" name="Text 8"/>
          <p:cNvSpPr/>
          <p:nvPr/>
        </p:nvSpPr>
        <p:spPr>
          <a:xfrm>
            <a:off x="504720" y="193860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Vincent and Theo maintained an extraordinary correspondence throughout their lives. These </a:t>
            </a:r>
            <a:r>
              <a:rPr b="0" lang="en-US" sz="1010" spc="-1" strike="noStrike">
                <a:solidFill>
                  <a:srgbClr val="f2f2f2"/>
                </a:solidFill>
                <a:latin typeface="Quattrocento Sans"/>
                <a:ea typeface="Quattrocento Sans"/>
              </a:rPr>
              <a:t>600+ letters</a:t>
            </a:r>
            <a:r>
              <a:rPr b="0" lang="en-US" sz="1010" spc="-1" strike="noStrike">
                <a:solidFill>
                  <a:srgbClr val="b8b8b8"/>
                </a:solidFill>
                <a:latin typeface="Quattrocento Sans"/>
                <a:ea typeface="Quattrocento Sans"/>
              </a:rPr>
              <a:t> provide unparalleled insight into Vincent's artistic process, philosophical thoughts, daily struggles, and emotional states.</a:t>
            </a:r>
            <a:endParaRPr b="0" lang="en-HK" sz="1010" spc="-1" strike="noStrike">
              <a:latin typeface="Arial"/>
            </a:endParaRPr>
          </a:p>
        </p:txBody>
      </p:sp>
      <p:sp>
        <p:nvSpPr>
          <p:cNvPr id="405" name="Text 9"/>
          <p:cNvSpPr/>
          <p:nvPr/>
        </p:nvSpPr>
        <p:spPr>
          <a:xfrm>
            <a:off x="504720" y="269136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letters reveal Vincent's theories on color, his admiration for other artists, his religious doubts, his mental health battles, and his unwavering commitment to art. They form one of the most important documents in art history.</a:t>
            </a:r>
            <a:endParaRPr b="0" lang="en-HK" sz="1010" spc="-1" strike="noStrike">
              <a:latin typeface="Arial"/>
            </a:endParaRPr>
          </a:p>
        </p:txBody>
      </p:sp>
      <p:sp>
        <p:nvSpPr>
          <p:cNvPr id="406" name="Shape 10"/>
          <p:cNvSpPr/>
          <p:nvPr/>
        </p:nvSpPr>
        <p:spPr>
          <a:xfrm>
            <a:off x="504720" y="3444480"/>
            <a:ext cx="5900400" cy="701640"/>
          </a:xfrm>
          <a:custGeom>
            <a:avLst/>
            <a:gdLst/>
            <a:ah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07" name="Text 11"/>
          <p:cNvSpPr/>
          <p:nvPr/>
        </p:nvSpPr>
        <p:spPr>
          <a:xfrm>
            <a:off x="600840" y="3540600"/>
            <a:ext cx="57643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Historical Value:</a:t>
            </a:r>
            <a:endParaRPr b="0" lang="en-HK" sz="880" spc="-1" strike="noStrike">
              <a:latin typeface="Arial"/>
            </a:endParaRPr>
          </a:p>
        </p:txBody>
      </p:sp>
      <p:sp>
        <p:nvSpPr>
          <p:cNvPr id="408" name="Text 12"/>
          <p:cNvSpPr/>
          <p:nvPr/>
        </p:nvSpPr>
        <p:spPr>
          <a:xfrm>
            <a:off x="600840" y="3732840"/>
            <a:ext cx="576432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Published as "The Letters of Vincent van Gogh," these documents are essential reading for understanding his life and work.</a:t>
            </a:r>
            <a:endParaRPr b="0" lang="en-HK" sz="880" spc="-1" strike="noStrike">
              <a:latin typeface="Arial"/>
            </a:endParaRPr>
          </a:p>
        </p:txBody>
      </p:sp>
      <p:sp>
        <p:nvSpPr>
          <p:cNvPr id="409" name="Shape 13"/>
          <p:cNvSpPr/>
          <p:nvPr/>
        </p:nvSpPr>
        <p:spPr>
          <a:xfrm>
            <a:off x="332280" y="4437720"/>
            <a:ext cx="6233040" cy="2207520"/>
          </a:xfrm>
          <a:custGeom>
            <a:avLst/>
            <a:gdLst/>
            <a:ah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10" name="Shape 14"/>
          <p:cNvSpPr/>
          <p:nvPr/>
        </p:nvSpPr>
        <p:spPr>
          <a:xfrm>
            <a:off x="332280" y="4437720"/>
            <a:ext cx="20880" cy="2207520"/>
          </a:xfrm>
          <a:custGeom>
            <a:avLst/>
            <a:gdLst/>
            <a:ah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11" name="Shape 15"/>
          <p:cNvSpPr/>
          <p:nvPr/>
        </p:nvSpPr>
        <p:spPr>
          <a:xfrm>
            <a:off x="504720" y="459792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12" name="Shape 16"/>
          <p:cNvSpPr/>
          <p:nvPr/>
        </p:nvSpPr>
        <p:spPr>
          <a:xfrm>
            <a:off x="626760" y="4710240"/>
            <a:ext cx="136800" cy="156960"/>
          </a:xfrm>
          <a:custGeom>
            <a:avLst/>
            <a:gdLst/>
            <a:ah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w="0">
            <a:noFill/>
          </a:ln>
        </p:spPr>
        <p:style>
          <a:lnRef idx="0"/>
          <a:fillRef idx="0"/>
          <a:effectRef idx="0"/>
          <a:fontRef idx="minor"/>
        </p:style>
      </p:sp>
      <p:sp>
        <p:nvSpPr>
          <p:cNvPr id="413" name="Text 17"/>
          <p:cNvSpPr/>
          <p:nvPr/>
        </p:nvSpPr>
        <p:spPr>
          <a:xfrm>
            <a:off x="985320" y="4662000"/>
            <a:ext cx="260820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Financial and Emotional Support</a:t>
            </a:r>
            <a:endParaRPr b="0" lang="en-HK" sz="1510" spc="-1" strike="noStrike">
              <a:latin typeface="Arial"/>
            </a:endParaRPr>
          </a:p>
        </p:txBody>
      </p:sp>
      <p:sp>
        <p:nvSpPr>
          <p:cNvPr id="414" name="Text 18"/>
          <p:cNvSpPr/>
          <p:nvPr/>
        </p:nvSpPr>
        <p:spPr>
          <a:xfrm>
            <a:off x="504720" y="511056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an art dealer at Goupil &amp; Cie in Paris, provided Vincent with </a:t>
            </a:r>
            <a:r>
              <a:rPr b="0" lang="en-US" sz="1010" spc="-1" strike="noStrike">
                <a:solidFill>
                  <a:srgbClr val="f2f2f2"/>
                </a:solidFill>
                <a:latin typeface="Quattrocento Sans"/>
                <a:ea typeface="Quattrocento Sans"/>
              </a:rPr>
              <a:t>monthly financial support</a:t>
            </a:r>
            <a:r>
              <a:rPr b="0" lang="en-US" sz="1010" spc="-1" strike="noStrike">
                <a:solidFill>
                  <a:srgbClr val="b8b8b8"/>
                </a:solidFill>
                <a:latin typeface="Quattrocento Sans"/>
                <a:ea typeface="Quattrocento Sans"/>
              </a:rPr>
              <a:t> throughout his career—approximately 150 francs per month, enough for basic living expenses and art supplies. Without this support, Vincent could not have devoted himself fully to painting.</a:t>
            </a:r>
            <a:endParaRPr b="0" lang="en-HK" sz="1010" spc="-1" strike="noStrike">
              <a:latin typeface="Arial"/>
            </a:endParaRPr>
          </a:p>
        </p:txBody>
      </p:sp>
      <p:sp>
        <p:nvSpPr>
          <p:cNvPr id="415" name="Text 19"/>
          <p:cNvSpPr/>
          <p:nvPr/>
        </p:nvSpPr>
        <p:spPr>
          <a:xfrm>
            <a:off x="504720" y="586368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Beyond money, Theo offered </a:t>
            </a:r>
            <a:r>
              <a:rPr b="0" lang="en-US" sz="1010" spc="-1" strike="noStrike">
                <a:solidFill>
                  <a:srgbClr val="c9a36a"/>
                </a:solidFill>
                <a:latin typeface="Quattrocento Sans"/>
                <a:ea typeface="Quattrocento Sans"/>
              </a:rPr>
              <a:t>unwavering emotional encouragement</a:t>
            </a:r>
            <a:r>
              <a:rPr b="0" lang="en-US" sz="1010" spc="-1" strike="noStrike">
                <a:solidFill>
                  <a:srgbClr val="b8b8b8"/>
                </a:solidFill>
                <a:latin typeface="Quattrocento Sans"/>
                <a:ea typeface="Quattrocento Sans"/>
              </a:rPr>
              <a:t>. He believed in Vincent's talent when no one else did, defended him against critics, and promoted his work to galleries and collectors, though with little success during Vincent's lifetime.</a:t>
            </a:r>
            <a:endParaRPr b="0" lang="en-HK" sz="1010" spc="-1" strike="noStrike">
              <a:latin typeface="Arial"/>
            </a:endParaRPr>
          </a:p>
        </p:txBody>
      </p:sp>
      <p:sp>
        <p:nvSpPr>
          <p:cNvPr id="416" name="Shape 20"/>
          <p:cNvSpPr/>
          <p:nvPr/>
        </p:nvSpPr>
        <p:spPr>
          <a:xfrm>
            <a:off x="6762960" y="1269720"/>
            <a:ext cx="5099400" cy="3769560"/>
          </a:xfrm>
          <a:custGeom>
            <a:avLst/>
            <a:gdLst/>
            <a:ah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17" name="Shape 21"/>
          <p:cNvSpPr/>
          <p:nvPr/>
        </p:nvSpPr>
        <p:spPr>
          <a:xfrm>
            <a:off x="9170280" y="1433880"/>
            <a:ext cx="285120" cy="285120"/>
          </a:xfrm>
          <a:custGeom>
            <a:avLst/>
            <a:gdLst/>
            <a:ah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w="0">
            <a:noFill/>
          </a:ln>
        </p:spPr>
        <p:style>
          <a:lnRef idx="0"/>
          <a:fillRef idx="0"/>
          <a:effectRef idx="0"/>
          <a:fontRef idx="minor"/>
        </p:style>
      </p:sp>
      <p:sp>
        <p:nvSpPr>
          <p:cNvPr id="418" name="Text 22"/>
          <p:cNvSpPr/>
          <p:nvPr/>
        </p:nvSpPr>
        <p:spPr>
          <a:xfrm>
            <a:off x="6879240" y="1818360"/>
            <a:ext cx="4867200" cy="2530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10" spc="-1" strike="noStrike">
                <a:solidFill>
                  <a:srgbClr val="f2f2f2"/>
                </a:solidFill>
                <a:latin typeface="Oranienbaum"/>
                <a:ea typeface="Oranienbaum"/>
              </a:rPr>
              <a:t>A Tragic End</a:t>
            </a:r>
            <a:endParaRPr b="0" lang="en-HK" sz="1510" spc="-1" strike="noStrike">
              <a:latin typeface="Arial"/>
            </a:endParaRPr>
          </a:p>
        </p:txBody>
      </p:sp>
      <p:sp>
        <p:nvSpPr>
          <p:cNvPr id="419" name="Text 23"/>
          <p:cNvSpPr/>
          <p:nvPr/>
        </p:nvSpPr>
        <p:spPr>
          <a:xfrm>
            <a:off x="6927120" y="2202840"/>
            <a:ext cx="483516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bond between the brothers was so profound that Theo's health declined rapidly after Vincent's death. </a:t>
            </a:r>
            <a:r>
              <a:rPr b="0" lang="en-US" sz="1010" spc="-1" strike="noStrike">
                <a:solidFill>
                  <a:srgbClr val="f2f2f2"/>
                </a:solidFill>
                <a:latin typeface="Quattrocento Sans"/>
                <a:ea typeface="Quattrocento Sans"/>
              </a:rPr>
              <a:t>Just six months later</a:t>
            </a:r>
            <a:r>
              <a:rPr b="0" lang="en-US" sz="1010" spc="-1" strike="noStrike">
                <a:solidFill>
                  <a:srgbClr val="b8b8b8"/>
                </a:solidFill>
                <a:latin typeface="Quattrocento Sans"/>
                <a:ea typeface="Quattrocento Sans"/>
              </a:rPr>
              <a:t>, on January 25, 1891, Theo died at age 33, likely from complications of syphilis and dementia paralytica.</a:t>
            </a:r>
            <a:endParaRPr b="0" lang="en-HK" sz="1010" spc="-1" strike="noStrike">
              <a:latin typeface="Arial"/>
            </a:endParaRPr>
          </a:p>
        </p:txBody>
      </p:sp>
      <p:sp>
        <p:nvSpPr>
          <p:cNvPr id="420" name="Text 24"/>
          <p:cNvSpPr/>
          <p:nvPr/>
        </p:nvSpPr>
        <p:spPr>
          <a:xfrm>
            <a:off x="6927120" y="2955960"/>
            <a:ext cx="483516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was buried in Utrecht, but in 1914, his remains were exhumed and reinterred beside Vincent's grave in Auvers-sur-Oise, fulfilling their wish to be together in death as they were in life.</a:t>
            </a:r>
            <a:endParaRPr b="0" lang="en-HK" sz="1010" spc="-1" strike="noStrike">
              <a:latin typeface="Arial"/>
            </a:endParaRPr>
          </a:p>
        </p:txBody>
      </p:sp>
      <p:sp>
        <p:nvSpPr>
          <p:cNvPr id="421" name="Shape 25"/>
          <p:cNvSpPr/>
          <p:nvPr/>
        </p:nvSpPr>
        <p:spPr>
          <a:xfrm>
            <a:off x="6927120" y="3708720"/>
            <a:ext cx="4771080" cy="701640"/>
          </a:xfrm>
          <a:custGeom>
            <a:avLst/>
            <a:gdLst/>
            <a:ah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22" name="Text 26"/>
          <p:cNvSpPr/>
          <p:nvPr/>
        </p:nvSpPr>
        <p:spPr>
          <a:xfrm>
            <a:off x="7023240" y="3804840"/>
            <a:ext cx="46350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Jo van Gogh-Bonger's Role:</a:t>
            </a:r>
            <a:endParaRPr b="0" lang="en-HK" sz="880" spc="-1" strike="noStrike">
              <a:latin typeface="Arial"/>
            </a:endParaRPr>
          </a:p>
        </p:txBody>
      </p:sp>
      <p:sp>
        <p:nvSpPr>
          <p:cNvPr id="423" name="Text 27"/>
          <p:cNvSpPr/>
          <p:nvPr/>
        </p:nvSpPr>
        <p:spPr>
          <a:xfrm>
            <a:off x="7023240" y="3997080"/>
            <a:ext cx="46350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Theo's widow Johanna dedicated her life to promoting Vincent's work, organizing exhibitions and publishing his letters, ensuring his posthumous recognition.</a:t>
            </a:r>
            <a:endParaRPr b="0" lang="en-HK" sz="880" spc="-1" strike="noStrike">
              <a:latin typeface="Arial"/>
            </a:endParaRPr>
          </a:p>
        </p:txBody>
      </p:sp>
      <p:sp>
        <p:nvSpPr>
          <p:cNvPr id="424" name="Shape 28"/>
          <p:cNvSpPr/>
          <p:nvPr/>
        </p:nvSpPr>
        <p:spPr>
          <a:xfrm>
            <a:off x="6771240" y="5174640"/>
            <a:ext cx="5095440" cy="1470600"/>
          </a:xfrm>
          <a:custGeom>
            <a:avLst/>
            <a:gdLst/>
            <a:ah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25" name="Shape 29"/>
          <p:cNvSpPr/>
          <p:nvPr/>
        </p:nvSpPr>
        <p:spPr>
          <a:xfrm>
            <a:off x="6771240" y="5174640"/>
            <a:ext cx="20880" cy="1470600"/>
          </a:xfrm>
          <a:custGeom>
            <a:avLst/>
            <a:gdLst/>
            <a:ah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26" name="Text 30"/>
          <p:cNvSpPr/>
          <p:nvPr/>
        </p:nvSpPr>
        <p:spPr>
          <a:xfrm>
            <a:off x="6943320" y="5334840"/>
            <a:ext cx="484308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f2f2f2"/>
                </a:solidFill>
                <a:latin typeface="Oranienbaum"/>
                <a:ea typeface="Oranienbaum"/>
              </a:rPr>
              <a:t>Theo's Legacy</a:t>
            </a:r>
            <a:endParaRPr b="0" lang="en-HK" sz="1260" spc="-1" strike="noStrike">
              <a:latin typeface="Arial"/>
            </a:endParaRPr>
          </a:p>
        </p:txBody>
      </p:sp>
      <p:sp>
        <p:nvSpPr>
          <p:cNvPr id="427" name="Shape 31"/>
          <p:cNvSpPr/>
          <p:nvPr/>
        </p:nvSpPr>
        <p:spPr>
          <a:xfrm>
            <a:off x="6959160" y="568764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28" name="Text 32"/>
          <p:cNvSpPr/>
          <p:nvPr/>
        </p:nvSpPr>
        <p:spPr>
          <a:xfrm>
            <a:off x="7167600" y="5655600"/>
            <a:ext cx="20394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Enabled Vincent to create 860+ paintings</a:t>
            </a:r>
            <a:endParaRPr b="0" lang="en-HK" sz="880" spc="-1" strike="noStrike">
              <a:latin typeface="Arial"/>
            </a:endParaRPr>
          </a:p>
        </p:txBody>
      </p:sp>
      <p:sp>
        <p:nvSpPr>
          <p:cNvPr id="429" name="Shape 33"/>
          <p:cNvSpPr/>
          <p:nvPr/>
        </p:nvSpPr>
        <p:spPr>
          <a:xfrm>
            <a:off x="6959160" y="591192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0" name="Text 34"/>
          <p:cNvSpPr/>
          <p:nvPr/>
        </p:nvSpPr>
        <p:spPr>
          <a:xfrm>
            <a:off x="7167600" y="5879880"/>
            <a:ext cx="19994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Preserved Vincent's letters and artworks</a:t>
            </a:r>
            <a:endParaRPr b="0" lang="en-HK" sz="880" spc="-1" strike="noStrike">
              <a:latin typeface="Arial"/>
            </a:endParaRPr>
          </a:p>
        </p:txBody>
      </p:sp>
      <p:sp>
        <p:nvSpPr>
          <p:cNvPr id="431" name="Shape 35"/>
          <p:cNvSpPr/>
          <p:nvPr/>
        </p:nvSpPr>
        <p:spPr>
          <a:xfrm>
            <a:off x="6959160" y="613620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2" name="Text 36"/>
          <p:cNvSpPr/>
          <p:nvPr/>
        </p:nvSpPr>
        <p:spPr>
          <a:xfrm>
            <a:off x="7167600" y="6104160"/>
            <a:ext cx="2223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Laid foundation for Van Gogh Museum (1973)</a:t>
            </a:r>
            <a:endParaRPr b="0" lang="en-HK" sz="880" spc="-1" strike="noStrike">
              <a:latin typeface="Arial"/>
            </a:endParaRPr>
          </a:p>
        </p:txBody>
      </p:sp>
      <p:sp>
        <p:nvSpPr>
          <p:cNvPr id="433" name="Shape 37"/>
          <p:cNvSpPr/>
          <p:nvPr/>
        </p:nvSpPr>
        <p:spPr>
          <a:xfrm>
            <a:off x="6959160" y="636048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4" name="Text 38"/>
          <p:cNvSpPr/>
          <p:nvPr/>
        </p:nvSpPr>
        <p:spPr>
          <a:xfrm>
            <a:off x="7167600" y="6328440"/>
            <a:ext cx="232776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Symbol of artistic patronage and brotherly love</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35"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436"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437" name="Shape 1"/>
          <p:cNvSpPr/>
          <p:nvPr/>
        </p:nvSpPr>
        <p:spPr>
          <a:xfrm>
            <a:off x="385920" y="1231200"/>
            <a:ext cx="1044360" cy="806400"/>
          </a:xfrm>
          <a:custGeom>
            <a:avLst/>
            <a:gdLst/>
            <a:ah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38" name="Text 2"/>
          <p:cNvSpPr/>
          <p:nvPr/>
        </p:nvSpPr>
        <p:spPr>
          <a:xfrm>
            <a:off x="619200" y="1307160"/>
            <a:ext cx="86256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06</a:t>
            </a:r>
            <a:endParaRPr b="0" lang="en-HK" sz="4500" spc="-1" strike="noStrike">
              <a:latin typeface="Arial"/>
            </a:endParaRPr>
          </a:p>
        </p:txBody>
      </p:sp>
      <p:sp>
        <p:nvSpPr>
          <p:cNvPr id="439" name="Text 3"/>
          <p:cNvSpPr/>
          <p:nvPr/>
        </p:nvSpPr>
        <p:spPr>
          <a:xfrm>
            <a:off x="612000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5400" spc="-1" strike="noStrike">
                <a:solidFill>
                  <a:srgbClr val="f2f2f2"/>
                </a:solidFill>
                <a:latin typeface="Oranienbaum"/>
                <a:ea typeface="Oranienbaum"/>
              </a:rPr>
              <a:t>Enduring Legacy</a:t>
            </a:r>
            <a:endParaRPr b="0" lang="en-HK" sz="5400" spc="-1" strike="noStrike">
              <a:latin typeface="Arial"/>
            </a:endParaRPr>
          </a:p>
          <a:p>
            <a:pPr>
              <a:lnSpc>
                <a:spcPct val="100000"/>
              </a:lnSpc>
              <a:buNone/>
            </a:pPr>
            <a:r>
              <a:rPr b="0" lang="en-US" sz="5400" spc="-1" strike="noStrike">
                <a:solidFill>
                  <a:srgbClr val="f2f2f2"/>
                </a:solidFill>
                <a:latin typeface="Oranienbaum"/>
                <a:ea typeface="Oranienbaum"/>
              </a:rPr>
              <a:t>and Influence</a:t>
            </a:r>
            <a:endParaRPr b="0" lang="en-HK" sz="5400" spc="-1" strike="noStrike">
              <a:latin typeface="Arial"/>
            </a:endParaRPr>
          </a:p>
        </p:txBody>
      </p:sp>
      <p:sp>
        <p:nvSpPr>
          <p:cNvPr id="440"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441"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From obscurity to becoming one of history's most celebrated artists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2" name="Text 0"/>
          <p:cNvSpPr/>
          <p:nvPr/>
        </p:nvSpPr>
        <p:spPr>
          <a:xfrm>
            <a:off x="320400" y="320400"/>
            <a:ext cx="11612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06</a:t>
            </a:r>
            <a:endParaRPr b="0" lang="en-HK" sz="1010" spc="-1" strike="noStrike">
              <a:latin typeface="Arial"/>
            </a:endParaRPr>
          </a:p>
        </p:txBody>
      </p:sp>
      <p:sp>
        <p:nvSpPr>
          <p:cNvPr id="443" name="Text 1"/>
          <p:cNvSpPr/>
          <p:nvPr/>
        </p:nvSpPr>
        <p:spPr>
          <a:xfrm>
            <a:off x="320400" y="576720"/>
            <a:ext cx="11740320" cy="381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30" spc="-1" strike="noStrike">
                <a:solidFill>
                  <a:srgbClr val="f2f2f2"/>
                </a:solidFill>
                <a:latin typeface="Oranienbaum"/>
                <a:ea typeface="Oranienbaum"/>
              </a:rPr>
              <a:t>Posthumous Recognition and Global Im</a:t>
            </a:r>
            <a:r>
              <a:rPr b="0" lang="en-US" sz="3030" spc="-1" strike="noStrike">
                <a:solidFill>
                  <a:srgbClr val="f2f2f2"/>
                </a:solidFill>
                <a:latin typeface="Oranienbaum"/>
                <a:ea typeface="Oranienbaum"/>
              </a:rPr>
              <a:t>pact</a:t>
            </a:r>
            <a:endParaRPr b="0" lang="en-HK" sz="3030" spc="-1" strike="noStrike">
              <a:latin typeface="Arial"/>
            </a:endParaRPr>
          </a:p>
        </p:txBody>
      </p:sp>
      <p:sp>
        <p:nvSpPr>
          <p:cNvPr id="444" name="Shape 2"/>
          <p:cNvSpPr/>
          <p:nvPr/>
        </p:nvSpPr>
        <p:spPr>
          <a:xfrm>
            <a:off x="320400" y="1089360"/>
            <a:ext cx="893880" cy="1296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445" name="Shape 3"/>
          <p:cNvSpPr/>
          <p:nvPr/>
        </p:nvSpPr>
        <p:spPr>
          <a:xfrm>
            <a:off x="332280" y="1265760"/>
            <a:ext cx="5664240" cy="3040920"/>
          </a:xfrm>
          <a:custGeom>
            <a:avLst/>
            <a:gdLst/>
            <a:ah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46" name="Shape 4"/>
          <p:cNvSpPr/>
          <p:nvPr/>
        </p:nvSpPr>
        <p:spPr>
          <a:xfrm>
            <a:off x="332280" y="1265760"/>
            <a:ext cx="20880" cy="304092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47" name="Shape 5"/>
          <p:cNvSpPr/>
          <p:nvPr/>
        </p:nvSpPr>
        <p:spPr>
          <a:xfrm>
            <a:off x="50472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48" name="Shape 6"/>
          <p:cNvSpPr/>
          <p:nvPr/>
        </p:nvSpPr>
        <p:spPr>
          <a:xfrm>
            <a:off x="616680" y="1537920"/>
            <a:ext cx="156960" cy="156960"/>
          </a:xfrm>
          <a:custGeom>
            <a:avLst/>
            <a:gdLst/>
            <a:ah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w="0">
            <a:noFill/>
          </a:ln>
        </p:spPr>
        <p:style>
          <a:lnRef idx="0"/>
          <a:fillRef idx="0"/>
          <a:effectRef idx="0"/>
          <a:fontRef idx="minor"/>
        </p:style>
      </p:sp>
      <p:sp>
        <p:nvSpPr>
          <p:cNvPr id="449" name="Text 7"/>
          <p:cNvSpPr/>
          <p:nvPr/>
        </p:nvSpPr>
        <p:spPr>
          <a:xfrm>
            <a:off x="985320" y="1490040"/>
            <a:ext cx="193536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From Obscurity to Fame</a:t>
            </a:r>
            <a:endParaRPr b="0" lang="en-HK" sz="1510" spc="-1" strike="noStrike">
              <a:latin typeface="Arial"/>
            </a:endParaRPr>
          </a:p>
        </p:txBody>
      </p:sp>
      <p:sp>
        <p:nvSpPr>
          <p:cNvPr id="450" name="Text 8"/>
          <p:cNvSpPr/>
          <p:nvPr/>
        </p:nvSpPr>
        <p:spPr>
          <a:xfrm>
            <a:off x="504720" y="193860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During his lifetime, Van Gogh sold only </a:t>
            </a:r>
            <a:r>
              <a:rPr b="0" lang="en-US" sz="1010" spc="-1" strike="noStrike">
                <a:solidFill>
                  <a:srgbClr val="f2f2f2"/>
                </a:solidFill>
                <a:latin typeface="Quattrocento Sans"/>
                <a:ea typeface="Quattrocento Sans"/>
              </a:rPr>
              <a:t>one painting</a:t>
            </a:r>
            <a:r>
              <a:rPr b="0" lang="en-US" sz="1010" spc="-1" strike="noStrike">
                <a:solidFill>
                  <a:srgbClr val="b8b8b8"/>
                </a:solidFill>
                <a:latin typeface="Quattrocento Sans"/>
                <a:ea typeface="Quattrocento Sans"/>
              </a:rPr>
              <a:t>—"The Red Vineyard" (1890), purchased by Belgian artist Anna Boch for 400 francs. He died in poverty and relative obscurity, considered a madman and failure by most.</a:t>
            </a:r>
            <a:endParaRPr b="0" lang="en-HK" sz="1010" spc="-1" strike="noStrike">
              <a:latin typeface="Arial"/>
            </a:endParaRPr>
          </a:p>
        </p:txBody>
      </p:sp>
      <p:sp>
        <p:nvSpPr>
          <p:cNvPr id="451" name="Text 9"/>
          <p:cNvSpPr/>
          <p:nvPr/>
        </p:nvSpPr>
        <p:spPr>
          <a:xfrm>
            <a:off x="504720" y="269136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After his death, Theo and later Theo's widow </a:t>
            </a:r>
            <a:r>
              <a:rPr b="0" lang="en-US" sz="1010" spc="-1" strike="noStrike">
                <a:solidFill>
                  <a:srgbClr val="c9a36a"/>
                </a:solidFill>
                <a:latin typeface="Quattrocento Sans"/>
                <a:ea typeface="Quattrocento Sans"/>
              </a:rPr>
              <a:t>Johanna van Gogh-Bonger</a:t>
            </a:r>
            <a:r>
              <a:rPr b="0" lang="en-US" sz="1010" spc="-1" strike="noStrike">
                <a:solidFill>
                  <a:srgbClr val="b8b8b8"/>
                </a:solidFill>
                <a:latin typeface="Quattrocento Sans"/>
                <a:ea typeface="Quattrocento Sans"/>
              </a:rPr>
              <a:t> worked tirelessly to promote his work. Johanna organized exhibitions across Europe, published his letters, and built relationships with collectors and critics who gradually recognized his genius.</a:t>
            </a:r>
            <a:endParaRPr b="0" lang="en-HK" sz="1010" spc="-1" strike="noStrike">
              <a:latin typeface="Arial"/>
            </a:endParaRPr>
          </a:p>
        </p:txBody>
      </p:sp>
      <p:sp>
        <p:nvSpPr>
          <p:cNvPr id="452" name="Shape 10"/>
          <p:cNvSpPr/>
          <p:nvPr/>
        </p:nvSpPr>
        <p:spPr>
          <a:xfrm>
            <a:off x="504720" y="3444480"/>
            <a:ext cx="5331600" cy="701640"/>
          </a:xfrm>
          <a:custGeom>
            <a:avLst/>
            <a:gdLst/>
            <a:ah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53" name="Text 11"/>
          <p:cNvSpPr/>
          <p:nvPr/>
        </p:nvSpPr>
        <p:spPr>
          <a:xfrm>
            <a:off x="600840" y="3540600"/>
            <a:ext cx="51955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Turning Point:</a:t>
            </a:r>
            <a:endParaRPr b="0" lang="en-HK" sz="880" spc="-1" strike="noStrike">
              <a:latin typeface="Arial"/>
            </a:endParaRPr>
          </a:p>
        </p:txBody>
      </p:sp>
      <p:sp>
        <p:nvSpPr>
          <p:cNvPr id="454" name="Text 12"/>
          <p:cNvSpPr/>
          <p:nvPr/>
        </p:nvSpPr>
        <p:spPr>
          <a:xfrm>
            <a:off x="600840" y="3732840"/>
            <a:ext cx="519552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A 1901 retrospective in Paris brought Van Gogh to the attention of the avant-garde, sparking his posthumous rise to fame.</a:t>
            </a:r>
            <a:endParaRPr b="0" lang="en-HK" sz="880" spc="-1" strike="noStrike">
              <a:latin typeface="Arial"/>
            </a:endParaRPr>
          </a:p>
        </p:txBody>
      </p:sp>
      <p:sp>
        <p:nvSpPr>
          <p:cNvPr id="455" name="Shape 13"/>
          <p:cNvSpPr/>
          <p:nvPr/>
        </p:nvSpPr>
        <p:spPr>
          <a:xfrm>
            <a:off x="332280" y="4437720"/>
            <a:ext cx="5664240" cy="1999440"/>
          </a:xfrm>
          <a:custGeom>
            <a:avLst/>
            <a:gdLst/>
            <a:ah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56" name="Shape 14"/>
          <p:cNvSpPr/>
          <p:nvPr/>
        </p:nvSpPr>
        <p:spPr>
          <a:xfrm>
            <a:off x="332280" y="4437720"/>
            <a:ext cx="20880" cy="1999440"/>
          </a:xfrm>
          <a:custGeom>
            <a:avLst/>
            <a:gdLst/>
            <a:ah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57" name="Shape 15"/>
          <p:cNvSpPr/>
          <p:nvPr/>
        </p:nvSpPr>
        <p:spPr>
          <a:xfrm>
            <a:off x="504720" y="459792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58" name="Shape 16"/>
          <p:cNvSpPr/>
          <p:nvPr/>
        </p:nvSpPr>
        <p:spPr>
          <a:xfrm>
            <a:off x="616680" y="4710240"/>
            <a:ext cx="156960" cy="156960"/>
          </a:xfrm>
          <a:custGeom>
            <a:avLst/>
            <a:gdLst/>
            <a:ah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w="0">
            <a:noFill/>
          </a:ln>
        </p:spPr>
        <p:style>
          <a:lnRef idx="0"/>
          <a:fillRef idx="0"/>
          <a:effectRef idx="0"/>
          <a:fontRef idx="minor"/>
        </p:style>
      </p:sp>
      <p:sp>
        <p:nvSpPr>
          <p:cNvPr id="459" name="Text 17"/>
          <p:cNvSpPr/>
          <p:nvPr/>
        </p:nvSpPr>
        <p:spPr>
          <a:xfrm>
            <a:off x="985320" y="4662000"/>
            <a:ext cx="15109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Van Gogh Museum</a:t>
            </a:r>
            <a:endParaRPr b="0" lang="en-HK" sz="1510" spc="-1" strike="noStrike">
              <a:latin typeface="Arial"/>
            </a:endParaRPr>
          </a:p>
        </p:txBody>
      </p:sp>
      <p:sp>
        <p:nvSpPr>
          <p:cNvPr id="460" name="Text 18"/>
          <p:cNvSpPr/>
          <p:nvPr/>
        </p:nvSpPr>
        <p:spPr>
          <a:xfrm>
            <a:off x="504720" y="5110560"/>
            <a:ext cx="5395680" cy="413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Established in </a:t>
            </a:r>
            <a:r>
              <a:rPr b="0" lang="en-US" sz="1010" spc="-1" strike="noStrike">
                <a:solidFill>
                  <a:srgbClr val="f2f2f2"/>
                </a:solidFill>
                <a:latin typeface="Quattrocento Sans"/>
                <a:ea typeface="Quattrocento Sans"/>
              </a:rPr>
              <a:t>1973</a:t>
            </a:r>
            <a:r>
              <a:rPr b="0" lang="en-US" sz="1010" spc="-1" strike="noStrike">
                <a:solidFill>
                  <a:srgbClr val="b8b8b8"/>
                </a:solidFill>
                <a:latin typeface="Quattrocento Sans"/>
                <a:ea typeface="Quattrocento Sans"/>
              </a:rPr>
              <a:t> in Amsterdam's Museumplein, the Van Gogh Museum houses the </a:t>
            </a:r>
            <a:r>
              <a:rPr b="0" lang="en-US" sz="1010" spc="-1" strike="noStrike">
                <a:solidFill>
                  <a:srgbClr val="c9a36a"/>
                </a:solidFill>
                <a:latin typeface="Quattrocento Sans"/>
                <a:ea typeface="Quattrocento Sans"/>
              </a:rPr>
              <a:t>world's largest collection</a:t>
            </a:r>
            <a:r>
              <a:rPr b="0" lang="en-US" sz="1010" spc="-1" strike="noStrike">
                <a:solidFill>
                  <a:srgbClr val="b8b8b8"/>
                </a:solidFill>
                <a:latin typeface="Quattrocento Sans"/>
                <a:ea typeface="Quattrocento Sans"/>
              </a:rPr>
              <a:t> of his works—over 200 paintings, 500 drawings, and 700 letters.</a:t>
            </a:r>
            <a:endParaRPr b="0" lang="en-HK" sz="1010" spc="-1" strike="noStrike">
              <a:latin typeface="Arial"/>
            </a:endParaRPr>
          </a:p>
        </p:txBody>
      </p:sp>
      <p:sp>
        <p:nvSpPr>
          <p:cNvPr id="461" name="Text 19"/>
          <p:cNvSpPr/>
          <p:nvPr/>
        </p:nvSpPr>
        <p:spPr>
          <a:xfrm>
            <a:off x="504720" y="565560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museum, founded by Vincent's nephew Vincent Willem van Gogh, attracts </a:t>
            </a:r>
            <a:r>
              <a:rPr b="0" lang="en-US" sz="1010" spc="-1" strike="noStrike">
                <a:solidFill>
                  <a:srgbClr val="f2f2f2"/>
                </a:solidFill>
                <a:latin typeface="Quattrocento Sans"/>
                <a:ea typeface="Quattrocento Sans"/>
              </a:rPr>
              <a:t>2+ million visitors annually</a:t>
            </a:r>
            <a:r>
              <a:rPr b="0" lang="en-US" sz="1010" spc="-1" strike="noStrike">
                <a:solidFill>
                  <a:srgbClr val="b8b8b8"/>
                </a:solidFill>
                <a:latin typeface="Quattrocento Sans"/>
                <a:ea typeface="Quattrocento Sans"/>
              </a:rPr>
              <a:t>, making it one of the world's most popular art museums and a testament to his enduring appeal.</a:t>
            </a:r>
            <a:endParaRPr b="0" lang="en-HK" sz="1010" spc="-1" strike="noStrike">
              <a:latin typeface="Arial"/>
            </a:endParaRPr>
          </a:p>
        </p:txBody>
      </p:sp>
      <p:sp>
        <p:nvSpPr>
          <p:cNvPr id="462" name="Shape 20"/>
          <p:cNvSpPr/>
          <p:nvPr/>
        </p:nvSpPr>
        <p:spPr>
          <a:xfrm>
            <a:off x="6203160" y="1265760"/>
            <a:ext cx="5664240" cy="3553560"/>
          </a:xfrm>
          <a:custGeom>
            <a:avLst/>
            <a:gdLst/>
            <a:ah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63" name="Shape 21"/>
          <p:cNvSpPr/>
          <p:nvPr/>
        </p:nvSpPr>
        <p:spPr>
          <a:xfrm>
            <a:off x="6203160" y="1265760"/>
            <a:ext cx="20880" cy="3553560"/>
          </a:xfrm>
          <a:custGeom>
            <a:avLst/>
            <a:gdLst/>
            <a:ah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64" name="Shape 22"/>
          <p:cNvSpPr/>
          <p:nvPr/>
        </p:nvSpPr>
        <p:spPr>
          <a:xfrm>
            <a:off x="637560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65" name="Shape 23"/>
          <p:cNvSpPr/>
          <p:nvPr/>
        </p:nvSpPr>
        <p:spPr>
          <a:xfrm>
            <a:off x="6517440" y="1537920"/>
            <a:ext cx="96840" cy="156960"/>
          </a:xfrm>
          <a:custGeom>
            <a:avLst/>
            <a:gdLst/>
            <a:ah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w="0">
            <a:noFill/>
          </a:ln>
        </p:spPr>
        <p:style>
          <a:lnRef idx="0"/>
          <a:fillRef idx="0"/>
          <a:effectRef idx="0"/>
          <a:fontRef idx="minor"/>
        </p:style>
      </p:sp>
      <p:sp>
        <p:nvSpPr>
          <p:cNvPr id="466" name="Text 24"/>
          <p:cNvSpPr/>
          <p:nvPr/>
        </p:nvSpPr>
        <p:spPr>
          <a:xfrm>
            <a:off x="6856200" y="1490040"/>
            <a:ext cx="160704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Market Value Today</a:t>
            </a:r>
            <a:endParaRPr b="0" lang="en-HK" sz="1510" spc="-1" strike="noStrike">
              <a:latin typeface="Arial"/>
            </a:endParaRPr>
          </a:p>
        </p:txBody>
      </p:sp>
      <p:sp>
        <p:nvSpPr>
          <p:cNvPr id="467" name="Text 25"/>
          <p:cNvSpPr/>
          <p:nvPr/>
        </p:nvSpPr>
        <p:spPr>
          <a:xfrm>
            <a:off x="6375600" y="1938600"/>
            <a:ext cx="5395680" cy="20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Van Gogh's works now command some of the </a:t>
            </a:r>
            <a:r>
              <a:rPr b="0" lang="en-US" sz="1010" spc="-1" strike="noStrike">
                <a:solidFill>
                  <a:srgbClr val="f2f2f2"/>
                </a:solidFill>
                <a:latin typeface="Quattrocento Sans"/>
                <a:ea typeface="Quattrocento Sans"/>
              </a:rPr>
              <a:t>highest prices in the art market</a:t>
            </a:r>
            <a:r>
              <a:rPr b="0" lang="en-US" sz="1010" spc="-1" strike="noStrike">
                <a:solidFill>
                  <a:srgbClr val="b8b8b8"/>
                </a:solidFill>
                <a:latin typeface="Quattrocento Sans"/>
                <a:ea typeface="Quattrocento Sans"/>
              </a:rPr>
              <a:t>:</a:t>
            </a:r>
            <a:endParaRPr b="0" lang="en-HK" sz="1010" spc="-1" strike="noStrike">
              <a:latin typeface="Arial"/>
            </a:endParaRPr>
          </a:p>
        </p:txBody>
      </p:sp>
      <p:sp>
        <p:nvSpPr>
          <p:cNvPr id="468" name="Shape 26"/>
          <p:cNvSpPr/>
          <p:nvPr/>
        </p:nvSpPr>
        <p:spPr>
          <a:xfrm>
            <a:off x="6375600" y="227484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69" name="Text 27"/>
          <p:cNvSpPr/>
          <p:nvPr/>
        </p:nvSpPr>
        <p:spPr>
          <a:xfrm>
            <a:off x="6471720" y="2387160"/>
            <a:ext cx="13986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Portrait of Dr. Gachet (1990)</a:t>
            </a:r>
            <a:endParaRPr b="0" lang="en-HK" sz="880" spc="-1" strike="noStrike">
              <a:latin typeface="Arial"/>
            </a:endParaRPr>
          </a:p>
        </p:txBody>
      </p:sp>
      <p:sp>
        <p:nvSpPr>
          <p:cNvPr id="470" name="Text 28"/>
          <p:cNvSpPr/>
          <p:nvPr/>
        </p:nvSpPr>
        <p:spPr>
          <a:xfrm>
            <a:off x="10907640" y="2370960"/>
            <a:ext cx="7657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$82.5 million</a:t>
            </a:r>
            <a:endParaRPr b="0" lang="en-HK" sz="1010" spc="-1" strike="noStrike">
              <a:latin typeface="Arial"/>
            </a:endParaRPr>
          </a:p>
        </p:txBody>
      </p:sp>
      <p:sp>
        <p:nvSpPr>
          <p:cNvPr id="471" name="Text 29"/>
          <p:cNvSpPr/>
          <p:nvPr/>
        </p:nvSpPr>
        <p:spPr>
          <a:xfrm>
            <a:off x="6471720" y="259524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Held record for most expensive painting for 16 years</a:t>
            </a:r>
            <a:endParaRPr b="0" lang="en-HK" sz="750" spc="-1" strike="noStrike">
              <a:latin typeface="Arial"/>
            </a:endParaRPr>
          </a:p>
        </p:txBody>
      </p:sp>
      <p:sp>
        <p:nvSpPr>
          <p:cNvPr id="472" name="Shape 30"/>
          <p:cNvSpPr/>
          <p:nvPr/>
        </p:nvSpPr>
        <p:spPr>
          <a:xfrm>
            <a:off x="6375600" y="291600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3" name="Text 31"/>
          <p:cNvSpPr/>
          <p:nvPr/>
        </p:nvSpPr>
        <p:spPr>
          <a:xfrm>
            <a:off x="6471720" y="3027960"/>
            <a:ext cx="6134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Irises (1987)</a:t>
            </a:r>
            <a:endParaRPr b="0" lang="en-HK" sz="880" spc="-1" strike="noStrike">
              <a:latin typeface="Arial"/>
            </a:endParaRPr>
          </a:p>
        </p:txBody>
      </p:sp>
      <p:sp>
        <p:nvSpPr>
          <p:cNvPr id="474" name="Text 32"/>
          <p:cNvSpPr/>
          <p:nvPr/>
        </p:nvSpPr>
        <p:spPr>
          <a:xfrm>
            <a:off x="10905120" y="3012120"/>
            <a:ext cx="7657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$53.9 million</a:t>
            </a:r>
            <a:endParaRPr b="0" lang="en-HK" sz="1010" spc="-1" strike="noStrike">
              <a:latin typeface="Arial"/>
            </a:endParaRPr>
          </a:p>
        </p:txBody>
      </p:sp>
      <p:sp>
        <p:nvSpPr>
          <p:cNvPr id="475" name="Text 33"/>
          <p:cNvSpPr/>
          <p:nvPr/>
        </p:nvSpPr>
        <p:spPr>
          <a:xfrm>
            <a:off x="6471720" y="323640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Set record at the time; now worth $100+ million</a:t>
            </a:r>
            <a:endParaRPr b="0" lang="en-HK" sz="750" spc="-1" strike="noStrike">
              <a:latin typeface="Arial"/>
            </a:endParaRPr>
          </a:p>
        </p:txBody>
      </p:sp>
      <p:sp>
        <p:nvSpPr>
          <p:cNvPr id="476" name="Shape 34"/>
          <p:cNvSpPr/>
          <p:nvPr/>
        </p:nvSpPr>
        <p:spPr>
          <a:xfrm>
            <a:off x="6375600" y="355680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7" name="Text 35"/>
          <p:cNvSpPr/>
          <p:nvPr/>
        </p:nvSpPr>
        <p:spPr>
          <a:xfrm>
            <a:off x="6471720" y="3668760"/>
            <a:ext cx="12542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Sunflowers (private sale)</a:t>
            </a:r>
            <a:endParaRPr b="0" lang="en-HK" sz="880" spc="-1" strike="noStrike">
              <a:latin typeface="Arial"/>
            </a:endParaRPr>
          </a:p>
        </p:txBody>
      </p:sp>
      <p:sp>
        <p:nvSpPr>
          <p:cNvPr id="478" name="Text 36"/>
          <p:cNvSpPr/>
          <p:nvPr/>
        </p:nvSpPr>
        <p:spPr>
          <a:xfrm>
            <a:off x="10872720" y="3652920"/>
            <a:ext cx="7977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$100+ million</a:t>
            </a:r>
            <a:endParaRPr b="0" lang="en-HK" sz="1010" spc="-1" strike="noStrike">
              <a:latin typeface="Arial"/>
            </a:endParaRPr>
          </a:p>
        </p:txBody>
      </p:sp>
      <p:sp>
        <p:nvSpPr>
          <p:cNvPr id="479" name="Text 37"/>
          <p:cNvSpPr/>
          <p:nvPr/>
        </p:nvSpPr>
        <p:spPr>
          <a:xfrm>
            <a:off x="6471720" y="387720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Estimated value if sold today</a:t>
            </a:r>
            <a:endParaRPr b="0" lang="en-HK" sz="750" spc="-1" strike="noStrike">
              <a:latin typeface="Arial"/>
            </a:endParaRPr>
          </a:p>
        </p:txBody>
      </p:sp>
      <p:sp>
        <p:nvSpPr>
          <p:cNvPr id="480" name="Text 38"/>
          <p:cNvSpPr/>
          <p:nvPr/>
        </p:nvSpPr>
        <p:spPr>
          <a:xfrm>
            <a:off x="6375600" y="4229640"/>
            <a:ext cx="538776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dramatic contrast between his poverty in life and the value of his work today symbolizes the tragedy of unrecognized genius.</a:t>
            </a:r>
            <a:endParaRPr b="0" lang="en-HK" sz="880" spc="-1" strike="noStrike">
              <a:latin typeface="Arial"/>
            </a:endParaRPr>
          </a:p>
        </p:txBody>
      </p:sp>
      <p:sp>
        <p:nvSpPr>
          <p:cNvPr id="481" name="Shape 39"/>
          <p:cNvSpPr/>
          <p:nvPr/>
        </p:nvSpPr>
        <p:spPr>
          <a:xfrm>
            <a:off x="6195240" y="4954680"/>
            <a:ext cx="5668200" cy="1575000"/>
          </a:xfrm>
          <a:custGeom>
            <a:avLst/>
            <a:gdLst/>
            <a:ah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82" name="Shape 40"/>
          <p:cNvSpPr/>
          <p:nvPr/>
        </p:nvSpPr>
        <p:spPr>
          <a:xfrm>
            <a:off x="8912160" y="5118840"/>
            <a:ext cx="237240" cy="237240"/>
          </a:xfrm>
          <a:custGeom>
            <a:avLst/>
            <a:gdLst/>
            <a:ah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w="0">
            <a:noFill/>
          </a:ln>
        </p:spPr>
        <p:style>
          <a:lnRef idx="0"/>
          <a:fillRef idx="0"/>
          <a:effectRef idx="0"/>
          <a:fontRef idx="minor"/>
        </p:style>
      </p:sp>
      <p:sp>
        <p:nvSpPr>
          <p:cNvPr id="483" name="Text 41"/>
          <p:cNvSpPr/>
          <p:nvPr/>
        </p:nvSpPr>
        <p:spPr>
          <a:xfrm>
            <a:off x="6319440" y="5455080"/>
            <a:ext cx="5419800" cy="221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60" spc="-1" strike="noStrike">
                <a:solidFill>
                  <a:srgbClr val="f2f2f2"/>
                </a:solidFill>
                <a:latin typeface="Oranienbaum"/>
                <a:ea typeface="Oranienbaum"/>
              </a:rPr>
              <a:t>Global Recognition</a:t>
            </a:r>
            <a:endParaRPr b="0" lang="en-HK" sz="1260" spc="-1" strike="noStrike">
              <a:latin typeface="Arial"/>
            </a:endParaRPr>
          </a:p>
        </p:txBody>
      </p:sp>
      <p:sp>
        <p:nvSpPr>
          <p:cNvPr id="484" name="Text 42"/>
          <p:cNvSpPr/>
          <p:nvPr/>
        </p:nvSpPr>
        <p:spPr>
          <a:xfrm>
            <a:off x="6327360" y="5743440"/>
            <a:ext cx="5403960" cy="6217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10" spc="-1" strike="noStrike">
                <a:solidFill>
                  <a:srgbClr val="b8b8b8"/>
                </a:solidFill>
                <a:latin typeface="Quattrocento Sans"/>
                <a:ea typeface="Quattrocento Sans"/>
              </a:rPr>
              <a:t>Van Gogh is now one of the most recognized artists worldwide. His works are housed in major museums across the globe, from the MoMA in New York to the Musée d'Orsay in Paris, attracting millions of admirers annually.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85" name="Text 0"/>
          <p:cNvSpPr/>
          <p:nvPr/>
        </p:nvSpPr>
        <p:spPr>
          <a:xfrm>
            <a:off x="335880" y="335880"/>
            <a:ext cx="11584080" cy="198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88" strike="noStrike">
                <a:solidFill>
                  <a:srgbClr val="c9a36a"/>
                </a:solidFill>
                <a:latin typeface="Quattrocento Sans"/>
                <a:ea typeface="Quattrocento Sans"/>
              </a:rPr>
              <a:t>Chapter 06</a:t>
            </a:r>
            <a:endParaRPr b="0" lang="en-HK" sz="1060" spc="-1" strike="noStrike">
              <a:latin typeface="Arial"/>
            </a:endParaRPr>
          </a:p>
        </p:txBody>
      </p:sp>
      <p:sp>
        <p:nvSpPr>
          <p:cNvPr id="486" name="Text 1"/>
          <p:cNvSpPr/>
          <p:nvPr/>
        </p:nvSpPr>
        <p:spPr>
          <a:xfrm>
            <a:off x="9880560" y="604440"/>
            <a:ext cx="11718720" cy="399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170" spc="-1" strike="noStrike">
                <a:solidFill>
                  <a:srgbClr val="f2f2f2"/>
                </a:solidFill>
                <a:latin typeface="Oranienbaum"/>
                <a:ea typeface="Oranienbaum"/>
              </a:rPr>
              <a:t>Inspiring Generations: Van Gogh's Artistic Descendants</a:t>
            </a:r>
            <a:endParaRPr b="0" lang="en-HK" sz="3170" spc="-1" strike="noStrike">
              <a:latin typeface="Arial"/>
            </a:endParaRPr>
          </a:p>
        </p:txBody>
      </p:sp>
      <p:sp>
        <p:nvSpPr>
          <p:cNvPr id="487" name="Shape 2"/>
          <p:cNvSpPr/>
          <p:nvPr/>
        </p:nvSpPr>
        <p:spPr>
          <a:xfrm>
            <a:off x="335880" y="1141920"/>
            <a:ext cx="937080" cy="13680"/>
          </a:xfrm>
          <a:custGeom>
            <a:avLst/>
            <a:gdLst/>
            <a:ahLst/>
            <a:rect l="l" t="t" r="r" b="b"/>
            <a:pathLst>
              <a:path w="940430" h="16793">
                <a:moveTo>
                  <a:pt x="0" y="0"/>
                </a:moveTo>
                <a:lnTo>
                  <a:pt x="940430" y="0"/>
                </a:lnTo>
                <a:lnTo>
                  <a:pt x="940430" y="16793"/>
                </a:lnTo>
                <a:lnTo>
                  <a:pt x="0" y="16793"/>
                </a:lnTo>
                <a:lnTo>
                  <a:pt x="0" y="0"/>
                </a:lnTo>
                <a:close/>
              </a:path>
            </a:pathLst>
          </a:custGeom>
          <a:solidFill>
            <a:srgbClr val="c9a36a"/>
          </a:solidFill>
          <a:ln w="0">
            <a:noFill/>
          </a:ln>
        </p:spPr>
        <p:style>
          <a:lnRef idx="0"/>
          <a:fillRef idx="0"/>
          <a:effectRef idx="0"/>
          <a:fontRef idx="minor"/>
        </p:style>
      </p:sp>
      <p:sp>
        <p:nvSpPr>
          <p:cNvPr id="488" name="Shape 3"/>
          <p:cNvSpPr/>
          <p:nvPr/>
        </p:nvSpPr>
        <p:spPr>
          <a:xfrm>
            <a:off x="33588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89" name="Shape 4"/>
          <p:cNvSpPr/>
          <p:nvPr/>
        </p:nvSpPr>
        <p:spPr>
          <a:xfrm>
            <a:off x="33588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0" name="Shape 5"/>
          <p:cNvSpPr/>
          <p:nvPr/>
        </p:nvSpPr>
        <p:spPr>
          <a:xfrm>
            <a:off x="5036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491" name="Shape 6"/>
          <p:cNvSpPr/>
          <p:nvPr/>
        </p:nvSpPr>
        <p:spPr>
          <a:xfrm>
            <a:off x="631800" y="1637280"/>
            <a:ext cx="143640" cy="164520"/>
          </a:xfrm>
          <a:custGeom>
            <a:avLst/>
            <a:gdLst/>
            <a:ah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w="0">
            <a:noFill/>
          </a:ln>
        </p:spPr>
        <p:style>
          <a:lnRef idx="0"/>
          <a:fillRef idx="0"/>
          <a:effectRef idx="0"/>
          <a:fontRef idx="minor"/>
        </p:style>
      </p:sp>
      <p:sp>
        <p:nvSpPr>
          <p:cNvPr id="492" name="Text 7"/>
          <p:cNvSpPr/>
          <p:nvPr/>
        </p:nvSpPr>
        <p:spPr>
          <a:xfrm>
            <a:off x="1007640" y="1603800"/>
            <a:ext cx="160056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German Expressionism</a:t>
            </a:r>
            <a:endParaRPr b="0" lang="en-HK" sz="1320" spc="-1" strike="noStrike">
              <a:latin typeface="Arial"/>
            </a:endParaRPr>
          </a:p>
        </p:txBody>
      </p:sp>
      <p:sp>
        <p:nvSpPr>
          <p:cNvPr id="493" name="Text 8"/>
          <p:cNvSpPr/>
          <p:nvPr/>
        </p:nvSpPr>
        <p:spPr>
          <a:xfrm>
            <a:off x="503640" y="2057040"/>
            <a:ext cx="3481560" cy="1088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Artists of </a:t>
            </a:r>
            <a:r>
              <a:rPr b="0" lang="en-US" sz="1060" spc="-1" strike="noStrike">
                <a:solidFill>
                  <a:srgbClr val="f2f2f2"/>
                </a:solidFill>
                <a:latin typeface="Quattrocento Sans"/>
                <a:ea typeface="Quattrocento Sans"/>
              </a:rPr>
              <a:t>Die Brücke</a:t>
            </a:r>
            <a:r>
              <a:rPr b="0" lang="en-US" sz="1060" spc="-1" strike="noStrike">
                <a:solidFill>
                  <a:srgbClr val="b8b8b8"/>
                </a:solidFill>
                <a:latin typeface="Quattrocento Sans"/>
                <a:ea typeface="Quattrocento Sans"/>
              </a:rPr>
              <a:t> (The Bridge) and </a:t>
            </a:r>
            <a:r>
              <a:rPr b="0" lang="en-US" sz="1060" spc="-1" strike="noStrike">
                <a:solidFill>
                  <a:srgbClr val="f2f2f2"/>
                </a:solidFill>
                <a:latin typeface="Quattrocento Sans"/>
                <a:ea typeface="Quattrocento Sans"/>
              </a:rPr>
              <a:t>Der Blaue Reiter</a:t>
            </a:r>
            <a:r>
              <a:rPr b="0" lang="en-US" sz="1060" spc="-1" strike="noStrike">
                <a:solidFill>
                  <a:srgbClr val="b8b8b8"/>
                </a:solidFill>
                <a:latin typeface="Quattrocento Sans"/>
                <a:ea typeface="Quattrocento Sans"/>
              </a:rPr>
              <a:t> (The Blue Rider) movements saw Van Gogh as their spiritual predecessor. </a:t>
            </a:r>
            <a:r>
              <a:rPr b="1" lang="en-US" sz="1060" spc="-1" strike="noStrike">
                <a:solidFill>
                  <a:srgbClr val="c9a36a"/>
                </a:solidFill>
                <a:latin typeface="Quattrocento Sans"/>
                <a:ea typeface="Quattrocento Sans"/>
              </a:rPr>
              <a:t>Ernst Ludwig Kirchner</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Erich Heckel</a:t>
            </a:r>
            <a:r>
              <a:rPr b="0" lang="en-US" sz="1060" spc="-1" strike="noStrike">
                <a:solidFill>
                  <a:srgbClr val="b8b8b8"/>
                </a:solidFill>
                <a:latin typeface="Quattrocento Sans"/>
                <a:ea typeface="Quattrocento Sans"/>
              </a:rPr>
              <a:t>, and </a:t>
            </a:r>
            <a:r>
              <a:rPr b="1" lang="en-US" sz="1060" spc="-1" strike="noStrike">
                <a:solidFill>
                  <a:srgbClr val="c9a36a"/>
                </a:solidFill>
                <a:latin typeface="Quattrocento Sans"/>
                <a:ea typeface="Quattrocento Sans"/>
              </a:rPr>
              <a:t>Karl Schmidt-Rottluff</a:t>
            </a:r>
            <a:r>
              <a:rPr b="0" lang="en-US" sz="1060" spc="-1" strike="noStrike">
                <a:solidFill>
                  <a:srgbClr val="b8b8b8"/>
                </a:solidFill>
                <a:latin typeface="Quattrocento Sans"/>
                <a:ea typeface="Quattrocento Sans"/>
              </a:rPr>
              <a:t> adopted his raw emotional intensity, bold colors, and distorted forms.</a:t>
            </a:r>
            <a:endParaRPr b="0" lang="en-HK" sz="1060" spc="-1" strike="noStrike">
              <a:latin typeface="Arial"/>
            </a:endParaRPr>
          </a:p>
        </p:txBody>
      </p:sp>
      <p:sp>
        <p:nvSpPr>
          <p:cNvPr id="494" name="Shape 9"/>
          <p:cNvSpPr/>
          <p:nvPr/>
        </p:nvSpPr>
        <p:spPr>
          <a:xfrm>
            <a:off x="503640" y="3283200"/>
            <a:ext cx="3414240" cy="735840"/>
          </a:xfrm>
          <a:custGeom>
            <a:avLst/>
            <a:gdLst/>
            <a:ah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w="0">
            <a:noFill/>
          </a:ln>
        </p:spPr>
        <p:style>
          <a:lnRef idx="0"/>
          <a:fillRef idx="0"/>
          <a:effectRef idx="0"/>
          <a:fontRef idx="minor"/>
        </p:style>
      </p:sp>
      <p:sp>
        <p:nvSpPr>
          <p:cNvPr id="495" name="Text 10"/>
          <p:cNvSpPr/>
          <p:nvPr/>
        </p:nvSpPr>
        <p:spPr>
          <a:xfrm>
            <a:off x="604440" y="338400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496" name="Text 11"/>
          <p:cNvSpPr/>
          <p:nvPr/>
        </p:nvSpPr>
        <p:spPr>
          <a:xfrm>
            <a:off x="604440" y="3585240"/>
            <a:ext cx="3271320" cy="332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use of color to express inner states became central to Expressionist philosophy</a:t>
            </a:r>
            <a:endParaRPr b="0" lang="en-HK" sz="920" spc="-1" strike="noStrike">
              <a:latin typeface="Arial"/>
            </a:endParaRPr>
          </a:p>
        </p:txBody>
      </p:sp>
      <p:sp>
        <p:nvSpPr>
          <p:cNvPr id="497" name="Shape 12"/>
          <p:cNvSpPr/>
          <p:nvPr/>
        </p:nvSpPr>
        <p:spPr>
          <a:xfrm>
            <a:off x="422208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98" name="Shape 13"/>
          <p:cNvSpPr/>
          <p:nvPr/>
        </p:nvSpPr>
        <p:spPr>
          <a:xfrm>
            <a:off x="422208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9" name="Shape 14"/>
          <p:cNvSpPr/>
          <p:nvPr/>
        </p:nvSpPr>
        <p:spPr>
          <a:xfrm>
            <a:off x="43898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0" name="Shape 15"/>
          <p:cNvSpPr/>
          <p:nvPr/>
        </p:nvSpPr>
        <p:spPr>
          <a:xfrm>
            <a:off x="4507560" y="1637280"/>
            <a:ext cx="164520" cy="164520"/>
          </a:xfrm>
          <a:custGeom>
            <a:avLst/>
            <a:gdLst/>
            <a:ah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w="0">
            <a:noFill/>
          </a:ln>
        </p:spPr>
        <p:style>
          <a:lnRef idx="0"/>
          <a:fillRef idx="0"/>
          <a:effectRef idx="0"/>
          <a:fontRef idx="minor"/>
        </p:style>
      </p:sp>
      <p:sp>
        <p:nvSpPr>
          <p:cNvPr id="501" name="Text 16"/>
          <p:cNvSpPr/>
          <p:nvPr/>
        </p:nvSpPr>
        <p:spPr>
          <a:xfrm>
            <a:off x="4893840" y="1603800"/>
            <a:ext cx="63504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Fauvism</a:t>
            </a:r>
            <a:endParaRPr b="0" lang="en-HK" sz="1320" spc="-1" strike="noStrike">
              <a:latin typeface="Arial"/>
            </a:endParaRPr>
          </a:p>
        </p:txBody>
      </p:sp>
      <p:sp>
        <p:nvSpPr>
          <p:cNvPr id="502" name="Text 17"/>
          <p:cNvSpPr/>
          <p:nvPr/>
        </p:nvSpPr>
        <p:spPr>
          <a:xfrm>
            <a:off x="4389840" y="2057040"/>
            <a:ext cx="3481560" cy="125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The Fauves—</a:t>
            </a:r>
            <a:r>
              <a:rPr b="1" lang="en-US" sz="1060" spc="-1" strike="noStrike">
                <a:solidFill>
                  <a:srgbClr val="c9a36a"/>
                </a:solidFill>
                <a:latin typeface="Quattrocento Sans"/>
                <a:ea typeface="Quattrocento Sans"/>
              </a:rPr>
              <a:t>Henri Matisse</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André Derain</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Maurice de Vlaminck</a:t>
            </a:r>
            <a:r>
              <a:rPr b="0" lang="en-US" sz="1060" spc="-1" strike="noStrike">
                <a:solidFill>
                  <a:srgbClr val="b8b8b8"/>
                </a:solidFill>
                <a:latin typeface="Quattrocento Sans"/>
                <a:ea typeface="Quattrocento Sans"/>
              </a:rPr>
              <a:t>—pushed Van Gogh's chromatic freedom even further. They liberated color from descriptive representation, using pure, saturated hues for emotional impact, directly following Van Gogh's example.</a:t>
            </a:r>
            <a:endParaRPr b="0" lang="en-HK" sz="1060" spc="-1" strike="noStrike">
              <a:latin typeface="Arial"/>
            </a:endParaRPr>
          </a:p>
        </p:txBody>
      </p:sp>
      <p:sp>
        <p:nvSpPr>
          <p:cNvPr id="503" name="Shape 18"/>
          <p:cNvSpPr/>
          <p:nvPr/>
        </p:nvSpPr>
        <p:spPr>
          <a:xfrm>
            <a:off x="4389840" y="3450960"/>
            <a:ext cx="3414240" cy="56772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04" name="Text 19"/>
          <p:cNvSpPr/>
          <p:nvPr/>
        </p:nvSpPr>
        <p:spPr>
          <a:xfrm>
            <a:off x="4490640" y="35517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05" name="Text 20"/>
          <p:cNvSpPr/>
          <p:nvPr/>
        </p:nvSpPr>
        <p:spPr>
          <a:xfrm>
            <a:off x="4490640" y="37533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arbitrary color choices validated their wild palette</a:t>
            </a:r>
            <a:endParaRPr b="0" lang="en-HK" sz="920" spc="-1" strike="noStrike">
              <a:latin typeface="Arial"/>
            </a:endParaRPr>
          </a:p>
        </p:txBody>
      </p:sp>
      <p:sp>
        <p:nvSpPr>
          <p:cNvPr id="506" name="Shape 21"/>
          <p:cNvSpPr/>
          <p:nvPr/>
        </p:nvSpPr>
        <p:spPr>
          <a:xfrm>
            <a:off x="810792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507" name="Shape 22"/>
          <p:cNvSpPr/>
          <p:nvPr/>
        </p:nvSpPr>
        <p:spPr>
          <a:xfrm>
            <a:off x="810792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08" name="Shape 23"/>
          <p:cNvSpPr/>
          <p:nvPr/>
        </p:nvSpPr>
        <p:spPr>
          <a:xfrm>
            <a:off x="82760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9" name="Shape 24"/>
          <p:cNvSpPr/>
          <p:nvPr/>
        </p:nvSpPr>
        <p:spPr>
          <a:xfrm>
            <a:off x="8393400" y="1637280"/>
            <a:ext cx="164520" cy="164520"/>
          </a:xfrm>
          <a:custGeom>
            <a:avLst/>
            <a:gdLst/>
            <a:ah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w="0">
            <a:noFill/>
          </a:ln>
        </p:spPr>
        <p:style>
          <a:lnRef idx="0"/>
          <a:fillRef idx="0"/>
          <a:effectRef idx="0"/>
          <a:fontRef idx="minor"/>
        </p:style>
      </p:sp>
      <p:sp>
        <p:nvSpPr>
          <p:cNvPr id="510" name="Text 25"/>
          <p:cNvSpPr/>
          <p:nvPr/>
        </p:nvSpPr>
        <p:spPr>
          <a:xfrm>
            <a:off x="8779680" y="1603800"/>
            <a:ext cx="81108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Symbolism</a:t>
            </a:r>
            <a:endParaRPr b="0" lang="en-HK" sz="1320" spc="-1" strike="noStrike">
              <a:latin typeface="Arial"/>
            </a:endParaRPr>
          </a:p>
        </p:txBody>
      </p:sp>
      <p:sp>
        <p:nvSpPr>
          <p:cNvPr id="511" name="Text 26"/>
          <p:cNvSpPr/>
          <p:nvPr/>
        </p:nvSpPr>
        <p:spPr>
          <a:xfrm>
            <a:off x="8276040" y="2057040"/>
            <a:ext cx="3481560" cy="125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Symbolist artists found in Van Gogh's landscapes and night skies a </a:t>
            </a:r>
            <a:r>
              <a:rPr b="0" lang="en-US" sz="1060" spc="-1" strike="noStrike">
                <a:solidFill>
                  <a:srgbClr val="f2f2f2"/>
                </a:solidFill>
                <a:latin typeface="Quattrocento Sans"/>
                <a:ea typeface="Quattrocento Sans"/>
              </a:rPr>
              <a:t>visual translation of spiritual and emotional states</a:t>
            </a:r>
            <a:r>
              <a:rPr b="0" lang="en-US" sz="1060" spc="-1" strike="noStrike">
                <a:solidFill>
                  <a:srgbClr val="b8b8b8"/>
                </a:solidFill>
                <a:latin typeface="Quattrocento Sans"/>
                <a:ea typeface="Quattrocento Sans"/>
              </a:rPr>
              <a:t>. His ability to imbue nature with psychological meaning resonated with their desire to express the ineffable.</a:t>
            </a:r>
            <a:endParaRPr b="0" lang="en-HK" sz="1060" spc="-1" strike="noStrike">
              <a:latin typeface="Arial"/>
            </a:endParaRPr>
          </a:p>
        </p:txBody>
      </p:sp>
      <p:sp>
        <p:nvSpPr>
          <p:cNvPr id="512" name="Shape 27"/>
          <p:cNvSpPr/>
          <p:nvPr/>
        </p:nvSpPr>
        <p:spPr>
          <a:xfrm>
            <a:off x="8276040" y="3450960"/>
            <a:ext cx="3414240" cy="56772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13" name="Text 28"/>
          <p:cNvSpPr/>
          <p:nvPr/>
        </p:nvSpPr>
        <p:spPr>
          <a:xfrm>
            <a:off x="8376840" y="35517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14" name="Text 29"/>
          <p:cNvSpPr/>
          <p:nvPr/>
        </p:nvSpPr>
        <p:spPr>
          <a:xfrm>
            <a:off x="8376840" y="37533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symbolic use of cypresses, stars, and wheatfields</a:t>
            </a:r>
            <a:endParaRPr b="0" lang="en-HK" sz="920" spc="-1" strike="noStrike">
              <a:latin typeface="Arial"/>
            </a:endParaRPr>
          </a:p>
        </p:txBody>
      </p:sp>
      <p:sp>
        <p:nvSpPr>
          <p:cNvPr id="515" name="Shape 30"/>
          <p:cNvSpPr/>
          <p:nvPr/>
        </p:nvSpPr>
        <p:spPr>
          <a:xfrm>
            <a:off x="348480" y="4324320"/>
            <a:ext cx="5677200" cy="2314080"/>
          </a:xfrm>
          <a:custGeom>
            <a:avLst/>
            <a:gdLst/>
            <a:ah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w="0">
            <a:noFill/>
          </a:ln>
        </p:spPr>
        <p:style>
          <a:lnRef idx="0"/>
          <a:fillRef idx="0"/>
          <a:effectRef idx="0"/>
          <a:fontRef idx="minor"/>
        </p:style>
      </p:sp>
      <p:sp>
        <p:nvSpPr>
          <p:cNvPr id="516" name="Shape 31"/>
          <p:cNvSpPr/>
          <p:nvPr/>
        </p:nvSpPr>
        <p:spPr>
          <a:xfrm>
            <a:off x="348480" y="4324320"/>
            <a:ext cx="21960" cy="2314080"/>
          </a:xfrm>
          <a:custGeom>
            <a:avLst/>
            <a:gdLst/>
            <a:ah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17" name="Shape 32"/>
          <p:cNvSpPr/>
          <p:nvPr/>
        </p:nvSpPr>
        <p:spPr>
          <a:xfrm>
            <a:off x="528840" y="449208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18" name="Shape 33"/>
          <p:cNvSpPr/>
          <p:nvPr/>
        </p:nvSpPr>
        <p:spPr>
          <a:xfrm>
            <a:off x="625680" y="4609800"/>
            <a:ext cx="206640" cy="164520"/>
          </a:xfrm>
          <a:custGeom>
            <a:avLst/>
            <a:gdLst/>
            <a:ah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w="0">
            <a:noFill/>
          </a:ln>
        </p:spPr>
        <p:style>
          <a:lnRef idx="0"/>
          <a:fillRef idx="0"/>
          <a:effectRef idx="0"/>
          <a:fontRef idx="minor"/>
        </p:style>
      </p:sp>
      <p:sp>
        <p:nvSpPr>
          <p:cNvPr id="519" name="Text 34"/>
          <p:cNvSpPr/>
          <p:nvPr/>
        </p:nvSpPr>
        <p:spPr>
          <a:xfrm>
            <a:off x="1032840" y="4576320"/>
            <a:ext cx="123948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Individual Artists</a:t>
            </a:r>
            <a:endParaRPr b="0" lang="en-HK" sz="1320" spc="-1" strike="noStrike">
              <a:latin typeface="Arial"/>
            </a:endParaRPr>
          </a:p>
        </p:txBody>
      </p:sp>
      <p:sp>
        <p:nvSpPr>
          <p:cNvPr id="520" name="Shape 35"/>
          <p:cNvSpPr/>
          <p:nvPr/>
        </p:nvSpPr>
        <p:spPr>
          <a:xfrm>
            <a:off x="528840" y="502956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1" name="Text 36"/>
          <p:cNvSpPr/>
          <p:nvPr/>
        </p:nvSpPr>
        <p:spPr>
          <a:xfrm>
            <a:off x="629640" y="513036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Edvard Munch</a:t>
            </a:r>
            <a:endParaRPr b="0" lang="en-HK" sz="920" spc="-1" strike="noStrike">
              <a:latin typeface="Arial"/>
            </a:endParaRPr>
          </a:p>
        </p:txBody>
      </p:sp>
      <p:sp>
        <p:nvSpPr>
          <p:cNvPr id="522" name="Text 37"/>
          <p:cNvSpPr/>
          <p:nvPr/>
        </p:nvSpPr>
        <p:spPr>
          <a:xfrm>
            <a:off x="629640" y="5331960"/>
            <a:ext cx="2465280" cy="131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Adopted emotional line and psychological intensity</a:t>
            </a:r>
            <a:endParaRPr b="0" lang="en-HK" sz="790" spc="-1" strike="noStrike">
              <a:latin typeface="Arial"/>
            </a:endParaRPr>
          </a:p>
        </p:txBody>
      </p:sp>
      <p:sp>
        <p:nvSpPr>
          <p:cNvPr id="523" name="Shape 38"/>
          <p:cNvSpPr/>
          <p:nvPr/>
        </p:nvSpPr>
        <p:spPr>
          <a:xfrm>
            <a:off x="3246120" y="502956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4" name="Text 39"/>
          <p:cNvSpPr/>
          <p:nvPr/>
        </p:nvSpPr>
        <p:spPr>
          <a:xfrm>
            <a:off x="3346920" y="513036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Wassily Kandinsky</a:t>
            </a:r>
            <a:endParaRPr b="0" lang="en-HK" sz="920" spc="-1" strike="noStrike">
              <a:latin typeface="Arial"/>
            </a:endParaRPr>
          </a:p>
        </p:txBody>
      </p:sp>
      <p:sp>
        <p:nvSpPr>
          <p:cNvPr id="525" name="Text 40"/>
          <p:cNvSpPr/>
          <p:nvPr/>
        </p:nvSpPr>
        <p:spPr>
          <a:xfrm>
            <a:off x="3346920" y="533196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Drew from Van Gogh's color symbolism toward abstraction</a:t>
            </a:r>
            <a:endParaRPr b="0" lang="en-HK" sz="790" spc="-1" strike="noStrike">
              <a:latin typeface="Arial"/>
            </a:endParaRPr>
          </a:p>
        </p:txBody>
      </p:sp>
      <p:sp>
        <p:nvSpPr>
          <p:cNvPr id="526" name="Shape 41"/>
          <p:cNvSpPr/>
          <p:nvPr/>
        </p:nvSpPr>
        <p:spPr>
          <a:xfrm>
            <a:off x="528840" y="580212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7" name="Text 42"/>
          <p:cNvSpPr/>
          <p:nvPr/>
        </p:nvSpPr>
        <p:spPr>
          <a:xfrm>
            <a:off x="629640" y="590292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Francis Bacon</a:t>
            </a:r>
            <a:endParaRPr b="0" lang="en-HK" sz="920" spc="-1" strike="noStrike">
              <a:latin typeface="Arial"/>
            </a:endParaRPr>
          </a:p>
        </p:txBody>
      </p:sp>
      <p:sp>
        <p:nvSpPr>
          <p:cNvPr id="528" name="Text 43"/>
          <p:cNvSpPr/>
          <p:nvPr/>
        </p:nvSpPr>
        <p:spPr>
          <a:xfrm>
            <a:off x="629640" y="610452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Inspired by Van Gogh's emotional rawness and distortion</a:t>
            </a:r>
            <a:endParaRPr b="0" lang="en-HK" sz="790" spc="-1" strike="noStrike">
              <a:latin typeface="Arial"/>
            </a:endParaRPr>
          </a:p>
        </p:txBody>
      </p:sp>
      <p:sp>
        <p:nvSpPr>
          <p:cNvPr id="529" name="Shape 44"/>
          <p:cNvSpPr/>
          <p:nvPr/>
        </p:nvSpPr>
        <p:spPr>
          <a:xfrm>
            <a:off x="3246120" y="580212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30" name="Text 45"/>
          <p:cNvSpPr/>
          <p:nvPr/>
        </p:nvSpPr>
        <p:spPr>
          <a:xfrm>
            <a:off x="3346920" y="590292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Jackson Pollock</a:t>
            </a:r>
            <a:endParaRPr b="0" lang="en-HK" sz="920" spc="-1" strike="noStrike">
              <a:latin typeface="Arial"/>
            </a:endParaRPr>
          </a:p>
        </p:txBody>
      </p:sp>
      <p:sp>
        <p:nvSpPr>
          <p:cNvPr id="531" name="Text 46"/>
          <p:cNvSpPr/>
          <p:nvPr/>
        </p:nvSpPr>
        <p:spPr>
          <a:xfrm>
            <a:off x="3346920" y="610452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Abstract expressionism echoes Van Gogh's gestural energy</a:t>
            </a:r>
            <a:endParaRPr b="0" lang="en-HK" sz="790" spc="-1" strike="noStrike">
              <a:latin typeface="Arial"/>
            </a:endParaRPr>
          </a:p>
        </p:txBody>
      </p:sp>
      <p:sp>
        <p:nvSpPr>
          <p:cNvPr id="532" name="Shape 47"/>
          <p:cNvSpPr/>
          <p:nvPr/>
        </p:nvSpPr>
        <p:spPr>
          <a:xfrm>
            <a:off x="6169320" y="4328640"/>
            <a:ext cx="5681160" cy="2305800"/>
          </a:xfrm>
          <a:custGeom>
            <a:avLst/>
            <a:gdLst/>
            <a:ah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33" name="Shape 48"/>
          <p:cNvSpPr/>
          <p:nvPr/>
        </p:nvSpPr>
        <p:spPr>
          <a:xfrm>
            <a:off x="8823600" y="4752360"/>
            <a:ext cx="374760" cy="299160"/>
          </a:xfrm>
          <a:custGeom>
            <a:avLst/>
            <a:gdLst/>
            <a:ah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w="0">
            <a:noFill/>
          </a:ln>
        </p:spPr>
        <p:style>
          <a:lnRef idx="0"/>
          <a:fillRef idx="0"/>
          <a:effectRef idx="0"/>
          <a:fontRef idx="minor"/>
        </p:style>
      </p:sp>
      <p:sp>
        <p:nvSpPr>
          <p:cNvPr id="534" name="Text 49"/>
          <p:cNvSpPr/>
          <p:nvPr/>
        </p:nvSpPr>
        <p:spPr>
          <a:xfrm>
            <a:off x="6291000" y="5189040"/>
            <a:ext cx="5437800" cy="2653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80" spc="-1" strike="noStrike">
                <a:solidFill>
                  <a:srgbClr val="f2f2f2"/>
                </a:solidFill>
                <a:latin typeface="Oranienbaum"/>
                <a:ea typeface="Oranienbaum"/>
              </a:rPr>
              <a:t>Continuing Influence</a:t>
            </a:r>
            <a:endParaRPr b="0" lang="en-HK" sz="1580" spc="-1" strike="noStrike">
              <a:latin typeface="Arial"/>
            </a:endParaRPr>
          </a:p>
        </p:txBody>
      </p:sp>
      <p:sp>
        <p:nvSpPr>
          <p:cNvPr id="535" name="Text 50"/>
          <p:cNvSpPr/>
          <p:nvPr/>
        </p:nvSpPr>
        <p:spPr>
          <a:xfrm>
            <a:off x="6307920" y="5558760"/>
            <a:ext cx="5404320" cy="6516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60" spc="-1" strike="noStrike">
                <a:solidFill>
                  <a:srgbClr val="b8b8b8"/>
                </a:solidFill>
                <a:latin typeface="Quattrocento Sans"/>
                <a:ea typeface="Quattrocento Sans"/>
              </a:rPr>
              <a:t>Van Gogh's influence extends into contemporary art, street art, and popular culture. His techniques, color theories, and emotional approach continue to inspire artists worldwide, proving that his vision transcends time and movements.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36" name="Image 0"/>
          <p:cNvSpPr/>
          <p:nvPr/>
        </p:nvSpPr>
        <p:spPr>
          <a:xfrm>
            <a:off x="0" y="0"/>
            <a:ext cx="1218888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537" name="Shape 0"/>
          <p:cNvSpPr/>
          <p:nvPr/>
        </p:nvSpPr>
        <p:spPr>
          <a:xfrm>
            <a:off x="0" y="0"/>
            <a:ext cx="12188880" cy="6853680"/>
          </a:xfrm>
          <a:custGeom>
            <a:avLst/>
            <a:gdLst/>
            <a:ahLst/>
            <a:rect l="l" t="t" r="r" b="b"/>
            <a:pathLst>
              <a:path w="12192000" h="6856854">
                <a:moveTo>
                  <a:pt x="0" y="0"/>
                </a:moveTo>
                <a:lnTo>
                  <a:pt x="12192000" y="0"/>
                </a:lnTo>
                <a:lnTo>
                  <a:pt x="12192000" y="6856854"/>
                </a:lnTo>
                <a:lnTo>
                  <a:pt x="0" y="6856854"/>
                </a:lnTo>
                <a:lnTo>
                  <a:pt x="0" y="0"/>
                </a:lnTo>
                <a:close/>
              </a:path>
            </a:pathLst>
          </a:custGeom>
          <a:gradFill rotWithShape="0">
            <a:gsLst>
              <a:gs pos="0">
                <a:srgbClr val="111111">
                  <a:alpha val="95294"/>
                </a:srgbClr>
              </a:gs>
              <a:gs pos="100000">
                <a:srgbClr val="111111">
                  <a:alpha val="70196"/>
                </a:srgbClr>
              </a:gs>
            </a:gsLst>
            <a:lin ang="2700000"/>
          </a:gradFill>
          <a:ln w="0">
            <a:noFill/>
          </a:ln>
        </p:spPr>
        <p:style>
          <a:lnRef idx="0"/>
          <a:fillRef idx="0"/>
          <a:effectRef idx="0"/>
          <a:fontRef idx="minor"/>
        </p:style>
      </p:sp>
      <p:sp>
        <p:nvSpPr>
          <p:cNvPr id="538" name="Shape 1"/>
          <p:cNvSpPr/>
          <p:nvPr/>
        </p:nvSpPr>
        <p:spPr>
          <a:xfrm>
            <a:off x="5847480" y="-123840"/>
            <a:ext cx="491760" cy="436680"/>
          </a:xfrm>
          <a:custGeom>
            <a:avLst/>
            <a:gdLst/>
            <a:ah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w="0">
            <a:noFill/>
          </a:ln>
        </p:spPr>
        <p:style>
          <a:lnRef idx="0"/>
          <a:fillRef idx="0"/>
          <a:effectRef idx="0"/>
          <a:fontRef idx="minor"/>
        </p:style>
      </p:sp>
      <p:sp>
        <p:nvSpPr>
          <p:cNvPr id="539" name="Text 2"/>
          <p:cNvSpPr/>
          <p:nvPr/>
        </p:nvSpPr>
        <p:spPr>
          <a:xfrm>
            <a:off x="4616640" y="829440"/>
            <a:ext cx="2957760" cy="13719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0" lang="en-US" sz="4330" spc="-1" strike="noStrike">
                <a:solidFill>
                  <a:srgbClr val="f2f2f2"/>
                </a:solidFill>
                <a:latin typeface="Oranienbaum"/>
                <a:ea typeface="Oranienbaum"/>
              </a:rPr>
              <a:t>The Eternal</a:t>
            </a:r>
            <a:endParaRPr b="0" lang="en-HK" sz="4330" spc="-1" strike="noStrike">
              <a:latin typeface="Arial"/>
            </a:endParaRPr>
          </a:p>
          <a:p>
            <a:pPr algn="ctr">
              <a:lnSpc>
                <a:spcPct val="100000"/>
              </a:lnSpc>
              <a:buNone/>
            </a:pPr>
            <a:r>
              <a:rPr b="0" lang="en-US" sz="4330" spc="-1" strike="noStrike">
                <a:solidFill>
                  <a:srgbClr val="c9a36a"/>
                </a:solidFill>
                <a:latin typeface="Oranienbaum"/>
                <a:ea typeface="Oranienbaum"/>
              </a:rPr>
              <a:t>Starry Nigh</a:t>
            </a:r>
            <a:r>
              <a:rPr b="1" i="1" lang="en-US" sz="4330" spc="-1" strike="noStrike">
                <a:solidFill>
                  <a:srgbClr val="c9a36a"/>
                </a:solidFill>
                <a:latin typeface="Oranienbaum"/>
                <a:ea typeface="Oranienbaum"/>
              </a:rPr>
              <a:t>t</a:t>
            </a:r>
            <a:endParaRPr b="0" lang="en-HK" sz="4330" spc="-1" strike="noStrike">
              <a:latin typeface="Arial"/>
            </a:endParaRPr>
          </a:p>
        </p:txBody>
      </p:sp>
      <p:sp>
        <p:nvSpPr>
          <p:cNvPr id="540" name="Shape 3"/>
          <p:cNvSpPr/>
          <p:nvPr/>
        </p:nvSpPr>
        <p:spPr>
          <a:xfrm>
            <a:off x="5361480" y="2498040"/>
            <a:ext cx="1463400" cy="360"/>
          </a:xfrm>
          <a:custGeom>
            <a:avLst/>
            <a:gdLst/>
            <a:ahLst/>
            <a:rect l="l" t="t" r="r" b="b"/>
            <a:pathLst>
              <a:path w="1466707" h="0">
                <a:moveTo>
                  <a:pt x="0" y="0"/>
                </a:moveTo>
                <a:lnTo>
                  <a:pt x="1466707" y="0"/>
                </a:lnTo>
                <a:lnTo>
                  <a:pt x="1466707" y="0"/>
                </a:lnTo>
                <a:lnTo>
                  <a:pt x="0" y="0"/>
                </a:lnTo>
                <a:lnTo>
                  <a:pt x="0" y="0"/>
                </a:lnTo>
                <a:close/>
              </a:path>
            </a:pathLst>
          </a:custGeom>
          <a:solidFill>
            <a:srgbClr val="c9a36a"/>
          </a:solidFill>
          <a:ln w="0">
            <a:noFill/>
          </a:ln>
        </p:spPr>
        <p:style>
          <a:lnRef idx="0"/>
          <a:fillRef idx="0"/>
          <a:effectRef idx="0"/>
          <a:fontRef idx="minor"/>
        </p:style>
      </p:sp>
      <p:sp>
        <p:nvSpPr>
          <p:cNvPr id="541" name="Text 4"/>
          <p:cNvSpPr/>
          <p:nvPr/>
        </p:nvSpPr>
        <p:spPr>
          <a:xfrm>
            <a:off x="2529000" y="2791440"/>
            <a:ext cx="7128720" cy="894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i="1" lang="en-US" sz="1450" spc="-1" strike="noStrike">
                <a:solidFill>
                  <a:srgbClr val="b8b8b8"/>
                </a:solidFill>
                <a:latin typeface="Quattrocento Sans"/>
                <a:ea typeface="Quattrocento Sans"/>
              </a:rPr>
              <a:t>Vincent van Gogh's life reminds us that </a:t>
            </a:r>
            <a:r>
              <a:rPr b="0" i="1" lang="en-US" sz="1450" spc="-1" strike="noStrike">
                <a:solidFill>
                  <a:srgbClr val="f2f2f2"/>
                </a:solidFill>
                <a:latin typeface="Quattrocento Sans"/>
                <a:ea typeface="Quattrocento Sans"/>
              </a:rPr>
              <a:t>true artistic genius often comes with great personal cost</a:t>
            </a:r>
            <a:r>
              <a:rPr b="0" i="1" lang="en-US" sz="1450" spc="-1" strike="noStrike">
                <a:solidFill>
                  <a:srgbClr val="b8b8b8"/>
                </a:solidFill>
                <a:latin typeface="Quattrocento Sans"/>
                <a:ea typeface="Quattrocento Sans"/>
              </a:rPr>
              <a:t>. His ability to transform pain into beauty, isolation into connection, and madness into masterpieces continues to inspire millions worldwide.</a:t>
            </a:r>
            <a:endParaRPr b="0" lang="en-HK" sz="1450" spc="-1" strike="noStrike">
              <a:latin typeface="Arial"/>
            </a:endParaRPr>
          </a:p>
        </p:txBody>
      </p:sp>
      <p:sp>
        <p:nvSpPr>
          <p:cNvPr id="542" name="Text 5"/>
          <p:cNvSpPr/>
          <p:nvPr/>
        </p:nvSpPr>
        <p:spPr>
          <a:xfrm>
            <a:off x="2529000" y="3905280"/>
            <a:ext cx="7128720" cy="2991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i="1" lang="en-US" sz="1450" spc="-1" strike="noStrike">
                <a:solidFill>
                  <a:srgbClr val="b8b8b8"/>
                </a:solidFill>
                <a:latin typeface="Quattrocento Sans"/>
                <a:ea typeface="Quattrocento Sans"/>
              </a:rPr>
              <a:t>As he once wrote to Theo:</a:t>
            </a:r>
            <a:endParaRPr b="0" lang="en-HK" sz="1450" spc="-1" strike="noStrike">
              <a:latin typeface="Arial"/>
            </a:endParaRPr>
          </a:p>
        </p:txBody>
      </p:sp>
      <p:sp>
        <p:nvSpPr>
          <p:cNvPr id="543" name="Shape 6"/>
          <p:cNvSpPr/>
          <p:nvPr/>
        </p:nvSpPr>
        <p:spPr>
          <a:xfrm>
            <a:off x="2714400" y="4574160"/>
            <a:ext cx="6761880" cy="1775160"/>
          </a:xfrm>
          <a:custGeom>
            <a:avLst/>
            <a:gdLst/>
            <a:ah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44" name="Shape 7"/>
          <p:cNvSpPr/>
          <p:nvPr/>
        </p:nvSpPr>
        <p:spPr>
          <a:xfrm>
            <a:off x="5977080" y="4872240"/>
            <a:ext cx="237240" cy="271800"/>
          </a:xfrm>
          <a:custGeom>
            <a:avLst/>
            <a:gdLst/>
            <a:ah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w="0">
            <a:noFill/>
          </a:ln>
        </p:spPr>
        <p:style>
          <a:lnRef idx="0"/>
          <a:fillRef idx="0"/>
          <a:effectRef idx="0"/>
          <a:fontRef idx="minor"/>
        </p:style>
      </p:sp>
      <p:sp>
        <p:nvSpPr>
          <p:cNvPr id="545" name="Text 8"/>
          <p:cNvSpPr/>
          <p:nvPr/>
        </p:nvSpPr>
        <p:spPr>
          <a:xfrm>
            <a:off x="3030840" y="5293800"/>
            <a:ext cx="6129360" cy="3542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i="1" lang="en-US" sz="1729" spc="-1" strike="noStrike">
                <a:solidFill>
                  <a:srgbClr val="f2f2f2"/>
                </a:solidFill>
                <a:latin typeface="Quattrocento Sans"/>
                <a:ea typeface="Quattrocento Sans"/>
              </a:rPr>
              <a:t>"What would life be if we had no courage to attempt anything?"</a:t>
            </a:r>
            <a:endParaRPr b="0" lang="en-HK" sz="1729" spc="-1" strike="noStrike">
              <a:latin typeface="Arial"/>
            </a:endParaRPr>
          </a:p>
        </p:txBody>
      </p:sp>
      <p:sp>
        <p:nvSpPr>
          <p:cNvPr id="546" name="Text 9"/>
          <p:cNvSpPr/>
          <p:nvPr/>
        </p:nvSpPr>
        <p:spPr>
          <a:xfrm>
            <a:off x="3044520" y="5798160"/>
            <a:ext cx="610200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i="1" lang="en-US" sz="1300" spc="-1" strike="noStrike">
                <a:solidFill>
                  <a:srgbClr val="c9a36a"/>
                </a:solidFill>
                <a:latin typeface="Quattrocento Sans"/>
                <a:ea typeface="Quattrocento Sans"/>
              </a:rPr>
              <a:t>— </a:t>
            </a:r>
            <a:r>
              <a:rPr b="0" i="1" lang="en-US" sz="1300" spc="-1" strike="noStrike">
                <a:solidFill>
                  <a:srgbClr val="c9a36a"/>
                </a:solidFill>
                <a:latin typeface="Quattrocento Sans"/>
                <a:ea typeface="Quattrocento Sans"/>
              </a:rPr>
              <a:t>Vincent van Gogh</a:t>
            </a:r>
            <a:endParaRPr b="0" lang="en-HK" sz="1300" spc="-1" strike="noStrike">
              <a:latin typeface="Arial"/>
            </a:endParaRPr>
          </a:p>
        </p:txBody>
      </p:sp>
      <p:sp>
        <p:nvSpPr>
          <p:cNvPr id="547" name="Shape 10"/>
          <p:cNvSpPr/>
          <p:nvPr/>
        </p:nvSpPr>
        <p:spPr>
          <a:xfrm>
            <a:off x="3387240" y="6760440"/>
            <a:ext cx="180000" cy="180000"/>
          </a:xfrm>
          <a:custGeom>
            <a:avLst/>
            <a:gdLst/>
            <a:ah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w="0">
            <a:noFill/>
          </a:ln>
        </p:spPr>
        <p:style>
          <a:lnRef idx="0"/>
          <a:fillRef idx="0"/>
          <a:effectRef idx="0"/>
          <a:fontRef idx="minor"/>
        </p:style>
      </p:sp>
      <p:sp>
        <p:nvSpPr>
          <p:cNvPr id="548" name="Text 11"/>
          <p:cNvSpPr/>
          <p:nvPr/>
        </p:nvSpPr>
        <p:spPr>
          <a:xfrm>
            <a:off x="3662280" y="6724080"/>
            <a:ext cx="11242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i="1" lang="en-US" sz="1300" spc="-1" strike="noStrike">
                <a:solidFill>
                  <a:srgbClr val="a3a3a3"/>
                </a:solidFill>
                <a:latin typeface="Quattrocento Sans"/>
                <a:ea typeface="Quattrocento Sans"/>
              </a:rPr>
              <a:t>860+ Paintings</a:t>
            </a:r>
            <a:endParaRPr b="0" lang="en-HK" sz="1300" spc="-1" strike="noStrike">
              <a:latin typeface="Arial"/>
            </a:endParaRPr>
          </a:p>
        </p:txBody>
      </p:sp>
      <p:sp>
        <p:nvSpPr>
          <p:cNvPr id="549" name="Shape 12"/>
          <p:cNvSpPr/>
          <p:nvPr/>
        </p:nvSpPr>
        <p:spPr>
          <a:xfrm>
            <a:off x="5137560" y="6760440"/>
            <a:ext cx="180000" cy="180000"/>
          </a:xfrm>
          <a:custGeom>
            <a:avLst/>
            <a:gdLst/>
            <a:ah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w="0">
            <a:noFill/>
          </a:ln>
        </p:spPr>
        <p:style>
          <a:lnRef idx="0"/>
          <a:fillRef idx="0"/>
          <a:effectRef idx="0"/>
          <a:fontRef idx="minor"/>
        </p:style>
      </p:sp>
      <p:sp>
        <p:nvSpPr>
          <p:cNvPr id="550" name="Text 13"/>
          <p:cNvSpPr/>
          <p:nvPr/>
        </p:nvSpPr>
        <p:spPr>
          <a:xfrm>
            <a:off x="5412600" y="6724080"/>
            <a:ext cx="17110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i="1" lang="en-US" sz="1300" spc="-1" strike="noStrike">
                <a:solidFill>
                  <a:srgbClr val="a3a3a3"/>
                </a:solidFill>
                <a:latin typeface="Quattrocento Sans"/>
                <a:ea typeface="Quattrocento Sans"/>
              </a:rPr>
              <a:t>134 Years of Inspiration</a:t>
            </a:r>
            <a:endParaRPr b="0" lang="en-HK" sz="1300" spc="-1" strike="noStrike">
              <a:latin typeface="Arial"/>
            </a:endParaRPr>
          </a:p>
        </p:txBody>
      </p:sp>
      <p:sp>
        <p:nvSpPr>
          <p:cNvPr id="551" name="Shape 14"/>
          <p:cNvSpPr/>
          <p:nvPr/>
        </p:nvSpPr>
        <p:spPr>
          <a:xfrm>
            <a:off x="7453080" y="6760440"/>
            <a:ext cx="226080" cy="180000"/>
          </a:xfrm>
          <a:custGeom>
            <a:avLst/>
            <a:gdLst/>
            <a:ah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w="0">
            <a:noFill/>
          </a:ln>
        </p:spPr>
        <p:style>
          <a:lnRef idx="0"/>
          <a:fillRef idx="0"/>
          <a:effectRef idx="0"/>
          <a:fontRef idx="minor"/>
        </p:style>
      </p:sp>
      <p:sp>
        <p:nvSpPr>
          <p:cNvPr id="552" name="Text 15"/>
          <p:cNvSpPr/>
          <p:nvPr/>
        </p:nvSpPr>
        <p:spPr>
          <a:xfrm>
            <a:off x="7751160" y="6724080"/>
            <a:ext cx="11152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i="1" lang="en-US" sz="1300" spc="-1" strike="noStrike">
                <a:solidFill>
                  <a:srgbClr val="a3a3a3"/>
                </a:solidFill>
                <a:latin typeface="Quattrocento Sans"/>
                <a:ea typeface="Quattrocento Sans"/>
              </a:rPr>
              <a:t>Eternal Legacy</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2026-03-18T09:17:45Z</dcterms:created>
  <dc:creator>Kimi</dc:creator>
  <dc:description/>
  <dc:language>en-HK</dc:language>
  <cp:lastModifiedBy/>
  <dcterms:modified xsi:type="dcterms:W3CDTF">2026-04-22T22:02:04Z</dcterms:modified>
  <cp:revision>10</cp:revision>
  <dc:subject>Vincent van Gogh: A Life of Passion and Color</dc:subject>
  <dc:title>Vincent van Gogh: A Life of Passion and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