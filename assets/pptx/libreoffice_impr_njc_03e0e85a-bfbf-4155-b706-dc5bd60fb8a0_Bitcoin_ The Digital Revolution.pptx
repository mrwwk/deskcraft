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75C220A-AD1A-453A-88CE-F02E860384DF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99C7803-281E-410E-9408-8BC1ECF44EB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2EC90F-F7C1-4888-AA91-EBFE3A86EE9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5D20C7-378F-407E-94DF-52D020B7448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C21686-96A0-4E84-B70E-4F28687A4ED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07A63B-4BFE-4D01-8FEB-F200508648E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FA766C-598C-4967-8190-898E9EA8F86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93B523-8E99-438C-B695-6D9B8F7033D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7D6160-D746-45A0-BD4C-BBC53B6579D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429DD5-0373-4527-B24E-7812093954A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4CDC81-0958-441D-BEF6-2B92252EA34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C74236-7232-4529-8236-77C122F3E43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C7E9A9-BA66-4854-9D2F-4AA886B4244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820E69-F374-4C71-8636-0C6C9FA8135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7E9DC3-7A84-4B8A-83C3-A651FC07A94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330DF5-9CBB-4430-83E8-57B858FB042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926FDF-A1C8-42CF-B256-182F479D659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EF1650C-E177-4A93-A2AF-C2DAFBCCA61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8B17B56-31FF-4753-80AE-BC3837150E1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C17872-4576-4579-AD86-5B133637138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1C699B-BA4B-4EE5-9EF3-28A4D3D9429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2CAA6A-E41D-40E1-872D-DD632A04345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B8EA8F-B63D-43DF-8E87-380FCDE920B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64B783-B65D-4CAA-B861-55B0A265C84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0ED5AC-CCD3-44E8-963F-F280B8AD445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4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CBDD4F-015B-427D-9965-550A93E7DA7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4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2F2722-2620-429F-979E-3EC8DCA8AE7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4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D57F6B-4DC2-4302-8023-C86F8479AE4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025D3E-9837-43D2-9AC5-A67374D2484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-4806720" y="-144000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1"/>
          <p:cNvSpPr/>
          <p:nvPr/>
        </p:nvSpPr>
        <p:spPr>
          <a:xfrm>
            <a:off x="409680" y="714240"/>
            <a:ext cx="3699360" cy="775440"/>
          </a:xfrm>
          <a:custGeom>
            <a:avLst/>
            <a:gdLst/>
            <a:ahLst/>
            <a:rect l="l" t="t" r="r" b="b"/>
            <a:pathLst>
              <a:path w="3705225" h="781050">
                <a:moveTo>
                  <a:pt x="0" y="0"/>
                </a:moveTo>
                <a:lnTo>
                  <a:pt x="3705225" y="0"/>
                </a:lnTo>
                <a:lnTo>
                  <a:pt x="37052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" name="Text 2"/>
          <p:cNvSpPr/>
          <p:nvPr/>
        </p:nvSpPr>
        <p:spPr>
          <a:xfrm>
            <a:off x="666720" y="971640"/>
            <a:ext cx="328032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106" strike="noStrike">
                <a:solidFill>
                  <a:srgbClr val="ff8000"/>
                </a:solidFill>
                <a:latin typeface="Noto Sans SC"/>
                <a:ea typeface="Noto Sans SC"/>
              </a:rPr>
              <a:t>FINANCIAL </a:t>
            </a:r>
            <a:r>
              <a:rPr b="0" lang="en-US" sz="1500" spc="106" strike="noStrike">
                <a:solidFill>
                  <a:srgbClr val="ff8000"/>
                </a:solidFill>
                <a:latin typeface="Noto Sans SC"/>
                <a:ea typeface="Noto Sans SC"/>
              </a:rPr>
              <a:t>LECTURE</a:t>
            </a:r>
            <a:r>
              <a:rPr b="1" lang="en-US" sz="1500" spc="106" strike="noStrike">
                <a:solidFill>
                  <a:srgbClr val="ff8000"/>
                </a:solidFill>
                <a:latin typeface="Noto Sans SC"/>
                <a:ea typeface="Noto Sans SC"/>
              </a:rPr>
              <a:t> SERIES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-7047720" y="-2340000"/>
            <a:ext cx="11367000" cy="3251880"/>
          </a:xfrm>
          <a:custGeom>
            <a:avLst/>
            <a:gdLst/>
            <a:ahLst/>
            <a:rect l="l" t="t" r="r" b="b"/>
            <a:pathLst>
              <a:path w="11372850" h="3257550">
                <a:moveTo>
                  <a:pt x="0" y="0"/>
                </a:moveTo>
                <a:lnTo>
                  <a:pt x="11372850" y="0"/>
                </a:lnTo>
                <a:lnTo>
                  <a:pt x="113728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Text 4"/>
          <p:cNvSpPr/>
          <p:nvPr/>
        </p:nvSpPr>
        <p:spPr>
          <a:xfrm>
            <a:off x="895320" y="2362320"/>
            <a:ext cx="1085292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ff8000"/>
                </a:solidFill>
                <a:highlight>
                  <a:srgbClr val="ff8000"/>
                </a:highlight>
                <a:latin typeface="Noto Sans SC"/>
                <a:ea typeface="Noto Sans SC"/>
              </a:rPr>
              <a:t>BITCOIN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895320" y="3505320"/>
            <a:ext cx="1213560" cy="70560"/>
          </a:xfrm>
          <a:custGeom>
            <a:avLst/>
            <a:gdLst/>
            <a:ah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6"/>
          <p:cNvSpPr/>
          <p:nvPr/>
        </p:nvSpPr>
        <p:spPr>
          <a:xfrm>
            <a:off x="895320" y="3809880"/>
            <a:ext cx="105670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ff8000"/>
                </a:solidFill>
                <a:latin typeface="Noto Sans SC"/>
                <a:ea typeface="Noto Sans SC"/>
              </a:rPr>
              <a:t>THE DIGITAL </a:t>
            </a:r>
            <a:r>
              <a:rPr b="1" lang="en-US" sz="2700" spc="-1" strike="noStrike">
                <a:solidFill>
                  <a:srgbClr val="ff8000"/>
                </a:solidFill>
                <a:latin typeface="Noto Sans SC"/>
                <a:ea typeface="Noto Sans SC"/>
              </a:rPr>
              <a:t>REVOLUTION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895320" y="4343400"/>
            <a:ext cx="105098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f8000"/>
                </a:solidFill>
                <a:latin typeface="Noto Sans SC"/>
                <a:ea typeface="Noto Sans SC"/>
              </a:rPr>
              <a:t>A Comprehensive Analysis of History, Present &amp; Future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409680" y="5514840"/>
            <a:ext cx="1289520" cy="622800"/>
          </a:xfrm>
          <a:custGeom>
            <a:avLst/>
            <a:gdLst/>
            <a:ahLst/>
            <a:rect l="l" t="t" r="r" b="b"/>
            <a:pathLst>
              <a:path w="1295400" h="628650">
                <a:moveTo>
                  <a:pt x="0" y="0"/>
                </a:moveTo>
                <a:lnTo>
                  <a:pt x="1295400" y="0"/>
                </a:lnTo>
                <a:lnTo>
                  <a:pt x="129540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" name="Text 9"/>
          <p:cNvSpPr/>
          <p:nvPr/>
        </p:nvSpPr>
        <p:spPr>
          <a:xfrm>
            <a:off x="590400" y="5695920"/>
            <a:ext cx="101340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ff8000"/>
                </a:solidFill>
                <a:latin typeface="MiSans"/>
                <a:ea typeface="MiSans"/>
              </a:rPr>
              <a:t>March </a:t>
            </a:r>
            <a:r>
              <a:rPr b="1" lang="en-US" sz="1350" spc="-1" strike="noStrike">
                <a:solidFill>
                  <a:srgbClr val="ff8000"/>
                </a:solidFill>
                <a:latin typeface="MiSans"/>
                <a:ea typeface="MiSans"/>
              </a:rPr>
              <a:t>2026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10364400" y="5514840"/>
            <a:ext cx="1413360" cy="622800"/>
          </a:xfrm>
          <a:custGeom>
            <a:avLst/>
            <a:gdLst/>
            <a:ahLst/>
            <a:rect l="l" t="t" r="r" b="b"/>
            <a:pathLst>
              <a:path w="1419225" h="628650">
                <a:moveTo>
                  <a:pt x="0" y="0"/>
                </a:moveTo>
                <a:lnTo>
                  <a:pt x="1419225" y="0"/>
                </a:lnTo>
                <a:lnTo>
                  <a:pt x="14192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Text 11"/>
          <p:cNvSpPr/>
          <p:nvPr/>
        </p:nvSpPr>
        <p:spPr>
          <a:xfrm>
            <a:off x="10545480" y="5695920"/>
            <a:ext cx="1137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ff8000"/>
                </a:solidFill>
                <a:highlight>
                  <a:srgbClr val="ffff00"/>
                </a:highlight>
                <a:latin typeface="MiSans"/>
                <a:ea typeface="MiSans"/>
              </a:rPr>
              <a:t>▶ </a:t>
            </a:r>
            <a:r>
              <a:rPr b="0" lang="en-US" sz="1350" spc="-1" strike="noStrike">
                <a:solidFill>
                  <a:srgbClr val="ff8000"/>
                </a:solidFill>
                <a:highlight>
                  <a:srgbClr val="ffff00"/>
                </a:highlight>
                <a:latin typeface="MiSans"/>
                <a:ea typeface="MiSans"/>
              </a:rPr>
              <a:t>27 </a:t>
            </a:r>
            <a:r>
              <a:rPr b="1" lang="en-US" sz="1350" spc="-1" strike="noStrike">
                <a:solidFill>
                  <a:srgbClr val="ff8000"/>
                </a:solidFill>
                <a:highlight>
                  <a:srgbClr val="ffff00"/>
                </a:highlight>
                <a:latin typeface="MiSans"/>
                <a:ea typeface="MiSans"/>
              </a:rPr>
              <a:t>SLIDES</a:t>
            </a:r>
            <a:endParaRPr b="0" lang="en-HK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Image 1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63"/>
          <p:cNvSpPr/>
          <p:nvPr/>
        </p:nvSpPr>
        <p:spPr>
          <a:xfrm>
            <a:off x="-4806720" y="-144000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Shape 77"/>
          <p:cNvSpPr/>
          <p:nvPr/>
        </p:nvSpPr>
        <p:spPr>
          <a:xfrm>
            <a:off x="409680" y="714240"/>
            <a:ext cx="3699360" cy="775440"/>
          </a:xfrm>
          <a:custGeom>
            <a:avLst/>
            <a:gdLst/>
            <a:ahLst/>
            <a:rect l="l" t="t" r="r" b="b"/>
            <a:pathLst>
              <a:path w="3705225" h="781050">
                <a:moveTo>
                  <a:pt x="0" y="0"/>
                </a:moveTo>
                <a:lnTo>
                  <a:pt x="3705225" y="0"/>
                </a:lnTo>
                <a:lnTo>
                  <a:pt x="37052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Text 81"/>
          <p:cNvSpPr/>
          <p:nvPr/>
        </p:nvSpPr>
        <p:spPr>
          <a:xfrm>
            <a:off x="666720" y="971640"/>
            <a:ext cx="328032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106" strike="noStrike">
                <a:solidFill>
                  <a:srgbClr val="ff8000"/>
                </a:solidFill>
                <a:latin typeface="Noto Sans SC"/>
                <a:ea typeface="Noto Sans SC"/>
              </a:rPr>
              <a:t>FINANCIAL </a:t>
            </a:r>
            <a:r>
              <a:rPr b="0" lang="en-US" sz="1500" spc="106" strike="noStrike">
                <a:solidFill>
                  <a:srgbClr val="ff8000"/>
                </a:solidFill>
                <a:latin typeface="Noto Sans SC"/>
                <a:ea typeface="Noto Sans SC"/>
              </a:rPr>
              <a:t>LECTURE</a:t>
            </a:r>
            <a:r>
              <a:rPr b="1" lang="en-US" sz="1500" spc="106" strike="noStrike">
                <a:solidFill>
                  <a:srgbClr val="ff8000"/>
                </a:solidFill>
                <a:latin typeface="Noto Sans SC"/>
                <a:ea typeface="Noto Sans SC"/>
              </a:rPr>
              <a:t> SERIES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1" name="Shape 79"/>
          <p:cNvSpPr/>
          <p:nvPr/>
        </p:nvSpPr>
        <p:spPr>
          <a:xfrm>
            <a:off x="-7047720" y="-2340000"/>
            <a:ext cx="11367000" cy="3251880"/>
          </a:xfrm>
          <a:custGeom>
            <a:avLst/>
            <a:gdLst/>
            <a:ahLst/>
            <a:rect l="l" t="t" r="r" b="b"/>
            <a:pathLst>
              <a:path w="11372850" h="3257550">
                <a:moveTo>
                  <a:pt x="0" y="0"/>
                </a:moveTo>
                <a:lnTo>
                  <a:pt x="11372850" y="0"/>
                </a:lnTo>
                <a:lnTo>
                  <a:pt x="113728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Text 85"/>
          <p:cNvSpPr/>
          <p:nvPr/>
        </p:nvSpPr>
        <p:spPr>
          <a:xfrm>
            <a:off x="895320" y="2362320"/>
            <a:ext cx="1085292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7200" spc="-1" strike="noStrike">
                <a:solidFill>
                  <a:srgbClr val="ff8000"/>
                </a:solidFill>
                <a:latin typeface="Noto Sans SC"/>
                <a:ea typeface="Noto Sans SC"/>
              </a:rPr>
              <a:t>BITCOIN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63" name="Shape 82"/>
          <p:cNvSpPr/>
          <p:nvPr/>
        </p:nvSpPr>
        <p:spPr>
          <a:xfrm>
            <a:off x="895320" y="3505320"/>
            <a:ext cx="1213560" cy="70560"/>
          </a:xfrm>
          <a:custGeom>
            <a:avLst/>
            <a:gdLst/>
            <a:ah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87"/>
          <p:cNvSpPr/>
          <p:nvPr/>
        </p:nvSpPr>
        <p:spPr>
          <a:xfrm>
            <a:off x="895320" y="3809880"/>
            <a:ext cx="105670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ff8000"/>
                </a:solidFill>
                <a:latin typeface="Noto Sans SC"/>
                <a:ea typeface="Noto Sans SC"/>
              </a:rPr>
              <a:t>THE DIGITAL </a:t>
            </a:r>
            <a:r>
              <a:rPr b="1" lang="en-US" sz="2700" spc="-1" strike="noStrike">
                <a:solidFill>
                  <a:srgbClr val="ff8000"/>
                </a:solidFill>
                <a:latin typeface="Noto Sans SC"/>
                <a:ea typeface="Noto Sans SC"/>
              </a:rPr>
              <a:t>REVOLUTION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65" name="Text 90"/>
          <p:cNvSpPr/>
          <p:nvPr/>
        </p:nvSpPr>
        <p:spPr>
          <a:xfrm>
            <a:off x="895320" y="4343400"/>
            <a:ext cx="105098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f8000"/>
                </a:solidFill>
                <a:latin typeface="Noto Sans SC"/>
                <a:ea typeface="Noto Sans SC"/>
              </a:rPr>
              <a:t>A Comprehensive Analysis of History, Present &amp; Future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6" name="Shape 83"/>
          <p:cNvSpPr/>
          <p:nvPr/>
        </p:nvSpPr>
        <p:spPr>
          <a:xfrm>
            <a:off x="409680" y="5514840"/>
            <a:ext cx="1289520" cy="622800"/>
          </a:xfrm>
          <a:custGeom>
            <a:avLst/>
            <a:gdLst/>
            <a:ahLst/>
            <a:rect l="l" t="t" r="r" b="b"/>
            <a:pathLst>
              <a:path w="1295400" h="628650">
                <a:moveTo>
                  <a:pt x="0" y="0"/>
                </a:moveTo>
                <a:lnTo>
                  <a:pt x="1295400" y="0"/>
                </a:lnTo>
                <a:lnTo>
                  <a:pt x="129540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Text 91"/>
          <p:cNvSpPr/>
          <p:nvPr/>
        </p:nvSpPr>
        <p:spPr>
          <a:xfrm>
            <a:off x="590400" y="5695920"/>
            <a:ext cx="101340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ff8000"/>
                </a:solidFill>
                <a:latin typeface="MiSans"/>
                <a:ea typeface="MiSans"/>
              </a:rPr>
              <a:t>March </a:t>
            </a:r>
            <a:r>
              <a:rPr b="1" lang="en-US" sz="1350" spc="-1" strike="noStrike">
                <a:solidFill>
                  <a:srgbClr val="ff8000"/>
                </a:solidFill>
                <a:latin typeface="MiSans"/>
                <a:ea typeface="MiSans"/>
              </a:rPr>
              <a:t>2026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68" name="Shape 84"/>
          <p:cNvSpPr/>
          <p:nvPr/>
        </p:nvSpPr>
        <p:spPr>
          <a:xfrm>
            <a:off x="10364400" y="5514840"/>
            <a:ext cx="1413360" cy="622800"/>
          </a:xfrm>
          <a:custGeom>
            <a:avLst/>
            <a:gdLst/>
            <a:ahLst/>
            <a:rect l="l" t="t" r="r" b="b"/>
            <a:pathLst>
              <a:path w="1419225" h="628650">
                <a:moveTo>
                  <a:pt x="0" y="0"/>
                </a:moveTo>
                <a:lnTo>
                  <a:pt x="1419225" y="0"/>
                </a:lnTo>
                <a:lnTo>
                  <a:pt x="14192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" name="Text 92"/>
          <p:cNvSpPr/>
          <p:nvPr/>
        </p:nvSpPr>
        <p:spPr>
          <a:xfrm>
            <a:off x="10545480" y="5695920"/>
            <a:ext cx="1137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ff8000"/>
                </a:solidFill>
                <a:highlight>
                  <a:srgbClr val="ffff00"/>
                </a:highlight>
                <a:latin typeface="MiSans"/>
                <a:ea typeface="MiSans"/>
              </a:rPr>
              <a:t>▶ </a:t>
            </a:r>
            <a:r>
              <a:rPr b="0" lang="en-US" sz="1350" spc="-1" strike="noStrike">
                <a:solidFill>
                  <a:srgbClr val="ff8000"/>
                </a:solidFill>
                <a:highlight>
                  <a:srgbClr val="ffff00"/>
                </a:highlight>
                <a:latin typeface="MiSans"/>
                <a:ea typeface="MiSans"/>
              </a:rPr>
              <a:t>27 </a:t>
            </a:r>
            <a:r>
              <a:rPr b="1" lang="en-US" sz="1350" spc="-1" strike="noStrike">
                <a:solidFill>
                  <a:srgbClr val="ff8000"/>
                </a:solidFill>
                <a:highlight>
                  <a:srgbClr val="ffff00"/>
                </a:highlight>
                <a:latin typeface="MiSans"/>
                <a:ea typeface="MiSans"/>
              </a:rPr>
              <a:t>SLIDES</a:t>
            </a:r>
            <a:endParaRPr b="0" lang="en-HK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341280" y="341280"/>
            <a:ext cx="11503440" cy="1089720"/>
          </a:xfrm>
          <a:custGeom>
            <a:avLst/>
            <a:gdLst/>
            <a:ahLst/>
            <a:rect l="l" t="t" r="r" b="b"/>
            <a:pathLst>
              <a:path w="11509375" h="1095375">
                <a:moveTo>
                  <a:pt x="0" y="0"/>
                </a:moveTo>
                <a:lnTo>
                  <a:pt x="11509375" y="0"/>
                </a:lnTo>
                <a:lnTo>
                  <a:pt x="11509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"/>
          <p:cNvSpPr/>
          <p:nvPr/>
        </p:nvSpPr>
        <p:spPr>
          <a:xfrm>
            <a:off x="555480" y="555480"/>
            <a:ext cx="113130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75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CONTENTS</a:t>
            </a:r>
            <a:endParaRPr b="0" lang="en-HK" sz="3750" spc="-1" strike="noStrike"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55480" y="115884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3"/>
          <p:cNvSpPr/>
          <p:nvPr/>
        </p:nvSpPr>
        <p:spPr>
          <a:xfrm>
            <a:off x="341280" y="167472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Shape 4"/>
          <p:cNvSpPr/>
          <p:nvPr/>
        </p:nvSpPr>
        <p:spPr>
          <a:xfrm>
            <a:off x="547560" y="188136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5"/>
          <p:cNvSpPr/>
          <p:nvPr/>
        </p:nvSpPr>
        <p:spPr>
          <a:xfrm>
            <a:off x="464400" y="185724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01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158840" y="1857240"/>
            <a:ext cx="14072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GENESIS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1158840" y="2143080"/>
            <a:ext cx="13834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Bitcoin's Origin Story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6199200" y="167472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Shape 9"/>
          <p:cNvSpPr/>
          <p:nvPr/>
        </p:nvSpPr>
        <p:spPr>
          <a:xfrm>
            <a:off x="6405480" y="188136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0"/>
          <p:cNvSpPr/>
          <p:nvPr/>
        </p:nvSpPr>
        <p:spPr>
          <a:xfrm>
            <a:off x="6322320" y="185724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02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7016760" y="1857240"/>
            <a:ext cx="25102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FOUNDATION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7016760" y="2143080"/>
            <a:ext cx="248652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How Bitcoin Works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341280" y="275436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14"/>
          <p:cNvSpPr/>
          <p:nvPr/>
        </p:nvSpPr>
        <p:spPr>
          <a:xfrm>
            <a:off x="547560" y="296064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15"/>
          <p:cNvSpPr/>
          <p:nvPr/>
        </p:nvSpPr>
        <p:spPr>
          <a:xfrm>
            <a:off x="464400" y="293688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03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1158840" y="2936880"/>
            <a:ext cx="27090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HISTORICAL EVOLUTION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1158840" y="3222720"/>
            <a:ext cx="26848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From Cypherpunk Dream to Global Asset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88" name="Shape 18"/>
          <p:cNvSpPr/>
          <p:nvPr/>
        </p:nvSpPr>
        <p:spPr>
          <a:xfrm>
            <a:off x="6199200" y="275436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19"/>
          <p:cNvSpPr/>
          <p:nvPr/>
        </p:nvSpPr>
        <p:spPr>
          <a:xfrm>
            <a:off x="6405480" y="296064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20"/>
          <p:cNvSpPr/>
          <p:nvPr/>
        </p:nvSpPr>
        <p:spPr>
          <a:xfrm>
            <a:off x="6322320" y="293688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04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7016760" y="2936880"/>
            <a:ext cx="21056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MARKET DYNAMICS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7016760" y="3222720"/>
            <a:ext cx="20818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Halving Cycles &amp; Price Patterns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3" name="Shape 23"/>
          <p:cNvSpPr/>
          <p:nvPr/>
        </p:nvSpPr>
        <p:spPr>
          <a:xfrm>
            <a:off x="341280" y="383364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Shape 24"/>
          <p:cNvSpPr/>
          <p:nvPr/>
        </p:nvSpPr>
        <p:spPr>
          <a:xfrm>
            <a:off x="547560" y="404028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25"/>
          <p:cNvSpPr/>
          <p:nvPr/>
        </p:nvSpPr>
        <p:spPr>
          <a:xfrm>
            <a:off x="464400" y="401652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05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6" name="Text 26"/>
          <p:cNvSpPr/>
          <p:nvPr/>
        </p:nvSpPr>
        <p:spPr>
          <a:xfrm>
            <a:off x="1158840" y="4016520"/>
            <a:ext cx="22564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CURRENT LANDSCAPE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7" name="Text 27"/>
          <p:cNvSpPr/>
          <p:nvPr/>
        </p:nvSpPr>
        <p:spPr>
          <a:xfrm>
            <a:off x="1158840" y="4302000"/>
            <a:ext cx="223272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2024-2025 Market Status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8" name="Shape 28"/>
          <p:cNvSpPr/>
          <p:nvPr/>
        </p:nvSpPr>
        <p:spPr>
          <a:xfrm>
            <a:off x="6199200" y="383364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Shape 29"/>
          <p:cNvSpPr/>
          <p:nvPr/>
        </p:nvSpPr>
        <p:spPr>
          <a:xfrm>
            <a:off x="6405480" y="404028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30"/>
          <p:cNvSpPr/>
          <p:nvPr/>
        </p:nvSpPr>
        <p:spPr>
          <a:xfrm>
            <a:off x="6322320" y="401652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06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01" name="Text 31"/>
          <p:cNvSpPr/>
          <p:nvPr/>
        </p:nvSpPr>
        <p:spPr>
          <a:xfrm>
            <a:off x="7016760" y="4016520"/>
            <a:ext cx="25977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" name="Text 32"/>
          <p:cNvSpPr/>
          <p:nvPr/>
        </p:nvSpPr>
        <p:spPr>
          <a:xfrm>
            <a:off x="7016760" y="4302000"/>
            <a:ext cx="257400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Wall Street Embraces Bitcoin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3" name="Shape 33"/>
          <p:cNvSpPr/>
          <p:nvPr/>
        </p:nvSpPr>
        <p:spPr>
          <a:xfrm>
            <a:off x="341280" y="491328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34"/>
          <p:cNvSpPr/>
          <p:nvPr/>
        </p:nvSpPr>
        <p:spPr>
          <a:xfrm>
            <a:off x="547560" y="511956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35"/>
          <p:cNvSpPr/>
          <p:nvPr/>
        </p:nvSpPr>
        <p:spPr>
          <a:xfrm>
            <a:off x="464400" y="509580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07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06" name="Text 36"/>
          <p:cNvSpPr/>
          <p:nvPr/>
        </p:nvSpPr>
        <p:spPr>
          <a:xfrm>
            <a:off x="1158840" y="5095800"/>
            <a:ext cx="20023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ECONOMICS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7" name="Text 37"/>
          <p:cNvSpPr/>
          <p:nvPr/>
        </p:nvSpPr>
        <p:spPr>
          <a:xfrm>
            <a:off x="1158840" y="5381640"/>
            <a:ext cx="19785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Backbone of Security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8" name="Shape 38"/>
          <p:cNvSpPr/>
          <p:nvPr/>
        </p:nvSpPr>
        <p:spPr>
          <a:xfrm>
            <a:off x="6199200" y="491328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" name="Shape 39"/>
          <p:cNvSpPr/>
          <p:nvPr/>
        </p:nvSpPr>
        <p:spPr>
          <a:xfrm>
            <a:off x="6405480" y="511956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40"/>
          <p:cNvSpPr/>
          <p:nvPr/>
        </p:nvSpPr>
        <p:spPr>
          <a:xfrm>
            <a:off x="6322320" y="509580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08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11" name="Text 41"/>
          <p:cNvSpPr/>
          <p:nvPr/>
        </p:nvSpPr>
        <p:spPr>
          <a:xfrm>
            <a:off x="7016760" y="5095800"/>
            <a:ext cx="21927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DIGITAL GOLD THESIS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12" name="Text 42"/>
          <p:cNvSpPr/>
          <p:nvPr/>
        </p:nvSpPr>
        <p:spPr>
          <a:xfrm>
            <a:off x="7016760" y="5381640"/>
            <a:ext cx="216900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Store of Value Debate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13" name="Shape 43"/>
          <p:cNvSpPr/>
          <p:nvPr/>
        </p:nvSpPr>
        <p:spPr>
          <a:xfrm>
            <a:off x="341280" y="599292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Shape 44"/>
          <p:cNvSpPr/>
          <p:nvPr/>
        </p:nvSpPr>
        <p:spPr>
          <a:xfrm>
            <a:off x="547560" y="619920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45"/>
          <p:cNvSpPr/>
          <p:nvPr/>
        </p:nvSpPr>
        <p:spPr>
          <a:xfrm>
            <a:off x="464400" y="617544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09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16" name="Text 46"/>
          <p:cNvSpPr/>
          <p:nvPr/>
        </p:nvSpPr>
        <p:spPr>
          <a:xfrm>
            <a:off x="1158840" y="6175440"/>
            <a:ext cx="21135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SCALING SOLUTIONS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17" name="Text 47"/>
          <p:cNvSpPr/>
          <p:nvPr/>
        </p:nvSpPr>
        <p:spPr>
          <a:xfrm>
            <a:off x="1158840" y="6461280"/>
            <a:ext cx="208980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&amp; Layer 2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18" name="Shape 48"/>
          <p:cNvSpPr/>
          <p:nvPr/>
        </p:nvSpPr>
        <p:spPr>
          <a:xfrm>
            <a:off x="6199200" y="599292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9" name="Shape 49"/>
          <p:cNvSpPr/>
          <p:nvPr/>
        </p:nvSpPr>
        <p:spPr>
          <a:xfrm>
            <a:off x="6405480" y="619920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50"/>
          <p:cNvSpPr/>
          <p:nvPr/>
        </p:nvSpPr>
        <p:spPr>
          <a:xfrm>
            <a:off x="6322320" y="617544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10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21" name="Text 51"/>
          <p:cNvSpPr/>
          <p:nvPr/>
        </p:nvSpPr>
        <p:spPr>
          <a:xfrm>
            <a:off x="7016760" y="6175440"/>
            <a:ext cx="22248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&amp; RISKS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22" name="Text 52"/>
          <p:cNvSpPr/>
          <p:nvPr/>
        </p:nvSpPr>
        <p:spPr>
          <a:xfrm>
            <a:off x="7016760" y="6461280"/>
            <a:ext cx="22010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Road Ahead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23" name="Shape 53"/>
          <p:cNvSpPr/>
          <p:nvPr/>
        </p:nvSpPr>
        <p:spPr>
          <a:xfrm>
            <a:off x="341280" y="707220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Shape 54"/>
          <p:cNvSpPr/>
          <p:nvPr/>
        </p:nvSpPr>
        <p:spPr>
          <a:xfrm>
            <a:off x="547560" y="727884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55"/>
          <p:cNvSpPr/>
          <p:nvPr/>
        </p:nvSpPr>
        <p:spPr>
          <a:xfrm>
            <a:off x="464400" y="725472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11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26" name="Text 56"/>
          <p:cNvSpPr/>
          <p:nvPr/>
        </p:nvSpPr>
        <p:spPr>
          <a:xfrm>
            <a:off x="1158840" y="7254720"/>
            <a:ext cx="18673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FUTURE OUTLOOK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27" name="Text 57"/>
          <p:cNvSpPr/>
          <p:nvPr/>
        </p:nvSpPr>
        <p:spPr>
          <a:xfrm>
            <a:off x="1158840" y="7540560"/>
            <a:ext cx="18435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Predictions &amp; Scenarios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28" name="Shape 58"/>
          <p:cNvSpPr/>
          <p:nvPr/>
        </p:nvSpPr>
        <p:spPr>
          <a:xfrm>
            <a:off x="6199200" y="7072200"/>
            <a:ext cx="5645880" cy="8672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9" name="Shape 59"/>
          <p:cNvSpPr/>
          <p:nvPr/>
        </p:nvSpPr>
        <p:spPr>
          <a:xfrm>
            <a:off x="6405480" y="7278840"/>
            <a:ext cx="454680" cy="4546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60"/>
          <p:cNvSpPr/>
          <p:nvPr/>
        </p:nvSpPr>
        <p:spPr>
          <a:xfrm>
            <a:off x="6322320" y="7254720"/>
            <a:ext cx="5259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12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31" name="Text 61"/>
          <p:cNvSpPr/>
          <p:nvPr/>
        </p:nvSpPr>
        <p:spPr>
          <a:xfrm>
            <a:off x="7016760" y="7254720"/>
            <a:ext cx="13672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CONCLUSION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2" name="Text 62"/>
          <p:cNvSpPr/>
          <p:nvPr/>
        </p:nvSpPr>
        <p:spPr>
          <a:xfrm>
            <a:off x="7016760" y="7540560"/>
            <a:ext cx="134352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Path Forward</a:t>
            </a:r>
            <a:endParaRPr b="0" lang="en-HK" sz="11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1"/>
          <p:cNvSpPr/>
          <p:nvPr/>
        </p:nvSpPr>
        <p:spPr>
          <a:xfrm>
            <a:off x="409680" y="781200"/>
            <a:ext cx="8471520" cy="395676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Shape 2"/>
          <p:cNvSpPr/>
          <p:nvPr/>
        </p:nvSpPr>
        <p:spPr>
          <a:xfrm>
            <a:off x="923760" y="12952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3"/>
          <p:cNvSpPr/>
          <p:nvPr/>
        </p:nvSpPr>
        <p:spPr>
          <a:xfrm>
            <a:off x="781200" y="126684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01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2038320" y="126684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5"/>
          <p:cNvSpPr/>
          <p:nvPr/>
        </p:nvSpPr>
        <p:spPr>
          <a:xfrm>
            <a:off x="895320" y="2486160"/>
            <a:ext cx="784296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GENESIS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895320" y="357192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7"/>
          <p:cNvSpPr/>
          <p:nvPr/>
        </p:nvSpPr>
        <p:spPr>
          <a:xfrm>
            <a:off x="895320" y="38768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Origin Story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409680" y="5257800"/>
            <a:ext cx="11367000" cy="8132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9"/>
          <p:cNvSpPr/>
          <p:nvPr/>
        </p:nvSpPr>
        <p:spPr>
          <a:xfrm>
            <a:off x="666720" y="5514840"/>
            <a:ext cx="10967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Cypherpunk Vision to Financial Revolution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341280" y="341280"/>
            <a:ext cx="11503440" cy="994320"/>
          </a:xfrm>
          <a:custGeom>
            <a:avLst/>
            <a:gdLst/>
            <a:ah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"/>
          <p:cNvSpPr/>
          <p:nvPr/>
        </p:nvSpPr>
        <p:spPr>
          <a:xfrm>
            <a:off x="555480" y="555480"/>
            <a:ext cx="112654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0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BIRTH OF BITCOIN: 2008-2009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555480" y="106380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Shape 3"/>
          <p:cNvSpPr/>
          <p:nvPr/>
        </p:nvSpPr>
        <p:spPr>
          <a:xfrm>
            <a:off x="341280" y="1547640"/>
            <a:ext cx="8265240" cy="1843560"/>
          </a:xfrm>
          <a:custGeom>
            <a:avLst/>
            <a:gdLst/>
            <a:ahLst/>
            <a:rect l="l" t="t" r="r" b="b"/>
            <a:pathLst>
              <a:path w="8270875" h="1849438">
                <a:moveTo>
                  <a:pt x="0" y="0"/>
                </a:moveTo>
                <a:lnTo>
                  <a:pt x="8270875" y="0"/>
                </a:lnTo>
                <a:lnTo>
                  <a:pt x="8270875" y="1849438"/>
                </a:lnTo>
                <a:lnTo>
                  <a:pt x="0" y="1849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Shape 4"/>
          <p:cNvSpPr/>
          <p:nvPr/>
        </p:nvSpPr>
        <p:spPr>
          <a:xfrm>
            <a:off x="547560" y="1754280"/>
            <a:ext cx="327600" cy="3276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5"/>
          <p:cNvSpPr/>
          <p:nvPr/>
        </p:nvSpPr>
        <p:spPr>
          <a:xfrm>
            <a:off x="484200" y="1730520"/>
            <a:ext cx="35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1031760" y="1730520"/>
            <a:ext cx="16135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October 31, 2008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523800" y="2206800"/>
            <a:ext cx="79714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Satoshi Nakamoto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publishes the Bitcoin whitepaper: "Bitcoin: A Peer-to-Peer Electronic Cash System" to the cypherpunk mailing list.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52" name="Shape 8"/>
          <p:cNvSpPr/>
          <p:nvPr/>
        </p:nvSpPr>
        <p:spPr>
          <a:xfrm>
            <a:off x="539640" y="2782080"/>
            <a:ext cx="7868160" cy="407160"/>
          </a:xfrm>
          <a:custGeom>
            <a:avLst/>
            <a:gdLst/>
            <a:ah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9"/>
          <p:cNvSpPr/>
          <p:nvPr/>
        </p:nvSpPr>
        <p:spPr>
          <a:xfrm>
            <a:off x="650880" y="2893320"/>
            <a:ext cx="77094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Core Innovation: Decentralized digital currency without trusted third parties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341280" y="3567960"/>
            <a:ext cx="8265240" cy="1605600"/>
          </a:xfrm>
          <a:custGeom>
            <a:avLst/>
            <a:gdLst/>
            <a:ahLst/>
            <a:rect l="l" t="t" r="r" b="b"/>
            <a:pathLst>
              <a:path w="8270875" h="1611313">
                <a:moveTo>
                  <a:pt x="0" y="0"/>
                </a:moveTo>
                <a:lnTo>
                  <a:pt x="8270875" y="0"/>
                </a:lnTo>
                <a:lnTo>
                  <a:pt x="8270875" y="1611313"/>
                </a:lnTo>
                <a:lnTo>
                  <a:pt x="0" y="161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5" name="Shape 11"/>
          <p:cNvSpPr/>
          <p:nvPr/>
        </p:nvSpPr>
        <p:spPr>
          <a:xfrm>
            <a:off x="547560" y="3774240"/>
            <a:ext cx="327600" cy="3276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2"/>
          <p:cNvSpPr/>
          <p:nvPr/>
        </p:nvSpPr>
        <p:spPr>
          <a:xfrm>
            <a:off x="484200" y="3750480"/>
            <a:ext cx="35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1031760" y="3750480"/>
            <a:ext cx="15102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3, 2009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523800" y="4226760"/>
            <a:ext cx="797148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Genesis Block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is mined, marking Bitcoin network's official launch. Embedded message references bank bailouts.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539640" y="4569840"/>
            <a:ext cx="7868160" cy="407160"/>
          </a:xfrm>
          <a:custGeom>
            <a:avLst/>
            <a:gdLst/>
            <a:ah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6"/>
          <p:cNvSpPr/>
          <p:nvPr/>
        </p:nvSpPr>
        <p:spPr>
          <a:xfrm>
            <a:off x="650880" y="4681080"/>
            <a:ext cx="77094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"The Times 03/Jan/2009 Chancellor on brink of second bailout for banks"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1" name="Shape 17"/>
          <p:cNvSpPr/>
          <p:nvPr/>
        </p:nvSpPr>
        <p:spPr>
          <a:xfrm>
            <a:off x="341280" y="5355720"/>
            <a:ext cx="8265240" cy="1065960"/>
          </a:xfrm>
          <a:custGeom>
            <a:avLst/>
            <a:gdLst/>
            <a:ahLst/>
            <a:rect l="l" t="t" r="r" b="b"/>
            <a:pathLst>
              <a:path w="8270875" h="1071563">
                <a:moveTo>
                  <a:pt x="0" y="0"/>
                </a:moveTo>
                <a:lnTo>
                  <a:pt x="8270875" y="0"/>
                </a:lnTo>
                <a:lnTo>
                  <a:pt x="827087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18"/>
          <p:cNvSpPr/>
          <p:nvPr/>
        </p:nvSpPr>
        <p:spPr>
          <a:xfrm>
            <a:off x="547560" y="5562360"/>
            <a:ext cx="327600" cy="3276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19"/>
          <p:cNvSpPr/>
          <p:nvPr/>
        </p:nvSpPr>
        <p:spPr>
          <a:xfrm>
            <a:off x="484200" y="5538240"/>
            <a:ext cx="35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1031760" y="5538240"/>
            <a:ext cx="16135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12, 2009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523800" y="6014520"/>
            <a:ext cx="797148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First Bitcoin transaction: Satoshi sends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10 BTC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to computer scientist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Hal Finney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, validating the system works.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66" name="Shape 22"/>
          <p:cNvSpPr/>
          <p:nvPr/>
        </p:nvSpPr>
        <p:spPr>
          <a:xfrm>
            <a:off x="8850240" y="1547640"/>
            <a:ext cx="2994480" cy="3502440"/>
          </a:xfrm>
          <a:custGeom>
            <a:avLst/>
            <a:gdLst/>
            <a:ahLst/>
            <a:rect l="l" t="t" r="r" b="b"/>
            <a:pathLst>
              <a:path w="3000375" h="3508375">
                <a:moveTo>
                  <a:pt x="0" y="0"/>
                </a:moveTo>
                <a:lnTo>
                  <a:pt x="3000375" y="0"/>
                </a:lnTo>
                <a:lnTo>
                  <a:pt x="3000375" y="3508375"/>
                </a:lnTo>
                <a:lnTo>
                  <a:pt x="0" y="3508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7" name="Text 23"/>
          <p:cNvSpPr/>
          <p:nvPr/>
        </p:nvSpPr>
        <p:spPr>
          <a:xfrm>
            <a:off x="9032760" y="1730520"/>
            <a:ext cx="27248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MOTIVATION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68" name="Shape 24"/>
          <p:cNvSpPr/>
          <p:nvPr/>
        </p:nvSpPr>
        <p:spPr>
          <a:xfrm>
            <a:off x="9048600" y="2127240"/>
            <a:ext cx="2597760" cy="81972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5"/>
          <p:cNvSpPr/>
          <p:nvPr/>
        </p:nvSpPr>
        <p:spPr>
          <a:xfrm>
            <a:off x="9159840" y="2238480"/>
            <a:ext cx="2439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2008 Financial Crisis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0" name="Text 26"/>
          <p:cNvSpPr/>
          <p:nvPr/>
        </p:nvSpPr>
        <p:spPr>
          <a:xfrm>
            <a:off x="9159840" y="2460600"/>
            <a:ext cx="24390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Bank failures, government bailouts, currency devaluation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1" name="Shape 27"/>
          <p:cNvSpPr/>
          <p:nvPr/>
        </p:nvSpPr>
        <p:spPr>
          <a:xfrm>
            <a:off x="9048600" y="3079800"/>
            <a:ext cx="2597760" cy="81972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28"/>
          <p:cNvSpPr/>
          <p:nvPr/>
        </p:nvSpPr>
        <p:spPr>
          <a:xfrm>
            <a:off x="9159840" y="3191040"/>
            <a:ext cx="2439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Cypherpunk Philosophy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3" name="Text 29"/>
          <p:cNvSpPr/>
          <p:nvPr/>
        </p:nvSpPr>
        <p:spPr>
          <a:xfrm>
            <a:off x="9159840" y="3413160"/>
            <a:ext cx="24390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Privacy, decentralization, mathematical trust over institutional trust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4" name="Shape 30"/>
          <p:cNvSpPr/>
          <p:nvPr/>
        </p:nvSpPr>
        <p:spPr>
          <a:xfrm>
            <a:off x="9048600" y="4032360"/>
            <a:ext cx="2597760" cy="81972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31"/>
          <p:cNvSpPr/>
          <p:nvPr/>
        </p:nvSpPr>
        <p:spPr>
          <a:xfrm>
            <a:off x="9159840" y="4143240"/>
            <a:ext cx="2439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Double-Spending Problem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6" name="Text 32"/>
          <p:cNvSpPr/>
          <p:nvPr/>
        </p:nvSpPr>
        <p:spPr>
          <a:xfrm>
            <a:off x="9159840" y="4365720"/>
            <a:ext cx="24390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digital currency to solve this without central authority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7" name="Shape 33"/>
          <p:cNvSpPr/>
          <p:nvPr/>
        </p:nvSpPr>
        <p:spPr>
          <a:xfrm>
            <a:off x="8850240" y="5230800"/>
            <a:ext cx="2994480" cy="3470760"/>
          </a:xfrm>
          <a:custGeom>
            <a:avLst/>
            <a:gdLst/>
            <a:ahLst/>
            <a:rect l="l" t="t" r="r" b="b"/>
            <a:pathLst>
              <a:path w="3000375" h="3476625">
                <a:moveTo>
                  <a:pt x="0" y="0"/>
                </a:moveTo>
                <a:lnTo>
                  <a:pt x="3000375" y="0"/>
                </a:lnTo>
                <a:lnTo>
                  <a:pt x="3000375" y="3476625"/>
                </a:lnTo>
                <a:lnTo>
                  <a:pt x="0" y="3476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Text 34"/>
          <p:cNvSpPr/>
          <p:nvPr/>
        </p:nvSpPr>
        <p:spPr>
          <a:xfrm>
            <a:off x="9032760" y="5413320"/>
            <a:ext cx="27248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CORE PRINCIPLES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79" name="Shape 35"/>
          <p:cNvSpPr/>
          <p:nvPr/>
        </p:nvSpPr>
        <p:spPr>
          <a:xfrm>
            <a:off x="9048600" y="5810400"/>
            <a:ext cx="2597760" cy="343440"/>
          </a:xfrm>
          <a:custGeom>
            <a:avLst/>
            <a:gdLst/>
            <a:ah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36"/>
          <p:cNvSpPr/>
          <p:nvPr/>
        </p:nvSpPr>
        <p:spPr>
          <a:xfrm>
            <a:off x="9128160" y="593712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37"/>
          <p:cNvSpPr/>
          <p:nvPr/>
        </p:nvSpPr>
        <p:spPr>
          <a:xfrm>
            <a:off x="9318600" y="5889600"/>
            <a:ext cx="18914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Fixed Supply: 21 Million Coins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82" name="Shape 38"/>
          <p:cNvSpPr/>
          <p:nvPr/>
        </p:nvSpPr>
        <p:spPr>
          <a:xfrm>
            <a:off x="9048600" y="6254640"/>
            <a:ext cx="2597760" cy="53388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39"/>
          <p:cNvSpPr/>
          <p:nvPr/>
        </p:nvSpPr>
        <p:spPr>
          <a:xfrm>
            <a:off x="9128160" y="6477120"/>
            <a:ext cx="81720" cy="89640"/>
          </a:xfrm>
          <a:custGeom>
            <a:avLst/>
            <a:gdLst/>
            <a:ah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40"/>
          <p:cNvSpPr/>
          <p:nvPr/>
        </p:nvSpPr>
        <p:spPr>
          <a:xfrm>
            <a:off x="9309960" y="6334200"/>
            <a:ext cx="23198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Decentralized: No Single Point of Control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85" name="Shape 41"/>
          <p:cNvSpPr/>
          <p:nvPr/>
        </p:nvSpPr>
        <p:spPr>
          <a:xfrm>
            <a:off x="9048600" y="6889680"/>
            <a:ext cx="2597760" cy="343440"/>
          </a:xfrm>
          <a:custGeom>
            <a:avLst/>
            <a:gdLst/>
            <a:ah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42"/>
          <p:cNvSpPr/>
          <p:nvPr/>
        </p:nvSpPr>
        <p:spPr>
          <a:xfrm>
            <a:off x="9128160" y="701676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43"/>
          <p:cNvSpPr/>
          <p:nvPr/>
        </p:nvSpPr>
        <p:spPr>
          <a:xfrm>
            <a:off x="9318600" y="6969240"/>
            <a:ext cx="22960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Trustless: Cryptographic Verification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88" name="Shape 44"/>
          <p:cNvSpPr/>
          <p:nvPr/>
        </p:nvSpPr>
        <p:spPr>
          <a:xfrm>
            <a:off x="9048600" y="7334280"/>
            <a:ext cx="2597760" cy="53388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45"/>
          <p:cNvSpPr/>
          <p:nvPr/>
        </p:nvSpPr>
        <p:spPr>
          <a:xfrm>
            <a:off x="9128160" y="7556400"/>
            <a:ext cx="81720" cy="89640"/>
          </a:xfrm>
          <a:custGeom>
            <a:avLst/>
            <a:gdLst/>
            <a:ah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46"/>
          <p:cNvSpPr/>
          <p:nvPr/>
        </p:nvSpPr>
        <p:spPr>
          <a:xfrm>
            <a:off x="9314280" y="7413480"/>
            <a:ext cx="23198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Transparent: Public Blockchain Ledger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91" name="Shape 47"/>
          <p:cNvSpPr/>
          <p:nvPr/>
        </p:nvSpPr>
        <p:spPr>
          <a:xfrm>
            <a:off x="9048600" y="7969320"/>
            <a:ext cx="2597760" cy="53388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Shape 48"/>
          <p:cNvSpPr/>
          <p:nvPr/>
        </p:nvSpPr>
        <p:spPr>
          <a:xfrm>
            <a:off x="9128160" y="8191440"/>
            <a:ext cx="73440" cy="89640"/>
          </a:xfrm>
          <a:custGeom>
            <a:avLst/>
            <a:gdLst/>
            <a:ahLst/>
            <a:rect l="l" t="t" r="r" b="b"/>
            <a:pathLst>
              <a:path w="79375" h="95250">
                <a:moveTo>
                  <a:pt x="0" y="0"/>
                </a:moveTo>
                <a:lnTo>
                  <a:pt x="79375" y="0"/>
                </a:lnTo>
                <a:lnTo>
                  <a:pt x="793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49"/>
          <p:cNvSpPr/>
          <p:nvPr/>
        </p:nvSpPr>
        <p:spPr>
          <a:xfrm>
            <a:off x="9301320" y="8048520"/>
            <a:ext cx="232776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Immutable: Transactions Cannot Be Reversed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1"/>
          <p:cNvSpPr/>
          <p:nvPr/>
        </p:nvSpPr>
        <p:spPr>
          <a:xfrm>
            <a:off x="3305160" y="352440"/>
            <a:ext cx="8471520" cy="48139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Shape 2"/>
          <p:cNvSpPr/>
          <p:nvPr/>
        </p:nvSpPr>
        <p:spPr>
          <a:xfrm>
            <a:off x="10077480" y="83808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3"/>
          <p:cNvSpPr/>
          <p:nvPr/>
        </p:nvSpPr>
        <p:spPr>
          <a:xfrm>
            <a:off x="10410840" y="8668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4"/>
          <p:cNvSpPr/>
          <p:nvPr/>
        </p:nvSpPr>
        <p:spPr>
          <a:xfrm>
            <a:off x="10267920" y="83808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02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3448080" y="2057400"/>
            <a:ext cx="7842960" cy="17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FOUNDATION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9468000" y="400068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7"/>
          <p:cNvSpPr/>
          <p:nvPr/>
        </p:nvSpPr>
        <p:spPr>
          <a:xfrm>
            <a:off x="3619440" y="43052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How Bitcoin Works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5071320" y="5686560"/>
            <a:ext cx="6709320" cy="813240"/>
          </a:xfrm>
          <a:custGeom>
            <a:avLst/>
            <a:gdLst/>
            <a:ahLst/>
            <a:rect l="l" t="t" r="r" b="b"/>
            <a:pathLst>
              <a:path w="6715125" h="819150">
                <a:moveTo>
                  <a:pt x="0" y="0"/>
                </a:moveTo>
                <a:lnTo>
                  <a:pt x="6715125" y="0"/>
                </a:lnTo>
                <a:lnTo>
                  <a:pt x="671512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9"/>
          <p:cNvSpPr/>
          <p:nvPr/>
        </p:nvSpPr>
        <p:spPr>
          <a:xfrm>
            <a:off x="5328720" y="5943600"/>
            <a:ext cx="630936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Proof of Work, Blockchain &amp; Decentralized Consensus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341280" y="341280"/>
            <a:ext cx="11503440" cy="994320"/>
          </a:xfrm>
          <a:custGeom>
            <a:avLst/>
            <a:gdLst/>
            <a:ah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"/>
          <p:cNvSpPr/>
          <p:nvPr/>
        </p:nvSpPr>
        <p:spPr>
          <a:xfrm>
            <a:off x="555480" y="555480"/>
            <a:ext cx="112654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000" spc="-1" strike="noStrike">
                <a:solidFill>
                  <a:srgbClr val="000000"/>
                </a:solidFill>
                <a:latin typeface="Noto Sans SC"/>
                <a:ea typeface="Noto Sans SC"/>
              </a:rPr>
              <a:t>BLOCKCHAIN &amp; PROOF OF WORK: THE SECURITY MODEL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555480" y="106380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3"/>
          <p:cNvSpPr/>
          <p:nvPr/>
        </p:nvSpPr>
        <p:spPr>
          <a:xfrm>
            <a:off x="341280" y="1547640"/>
            <a:ext cx="8265240" cy="2066040"/>
          </a:xfrm>
          <a:custGeom>
            <a:avLst/>
            <a:gdLst/>
            <a:ahLst/>
            <a:rect l="l" t="t" r="r" b="b"/>
            <a:pathLst>
              <a:path w="8270875" h="2071688">
                <a:moveTo>
                  <a:pt x="0" y="0"/>
                </a:moveTo>
                <a:lnTo>
                  <a:pt x="8270875" y="0"/>
                </a:lnTo>
                <a:lnTo>
                  <a:pt x="8270875" y="2071688"/>
                </a:lnTo>
                <a:lnTo>
                  <a:pt x="0" y="2071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Text 4"/>
          <p:cNvSpPr/>
          <p:nvPr/>
        </p:nvSpPr>
        <p:spPr>
          <a:xfrm>
            <a:off x="523800" y="1730520"/>
            <a:ext cx="79952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BLOCKCHAIN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523800" y="2111400"/>
            <a:ext cx="79714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A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distributed ledger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recording all transactions across a network of computers. Each block contains a cryptographic hash of the previous block, creating an immutable chain.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211" name="Shape 6"/>
          <p:cNvSpPr/>
          <p:nvPr/>
        </p:nvSpPr>
        <p:spPr>
          <a:xfrm>
            <a:off x="539640" y="2718720"/>
            <a:ext cx="2534400" cy="692640"/>
          </a:xfrm>
          <a:custGeom>
            <a:avLst/>
            <a:gdLst/>
            <a:ah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7"/>
          <p:cNvSpPr/>
          <p:nvPr/>
        </p:nvSpPr>
        <p:spPr>
          <a:xfrm>
            <a:off x="591480" y="2829600"/>
            <a:ext cx="24310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880K+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623160" y="3147120"/>
            <a:ext cx="23677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Blocks Mined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3206880" y="2718720"/>
            <a:ext cx="2534400" cy="692640"/>
          </a:xfrm>
          <a:custGeom>
            <a:avLst/>
            <a:gdLst/>
            <a:ah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0"/>
          <p:cNvSpPr/>
          <p:nvPr/>
        </p:nvSpPr>
        <p:spPr>
          <a:xfrm>
            <a:off x="3258360" y="2829600"/>
            <a:ext cx="24310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~10min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3290040" y="3147120"/>
            <a:ext cx="23677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Time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5873760" y="2718720"/>
            <a:ext cx="2534400" cy="692640"/>
          </a:xfrm>
          <a:custGeom>
            <a:avLst/>
            <a:gdLst/>
            <a:ah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3"/>
          <p:cNvSpPr/>
          <p:nvPr/>
        </p:nvSpPr>
        <p:spPr>
          <a:xfrm>
            <a:off x="5925240" y="2829600"/>
            <a:ext cx="24310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1.2B+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5956920" y="3147120"/>
            <a:ext cx="23677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Transactions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341280" y="3790080"/>
            <a:ext cx="8265240" cy="2859840"/>
          </a:xfrm>
          <a:custGeom>
            <a:avLst/>
            <a:gdLst/>
            <a:ahLst/>
            <a:rect l="l" t="t" r="r" b="b"/>
            <a:pathLst>
              <a:path w="8270875" h="2865438">
                <a:moveTo>
                  <a:pt x="0" y="0"/>
                </a:moveTo>
                <a:lnTo>
                  <a:pt x="8270875" y="0"/>
                </a:lnTo>
                <a:lnTo>
                  <a:pt x="8270875" y="2865438"/>
                </a:lnTo>
                <a:lnTo>
                  <a:pt x="0" y="286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Text 16"/>
          <p:cNvSpPr/>
          <p:nvPr/>
        </p:nvSpPr>
        <p:spPr>
          <a:xfrm>
            <a:off x="523800" y="3972600"/>
            <a:ext cx="79952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PROOF OF WORK MECHANISM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523800" y="4353840"/>
            <a:ext cx="79714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Miners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compete to solve cryptographic puzzles using SHA-256 hashing. The winner adds the next block and earns the block reward.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539640" y="4960800"/>
            <a:ext cx="7868160" cy="1486440"/>
          </a:xfrm>
          <a:custGeom>
            <a:avLst/>
            <a:gdLst/>
            <a:ahLst/>
            <a:rect l="l" t="t" r="r" b="b"/>
            <a:pathLst>
              <a:path w="7874000" h="1492250">
                <a:moveTo>
                  <a:pt x="0" y="0"/>
                </a:moveTo>
                <a:lnTo>
                  <a:pt x="7874000" y="0"/>
                </a:lnTo>
                <a:lnTo>
                  <a:pt x="7874000" y="1492250"/>
                </a:lnTo>
                <a:lnTo>
                  <a:pt x="0" y="1492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9"/>
          <p:cNvSpPr/>
          <p:nvPr/>
        </p:nvSpPr>
        <p:spPr>
          <a:xfrm>
            <a:off x="682560" y="5103720"/>
            <a:ext cx="7646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Mining Process: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682560" y="5357880"/>
            <a:ext cx="7646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1. Bundle transactions into a block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682560" y="5611680"/>
            <a:ext cx="7646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2. Find nonce making block hash &lt; target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682560" y="5865840"/>
            <a:ext cx="7646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3. First to solve broadcasts to network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682560" y="6119640"/>
            <a:ext cx="7646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4. Other nodes verify and add to chain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9" name="Shape 24"/>
          <p:cNvSpPr/>
          <p:nvPr/>
        </p:nvSpPr>
        <p:spPr>
          <a:xfrm>
            <a:off x="8850240" y="1547640"/>
            <a:ext cx="2994480" cy="3693240"/>
          </a:xfrm>
          <a:custGeom>
            <a:avLst/>
            <a:gdLst/>
            <a:ahLst/>
            <a:rect l="l" t="t" r="r" b="b"/>
            <a:pathLst>
              <a:path w="3000375" h="3698875">
                <a:moveTo>
                  <a:pt x="0" y="0"/>
                </a:moveTo>
                <a:lnTo>
                  <a:pt x="3000375" y="0"/>
                </a:lnTo>
                <a:lnTo>
                  <a:pt x="3000375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Text 25"/>
          <p:cNvSpPr/>
          <p:nvPr/>
        </p:nvSpPr>
        <p:spPr>
          <a:xfrm>
            <a:off x="9032760" y="1730520"/>
            <a:ext cx="27248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NETWORK SECURITY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31" name="Shape 26"/>
          <p:cNvSpPr/>
          <p:nvPr/>
        </p:nvSpPr>
        <p:spPr>
          <a:xfrm>
            <a:off x="9048600" y="2127240"/>
            <a:ext cx="2597760" cy="883080"/>
          </a:xfrm>
          <a:custGeom>
            <a:avLst/>
            <a:gdLst/>
            <a:ah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27"/>
          <p:cNvSpPr/>
          <p:nvPr/>
        </p:nvSpPr>
        <p:spPr>
          <a:xfrm>
            <a:off x="9159840" y="2238480"/>
            <a:ext cx="2439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Hash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3" name="Text 28"/>
          <p:cNvSpPr/>
          <p:nvPr/>
        </p:nvSpPr>
        <p:spPr>
          <a:xfrm>
            <a:off x="9159840" y="2460600"/>
            <a:ext cx="24944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400M+ TH/s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9159840" y="2746440"/>
            <a:ext cx="24310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Global computing power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35" name="Shape 30"/>
          <p:cNvSpPr/>
          <p:nvPr/>
        </p:nvSpPr>
        <p:spPr>
          <a:xfrm>
            <a:off x="9048600" y="3143160"/>
            <a:ext cx="2597760" cy="883080"/>
          </a:xfrm>
          <a:custGeom>
            <a:avLst/>
            <a:gdLst/>
            <a:ah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31"/>
          <p:cNvSpPr/>
          <p:nvPr/>
        </p:nvSpPr>
        <p:spPr>
          <a:xfrm>
            <a:off x="9159840" y="3254400"/>
            <a:ext cx="2439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Attack Cost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7" name="Text 32"/>
          <p:cNvSpPr/>
          <p:nvPr/>
        </p:nvSpPr>
        <p:spPr>
          <a:xfrm>
            <a:off x="9159840" y="3476520"/>
            <a:ext cx="24944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$10B+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38" name="Text 33"/>
          <p:cNvSpPr/>
          <p:nvPr/>
        </p:nvSpPr>
        <p:spPr>
          <a:xfrm>
            <a:off x="9159840" y="3762360"/>
            <a:ext cx="24310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For 1 hour 51% attack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39" name="Shape 34"/>
          <p:cNvSpPr/>
          <p:nvPr/>
        </p:nvSpPr>
        <p:spPr>
          <a:xfrm>
            <a:off x="9048600" y="4159080"/>
            <a:ext cx="2597760" cy="883080"/>
          </a:xfrm>
          <a:custGeom>
            <a:avLst/>
            <a:gdLst/>
            <a:ah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35"/>
          <p:cNvSpPr/>
          <p:nvPr/>
        </p:nvSpPr>
        <p:spPr>
          <a:xfrm>
            <a:off x="9159840" y="4270320"/>
            <a:ext cx="2439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Difficulty Adjustment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41" name="Text 36"/>
          <p:cNvSpPr/>
          <p:nvPr/>
        </p:nvSpPr>
        <p:spPr>
          <a:xfrm>
            <a:off x="9159840" y="4492800"/>
            <a:ext cx="24944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Every 2,016 Blocks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42" name="Text 37"/>
          <p:cNvSpPr/>
          <p:nvPr/>
        </p:nvSpPr>
        <p:spPr>
          <a:xfrm>
            <a:off x="9159840" y="4778280"/>
            <a:ext cx="24310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Maintains 10-min block time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43" name="Shape 38"/>
          <p:cNvSpPr/>
          <p:nvPr/>
        </p:nvSpPr>
        <p:spPr>
          <a:xfrm>
            <a:off x="8850240" y="5421240"/>
            <a:ext cx="2994480" cy="2550240"/>
          </a:xfrm>
          <a:custGeom>
            <a:avLst/>
            <a:gdLst/>
            <a:ahLst/>
            <a:rect l="l" t="t" r="r" b="b"/>
            <a:pathLst>
              <a:path w="3000375" h="2555875">
                <a:moveTo>
                  <a:pt x="0" y="0"/>
                </a:moveTo>
                <a:lnTo>
                  <a:pt x="3000375" y="0"/>
                </a:lnTo>
                <a:lnTo>
                  <a:pt x="3000375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4" name="Text 39"/>
          <p:cNvSpPr/>
          <p:nvPr/>
        </p:nvSpPr>
        <p:spPr>
          <a:xfrm>
            <a:off x="9032760" y="5603760"/>
            <a:ext cx="27248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WHY IT 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5" name="Shape 40"/>
          <p:cNvSpPr/>
          <p:nvPr/>
        </p:nvSpPr>
        <p:spPr>
          <a:xfrm>
            <a:off x="9032760" y="6048360"/>
            <a:ext cx="57600" cy="576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41"/>
          <p:cNvSpPr/>
          <p:nvPr/>
        </p:nvSpPr>
        <p:spPr>
          <a:xfrm>
            <a:off x="9191520" y="5985000"/>
            <a:ext cx="25344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Energy as Security: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Massive electricity cost makes attacks economically irrational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47" name="Shape 42"/>
          <p:cNvSpPr/>
          <p:nvPr/>
        </p:nvSpPr>
        <p:spPr>
          <a:xfrm>
            <a:off x="9032760" y="6524640"/>
            <a:ext cx="57600" cy="576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43"/>
          <p:cNvSpPr/>
          <p:nvPr/>
        </p:nvSpPr>
        <p:spPr>
          <a:xfrm>
            <a:off x="9191520" y="6461280"/>
            <a:ext cx="25344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Game Theory: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Miners earn more by following rules than attacking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49" name="Shape 44"/>
          <p:cNvSpPr/>
          <p:nvPr/>
        </p:nvSpPr>
        <p:spPr>
          <a:xfrm>
            <a:off x="9032760" y="7000920"/>
            <a:ext cx="57600" cy="576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45"/>
          <p:cNvSpPr/>
          <p:nvPr/>
        </p:nvSpPr>
        <p:spPr>
          <a:xfrm>
            <a:off x="9191520" y="6937200"/>
            <a:ext cx="25344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Decentralization: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Thousands of independent miners globally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51" name="Shape 46"/>
          <p:cNvSpPr/>
          <p:nvPr/>
        </p:nvSpPr>
        <p:spPr>
          <a:xfrm>
            <a:off x="9032760" y="7477200"/>
            <a:ext cx="57600" cy="576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47"/>
          <p:cNvSpPr/>
          <p:nvPr/>
        </p:nvSpPr>
        <p:spPr>
          <a:xfrm>
            <a:off x="9191520" y="7413480"/>
            <a:ext cx="25344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Immutability: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Changing history requires redoing all subsequent work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Shape 1"/>
          <p:cNvSpPr/>
          <p:nvPr/>
        </p:nvSpPr>
        <p:spPr>
          <a:xfrm>
            <a:off x="409680" y="352440"/>
            <a:ext cx="8471520" cy="48139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6" name="Shape 2"/>
          <p:cNvSpPr/>
          <p:nvPr/>
        </p:nvSpPr>
        <p:spPr>
          <a:xfrm>
            <a:off x="923760" y="8668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3"/>
          <p:cNvSpPr/>
          <p:nvPr/>
        </p:nvSpPr>
        <p:spPr>
          <a:xfrm>
            <a:off x="781200" y="83808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03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58" name="Shape 4"/>
          <p:cNvSpPr/>
          <p:nvPr/>
        </p:nvSpPr>
        <p:spPr>
          <a:xfrm>
            <a:off x="2038320" y="83808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5"/>
          <p:cNvSpPr/>
          <p:nvPr/>
        </p:nvSpPr>
        <p:spPr>
          <a:xfrm>
            <a:off x="895320" y="2057400"/>
            <a:ext cx="7842960" cy="17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HISTORICAL EVOLUTION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260" name="Shape 6"/>
          <p:cNvSpPr/>
          <p:nvPr/>
        </p:nvSpPr>
        <p:spPr>
          <a:xfrm>
            <a:off x="895320" y="400068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7"/>
          <p:cNvSpPr/>
          <p:nvPr/>
        </p:nvSpPr>
        <p:spPr>
          <a:xfrm>
            <a:off x="895320" y="43052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Cypherpunk Dream to Global Asset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2" name="Shape 8"/>
          <p:cNvSpPr/>
          <p:nvPr/>
        </p:nvSpPr>
        <p:spPr>
          <a:xfrm>
            <a:off x="409680" y="5686560"/>
            <a:ext cx="11367000" cy="8132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9"/>
          <p:cNvSpPr/>
          <p:nvPr/>
        </p:nvSpPr>
        <p:spPr>
          <a:xfrm>
            <a:off x="666720" y="5943600"/>
            <a:ext cx="10967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15 Years of Price Discovery, Crashes &amp; Resilience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JOURNEY: KEY MILESTONES 2009-2024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Shape 3"/>
          <p:cNvSpPr/>
          <p:nvPr/>
        </p:nvSpPr>
        <p:spPr>
          <a:xfrm>
            <a:off x="341280" y="135720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8" name="Shape 4"/>
          <p:cNvSpPr/>
          <p:nvPr/>
        </p:nvSpPr>
        <p:spPr>
          <a:xfrm>
            <a:off x="476280" y="149220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5"/>
          <p:cNvSpPr/>
          <p:nvPr/>
        </p:nvSpPr>
        <p:spPr>
          <a:xfrm>
            <a:off x="555480" y="157176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2009-2010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460440" y="195264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BEGINNING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460440" y="217476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real-world transaction: 10,000 BTC for two pizzas at $0.003/BTC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476280" y="253224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9"/>
          <p:cNvSpPr/>
          <p:nvPr/>
        </p:nvSpPr>
        <p:spPr>
          <a:xfrm>
            <a:off x="555480" y="261144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$0.003 → $0.30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3254400" y="135720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Shape 11"/>
          <p:cNvSpPr/>
          <p:nvPr/>
        </p:nvSpPr>
        <p:spPr>
          <a:xfrm>
            <a:off x="3389400" y="149220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2"/>
          <p:cNvSpPr/>
          <p:nvPr/>
        </p:nvSpPr>
        <p:spPr>
          <a:xfrm>
            <a:off x="3468600" y="157176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2011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3373560" y="195264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BUBBLE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3373560" y="217476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Price spikes to $31, then crashes to $2. Media declares Bitcoin dead.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79" name="Shape 15"/>
          <p:cNvSpPr/>
          <p:nvPr/>
        </p:nvSpPr>
        <p:spPr>
          <a:xfrm>
            <a:off x="3389400" y="253224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6"/>
          <p:cNvSpPr/>
          <p:nvPr/>
        </p:nvSpPr>
        <p:spPr>
          <a:xfrm>
            <a:off x="3468600" y="261144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$31 | Crash: -94%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6167520" y="135720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2" name="Shape 18"/>
          <p:cNvSpPr/>
          <p:nvPr/>
        </p:nvSpPr>
        <p:spPr>
          <a:xfrm>
            <a:off x="6302520" y="149220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19"/>
          <p:cNvSpPr/>
          <p:nvPr/>
        </p:nvSpPr>
        <p:spPr>
          <a:xfrm>
            <a:off x="6381720" y="157176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84" name="Text 20"/>
          <p:cNvSpPr/>
          <p:nvPr/>
        </p:nvSpPr>
        <p:spPr>
          <a:xfrm>
            <a:off x="6286680" y="195264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6286680" y="217476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from 50 to 25 BTC. Sets stage for next bull run.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86" name="Shape 22"/>
          <p:cNvSpPr/>
          <p:nvPr/>
        </p:nvSpPr>
        <p:spPr>
          <a:xfrm>
            <a:off x="6302520" y="253224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23"/>
          <p:cNvSpPr/>
          <p:nvPr/>
        </p:nvSpPr>
        <p:spPr>
          <a:xfrm>
            <a:off x="6381720" y="261144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$12 → $13.50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88" name="Shape 24"/>
          <p:cNvSpPr/>
          <p:nvPr/>
        </p:nvSpPr>
        <p:spPr>
          <a:xfrm>
            <a:off x="9080640" y="135720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9" name="Shape 25"/>
          <p:cNvSpPr/>
          <p:nvPr/>
        </p:nvSpPr>
        <p:spPr>
          <a:xfrm>
            <a:off x="9215280" y="149220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26"/>
          <p:cNvSpPr/>
          <p:nvPr/>
        </p:nvSpPr>
        <p:spPr>
          <a:xfrm>
            <a:off x="9294840" y="157176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2013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91" name="Text 27"/>
          <p:cNvSpPr/>
          <p:nvPr/>
        </p:nvSpPr>
        <p:spPr>
          <a:xfrm>
            <a:off x="9199440" y="195264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$1,000 MILESTONE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92" name="Text 28"/>
          <p:cNvSpPr/>
          <p:nvPr/>
        </p:nvSpPr>
        <p:spPr>
          <a:xfrm>
            <a:off x="9199440" y="217476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major bull run to $1,200. Mt. Gox becomes dominant exchange.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93" name="Shape 29"/>
          <p:cNvSpPr/>
          <p:nvPr/>
        </p:nvSpPr>
        <p:spPr>
          <a:xfrm>
            <a:off x="9215280" y="253224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30"/>
          <p:cNvSpPr/>
          <p:nvPr/>
        </p:nvSpPr>
        <p:spPr>
          <a:xfrm>
            <a:off x="9294840" y="261144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$1,242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95" name="Shape 31"/>
          <p:cNvSpPr/>
          <p:nvPr/>
        </p:nvSpPr>
        <p:spPr>
          <a:xfrm>
            <a:off x="341280" y="309564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Shape 32"/>
          <p:cNvSpPr/>
          <p:nvPr/>
        </p:nvSpPr>
        <p:spPr>
          <a:xfrm>
            <a:off x="476280" y="323064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33"/>
          <p:cNvSpPr/>
          <p:nvPr/>
        </p:nvSpPr>
        <p:spPr>
          <a:xfrm>
            <a:off x="555480" y="330984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2014-2015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98" name="Text 34"/>
          <p:cNvSpPr/>
          <p:nvPr/>
        </p:nvSpPr>
        <p:spPr>
          <a:xfrm>
            <a:off x="460440" y="369108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MT. GOX COLLAPSE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99" name="Text 35"/>
          <p:cNvSpPr/>
          <p:nvPr/>
        </p:nvSpPr>
        <p:spPr>
          <a:xfrm>
            <a:off x="460440" y="391320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Exchange hack wipes out 850K BTC. Price falls below $200. Bear market.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00" name="Shape 36"/>
          <p:cNvSpPr/>
          <p:nvPr/>
        </p:nvSpPr>
        <p:spPr>
          <a:xfrm>
            <a:off x="476280" y="427032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37"/>
          <p:cNvSpPr/>
          <p:nvPr/>
        </p:nvSpPr>
        <p:spPr>
          <a:xfrm>
            <a:off x="555480" y="434988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$152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02" name="Shape 38"/>
          <p:cNvSpPr/>
          <p:nvPr/>
        </p:nvSpPr>
        <p:spPr>
          <a:xfrm>
            <a:off x="3254400" y="309564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Shape 39"/>
          <p:cNvSpPr/>
          <p:nvPr/>
        </p:nvSpPr>
        <p:spPr>
          <a:xfrm>
            <a:off x="3389400" y="323064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40"/>
          <p:cNvSpPr/>
          <p:nvPr/>
        </p:nvSpPr>
        <p:spPr>
          <a:xfrm>
            <a:off x="3468600" y="330984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2016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05" name="Text 41"/>
          <p:cNvSpPr/>
          <p:nvPr/>
        </p:nvSpPr>
        <p:spPr>
          <a:xfrm>
            <a:off x="3373560" y="369108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SECOND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06" name="Text 42"/>
          <p:cNvSpPr/>
          <p:nvPr/>
        </p:nvSpPr>
        <p:spPr>
          <a:xfrm>
            <a:off x="3373560" y="391320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to 12.5 BTC. Ethereum launches, ICO era begins.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07" name="Shape 43"/>
          <p:cNvSpPr/>
          <p:nvPr/>
        </p:nvSpPr>
        <p:spPr>
          <a:xfrm>
            <a:off x="3389400" y="427032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44"/>
          <p:cNvSpPr/>
          <p:nvPr/>
        </p:nvSpPr>
        <p:spPr>
          <a:xfrm>
            <a:off x="3468600" y="434988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$650 → $960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09" name="Shape 45"/>
          <p:cNvSpPr/>
          <p:nvPr/>
        </p:nvSpPr>
        <p:spPr>
          <a:xfrm>
            <a:off x="6167520" y="309564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0" name="Shape 46"/>
          <p:cNvSpPr/>
          <p:nvPr/>
        </p:nvSpPr>
        <p:spPr>
          <a:xfrm>
            <a:off x="6302520" y="323064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47"/>
          <p:cNvSpPr/>
          <p:nvPr/>
        </p:nvSpPr>
        <p:spPr>
          <a:xfrm>
            <a:off x="6381720" y="330984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2017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12" name="Text 48"/>
          <p:cNvSpPr/>
          <p:nvPr/>
        </p:nvSpPr>
        <p:spPr>
          <a:xfrm>
            <a:off x="6286680" y="369108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$20,000 PEAK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13" name="Text 49"/>
          <p:cNvSpPr/>
          <p:nvPr/>
        </p:nvSpPr>
        <p:spPr>
          <a:xfrm>
            <a:off x="6286680" y="391320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ICO mania drives parabolic rise. CME/CBOE futures launch. Mainstream FOMO.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14" name="Shape 50"/>
          <p:cNvSpPr/>
          <p:nvPr/>
        </p:nvSpPr>
        <p:spPr>
          <a:xfrm>
            <a:off x="6302520" y="427032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51"/>
          <p:cNvSpPr/>
          <p:nvPr/>
        </p:nvSpPr>
        <p:spPr>
          <a:xfrm>
            <a:off x="6381720" y="434988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$19,800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16" name="Shape 52"/>
          <p:cNvSpPr/>
          <p:nvPr/>
        </p:nvSpPr>
        <p:spPr>
          <a:xfrm>
            <a:off x="9080640" y="309564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7" name="Shape 53"/>
          <p:cNvSpPr/>
          <p:nvPr/>
        </p:nvSpPr>
        <p:spPr>
          <a:xfrm>
            <a:off x="9215280" y="323064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54"/>
          <p:cNvSpPr/>
          <p:nvPr/>
        </p:nvSpPr>
        <p:spPr>
          <a:xfrm>
            <a:off x="9294840" y="330984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2018-2019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19" name="Text 55"/>
          <p:cNvSpPr/>
          <p:nvPr/>
        </p:nvSpPr>
        <p:spPr>
          <a:xfrm>
            <a:off x="9199440" y="369108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CRYPTO WINTER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20" name="Text 56"/>
          <p:cNvSpPr/>
          <p:nvPr/>
        </p:nvSpPr>
        <p:spPr>
          <a:xfrm>
            <a:off x="9199440" y="391320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80%+ crash from peak. Regulatory crackdowns. Institutional interest quietly builds.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1" name="Shape 57"/>
          <p:cNvSpPr/>
          <p:nvPr/>
        </p:nvSpPr>
        <p:spPr>
          <a:xfrm>
            <a:off x="9215280" y="427032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58"/>
          <p:cNvSpPr/>
          <p:nvPr/>
        </p:nvSpPr>
        <p:spPr>
          <a:xfrm>
            <a:off x="9294840" y="434988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$3,200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23" name="Shape 59"/>
          <p:cNvSpPr/>
          <p:nvPr/>
        </p:nvSpPr>
        <p:spPr>
          <a:xfrm>
            <a:off x="341280" y="483408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Shape 60"/>
          <p:cNvSpPr/>
          <p:nvPr/>
        </p:nvSpPr>
        <p:spPr>
          <a:xfrm>
            <a:off x="476280" y="496872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61"/>
          <p:cNvSpPr/>
          <p:nvPr/>
        </p:nvSpPr>
        <p:spPr>
          <a:xfrm>
            <a:off x="555480" y="504828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26" name="Text 62"/>
          <p:cNvSpPr/>
          <p:nvPr/>
        </p:nvSpPr>
        <p:spPr>
          <a:xfrm>
            <a:off x="460440" y="542916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THIRD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27" name="Text 63"/>
          <p:cNvSpPr/>
          <p:nvPr/>
        </p:nvSpPr>
        <p:spPr>
          <a:xfrm>
            <a:off x="460440" y="565164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to 6.25 BTC. COVID-19 triggers institutional adoption wave.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8" name="Shape 64"/>
          <p:cNvSpPr/>
          <p:nvPr/>
        </p:nvSpPr>
        <p:spPr>
          <a:xfrm>
            <a:off x="476280" y="600876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65"/>
          <p:cNvSpPr/>
          <p:nvPr/>
        </p:nvSpPr>
        <p:spPr>
          <a:xfrm>
            <a:off x="555480" y="608796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$8,000 → $29,000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30" name="Shape 66"/>
          <p:cNvSpPr/>
          <p:nvPr/>
        </p:nvSpPr>
        <p:spPr>
          <a:xfrm>
            <a:off x="3254400" y="483408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Shape 67"/>
          <p:cNvSpPr/>
          <p:nvPr/>
        </p:nvSpPr>
        <p:spPr>
          <a:xfrm>
            <a:off x="3389400" y="496872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68"/>
          <p:cNvSpPr/>
          <p:nvPr/>
        </p:nvSpPr>
        <p:spPr>
          <a:xfrm>
            <a:off x="3468600" y="504828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2021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33" name="Text 69"/>
          <p:cNvSpPr/>
          <p:nvPr/>
        </p:nvSpPr>
        <p:spPr>
          <a:xfrm>
            <a:off x="3373560" y="542916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$69,000 ATH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34" name="Text 70"/>
          <p:cNvSpPr/>
          <p:nvPr/>
        </p:nvSpPr>
        <p:spPr>
          <a:xfrm>
            <a:off x="3373560" y="565164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MicroStrategy, Tesla add BTC to treasury. First Bitcoin futures ETF. NFT boom.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35" name="Shape 71"/>
          <p:cNvSpPr/>
          <p:nvPr/>
        </p:nvSpPr>
        <p:spPr>
          <a:xfrm>
            <a:off x="3389400" y="600876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72"/>
          <p:cNvSpPr/>
          <p:nvPr/>
        </p:nvSpPr>
        <p:spPr>
          <a:xfrm>
            <a:off x="3468600" y="608796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$69,000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37" name="Shape 73"/>
          <p:cNvSpPr/>
          <p:nvPr/>
        </p:nvSpPr>
        <p:spPr>
          <a:xfrm>
            <a:off x="6167520" y="483408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8" name="Shape 74"/>
          <p:cNvSpPr/>
          <p:nvPr/>
        </p:nvSpPr>
        <p:spPr>
          <a:xfrm>
            <a:off x="6302520" y="496872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75"/>
          <p:cNvSpPr/>
          <p:nvPr/>
        </p:nvSpPr>
        <p:spPr>
          <a:xfrm>
            <a:off x="6381720" y="504828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40" name="Text 76"/>
          <p:cNvSpPr/>
          <p:nvPr/>
        </p:nvSpPr>
        <p:spPr>
          <a:xfrm>
            <a:off x="6286680" y="542916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BEAR MARKET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41" name="Text 77"/>
          <p:cNvSpPr/>
          <p:nvPr/>
        </p:nvSpPr>
        <p:spPr>
          <a:xfrm>
            <a:off x="6286680" y="565164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Fed rate hikes, Terra/LUNA collapse, FTX bankruptcy. Price falls to $16K.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42" name="Shape 78"/>
          <p:cNvSpPr/>
          <p:nvPr/>
        </p:nvSpPr>
        <p:spPr>
          <a:xfrm>
            <a:off x="6302520" y="600876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79"/>
          <p:cNvSpPr/>
          <p:nvPr/>
        </p:nvSpPr>
        <p:spPr>
          <a:xfrm>
            <a:off x="6381720" y="608796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$15,600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44" name="Shape 80"/>
          <p:cNvSpPr/>
          <p:nvPr/>
        </p:nvSpPr>
        <p:spPr>
          <a:xfrm>
            <a:off x="9080640" y="4834080"/>
            <a:ext cx="2764440" cy="15897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5" name="Shape 81"/>
          <p:cNvSpPr/>
          <p:nvPr/>
        </p:nvSpPr>
        <p:spPr>
          <a:xfrm>
            <a:off x="9215280" y="4968720"/>
            <a:ext cx="2494440" cy="3751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82"/>
          <p:cNvSpPr/>
          <p:nvPr/>
        </p:nvSpPr>
        <p:spPr>
          <a:xfrm>
            <a:off x="9294840" y="5048280"/>
            <a:ext cx="241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2024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47" name="Text 83"/>
          <p:cNvSpPr/>
          <p:nvPr/>
        </p:nvSpPr>
        <p:spPr>
          <a:xfrm>
            <a:off x="9199440" y="5429160"/>
            <a:ext cx="258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$100K+ BREAKTHROUGH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48" name="Text 84"/>
          <p:cNvSpPr/>
          <p:nvPr/>
        </p:nvSpPr>
        <p:spPr>
          <a:xfrm>
            <a:off x="9199440" y="5651640"/>
            <a:ext cx="2581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Fourth halving. SEC approves spot ETFs. Price breaks $100K milestone.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49" name="Shape 85"/>
          <p:cNvSpPr/>
          <p:nvPr/>
        </p:nvSpPr>
        <p:spPr>
          <a:xfrm>
            <a:off x="9215280" y="6008760"/>
            <a:ext cx="2494440" cy="2800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86"/>
          <p:cNvSpPr/>
          <p:nvPr/>
        </p:nvSpPr>
        <p:spPr>
          <a:xfrm>
            <a:off x="9294840" y="6087960"/>
            <a:ext cx="23835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$126,173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51" name="Shape 87"/>
          <p:cNvSpPr/>
          <p:nvPr/>
        </p:nvSpPr>
        <p:spPr>
          <a:xfrm>
            <a:off x="341280" y="6572160"/>
            <a:ext cx="11503440" cy="518040"/>
          </a:xfrm>
          <a:custGeom>
            <a:avLst/>
            <a:gdLst/>
            <a:ahLst/>
            <a:rect l="l" t="t" r="r" b="b"/>
            <a:pathLst>
              <a:path w="11509375" h="523875">
                <a:moveTo>
                  <a:pt x="0" y="0"/>
                </a:moveTo>
                <a:lnTo>
                  <a:pt x="11509375" y="0"/>
                </a:lnTo>
                <a:lnTo>
                  <a:pt x="11509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88"/>
          <p:cNvSpPr/>
          <p:nvPr/>
        </p:nvSpPr>
        <p:spPr>
          <a:xfrm>
            <a:off x="492120" y="6723000"/>
            <a:ext cx="32961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FOUR HALVINGS: 2012 | 2016 | 2020 | 2024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53" name="Text 89"/>
          <p:cNvSpPr/>
          <p:nvPr/>
        </p:nvSpPr>
        <p:spPr>
          <a:xfrm>
            <a:off x="8992080" y="6723000"/>
            <a:ext cx="27802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→ </a:t>
            </a: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Each Followed by Major Bull Run</a:t>
            </a:r>
            <a:endParaRPr b="0" lang="en-HK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Shape 1"/>
          <p:cNvSpPr/>
          <p:nvPr/>
        </p:nvSpPr>
        <p:spPr>
          <a:xfrm>
            <a:off x="4029120" y="781200"/>
            <a:ext cx="7747560" cy="3956760"/>
          </a:xfrm>
          <a:custGeom>
            <a:avLst/>
            <a:gdLst/>
            <a:ahLst/>
            <a:rect l="l" t="t" r="r" b="b"/>
            <a:pathLst>
              <a:path w="7753350" h="3962400">
                <a:moveTo>
                  <a:pt x="0" y="0"/>
                </a:moveTo>
                <a:lnTo>
                  <a:pt x="7753350" y="0"/>
                </a:lnTo>
                <a:lnTo>
                  <a:pt x="77533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7" name="Shape 2"/>
          <p:cNvSpPr/>
          <p:nvPr/>
        </p:nvSpPr>
        <p:spPr>
          <a:xfrm>
            <a:off x="10077480" y="126684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Shape 3"/>
          <p:cNvSpPr/>
          <p:nvPr/>
        </p:nvSpPr>
        <p:spPr>
          <a:xfrm>
            <a:off x="10410840" y="12952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4"/>
          <p:cNvSpPr/>
          <p:nvPr/>
        </p:nvSpPr>
        <p:spPr>
          <a:xfrm>
            <a:off x="10267920" y="126684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04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360" name="Text 5"/>
          <p:cNvSpPr/>
          <p:nvPr/>
        </p:nvSpPr>
        <p:spPr>
          <a:xfrm>
            <a:off x="4172040" y="2486160"/>
            <a:ext cx="711900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MARKET DYNAMICS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361" name="Shape 6"/>
          <p:cNvSpPr/>
          <p:nvPr/>
        </p:nvSpPr>
        <p:spPr>
          <a:xfrm>
            <a:off x="9468000" y="357192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Text 7"/>
          <p:cNvSpPr/>
          <p:nvPr/>
        </p:nvSpPr>
        <p:spPr>
          <a:xfrm>
            <a:off x="4343400" y="3876840"/>
            <a:ext cx="69476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Halving Cycles &amp; Price Patterns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363" name="Shape 8"/>
          <p:cNvSpPr/>
          <p:nvPr/>
        </p:nvSpPr>
        <p:spPr>
          <a:xfrm>
            <a:off x="6188040" y="5257800"/>
            <a:ext cx="5585400" cy="813240"/>
          </a:xfrm>
          <a:custGeom>
            <a:avLst/>
            <a:gdLst/>
            <a:ahLst/>
            <a:rect l="l" t="t" r="r" b="b"/>
            <a:pathLst>
              <a:path w="5591175" h="819150">
                <a:moveTo>
                  <a:pt x="0" y="0"/>
                </a:moveTo>
                <a:lnTo>
                  <a:pt x="5591175" y="0"/>
                </a:lnTo>
                <a:lnTo>
                  <a:pt x="55911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9"/>
          <p:cNvSpPr/>
          <p:nvPr/>
        </p:nvSpPr>
        <p:spPr>
          <a:xfrm>
            <a:off x="6445080" y="5514840"/>
            <a:ext cx="51854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Programmed Scarcity Driving Market Cycles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HALVING EFFECT: PROGRAMMED SCARCITY IN ACTION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67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Shape 3"/>
          <p:cNvSpPr/>
          <p:nvPr/>
        </p:nvSpPr>
        <p:spPr>
          <a:xfrm>
            <a:off x="341280" y="1357200"/>
            <a:ext cx="6217200" cy="6074280"/>
          </a:xfrm>
          <a:custGeom>
            <a:avLst/>
            <a:gdLst/>
            <a:ahLst/>
            <a:rect l="l" t="t" r="r" b="b"/>
            <a:pathLst>
              <a:path w="6223000" h="6080125">
                <a:moveTo>
                  <a:pt x="0" y="0"/>
                </a:moveTo>
                <a:lnTo>
                  <a:pt x="6223000" y="0"/>
                </a:lnTo>
                <a:lnTo>
                  <a:pt x="6223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9" name="Text 4"/>
          <p:cNvSpPr/>
          <p:nvPr/>
        </p:nvSpPr>
        <p:spPr>
          <a:xfrm>
            <a:off x="523800" y="1539720"/>
            <a:ext cx="59472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WHAT IS THE HALVING?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70" name="Text 5"/>
          <p:cNvSpPr/>
          <p:nvPr/>
        </p:nvSpPr>
        <p:spPr>
          <a:xfrm>
            <a:off x="523800" y="1889280"/>
            <a:ext cx="5915520" cy="6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Every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210,000 blocks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(~4 years), Bitcoin's block reward is cut in half. This pre-programmed monetary policy reduces new supply issuance, creating supply shocks that have historically preceded major bull runs.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71" name="Shape 6"/>
          <p:cNvSpPr/>
          <p:nvPr/>
        </p:nvSpPr>
        <p:spPr>
          <a:xfrm>
            <a:off x="539640" y="2651040"/>
            <a:ext cx="5820480" cy="2311920"/>
          </a:xfrm>
          <a:custGeom>
            <a:avLst/>
            <a:gdLst/>
            <a:ahLst/>
            <a:rect l="l" t="t" r="r" b="b"/>
            <a:pathLst>
              <a:path w="5826125" h="2317750">
                <a:moveTo>
                  <a:pt x="0" y="0"/>
                </a:moveTo>
                <a:lnTo>
                  <a:pt x="5826125" y="0"/>
                </a:lnTo>
                <a:lnTo>
                  <a:pt x="5826125" y="2317750"/>
                </a:lnTo>
                <a:lnTo>
                  <a:pt x="0" y="2317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Text 7"/>
          <p:cNvSpPr/>
          <p:nvPr/>
        </p:nvSpPr>
        <p:spPr>
          <a:xfrm>
            <a:off x="682560" y="2793960"/>
            <a:ext cx="5598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Halving Schedule &amp; Price Performance: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73" name="Shape 8"/>
          <p:cNvSpPr/>
          <p:nvPr/>
        </p:nvSpPr>
        <p:spPr>
          <a:xfrm>
            <a:off x="698400" y="3095640"/>
            <a:ext cx="2684880" cy="78804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9"/>
          <p:cNvSpPr/>
          <p:nvPr/>
        </p:nvSpPr>
        <p:spPr>
          <a:xfrm>
            <a:off x="809640" y="3206880"/>
            <a:ext cx="25182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2012: 50 → 25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75" name="Text 10"/>
          <p:cNvSpPr/>
          <p:nvPr/>
        </p:nvSpPr>
        <p:spPr>
          <a:xfrm>
            <a:off x="809640" y="3397320"/>
            <a:ext cx="25581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+9,300%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76" name="Text 11"/>
          <p:cNvSpPr/>
          <p:nvPr/>
        </p:nvSpPr>
        <p:spPr>
          <a:xfrm>
            <a:off x="809640" y="3651120"/>
            <a:ext cx="251028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$12 → $1,100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77" name="Shape 12"/>
          <p:cNvSpPr/>
          <p:nvPr/>
        </p:nvSpPr>
        <p:spPr>
          <a:xfrm>
            <a:off x="3515400" y="3095640"/>
            <a:ext cx="2684880" cy="78804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13"/>
          <p:cNvSpPr/>
          <p:nvPr/>
        </p:nvSpPr>
        <p:spPr>
          <a:xfrm>
            <a:off x="3626640" y="3206880"/>
            <a:ext cx="25182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2016: 25 → 12.5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79" name="Text 14"/>
          <p:cNvSpPr/>
          <p:nvPr/>
        </p:nvSpPr>
        <p:spPr>
          <a:xfrm>
            <a:off x="3626640" y="3397320"/>
            <a:ext cx="25581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+3,200%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80" name="Text 15"/>
          <p:cNvSpPr/>
          <p:nvPr/>
        </p:nvSpPr>
        <p:spPr>
          <a:xfrm>
            <a:off x="3626640" y="3651120"/>
            <a:ext cx="251028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$650 → $19,800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81" name="Shape 16"/>
          <p:cNvSpPr/>
          <p:nvPr/>
        </p:nvSpPr>
        <p:spPr>
          <a:xfrm>
            <a:off x="698400" y="4016520"/>
            <a:ext cx="2684880" cy="78804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17"/>
          <p:cNvSpPr/>
          <p:nvPr/>
        </p:nvSpPr>
        <p:spPr>
          <a:xfrm>
            <a:off x="809640" y="4127400"/>
            <a:ext cx="25182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2020: 12.5 → 6.25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83" name="Text 18"/>
          <p:cNvSpPr/>
          <p:nvPr/>
        </p:nvSpPr>
        <p:spPr>
          <a:xfrm>
            <a:off x="809640" y="4317840"/>
            <a:ext cx="25581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+700%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84" name="Text 19"/>
          <p:cNvSpPr/>
          <p:nvPr/>
        </p:nvSpPr>
        <p:spPr>
          <a:xfrm>
            <a:off x="809640" y="4572000"/>
            <a:ext cx="251028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$8,800 → $69,000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85" name="Shape 20"/>
          <p:cNvSpPr/>
          <p:nvPr/>
        </p:nvSpPr>
        <p:spPr>
          <a:xfrm>
            <a:off x="3515400" y="4016520"/>
            <a:ext cx="2684880" cy="78804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21"/>
          <p:cNvSpPr/>
          <p:nvPr/>
        </p:nvSpPr>
        <p:spPr>
          <a:xfrm>
            <a:off x="3626640" y="4127400"/>
            <a:ext cx="25182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2024: 6.25 → 3.125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87" name="Text 22"/>
          <p:cNvSpPr/>
          <p:nvPr/>
        </p:nvSpPr>
        <p:spPr>
          <a:xfrm>
            <a:off x="3626640" y="4317840"/>
            <a:ext cx="25581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155dfc"/>
                </a:solidFill>
                <a:latin typeface="Noto Sans SC"/>
                <a:ea typeface="Noto Sans SC"/>
              </a:rPr>
              <a:t>IN PROGRESS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88" name="Text 23"/>
          <p:cNvSpPr/>
          <p:nvPr/>
        </p:nvSpPr>
        <p:spPr>
          <a:xfrm>
            <a:off x="3626640" y="4572000"/>
            <a:ext cx="251028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$43,000 → $126K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89" name="Shape 24"/>
          <p:cNvSpPr/>
          <p:nvPr/>
        </p:nvSpPr>
        <p:spPr>
          <a:xfrm>
            <a:off x="341280" y="7612200"/>
            <a:ext cx="6217200" cy="1566000"/>
          </a:xfrm>
          <a:custGeom>
            <a:avLst/>
            <a:gdLst/>
            <a:ahLst/>
            <a:rect l="l" t="t" r="r" b="b"/>
            <a:pathLst>
              <a:path w="6223000" h="1571625">
                <a:moveTo>
                  <a:pt x="0" y="0"/>
                </a:moveTo>
                <a:lnTo>
                  <a:pt x="6223000" y="0"/>
                </a:lnTo>
                <a:lnTo>
                  <a:pt x="6223000" y="157162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0" name="Text 25"/>
          <p:cNvSpPr/>
          <p:nvPr/>
        </p:nvSpPr>
        <p:spPr>
          <a:xfrm>
            <a:off x="492120" y="7763040"/>
            <a:ext cx="59950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2024 CYCLE: WHAT'S DIFFERENT?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91" name="Shape 26"/>
          <p:cNvSpPr/>
          <p:nvPr/>
        </p:nvSpPr>
        <p:spPr>
          <a:xfrm>
            <a:off x="507960" y="8096400"/>
            <a:ext cx="1875600" cy="915120"/>
          </a:xfrm>
          <a:custGeom>
            <a:avLst/>
            <a:gdLst/>
            <a:ah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Text 27"/>
          <p:cNvSpPr/>
          <p:nvPr/>
        </p:nvSpPr>
        <p:spPr>
          <a:xfrm>
            <a:off x="619200" y="8207280"/>
            <a:ext cx="1716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Approval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93" name="Text 28"/>
          <p:cNvSpPr/>
          <p:nvPr/>
        </p:nvSpPr>
        <p:spPr>
          <a:xfrm>
            <a:off x="619200" y="8429760"/>
            <a:ext cx="17089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spot ETFs create institutional demand never seen before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94" name="Shape 29"/>
          <p:cNvSpPr/>
          <p:nvPr/>
        </p:nvSpPr>
        <p:spPr>
          <a:xfrm>
            <a:off x="2512800" y="8096400"/>
            <a:ext cx="1875600" cy="915120"/>
          </a:xfrm>
          <a:custGeom>
            <a:avLst/>
            <a:gdLst/>
            <a:ah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30"/>
          <p:cNvSpPr/>
          <p:nvPr/>
        </p:nvSpPr>
        <p:spPr>
          <a:xfrm>
            <a:off x="2624040" y="8207280"/>
            <a:ext cx="1716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Corporate Treasury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96" name="Text 31"/>
          <p:cNvSpPr/>
          <p:nvPr/>
        </p:nvSpPr>
        <p:spPr>
          <a:xfrm>
            <a:off x="2624040" y="8429760"/>
            <a:ext cx="17089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MicroStrategy holds 714K BTC worth $54B+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97" name="Shape 32"/>
          <p:cNvSpPr/>
          <p:nvPr/>
        </p:nvSpPr>
        <p:spPr>
          <a:xfrm>
            <a:off x="4518000" y="8096400"/>
            <a:ext cx="1875600" cy="915120"/>
          </a:xfrm>
          <a:custGeom>
            <a:avLst/>
            <a:gdLst/>
            <a:ah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33"/>
          <p:cNvSpPr/>
          <p:nvPr/>
        </p:nvSpPr>
        <p:spPr>
          <a:xfrm>
            <a:off x="4629240" y="8207280"/>
            <a:ext cx="1716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Nation-State Adoption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99" name="Text 34"/>
          <p:cNvSpPr/>
          <p:nvPr/>
        </p:nvSpPr>
        <p:spPr>
          <a:xfrm>
            <a:off x="4629240" y="8429760"/>
            <a:ext cx="17089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El Salvador makes BTC legal tender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00" name="Shape 35"/>
          <p:cNvSpPr/>
          <p:nvPr/>
        </p:nvSpPr>
        <p:spPr>
          <a:xfrm>
            <a:off x="6769080" y="1357200"/>
            <a:ext cx="5074200" cy="3947040"/>
          </a:xfrm>
          <a:custGeom>
            <a:avLst/>
            <a:gdLst/>
            <a:ahLst/>
            <a:rect l="l" t="t" r="r" b="b"/>
            <a:pathLst>
              <a:path w="5080000" h="3952875">
                <a:moveTo>
                  <a:pt x="0" y="0"/>
                </a:moveTo>
                <a:lnTo>
                  <a:pt x="5080000" y="0"/>
                </a:lnTo>
                <a:lnTo>
                  <a:pt x="5080000" y="3952875"/>
                </a:lnTo>
                <a:lnTo>
                  <a:pt x="0" y="395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1" name="Text 36"/>
          <p:cNvSpPr/>
          <p:nvPr/>
        </p:nvSpPr>
        <p:spPr>
          <a:xfrm>
            <a:off x="6951600" y="1539720"/>
            <a:ext cx="48042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STOCK-TO-FLOW MODEL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02" name="Text 37"/>
          <p:cNvSpPr/>
          <p:nvPr/>
        </p:nvSpPr>
        <p:spPr>
          <a:xfrm>
            <a:off x="6951600" y="1920960"/>
            <a:ext cx="47725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Bitcoin's scarcity can be measured by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stock-to-flow ratio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(existing supply / annual production). Higher ratios indicate greater scarcity.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03" name="Shape 38"/>
          <p:cNvSpPr/>
          <p:nvPr/>
        </p:nvSpPr>
        <p:spPr>
          <a:xfrm>
            <a:off x="6967440" y="2476440"/>
            <a:ext cx="4677480" cy="597600"/>
          </a:xfrm>
          <a:custGeom>
            <a:avLst/>
            <a:gdLst/>
            <a:ah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Text 39"/>
          <p:cNvSpPr/>
          <p:nvPr/>
        </p:nvSpPr>
        <p:spPr>
          <a:xfrm>
            <a:off x="7078680" y="2619360"/>
            <a:ext cx="6134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 S2F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05" name="Text 40"/>
          <p:cNvSpPr/>
          <p:nvPr/>
        </p:nvSpPr>
        <p:spPr>
          <a:xfrm>
            <a:off x="11329200" y="2587680"/>
            <a:ext cx="3038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62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06" name="Shape 41"/>
          <p:cNvSpPr/>
          <p:nvPr/>
        </p:nvSpPr>
        <p:spPr>
          <a:xfrm>
            <a:off x="7094520" y="2889360"/>
            <a:ext cx="4423320" cy="57600"/>
          </a:xfrm>
          <a:custGeom>
            <a:avLst/>
            <a:gdLst/>
            <a:ah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Shape 42"/>
          <p:cNvSpPr/>
          <p:nvPr/>
        </p:nvSpPr>
        <p:spPr>
          <a:xfrm>
            <a:off x="7110360" y="2905200"/>
            <a:ext cx="2192760" cy="25920"/>
          </a:xfrm>
          <a:custGeom>
            <a:avLst/>
            <a:gdLst/>
            <a:ahLst/>
            <a:rect l="l" t="t" r="r" b="b"/>
            <a:pathLst>
              <a:path w="2198688" h="31750">
                <a:moveTo>
                  <a:pt x="0" y="0"/>
                </a:moveTo>
                <a:lnTo>
                  <a:pt x="2198688" y="0"/>
                </a:lnTo>
                <a:lnTo>
                  <a:pt x="219868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Shape 43"/>
          <p:cNvSpPr/>
          <p:nvPr/>
        </p:nvSpPr>
        <p:spPr>
          <a:xfrm>
            <a:off x="6967440" y="3206880"/>
            <a:ext cx="4677480" cy="597600"/>
          </a:xfrm>
          <a:custGeom>
            <a:avLst/>
            <a:gdLst/>
            <a:ah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Text 44"/>
          <p:cNvSpPr/>
          <p:nvPr/>
        </p:nvSpPr>
        <p:spPr>
          <a:xfrm>
            <a:off x="7078680" y="3349800"/>
            <a:ext cx="14785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 S2F (Post-2024)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10" name="Text 45"/>
          <p:cNvSpPr/>
          <p:nvPr/>
        </p:nvSpPr>
        <p:spPr>
          <a:xfrm>
            <a:off x="11223360" y="3317760"/>
            <a:ext cx="4071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120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11" name="Shape 46"/>
          <p:cNvSpPr/>
          <p:nvPr/>
        </p:nvSpPr>
        <p:spPr>
          <a:xfrm>
            <a:off x="7094520" y="3619440"/>
            <a:ext cx="4423320" cy="57600"/>
          </a:xfrm>
          <a:custGeom>
            <a:avLst/>
            <a:gdLst/>
            <a:ah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Shape 47"/>
          <p:cNvSpPr/>
          <p:nvPr/>
        </p:nvSpPr>
        <p:spPr>
          <a:xfrm>
            <a:off x="7110360" y="3635280"/>
            <a:ext cx="4391640" cy="25920"/>
          </a:xfrm>
          <a:custGeom>
            <a:avLst/>
            <a:gdLst/>
            <a:ahLst/>
            <a:rect l="l" t="t" r="r" b="b"/>
            <a:pathLst>
              <a:path w="4397375" h="31750">
                <a:moveTo>
                  <a:pt x="0" y="0"/>
                </a:moveTo>
                <a:lnTo>
                  <a:pt x="4397375" y="0"/>
                </a:lnTo>
                <a:lnTo>
                  <a:pt x="439737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Shape 48"/>
          <p:cNvSpPr/>
          <p:nvPr/>
        </p:nvSpPr>
        <p:spPr>
          <a:xfrm>
            <a:off x="6967440" y="3936960"/>
            <a:ext cx="4677480" cy="597600"/>
          </a:xfrm>
          <a:custGeom>
            <a:avLst/>
            <a:gdLst/>
            <a:ah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Text 49"/>
          <p:cNvSpPr/>
          <p:nvPr/>
        </p:nvSpPr>
        <p:spPr>
          <a:xfrm>
            <a:off x="7078680" y="4079880"/>
            <a:ext cx="668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Silver S2F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15" name="Text 50"/>
          <p:cNvSpPr/>
          <p:nvPr/>
        </p:nvSpPr>
        <p:spPr>
          <a:xfrm>
            <a:off x="11329200" y="4048200"/>
            <a:ext cx="3038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22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16" name="Shape 51"/>
          <p:cNvSpPr/>
          <p:nvPr/>
        </p:nvSpPr>
        <p:spPr>
          <a:xfrm>
            <a:off x="7094520" y="4349880"/>
            <a:ext cx="4423320" cy="57600"/>
          </a:xfrm>
          <a:custGeom>
            <a:avLst/>
            <a:gdLst/>
            <a:ah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Shape 52"/>
          <p:cNvSpPr/>
          <p:nvPr/>
        </p:nvSpPr>
        <p:spPr>
          <a:xfrm>
            <a:off x="7110360" y="4365720"/>
            <a:ext cx="788040" cy="25920"/>
          </a:xfrm>
          <a:custGeom>
            <a:avLst/>
            <a:gdLst/>
            <a:ahLst/>
            <a:rect l="l" t="t" r="r" b="b"/>
            <a:pathLst>
              <a:path w="793750" h="31750">
                <a:moveTo>
                  <a:pt x="0" y="0"/>
                </a:moveTo>
                <a:lnTo>
                  <a:pt x="793750" y="0"/>
                </a:lnTo>
                <a:lnTo>
                  <a:pt x="79375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Shape 53"/>
          <p:cNvSpPr/>
          <p:nvPr/>
        </p:nvSpPr>
        <p:spPr>
          <a:xfrm>
            <a:off x="6967440" y="4699080"/>
            <a:ext cx="4677480" cy="407160"/>
          </a:xfrm>
          <a:custGeom>
            <a:avLst/>
            <a:gdLst/>
            <a:ahLst/>
            <a:rect l="l" t="t" r="r" b="b"/>
            <a:pathLst>
              <a:path w="4683125" h="412750">
                <a:moveTo>
                  <a:pt x="0" y="0"/>
                </a:moveTo>
                <a:lnTo>
                  <a:pt x="4683125" y="0"/>
                </a:lnTo>
                <a:lnTo>
                  <a:pt x="46831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Text 54"/>
          <p:cNvSpPr/>
          <p:nvPr/>
        </p:nvSpPr>
        <p:spPr>
          <a:xfrm>
            <a:off x="7047000" y="4809960"/>
            <a:ext cx="45187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Bitcoin is now scarcer than 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20" name="Shape 55"/>
          <p:cNvSpPr/>
          <p:nvPr/>
        </p:nvSpPr>
        <p:spPr>
          <a:xfrm>
            <a:off x="6769080" y="5484960"/>
            <a:ext cx="5074200" cy="3693240"/>
          </a:xfrm>
          <a:custGeom>
            <a:avLst/>
            <a:gdLst/>
            <a:ahLst/>
            <a:rect l="l" t="t" r="r" b="b"/>
            <a:pathLst>
              <a:path w="5080000" h="3698875">
                <a:moveTo>
                  <a:pt x="0" y="0"/>
                </a:moveTo>
                <a:lnTo>
                  <a:pt x="5080000" y="0"/>
                </a:lnTo>
                <a:lnTo>
                  <a:pt x="5080000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1" name="Text 56"/>
          <p:cNvSpPr/>
          <p:nvPr/>
        </p:nvSpPr>
        <p:spPr>
          <a:xfrm>
            <a:off x="6951600" y="5667480"/>
            <a:ext cx="48042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SUPPLY IMPACT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22" name="Shape 57"/>
          <p:cNvSpPr/>
          <p:nvPr/>
        </p:nvSpPr>
        <p:spPr>
          <a:xfrm>
            <a:off x="6967440" y="6064200"/>
            <a:ext cx="4677480" cy="883080"/>
          </a:xfrm>
          <a:custGeom>
            <a:avLst/>
            <a:gdLst/>
            <a:ah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Text 58"/>
          <p:cNvSpPr/>
          <p:nvPr/>
        </p:nvSpPr>
        <p:spPr>
          <a:xfrm>
            <a:off x="7078680" y="6175440"/>
            <a:ext cx="45187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Daily New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24" name="Text 59"/>
          <p:cNvSpPr/>
          <p:nvPr/>
        </p:nvSpPr>
        <p:spPr>
          <a:xfrm>
            <a:off x="7078680" y="6397560"/>
            <a:ext cx="457416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450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25" name="Text 60"/>
          <p:cNvSpPr/>
          <p:nvPr/>
        </p:nvSpPr>
        <p:spPr>
          <a:xfrm>
            <a:off x="7078680" y="6683400"/>
            <a:ext cx="45108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900 BTC pre-halving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26" name="Shape 61"/>
          <p:cNvSpPr/>
          <p:nvPr/>
        </p:nvSpPr>
        <p:spPr>
          <a:xfrm>
            <a:off x="6967440" y="7080120"/>
            <a:ext cx="4677480" cy="883080"/>
          </a:xfrm>
          <a:custGeom>
            <a:avLst/>
            <a:gdLst/>
            <a:ah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62"/>
          <p:cNvSpPr/>
          <p:nvPr/>
        </p:nvSpPr>
        <p:spPr>
          <a:xfrm>
            <a:off x="7078680" y="7191360"/>
            <a:ext cx="45187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Inflation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28" name="Text 63"/>
          <p:cNvSpPr/>
          <p:nvPr/>
        </p:nvSpPr>
        <p:spPr>
          <a:xfrm>
            <a:off x="7078680" y="7413480"/>
            <a:ext cx="457416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0.85%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29" name="Text 64"/>
          <p:cNvSpPr/>
          <p:nvPr/>
        </p:nvSpPr>
        <p:spPr>
          <a:xfrm>
            <a:off x="7078680" y="7699320"/>
            <a:ext cx="45108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1.75% pre-halving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30" name="Shape 65"/>
          <p:cNvSpPr/>
          <p:nvPr/>
        </p:nvSpPr>
        <p:spPr>
          <a:xfrm>
            <a:off x="6967440" y="8096400"/>
            <a:ext cx="4677480" cy="883080"/>
          </a:xfrm>
          <a:custGeom>
            <a:avLst/>
            <a:gdLst/>
            <a:ah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66"/>
          <p:cNvSpPr/>
          <p:nvPr/>
        </p:nvSpPr>
        <p:spPr>
          <a:xfrm>
            <a:off x="7078680" y="8207280"/>
            <a:ext cx="45187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Total Supply Mined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32" name="Text 67"/>
          <p:cNvSpPr/>
          <p:nvPr/>
        </p:nvSpPr>
        <p:spPr>
          <a:xfrm>
            <a:off x="7078680" y="8429760"/>
            <a:ext cx="457416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93.75%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33" name="Text 68"/>
          <p:cNvSpPr/>
          <p:nvPr/>
        </p:nvSpPr>
        <p:spPr>
          <a:xfrm>
            <a:off x="7078680" y="8715240"/>
            <a:ext cx="45108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~19.7M of 21M BTC in circulation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Shape 1"/>
          <p:cNvSpPr/>
          <p:nvPr/>
        </p:nvSpPr>
        <p:spPr>
          <a:xfrm>
            <a:off x="409680" y="352440"/>
            <a:ext cx="8471520" cy="48139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7" name="Shape 2"/>
          <p:cNvSpPr/>
          <p:nvPr/>
        </p:nvSpPr>
        <p:spPr>
          <a:xfrm>
            <a:off x="923760" y="8668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3"/>
          <p:cNvSpPr/>
          <p:nvPr/>
        </p:nvSpPr>
        <p:spPr>
          <a:xfrm>
            <a:off x="781200" y="83808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05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439" name="Shape 4"/>
          <p:cNvSpPr/>
          <p:nvPr/>
        </p:nvSpPr>
        <p:spPr>
          <a:xfrm>
            <a:off x="2038320" y="83808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Text 5"/>
          <p:cNvSpPr/>
          <p:nvPr/>
        </p:nvSpPr>
        <p:spPr>
          <a:xfrm>
            <a:off x="895320" y="2057400"/>
            <a:ext cx="7842960" cy="17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CURRENT LANDSCAPE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441" name="Shape 6"/>
          <p:cNvSpPr/>
          <p:nvPr/>
        </p:nvSpPr>
        <p:spPr>
          <a:xfrm>
            <a:off x="895320" y="400068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7"/>
          <p:cNvSpPr/>
          <p:nvPr/>
        </p:nvSpPr>
        <p:spPr>
          <a:xfrm>
            <a:off x="895320" y="43052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2024-2025 Market Status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443" name="Shape 8"/>
          <p:cNvSpPr/>
          <p:nvPr/>
        </p:nvSpPr>
        <p:spPr>
          <a:xfrm>
            <a:off x="409680" y="5686560"/>
            <a:ext cx="11367000" cy="8132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Text 9"/>
          <p:cNvSpPr/>
          <p:nvPr/>
        </p:nvSpPr>
        <p:spPr>
          <a:xfrm>
            <a:off x="666720" y="5943600"/>
            <a:ext cx="10967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Adoption, ETF Success &amp; Price Discovery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TODAY: MARKET METRICS &amp; ADOPTION DATA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47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Shape 3"/>
          <p:cNvSpPr/>
          <p:nvPr/>
        </p:nvSpPr>
        <p:spPr>
          <a:xfrm>
            <a:off x="341280" y="1357200"/>
            <a:ext cx="5645880" cy="2804040"/>
          </a:xfrm>
          <a:custGeom>
            <a:avLst/>
            <a:gdLst/>
            <a:ahLst/>
            <a:rect l="l" t="t" r="r" b="b"/>
            <a:pathLst>
              <a:path w="5651500" h="2809875">
                <a:moveTo>
                  <a:pt x="0" y="0"/>
                </a:moveTo>
                <a:lnTo>
                  <a:pt x="5651500" y="0"/>
                </a:lnTo>
                <a:lnTo>
                  <a:pt x="56515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9" name="Text 4"/>
          <p:cNvSpPr/>
          <p:nvPr/>
        </p:nvSpPr>
        <p:spPr>
          <a:xfrm>
            <a:off x="523800" y="15397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PRICE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50" name="Shape 5"/>
          <p:cNvSpPr/>
          <p:nvPr/>
        </p:nvSpPr>
        <p:spPr>
          <a:xfrm>
            <a:off x="539640" y="1936800"/>
            <a:ext cx="2542320" cy="1010160"/>
          </a:xfrm>
          <a:custGeom>
            <a:avLst/>
            <a:gdLst/>
            <a:ah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Text 6"/>
          <p:cNvSpPr/>
          <p:nvPr/>
        </p:nvSpPr>
        <p:spPr>
          <a:xfrm>
            <a:off x="682560" y="2079720"/>
            <a:ext cx="231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Current Price (Mar 2026)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52" name="Text 7"/>
          <p:cNvSpPr/>
          <p:nvPr/>
        </p:nvSpPr>
        <p:spPr>
          <a:xfrm>
            <a:off x="682560" y="2333520"/>
            <a:ext cx="2399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$74,532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53" name="Shape 8"/>
          <p:cNvSpPr/>
          <p:nvPr/>
        </p:nvSpPr>
        <p:spPr>
          <a:xfrm>
            <a:off x="3246480" y="1936800"/>
            <a:ext cx="2542320" cy="1010160"/>
          </a:xfrm>
          <a:custGeom>
            <a:avLst/>
            <a:gdLst/>
            <a:ah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Text 9"/>
          <p:cNvSpPr/>
          <p:nvPr/>
        </p:nvSpPr>
        <p:spPr>
          <a:xfrm>
            <a:off x="3389400" y="2079720"/>
            <a:ext cx="231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All-Time High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55" name="Text 10"/>
          <p:cNvSpPr/>
          <p:nvPr/>
        </p:nvSpPr>
        <p:spPr>
          <a:xfrm>
            <a:off x="3389400" y="2333520"/>
            <a:ext cx="2399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$126,173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56" name="Text 11"/>
          <p:cNvSpPr/>
          <p:nvPr/>
        </p:nvSpPr>
        <p:spPr>
          <a:xfrm>
            <a:off x="3389400" y="2651040"/>
            <a:ext cx="2311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October 6, 2025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57" name="Shape 12"/>
          <p:cNvSpPr/>
          <p:nvPr/>
        </p:nvSpPr>
        <p:spPr>
          <a:xfrm>
            <a:off x="539640" y="3111480"/>
            <a:ext cx="2542320" cy="851400"/>
          </a:xfrm>
          <a:custGeom>
            <a:avLst/>
            <a:gdLst/>
            <a:ah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Text 13"/>
          <p:cNvSpPr/>
          <p:nvPr/>
        </p:nvSpPr>
        <p:spPr>
          <a:xfrm>
            <a:off x="682560" y="3254400"/>
            <a:ext cx="231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Market Cap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59" name="Text 14"/>
          <p:cNvSpPr/>
          <p:nvPr/>
        </p:nvSpPr>
        <p:spPr>
          <a:xfrm>
            <a:off x="682560" y="3508200"/>
            <a:ext cx="2399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$1.47T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60" name="Shape 15"/>
          <p:cNvSpPr/>
          <p:nvPr/>
        </p:nvSpPr>
        <p:spPr>
          <a:xfrm>
            <a:off x="3246480" y="3111480"/>
            <a:ext cx="2542320" cy="851400"/>
          </a:xfrm>
          <a:custGeom>
            <a:avLst/>
            <a:gdLst/>
            <a:ah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 16"/>
          <p:cNvSpPr/>
          <p:nvPr/>
        </p:nvSpPr>
        <p:spPr>
          <a:xfrm>
            <a:off x="3389400" y="3254400"/>
            <a:ext cx="2319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24h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62" name="Text 17"/>
          <p:cNvSpPr/>
          <p:nvPr/>
        </p:nvSpPr>
        <p:spPr>
          <a:xfrm>
            <a:off x="3389400" y="3508200"/>
            <a:ext cx="2399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$28.5B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63" name="Shape 18"/>
          <p:cNvSpPr/>
          <p:nvPr/>
        </p:nvSpPr>
        <p:spPr>
          <a:xfrm>
            <a:off x="341280" y="4341960"/>
            <a:ext cx="5645880" cy="2994480"/>
          </a:xfrm>
          <a:custGeom>
            <a:avLst/>
            <a:gdLst/>
            <a:ahLst/>
            <a:rect l="l" t="t" r="r" b="b"/>
            <a:pathLst>
              <a:path w="5651500" h="3000375">
                <a:moveTo>
                  <a:pt x="0" y="0"/>
                </a:moveTo>
                <a:lnTo>
                  <a:pt x="5651500" y="0"/>
                </a:lnTo>
                <a:lnTo>
                  <a:pt x="56515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4" name="Text 19"/>
          <p:cNvSpPr/>
          <p:nvPr/>
        </p:nvSpPr>
        <p:spPr>
          <a:xfrm>
            <a:off x="523800" y="452448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HOLDINGS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65" name="Shape 20"/>
          <p:cNvSpPr/>
          <p:nvPr/>
        </p:nvSpPr>
        <p:spPr>
          <a:xfrm>
            <a:off x="539640" y="4921200"/>
            <a:ext cx="5248800" cy="6292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Text 21"/>
          <p:cNvSpPr/>
          <p:nvPr/>
        </p:nvSpPr>
        <p:spPr>
          <a:xfrm>
            <a:off x="650880" y="5064120"/>
            <a:ext cx="1415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Total Institutional BTC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67" name="Text 22"/>
          <p:cNvSpPr/>
          <p:nvPr/>
        </p:nvSpPr>
        <p:spPr>
          <a:xfrm>
            <a:off x="4704120" y="5032440"/>
            <a:ext cx="10659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1.4M+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68" name="Text 23"/>
          <p:cNvSpPr/>
          <p:nvPr/>
        </p:nvSpPr>
        <p:spPr>
          <a:xfrm>
            <a:off x="650880" y="528624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~7% of circulating supply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69" name="Shape 24"/>
          <p:cNvSpPr/>
          <p:nvPr/>
        </p:nvSpPr>
        <p:spPr>
          <a:xfrm>
            <a:off x="539640" y="5683320"/>
            <a:ext cx="5248800" cy="6292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Text 25"/>
          <p:cNvSpPr/>
          <p:nvPr/>
        </p:nvSpPr>
        <p:spPr>
          <a:xfrm>
            <a:off x="650880" y="5826240"/>
            <a:ext cx="19627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Assets Under Management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71" name="Text 26"/>
          <p:cNvSpPr/>
          <p:nvPr/>
        </p:nvSpPr>
        <p:spPr>
          <a:xfrm>
            <a:off x="5116680" y="5794200"/>
            <a:ext cx="6530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$85B+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72" name="Text 27"/>
          <p:cNvSpPr/>
          <p:nvPr/>
        </p:nvSpPr>
        <p:spPr>
          <a:xfrm>
            <a:off x="650880" y="604836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BlackRock IBIT leads with $52B+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73" name="Shape 28"/>
          <p:cNvSpPr/>
          <p:nvPr/>
        </p:nvSpPr>
        <p:spPr>
          <a:xfrm>
            <a:off x="539640" y="6445080"/>
            <a:ext cx="5248800" cy="6292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Text 29"/>
          <p:cNvSpPr/>
          <p:nvPr/>
        </p:nvSpPr>
        <p:spPr>
          <a:xfrm>
            <a:off x="650880" y="6588000"/>
            <a:ext cx="14864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MicroStrategy Holdings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75" name="Text 30"/>
          <p:cNvSpPr/>
          <p:nvPr/>
        </p:nvSpPr>
        <p:spPr>
          <a:xfrm>
            <a:off x="4550040" y="6556320"/>
            <a:ext cx="12247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714,644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76" name="Text 31"/>
          <p:cNvSpPr/>
          <p:nvPr/>
        </p:nvSpPr>
        <p:spPr>
          <a:xfrm>
            <a:off x="650880" y="681048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Cost basis: $54.4B ($76,056/BTC)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77" name="Shape 32"/>
          <p:cNvSpPr/>
          <p:nvPr/>
        </p:nvSpPr>
        <p:spPr>
          <a:xfrm>
            <a:off x="6199200" y="1357200"/>
            <a:ext cx="5645880" cy="3819960"/>
          </a:xfrm>
          <a:custGeom>
            <a:avLst/>
            <a:gdLst/>
            <a:ahLst/>
            <a:rect l="l" t="t" r="r" b="b"/>
            <a:pathLst>
              <a:path w="5651500" h="3825875">
                <a:moveTo>
                  <a:pt x="0" y="0"/>
                </a:moveTo>
                <a:lnTo>
                  <a:pt x="5651500" y="0"/>
                </a:lnTo>
                <a:lnTo>
                  <a:pt x="5651500" y="3825875"/>
                </a:lnTo>
                <a:lnTo>
                  <a:pt x="0" y="382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8" name="Text 33"/>
          <p:cNvSpPr/>
          <p:nvPr/>
        </p:nvSpPr>
        <p:spPr>
          <a:xfrm>
            <a:off x="6381720" y="15397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ON-CHAIN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79" name="Shape 34"/>
          <p:cNvSpPr/>
          <p:nvPr/>
        </p:nvSpPr>
        <p:spPr>
          <a:xfrm>
            <a:off x="6397560" y="1936800"/>
            <a:ext cx="5248800" cy="946800"/>
          </a:xfrm>
          <a:custGeom>
            <a:avLst/>
            <a:gdLst/>
            <a:ahLst/>
            <a:rect l="l" t="t" r="r" b="b"/>
            <a:pathLst>
              <a:path w="5254625" h="952500">
                <a:moveTo>
                  <a:pt x="0" y="0"/>
                </a:moveTo>
                <a:lnTo>
                  <a:pt x="5254625" y="0"/>
                </a:lnTo>
                <a:lnTo>
                  <a:pt x="52546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Text 35"/>
          <p:cNvSpPr/>
          <p:nvPr/>
        </p:nvSpPr>
        <p:spPr>
          <a:xfrm>
            <a:off x="6508800" y="204804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Long-Term Holder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81" name="Text 36"/>
          <p:cNvSpPr/>
          <p:nvPr/>
        </p:nvSpPr>
        <p:spPr>
          <a:xfrm>
            <a:off x="6508800" y="2301840"/>
            <a:ext cx="5896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62%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82" name="Text 37"/>
          <p:cNvSpPr/>
          <p:nvPr/>
        </p:nvSpPr>
        <p:spPr>
          <a:xfrm>
            <a:off x="7080480" y="2365200"/>
            <a:ext cx="14468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 BTC unmoved for 1+ year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83" name="Shape 38"/>
          <p:cNvSpPr/>
          <p:nvPr/>
        </p:nvSpPr>
        <p:spPr>
          <a:xfrm>
            <a:off x="6524640" y="2666880"/>
            <a:ext cx="4995000" cy="896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Shape 39"/>
          <p:cNvSpPr/>
          <p:nvPr/>
        </p:nvSpPr>
        <p:spPr>
          <a:xfrm>
            <a:off x="6540480" y="2682720"/>
            <a:ext cx="3074040" cy="57600"/>
          </a:xfrm>
          <a:custGeom>
            <a:avLst/>
            <a:gdLst/>
            <a:ahLst/>
            <a:rect l="l" t="t" r="r" b="b"/>
            <a:pathLst>
              <a:path w="3079750" h="63500">
                <a:moveTo>
                  <a:pt x="0" y="0"/>
                </a:moveTo>
                <a:lnTo>
                  <a:pt x="3079750" y="0"/>
                </a:lnTo>
                <a:lnTo>
                  <a:pt x="307975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Shape 40"/>
          <p:cNvSpPr/>
          <p:nvPr/>
        </p:nvSpPr>
        <p:spPr>
          <a:xfrm>
            <a:off x="6397560" y="3016080"/>
            <a:ext cx="5248800" cy="915120"/>
          </a:xfrm>
          <a:custGeom>
            <a:avLst/>
            <a:gdLst/>
            <a:ah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Text 41"/>
          <p:cNvSpPr/>
          <p:nvPr/>
        </p:nvSpPr>
        <p:spPr>
          <a:xfrm>
            <a:off x="6508800" y="312732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87" name="Text 42"/>
          <p:cNvSpPr/>
          <p:nvPr/>
        </p:nvSpPr>
        <p:spPr>
          <a:xfrm>
            <a:off x="6508800" y="3381480"/>
            <a:ext cx="51458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$1.17B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88" name="Text 43"/>
          <p:cNvSpPr/>
          <p:nvPr/>
        </p:nvSpPr>
        <p:spPr>
          <a:xfrm>
            <a:off x="6508800" y="366696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Monthly transaction volume (Nov 2025)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89" name="Shape 44"/>
          <p:cNvSpPr/>
          <p:nvPr/>
        </p:nvSpPr>
        <p:spPr>
          <a:xfrm>
            <a:off x="6397560" y="4064040"/>
            <a:ext cx="5248800" cy="915120"/>
          </a:xfrm>
          <a:custGeom>
            <a:avLst/>
            <a:gdLst/>
            <a:ah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45"/>
          <p:cNvSpPr/>
          <p:nvPr/>
        </p:nvSpPr>
        <p:spPr>
          <a:xfrm>
            <a:off x="6508800" y="417528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Network Hash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1" name="Text 46"/>
          <p:cNvSpPr/>
          <p:nvPr/>
        </p:nvSpPr>
        <p:spPr>
          <a:xfrm>
            <a:off x="6508800" y="4429080"/>
            <a:ext cx="51458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880 EH/s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92" name="Text 47"/>
          <p:cNvSpPr/>
          <p:nvPr/>
        </p:nvSpPr>
        <p:spPr>
          <a:xfrm>
            <a:off x="6508800" y="471492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All-time high network security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3" name="Shape 48"/>
          <p:cNvSpPr/>
          <p:nvPr/>
        </p:nvSpPr>
        <p:spPr>
          <a:xfrm>
            <a:off x="6199200" y="5357880"/>
            <a:ext cx="5645880" cy="1978560"/>
          </a:xfrm>
          <a:custGeom>
            <a:avLst/>
            <a:gdLst/>
            <a:ahLst/>
            <a:rect l="l" t="t" r="r" b="b"/>
            <a:pathLst>
              <a:path w="5651500" h="1984375">
                <a:moveTo>
                  <a:pt x="0" y="0"/>
                </a:moveTo>
                <a:lnTo>
                  <a:pt x="5651500" y="0"/>
                </a:lnTo>
                <a:lnTo>
                  <a:pt x="5651500" y="1984375"/>
                </a:lnTo>
                <a:lnTo>
                  <a:pt x="0" y="1984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4" name="Text 49"/>
          <p:cNvSpPr/>
          <p:nvPr/>
        </p:nvSpPr>
        <p:spPr>
          <a:xfrm>
            <a:off x="6381720" y="554040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PERFORMANCE VS TRADITIONAL ASSETS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95" name="Text 50"/>
          <p:cNvSpPr/>
          <p:nvPr/>
        </p:nvSpPr>
        <p:spPr>
          <a:xfrm>
            <a:off x="6381720" y="5921280"/>
            <a:ext cx="53442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5-Year Returns (2020-2025):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6" name="Text 51"/>
          <p:cNvSpPr/>
          <p:nvPr/>
        </p:nvSpPr>
        <p:spPr>
          <a:xfrm>
            <a:off x="6381720" y="6207120"/>
            <a:ext cx="8197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7" name="Shape 52"/>
          <p:cNvSpPr/>
          <p:nvPr/>
        </p:nvSpPr>
        <p:spPr>
          <a:xfrm>
            <a:off x="7254720" y="6222960"/>
            <a:ext cx="4391640" cy="15300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Shape 53"/>
          <p:cNvSpPr/>
          <p:nvPr/>
        </p:nvSpPr>
        <p:spPr>
          <a:xfrm>
            <a:off x="7270920" y="6238800"/>
            <a:ext cx="4359960" cy="121320"/>
          </a:xfrm>
          <a:custGeom>
            <a:avLst/>
            <a:gdLst/>
            <a:ahLst/>
            <a:rect l="l" t="t" r="r" b="b"/>
            <a:pathLst>
              <a:path w="4365625" h="127000">
                <a:moveTo>
                  <a:pt x="0" y="0"/>
                </a:moveTo>
                <a:lnTo>
                  <a:pt x="4365625" y="0"/>
                </a:lnTo>
                <a:lnTo>
                  <a:pt x="4365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Text 54"/>
          <p:cNvSpPr/>
          <p:nvPr/>
        </p:nvSpPr>
        <p:spPr>
          <a:xfrm>
            <a:off x="11223720" y="6222960"/>
            <a:ext cx="398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+940%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0" name="Text 55"/>
          <p:cNvSpPr/>
          <p:nvPr/>
        </p:nvSpPr>
        <p:spPr>
          <a:xfrm>
            <a:off x="6381720" y="6461280"/>
            <a:ext cx="8197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Nasdaq 100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01" name="Shape 56"/>
          <p:cNvSpPr/>
          <p:nvPr/>
        </p:nvSpPr>
        <p:spPr>
          <a:xfrm>
            <a:off x="7254720" y="6477120"/>
            <a:ext cx="4391640" cy="15300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Shape 57"/>
          <p:cNvSpPr/>
          <p:nvPr/>
        </p:nvSpPr>
        <p:spPr>
          <a:xfrm>
            <a:off x="7270920" y="6492960"/>
            <a:ext cx="518040" cy="121320"/>
          </a:xfrm>
          <a:custGeom>
            <a:avLst/>
            <a:gdLst/>
            <a:ahLst/>
            <a:rect l="l" t="t" r="r" b="b"/>
            <a:pathLst>
              <a:path w="523875" h="127000">
                <a:moveTo>
                  <a:pt x="0" y="0"/>
                </a:moveTo>
                <a:lnTo>
                  <a:pt x="523875" y="0"/>
                </a:lnTo>
                <a:lnTo>
                  <a:pt x="523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Text 58"/>
          <p:cNvSpPr/>
          <p:nvPr/>
        </p:nvSpPr>
        <p:spPr>
          <a:xfrm>
            <a:off x="7382160" y="6477120"/>
            <a:ext cx="398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+110%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4" name="Text 59"/>
          <p:cNvSpPr/>
          <p:nvPr/>
        </p:nvSpPr>
        <p:spPr>
          <a:xfrm>
            <a:off x="6381720" y="6715080"/>
            <a:ext cx="8197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S&amp;P 500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05" name="Shape 60"/>
          <p:cNvSpPr/>
          <p:nvPr/>
        </p:nvSpPr>
        <p:spPr>
          <a:xfrm>
            <a:off x="7254720" y="6730920"/>
            <a:ext cx="4391640" cy="15300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Shape 61"/>
          <p:cNvSpPr/>
          <p:nvPr/>
        </p:nvSpPr>
        <p:spPr>
          <a:xfrm>
            <a:off x="7270920" y="6746760"/>
            <a:ext cx="390960" cy="121320"/>
          </a:xfrm>
          <a:custGeom>
            <a:avLst/>
            <a:gdLst/>
            <a:ahLst/>
            <a:rect l="l" t="t" r="r" b="b"/>
            <a:pathLst>
              <a:path w="396875" h="127000">
                <a:moveTo>
                  <a:pt x="0" y="0"/>
                </a:moveTo>
                <a:lnTo>
                  <a:pt x="396875" y="0"/>
                </a:lnTo>
                <a:lnTo>
                  <a:pt x="396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Text 62"/>
          <p:cNvSpPr/>
          <p:nvPr/>
        </p:nvSpPr>
        <p:spPr>
          <a:xfrm>
            <a:off x="7312680" y="6730920"/>
            <a:ext cx="3355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+80%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8" name="Text 63"/>
          <p:cNvSpPr/>
          <p:nvPr/>
        </p:nvSpPr>
        <p:spPr>
          <a:xfrm>
            <a:off x="6381720" y="6969240"/>
            <a:ext cx="8197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09" name="Shape 64"/>
          <p:cNvSpPr/>
          <p:nvPr/>
        </p:nvSpPr>
        <p:spPr>
          <a:xfrm>
            <a:off x="7254720" y="6985080"/>
            <a:ext cx="4391640" cy="15300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Shape 65"/>
          <p:cNvSpPr/>
          <p:nvPr/>
        </p:nvSpPr>
        <p:spPr>
          <a:xfrm>
            <a:off x="7270920" y="7000920"/>
            <a:ext cx="168840" cy="121320"/>
          </a:xfrm>
          <a:custGeom>
            <a:avLst/>
            <a:gdLst/>
            <a:ahLst/>
            <a:rect l="l" t="t" r="r" b="b"/>
            <a:pathLst>
              <a:path w="174625" h="127000">
                <a:moveTo>
                  <a:pt x="0" y="0"/>
                </a:moveTo>
                <a:lnTo>
                  <a:pt x="174625" y="0"/>
                </a:lnTo>
                <a:lnTo>
                  <a:pt x="174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1" name="Text 66"/>
          <p:cNvSpPr/>
          <p:nvPr/>
        </p:nvSpPr>
        <p:spPr>
          <a:xfrm>
            <a:off x="7094520" y="6985080"/>
            <a:ext cx="3355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+25%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3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Shape 1"/>
          <p:cNvSpPr/>
          <p:nvPr/>
        </p:nvSpPr>
        <p:spPr>
          <a:xfrm>
            <a:off x="3305160" y="352440"/>
            <a:ext cx="8471520" cy="48139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5" name="Shape 2"/>
          <p:cNvSpPr/>
          <p:nvPr/>
        </p:nvSpPr>
        <p:spPr>
          <a:xfrm>
            <a:off x="10077480" y="83808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6" name="Shape 3"/>
          <p:cNvSpPr/>
          <p:nvPr/>
        </p:nvSpPr>
        <p:spPr>
          <a:xfrm>
            <a:off x="10410840" y="8668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Text 4"/>
          <p:cNvSpPr/>
          <p:nvPr/>
        </p:nvSpPr>
        <p:spPr>
          <a:xfrm>
            <a:off x="10267920" y="83808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06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18" name="Text 5"/>
          <p:cNvSpPr/>
          <p:nvPr/>
        </p:nvSpPr>
        <p:spPr>
          <a:xfrm>
            <a:off x="3448080" y="2057400"/>
            <a:ext cx="7842960" cy="17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519" name="Shape 6"/>
          <p:cNvSpPr/>
          <p:nvPr/>
        </p:nvSpPr>
        <p:spPr>
          <a:xfrm>
            <a:off x="9468000" y="400068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Text 7"/>
          <p:cNvSpPr/>
          <p:nvPr/>
        </p:nvSpPr>
        <p:spPr>
          <a:xfrm>
            <a:off x="3619440" y="43052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Wall Street Embraces Bitcoin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521" name="Shape 8"/>
          <p:cNvSpPr/>
          <p:nvPr/>
        </p:nvSpPr>
        <p:spPr>
          <a:xfrm>
            <a:off x="5198760" y="5686560"/>
            <a:ext cx="6576120" cy="813240"/>
          </a:xfrm>
          <a:custGeom>
            <a:avLst/>
            <a:gdLst/>
            <a:ahLst/>
            <a:rect l="l" t="t" r="r" b="b"/>
            <a:pathLst>
              <a:path w="6581775" h="819150">
                <a:moveTo>
                  <a:pt x="0" y="0"/>
                </a:moveTo>
                <a:lnTo>
                  <a:pt x="6581775" y="0"/>
                </a:lnTo>
                <a:lnTo>
                  <a:pt x="65817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Text 9"/>
          <p:cNvSpPr/>
          <p:nvPr/>
        </p:nvSpPr>
        <p:spPr>
          <a:xfrm>
            <a:off x="5456160" y="5943600"/>
            <a:ext cx="61758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Fringe Asset to Mainstream Portfolio Allocation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FRINGE TO MAINSTREAM: INSTITUTIONAL ENTRY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525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Shape 3"/>
          <p:cNvSpPr/>
          <p:nvPr/>
        </p:nvSpPr>
        <p:spPr>
          <a:xfrm>
            <a:off x="341280" y="1357200"/>
            <a:ext cx="5645880" cy="1946880"/>
          </a:xfrm>
          <a:custGeom>
            <a:avLst/>
            <a:gdLst/>
            <a:ahLst/>
            <a:rect l="l" t="t" r="r" b="b"/>
            <a:pathLst>
              <a:path w="5651500" h="1952625">
                <a:moveTo>
                  <a:pt x="0" y="0"/>
                </a:moveTo>
                <a:lnTo>
                  <a:pt x="5651500" y="0"/>
                </a:lnTo>
                <a:lnTo>
                  <a:pt x="5651500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7" name="Shape 4"/>
          <p:cNvSpPr/>
          <p:nvPr/>
        </p:nvSpPr>
        <p:spPr>
          <a:xfrm>
            <a:off x="547560" y="1563840"/>
            <a:ext cx="390960" cy="3909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Text 5"/>
          <p:cNvSpPr/>
          <p:nvPr/>
        </p:nvSpPr>
        <p:spPr>
          <a:xfrm>
            <a:off x="476280" y="1539720"/>
            <a:ext cx="4388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29" name="Text 6"/>
          <p:cNvSpPr/>
          <p:nvPr/>
        </p:nvSpPr>
        <p:spPr>
          <a:xfrm>
            <a:off x="1095480" y="1539720"/>
            <a:ext cx="48042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2024: THE TURNING POINT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30" name="Text 7"/>
          <p:cNvSpPr/>
          <p:nvPr/>
        </p:nvSpPr>
        <p:spPr>
          <a:xfrm>
            <a:off x="1095480" y="1857240"/>
            <a:ext cx="47725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SEC approves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11 spot Bitcoin ETFs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, marking the most successful ETF launch in history. This removed the final barrier for institutional capital.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1" name="Shape 8"/>
          <p:cNvSpPr/>
          <p:nvPr/>
        </p:nvSpPr>
        <p:spPr>
          <a:xfrm>
            <a:off x="539640" y="2413080"/>
            <a:ext cx="1661040" cy="692640"/>
          </a:xfrm>
          <a:custGeom>
            <a:avLst/>
            <a:gdLst/>
            <a:ah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Text 9"/>
          <p:cNvSpPr/>
          <p:nvPr/>
        </p:nvSpPr>
        <p:spPr>
          <a:xfrm>
            <a:off x="591480" y="2523960"/>
            <a:ext cx="15580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$52B+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33" name="Text 10"/>
          <p:cNvSpPr/>
          <p:nvPr/>
        </p:nvSpPr>
        <p:spPr>
          <a:xfrm>
            <a:off x="623160" y="2841480"/>
            <a:ext cx="1494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BlackRock IBIT AUM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4" name="Shape 11"/>
          <p:cNvSpPr/>
          <p:nvPr/>
        </p:nvSpPr>
        <p:spPr>
          <a:xfrm>
            <a:off x="2333520" y="2413080"/>
            <a:ext cx="1661040" cy="692640"/>
          </a:xfrm>
          <a:custGeom>
            <a:avLst/>
            <a:gdLst/>
            <a:ah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Text 12"/>
          <p:cNvSpPr/>
          <p:nvPr/>
        </p:nvSpPr>
        <p:spPr>
          <a:xfrm>
            <a:off x="2385360" y="2523960"/>
            <a:ext cx="15580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$85B+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36" name="Text 13"/>
          <p:cNvSpPr/>
          <p:nvPr/>
        </p:nvSpPr>
        <p:spPr>
          <a:xfrm>
            <a:off x="2417040" y="2841480"/>
            <a:ext cx="1494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Total ETF AUM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7" name="Shape 14"/>
          <p:cNvSpPr/>
          <p:nvPr/>
        </p:nvSpPr>
        <p:spPr>
          <a:xfrm>
            <a:off x="4127400" y="2413080"/>
            <a:ext cx="1661040" cy="692640"/>
          </a:xfrm>
          <a:custGeom>
            <a:avLst/>
            <a:gdLst/>
            <a:ah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Text 15"/>
          <p:cNvSpPr/>
          <p:nvPr/>
        </p:nvSpPr>
        <p:spPr>
          <a:xfrm>
            <a:off x="4179240" y="2523960"/>
            <a:ext cx="15580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1 Year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39" name="Text 16"/>
          <p:cNvSpPr/>
          <p:nvPr/>
        </p:nvSpPr>
        <p:spPr>
          <a:xfrm>
            <a:off x="4210920" y="2841480"/>
            <a:ext cx="1494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 Reach $50B+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0" name="Shape 17"/>
          <p:cNvSpPr/>
          <p:nvPr/>
        </p:nvSpPr>
        <p:spPr>
          <a:xfrm>
            <a:off x="341280" y="3484440"/>
            <a:ext cx="5645880" cy="5217120"/>
          </a:xfrm>
          <a:custGeom>
            <a:avLst/>
            <a:gdLst/>
            <a:ahLst/>
            <a:rect l="l" t="t" r="r" b="b"/>
            <a:pathLst>
              <a:path w="5651500" h="5222875">
                <a:moveTo>
                  <a:pt x="0" y="0"/>
                </a:moveTo>
                <a:lnTo>
                  <a:pt x="5651500" y="0"/>
                </a:lnTo>
                <a:lnTo>
                  <a:pt x="5651500" y="5222875"/>
                </a:lnTo>
                <a:lnTo>
                  <a:pt x="0" y="522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1" name="Text 18"/>
          <p:cNvSpPr/>
          <p:nvPr/>
        </p:nvSpPr>
        <p:spPr>
          <a:xfrm>
            <a:off x="523800" y="366696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KEY INSTITUTIONAL PLAYERS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42" name="Shape 19"/>
          <p:cNvSpPr/>
          <p:nvPr/>
        </p:nvSpPr>
        <p:spPr>
          <a:xfrm>
            <a:off x="539640" y="4064040"/>
            <a:ext cx="5248800" cy="660960"/>
          </a:xfrm>
          <a:custGeom>
            <a:avLst/>
            <a:gdLst/>
            <a:ah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Text 20"/>
          <p:cNvSpPr/>
          <p:nvPr/>
        </p:nvSpPr>
        <p:spPr>
          <a:xfrm>
            <a:off x="650880" y="4175280"/>
            <a:ext cx="261360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MicroStrategy (Strategy)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44" name="Text 21"/>
          <p:cNvSpPr/>
          <p:nvPr/>
        </p:nvSpPr>
        <p:spPr>
          <a:xfrm>
            <a:off x="650880" y="4429080"/>
            <a:ext cx="26056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Pioneered corporate treasury Bitcoin strategy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5" name="Text 22"/>
          <p:cNvSpPr/>
          <p:nvPr/>
        </p:nvSpPr>
        <p:spPr>
          <a:xfrm>
            <a:off x="4455000" y="4175280"/>
            <a:ext cx="12247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714,644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46" name="Text 23"/>
          <p:cNvSpPr/>
          <p:nvPr/>
        </p:nvSpPr>
        <p:spPr>
          <a:xfrm>
            <a:off x="4494600" y="4429080"/>
            <a:ext cx="1184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$54.4B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7" name="Shape 24"/>
          <p:cNvSpPr/>
          <p:nvPr/>
        </p:nvSpPr>
        <p:spPr>
          <a:xfrm>
            <a:off x="539640" y="4857840"/>
            <a:ext cx="5248800" cy="660960"/>
          </a:xfrm>
          <a:custGeom>
            <a:avLst/>
            <a:gdLst/>
            <a:ah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25"/>
          <p:cNvSpPr/>
          <p:nvPr/>
        </p:nvSpPr>
        <p:spPr>
          <a:xfrm>
            <a:off x="650880" y="4968720"/>
            <a:ext cx="2145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Tesla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49" name="Text 26"/>
          <p:cNvSpPr/>
          <p:nvPr/>
        </p:nvSpPr>
        <p:spPr>
          <a:xfrm>
            <a:off x="650880" y="5222880"/>
            <a:ext cx="21373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Added BTC to balance sheet in 2021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50" name="Text 27"/>
          <p:cNvSpPr/>
          <p:nvPr/>
        </p:nvSpPr>
        <p:spPr>
          <a:xfrm>
            <a:off x="4560840" y="4968720"/>
            <a:ext cx="11134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11,509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51" name="Text 28"/>
          <p:cNvSpPr/>
          <p:nvPr/>
        </p:nvSpPr>
        <p:spPr>
          <a:xfrm>
            <a:off x="4600440" y="5222880"/>
            <a:ext cx="1073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~$850M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52" name="Shape 29"/>
          <p:cNvSpPr/>
          <p:nvPr/>
        </p:nvSpPr>
        <p:spPr>
          <a:xfrm>
            <a:off x="539640" y="5651640"/>
            <a:ext cx="5248800" cy="660960"/>
          </a:xfrm>
          <a:custGeom>
            <a:avLst/>
            <a:gdLst/>
            <a:ah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Text 30"/>
          <p:cNvSpPr/>
          <p:nvPr/>
        </p:nvSpPr>
        <p:spPr>
          <a:xfrm>
            <a:off x="650880" y="5762520"/>
            <a:ext cx="21214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Block (Square)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54" name="Text 31"/>
          <p:cNvSpPr/>
          <p:nvPr/>
        </p:nvSpPr>
        <p:spPr>
          <a:xfrm>
            <a:off x="650880" y="6016680"/>
            <a:ext cx="21135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Financial services embracing 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55" name="Text 32"/>
          <p:cNvSpPr/>
          <p:nvPr/>
        </p:nvSpPr>
        <p:spPr>
          <a:xfrm>
            <a:off x="4666680" y="5762520"/>
            <a:ext cx="10101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8,027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56" name="Text 33"/>
          <p:cNvSpPr/>
          <p:nvPr/>
        </p:nvSpPr>
        <p:spPr>
          <a:xfrm>
            <a:off x="4706640" y="6016680"/>
            <a:ext cx="9705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~$600M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57" name="Shape 34"/>
          <p:cNvSpPr/>
          <p:nvPr/>
        </p:nvSpPr>
        <p:spPr>
          <a:xfrm>
            <a:off x="6199200" y="1357200"/>
            <a:ext cx="5645880" cy="4709160"/>
          </a:xfrm>
          <a:custGeom>
            <a:avLst/>
            <a:gdLst/>
            <a:ahLst/>
            <a:rect l="l" t="t" r="r" b="b"/>
            <a:pathLst>
              <a:path w="5651500" h="4714875">
                <a:moveTo>
                  <a:pt x="0" y="0"/>
                </a:moveTo>
                <a:lnTo>
                  <a:pt x="5651500" y="0"/>
                </a:lnTo>
                <a:lnTo>
                  <a:pt x="56515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8" name="Text 35"/>
          <p:cNvSpPr/>
          <p:nvPr/>
        </p:nvSpPr>
        <p:spPr>
          <a:xfrm>
            <a:off x="6381720" y="15397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THREE-PHASE ADOPTION TIMELINE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59" name="Shape 36"/>
          <p:cNvSpPr/>
          <p:nvPr/>
        </p:nvSpPr>
        <p:spPr>
          <a:xfrm>
            <a:off x="6397560" y="1936800"/>
            <a:ext cx="5248800" cy="1200600"/>
          </a:xfrm>
          <a:custGeom>
            <a:avLst/>
            <a:gdLst/>
            <a:ah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Shape 37"/>
          <p:cNvSpPr/>
          <p:nvPr/>
        </p:nvSpPr>
        <p:spPr>
          <a:xfrm>
            <a:off x="6564240" y="2103480"/>
            <a:ext cx="264240" cy="2642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Text 38"/>
          <p:cNvSpPr/>
          <p:nvPr/>
        </p:nvSpPr>
        <p:spPr>
          <a:xfrm>
            <a:off x="6508800" y="2079720"/>
            <a:ext cx="2800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62" name="Text 39"/>
          <p:cNvSpPr/>
          <p:nvPr/>
        </p:nvSpPr>
        <p:spPr>
          <a:xfrm>
            <a:off x="6953400" y="2127240"/>
            <a:ext cx="8355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2025-2027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63" name="Text 40"/>
          <p:cNvSpPr/>
          <p:nvPr/>
        </p:nvSpPr>
        <p:spPr>
          <a:xfrm>
            <a:off x="6540480" y="2460600"/>
            <a:ext cx="50266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Pension &amp; 401(k) Integration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64" name="Text 41"/>
          <p:cNvSpPr/>
          <p:nvPr/>
        </p:nvSpPr>
        <p:spPr>
          <a:xfrm>
            <a:off x="6540480" y="2682720"/>
            <a:ext cx="50187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Early pension fund allocations, 401(k) plans add Bitcoin ETF options, 2-5% standard allocation models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65" name="Shape 42"/>
          <p:cNvSpPr/>
          <p:nvPr/>
        </p:nvSpPr>
        <p:spPr>
          <a:xfrm>
            <a:off x="6397560" y="3301920"/>
            <a:ext cx="5248800" cy="1200600"/>
          </a:xfrm>
          <a:custGeom>
            <a:avLst/>
            <a:gdLst/>
            <a:ah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6" name="Shape 43"/>
          <p:cNvSpPr/>
          <p:nvPr/>
        </p:nvSpPr>
        <p:spPr>
          <a:xfrm>
            <a:off x="6564240" y="3468600"/>
            <a:ext cx="264240" cy="2642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Text 44"/>
          <p:cNvSpPr/>
          <p:nvPr/>
        </p:nvSpPr>
        <p:spPr>
          <a:xfrm>
            <a:off x="6508800" y="3444840"/>
            <a:ext cx="2800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68" name="Text 45"/>
          <p:cNvSpPr/>
          <p:nvPr/>
        </p:nvSpPr>
        <p:spPr>
          <a:xfrm>
            <a:off x="6953400" y="3492360"/>
            <a:ext cx="8355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2028-2030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69" name="Text 46"/>
          <p:cNvSpPr/>
          <p:nvPr/>
        </p:nvSpPr>
        <p:spPr>
          <a:xfrm>
            <a:off x="6540480" y="3825720"/>
            <a:ext cx="50266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Corporate Treasury Expansion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70" name="Text 47"/>
          <p:cNvSpPr/>
          <p:nvPr/>
        </p:nvSpPr>
        <p:spPr>
          <a:xfrm>
            <a:off x="6540480" y="4048200"/>
            <a:ext cx="50187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European/Asian ETFs launch, 2028 halving cuts supply, corporate treasuries follow MicroStrategy model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71" name="Shape 48"/>
          <p:cNvSpPr/>
          <p:nvPr/>
        </p:nvSpPr>
        <p:spPr>
          <a:xfrm>
            <a:off x="6397560" y="4667400"/>
            <a:ext cx="5248800" cy="1200600"/>
          </a:xfrm>
          <a:custGeom>
            <a:avLst/>
            <a:gdLst/>
            <a:ah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Shape 49"/>
          <p:cNvSpPr/>
          <p:nvPr/>
        </p:nvSpPr>
        <p:spPr>
          <a:xfrm>
            <a:off x="6564240" y="4834080"/>
            <a:ext cx="264240" cy="2642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Text 50"/>
          <p:cNvSpPr/>
          <p:nvPr/>
        </p:nvSpPr>
        <p:spPr>
          <a:xfrm>
            <a:off x="6508800" y="4809960"/>
            <a:ext cx="2800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74" name="Text 51"/>
          <p:cNvSpPr/>
          <p:nvPr/>
        </p:nvSpPr>
        <p:spPr>
          <a:xfrm>
            <a:off x="6953400" y="4857840"/>
            <a:ext cx="8355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2030-2032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75" name="Text 52"/>
          <p:cNvSpPr/>
          <p:nvPr/>
        </p:nvSpPr>
        <p:spPr>
          <a:xfrm>
            <a:off x="6540480" y="5191200"/>
            <a:ext cx="50266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Infrastructure Embedding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76" name="Text 53"/>
          <p:cNvSpPr/>
          <p:nvPr/>
        </p:nvSpPr>
        <p:spPr>
          <a:xfrm>
            <a:off x="6540480" y="5413320"/>
            <a:ext cx="50187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becomes operational infrastructure for custody, lending, trading services. Switching costs make removal prohibitively expensive.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77" name="Shape 54"/>
          <p:cNvSpPr/>
          <p:nvPr/>
        </p:nvSpPr>
        <p:spPr>
          <a:xfrm>
            <a:off x="6199200" y="6246720"/>
            <a:ext cx="5645880" cy="2454840"/>
          </a:xfrm>
          <a:custGeom>
            <a:avLst/>
            <a:gdLst/>
            <a:ah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8" name="Text 55"/>
          <p:cNvSpPr/>
          <p:nvPr/>
        </p:nvSpPr>
        <p:spPr>
          <a:xfrm>
            <a:off x="6381720" y="642924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MAJOR BANKS ENTERING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79" name="Shape 56"/>
          <p:cNvSpPr/>
          <p:nvPr/>
        </p:nvSpPr>
        <p:spPr>
          <a:xfrm>
            <a:off x="6397560" y="6826320"/>
            <a:ext cx="5248800" cy="34344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Shape 57"/>
          <p:cNvSpPr/>
          <p:nvPr/>
        </p:nvSpPr>
        <p:spPr>
          <a:xfrm>
            <a:off x="6477120" y="6969240"/>
            <a:ext cx="57600" cy="576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1" name="Text 58"/>
          <p:cNvSpPr/>
          <p:nvPr/>
        </p:nvSpPr>
        <p:spPr>
          <a:xfrm>
            <a:off x="6635880" y="6905520"/>
            <a:ext cx="668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JPMorgan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82" name="Text 59"/>
          <p:cNvSpPr/>
          <p:nvPr/>
        </p:nvSpPr>
        <p:spPr>
          <a:xfrm>
            <a:off x="7345080" y="6921360"/>
            <a:ext cx="14151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Accepting BTC as collateral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83" name="Shape 60"/>
          <p:cNvSpPr/>
          <p:nvPr/>
        </p:nvSpPr>
        <p:spPr>
          <a:xfrm>
            <a:off x="6397560" y="7270920"/>
            <a:ext cx="5248800" cy="34344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4" name="Shape 61"/>
          <p:cNvSpPr/>
          <p:nvPr/>
        </p:nvSpPr>
        <p:spPr>
          <a:xfrm>
            <a:off x="6477120" y="7413480"/>
            <a:ext cx="57600" cy="576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5" name="Text 62"/>
          <p:cNvSpPr/>
          <p:nvPr/>
        </p:nvSpPr>
        <p:spPr>
          <a:xfrm>
            <a:off x="6635880" y="7350120"/>
            <a:ext cx="10180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Goldman Sachs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86" name="Text 63"/>
          <p:cNvSpPr/>
          <p:nvPr/>
        </p:nvSpPr>
        <p:spPr>
          <a:xfrm>
            <a:off x="7690680" y="7365960"/>
            <a:ext cx="13356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Crypto trading desk active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87" name="Shape 64"/>
          <p:cNvSpPr/>
          <p:nvPr/>
        </p:nvSpPr>
        <p:spPr>
          <a:xfrm>
            <a:off x="6397560" y="7715160"/>
            <a:ext cx="5248800" cy="34344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Shape 65"/>
          <p:cNvSpPr/>
          <p:nvPr/>
        </p:nvSpPr>
        <p:spPr>
          <a:xfrm>
            <a:off x="6477120" y="7858080"/>
            <a:ext cx="57600" cy="576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9" name="Text 66"/>
          <p:cNvSpPr/>
          <p:nvPr/>
        </p:nvSpPr>
        <p:spPr>
          <a:xfrm>
            <a:off x="6635880" y="7794720"/>
            <a:ext cx="10022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Morgan Stanley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90" name="Text 67"/>
          <p:cNvSpPr/>
          <p:nvPr/>
        </p:nvSpPr>
        <p:spPr>
          <a:xfrm>
            <a:off x="7676640" y="7810560"/>
            <a:ext cx="14706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Offering BTC funds to clients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91" name="Shape 68"/>
          <p:cNvSpPr/>
          <p:nvPr/>
        </p:nvSpPr>
        <p:spPr>
          <a:xfrm>
            <a:off x="6397560" y="8159760"/>
            <a:ext cx="5248800" cy="34344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Shape 69"/>
          <p:cNvSpPr/>
          <p:nvPr/>
        </p:nvSpPr>
        <p:spPr>
          <a:xfrm>
            <a:off x="6477120" y="8302680"/>
            <a:ext cx="57600" cy="576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3" name="Text 70"/>
          <p:cNvSpPr/>
          <p:nvPr/>
        </p:nvSpPr>
        <p:spPr>
          <a:xfrm>
            <a:off x="6635880" y="8238960"/>
            <a:ext cx="3355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SoFi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94" name="Text 71"/>
          <p:cNvSpPr/>
          <p:nvPr/>
        </p:nvSpPr>
        <p:spPr>
          <a:xfrm>
            <a:off x="7006320" y="8255160"/>
            <a:ext cx="19548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US bank with direct crypto trading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7" name="Shape 1"/>
          <p:cNvSpPr/>
          <p:nvPr/>
        </p:nvSpPr>
        <p:spPr>
          <a:xfrm>
            <a:off x="409680" y="781200"/>
            <a:ext cx="8471520" cy="395676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8" name="Shape 2"/>
          <p:cNvSpPr/>
          <p:nvPr/>
        </p:nvSpPr>
        <p:spPr>
          <a:xfrm>
            <a:off x="923760" y="12952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Text 3"/>
          <p:cNvSpPr/>
          <p:nvPr/>
        </p:nvSpPr>
        <p:spPr>
          <a:xfrm>
            <a:off x="781200" y="126684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07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600" name="Shape 4"/>
          <p:cNvSpPr/>
          <p:nvPr/>
        </p:nvSpPr>
        <p:spPr>
          <a:xfrm>
            <a:off x="2038320" y="126684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Text 5"/>
          <p:cNvSpPr/>
          <p:nvPr/>
        </p:nvSpPr>
        <p:spPr>
          <a:xfrm>
            <a:off x="895320" y="2486160"/>
            <a:ext cx="784296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ECONOMICS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602" name="Shape 6"/>
          <p:cNvSpPr/>
          <p:nvPr/>
        </p:nvSpPr>
        <p:spPr>
          <a:xfrm>
            <a:off x="895320" y="357192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Text 7"/>
          <p:cNvSpPr/>
          <p:nvPr/>
        </p:nvSpPr>
        <p:spPr>
          <a:xfrm>
            <a:off x="895320" y="38768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Backbone of Security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604" name="Shape 8"/>
          <p:cNvSpPr/>
          <p:nvPr/>
        </p:nvSpPr>
        <p:spPr>
          <a:xfrm>
            <a:off x="409680" y="5257800"/>
            <a:ext cx="11367000" cy="8132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5" name="Text 9"/>
          <p:cNvSpPr/>
          <p:nvPr/>
        </p:nvSpPr>
        <p:spPr>
          <a:xfrm>
            <a:off x="666720" y="5514840"/>
            <a:ext cx="10967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Post-Halving Profitability &amp; Industry Consolidation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INDUSTRY: POST-HALVING ECONOMICS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08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9" name="Shape 3"/>
          <p:cNvSpPr/>
          <p:nvPr/>
        </p:nvSpPr>
        <p:spPr>
          <a:xfrm>
            <a:off x="341280" y="1357200"/>
            <a:ext cx="5645880" cy="3407400"/>
          </a:xfrm>
          <a:custGeom>
            <a:avLst/>
            <a:gdLst/>
            <a:ahLst/>
            <a:rect l="l" t="t" r="r" b="b"/>
            <a:pathLst>
              <a:path w="5651500" h="3413125">
                <a:moveTo>
                  <a:pt x="0" y="0"/>
                </a:moveTo>
                <a:lnTo>
                  <a:pt x="5651500" y="0"/>
                </a:lnTo>
                <a:lnTo>
                  <a:pt x="5651500" y="3413125"/>
                </a:lnTo>
                <a:lnTo>
                  <a:pt x="0" y="341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0" name="Text 4"/>
          <p:cNvSpPr/>
          <p:nvPr/>
        </p:nvSpPr>
        <p:spPr>
          <a:xfrm>
            <a:off x="523800" y="15397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REVENUE MODEL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11" name="Shape 5"/>
          <p:cNvSpPr/>
          <p:nvPr/>
        </p:nvSpPr>
        <p:spPr>
          <a:xfrm>
            <a:off x="539640" y="193680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2" name="Text 6"/>
          <p:cNvSpPr/>
          <p:nvPr/>
        </p:nvSpPr>
        <p:spPr>
          <a:xfrm>
            <a:off x="682560" y="2111400"/>
            <a:ext cx="10497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Block Subsidy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13" name="Text 7"/>
          <p:cNvSpPr/>
          <p:nvPr/>
        </p:nvSpPr>
        <p:spPr>
          <a:xfrm>
            <a:off x="4500000" y="2079720"/>
            <a:ext cx="1264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3.125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14" name="Text 8"/>
          <p:cNvSpPr/>
          <p:nvPr/>
        </p:nvSpPr>
        <p:spPr>
          <a:xfrm>
            <a:off x="682560" y="2428920"/>
            <a:ext cx="5018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6.25 BTC pre-2024 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15" name="Shape 9"/>
          <p:cNvSpPr/>
          <p:nvPr/>
        </p:nvSpPr>
        <p:spPr>
          <a:xfrm>
            <a:off x="539640" y="285768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6" name="Text 10"/>
          <p:cNvSpPr/>
          <p:nvPr/>
        </p:nvSpPr>
        <p:spPr>
          <a:xfrm>
            <a:off x="682560" y="3032280"/>
            <a:ext cx="12405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Transaction Fees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17" name="Text 11"/>
          <p:cNvSpPr/>
          <p:nvPr/>
        </p:nvSpPr>
        <p:spPr>
          <a:xfrm>
            <a:off x="4626000" y="3000240"/>
            <a:ext cx="11372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~0.5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18" name="Text 12"/>
          <p:cNvSpPr/>
          <p:nvPr/>
        </p:nvSpPr>
        <p:spPr>
          <a:xfrm>
            <a:off x="682560" y="3349800"/>
            <a:ext cx="5018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Variable based on network congestion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19" name="Shape 13"/>
          <p:cNvSpPr/>
          <p:nvPr/>
        </p:nvSpPr>
        <p:spPr>
          <a:xfrm>
            <a:off x="539640" y="377820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0" name="Text 14"/>
          <p:cNvSpPr/>
          <p:nvPr/>
        </p:nvSpPr>
        <p:spPr>
          <a:xfrm>
            <a:off x="682560" y="3952800"/>
            <a:ext cx="164520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Daily Network Revenue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21" name="Text 15"/>
          <p:cNvSpPr/>
          <p:nvPr/>
        </p:nvSpPr>
        <p:spPr>
          <a:xfrm>
            <a:off x="4559400" y="3921120"/>
            <a:ext cx="12085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~450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22" name="Text 16"/>
          <p:cNvSpPr/>
          <p:nvPr/>
        </p:nvSpPr>
        <p:spPr>
          <a:xfrm>
            <a:off x="682560" y="4270320"/>
            <a:ext cx="5018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900 BTC pre-halving (~$33M/day)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23" name="Shape 17"/>
          <p:cNvSpPr/>
          <p:nvPr/>
        </p:nvSpPr>
        <p:spPr>
          <a:xfrm>
            <a:off x="341280" y="4944960"/>
            <a:ext cx="5645880" cy="4232880"/>
          </a:xfrm>
          <a:custGeom>
            <a:avLst/>
            <a:gdLst/>
            <a:ahLst/>
            <a:rect l="l" t="t" r="r" b="b"/>
            <a:pathLst>
              <a:path w="5651500" h="4238625">
                <a:moveTo>
                  <a:pt x="0" y="0"/>
                </a:moveTo>
                <a:lnTo>
                  <a:pt x="5651500" y="0"/>
                </a:lnTo>
                <a:lnTo>
                  <a:pt x="5651500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4" name="Text 18"/>
          <p:cNvSpPr/>
          <p:nvPr/>
        </p:nvSpPr>
        <p:spPr>
          <a:xfrm>
            <a:off x="523800" y="512748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COST STRUCTURE BREAKDOWN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25" name="Shape 19"/>
          <p:cNvSpPr/>
          <p:nvPr/>
        </p:nvSpPr>
        <p:spPr>
          <a:xfrm>
            <a:off x="539640" y="552456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Text 20"/>
          <p:cNvSpPr/>
          <p:nvPr/>
        </p:nvSpPr>
        <p:spPr>
          <a:xfrm>
            <a:off x="650880" y="5651640"/>
            <a:ext cx="6609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Electricity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27" name="Text 21"/>
          <p:cNvSpPr/>
          <p:nvPr/>
        </p:nvSpPr>
        <p:spPr>
          <a:xfrm>
            <a:off x="5136120" y="5635800"/>
            <a:ext cx="6213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60-80%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28" name="Shape 22"/>
          <p:cNvSpPr/>
          <p:nvPr/>
        </p:nvSpPr>
        <p:spPr>
          <a:xfrm>
            <a:off x="666720" y="5905440"/>
            <a:ext cx="4995000" cy="896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9" name="Shape 23"/>
          <p:cNvSpPr/>
          <p:nvPr/>
        </p:nvSpPr>
        <p:spPr>
          <a:xfrm>
            <a:off x="682560" y="5921280"/>
            <a:ext cx="3470760" cy="57600"/>
          </a:xfrm>
          <a:custGeom>
            <a:avLst/>
            <a:gdLst/>
            <a:ahLst/>
            <a:rect l="l" t="t" r="r" b="b"/>
            <a:pathLst>
              <a:path w="3476625" h="63500">
                <a:moveTo>
                  <a:pt x="0" y="0"/>
                </a:moveTo>
                <a:lnTo>
                  <a:pt x="3476625" y="0"/>
                </a:lnTo>
                <a:lnTo>
                  <a:pt x="34766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0" name="Shape 24"/>
          <p:cNvSpPr/>
          <p:nvPr/>
        </p:nvSpPr>
        <p:spPr>
          <a:xfrm>
            <a:off x="539640" y="625464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1" name="Text 25"/>
          <p:cNvSpPr/>
          <p:nvPr/>
        </p:nvSpPr>
        <p:spPr>
          <a:xfrm>
            <a:off x="650880" y="6381720"/>
            <a:ext cx="14389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Hardware Depreciation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32" name="Text 26"/>
          <p:cNvSpPr/>
          <p:nvPr/>
        </p:nvSpPr>
        <p:spPr>
          <a:xfrm>
            <a:off x="5136120" y="6365880"/>
            <a:ext cx="6213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10-20%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33" name="Shape 27"/>
          <p:cNvSpPr/>
          <p:nvPr/>
        </p:nvSpPr>
        <p:spPr>
          <a:xfrm>
            <a:off x="666720" y="6635880"/>
            <a:ext cx="4995000" cy="896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4" name="Shape 28"/>
          <p:cNvSpPr/>
          <p:nvPr/>
        </p:nvSpPr>
        <p:spPr>
          <a:xfrm>
            <a:off x="682560" y="6651720"/>
            <a:ext cx="740520" cy="57600"/>
          </a:xfrm>
          <a:custGeom>
            <a:avLst/>
            <a:gdLst/>
            <a:ahLst/>
            <a:rect l="l" t="t" r="r" b="b"/>
            <a:pathLst>
              <a:path w="746125" h="63500">
                <a:moveTo>
                  <a:pt x="0" y="0"/>
                </a:moveTo>
                <a:lnTo>
                  <a:pt x="746125" y="0"/>
                </a:lnTo>
                <a:lnTo>
                  <a:pt x="746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5" name="Shape 29"/>
          <p:cNvSpPr/>
          <p:nvPr/>
        </p:nvSpPr>
        <p:spPr>
          <a:xfrm>
            <a:off x="539640" y="698508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Text 30"/>
          <p:cNvSpPr/>
          <p:nvPr/>
        </p:nvSpPr>
        <p:spPr>
          <a:xfrm>
            <a:off x="650880" y="7112160"/>
            <a:ext cx="1232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Facilities &amp; Cooling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37" name="Text 31"/>
          <p:cNvSpPr/>
          <p:nvPr/>
        </p:nvSpPr>
        <p:spPr>
          <a:xfrm>
            <a:off x="5224320" y="7095960"/>
            <a:ext cx="5338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5-10%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38" name="Shape 32"/>
          <p:cNvSpPr/>
          <p:nvPr/>
        </p:nvSpPr>
        <p:spPr>
          <a:xfrm>
            <a:off x="666720" y="7365960"/>
            <a:ext cx="4995000" cy="896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Shape 33"/>
          <p:cNvSpPr/>
          <p:nvPr/>
        </p:nvSpPr>
        <p:spPr>
          <a:xfrm>
            <a:off x="682560" y="7381800"/>
            <a:ext cx="390960" cy="57600"/>
          </a:xfrm>
          <a:custGeom>
            <a:avLst/>
            <a:gdLst/>
            <a:ahLst/>
            <a:rect l="l" t="t" r="r" b="b"/>
            <a:pathLst>
              <a:path w="396875" h="63500">
                <a:moveTo>
                  <a:pt x="0" y="0"/>
                </a:moveTo>
                <a:lnTo>
                  <a:pt x="396875" y="0"/>
                </a:lnTo>
                <a:lnTo>
                  <a:pt x="39687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0" name="Shape 34"/>
          <p:cNvSpPr/>
          <p:nvPr/>
        </p:nvSpPr>
        <p:spPr>
          <a:xfrm>
            <a:off x="539640" y="771516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Text 35"/>
          <p:cNvSpPr/>
          <p:nvPr/>
        </p:nvSpPr>
        <p:spPr>
          <a:xfrm>
            <a:off x="650880" y="7842240"/>
            <a:ext cx="14230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Personnel &amp; Overhead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42" name="Text 36"/>
          <p:cNvSpPr/>
          <p:nvPr/>
        </p:nvSpPr>
        <p:spPr>
          <a:xfrm>
            <a:off x="5312520" y="7826400"/>
            <a:ext cx="4467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3-5%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43" name="Shape 37"/>
          <p:cNvSpPr/>
          <p:nvPr/>
        </p:nvSpPr>
        <p:spPr>
          <a:xfrm>
            <a:off x="666720" y="8096400"/>
            <a:ext cx="4995000" cy="896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4" name="Shape 38"/>
          <p:cNvSpPr/>
          <p:nvPr/>
        </p:nvSpPr>
        <p:spPr>
          <a:xfrm>
            <a:off x="682560" y="8112240"/>
            <a:ext cx="192600" cy="57600"/>
          </a:xfrm>
          <a:custGeom>
            <a:avLst/>
            <a:gdLst/>
            <a:ahLst/>
            <a:rect l="l" t="t" r="r" b="b"/>
            <a:pathLst>
              <a:path w="198438" h="63500">
                <a:moveTo>
                  <a:pt x="0" y="0"/>
                </a:moveTo>
                <a:lnTo>
                  <a:pt x="198438" y="0"/>
                </a:lnTo>
                <a:lnTo>
                  <a:pt x="198438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5" name="Shape 39"/>
          <p:cNvSpPr/>
          <p:nvPr/>
        </p:nvSpPr>
        <p:spPr>
          <a:xfrm>
            <a:off x="6199200" y="1357200"/>
            <a:ext cx="5645880" cy="3724920"/>
          </a:xfrm>
          <a:custGeom>
            <a:avLst/>
            <a:gdLst/>
            <a:ahLst/>
            <a:rect l="l" t="t" r="r" b="b"/>
            <a:pathLst>
              <a:path w="5651500" h="3730625">
                <a:moveTo>
                  <a:pt x="0" y="0"/>
                </a:moveTo>
                <a:lnTo>
                  <a:pt x="5651500" y="0"/>
                </a:lnTo>
                <a:lnTo>
                  <a:pt x="5651500" y="3730625"/>
                </a:lnTo>
                <a:lnTo>
                  <a:pt x="0" y="373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6" name="Text 40"/>
          <p:cNvSpPr/>
          <p:nvPr/>
        </p:nvSpPr>
        <p:spPr>
          <a:xfrm>
            <a:off x="6381720" y="15397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HASH RATE CONCENTRATION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47" name="Shape 41"/>
          <p:cNvSpPr/>
          <p:nvPr/>
        </p:nvSpPr>
        <p:spPr>
          <a:xfrm>
            <a:off x="6397560" y="1936800"/>
            <a:ext cx="5248800" cy="978480"/>
          </a:xfrm>
          <a:custGeom>
            <a:avLst/>
            <a:gdLst/>
            <a:ahLst/>
            <a:rect l="l" t="t" r="r" b="b"/>
            <a:pathLst>
              <a:path w="5254625" h="984250">
                <a:moveTo>
                  <a:pt x="0" y="0"/>
                </a:moveTo>
                <a:lnTo>
                  <a:pt x="5254625" y="0"/>
                </a:lnTo>
                <a:lnTo>
                  <a:pt x="5254625" y="984250"/>
                </a:lnTo>
                <a:lnTo>
                  <a:pt x="0" y="984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8" name="Text 42"/>
          <p:cNvSpPr/>
          <p:nvPr/>
        </p:nvSpPr>
        <p:spPr>
          <a:xfrm>
            <a:off x="6508800" y="204804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Top 5 Mining Pools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49" name="Text 43"/>
          <p:cNvSpPr/>
          <p:nvPr/>
        </p:nvSpPr>
        <p:spPr>
          <a:xfrm>
            <a:off x="6508800" y="2301840"/>
            <a:ext cx="73260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~55%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50" name="Text 44"/>
          <p:cNvSpPr/>
          <p:nvPr/>
        </p:nvSpPr>
        <p:spPr>
          <a:xfrm>
            <a:off x="7188120" y="2365200"/>
            <a:ext cx="1264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 total network hashrate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51" name="Shape 45"/>
          <p:cNvSpPr/>
          <p:nvPr/>
        </p:nvSpPr>
        <p:spPr>
          <a:xfrm>
            <a:off x="6524640" y="2666880"/>
            <a:ext cx="4995000" cy="121320"/>
          </a:xfrm>
          <a:custGeom>
            <a:avLst/>
            <a:gdLst/>
            <a:ah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2" name="Shape 46"/>
          <p:cNvSpPr/>
          <p:nvPr/>
        </p:nvSpPr>
        <p:spPr>
          <a:xfrm>
            <a:off x="6540480" y="2682720"/>
            <a:ext cx="2724840" cy="89640"/>
          </a:xfrm>
          <a:custGeom>
            <a:avLst/>
            <a:gdLst/>
            <a:ahLst/>
            <a:rect l="l" t="t" r="r" b="b"/>
            <a:pathLst>
              <a:path w="2730500" h="95250">
                <a:moveTo>
                  <a:pt x="0" y="0"/>
                </a:moveTo>
                <a:lnTo>
                  <a:pt x="2730500" y="0"/>
                </a:lnTo>
                <a:lnTo>
                  <a:pt x="273050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3" name="Shape 47"/>
          <p:cNvSpPr/>
          <p:nvPr/>
        </p:nvSpPr>
        <p:spPr>
          <a:xfrm>
            <a:off x="6397560" y="3048120"/>
            <a:ext cx="5248800" cy="851400"/>
          </a:xfrm>
          <a:custGeom>
            <a:avLst/>
            <a:gdLst/>
            <a:ah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4" name="Text 48"/>
          <p:cNvSpPr/>
          <p:nvPr/>
        </p:nvSpPr>
        <p:spPr>
          <a:xfrm>
            <a:off x="6508800" y="315900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Foundry USA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5" name="Text 49"/>
          <p:cNvSpPr/>
          <p:nvPr/>
        </p:nvSpPr>
        <p:spPr>
          <a:xfrm>
            <a:off x="6508800" y="3381480"/>
            <a:ext cx="51217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~35%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56" name="Text 50"/>
          <p:cNvSpPr/>
          <p:nvPr/>
        </p:nvSpPr>
        <p:spPr>
          <a:xfrm>
            <a:off x="6508800" y="363528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Largest mining pool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57" name="Shape 51"/>
          <p:cNvSpPr/>
          <p:nvPr/>
        </p:nvSpPr>
        <p:spPr>
          <a:xfrm>
            <a:off x="6397560" y="4032360"/>
            <a:ext cx="5248800" cy="851400"/>
          </a:xfrm>
          <a:custGeom>
            <a:avLst/>
            <a:gdLst/>
            <a:ah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Text 52"/>
          <p:cNvSpPr/>
          <p:nvPr/>
        </p:nvSpPr>
        <p:spPr>
          <a:xfrm>
            <a:off x="6508800" y="414324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Publicly Traded Miners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9" name="Text 53"/>
          <p:cNvSpPr/>
          <p:nvPr/>
        </p:nvSpPr>
        <p:spPr>
          <a:xfrm>
            <a:off x="6508800" y="4365720"/>
            <a:ext cx="51217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~25%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60" name="Text 54"/>
          <p:cNvSpPr/>
          <p:nvPr/>
        </p:nvSpPr>
        <p:spPr>
          <a:xfrm>
            <a:off x="6508800" y="461952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Marathon, Riot, CleanSpark, etc.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61" name="Shape 55"/>
          <p:cNvSpPr/>
          <p:nvPr/>
        </p:nvSpPr>
        <p:spPr>
          <a:xfrm>
            <a:off x="6199200" y="5262480"/>
            <a:ext cx="5645880" cy="3915360"/>
          </a:xfrm>
          <a:custGeom>
            <a:avLst/>
            <a:gdLst/>
            <a:ahLst/>
            <a:rect l="l" t="t" r="r" b="b"/>
            <a:pathLst>
              <a:path w="5651500" h="3921125">
                <a:moveTo>
                  <a:pt x="0" y="0"/>
                </a:moveTo>
                <a:lnTo>
                  <a:pt x="5651500" y="0"/>
                </a:lnTo>
                <a:lnTo>
                  <a:pt x="5651500" y="3921125"/>
                </a:lnTo>
                <a:lnTo>
                  <a:pt x="0" y="3921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2" name="Text 56"/>
          <p:cNvSpPr/>
          <p:nvPr/>
        </p:nvSpPr>
        <p:spPr>
          <a:xfrm>
            <a:off x="6381720" y="544500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POST-HALVING REALITY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63" name="Shape 57"/>
          <p:cNvSpPr/>
          <p:nvPr/>
        </p:nvSpPr>
        <p:spPr>
          <a:xfrm>
            <a:off x="6397560" y="5842080"/>
            <a:ext cx="5248800" cy="851400"/>
          </a:xfrm>
          <a:custGeom>
            <a:avLst/>
            <a:gdLst/>
            <a:ah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Text 58"/>
          <p:cNvSpPr/>
          <p:nvPr/>
        </p:nvSpPr>
        <p:spPr>
          <a:xfrm>
            <a:off x="6508800" y="595296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Breakeven Electricity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65" name="Text 59"/>
          <p:cNvSpPr/>
          <p:nvPr/>
        </p:nvSpPr>
        <p:spPr>
          <a:xfrm>
            <a:off x="6508800" y="6175440"/>
            <a:ext cx="51217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$0.05-0.08/kWh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66" name="Text 60"/>
          <p:cNvSpPr/>
          <p:nvPr/>
        </p:nvSpPr>
        <p:spPr>
          <a:xfrm>
            <a:off x="6508800" y="642924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For efficient ASIC miners at $75K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67" name="Shape 61"/>
          <p:cNvSpPr/>
          <p:nvPr/>
        </p:nvSpPr>
        <p:spPr>
          <a:xfrm>
            <a:off x="6397560" y="6826320"/>
            <a:ext cx="5248800" cy="6292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Text 62"/>
          <p:cNvSpPr/>
          <p:nvPr/>
        </p:nvSpPr>
        <p:spPr>
          <a:xfrm>
            <a:off x="6508800" y="693720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Industry Consolidation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69" name="Text 63"/>
          <p:cNvSpPr/>
          <p:nvPr/>
        </p:nvSpPr>
        <p:spPr>
          <a:xfrm>
            <a:off x="6508800" y="715968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Small miners shut down, large operations with cheap electricity dominate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70" name="Shape 64"/>
          <p:cNvSpPr/>
          <p:nvPr/>
        </p:nvSpPr>
        <p:spPr>
          <a:xfrm>
            <a:off x="6397560" y="7588080"/>
            <a:ext cx="5248800" cy="6292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1" name="Text 65"/>
          <p:cNvSpPr/>
          <p:nvPr/>
        </p:nvSpPr>
        <p:spPr>
          <a:xfrm>
            <a:off x="6508800" y="769932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Shift to Fee Revenue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72" name="Text 66"/>
          <p:cNvSpPr/>
          <p:nvPr/>
        </p:nvSpPr>
        <p:spPr>
          <a:xfrm>
            <a:off x="6508800" y="792180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Miners increasingly dependent on transaction fees as subsidy declines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73" name="Shape 67"/>
          <p:cNvSpPr/>
          <p:nvPr/>
        </p:nvSpPr>
        <p:spPr>
          <a:xfrm>
            <a:off x="6397560" y="8350200"/>
            <a:ext cx="5248800" cy="6292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4" name="Text 68"/>
          <p:cNvSpPr/>
          <p:nvPr/>
        </p:nvSpPr>
        <p:spPr>
          <a:xfrm>
            <a:off x="6508800" y="846144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Renewable Energy Trend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75" name="Text 69"/>
          <p:cNvSpPr/>
          <p:nvPr/>
        </p:nvSpPr>
        <p:spPr>
          <a:xfrm>
            <a:off x="6508800" y="868356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~55% of mining uses renewable energy (hydro, wind, solar)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7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8" name="Shape 1"/>
          <p:cNvSpPr/>
          <p:nvPr/>
        </p:nvSpPr>
        <p:spPr>
          <a:xfrm>
            <a:off x="3305160" y="352440"/>
            <a:ext cx="8471520" cy="48139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9" name="Shape 2"/>
          <p:cNvSpPr/>
          <p:nvPr/>
        </p:nvSpPr>
        <p:spPr>
          <a:xfrm>
            <a:off x="10077480" y="83808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0" name="Shape 3"/>
          <p:cNvSpPr/>
          <p:nvPr/>
        </p:nvSpPr>
        <p:spPr>
          <a:xfrm>
            <a:off x="10410840" y="8668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1" name="Text 4"/>
          <p:cNvSpPr/>
          <p:nvPr/>
        </p:nvSpPr>
        <p:spPr>
          <a:xfrm>
            <a:off x="10267920" y="83808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08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682" name="Text 5"/>
          <p:cNvSpPr/>
          <p:nvPr/>
        </p:nvSpPr>
        <p:spPr>
          <a:xfrm>
            <a:off x="3448080" y="2057400"/>
            <a:ext cx="7842960" cy="17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DIGITAL GOLD THESIS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683" name="Shape 6"/>
          <p:cNvSpPr/>
          <p:nvPr/>
        </p:nvSpPr>
        <p:spPr>
          <a:xfrm>
            <a:off x="9468000" y="400068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4" name="Text 7"/>
          <p:cNvSpPr/>
          <p:nvPr/>
        </p:nvSpPr>
        <p:spPr>
          <a:xfrm>
            <a:off x="3619440" y="43052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Store of Value Debate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685" name="Shape 8"/>
          <p:cNvSpPr/>
          <p:nvPr/>
        </p:nvSpPr>
        <p:spPr>
          <a:xfrm>
            <a:off x="4779000" y="5686560"/>
            <a:ext cx="6995160" cy="813240"/>
          </a:xfrm>
          <a:custGeom>
            <a:avLst/>
            <a:gdLst/>
            <a:ahLst/>
            <a:rect l="l" t="t" r="r" b="b"/>
            <a:pathLst>
              <a:path w="7000875" h="819150">
                <a:moveTo>
                  <a:pt x="0" y="0"/>
                </a:moveTo>
                <a:lnTo>
                  <a:pt x="7000875" y="0"/>
                </a:lnTo>
                <a:lnTo>
                  <a:pt x="70008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6" name="Text 9"/>
          <p:cNvSpPr/>
          <p:nvPr/>
        </p:nvSpPr>
        <p:spPr>
          <a:xfrm>
            <a:off x="5036400" y="5943600"/>
            <a:ext cx="65952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Can Bitcoin Replace Gold as the Ultimate Store of Value?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8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VS GOLD: THE NEW STORE OF VALUE?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89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0" name="Shape 3"/>
          <p:cNvSpPr/>
          <p:nvPr/>
        </p:nvSpPr>
        <p:spPr>
          <a:xfrm>
            <a:off x="341280" y="1357200"/>
            <a:ext cx="5645880" cy="4296240"/>
          </a:xfrm>
          <a:custGeom>
            <a:avLst/>
            <a:gdLst/>
            <a:ah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1" name="Text 4"/>
          <p:cNvSpPr/>
          <p:nvPr/>
        </p:nvSpPr>
        <p:spPr>
          <a:xfrm>
            <a:off x="523800" y="15397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ADVANTAGES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92" name="Shape 5"/>
          <p:cNvSpPr/>
          <p:nvPr/>
        </p:nvSpPr>
        <p:spPr>
          <a:xfrm>
            <a:off x="539640" y="193680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3" name="Shape 6"/>
          <p:cNvSpPr/>
          <p:nvPr/>
        </p:nvSpPr>
        <p:spPr>
          <a:xfrm>
            <a:off x="650880" y="211140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4" name="Text 7"/>
          <p:cNvSpPr/>
          <p:nvPr/>
        </p:nvSpPr>
        <p:spPr>
          <a:xfrm>
            <a:off x="841320" y="2048040"/>
            <a:ext cx="32169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Portability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95" name="Text 8"/>
          <p:cNvSpPr/>
          <p:nvPr/>
        </p:nvSpPr>
        <p:spPr>
          <a:xfrm>
            <a:off x="841320" y="2270160"/>
            <a:ext cx="3209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Transfer $1B across borders in minutes vs. tons of physical gold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96" name="Shape 9"/>
          <p:cNvSpPr/>
          <p:nvPr/>
        </p:nvSpPr>
        <p:spPr>
          <a:xfrm>
            <a:off x="539640" y="266688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7" name="Shape 10"/>
          <p:cNvSpPr/>
          <p:nvPr/>
        </p:nvSpPr>
        <p:spPr>
          <a:xfrm>
            <a:off x="650880" y="284148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8" name="Text 11"/>
          <p:cNvSpPr/>
          <p:nvPr/>
        </p:nvSpPr>
        <p:spPr>
          <a:xfrm>
            <a:off x="841320" y="2778120"/>
            <a:ext cx="3447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Divisibility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99" name="Text 12"/>
          <p:cNvSpPr/>
          <p:nvPr/>
        </p:nvSpPr>
        <p:spPr>
          <a:xfrm>
            <a:off x="841320" y="3000240"/>
            <a:ext cx="34390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Divisible to 8 decimal places (0.00000001 BTC) vs. gold bars/ounces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00" name="Shape 13"/>
          <p:cNvSpPr/>
          <p:nvPr/>
        </p:nvSpPr>
        <p:spPr>
          <a:xfrm>
            <a:off x="539640" y="339732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1" name="Shape 14"/>
          <p:cNvSpPr/>
          <p:nvPr/>
        </p:nvSpPr>
        <p:spPr>
          <a:xfrm>
            <a:off x="650880" y="357192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Text 15"/>
          <p:cNvSpPr/>
          <p:nvPr/>
        </p:nvSpPr>
        <p:spPr>
          <a:xfrm>
            <a:off x="841320" y="3508200"/>
            <a:ext cx="2804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Verifiability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03" name="Text 16"/>
          <p:cNvSpPr/>
          <p:nvPr/>
        </p:nvSpPr>
        <p:spPr>
          <a:xfrm>
            <a:off x="841320" y="3730680"/>
            <a:ext cx="2796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Cryptographic proof vs. expensive purity testing for gold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04" name="Shape 17"/>
          <p:cNvSpPr/>
          <p:nvPr/>
        </p:nvSpPr>
        <p:spPr>
          <a:xfrm>
            <a:off x="539640" y="412740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5" name="Shape 18"/>
          <p:cNvSpPr/>
          <p:nvPr/>
        </p:nvSpPr>
        <p:spPr>
          <a:xfrm>
            <a:off x="650880" y="430200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6" name="Text 19"/>
          <p:cNvSpPr/>
          <p:nvPr/>
        </p:nvSpPr>
        <p:spPr>
          <a:xfrm>
            <a:off x="841320" y="4238640"/>
            <a:ext cx="32328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Fixed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07" name="Text 20"/>
          <p:cNvSpPr/>
          <p:nvPr/>
        </p:nvSpPr>
        <p:spPr>
          <a:xfrm>
            <a:off x="841320" y="4460760"/>
            <a:ext cx="3224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21M BTC hard cap vs. unknown total gold supply in Earth's crust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08" name="Shape 21"/>
          <p:cNvSpPr/>
          <p:nvPr/>
        </p:nvSpPr>
        <p:spPr>
          <a:xfrm>
            <a:off x="539640" y="485784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9" name="Shape 22"/>
          <p:cNvSpPr/>
          <p:nvPr/>
        </p:nvSpPr>
        <p:spPr>
          <a:xfrm>
            <a:off x="650880" y="503244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0" name="Text 23"/>
          <p:cNvSpPr/>
          <p:nvPr/>
        </p:nvSpPr>
        <p:spPr>
          <a:xfrm>
            <a:off x="841320" y="4968720"/>
            <a:ext cx="29944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Programmable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11" name="Text 24"/>
          <p:cNvSpPr/>
          <p:nvPr/>
        </p:nvSpPr>
        <p:spPr>
          <a:xfrm>
            <a:off x="841320" y="5191200"/>
            <a:ext cx="29865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Smart contracts, multisig, time-locks vs. inert physical metal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12" name="Shape 25"/>
          <p:cNvSpPr/>
          <p:nvPr/>
        </p:nvSpPr>
        <p:spPr>
          <a:xfrm>
            <a:off x="341280" y="5834160"/>
            <a:ext cx="5645880" cy="3852000"/>
          </a:xfrm>
          <a:custGeom>
            <a:avLst/>
            <a:gdLst/>
            <a:ah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3" name="Text 26"/>
          <p:cNvSpPr/>
          <p:nvPr/>
        </p:nvSpPr>
        <p:spPr>
          <a:xfrm>
            <a:off x="523800" y="601668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PERFORMANCE COMPARISON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14" name="Text 27"/>
          <p:cNvSpPr/>
          <p:nvPr/>
        </p:nvSpPr>
        <p:spPr>
          <a:xfrm>
            <a:off x="523800" y="6397560"/>
            <a:ext cx="53442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5-Year Returns (2020-2025):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15" name="Shape 28"/>
          <p:cNvSpPr/>
          <p:nvPr/>
        </p:nvSpPr>
        <p:spPr>
          <a:xfrm>
            <a:off x="539640" y="6699240"/>
            <a:ext cx="5248800" cy="724320"/>
          </a:xfrm>
          <a:custGeom>
            <a:avLst/>
            <a:gdLst/>
            <a:ah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6" name="Text 29"/>
          <p:cNvSpPr/>
          <p:nvPr/>
        </p:nvSpPr>
        <p:spPr>
          <a:xfrm>
            <a:off x="650880" y="6858000"/>
            <a:ext cx="4863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17" name="Text 30"/>
          <p:cNvSpPr/>
          <p:nvPr/>
        </p:nvSpPr>
        <p:spPr>
          <a:xfrm>
            <a:off x="4935240" y="6810480"/>
            <a:ext cx="859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a63e"/>
                </a:solidFill>
                <a:latin typeface="Noto Sans SC"/>
                <a:ea typeface="Noto Sans SC"/>
              </a:rPr>
              <a:t>+940%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18" name="Shape 31"/>
          <p:cNvSpPr/>
          <p:nvPr/>
        </p:nvSpPr>
        <p:spPr>
          <a:xfrm>
            <a:off x="666720" y="7175520"/>
            <a:ext cx="4995000" cy="121320"/>
          </a:xfrm>
          <a:custGeom>
            <a:avLst/>
            <a:gdLst/>
            <a:ah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9" name="Shape 32"/>
          <p:cNvSpPr/>
          <p:nvPr/>
        </p:nvSpPr>
        <p:spPr>
          <a:xfrm>
            <a:off x="682560" y="7191360"/>
            <a:ext cx="4962960" cy="89640"/>
          </a:xfrm>
          <a:custGeom>
            <a:avLst/>
            <a:gdLst/>
            <a:ahLst/>
            <a:rect l="l" t="t" r="r" b="b"/>
            <a:pathLst>
              <a:path w="4968875" h="95250">
                <a:moveTo>
                  <a:pt x="0" y="0"/>
                </a:moveTo>
                <a:lnTo>
                  <a:pt x="4968875" y="0"/>
                </a:lnTo>
                <a:lnTo>
                  <a:pt x="49688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0" name="Shape 33"/>
          <p:cNvSpPr/>
          <p:nvPr/>
        </p:nvSpPr>
        <p:spPr>
          <a:xfrm>
            <a:off x="539640" y="7556400"/>
            <a:ext cx="5248800" cy="724320"/>
          </a:xfrm>
          <a:custGeom>
            <a:avLst/>
            <a:gdLst/>
            <a:ah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Text 34"/>
          <p:cNvSpPr/>
          <p:nvPr/>
        </p:nvSpPr>
        <p:spPr>
          <a:xfrm>
            <a:off x="650880" y="7715160"/>
            <a:ext cx="3434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22" name="Text 35"/>
          <p:cNvSpPr/>
          <p:nvPr/>
        </p:nvSpPr>
        <p:spPr>
          <a:xfrm>
            <a:off x="5067360" y="7667640"/>
            <a:ext cx="73260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d08700"/>
                </a:solidFill>
                <a:latin typeface="Noto Sans SC"/>
                <a:ea typeface="Noto Sans SC"/>
              </a:rPr>
              <a:t>+25%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23" name="Shape 36"/>
          <p:cNvSpPr/>
          <p:nvPr/>
        </p:nvSpPr>
        <p:spPr>
          <a:xfrm>
            <a:off x="666720" y="8032680"/>
            <a:ext cx="4995000" cy="121320"/>
          </a:xfrm>
          <a:custGeom>
            <a:avLst/>
            <a:gdLst/>
            <a:ah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4" name="Shape 37"/>
          <p:cNvSpPr/>
          <p:nvPr/>
        </p:nvSpPr>
        <p:spPr>
          <a:xfrm>
            <a:off x="682560" y="8048520"/>
            <a:ext cx="145080" cy="89640"/>
          </a:xfrm>
          <a:custGeom>
            <a:avLst/>
            <a:gdLst/>
            <a:ahLst/>
            <a:rect l="l" t="t" r="r" b="b"/>
            <a:pathLst>
              <a:path w="150813" h="95250">
                <a:moveTo>
                  <a:pt x="0" y="0"/>
                </a:moveTo>
                <a:lnTo>
                  <a:pt x="150813" y="0"/>
                </a:lnTo>
                <a:lnTo>
                  <a:pt x="1508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Shape 38"/>
          <p:cNvSpPr/>
          <p:nvPr/>
        </p:nvSpPr>
        <p:spPr>
          <a:xfrm>
            <a:off x="539640" y="8445600"/>
            <a:ext cx="5248800" cy="407160"/>
          </a:xfrm>
          <a:custGeom>
            <a:avLst/>
            <a:gdLst/>
            <a:ah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6" name="Text 39"/>
          <p:cNvSpPr/>
          <p:nvPr/>
        </p:nvSpPr>
        <p:spPr>
          <a:xfrm>
            <a:off x="619200" y="855648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Bitcoin has outperformed gold by 37x over 5 years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27" name="Shape 40"/>
          <p:cNvSpPr/>
          <p:nvPr/>
        </p:nvSpPr>
        <p:spPr>
          <a:xfrm>
            <a:off x="6199200" y="1357200"/>
            <a:ext cx="5645880" cy="4296240"/>
          </a:xfrm>
          <a:custGeom>
            <a:avLst/>
            <a:gdLst/>
            <a:ah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8" name="Text 41"/>
          <p:cNvSpPr/>
          <p:nvPr/>
        </p:nvSpPr>
        <p:spPr>
          <a:xfrm>
            <a:off x="6381720" y="15397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GOLD'S ADVANTAGES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29" name="Shape 42"/>
          <p:cNvSpPr/>
          <p:nvPr/>
        </p:nvSpPr>
        <p:spPr>
          <a:xfrm>
            <a:off x="6397560" y="193680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0" name="Shape 43"/>
          <p:cNvSpPr/>
          <p:nvPr/>
        </p:nvSpPr>
        <p:spPr>
          <a:xfrm>
            <a:off x="6508800" y="211140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1" name="Text 44"/>
          <p:cNvSpPr/>
          <p:nvPr/>
        </p:nvSpPr>
        <p:spPr>
          <a:xfrm>
            <a:off x="6699240" y="2048040"/>
            <a:ext cx="31294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3,000+ Year Track Record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32" name="Text 45"/>
          <p:cNvSpPr/>
          <p:nvPr/>
        </p:nvSpPr>
        <p:spPr>
          <a:xfrm>
            <a:off x="6699240" y="2270160"/>
            <a:ext cx="31215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Proven store of value across civilizations vs. Bitcoin's 16 years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33" name="Shape 46"/>
          <p:cNvSpPr/>
          <p:nvPr/>
        </p:nvSpPr>
        <p:spPr>
          <a:xfrm>
            <a:off x="6397560" y="266688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4" name="Shape 47"/>
          <p:cNvSpPr/>
          <p:nvPr/>
        </p:nvSpPr>
        <p:spPr>
          <a:xfrm>
            <a:off x="6508800" y="284148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5" name="Text 48"/>
          <p:cNvSpPr/>
          <p:nvPr/>
        </p:nvSpPr>
        <p:spPr>
          <a:xfrm>
            <a:off x="6699240" y="2778120"/>
            <a:ext cx="27961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Physical Tangibility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36" name="Text 49"/>
          <p:cNvSpPr/>
          <p:nvPr/>
        </p:nvSpPr>
        <p:spPr>
          <a:xfrm>
            <a:off x="6699240" y="3000240"/>
            <a:ext cx="27882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Can hold in your hand, no internet or electricity required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37" name="Shape 50"/>
          <p:cNvSpPr/>
          <p:nvPr/>
        </p:nvSpPr>
        <p:spPr>
          <a:xfrm>
            <a:off x="6397560" y="339732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8" name="Shape 51"/>
          <p:cNvSpPr/>
          <p:nvPr/>
        </p:nvSpPr>
        <p:spPr>
          <a:xfrm>
            <a:off x="6508800" y="357192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9" name="Text 52"/>
          <p:cNvSpPr/>
          <p:nvPr/>
        </p:nvSpPr>
        <p:spPr>
          <a:xfrm>
            <a:off x="6699240" y="3508200"/>
            <a:ext cx="28519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Central Bank Demand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40" name="Text 53"/>
          <p:cNvSpPr/>
          <p:nvPr/>
        </p:nvSpPr>
        <p:spPr>
          <a:xfrm>
            <a:off x="6699240" y="3730680"/>
            <a:ext cx="2843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Record-high official gold purchases (1,000+ tonnes/year)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41" name="Shape 54"/>
          <p:cNvSpPr/>
          <p:nvPr/>
        </p:nvSpPr>
        <p:spPr>
          <a:xfrm>
            <a:off x="6397560" y="412740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2" name="Shape 55"/>
          <p:cNvSpPr/>
          <p:nvPr/>
        </p:nvSpPr>
        <p:spPr>
          <a:xfrm>
            <a:off x="6508800" y="430200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3" name="Text 56"/>
          <p:cNvSpPr/>
          <p:nvPr/>
        </p:nvSpPr>
        <p:spPr>
          <a:xfrm>
            <a:off x="6699240" y="4238640"/>
            <a:ext cx="2574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Lower Volatility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44" name="Text 57"/>
          <p:cNvSpPr/>
          <p:nvPr/>
        </p:nvSpPr>
        <p:spPr>
          <a:xfrm>
            <a:off x="6699240" y="4460760"/>
            <a:ext cx="25660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Gold's annual volatility ~15% vs. Bitcoin's ~60-80%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45" name="Shape 58"/>
          <p:cNvSpPr/>
          <p:nvPr/>
        </p:nvSpPr>
        <p:spPr>
          <a:xfrm>
            <a:off x="6397560" y="485784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6" name="Shape 59"/>
          <p:cNvSpPr/>
          <p:nvPr/>
        </p:nvSpPr>
        <p:spPr>
          <a:xfrm>
            <a:off x="6508800" y="5032440"/>
            <a:ext cx="89640" cy="896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7" name="Text 60"/>
          <p:cNvSpPr/>
          <p:nvPr/>
        </p:nvSpPr>
        <p:spPr>
          <a:xfrm>
            <a:off x="6699240" y="4968720"/>
            <a:ext cx="3209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Industrial &amp; Jewelry Use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48" name="Text 61"/>
          <p:cNvSpPr/>
          <p:nvPr/>
        </p:nvSpPr>
        <p:spPr>
          <a:xfrm>
            <a:off x="6699240" y="5191200"/>
            <a:ext cx="3201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Real utility beyond speculation (electronics, dentistry, ornament)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49" name="Shape 62"/>
          <p:cNvSpPr/>
          <p:nvPr/>
        </p:nvSpPr>
        <p:spPr>
          <a:xfrm>
            <a:off x="6199200" y="5834160"/>
            <a:ext cx="5645880" cy="3852000"/>
          </a:xfrm>
          <a:custGeom>
            <a:avLst/>
            <a:gdLst/>
            <a:ah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50" name="Text 63"/>
          <p:cNvSpPr/>
          <p:nvPr/>
        </p:nvSpPr>
        <p:spPr>
          <a:xfrm>
            <a:off x="6381720" y="601668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INFLATION HEDGE DEBATE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51" name="Shape 64"/>
          <p:cNvSpPr/>
          <p:nvPr/>
        </p:nvSpPr>
        <p:spPr>
          <a:xfrm>
            <a:off x="6397560" y="6413400"/>
            <a:ext cx="5248800" cy="1232640"/>
          </a:xfrm>
          <a:custGeom>
            <a:avLst/>
            <a:gdLst/>
            <a:ahLst/>
            <a:rect l="l" t="t" r="r" b="b"/>
            <a:pathLst>
              <a:path w="5254625" h="1238250">
                <a:moveTo>
                  <a:pt x="0" y="0"/>
                </a:moveTo>
                <a:lnTo>
                  <a:pt x="5254625" y="0"/>
                </a:lnTo>
                <a:lnTo>
                  <a:pt x="5254625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2" name="Text 65"/>
          <p:cNvSpPr/>
          <p:nvPr/>
        </p:nvSpPr>
        <p:spPr>
          <a:xfrm>
            <a:off x="6508800" y="652464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2022 Inflation Test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53" name="Text 66"/>
          <p:cNvSpPr/>
          <p:nvPr/>
        </p:nvSpPr>
        <p:spPr>
          <a:xfrm>
            <a:off x="6508800" y="677880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U.S. inflation hit 9% (40-year high). How did assets perform?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54" name="Shape 67"/>
          <p:cNvSpPr/>
          <p:nvPr/>
        </p:nvSpPr>
        <p:spPr>
          <a:xfrm>
            <a:off x="6524640" y="7016760"/>
            <a:ext cx="2446920" cy="502200"/>
          </a:xfrm>
          <a:custGeom>
            <a:avLst/>
            <a:gdLst/>
            <a:ah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5" name="Text 68"/>
          <p:cNvSpPr/>
          <p:nvPr/>
        </p:nvSpPr>
        <p:spPr>
          <a:xfrm>
            <a:off x="6568200" y="7095960"/>
            <a:ext cx="23594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e7000b"/>
                </a:solidFill>
                <a:latin typeface="MiSans"/>
                <a:ea typeface="MiSans"/>
              </a:rPr>
              <a:t>-60%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56" name="Text 69"/>
          <p:cNvSpPr/>
          <p:nvPr/>
        </p:nvSpPr>
        <p:spPr>
          <a:xfrm>
            <a:off x="6580080" y="7318440"/>
            <a:ext cx="233568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757" name="Shape 70"/>
          <p:cNvSpPr/>
          <p:nvPr/>
        </p:nvSpPr>
        <p:spPr>
          <a:xfrm>
            <a:off x="9072720" y="7016760"/>
            <a:ext cx="2446920" cy="502200"/>
          </a:xfrm>
          <a:custGeom>
            <a:avLst/>
            <a:gdLst/>
            <a:ah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8" name="Text 71"/>
          <p:cNvSpPr/>
          <p:nvPr/>
        </p:nvSpPr>
        <p:spPr>
          <a:xfrm>
            <a:off x="9116280" y="7095960"/>
            <a:ext cx="23594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a63e"/>
                </a:solidFill>
                <a:latin typeface="MiSans"/>
                <a:ea typeface="MiSans"/>
              </a:rPr>
              <a:t>+0.5%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59" name="Text 72"/>
          <p:cNvSpPr/>
          <p:nvPr/>
        </p:nvSpPr>
        <p:spPr>
          <a:xfrm>
            <a:off x="9128160" y="7318440"/>
            <a:ext cx="233568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760" name="Shape 73"/>
          <p:cNvSpPr/>
          <p:nvPr/>
        </p:nvSpPr>
        <p:spPr>
          <a:xfrm>
            <a:off x="6397560" y="777888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1" name="Text 74"/>
          <p:cNvSpPr/>
          <p:nvPr/>
        </p:nvSpPr>
        <p:spPr>
          <a:xfrm>
            <a:off x="6508800" y="788976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Key Insight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62" name="Text 75"/>
          <p:cNvSpPr/>
          <p:nvPr/>
        </p:nvSpPr>
        <p:spPr>
          <a:xfrm>
            <a:off x="6508800" y="8143920"/>
            <a:ext cx="50821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has shown </a:t>
            </a: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high correlation with risk assets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(tech stocks) rather than acting as a crisis hedge like gold. During the 2022 bear market, BTC crashed alongside equities while gold held steady.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63" name="Shape 76"/>
          <p:cNvSpPr/>
          <p:nvPr/>
        </p:nvSpPr>
        <p:spPr>
          <a:xfrm>
            <a:off x="6397560" y="869940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4" name="Text 77"/>
          <p:cNvSpPr/>
          <p:nvPr/>
        </p:nvSpPr>
        <p:spPr>
          <a:xfrm>
            <a:off x="6508800" y="881064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Verdict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65" name="Text 78"/>
          <p:cNvSpPr/>
          <p:nvPr/>
        </p:nvSpPr>
        <p:spPr>
          <a:xfrm>
            <a:off x="6508800" y="9064800"/>
            <a:ext cx="50821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may become "digital gold" as it matures and volatility decreases, but </a:t>
            </a: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it hasn't consistently fulfilled that role yet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. Gold remains the proven safe haven.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7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8" name="Shape 1"/>
          <p:cNvSpPr/>
          <p:nvPr/>
        </p:nvSpPr>
        <p:spPr>
          <a:xfrm>
            <a:off x="409680" y="781200"/>
            <a:ext cx="8471520" cy="395676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9" name="Shape 2"/>
          <p:cNvSpPr/>
          <p:nvPr/>
        </p:nvSpPr>
        <p:spPr>
          <a:xfrm>
            <a:off x="923760" y="12952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0" name="Text 3"/>
          <p:cNvSpPr/>
          <p:nvPr/>
        </p:nvSpPr>
        <p:spPr>
          <a:xfrm>
            <a:off x="781200" y="126684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09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771" name="Shape 4"/>
          <p:cNvSpPr/>
          <p:nvPr/>
        </p:nvSpPr>
        <p:spPr>
          <a:xfrm>
            <a:off x="2038320" y="126684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2" name="Text 5"/>
          <p:cNvSpPr/>
          <p:nvPr/>
        </p:nvSpPr>
        <p:spPr>
          <a:xfrm>
            <a:off x="895320" y="2486160"/>
            <a:ext cx="784296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SCALING SOLUTIONS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773" name="Shape 6"/>
          <p:cNvSpPr/>
          <p:nvPr/>
        </p:nvSpPr>
        <p:spPr>
          <a:xfrm>
            <a:off x="895320" y="357192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4" name="Text 7"/>
          <p:cNvSpPr/>
          <p:nvPr/>
        </p:nvSpPr>
        <p:spPr>
          <a:xfrm>
            <a:off x="895320" y="38768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Lightning Network &amp; Layer 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775" name="Shape 8"/>
          <p:cNvSpPr/>
          <p:nvPr/>
        </p:nvSpPr>
        <p:spPr>
          <a:xfrm>
            <a:off x="409680" y="5257800"/>
            <a:ext cx="11367000" cy="8132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6" name="Text 9"/>
          <p:cNvSpPr/>
          <p:nvPr/>
        </p:nvSpPr>
        <p:spPr>
          <a:xfrm>
            <a:off x="666720" y="5514840"/>
            <a:ext cx="10967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Solving Bitcoin's Throughput Limitations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8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LIGHTNING NETWORK: BITCOIN'S PAYMENT LAYER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79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0" name="Shape 3"/>
          <p:cNvSpPr/>
          <p:nvPr/>
        </p:nvSpPr>
        <p:spPr>
          <a:xfrm>
            <a:off x="341280" y="1357200"/>
            <a:ext cx="5645880" cy="3344040"/>
          </a:xfrm>
          <a:custGeom>
            <a:avLst/>
            <a:gdLst/>
            <a:ahLst/>
            <a:rect l="l" t="t" r="r" b="b"/>
            <a:pathLst>
              <a:path w="5651500" h="3349625">
                <a:moveTo>
                  <a:pt x="0" y="0"/>
                </a:moveTo>
                <a:lnTo>
                  <a:pt x="5651500" y="0"/>
                </a:lnTo>
                <a:lnTo>
                  <a:pt x="5651500" y="3349625"/>
                </a:lnTo>
                <a:lnTo>
                  <a:pt x="0" y="3349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1" name="Text 4"/>
          <p:cNvSpPr/>
          <p:nvPr/>
        </p:nvSpPr>
        <p:spPr>
          <a:xfrm>
            <a:off x="523800" y="15397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PROBLEM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2" name="Shape 5"/>
          <p:cNvSpPr/>
          <p:nvPr/>
        </p:nvSpPr>
        <p:spPr>
          <a:xfrm>
            <a:off x="539640" y="193680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3" name="Text 6"/>
          <p:cNvSpPr/>
          <p:nvPr/>
        </p:nvSpPr>
        <p:spPr>
          <a:xfrm>
            <a:off x="682560" y="2111400"/>
            <a:ext cx="13514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Bitcoin Base Layer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84" name="Text 7"/>
          <p:cNvSpPr/>
          <p:nvPr/>
        </p:nvSpPr>
        <p:spPr>
          <a:xfrm>
            <a:off x="4850640" y="2079720"/>
            <a:ext cx="9151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~7 TPS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85" name="Text 8"/>
          <p:cNvSpPr/>
          <p:nvPr/>
        </p:nvSpPr>
        <p:spPr>
          <a:xfrm>
            <a:off x="682560" y="2428920"/>
            <a:ext cx="5018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Transactions per second limited by block size and block time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86" name="Shape 9"/>
          <p:cNvSpPr/>
          <p:nvPr/>
        </p:nvSpPr>
        <p:spPr>
          <a:xfrm>
            <a:off x="539640" y="285768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7" name="Text 10"/>
          <p:cNvSpPr/>
          <p:nvPr/>
        </p:nvSpPr>
        <p:spPr>
          <a:xfrm>
            <a:off x="682560" y="3032280"/>
            <a:ext cx="9626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Visa Network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88" name="Text 11"/>
          <p:cNvSpPr/>
          <p:nvPr/>
        </p:nvSpPr>
        <p:spPr>
          <a:xfrm>
            <a:off x="4393800" y="3000240"/>
            <a:ext cx="1367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65,000 TPS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89" name="Text 12"/>
          <p:cNvSpPr/>
          <p:nvPr/>
        </p:nvSpPr>
        <p:spPr>
          <a:xfrm>
            <a:off x="682560" y="3349800"/>
            <a:ext cx="5018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Global payment network capacity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90" name="Shape 13"/>
          <p:cNvSpPr/>
          <p:nvPr/>
        </p:nvSpPr>
        <p:spPr>
          <a:xfrm>
            <a:off x="539640" y="3778200"/>
            <a:ext cx="5248800" cy="724320"/>
          </a:xfrm>
          <a:custGeom>
            <a:avLst/>
            <a:gdLst/>
            <a:ah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1" name="Text 14"/>
          <p:cNvSpPr/>
          <p:nvPr/>
        </p:nvSpPr>
        <p:spPr>
          <a:xfrm>
            <a:off x="682560" y="3921120"/>
            <a:ext cx="50266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Transaction Fees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92" name="Text 15"/>
          <p:cNvSpPr/>
          <p:nvPr/>
        </p:nvSpPr>
        <p:spPr>
          <a:xfrm>
            <a:off x="682560" y="4175280"/>
            <a:ext cx="50266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Base layer fees spike during congestion ($5-50+), making micropayments impractical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93" name="Shape 16"/>
          <p:cNvSpPr/>
          <p:nvPr/>
        </p:nvSpPr>
        <p:spPr>
          <a:xfrm>
            <a:off x="341280" y="4881600"/>
            <a:ext cx="5645880" cy="4550400"/>
          </a:xfrm>
          <a:custGeom>
            <a:avLst/>
            <a:gdLst/>
            <a:ahLst/>
            <a:rect l="l" t="t" r="r" b="b"/>
            <a:pathLst>
              <a:path w="5651500" h="4556125">
                <a:moveTo>
                  <a:pt x="0" y="0"/>
                </a:moveTo>
                <a:lnTo>
                  <a:pt x="5651500" y="0"/>
                </a:lnTo>
                <a:lnTo>
                  <a:pt x="5651500" y="4556125"/>
                </a:lnTo>
                <a:lnTo>
                  <a:pt x="0" y="4556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4" name="Text 17"/>
          <p:cNvSpPr/>
          <p:nvPr/>
        </p:nvSpPr>
        <p:spPr>
          <a:xfrm>
            <a:off x="523800" y="50641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HOW LIGHTNING 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95" name="Shape 18"/>
          <p:cNvSpPr/>
          <p:nvPr/>
        </p:nvSpPr>
        <p:spPr>
          <a:xfrm>
            <a:off x="539640" y="546084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6" name="Text 19"/>
          <p:cNvSpPr/>
          <p:nvPr/>
        </p:nvSpPr>
        <p:spPr>
          <a:xfrm>
            <a:off x="650880" y="557208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1. Payment Channels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97" name="Text 20"/>
          <p:cNvSpPr/>
          <p:nvPr/>
        </p:nvSpPr>
        <p:spPr>
          <a:xfrm>
            <a:off x="650880" y="579420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Users lock BTC in multi-signature channels, enabling unlimited off-chain transactions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98" name="Shape 21"/>
          <p:cNvSpPr/>
          <p:nvPr/>
        </p:nvSpPr>
        <p:spPr>
          <a:xfrm>
            <a:off x="539640" y="619128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9" name="Text 22"/>
          <p:cNvSpPr/>
          <p:nvPr/>
        </p:nvSpPr>
        <p:spPr>
          <a:xfrm>
            <a:off x="650880" y="630252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2. Off-Chain Transactions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00" name="Text 23"/>
          <p:cNvSpPr/>
          <p:nvPr/>
        </p:nvSpPr>
        <p:spPr>
          <a:xfrm>
            <a:off x="650880" y="652464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Payments routed through network of channels without touching base layer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01" name="Shape 24"/>
          <p:cNvSpPr/>
          <p:nvPr/>
        </p:nvSpPr>
        <p:spPr>
          <a:xfrm>
            <a:off x="539640" y="692136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2" name="Text 25"/>
          <p:cNvSpPr/>
          <p:nvPr/>
        </p:nvSpPr>
        <p:spPr>
          <a:xfrm>
            <a:off x="650880" y="703260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3. Settlement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03" name="Text 26"/>
          <p:cNvSpPr/>
          <p:nvPr/>
        </p:nvSpPr>
        <p:spPr>
          <a:xfrm>
            <a:off x="650880" y="725472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Channel closes broadcast final balance to Bitcoin blockchain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04" name="Shape 27"/>
          <p:cNvSpPr/>
          <p:nvPr/>
        </p:nvSpPr>
        <p:spPr>
          <a:xfrm>
            <a:off x="539640" y="7651800"/>
            <a:ext cx="5248800" cy="407160"/>
          </a:xfrm>
          <a:custGeom>
            <a:avLst/>
            <a:gdLst/>
            <a:ah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5" name="Text 28"/>
          <p:cNvSpPr/>
          <p:nvPr/>
        </p:nvSpPr>
        <p:spPr>
          <a:xfrm>
            <a:off x="619200" y="776304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Result: Near-instant, sub-cent fees, millions of TPS capacity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06" name="Shape 29"/>
          <p:cNvSpPr/>
          <p:nvPr/>
        </p:nvSpPr>
        <p:spPr>
          <a:xfrm>
            <a:off x="6199200" y="1357200"/>
            <a:ext cx="5645880" cy="4328280"/>
          </a:xfrm>
          <a:custGeom>
            <a:avLst/>
            <a:gdLst/>
            <a:ahLst/>
            <a:rect l="l" t="t" r="r" b="b"/>
            <a:pathLst>
              <a:path w="5651500" h="4333875">
                <a:moveTo>
                  <a:pt x="0" y="0"/>
                </a:moveTo>
                <a:lnTo>
                  <a:pt x="5651500" y="0"/>
                </a:lnTo>
                <a:lnTo>
                  <a:pt x="5651500" y="4333875"/>
                </a:lnTo>
                <a:lnTo>
                  <a:pt x="0" y="4333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7" name="Text 30"/>
          <p:cNvSpPr/>
          <p:nvPr/>
        </p:nvSpPr>
        <p:spPr>
          <a:xfrm>
            <a:off x="6381720" y="153972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ADOPTION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08" name="Shape 31"/>
          <p:cNvSpPr/>
          <p:nvPr/>
        </p:nvSpPr>
        <p:spPr>
          <a:xfrm>
            <a:off x="6397560" y="193680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9" name="Text 32"/>
          <p:cNvSpPr/>
          <p:nvPr/>
        </p:nvSpPr>
        <p:spPr>
          <a:xfrm>
            <a:off x="6540480" y="2127240"/>
            <a:ext cx="1041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Monthly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10" name="Text 33"/>
          <p:cNvSpPr/>
          <p:nvPr/>
        </p:nvSpPr>
        <p:spPr>
          <a:xfrm>
            <a:off x="10741320" y="2079720"/>
            <a:ext cx="8830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$1.17B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11" name="Text 34"/>
          <p:cNvSpPr/>
          <p:nvPr/>
        </p:nvSpPr>
        <p:spPr>
          <a:xfrm>
            <a:off x="6540480" y="2428920"/>
            <a:ext cx="5018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November 2025 (River data)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12" name="Shape 35"/>
          <p:cNvSpPr/>
          <p:nvPr/>
        </p:nvSpPr>
        <p:spPr>
          <a:xfrm>
            <a:off x="6397560" y="285768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3" name="Text 36"/>
          <p:cNvSpPr/>
          <p:nvPr/>
        </p:nvSpPr>
        <p:spPr>
          <a:xfrm>
            <a:off x="6540480" y="3048120"/>
            <a:ext cx="13672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Monthly Transactions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14" name="Text 37"/>
          <p:cNvSpPr/>
          <p:nvPr/>
        </p:nvSpPr>
        <p:spPr>
          <a:xfrm>
            <a:off x="10847520" y="3000240"/>
            <a:ext cx="77220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5.22M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15" name="Text 38"/>
          <p:cNvSpPr/>
          <p:nvPr/>
        </p:nvSpPr>
        <p:spPr>
          <a:xfrm>
            <a:off x="6540480" y="3349800"/>
            <a:ext cx="5018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Average transaction size: ~$224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16" name="Shape 39"/>
          <p:cNvSpPr/>
          <p:nvPr/>
        </p:nvSpPr>
        <p:spPr>
          <a:xfrm>
            <a:off x="6397560" y="377820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7" name="Text 40"/>
          <p:cNvSpPr/>
          <p:nvPr/>
        </p:nvSpPr>
        <p:spPr>
          <a:xfrm>
            <a:off x="6540480" y="3968640"/>
            <a:ext cx="11214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Network Capacity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18" name="Text 41"/>
          <p:cNvSpPr/>
          <p:nvPr/>
        </p:nvSpPr>
        <p:spPr>
          <a:xfrm>
            <a:off x="10218960" y="3921120"/>
            <a:ext cx="14072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5,500+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19" name="Text 42"/>
          <p:cNvSpPr/>
          <p:nvPr/>
        </p:nvSpPr>
        <p:spPr>
          <a:xfrm>
            <a:off x="6540480" y="4270320"/>
            <a:ext cx="5018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Total BTC locked in channels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20" name="Shape 43"/>
          <p:cNvSpPr/>
          <p:nvPr/>
        </p:nvSpPr>
        <p:spPr>
          <a:xfrm>
            <a:off x="6397560" y="4699080"/>
            <a:ext cx="5248800" cy="7880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1" name="Text 44"/>
          <p:cNvSpPr/>
          <p:nvPr/>
        </p:nvSpPr>
        <p:spPr>
          <a:xfrm>
            <a:off x="6540480" y="4889520"/>
            <a:ext cx="8593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Active Nodes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22" name="Text 45"/>
          <p:cNvSpPr/>
          <p:nvPr/>
        </p:nvSpPr>
        <p:spPr>
          <a:xfrm>
            <a:off x="10641960" y="4842000"/>
            <a:ext cx="9784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18,000+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23" name="Text 46"/>
          <p:cNvSpPr/>
          <p:nvPr/>
        </p:nvSpPr>
        <p:spPr>
          <a:xfrm>
            <a:off x="6540480" y="5191200"/>
            <a:ext cx="5018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Decentralized network participants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24" name="Shape 47"/>
          <p:cNvSpPr/>
          <p:nvPr/>
        </p:nvSpPr>
        <p:spPr>
          <a:xfrm>
            <a:off x="6199200" y="5865840"/>
            <a:ext cx="5645880" cy="3566160"/>
          </a:xfrm>
          <a:custGeom>
            <a:avLst/>
            <a:gdLst/>
            <a:ahLst/>
            <a:rect l="l" t="t" r="r" b="b"/>
            <a:pathLst>
              <a:path w="5651500" h="3571875">
                <a:moveTo>
                  <a:pt x="0" y="0"/>
                </a:moveTo>
                <a:lnTo>
                  <a:pt x="5651500" y="0"/>
                </a:lnTo>
                <a:lnTo>
                  <a:pt x="56515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5" name="Text 48"/>
          <p:cNvSpPr/>
          <p:nvPr/>
        </p:nvSpPr>
        <p:spPr>
          <a:xfrm>
            <a:off x="6381720" y="6048360"/>
            <a:ext cx="53758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REAL-WORLD USE CASES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26" name="Shape 49"/>
          <p:cNvSpPr/>
          <p:nvPr/>
        </p:nvSpPr>
        <p:spPr>
          <a:xfrm>
            <a:off x="6397560" y="644508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7" name="Text 50"/>
          <p:cNvSpPr/>
          <p:nvPr/>
        </p:nvSpPr>
        <p:spPr>
          <a:xfrm>
            <a:off x="6508800" y="655632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El Salvador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28" name="Text 51"/>
          <p:cNvSpPr/>
          <p:nvPr/>
        </p:nvSpPr>
        <p:spPr>
          <a:xfrm>
            <a:off x="6508800" y="677880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legal tender using Lightning for everyday payments (coffee, groceries)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29" name="Shape 52"/>
          <p:cNvSpPr/>
          <p:nvPr/>
        </p:nvSpPr>
        <p:spPr>
          <a:xfrm>
            <a:off x="6397560" y="717552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0" name="Text 53"/>
          <p:cNvSpPr/>
          <p:nvPr/>
        </p:nvSpPr>
        <p:spPr>
          <a:xfrm>
            <a:off x="6508800" y="728676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Strike App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31" name="Text 54"/>
          <p:cNvSpPr/>
          <p:nvPr/>
        </p:nvSpPr>
        <p:spPr>
          <a:xfrm>
            <a:off x="6508800" y="750888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Cross-border remittances: Send USD → Receiver gets local currency, sub-cent fees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32" name="Shape 55"/>
          <p:cNvSpPr/>
          <p:nvPr/>
        </p:nvSpPr>
        <p:spPr>
          <a:xfrm>
            <a:off x="6397560" y="790560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3" name="Text 56"/>
          <p:cNvSpPr/>
          <p:nvPr/>
        </p:nvSpPr>
        <p:spPr>
          <a:xfrm>
            <a:off x="6508800" y="801684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Streaming &amp; Gaming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34" name="Text 57"/>
          <p:cNvSpPr/>
          <p:nvPr/>
        </p:nvSpPr>
        <p:spPr>
          <a:xfrm>
            <a:off x="6508800" y="823896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Micropayments for content (pay-per-minute video, in-game purchases)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35" name="Shape 58"/>
          <p:cNvSpPr/>
          <p:nvPr/>
        </p:nvSpPr>
        <p:spPr>
          <a:xfrm>
            <a:off x="6397560" y="8636040"/>
            <a:ext cx="5248800" cy="5976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6" name="Text 59"/>
          <p:cNvSpPr/>
          <p:nvPr/>
        </p:nvSpPr>
        <p:spPr>
          <a:xfrm>
            <a:off x="6508800" y="8747280"/>
            <a:ext cx="5090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AI Agent Payments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37" name="Text 60"/>
          <p:cNvSpPr/>
          <p:nvPr/>
        </p:nvSpPr>
        <p:spPr>
          <a:xfrm>
            <a:off x="6508800" y="8969400"/>
            <a:ext cx="5082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Lightning Labs toolkit enables autonomous machine-to-machine transactions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9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0" name="Shape 1"/>
          <p:cNvSpPr/>
          <p:nvPr/>
        </p:nvSpPr>
        <p:spPr>
          <a:xfrm>
            <a:off x="3305160" y="352440"/>
            <a:ext cx="8471520" cy="48139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1" name="Shape 2"/>
          <p:cNvSpPr/>
          <p:nvPr/>
        </p:nvSpPr>
        <p:spPr>
          <a:xfrm>
            <a:off x="10077480" y="83808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2" name="Shape 3"/>
          <p:cNvSpPr/>
          <p:nvPr/>
        </p:nvSpPr>
        <p:spPr>
          <a:xfrm>
            <a:off x="10410840" y="8668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3" name="Text 4"/>
          <p:cNvSpPr/>
          <p:nvPr/>
        </p:nvSpPr>
        <p:spPr>
          <a:xfrm>
            <a:off x="10267920" y="83808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10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844" name="Text 5"/>
          <p:cNvSpPr/>
          <p:nvPr/>
        </p:nvSpPr>
        <p:spPr>
          <a:xfrm>
            <a:off x="3448080" y="2057400"/>
            <a:ext cx="7842960" cy="17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&amp; RISKS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45" name="Shape 6"/>
          <p:cNvSpPr/>
          <p:nvPr/>
        </p:nvSpPr>
        <p:spPr>
          <a:xfrm>
            <a:off x="9468000" y="400068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6" name="Text 7"/>
          <p:cNvSpPr/>
          <p:nvPr/>
        </p:nvSpPr>
        <p:spPr>
          <a:xfrm>
            <a:off x="3619440" y="43052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Road Ahead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47" name="Shape 8"/>
          <p:cNvSpPr/>
          <p:nvPr/>
        </p:nvSpPr>
        <p:spPr>
          <a:xfrm>
            <a:off x="7293960" y="5686560"/>
            <a:ext cx="4480560" cy="813240"/>
          </a:xfrm>
          <a:custGeom>
            <a:avLst/>
            <a:gdLst/>
            <a:ahLst/>
            <a:rect l="l" t="t" r="r" b="b"/>
            <a:pathLst>
              <a:path w="4486275" h="819150">
                <a:moveTo>
                  <a:pt x="0" y="0"/>
                </a:moveTo>
                <a:lnTo>
                  <a:pt x="4486275" y="0"/>
                </a:lnTo>
                <a:lnTo>
                  <a:pt x="44862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8" name="Text 9"/>
          <p:cNvSpPr/>
          <p:nvPr/>
        </p:nvSpPr>
        <p:spPr>
          <a:xfrm>
            <a:off x="7551000" y="5943600"/>
            <a:ext cx="40806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Obstacles Bitcoin Must Overcome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0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CRITICAL CHALLENGES: WHAT COULD GO WRONG?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851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2" name="Shape 3"/>
          <p:cNvSpPr/>
          <p:nvPr/>
        </p:nvSpPr>
        <p:spPr>
          <a:xfrm>
            <a:off x="341280" y="1357200"/>
            <a:ext cx="3717000" cy="35344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3" name="Shape 4"/>
          <p:cNvSpPr/>
          <p:nvPr/>
        </p:nvSpPr>
        <p:spPr>
          <a:xfrm>
            <a:off x="547560" y="1563840"/>
            <a:ext cx="327600" cy="3276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4" name="Text 5"/>
          <p:cNvSpPr/>
          <p:nvPr/>
        </p:nvSpPr>
        <p:spPr>
          <a:xfrm>
            <a:off x="484200" y="1539720"/>
            <a:ext cx="35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55" name="Text 6"/>
          <p:cNvSpPr/>
          <p:nvPr/>
        </p:nvSpPr>
        <p:spPr>
          <a:xfrm>
            <a:off x="1000080" y="1619280"/>
            <a:ext cx="112140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SCALABILITY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56" name="Shape 7"/>
          <p:cNvSpPr/>
          <p:nvPr/>
        </p:nvSpPr>
        <p:spPr>
          <a:xfrm>
            <a:off x="539640" y="206388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7" name="Text 8"/>
          <p:cNvSpPr/>
          <p:nvPr/>
        </p:nvSpPr>
        <p:spPr>
          <a:xfrm>
            <a:off x="650880" y="217476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Base Layer Limitations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58" name="Text 9"/>
          <p:cNvSpPr/>
          <p:nvPr/>
        </p:nvSpPr>
        <p:spPr>
          <a:xfrm>
            <a:off x="650880" y="242892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~7 TPS is insufficient for global payment network. Block size debates led to Bitcoin Cash fork in 2017.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59" name="Shape 10"/>
          <p:cNvSpPr/>
          <p:nvPr/>
        </p:nvSpPr>
        <p:spPr>
          <a:xfrm>
            <a:off x="539640" y="298440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0" name="Text 11"/>
          <p:cNvSpPr/>
          <p:nvPr/>
        </p:nvSpPr>
        <p:spPr>
          <a:xfrm>
            <a:off x="650880" y="309564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Fee Volatility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61" name="Text 12"/>
          <p:cNvSpPr/>
          <p:nvPr/>
        </p:nvSpPr>
        <p:spPr>
          <a:xfrm>
            <a:off x="650880" y="334980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During congestion, fees spike to $5-50+, making small transactions uneconomical.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62" name="Shape 13"/>
          <p:cNvSpPr/>
          <p:nvPr/>
        </p:nvSpPr>
        <p:spPr>
          <a:xfrm>
            <a:off x="539640" y="390528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3" name="Text 14"/>
          <p:cNvSpPr/>
          <p:nvPr/>
        </p:nvSpPr>
        <p:spPr>
          <a:xfrm>
            <a:off x="650880" y="401652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64" name="Text 15"/>
          <p:cNvSpPr/>
          <p:nvPr/>
        </p:nvSpPr>
        <p:spPr>
          <a:xfrm>
            <a:off x="650880" y="427032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Layer 2 solutions (Lightning, sidechains) process transactions off-chain, settling on base layer.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65" name="Shape 16"/>
          <p:cNvSpPr/>
          <p:nvPr/>
        </p:nvSpPr>
        <p:spPr>
          <a:xfrm>
            <a:off x="4236120" y="1357200"/>
            <a:ext cx="3717000" cy="35344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6" name="Shape 17"/>
          <p:cNvSpPr/>
          <p:nvPr/>
        </p:nvSpPr>
        <p:spPr>
          <a:xfrm>
            <a:off x="4442400" y="1563840"/>
            <a:ext cx="327600" cy="3276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7" name="Text 18"/>
          <p:cNvSpPr/>
          <p:nvPr/>
        </p:nvSpPr>
        <p:spPr>
          <a:xfrm>
            <a:off x="4378680" y="1539720"/>
            <a:ext cx="35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68" name="Text 19"/>
          <p:cNvSpPr/>
          <p:nvPr/>
        </p:nvSpPr>
        <p:spPr>
          <a:xfrm>
            <a:off x="4894920" y="1619280"/>
            <a:ext cx="14547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ENVIRONMENTAL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69" name="Shape 20"/>
          <p:cNvSpPr/>
          <p:nvPr/>
        </p:nvSpPr>
        <p:spPr>
          <a:xfrm>
            <a:off x="4434480" y="206388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0" name="Text 21"/>
          <p:cNvSpPr/>
          <p:nvPr/>
        </p:nvSpPr>
        <p:spPr>
          <a:xfrm>
            <a:off x="4545360" y="217476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Energy Consumption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71" name="Text 22"/>
          <p:cNvSpPr/>
          <p:nvPr/>
        </p:nvSpPr>
        <p:spPr>
          <a:xfrm>
            <a:off x="4545360" y="242892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uses ~150 TWh/year, comparable to Argentina or Poland. Critics argue this is wasteful.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72" name="Shape 23"/>
          <p:cNvSpPr/>
          <p:nvPr/>
        </p:nvSpPr>
        <p:spPr>
          <a:xfrm>
            <a:off x="4434480" y="298440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3" name="Text 24"/>
          <p:cNvSpPr/>
          <p:nvPr/>
        </p:nvSpPr>
        <p:spPr>
          <a:xfrm>
            <a:off x="4545360" y="309564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Carbon Footprint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74" name="Text 25"/>
          <p:cNvSpPr/>
          <p:nvPr/>
        </p:nvSpPr>
        <p:spPr>
          <a:xfrm>
            <a:off x="4545360" y="334980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Estimated 65-70 Mt CO2/year. Coal-powered mining in some regions contributes to climate change.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75" name="Shape 26"/>
          <p:cNvSpPr/>
          <p:nvPr/>
        </p:nvSpPr>
        <p:spPr>
          <a:xfrm>
            <a:off x="4434480" y="390528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6" name="Text 27"/>
          <p:cNvSpPr/>
          <p:nvPr/>
        </p:nvSpPr>
        <p:spPr>
          <a:xfrm>
            <a:off x="4545360" y="401652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77" name="Text 28"/>
          <p:cNvSpPr/>
          <p:nvPr/>
        </p:nvSpPr>
        <p:spPr>
          <a:xfrm>
            <a:off x="4545360" y="427032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~55% of mining uses renewable energy. Stranded energy (flared gas, hydro surplus) increasingly utilized.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78" name="Shape 29"/>
          <p:cNvSpPr/>
          <p:nvPr/>
        </p:nvSpPr>
        <p:spPr>
          <a:xfrm>
            <a:off x="8130600" y="1357200"/>
            <a:ext cx="3717000" cy="35344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9" name="Shape 30"/>
          <p:cNvSpPr/>
          <p:nvPr/>
        </p:nvSpPr>
        <p:spPr>
          <a:xfrm>
            <a:off x="8336880" y="1563840"/>
            <a:ext cx="327600" cy="3276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0" name="Text 31"/>
          <p:cNvSpPr/>
          <p:nvPr/>
        </p:nvSpPr>
        <p:spPr>
          <a:xfrm>
            <a:off x="8273520" y="1539720"/>
            <a:ext cx="35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81" name="Text 32"/>
          <p:cNvSpPr/>
          <p:nvPr/>
        </p:nvSpPr>
        <p:spPr>
          <a:xfrm>
            <a:off x="8789400" y="1619280"/>
            <a:ext cx="11847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REGULATORY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82" name="Shape 33"/>
          <p:cNvSpPr/>
          <p:nvPr/>
        </p:nvSpPr>
        <p:spPr>
          <a:xfrm>
            <a:off x="8328960" y="206388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3" name="Text 34"/>
          <p:cNvSpPr/>
          <p:nvPr/>
        </p:nvSpPr>
        <p:spPr>
          <a:xfrm>
            <a:off x="8440200" y="217476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Government Bans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84" name="Text 35"/>
          <p:cNvSpPr/>
          <p:nvPr/>
        </p:nvSpPr>
        <p:spPr>
          <a:xfrm>
            <a:off x="8440200" y="242892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China banned mining and trading in 2021. Other countries could follow, restricting adoption.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85" name="Shape 36"/>
          <p:cNvSpPr/>
          <p:nvPr/>
        </p:nvSpPr>
        <p:spPr>
          <a:xfrm>
            <a:off x="8328960" y="298440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6" name="Text 37"/>
          <p:cNvSpPr/>
          <p:nvPr/>
        </p:nvSpPr>
        <p:spPr>
          <a:xfrm>
            <a:off x="8440200" y="309564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Taxation &amp; Reporting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87" name="Text 38"/>
          <p:cNvSpPr/>
          <p:nvPr/>
        </p:nvSpPr>
        <p:spPr>
          <a:xfrm>
            <a:off x="8440200" y="334980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Complex tax treatment. Heavy reporting requirements could deter mainstream adoption.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88" name="Shape 39"/>
          <p:cNvSpPr/>
          <p:nvPr/>
        </p:nvSpPr>
        <p:spPr>
          <a:xfrm>
            <a:off x="8328960" y="390528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9" name="Text 40"/>
          <p:cNvSpPr/>
          <p:nvPr/>
        </p:nvSpPr>
        <p:spPr>
          <a:xfrm>
            <a:off x="8440200" y="401652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90" name="Text 41"/>
          <p:cNvSpPr/>
          <p:nvPr/>
        </p:nvSpPr>
        <p:spPr>
          <a:xfrm>
            <a:off x="8440200" y="427032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Regulatory clarity emerging (US ETF approval, EU MiCA). Compliance infrastructure improving.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91" name="Shape 42"/>
          <p:cNvSpPr/>
          <p:nvPr/>
        </p:nvSpPr>
        <p:spPr>
          <a:xfrm>
            <a:off x="341280" y="5072040"/>
            <a:ext cx="3717000" cy="35344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2" name="Shape 43"/>
          <p:cNvSpPr/>
          <p:nvPr/>
        </p:nvSpPr>
        <p:spPr>
          <a:xfrm>
            <a:off x="547560" y="5278320"/>
            <a:ext cx="327600" cy="3276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3" name="Text 44"/>
          <p:cNvSpPr/>
          <p:nvPr/>
        </p:nvSpPr>
        <p:spPr>
          <a:xfrm>
            <a:off x="484200" y="5254560"/>
            <a:ext cx="35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94" name="Text 45"/>
          <p:cNvSpPr/>
          <p:nvPr/>
        </p:nvSpPr>
        <p:spPr>
          <a:xfrm>
            <a:off x="1000080" y="5334120"/>
            <a:ext cx="11768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COMPETITION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95" name="Shape 46"/>
          <p:cNvSpPr/>
          <p:nvPr/>
        </p:nvSpPr>
        <p:spPr>
          <a:xfrm>
            <a:off x="539640" y="577836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6" name="Text 47"/>
          <p:cNvSpPr/>
          <p:nvPr/>
        </p:nvSpPr>
        <p:spPr>
          <a:xfrm>
            <a:off x="650880" y="588960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Ethereum &amp; Smart Contracts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97" name="Text 48"/>
          <p:cNvSpPr/>
          <p:nvPr/>
        </p:nvSpPr>
        <p:spPr>
          <a:xfrm>
            <a:off x="650880" y="614376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Superior programmability, DeFi ecosystem, NFTs. ETH market cap ~$300B+.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98" name="Shape 49"/>
          <p:cNvSpPr/>
          <p:nvPr/>
        </p:nvSpPr>
        <p:spPr>
          <a:xfrm>
            <a:off x="539640" y="669924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9" name="Text 50"/>
          <p:cNvSpPr/>
          <p:nvPr/>
        </p:nvSpPr>
        <p:spPr>
          <a:xfrm>
            <a:off x="650880" y="681048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Solana &amp; High-Speed Chains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00" name="Text 51"/>
          <p:cNvSpPr/>
          <p:nvPr/>
        </p:nvSpPr>
        <p:spPr>
          <a:xfrm>
            <a:off x="650880" y="706428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65,000 TPS, sub-cent fees, growing ecosystem. Could capture payment use cases.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01" name="Shape 52"/>
          <p:cNvSpPr/>
          <p:nvPr/>
        </p:nvSpPr>
        <p:spPr>
          <a:xfrm>
            <a:off x="539640" y="762012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2" name="Text 53"/>
          <p:cNvSpPr/>
          <p:nvPr/>
        </p:nvSpPr>
        <p:spPr>
          <a:xfrm>
            <a:off x="650880" y="773100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CBDCs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03" name="Text 54"/>
          <p:cNvSpPr/>
          <p:nvPr/>
        </p:nvSpPr>
        <p:spPr>
          <a:xfrm>
            <a:off x="650880" y="798516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Central bank digital currencies (China's e-yuan) could compete for digital payments.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04" name="Shape 55"/>
          <p:cNvSpPr/>
          <p:nvPr/>
        </p:nvSpPr>
        <p:spPr>
          <a:xfrm>
            <a:off x="4236120" y="5072040"/>
            <a:ext cx="3717000" cy="35344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5" name="Shape 56"/>
          <p:cNvSpPr/>
          <p:nvPr/>
        </p:nvSpPr>
        <p:spPr>
          <a:xfrm>
            <a:off x="4442400" y="5278320"/>
            <a:ext cx="327600" cy="3276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6" name="Text 57"/>
          <p:cNvSpPr/>
          <p:nvPr/>
        </p:nvSpPr>
        <p:spPr>
          <a:xfrm>
            <a:off x="4378680" y="5254560"/>
            <a:ext cx="35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07" name="Text 58"/>
          <p:cNvSpPr/>
          <p:nvPr/>
        </p:nvSpPr>
        <p:spPr>
          <a:xfrm>
            <a:off x="4894920" y="5334120"/>
            <a:ext cx="147060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CENTRALIZATION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08" name="Shape 59"/>
          <p:cNvSpPr/>
          <p:nvPr/>
        </p:nvSpPr>
        <p:spPr>
          <a:xfrm>
            <a:off x="4434480" y="577836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9" name="Text 60"/>
          <p:cNvSpPr/>
          <p:nvPr/>
        </p:nvSpPr>
        <p:spPr>
          <a:xfrm>
            <a:off x="4545360" y="588960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Mining Pool Concentration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10" name="Text 61"/>
          <p:cNvSpPr/>
          <p:nvPr/>
        </p:nvSpPr>
        <p:spPr>
          <a:xfrm>
            <a:off x="4545360" y="614376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Top 5 pools control ~55% of hashrate. Foundry USA alone has ~35%.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11" name="Shape 62"/>
          <p:cNvSpPr/>
          <p:nvPr/>
        </p:nvSpPr>
        <p:spPr>
          <a:xfrm>
            <a:off x="4434480" y="669924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2" name="Text 63"/>
          <p:cNvSpPr/>
          <p:nvPr/>
        </p:nvSpPr>
        <p:spPr>
          <a:xfrm>
            <a:off x="4545360" y="681048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Large Holder Influence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13" name="Text 64"/>
          <p:cNvSpPr/>
          <p:nvPr/>
        </p:nvSpPr>
        <p:spPr>
          <a:xfrm>
            <a:off x="4545360" y="706428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"Whales" with 1,000+ BTC can move markets. Satoshi's 1M BTC remains untouched.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14" name="Shape 65"/>
          <p:cNvSpPr/>
          <p:nvPr/>
        </p:nvSpPr>
        <p:spPr>
          <a:xfrm>
            <a:off x="4434480" y="762012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5" name="Text 66"/>
          <p:cNvSpPr/>
          <p:nvPr/>
        </p:nvSpPr>
        <p:spPr>
          <a:xfrm>
            <a:off x="4545360" y="773100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16" name="Text 67"/>
          <p:cNvSpPr/>
          <p:nvPr/>
        </p:nvSpPr>
        <p:spPr>
          <a:xfrm>
            <a:off x="4545360" y="798516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Stratum V2 protocol gives miners more control. Geographic distribution improving.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17" name="Shape 68"/>
          <p:cNvSpPr/>
          <p:nvPr/>
        </p:nvSpPr>
        <p:spPr>
          <a:xfrm>
            <a:off x="8130600" y="5072040"/>
            <a:ext cx="3717000" cy="35344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8" name="Shape 69"/>
          <p:cNvSpPr/>
          <p:nvPr/>
        </p:nvSpPr>
        <p:spPr>
          <a:xfrm>
            <a:off x="8336880" y="5278320"/>
            <a:ext cx="327600" cy="3276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9" name="Text 70"/>
          <p:cNvSpPr/>
          <p:nvPr/>
        </p:nvSpPr>
        <p:spPr>
          <a:xfrm>
            <a:off x="8273520" y="5254560"/>
            <a:ext cx="359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20" name="Text 71"/>
          <p:cNvSpPr/>
          <p:nvPr/>
        </p:nvSpPr>
        <p:spPr>
          <a:xfrm>
            <a:off x="8789400" y="5334120"/>
            <a:ext cx="151812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RISKS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21" name="Shape 72"/>
          <p:cNvSpPr/>
          <p:nvPr/>
        </p:nvSpPr>
        <p:spPr>
          <a:xfrm>
            <a:off x="8328960" y="577836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2" name="Text 73"/>
          <p:cNvSpPr/>
          <p:nvPr/>
        </p:nvSpPr>
        <p:spPr>
          <a:xfrm>
            <a:off x="8440200" y="588960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Quantum Computing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23" name="Text 74"/>
          <p:cNvSpPr/>
          <p:nvPr/>
        </p:nvSpPr>
        <p:spPr>
          <a:xfrm>
            <a:off x="8440200" y="614376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Future quantum computers could break SHA-256. Bitcoin would need to upgrade cryptography.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24" name="Shape 75"/>
          <p:cNvSpPr/>
          <p:nvPr/>
        </p:nvSpPr>
        <p:spPr>
          <a:xfrm>
            <a:off x="8328960" y="669924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5" name="Text 76"/>
          <p:cNvSpPr/>
          <p:nvPr/>
        </p:nvSpPr>
        <p:spPr>
          <a:xfrm>
            <a:off x="8440200" y="681048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Protocol Bugs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26" name="Text 77"/>
          <p:cNvSpPr/>
          <p:nvPr/>
        </p:nvSpPr>
        <p:spPr>
          <a:xfrm>
            <a:off x="8440200" y="706428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Critical vulnerability could be exploited. 2010 inflation bug created 184 billion BTC (quickly fixed).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27" name="Shape 78"/>
          <p:cNvSpPr/>
          <p:nvPr/>
        </p:nvSpPr>
        <p:spPr>
          <a:xfrm>
            <a:off x="8328960" y="7620120"/>
            <a:ext cx="3319920" cy="7880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8" name="Text 79"/>
          <p:cNvSpPr/>
          <p:nvPr/>
        </p:nvSpPr>
        <p:spPr>
          <a:xfrm>
            <a:off x="8440200" y="7731000"/>
            <a:ext cx="31611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29" name="Text 80"/>
          <p:cNvSpPr/>
          <p:nvPr/>
        </p:nvSpPr>
        <p:spPr>
          <a:xfrm>
            <a:off x="8440200" y="7985160"/>
            <a:ext cx="315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Conservative development, extensive testing, slow upgrade process minimizes risk.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1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2" name="Shape 1"/>
          <p:cNvSpPr/>
          <p:nvPr/>
        </p:nvSpPr>
        <p:spPr>
          <a:xfrm>
            <a:off x="409680" y="781200"/>
            <a:ext cx="8471520" cy="395676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3" name="Shape 2"/>
          <p:cNvSpPr/>
          <p:nvPr/>
        </p:nvSpPr>
        <p:spPr>
          <a:xfrm>
            <a:off x="923760" y="12952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4" name="Text 3"/>
          <p:cNvSpPr/>
          <p:nvPr/>
        </p:nvSpPr>
        <p:spPr>
          <a:xfrm>
            <a:off x="781200" y="126684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11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35" name="Shape 4"/>
          <p:cNvSpPr/>
          <p:nvPr/>
        </p:nvSpPr>
        <p:spPr>
          <a:xfrm>
            <a:off x="2038320" y="126684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6" name="Text 5"/>
          <p:cNvSpPr/>
          <p:nvPr/>
        </p:nvSpPr>
        <p:spPr>
          <a:xfrm>
            <a:off x="895320" y="2486160"/>
            <a:ext cx="784296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FUTURE OUTLOOK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937" name="Shape 6"/>
          <p:cNvSpPr/>
          <p:nvPr/>
        </p:nvSpPr>
        <p:spPr>
          <a:xfrm>
            <a:off x="895320" y="357192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8" name="Text 7"/>
          <p:cNvSpPr/>
          <p:nvPr/>
        </p:nvSpPr>
        <p:spPr>
          <a:xfrm>
            <a:off x="895320" y="3876840"/>
            <a:ext cx="76712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Predictions &amp; Scenarios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939" name="Shape 8"/>
          <p:cNvSpPr/>
          <p:nvPr/>
        </p:nvSpPr>
        <p:spPr>
          <a:xfrm>
            <a:off x="409680" y="5257800"/>
            <a:ext cx="11367000" cy="8132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0" name="Text 9"/>
          <p:cNvSpPr/>
          <p:nvPr/>
        </p:nvSpPr>
        <p:spPr>
          <a:xfrm>
            <a:off x="666720" y="5514840"/>
            <a:ext cx="10967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Expert Forecasts &amp; Price Targets for 2025-2030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2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2025-2030: EXPERT PREDICTIONS &amp; SCENARIOS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943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4" name="Shape 3"/>
          <p:cNvSpPr/>
          <p:nvPr/>
        </p:nvSpPr>
        <p:spPr>
          <a:xfrm>
            <a:off x="341280" y="1357200"/>
            <a:ext cx="6217200" cy="3566160"/>
          </a:xfrm>
          <a:custGeom>
            <a:avLst/>
            <a:gdLst/>
            <a:ahLst/>
            <a:rect l="l" t="t" r="r" b="b"/>
            <a:pathLst>
              <a:path w="6223000" h="3571875">
                <a:moveTo>
                  <a:pt x="0" y="0"/>
                </a:moveTo>
                <a:lnTo>
                  <a:pt x="6223000" y="0"/>
                </a:lnTo>
                <a:lnTo>
                  <a:pt x="62230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5" name="Text 4"/>
          <p:cNvSpPr/>
          <p:nvPr/>
        </p:nvSpPr>
        <p:spPr>
          <a:xfrm>
            <a:off x="523800" y="1539720"/>
            <a:ext cx="59472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PRICE TARGETS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46" name="Shape 5"/>
          <p:cNvSpPr/>
          <p:nvPr/>
        </p:nvSpPr>
        <p:spPr>
          <a:xfrm>
            <a:off x="539640" y="1936800"/>
            <a:ext cx="5820480" cy="915120"/>
          </a:xfrm>
          <a:custGeom>
            <a:avLst/>
            <a:gdLst/>
            <a:ah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7" name="Text 6"/>
          <p:cNvSpPr/>
          <p:nvPr/>
        </p:nvSpPr>
        <p:spPr>
          <a:xfrm>
            <a:off x="650880" y="2063880"/>
            <a:ext cx="9388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2025 Targets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48" name="Text 7"/>
          <p:cNvSpPr/>
          <p:nvPr/>
        </p:nvSpPr>
        <p:spPr>
          <a:xfrm>
            <a:off x="4961160" y="2048040"/>
            <a:ext cx="13834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$120K - $285K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49" name="Text 8"/>
          <p:cNvSpPr/>
          <p:nvPr/>
        </p:nvSpPr>
        <p:spPr>
          <a:xfrm>
            <a:off x="650880" y="2365200"/>
            <a:ext cx="2819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Standard Chartered: $200K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0" name="Text 9"/>
          <p:cNvSpPr/>
          <p:nvPr/>
        </p:nvSpPr>
        <p:spPr>
          <a:xfrm>
            <a:off x="3483720" y="2365200"/>
            <a:ext cx="2819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Fundstrat: $250K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1" name="Text 10"/>
          <p:cNvSpPr/>
          <p:nvPr/>
        </p:nvSpPr>
        <p:spPr>
          <a:xfrm>
            <a:off x="650880" y="2587680"/>
            <a:ext cx="2819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H.C. Wainwright: $225K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2" name="Text 11"/>
          <p:cNvSpPr/>
          <p:nvPr/>
        </p:nvSpPr>
        <p:spPr>
          <a:xfrm>
            <a:off x="3483720" y="2587680"/>
            <a:ext cx="2819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21st Capital: $285K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3" name="Shape 12"/>
          <p:cNvSpPr/>
          <p:nvPr/>
        </p:nvSpPr>
        <p:spPr>
          <a:xfrm>
            <a:off x="539640" y="2984400"/>
            <a:ext cx="5820480" cy="692640"/>
          </a:xfrm>
          <a:custGeom>
            <a:avLst/>
            <a:gdLst/>
            <a:ahLst/>
            <a:rect l="l" t="t" r="r" b="b"/>
            <a:pathLst>
              <a:path w="5826125" h="698500">
                <a:moveTo>
                  <a:pt x="0" y="0"/>
                </a:moveTo>
                <a:lnTo>
                  <a:pt x="5826125" y="0"/>
                </a:lnTo>
                <a:lnTo>
                  <a:pt x="582612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4" name="Text 13"/>
          <p:cNvSpPr/>
          <p:nvPr/>
        </p:nvSpPr>
        <p:spPr>
          <a:xfrm>
            <a:off x="650880" y="3111480"/>
            <a:ext cx="9388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2026 Targets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55" name="Text 14"/>
          <p:cNvSpPr/>
          <p:nvPr/>
        </p:nvSpPr>
        <p:spPr>
          <a:xfrm>
            <a:off x="5067000" y="3095640"/>
            <a:ext cx="12722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$78K - $142K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56" name="Text 15"/>
          <p:cNvSpPr/>
          <p:nvPr/>
        </p:nvSpPr>
        <p:spPr>
          <a:xfrm>
            <a:off x="650880" y="3413160"/>
            <a:ext cx="56538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Consolidation after 2025 peak, continued ETF inflows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7" name="Shape 16"/>
          <p:cNvSpPr/>
          <p:nvPr/>
        </p:nvSpPr>
        <p:spPr>
          <a:xfrm>
            <a:off x="539640" y="3809880"/>
            <a:ext cx="5820480" cy="915120"/>
          </a:xfrm>
          <a:custGeom>
            <a:avLst/>
            <a:gdLst/>
            <a:ah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8" name="Text 17"/>
          <p:cNvSpPr/>
          <p:nvPr/>
        </p:nvSpPr>
        <p:spPr>
          <a:xfrm>
            <a:off x="650880" y="3936960"/>
            <a:ext cx="9388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2030 Targets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59" name="Text 18"/>
          <p:cNvSpPr/>
          <p:nvPr/>
        </p:nvSpPr>
        <p:spPr>
          <a:xfrm>
            <a:off x="4992840" y="3921120"/>
            <a:ext cx="13514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$109K - $1.5M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60" name="Text 19"/>
          <p:cNvSpPr/>
          <p:nvPr/>
        </p:nvSpPr>
        <p:spPr>
          <a:xfrm>
            <a:off x="650880" y="4238640"/>
            <a:ext cx="2819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Jack Dorsey: $1M+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1" name="Text 20"/>
          <p:cNvSpPr/>
          <p:nvPr/>
        </p:nvSpPr>
        <p:spPr>
          <a:xfrm>
            <a:off x="3483720" y="4238640"/>
            <a:ext cx="2819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Cathie Wood: $1.5M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2" name="Text 21"/>
          <p:cNvSpPr/>
          <p:nvPr/>
        </p:nvSpPr>
        <p:spPr>
          <a:xfrm>
            <a:off x="650880" y="4460760"/>
            <a:ext cx="2819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JPMorgan: $170K-266K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3" name="Text 22"/>
          <p:cNvSpPr/>
          <p:nvPr/>
        </p:nvSpPr>
        <p:spPr>
          <a:xfrm>
            <a:off x="3483720" y="4460760"/>
            <a:ext cx="2819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Conservative: $109K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4" name="Shape 23"/>
          <p:cNvSpPr/>
          <p:nvPr/>
        </p:nvSpPr>
        <p:spPr>
          <a:xfrm>
            <a:off x="341280" y="5103720"/>
            <a:ext cx="6217200" cy="3312000"/>
          </a:xfrm>
          <a:custGeom>
            <a:avLst/>
            <a:gdLst/>
            <a:ahLst/>
            <a:rect l="l" t="t" r="r" b="b"/>
            <a:pathLst>
              <a:path w="6223000" h="3317875">
                <a:moveTo>
                  <a:pt x="0" y="0"/>
                </a:moveTo>
                <a:lnTo>
                  <a:pt x="6223000" y="0"/>
                </a:lnTo>
                <a:lnTo>
                  <a:pt x="6223000" y="3317875"/>
                </a:lnTo>
                <a:lnTo>
                  <a:pt x="0" y="3317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5" name="Text 24"/>
          <p:cNvSpPr/>
          <p:nvPr/>
        </p:nvSpPr>
        <p:spPr>
          <a:xfrm>
            <a:off x="523800" y="5286240"/>
            <a:ext cx="59472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KEY CATALYSTS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66" name="Shape 25"/>
          <p:cNvSpPr/>
          <p:nvPr/>
        </p:nvSpPr>
        <p:spPr>
          <a:xfrm>
            <a:off x="539640" y="5683320"/>
            <a:ext cx="2843640" cy="7563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7" name="Text 26"/>
          <p:cNvSpPr/>
          <p:nvPr/>
        </p:nvSpPr>
        <p:spPr>
          <a:xfrm>
            <a:off x="650880" y="5794200"/>
            <a:ext cx="2684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Inflows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68" name="Text 27"/>
          <p:cNvSpPr/>
          <p:nvPr/>
        </p:nvSpPr>
        <p:spPr>
          <a:xfrm>
            <a:off x="650880" y="6016680"/>
            <a:ext cx="2676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Continued institutional buying through regulated vehicles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9" name="Shape 28"/>
          <p:cNvSpPr/>
          <p:nvPr/>
        </p:nvSpPr>
        <p:spPr>
          <a:xfrm>
            <a:off x="3515400" y="5683320"/>
            <a:ext cx="2843640" cy="7563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0" name="Text 29"/>
          <p:cNvSpPr/>
          <p:nvPr/>
        </p:nvSpPr>
        <p:spPr>
          <a:xfrm>
            <a:off x="3626640" y="5794200"/>
            <a:ext cx="2684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Corporate Treasury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71" name="Text 30"/>
          <p:cNvSpPr/>
          <p:nvPr/>
        </p:nvSpPr>
        <p:spPr>
          <a:xfrm>
            <a:off x="3626640" y="6016680"/>
            <a:ext cx="2676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More companies following MicroStrategy's Bitcoin strategy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72" name="Shape 31"/>
          <p:cNvSpPr/>
          <p:nvPr/>
        </p:nvSpPr>
        <p:spPr>
          <a:xfrm>
            <a:off x="539640" y="6572160"/>
            <a:ext cx="2843640" cy="7563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3" name="Text 32"/>
          <p:cNvSpPr/>
          <p:nvPr/>
        </p:nvSpPr>
        <p:spPr>
          <a:xfrm>
            <a:off x="650880" y="6683400"/>
            <a:ext cx="2684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Nation-State Adoption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74" name="Text 33"/>
          <p:cNvSpPr/>
          <p:nvPr/>
        </p:nvSpPr>
        <p:spPr>
          <a:xfrm>
            <a:off x="650880" y="6905520"/>
            <a:ext cx="2676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More countries making Bitcoin legal tender or reserve asset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75" name="Shape 34"/>
          <p:cNvSpPr/>
          <p:nvPr/>
        </p:nvSpPr>
        <p:spPr>
          <a:xfrm>
            <a:off x="3515400" y="6572160"/>
            <a:ext cx="2843640" cy="7563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6" name="Text 35"/>
          <p:cNvSpPr/>
          <p:nvPr/>
        </p:nvSpPr>
        <p:spPr>
          <a:xfrm>
            <a:off x="3626640" y="6683400"/>
            <a:ext cx="2684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2028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77" name="Text 36"/>
          <p:cNvSpPr/>
          <p:nvPr/>
        </p:nvSpPr>
        <p:spPr>
          <a:xfrm>
            <a:off x="3626640" y="6905520"/>
            <a:ext cx="2676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Next supply shock reduces new issuance to 1.5625 BTC/block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78" name="Shape 37"/>
          <p:cNvSpPr/>
          <p:nvPr/>
        </p:nvSpPr>
        <p:spPr>
          <a:xfrm>
            <a:off x="539640" y="7461360"/>
            <a:ext cx="2843640" cy="7563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9" name="Text 38"/>
          <p:cNvSpPr/>
          <p:nvPr/>
        </p:nvSpPr>
        <p:spPr>
          <a:xfrm>
            <a:off x="650880" y="7572240"/>
            <a:ext cx="2684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Favorable Regulation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80" name="Text 39"/>
          <p:cNvSpPr/>
          <p:nvPr/>
        </p:nvSpPr>
        <p:spPr>
          <a:xfrm>
            <a:off x="650880" y="7794720"/>
            <a:ext cx="2676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Pro-crypto US administration, global regulatory clarity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81" name="Shape 40"/>
          <p:cNvSpPr/>
          <p:nvPr/>
        </p:nvSpPr>
        <p:spPr>
          <a:xfrm>
            <a:off x="3515400" y="7461360"/>
            <a:ext cx="2843640" cy="7563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2" name="Text 41"/>
          <p:cNvSpPr/>
          <p:nvPr/>
        </p:nvSpPr>
        <p:spPr>
          <a:xfrm>
            <a:off x="3626640" y="7572240"/>
            <a:ext cx="2684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Layer 2 Growth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83" name="Text 42"/>
          <p:cNvSpPr/>
          <p:nvPr/>
        </p:nvSpPr>
        <p:spPr>
          <a:xfrm>
            <a:off x="3626640" y="7794720"/>
            <a:ext cx="2676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enables everyday payments at scale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84" name="Shape 43"/>
          <p:cNvSpPr/>
          <p:nvPr/>
        </p:nvSpPr>
        <p:spPr>
          <a:xfrm>
            <a:off x="6769080" y="1357200"/>
            <a:ext cx="5074200" cy="6074280"/>
          </a:xfrm>
          <a:custGeom>
            <a:avLst/>
            <a:gdLst/>
            <a:ahLst/>
            <a:rect l="l" t="t" r="r" b="b"/>
            <a:pathLst>
              <a:path w="5080000" h="6080125">
                <a:moveTo>
                  <a:pt x="0" y="0"/>
                </a:moveTo>
                <a:lnTo>
                  <a:pt x="5080000" y="0"/>
                </a:lnTo>
                <a:lnTo>
                  <a:pt x="5080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85" name="Text 44"/>
          <p:cNvSpPr/>
          <p:nvPr/>
        </p:nvSpPr>
        <p:spPr>
          <a:xfrm>
            <a:off x="6951600" y="1539720"/>
            <a:ext cx="48042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THREE SCENARIOS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86" name="Shape 45"/>
          <p:cNvSpPr/>
          <p:nvPr/>
        </p:nvSpPr>
        <p:spPr>
          <a:xfrm>
            <a:off x="6967440" y="1936800"/>
            <a:ext cx="4677480" cy="1708920"/>
          </a:xfrm>
          <a:custGeom>
            <a:avLst/>
            <a:gdLst/>
            <a:ah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7" name="Shape 46"/>
          <p:cNvSpPr/>
          <p:nvPr/>
        </p:nvSpPr>
        <p:spPr>
          <a:xfrm>
            <a:off x="7134120" y="2103480"/>
            <a:ext cx="264240" cy="2642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e7000b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8" name="Text 47"/>
          <p:cNvSpPr/>
          <p:nvPr/>
        </p:nvSpPr>
        <p:spPr>
          <a:xfrm>
            <a:off x="7078680" y="2079720"/>
            <a:ext cx="2800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89" name="Text 48"/>
          <p:cNvSpPr/>
          <p:nvPr/>
        </p:nvSpPr>
        <p:spPr>
          <a:xfrm>
            <a:off x="7523280" y="2127240"/>
            <a:ext cx="10101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BEAR CASE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90" name="Text 49"/>
          <p:cNvSpPr/>
          <p:nvPr/>
        </p:nvSpPr>
        <p:spPr>
          <a:xfrm>
            <a:off x="7110360" y="2460600"/>
            <a:ext cx="451080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e7000b"/>
                </a:solidFill>
                <a:latin typeface="Noto Sans SC"/>
                <a:ea typeface="Noto Sans SC"/>
              </a:rPr>
              <a:t>$50K - $75K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91" name="Text 50"/>
          <p:cNvSpPr/>
          <p:nvPr/>
        </p:nvSpPr>
        <p:spPr>
          <a:xfrm>
            <a:off x="7110360" y="2809800"/>
            <a:ext cx="44470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Triggers: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Regulatory crackdowns, major exchange failure, prolonged recession, quantum computing breakthrough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92" name="Text 51"/>
          <p:cNvSpPr/>
          <p:nvPr/>
        </p:nvSpPr>
        <p:spPr>
          <a:xfrm>
            <a:off x="7110360" y="3191040"/>
            <a:ext cx="44470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survives but struggles to gain mainstream traction. Volatility remains high, institutional interest wanes.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93" name="Shape 52"/>
          <p:cNvSpPr/>
          <p:nvPr/>
        </p:nvSpPr>
        <p:spPr>
          <a:xfrm>
            <a:off x="6967440" y="3809880"/>
            <a:ext cx="4677480" cy="1550160"/>
          </a:xfrm>
          <a:custGeom>
            <a:avLst/>
            <a:gdLst/>
            <a:ahLst/>
            <a:rect l="l" t="t" r="r" b="b"/>
            <a:pathLst>
              <a:path w="4683125" h="1555750">
                <a:moveTo>
                  <a:pt x="0" y="0"/>
                </a:moveTo>
                <a:lnTo>
                  <a:pt x="4683125" y="0"/>
                </a:lnTo>
                <a:lnTo>
                  <a:pt x="4683125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4" name="Shape 53"/>
          <p:cNvSpPr/>
          <p:nvPr/>
        </p:nvSpPr>
        <p:spPr>
          <a:xfrm>
            <a:off x="7134120" y="3976560"/>
            <a:ext cx="264240" cy="2642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5" name="Text 54"/>
          <p:cNvSpPr/>
          <p:nvPr/>
        </p:nvSpPr>
        <p:spPr>
          <a:xfrm>
            <a:off x="7078680" y="3952800"/>
            <a:ext cx="2800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96" name="Text 55"/>
          <p:cNvSpPr/>
          <p:nvPr/>
        </p:nvSpPr>
        <p:spPr>
          <a:xfrm>
            <a:off x="7523280" y="4000680"/>
            <a:ext cx="10022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BASE CASE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97" name="Text 56"/>
          <p:cNvSpPr/>
          <p:nvPr/>
        </p:nvSpPr>
        <p:spPr>
          <a:xfrm>
            <a:off x="7110360" y="4334040"/>
            <a:ext cx="451080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d08700"/>
                </a:solidFill>
                <a:latin typeface="Noto Sans SC"/>
                <a:ea typeface="Noto Sans SC"/>
              </a:rPr>
              <a:t>$150K - $250K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98" name="Text 57"/>
          <p:cNvSpPr/>
          <p:nvPr/>
        </p:nvSpPr>
        <p:spPr>
          <a:xfrm>
            <a:off x="7110360" y="4683240"/>
            <a:ext cx="44470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Triggers: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Steady ETF inflows, corporate adoption, favorable regulation, 2028 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99" name="Text 58"/>
          <p:cNvSpPr/>
          <p:nvPr/>
        </p:nvSpPr>
        <p:spPr>
          <a:xfrm>
            <a:off x="7110360" y="4905360"/>
            <a:ext cx="44470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becomes established store of value, "digital gold" thesis validated. Volatility decreases as market matures.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1000" name="Shape 59"/>
          <p:cNvSpPr/>
          <p:nvPr/>
        </p:nvSpPr>
        <p:spPr>
          <a:xfrm>
            <a:off x="6967440" y="5524560"/>
            <a:ext cx="4677480" cy="1708920"/>
          </a:xfrm>
          <a:custGeom>
            <a:avLst/>
            <a:gdLst/>
            <a:ah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1" name="Shape 60"/>
          <p:cNvSpPr/>
          <p:nvPr/>
        </p:nvSpPr>
        <p:spPr>
          <a:xfrm>
            <a:off x="7134120" y="5691240"/>
            <a:ext cx="264240" cy="2642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2" name="Text 61"/>
          <p:cNvSpPr/>
          <p:nvPr/>
        </p:nvSpPr>
        <p:spPr>
          <a:xfrm>
            <a:off x="7078680" y="5667480"/>
            <a:ext cx="2800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03" name="Text 62"/>
          <p:cNvSpPr/>
          <p:nvPr/>
        </p:nvSpPr>
        <p:spPr>
          <a:xfrm>
            <a:off x="7523280" y="5715000"/>
            <a:ext cx="9784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BULL CASE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004" name="Text 63"/>
          <p:cNvSpPr/>
          <p:nvPr/>
        </p:nvSpPr>
        <p:spPr>
          <a:xfrm>
            <a:off x="7110360" y="6048360"/>
            <a:ext cx="451080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a63e"/>
                </a:solidFill>
                <a:latin typeface="Noto Sans SC"/>
                <a:ea typeface="Noto Sans SC"/>
              </a:rPr>
              <a:t>$500K+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005" name="Text 64"/>
          <p:cNvSpPr/>
          <p:nvPr/>
        </p:nvSpPr>
        <p:spPr>
          <a:xfrm>
            <a:off x="7110360" y="6397560"/>
            <a:ext cx="44470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Triggers: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US strategic Bitcoin reserve, mass corporate adoption, nation-state FOMO, dollar crisis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1006" name="Text 65"/>
          <p:cNvSpPr/>
          <p:nvPr/>
        </p:nvSpPr>
        <p:spPr>
          <a:xfrm>
            <a:off x="7110360" y="6778800"/>
            <a:ext cx="44470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becomes global reserve asset, challenges gold's $16T market cap. Widespread use as savings technology.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8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9" name="Shape 1"/>
          <p:cNvSpPr/>
          <p:nvPr/>
        </p:nvSpPr>
        <p:spPr>
          <a:xfrm>
            <a:off x="6200640" y="781200"/>
            <a:ext cx="5576040" cy="3956760"/>
          </a:xfrm>
          <a:custGeom>
            <a:avLst/>
            <a:gdLst/>
            <a:ahLst/>
            <a:rect l="l" t="t" r="r" b="b"/>
            <a:pathLst>
              <a:path w="5581650" h="3962400">
                <a:moveTo>
                  <a:pt x="0" y="0"/>
                </a:moveTo>
                <a:lnTo>
                  <a:pt x="5581650" y="0"/>
                </a:lnTo>
                <a:lnTo>
                  <a:pt x="55816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0" name="Shape 2"/>
          <p:cNvSpPr/>
          <p:nvPr/>
        </p:nvSpPr>
        <p:spPr>
          <a:xfrm>
            <a:off x="10077480" y="1266840"/>
            <a:ext cx="70560" cy="9086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1" name="Shape 3"/>
          <p:cNvSpPr/>
          <p:nvPr/>
        </p:nvSpPr>
        <p:spPr>
          <a:xfrm>
            <a:off x="10410840" y="1295280"/>
            <a:ext cx="851400" cy="8514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2" name="Text 4"/>
          <p:cNvSpPr/>
          <p:nvPr/>
        </p:nvSpPr>
        <p:spPr>
          <a:xfrm>
            <a:off x="10267920" y="1266840"/>
            <a:ext cx="10231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12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013" name="Text 5"/>
          <p:cNvSpPr/>
          <p:nvPr/>
        </p:nvSpPr>
        <p:spPr>
          <a:xfrm>
            <a:off x="6343560" y="2486160"/>
            <a:ext cx="494712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CONCLUSION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014" name="Shape 6"/>
          <p:cNvSpPr/>
          <p:nvPr/>
        </p:nvSpPr>
        <p:spPr>
          <a:xfrm>
            <a:off x="9468000" y="357192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5" name="Text 7"/>
          <p:cNvSpPr/>
          <p:nvPr/>
        </p:nvSpPr>
        <p:spPr>
          <a:xfrm>
            <a:off x="6515280" y="3876840"/>
            <a:ext cx="477576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Path Forward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016" name="Shape 8"/>
          <p:cNvSpPr/>
          <p:nvPr/>
        </p:nvSpPr>
        <p:spPr>
          <a:xfrm>
            <a:off x="7382880" y="5257800"/>
            <a:ext cx="4394880" cy="813240"/>
          </a:xfrm>
          <a:custGeom>
            <a:avLst/>
            <a:gdLst/>
            <a:ahLst/>
            <a:rect l="l" t="t" r="r" b="b"/>
            <a:pathLst>
              <a:path w="4400550" h="819150">
                <a:moveTo>
                  <a:pt x="0" y="0"/>
                </a:moveTo>
                <a:lnTo>
                  <a:pt x="4400550" y="0"/>
                </a:lnTo>
                <a:lnTo>
                  <a:pt x="44005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7" name="Text 9"/>
          <p:cNvSpPr/>
          <p:nvPr/>
        </p:nvSpPr>
        <p:spPr>
          <a:xfrm>
            <a:off x="7640280" y="5514840"/>
            <a:ext cx="399492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Key Takeaways &amp; Final Thoughts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Shape 0"/>
          <p:cNvSpPr/>
          <p:nvPr/>
        </p:nvSpPr>
        <p:spPr>
          <a:xfrm>
            <a:off x="341280" y="341280"/>
            <a:ext cx="11503440" cy="8355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9" name="Text 1"/>
          <p:cNvSpPr/>
          <p:nvPr/>
        </p:nvSpPr>
        <p:spPr>
          <a:xfrm>
            <a:off x="523800" y="523800"/>
            <a:ext cx="1128132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TRAJECTORY: KEY TAKEAWAYS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20" name="Shape 2"/>
          <p:cNvSpPr/>
          <p:nvPr/>
        </p:nvSpPr>
        <p:spPr>
          <a:xfrm>
            <a:off x="523800" y="936720"/>
            <a:ext cx="756360" cy="576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1" name="Shape 3"/>
          <p:cNvSpPr/>
          <p:nvPr/>
        </p:nvSpPr>
        <p:spPr>
          <a:xfrm>
            <a:off x="341280" y="1357200"/>
            <a:ext cx="5661720" cy="158184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2" name="Shape 4"/>
          <p:cNvSpPr/>
          <p:nvPr/>
        </p:nvSpPr>
        <p:spPr>
          <a:xfrm>
            <a:off x="547560" y="1563840"/>
            <a:ext cx="390960" cy="3909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3" name="Text 5"/>
          <p:cNvSpPr/>
          <p:nvPr/>
        </p:nvSpPr>
        <p:spPr>
          <a:xfrm>
            <a:off x="476280" y="1539720"/>
            <a:ext cx="4388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4" name="Text 6"/>
          <p:cNvSpPr/>
          <p:nvPr/>
        </p:nvSpPr>
        <p:spPr>
          <a:xfrm>
            <a:off x="1095480" y="1539720"/>
            <a:ext cx="36453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EXPERIMENT TO ASSET CLASS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5" name="Text 7"/>
          <p:cNvSpPr/>
          <p:nvPr/>
        </p:nvSpPr>
        <p:spPr>
          <a:xfrm>
            <a:off x="523800" y="2079720"/>
            <a:ext cx="5360040" cy="6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 has evolved from a cypherpunk experiment to a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globally recognized financial asset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with $1.47 trillion market cap. What started as an idea in a whitepaper is now held by institutions, corporations, and nation-states.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26" name="Shape 8"/>
          <p:cNvSpPr/>
          <p:nvPr/>
        </p:nvSpPr>
        <p:spPr>
          <a:xfrm>
            <a:off x="6183360" y="1357200"/>
            <a:ext cx="5661720" cy="158184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7" name="Shape 9"/>
          <p:cNvSpPr/>
          <p:nvPr/>
        </p:nvSpPr>
        <p:spPr>
          <a:xfrm>
            <a:off x="6389640" y="1563840"/>
            <a:ext cx="390960" cy="3909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8" name="Text 10"/>
          <p:cNvSpPr/>
          <p:nvPr/>
        </p:nvSpPr>
        <p:spPr>
          <a:xfrm>
            <a:off x="6318360" y="1539720"/>
            <a:ext cx="4388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9" name="Text 11"/>
          <p:cNvSpPr/>
          <p:nvPr/>
        </p:nvSpPr>
        <p:spPr>
          <a:xfrm>
            <a:off x="6937200" y="1539720"/>
            <a:ext cx="4820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 CROSSED THE RUBICON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0" name="Text 12"/>
          <p:cNvSpPr/>
          <p:nvPr/>
        </p:nvSpPr>
        <p:spPr>
          <a:xfrm>
            <a:off x="6365880" y="2143080"/>
            <a:ext cx="5360040" cy="6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January 2024 ETF approval was a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watershed moment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. Wall Street has embraced Bitcoin, with $85B+ in ETF AUM, corporate treasury strategies, and major banks offering crypto services. This genie cannot be put back in the bottle.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31" name="Shape 13"/>
          <p:cNvSpPr/>
          <p:nvPr/>
        </p:nvSpPr>
        <p:spPr>
          <a:xfrm>
            <a:off x="341280" y="3119400"/>
            <a:ext cx="5661720" cy="158184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2" name="Shape 14"/>
          <p:cNvSpPr/>
          <p:nvPr/>
        </p:nvSpPr>
        <p:spPr>
          <a:xfrm>
            <a:off x="547560" y="3325680"/>
            <a:ext cx="390960" cy="3909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3" name="Text 15"/>
          <p:cNvSpPr/>
          <p:nvPr/>
        </p:nvSpPr>
        <p:spPr>
          <a:xfrm>
            <a:off x="476280" y="3301920"/>
            <a:ext cx="4388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4" name="Text 16"/>
          <p:cNvSpPr/>
          <p:nvPr/>
        </p:nvSpPr>
        <p:spPr>
          <a:xfrm>
            <a:off x="1095480" y="3301920"/>
            <a:ext cx="4820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HALVING CYCLES CREATE PREDICTABLE PATTERNS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5" name="Text 17"/>
          <p:cNvSpPr/>
          <p:nvPr/>
        </p:nvSpPr>
        <p:spPr>
          <a:xfrm>
            <a:off x="523800" y="3905280"/>
            <a:ext cx="5360040" cy="6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programmed scarcity mechanism has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historically preceded major bull runs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. The 2024 halving reduced daily new supply to 450 BTC (0.85% inflation), setting the stage for the next supply-demand imbalance.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36" name="Shape 18"/>
          <p:cNvSpPr/>
          <p:nvPr/>
        </p:nvSpPr>
        <p:spPr>
          <a:xfrm>
            <a:off x="6183360" y="3119400"/>
            <a:ext cx="5661720" cy="158184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7" name="Shape 19"/>
          <p:cNvSpPr/>
          <p:nvPr/>
        </p:nvSpPr>
        <p:spPr>
          <a:xfrm>
            <a:off x="6389640" y="3325680"/>
            <a:ext cx="390960" cy="3909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8" name="Text 20"/>
          <p:cNvSpPr/>
          <p:nvPr/>
        </p:nvSpPr>
        <p:spPr>
          <a:xfrm>
            <a:off x="6318360" y="3301920"/>
            <a:ext cx="4388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4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9" name="Text 21"/>
          <p:cNvSpPr/>
          <p:nvPr/>
        </p:nvSpPr>
        <p:spPr>
          <a:xfrm>
            <a:off x="6937200" y="3301920"/>
            <a:ext cx="47487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REMAIN, BUT SOLUTIONS EMERGE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40" name="Text 22"/>
          <p:cNvSpPr/>
          <p:nvPr/>
        </p:nvSpPr>
        <p:spPr>
          <a:xfrm>
            <a:off x="6365880" y="3841920"/>
            <a:ext cx="5360040" cy="6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Scalability, energy consumption, and regulation are real challenges. However,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Layer 2 solutions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(Lightning Network), renewable energy adoption (~55% of mining), and regulatory clarity are addressing these issues.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41" name="Shape 23"/>
          <p:cNvSpPr/>
          <p:nvPr/>
        </p:nvSpPr>
        <p:spPr>
          <a:xfrm>
            <a:off x="341280" y="4881600"/>
            <a:ext cx="5661720" cy="1518120"/>
          </a:xfrm>
          <a:custGeom>
            <a:avLst/>
            <a:gdLst/>
            <a:ah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2" name="Shape 24"/>
          <p:cNvSpPr/>
          <p:nvPr/>
        </p:nvSpPr>
        <p:spPr>
          <a:xfrm>
            <a:off x="547560" y="5087880"/>
            <a:ext cx="390960" cy="3909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3" name="Text 25"/>
          <p:cNvSpPr/>
          <p:nvPr/>
        </p:nvSpPr>
        <p:spPr>
          <a:xfrm>
            <a:off x="476280" y="5064120"/>
            <a:ext cx="4388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5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44" name="Text 26"/>
          <p:cNvSpPr/>
          <p:nvPr/>
        </p:nvSpPr>
        <p:spPr>
          <a:xfrm>
            <a:off x="1095480" y="5064120"/>
            <a:ext cx="32565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"DIGITAL GOLD" STILL EVOLVING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45" name="Text 27"/>
          <p:cNvSpPr/>
          <p:nvPr/>
        </p:nvSpPr>
        <p:spPr>
          <a:xfrm>
            <a:off x="523800" y="5603760"/>
            <a:ext cx="5360040" cy="6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Bitcoin's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scarcity and decentralization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provide unique value, but it hasn't consistently acted as a crisis hedge like gold. As the asset matures and volatility decreases, the digital gold thesis may be validated—or Bitcoin may carve out a different role.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46" name="Shape 28"/>
          <p:cNvSpPr/>
          <p:nvPr/>
        </p:nvSpPr>
        <p:spPr>
          <a:xfrm>
            <a:off x="6183360" y="4881600"/>
            <a:ext cx="5661720" cy="1518120"/>
          </a:xfrm>
          <a:custGeom>
            <a:avLst/>
            <a:gdLst/>
            <a:ah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7" name="Shape 29"/>
          <p:cNvSpPr/>
          <p:nvPr/>
        </p:nvSpPr>
        <p:spPr>
          <a:xfrm>
            <a:off x="6389640" y="5087880"/>
            <a:ext cx="390960" cy="3909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8" name="Text 30"/>
          <p:cNvSpPr/>
          <p:nvPr/>
        </p:nvSpPr>
        <p:spPr>
          <a:xfrm>
            <a:off x="6318360" y="5064120"/>
            <a:ext cx="4388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6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49" name="Text 31"/>
          <p:cNvSpPr/>
          <p:nvPr/>
        </p:nvSpPr>
        <p:spPr>
          <a:xfrm>
            <a:off x="6937200" y="5064120"/>
            <a:ext cx="32961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2024-2030: THE CRITICAL DECADE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50" name="Text 32"/>
          <p:cNvSpPr/>
          <p:nvPr/>
        </p:nvSpPr>
        <p:spPr>
          <a:xfrm>
            <a:off x="6365880" y="5603760"/>
            <a:ext cx="5360040" cy="6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next 6 years will determine Bitcoin's long-term trajectory.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adoption, corporate treasuries, nation-state accumulation, and the 2028 halving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could propel Bitcoin to $150K-$500K+ or higher. The foundation is being laid for mainstream integration.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51" name="Shape 33"/>
          <p:cNvSpPr/>
          <p:nvPr/>
        </p:nvSpPr>
        <p:spPr>
          <a:xfrm>
            <a:off x="341280" y="6580080"/>
            <a:ext cx="11503440" cy="1661040"/>
          </a:xfrm>
          <a:custGeom>
            <a:avLst/>
            <a:gdLst/>
            <a:ahLst/>
            <a:rect l="l" t="t" r="r" b="b"/>
            <a:pathLst>
              <a:path w="11509375" h="1666875">
                <a:moveTo>
                  <a:pt x="0" y="0"/>
                </a:moveTo>
                <a:lnTo>
                  <a:pt x="11509375" y="0"/>
                </a:lnTo>
                <a:lnTo>
                  <a:pt x="115093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2" name="Text 34"/>
          <p:cNvSpPr/>
          <p:nvPr/>
        </p:nvSpPr>
        <p:spPr>
          <a:xfrm>
            <a:off x="523800" y="7032600"/>
            <a:ext cx="100112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THE BOTTOM LINE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53" name="Text 35"/>
          <p:cNvSpPr/>
          <p:nvPr/>
        </p:nvSpPr>
        <p:spPr>
          <a:xfrm>
            <a:off x="523800" y="7350120"/>
            <a:ext cx="99874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Bitcoin represents both </a:t>
            </a:r>
            <a:r>
              <a:rPr b="1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transformative potential</a:t>
            </a:r>
            <a:r>
              <a:rPr b="0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 (decentralized, scarce, borderless money) and </a:t>
            </a:r>
            <a:r>
              <a:rPr b="1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significant risks</a:t>
            </a:r>
            <a:r>
              <a:rPr b="0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 (volatility, regulation, competition). Approach with understanding of both.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54" name="Shape 36"/>
          <p:cNvSpPr/>
          <p:nvPr/>
        </p:nvSpPr>
        <p:spPr>
          <a:xfrm>
            <a:off x="10662840" y="6786720"/>
            <a:ext cx="978480" cy="1248480"/>
          </a:xfrm>
          <a:custGeom>
            <a:avLst/>
            <a:gdLst/>
            <a:ahLst/>
            <a:rect l="l" t="t" r="r" b="b"/>
            <a:pathLst>
              <a:path w="984250" h="1254125">
                <a:moveTo>
                  <a:pt x="0" y="0"/>
                </a:moveTo>
                <a:lnTo>
                  <a:pt x="984250" y="0"/>
                </a:lnTo>
                <a:lnTo>
                  <a:pt x="984250" y="1254125"/>
                </a:lnTo>
                <a:lnTo>
                  <a:pt x="0" y="1254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5" name="Text 37"/>
          <p:cNvSpPr/>
          <p:nvPr/>
        </p:nvSpPr>
        <p:spPr>
          <a:xfrm>
            <a:off x="10781640" y="6937200"/>
            <a:ext cx="74052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2026-2030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WILL DEFINE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FUTURE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Image 0"/>
          <p:cNvSpPr/>
          <p:nvPr/>
        </p:nvSpPr>
        <p:spPr>
          <a:xfrm>
            <a:off x="0" y="0"/>
            <a:ext cx="12186360" cy="68522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7" name="Shape 0"/>
          <p:cNvSpPr/>
          <p:nvPr/>
        </p:nvSpPr>
        <p:spPr>
          <a:xfrm>
            <a:off x="0" y="0"/>
            <a:ext cx="12186360" cy="68522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8" name="Shape 1"/>
          <p:cNvSpPr/>
          <p:nvPr/>
        </p:nvSpPr>
        <p:spPr>
          <a:xfrm>
            <a:off x="3355920" y="676440"/>
            <a:ext cx="5471280" cy="4356720"/>
          </a:xfrm>
          <a:custGeom>
            <a:avLst/>
            <a:gdLst/>
            <a:ahLst/>
            <a:rect l="l" t="t" r="r" b="b"/>
            <a:pathLst>
              <a:path w="5476875" h="4362450">
                <a:moveTo>
                  <a:pt x="0" y="0"/>
                </a:moveTo>
                <a:lnTo>
                  <a:pt x="5476875" y="0"/>
                </a:lnTo>
                <a:lnTo>
                  <a:pt x="5476875" y="4362450"/>
                </a:lnTo>
                <a:lnTo>
                  <a:pt x="0" y="4362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9" name="Text 2"/>
          <p:cNvSpPr/>
          <p:nvPr/>
        </p:nvSpPr>
        <p:spPr>
          <a:xfrm>
            <a:off x="3670200" y="1162080"/>
            <a:ext cx="484236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THANK YOU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060" name="Shape 3"/>
          <p:cNvSpPr/>
          <p:nvPr/>
        </p:nvSpPr>
        <p:spPr>
          <a:xfrm>
            <a:off x="5181480" y="2076480"/>
            <a:ext cx="1823040" cy="705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1" name="Text 4"/>
          <p:cNvSpPr/>
          <p:nvPr/>
        </p:nvSpPr>
        <p:spPr>
          <a:xfrm>
            <a:off x="3755880" y="2381400"/>
            <a:ext cx="46710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Questions &amp; Discussion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062" name="Shape 5"/>
          <p:cNvSpPr/>
          <p:nvPr/>
        </p:nvSpPr>
        <p:spPr>
          <a:xfrm>
            <a:off x="3870360" y="3095640"/>
            <a:ext cx="4442400" cy="1423080"/>
          </a:xfrm>
          <a:custGeom>
            <a:avLst/>
            <a:gdLst/>
            <a:ahLst/>
            <a:rect l="l" t="t" r="r" b="b"/>
            <a:pathLst>
              <a:path w="4448175" h="1428750">
                <a:moveTo>
                  <a:pt x="0" y="0"/>
                </a:moveTo>
                <a:lnTo>
                  <a:pt x="4448175" y="0"/>
                </a:lnTo>
                <a:lnTo>
                  <a:pt x="444817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3" name="Text 6"/>
          <p:cNvSpPr/>
          <p:nvPr/>
        </p:nvSpPr>
        <p:spPr>
          <a:xfrm>
            <a:off x="4070520" y="3352680"/>
            <a:ext cx="404244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 SC"/>
                <a:ea typeface="Noto Sans SC"/>
              </a:rPr>
              <a:t>In a world of infinite money printing,</a:t>
            </a:r>
            <a:endParaRPr b="0" lang="en-HK" sz="18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 SC"/>
                <a:ea typeface="Noto Sans SC"/>
              </a:rPr>
              <a:t>can a fixed-supply digital asset</a:t>
            </a:r>
            <a:endParaRPr b="0" lang="en-HK" sz="18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 SC"/>
                <a:ea typeface="Noto Sans SC"/>
              </a:rPr>
              <a:t>become the ultimate store of value?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64" name="Shape 7"/>
          <p:cNvSpPr/>
          <p:nvPr/>
        </p:nvSpPr>
        <p:spPr>
          <a:xfrm>
            <a:off x="3743640" y="5400720"/>
            <a:ext cx="4699440" cy="775440"/>
          </a:xfrm>
          <a:custGeom>
            <a:avLst/>
            <a:gdLst/>
            <a:ahLst/>
            <a:rect l="l" t="t" r="r" b="b"/>
            <a:pathLst>
              <a:path w="4705350" h="781050">
                <a:moveTo>
                  <a:pt x="0" y="0"/>
                </a:moveTo>
                <a:lnTo>
                  <a:pt x="4705350" y="0"/>
                </a:lnTo>
                <a:lnTo>
                  <a:pt x="47053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5" name="Text 8"/>
          <p:cNvSpPr/>
          <p:nvPr/>
        </p:nvSpPr>
        <p:spPr>
          <a:xfrm>
            <a:off x="4001040" y="5657760"/>
            <a:ext cx="428040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Bitcoin: The Digital Revolution | March 2026</a:t>
            </a:r>
            <a:endParaRPr b="0" lang="en-HK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2026-03-18T08:32:36Z</dcterms:created>
  <dc:creator>Kimi</dc:creator>
  <dc:description/>
  <dc:language>en-HK</dc:language>
  <cp:lastModifiedBy/>
  <dcterms:modified xsi:type="dcterms:W3CDTF">2026-04-26T23:56:12Z</dcterms:modified>
  <cp:revision>16</cp:revision>
  <dc:subject>Bitcoin: The Digital Revolution</dc:subject>
  <dc:title>Bitcoin: The Digital Revolution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{"Label":"Bitcoin: The Digital Revolution","ContentProducer":"001191110108MACG2KBH8F10000","ProduceID":"19d000e5-9a32-8b0f-8000-00005ec375b0","ReservedCode1":"","ContentPropagator":"001191110108MACG2KBH8F20000","PropagateID":"19d000e5-9a32-8b0f-8000-00005ec375b0","ReservedCode2":""}</vt:lpwstr>
  </property>
  <property fmtid="{D5CDD505-2E9C-101B-9397-08002B2CF9AE}" pid="3" name="Notes">
    <vt:i4>27</vt:i4>
  </property>
  <property fmtid="{D5CDD505-2E9C-101B-9397-08002B2CF9AE}" pid="4" name="PresentationFormat">
    <vt:lpwstr>On-screen Show (16:9)</vt:lpwstr>
  </property>
  <property fmtid="{D5CDD505-2E9C-101B-9397-08002B2CF9AE}" pid="5" name="Slides">
    <vt:i4>27</vt:i4>
  </property>
</Properties>
</file>