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12193588"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to move </a:t>
            </a:r>
            <a:r>
              <a:rPr b="0" lang="en-HK" sz="4400" spc="-1" strike="noStrike">
                <a:latin typeface="Arial"/>
              </a:rPr>
              <a:t>the 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a:t>
            </a:r>
            <a:r>
              <a:rPr b="0" lang="en-HK" sz="2000" spc="-1" strike="noStrike">
                <a:latin typeface="Arial"/>
              </a:rPr>
              <a:t>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CC1163D0-DF5C-4753-AA02-A47E1CD9D89D}"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685800" y="1143000"/>
            <a:ext cx="5483160" cy="3083040"/>
          </a:xfrm>
          <a:prstGeom prst="rect">
            <a:avLst/>
          </a:prstGeom>
          <a:ln w="0">
            <a:noFill/>
          </a:ln>
        </p:spPr>
      </p:sp>
      <p:sp>
        <p:nvSpPr>
          <p:cNvPr id="189"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190" name="PlaceHolder 3"/>
          <p:cNvSpPr>
            <a:spLocks noGrp="1"/>
          </p:cNvSpPr>
          <p:nvPr>
            <p:ph type="sldNum" idx="4"/>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8CB8AA5-D1C0-4857-A676-3B0F2E29DF2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3160" cy="3083040"/>
          </a:xfrm>
          <a:prstGeom prst="rect">
            <a:avLst/>
          </a:prstGeom>
          <a:ln w="0">
            <a:noFill/>
          </a:ln>
        </p:spPr>
      </p:sp>
      <p:sp>
        <p:nvSpPr>
          <p:cNvPr id="192"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193" name="PlaceHolder 3"/>
          <p:cNvSpPr>
            <a:spLocks noGrp="1"/>
          </p:cNvSpPr>
          <p:nvPr>
            <p:ph type="sldNum" idx="5"/>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FC8DFD9-D2D3-4995-8C0B-4220FBFBB9B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3160" cy="3083040"/>
          </a:xfrm>
          <a:prstGeom prst="rect">
            <a:avLst/>
          </a:prstGeom>
          <a:ln w="0">
            <a:noFill/>
          </a:ln>
        </p:spPr>
      </p:sp>
      <p:sp>
        <p:nvSpPr>
          <p:cNvPr id="195"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196" name="PlaceHolder 3"/>
          <p:cNvSpPr>
            <a:spLocks noGrp="1"/>
          </p:cNvSpPr>
          <p:nvPr>
            <p:ph type="sldNum" idx="6"/>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669C121-4EF5-4070-A745-F76EA5751CF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3160" cy="3083040"/>
          </a:xfrm>
          <a:prstGeom prst="rect">
            <a:avLst/>
          </a:prstGeom>
          <a:ln w="0">
            <a:noFill/>
          </a:ln>
        </p:spPr>
      </p:sp>
      <p:sp>
        <p:nvSpPr>
          <p:cNvPr id="198"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199" name="PlaceHolder 3"/>
          <p:cNvSpPr>
            <a:spLocks noGrp="1"/>
          </p:cNvSpPr>
          <p:nvPr>
            <p:ph type="sldNum" idx="7"/>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83A63E9-B99F-43E9-A1B6-BFDB7FA102A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3160" cy="3083040"/>
          </a:xfrm>
          <a:prstGeom prst="rect">
            <a:avLst/>
          </a:prstGeom>
          <a:ln w="0">
            <a:noFill/>
          </a:ln>
        </p:spPr>
      </p:sp>
      <p:sp>
        <p:nvSpPr>
          <p:cNvPr id="201"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pPr marL="216000" indent="-216000">
              <a:lnSpc>
                <a:spcPct val="100000"/>
              </a:lnSpc>
              <a:buNone/>
              <a:tabLst>
                <a:tab algn="l" pos="0"/>
              </a:tabLst>
            </a:pPr>
            <a:r>
              <a:rPr b="0" lang="en-HK" sz="1800" spc="-1" strike="noStrike">
                <a:latin typeface="Arial"/>
              </a:rPr>
              <a:t>Key concept: Nash Equilibrium occurs when no player </a:t>
            </a:r>
            <a:r>
              <a:rPr b="0" lang="en-HK" sz="1800" spc="-1" strike="noStrike">
                <a:latin typeface="Arial"/>
              </a:rPr>
              <a:t>can improve their payoff by unilaterally changing </a:t>
            </a:r>
            <a:r>
              <a:rPr b="0" lang="en-HK" sz="1800" spc="-1" strike="noStrike">
                <a:latin typeface="Arial"/>
              </a:rPr>
              <a:t>their strategy, given other players’ strategies remain </a:t>
            </a:r>
            <a:r>
              <a:rPr b="0" lang="en-HK" sz="1800" spc="-1" strike="noStrike">
                <a:latin typeface="Arial"/>
              </a:rPr>
              <a:t>fixed.</a:t>
            </a:r>
            <a:endParaRPr b="0" lang="en-HK" sz="1800" spc="-1" strike="noStrike">
              <a:latin typeface="Arial"/>
            </a:endParaRPr>
          </a:p>
        </p:txBody>
      </p:sp>
      <p:sp>
        <p:nvSpPr>
          <p:cNvPr id="202" name="PlaceHolder 3"/>
          <p:cNvSpPr>
            <a:spLocks noGrp="1"/>
          </p:cNvSpPr>
          <p:nvPr>
            <p:ph type="sldNum" idx="8"/>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A87BA6E-A335-485F-9655-258D078FFC5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685800" y="1143000"/>
            <a:ext cx="5483160" cy="3083040"/>
          </a:xfrm>
          <a:prstGeom prst="rect">
            <a:avLst/>
          </a:prstGeom>
          <a:ln w="0">
            <a:noFill/>
          </a:ln>
        </p:spPr>
      </p:sp>
      <p:sp>
        <p:nvSpPr>
          <p:cNvPr id="204"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205" name="PlaceHolder 3"/>
          <p:cNvSpPr>
            <a:spLocks noGrp="1"/>
          </p:cNvSpPr>
          <p:nvPr>
            <p:ph type="sldNum" idx="9"/>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48E88CB-0AB5-4438-AAC3-59A640693C8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685800" y="1143000"/>
            <a:ext cx="5483160" cy="3083040"/>
          </a:xfrm>
          <a:prstGeom prst="rect">
            <a:avLst/>
          </a:prstGeom>
          <a:ln w="0">
            <a:noFill/>
          </a:ln>
        </p:spPr>
      </p:sp>
      <p:sp>
        <p:nvSpPr>
          <p:cNvPr id="207"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208" name="PlaceHolder 3"/>
          <p:cNvSpPr>
            <a:spLocks noGrp="1"/>
          </p:cNvSpPr>
          <p:nvPr>
            <p:ph type="sldNum" idx="10"/>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E47160E-95BE-40FA-A36D-DAE8491F0429}"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685800" y="1143000"/>
            <a:ext cx="5483160" cy="3083040"/>
          </a:xfrm>
          <a:prstGeom prst="rect">
            <a:avLst/>
          </a:prstGeom>
          <a:ln w="0">
            <a:noFill/>
          </a:ln>
        </p:spPr>
      </p:sp>
      <p:sp>
        <p:nvSpPr>
          <p:cNvPr id="210"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211" name="PlaceHolder 3"/>
          <p:cNvSpPr>
            <a:spLocks noGrp="1"/>
          </p:cNvSpPr>
          <p:nvPr>
            <p:ph type="sldNum" idx="11"/>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7FCC65B-9E00-4C94-900A-CFFCA0323CE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685800" y="1143000"/>
            <a:ext cx="5483160" cy="3083040"/>
          </a:xfrm>
          <a:prstGeom prst="rect">
            <a:avLst/>
          </a:prstGeom>
          <a:ln w="0">
            <a:noFill/>
          </a:ln>
        </p:spPr>
      </p:sp>
      <p:sp>
        <p:nvSpPr>
          <p:cNvPr id="213"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214" name="PlaceHolder 3"/>
          <p:cNvSpPr>
            <a:spLocks noGrp="1"/>
          </p:cNvSpPr>
          <p:nvPr>
            <p:ph type="sldNum" idx="12"/>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E5A7A8C-CAE8-4791-9CD2-20590D5D683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3160" cy="3083040"/>
          </a:xfrm>
          <a:prstGeom prst="rect">
            <a:avLst/>
          </a:prstGeom>
          <a:ln w="0">
            <a:noFill/>
          </a:ln>
        </p:spPr>
      </p:sp>
      <p:sp>
        <p:nvSpPr>
          <p:cNvPr id="216"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217" name="PlaceHolder 3"/>
          <p:cNvSpPr>
            <a:spLocks noGrp="1"/>
          </p:cNvSpPr>
          <p:nvPr>
            <p:ph type="sldNum" idx="13"/>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2F91FB8-D3AF-4205-92FB-0F46D654C3A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3160" cy="3083040"/>
          </a:xfrm>
          <a:prstGeom prst="rect">
            <a:avLst/>
          </a:prstGeom>
          <a:ln w="0">
            <a:noFill/>
          </a:ln>
        </p:spPr>
      </p:sp>
      <p:sp>
        <p:nvSpPr>
          <p:cNvPr id="219" name="PlaceHolder 2"/>
          <p:cNvSpPr>
            <a:spLocks noGrp="1"/>
          </p:cNvSpPr>
          <p:nvPr>
            <p:ph type="body"/>
          </p:nvPr>
        </p:nvSpPr>
        <p:spPr>
          <a:xfrm>
            <a:off x="685800" y="4400640"/>
            <a:ext cx="5483160" cy="3597120"/>
          </a:xfrm>
          <a:prstGeom prst="rect">
            <a:avLst/>
          </a:prstGeom>
          <a:noFill/>
          <a:ln w="0">
            <a:noFill/>
          </a:ln>
        </p:spPr>
        <p:txBody>
          <a:bodyPr lIns="0" rIns="0" tIns="0" bIns="0" anchor="t">
            <a:noAutofit/>
          </a:bodyPr>
          <a:p>
            <a:endParaRPr b="0" lang="en-HK" sz="2000" spc="-1" strike="noStrike">
              <a:latin typeface="Arial"/>
            </a:endParaRPr>
          </a:p>
        </p:txBody>
      </p:sp>
      <p:sp>
        <p:nvSpPr>
          <p:cNvPr id="220" name="PlaceHolder 3"/>
          <p:cNvSpPr>
            <a:spLocks noGrp="1"/>
          </p:cNvSpPr>
          <p:nvPr>
            <p:ph type="sldNum" idx="14"/>
          </p:nvPr>
        </p:nvSpPr>
        <p:spPr>
          <a:xfrm>
            <a:off x="3884760" y="8685360"/>
            <a:ext cx="2968560" cy="4554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B5ED7C6-43D5-4B37-A7DB-16B8082F7B32}"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480" y="1604520"/>
            <a:ext cx="1097352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480" y="1604520"/>
            <a:ext cx="1097352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4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26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352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26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480" y="1604520"/>
            <a:ext cx="535500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26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352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480" y="1604520"/>
            <a:ext cx="1097352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352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4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2680" y="160452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2680" y="3682080"/>
            <a:ext cx="53550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48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2000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30520" y="160452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2000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30520" y="3682080"/>
            <a:ext cx="353340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3520" cy="1144800"/>
          </a:xfrm>
          <a:prstGeom prst="rect">
            <a:avLst/>
          </a:prstGeom>
          <a:noFill/>
          <a:ln w="0">
            <a:noFill/>
          </a:ln>
        </p:spPr>
        <p:txBody>
          <a:bodyPr lIns="0" rIns="0" tIns="0" bIns="0" anchor="ctr">
            <a:noAutofit/>
          </a:bodyPr>
          <a:p>
            <a:pPr algn="ctr">
              <a:buNone/>
            </a:pPr>
            <a:r>
              <a:rPr b="0" lang="en-HK" sz="4400" spc="-1" strike="noStrike">
                <a:latin typeface="Arial"/>
              </a:rPr>
              <a:t>Click to edit </a:t>
            </a:r>
            <a:r>
              <a:rPr b="0" lang="en-HK" sz="4400" spc="-1" strike="noStrike">
                <a:latin typeface="Arial"/>
              </a:rPr>
              <a:t>the title text </a:t>
            </a:r>
            <a:r>
              <a:rPr b="0" lang="en-HK" sz="4400" spc="-1" strike="noStrike">
                <a:latin typeface="Arial"/>
              </a:rPr>
              <a:t>format</a:t>
            </a:r>
            <a:endParaRPr b="0" lang="en-HK" sz="4400" spc="-1" strike="noStrike">
              <a:latin typeface="Arial"/>
            </a:endParaRPr>
          </a:p>
        </p:txBody>
      </p:sp>
      <p:sp>
        <p:nvSpPr>
          <p:cNvPr id="1" name="PlaceHolder 2"/>
          <p:cNvSpPr>
            <a:spLocks noGrp="1"/>
          </p:cNvSpPr>
          <p:nvPr>
            <p:ph type="body"/>
          </p:nvPr>
        </p:nvSpPr>
        <p:spPr>
          <a:xfrm>
            <a:off x="609480" y="1604520"/>
            <a:ext cx="1097352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8b"/>
        </a:solidFill>
      </p:bgPr>
    </p:bg>
    <p:spTree>
      <p:nvGrpSpPr>
        <p:cNvPr id="1" name=""/>
        <p:cNvGrpSpPr/>
        <p:nvPr/>
      </p:nvGrpSpPr>
      <p:grpSpPr>
        <a:xfrm>
          <a:off x="0" y="0"/>
          <a:ext cx="0" cy="0"/>
          <a:chOff x="0" y="0"/>
          <a:chExt cx="0" cy="0"/>
        </a:xfrm>
      </p:grpSpPr>
      <p:sp>
        <p:nvSpPr>
          <p:cNvPr id="44" name="Shape 0"/>
          <p:cNvSpPr/>
          <p:nvPr/>
        </p:nvSpPr>
        <p:spPr>
          <a:xfrm>
            <a:off x="5639040" y="2266920"/>
            <a:ext cx="911160" cy="15840"/>
          </a:xfrm>
          <a:custGeom>
            <a:avLst/>
            <a:gdLst/>
            <a:ahLst/>
            <a:rect l="l" t="t" r="r" b="b"/>
            <a:pathLst>
              <a:path w="914400" h="19050">
                <a:moveTo>
                  <a:pt x="0" y="0"/>
                </a:moveTo>
                <a:lnTo>
                  <a:pt x="914400" y="0"/>
                </a:lnTo>
                <a:lnTo>
                  <a:pt x="914400" y="19050"/>
                </a:lnTo>
                <a:lnTo>
                  <a:pt x="0" y="19050"/>
                </a:lnTo>
                <a:lnTo>
                  <a:pt x="0" y="0"/>
                </a:lnTo>
                <a:close/>
              </a:path>
            </a:pathLst>
          </a:custGeom>
          <a:solidFill>
            <a:srgbClr val="0984e3"/>
          </a:solidFill>
          <a:ln w="0">
            <a:noFill/>
          </a:ln>
        </p:spPr>
        <p:style>
          <a:lnRef idx="0"/>
          <a:fillRef idx="0"/>
          <a:effectRef idx="0"/>
          <a:fontRef idx="minor"/>
        </p:style>
      </p:sp>
      <p:sp>
        <p:nvSpPr>
          <p:cNvPr id="45" name="Text 1"/>
          <p:cNvSpPr/>
          <p:nvPr/>
        </p:nvSpPr>
        <p:spPr>
          <a:xfrm>
            <a:off x="3633840" y="2514600"/>
            <a:ext cx="4921560" cy="91116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0" lang="en-US" sz="99990" spc="-182" strike="noStrike">
                <a:solidFill>
                  <a:srgbClr val="eeeeee"/>
                </a:solidFill>
                <a:latin typeface="Oranienbaum"/>
                <a:ea typeface="Oranienbaum"/>
              </a:rPr>
              <a:t>36</a:t>
            </a:r>
            <a:endParaRPr b="0" lang="en-HK" sz="99990" spc="-1" strike="noStrike">
              <a:latin typeface="Arial"/>
            </a:endParaRPr>
          </a:p>
          <a:p>
            <a:pPr algn="ctr">
              <a:lnSpc>
                <a:spcPct val="80000"/>
              </a:lnSpc>
              <a:buNone/>
            </a:pPr>
            <a:endParaRPr b="0" lang="en-HK" sz="99990" spc="-1" strike="noStrike">
              <a:latin typeface="Arial"/>
            </a:endParaRPr>
          </a:p>
        </p:txBody>
      </p:sp>
      <p:sp>
        <p:nvSpPr>
          <p:cNvPr id="46" name="Shape 2"/>
          <p:cNvSpPr/>
          <p:nvPr/>
        </p:nvSpPr>
        <p:spPr>
          <a:xfrm>
            <a:off x="5639040" y="3657600"/>
            <a:ext cx="911160" cy="15840"/>
          </a:xfrm>
          <a:custGeom>
            <a:avLst/>
            <a:gdLst/>
            <a:ahLst/>
            <a:rect l="l" t="t" r="r" b="b"/>
            <a:pathLst>
              <a:path w="914400" h="19050">
                <a:moveTo>
                  <a:pt x="0" y="0"/>
                </a:moveTo>
                <a:lnTo>
                  <a:pt x="914400" y="0"/>
                </a:lnTo>
                <a:lnTo>
                  <a:pt x="914400" y="19050"/>
                </a:lnTo>
                <a:lnTo>
                  <a:pt x="0" y="19050"/>
                </a:lnTo>
                <a:lnTo>
                  <a:pt x="0" y="0"/>
                </a:lnTo>
                <a:close/>
              </a:path>
            </a:pathLst>
          </a:custGeom>
          <a:solidFill>
            <a:srgbClr val="0984e3"/>
          </a:solidFill>
          <a:ln w="0">
            <a:noFill/>
          </a:ln>
        </p:spPr>
        <p:style>
          <a:lnRef idx="0"/>
          <a:fillRef idx="0"/>
          <a:effectRef idx="0"/>
          <a:fontRef idx="minor"/>
        </p:style>
      </p:sp>
      <p:sp>
        <p:nvSpPr>
          <p:cNvPr id="47" name="Text 3"/>
          <p:cNvSpPr/>
          <p:nvPr/>
        </p:nvSpPr>
        <p:spPr>
          <a:xfrm>
            <a:off x="3545640" y="4286160"/>
            <a:ext cx="5092920" cy="3016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1800" spc="21" strike="noStrike">
                <a:solidFill>
                  <a:srgbClr val="000000"/>
                </a:solidFill>
                <a:latin typeface="Liter"/>
                <a:ea typeface="Liter"/>
              </a:rPr>
              <a:t>The </a:t>
            </a:r>
            <a:r>
              <a:rPr b="1" lang="en-US" sz="1800" spc="21" strike="noStrike">
                <a:solidFill>
                  <a:srgbClr val="eeeeee"/>
                </a:solidFill>
                <a:latin typeface="Liter"/>
                <a:ea typeface="Liter"/>
              </a:rPr>
              <a:t>Mathematics</a:t>
            </a:r>
            <a:r>
              <a:rPr b="0" lang="en-US" sz="1800" spc="21" strike="noStrike">
                <a:solidFill>
                  <a:srgbClr val="000000"/>
                </a:solidFill>
                <a:latin typeface="Liter"/>
                <a:ea typeface="Liter"/>
              </a:rPr>
              <a:t> of Strategic Decision-Making</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Text 0"/>
          <p:cNvSpPr/>
          <p:nvPr/>
        </p:nvSpPr>
        <p:spPr>
          <a:xfrm>
            <a:off x="380880" y="380880"/>
            <a:ext cx="11656440" cy="453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0" lang="en-US" sz="3600" spc="-1" strike="noStrike">
                <a:solidFill>
                  <a:srgbClr val="2d3436"/>
                </a:solidFill>
                <a:latin typeface="Oranienbaum"/>
                <a:ea typeface="Oranienbaum"/>
              </a:rPr>
              <a:t>Contents</a:t>
            </a:r>
            <a:endParaRPr b="0" lang="en-HK" sz="3600" spc="-1" strike="noStrike">
              <a:latin typeface="Arial"/>
            </a:endParaRPr>
          </a:p>
        </p:txBody>
      </p:sp>
      <p:sp>
        <p:nvSpPr>
          <p:cNvPr id="49" name="Shape 1"/>
          <p:cNvSpPr/>
          <p:nvPr/>
        </p:nvSpPr>
        <p:spPr>
          <a:xfrm>
            <a:off x="380880" y="952560"/>
            <a:ext cx="758880" cy="15840"/>
          </a:xfrm>
          <a:custGeom>
            <a:avLst/>
            <a:gdLst/>
            <a:ahLst/>
            <a:rect l="l" t="t" r="r" b="b"/>
            <a:pathLst>
              <a:path w="762000" h="19050">
                <a:moveTo>
                  <a:pt x="0" y="0"/>
                </a:moveTo>
                <a:lnTo>
                  <a:pt x="762000" y="0"/>
                </a:lnTo>
                <a:lnTo>
                  <a:pt x="762000" y="19050"/>
                </a:lnTo>
                <a:lnTo>
                  <a:pt x="0" y="19050"/>
                </a:lnTo>
                <a:lnTo>
                  <a:pt x="0" y="0"/>
                </a:lnTo>
                <a:close/>
              </a:path>
            </a:pathLst>
          </a:custGeom>
          <a:solidFill>
            <a:srgbClr val="0984e3"/>
          </a:solidFill>
          <a:ln w="0">
            <a:noFill/>
          </a:ln>
        </p:spPr>
        <p:style>
          <a:lnRef idx="0"/>
          <a:fillRef idx="0"/>
          <a:effectRef idx="0"/>
          <a:fontRef idx="minor"/>
        </p:style>
      </p:sp>
      <p:sp>
        <p:nvSpPr>
          <p:cNvPr id="50" name="Text 2"/>
          <p:cNvSpPr/>
          <p:nvPr/>
        </p:nvSpPr>
        <p:spPr>
          <a:xfrm>
            <a:off x="380880" y="1428840"/>
            <a:ext cx="749160" cy="568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01</a:t>
            </a:r>
            <a:endParaRPr b="0" lang="en-HK" sz="4500" spc="-1" strike="noStrike">
              <a:latin typeface="Arial"/>
            </a:endParaRPr>
          </a:p>
        </p:txBody>
      </p:sp>
      <p:sp>
        <p:nvSpPr>
          <p:cNvPr id="51" name="Text 3"/>
          <p:cNvSpPr/>
          <p:nvPr/>
        </p:nvSpPr>
        <p:spPr>
          <a:xfrm>
            <a:off x="1034280" y="1504800"/>
            <a:ext cx="418824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Introduction to Game Theory</a:t>
            </a:r>
            <a:endParaRPr b="0" lang="en-HK" sz="1800" spc="-1" strike="noStrike">
              <a:latin typeface="Arial"/>
            </a:endParaRPr>
          </a:p>
        </p:txBody>
      </p:sp>
      <p:sp>
        <p:nvSpPr>
          <p:cNvPr id="52" name="Text 4"/>
          <p:cNvSpPr/>
          <p:nvPr/>
        </p:nvSpPr>
        <p:spPr>
          <a:xfrm>
            <a:off x="1034280" y="1886040"/>
            <a:ext cx="4159440" cy="272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Defining the mathematical study of strategic interaction</a:t>
            </a:r>
            <a:endParaRPr b="0" lang="en-HK" sz="1350" spc="-1" strike="noStrike">
              <a:latin typeface="Arial"/>
            </a:endParaRPr>
          </a:p>
        </p:txBody>
      </p:sp>
      <p:sp>
        <p:nvSpPr>
          <p:cNvPr id="53" name="Text 5"/>
          <p:cNvSpPr/>
          <p:nvPr/>
        </p:nvSpPr>
        <p:spPr>
          <a:xfrm>
            <a:off x="6401160" y="1428840"/>
            <a:ext cx="853920" cy="568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02</a:t>
            </a:r>
            <a:endParaRPr b="0" lang="en-HK" sz="4500" spc="-1" strike="noStrike">
              <a:latin typeface="Arial"/>
            </a:endParaRPr>
          </a:p>
        </p:txBody>
      </p:sp>
      <p:sp>
        <p:nvSpPr>
          <p:cNvPr id="54" name="Text 6"/>
          <p:cNvSpPr/>
          <p:nvPr/>
        </p:nvSpPr>
        <p:spPr>
          <a:xfrm>
            <a:off x="7160400" y="1504800"/>
            <a:ext cx="475956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Historical Foundations</a:t>
            </a:r>
            <a:endParaRPr b="0" lang="en-HK" sz="1800" spc="-1" strike="noStrike">
              <a:latin typeface="Arial"/>
            </a:endParaRPr>
          </a:p>
        </p:txBody>
      </p:sp>
      <p:sp>
        <p:nvSpPr>
          <p:cNvPr id="55" name="Text 7"/>
          <p:cNvSpPr/>
          <p:nvPr/>
        </p:nvSpPr>
        <p:spPr>
          <a:xfrm>
            <a:off x="7160400" y="1886040"/>
            <a:ext cx="4731120" cy="558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From von Neumann to Nash: The evolution of strategic thinking</a:t>
            </a:r>
            <a:endParaRPr b="0" lang="en-HK" sz="1350" spc="-1" strike="noStrike">
              <a:latin typeface="Arial"/>
            </a:endParaRPr>
          </a:p>
        </p:txBody>
      </p:sp>
      <p:sp>
        <p:nvSpPr>
          <p:cNvPr id="56" name="Text 8"/>
          <p:cNvSpPr/>
          <p:nvPr/>
        </p:nvSpPr>
        <p:spPr>
          <a:xfrm>
            <a:off x="380880" y="2824200"/>
            <a:ext cx="853920" cy="568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03</a:t>
            </a:r>
            <a:endParaRPr b="0" lang="en-HK" sz="4500" spc="-1" strike="noStrike">
              <a:latin typeface="Arial"/>
            </a:endParaRPr>
          </a:p>
        </p:txBody>
      </p:sp>
      <p:sp>
        <p:nvSpPr>
          <p:cNvPr id="57" name="Text 9"/>
          <p:cNvSpPr/>
          <p:nvPr/>
        </p:nvSpPr>
        <p:spPr>
          <a:xfrm>
            <a:off x="1143000" y="2900520"/>
            <a:ext cx="396900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Core Concepts &amp; Mathematical Framework</a:t>
            </a:r>
            <a:endParaRPr b="0" lang="en-HK" sz="1800" spc="-1" strike="noStrike">
              <a:latin typeface="Arial"/>
            </a:endParaRPr>
          </a:p>
        </p:txBody>
      </p:sp>
      <p:sp>
        <p:nvSpPr>
          <p:cNvPr id="58" name="Text 10"/>
          <p:cNvSpPr/>
          <p:nvPr/>
        </p:nvSpPr>
        <p:spPr>
          <a:xfrm>
            <a:off x="1143000" y="3281400"/>
            <a:ext cx="3940560" cy="272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The essential building blocks of strategic analysis</a:t>
            </a:r>
            <a:endParaRPr b="0" lang="en-HK" sz="1350" spc="-1" strike="noStrike">
              <a:latin typeface="Arial"/>
            </a:endParaRPr>
          </a:p>
        </p:txBody>
      </p:sp>
      <p:sp>
        <p:nvSpPr>
          <p:cNvPr id="59" name="Text 11"/>
          <p:cNvSpPr/>
          <p:nvPr/>
        </p:nvSpPr>
        <p:spPr>
          <a:xfrm>
            <a:off x="6401160" y="2824200"/>
            <a:ext cx="882720" cy="568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04</a:t>
            </a:r>
            <a:endParaRPr b="0" lang="en-HK" sz="4500" spc="-1" strike="noStrike">
              <a:latin typeface="Arial"/>
            </a:endParaRPr>
          </a:p>
        </p:txBody>
      </p:sp>
      <p:sp>
        <p:nvSpPr>
          <p:cNvPr id="60" name="Text 12"/>
          <p:cNvSpPr/>
          <p:nvPr/>
        </p:nvSpPr>
        <p:spPr>
          <a:xfrm>
            <a:off x="7188840" y="2900520"/>
            <a:ext cx="247356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Types of Games</a:t>
            </a:r>
            <a:endParaRPr b="0" lang="en-HK" sz="1800" spc="-1" strike="noStrike">
              <a:latin typeface="Arial"/>
            </a:endParaRPr>
          </a:p>
        </p:txBody>
      </p:sp>
      <p:sp>
        <p:nvSpPr>
          <p:cNvPr id="61" name="Text 13"/>
          <p:cNvSpPr/>
          <p:nvPr/>
        </p:nvSpPr>
        <p:spPr>
          <a:xfrm>
            <a:off x="7188840" y="3281400"/>
            <a:ext cx="2445120" cy="272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Classifying strategic interactions</a:t>
            </a:r>
            <a:endParaRPr b="0" lang="en-HK" sz="1350" spc="-1" strike="noStrike">
              <a:latin typeface="Arial"/>
            </a:endParaRPr>
          </a:p>
        </p:txBody>
      </p:sp>
      <p:sp>
        <p:nvSpPr>
          <p:cNvPr id="62" name="Text 14"/>
          <p:cNvSpPr/>
          <p:nvPr/>
        </p:nvSpPr>
        <p:spPr>
          <a:xfrm>
            <a:off x="380880" y="3940920"/>
            <a:ext cx="844560" cy="568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05</a:t>
            </a:r>
            <a:endParaRPr b="0" lang="en-HK" sz="4500" spc="-1" strike="noStrike">
              <a:latin typeface="Arial"/>
            </a:endParaRPr>
          </a:p>
        </p:txBody>
      </p:sp>
      <p:sp>
        <p:nvSpPr>
          <p:cNvPr id="63" name="Text 15"/>
          <p:cNvSpPr/>
          <p:nvPr/>
        </p:nvSpPr>
        <p:spPr>
          <a:xfrm>
            <a:off x="1137240" y="4017240"/>
            <a:ext cx="286416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Classic Game Models</a:t>
            </a:r>
            <a:endParaRPr b="0" lang="en-HK" sz="1800" spc="-1" strike="noStrike">
              <a:latin typeface="Arial"/>
            </a:endParaRPr>
          </a:p>
        </p:txBody>
      </p:sp>
      <p:sp>
        <p:nvSpPr>
          <p:cNvPr id="64" name="Text 16"/>
          <p:cNvSpPr/>
          <p:nvPr/>
        </p:nvSpPr>
        <p:spPr>
          <a:xfrm>
            <a:off x="1137240" y="4398120"/>
            <a:ext cx="2835720" cy="272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Iconic examples that shaped the field</a:t>
            </a:r>
            <a:endParaRPr b="0" lang="en-HK" sz="1350" spc="-1" strike="noStrike">
              <a:latin typeface="Arial"/>
            </a:endParaRPr>
          </a:p>
        </p:txBody>
      </p:sp>
      <p:sp>
        <p:nvSpPr>
          <p:cNvPr id="65" name="Text 17"/>
          <p:cNvSpPr/>
          <p:nvPr/>
        </p:nvSpPr>
        <p:spPr>
          <a:xfrm>
            <a:off x="6401160" y="3940920"/>
            <a:ext cx="863640" cy="568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06</a:t>
            </a:r>
            <a:endParaRPr b="0" lang="en-HK" sz="4500" spc="-1" strike="noStrike">
              <a:latin typeface="Arial"/>
            </a:endParaRPr>
          </a:p>
        </p:txBody>
      </p:sp>
      <p:sp>
        <p:nvSpPr>
          <p:cNvPr id="66" name="Text 18"/>
          <p:cNvSpPr/>
          <p:nvPr/>
        </p:nvSpPr>
        <p:spPr>
          <a:xfrm>
            <a:off x="7171920" y="4017240"/>
            <a:ext cx="307368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Real-World Applications</a:t>
            </a:r>
            <a:endParaRPr b="0" lang="en-HK" sz="1800" spc="-1" strike="noStrike">
              <a:latin typeface="Arial"/>
            </a:endParaRPr>
          </a:p>
        </p:txBody>
      </p:sp>
      <p:sp>
        <p:nvSpPr>
          <p:cNvPr id="67" name="Text 19"/>
          <p:cNvSpPr/>
          <p:nvPr/>
        </p:nvSpPr>
        <p:spPr>
          <a:xfrm>
            <a:off x="7171920" y="4398120"/>
            <a:ext cx="3045240" cy="272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Game theory in action across disciplines</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Text 0"/>
          <p:cNvSpPr/>
          <p:nvPr/>
        </p:nvSpPr>
        <p:spPr>
          <a:xfrm>
            <a:off x="609480" y="1781280"/>
            <a:ext cx="12189960" cy="1216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01</a:t>
            </a:r>
            <a:endParaRPr b="0" lang="en-HK" sz="9600" spc="-1" strike="noStrike">
              <a:latin typeface="Arial"/>
            </a:endParaRPr>
          </a:p>
        </p:txBody>
      </p:sp>
      <p:sp>
        <p:nvSpPr>
          <p:cNvPr id="69" name="Text 1"/>
          <p:cNvSpPr/>
          <p:nvPr/>
        </p:nvSpPr>
        <p:spPr>
          <a:xfrm>
            <a:off x="609480" y="3152880"/>
            <a:ext cx="11865960" cy="1139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Introduction to</a:t>
            </a:r>
            <a:endParaRPr b="0" lang="en-HK" sz="3600" spc="-1" strike="noStrike">
              <a:latin typeface="Arial"/>
            </a:endParaRPr>
          </a:p>
          <a:p>
            <a:pPr>
              <a:lnSpc>
                <a:spcPct val="80000"/>
              </a:lnSpc>
              <a:buNone/>
            </a:pPr>
            <a:r>
              <a:rPr b="1" lang="en-US" sz="3600" spc="-1" strike="noStrike">
                <a:solidFill>
                  <a:srgbClr val="2d3436"/>
                </a:solidFill>
                <a:latin typeface="Oranienbaum"/>
                <a:ea typeface="Oranienbaum"/>
              </a:rPr>
              <a:t>Game Theory</a:t>
            </a:r>
            <a:endParaRPr b="0" lang="en-HK" sz="3600" spc="-1" strike="noStrike">
              <a:latin typeface="Arial"/>
            </a:endParaRPr>
          </a:p>
        </p:txBody>
      </p:sp>
      <p:sp>
        <p:nvSpPr>
          <p:cNvPr id="70" name="Shape 2"/>
          <p:cNvSpPr/>
          <p:nvPr/>
        </p:nvSpPr>
        <p:spPr>
          <a:xfrm>
            <a:off x="609480" y="4524480"/>
            <a:ext cx="1216080" cy="158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71" name="Text 3"/>
          <p:cNvSpPr/>
          <p:nvPr/>
        </p:nvSpPr>
        <p:spPr>
          <a:xfrm>
            <a:off x="609480" y="4772160"/>
            <a:ext cx="1169460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Defining the mathematical study of strategic interaction</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800080"/>
        </a:solidFill>
      </p:bgPr>
    </p:bg>
    <p:spTree>
      <p:nvGrpSpPr>
        <p:cNvPr id="1" name=""/>
        <p:cNvGrpSpPr/>
        <p:nvPr/>
      </p:nvGrpSpPr>
      <p:grpSpPr>
        <a:xfrm>
          <a:off x="0" y="0"/>
          <a:ext cx="0" cy="0"/>
          <a:chOff x="0" y="0"/>
          <a:chExt cx="0" cy="0"/>
        </a:xfrm>
      </p:grpSpPr>
      <p:sp>
        <p:nvSpPr>
          <p:cNvPr id="72" name="Text 0"/>
          <p:cNvSpPr/>
          <p:nvPr/>
        </p:nvSpPr>
        <p:spPr>
          <a:xfrm>
            <a:off x="380880" y="380880"/>
            <a:ext cx="1150416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5" strike="noStrike">
                <a:solidFill>
                  <a:srgbClr val="0984e3"/>
                </a:solidFill>
                <a:latin typeface="Quattrocento Sans"/>
                <a:ea typeface="Quattrocento Sans"/>
              </a:rPr>
              <a:t>INTRODUCTION</a:t>
            </a:r>
            <a:endParaRPr b="0" lang="en-HK" sz="1200" spc="-1" strike="noStrike">
              <a:latin typeface="Arial"/>
            </a:endParaRPr>
          </a:p>
        </p:txBody>
      </p:sp>
      <p:sp>
        <p:nvSpPr>
          <p:cNvPr id="73" name="Text 1"/>
          <p:cNvSpPr/>
          <p:nvPr/>
        </p:nvSpPr>
        <p:spPr>
          <a:xfrm>
            <a:off x="380880" y="685800"/>
            <a:ext cx="11656440" cy="453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What is Game Theory?</a:t>
            </a:r>
            <a:endParaRPr b="0" lang="en-HK" sz="3600" spc="-1" strike="noStrike">
              <a:latin typeface="Arial"/>
            </a:endParaRPr>
          </a:p>
        </p:txBody>
      </p:sp>
      <p:sp>
        <p:nvSpPr>
          <p:cNvPr id="74" name="Text 2"/>
          <p:cNvSpPr/>
          <p:nvPr/>
        </p:nvSpPr>
        <p:spPr>
          <a:xfrm>
            <a:off x="3792600" y="4140000"/>
            <a:ext cx="6827040" cy="1235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500" spc="-1" strike="noStrike">
                <a:solidFill>
                  <a:srgbClr val="00008b"/>
                </a:solidFill>
                <a:latin typeface="Quattrocento Sans"/>
                <a:ea typeface="Quattrocento Sans"/>
              </a:rPr>
              <a:t>Game theory is a mathematical framework for analyzing strategic interactions among rational decision-makers.</a:t>
            </a:r>
            <a:r>
              <a:rPr b="0" i="1" lang="en-US" sz="1500" spc="-1" strike="noStrike">
                <a:solidFill>
                  <a:srgbClr val="00008b"/>
                </a:solidFill>
                <a:latin typeface="Quattrocento Sans"/>
                <a:ea typeface="Quattrocento Sans"/>
              </a:rPr>
              <a:t> It provides a structured approach to understanding how individuals or groups make decisions in situations where the outcome depends on the choices of multiple </a:t>
            </a:r>
            <a:r>
              <a:rPr b="0" lang="en-US" sz="1500" spc="-1" strike="noStrike">
                <a:solidFill>
                  <a:srgbClr val="00008b"/>
                </a:solidFill>
                <a:latin typeface="Quattrocento Sans"/>
                <a:ea typeface="Quattrocento Sans"/>
              </a:rPr>
              <a:t>participants</a:t>
            </a:r>
            <a:r>
              <a:rPr b="0" i="1" lang="en-US" sz="1500" spc="-1" strike="noStrike">
                <a:solidFill>
                  <a:srgbClr val="00008b"/>
                </a:solidFill>
                <a:latin typeface="Quattrocento Sans"/>
                <a:ea typeface="Quattrocento Sans"/>
              </a:rPr>
              <a:t>.</a:t>
            </a:r>
            <a:endParaRPr b="0" lang="en-HK" sz="1500" spc="-1" strike="noStrike">
              <a:latin typeface="Arial"/>
            </a:endParaRPr>
          </a:p>
        </p:txBody>
      </p:sp>
      <p:sp>
        <p:nvSpPr>
          <p:cNvPr id="75" name="Text 3"/>
          <p:cNvSpPr/>
          <p:nvPr/>
        </p:nvSpPr>
        <p:spPr>
          <a:xfrm>
            <a:off x="380880" y="2838600"/>
            <a:ext cx="6817320" cy="1111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Originally developed to investigate rational and economic behavior, game theory has evolved into a powerful tool with applications spanning economics, political science, biology, psychology, and computer science. It helps us predict behavior, design optimal strategies, and understand the dynamics of cooperation and competition.</a:t>
            </a:r>
            <a:endParaRPr b="0" lang="en-HK" sz="1350" spc="-1" strike="noStrike">
              <a:latin typeface="Arial"/>
            </a:endParaRPr>
          </a:p>
        </p:txBody>
      </p:sp>
      <p:sp>
        <p:nvSpPr>
          <p:cNvPr id="76" name="Shape 4"/>
          <p:cNvSpPr/>
          <p:nvPr/>
        </p:nvSpPr>
        <p:spPr>
          <a:xfrm>
            <a:off x="399960" y="4986360"/>
            <a:ext cx="6712560" cy="1359000"/>
          </a:xfrm>
          <a:custGeom>
            <a:avLst/>
            <a:gdLst/>
            <a:ahLst/>
            <a:rect l="l" t="t" r="r" b="b"/>
            <a:pathLst>
              <a:path w="6715125" h="1362075">
                <a:moveTo>
                  <a:pt x="0" y="0"/>
                </a:moveTo>
                <a:lnTo>
                  <a:pt x="6715125" y="0"/>
                </a:lnTo>
                <a:lnTo>
                  <a:pt x="6715125" y="1362075"/>
                </a:lnTo>
                <a:lnTo>
                  <a:pt x="0" y="1362075"/>
                </a:lnTo>
                <a:lnTo>
                  <a:pt x="0" y="0"/>
                </a:lnTo>
                <a:close/>
              </a:path>
            </a:pathLst>
          </a:custGeom>
          <a:solidFill>
            <a:srgbClr val="f8f9fa"/>
          </a:solidFill>
          <a:ln w="0">
            <a:noFill/>
          </a:ln>
        </p:spPr>
        <p:style>
          <a:lnRef idx="0"/>
          <a:fillRef idx="0"/>
          <a:effectRef idx="0"/>
          <a:fontRef idx="minor"/>
        </p:style>
      </p:sp>
      <p:sp>
        <p:nvSpPr>
          <p:cNvPr id="77" name="Shape 5"/>
          <p:cNvSpPr/>
          <p:nvPr/>
        </p:nvSpPr>
        <p:spPr>
          <a:xfrm>
            <a:off x="399960" y="4986360"/>
            <a:ext cx="34920" cy="1359000"/>
          </a:xfrm>
          <a:custGeom>
            <a:avLst/>
            <a:gdLst/>
            <a:ahLst/>
            <a:rect l="l" t="t" r="r" b="b"/>
            <a:pathLst>
              <a:path w="38100" h="1362075">
                <a:moveTo>
                  <a:pt x="0" y="0"/>
                </a:moveTo>
                <a:lnTo>
                  <a:pt x="38100" y="0"/>
                </a:lnTo>
                <a:lnTo>
                  <a:pt x="38100" y="1362075"/>
                </a:lnTo>
                <a:lnTo>
                  <a:pt x="0" y="1362075"/>
                </a:lnTo>
                <a:lnTo>
                  <a:pt x="0" y="0"/>
                </a:lnTo>
                <a:close/>
              </a:path>
            </a:pathLst>
          </a:custGeom>
          <a:solidFill>
            <a:srgbClr val="0984e3"/>
          </a:solidFill>
          <a:ln w="0">
            <a:noFill/>
          </a:ln>
        </p:spPr>
        <p:style>
          <a:lnRef idx="0"/>
          <a:fillRef idx="0"/>
          <a:effectRef idx="0"/>
          <a:fontRef idx="minor"/>
        </p:style>
      </p:sp>
      <p:sp>
        <p:nvSpPr>
          <p:cNvPr id="78" name="Text 6"/>
          <p:cNvSpPr/>
          <p:nvPr/>
        </p:nvSpPr>
        <p:spPr>
          <a:xfrm>
            <a:off x="647640" y="5214960"/>
            <a:ext cx="6321960" cy="558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1e272e"/>
                </a:solidFill>
                <a:latin typeface="Quattrocento Sans"/>
                <a:ea typeface="Quattrocento Sans"/>
              </a:rPr>
              <a:t>"Game theory is the study of mathematical models of strategic interaction among rational decision-makers."</a:t>
            </a:r>
            <a:endParaRPr b="0" lang="en-HK" sz="1350" spc="-1" strike="noStrike">
              <a:latin typeface="Arial"/>
            </a:endParaRPr>
          </a:p>
        </p:txBody>
      </p:sp>
      <p:sp>
        <p:nvSpPr>
          <p:cNvPr id="79" name="Text 7"/>
          <p:cNvSpPr/>
          <p:nvPr/>
        </p:nvSpPr>
        <p:spPr>
          <a:xfrm>
            <a:off x="647640" y="5886360"/>
            <a:ext cx="631260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 </a:t>
            </a:r>
            <a:r>
              <a:rPr b="0" lang="en-US" sz="1200" spc="-1" strike="noStrike">
                <a:solidFill>
                  <a:srgbClr val="636e72"/>
                </a:solidFill>
                <a:latin typeface="Quattrocento Sans"/>
                <a:ea typeface="Quattrocento Sans"/>
              </a:rPr>
              <a:t>Roger Myerson, Nobel Laureate 2007</a:t>
            </a:r>
            <a:endParaRPr b="0" lang="en-HK" sz="1200" spc="-1" strike="noStrike">
              <a:latin typeface="Arial"/>
            </a:endParaRPr>
          </a:p>
        </p:txBody>
      </p:sp>
      <p:sp>
        <p:nvSpPr>
          <p:cNvPr id="80" name="Shape 8"/>
          <p:cNvSpPr/>
          <p:nvPr/>
        </p:nvSpPr>
        <p:spPr>
          <a:xfrm>
            <a:off x="7426800" y="1376280"/>
            <a:ext cx="4378680" cy="149220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81" name="Shape 9"/>
          <p:cNvSpPr/>
          <p:nvPr/>
        </p:nvSpPr>
        <p:spPr>
          <a:xfrm>
            <a:off x="7660440" y="1609560"/>
            <a:ext cx="377640" cy="37764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82" name="Shape 10"/>
          <p:cNvSpPr/>
          <p:nvPr/>
        </p:nvSpPr>
        <p:spPr>
          <a:xfrm>
            <a:off x="7746120" y="1714680"/>
            <a:ext cx="210960" cy="168120"/>
          </a:xfrm>
          <a:custGeom>
            <a:avLst/>
            <a:gdLst/>
            <a:ah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ffffff"/>
          </a:solidFill>
          <a:ln w="0">
            <a:noFill/>
          </a:ln>
        </p:spPr>
        <p:style>
          <a:lnRef idx="0"/>
          <a:fillRef idx="0"/>
          <a:effectRef idx="0"/>
          <a:fontRef idx="minor"/>
        </p:style>
      </p:sp>
      <p:sp>
        <p:nvSpPr>
          <p:cNvPr id="83" name="Text 11"/>
          <p:cNvSpPr/>
          <p:nvPr/>
        </p:nvSpPr>
        <p:spPr>
          <a:xfrm>
            <a:off x="8156160" y="1666800"/>
            <a:ext cx="635040" cy="26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Players</a:t>
            </a:r>
            <a:endParaRPr b="0" lang="en-HK" sz="1500" spc="-1" strike="noStrike">
              <a:latin typeface="Arial"/>
            </a:endParaRPr>
          </a:p>
        </p:txBody>
      </p:sp>
      <p:sp>
        <p:nvSpPr>
          <p:cNvPr id="84" name="Text 12"/>
          <p:cNvSpPr/>
          <p:nvPr/>
        </p:nvSpPr>
        <p:spPr>
          <a:xfrm>
            <a:off x="7660440" y="2143080"/>
            <a:ext cx="3988080" cy="492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Decision-makers whose choices influence outcomes. Games may involve two players or many.</a:t>
            </a:r>
            <a:endParaRPr b="0" lang="en-HK" sz="1200" spc="-1" strike="noStrike">
              <a:latin typeface="Arial"/>
            </a:endParaRPr>
          </a:p>
        </p:txBody>
      </p:sp>
      <p:sp>
        <p:nvSpPr>
          <p:cNvPr id="85" name="Shape 13"/>
          <p:cNvSpPr/>
          <p:nvPr/>
        </p:nvSpPr>
        <p:spPr>
          <a:xfrm>
            <a:off x="7426800" y="3110040"/>
            <a:ext cx="4378680" cy="149220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86" name="Shape 14"/>
          <p:cNvSpPr/>
          <p:nvPr/>
        </p:nvSpPr>
        <p:spPr>
          <a:xfrm>
            <a:off x="7660440" y="3343320"/>
            <a:ext cx="377640" cy="37764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87" name="Shape 15"/>
          <p:cNvSpPr/>
          <p:nvPr/>
        </p:nvSpPr>
        <p:spPr>
          <a:xfrm>
            <a:off x="7767360" y="3448080"/>
            <a:ext cx="168120" cy="168120"/>
          </a:xfrm>
          <a:custGeom>
            <a:avLst/>
            <a:gdLst/>
            <a:ahLst/>
            <a:rect l="l" t="t" r="r" b="b"/>
            <a:pathLst>
              <a:path w="171450" h="171450">
                <a:moveTo>
                  <a:pt x="56257" y="18752"/>
                </a:moveTo>
                <a:lnTo>
                  <a:pt x="56257" y="32147"/>
                </a:lnTo>
                <a:lnTo>
                  <a:pt x="30104" y="32147"/>
                </a:lnTo>
                <a:cubicBezTo>
                  <a:pt x="25316" y="32147"/>
                  <a:pt x="21431" y="36031"/>
                  <a:pt x="21431" y="40820"/>
                </a:cubicBezTo>
                <a:cubicBezTo>
                  <a:pt x="21431" y="42159"/>
                  <a:pt x="21733" y="43499"/>
                  <a:pt x="22335" y="44704"/>
                </a:cubicBezTo>
                <a:lnTo>
                  <a:pt x="33520" y="67073"/>
                </a:lnTo>
                <a:cubicBezTo>
                  <a:pt x="29702" y="67676"/>
                  <a:pt x="26756" y="70991"/>
                  <a:pt x="26756" y="75009"/>
                </a:cubicBezTo>
                <a:cubicBezTo>
                  <a:pt x="26756" y="79463"/>
                  <a:pt x="30339" y="83046"/>
                  <a:pt x="34792" y="83046"/>
                </a:cubicBezTo>
                <a:lnTo>
                  <a:pt x="36668" y="83046"/>
                </a:lnTo>
                <a:lnTo>
                  <a:pt x="32113" y="128588"/>
                </a:lnTo>
                <a:lnTo>
                  <a:pt x="13294" y="152128"/>
                </a:lnTo>
                <a:cubicBezTo>
                  <a:pt x="11620" y="154238"/>
                  <a:pt x="10682" y="156850"/>
                  <a:pt x="10682" y="159562"/>
                </a:cubicBezTo>
                <a:cubicBezTo>
                  <a:pt x="10682" y="166126"/>
                  <a:pt x="16006" y="171450"/>
                  <a:pt x="22570" y="171450"/>
                </a:cubicBezTo>
                <a:lnTo>
                  <a:pt x="105917" y="171450"/>
                </a:lnTo>
                <a:cubicBezTo>
                  <a:pt x="112481" y="171450"/>
                  <a:pt x="117805" y="166126"/>
                  <a:pt x="117805" y="159562"/>
                </a:cubicBezTo>
                <a:cubicBezTo>
                  <a:pt x="117805" y="156850"/>
                  <a:pt x="116901" y="154238"/>
                  <a:pt x="115193" y="152128"/>
                </a:cubicBezTo>
                <a:lnTo>
                  <a:pt x="96441" y="128588"/>
                </a:lnTo>
                <a:lnTo>
                  <a:pt x="91886" y="83046"/>
                </a:lnTo>
                <a:lnTo>
                  <a:pt x="93762" y="83046"/>
                </a:lnTo>
                <a:cubicBezTo>
                  <a:pt x="98215" y="83046"/>
                  <a:pt x="101798" y="79463"/>
                  <a:pt x="101798" y="75009"/>
                </a:cubicBezTo>
                <a:cubicBezTo>
                  <a:pt x="101798" y="71025"/>
                  <a:pt x="98885" y="67676"/>
                  <a:pt x="95034" y="67073"/>
                </a:cubicBezTo>
                <a:lnTo>
                  <a:pt x="106219" y="44704"/>
                </a:lnTo>
                <a:cubicBezTo>
                  <a:pt x="106821" y="43499"/>
                  <a:pt x="107123" y="42159"/>
                  <a:pt x="107123" y="40820"/>
                </a:cubicBezTo>
                <a:cubicBezTo>
                  <a:pt x="107123" y="36031"/>
                  <a:pt x="103238" y="32147"/>
                  <a:pt x="98450" y="32147"/>
                </a:cubicBezTo>
                <a:lnTo>
                  <a:pt x="72297" y="32147"/>
                </a:lnTo>
                <a:lnTo>
                  <a:pt x="72297" y="18752"/>
                </a:lnTo>
                <a:lnTo>
                  <a:pt x="77655" y="18752"/>
                </a:lnTo>
                <a:cubicBezTo>
                  <a:pt x="82108" y="18752"/>
                  <a:pt x="85692" y="15169"/>
                  <a:pt x="85692" y="10716"/>
                </a:cubicBezTo>
                <a:cubicBezTo>
                  <a:pt x="85692" y="6262"/>
                  <a:pt x="82142" y="2679"/>
                  <a:pt x="77688" y="2679"/>
                </a:cubicBezTo>
                <a:lnTo>
                  <a:pt x="72330" y="2679"/>
                </a:lnTo>
                <a:lnTo>
                  <a:pt x="72330" y="-2679"/>
                </a:lnTo>
                <a:cubicBezTo>
                  <a:pt x="72330" y="-7133"/>
                  <a:pt x="68747" y="-10716"/>
                  <a:pt x="64294" y="-10716"/>
                </a:cubicBezTo>
                <a:cubicBezTo>
                  <a:pt x="59840" y="-10716"/>
                  <a:pt x="56257" y="-7133"/>
                  <a:pt x="56257" y="-2679"/>
                </a:cubicBezTo>
                <a:lnTo>
                  <a:pt x="56257" y="2679"/>
                </a:lnTo>
                <a:lnTo>
                  <a:pt x="50899" y="2679"/>
                </a:lnTo>
                <a:cubicBezTo>
                  <a:pt x="46446" y="2679"/>
                  <a:pt x="42863" y="6262"/>
                  <a:pt x="42863" y="10716"/>
                </a:cubicBezTo>
                <a:cubicBezTo>
                  <a:pt x="42863" y="15169"/>
                  <a:pt x="46446" y="18752"/>
                  <a:pt x="50899" y="18752"/>
                </a:cubicBezTo>
                <a:lnTo>
                  <a:pt x="56257" y="18752"/>
                </a:lnTo>
                <a:close/>
                <a:moveTo>
                  <a:pt x="109098" y="93628"/>
                </a:moveTo>
                <a:lnTo>
                  <a:pt x="111945" y="122259"/>
                </a:lnTo>
                <a:lnTo>
                  <a:pt x="127817" y="142082"/>
                </a:lnTo>
                <a:lnTo>
                  <a:pt x="129224" y="143991"/>
                </a:lnTo>
                <a:cubicBezTo>
                  <a:pt x="132304" y="148579"/>
                  <a:pt x="133945" y="154004"/>
                  <a:pt x="133945" y="159562"/>
                </a:cubicBezTo>
                <a:cubicBezTo>
                  <a:pt x="133945" y="163815"/>
                  <a:pt x="133008" y="167867"/>
                  <a:pt x="131300" y="171450"/>
                </a:cubicBezTo>
                <a:lnTo>
                  <a:pt x="159127" y="171450"/>
                </a:lnTo>
                <a:cubicBezTo>
                  <a:pt x="165925" y="171450"/>
                  <a:pt x="171450" y="165925"/>
                  <a:pt x="171450" y="159127"/>
                </a:cubicBezTo>
                <a:cubicBezTo>
                  <a:pt x="171450" y="156683"/>
                  <a:pt x="170713" y="154305"/>
                  <a:pt x="169374" y="152296"/>
                </a:cubicBezTo>
                <a:lnTo>
                  <a:pt x="160734" y="139337"/>
                </a:lnTo>
                <a:lnTo>
                  <a:pt x="160734" y="117905"/>
                </a:lnTo>
                <a:lnTo>
                  <a:pt x="165188" y="113452"/>
                </a:lnTo>
                <a:cubicBezTo>
                  <a:pt x="169206" y="109433"/>
                  <a:pt x="171450" y="103975"/>
                  <a:pt x="171450" y="98282"/>
                </a:cubicBezTo>
                <a:lnTo>
                  <a:pt x="171450" y="64294"/>
                </a:lnTo>
                <a:cubicBezTo>
                  <a:pt x="171450" y="58367"/>
                  <a:pt x="166661" y="53578"/>
                  <a:pt x="160734" y="53578"/>
                </a:cubicBezTo>
                <a:cubicBezTo>
                  <a:pt x="154807" y="53578"/>
                  <a:pt x="150019" y="58367"/>
                  <a:pt x="150019" y="64294"/>
                </a:cubicBezTo>
                <a:lnTo>
                  <a:pt x="150019" y="69652"/>
                </a:lnTo>
                <a:lnTo>
                  <a:pt x="139303" y="69652"/>
                </a:lnTo>
                <a:lnTo>
                  <a:pt x="139303" y="64294"/>
                </a:lnTo>
                <a:cubicBezTo>
                  <a:pt x="139303" y="58367"/>
                  <a:pt x="134515" y="53578"/>
                  <a:pt x="128588" y="53578"/>
                </a:cubicBezTo>
                <a:cubicBezTo>
                  <a:pt x="122660" y="53578"/>
                  <a:pt x="117872" y="58367"/>
                  <a:pt x="117872" y="64294"/>
                </a:cubicBezTo>
                <a:lnTo>
                  <a:pt x="117872" y="75009"/>
                </a:lnTo>
                <a:cubicBezTo>
                  <a:pt x="117872" y="82510"/>
                  <a:pt x="114456" y="89208"/>
                  <a:pt x="109098" y="93628"/>
                </a:cubicBezTo>
                <a:close/>
              </a:path>
            </a:pathLst>
          </a:custGeom>
          <a:solidFill>
            <a:srgbClr val="ffffff"/>
          </a:solidFill>
          <a:ln w="0">
            <a:noFill/>
          </a:ln>
        </p:spPr>
        <p:style>
          <a:lnRef idx="0"/>
          <a:fillRef idx="0"/>
          <a:effectRef idx="0"/>
          <a:fontRef idx="minor"/>
        </p:style>
      </p:sp>
      <p:sp>
        <p:nvSpPr>
          <p:cNvPr id="88" name="Text 16"/>
          <p:cNvSpPr/>
          <p:nvPr/>
        </p:nvSpPr>
        <p:spPr>
          <a:xfrm>
            <a:off x="8156160" y="3400560"/>
            <a:ext cx="863640" cy="26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Strategies</a:t>
            </a:r>
            <a:endParaRPr b="0" lang="en-HK" sz="1500" spc="-1" strike="noStrike">
              <a:latin typeface="Arial"/>
            </a:endParaRPr>
          </a:p>
        </p:txBody>
      </p:sp>
      <p:sp>
        <p:nvSpPr>
          <p:cNvPr id="89" name="Text 17"/>
          <p:cNvSpPr/>
          <p:nvPr/>
        </p:nvSpPr>
        <p:spPr>
          <a:xfrm>
            <a:off x="7660440" y="3876840"/>
            <a:ext cx="3988080" cy="492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Complete plans of action available to each player, specifying choices at every decision point.</a:t>
            </a:r>
            <a:endParaRPr b="0" lang="en-HK" sz="1200" spc="-1" strike="noStrike">
              <a:latin typeface="Arial"/>
            </a:endParaRPr>
          </a:p>
        </p:txBody>
      </p:sp>
      <p:sp>
        <p:nvSpPr>
          <p:cNvPr id="90" name="Shape 18"/>
          <p:cNvSpPr/>
          <p:nvPr/>
        </p:nvSpPr>
        <p:spPr>
          <a:xfrm>
            <a:off x="7426800" y="4843440"/>
            <a:ext cx="4378680" cy="149220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91" name="Shape 19"/>
          <p:cNvSpPr/>
          <p:nvPr/>
        </p:nvSpPr>
        <p:spPr>
          <a:xfrm>
            <a:off x="7660440" y="5076720"/>
            <a:ext cx="377640" cy="37764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92" name="Shape 20"/>
          <p:cNvSpPr/>
          <p:nvPr/>
        </p:nvSpPr>
        <p:spPr>
          <a:xfrm>
            <a:off x="7767360" y="5181480"/>
            <a:ext cx="168120" cy="168120"/>
          </a:xfrm>
          <a:custGeom>
            <a:avLst/>
            <a:gdLst/>
            <a:ahLst/>
            <a:rect l="l" t="t" r="r" b="b"/>
            <a:pathLst>
              <a:path w="171450" h="171450">
                <a:moveTo>
                  <a:pt x="48321" y="0"/>
                </a:moveTo>
                <a:lnTo>
                  <a:pt x="123330" y="0"/>
                </a:lnTo>
                <a:cubicBezTo>
                  <a:pt x="132204" y="0"/>
                  <a:pt x="139437" y="7300"/>
                  <a:pt x="139102" y="16140"/>
                </a:cubicBezTo>
                <a:cubicBezTo>
                  <a:pt x="139035" y="17915"/>
                  <a:pt x="138968" y="19690"/>
                  <a:pt x="138868" y="21431"/>
                </a:cubicBezTo>
                <a:lnTo>
                  <a:pt x="155477" y="21431"/>
                </a:lnTo>
                <a:cubicBezTo>
                  <a:pt x="164217" y="21431"/>
                  <a:pt x="171919" y="28664"/>
                  <a:pt x="171249" y="38107"/>
                </a:cubicBezTo>
                <a:cubicBezTo>
                  <a:pt x="168738" y="72833"/>
                  <a:pt x="150990" y="91920"/>
                  <a:pt x="131735" y="101899"/>
                </a:cubicBezTo>
                <a:cubicBezTo>
                  <a:pt x="126444" y="104645"/>
                  <a:pt x="121053" y="106687"/>
                  <a:pt x="115930" y="108194"/>
                </a:cubicBezTo>
                <a:cubicBezTo>
                  <a:pt x="109165" y="117771"/>
                  <a:pt x="102133" y="122828"/>
                  <a:pt x="96541" y="125540"/>
                </a:cubicBezTo>
                <a:lnTo>
                  <a:pt x="96541" y="150019"/>
                </a:lnTo>
                <a:lnTo>
                  <a:pt x="117972" y="150019"/>
                </a:lnTo>
                <a:cubicBezTo>
                  <a:pt x="123899" y="150019"/>
                  <a:pt x="128688" y="154807"/>
                  <a:pt x="128688" y="160734"/>
                </a:cubicBezTo>
                <a:cubicBezTo>
                  <a:pt x="128688" y="166661"/>
                  <a:pt x="123899" y="171450"/>
                  <a:pt x="117972" y="171450"/>
                </a:cubicBezTo>
                <a:lnTo>
                  <a:pt x="53679" y="171450"/>
                </a:lnTo>
                <a:cubicBezTo>
                  <a:pt x="47752" y="171450"/>
                  <a:pt x="42963" y="166661"/>
                  <a:pt x="42963" y="160734"/>
                </a:cubicBezTo>
                <a:cubicBezTo>
                  <a:pt x="42963" y="154807"/>
                  <a:pt x="47752" y="150019"/>
                  <a:pt x="53679" y="150019"/>
                </a:cubicBezTo>
                <a:lnTo>
                  <a:pt x="75110" y="150019"/>
                </a:lnTo>
                <a:lnTo>
                  <a:pt x="75110" y="125540"/>
                </a:lnTo>
                <a:cubicBezTo>
                  <a:pt x="69752" y="122962"/>
                  <a:pt x="63088" y="118173"/>
                  <a:pt x="56592" y="109366"/>
                </a:cubicBezTo>
                <a:cubicBezTo>
                  <a:pt x="50430" y="107759"/>
                  <a:pt x="43733" y="105315"/>
                  <a:pt x="37203" y="101631"/>
                </a:cubicBezTo>
                <a:cubicBezTo>
                  <a:pt x="19087" y="91485"/>
                  <a:pt x="2746" y="72364"/>
                  <a:pt x="402" y="38040"/>
                </a:cubicBezTo>
                <a:cubicBezTo>
                  <a:pt x="-234" y="28631"/>
                  <a:pt x="7434" y="21398"/>
                  <a:pt x="16174" y="21398"/>
                </a:cubicBezTo>
                <a:lnTo>
                  <a:pt x="32783" y="21398"/>
                </a:lnTo>
                <a:cubicBezTo>
                  <a:pt x="32683" y="19656"/>
                  <a:pt x="32616" y="17915"/>
                  <a:pt x="32549" y="16107"/>
                </a:cubicBezTo>
                <a:cubicBezTo>
                  <a:pt x="32214" y="7233"/>
                  <a:pt x="39447" y="-33"/>
                  <a:pt x="48321" y="-33"/>
                </a:cubicBezTo>
                <a:close/>
                <a:moveTo>
                  <a:pt x="33989" y="37505"/>
                </a:moveTo>
                <a:lnTo>
                  <a:pt x="16442" y="37505"/>
                </a:lnTo>
                <a:cubicBezTo>
                  <a:pt x="18518" y="65868"/>
                  <a:pt x="31544" y="80066"/>
                  <a:pt x="44972" y="87600"/>
                </a:cubicBezTo>
                <a:cubicBezTo>
                  <a:pt x="40150" y="75110"/>
                  <a:pt x="36165" y="58802"/>
                  <a:pt x="33989" y="37505"/>
                </a:cubicBezTo>
                <a:close/>
                <a:moveTo>
                  <a:pt x="127248" y="85993"/>
                </a:moveTo>
                <a:cubicBezTo>
                  <a:pt x="140810" y="78023"/>
                  <a:pt x="153066" y="63858"/>
                  <a:pt x="155142" y="37505"/>
                </a:cubicBezTo>
                <a:lnTo>
                  <a:pt x="137629" y="37505"/>
                </a:lnTo>
                <a:cubicBezTo>
                  <a:pt x="135553" y="57898"/>
                  <a:pt x="131802" y="73737"/>
                  <a:pt x="127248" y="85993"/>
                </a:cubicBezTo>
                <a:close/>
              </a:path>
            </a:pathLst>
          </a:custGeom>
          <a:solidFill>
            <a:srgbClr val="ffffff"/>
          </a:solidFill>
          <a:ln w="0">
            <a:noFill/>
          </a:ln>
        </p:spPr>
        <p:style>
          <a:lnRef idx="0"/>
          <a:fillRef idx="0"/>
          <a:effectRef idx="0"/>
          <a:fontRef idx="minor"/>
        </p:style>
      </p:sp>
      <p:sp>
        <p:nvSpPr>
          <p:cNvPr id="93" name="Text 21"/>
          <p:cNvSpPr/>
          <p:nvPr/>
        </p:nvSpPr>
        <p:spPr>
          <a:xfrm>
            <a:off x="8156160" y="5133960"/>
            <a:ext cx="654120" cy="26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Payoffs</a:t>
            </a:r>
            <a:endParaRPr b="0" lang="en-HK" sz="1500" spc="-1" strike="noStrike">
              <a:latin typeface="Arial"/>
            </a:endParaRPr>
          </a:p>
        </p:txBody>
      </p:sp>
      <p:sp>
        <p:nvSpPr>
          <p:cNvPr id="94" name="Text 22"/>
          <p:cNvSpPr/>
          <p:nvPr/>
        </p:nvSpPr>
        <p:spPr>
          <a:xfrm>
            <a:off x="7660440" y="5610240"/>
            <a:ext cx="3988080" cy="492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Numerical values representing utility or benefit received by players for each outcome.</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95" name="Text 0"/>
          <p:cNvSpPr/>
          <p:nvPr/>
        </p:nvSpPr>
        <p:spPr>
          <a:xfrm>
            <a:off x="609480" y="1781280"/>
            <a:ext cx="12189960" cy="1216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02</a:t>
            </a:r>
            <a:endParaRPr b="0" lang="en-HK" sz="9600" spc="-1" strike="noStrike">
              <a:latin typeface="Arial"/>
            </a:endParaRPr>
          </a:p>
        </p:txBody>
      </p:sp>
      <p:sp>
        <p:nvSpPr>
          <p:cNvPr id="96" name="Text 1"/>
          <p:cNvSpPr/>
          <p:nvPr/>
        </p:nvSpPr>
        <p:spPr>
          <a:xfrm>
            <a:off x="609480" y="3152880"/>
            <a:ext cx="11865960" cy="1139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Historical</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Foundations</a:t>
            </a:r>
            <a:endParaRPr b="0" lang="en-HK" sz="4500" spc="-1" strike="noStrike">
              <a:latin typeface="Arial"/>
            </a:endParaRPr>
          </a:p>
        </p:txBody>
      </p:sp>
      <p:sp>
        <p:nvSpPr>
          <p:cNvPr id="97" name="Shape 2"/>
          <p:cNvSpPr/>
          <p:nvPr/>
        </p:nvSpPr>
        <p:spPr>
          <a:xfrm>
            <a:off x="609480" y="4524480"/>
            <a:ext cx="1216080" cy="158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98" name="Text 3"/>
          <p:cNvSpPr/>
          <p:nvPr/>
        </p:nvSpPr>
        <p:spPr>
          <a:xfrm>
            <a:off x="609480" y="4772160"/>
            <a:ext cx="1169460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From von Neumann to Nash: The evolution of strategic thinking</a:t>
            </a:r>
            <a:endParaRPr b="0" lang="en-HK" sz="1800" spc="-1" strike="noStrike">
              <a:latin typeface="Arial"/>
            </a:endParaRPr>
          </a:p>
        </p:txBody>
      </p:sp>
      <p:sp>
        <p:nvSpPr>
          <p:cNvPr id="99" name=""/>
          <p:cNvSpPr/>
          <p:nvPr/>
        </p:nvSpPr>
        <p:spPr>
          <a:xfrm>
            <a:off x="2133000" y="5394600"/>
            <a:ext cx="1645740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HK" sz="1800" spc="-1" strike="noStrike">
                <a:solidFill>
                  <a:srgbClr val="000000"/>
                </a:solidFill>
                <a:latin typeface="Arial"/>
                <a:ea typeface="DejaVu Sans"/>
              </a:rPr>
              <a:t>Key concept: Nash Equilibrium occurs when no player can improve their payoff by unilaterally changing their strategy, given other players’ strategies remain fixed.</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100" name="Text 0"/>
          <p:cNvSpPr/>
          <p:nvPr/>
        </p:nvSpPr>
        <p:spPr>
          <a:xfrm>
            <a:off x="324360" y="324360"/>
            <a:ext cx="1160604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26" strike="noStrike">
                <a:solidFill>
                  <a:srgbClr val="0984e3"/>
                </a:solidFill>
                <a:latin typeface="Quattrocento Sans"/>
                <a:ea typeface="Quattrocento Sans"/>
              </a:rPr>
              <a:t>HISTORICAL DEVELOPMENT</a:t>
            </a:r>
            <a:endParaRPr b="0" lang="en-HK" sz="1020" spc="-1" strike="noStrike">
              <a:latin typeface="Arial"/>
            </a:endParaRPr>
          </a:p>
        </p:txBody>
      </p:sp>
      <p:sp>
        <p:nvSpPr>
          <p:cNvPr id="101" name="Text 1"/>
          <p:cNvSpPr/>
          <p:nvPr/>
        </p:nvSpPr>
        <p:spPr>
          <a:xfrm>
            <a:off x="324360" y="583560"/>
            <a:ext cx="11736000" cy="3859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60" spc="-1" strike="noStrike">
                <a:solidFill>
                  <a:srgbClr val="2d3436"/>
                </a:solidFill>
                <a:latin typeface="Oranienbaum"/>
                <a:ea typeface="Oranienbaum"/>
              </a:rPr>
              <a:t>The Pioneers of Game Theory</a:t>
            </a:r>
            <a:endParaRPr b="0" lang="en-HK" sz="3060" spc="-1" strike="noStrike">
              <a:latin typeface="Arial"/>
            </a:endParaRPr>
          </a:p>
        </p:txBody>
      </p:sp>
      <p:sp>
        <p:nvSpPr>
          <p:cNvPr id="102" name="Shape 2"/>
          <p:cNvSpPr/>
          <p:nvPr/>
        </p:nvSpPr>
        <p:spPr>
          <a:xfrm>
            <a:off x="6096240" y="1167480"/>
            <a:ext cx="12960" cy="4974120"/>
          </a:xfrm>
          <a:custGeom>
            <a:avLst/>
            <a:gdLst/>
            <a:ahLst/>
            <a:rect l="l" t="t" r="r" b="b"/>
            <a:pathLst>
              <a:path w="16213" h="4977319">
                <a:moveTo>
                  <a:pt x="0" y="0"/>
                </a:moveTo>
                <a:lnTo>
                  <a:pt x="16213" y="0"/>
                </a:lnTo>
                <a:lnTo>
                  <a:pt x="16213" y="4977319"/>
                </a:lnTo>
                <a:lnTo>
                  <a:pt x="0" y="4977319"/>
                </a:lnTo>
                <a:lnTo>
                  <a:pt x="0" y="0"/>
                </a:lnTo>
                <a:close/>
              </a:path>
            </a:pathLst>
          </a:custGeom>
          <a:solidFill>
            <a:srgbClr val="e0e0e0"/>
          </a:solidFill>
          <a:ln w="0">
            <a:noFill/>
          </a:ln>
        </p:spPr>
        <p:style>
          <a:lnRef idx="0"/>
          <a:fillRef idx="0"/>
          <a:effectRef idx="0"/>
          <a:fontRef idx="minor"/>
        </p:style>
      </p:sp>
      <p:sp>
        <p:nvSpPr>
          <p:cNvPr id="103" name="Shape 3"/>
          <p:cNvSpPr/>
          <p:nvPr/>
        </p:nvSpPr>
        <p:spPr>
          <a:xfrm>
            <a:off x="1638000" y="1171440"/>
            <a:ext cx="3863880" cy="718200"/>
          </a:xfrm>
          <a:custGeom>
            <a:avLst/>
            <a:gdLst/>
            <a:ahLst/>
            <a:rect l="l" t="t" r="r" b="b"/>
            <a:pathLst>
              <a:path w="3866745" h="721468">
                <a:moveTo>
                  <a:pt x="0" y="0"/>
                </a:moveTo>
                <a:lnTo>
                  <a:pt x="3866745" y="0"/>
                </a:lnTo>
                <a:lnTo>
                  <a:pt x="3866745"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04" name="Text 4"/>
          <p:cNvSpPr/>
          <p:nvPr/>
        </p:nvSpPr>
        <p:spPr>
          <a:xfrm>
            <a:off x="1698840" y="1305000"/>
            <a:ext cx="3669480" cy="2235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2d3436"/>
                </a:solidFill>
                <a:latin typeface="Oranienbaum"/>
                <a:ea typeface="Oranienbaum"/>
              </a:rPr>
              <a:t>1912 — Ernst Zermelo</a:t>
            </a:r>
            <a:endParaRPr b="0" lang="en-HK" sz="1150" spc="-1" strike="noStrike">
              <a:latin typeface="Arial"/>
            </a:endParaRPr>
          </a:p>
        </p:txBody>
      </p:sp>
      <p:sp>
        <p:nvSpPr>
          <p:cNvPr id="105" name="Text 5"/>
          <p:cNvSpPr/>
          <p:nvPr/>
        </p:nvSpPr>
        <p:spPr>
          <a:xfrm>
            <a:off x="1706760" y="1564560"/>
            <a:ext cx="3661200" cy="1911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0" lang="en-US" sz="1020" spc="-1" strike="noStrike">
                <a:solidFill>
                  <a:srgbClr val="636e72"/>
                </a:solidFill>
                <a:latin typeface="Quattrocento Sans"/>
                <a:ea typeface="Quattrocento Sans"/>
              </a:rPr>
              <a:t>Proved chess is determined; laid early mathematical foundations</a:t>
            </a:r>
            <a:endParaRPr b="0" lang="en-HK" sz="1020" spc="-1" strike="noStrike">
              <a:latin typeface="Arial"/>
            </a:endParaRPr>
          </a:p>
        </p:txBody>
      </p:sp>
      <p:sp>
        <p:nvSpPr>
          <p:cNvPr id="106" name="Shape 6"/>
          <p:cNvSpPr/>
          <p:nvPr/>
        </p:nvSpPr>
        <p:spPr>
          <a:xfrm>
            <a:off x="6684120" y="2030760"/>
            <a:ext cx="3288240" cy="718200"/>
          </a:xfrm>
          <a:custGeom>
            <a:avLst/>
            <a:gdLst/>
            <a:ahLst/>
            <a:rect l="l" t="t" r="r" b="b"/>
            <a:pathLst>
              <a:path w="3291191" h="721468">
                <a:moveTo>
                  <a:pt x="0" y="0"/>
                </a:moveTo>
                <a:lnTo>
                  <a:pt x="3291191" y="0"/>
                </a:lnTo>
                <a:lnTo>
                  <a:pt x="3291191"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07" name="Text 7"/>
          <p:cNvSpPr/>
          <p:nvPr/>
        </p:nvSpPr>
        <p:spPr>
          <a:xfrm>
            <a:off x="6817680" y="2164320"/>
            <a:ext cx="3093840" cy="223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1921 — Émile Borel</a:t>
            </a:r>
            <a:endParaRPr b="0" lang="en-HK" sz="1150" spc="-1" strike="noStrike">
              <a:latin typeface="Arial"/>
            </a:endParaRPr>
          </a:p>
        </p:txBody>
      </p:sp>
      <p:sp>
        <p:nvSpPr>
          <p:cNvPr id="108" name="Text 8"/>
          <p:cNvSpPr/>
          <p:nvPr/>
        </p:nvSpPr>
        <p:spPr>
          <a:xfrm>
            <a:off x="6817680" y="2423880"/>
            <a:ext cx="308556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636e72"/>
                </a:solidFill>
                <a:latin typeface="Quattrocento Sans"/>
                <a:ea typeface="Quattrocento Sans"/>
              </a:rPr>
              <a:t>Posed fundamental questions about optimal strategies</a:t>
            </a:r>
            <a:endParaRPr b="0" lang="en-HK" sz="1020" spc="-1" strike="noStrike">
              <a:latin typeface="Arial"/>
            </a:endParaRPr>
          </a:p>
        </p:txBody>
      </p:sp>
      <p:sp>
        <p:nvSpPr>
          <p:cNvPr id="109" name="Shape 9"/>
          <p:cNvSpPr/>
          <p:nvPr/>
        </p:nvSpPr>
        <p:spPr>
          <a:xfrm>
            <a:off x="633600" y="2885760"/>
            <a:ext cx="4877280" cy="710280"/>
          </a:xfrm>
          <a:custGeom>
            <a:avLst/>
            <a:gdLst/>
            <a:ahLst/>
            <a:rect l="l" t="t" r="r" b="b"/>
            <a:pathLst>
              <a:path w="4880043" h="713362">
                <a:moveTo>
                  <a:pt x="0" y="0"/>
                </a:moveTo>
                <a:lnTo>
                  <a:pt x="4880043" y="0"/>
                </a:lnTo>
                <a:lnTo>
                  <a:pt x="4880043" y="713362"/>
                </a:lnTo>
                <a:lnTo>
                  <a:pt x="0" y="713362"/>
                </a:lnTo>
                <a:lnTo>
                  <a:pt x="0" y="0"/>
                </a:lnTo>
                <a:close/>
              </a:path>
            </a:pathLst>
          </a:custGeom>
          <a:solidFill>
            <a:srgbClr val="f8f9fa"/>
          </a:solidFill>
          <a:ln w="0">
            <a:noFill/>
          </a:ln>
        </p:spPr>
        <p:style>
          <a:lnRef idx="0"/>
          <a:fillRef idx="0"/>
          <a:effectRef idx="0"/>
          <a:fontRef idx="minor"/>
        </p:style>
      </p:sp>
      <p:sp>
        <p:nvSpPr>
          <p:cNvPr id="110" name="Shape 10"/>
          <p:cNvSpPr/>
          <p:nvPr/>
        </p:nvSpPr>
        <p:spPr>
          <a:xfrm>
            <a:off x="633600" y="2885760"/>
            <a:ext cx="29160" cy="710280"/>
          </a:xfrm>
          <a:custGeom>
            <a:avLst/>
            <a:gdLst/>
            <a:ahLst/>
            <a:rect l="l" t="t" r="r" b="b"/>
            <a:pathLst>
              <a:path w="32426" h="713362">
                <a:moveTo>
                  <a:pt x="0" y="0"/>
                </a:moveTo>
                <a:lnTo>
                  <a:pt x="32426" y="0"/>
                </a:lnTo>
                <a:lnTo>
                  <a:pt x="32426" y="713362"/>
                </a:lnTo>
                <a:lnTo>
                  <a:pt x="0" y="713362"/>
                </a:lnTo>
                <a:lnTo>
                  <a:pt x="0" y="0"/>
                </a:lnTo>
                <a:close/>
              </a:path>
            </a:pathLst>
          </a:custGeom>
          <a:solidFill>
            <a:srgbClr val="0984e3"/>
          </a:solidFill>
          <a:ln w="0">
            <a:noFill/>
          </a:ln>
        </p:spPr>
        <p:style>
          <a:lnRef idx="0"/>
          <a:fillRef idx="0"/>
          <a:effectRef idx="0"/>
          <a:fontRef idx="minor"/>
        </p:style>
      </p:sp>
      <p:sp>
        <p:nvSpPr>
          <p:cNvPr id="111" name="Text 11"/>
          <p:cNvSpPr/>
          <p:nvPr/>
        </p:nvSpPr>
        <p:spPr>
          <a:xfrm>
            <a:off x="706680" y="3015720"/>
            <a:ext cx="4674600" cy="2235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2d3436"/>
                </a:solidFill>
                <a:latin typeface="Oranienbaum"/>
                <a:ea typeface="Oranienbaum"/>
              </a:rPr>
              <a:t>1928 — John von Neumann</a:t>
            </a:r>
            <a:endParaRPr b="0" lang="en-HK" sz="1150" spc="-1" strike="noStrike">
              <a:latin typeface="Arial"/>
            </a:endParaRPr>
          </a:p>
        </p:txBody>
      </p:sp>
      <p:sp>
        <p:nvSpPr>
          <p:cNvPr id="112" name="Text 12"/>
          <p:cNvSpPr/>
          <p:nvPr/>
        </p:nvSpPr>
        <p:spPr>
          <a:xfrm>
            <a:off x="714960" y="3274920"/>
            <a:ext cx="4666320" cy="1911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020" spc="-1" strike="noStrike">
                <a:solidFill>
                  <a:srgbClr val="636e72"/>
                </a:solidFill>
                <a:latin typeface="Quattrocento Sans"/>
                <a:ea typeface="Quattrocento Sans"/>
              </a:rPr>
              <a:t>Minimax Theorem:</a:t>
            </a:r>
            <a:r>
              <a:rPr b="0" lang="en-US" sz="1020" spc="-1" strike="noStrike">
                <a:solidFill>
                  <a:srgbClr val="636e72"/>
                </a:solidFill>
                <a:latin typeface="Quattrocento Sans"/>
                <a:ea typeface="Quattrocento Sans"/>
              </a:rPr>
              <a:t> Proved all two-person zero-sum games have optimal solutions</a:t>
            </a:r>
            <a:endParaRPr b="0" lang="en-HK" sz="1020" spc="-1" strike="noStrike">
              <a:latin typeface="Arial"/>
            </a:endParaRPr>
          </a:p>
        </p:txBody>
      </p:sp>
      <p:sp>
        <p:nvSpPr>
          <p:cNvPr id="113" name="Shape 13"/>
          <p:cNvSpPr/>
          <p:nvPr/>
        </p:nvSpPr>
        <p:spPr>
          <a:xfrm>
            <a:off x="6696360" y="3728880"/>
            <a:ext cx="5014800" cy="710280"/>
          </a:xfrm>
          <a:custGeom>
            <a:avLst/>
            <a:gdLst/>
            <a:ahLst/>
            <a:rect l="l" t="t" r="r" b="b"/>
            <a:pathLst>
              <a:path w="5017851" h="713362">
                <a:moveTo>
                  <a:pt x="0" y="0"/>
                </a:moveTo>
                <a:lnTo>
                  <a:pt x="5017851" y="0"/>
                </a:lnTo>
                <a:lnTo>
                  <a:pt x="5017851" y="713362"/>
                </a:lnTo>
                <a:lnTo>
                  <a:pt x="0" y="713362"/>
                </a:lnTo>
                <a:lnTo>
                  <a:pt x="0" y="0"/>
                </a:lnTo>
                <a:close/>
              </a:path>
            </a:pathLst>
          </a:custGeom>
          <a:solidFill>
            <a:srgbClr val="f8f9fa"/>
          </a:solidFill>
          <a:ln w="0">
            <a:noFill/>
          </a:ln>
        </p:spPr>
        <p:style>
          <a:lnRef idx="0"/>
          <a:fillRef idx="0"/>
          <a:effectRef idx="0"/>
          <a:fontRef idx="minor"/>
        </p:style>
      </p:sp>
      <p:sp>
        <p:nvSpPr>
          <p:cNvPr id="114" name="Shape 14"/>
          <p:cNvSpPr/>
          <p:nvPr/>
        </p:nvSpPr>
        <p:spPr>
          <a:xfrm>
            <a:off x="6696360" y="3728880"/>
            <a:ext cx="29160" cy="710280"/>
          </a:xfrm>
          <a:custGeom>
            <a:avLst/>
            <a:gdLst/>
            <a:ahLst/>
            <a:rect l="l" t="t" r="r" b="b"/>
            <a:pathLst>
              <a:path w="32426" h="713362">
                <a:moveTo>
                  <a:pt x="0" y="0"/>
                </a:moveTo>
                <a:lnTo>
                  <a:pt x="32426" y="0"/>
                </a:lnTo>
                <a:lnTo>
                  <a:pt x="32426" y="713362"/>
                </a:lnTo>
                <a:lnTo>
                  <a:pt x="0" y="713362"/>
                </a:lnTo>
                <a:lnTo>
                  <a:pt x="0" y="0"/>
                </a:lnTo>
                <a:close/>
              </a:path>
            </a:pathLst>
          </a:custGeom>
          <a:solidFill>
            <a:srgbClr val="0984e3"/>
          </a:solidFill>
          <a:ln w="0">
            <a:noFill/>
          </a:ln>
        </p:spPr>
        <p:style>
          <a:lnRef idx="0"/>
          <a:fillRef idx="0"/>
          <a:effectRef idx="0"/>
          <a:fontRef idx="minor"/>
        </p:style>
      </p:sp>
      <p:sp>
        <p:nvSpPr>
          <p:cNvPr id="115" name="Text 15"/>
          <p:cNvSpPr/>
          <p:nvPr/>
        </p:nvSpPr>
        <p:spPr>
          <a:xfrm>
            <a:off x="6842160" y="3858480"/>
            <a:ext cx="4812480" cy="223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1944 — von Neumann &amp; Morgenstern</a:t>
            </a:r>
            <a:endParaRPr b="0" lang="en-HK" sz="1150" spc="-1" strike="noStrike">
              <a:latin typeface="Arial"/>
            </a:endParaRPr>
          </a:p>
        </p:txBody>
      </p:sp>
      <p:sp>
        <p:nvSpPr>
          <p:cNvPr id="116" name="Text 16"/>
          <p:cNvSpPr/>
          <p:nvPr/>
        </p:nvSpPr>
        <p:spPr>
          <a:xfrm>
            <a:off x="6842160" y="4118040"/>
            <a:ext cx="480420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636e72"/>
                </a:solidFill>
                <a:latin typeface="Quattrocento Sans"/>
                <a:ea typeface="Quattrocento Sans"/>
              </a:rPr>
              <a:t>"Theory of Games and Economic Behavior"</a:t>
            </a:r>
            <a:r>
              <a:rPr b="0" lang="en-US" sz="1020" spc="-1" strike="noStrike">
                <a:solidFill>
                  <a:srgbClr val="636e72"/>
                </a:solidFill>
                <a:latin typeface="Quattrocento Sans"/>
                <a:ea typeface="Quattrocento Sans"/>
              </a:rPr>
              <a:t> — established game theory as a discipline</a:t>
            </a:r>
            <a:endParaRPr b="0" lang="en-HK" sz="1020" spc="-1" strike="noStrike">
              <a:latin typeface="Arial"/>
            </a:endParaRPr>
          </a:p>
        </p:txBody>
      </p:sp>
      <p:sp>
        <p:nvSpPr>
          <p:cNvPr id="117" name="Shape 17"/>
          <p:cNvSpPr/>
          <p:nvPr/>
        </p:nvSpPr>
        <p:spPr>
          <a:xfrm>
            <a:off x="1476360" y="4572000"/>
            <a:ext cx="4034160" cy="710280"/>
          </a:xfrm>
          <a:custGeom>
            <a:avLst/>
            <a:gdLst/>
            <a:ahLst/>
            <a:rect l="l" t="t" r="r" b="b"/>
            <a:pathLst>
              <a:path w="4036979" h="713362">
                <a:moveTo>
                  <a:pt x="0" y="0"/>
                </a:moveTo>
                <a:lnTo>
                  <a:pt x="4036979" y="0"/>
                </a:lnTo>
                <a:lnTo>
                  <a:pt x="4036979" y="713362"/>
                </a:lnTo>
                <a:lnTo>
                  <a:pt x="0" y="713362"/>
                </a:lnTo>
                <a:lnTo>
                  <a:pt x="0" y="0"/>
                </a:lnTo>
                <a:close/>
              </a:path>
            </a:pathLst>
          </a:custGeom>
          <a:solidFill>
            <a:srgbClr val="2d3436"/>
          </a:solidFill>
          <a:ln w="0">
            <a:noFill/>
          </a:ln>
        </p:spPr>
        <p:style>
          <a:lnRef idx="0"/>
          <a:fillRef idx="0"/>
          <a:effectRef idx="0"/>
          <a:fontRef idx="minor"/>
        </p:style>
      </p:sp>
      <p:sp>
        <p:nvSpPr>
          <p:cNvPr id="118" name="Text 18"/>
          <p:cNvSpPr/>
          <p:nvPr/>
        </p:nvSpPr>
        <p:spPr>
          <a:xfrm>
            <a:off x="1532880" y="4701600"/>
            <a:ext cx="3847680" cy="2235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ffffff"/>
                </a:solidFill>
                <a:latin typeface="Oranienbaum"/>
                <a:ea typeface="Oranienbaum"/>
              </a:rPr>
              <a:t>1950 — John Nash</a:t>
            </a:r>
            <a:endParaRPr b="0" lang="en-HK" sz="1150" spc="-1" strike="noStrike">
              <a:latin typeface="Arial"/>
            </a:endParaRPr>
          </a:p>
        </p:txBody>
      </p:sp>
      <p:sp>
        <p:nvSpPr>
          <p:cNvPr id="119" name="Text 19"/>
          <p:cNvSpPr/>
          <p:nvPr/>
        </p:nvSpPr>
        <p:spPr>
          <a:xfrm>
            <a:off x="1541160" y="4961160"/>
            <a:ext cx="3839400" cy="1911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020" spc="-1" strike="noStrike">
                <a:solidFill>
                  <a:srgbClr val="e0e0e0"/>
                </a:solidFill>
                <a:latin typeface="Quattrocento Sans"/>
                <a:ea typeface="Quattrocento Sans"/>
              </a:rPr>
              <a:t>Nash Equilibrium:</a:t>
            </a:r>
            <a:r>
              <a:rPr b="0" lang="en-US" sz="1020" spc="-1" strike="noStrike">
                <a:solidFill>
                  <a:srgbClr val="e0e0e0"/>
                </a:solidFill>
                <a:latin typeface="Quattrocento Sans"/>
                <a:ea typeface="Quattrocento Sans"/>
              </a:rPr>
              <a:t> Proved existence of equilibrium in all finite games</a:t>
            </a:r>
            <a:endParaRPr b="0" lang="en-HK" sz="1020" spc="-1" strike="noStrike">
              <a:latin typeface="Arial"/>
            </a:endParaRPr>
          </a:p>
        </p:txBody>
      </p:sp>
      <p:sp>
        <p:nvSpPr>
          <p:cNvPr id="120" name="Shape 20"/>
          <p:cNvSpPr/>
          <p:nvPr/>
        </p:nvSpPr>
        <p:spPr>
          <a:xfrm>
            <a:off x="6684120" y="5419080"/>
            <a:ext cx="3985560" cy="718200"/>
          </a:xfrm>
          <a:custGeom>
            <a:avLst/>
            <a:gdLst/>
            <a:ahLst/>
            <a:rect l="l" t="t" r="r" b="b"/>
            <a:pathLst>
              <a:path w="3988340" h="721468">
                <a:moveTo>
                  <a:pt x="0" y="0"/>
                </a:moveTo>
                <a:lnTo>
                  <a:pt x="3988340" y="0"/>
                </a:lnTo>
                <a:lnTo>
                  <a:pt x="3988340"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21" name="Text 21"/>
          <p:cNvSpPr/>
          <p:nvPr/>
        </p:nvSpPr>
        <p:spPr>
          <a:xfrm>
            <a:off x="6817680" y="5553000"/>
            <a:ext cx="3790800" cy="223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1994 — Nobel Prize</a:t>
            </a:r>
            <a:endParaRPr b="0" lang="en-HK" sz="1150" spc="-1" strike="noStrike">
              <a:latin typeface="Arial"/>
            </a:endParaRPr>
          </a:p>
        </p:txBody>
      </p:sp>
      <p:sp>
        <p:nvSpPr>
          <p:cNvPr id="122" name="Text 22"/>
          <p:cNvSpPr/>
          <p:nvPr/>
        </p:nvSpPr>
        <p:spPr>
          <a:xfrm>
            <a:off x="6817680" y="5812200"/>
            <a:ext cx="378288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636e72"/>
                </a:solidFill>
                <a:latin typeface="Quattrocento Sans"/>
                <a:ea typeface="Quattrocento Sans"/>
              </a:rPr>
              <a:t>Nash, Harsanyi, and Selten awarded for game theory contributions</a:t>
            </a:r>
            <a:endParaRPr b="0" lang="en-HK" sz="1020" spc="-1" strike="noStrike">
              <a:latin typeface="Arial"/>
            </a:endParaRPr>
          </a:p>
        </p:txBody>
      </p:sp>
      <p:sp>
        <p:nvSpPr>
          <p:cNvPr id="123" name="Shape 23"/>
          <p:cNvSpPr/>
          <p:nvPr/>
        </p:nvSpPr>
        <p:spPr>
          <a:xfrm>
            <a:off x="6031440" y="1467360"/>
            <a:ext cx="126360" cy="1263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4" name="Shape 24"/>
          <p:cNvSpPr/>
          <p:nvPr/>
        </p:nvSpPr>
        <p:spPr>
          <a:xfrm>
            <a:off x="6031440" y="2326680"/>
            <a:ext cx="126360" cy="1263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5" name="Shape 25"/>
          <p:cNvSpPr/>
          <p:nvPr/>
        </p:nvSpPr>
        <p:spPr>
          <a:xfrm>
            <a:off x="6031440" y="3177720"/>
            <a:ext cx="126360" cy="1263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6" name="Shape 26"/>
          <p:cNvSpPr/>
          <p:nvPr/>
        </p:nvSpPr>
        <p:spPr>
          <a:xfrm>
            <a:off x="6031440" y="4020840"/>
            <a:ext cx="126360" cy="1263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7" name="Shape 27"/>
          <p:cNvSpPr/>
          <p:nvPr/>
        </p:nvSpPr>
        <p:spPr>
          <a:xfrm>
            <a:off x="6031440" y="4863960"/>
            <a:ext cx="126360" cy="1263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2d3436"/>
          </a:solidFill>
          <a:ln w="0">
            <a:noFill/>
          </a:ln>
        </p:spPr>
        <p:style>
          <a:lnRef idx="0"/>
          <a:fillRef idx="0"/>
          <a:effectRef idx="0"/>
          <a:fontRef idx="minor"/>
        </p:style>
      </p:sp>
      <p:sp>
        <p:nvSpPr>
          <p:cNvPr id="128" name="Shape 28"/>
          <p:cNvSpPr/>
          <p:nvPr/>
        </p:nvSpPr>
        <p:spPr>
          <a:xfrm>
            <a:off x="6031440" y="5715000"/>
            <a:ext cx="126360" cy="1263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Text 0"/>
          <p:cNvSpPr/>
          <p:nvPr/>
        </p:nvSpPr>
        <p:spPr>
          <a:xfrm>
            <a:off x="380880" y="380880"/>
            <a:ext cx="1150416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35" strike="noStrike">
                <a:solidFill>
                  <a:srgbClr val="0984e3"/>
                </a:solidFill>
                <a:latin typeface="Quattrocento Sans"/>
                <a:ea typeface="Quattrocento Sans"/>
              </a:rPr>
              <a:t>KEY FIGURE</a:t>
            </a:r>
            <a:endParaRPr b="0" lang="en-HK" sz="1200" spc="-1" strike="noStrike">
              <a:latin typeface="Arial"/>
            </a:endParaRPr>
          </a:p>
        </p:txBody>
      </p:sp>
      <p:sp>
        <p:nvSpPr>
          <p:cNvPr id="130" name="Text 1"/>
          <p:cNvSpPr/>
          <p:nvPr/>
        </p:nvSpPr>
        <p:spPr>
          <a:xfrm>
            <a:off x="380880" y="685800"/>
            <a:ext cx="11656440" cy="453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John Nash: A Beautiful Mind</a:t>
            </a:r>
            <a:endParaRPr b="0" lang="en-HK" sz="3600" spc="-1" strike="noStrike">
              <a:latin typeface="Arial"/>
            </a:endParaRPr>
          </a:p>
        </p:txBody>
      </p:sp>
      <p:sp>
        <p:nvSpPr>
          <p:cNvPr id="131" name="Image 0"/>
          <p:cNvSpPr/>
          <p:nvPr/>
        </p:nvSpPr>
        <p:spPr>
          <a:xfrm>
            <a:off x="380880" y="1371600"/>
            <a:ext cx="4388040" cy="3044880"/>
          </a:xfrm>
          <a:prstGeom prst="roundRect">
            <a:avLst>
              <a:gd name="adj" fmla="val 0"/>
            </a:avLst>
          </a:prstGeom>
          <a:blipFill rotWithShape="0">
            <a:blip r:embed="rId1"/>
            <a:srcRect/>
            <a:stretch/>
          </a:blipFill>
          <a:ln w="0">
            <a:noFill/>
          </a:ln>
        </p:spPr>
        <p:style>
          <a:lnRef idx="0"/>
          <a:fillRef idx="0"/>
          <a:effectRef idx="0"/>
          <a:fontRef idx="minor"/>
        </p:style>
      </p:sp>
      <p:sp>
        <p:nvSpPr>
          <p:cNvPr id="132" name="Shape 2"/>
          <p:cNvSpPr/>
          <p:nvPr/>
        </p:nvSpPr>
        <p:spPr>
          <a:xfrm>
            <a:off x="399960" y="4648320"/>
            <a:ext cx="4368960" cy="1139760"/>
          </a:xfrm>
          <a:custGeom>
            <a:avLst/>
            <a:gdLst/>
            <a:ahLst/>
            <a:rect l="l" t="t" r="r" b="b"/>
            <a:pathLst>
              <a:path w="4371975" h="1143000">
                <a:moveTo>
                  <a:pt x="0" y="0"/>
                </a:moveTo>
                <a:lnTo>
                  <a:pt x="4371975" y="0"/>
                </a:lnTo>
                <a:lnTo>
                  <a:pt x="4371975" y="1143000"/>
                </a:lnTo>
                <a:lnTo>
                  <a:pt x="0" y="1143000"/>
                </a:lnTo>
                <a:lnTo>
                  <a:pt x="0" y="0"/>
                </a:lnTo>
                <a:close/>
              </a:path>
            </a:pathLst>
          </a:custGeom>
          <a:solidFill>
            <a:srgbClr val="f8f9fa"/>
          </a:solidFill>
          <a:ln w="0">
            <a:noFill/>
          </a:ln>
        </p:spPr>
        <p:style>
          <a:lnRef idx="0"/>
          <a:fillRef idx="0"/>
          <a:effectRef idx="0"/>
          <a:fontRef idx="minor"/>
        </p:style>
      </p:sp>
      <p:sp>
        <p:nvSpPr>
          <p:cNvPr id="133" name="Shape 3"/>
          <p:cNvSpPr/>
          <p:nvPr/>
        </p:nvSpPr>
        <p:spPr>
          <a:xfrm>
            <a:off x="399960" y="4648320"/>
            <a:ext cx="34920" cy="1139760"/>
          </a:xfrm>
          <a:custGeom>
            <a:avLst/>
            <a:gdLst/>
            <a:ahLst/>
            <a:rect l="l" t="t" r="r" b="b"/>
            <a:pathLst>
              <a:path w="38100" h="1143000">
                <a:moveTo>
                  <a:pt x="0" y="0"/>
                </a:moveTo>
                <a:lnTo>
                  <a:pt x="38100" y="0"/>
                </a:lnTo>
                <a:lnTo>
                  <a:pt x="38100" y="1143000"/>
                </a:lnTo>
                <a:lnTo>
                  <a:pt x="0" y="1143000"/>
                </a:lnTo>
                <a:lnTo>
                  <a:pt x="0" y="0"/>
                </a:lnTo>
                <a:close/>
              </a:path>
            </a:pathLst>
          </a:custGeom>
          <a:solidFill>
            <a:srgbClr val="0984e3"/>
          </a:solidFill>
          <a:ln w="0">
            <a:noFill/>
          </a:ln>
        </p:spPr>
        <p:style>
          <a:lnRef idx="0"/>
          <a:fillRef idx="0"/>
          <a:effectRef idx="0"/>
          <a:fontRef idx="minor"/>
        </p:style>
      </p:sp>
      <p:sp>
        <p:nvSpPr>
          <p:cNvPr id="134" name="Text 4"/>
          <p:cNvSpPr/>
          <p:nvPr/>
        </p:nvSpPr>
        <p:spPr>
          <a:xfrm>
            <a:off x="609480" y="4838760"/>
            <a:ext cx="4045320" cy="492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 was on the right track. I was doing good work. And then I became mentally disturbed."</a:t>
            </a:r>
            <a:endParaRPr b="0" lang="en-HK" sz="1200" spc="-1" strike="noStrike">
              <a:latin typeface="Arial"/>
            </a:endParaRPr>
          </a:p>
        </p:txBody>
      </p:sp>
      <p:sp>
        <p:nvSpPr>
          <p:cNvPr id="135" name="Text 5"/>
          <p:cNvSpPr/>
          <p:nvPr/>
        </p:nvSpPr>
        <p:spPr>
          <a:xfrm>
            <a:off x="609480" y="5410080"/>
            <a:ext cx="4035600" cy="1872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636e72"/>
                </a:solidFill>
                <a:latin typeface="Quattrocento Sans"/>
                <a:ea typeface="Quattrocento Sans"/>
              </a:rPr>
              <a:t>— </a:t>
            </a:r>
            <a:r>
              <a:rPr b="0" lang="en-US" sz="1050" spc="-1" strike="noStrike">
                <a:solidFill>
                  <a:srgbClr val="636e72"/>
                </a:solidFill>
                <a:latin typeface="Quattrocento Sans"/>
                <a:ea typeface="Quattrocento Sans"/>
              </a:rPr>
              <a:t>John Nash, on his recovery</a:t>
            </a:r>
            <a:endParaRPr b="0" lang="en-HK" sz="1050" spc="-1" strike="noStrike">
              <a:latin typeface="Arial"/>
            </a:endParaRPr>
          </a:p>
        </p:txBody>
      </p:sp>
      <p:sp>
        <p:nvSpPr>
          <p:cNvPr id="136" name="Text 6"/>
          <p:cNvSpPr/>
          <p:nvPr/>
        </p:nvSpPr>
        <p:spPr>
          <a:xfrm>
            <a:off x="5075280" y="1371600"/>
            <a:ext cx="684612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Early Brilliance</a:t>
            </a:r>
            <a:endParaRPr b="0" lang="en-HK" sz="1800" spc="-1" strike="noStrike">
              <a:latin typeface="Arial"/>
            </a:endParaRPr>
          </a:p>
        </p:txBody>
      </p:sp>
      <p:sp>
        <p:nvSpPr>
          <p:cNvPr id="137" name="Text 7"/>
          <p:cNvSpPr/>
          <p:nvPr/>
        </p:nvSpPr>
        <p:spPr>
          <a:xfrm>
            <a:off x="5075280" y="1752480"/>
            <a:ext cx="6807960" cy="98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Born June 13, 1928, in Bluefield, West Virginia, Nash showed exceptional mathematical talent from an early age. His high school math teacher noted he "will really go places if you would only organize your work." He completed his undergraduate and master's degrees at Carnegie Tech in 1948, then earned his Ph.D. from Princeton in 1950 at age 21.</a:t>
            </a:r>
            <a:endParaRPr b="0" lang="en-HK" sz="1200" spc="-1" strike="noStrike">
              <a:latin typeface="Arial"/>
            </a:endParaRPr>
          </a:p>
        </p:txBody>
      </p:sp>
      <p:sp>
        <p:nvSpPr>
          <p:cNvPr id="138" name="Text 8"/>
          <p:cNvSpPr/>
          <p:nvPr/>
        </p:nvSpPr>
        <p:spPr>
          <a:xfrm>
            <a:off x="5075280" y="2895480"/>
            <a:ext cx="684612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The Nash Equilibrium</a:t>
            </a:r>
            <a:endParaRPr b="0" lang="en-HK" sz="1800" spc="-1" strike="noStrike">
              <a:latin typeface="Arial"/>
            </a:endParaRPr>
          </a:p>
        </p:txBody>
      </p:sp>
      <p:sp>
        <p:nvSpPr>
          <p:cNvPr id="139" name="Text 9"/>
          <p:cNvSpPr/>
          <p:nvPr/>
        </p:nvSpPr>
        <p:spPr>
          <a:xfrm>
            <a:off x="5075280" y="3276720"/>
            <a:ext cx="6807960" cy="98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Nash's doctoral thesis introduced the concept that would revolutionize economics: the </a:t>
            </a:r>
            <a:r>
              <a:rPr b="1" lang="en-US" sz="1200" spc="-1" strike="noStrike">
                <a:solidFill>
                  <a:srgbClr val="1e272e"/>
                </a:solidFill>
                <a:latin typeface="Quattrocento Sans"/>
                <a:ea typeface="Quattrocento Sans"/>
              </a:rPr>
              <a:t>Nash Equilibrium</a:t>
            </a:r>
            <a:r>
              <a:rPr b="0" lang="en-US" sz="1200" spc="-1" strike="noStrike">
                <a:solidFill>
                  <a:srgbClr val="1e272e"/>
                </a:solidFill>
                <a:latin typeface="Quattrocento Sans"/>
                <a:ea typeface="Quattrocento Sans"/>
              </a:rPr>
              <a:t>. He proved that in any finite game, there exists at least one set of strategies where no player can benefit by unilaterally changing their strategy. This elegant solution concept became the cornerstone of non-cooperative game theory.</a:t>
            </a:r>
            <a:endParaRPr b="0" lang="en-HK" sz="1200" spc="-1" strike="noStrike">
              <a:latin typeface="Arial"/>
            </a:endParaRPr>
          </a:p>
        </p:txBody>
      </p:sp>
      <p:sp>
        <p:nvSpPr>
          <p:cNvPr id="140" name="Text 10"/>
          <p:cNvSpPr/>
          <p:nvPr/>
        </p:nvSpPr>
        <p:spPr>
          <a:xfrm>
            <a:off x="5075280" y="4419720"/>
            <a:ext cx="684612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Struggle and Triumph</a:t>
            </a:r>
            <a:endParaRPr b="0" lang="en-HK" sz="1800" spc="-1" strike="noStrike">
              <a:latin typeface="Arial"/>
            </a:endParaRPr>
          </a:p>
        </p:txBody>
      </p:sp>
      <p:sp>
        <p:nvSpPr>
          <p:cNvPr id="141" name="Text 11"/>
          <p:cNvSpPr/>
          <p:nvPr/>
        </p:nvSpPr>
        <p:spPr>
          <a:xfrm>
            <a:off x="5075280" y="4800600"/>
            <a:ext cx="6807960" cy="987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In 1959, Nash was diagnosed with paranoid schizophrenia. For decades, he battled delusions and was hospitalized multiple times. Yet remarkably, by the 1980s, he experienced a spontaneous remission without medication. He returned to Princeton, resumed his research, and in 1994, was awarded the </a:t>
            </a:r>
            <a:r>
              <a:rPr b="1" lang="en-US" sz="1200" spc="-1" strike="noStrike">
                <a:solidFill>
                  <a:srgbClr val="1e272e"/>
                </a:solidFill>
                <a:latin typeface="Quattrocento Sans"/>
                <a:ea typeface="Quattrocento Sans"/>
              </a:rPr>
              <a:t>Nobel Prize in Economic Sciences</a:t>
            </a:r>
            <a:r>
              <a:rPr b="0" lang="en-US" sz="1200" spc="-1" strike="noStrike">
                <a:solidFill>
                  <a:srgbClr val="1e272e"/>
                </a:solidFill>
                <a:latin typeface="Quattrocento Sans"/>
                <a:ea typeface="Quattrocento Sans"/>
              </a:rPr>
              <a:t> for his work on game theory.</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 name="Text 0"/>
          <p:cNvSpPr/>
          <p:nvPr/>
        </p:nvSpPr>
        <p:spPr>
          <a:xfrm>
            <a:off x="609480" y="1781280"/>
            <a:ext cx="12189960" cy="1216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03</a:t>
            </a:r>
            <a:endParaRPr b="0" lang="en-HK" sz="9600" spc="-1" strike="noStrike">
              <a:latin typeface="Arial"/>
            </a:endParaRPr>
          </a:p>
        </p:txBody>
      </p:sp>
      <p:sp>
        <p:nvSpPr>
          <p:cNvPr id="143" name="Text 1"/>
          <p:cNvSpPr/>
          <p:nvPr/>
        </p:nvSpPr>
        <p:spPr>
          <a:xfrm>
            <a:off x="609480" y="3152880"/>
            <a:ext cx="11865960" cy="1139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Core Concepts &amp;</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Mathematical Framework</a:t>
            </a:r>
            <a:endParaRPr b="0" lang="en-HK" sz="4500" spc="-1" strike="noStrike">
              <a:latin typeface="Arial"/>
            </a:endParaRPr>
          </a:p>
        </p:txBody>
      </p:sp>
      <p:sp>
        <p:nvSpPr>
          <p:cNvPr id="144" name="Shape 2"/>
          <p:cNvSpPr/>
          <p:nvPr/>
        </p:nvSpPr>
        <p:spPr>
          <a:xfrm>
            <a:off x="609480" y="4524480"/>
            <a:ext cx="1216080" cy="158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145" name="Text 3"/>
          <p:cNvSpPr/>
          <p:nvPr/>
        </p:nvSpPr>
        <p:spPr>
          <a:xfrm>
            <a:off x="609480" y="4772160"/>
            <a:ext cx="1169460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The essential building blocks of strategic analysis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Text 0"/>
          <p:cNvSpPr/>
          <p:nvPr/>
        </p:nvSpPr>
        <p:spPr>
          <a:xfrm>
            <a:off x="356400" y="356400"/>
            <a:ext cx="11548800" cy="2106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20" spc="32" strike="noStrike">
                <a:solidFill>
                  <a:srgbClr val="0984e3"/>
                </a:solidFill>
                <a:latin typeface="Quattrocento Sans"/>
                <a:ea typeface="Quattrocento Sans"/>
              </a:rPr>
              <a:t>CLASSIFICATION FRAMEWORK</a:t>
            </a:r>
            <a:endParaRPr b="0" lang="en-HK" sz="1120" spc="-1" strike="noStrike">
              <a:latin typeface="Arial"/>
            </a:endParaRPr>
          </a:p>
        </p:txBody>
      </p:sp>
      <p:sp>
        <p:nvSpPr>
          <p:cNvPr id="147" name="Text 1"/>
          <p:cNvSpPr/>
          <p:nvPr/>
        </p:nvSpPr>
        <p:spPr>
          <a:xfrm>
            <a:off x="356400" y="641160"/>
            <a:ext cx="11691000" cy="424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359" spc="-1" strike="noStrike">
                <a:solidFill>
                  <a:srgbClr val="2d3436"/>
                </a:solidFill>
                <a:latin typeface="Oranienbaum"/>
                <a:ea typeface="Oranienbaum"/>
              </a:rPr>
              <a:t>Game Classification Framework</a:t>
            </a:r>
            <a:endParaRPr b="0" lang="en-HK" sz="3359" spc="-1" strike="noStrike">
              <a:latin typeface="Arial"/>
            </a:endParaRPr>
          </a:p>
        </p:txBody>
      </p:sp>
      <p:sp>
        <p:nvSpPr>
          <p:cNvPr id="148" name="Shape 2"/>
          <p:cNvSpPr/>
          <p:nvPr/>
        </p:nvSpPr>
        <p:spPr>
          <a:xfrm>
            <a:off x="360720" y="1287000"/>
            <a:ext cx="3692880" cy="262404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149" name="Shape 3"/>
          <p:cNvSpPr/>
          <p:nvPr/>
        </p:nvSpPr>
        <p:spPr>
          <a:xfrm>
            <a:off x="543240" y="1469520"/>
            <a:ext cx="424080" cy="42408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150" name="Shape 4"/>
          <p:cNvSpPr/>
          <p:nvPr/>
        </p:nvSpPr>
        <p:spPr>
          <a:xfrm>
            <a:off x="656640" y="1594080"/>
            <a:ext cx="197280" cy="174960"/>
          </a:xfrm>
          <a:custGeom>
            <a:avLst/>
            <a:gdLst/>
            <a:ahLst/>
            <a:rect l="l" t="t" r="r" b="b"/>
            <a:pathLst>
              <a:path w="200380" h="178115">
                <a:moveTo>
                  <a:pt x="93545" y="29640"/>
                </a:moveTo>
                <a:lnTo>
                  <a:pt x="52982" y="74725"/>
                </a:lnTo>
                <a:cubicBezTo>
                  <a:pt x="51382" y="76499"/>
                  <a:pt x="51452" y="79247"/>
                  <a:pt x="53156" y="80952"/>
                </a:cubicBezTo>
                <a:cubicBezTo>
                  <a:pt x="63767" y="91562"/>
                  <a:pt x="80987" y="91562"/>
                  <a:pt x="91597" y="80952"/>
                </a:cubicBezTo>
                <a:lnTo>
                  <a:pt x="102660" y="69889"/>
                </a:lnTo>
                <a:cubicBezTo>
                  <a:pt x="104121" y="68428"/>
                  <a:pt x="105965" y="67628"/>
                  <a:pt x="107843" y="67489"/>
                </a:cubicBezTo>
                <a:cubicBezTo>
                  <a:pt x="110209" y="67280"/>
                  <a:pt x="112644" y="68080"/>
                  <a:pt x="114453" y="69889"/>
                </a:cubicBezTo>
                <a:lnTo>
                  <a:pt x="175889" y="130804"/>
                </a:lnTo>
                <a:lnTo>
                  <a:pt x="200380" y="111322"/>
                </a:lnTo>
                <a:lnTo>
                  <a:pt x="200380" y="11132"/>
                </a:lnTo>
                <a:lnTo>
                  <a:pt x="161417" y="33397"/>
                </a:lnTo>
                <a:lnTo>
                  <a:pt x="153138" y="27865"/>
                </a:lnTo>
                <a:cubicBezTo>
                  <a:pt x="147641" y="24213"/>
                  <a:pt x="141205" y="22264"/>
                  <a:pt x="134595" y="22264"/>
                </a:cubicBezTo>
                <a:lnTo>
                  <a:pt x="110105" y="22264"/>
                </a:lnTo>
                <a:cubicBezTo>
                  <a:pt x="109722" y="22264"/>
                  <a:pt x="109304" y="22264"/>
                  <a:pt x="108922" y="22299"/>
                </a:cubicBezTo>
                <a:cubicBezTo>
                  <a:pt x="103043" y="22612"/>
                  <a:pt x="97511" y="25256"/>
                  <a:pt x="93545" y="29640"/>
                </a:cubicBezTo>
                <a:close/>
                <a:moveTo>
                  <a:pt x="40563" y="63558"/>
                </a:moveTo>
                <a:lnTo>
                  <a:pt x="77717" y="22264"/>
                </a:lnTo>
                <a:lnTo>
                  <a:pt x="63941" y="22264"/>
                </a:lnTo>
                <a:cubicBezTo>
                  <a:pt x="55070" y="22264"/>
                  <a:pt x="46581" y="25778"/>
                  <a:pt x="40319" y="32040"/>
                </a:cubicBezTo>
                <a:lnTo>
                  <a:pt x="38963" y="33397"/>
                </a:lnTo>
                <a:lnTo>
                  <a:pt x="0" y="11132"/>
                </a:lnTo>
                <a:lnTo>
                  <a:pt x="0" y="111322"/>
                </a:lnTo>
                <a:lnTo>
                  <a:pt x="54409" y="156651"/>
                </a:lnTo>
                <a:cubicBezTo>
                  <a:pt x="62410" y="163330"/>
                  <a:pt x="72499" y="166983"/>
                  <a:pt x="82900" y="166983"/>
                </a:cubicBezTo>
                <a:lnTo>
                  <a:pt x="88362" y="166983"/>
                </a:lnTo>
                <a:lnTo>
                  <a:pt x="85927" y="164548"/>
                </a:lnTo>
                <a:cubicBezTo>
                  <a:pt x="82657" y="161278"/>
                  <a:pt x="82657" y="155990"/>
                  <a:pt x="85927" y="152755"/>
                </a:cubicBezTo>
                <a:cubicBezTo>
                  <a:pt x="89197" y="149520"/>
                  <a:pt x="94485" y="149485"/>
                  <a:pt x="97720" y="152755"/>
                </a:cubicBezTo>
                <a:lnTo>
                  <a:pt x="111983" y="167018"/>
                </a:lnTo>
                <a:lnTo>
                  <a:pt x="115114" y="167018"/>
                </a:lnTo>
                <a:cubicBezTo>
                  <a:pt x="121759" y="167018"/>
                  <a:pt x="128264" y="165522"/>
                  <a:pt x="134178" y="162739"/>
                </a:cubicBezTo>
                <a:lnTo>
                  <a:pt x="124890" y="153416"/>
                </a:lnTo>
                <a:cubicBezTo>
                  <a:pt x="121619" y="150146"/>
                  <a:pt x="121619" y="144858"/>
                  <a:pt x="124890" y="141623"/>
                </a:cubicBezTo>
                <a:cubicBezTo>
                  <a:pt x="128160" y="138387"/>
                  <a:pt x="133447" y="138353"/>
                  <a:pt x="136683" y="141623"/>
                </a:cubicBezTo>
                <a:lnTo>
                  <a:pt x="147815" y="152755"/>
                </a:lnTo>
                <a:lnTo>
                  <a:pt x="153903" y="146667"/>
                </a:lnTo>
                <a:cubicBezTo>
                  <a:pt x="156999" y="143571"/>
                  <a:pt x="157903" y="139083"/>
                  <a:pt x="156547" y="135152"/>
                </a:cubicBezTo>
                <a:lnTo>
                  <a:pt x="108574" y="87562"/>
                </a:lnTo>
                <a:lnTo>
                  <a:pt x="103390" y="92745"/>
                </a:lnTo>
                <a:cubicBezTo>
                  <a:pt x="86240" y="109896"/>
                  <a:pt x="58479" y="109896"/>
                  <a:pt x="41328" y="92745"/>
                </a:cubicBezTo>
                <a:cubicBezTo>
                  <a:pt x="33327" y="84744"/>
                  <a:pt x="33014" y="71907"/>
                  <a:pt x="40563" y="63523"/>
                </a:cubicBezTo>
                <a:close/>
              </a:path>
            </a:pathLst>
          </a:custGeom>
          <a:solidFill>
            <a:srgbClr val="ffffff"/>
          </a:solidFill>
          <a:ln w="0">
            <a:noFill/>
          </a:ln>
        </p:spPr>
        <p:style>
          <a:lnRef idx="0"/>
          <a:fillRef idx="0"/>
          <a:effectRef idx="0"/>
          <a:fontRef idx="minor"/>
        </p:style>
      </p:sp>
      <p:sp>
        <p:nvSpPr>
          <p:cNvPr id="151" name="Text 5"/>
          <p:cNvSpPr/>
          <p:nvPr/>
        </p:nvSpPr>
        <p:spPr>
          <a:xfrm>
            <a:off x="1077480" y="1558440"/>
            <a:ext cx="2339280" cy="24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Cooperative vs Non-Cooperative</a:t>
            </a:r>
            <a:endParaRPr b="0" lang="en-HK" sz="1400" spc="-1" strike="noStrike">
              <a:latin typeface="Arial"/>
            </a:endParaRPr>
          </a:p>
        </p:txBody>
      </p:sp>
      <p:sp>
        <p:nvSpPr>
          <p:cNvPr id="152" name="Text 6"/>
          <p:cNvSpPr/>
          <p:nvPr/>
        </p:nvSpPr>
        <p:spPr>
          <a:xfrm>
            <a:off x="543240" y="2003760"/>
            <a:ext cx="3399120" cy="691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Cooperative games</a:t>
            </a:r>
            <a:r>
              <a:rPr b="0" lang="en-US" sz="1120" spc="-1" strike="noStrike">
                <a:solidFill>
                  <a:srgbClr val="1e272e"/>
                </a:solidFill>
                <a:latin typeface="Quattrocento Sans"/>
                <a:ea typeface="Quattrocento Sans"/>
              </a:rPr>
              <a:t> allow binding agreements and coalition formation. Players work together to maximize collective payoff, then divide the gains.</a:t>
            </a:r>
            <a:endParaRPr b="0" lang="en-HK" sz="1120" spc="-1" strike="noStrike">
              <a:latin typeface="Arial"/>
            </a:endParaRPr>
          </a:p>
        </p:txBody>
      </p:sp>
      <p:sp>
        <p:nvSpPr>
          <p:cNvPr id="153" name="Text 7"/>
          <p:cNvSpPr/>
          <p:nvPr/>
        </p:nvSpPr>
        <p:spPr>
          <a:xfrm>
            <a:off x="543240" y="2805480"/>
            <a:ext cx="3399120" cy="923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Non-cooperative games</a:t>
            </a:r>
            <a:r>
              <a:rPr b="0" lang="en-US" sz="1120" spc="-1" strike="noStrike">
                <a:solidFill>
                  <a:srgbClr val="636e72"/>
                </a:solidFill>
                <a:latin typeface="Quattrocento Sans"/>
                <a:ea typeface="Quattrocento Sans"/>
              </a:rPr>
              <a:t> assume independent decision-making without enforceable agreements. Each player pursues self-interest through strategic interaction.</a:t>
            </a:r>
            <a:endParaRPr b="0" lang="en-HK" sz="1120" spc="-1" strike="noStrike">
              <a:latin typeface="Arial"/>
            </a:endParaRPr>
          </a:p>
        </p:txBody>
      </p:sp>
      <p:sp>
        <p:nvSpPr>
          <p:cNvPr id="154" name="Shape 8"/>
          <p:cNvSpPr/>
          <p:nvPr/>
        </p:nvSpPr>
        <p:spPr>
          <a:xfrm>
            <a:off x="4246560" y="1287000"/>
            <a:ext cx="3692880" cy="262404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155" name="Shape 9"/>
          <p:cNvSpPr/>
          <p:nvPr/>
        </p:nvSpPr>
        <p:spPr>
          <a:xfrm>
            <a:off x="4429080" y="1469520"/>
            <a:ext cx="424080" cy="42408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156" name="Shape 10"/>
          <p:cNvSpPr/>
          <p:nvPr/>
        </p:nvSpPr>
        <p:spPr>
          <a:xfrm>
            <a:off x="4542480" y="1594080"/>
            <a:ext cx="197280" cy="174960"/>
          </a:xfrm>
          <a:custGeom>
            <a:avLst/>
            <a:gdLst/>
            <a:ahLst/>
            <a:rect l="l" t="t" r="r" b="b"/>
            <a:pathLst>
              <a:path w="200380" h="178115">
                <a:moveTo>
                  <a:pt x="100190" y="11132"/>
                </a:moveTo>
                <a:cubicBezTo>
                  <a:pt x="72081" y="11132"/>
                  <a:pt x="49573" y="23934"/>
                  <a:pt x="33188" y="39171"/>
                </a:cubicBezTo>
                <a:cubicBezTo>
                  <a:pt x="16907" y="54304"/>
                  <a:pt x="6018" y="72359"/>
                  <a:pt x="835" y="84779"/>
                </a:cubicBezTo>
                <a:cubicBezTo>
                  <a:pt x="-313" y="87527"/>
                  <a:pt x="-313" y="90588"/>
                  <a:pt x="835" y="93337"/>
                </a:cubicBezTo>
                <a:cubicBezTo>
                  <a:pt x="6018" y="105756"/>
                  <a:pt x="16907" y="123846"/>
                  <a:pt x="33188" y="138944"/>
                </a:cubicBezTo>
                <a:cubicBezTo>
                  <a:pt x="49573" y="154146"/>
                  <a:pt x="72081" y="166983"/>
                  <a:pt x="100190" y="166983"/>
                </a:cubicBezTo>
                <a:cubicBezTo>
                  <a:pt x="128299" y="166983"/>
                  <a:pt x="150807" y="154181"/>
                  <a:pt x="167192" y="138944"/>
                </a:cubicBezTo>
                <a:cubicBezTo>
                  <a:pt x="183473" y="123811"/>
                  <a:pt x="194361" y="105756"/>
                  <a:pt x="199545" y="93337"/>
                </a:cubicBezTo>
                <a:cubicBezTo>
                  <a:pt x="200693" y="90588"/>
                  <a:pt x="200693" y="87527"/>
                  <a:pt x="199545" y="84779"/>
                </a:cubicBezTo>
                <a:cubicBezTo>
                  <a:pt x="194361" y="72359"/>
                  <a:pt x="183473" y="54270"/>
                  <a:pt x="167192" y="39171"/>
                </a:cubicBezTo>
                <a:cubicBezTo>
                  <a:pt x="150807" y="23969"/>
                  <a:pt x="128299" y="11132"/>
                  <a:pt x="100190" y="11132"/>
                </a:cubicBezTo>
                <a:close/>
                <a:moveTo>
                  <a:pt x="50095" y="89058"/>
                </a:moveTo>
                <a:cubicBezTo>
                  <a:pt x="50095" y="61410"/>
                  <a:pt x="72542" y="38963"/>
                  <a:pt x="100190" y="38963"/>
                </a:cubicBezTo>
                <a:cubicBezTo>
                  <a:pt x="127838" y="38963"/>
                  <a:pt x="150285" y="61410"/>
                  <a:pt x="150285" y="89058"/>
                </a:cubicBezTo>
                <a:cubicBezTo>
                  <a:pt x="150285" y="116706"/>
                  <a:pt x="127838" y="139153"/>
                  <a:pt x="100190" y="139153"/>
                </a:cubicBezTo>
                <a:cubicBezTo>
                  <a:pt x="72542" y="139153"/>
                  <a:pt x="50095" y="116706"/>
                  <a:pt x="50095" y="89058"/>
                </a:cubicBezTo>
                <a:close/>
                <a:moveTo>
                  <a:pt x="100190" y="66793"/>
                </a:moveTo>
                <a:cubicBezTo>
                  <a:pt x="100190" y="79074"/>
                  <a:pt x="90206" y="89058"/>
                  <a:pt x="77925" y="89058"/>
                </a:cubicBezTo>
                <a:cubicBezTo>
                  <a:pt x="73925" y="89058"/>
                  <a:pt x="70168" y="88014"/>
                  <a:pt x="66898" y="86136"/>
                </a:cubicBezTo>
                <a:cubicBezTo>
                  <a:pt x="66550" y="89927"/>
                  <a:pt x="66863" y="93824"/>
                  <a:pt x="67907" y="97685"/>
                </a:cubicBezTo>
                <a:cubicBezTo>
                  <a:pt x="72672" y="115497"/>
                  <a:pt x="91006" y="126072"/>
                  <a:pt x="108817" y="121306"/>
                </a:cubicBezTo>
                <a:cubicBezTo>
                  <a:pt x="126629" y="116540"/>
                  <a:pt x="137205" y="98207"/>
                  <a:pt x="132439" y="80395"/>
                </a:cubicBezTo>
                <a:cubicBezTo>
                  <a:pt x="128194" y="64497"/>
                  <a:pt x="113131" y="54374"/>
                  <a:pt x="97268" y="55765"/>
                </a:cubicBezTo>
                <a:cubicBezTo>
                  <a:pt x="99111" y="59001"/>
                  <a:pt x="100190" y="62758"/>
                  <a:pt x="100190" y="66793"/>
                </a:cubicBezTo>
                <a:close/>
              </a:path>
            </a:pathLst>
          </a:custGeom>
          <a:solidFill>
            <a:srgbClr val="ffffff"/>
          </a:solidFill>
          <a:ln w="0">
            <a:noFill/>
          </a:ln>
        </p:spPr>
        <p:style>
          <a:lnRef idx="0"/>
          <a:fillRef idx="0"/>
          <a:effectRef idx="0"/>
          <a:fontRef idx="minor"/>
        </p:style>
      </p:sp>
      <p:sp>
        <p:nvSpPr>
          <p:cNvPr id="157" name="Text 11"/>
          <p:cNvSpPr/>
          <p:nvPr/>
        </p:nvSpPr>
        <p:spPr>
          <a:xfrm>
            <a:off x="4963320" y="1558440"/>
            <a:ext cx="2428560" cy="24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Perfect vs Imperfect Information</a:t>
            </a:r>
            <a:endParaRPr b="0" lang="en-HK" sz="1400" spc="-1" strike="noStrike">
              <a:latin typeface="Arial"/>
            </a:endParaRPr>
          </a:p>
        </p:txBody>
      </p:sp>
      <p:sp>
        <p:nvSpPr>
          <p:cNvPr id="158" name="Text 12"/>
          <p:cNvSpPr/>
          <p:nvPr/>
        </p:nvSpPr>
        <p:spPr>
          <a:xfrm>
            <a:off x="4429080" y="2003760"/>
            <a:ext cx="3399120" cy="691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Perfect information games</a:t>
            </a:r>
            <a:r>
              <a:rPr b="0" lang="en-US" sz="1120" spc="-1" strike="noStrike">
                <a:solidFill>
                  <a:srgbClr val="1e272e"/>
                </a:solidFill>
                <a:latin typeface="Quattrocento Sans"/>
                <a:ea typeface="Quattrocento Sans"/>
              </a:rPr>
              <a:t> (e.g., chess) allow players to observe all previous moves. Each decision is made with complete knowledge of the game's history.</a:t>
            </a:r>
            <a:endParaRPr b="0" lang="en-HK" sz="1120" spc="-1" strike="noStrike">
              <a:latin typeface="Arial"/>
            </a:endParaRPr>
          </a:p>
        </p:txBody>
      </p:sp>
      <p:sp>
        <p:nvSpPr>
          <p:cNvPr id="159" name="Text 13"/>
          <p:cNvSpPr/>
          <p:nvPr/>
        </p:nvSpPr>
        <p:spPr>
          <a:xfrm>
            <a:off x="4429080" y="2805480"/>
            <a:ext cx="3399120" cy="691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Imperfect information games</a:t>
            </a:r>
            <a:r>
              <a:rPr b="0" lang="en-US" sz="1120" spc="-1" strike="noStrike">
                <a:solidFill>
                  <a:srgbClr val="636e72"/>
                </a:solidFill>
                <a:latin typeface="Quattrocento Sans"/>
                <a:ea typeface="Quattrocento Sans"/>
              </a:rPr>
              <a:t> (e.g., poker) involve hidden information. Players must make decisions without knowing opponents' cards or actions.</a:t>
            </a:r>
            <a:endParaRPr b="0" lang="en-HK" sz="1120" spc="-1" strike="noStrike">
              <a:latin typeface="Arial"/>
            </a:endParaRPr>
          </a:p>
        </p:txBody>
      </p:sp>
      <p:sp>
        <p:nvSpPr>
          <p:cNvPr id="160" name="Shape 14"/>
          <p:cNvSpPr/>
          <p:nvPr/>
        </p:nvSpPr>
        <p:spPr>
          <a:xfrm>
            <a:off x="8132040" y="1287000"/>
            <a:ext cx="3692880" cy="262404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161" name="Shape 15"/>
          <p:cNvSpPr/>
          <p:nvPr/>
        </p:nvSpPr>
        <p:spPr>
          <a:xfrm>
            <a:off x="8314920" y="1469520"/>
            <a:ext cx="424080" cy="42408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162" name="Shape 16"/>
          <p:cNvSpPr/>
          <p:nvPr/>
        </p:nvSpPr>
        <p:spPr>
          <a:xfrm>
            <a:off x="8439840" y="1594080"/>
            <a:ext cx="174960" cy="174960"/>
          </a:xfrm>
          <a:custGeom>
            <a:avLst/>
            <a:gdLst/>
            <a:ahLst/>
            <a:rect l="l" t="t" r="r" b="b"/>
            <a:pathLst>
              <a:path w="178115" h="178115">
                <a:moveTo>
                  <a:pt x="89058" y="0"/>
                </a:moveTo>
                <a:cubicBezTo>
                  <a:pt x="138210" y="0"/>
                  <a:pt x="178115" y="39905"/>
                  <a:pt x="178115" y="89058"/>
                </a:cubicBezTo>
                <a:cubicBezTo>
                  <a:pt x="178115" y="138210"/>
                  <a:pt x="138210" y="178115"/>
                  <a:pt x="89058" y="178115"/>
                </a:cubicBezTo>
                <a:cubicBezTo>
                  <a:pt x="39905" y="178115"/>
                  <a:pt x="0" y="138210"/>
                  <a:pt x="0" y="89058"/>
                </a:cubicBezTo>
                <a:cubicBezTo>
                  <a:pt x="0" y="39905"/>
                  <a:pt x="39905" y="0"/>
                  <a:pt x="89058" y="0"/>
                </a:cubicBezTo>
                <a:close/>
                <a:moveTo>
                  <a:pt x="80709" y="41746"/>
                </a:moveTo>
                <a:lnTo>
                  <a:pt x="80709" y="89058"/>
                </a:lnTo>
                <a:cubicBezTo>
                  <a:pt x="80709" y="91841"/>
                  <a:pt x="82100" y="94450"/>
                  <a:pt x="84431" y="96015"/>
                </a:cubicBezTo>
                <a:lnTo>
                  <a:pt x="117828" y="118280"/>
                </a:lnTo>
                <a:cubicBezTo>
                  <a:pt x="121654" y="120854"/>
                  <a:pt x="126838" y="119810"/>
                  <a:pt x="129412" y="115949"/>
                </a:cubicBezTo>
                <a:cubicBezTo>
                  <a:pt x="131986" y="112087"/>
                  <a:pt x="130943" y="106939"/>
                  <a:pt x="127081" y="104364"/>
                </a:cubicBezTo>
                <a:lnTo>
                  <a:pt x="97407" y="84605"/>
                </a:lnTo>
                <a:lnTo>
                  <a:pt x="97407" y="41746"/>
                </a:lnTo>
                <a:cubicBezTo>
                  <a:pt x="97407" y="37119"/>
                  <a:pt x="93685" y="33397"/>
                  <a:pt x="89058" y="33397"/>
                </a:cubicBezTo>
                <a:cubicBezTo>
                  <a:pt x="84431" y="33397"/>
                  <a:pt x="80709" y="37119"/>
                  <a:pt x="80709" y="41746"/>
                </a:cubicBezTo>
                <a:close/>
              </a:path>
            </a:pathLst>
          </a:custGeom>
          <a:solidFill>
            <a:srgbClr val="ffffff"/>
          </a:solidFill>
          <a:ln w="0">
            <a:noFill/>
          </a:ln>
        </p:spPr>
        <p:style>
          <a:lnRef idx="0"/>
          <a:fillRef idx="0"/>
          <a:effectRef idx="0"/>
          <a:fontRef idx="minor"/>
        </p:style>
      </p:sp>
      <p:sp>
        <p:nvSpPr>
          <p:cNvPr id="163" name="Text 17"/>
          <p:cNvSpPr/>
          <p:nvPr/>
        </p:nvSpPr>
        <p:spPr>
          <a:xfrm>
            <a:off x="8849520" y="1558440"/>
            <a:ext cx="2036520" cy="24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Simultaneous vs Sequential</a:t>
            </a:r>
            <a:endParaRPr b="0" lang="en-HK" sz="1400" spc="-1" strike="noStrike">
              <a:latin typeface="Arial"/>
            </a:endParaRPr>
          </a:p>
        </p:txBody>
      </p:sp>
      <p:sp>
        <p:nvSpPr>
          <p:cNvPr id="164" name="Text 18"/>
          <p:cNvSpPr/>
          <p:nvPr/>
        </p:nvSpPr>
        <p:spPr>
          <a:xfrm>
            <a:off x="8314920" y="2003760"/>
            <a:ext cx="3399120" cy="691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Simultaneous games</a:t>
            </a:r>
            <a:r>
              <a:rPr b="0" lang="en-US" sz="1120" spc="-1" strike="noStrike">
                <a:solidFill>
                  <a:srgbClr val="1e272e"/>
                </a:solidFill>
                <a:latin typeface="Quattrocento Sans"/>
                <a:ea typeface="Quattrocento Sans"/>
              </a:rPr>
              <a:t> require players to choose strategies without knowing others' choices. Represented by payoff matrices.</a:t>
            </a:r>
            <a:endParaRPr b="0" lang="en-HK" sz="1120" spc="-1" strike="noStrike">
              <a:latin typeface="Arial"/>
            </a:endParaRPr>
          </a:p>
        </p:txBody>
      </p:sp>
      <p:sp>
        <p:nvSpPr>
          <p:cNvPr id="165" name="Text 19"/>
          <p:cNvSpPr/>
          <p:nvPr/>
        </p:nvSpPr>
        <p:spPr>
          <a:xfrm>
            <a:off x="8314920" y="2805480"/>
            <a:ext cx="3399120" cy="691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Sequential games</a:t>
            </a:r>
            <a:r>
              <a:rPr b="0" lang="en-US" sz="1120" spc="-1" strike="noStrike">
                <a:solidFill>
                  <a:srgbClr val="636e72"/>
                </a:solidFill>
                <a:latin typeface="Quattrocento Sans"/>
                <a:ea typeface="Quattrocento Sans"/>
              </a:rPr>
              <a:t> involve turn-taking, with later players observing earlier moves. Analyzed using game trees and backward induction.</a:t>
            </a:r>
            <a:endParaRPr b="0" lang="en-HK" sz="1120" spc="-1" strike="noStrike">
              <a:latin typeface="Arial"/>
            </a:endParaRPr>
          </a:p>
        </p:txBody>
      </p:sp>
      <p:sp>
        <p:nvSpPr>
          <p:cNvPr id="166" name="Shape 20"/>
          <p:cNvSpPr/>
          <p:nvPr/>
        </p:nvSpPr>
        <p:spPr>
          <a:xfrm>
            <a:off x="360720" y="4101120"/>
            <a:ext cx="3692880" cy="2392560"/>
          </a:xfrm>
          <a:custGeom>
            <a:avLst/>
            <a:gdLst/>
            <a:ahLst/>
            <a:rect l="l" t="t" r="r" b="b"/>
            <a:pathLst>
              <a:path w="3695895" h="2395652">
                <a:moveTo>
                  <a:pt x="0" y="0"/>
                </a:moveTo>
                <a:lnTo>
                  <a:pt x="3695895" y="0"/>
                </a:lnTo>
                <a:lnTo>
                  <a:pt x="3695895" y="2395652"/>
                </a:lnTo>
                <a:lnTo>
                  <a:pt x="0" y="2395652"/>
                </a:lnTo>
                <a:lnTo>
                  <a:pt x="0" y="0"/>
                </a:lnTo>
                <a:close/>
              </a:path>
            </a:pathLst>
          </a:custGeom>
          <a:solidFill>
            <a:srgbClr val="ffffff"/>
          </a:solidFill>
          <a:ln w="12700">
            <a:solidFill>
              <a:srgbClr val="e0e0e0"/>
            </a:solidFill>
            <a:round/>
          </a:ln>
        </p:spPr>
        <p:style>
          <a:lnRef idx="0"/>
          <a:fillRef idx="0"/>
          <a:effectRef idx="0"/>
          <a:fontRef idx="minor"/>
        </p:style>
      </p:sp>
      <p:sp>
        <p:nvSpPr>
          <p:cNvPr id="167" name="Shape 21"/>
          <p:cNvSpPr/>
          <p:nvPr/>
        </p:nvSpPr>
        <p:spPr>
          <a:xfrm>
            <a:off x="543240" y="4283640"/>
            <a:ext cx="424080" cy="42408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168" name="Shape 22"/>
          <p:cNvSpPr/>
          <p:nvPr/>
        </p:nvSpPr>
        <p:spPr>
          <a:xfrm>
            <a:off x="645840" y="4408200"/>
            <a:ext cx="219240" cy="174960"/>
          </a:xfrm>
          <a:custGeom>
            <a:avLst/>
            <a:gdLst/>
            <a:ahLst/>
            <a:rect l="l" t="t" r="r" b="b"/>
            <a:pathLst>
              <a:path w="222644" h="178115">
                <a:moveTo>
                  <a:pt x="133587" y="11132"/>
                </a:moveTo>
                <a:lnTo>
                  <a:pt x="178115" y="11132"/>
                </a:lnTo>
                <a:cubicBezTo>
                  <a:pt x="184273" y="11132"/>
                  <a:pt x="189248" y="16107"/>
                  <a:pt x="189248" y="22264"/>
                </a:cubicBezTo>
                <a:cubicBezTo>
                  <a:pt x="189248" y="28422"/>
                  <a:pt x="184273" y="33397"/>
                  <a:pt x="178115" y="33397"/>
                </a:cubicBezTo>
                <a:lnTo>
                  <a:pt x="138596" y="33397"/>
                </a:lnTo>
                <a:cubicBezTo>
                  <a:pt x="136787" y="42372"/>
                  <a:pt x="130630" y="49782"/>
                  <a:pt x="122454" y="53330"/>
                </a:cubicBezTo>
                <a:lnTo>
                  <a:pt x="122454" y="155851"/>
                </a:lnTo>
                <a:lnTo>
                  <a:pt x="178115" y="155851"/>
                </a:lnTo>
                <a:cubicBezTo>
                  <a:pt x="184273" y="155851"/>
                  <a:pt x="189248" y="160826"/>
                  <a:pt x="189248" y="166983"/>
                </a:cubicBezTo>
                <a:cubicBezTo>
                  <a:pt x="189248" y="173141"/>
                  <a:pt x="184273" y="178115"/>
                  <a:pt x="178115" y="178115"/>
                </a:cubicBezTo>
                <a:lnTo>
                  <a:pt x="44529" y="178115"/>
                </a:lnTo>
                <a:cubicBezTo>
                  <a:pt x="38371" y="178115"/>
                  <a:pt x="33397" y="173141"/>
                  <a:pt x="33397" y="166983"/>
                </a:cubicBezTo>
                <a:cubicBezTo>
                  <a:pt x="33397" y="160826"/>
                  <a:pt x="38371" y="155851"/>
                  <a:pt x="44529" y="155851"/>
                </a:cubicBezTo>
                <a:lnTo>
                  <a:pt x="100190" y="155851"/>
                </a:lnTo>
                <a:lnTo>
                  <a:pt x="100190" y="53330"/>
                </a:lnTo>
                <a:cubicBezTo>
                  <a:pt x="92015" y="49747"/>
                  <a:pt x="85857" y="42337"/>
                  <a:pt x="84048" y="33397"/>
                </a:cubicBezTo>
                <a:lnTo>
                  <a:pt x="44529" y="33397"/>
                </a:lnTo>
                <a:cubicBezTo>
                  <a:pt x="38371" y="33397"/>
                  <a:pt x="33397" y="28422"/>
                  <a:pt x="33397" y="22264"/>
                </a:cubicBezTo>
                <a:cubicBezTo>
                  <a:pt x="33397" y="16107"/>
                  <a:pt x="38371" y="11132"/>
                  <a:pt x="44529" y="11132"/>
                </a:cubicBezTo>
                <a:lnTo>
                  <a:pt x="89058" y="11132"/>
                </a:lnTo>
                <a:cubicBezTo>
                  <a:pt x="94137" y="4383"/>
                  <a:pt x="102208" y="0"/>
                  <a:pt x="111322" y="0"/>
                </a:cubicBezTo>
                <a:cubicBezTo>
                  <a:pt x="120437" y="0"/>
                  <a:pt x="128507" y="4383"/>
                  <a:pt x="133587" y="11132"/>
                </a:cubicBezTo>
                <a:close/>
                <a:moveTo>
                  <a:pt x="152929" y="111322"/>
                </a:moveTo>
                <a:lnTo>
                  <a:pt x="203302" y="111322"/>
                </a:lnTo>
                <a:lnTo>
                  <a:pt x="178115" y="68115"/>
                </a:lnTo>
                <a:lnTo>
                  <a:pt x="152929" y="111322"/>
                </a:lnTo>
                <a:close/>
                <a:moveTo>
                  <a:pt x="178115" y="144719"/>
                </a:moveTo>
                <a:cubicBezTo>
                  <a:pt x="156234" y="144719"/>
                  <a:pt x="138039" y="132891"/>
                  <a:pt x="134282" y="117271"/>
                </a:cubicBezTo>
                <a:cubicBezTo>
                  <a:pt x="133378" y="113444"/>
                  <a:pt x="134630" y="109513"/>
                  <a:pt x="136613" y="106104"/>
                </a:cubicBezTo>
                <a:lnTo>
                  <a:pt x="169731" y="49330"/>
                </a:lnTo>
                <a:cubicBezTo>
                  <a:pt x="171471" y="46338"/>
                  <a:pt x="174671" y="44529"/>
                  <a:pt x="178115" y="44529"/>
                </a:cubicBezTo>
                <a:cubicBezTo>
                  <a:pt x="181559" y="44529"/>
                  <a:pt x="184760" y="46373"/>
                  <a:pt x="186499" y="49330"/>
                </a:cubicBezTo>
                <a:lnTo>
                  <a:pt x="219618" y="106104"/>
                </a:lnTo>
                <a:cubicBezTo>
                  <a:pt x="221601" y="109513"/>
                  <a:pt x="222853" y="113444"/>
                  <a:pt x="221949" y="117271"/>
                </a:cubicBezTo>
                <a:cubicBezTo>
                  <a:pt x="218191" y="132856"/>
                  <a:pt x="199997" y="144719"/>
                  <a:pt x="178115" y="144719"/>
                </a:cubicBezTo>
                <a:close/>
                <a:moveTo>
                  <a:pt x="44111" y="68115"/>
                </a:moveTo>
                <a:lnTo>
                  <a:pt x="18925" y="111322"/>
                </a:lnTo>
                <a:lnTo>
                  <a:pt x="69333" y="111322"/>
                </a:lnTo>
                <a:lnTo>
                  <a:pt x="44111" y="68115"/>
                </a:lnTo>
                <a:close/>
                <a:moveTo>
                  <a:pt x="313" y="117271"/>
                </a:moveTo>
                <a:cubicBezTo>
                  <a:pt x="-591" y="113444"/>
                  <a:pt x="661" y="109513"/>
                  <a:pt x="2644" y="106104"/>
                </a:cubicBezTo>
                <a:lnTo>
                  <a:pt x="35762" y="49330"/>
                </a:lnTo>
                <a:cubicBezTo>
                  <a:pt x="37502" y="46338"/>
                  <a:pt x="40702" y="44529"/>
                  <a:pt x="44146" y="44529"/>
                </a:cubicBezTo>
                <a:cubicBezTo>
                  <a:pt x="47590" y="44529"/>
                  <a:pt x="50791" y="46373"/>
                  <a:pt x="52530" y="49330"/>
                </a:cubicBezTo>
                <a:lnTo>
                  <a:pt x="85648" y="106104"/>
                </a:lnTo>
                <a:cubicBezTo>
                  <a:pt x="87631" y="109513"/>
                  <a:pt x="88884" y="113444"/>
                  <a:pt x="87979" y="117271"/>
                </a:cubicBezTo>
                <a:cubicBezTo>
                  <a:pt x="84222" y="132856"/>
                  <a:pt x="66028" y="144719"/>
                  <a:pt x="44146" y="144719"/>
                </a:cubicBezTo>
                <a:cubicBezTo>
                  <a:pt x="22264" y="144719"/>
                  <a:pt x="4070" y="132891"/>
                  <a:pt x="313" y="117271"/>
                </a:cubicBezTo>
                <a:close/>
              </a:path>
            </a:pathLst>
          </a:custGeom>
          <a:solidFill>
            <a:srgbClr val="ffffff"/>
          </a:solidFill>
          <a:ln w="0">
            <a:noFill/>
          </a:ln>
        </p:spPr>
        <p:style>
          <a:lnRef idx="0"/>
          <a:fillRef idx="0"/>
          <a:effectRef idx="0"/>
          <a:fontRef idx="minor"/>
        </p:style>
      </p:sp>
      <p:sp>
        <p:nvSpPr>
          <p:cNvPr id="169" name="Text 23"/>
          <p:cNvSpPr/>
          <p:nvPr/>
        </p:nvSpPr>
        <p:spPr>
          <a:xfrm>
            <a:off x="1077480" y="4372560"/>
            <a:ext cx="1929240" cy="24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Symmetric vs Asymmetric</a:t>
            </a:r>
            <a:endParaRPr b="0" lang="en-HK" sz="1400" spc="-1" strike="noStrike">
              <a:latin typeface="Arial"/>
            </a:endParaRPr>
          </a:p>
        </p:txBody>
      </p:sp>
      <p:sp>
        <p:nvSpPr>
          <p:cNvPr id="170" name="Text 24"/>
          <p:cNvSpPr/>
          <p:nvPr/>
        </p:nvSpPr>
        <p:spPr>
          <a:xfrm>
            <a:off x="543240" y="4817880"/>
            <a:ext cx="3399120" cy="691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Symmetric games</a:t>
            </a:r>
            <a:r>
              <a:rPr b="0" lang="en-US" sz="1120" spc="-1" strike="noStrike">
                <a:solidFill>
                  <a:srgbClr val="1e272e"/>
                </a:solidFill>
                <a:latin typeface="Quattrocento Sans"/>
                <a:ea typeface="Quattrocento Sans"/>
              </a:rPr>
              <a:t> have identical strategy sets and payoff structures for all players. Players are interchangeable.</a:t>
            </a:r>
            <a:endParaRPr b="0" lang="en-HK" sz="1120" spc="-1" strike="noStrike">
              <a:latin typeface="Arial"/>
            </a:endParaRPr>
          </a:p>
        </p:txBody>
      </p:sp>
      <p:sp>
        <p:nvSpPr>
          <p:cNvPr id="171" name="Text 25"/>
          <p:cNvSpPr/>
          <p:nvPr/>
        </p:nvSpPr>
        <p:spPr>
          <a:xfrm>
            <a:off x="543240" y="5619600"/>
            <a:ext cx="3399120" cy="691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Asymmetric games</a:t>
            </a:r>
            <a:r>
              <a:rPr b="0" lang="en-US" sz="1120" spc="-1" strike="noStrike">
                <a:solidFill>
                  <a:srgbClr val="636e72"/>
                </a:solidFill>
                <a:latin typeface="Quattrocento Sans"/>
                <a:ea typeface="Quattrocento Sans"/>
              </a:rPr>
              <a:t> feature different roles, strategies, or payoff functions. Players have distinct positions and objectives.</a:t>
            </a:r>
            <a:endParaRPr b="0" lang="en-HK" sz="1120" spc="-1" strike="noStrike">
              <a:latin typeface="Arial"/>
            </a:endParaRPr>
          </a:p>
        </p:txBody>
      </p:sp>
      <p:sp>
        <p:nvSpPr>
          <p:cNvPr id="172" name="Shape 26"/>
          <p:cNvSpPr/>
          <p:nvPr/>
        </p:nvSpPr>
        <p:spPr>
          <a:xfrm>
            <a:off x="4246560" y="4101120"/>
            <a:ext cx="7585200" cy="2392560"/>
          </a:xfrm>
          <a:custGeom>
            <a:avLst/>
            <a:gdLst/>
            <a:ahLst/>
            <a:rect l="l" t="t" r="r" b="b"/>
            <a:pathLst>
              <a:path w="7587717" h="2395652">
                <a:moveTo>
                  <a:pt x="0" y="0"/>
                </a:moveTo>
                <a:lnTo>
                  <a:pt x="7587717" y="0"/>
                </a:lnTo>
                <a:lnTo>
                  <a:pt x="7587717" y="2395652"/>
                </a:lnTo>
                <a:lnTo>
                  <a:pt x="0" y="2395652"/>
                </a:lnTo>
                <a:lnTo>
                  <a:pt x="0" y="0"/>
                </a:lnTo>
                <a:close/>
              </a:path>
            </a:pathLst>
          </a:custGeom>
          <a:solidFill>
            <a:srgbClr val="ffffff"/>
          </a:solidFill>
          <a:ln w="12700">
            <a:solidFill>
              <a:srgbClr val="e0e0e0"/>
            </a:solidFill>
            <a:round/>
          </a:ln>
        </p:spPr>
        <p:style>
          <a:lnRef idx="0"/>
          <a:fillRef idx="0"/>
          <a:effectRef idx="0"/>
          <a:fontRef idx="minor"/>
        </p:style>
      </p:sp>
      <p:sp>
        <p:nvSpPr>
          <p:cNvPr id="173" name="Shape 27"/>
          <p:cNvSpPr/>
          <p:nvPr/>
        </p:nvSpPr>
        <p:spPr>
          <a:xfrm>
            <a:off x="4429080" y="4283640"/>
            <a:ext cx="424080" cy="424080"/>
          </a:xfrm>
          <a:custGeom>
            <a:avLst/>
            <a:gdLst/>
            <a:ahLst/>
            <a:rect l="l" t="t" r="r" b="b"/>
            <a:pathLst>
              <a:path w="427477" h="427477">
                <a:moveTo>
                  <a:pt x="0" y="0"/>
                </a:moveTo>
                <a:lnTo>
                  <a:pt x="427477" y="0"/>
                </a:lnTo>
                <a:lnTo>
                  <a:pt x="427477" y="427477"/>
                </a:lnTo>
                <a:lnTo>
                  <a:pt x="0" y="427477"/>
                </a:lnTo>
                <a:lnTo>
                  <a:pt x="0" y="0"/>
                </a:lnTo>
                <a:close/>
              </a:path>
            </a:pathLst>
          </a:custGeom>
          <a:solidFill>
            <a:srgbClr val="2d3436"/>
          </a:solidFill>
          <a:ln w="0">
            <a:noFill/>
          </a:ln>
        </p:spPr>
        <p:style>
          <a:lnRef idx="0"/>
          <a:fillRef idx="0"/>
          <a:effectRef idx="0"/>
          <a:fontRef idx="minor"/>
        </p:style>
      </p:sp>
      <p:sp>
        <p:nvSpPr>
          <p:cNvPr id="174" name="Shape 28"/>
          <p:cNvSpPr/>
          <p:nvPr/>
        </p:nvSpPr>
        <p:spPr>
          <a:xfrm>
            <a:off x="4553640" y="4408200"/>
            <a:ext cx="174960" cy="174960"/>
          </a:xfrm>
          <a:custGeom>
            <a:avLst/>
            <a:gdLst/>
            <a:ahLst/>
            <a:rect l="l" t="t" r="r" b="b"/>
            <a:pathLst>
              <a:path w="178115" h="178115">
                <a:moveTo>
                  <a:pt x="22264" y="22264"/>
                </a:moveTo>
                <a:cubicBezTo>
                  <a:pt x="22264" y="16107"/>
                  <a:pt x="17290" y="11132"/>
                  <a:pt x="11132" y="11132"/>
                </a:cubicBezTo>
                <a:cubicBezTo>
                  <a:pt x="4975" y="11132"/>
                  <a:pt x="0" y="16107"/>
                  <a:pt x="0" y="22264"/>
                </a:cubicBezTo>
                <a:lnTo>
                  <a:pt x="0" y="139153"/>
                </a:lnTo>
                <a:cubicBezTo>
                  <a:pt x="0" y="154529"/>
                  <a:pt x="12454" y="166983"/>
                  <a:pt x="27831" y="166983"/>
                </a:cubicBezTo>
                <a:lnTo>
                  <a:pt x="166983" y="166983"/>
                </a:lnTo>
                <a:cubicBezTo>
                  <a:pt x="173141" y="166983"/>
                  <a:pt x="178115" y="162008"/>
                  <a:pt x="178115" y="155851"/>
                </a:cubicBezTo>
                <a:cubicBezTo>
                  <a:pt x="178115" y="149693"/>
                  <a:pt x="173141" y="144719"/>
                  <a:pt x="166983" y="144719"/>
                </a:cubicBezTo>
                <a:lnTo>
                  <a:pt x="27831" y="144719"/>
                </a:lnTo>
                <a:cubicBezTo>
                  <a:pt x="24769" y="144719"/>
                  <a:pt x="22264" y="142214"/>
                  <a:pt x="22264" y="139153"/>
                </a:cubicBezTo>
                <a:lnTo>
                  <a:pt x="22264" y="22264"/>
                </a:lnTo>
                <a:close/>
                <a:moveTo>
                  <a:pt x="163713" y="52391"/>
                </a:moveTo>
                <a:cubicBezTo>
                  <a:pt x="168062" y="48042"/>
                  <a:pt x="168062" y="40980"/>
                  <a:pt x="163713" y="36632"/>
                </a:cubicBezTo>
                <a:cubicBezTo>
                  <a:pt x="159365" y="32283"/>
                  <a:pt x="152303" y="32283"/>
                  <a:pt x="147954" y="36632"/>
                </a:cubicBezTo>
                <a:lnTo>
                  <a:pt x="111322" y="73299"/>
                </a:lnTo>
                <a:lnTo>
                  <a:pt x="91354" y="53365"/>
                </a:lnTo>
                <a:cubicBezTo>
                  <a:pt x="87005" y="49017"/>
                  <a:pt x="79943" y="49017"/>
                  <a:pt x="75595" y="53365"/>
                </a:cubicBezTo>
                <a:lnTo>
                  <a:pt x="42198" y="86762"/>
                </a:lnTo>
                <a:cubicBezTo>
                  <a:pt x="37850" y="91110"/>
                  <a:pt x="37850" y="98172"/>
                  <a:pt x="42198" y="102521"/>
                </a:cubicBezTo>
                <a:cubicBezTo>
                  <a:pt x="46547" y="106869"/>
                  <a:pt x="53609" y="106869"/>
                  <a:pt x="57957" y="102521"/>
                </a:cubicBezTo>
                <a:lnTo>
                  <a:pt x="83492" y="76986"/>
                </a:lnTo>
                <a:lnTo>
                  <a:pt x="103460" y="96955"/>
                </a:lnTo>
                <a:cubicBezTo>
                  <a:pt x="107809" y="101303"/>
                  <a:pt x="114871" y="101303"/>
                  <a:pt x="119219" y="96955"/>
                </a:cubicBezTo>
                <a:lnTo>
                  <a:pt x="163748" y="52426"/>
                </a:lnTo>
                <a:close/>
              </a:path>
            </a:pathLst>
          </a:custGeom>
          <a:solidFill>
            <a:srgbClr val="ffffff"/>
          </a:solidFill>
          <a:ln w="0">
            <a:noFill/>
          </a:ln>
        </p:spPr>
        <p:style>
          <a:lnRef idx="0"/>
          <a:fillRef idx="0"/>
          <a:effectRef idx="0"/>
          <a:fontRef idx="minor"/>
        </p:style>
      </p:sp>
      <p:sp>
        <p:nvSpPr>
          <p:cNvPr id="175" name="Text 29"/>
          <p:cNvSpPr/>
          <p:nvPr/>
        </p:nvSpPr>
        <p:spPr>
          <a:xfrm>
            <a:off x="4963320" y="4372560"/>
            <a:ext cx="2045520" cy="246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Zero-Sum vs Non-Zero-Sum</a:t>
            </a:r>
            <a:endParaRPr b="0" lang="en-HK" sz="1400" spc="-1" strike="noStrike">
              <a:latin typeface="Arial"/>
            </a:endParaRPr>
          </a:p>
        </p:txBody>
      </p:sp>
      <p:sp>
        <p:nvSpPr>
          <p:cNvPr id="176" name="Text 30"/>
          <p:cNvSpPr/>
          <p:nvPr/>
        </p:nvSpPr>
        <p:spPr>
          <a:xfrm>
            <a:off x="4429080" y="4817880"/>
            <a:ext cx="3603960" cy="691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Zero-sum games</a:t>
            </a:r>
            <a:r>
              <a:rPr b="0" lang="en-US" sz="1120" spc="-1" strike="noStrike">
                <a:solidFill>
                  <a:srgbClr val="1e272e"/>
                </a:solidFill>
                <a:latin typeface="Quattrocento Sans"/>
                <a:ea typeface="Quattrocento Sans"/>
              </a:rPr>
              <a:t> represent pure competition: one player's gain equals another's loss. Total payoff is constant.</a:t>
            </a:r>
            <a:endParaRPr b="0" lang="en-HK" sz="1120" spc="-1" strike="noStrike">
              <a:latin typeface="Arial"/>
            </a:endParaRPr>
          </a:p>
        </p:txBody>
      </p:sp>
      <p:sp>
        <p:nvSpPr>
          <p:cNvPr id="177" name="Text 31"/>
          <p:cNvSpPr/>
          <p:nvPr/>
        </p:nvSpPr>
        <p:spPr>
          <a:xfrm>
            <a:off x="4429080" y="5583960"/>
            <a:ext cx="3603960" cy="459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20" spc="-1" strike="noStrike">
                <a:solidFill>
                  <a:srgbClr val="636e72"/>
                </a:solidFill>
                <a:latin typeface="Quattrocento Sans"/>
                <a:ea typeface="Quattrocento Sans"/>
              </a:rPr>
              <a:t>Examples: Poker, chess, competitive sports. Mathematically: Σpayoffs = constant</a:t>
            </a:r>
            <a:endParaRPr b="0" lang="en-HK" sz="1120" spc="-1" strike="noStrike">
              <a:latin typeface="Arial"/>
            </a:endParaRPr>
          </a:p>
        </p:txBody>
      </p:sp>
      <p:sp>
        <p:nvSpPr>
          <p:cNvPr id="178" name="Text 32"/>
          <p:cNvSpPr/>
          <p:nvPr/>
        </p:nvSpPr>
        <p:spPr>
          <a:xfrm>
            <a:off x="8109720" y="4817880"/>
            <a:ext cx="3603960" cy="691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Non-zero-sum games</a:t>
            </a:r>
            <a:r>
              <a:rPr b="0" lang="en-US" sz="1120" spc="-1" strike="noStrike">
                <a:solidFill>
                  <a:srgbClr val="1e272e"/>
                </a:solidFill>
                <a:latin typeface="Quattrocento Sans"/>
                <a:ea typeface="Quattrocento Sans"/>
              </a:rPr>
              <a:t> allow mutual gain or loss. Cooperation can benefit all players; conflict can harm everyone.</a:t>
            </a:r>
            <a:endParaRPr b="0" lang="en-HK" sz="1120" spc="-1" strike="noStrike">
              <a:latin typeface="Arial"/>
            </a:endParaRPr>
          </a:p>
        </p:txBody>
      </p:sp>
      <p:sp>
        <p:nvSpPr>
          <p:cNvPr id="179" name="Text 33"/>
          <p:cNvSpPr/>
          <p:nvPr/>
        </p:nvSpPr>
        <p:spPr>
          <a:xfrm>
            <a:off x="8109720" y="5583960"/>
            <a:ext cx="3603960" cy="459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20" spc="-1" strike="noStrike">
                <a:solidFill>
                  <a:srgbClr val="636e72"/>
                </a:solidFill>
                <a:latin typeface="Quattrocento Sans"/>
                <a:ea typeface="Quattrocento Sans"/>
              </a:rPr>
              <a:t>Examples: Prisoner's Dilemma, trade negotiations, environmental agreements.</a:t>
            </a:r>
            <a:endParaRPr b="0" lang="en-HK" sz="112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0" name="Text 0"/>
          <p:cNvSpPr/>
          <p:nvPr/>
        </p:nvSpPr>
        <p:spPr>
          <a:xfrm>
            <a:off x="609480" y="2066760"/>
            <a:ext cx="12189960" cy="1216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05</a:t>
            </a:r>
            <a:endParaRPr b="0" lang="en-HK" sz="9600" spc="-1" strike="noStrike">
              <a:latin typeface="Arial"/>
            </a:endParaRPr>
          </a:p>
        </p:txBody>
      </p:sp>
      <p:sp>
        <p:nvSpPr>
          <p:cNvPr id="181" name="Text 1"/>
          <p:cNvSpPr/>
          <p:nvPr/>
        </p:nvSpPr>
        <p:spPr>
          <a:xfrm>
            <a:off x="609480" y="3438360"/>
            <a:ext cx="11865960" cy="5684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Classic Game </a:t>
            </a:r>
            <a:r>
              <a:rPr b="1" lang="en-US" sz="99990" spc="-1" strike="noStrike">
                <a:solidFill>
                  <a:srgbClr val="2d3436"/>
                </a:solidFill>
                <a:latin typeface="Oranienbaum"/>
                <a:ea typeface="Oranienbaum"/>
              </a:rPr>
              <a:t>Mode</a:t>
            </a:r>
            <a:endParaRPr b="0" lang="en-HK" sz="99990" spc="-1" strike="noStrike">
              <a:latin typeface="Arial"/>
            </a:endParaRPr>
          </a:p>
          <a:p>
            <a:pPr>
              <a:lnSpc>
                <a:spcPct val="80000"/>
              </a:lnSpc>
              <a:buNone/>
            </a:pPr>
            <a:r>
              <a:rPr b="1" lang="en-US" sz="99990" spc="-1" strike="noStrike">
                <a:solidFill>
                  <a:srgbClr val="2d3436"/>
                </a:solidFill>
                <a:latin typeface="Oranienbaum"/>
                <a:ea typeface="Oranienbaum"/>
              </a:rPr>
              <a:t>ls</a:t>
            </a:r>
            <a:endParaRPr b="0" lang="en-HK" sz="99990" spc="-1" strike="noStrike">
              <a:latin typeface="Arial"/>
            </a:endParaRPr>
          </a:p>
        </p:txBody>
      </p:sp>
      <p:sp>
        <p:nvSpPr>
          <p:cNvPr id="182" name="Shape 2"/>
          <p:cNvSpPr/>
          <p:nvPr/>
        </p:nvSpPr>
        <p:spPr>
          <a:xfrm>
            <a:off x="609480" y="4238640"/>
            <a:ext cx="1216080" cy="158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183" name="Text 3"/>
          <p:cNvSpPr/>
          <p:nvPr/>
        </p:nvSpPr>
        <p:spPr>
          <a:xfrm>
            <a:off x="609480" y="4486320"/>
            <a:ext cx="1169460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Iconic examples that shaped the field</a:t>
            </a:r>
            <a:endParaRPr b="0" lang="en-HK" sz="1800" spc="-1" strike="noStrike">
              <a:latin typeface="Arial"/>
            </a:endParaRPr>
          </a:p>
          <a:p>
            <a:pPr>
              <a:lnSpc>
                <a:spcPct val="110000"/>
              </a:lnSpc>
              <a:buNone/>
            </a:pP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4" name="Text 0"/>
          <p:cNvSpPr/>
          <p:nvPr/>
        </p:nvSpPr>
        <p:spPr>
          <a:xfrm>
            <a:off x="609480" y="1781280"/>
            <a:ext cx="12189960" cy="12160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06</a:t>
            </a:r>
            <a:endParaRPr b="0" lang="en-HK" sz="9600" spc="-1" strike="noStrike">
              <a:latin typeface="Arial"/>
            </a:endParaRPr>
          </a:p>
        </p:txBody>
      </p:sp>
      <p:sp>
        <p:nvSpPr>
          <p:cNvPr id="185" name="Text 1"/>
          <p:cNvSpPr/>
          <p:nvPr/>
        </p:nvSpPr>
        <p:spPr>
          <a:xfrm>
            <a:off x="609480" y="3152880"/>
            <a:ext cx="11865960" cy="1139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Real-World</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Applications</a:t>
            </a:r>
            <a:endParaRPr b="0" lang="en-HK" sz="4500" spc="-1" strike="noStrike">
              <a:latin typeface="Arial"/>
            </a:endParaRPr>
          </a:p>
        </p:txBody>
      </p:sp>
      <p:sp>
        <p:nvSpPr>
          <p:cNvPr id="186" name="Shape 2"/>
          <p:cNvSpPr/>
          <p:nvPr/>
        </p:nvSpPr>
        <p:spPr>
          <a:xfrm>
            <a:off x="609480" y="4524480"/>
            <a:ext cx="1216080" cy="158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187" name="Text 3"/>
          <p:cNvSpPr/>
          <p:nvPr/>
        </p:nvSpPr>
        <p:spPr>
          <a:xfrm>
            <a:off x="609480" y="4772160"/>
            <a:ext cx="11694600" cy="3016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Game theory in action across disciplines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50</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2026-03-18T11:54:39Z</dcterms:created>
  <dc:creator>Kimi</dc:creator>
  <dc:description/>
  <dc:language>en-HK</dc:language>
  <cp:lastModifiedBy/>
  <dcterms:modified xsi:type="dcterms:W3CDTF">2026-04-27T02:02:45Z</dcterms:modified>
  <cp:revision>10</cp:revision>
  <dc:subject>Game Theory</dc:subject>
  <dc:title>Game Theory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{"Label":"Game Theory","ContentProducer":"001191110108MACG2KBH8F10000","ProduceID":"19d00906-6002-88af-8000-00001a6b51f9","ReservedCode1":"","ContentPropagator":"001191110108MACG2KBH8F20000","PropagateID":"19d00906-6002-88af-8000-00001a6b51f9","ReservedCode2":""}</vt:lpwstr>
  </property>
  <property fmtid="{D5CDD505-2E9C-101B-9397-08002B2CF9AE}" pid="3" name="Notes">
    <vt:i4>21</vt:i4>
  </property>
  <property fmtid="{D5CDD505-2E9C-101B-9397-08002B2CF9AE}" pid="4" name="PresentationFormat">
    <vt:lpwstr>On-screen Show (16:9)</vt:lpwstr>
  </property>
  <property fmtid="{D5CDD505-2E9C-101B-9397-08002B2CF9AE}" pid="5" name="Slides">
    <vt:i4>21</vt:i4>
  </property>
</Properties>
</file>