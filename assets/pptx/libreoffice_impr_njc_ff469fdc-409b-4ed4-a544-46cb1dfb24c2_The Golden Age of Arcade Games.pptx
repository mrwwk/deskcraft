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3588" cy="6858000"/>
  <p:notesSz cx="6858000" cy="12193588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HK" sz="4400" spc="-1" strike="noStrike" u="sng">
                <a:solidFill>
                  <a:srgbClr val="ffff00"/>
                </a:solidFill>
                <a:uFillTx/>
                <a:latin typeface="Arial"/>
              </a:rPr>
              <a:t>Click to move the slide</a:t>
            </a:r>
            <a:endParaRPr b="1" lang="en-HK" sz="4400" spc="-1" strike="noStrike" u="sng">
              <a:solidFill>
                <a:srgbClr val="ffff00"/>
              </a:solidFill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794E641B-9D2A-4CEF-8757-048F4F0AA058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400"/>
          </a:xfrm>
          <a:prstGeom prst="rect">
            <a:avLst/>
          </a:prstGeom>
          <a:ln w="0">
            <a:noFill/>
          </a:ln>
        </p:spPr>
      </p:sp>
      <p:sp>
        <p:nvSpPr>
          <p:cNvPr id="590" name="PlaceHolder 2"/>
          <p:cNvSpPr>
            <a:spLocks noGrp="1"/>
          </p:cNvSpPr>
          <p:nvPr>
            <p:ph type="body"/>
          </p:nvPr>
        </p:nvSpPr>
        <p:spPr>
          <a:xfrm>
            <a:off x="685800" y="4401000"/>
            <a:ext cx="548316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608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208E7D6-48DF-4198-A1F8-BAF4F25DBE0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400"/>
          </a:xfrm>
          <a:prstGeom prst="rect">
            <a:avLst/>
          </a:prstGeom>
          <a:ln w="0">
            <a:noFill/>
          </a:ln>
        </p:spPr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685800" y="4401000"/>
            <a:ext cx="548316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608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C2732B3-DF34-425B-98F3-CBDB4EC00165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400"/>
          </a:xfrm>
          <a:prstGeom prst="rect">
            <a:avLst/>
          </a:prstGeom>
          <a:ln w="0">
            <a:noFill/>
          </a:ln>
        </p:spPr>
      </p:sp>
      <p:sp>
        <p:nvSpPr>
          <p:cNvPr id="596" name="PlaceHolder 2"/>
          <p:cNvSpPr>
            <a:spLocks noGrp="1"/>
          </p:cNvSpPr>
          <p:nvPr>
            <p:ph type="body"/>
          </p:nvPr>
        </p:nvSpPr>
        <p:spPr>
          <a:xfrm>
            <a:off x="685800" y="4401000"/>
            <a:ext cx="548316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59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608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E75549E-F669-4D6B-B1FC-CAA54E1B7D40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400"/>
          </a:xfrm>
          <a:prstGeom prst="rect">
            <a:avLst/>
          </a:prstGeom>
          <a:ln w="0">
            <a:noFill/>
          </a:ln>
        </p:spPr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685800" y="4401000"/>
            <a:ext cx="548316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HK" sz="1800" spc="-1" strike="noStrike">
                <a:latin typeface="Arial"/>
              </a:rPr>
              <a:t>The arcade industry generated over $8 billion in quarters alone during its peak year of 1982, equivalent to roughly $25 billion in today’s currency.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608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958E3A4-0C10-4EC6-A448-2C0F819BE651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40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685800" y="4401000"/>
            <a:ext cx="548316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608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3EB2639-8C26-4E21-8AE2-F6BB59E2DF32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608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BCF5D84-828B-48CA-A874-6A5834FA959C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400"/>
          </a:xfrm>
          <a:prstGeom prst="rect">
            <a:avLst/>
          </a:prstGeom>
          <a:ln w="0">
            <a:noFill/>
          </a:ln>
        </p:spPr>
      </p:sp>
      <p:sp>
        <p:nvSpPr>
          <p:cNvPr id="608" name="PlaceHolder 2"/>
          <p:cNvSpPr>
            <a:spLocks noGrp="1"/>
          </p:cNvSpPr>
          <p:nvPr>
            <p:ph type="body"/>
          </p:nvPr>
        </p:nvSpPr>
        <p:spPr>
          <a:xfrm>
            <a:off x="685800" y="4401000"/>
            <a:ext cx="548316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608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65973FF-8701-472F-96D1-304EC84C610E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400"/>
          </a:xfrm>
          <a:prstGeom prst="rect">
            <a:avLst/>
          </a:prstGeom>
          <a:ln w="0">
            <a:noFill/>
          </a:ln>
        </p:spPr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685800" y="4401000"/>
            <a:ext cx="548316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608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94CE6B7-3008-4011-86B9-8FDE66241195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608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1CC9A54-BFEE-4C18-ADDC-48D2CF1B058C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400"/>
          </a:xfrm>
          <a:prstGeom prst="rect">
            <a:avLst/>
          </a:prstGeom>
          <a:ln w="0">
            <a:noFill/>
          </a:ln>
        </p:spPr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685800" y="4401000"/>
            <a:ext cx="548316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608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21B89DE-BBAC-46A2-8698-A2041513588F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400"/>
          </a:xfrm>
          <a:prstGeom prst="rect">
            <a:avLst/>
          </a:prstGeom>
          <a:ln w="0">
            <a:noFill/>
          </a:ln>
        </p:spPr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685800" y="4401000"/>
            <a:ext cx="548316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608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F1FC549-9320-4768-ABF6-98FA201527E4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40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85800" y="4401000"/>
            <a:ext cx="548316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608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4C36DE1-3BD8-4424-924A-A6294021D14C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40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4401000"/>
            <a:ext cx="548316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608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89F6D15-78DE-402A-8FB7-E16DCA8A689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40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401000"/>
            <a:ext cx="548316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608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C0D0E03-3711-4AB2-AD18-FAE86899B918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40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85800" y="4401000"/>
            <a:ext cx="548316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608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ED31B37-D1F2-4B61-BE8C-EEF48F64B4EE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40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401000"/>
            <a:ext cx="548316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608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CCD9129-9264-4E41-899B-97150056604C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40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401000"/>
            <a:ext cx="548316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608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59F6332-D763-4DE5-8FB3-FC50B0D672AC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40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401000"/>
            <a:ext cx="548316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608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8FD77DC-8CC6-4F3C-8F25-8C75A2FE949B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40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401000"/>
            <a:ext cx="548316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608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3CBC5BE-AE4F-43DA-9B7C-B5BBDC2E356B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40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1000"/>
            <a:ext cx="5483160" cy="35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608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28E3CC4-7FA4-474F-B60D-E5C3FCF12800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4400" spc="-1" strike="noStrike" u="sng">
              <a:solidFill>
                <a:srgbClr val="ffff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4400" spc="-1" strike="noStrike" u="sng">
              <a:solidFill>
                <a:srgbClr val="ffff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4400" spc="-1" strike="noStrike" u="sng">
              <a:solidFill>
                <a:srgbClr val="ffff00"/>
              </a:solidFill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4400" spc="-1" strike="noStrike" u="sng">
              <a:solidFill>
                <a:srgbClr val="ffff00"/>
              </a:solidFill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352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4400" spc="-1" strike="noStrike" u="sng">
              <a:solidFill>
                <a:srgbClr val="ffff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4400" spc="-1" strike="noStrike" u="sng">
              <a:solidFill>
                <a:srgbClr val="ffff00"/>
              </a:solidFill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4400" spc="-1" strike="noStrike" u="sng">
              <a:solidFill>
                <a:srgbClr val="ffff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4400" spc="-1" strike="noStrike" u="sng">
              <a:solidFill>
                <a:srgbClr val="ffff00"/>
              </a:solidFill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4400" spc="-1" strike="noStrike" u="sng">
              <a:solidFill>
                <a:srgbClr val="ffff00"/>
              </a:solidFill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1" lang="en-HK" sz="4400" spc="-1" strike="noStrike" u="sng">
              <a:solidFill>
                <a:srgbClr val="ffff00"/>
              </a:solidFill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2000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3052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2000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3052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HK" sz="4400" spc="-1" strike="noStrike" u="sng">
                <a:solidFill>
                  <a:srgbClr val="ffff00"/>
                </a:solidFill>
                <a:uFillTx/>
                <a:latin typeface="Arial"/>
              </a:rPr>
              <a:t>Click to edit the title text format</a:t>
            </a:r>
            <a:endParaRPr b="1" lang="en-HK" sz="4400" spc="-1" strike="noStrike" u="sng">
              <a:solidFill>
                <a:srgbClr val="ffff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Image 0"/>
          <p:cNvSpPr/>
          <p:nvPr/>
        </p:nvSpPr>
        <p:spPr>
          <a:xfrm>
            <a:off x="0" y="0"/>
            <a:ext cx="12189960" cy="685476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0"/>
          <p:cNvSpPr/>
          <p:nvPr/>
        </p:nvSpPr>
        <p:spPr>
          <a:xfrm>
            <a:off x="0" y="0"/>
            <a:ext cx="12189960" cy="685476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1"/>
          <p:cNvSpPr/>
          <p:nvPr/>
        </p:nvSpPr>
        <p:spPr>
          <a:xfrm>
            <a:off x="5667840" y="1276200"/>
            <a:ext cx="85392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4000" spc="-1" strike="noStrike" u="sng">
                <a:solidFill>
                  <a:srgbClr val="ffff00"/>
                </a:solidFill>
                <a:uFillTx/>
                <a:latin typeface="Jersey 15"/>
                <a:ea typeface="Jersey 15"/>
              </a:rPr>
              <a:t>👾</a:t>
            </a:r>
            <a:endParaRPr b="0" lang="en-HK" sz="4000" spc="-1" strike="noStrike"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3164400" y="2305080"/>
            <a:ext cx="5864400" cy="9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4000" spc="-1" strike="noStrike" u="sng">
                <a:solidFill>
                  <a:srgbClr val="ffff00"/>
                </a:solidFill>
                <a:uFillTx/>
                <a:latin typeface="Jersey 20 Charted"/>
                <a:ea typeface="Jersey 20 Charted"/>
              </a:rPr>
              <a:t>THE GOLDEN AGE</a:t>
            </a:r>
            <a:endParaRPr b="0" lang="en-HK" sz="4000" spc="-1" strike="noStrike"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4154400" y="3448080"/>
            <a:ext cx="388332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4000" spc="-1" strike="noStrike" u="sng">
                <a:solidFill>
                  <a:srgbClr val="ffff00"/>
                </a:solidFill>
                <a:uFillTx/>
                <a:latin typeface="Jersey 15"/>
                <a:ea typeface="Jersey 15"/>
              </a:rPr>
              <a:t>OF ARCADE GAMES</a:t>
            </a:r>
            <a:endParaRPr b="0" lang="en-HK" sz="4000" spc="-1" strike="noStrike">
              <a:latin typeface="Arial"/>
            </a:endParaRPr>
          </a:p>
        </p:txBody>
      </p:sp>
      <p:sp>
        <p:nvSpPr>
          <p:cNvPr id="49" name="Shape 4"/>
          <p:cNvSpPr/>
          <p:nvPr/>
        </p:nvSpPr>
        <p:spPr>
          <a:xfrm>
            <a:off x="5486760" y="4324320"/>
            <a:ext cx="1216080" cy="73080"/>
          </a:xfrm>
          <a:custGeom>
            <a:avLst/>
            <a:gdLst/>
            <a:ah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5"/>
          <p:cNvSpPr/>
          <p:nvPr/>
        </p:nvSpPr>
        <p:spPr>
          <a:xfrm>
            <a:off x="5401080" y="4705200"/>
            <a:ext cx="138744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4000" spc="-1" strike="noStrike" u="sng">
                <a:solidFill>
                  <a:srgbClr val="ffff00"/>
                </a:solidFill>
                <a:uFillTx/>
                <a:latin typeface="Jersey 15"/>
                <a:ea typeface="Jersey 15"/>
              </a:rPr>
              <a:t>1978-1983</a:t>
            </a:r>
            <a:endParaRPr b="0" lang="en-HK" sz="4000" spc="-1" strike="noStrike"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4384440" y="5238720"/>
            <a:ext cx="341676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 u="sng">
                <a:solidFill>
                  <a:srgbClr val="ffff00"/>
                </a:solidFill>
                <a:uFillTx/>
                <a:latin typeface="Jersey 15"/>
                <a:ea typeface="Jersey 15"/>
              </a:rPr>
              <a:t>When Quarters Ruled the World</a:t>
            </a:r>
            <a:endParaRPr b="0" lang="en-HK" sz="4000" spc="-1" strike="noStrike">
              <a:latin typeface="Arial"/>
            </a:endParaRPr>
          </a:p>
        </p:txBody>
      </p:sp>
      <p:sp>
        <p:nvSpPr>
          <p:cNvPr id="52" name="Shape 7"/>
          <p:cNvSpPr/>
          <p:nvPr/>
        </p:nvSpPr>
        <p:spPr>
          <a:xfrm>
            <a:off x="5715360" y="5867280"/>
            <a:ext cx="149040" cy="14904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Shape 8"/>
          <p:cNvSpPr/>
          <p:nvPr/>
        </p:nvSpPr>
        <p:spPr>
          <a:xfrm>
            <a:off x="6020280" y="5867280"/>
            <a:ext cx="149040" cy="14904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Shape 9"/>
          <p:cNvSpPr/>
          <p:nvPr/>
        </p:nvSpPr>
        <p:spPr>
          <a:xfrm>
            <a:off x="6324840" y="5867280"/>
            <a:ext cx="149040" cy="14904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12189960" cy="685476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1"/>
          <p:cNvSpPr/>
          <p:nvPr/>
        </p:nvSpPr>
        <p:spPr>
          <a:xfrm>
            <a:off x="380880" y="380880"/>
            <a:ext cx="1171368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CONTENTS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380880" y="1104840"/>
            <a:ext cx="911160" cy="73080"/>
          </a:xfrm>
          <a:custGeom>
            <a:avLst/>
            <a:gdLst/>
            <a:ahLst/>
            <a:rect l="l" t="t" r="r" b="b"/>
            <a:pathLst>
              <a:path w="914400" h="76200">
                <a:moveTo>
                  <a:pt x="0" y="0"/>
                </a:moveTo>
                <a:lnTo>
                  <a:pt x="914400" y="0"/>
                </a:lnTo>
                <a:lnTo>
                  <a:pt x="914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Shape 3"/>
          <p:cNvSpPr/>
          <p:nvPr/>
        </p:nvSpPr>
        <p:spPr>
          <a:xfrm>
            <a:off x="399960" y="1504800"/>
            <a:ext cx="5445360" cy="1339920"/>
          </a:xfrm>
          <a:custGeom>
            <a:avLst/>
            <a:gdLst/>
            <a:ah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0000"/>
            </a:srgbClr>
          </a:solidFill>
          <a:ln w="508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4"/>
          <p:cNvSpPr/>
          <p:nvPr/>
        </p:nvSpPr>
        <p:spPr>
          <a:xfrm>
            <a:off x="647640" y="1752480"/>
            <a:ext cx="66348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ffcd75"/>
                </a:solidFill>
                <a:latin typeface="Jersey 15"/>
                <a:ea typeface="Jersey 15"/>
              </a:rPr>
              <a:t>01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1257480" y="1752480"/>
            <a:ext cx="448344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f4f4f4"/>
                </a:solidFill>
                <a:latin typeface="Jersey 15"/>
                <a:ea typeface="Jersey 15"/>
              </a:rPr>
              <a:t>The Dawn of a New Era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1257480" y="2171880"/>
            <a:ext cx="44359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How Space Invaders sparked a revolution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6343920" y="1504800"/>
            <a:ext cx="5445360" cy="1339920"/>
          </a:xfrm>
          <a:custGeom>
            <a:avLst/>
            <a:gdLst/>
            <a:ah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0000"/>
            </a:srgbClr>
          </a:solidFill>
          <a:ln w="508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8"/>
          <p:cNvSpPr/>
          <p:nvPr/>
        </p:nvSpPr>
        <p:spPr>
          <a:xfrm>
            <a:off x="6591600" y="1752480"/>
            <a:ext cx="76824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a7f070"/>
                </a:solidFill>
                <a:latin typeface="Jersey 15"/>
                <a:ea typeface="Jersey 15"/>
              </a:rPr>
              <a:t>02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7307280" y="1752480"/>
            <a:ext cx="437868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f4f4f4"/>
                </a:solidFill>
                <a:latin typeface="Jersey 15"/>
                <a:ea typeface="Jersey 15"/>
              </a:rPr>
              <a:t>Iconic Games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7307280" y="2171880"/>
            <a:ext cx="433116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Characters that became cultural phenomena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6" name="Shape 11"/>
          <p:cNvSpPr/>
          <p:nvPr/>
        </p:nvSpPr>
        <p:spPr>
          <a:xfrm>
            <a:off x="399960" y="3117960"/>
            <a:ext cx="5445360" cy="1339920"/>
          </a:xfrm>
          <a:custGeom>
            <a:avLst/>
            <a:gdLst/>
            <a:ah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0000"/>
            </a:srgbClr>
          </a:solidFill>
          <a:ln w="508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2"/>
          <p:cNvSpPr/>
          <p:nvPr/>
        </p:nvSpPr>
        <p:spPr>
          <a:xfrm>
            <a:off x="647640" y="3365280"/>
            <a:ext cx="76824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29adff"/>
                </a:solidFill>
                <a:latin typeface="Jersey 15"/>
                <a:ea typeface="Jersey 15"/>
              </a:rPr>
              <a:t>03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68" name="Text 13"/>
          <p:cNvSpPr/>
          <p:nvPr/>
        </p:nvSpPr>
        <p:spPr>
          <a:xfrm>
            <a:off x="1363320" y="3365280"/>
            <a:ext cx="437868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f4f4f4"/>
                </a:solidFill>
                <a:latin typeface="Jersey 15"/>
                <a:ea typeface="Jersey 15"/>
              </a:rPr>
              <a:t>The Business of Fun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69" name="Text 14"/>
          <p:cNvSpPr/>
          <p:nvPr/>
        </p:nvSpPr>
        <p:spPr>
          <a:xfrm>
            <a:off x="1363320" y="3784680"/>
            <a:ext cx="433116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Billions of quarters, an economic force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0" name="Shape 15"/>
          <p:cNvSpPr/>
          <p:nvPr/>
        </p:nvSpPr>
        <p:spPr>
          <a:xfrm>
            <a:off x="6343920" y="3117960"/>
            <a:ext cx="5445360" cy="1339920"/>
          </a:xfrm>
          <a:custGeom>
            <a:avLst/>
            <a:gdLst/>
            <a:ah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0000"/>
            </a:srgbClr>
          </a:solidFill>
          <a:ln w="508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16"/>
          <p:cNvSpPr/>
          <p:nvPr/>
        </p:nvSpPr>
        <p:spPr>
          <a:xfrm>
            <a:off x="6591600" y="3365280"/>
            <a:ext cx="74916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ffcd75"/>
                </a:solidFill>
                <a:latin typeface="Jersey 15"/>
                <a:ea typeface="Jersey 15"/>
              </a:rPr>
              <a:t>04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72" name="Text 17"/>
          <p:cNvSpPr/>
          <p:nvPr/>
        </p:nvSpPr>
        <p:spPr>
          <a:xfrm>
            <a:off x="7286040" y="3365280"/>
            <a:ext cx="439776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f4f4f4"/>
                </a:solidFill>
                <a:latin typeface="Jersey 15"/>
                <a:ea typeface="Jersey 15"/>
              </a:rPr>
              <a:t>Cultural Impact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73" name="Text 18"/>
          <p:cNvSpPr/>
          <p:nvPr/>
        </p:nvSpPr>
        <p:spPr>
          <a:xfrm>
            <a:off x="7286040" y="3784680"/>
            <a:ext cx="434988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From niche hobby to global phenomenon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4" name="Shape 19"/>
          <p:cNvSpPr/>
          <p:nvPr/>
        </p:nvSpPr>
        <p:spPr>
          <a:xfrm>
            <a:off x="399960" y="4730760"/>
            <a:ext cx="11389680" cy="1339920"/>
          </a:xfrm>
          <a:custGeom>
            <a:avLst/>
            <a:gdLst/>
            <a:ahLst/>
            <a:rect l="l" t="t" r="r" b="b"/>
            <a:pathLst>
              <a:path w="11391900" h="1343025">
                <a:moveTo>
                  <a:pt x="0" y="0"/>
                </a:moveTo>
                <a:lnTo>
                  <a:pt x="11391900" y="0"/>
                </a:lnTo>
                <a:lnTo>
                  <a:pt x="113919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0000"/>
            </a:srgbClr>
          </a:solidFill>
          <a:ln w="508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20"/>
          <p:cNvSpPr/>
          <p:nvPr/>
        </p:nvSpPr>
        <p:spPr>
          <a:xfrm>
            <a:off x="647640" y="4978440"/>
            <a:ext cx="74916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4500" spc="-1" strike="noStrike">
                <a:solidFill>
                  <a:srgbClr val="a7f070"/>
                </a:solidFill>
                <a:latin typeface="Jersey 15"/>
                <a:ea typeface="Jersey 15"/>
              </a:rPr>
              <a:t>05</a:t>
            </a:r>
            <a:endParaRPr b="0" lang="en-HK" sz="4500" spc="-1" strike="noStrike">
              <a:latin typeface="Arial"/>
            </a:endParaRPr>
          </a:p>
        </p:txBody>
      </p:sp>
      <p:sp>
        <p:nvSpPr>
          <p:cNvPr id="76" name="Text 21"/>
          <p:cNvSpPr/>
          <p:nvPr/>
        </p:nvSpPr>
        <p:spPr>
          <a:xfrm>
            <a:off x="1342080" y="4978440"/>
            <a:ext cx="1034208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f4f4f4"/>
                </a:solidFill>
                <a:latin typeface="Jersey 15"/>
                <a:ea typeface="Jersey 15"/>
              </a:rPr>
              <a:t>The Decline and Beyond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77" name="Text 22"/>
          <p:cNvSpPr/>
          <p:nvPr/>
        </p:nvSpPr>
        <p:spPr>
          <a:xfrm>
            <a:off x="1342080" y="5397480"/>
            <a:ext cx="1029420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The crash that changed everything and the phoenix that rose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8" name="Shape 23"/>
          <p:cNvSpPr/>
          <p:nvPr/>
        </p:nvSpPr>
        <p:spPr>
          <a:xfrm>
            <a:off x="5715360" y="6324480"/>
            <a:ext cx="149040" cy="14904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Shape 24"/>
          <p:cNvSpPr/>
          <p:nvPr/>
        </p:nvSpPr>
        <p:spPr>
          <a:xfrm>
            <a:off x="6020280" y="6324480"/>
            <a:ext cx="149040" cy="14904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Shape 25"/>
          <p:cNvSpPr/>
          <p:nvPr/>
        </p:nvSpPr>
        <p:spPr>
          <a:xfrm>
            <a:off x="6324840" y="6324480"/>
            <a:ext cx="149040" cy="14904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Image 0"/>
          <p:cNvSpPr/>
          <p:nvPr/>
        </p:nvSpPr>
        <p:spPr>
          <a:xfrm>
            <a:off x="0" y="0"/>
            <a:ext cx="12189960" cy="685476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Shape 0"/>
          <p:cNvSpPr/>
          <p:nvPr/>
        </p:nvSpPr>
        <p:spPr>
          <a:xfrm>
            <a:off x="0" y="0"/>
            <a:ext cx="12189960" cy="685476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Shape 1"/>
          <p:cNvSpPr/>
          <p:nvPr/>
        </p:nvSpPr>
        <p:spPr>
          <a:xfrm>
            <a:off x="380880" y="1542960"/>
            <a:ext cx="1797120" cy="606240"/>
          </a:xfrm>
          <a:custGeom>
            <a:avLst/>
            <a:gdLst/>
            <a:ahLst/>
            <a:rect l="l" t="t" r="r" b="b"/>
            <a:pathLst>
              <a:path w="1800225" h="609600">
                <a:moveTo>
                  <a:pt x="0" y="0"/>
                </a:moveTo>
                <a:lnTo>
                  <a:pt x="1800225" y="0"/>
                </a:lnTo>
                <a:lnTo>
                  <a:pt x="18002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2"/>
          <p:cNvSpPr/>
          <p:nvPr/>
        </p:nvSpPr>
        <p:spPr>
          <a:xfrm>
            <a:off x="609480" y="1676520"/>
            <a:ext cx="151452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Jersey 15"/>
                <a:ea typeface="Jersey 15"/>
              </a:rPr>
              <a:t>CHAPTER 01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380880" y="2381400"/>
            <a:ext cx="11770920" cy="171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Jersey 20 Charted"/>
                <a:ea typeface="Jersey 20 Charted"/>
              </a:rPr>
              <a:t>THE DAWN OF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Jersey 20 Charted"/>
                <a:ea typeface="Jersey 20 Charted"/>
              </a:rPr>
              <a:t>A NEW ERA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380880" y="4324320"/>
            <a:ext cx="1520640" cy="73080"/>
          </a:xfrm>
          <a:custGeom>
            <a:avLst/>
            <a:gdLst/>
            <a:ah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5"/>
          <p:cNvSpPr/>
          <p:nvPr/>
        </p:nvSpPr>
        <p:spPr>
          <a:xfrm>
            <a:off x="3240000" y="5040000"/>
            <a:ext cx="745560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en-US" sz="2250" spc="-1" strike="noStrike">
                <a:solidFill>
                  <a:srgbClr val="000000"/>
                </a:solidFill>
                <a:latin typeface="Jersey 15"/>
                <a:ea typeface="Jersey 15"/>
              </a:rPr>
              <a:t>How a Japanese Space </a:t>
            </a:r>
            <a:r>
              <a:rPr b="0" lang="en-US" sz="2250" spc="-1" strike="noStrike">
                <a:solidFill>
                  <a:srgbClr val="ffff00"/>
                </a:solidFill>
                <a:latin typeface="Jersey 15"/>
                <a:ea typeface="Jersey 15"/>
              </a:rPr>
              <a:t>Shooter</a:t>
            </a:r>
            <a:endParaRPr b="0" lang="en-HK" sz="2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2250" spc="-1" strike="noStrike">
                <a:solidFill>
                  <a:srgbClr val="000000"/>
                </a:solidFill>
                <a:latin typeface="Jersey 15"/>
                <a:ea typeface="Jersey 15"/>
              </a:rPr>
              <a:t>Changed Everything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88" name="Shape 6"/>
          <p:cNvSpPr/>
          <p:nvPr/>
        </p:nvSpPr>
        <p:spPr>
          <a:xfrm>
            <a:off x="10592640" y="5867280"/>
            <a:ext cx="149040" cy="14904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Shape 7"/>
          <p:cNvSpPr/>
          <p:nvPr/>
        </p:nvSpPr>
        <p:spPr>
          <a:xfrm>
            <a:off x="10897200" y="5867280"/>
            <a:ext cx="149040" cy="14904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Shape 8"/>
          <p:cNvSpPr/>
          <p:nvPr/>
        </p:nvSpPr>
        <p:spPr>
          <a:xfrm>
            <a:off x="11202120" y="5867280"/>
            <a:ext cx="149040" cy="14904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0"/>
            <a:ext cx="12189960" cy="685476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1"/>
          <p:cNvSpPr/>
          <p:nvPr/>
        </p:nvSpPr>
        <p:spPr>
          <a:xfrm>
            <a:off x="380880" y="380880"/>
            <a:ext cx="116564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TIMELINE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380880" y="952560"/>
            <a:ext cx="115423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f4f4f4"/>
                </a:solidFill>
                <a:latin typeface="Jersey 15"/>
                <a:ea typeface="Jersey 15"/>
              </a:rPr>
              <a:t>When Was the Golden Age?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4" name="Shape 3"/>
          <p:cNvSpPr/>
          <p:nvPr/>
        </p:nvSpPr>
        <p:spPr>
          <a:xfrm>
            <a:off x="380880" y="1371600"/>
            <a:ext cx="911160" cy="34920"/>
          </a:xfrm>
          <a:custGeom>
            <a:avLst/>
            <a:gdLst/>
            <a:ah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Shape 4"/>
          <p:cNvSpPr/>
          <p:nvPr/>
        </p:nvSpPr>
        <p:spPr>
          <a:xfrm>
            <a:off x="395280" y="1576440"/>
            <a:ext cx="5607360" cy="1663560"/>
          </a:xfrm>
          <a:custGeom>
            <a:avLst/>
            <a:gdLst/>
            <a:ahLst/>
            <a:rect l="l" t="t" r="r" b="b"/>
            <a:pathLst>
              <a:path w="5610225" h="1666875">
                <a:moveTo>
                  <a:pt x="0" y="0"/>
                </a:moveTo>
                <a:lnTo>
                  <a:pt x="5610225" y="0"/>
                </a:lnTo>
                <a:lnTo>
                  <a:pt x="561022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5"/>
          <p:cNvSpPr/>
          <p:nvPr/>
        </p:nvSpPr>
        <p:spPr>
          <a:xfrm>
            <a:off x="600120" y="1781280"/>
            <a:ext cx="53121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29adff"/>
                </a:solidFill>
                <a:latin typeface="Jersey 15"/>
                <a:ea typeface="Jersey 15"/>
              </a:rPr>
              <a:t>DEBATED TIMEFRAME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600120" y="2200320"/>
            <a:ext cx="528336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50" spc="-1" strike="noStrike">
                <a:solidFill>
                  <a:srgbClr val="f4f4f4"/>
                </a:solidFill>
                <a:latin typeface="Jersey 15"/>
                <a:ea typeface="Jersey 15"/>
              </a:rPr>
              <a:t>While experts disagree on exact dates, most place the golden age between </a:t>
            </a:r>
            <a:r>
              <a:rPr b="1" lang="en-US" sz="1350" spc="-1" strike="noStrike">
                <a:solidFill>
                  <a:srgbClr val="ffcd75"/>
                </a:solidFill>
                <a:latin typeface="Jersey 15"/>
                <a:ea typeface="Jersey 15"/>
              </a:rPr>
              <a:t>1978-1983</a:t>
            </a:r>
            <a:r>
              <a:rPr b="0" lang="en-US" sz="1350" spc="-1" strike="noStrike">
                <a:solidFill>
                  <a:srgbClr val="f4f4f4"/>
                </a:solidFill>
                <a:latin typeface="Jersey 15"/>
                <a:ea typeface="Jersey 15"/>
              </a:rPr>
              <a:t>. Some extend it to 1971 (first arcade game) or end at 1985 (industry recovery).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98" name="Shape 7"/>
          <p:cNvSpPr/>
          <p:nvPr/>
        </p:nvSpPr>
        <p:spPr>
          <a:xfrm>
            <a:off x="6186960" y="1576440"/>
            <a:ext cx="5607360" cy="1663560"/>
          </a:xfrm>
          <a:custGeom>
            <a:avLst/>
            <a:gdLst/>
            <a:ahLst/>
            <a:rect l="l" t="t" r="r" b="b"/>
            <a:pathLst>
              <a:path w="5610225" h="1666875">
                <a:moveTo>
                  <a:pt x="0" y="0"/>
                </a:moveTo>
                <a:lnTo>
                  <a:pt x="5610225" y="0"/>
                </a:lnTo>
                <a:lnTo>
                  <a:pt x="561022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8"/>
          <p:cNvSpPr/>
          <p:nvPr/>
        </p:nvSpPr>
        <p:spPr>
          <a:xfrm>
            <a:off x="6391800" y="1781280"/>
            <a:ext cx="53121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ffcd75"/>
                </a:solidFill>
                <a:latin typeface="Jersey 15"/>
                <a:ea typeface="Jersey 15"/>
              </a:rPr>
              <a:t>KEY MILESTONE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0" name="Text 9"/>
          <p:cNvSpPr/>
          <p:nvPr/>
        </p:nvSpPr>
        <p:spPr>
          <a:xfrm>
            <a:off x="6391800" y="2200320"/>
            <a:ext cx="5283360" cy="5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350" spc="-1" strike="noStrike">
                <a:solidFill>
                  <a:srgbClr val="a7f070"/>
                </a:solidFill>
                <a:latin typeface="Jersey 15"/>
                <a:ea typeface="Jersey 15"/>
              </a:rPr>
              <a:t>Space Invaders (1978)</a:t>
            </a:r>
            <a:r>
              <a:rPr b="0" lang="en-US" sz="1350" spc="-1" strike="noStrike">
                <a:solidFill>
                  <a:srgbClr val="f4f4f4"/>
                </a:solidFill>
                <a:latin typeface="Jersey 15"/>
                <a:ea typeface="Jersey 15"/>
              </a:rPr>
              <a:t> is universally recognized as the catalyst that transformed arcades from novelty to cultural phenomenon.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101" name="Shape 10"/>
          <p:cNvSpPr/>
          <p:nvPr/>
        </p:nvSpPr>
        <p:spPr>
          <a:xfrm>
            <a:off x="399960" y="3426480"/>
            <a:ext cx="11389680" cy="3311640"/>
          </a:xfrm>
          <a:custGeom>
            <a:avLst/>
            <a:gdLst/>
            <a:ahLst/>
            <a:rect l="l" t="t" r="r" b="b"/>
            <a:pathLst>
              <a:path w="11391900" h="3314700">
                <a:moveTo>
                  <a:pt x="0" y="0"/>
                </a:moveTo>
                <a:lnTo>
                  <a:pt x="11391900" y="0"/>
                </a:lnTo>
                <a:lnTo>
                  <a:pt x="11391900" y="3314700"/>
                </a:lnTo>
                <a:lnTo>
                  <a:pt x="0" y="33147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508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11"/>
          <p:cNvSpPr/>
          <p:nvPr/>
        </p:nvSpPr>
        <p:spPr>
          <a:xfrm>
            <a:off x="552600" y="3636000"/>
            <a:ext cx="110851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a7f070"/>
                </a:solidFill>
                <a:latin typeface="Jersey 15"/>
                <a:ea typeface="Jersey 15"/>
              </a:rPr>
              <a:t>THE GOLDEN AGE TIMELINE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3" name="Image 0"/>
          <p:cNvSpPr/>
          <p:nvPr/>
        </p:nvSpPr>
        <p:spPr>
          <a:xfrm>
            <a:off x="609480" y="4055400"/>
            <a:ext cx="10970640" cy="247320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0" y="0"/>
            <a:ext cx="12189960" cy="6852600"/>
          </a:xfrm>
          <a:custGeom>
            <a:avLst/>
            <a:gdLst/>
            <a:ahLst/>
            <a:rect l="l" t="t" r="r" b="b"/>
            <a:pathLst>
              <a:path w="12192000" h="6855817">
                <a:moveTo>
                  <a:pt x="0" y="0"/>
                </a:moveTo>
                <a:lnTo>
                  <a:pt x="12192000" y="0"/>
                </a:lnTo>
                <a:lnTo>
                  <a:pt x="12192000" y="6855817"/>
                </a:lnTo>
                <a:lnTo>
                  <a:pt x="0" y="6855817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1"/>
          <p:cNvSpPr/>
          <p:nvPr/>
        </p:nvSpPr>
        <p:spPr>
          <a:xfrm>
            <a:off x="349200" y="349200"/>
            <a:ext cx="1170072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3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SPACE INVADERS</a:t>
            </a:r>
            <a:endParaRPr b="0" lang="en-HK" sz="3300" spc="-1" strike="noStrike"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349200" y="873360"/>
            <a:ext cx="1159596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650" spc="-1" strike="noStrike">
                <a:solidFill>
                  <a:srgbClr val="f4f4f4"/>
                </a:solidFill>
                <a:latin typeface="Jersey 15"/>
                <a:ea typeface="Jersey 15"/>
              </a:rPr>
              <a:t>The Spark That Ignited the Revolution</a:t>
            </a:r>
            <a:endParaRPr b="0" lang="en-HK" sz="1650" spc="-1" strike="noStrike">
              <a:latin typeface="Arial"/>
            </a:endParaRPr>
          </a:p>
        </p:txBody>
      </p:sp>
      <p:sp>
        <p:nvSpPr>
          <p:cNvPr id="107" name="Shape 3"/>
          <p:cNvSpPr/>
          <p:nvPr/>
        </p:nvSpPr>
        <p:spPr>
          <a:xfrm>
            <a:off x="349200" y="1257480"/>
            <a:ext cx="835200" cy="31680"/>
          </a:xfrm>
          <a:custGeom>
            <a:avLst/>
            <a:gdLst/>
            <a:ahLst/>
            <a:rect l="l" t="t" r="r" b="b"/>
            <a:pathLst>
              <a:path w="838418" h="34934">
                <a:moveTo>
                  <a:pt x="0" y="0"/>
                </a:moveTo>
                <a:lnTo>
                  <a:pt x="838418" y="0"/>
                </a:lnTo>
                <a:lnTo>
                  <a:pt x="838418" y="34934"/>
                </a:lnTo>
                <a:lnTo>
                  <a:pt x="0" y="34934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Shape 4"/>
          <p:cNvSpPr/>
          <p:nvPr/>
        </p:nvSpPr>
        <p:spPr>
          <a:xfrm>
            <a:off x="362520" y="1445400"/>
            <a:ext cx="5045040" cy="4188960"/>
          </a:xfrm>
          <a:custGeom>
            <a:avLst/>
            <a:gdLst/>
            <a:ahLst/>
            <a:rect l="l" t="t" r="r" b="b"/>
            <a:pathLst>
              <a:path w="5047977" h="4192092">
                <a:moveTo>
                  <a:pt x="0" y="0"/>
                </a:moveTo>
                <a:lnTo>
                  <a:pt x="5047977" y="0"/>
                </a:lnTo>
                <a:lnTo>
                  <a:pt x="5047977" y="4192092"/>
                </a:lnTo>
                <a:lnTo>
                  <a:pt x="0" y="4192092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Image 0"/>
          <p:cNvSpPr/>
          <p:nvPr/>
        </p:nvSpPr>
        <p:spPr>
          <a:xfrm>
            <a:off x="515160" y="1598400"/>
            <a:ext cx="4739400" cy="16736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5"/>
          <p:cNvSpPr/>
          <p:nvPr/>
        </p:nvSpPr>
        <p:spPr>
          <a:xfrm>
            <a:off x="384120" y="3380040"/>
            <a:ext cx="50014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412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750,000</a:t>
            </a:r>
            <a:endParaRPr b="0" lang="en-HK" sz="4120" spc="-1" strike="noStrike"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471600" y="3973680"/>
            <a:ext cx="482688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370" spc="-1" strike="noStrike">
                <a:solidFill>
                  <a:srgbClr val="f4f4f4"/>
                </a:solidFill>
                <a:latin typeface="Jersey 15"/>
                <a:ea typeface="Jersey 15"/>
              </a:rPr>
              <a:t>Machines Worldwide by 1979</a:t>
            </a:r>
            <a:endParaRPr b="0" lang="en-HK" sz="1370" spc="-1" strike="noStrike">
              <a:latin typeface="Arial"/>
            </a:endParaRPr>
          </a:p>
        </p:txBody>
      </p:sp>
      <p:sp>
        <p:nvSpPr>
          <p:cNvPr id="112" name="Shape 7"/>
          <p:cNvSpPr/>
          <p:nvPr/>
        </p:nvSpPr>
        <p:spPr>
          <a:xfrm>
            <a:off x="362520" y="5801400"/>
            <a:ext cx="5045040" cy="1036080"/>
          </a:xfrm>
          <a:custGeom>
            <a:avLst/>
            <a:gdLst/>
            <a:ahLst/>
            <a:rect l="l" t="t" r="r" b="b"/>
            <a:pathLst>
              <a:path w="5047977" h="1039289">
                <a:moveTo>
                  <a:pt x="0" y="0"/>
                </a:moveTo>
                <a:lnTo>
                  <a:pt x="5047977" y="0"/>
                </a:lnTo>
                <a:lnTo>
                  <a:pt x="5047977" y="1039289"/>
                </a:lnTo>
                <a:lnTo>
                  <a:pt x="0" y="103928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8"/>
          <p:cNvSpPr/>
          <p:nvPr/>
        </p:nvSpPr>
        <p:spPr>
          <a:xfrm>
            <a:off x="410400" y="5954040"/>
            <a:ext cx="494892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300" spc="-1" strike="noStrike">
                <a:solidFill>
                  <a:srgbClr val="a7f070"/>
                </a:solidFill>
                <a:latin typeface="Jersey 20 Charted"/>
                <a:ea typeface="Jersey 20 Charted"/>
              </a:rPr>
              <a:t>$670M</a:t>
            </a:r>
            <a:endParaRPr b="0" lang="en-HK" sz="3300" spc="-1" strike="noStrike"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475920" y="6443280"/>
            <a:ext cx="481788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Revenue in Japan Alone (1978)</a:t>
            </a:r>
            <a:endParaRPr b="0" lang="en-HK" sz="1240" spc="-1" strike="noStrike">
              <a:latin typeface="Arial"/>
            </a:endParaRPr>
          </a:p>
        </p:txBody>
      </p:sp>
      <p:sp>
        <p:nvSpPr>
          <p:cNvPr id="115" name="Shape 10"/>
          <p:cNvSpPr/>
          <p:nvPr/>
        </p:nvSpPr>
        <p:spPr>
          <a:xfrm>
            <a:off x="5648400" y="1445400"/>
            <a:ext cx="6172200" cy="1883160"/>
          </a:xfrm>
          <a:custGeom>
            <a:avLst/>
            <a:gdLst/>
            <a:ahLst/>
            <a:rect l="l" t="t" r="r" b="b"/>
            <a:pathLst>
              <a:path w="6174602" h="1886441">
                <a:moveTo>
                  <a:pt x="0" y="0"/>
                </a:moveTo>
                <a:lnTo>
                  <a:pt x="6174602" y="0"/>
                </a:lnTo>
                <a:lnTo>
                  <a:pt x="6174602" y="1886441"/>
                </a:lnTo>
                <a:lnTo>
                  <a:pt x="0" y="188644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11"/>
          <p:cNvSpPr/>
          <p:nvPr/>
        </p:nvSpPr>
        <p:spPr>
          <a:xfrm>
            <a:off x="5835960" y="1633320"/>
            <a:ext cx="590112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50" spc="-1" strike="noStrike">
                <a:solidFill>
                  <a:srgbClr val="ffcd75"/>
                </a:solidFill>
                <a:latin typeface="Jersey 15"/>
                <a:ea typeface="Jersey 15"/>
              </a:rPr>
              <a:t>THE CREATOR</a:t>
            </a:r>
            <a:endParaRPr b="0" lang="en-HK" sz="1650" spc="-1" strike="noStrike">
              <a:latin typeface="Arial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5835960" y="2017440"/>
            <a:ext cx="587484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240" spc="-1" strike="noStrike">
                <a:solidFill>
                  <a:srgbClr val="29adff"/>
                </a:solidFill>
                <a:latin typeface="Jersey 15"/>
                <a:ea typeface="Jersey 15"/>
              </a:rPr>
              <a:t>Tomohiro Nishikado</a:t>
            </a: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 at Taito spent one year designing custom hardware using an </a:t>
            </a:r>
            <a:r>
              <a:rPr b="1" lang="en-US" sz="1240" spc="-1" strike="noStrike">
                <a:solidFill>
                  <a:srgbClr val="a7f070"/>
                </a:solidFill>
                <a:latin typeface="Jersey 15"/>
                <a:ea typeface="Jersey 15"/>
              </a:rPr>
              <a:t>Intel 8080 CPU</a:t>
            </a: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—pushing technological limits of the time.</a:t>
            </a:r>
            <a:endParaRPr b="0" lang="en-HK" sz="1240" spc="-1" strike="noStrike">
              <a:latin typeface="Arial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5835960" y="2633040"/>
            <a:ext cx="587484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Inspired by Star Wars and H.G. Wells' War of the Worlds, he created alien designs based on octopus, squid, and crabs.</a:t>
            </a:r>
            <a:endParaRPr b="0" lang="en-HK" sz="1240" spc="-1" strike="noStrike">
              <a:latin typeface="Arial"/>
            </a:endParaRPr>
          </a:p>
        </p:txBody>
      </p:sp>
      <p:sp>
        <p:nvSpPr>
          <p:cNvPr id="119" name="Shape 14"/>
          <p:cNvSpPr/>
          <p:nvPr/>
        </p:nvSpPr>
        <p:spPr>
          <a:xfrm>
            <a:off x="5648400" y="3497760"/>
            <a:ext cx="6172200" cy="1524960"/>
          </a:xfrm>
          <a:custGeom>
            <a:avLst/>
            <a:gdLst/>
            <a:ahLst/>
            <a:rect l="l" t="t" r="r" b="b"/>
            <a:pathLst>
              <a:path w="6174602" h="1528367">
                <a:moveTo>
                  <a:pt x="0" y="0"/>
                </a:moveTo>
                <a:lnTo>
                  <a:pt x="6174602" y="0"/>
                </a:lnTo>
                <a:lnTo>
                  <a:pt x="6174602" y="1528367"/>
                </a:lnTo>
                <a:lnTo>
                  <a:pt x="0" y="1528367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15"/>
          <p:cNvSpPr/>
          <p:nvPr/>
        </p:nvSpPr>
        <p:spPr>
          <a:xfrm>
            <a:off x="5835960" y="3685680"/>
            <a:ext cx="590112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50" spc="-1" strike="noStrike">
                <a:solidFill>
                  <a:srgbClr val="29adff"/>
                </a:solidFill>
                <a:latin typeface="Jersey 15"/>
                <a:ea typeface="Jersey 15"/>
              </a:rPr>
              <a:t>THE HAPPY ACCIDENT</a:t>
            </a:r>
            <a:endParaRPr b="0" lang="en-HK" sz="1650" spc="-1" strike="noStrike">
              <a:latin typeface="Arial"/>
            </a:endParaRPr>
          </a:p>
        </p:txBody>
      </p:sp>
      <p:sp>
        <p:nvSpPr>
          <p:cNvPr id="121" name="Text 16"/>
          <p:cNvSpPr/>
          <p:nvPr/>
        </p:nvSpPr>
        <p:spPr>
          <a:xfrm>
            <a:off x="5835960" y="4069800"/>
            <a:ext cx="5874840" cy="76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The game's signature </a:t>
            </a:r>
            <a:r>
              <a:rPr b="1" lang="en-US" sz="1240" spc="-1" strike="noStrike">
                <a:solidFill>
                  <a:srgbClr val="ffcd75"/>
                </a:solidFill>
                <a:latin typeface="Jersey 15"/>
                <a:ea typeface="Jersey 15"/>
              </a:rPr>
              <a:t>increasing speed</a:t>
            </a:r>
            <a:r>
              <a:rPr b="0" lang="en-US" sz="1240" spc="-1" strike="noStrike">
                <a:solidFill>
                  <a:srgbClr val="f4f4f4"/>
                </a:solidFill>
                <a:latin typeface="Jersey 15"/>
                <a:ea typeface="Jersey 15"/>
              </a:rPr>
              <a:t> was originally a hardware limitation! As Nishikado destroyed more aliens, the processor rendered frames faster. Instead of fixing it, he made it a feature—creating tension that defined the game.</a:t>
            </a:r>
            <a:endParaRPr b="0" lang="en-HK" sz="1240" spc="-1" strike="noStrike">
              <a:latin typeface="Arial"/>
            </a:endParaRPr>
          </a:p>
        </p:txBody>
      </p:sp>
      <p:sp>
        <p:nvSpPr>
          <p:cNvPr id="122" name="Shape 17"/>
          <p:cNvSpPr/>
          <p:nvPr/>
        </p:nvSpPr>
        <p:spPr>
          <a:xfrm>
            <a:off x="5644080" y="5185440"/>
            <a:ext cx="3027600" cy="765360"/>
          </a:xfrm>
          <a:custGeom>
            <a:avLst/>
            <a:gdLst/>
            <a:ah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Shape 18"/>
          <p:cNvSpPr/>
          <p:nvPr/>
        </p:nvSpPr>
        <p:spPr>
          <a:xfrm>
            <a:off x="7031160" y="5299200"/>
            <a:ext cx="258840" cy="258840"/>
          </a:xfrm>
          <a:custGeom>
            <a:avLst/>
            <a:gdLst/>
            <a:ahLst/>
            <a:rect l="l" t="t" r="r" b="b"/>
            <a:pathLst>
              <a:path w="262006" h="262006">
                <a:moveTo>
                  <a:pt x="73843" y="0"/>
                </a:moveTo>
                <a:lnTo>
                  <a:pt x="188470" y="0"/>
                </a:lnTo>
                <a:cubicBezTo>
                  <a:pt x="202031" y="0"/>
                  <a:pt x="213084" y="11156"/>
                  <a:pt x="212573" y="24665"/>
                </a:cubicBezTo>
                <a:cubicBezTo>
                  <a:pt x="212470" y="27378"/>
                  <a:pt x="212368" y="30090"/>
                  <a:pt x="212214" y="32751"/>
                </a:cubicBezTo>
                <a:lnTo>
                  <a:pt x="237596" y="32751"/>
                </a:lnTo>
                <a:cubicBezTo>
                  <a:pt x="250952" y="32751"/>
                  <a:pt x="262722" y="43804"/>
                  <a:pt x="261699" y="58235"/>
                </a:cubicBezTo>
                <a:cubicBezTo>
                  <a:pt x="257861" y="111301"/>
                  <a:pt x="230739" y="140470"/>
                  <a:pt x="201315" y="155719"/>
                </a:cubicBezTo>
                <a:cubicBezTo>
                  <a:pt x="193229" y="159916"/>
                  <a:pt x="184990" y="163037"/>
                  <a:pt x="177161" y="165340"/>
                </a:cubicBezTo>
                <a:cubicBezTo>
                  <a:pt x="166824" y="179975"/>
                  <a:pt x="156078" y="187703"/>
                  <a:pt x="147532" y="191848"/>
                </a:cubicBezTo>
                <a:lnTo>
                  <a:pt x="147532" y="229255"/>
                </a:lnTo>
                <a:lnTo>
                  <a:pt x="180282" y="229255"/>
                </a:lnTo>
                <a:cubicBezTo>
                  <a:pt x="189340" y="229255"/>
                  <a:pt x="196658" y="236573"/>
                  <a:pt x="196658" y="245630"/>
                </a:cubicBezTo>
                <a:cubicBezTo>
                  <a:pt x="196658" y="254688"/>
                  <a:pt x="189340" y="262006"/>
                  <a:pt x="180282" y="262006"/>
                </a:cubicBezTo>
                <a:lnTo>
                  <a:pt x="82030" y="262006"/>
                </a:lnTo>
                <a:cubicBezTo>
                  <a:pt x="72973" y="262006"/>
                  <a:pt x="65655" y="254688"/>
                  <a:pt x="65655" y="245630"/>
                </a:cubicBezTo>
                <a:cubicBezTo>
                  <a:pt x="65655" y="236573"/>
                  <a:pt x="72973" y="229255"/>
                  <a:pt x="82030" y="229255"/>
                </a:cubicBezTo>
                <a:lnTo>
                  <a:pt x="114781" y="229255"/>
                </a:lnTo>
                <a:lnTo>
                  <a:pt x="114781" y="191848"/>
                </a:lnTo>
                <a:cubicBezTo>
                  <a:pt x="106593" y="187907"/>
                  <a:pt x="96410" y="180589"/>
                  <a:pt x="86482" y="167131"/>
                </a:cubicBezTo>
                <a:cubicBezTo>
                  <a:pt x="77067" y="164675"/>
                  <a:pt x="66832" y="160939"/>
                  <a:pt x="56853" y="155310"/>
                </a:cubicBezTo>
                <a:cubicBezTo>
                  <a:pt x="29169" y="139805"/>
                  <a:pt x="4196" y="110585"/>
                  <a:pt x="614" y="58133"/>
                </a:cubicBezTo>
                <a:cubicBezTo>
                  <a:pt x="-358" y="43753"/>
                  <a:pt x="11360" y="32700"/>
                  <a:pt x="24717" y="32700"/>
                </a:cubicBezTo>
                <a:lnTo>
                  <a:pt x="50098" y="32700"/>
                </a:lnTo>
                <a:cubicBezTo>
                  <a:pt x="49945" y="30039"/>
                  <a:pt x="49842" y="27378"/>
                  <a:pt x="49740" y="24614"/>
                </a:cubicBezTo>
                <a:cubicBezTo>
                  <a:pt x="49228" y="11053"/>
                  <a:pt x="60282" y="-51"/>
                  <a:pt x="73843" y="-51"/>
                </a:cubicBezTo>
                <a:close/>
                <a:moveTo>
                  <a:pt x="51941" y="57314"/>
                </a:moveTo>
                <a:lnTo>
                  <a:pt x="25126" y="57314"/>
                </a:lnTo>
                <a:cubicBezTo>
                  <a:pt x="28299" y="100657"/>
                  <a:pt x="48205" y="122355"/>
                  <a:pt x="68725" y="133869"/>
                </a:cubicBezTo>
                <a:cubicBezTo>
                  <a:pt x="61356" y="114781"/>
                  <a:pt x="55267" y="89860"/>
                  <a:pt x="51941" y="57314"/>
                </a:cubicBezTo>
                <a:close/>
                <a:moveTo>
                  <a:pt x="194457" y="131412"/>
                </a:moveTo>
                <a:cubicBezTo>
                  <a:pt x="215182" y="119233"/>
                  <a:pt x="233912" y="97587"/>
                  <a:pt x="237084" y="57314"/>
                </a:cubicBezTo>
                <a:lnTo>
                  <a:pt x="210321" y="57314"/>
                </a:lnTo>
                <a:cubicBezTo>
                  <a:pt x="207148" y="88478"/>
                  <a:pt x="201417" y="112683"/>
                  <a:pt x="194457" y="131412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19"/>
          <p:cNvSpPr/>
          <p:nvPr/>
        </p:nvSpPr>
        <p:spPr>
          <a:xfrm>
            <a:off x="5722560" y="5631120"/>
            <a:ext cx="28702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100" spc="-1" strike="noStrike">
                <a:solidFill>
                  <a:srgbClr val="f4f4f4"/>
                </a:solidFill>
                <a:latin typeface="Jersey 15"/>
                <a:ea typeface="Jersey 15"/>
              </a:rPr>
              <a:t>First High Score</a:t>
            </a:r>
            <a:endParaRPr b="0" lang="en-HK" sz="1100" spc="-1" strike="noStrike">
              <a:latin typeface="Arial"/>
            </a:endParaRPr>
          </a:p>
        </p:txBody>
      </p:sp>
      <p:sp>
        <p:nvSpPr>
          <p:cNvPr id="125" name="Shape 20"/>
          <p:cNvSpPr/>
          <p:nvPr/>
        </p:nvSpPr>
        <p:spPr>
          <a:xfrm>
            <a:off x="8798760" y="5185440"/>
            <a:ext cx="3027600" cy="765360"/>
          </a:xfrm>
          <a:custGeom>
            <a:avLst/>
            <a:gdLst/>
            <a:ah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254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Shape 21"/>
          <p:cNvSpPr/>
          <p:nvPr/>
        </p:nvSpPr>
        <p:spPr>
          <a:xfrm>
            <a:off x="10185840" y="5299200"/>
            <a:ext cx="258840" cy="258840"/>
          </a:xfrm>
          <a:custGeom>
            <a:avLst/>
            <a:gdLst/>
            <a:ahLst/>
            <a:rect l="l" t="t" r="r" b="b"/>
            <a:pathLst>
              <a:path w="262006" h="262006">
                <a:moveTo>
                  <a:pt x="123327" y="44572"/>
                </a:moveTo>
                <a:lnTo>
                  <a:pt x="131003" y="55164"/>
                </a:lnTo>
                <a:lnTo>
                  <a:pt x="138679" y="44572"/>
                </a:lnTo>
                <a:cubicBezTo>
                  <a:pt x="151472" y="26866"/>
                  <a:pt x="172044" y="16375"/>
                  <a:pt x="193894" y="16375"/>
                </a:cubicBezTo>
                <a:cubicBezTo>
                  <a:pt x="231507" y="16375"/>
                  <a:pt x="262006" y="46874"/>
                  <a:pt x="262006" y="84487"/>
                </a:cubicBezTo>
                <a:lnTo>
                  <a:pt x="262006" y="85817"/>
                </a:lnTo>
                <a:cubicBezTo>
                  <a:pt x="262006" y="143233"/>
                  <a:pt x="190415" y="209912"/>
                  <a:pt x="153058" y="238415"/>
                </a:cubicBezTo>
                <a:cubicBezTo>
                  <a:pt x="146713" y="243225"/>
                  <a:pt x="138935" y="245630"/>
                  <a:pt x="131003" y="245630"/>
                </a:cubicBezTo>
                <a:cubicBezTo>
                  <a:pt x="123071" y="245630"/>
                  <a:pt x="115242" y="243276"/>
                  <a:pt x="108947" y="238415"/>
                </a:cubicBezTo>
                <a:cubicBezTo>
                  <a:pt x="71591" y="209912"/>
                  <a:pt x="0" y="143233"/>
                  <a:pt x="0" y="85817"/>
                </a:cubicBezTo>
                <a:lnTo>
                  <a:pt x="0" y="84487"/>
                </a:lnTo>
                <a:cubicBezTo>
                  <a:pt x="0" y="46874"/>
                  <a:pt x="30499" y="16375"/>
                  <a:pt x="68111" y="16375"/>
                </a:cubicBezTo>
                <a:cubicBezTo>
                  <a:pt x="89962" y="16375"/>
                  <a:pt x="110534" y="26866"/>
                  <a:pt x="123327" y="44572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22"/>
          <p:cNvSpPr/>
          <p:nvPr/>
        </p:nvSpPr>
        <p:spPr>
          <a:xfrm>
            <a:off x="8877240" y="5631120"/>
            <a:ext cx="28702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100" spc="-1" strike="noStrike">
                <a:solidFill>
                  <a:srgbClr val="f4f4f4"/>
                </a:solidFill>
                <a:latin typeface="Jersey 15"/>
                <a:ea typeface="Jersey 15"/>
              </a:rPr>
              <a:t>Multiple Lives</a:t>
            </a:r>
            <a:endParaRPr b="0" lang="en-HK" sz="1100" spc="-1" strike="noStrike">
              <a:latin typeface="Arial"/>
            </a:endParaRPr>
          </a:p>
        </p:txBody>
      </p:sp>
      <p:sp>
        <p:nvSpPr>
          <p:cNvPr id="128" name="Shape 23"/>
          <p:cNvSpPr/>
          <p:nvPr/>
        </p:nvSpPr>
        <p:spPr>
          <a:xfrm>
            <a:off x="5644080" y="6076440"/>
            <a:ext cx="3027600" cy="765360"/>
          </a:xfrm>
          <a:custGeom>
            <a:avLst/>
            <a:gdLst/>
            <a:ah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254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Shape 24"/>
          <p:cNvSpPr/>
          <p:nvPr/>
        </p:nvSpPr>
        <p:spPr>
          <a:xfrm>
            <a:off x="7031160" y="6189840"/>
            <a:ext cx="258840" cy="258840"/>
          </a:xfrm>
          <a:custGeom>
            <a:avLst/>
            <a:gdLst/>
            <a:ahLst/>
            <a:rect l="l" t="t" r="r" b="b"/>
            <a:pathLst>
              <a:path w="262006" h="262006">
                <a:moveTo>
                  <a:pt x="131003" y="0"/>
                </a:moveTo>
                <a:cubicBezTo>
                  <a:pt x="133357" y="0"/>
                  <a:pt x="135711" y="512"/>
                  <a:pt x="137860" y="1484"/>
                </a:cubicBezTo>
                <a:lnTo>
                  <a:pt x="234270" y="42371"/>
                </a:lnTo>
                <a:cubicBezTo>
                  <a:pt x="245528" y="47130"/>
                  <a:pt x="253920" y="58235"/>
                  <a:pt x="253869" y="71642"/>
                </a:cubicBezTo>
                <a:cubicBezTo>
                  <a:pt x="253613" y="122406"/>
                  <a:pt x="232735" y="215285"/>
                  <a:pt x="144564" y="257503"/>
                </a:cubicBezTo>
                <a:cubicBezTo>
                  <a:pt x="136018" y="261596"/>
                  <a:pt x="126090" y="261596"/>
                  <a:pt x="117544" y="257503"/>
                </a:cubicBezTo>
                <a:cubicBezTo>
                  <a:pt x="29322" y="215285"/>
                  <a:pt x="8495" y="122406"/>
                  <a:pt x="8239" y="71642"/>
                </a:cubicBezTo>
                <a:cubicBezTo>
                  <a:pt x="8188" y="58235"/>
                  <a:pt x="16580" y="47130"/>
                  <a:pt x="27838" y="42371"/>
                </a:cubicBezTo>
                <a:lnTo>
                  <a:pt x="124197" y="1484"/>
                </a:lnTo>
                <a:cubicBezTo>
                  <a:pt x="126346" y="512"/>
                  <a:pt x="128649" y="0"/>
                  <a:pt x="131003" y="0"/>
                </a:cubicBezTo>
                <a:close/>
                <a:moveTo>
                  <a:pt x="131003" y="34184"/>
                </a:moveTo>
                <a:lnTo>
                  <a:pt x="131003" y="227669"/>
                </a:lnTo>
                <a:cubicBezTo>
                  <a:pt x="201622" y="193485"/>
                  <a:pt x="220607" y="117749"/>
                  <a:pt x="221067" y="72410"/>
                </a:cubicBezTo>
                <a:lnTo>
                  <a:pt x="131003" y="34235"/>
                </a:lnTo>
                <a:lnTo>
                  <a:pt x="131003" y="34235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25"/>
          <p:cNvSpPr/>
          <p:nvPr/>
        </p:nvSpPr>
        <p:spPr>
          <a:xfrm>
            <a:off x="5722560" y="6521760"/>
            <a:ext cx="28702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100" spc="-1" strike="noStrike">
                <a:solidFill>
                  <a:srgbClr val="f4f4f4"/>
                </a:solidFill>
                <a:latin typeface="Jersey 15"/>
                <a:ea typeface="Jersey 15"/>
              </a:rPr>
              <a:t>Destructible Barriers</a:t>
            </a:r>
            <a:endParaRPr b="0" lang="en-HK" sz="1100" spc="-1" strike="noStrike">
              <a:latin typeface="Arial"/>
            </a:endParaRPr>
          </a:p>
        </p:txBody>
      </p:sp>
      <p:sp>
        <p:nvSpPr>
          <p:cNvPr id="131" name="Shape 26"/>
          <p:cNvSpPr/>
          <p:nvPr/>
        </p:nvSpPr>
        <p:spPr>
          <a:xfrm>
            <a:off x="8798760" y="6076440"/>
            <a:ext cx="3027600" cy="765360"/>
          </a:xfrm>
          <a:custGeom>
            <a:avLst/>
            <a:gdLst/>
            <a:ah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Shape 27"/>
          <p:cNvSpPr/>
          <p:nvPr/>
        </p:nvSpPr>
        <p:spPr>
          <a:xfrm>
            <a:off x="10185840" y="6189840"/>
            <a:ext cx="258840" cy="258840"/>
          </a:xfrm>
          <a:custGeom>
            <a:avLst/>
            <a:gdLst/>
            <a:ahLst/>
            <a:rect l="l" t="t" r="r" b="b"/>
            <a:pathLst>
              <a:path w="262006" h="262006">
                <a:moveTo>
                  <a:pt x="239490" y="3582"/>
                </a:moveTo>
                <a:cubicBezTo>
                  <a:pt x="243379" y="6704"/>
                  <a:pt x="245630" y="11412"/>
                  <a:pt x="245630" y="16375"/>
                </a:cubicBezTo>
                <a:lnTo>
                  <a:pt x="245630" y="171941"/>
                </a:lnTo>
                <a:cubicBezTo>
                  <a:pt x="245630" y="194560"/>
                  <a:pt x="223626" y="212880"/>
                  <a:pt x="196504" y="212880"/>
                </a:cubicBezTo>
                <a:cubicBezTo>
                  <a:pt x="169383" y="212880"/>
                  <a:pt x="147378" y="194560"/>
                  <a:pt x="147378" y="171941"/>
                </a:cubicBezTo>
                <a:cubicBezTo>
                  <a:pt x="147378" y="149323"/>
                  <a:pt x="169383" y="131003"/>
                  <a:pt x="196504" y="131003"/>
                </a:cubicBezTo>
                <a:cubicBezTo>
                  <a:pt x="202236" y="131003"/>
                  <a:pt x="207762" y="131822"/>
                  <a:pt x="212880" y="133357"/>
                </a:cubicBezTo>
                <a:lnTo>
                  <a:pt x="212880" y="73638"/>
                </a:lnTo>
                <a:lnTo>
                  <a:pt x="98252" y="99122"/>
                </a:lnTo>
                <a:lnTo>
                  <a:pt x="98252" y="204692"/>
                </a:lnTo>
                <a:cubicBezTo>
                  <a:pt x="98252" y="227310"/>
                  <a:pt x="76248" y="245630"/>
                  <a:pt x="49126" y="245630"/>
                </a:cubicBezTo>
                <a:cubicBezTo>
                  <a:pt x="22004" y="245630"/>
                  <a:pt x="0" y="227310"/>
                  <a:pt x="0" y="204692"/>
                </a:cubicBezTo>
                <a:cubicBezTo>
                  <a:pt x="0" y="182074"/>
                  <a:pt x="22004" y="163754"/>
                  <a:pt x="49126" y="163754"/>
                </a:cubicBezTo>
                <a:cubicBezTo>
                  <a:pt x="54857" y="163754"/>
                  <a:pt x="60384" y="164572"/>
                  <a:pt x="65501" y="166108"/>
                </a:cubicBezTo>
                <a:lnTo>
                  <a:pt x="65501" y="49126"/>
                </a:lnTo>
                <a:cubicBezTo>
                  <a:pt x="65501" y="41450"/>
                  <a:pt x="70823" y="34798"/>
                  <a:pt x="78346" y="33160"/>
                </a:cubicBezTo>
                <a:lnTo>
                  <a:pt x="225724" y="409"/>
                </a:lnTo>
                <a:cubicBezTo>
                  <a:pt x="230586" y="-665"/>
                  <a:pt x="235652" y="512"/>
                  <a:pt x="239541" y="363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28"/>
          <p:cNvSpPr/>
          <p:nvPr/>
        </p:nvSpPr>
        <p:spPr>
          <a:xfrm>
            <a:off x="8877240" y="6521760"/>
            <a:ext cx="28702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100" spc="-1" strike="noStrike">
                <a:solidFill>
                  <a:srgbClr val="f4f4f4"/>
                </a:solidFill>
                <a:latin typeface="Jersey 15"/>
                <a:ea typeface="Jersey 15"/>
              </a:rPr>
              <a:t>Continuous Soundtrack</a:t>
            </a:r>
            <a:endParaRPr b="0" lang="en-HK" sz="1100" spc="-1" strike="noStrike">
              <a:latin typeface="Arial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0"/>
          <p:cNvSpPr/>
          <p:nvPr/>
        </p:nvSpPr>
        <p:spPr>
          <a:xfrm>
            <a:off x="0" y="0"/>
            <a:ext cx="12189960" cy="6855480"/>
          </a:xfrm>
          <a:custGeom>
            <a:avLst/>
            <a:gdLst/>
            <a:ahLst/>
            <a:rect l="l" t="t" r="r" b="b"/>
            <a:pathLst>
              <a:path w="12192000" h="6858578">
                <a:moveTo>
                  <a:pt x="0" y="0"/>
                </a:moveTo>
                <a:lnTo>
                  <a:pt x="12192000" y="0"/>
                </a:lnTo>
                <a:lnTo>
                  <a:pt x="12192000" y="6858578"/>
                </a:lnTo>
                <a:lnTo>
                  <a:pt x="0" y="6858578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1"/>
          <p:cNvSpPr/>
          <p:nvPr/>
        </p:nvSpPr>
        <p:spPr>
          <a:xfrm>
            <a:off x="369720" y="369720"/>
            <a:ext cx="1167228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500" spc="-1" strike="noStrike">
                <a:solidFill>
                  <a:srgbClr val="ffff00"/>
                </a:solidFill>
                <a:latin typeface="Jersey 20 Charted"/>
                <a:ea typeface="Jersey 20 Charted"/>
              </a:rPr>
              <a:t>TECHNOLOGY EVOLUTION</a:t>
            </a:r>
            <a:endParaRPr b="0" lang="en-HK" sz="3500" spc="-1" strike="noStrike">
              <a:latin typeface="Arial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369720" y="924480"/>
            <a:ext cx="1156140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750" spc="-1" strike="noStrike">
                <a:solidFill>
                  <a:srgbClr val="f4f4f4"/>
                </a:solidFill>
                <a:latin typeface="Jersey 15"/>
                <a:ea typeface="Jersey 15"/>
              </a:rPr>
              <a:t>From Paddles to Microprocessors</a:t>
            </a:r>
            <a:endParaRPr b="0" lang="en-HK" sz="1750" spc="-1" strike="noStrike">
              <a:latin typeface="Arial"/>
            </a:endParaRPr>
          </a:p>
        </p:txBody>
      </p:sp>
      <p:sp>
        <p:nvSpPr>
          <p:cNvPr id="137" name="Shape 3"/>
          <p:cNvSpPr/>
          <p:nvPr/>
        </p:nvSpPr>
        <p:spPr>
          <a:xfrm>
            <a:off x="369720" y="1330920"/>
            <a:ext cx="884160" cy="33840"/>
          </a:xfrm>
          <a:custGeom>
            <a:avLst/>
            <a:gdLst/>
            <a:ahLst/>
            <a:rect l="l" t="t" r="r" b="b"/>
            <a:pathLst>
              <a:path w="887363" h="36973">
                <a:moveTo>
                  <a:pt x="0" y="0"/>
                </a:moveTo>
                <a:lnTo>
                  <a:pt x="887363" y="0"/>
                </a:lnTo>
                <a:lnTo>
                  <a:pt x="887363" y="36973"/>
                </a:lnTo>
                <a:lnTo>
                  <a:pt x="0" y="36973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Shape 4"/>
          <p:cNvSpPr/>
          <p:nvPr/>
        </p:nvSpPr>
        <p:spPr>
          <a:xfrm flipH="1">
            <a:off x="5972760" y="1529640"/>
            <a:ext cx="5544720" cy="2834640"/>
          </a:xfrm>
          <a:custGeom>
            <a:avLst/>
            <a:gdLst/>
            <a:ahLst/>
            <a:rect l="l" t="t" r="r" b="b"/>
            <a:pathLst>
              <a:path w="5592237" h="2837713">
                <a:moveTo>
                  <a:pt x="0" y="0"/>
                </a:moveTo>
                <a:lnTo>
                  <a:pt x="5592237" y="0"/>
                </a:lnTo>
                <a:lnTo>
                  <a:pt x="5592237" y="2837713"/>
                </a:lnTo>
                <a:lnTo>
                  <a:pt x="0" y="2837713"/>
                </a:lnTo>
                <a:lnTo>
                  <a:pt x="0" y="0"/>
                </a:lnTo>
                <a:close/>
              </a:path>
            </a:pathLst>
          </a:custGeom>
          <a:solidFill>
            <a:srgbClr val="666666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5"/>
          <p:cNvSpPr/>
          <p:nvPr/>
        </p:nvSpPr>
        <p:spPr>
          <a:xfrm>
            <a:off x="527040" y="1728360"/>
            <a:ext cx="530280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750" spc="-1" strike="noStrike">
                <a:solidFill>
                  <a:srgbClr val="ffcd75"/>
                </a:solidFill>
                <a:latin typeface="Jersey 15"/>
                <a:ea typeface="Jersey 15"/>
              </a:rPr>
              <a:t>PRE-GOLDEN AGE</a:t>
            </a:r>
            <a:endParaRPr b="0" lang="en-HK" sz="1750" spc="-1" strike="noStrike">
              <a:latin typeface="Arial"/>
            </a:endParaRPr>
          </a:p>
        </p:txBody>
      </p:sp>
      <p:sp>
        <p:nvSpPr>
          <p:cNvPr id="140" name="Shape 6"/>
          <p:cNvSpPr/>
          <p:nvPr/>
        </p:nvSpPr>
        <p:spPr>
          <a:xfrm>
            <a:off x="582480" y="2246040"/>
            <a:ext cx="107640" cy="10764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7"/>
          <p:cNvSpPr/>
          <p:nvPr/>
        </p:nvSpPr>
        <p:spPr>
          <a:xfrm>
            <a:off x="804240" y="2172240"/>
            <a:ext cx="1873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10" spc="-1" strike="noStrike">
                <a:solidFill>
                  <a:srgbClr val="00a933"/>
                </a:solidFill>
                <a:latin typeface="Jersey 15"/>
                <a:ea typeface="Jersey 15"/>
              </a:rPr>
              <a:t>Simple discrete logic circuits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42" name="Shape 8"/>
          <p:cNvSpPr/>
          <p:nvPr/>
        </p:nvSpPr>
        <p:spPr>
          <a:xfrm>
            <a:off x="582480" y="2615760"/>
            <a:ext cx="107640" cy="10764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9"/>
          <p:cNvSpPr/>
          <p:nvPr/>
        </p:nvSpPr>
        <p:spPr>
          <a:xfrm>
            <a:off x="804240" y="2541960"/>
            <a:ext cx="1457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Black &amp; white displays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44" name="Shape 10"/>
          <p:cNvSpPr/>
          <p:nvPr/>
        </p:nvSpPr>
        <p:spPr>
          <a:xfrm>
            <a:off x="582480" y="2985480"/>
            <a:ext cx="107640" cy="10764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11"/>
          <p:cNvSpPr/>
          <p:nvPr/>
        </p:nvSpPr>
        <p:spPr>
          <a:xfrm>
            <a:off x="804240" y="2911680"/>
            <a:ext cx="1216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Basic beep sounds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46" name="Shape 12"/>
          <p:cNvSpPr/>
          <p:nvPr/>
        </p:nvSpPr>
        <p:spPr>
          <a:xfrm>
            <a:off x="582480" y="3355200"/>
            <a:ext cx="107640" cy="10764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3"/>
          <p:cNvSpPr/>
          <p:nvPr/>
        </p:nvSpPr>
        <p:spPr>
          <a:xfrm>
            <a:off x="804240" y="3281400"/>
            <a:ext cx="1919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Simple ball-and-paddle games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48" name="Shape 14"/>
          <p:cNvSpPr/>
          <p:nvPr/>
        </p:nvSpPr>
        <p:spPr>
          <a:xfrm>
            <a:off x="582480" y="3688200"/>
            <a:ext cx="5191920" cy="477360"/>
          </a:xfrm>
          <a:custGeom>
            <a:avLst/>
            <a:gdLst/>
            <a:ahLst/>
            <a:rect l="l" t="t" r="r" b="b"/>
            <a:pathLst>
              <a:path w="5194772" h="480655">
                <a:moveTo>
                  <a:pt x="0" y="0"/>
                </a:moveTo>
                <a:lnTo>
                  <a:pt x="5194772" y="0"/>
                </a:lnTo>
                <a:lnTo>
                  <a:pt x="5194772" y="480655"/>
                </a:lnTo>
                <a:lnTo>
                  <a:pt x="0" y="48065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5"/>
          <p:cNvSpPr/>
          <p:nvPr/>
        </p:nvSpPr>
        <p:spPr>
          <a:xfrm>
            <a:off x="646920" y="3799080"/>
            <a:ext cx="5062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f4f4f4"/>
                </a:solidFill>
                <a:latin typeface="Jersey 15"/>
                <a:ea typeface="Jersey 15"/>
              </a:rPr>
              <a:t>Pong Era (1972)</a:t>
            </a:r>
            <a:endParaRPr b="0" lang="en-HK" sz="1450" spc="-1" strike="noStrike">
              <a:latin typeface="Arial"/>
            </a:endParaRPr>
          </a:p>
        </p:txBody>
      </p:sp>
      <p:sp>
        <p:nvSpPr>
          <p:cNvPr id="150" name="Shape 16"/>
          <p:cNvSpPr/>
          <p:nvPr/>
        </p:nvSpPr>
        <p:spPr>
          <a:xfrm>
            <a:off x="6221520" y="1529640"/>
            <a:ext cx="5589360" cy="2834640"/>
          </a:xfrm>
          <a:custGeom>
            <a:avLst/>
            <a:gdLst/>
            <a:ahLst/>
            <a:rect l="l" t="t" r="r" b="b"/>
            <a:pathLst>
              <a:path w="5592237" h="2837713">
                <a:moveTo>
                  <a:pt x="0" y="0"/>
                </a:moveTo>
                <a:lnTo>
                  <a:pt x="5592237" y="0"/>
                </a:lnTo>
                <a:lnTo>
                  <a:pt x="5592237" y="2837713"/>
                </a:lnTo>
                <a:lnTo>
                  <a:pt x="0" y="2837713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17"/>
          <p:cNvSpPr/>
          <p:nvPr/>
        </p:nvSpPr>
        <p:spPr>
          <a:xfrm>
            <a:off x="6364800" y="1728360"/>
            <a:ext cx="530280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750" spc="-1" strike="noStrike">
                <a:solidFill>
                  <a:srgbClr val="00a933"/>
                </a:solidFill>
                <a:latin typeface="Jersey 15"/>
                <a:ea typeface="Jersey 15"/>
              </a:rPr>
              <a:t>GOLDEN AGE</a:t>
            </a:r>
            <a:endParaRPr b="0" lang="en-HK" sz="1750" spc="-1" strike="noStrike">
              <a:latin typeface="Arial"/>
            </a:endParaRPr>
          </a:p>
        </p:txBody>
      </p:sp>
      <p:sp>
        <p:nvSpPr>
          <p:cNvPr id="152" name="Shape 18"/>
          <p:cNvSpPr/>
          <p:nvPr/>
        </p:nvSpPr>
        <p:spPr>
          <a:xfrm>
            <a:off x="6420240" y="2246040"/>
            <a:ext cx="107640" cy="10764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19"/>
          <p:cNvSpPr/>
          <p:nvPr/>
        </p:nvSpPr>
        <p:spPr>
          <a:xfrm>
            <a:off x="6642360" y="2172240"/>
            <a:ext cx="1854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Microprocessors</a:t>
            </a: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 (Intel 8080)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54" name="Shape 20"/>
          <p:cNvSpPr/>
          <p:nvPr/>
        </p:nvSpPr>
        <p:spPr>
          <a:xfrm>
            <a:off x="6420240" y="2615760"/>
            <a:ext cx="107640" cy="10764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21"/>
          <p:cNvSpPr/>
          <p:nvPr/>
        </p:nvSpPr>
        <p:spPr>
          <a:xfrm>
            <a:off x="6642360" y="2541960"/>
            <a:ext cx="165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Color displays</a:t>
            </a: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 &amp; overlays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56" name="Shape 22"/>
          <p:cNvSpPr/>
          <p:nvPr/>
        </p:nvSpPr>
        <p:spPr>
          <a:xfrm>
            <a:off x="6420240" y="2985480"/>
            <a:ext cx="107640" cy="10764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23"/>
          <p:cNvSpPr/>
          <p:nvPr/>
        </p:nvSpPr>
        <p:spPr>
          <a:xfrm>
            <a:off x="6642360" y="2957760"/>
            <a:ext cx="131256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Custom sound chips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58" name="Shape 24"/>
          <p:cNvSpPr/>
          <p:nvPr/>
        </p:nvSpPr>
        <p:spPr>
          <a:xfrm>
            <a:off x="6420240" y="3355200"/>
            <a:ext cx="107640" cy="107640"/>
          </a:xfrm>
          <a:custGeom>
            <a:avLst/>
            <a:gdLst/>
            <a:ah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25"/>
          <p:cNvSpPr/>
          <p:nvPr/>
        </p:nvSpPr>
        <p:spPr>
          <a:xfrm>
            <a:off x="6642360" y="3281400"/>
            <a:ext cx="148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Complex gameplay</a:t>
            </a:r>
            <a:r>
              <a:rPr b="0" lang="en-US" sz="1310" spc="-1" strike="noStrike">
                <a:solidFill>
                  <a:srgbClr val="f4f4f4"/>
                </a:solidFill>
                <a:latin typeface="Jersey 15"/>
                <a:ea typeface="Jersey 15"/>
              </a:rPr>
              <a:t> &amp; AI</a:t>
            </a:r>
            <a:endParaRPr b="0" lang="en-HK" sz="1310" spc="-1" strike="noStrike">
              <a:latin typeface="Arial"/>
            </a:endParaRPr>
          </a:p>
        </p:txBody>
      </p:sp>
      <p:sp>
        <p:nvSpPr>
          <p:cNvPr id="160" name="Shape 26"/>
          <p:cNvSpPr/>
          <p:nvPr/>
        </p:nvSpPr>
        <p:spPr>
          <a:xfrm>
            <a:off x="6420240" y="3688200"/>
            <a:ext cx="5191920" cy="477360"/>
          </a:xfrm>
          <a:custGeom>
            <a:avLst/>
            <a:gdLst/>
            <a:ahLst/>
            <a:rect l="l" t="t" r="r" b="b"/>
            <a:pathLst>
              <a:path w="5194772" h="480655">
                <a:moveTo>
                  <a:pt x="0" y="0"/>
                </a:moveTo>
                <a:lnTo>
                  <a:pt x="5194772" y="0"/>
                </a:lnTo>
                <a:lnTo>
                  <a:pt x="5194772" y="480655"/>
                </a:lnTo>
                <a:lnTo>
                  <a:pt x="0" y="48065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27"/>
          <p:cNvSpPr/>
          <p:nvPr/>
        </p:nvSpPr>
        <p:spPr>
          <a:xfrm>
            <a:off x="6485040" y="3799080"/>
            <a:ext cx="5062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a7f070"/>
                </a:solidFill>
                <a:latin typeface="Jersey 15"/>
                <a:ea typeface="Jersey 15"/>
              </a:rPr>
              <a:t>Space Invaders Era (1978+)</a:t>
            </a:r>
            <a:endParaRPr b="0" lang="en-HK" sz="1450" spc="-1" strike="noStrike">
              <a:latin typeface="Arial"/>
            </a:endParaRPr>
          </a:p>
        </p:txBody>
      </p:sp>
      <p:sp>
        <p:nvSpPr>
          <p:cNvPr id="162" name="Shape 28"/>
          <p:cNvSpPr/>
          <p:nvPr/>
        </p:nvSpPr>
        <p:spPr>
          <a:xfrm>
            <a:off x="383760" y="4543200"/>
            <a:ext cx="3685320" cy="1540440"/>
          </a:xfrm>
          <a:custGeom>
            <a:avLst/>
            <a:gdLst/>
            <a:ah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Shape 29"/>
          <p:cNvSpPr/>
          <p:nvPr/>
        </p:nvSpPr>
        <p:spPr>
          <a:xfrm>
            <a:off x="2062800" y="4704840"/>
            <a:ext cx="329400" cy="329400"/>
          </a:xfrm>
          <a:custGeom>
            <a:avLst/>
            <a:gdLst/>
            <a:ahLst/>
            <a:rect l="l" t="t" r="r" b="b"/>
            <a:pathLst>
              <a:path w="332761" h="332761">
                <a:moveTo>
                  <a:pt x="114387" y="15598"/>
                </a:moveTo>
                <a:cubicBezTo>
                  <a:pt x="114387" y="6954"/>
                  <a:pt x="107432" y="0"/>
                  <a:pt x="98788" y="0"/>
                </a:cubicBezTo>
                <a:cubicBezTo>
                  <a:pt x="90144" y="0"/>
                  <a:pt x="83190" y="6954"/>
                  <a:pt x="83190" y="15598"/>
                </a:cubicBezTo>
                <a:lnTo>
                  <a:pt x="83190" y="41595"/>
                </a:lnTo>
                <a:cubicBezTo>
                  <a:pt x="60248" y="41595"/>
                  <a:pt x="41595" y="60248"/>
                  <a:pt x="41595" y="83190"/>
                </a:cubicBezTo>
                <a:lnTo>
                  <a:pt x="15598" y="83190"/>
                </a:lnTo>
                <a:cubicBezTo>
                  <a:pt x="6954" y="83190"/>
                  <a:pt x="0" y="90144"/>
                  <a:pt x="0" y="98788"/>
                </a:cubicBezTo>
                <a:cubicBezTo>
                  <a:pt x="0" y="107432"/>
                  <a:pt x="6954" y="114387"/>
                  <a:pt x="15598" y="114387"/>
                </a:cubicBezTo>
                <a:lnTo>
                  <a:pt x="41595" y="114387"/>
                </a:lnTo>
                <a:lnTo>
                  <a:pt x="41595" y="150782"/>
                </a:lnTo>
                <a:lnTo>
                  <a:pt x="15598" y="150782"/>
                </a:lnTo>
                <a:cubicBezTo>
                  <a:pt x="6954" y="150782"/>
                  <a:pt x="0" y="157737"/>
                  <a:pt x="0" y="166381"/>
                </a:cubicBezTo>
                <a:cubicBezTo>
                  <a:pt x="0" y="175025"/>
                  <a:pt x="6954" y="181979"/>
                  <a:pt x="15598" y="181979"/>
                </a:cubicBezTo>
                <a:lnTo>
                  <a:pt x="41595" y="181979"/>
                </a:lnTo>
                <a:lnTo>
                  <a:pt x="41595" y="218375"/>
                </a:lnTo>
                <a:lnTo>
                  <a:pt x="15598" y="218375"/>
                </a:lnTo>
                <a:cubicBezTo>
                  <a:pt x="6954" y="218375"/>
                  <a:pt x="0" y="225329"/>
                  <a:pt x="0" y="233973"/>
                </a:cubicBezTo>
                <a:cubicBezTo>
                  <a:pt x="0" y="242617"/>
                  <a:pt x="6954" y="249571"/>
                  <a:pt x="15598" y="249571"/>
                </a:cubicBezTo>
                <a:lnTo>
                  <a:pt x="41595" y="249571"/>
                </a:lnTo>
                <a:cubicBezTo>
                  <a:pt x="41595" y="272513"/>
                  <a:pt x="60248" y="291166"/>
                  <a:pt x="83190" y="291166"/>
                </a:cubicBezTo>
                <a:lnTo>
                  <a:pt x="83190" y="317163"/>
                </a:lnTo>
                <a:cubicBezTo>
                  <a:pt x="83190" y="325807"/>
                  <a:pt x="90144" y="332761"/>
                  <a:pt x="98788" y="332761"/>
                </a:cubicBezTo>
                <a:cubicBezTo>
                  <a:pt x="107432" y="332761"/>
                  <a:pt x="114387" y="325807"/>
                  <a:pt x="114387" y="317163"/>
                </a:cubicBezTo>
                <a:lnTo>
                  <a:pt x="114387" y="291166"/>
                </a:lnTo>
                <a:lnTo>
                  <a:pt x="150782" y="291166"/>
                </a:lnTo>
                <a:lnTo>
                  <a:pt x="150782" y="317163"/>
                </a:lnTo>
                <a:cubicBezTo>
                  <a:pt x="150782" y="325807"/>
                  <a:pt x="157737" y="332761"/>
                  <a:pt x="166381" y="332761"/>
                </a:cubicBezTo>
                <a:cubicBezTo>
                  <a:pt x="175025" y="332761"/>
                  <a:pt x="181979" y="325807"/>
                  <a:pt x="181979" y="317163"/>
                </a:cubicBezTo>
                <a:lnTo>
                  <a:pt x="181979" y="291166"/>
                </a:lnTo>
                <a:lnTo>
                  <a:pt x="218375" y="291166"/>
                </a:lnTo>
                <a:lnTo>
                  <a:pt x="218375" y="317163"/>
                </a:lnTo>
                <a:cubicBezTo>
                  <a:pt x="218375" y="325807"/>
                  <a:pt x="225329" y="332761"/>
                  <a:pt x="233973" y="332761"/>
                </a:cubicBezTo>
                <a:cubicBezTo>
                  <a:pt x="242617" y="332761"/>
                  <a:pt x="249571" y="325807"/>
                  <a:pt x="249571" y="317163"/>
                </a:cubicBezTo>
                <a:lnTo>
                  <a:pt x="249571" y="291166"/>
                </a:lnTo>
                <a:cubicBezTo>
                  <a:pt x="272513" y="291166"/>
                  <a:pt x="291166" y="272513"/>
                  <a:pt x="291166" y="249571"/>
                </a:cubicBezTo>
                <a:lnTo>
                  <a:pt x="317163" y="249571"/>
                </a:lnTo>
                <a:cubicBezTo>
                  <a:pt x="325807" y="249571"/>
                  <a:pt x="332761" y="242617"/>
                  <a:pt x="332761" y="233973"/>
                </a:cubicBezTo>
                <a:cubicBezTo>
                  <a:pt x="332761" y="225329"/>
                  <a:pt x="325807" y="218375"/>
                  <a:pt x="317163" y="218375"/>
                </a:cubicBezTo>
                <a:lnTo>
                  <a:pt x="291166" y="218375"/>
                </a:lnTo>
                <a:lnTo>
                  <a:pt x="291166" y="181979"/>
                </a:lnTo>
                <a:lnTo>
                  <a:pt x="317163" y="181979"/>
                </a:lnTo>
                <a:cubicBezTo>
                  <a:pt x="325807" y="181979"/>
                  <a:pt x="332761" y="175025"/>
                  <a:pt x="332761" y="166381"/>
                </a:cubicBezTo>
                <a:cubicBezTo>
                  <a:pt x="332761" y="157737"/>
                  <a:pt x="325807" y="150782"/>
                  <a:pt x="317163" y="150782"/>
                </a:cubicBezTo>
                <a:lnTo>
                  <a:pt x="291166" y="150782"/>
                </a:lnTo>
                <a:lnTo>
                  <a:pt x="291166" y="114387"/>
                </a:lnTo>
                <a:lnTo>
                  <a:pt x="317163" y="114387"/>
                </a:lnTo>
                <a:cubicBezTo>
                  <a:pt x="325807" y="114387"/>
                  <a:pt x="332761" y="107432"/>
                  <a:pt x="332761" y="98788"/>
                </a:cubicBezTo>
                <a:cubicBezTo>
                  <a:pt x="332761" y="90144"/>
                  <a:pt x="325807" y="83190"/>
                  <a:pt x="317163" y="83190"/>
                </a:cubicBezTo>
                <a:lnTo>
                  <a:pt x="291166" y="83190"/>
                </a:lnTo>
                <a:cubicBezTo>
                  <a:pt x="291166" y="60248"/>
                  <a:pt x="272513" y="41595"/>
                  <a:pt x="249571" y="41595"/>
                </a:cubicBezTo>
                <a:lnTo>
                  <a:pt x="249571" y="15598"/>
                </a:lnTo>
                <a:cubicBezTo>
                  <a:pt x="249571" y="6954"/>
                  <a:pt x="242617" y="0"/>
                  <a:pt x="233973" y="0"/>
                </a:cubicBezTo>
                <a:cubicBezTo>
                  <a:pt x="225329" y="0"/>
                  <a:pt x="218375" y="6954"/>
                  <a:pt x="218375" y="15598"/>
                </a:cubicBezTo>
                <a:lnTo>
                  <a:pt x="218375" y="41595"/>
                </a:lnTo>
                <a:lnTo>
                  <a:pt x="181979" y="41595"/>
                </a:lnTo>
                <a:lnTo>
                  <a:pt x="181979" y="15598"/>
                </a:lnTo>
                <a:cubicBezTo>
                  <a:pt x="181979" y="6954"/>
                  <a:pt x="175025" y="0"/>
                  <a:pt x="166381" y="0"/>
                </a:cubicBezTo>
                <a:cubicBezTo>
                  <a:pt x="157737" y="0"/>
                  <a:pt x="150782" y="6954"/>
                  <a:pt x="150782" y="15598"/>
                </a:cubicBezTo>
                <a:lnTo>
                  <a:pt x="150782" y="41595"/>
                </a:lnTo>
                <a:lnTo>
                  <a:pt x="114387" y="41595"/>
                </a:lnTo>
                <a:lnTo>
                  <a:pt x="114387" y="15598"/>
                </a:lnTo>
                <a:close/>
                <a:moveTo>
                  <a:pt x="103988" y="83190"/>
                </a:moveTo>
                <a:lnTo>
                  <a:pt x="228773" y="83190"/>
                </a:lnTo>
                <a:cubicBezTo>
                  <a:pt x="240277" y="83190"/>
                  <a:pt x="249571" y="92484"/>
                  <a:pt x="249571" y="103988"/>
                </a:cubicBezTo>
                <a:lnTo>
                  <a:pt x="249571" y="228773"/>
                </a:lnTo>
                <a:cubicBezTo>
                  <a:pt x="249571" y="240277"/>
                  <a:pt x="240277" y="249571"/>
                  <a:pt x="228773" y="249571"/>
                </a:cubicBezTo>
                <a:lnTo>
                  <a:pt x="103988" y="249571"/>
                </a:lnTo>
                <a:cubicBezTo>
                  <a:pt x="92484" y="249571"/>
                  <a:pt x="83190" y="240277"/>
                  <a:pt x="83190" y="228773"/>
                </a:cubicBezTo>
                <a:lnTo>
                  <a:pt x="83190" y="103988"/>
                </a:lnTo>
                <a:cubicBezTo>
                  <a:pt x="83190" y="92484"/>
                  <a:pt x="92484" y="83190"/>
                  <a:pt x="103988" y="83190"/>
                </a:cubicBezTo>
                <a:close/>
                <a:moveTo>
                  <a:pt x="114387" y="114387"/>
                </a:moveTo>
                <a:lnTo>
                  <a:pt x="114387" y="218375"/>
                </a:lnTo>
                <a:lnTo>
                  <a:pt x="218375" y="218375"/>
                </a:lnTo>
                <a:lnTo>
                  <a:pt x="218375" y="114387"/>
                </a:lnTo>
                <a:lnTo>
                  <a:pt x="114387" y="114387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30"/>
          <p:cNvSpPr/>
          <p:nvPr/>
        </p:nvSpPr>
        <p:spPr>
          <a:xfrm>
            <a:off x="499320" y="5148720"/>
            <a:ext cx="345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00a933"/>
                </a:solidFill>
                <a:latin typeface="Jersey 15"/>
                <a:ea typeface="Jersey 15"/>
              </a:rPr>
              <a:t>MICROPROCESSORS</a:t>
            </a:r>
            <a:endParaRPr b="0" lang="en-HK" sz="1450" spc="-1" strike="noStrike">
              <a:latin typeface="Arial"/>
            </a:endParaRPr>
          </a:p>
        </p:txBody>
      </p:sp>
      <p:sp>
        <p:nvSpPr>
          <p:cNvPr id="165" name="Text 31"/>
          <p:cNvSpPr/>
          <p:nvPr/>
        </p:nvSpPr>
        <p:spPr>
          <a:xfrm>
            <a:off x="508320" y="5481360"/>
            <a:ext cx="343548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70" spc="-1" strike="noStrike">
                <a:solidFill>
                  <a:srgbClr val="f4f4f4"/>
                </a:solidFill>
                <a:latin typeface="Jersey 15"/>
                <a:ea typeface="Jersey 15"/>
              </a:rPr>
              <a:t>Enabled complex game logic, AI enemy behavior, and dynamic gameplay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166" name="Shape 32"/>
          <p:cNvSpPr/>
          <p:nvPr/>
        </p:nvSpPr>
        <p:spPr>
          <a:xfrm>
            <a:off x="4251240" y="4543200"/>
            <a:ext cx="3685320" cy="1540440"/>
          </a:xfrm>
          <a:custGeom>
            <a:avLst/>
            <a:gdLst/>
            <a:ah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Shape 33"/>
          <p:cNvSpPr/>
          <p:nvPr/>
        </p:nvSpPr>
        <p:spPr>
          <a:xfrm>
            <a:off x="5909760" y="4704840"/>
            <a:ext cx="371160" cy="329400"/>
          </a:xfrm>
          <a:custGeom>
            <a:avLst/>
            <a:gdLst/>
            <a:ahLst/>
            <a:rect l="l" t="t" r="r" b="b"/>
            <a:pathLst>
              <a:path w="374356" h="332761">
                <a:moveTo>
                  <a:pt x="41595" y="62393"/>
                </a:moveTo>
                <a:lnTo>
                  <a:pt x="41595" y="218375"/>
                </a:lnTo>
                <a:lnTo>
                  <a:pt x="332761" y="218375"/>
                </a:lnTo>
                <a:lnTo>
                  <a:pt x="332761" y="62393"/>
                </a:lnTo>
                <a:lnTo>
                  <a:pt x="41595" y="62393"/>
                </a:lnTo>
                <a:close/>
                <a:moveTo>
                  <a:pt x="0" y="62393"/>
                </a:moveTo>
                <a:cubicBezTo>
                  <a:pt x="0" y="39450"/>
                  <a:pt x="18653" y="20798"/>
                  <a:pt x="41595" y="20798"/>
                </a:cubicBezTo>
                <a:lnTo>
                  <a:pt x="332761" y="20798"/>
                </a:lnTo>
                <a:cubicBezTo>
                  <a:pt x="355704" y="20798"/>
                  <a:pt x="374356" y="39450"/>
                  <a:pt x="374356" y="62393"/>
                </a:cubicBezTo>
                <a:lnTo>
                  <a:pt x="374356" y="218375"/>
                </a:lnTo>
                <a:cubicBezTo>
                  <a:pt x="374356" y="241317"/>
                  <a:pt x="355704" y="259970"/>
                  <a:pt x="332761" y="259970"/>
                </a:cubicBezTo>
                <a:lnTo>
                  <a:pt x="41595" y="259970"/>
                </a:lnTo>
                <a:cubicBezTo>
                  <a:pt x="18653" y="259970"/>
                  <a:pt x="0" y="241317"/>
                  <a:pt x="0" y="218375"/>
                </a:cubicBezTo>
                <a:lnTo>
                  <a:pt x="0" y="62393"/>
                </a:lnTo>
                <a:close/>
                <a:moveTo>
                  <a:pt x="103988" y="291166"/>
                </a:moveTo>
                <a:lnTo>
                  <a:pt x="270368" y="291166"/>
                </a:lnTo>
                <a:cubicBezTo>
                  <a:pt x="281872" y="291166"/>
                  <a:pt x="291166" y="300460"/>
                  <a:pt x="291166" y="311964"/>
                </a:cubicBezTo>
                <a:cubicBezTo>
                  <a:pt x="291166" y="323467"/>
                  <a:pt x="281872" y="332761"/>
                  <a:pt x="270368" y="332761"/>
                </a:cubicBezTo>
                <a:lnTo>
                  <a:pt x="103988" y="332761"/>
                </a:lnTo>
                <a:cubicBezTo>
                  <a:pt x="92484" y="332761"/>
                  <a:pt x="83190" y="323467"/>
                  <a:pt x="83190" y="311964"/>
                </a:cubicBezTo>
                <a:cubicBezTo>
                  <a:pt x="83190" y="300460"/>
                  <a:pt x="92484" y="291166"/>
                  <a:pt x="103988" y="291166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34"/>
          <p:cNvSpPr/>
          <p:nvPr/>
        </p:nvSpPr>
        <p:spPr>
          <a:xfrm>
            <a:off x="4366800" y="5148720"/>
            <a:ext cx="345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00a933"/>
                </a:solidFill>
                <a:latin typeface="Jersey 15"/>
                <a:ea typeface="Jersey 15"/>
              </a:rPr>
              <a:t>VECTOR GRAPHICS</a:t>
            </a:r>
            <a:endParaRPr b="0" lang="en-HK" sz="1450" spc="-1" strike="noStrike">
              <a:latin typeface="Arial"/>
            </a:endParaRPr>
          </a:p>
        </p:txBody>
      </p:sp>
      <p:sp>
        <p:nvSpPr>
          <p:cNvPr id="169" name="Text 35"/>
          <p:cNvSpPr/>
          <p:nvPr/>
        </p:nvSpPr>
        <p:spPr>
          <a:xfrm>
            <a:off x="4375800" y="5481360"/>
            <a:ext cx="34354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70" spc="-1" strike="noStrike">
                <a:solidFill>
                  <a:srgbClr val="f4f4f4"/>
                </a:solidFill>
                <a:latin typeface="Jersey 15"/>
                <a:ea typeface="Jersey 15"/>
              </a:rPr>
              <a:t>Asteroids (1979) used crisp line graphics instead of pixels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170" name="Shape 36"/>
          <p:cNvSpPr/>
          <p:nvPr/>
        </p:nvSpPr>
        <p:spPr>
          <a:xfrm>
            <a:off x="8118360" y="4543200"/>
            <a:ext cx="3685320" cy="1540440"/>
          </a:xfrm>
          <a:custGeom>
            <a:avLst/>
            <a:gdLst/>
            <a:ah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Shape 37"/>
          <p:cNvSpPr/>
          <p:nvPr/>
        </p:nvSpPr>
        <p:spPr>
          <a:xfrm>
            <a:off x="9756360" y="4704840"/>
            <a:ext cx="412560" cy="329400"/>
          </a:xfrm>
          <a:custGeom>
            <a:avLst/>
            <a:gdLst/>
            <a:ahLst/>
            <a:rect l="l" t="t" r="r" b="b"/>
            <a:pathLst>
              <a:path w="415951" h="332761">
                <a:moveTo>
                  <a:pt x="346800" y="21123"/>
                </a:moveTo>
                <a:cubicBezTo>
                  <a:pt x="340105" y="15663"/>
                  <a:pt x="330291" y="16703"/>
                  <a:pt x="324832" y="23397"/>
                </a:cubicBezTo>
                <a:cubicBezTo>
                  <a:pt x="319373" y="30091"/>
                  <a:pt x="320413" y="39905"/>
                  <a:pt x="327107" y="45365"/>
                </a:cubicBezTo>
                <a:cubicBezTo>
                  <a:pt x="362333" y="73961"/>
                  <a:pt x="384755" y="117506"/>
                  <a:pt x="384755" y="166381"/>
                </a:cubicBezTo>
                <a:cubicBezTo>
                  <a:pt x="384755" y="215255"/>
                  <a:pt x="362333" y="258800"/>
                  <a:pt x="327107" y="287461"/>
                </a:cubicBezTo>
                <a:cubicBezTo>
                  <a:pt x="320413" y="292921"/>
                  <a:pt x="319438" y="302735"/>
                  <a:pt x="324832" y="309429"/>
                </a:cubicBezTo>
                <a:cubicBezTo>
                  <a:pt x="330226" y="316123"/>
                  <a:pt x="340105" y="317098"/>
                  <a:pt x="346800" y="311704"/>
                </a:cubicBezTo>
                <a:cubicBezTo>
                  <a:pt x="388980" y="277323"/>
                  <a:pt x="415951" y="225004"/>
                  <a:pt x="415951" y="166381"/>
                </a:cubicBezTo>
                <a:cubicBezTo>
                  <a:pt x="415951" y="107757"/>
                  <a:pt x="388980" y="55374"/>
                  <a:pt x="346800" y="21123"/>
                </a:cubicBezTo>
                <a:close/>
                <a:moveTo>
                  <a:pt x="307479" y="69542"/>
                </a:moveTo>
                <a:cubicBezTo>
                  <a:pt x="300785" y="64083"/>
                  <a:pt x="290971" y="65122"/>
                  <a:pt x="285512" y="71817"/>
                </a:cubicBezTo>
                <a:cubicBezTo>
                  <a:pt x="280052" y="78511"/>
                  <a:pt x="281092" y="88325"/>
                  <a:pt x="287786" y="93784"/>
                </a:cubicBezTo>
                <a:cubicBezTo>
                  <a:pt x="308909" y="110942"/>
                  <a:pt x="322362" y="137069"/>
                  <a:pt x="322362" y="166381"/>
                </a:cubicBezTo>
                <a:cubicBezTo>
                  <a:pt x="322362" y="195692"/>
                  <a:pt x="308909" y="221819"/>
                  <a:pt x="287786" y="239042"/>
                </a:cubicBezTo>
                <a:cubicBezTo>
                  <a:pt x="281092" y="244501"/>
                  <a:pt x="280117" y="254315"/>
                  <a:pt x="285512" y="261010"/>
                </a:cubicBezTo>
                <a:cubicBezTo>
                  <a:pt x="290906" y="267704"/>
                  <a:pt x="300785" y="268679"/>
                  <a:pt x="307479" y="263284"/>
                </a:cubicBezTo>
                <a:cubicBezTo>
                  <a:pt x="335556" y="240407"/>
                  <a:pt x="353559" y="205506"/>
                  <a:pt x="353559" y="166446"/>
                </a:cubicBezTo>
                <a:cubicBezTo>
                  <a:pt x="353559" y="127385"/>
                  <a:pt x="335556" y="92484"/>
                  <a:pt x="307479" y="69607"/>
                </a:cubicBezTo>
                <a:close/>
                <a:moveTo>
                  <a:pt x="268159" y="117961"/>
                </a:moveTo>
                <a:cubicBezTo>
                  <a:pt x="261464" y="112502"/>
                  <a:pt x="251651" y="113542"/>
                  <a:pt x="246191" y="120236"/>
                </a:cubicBezTo>
                <a:cubicBezTo>
                  <a:pt x="240732" y="126930"/>
                  <a:pt x="241772" y="136744"/>
                  <a:pt x="248466" y="142203"/>
                </a:cubicBezTo>
                <a:cubicBezTo>
                  <a:pt x="255485" y="147923"/>
                  <a:pt x="259970" y="156632"/>
                  <a:pt x="259970" y="166381"/>
                </a:cubicBezTo>
                <a:cubicBezTo>
                  <a:pt x="259970" y="176129"/>
                  <a:pt x="255485" y="184838"/>
                  <a:pt x="248466" y="190623"/>
                </a:cubicBezTo>
                <a:cubicBezTo>
                  <a:pt x="241772" y="196082"/>
                  <a:pt x="240797" y="205896"/>
                  <a:pt x="246191" y="212590"/>
                </a:cubicBezTo>
                <a:cubicBezTo>
                  <a:pt x="251586" y="219284"/>
                  <a:pt x="261464" y="220259"/>
                  <a:pt x="268159" y="214865"/>
                </a:cubicBezTo>
                <a:cubicBezTo>
                  <a:pt x="282132" y="203361"/>
                  <a:pt x="291166" y="185943"/>
                  <a:pt x="291166" y="166381"/>
                </a:cubicBezTo>
                <a:cubicBezTo>
                  <a:pt x="291166" y="146818"/>
                  <a:pt x="282132" y="129400"/>
                  <a:pt x="268159" y="117961"/>
                </a:cubicBezTo>
                <a:close/>
                <a:moveTo>
                  <a:pt x="51994" y="228773"/>
                </a:moveTo>
                <a:lnTo>
                  <a:pt x="83190" y="228773"/>
                </a:lnTo>
                <a:lnTo>
                  <a:pt x="170345" y="306244"/>
                </a:lnTo>
                <a:cubicBezTo>
                  <a:pt x="174505" y="309949"/>
                  <a:pt x="179834" y="311964"/>
                  <a:pt x="185358" y="311964"/>
                </a:cubicBezTo>
                <a:cubicBezTo>
                  <a:pt x="197837" y="311964"/>
                  <a:pt x="207976" y="301825"/>
                  <a:pt x="207976" y="289346"/>
                </a:cubicBezTo>
                <a:lnTo>
                  <a:pt x="207976" y="43415"/>
                </a:lnTo>
                <a:cubicBezTo>
                  <a:pt x="207976" y="30936"/>
                  <a:pt x="197837" y="20798"/>
                  <a:pt x="185358" y="20798"/>
                </a:cubicBezTo>
                <a:cubicBezTo>
                  <a:pt x="179834" y="20798"/>
                  <a:pt x="174505" y="22812"/>
                  <a:pt x="170345" y="26517"/>
                </a:cubicBezTo>
                <a:lnTo>
                  <a:pt x="83190" y="103988"/>
                </a:lnTo>
                <a:lnTo>
                  <a:pt x="51994" y="103988"/>
                </a:lnTo>
                <a:cubicBezTo>
                  <a:pt x="34771" y="103988"/>
                  <a:pt x="20798" y="117961"/>
                  <a:pt x="20798" y="135184"/>
                </a:cubicBezTo>
                <a:lnTo>
                  <a:pt x="20798" y="197577"/>
                </a:lnTo>
                <a:cubicBezTo>
                  <a:pt x="20798" y="214800"/>
                  <a:pt x="34771" y="228773"/>
                  <a:pt x="51994" y="22877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38"/>
          <p:cNvSpPr/>
          <p:nvPr/>
        </p:nvSpPr>
        <p:spPr>
          <a:xfrm>
            <a:off x="8234280" y="5148720"/>
            <a:ext cx="345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a7f070"/>
                </a:solidFill>
                <a:latin typeface="Jersey 15"/>
                <a:ea typeface="Jersey 15"/>
              </a:rPr>
              <a:t>SOUND INNOVATION</a:t>
            </a:r>
            <a:endParaRPr b="0" lang="en-HK" sz="1450" spc="-1" strike="noStrike">
              <a:latin typeface="Arial"/>
            </a:endParaRPr>
          </a:p>
        </p:txBody>
      </p:sp>
      <p:sp>
        <p:nvSpPr>
          <p:cNvPr id="173" name="Text 39"/>
          <p:cNvSpPr/>
          <p:nvPr/>
        </p:nvSpPr>
        <p:spPr>
          <a:xfrm>
            <a:off x="8243280" y="5481360"/>
            <a:ext cx="34354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70" spc="-1" strike="noStrike">
                <a:solidFill>
                  <a:srgbClr val="f4f4f4"/>
                </a:solidFill>
                <a:latin typeface="Jersey 15"/>
                <a:ea typeface="Jersey 15"/>
              </a:rPr>
              <a:t>Dedicated sound chips created immersive audio experiences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174" name="Shape 40"/>
          <p:cNvSpPr/>
          <p:nvPr/>
        </p:nvSpPr>
        <p:spPr>
          <a:xfrm>
            <a:off x="383760" y="6262560"/>
            <a:ext cx="11422800" cy="579240"/>
          </a:xfrm>
          <a:custGeom>
            <a:avLst/>
            <a:gdLst/>
            <a:ahLst/>
            <a:rect l="l" t="t" r="r" b="b"/>
            <a:pathLst>
              <a:path w="11424801" h="582332">
                <a:moveTo>
                  <a:pt x="0" y="0"/>
                </a:moveTo>
                <a:lnTo>
                  <a:pt x="11424801" y="0"/>
                </a:lnTo>
                <a:lnTo>
                  <a:pt x="11424801" y="582332"/>
                </a:lnTo>
                <a:lnTo>
                  <a:pt x="0" y="582332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41"/>
          <p:cNvSpPr/>
          <p:nvPr/>
        </p:nvSpPr>
        <p:spPr>
          <a:xfrm>
            <a:off x="499320" y="6424200"/>
            <a:ext cx="1119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50" spc="-1" strike="noStrike">
                <a:solidFill>
                  <a:srgbClr val="ffcd75"/>
                </a:solidFill>
                <a:latin typeface="Jersey 15"/>
                <a:ea typeface="Jersey 15"/>
              </a:rPr>
              <a:t>The Result:</a:t>
            </a:r>
            <a:r>
              <a:rPr b="0" lang="en-US" sz="1450" spc="-1" strike="noStrike">
                <a:solidFill>
                  <a:srgbClr val="f4f4f4"/>
                </a:solidFill>
                <a:latin typeface="Jersey 15"/>
                <a:ea typeface="Jersey 15"/>
              </a:rPr>
              <a:t> Games evolved from simple distractions to </a:t>
            </a:r>
            <a:r>
              <a:rPr b="1" lang="en-US" sz="1450" spc="-1" strike="noStrike">
                <a:solidFill>
                  <a:srgbClr val="a7f070"/>
                </a:solidFill>
                <a:latin typeface="Jersey 15"/>
                <a:ea typeface="Jersey 15"/>
              </a:rPr>
              <a:t>immersive experiences</a:t>
            </a:r>
            <a:r>
              <a:rPr b="0" lang="en-US" sz="1450" spc="-1" strike="noStrike">
                <a:solidFill>
                  <a:srgbClr val="f4f4f4"/>
                </a:solidFill>
                <a:latin typeface="Jersey 15"/>
                <a:ea typeface="Jersey 15"/>
              </a:rPr>
              <a:t> that captivated millions</a:t>
            </a:r>
            <a:endParaRPr b="0" lang="en-HK" sz="1450" spc="-1" strike="noStrike">
              <a:latin typeface="Arial"/>
            </a:endParaRPr>
          </a:p>
        </p:txBody>
      </p:sp>
    </p:spTree>
  </p:cSld>
  <p:transition>
    <p:plus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Image 0"/>
          <p:cNvSpPr/>
          <p:nvPr/>
        </p:nvSpPr>
        <p:spPr>
          <a:xfrm>
            <a:off x="0" y="0"/>
            <a:ext cx="12189960" cy="685476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Shape 0"/>
          <p:cNvSpPr/>
          <p:nvPr/>
        </p:nvSpPr>
        <p:spPr>
          <a:xfrm>
            <a:off x="0" y="0"/>
            <a:ext cx="12189960" cy="685476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Shape 1"/>
          <p:cNvSpPr/>
          <p:nvPr/>
        </p:nvSpPr>
        <p:spPr>
          <a:xfrm>
            <a:off x="380880" y="1114560"/>
            <a:ext cx="1863720" cy="606240"/>
          </a:xfrm>
          <a:custGeom>
            <a:avLst/>
            <a:gdLst/>
            <a:ahLst/>
            <a:rect l="l" t="t" r="r" b="b"/>
            <a:pathLst>
              <a:path w="1866900" h="609600">
                <a:moveTo>
                  <a:pt x="0" y="0"/>
                </a:moveTo>
                <a:lnTo>
                  <a:pt x="1866900" y="0"/>
                </a:lnTo>
                <a:lnTo>
                  <a:pt x="18669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2"/>
          <p:cNvSpPr/>
          <p:nvPr/>
        </p:nvSpPr>
        <p:spPr>
          <a:xfrm>
            <a:off x="609480" y="1247760"/>
            <a:ext cx="157788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1a1c2c"/>
                </a:solidFill>
                <a:latin typeface="Jersey 15"/>
                <a:ea typeface="Jersey 15"/>
              </a:rPr>
              <a:t>CHAPTER 02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380880" y="1952640"/>
            <a:ext cx="11770920" cy="25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ICONIC GAMES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THAT DEFINED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A GENERATION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181" name="Shape 4"/>
          <p:cNvSpPr/>
          <p:nvPr/>
        </p:nvSpPr>
        <p:spPr>
          <a:xfrm>
            <a:off x="380880" y="4753080"/>
            <a:ext cx="1520640" cy="73080"/>
          </a:xfrm>
          <a:custGeom>
            <a:avLst/>
            <a:gdLst/>
            <a:ah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5"/>
          <p:cNvSpPr/>
          <p:nvPr/>
        </p:nvSpPr>
        <p:spPr>
          <a:xfrm>
            <a:off x="380880" y="5057640"/>
            <a:ext cx="745560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The Characters and Experiences</a:t>
            </a:r>
            <a:endParaRPr b="0" lang="en-HK" sz="2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That Became Cultural Phenomena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83" name="Shape 6"/>
          <p:cNvSpPr/>
          <p:nvPr/>
        </p:nvSpPr>
        <p:spPr>
          <a:xfrm>
            <a:off x="10592640" y="5867280"/>
            <a:ext cx="149040" cy="14904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Shape 7"/>
          <p:cNvSpPr/>
          <p:nvPr/>
        </p:nvSpPr>
        <p:spPr>
          <a:xfrm>
            <a:off x="10897200" y="5867280"/>
            <a:ext cx="149040" cy="14904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Shape 8"/>
          <p:cNvSpPr/>
          <p:nvPr/>
        </p:nvSpPr>
        <p:spPr>
          <a:xfrm>
            <a:off x="11202120" y="5867280"/>
            <a:ext cx="149040" cy="14904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0"/>
          <p:cNvSpPr/>
          <p:nvPr/>
        </p:nvSpPr>
        <p:spPr>
          <a:xfrm>
            <a:off x="0" y="0"/>
            <a:ext cx="12189960" cy="6855480"/>
          </a:xfrm>
          <a:custGeom>
            <a:avLst/>
            <a:gdLst/>
            <a:ahLst/>
            <a:rect l="l" t="t" r="r" b="b"/>
            <a:pathLst>
              <a:path w="12192000" h="6858592">
                <a:moveTo>
                  <a:pt x="0" y="0"/>
                </a:moveTo>
                <a:lnTo>
                  <a:pt x="12192000" y="0"/>
                </a:lnTo>
                <a:lnTo>
                  <a:pt x="12192000" y="6858592"/>
                </a:lnTo>
                <a:lnTo>
                  <a:pt x="0" y="6858592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1"/>
          <p:cNvSpPr/>
          <p:nvPr/>
        </p:nvSpPr>
        <p:spPr>
          <a:xfrm>
            <a:off x="379080" y="379080"/>
            <a:ext cx="116593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58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PAC-MAN</a:t>
            </a:r>
            <a:endParaRPr b="0" lang="en-HK" sz="3580" spc="-1" strike="noStrike">
              <a:latin typeface="Arial"/>
            </a:endParaRPr>
          </a:p>
        </p:txBody>
      </p:sp>
      <p:sp>
        <p:nvSpPr>
          <p:cNvPr id="188" name="Text 2"/>
          <p:cNvSpPr/>
          <p:nvPr/>
        </p:nvSpPr>
        <p:spPr>
          <a:xfrm>
            <a:off x="379080" y="947160"/>
            <a:ext cx="1154556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790" spc="-1" strike="noStrike">
                <a:solidFill>
                  <a:srgbClr val="f4f4f4"/>
                </a:solidFill>
                <a:latin typeface="Jersey 15"/>
                <a:ea typeface="Jersey 15"/>
              </a:rPr>
              <a:t>Eating the Competition</a:t>
            </a:r>
            <a:endParaRPr b="0" lang="en-HK" sz="1790" spc="-1" strike="noStrike">
              <a:latin typeface="Arial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379080" y="1364040"/>
            <a:ext cx="906120" cy="34560"/>
          </a:xfrm>
          <a:custGeom>
            <a:avLst/>
            <a:gdLst/>
            <a:ahLst/>
            <a:rect l="l" t="t" r="r" b="b"/>
            <a:pathLst>
              <a:path w="909427" h="37893">
                <a:moveTo>
                  <a:pt x="0" y="0"/>
                </a:moveTo>
                <a:lnTo>
                  <a:pt x="909427" y="0"/>
                </a:lnTo>
                <a:lnTo>
                  <a:pt x="909427" y="37893"/>
                </a:lnTo>
                <a:lnTo>
                  <a:pt x="0" y="37893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Shape 4"/>
          <p:cNvSpPr/>
          <p:nvPr/>
        </p:nvSpPr>
        <p:spPr>
          <a:xfrm>
            <a:off x="393120" y="1567800"/>
            <a:ext cx="4449600" cy="4231440"/>
          </a:xfrm>
          <a:custGeom>
            <a:avLst/>
            <a:gdLst/>
            <a:ahLst/>
            <a:rect l="l" t="t" r="r" b="b"/>
            <a:pathLst>
              <a:path w="4452401" h="4234517">
                <a:moveTo>
                  <a:pt x="0" y="0"/>
                </a:moveTo>
                <a:lnTo>
                  <a:pt x="4452401" y="0"/>
                </a:lnTo>
                <a:lnTo>
                  <a:pt x="4452401" y="4234517"/>
                </a:lnTo>
                <a:lnTo>
                  <a:pt x="0" y="423451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Image 0"/>
          <p:cNvSpPr/>
          <p:nvPr/>
        </p:nvSpPr>
        <p:spPr>
          <a:xfrm>
            <a:off x="559080" y="1733760"/>
            <a:ext cx="4118040" cy="211860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5"/>
          <p:cNvSpPr/>
          <p:nvPr/>
        </p:nvSpPr>
        <p:spPr>
          <a:xfrm>
            <a:off x="416880" y="3969360"/>
            <a:ext cx="440208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448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$14B+</a:t>
            </a:r>
            <a:endParaRPr b="0" lang="en-HK" sz="4480" spc="-1" strike="noStrike"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511560" y="4613400"/>
            <a:ext cx="421272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490" spc="-1" strike="noStrike">
                <a:solidFill>
                  <a:srgbClr val="f4f4f4"/>
                </a:solidFill>
                <a:latin typeface="Jersey 15"/>
                <a:ea typeface="Jersey 15"/>
              </a:rPr>
              <a:t>Total Global Revenue</a:t>
            </a:r>
            <a:endParaRPr b="0" lang="en-HK" sz="1490" spc="-1" strike="noStrike">
              <a:latin typeface="Arial"/>
            </a:endParaRPr>
          </a:p>
        </p:txBody>
      </p:sp>
      <p:sp>
        <p:nvSpPr>
          <p:cNvPr id="194" name="Text 7"/>
          <p:cNvSpPr/>
          <p:nvPr/>
        </p:nvSpPr>
        <p:spPr>
          <a:xfrm>
            <a:off x="520920" y="4954320"/>
            <a:ext cx="419364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Highest-grossing arcade game ever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95" name="Shape 8"/>
          <p:cNvSpPr/>
          <p:nvPr/>
        </p:nvSpPr>
        <p:spPr>
          <a:xfrm>
            <a:off x="393120" y="5982480"/>
            <a:ext cx="4449600" cy="858960"/>
          </a:xfrm>
          <a:custGeom>
            <a:avLst/>
            <a:gdLst/>
            <a:ahLst/>
            <a:rect l="l" t="t" r="r" b="b"/>
            <a:pathLst>
              <a:path w="4452401" h="862061">
                <a:moveTo>
                  <a:pt x="0" y="0"/>
                </a:moveTo>
                <a:lnTo>
                  <a:pt x="4452401" y="0"/>
                </a:lnTo>
                <a:lnTo>
                  <a:pt x="4452401" y="862061"/>
                </a:lnTo>
                <a:lnTo>
                  <a:pt x="0" y="86206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9"/>
          <p:cNvSpPr/>
          <p:nvPr/>
        </p:nvSpPr>
        <p:spPr>
          <a:xfrm>
            <a:off x="516240" y="6148080"/>
            <a:ext cx="420336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Released: </a:t>
            </a:r>
            <a:r>
              <a:rPr b="1" lang="en-US" sz="1340" spc="-1" strike="noStrike">
                <a:solidFill>
                  <a:srgbClr val="a7f070"/>
                </a:solidFill>
                <a:latin typeface="Jersey 15"/>
                <a:ea typeface="Jersey 15"/>
              </a:rPr>
              <a:t>May 1980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516240" y="6413400"/>
            <a:ext cx="420336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Developer: </a:t>
            </a:r>
            <a:r>
              <a:rPr b="1" lang="en-US" sz="1340" spc="-1" strike="noStrike">
                <a:solidFill>
                  <a:srgbClr val="29adff"/>
                </a:solidFill>
                <a:latin typeface="Jersey 15"/>
                <a:ea typeface="Jersey 15"/>
              </a:rPr>
              <a:t>Namco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198" name="Shape 11"/>
          <p:cNvSpPr/>
          <p:nvPr/>
        </p:nvSpPr>
        <p:spPr>
          <a:xfrm>
            <a:off x="5104080" y="1567800"/>
            <a:ext cx="6694920" cy="2043000"/>
          </a:xfrm>
          <a:custGeom>
            <a:avLst/>
            <a:gdLst/>
            <a:ahLst/>
            <a:rect l="l" t="t" r="r" b="b"/>
            <a:pathLst>
              <a:path w="6697548" h="2046210">
                <a:moveTo>
                  <a:pt x="0" y="0"/>
                </a:moveTo>
                <a:lnTo>
                  <a:pt x="6697548" y="0"/>
                </a:lnTo>
                <a:lnTo>
                  <a:pt x="6697548" y="2046210"/>
                </a:lnTo>
                <a:lnTo>
                  <a:pt x="0" y="2046210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12"/>
          <p:cNvSpPr/>
          <p:nvPr/>
        </p:nvSpPr>
        <p:spPr>
          <a:xfrm>
            <a:off x="5307480" y="1771560"/>
            <a:ext cx="640152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790" spc="-1" strike="noStrike">
                <a:solidFill>
                  <a:srgbClr val="29adff"/>
                </a:solidFill>
                <a:latin typeface="Jersey 15"/>
                <a:ea typeface="Jersey 15"/>
              </a:rPr>
              <a:t>THE VISIONARY</a:t>
            </a:r>
            <a:endParaRPr b="0" lang="en-HK" sz="1790" spc="-1" strike="noStrike">
              <a:latin typeface="Arial"/>
            </a:endParaRPr>
          </a:p>
        </p:txBody>
      </p:sp>
      <p:sp>
        <p:nvSpPr>
          <p:cNvPr id="200" name="Text 13"/>
          <p:cNvSpPr/>
          <p:nvPr/>
        </p:nvSpPr>
        <p:spPr>
          <a:xfrm>
            <a:off x="5307480" y="2188440"/>
            <a:ext cx="637308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340" spc="-1" strike="noStrike">
                <a:solidFill>
                  <a:srgbClr val="ffcd75"/>
                </a:solidFill>
                <a:latin typeface="Jersey 15"/>
                <a:ea typeface="Jersey 15"/>
              </a:rPr>
              <a:t>Toru Iwatani</a:t>
            </a: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 wanted to create something completely different from the violent shooters dominating arcades. His goal: </a:t>
            </a:r>
            <a:r>
              <a:rPr b="0" lang="en-US" sz="1340" spc="-1" strike="noStrike">
                <a:solidFill>
                  <a:srgbClr val="a7f070"/>
                </a:solidFill>
                <a:latin typeface="Jersey 15"/>
                <a:ea typeface="Jersey 15"/>
              </a:rPr>
              <a:t>"A game that anyone can enjoy."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201" name="Text 14"/>
          <p:cNvSpPr/>
          <p:nvPr/>
        </p:nvSpPr>
        <p:spPr>
          <a:xfrm>
            <a:off x="5307480" y="2856240"/>
            <a:ext cx="637308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He noticed arcades were seen as </a:t>
            </a:r>
            <a:r>
              <a:rPr b="1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"hangouts for delinquents"</a:t>
            </a: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 and set out to change that perception with non-violent, universally appealing gameplay.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202" name="Shape 15"/>
          <p:cNvSpPr/>
          <p:nvPr/>
        </p:nvSpPr>
        <p:spPr>
          <a:xfrm>
            <a:off x="5104080" y="3794040"/>
            <a:ext cx="6694920" cy="2043000"/>
          </a:xfrm>
          <a:custGeom>
            <a:avLst/>
            <a:gdLst/>
            <a:ahLst/>
            <a:rect l="l" t="t" r="r" b="b"/>
            <a:pathLst>
              <a:path w="6697548" h="2046210">
                <a:moveTo>
                  <a:pt x="0" y="0"/>
                </a:moveTo>
                <a:lnTo>
                  <a:pt x="6697548" y="0"/>
                </a:lnTo>
                <a:lnTo>
                  <a:pt x="6697548" y="2046210"/>
                </a:lnTo>
                <a:lnTo>
                  <a:pt x="0" y="204621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16"/>
          <p:cNvSpPr/>
          <p:nvPr/>
        </p:nvSpPr>
        <p:spPr>
          <a:xfrm>
            <a:off x="5307480" y="3997800"/>
            <a:ext cx="640152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790" spc="-1" strike="noStrike">
                <a:solidFill>
                  <a:srgbClr val="ffcd75"/>
                </a:solidFill>
                <a:latin typeface="Jersey 15"/>
                <a:ea typeface="Jersey 15"/>
              </a:rPr>
              <a:t>THE LEGENDARY DESIGN</a:t>
            </a:r>
            <a:endParaRPr b="0" lang="en-HK" sz="1790" spc="-1" strike="noStrike">
              <a:latin typeface="Arial"/>
            </a:endParaRPr>
          </a:p>
        </p:txBody>
      </p:sp>
      <p:sp>
        <p:nvSpPr>
          <p:cNvPr id="204" name="Text 17"/>
          <p:cNvSpPr/>
          <p:nvPr/>
        </p:nvSpPr>
        <p:spPr>
          <a:xfrm>
            <a:off x="5307480" y="4414680"/>
            <a:ext cx="637308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The iconic character was born when Iwatani saw a </a:t>
            </a:r>
            <a:r>
              <a:rPr b="1" lang="en-US" sz="1340" spc="-1" strike="noStrike">
                <a:solidFill>
                  <a:srgbClr val="a7f070"/>
                </a:solidFill>
                <a:latin typeface="Jersey 15"/>
                <a:ea typeface="Jersey 15"/>
              </a:rPr>
              <a:t>pizza with a slice missing</a:t>
            </a: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—the shape reminded him of a mouth. Combined with the Japanese </a:t>
            </a:r>
            <a:r>
              <a:rPr b="1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"mouth" (kuchi)</a:t>
            </a: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 character, Pac-Man was born.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205" name="Text 18"/>
          <p:cNvSpPr/>
          <p:nvPr/>
        </p:nvSpPr>
        <p:spPr>
          <a:xfrm>
            <a:off x="5307480" y="5082480"/>
            <a:ext cx="637308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Each ghost has distinct </a:t>
            </a:r>
            <a:r>
              <a:rPr b="1" lang="en-US" sz="1340" spc="-1" strike="noStrike">
                <a:solidFill>
                  <a:srgbClr val="29adff"/>
                </a:solidFill>
                <a:latin typeface="Jersey 15"/>
                <a:ea typeface="Jersey 15"/>
              </a:rPr>
              <a:t>AI personality</a:t>
            </a:r>
            <a:r>
              <a:rPr b="0" lang="en-US" sz="1340" spc="-1" strike="noStrike">
                <a:solidFill>
                  <a:srgbClr val="f4f4f4"/>
                </a:solidFill>
                <a:latin typeface="Jersey 15"/>
                <a:ea typeface="Jersey 15"/>
              </a:rPr>
              <a:t>: Blinky (chase), Pinky (ambush), Inky (unpredictable), Clyde (random).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206" name="Shape 19"/>
          <p:cNvSpPr/>
          <p:nvPr/>
        </p:nvSpPr>
        <p:spPr>
          <a:xfrm>
            <a:off x="5099400" y="6015600"/>
            <a:ext cx="2147400" cy="830520"/>
          </a:xfrm>
          <a:custGeom>
            <a:avLst/>
            <a:gdLst/>
            <a:ah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Shape 20"/>
          <p:cNvSpPr/>
          <p:nvPr/>
        </p:nvSpPr>
        <p:spPr>
          <a:xfrm>
            <a:off x="6068520" y="6138720"/>
            <a:ext cx="209880" cy="280800"/>
          </a:xfrm>
          <a:custGeom>
            <a:avLst/>
            <a:gdLst/>
            <a:ahLst/>
            <a:rect l="l" t="t" r="r" b="b"/>
            <a:pathLst>
              <a:path w="213147" h="284196">
                <a:moveTo>
                  <a:pt x="44406" y="97692"/>
                </a:moveTo>
                <a:cubicBezTo>
                  <a:pt x="44406" y="63381"/>
                  <a:pt x="72262" y="35524"/>
                  <a:pt x="106573" y="35524"/>
                </a:cubicBezTo>
                <a:cubicBezTo>
                  <a:pt x="140885" y="35524"/>
                  <a:pt x="168741" y="63381"/>
                  <a:pt x="168741" y="97692"/>
                </a:cubicBezTo>
                <a:cubicBezTo>
                  <a:pt x="168741" y="132004"/>
                  <a:pt x="140885" y="159860"/>
                  <a:pt x="106573" y="159860"/>
                </a:cubicBezTo>
                <a:cubicBezTo>
                  <a:pt x="72262" y="159860"/>
                  <a:pt x="44406" y="132004"/>
                  <a:pt x="44406" y="97692"/>
                </a:cubicBezTo>
                <a:close/>
                <a:moveTo>
                  <a:pt x="124280" y="193775"/>
                </a:moveTo>
                <a:cubicBezTo>
                  <a:pt x="169796" y="185449"/>
                  <a:pt x="204266" y="145595"/>
                  <a:pt x="204266" y="97692"/>
                </a:cubicBezTo>
                <a:cubicBezTo>
                  <a:pt x="204266" y="43740"/>
                  <a:pt x="160526" y="0"/>
                  <a:pt x="106573" y="0"/>
                </a:cubicBezTo>
                <a:cubicBezTo>
                  <a:pt x="52621" y="0"/>
                  <a:pt x="8881" y="43740"/>
                  <a:pt x="8881" y="97692"/>
                </a:cubicBezTo>
                <a:cubicBezTo>
                  <a:pt x="8881" y="145595"/>
                  <a:pt x="43351" y="185449"/>
                  <a:pt x="88867" y="193775"/>
                </a:cubicBezTo>
                <a:cubicBezTo>
                  <a:pt x="88811" y="194330"/>
                  <a:pt x="88811" y="194830"/>
                  <a:pt x="88811" y="195385"/>
                </a:cubicBezTo>
                <a:lnTo>
                  <a:pt x="88811" y="230909"/>
                </a:lnTo>
                <a:lnTo>
                  <a:pt x="71049" y="230909"/>
                </a:lnTo>
                <a:cubicBezTo>
                  <a:pt x="61224" y="230909"/>
                  <a:pt x="53287" y="238847"/>
                  <a:pt x="53287" y="248671"/>
                </a:cubicBezTo>
                <a:cubicBezTo>
                  <a:pt x="53287" y="258496"/>
                  <a:pt x="61224" y="266434"/>
                  <a:pt x="71049" y="266434"/>
                </a:cubicBezTo>
                <a:lnTo>
                  <a:pt x="88811" y="266434"/>
                </a:lnTo>
                <a:lnTo>
                  <a:pt x="88811" y="284196"/>
                </a:lnTo>
                <a:cubicBezTo>
                  <a:pt x="88811" y="294021"/>
                  <a:pt x="96749" y="301958"/>
                  <a:pt x="106573" y="301958"/>
                </a:cubicBezTo>
                <a:cubicBezTo>
                  <a:pt x="116398" y="301958"/>
                  <a:pt x="124336" y="294021"/>
                  <a:pt x="124336" y="284196"/>
                </a:cubicBezTo>
                <a:lnTo>
                  <a:pt x="124336" y="266434"/>
                </a:lnTo>
                <a:lnTo>
                  <a:pt x="142098" y="266434"/>
                </a:lnTo>
                <a:cubicBezTo>
                  <a:pt x="151923" y="266434"/>
                  <a:pt x="159860" y="258496"/>
                  <a:pt x="159860" y="248671"/>
                </a:cubicBezTo>
                <a:cubicBezTo>
                  <a:pt x="159860" y="238847"/>
                  <a:pt x="151923" y="230909"/>
                  <a:pt x="142098" y="230909"/>
                </a:cubicBezTo>
                <a:lnTo>
                  <a:pt x="124336" y="230909"/>
                </a:lnTo>
                <a:lnTo>
                  <a:pt x="124336" y="195385"/>
                </a:lnTo>
                <a:cubicBezTo>
                  <a:pt x="124336" y="194830"/>
                  <a:pt x="124336" y="194330"/>
                  <a:pt x="124280" y="193775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21"/>
          <p:cNvSpPr/>
          <p:nvPr/>
        </p:nvSpPr>
        <p:spPr>
          <a:xfrm>
            <a:off x="5184360" y="6498720"/>
            <a:ext cx="197676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Appealed to Women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09" name="Shape 22"/>
          <p:cNvSpPr/>
          <p:nvPr/>
        </p:nvSpPr>
        <p:spPr>
          <a:xfrm>
            <a:off x="7378560" y="6015600"/>
            <a:ext cx="2147400" cy="830520"/>
          </a:xfrm>
          <a:custGeom>
            <a:avLst/>
            <a:gdLst/>
            <a:ah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254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Shape 23"/>
          <p:cNvSpPr/>
          <p:nvPr/>
        </p:nvSpPr>
        <p:spPr>
          <a:xfrm>
            <a:off x="8277120" y="6138720"/>
            <a:ext cx="352080" cy="280800"/>
          </a:xfrm>
          <a:custGeom>
            <a:avLst/>
            <a:gdLst/>
            <a:ahLst/>
            <a:rect l="l" t="t" r="r" b="b"/>
            <a:pathLst>
              <a:path w="355245" h="284196">
                <a:moveTo>
                  <a:pt x="177622" y="8881"/>
                </a:moveTo>
                <a:cubicBezTo>
                  <a:pt x="209483" y="8881"/>
                  <a:pt x="235350" y="34748"/>
                  <a:pt x="235350" y="66608"/>
                </a:cubicBezTo>
                <a:cubicBezTo>
                  <a:pt x="235350" y="98469"/>
                  <a:pt x="209483" y="124336"/>
                  <a:pt x="177622" y="124336"/>
                </a:cubicBezTo>
                <a:cubicBezTo>
                  <a:pt x="145762" y="124336"/>
                  <a:pt x="119895" y="98469"/>
                  <a:pt x="119895" y="66608"/>
                </a:cubicBezTo>
                <a:cubicBezTo>
                  <a:pt x="119895" y="34748"/>
                  <a:pt x="145762" y="8881"/>
                  <a:pt x="177622" y="8881"/>
                </a:cubicBezTo>
                <a:close/>
                <a:moveTo>
                  <a:pt x="53287" y="48846"/>
                </a:moveTo>
                <a:cubicBezTo>
                  <a:pt x="75344" y="48846"/>
                  <a:pt x="93252" y="66754"/>
                  <a:pt x="93252" y="88811"/>
                </a:cubicBezTo>
                <a:cubicBezTo>
                  <a:pt x="93252" y="110868"/>
                  <a:pt x="75344" y="128776"/>
                  <a:pt x="53287" y="128776"/>
                </a:cubicBezTo>
                <a:cubicBezTo>
                  <a:pt x="31229" y="128776"/>
                  <a:pt x="13322" y="110868"/>
                  <a:pt x="13322" y="88811"/>
                </a:cubicBezTo>
                <a:cubicBezTo>
                  <a:pt x="13322" y="66754"/>
                  <a:pt x="31229" y="48846"/>
                  <a:pt x="53287" y="48846"/>
                </a:cubicBezTo>
                <a:close/>
                <a:moveTo>
                  <a:pt x="0" y="230909"/>
                </a:moveTo>
                <a:cubicBezTo>
                  <a:pt x="0" y="191666"/>
                  <a:pt x="31806" y="159860"/>
                  <a:pt x="71049" y="159860"/>
                </a:cubicBezTo>
                <a:cubicBezTo>
                  <a:pt x="78154" y="159860"/>
                  <a:pt x="85037" y="160915"/>
                  <a:pt x="91531" y="162858"/>
                </a:cubicBezTo>
                <a:cubicBezTo>
                  <a:pt x="73269" y="183284"/>
                  <a:pt x="62168" y="210260"/>
                  <a:pt x="62168" y="239790"/>
                </a:cubicBezTo>
                <a:lnTo>
                  <a:pt x="62168" y="248671"/>
                </a:lnTo>
                <a:cubicBezTo>
                  <a:pt x="62168" y="254999"/>
                  <a:pt x="63500" y="260994"/>
                  <a:pt x="65887" y="266434"/>
                </a:cubicBezTo>
                <a:lnTo>
                  <a:pt x="17762" y="266434"/>
                </a:lnTo>
                <a:cubicBezTo>
                  <a:pt x="7938" y="266434"/>
                  <a:pt x="0" y="258496"/>
                  <a:pt x="0" y="248671"/>
                </a:cubicBezTo>
                <a:lnTo>
                  <a:pt x="0" y="230909"/>
                </a:lnTo>
                <a:close/>
                <a:moveTo>
                  <a:pt x="289358" y="266434"/>
                </a:moveTo>
                <a:cubicBezTo>
                  <a:pt x="291745" y="260994"/>
                  <a:pt x="293077" y="254999"/>
                  <a:pt x="293077" y="248671"/>
                </a:cubicBezTo>
                <a:lnTo>
                  <a:pt x="293077" y="239790"/>
                </a:lnTo>
                <a:cubicBezTo>
                  <a:pt x="293077" y="210260"/>
                  <a:pt x="281976" y="183284"/>
                  <a:pt x="263714" y="162858"/>
                </a:cubicBezTo>
                <a:cubicBezTo>
                  <a:pt x="270208" y="160915"/>
                  <a:pt x="277091" y="159860"/>
                  <a:pt x="284196" y="159860"/>
                </a:cubicBezTo>
                <a:cubicBezTo>
                  <a:pt x="323439" y="159860"/>
                  <a:pt x="355245" y="191666"/>
                  <a:pt x="355245" y="230909"/>
                </a:cubicBezTo>
                <a:lnTo>
                  <a:pt x="355245" y="248671"/>
                </a:lnTo>
                <a:cubicBezTo>
                  <a:pt x="355245" y="258496"/>
                  <a:pt x="347307" y="266434"/>
                  <a:pt x="337483" y="266434"/>
                </a:cubicBezTo>
                <a:lnTo>
                  <a:pt x="289358" y="266434"/>
                </a:lnTo>
                <a:close/>
                <a:moveTo>
                  <a:pt x="261993" y="88811"/>
                </a:moveTo>
                <a:cubicBezTo>
                  <a:pt x="261993" y="66754"/>
                  <a:pt x="279901" y="48846"/>
                  <a:pt x="301958" y="48846"/>
                </a:cubicBezTo>
                <a:cubicBezTo>
                  <a:pt x="324015" y="48846"/>
                  <a:pt x="341923" y="66754"/>
                  <a:pt x="341923" y="88811"/>
                </a:cubicBezTo>
                <a:cubicBezTo>
                  <a:pt x="341923" y="110868"/>
                  <a:pt x="324015" y="128776"/>
                  <a:pt x="301958" y="128776"/>
                </a:cubicBezTo>
                <a:cubicBezTo>
                  <a:pt x="279901" y="128776"/>
                  <a:pt x="261993" y="110868"/>
                  <a:pt x="261993" y="88811"/>
                </a:cubicBezTo>
                <a:close/>
                <a:moveTo>
                  <a:pt x="88811" y="239790"/>
                </a:moveTo>
                <a:cubicBezTo>
                  <a:pt x="88811" y="190722"/>
                  <a:pt x="128554" y="150979"/>
                  <a:pt x="177622" y="150979"/>
                </a:cubicBezTo>
                <a:cubicBezTo>
                  <a:pt x="226691" y="150979"/>
                  <a:pt x="266434" y="190722"/>
                  <a:pt x="266434" y="239790"/>
                </a:cubicBezTo>
                <a:lnTo>
                  <a:pt x="266434" y="248671"/>
                </a:lnTo>
                <a:cubicBezTo>
                  <a:pt x="266434" y="258496"/>
                  <a:pt x="258496" y="266434"/>
                  <a:pt x="248671" y="266434"/>
                </a:cubicBezTo>
                <a:lnTo>
                  <a:pt x="106573" y="266434"/>
                </a:lnTo>
                <a:cubicBezTo>
                  <a:pt x="96749" y="266434"/>
                  <a:pt x="88811" y="258496"/>
                  <a:pt x="88811" y="248671"/>
                </a:cubicBezTo>
                <a:lnTo>
                  <a:pt x="88811" y="23979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24"/>
          <p:cNvSpPr/>
          <p:nvPr/>
        </p:nvSpPr>
        <p:spPr>
          <a:xfrm>
            <a:off x="7463880" y="6498720"/>
            <a:ext cx="197676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Family-Friendly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12" name="Shape 25"/>
          <p:cNvSpPr/>
          <p:nvPr/>
        </p:nvSpPr>
        <p:spPr>
          <a:xfrm>
            <a:off x="9658440" y="6015600"/>
            <a:ext cx="2147400" cy="830520"/>
          </a:xfrm>
          <a:custGeom>
            <a:avLst/>
            <a:gdLst/>
            <a:ah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254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Shape 26"/>
          <p:cNvSpPr/>
          <p:nvPr/>
        </p:nvSpPr>
        <p:spPr>
          <a:xfrm>
            <a:off x="10592280" y="6138720"/>
            <a:ext cx="280800" cy="280800"/>
          </a:xfrm>
          <a:custGeom>
            <a:avLst/>
            <a:gdLst/>
            <a:ahLst/>
            <a:rect l="l" t="t" r="r" b="b"/>
            <a:pathLst>
              <a:path w="284196" h="284196">
                <a:moveTo>
                  <a:pt x="195329" y="155420"/>
                </a:moveTo>
                <a:lnTo>
                  <a:pt x="89366" y="155420"/>
                </a:lnTo>
                <a:cubicBezTo>
                  <a:pt x="90976" y="191222"/>
                  <a:pt x="98913" y="224193"/>
                  <a:pt x="110181" y="248338"/>
                </a:cubicBezTo>
                <a:cubicBezTo>
                  <a:pt x="116509" y="261937"/>
                  <a:pt x="123337" y="271540"/>
                  <a:pt x="129664" y="277424"/>
                </a:cubicBezTo>
                <a:cubicBezTo>
                  <a:pt x="135881" y="283252"/>
                  <a:pt x="140155" y="284196"/>
                  <a:pt x="142375" y="284196"/>
                </a:cubicBezTo>
                <a:cubicBezTo>
                  <a:pt x="144596" y="284196"/>
                  <a:pt x="148870" y="283252"/>
                  <a:pt x="155087" y="277424"/>
                </a:cubicBezTo>
                <a:cubicBezTo>
                  <a:pt x="161414" y="271540"/>
                  <a:pt x="168242" y="261882"/>
                  <a:pt x="174569" y="248338"/>
                </a:cubicBezTo>
                <a:cubicBezTo>
                  <a:pt x="185837" y="224193"/>
                  <a:pt x="193775" y="191222"/>
                  <a:pt x="195385" y="155420"/>
                </a:cubicBezTo>
                <a:close/>
                <a:moveTo>
                  <a:pt x="89311" y="128776"/>
                </a:moveTo>
                <a:lnTo>
                  <a:pt x="195274" y="128776"/>
                </a:lnTo>
                <a:cubicBezTo>
                  <a:pt x="193719" y="92974"/>
                  <a:pt x="185782" y="60003"/>
                  <a:pt x="174514" y="35858"/>
                </a:cubicBezTo>
                <a:cubicBezTo>
                  <a:pt x="168186" y="22314"/>
                  <a:pt x="161359" y="12656"/>
                  <a:pt x="155031" y="6772"/>
                </a:cubicBezTo>
                <a:cubicBezTo>
                  <a:pt x="148814" y="944"/>
                  <a:pt x="144540" y="0"/>
                  <a:pt x="142320" y="0"/>
                </a:cubicBezTo>
                <a:cubicBezTo>
                  <a:pt x="140100" y="0"/>
                  <a:pt x="135826" y="944"/>
                  <a:pt x="129609" y="6772"/>
                </a:cubicBezTo>
                <a:cubicBezTo>
                  <a:pt x="123281" y="12656"/>
                  <a:pt x="116454" y="22314"/>
                  <a:pt x="110126" y="35858"/>
                </a:cubicBezTo>
                <a:cubicBezTo>
                  <a:pt x="98858" y="60003"/>
                  <a:pt x="90920" y="92974"/>
                  <a:pt x="89311" y="128776"/>
                </a:cubicBezTo>
                <a:close/>
                <a:moveTo>
                  <a:pt x="62667" y="128776"/>
                </a:moveTo>
                <a:cubicBezTo>
                  <a:pt x="64610" y="81262"/>
                  <a:pt x="76877" y="37134"/>
                  <a:pt x="94806" y="8160"/>
                </a:cubicBezTo>
                <a:cubicBezTo>
                  <a:pt x="43684" y="26255"/>
                  <a:pt x="6050" y="72825"/>
                  <a:pt x="833" y="128776"/>
                </a:cubicBezTo>
                <a:lnTo>
                  <a:pt x="62667" y="128776"/>
                </a:lnTo>
                <a:close/>
                <a:moveTo>
                  <a:pt x="833" y="155420"/>
                </a:moveTo>
                <a:cubicBezTo>
                  <a:pt x="6050" y="211371"/>
                  <a:pt x="43684" y="257941"/>
                  <a:pt x="94806" y="276036"/>
                </a:cubicBezTo>
                <a:cubicBezTo>
                  <a:pt x="76877" y="247062"/>
                  <a:pt x="64610" y="202934"/>
                  <a:pt x="62667" y="155420"/>
                </a:cubicBezTo>
                <a:lnTo>
                  <a:pt x="833" y="155420"/>
                </a:lnTo>
                <a:close/>
                <a:moveTo>
                  <a:pt x="221972" y="155420"/>
                </a:moveTo>
                <a:cubicBezTo>
                  <a:pt x="220030" y="202934"/>
                  <a:pt x="207763" y="247062"/>
                  <a:pt x="189834" y="276036"/>
                </a:cubicBezTo>
                <a:cubicBezTo>
                  <a:pt x="240956" y="257885"/>
                  <a:pt x="278590" y="211371"/>
                  <a:pt x="283807" y="155420"/>
                </a:cubicBezTo>
                <a:lnTo>
                  <a:pt x="221972" y="155420"/>
                </a:lnTo>
                <a:close/>
                <a:moveTo>
                  <a:pt x="283807" y="128776"/>
                </a:moveTo>
                <a:cubicBezTo>
                  <a:pt x="278590" y="72825"/>
                  <a:pt x="240956" y="26255"/>
                  <a:pt x="189834" y="8160"/>
                </a:cubicBezTo>
                <a:cubicBezTo>
                  <a:pt x="207763" y="37134"/>
                  <a:pt x="220030" y="81262"/>
                  <a:pt x="221972" y="128776"/>
                </a:cubicBezTo>
                <a:lnTo>
                  <a:pt x="283807" y="128776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27"/>
          <p:cNvSpPr/>
          <p:nvPr/>
        </p:nvSpPr>
        <p:spPr>
          <a:xfrm>
            <a:off x="9743760" y="6498720"/>
            <a:ext cx="197676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Global Icon</a:t>
            </a:r>
            <a:endParaRPr b="0" lang="en-HK" sz="1200" spc="-1" strike="noStrike">
              <a:latin typeface="Arial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0"/>
          <p:cNvSpPr/>
          <p:nvPr/>
        </p:nvSpPr>
        <p:spPr>
          <a:xfrm>
            <a:off x="0" y="0"/>
            <a:ext cx="12189960" cy="685476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1"/>
          <p:cNvSpPr/>
          <p:nvPr/>
        </p:nvSpPr>
        <p:spPr>
          <a:xfrm>
            <a:off x="334800" y="334800"/>
            <a:ext cx="11720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17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DONKEY KONG</a:t>
            </a:r>
            <a:endParaRPr b="0" lang="en-HK" sz="3170" spc="-1" strike="noStrike">
              <a:latin typeface="Arial"/>
            </a:endParaRPr>
          </a:p>
        </p:txBody>
      </p:sp>
      <p:sp>
        <p:nvSpPr>
          <p:cNvPr id="217" name="Text 2"/>
          <p:cNvSpPr/>
          <p:nvPr/>
        </p:nvSpPr>
        <p:spPr>
          <a:xfrm>
            <a:off x="334800" y="837360"/>
            <a:ext cx="116204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580" spc="-1" strike="noStrike">
                <a:solidFill>
                  <a:srgbClr val="f4f4f4"/>
                </a:solidFill>
                <a:latin typeface="Jersey 15"/>
                <a:ea typeface="Jersey 15"/>
              </a:rPr>
              <a:t>The Birth of a Plumber</a:t>
            </a:r>
            <a:endParaRPr b="0" lang="en-HK" sz="1580" spc="-1" strike="noStrike">
              <a:latin typeface="Arial"/>
            </a:endParaRPr>
          </a:p>
        </p:txBody>
      </p:sp>
      <p:sp>
        <p:nvSpPr>
          <p:cNvPr id="218" name="Shape 3"/>
          <p:cNvSpPr/>
          <p:nvPr/>
        </p:nvSpPr>
        <p:spPr>
          <a:xfrm>
            <a:off x="334800" y="1205640"/>
            <a:ext cx="800640" cy="30240"/>
          </a:xfrm>
          <a:custGeom>
            <a:avLst/>
            <a:gdLst/>
            <a:ahLst/>
            <a:rect l="l" t="t" r="r" b="b"/>
            <a:pathLst>
              <a:path w="803868" h="33495">
                <a:moveTo>
                  <a:pt x="0" y="0"/>
                </a:moveTo>
                <a:lnTo>
                  <a:pt x="803868" y="0"/>
                </a:lnTo>
                <a:lnTo>
                  <a:pt x="803868" y="33495"/>
                </a:lnTo>
                <a:lnTo>
                  <a:pt x="0" y="33495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Shape 4"/>
          <p:cNvSpPr/>
          <p:nvPr/>
        </p:nvSpPr>
        <p:spPr>
          <a:xfrm>
            <a:off x="347400" y="1386000"/>
            <a:ext cx="5063040" cy="4317480"/>
          </a:xfrm>
          <a:custGeom>
            <a:avLst/>
            <a:gdLst/>
            <a:ahLst/>
            <a:rect l="l" t="t" r="r" b="b"/>
            <a:pathLst>
              <a:path w="5066044" h="4320791">
                <a:moveTo>
                  <a:pt x="0" y="0"/>
                </a:moveTo>
                <a:lnTo>
                  <a:pt x="5066044" y="0"/>
                </a:lnTo>
                <a:lnTo>
                  <a:pt x="5066044" y="4320791"/>
                </a:lnTo>
                <a:lnTo>
                  <a:pt x="0" y="432079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Image 0"/>
          <p:cNvSpPr/>
          <p:nvPr/>
        </p:nvSpPr>
        <p:spPr>
          <a:xfrm>
            <a:off x="493920" y="1532520"/>
            <a:ext cx="4770000" cy="17384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5"/>
          <p:cNvSpPr/>
          <p:nvPr/>
        </p:nvSpPr>
        <p:spPr>
          <a:xfrm>
            <a:off x="368280" y="3374640"/>
            <a:ext cx="502128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95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$280M</a:t>
            </a:r>
            <a:endParaRPr b="0" lang="en-HK" sz="3950" spc="-1" strike="noStrike">
              <a:latin typeface="Arial"/>
            </a:endParaRPr>
          </a:p>
        </p:txBody>
      </p:sp>
      <p:sp>
        <p:nvSpPr>
          <p:cNvPr id="222" name="Text 6"/>
          <p:cNvSpPr/>
          <p:nvPr/>
        </p:nvSpPr>
        <p:spPr>
          <a:xfrm>
            <a:off x="452160" y="3943800"/>
            <a:ext cx="485388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Revenue by End of 1982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223" name="Text 7"/>
          <p:cNvSpPr/>
          <p:nvPr/>
        </p:nvSpPr>
        <p:spPr>
          <a:xfrm>
            <a:off x="460440" y="4245480"/>
            <a:ext cx="48369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5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Saved Nintendo of America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24" name="Shape 8"/>
          <p:cNvSpPr/>
          <p:nvPr/>
        </p:nvSpPr>
        <p:spPr>
          <a:xfrm>
            <a:off x="347400" y="5867640"/>
            <a:ext cx="5063040" cy="758880"/>
          </a:xfrm>
          <a:custGeom>
            <a:avLst/>
            <a:gdLst/>
            <a:ahLst/>
            <a:rect l="l" t="t" r="r" b="b"/>
            <a:pathLst>
              <a:path w="5066044" h="762000">
                <a:moveTo>
                  <a:pt x="0" y="0"/>
                </a:moveTo>
                <a:lnTo>
                  <a:pt x="5066044" y="0"/>
                </a:lnTo>
                <a:lnTo>
                  <a:pt x="5066044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9"/>
          <p:cNvSpPr/>
          <p:nvPr/>
        </p:nvSpPr>
        <p:spPr>
          <a:xfrm>
            <a:off x="456480" y="6014520"/>
            <a:ext cx="48456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Released: </a:t>
            </a:r>
            <a:r>
              <a:rPr b="1" lang="en-US" sz="1180" spc="-1" strike="noStrike">
                <a:solidFill>
                  <a:srgbClr val="a7f070"/>
                </a:solidFill>
                <a:latin typeface="Jersey 15"/>
                <a:ea typeface="Jersey 15"/>
              </a:rPr>
              <a:t>July 1981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26" name="Text 10"/>
          <p:cNvSpPr/>
          <p:nvPr/>
        </p:nvSpPr>
        <p:spPr>
          <a:xfrm>
            <a:off x="456480" y="6248880"/>
            <a:ext cx="48456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Developer: </a:t>
            </a:r>
            <a:r>
              <a:rPr b="1" lang="en-US" sz="1180" spc="-1" strike="noStrike">
                <a:solidFill>
                  <a:srgbClr val="29adff"/>
                </a:solidFill>
                <a:latin typeface="Jersey 15"/>
                <a:ea typeface="Jersey 15"/>
              </a:rPr>
              <a:t>Nintendo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27" name="Shape 11"/>
          <p:cNvSpPr/>
          <p:nvPr/>
        </p:nvSpPr>
        <p:spPr>
          <a:xfrm>
            <a:off x="5643360" y="1386000"/>
            <a:ext cx="6202440" cy="1805400"/>
          </a:xfrm>
          <a:custGeom>
            <a:avLst/>
            <a:gdLst/>
            <a:ahLst/>
            <a:rect l="l" t="t" r="r" b="b"/>
            <a:pathLst>
              <a:path w="6204857" h="1808703">
                <a:moveTo>
                  <a:pt x="0" y="0"/>
                </a:moveTo>
                <a:lnTo>
                  <a:pt x="6204857" y="0"/>
                </a:lnTo>
                <a:lnTo>
                  <a:pt x="6204857" y="1808703"/>
                </a:lnTo>
                <a:lnTo>
                  <a:pt x="0" y="1808703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12"/>
          <p:cNvSpPr/>
          <p:nvPr/>
        </p:nvSpPr>
        <p:spPr>
          <a:xfrm>
            <a:off x="5823360" y="1566000"/>
            <a:ext cx="59425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80" spc="-1" strike="noStrike">
                <a:solidFill>
                  <a:srgbClr val="29adff"/>
                </a:solidFill>
                <a:latin typeface="Jersey 15"/>
                <a:ea typeface="Jersey 15"/>
              </a:rPr>
              <a:t>THE RESCUE MISSION</a:t>
            </a:r>
            <a:endParaRPr b="0" lang="en-HK" sz="1580" spc="-1" strike="noStrike">
              <a:latin typeface="Arial"/>
            </a:endParaRPr>
          </a:p>
        </p:txBody>
      </p:sp>
      <p:sp>
        <p:nvSpPr>
          <p:cNvPr id="229" name="Text 13"/>
          <p:cNvSpPr/>
          <p:nvPr/>
        </p:nvSpPr>
        <p:spPr>
          <a:xfrm>
            <a:off x="5823360" y="1934280"/>
            <a:ext cx="5917320" cy="49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Nintendo of America was drowning in unsold </a:t>
            </a: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Radar Scope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machines. President Hiroshi Yamauchi tasked </a:t>
            </a:r>
            <a:r>
              <a:rPr b="1" lang="en-US" sz="1180" spc="-1" strike="noStrike">
                <a:solidFill>
                  <a:srgbClr val="ffcd75"/>
                </a:solidFill>
                <a:latin typeface="Jersey 15"/>
                <a:ea typeface="Jersey 15"/>
              </a:rPr>
              <a:t>Shigeru Miyamoto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with creating a game to convert them.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30" name="Text 14"/>
          <p:cNvSpPr/>
          <p:nvPr/>
        </p:nvSpPr>
        <p:spPr>
          <a:xfrm>
            <a:off x="5823360" y="2524680"/>
            <a:ext cx="5917320" cy="49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Miyamoto had never designed a game before. His advantage? He wasn't a programmer—he focused on </a:t>
            </a:r>
            <a:r>
              <a:rPr b="1" lang="en-US" sz="1180" spc="-1" strike="noStrike">
                <a:solidFill>
                  <a:srgbClr val="a7f070"/>
                </a:solidFill>
                <a:latin typeface="Jersey 15"/>
                <a:ea typeface="Jersey 15"/>
              </a:rPr>
              <a:t>story first, technology second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.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31" name="Shape 15"/>
          <p:cNvSpPr/>
          <p:nvPr/>
        </p:nvSpPr>
        <p:spPr>
          <a:xfrm>
            <a:off x="5643360" y="3353760"/>
            <a:ext cx="6202440" cy="2048400"/>
          </a:xfrm>
          <a:custGeom>
            <a:avLst/>
            <a:gdLst/>
            <a:ahLst/>
            <a:rect l="l" t="t" r="r" b="b"/>
            <a:pathLst>
              <a:path w="6204857" h="2051538">
                <a:moveTo>
                  <a:pt x="0" y="0"/>
                </a:moveTo>
                <a:lnTo>
                  <a:pt x="6204857" y="0"/>
                </a:lnTo>
                <a:lnTo>
                  <a:pt x="6204857" y="2051538"/>
                </a:lnTo>
                <a:lnTo>
                  <a:pt x="0" y="205153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16"/>
          <p:cNvSpPr/>
          <p:nvPr/>
        </p:nvSpPr>
        <p:spPr>
          <a:xfrm>
            <a:off x="5823360" y="3533760"/>
            <a:ext cx="59425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80" spc="-1" strike="noStrike">
                <a:solidFill>
                  <a:srgbClr val="ffcd75"/>
                </a:solidFill>
                <a:latin typeface="Jersey 15"/>
                <a:ea typeface="Jersey 15"/>
              </a:rPr>
              <a:t>FROM POPEYE TO PLUMBER</a:t>
            </a:r>
            <a:endParaRPr b="0" lang="en-HK" sz="1580" spc="-1" strike="noStrike">
              <a:latin typeface="Arial"/>
            </a:endParaRPr>
          </a:p>
        </p:txBody>
      </p:sp>
      <p:sp>
        <p:nvSpPr>
          <p:cNvPr id="233" name="Text 17"/>
          <p:cNvSpPr/>
          <p:nvPr/>
        </p:nvSpPr>
        <p:spPr>
          <a:xfrm>
            <a:off x="5823360" y="3902040"/>
            <a:ext cx="5917320" cy="73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Miyamoto wanted to use </a:t>
            </a: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Popeye characters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but couldn't secure the license. So he created original characters: a gorilla (Bluto became Donkey Kong), a hero (Popeye became Jumpman), and a damsel (Olive Oyl became Pauline).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34" name="Text 18"/>
          <p:cNvSpPr/>
          <p:nvPr/>
        </p:nvSpPr>
        <p:spPr>
          <a:xfrm>
            <a:off x="5823360" y="4737240"/>
            <a:ext cx="5917320" cy="49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180" spc="-1" strike="noStrike">
                <a:solidFill>
                  <a:srgbClr val="29adff"/>
                </a:solidFill>
                <a:latin typeface="Jersey 15"/>
                <a:ea typeface="Jersey 15"/>
              </a:rPr>
              <a:t>Jumpman was renamed "Mario"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after Nintendo's Seattle landlord, Mario Segale, who demanded overdue rent.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35" name="Shape 19"/>
          <p:cNvSpPr/>
          <p:nvPr/>
        </p:nvSpPr>
        <p:spPr>
          <a:xfrm>
            <a:off x="5643360" y="5566320"/>
            <a:ext cx="6202440" cy="1060200"/>
          </a:xfrm>
          <a:custGeom>
            <a:avLst/>
            <a:gdLst/>
            <a:ahLst/>
            <a:rect l="l" t="t" r="r" b="b"/>
            <a:pathLst>
              <a:path w="6204857" h="1063451">
                <a:moveTo>
                  <a:pt x="0" y="0"/>
                </a:moveTo>
                <a:lnTo>
                  <a:pt x="6204857" y="0"/>
                </a:lnTo>
                <a:lnTo>
                  <a:pt x="6204857" y="1063451"/>
                </a:lnTo>
                <a:lnTo>
                  <a:pt x="0" y="106345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20"/>
          <p:cNvSpPr/>
          <p:nvPr/>
        </p:nvSpPr>
        <p:spPr>
          <a:xfrm>
            <a:off x="5789880" y="5712840"/>
            <a:ext cx="599256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20" spc="-1" strike="noStrike">
                <a:solidFill>
                  <a:srgbClr val="a7f070"/>
                </a:solidFill>
                <a:latin typeface="Jersey 15"/>
                <a:ea typeface="Jersey 15"/>
              </a:rPr>
              <a:t>LEGAL VICTORY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237" name="Text 21"/>
          <p:cNvSpPr/>
          <p:nvPr/>
        </p:nvSpPr>
        <p:spPr>
          <a:xfrm>
            <a:off x="5789880" y="6048000"/>
            <a:ext cx="597600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Universal Studios sued Nintendo claiming Donkey Kong infringed on King Kong. Nintendo won, with Universal ordered to pay </a:t>
            </a:r>
            <a:r>
              <a:rPr b="1" lang="en-US" sz="1050" spc="-1" strike="noStrike">
                <a:solidFill>
                  <a:srgbClr val="ffcd75"/>
                </a:solidFill>
                <a:latin typeface="Jersey 15"/>
                <a:ea typeface="Jersey 15"/>
              </a:rPr>
              <a:t>$1.8 million</a:t>
            </a: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 in legal fees. The attorney, John Kirby, received a sailboat named "Donkey Kong."</a:t>
            </a:r>
            <a:endParaRPr b="0" lang="en-HK" sz="1050" spc="-1" strike="noStrike">
              <a:latin typeface="Arial"/>
            </a:endParaRPr>
          </a:p>
        </p:txBody>
      </p:sp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0"/>
          <p:cNvSpPr/>
          <p:nvPr/>
        </p:nvSpPr>
        <p:spPr>
          <a:xfrm>
            <a:off x="0" y="0"/>
            <a:ext cx="12189960" cy="685476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1"/>
          <p:cNvSpPr/>
          <p:nvPr/>
        </p:nvSpPr>
        <p:spPr>
          <a:xfrm>
            <a:off x="380880" y="380880"/>
            <a:ext cx="116564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HALL OF FAME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240" name="Text 2"/>
          <p:cNvSpPr/>
          <p:nvPr/>
        </p:nvSpPr>
        <p:spPr>
          <a:xfrm>
            <a:off x="380880" y="952560"/>
            <a:ext cx="115423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f4f4f4"/>
                </a:solidFill>
                <a:latin typeface="Jersey 15"/>
                <a:ea typeface="Jersey 15"/>
              </a:rPr>
              <a:t>Top 10 Arcade Legends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41" name="Shape 3"/>
          <p:cNvSpPr/>
          <p:nvPr/>
        </p:nvSpPr>
        <p:spPr>
          <a:xfrm>
            <a:off x="380880" y="1371600"/>
            <a:ext cx="911160" cy="34920"/>
          </a:xfrm>
          <a:custGeom>
            <a:avLst/>
            <a:gdLst/>
            <a:ah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Shape 4"/>
          <p:cNvSpPr/>
          <p:nvPr/>
        </p:nvSpPr>
        <p:spPr>
          <a:xfrm>
            <a:off x="395280" y="1576440"/>
            <a:ext cx="5607360" cy="74916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5"/>
          <p:cNvSpPr/>
          <p:nvPr/>
        </p:nvSpPr>
        <p:spPr>
          <a:xfrm>
            <a:off x="523800" y="1762200"/>
            <a:ext cx="39672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ffcd75"/>
                </a:solidFill>
                <a:latin typeface="Jersey 15"/>
                <a:ea typeface="Jersey 15"/>
              </a:rPr>
              <a:t>01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44" name="Text 6"/>
          <p:cNvSpPr/>
          <p:nvPr/>
        </p:nvSpPr>
        <p:spPr>
          <a:xfrm>
            <a:off x="905040" y="1704960"/>
            <a:ext cx="506448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Pac-Man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45" name="Text 7"/>
          <p:cNvSpPr/>
          <p:nvPr/>
        </p:nvSpPr>
        <p:spPr>
          <a:xfrm>
            <a:off x="905040" y="1971720"/>
            <a:ext cx="50454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1980 • Maze-chase perfection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46" name="Shape 8"/>
          <p:cNvSpPr/>
          <p:nvPr/>
        </p:nvSpPr>
        <p:spPr>
          <a:xfrm>
            <a:off x="395280" y="2471760"/>
            <a:ext cx="5607360" cy="74916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 9"/>
          <p:cNvSpPr/>
          <p:nvPr/>
        </p:nvSpPr>
        <p:spPr>
          <a:xfrm>
            <a:off x="523800" y="2657520"/>
            <a:ext cx="46332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a7f070"/>
                </a:solidFill>
                <a:latin typeface="Jersey 15"/>
                <a:ea typeface="Jersey 15"/>
              </a:rPr>
              <a:t>02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48" name="Text 10"/>
          <p:cNvSpPr/>
          <p:nvPr/>
        </p:nvSpPr>
        <p:spPr>
          <a:xfrm>
            <a:off x="968400" y="2600280"/>
            <a:ext cx="499788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Space Invaders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49" name="Text 11"/>
          <p:cNvSpPr/>
          <p:nvPr/>
        </p:nvSpPr>
        <p:spPr>
          <a:xfrm>
            <a:off x="968400" y="2867040"/>
            <a:ext cx="49788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1978 • Shooting genre pioneer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50" name="Shape 12"/>
          <p:cNvSpPr/>
          <p:nvPr/>
        </p:nvSpPr>
        <p:spPr>
          <a:xfrm>
            <a:off x="395280" y="3367080"/>
            <a:ext cx="5607360" cy="74916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13"/>
          <p:cNvSpPr/>
          <p:nvPr/>
        </p:nvSpPr>
        <p:spPr>
          <a:xfrm>
            <a:off x="523800" y="3552840"/>
            <a:ext cx="46332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29adff"/>
                </a:solidFill>
                <a:latin typeface="Jersey 15"/>
                <a:ea typeface="Jersey 15"/>
              </a:rPr>
              <a:t>03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52" name="Text 14"/>
          <p:cNvSpPr/>
          <p:nvPr/>
        </p:nvSpPr>
        <p:spPr>
          <a:xfrm>
            <a:off x="968400" y="3495600"/>
            <a:ext cx="499788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Donkey Kong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53" name="Text 15"/>
          <p:cNvSpPr/>
          <p:nvPr/>
        </p:nvSpPr>
        <p:spPr>
          <a:xfrm>
            <a:off x="968400" y="3762360"/>
            <a:ext cx="49788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1981 • Platform gaming pioneer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54" name="Shape 16"/>
          <p:cNvSpPr/>
          <p:nvPr/>
        </p:nvSpPr>
        <p:spPr>
          <a:xfrm>
            <a:off x="395280" y="4262400"/>
            <a:ext cx="5607360" cy="74916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17"/>
          <p:cNvSpPr/>
          <p:nvPr/>
        </p:nvSpPr>
        <p:spPr>
          <a:xfrm>
            <a:off x="523800" y="4448160"/>
            <a:ext cx="44460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ffcd75"/>
                </a:solidFill>
                <a:latin typeface="Jersey 15"/>
                <a:ea typeface="Jersey 15"/>
              </a:rPr>
              <a:t>04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56" name="Text 18"/>
          <p:cNvSpPr/>
          <p:nvPr/>
        </p:nvSpPr>
        <p:spPr>
          <a:xfrm>
            <a:off x="955800" y="4390920"/>
            <a:ext cx="501696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Street Fighter II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57" name="Text 19"/>
          <p:cNvSpPr/>
          <p:nvPr/>
        </p:nvSpPr>
        <p:spPr>
          <a:xfrm>
            <a:off x="955800" y="4657680"/>
            <a:ext cx="49978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1991 • Fighting game standard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58" name="Shape 20"/>
          <p:cNvSpPr/>
          <p:nvPr/>
        </p:nvSpPr>
        <p:spPr>
          <a:xfrm>
            <a:off x="395280" y="5157720"/>
            <a:ext cx="5607360" cy="74916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21"/>
          <p:cNvSpPr/>
          <p:nvPr/>
        </p:nvSpPr>
        <p:spPr>
          <a:xfrm>
            <a:off x="523800" y="5343480"/>
            <a:ext cx="44460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a7f070"/>
                </a:solidFill>
                <a:latin typeface="Jersey 15"/>
                <a:ea typeface="Jersey 15"/>
              </a:rPr>
              <a:t>05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60" name="Text 22"/>
          <p:cNvSpPr/>
          <p:nvPr/>
        </p:nvSpPr>
        <p:spPr>
          <a:xfrm>
            <a:off x="955800" y="5286240"/>
            <a:ext cx="501696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Ms. Pac-Man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61" name="Text 23"/>
          <p:cNvSpPr/>
          <p:nvPr/>
        </p:nvSpPr>
        <p:spPr>
          <a:xfrm>
            <a:off x="955800" y="5553000"/>
            <a:ext cx="49978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1982 • Refined gameplay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62" name="Shape 24"/>
          <p:cNvSpPr/>
          <p:nvPr/>
        </p:nvSpPr>
        <p:spPr>
          <a:xfrm>
            <a:off x="6186960" y="1576440"/>
            <a:ext cx="5607360" cy="74916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25"/>
          <p:cNvSpPr/>
          <p:nvPr/>
        </p:nvSpPr>
        <p:spPr>
          <a:xfrm>
            <a:off x="6315480" y="1762200"/>
            <a:ext cx="46332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29adff"/>
                </a:solidFill>
                <a:latin typeface="Jersey 15"/>
                <a:ea typeface="Jersey 15"/>
              </a:rPr>
              <a:t>06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64" name="Text 26"/>
          <p:cNvSpPr/>
          <p:nvPr/>
        </p:nvSpPr>
        <p:spPr>
          <a:xfrm>
            <a:off x="6760080" y="1704960"/>
            <a:ext cx="499788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Galaga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65" name="Text 27"/>
          <p:cNvSpPr/>
          <p:nvPr/>
        </p:nvSpPr>
        <p:spPr>
          <a:xfrm>
            <a:off x="6760080" y="1971720"/>
            <a:ext cx="49788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1981 • Space shooter perfection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66" name="Shape 28"/>
          <p:cNvSpPr/>
          <p:nvPr/>
        </p:nvSpPr>
        <p:spPr>
          <a:xfrm>
            <a:off x="6186960" y="2471760"/>
            <a:ext cx="5607360" cy="74916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29"/>
          <p:cNvSpPr/>
          <p:nvPr/>
        </p:nvSpPr>
        <p:spPr>
          <a:xfrm>
            <a:off x="6315480" y="2657520"/>
            <a:ext cx="44460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ffcd75"/>
                </a:solidFill>
                <a:latin typeface="Jersey 15"/>
                <a:ea typeface="Jersey 15"/>
              </a:rPr>
              <a:t>07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68" name="Text 30"/>
          <p:cNvSpPr/>
          <p:nvPr/>
        </p:nvSpPr>
        <p:spPr>
          <a:xfrm>
            <a:off x="6747120" y="2600280"/>
            <a:ext cx="501696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Defender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69" name="Text 31"/>
          <p:cNvSpPr/>
          <p:nvPr/>
        </p:nvSpPr>
        <p:spPr>
          <a:xfrm>
            <a:off x="6747120" y="2867040"/>
            <a:ext cx="49978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1981 • Complex controls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70" name="Shape 32"/>
          <p:cNvSpPr/>
          <p:nvPr/>
        </p:nvSpPr>
        <p:spPr>
          <a:xfrm>
            <a:off x="6186960" y="3367080"/>
            <a:ext cx="5607360" cy="74916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33"/>
          <p:cNvSpPr/>
          <p:nvPr/>
        </p:nvSpPr>
        <p:spPr>
          <a:xfrm>
            <a:off x="6315480" y="3552840"/>
            <a:ext cx="46332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a7f070"/>
                </a:solidFill>
                <a:latin typeface="Jersey 15"/>
                <a:ea typeface="Jersey 15"/>
              </a:rPr>
              <a:t>08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72" name="Text 34"/>
          <p:cNvSpPr/>
          <p:nvPr/>
        </p:nvSpPr>
        <p:spPr>
          <a:xfrm>
            <a:off x="6760080" y="3495600"/>
            <a:ext cx="499788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Asteroids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73" name="Text 35"/>
          <p:cNvSpPr/>
          <p:nvPr/>
        </p:nvSpPr>
        <p:spPr>
          <a:xfrm>
            <a:off x="6760080" y="3762360"/>
            <a:ext cx="49788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1979 • Vector graphics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74" name="Shape 36"/>
          <p:cNvSpPr/>
          <p:nvPr/>
        </p:nvSpPr>
        <p:spPr>
          <a:xfrm>
            <a:off x="6186960" y="4262400"/>
            <a:ext cx="5607360" cy="74916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 37"/>
          <p:cNvSpPr/>
          <p:nvPr/>
        </p:nvSpPr>
        <p:spPr>
          <a:xfrm>
            <a:off x="6315480" y="4448160"/>
            <a:ext cx="46332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29adff"/>
                </a:solidFill>
                <a:latin typeface="Jersey 15"/>
                <a:ea typeface="Jersey 15"/>
              </a:rPr>
              <a:t>09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76" name="Text 38"/>
          <p:cNvSpPr/>
          <p:nvPr/>
        </p:nvSpPr>
        <p:spPr>
          <a:xfrm>
            <a:off x="6760080" y="4390920"/>
            <a:ext cx="499788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Centipede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77" name="Text 39"/>
          <p:cNvSpPr/>
          <p:nvPr/>
        </p:nvSpPr>
        <p:spPr>
          <a:xfrm>
            <a:off x="6760080" y="4657680"/>
            <a:ext cx="49788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1981 • Trackball innovation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78" name="Shape 40"/>
          <p:cNvSpPr/>
          <p:nvPr/>
        </p:nvSpPr>
        <p:spPr>
          <a:xfrm>
            <a:off x="6186960" y="5157720"/>
            <a:ext cx="5607360" cy="749160"/>
          </a:xfrm>
          <a:custGeom>
            <a:avLst/>
            <a:gdLst/>
            <a:ah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Text 41"/>
          <p:cNvSpPr/>
          <p:nvPr/>
        </p:nvSpPr>
        <p:spPr>
          <a:xfrm>
            <a:off x="6315480" y="5343480"/>
            <a:ext cx="39672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ffcd75"/>
                </a:solidFill>
                <a:latin typeface="Jersey 15"/>
                <a:ea typeface="Jersey 15"/>
              </a:rPr>
              <a:t>10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80" name="Text 42"/>
          <p:cNvSpPr/>
          <p:nvPr/>
        </p:nvSpPr>
        <p:spPr>
          <a:xfrm>
            <a:off x="6696360" y="5286240"/>
            <a:ext cx="506448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Mortal Kombat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81" name="Text 43"/>
          <p:cNvSpPr/>
          <p:nvPr/>
        </p:nvSpPr>
        <p:spPr>
          <a:xfrm>
            <a:off x="6696360" y="5553000"/>
            <a:ext cx="50454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1992 • Digitized graphics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82" name="Shape 44"/>
          <p:cNvSpPr/>
          <p:nvPr/>
        </p:nvSpPr>
        <p:spPr>
          <a:xfrm>
            <a:off x="395280" y="6091200"/>
            <a:ext cx="11399400" cy="596880"/>
          </a:xfrm>
          <a:custGeom>
            <a:avLst/>
            <a:gdLst/>
            <a:ahLst/>
            <a:rect l="l" t="t" r="r" b="b"/>
            <a:pathLst>
              <a:path w="11401425" h="600075">
                <a:moveTo>
                  <a:pt x="0" y="0"/>
                </a:moveTo>
                <a:lnTo>
                  <a:pt x="11401425" y="0"/>
                </a:lnTo>
                <a:lnTo>
                  <a:pt x="11401425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Text 45"/>
          <p:cNvSpPr/>
          <p:nvPr/>
        </p:nvSpPr>
        <p:spPr>
          <a:xfrm>
            <a:off x="514440" y="6257880"/>
            <a:ext cx="1116108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These games generated </a:t>
            </a:r>
            <a:r>
              <a:rPr b="1" lang="en-US" sz="1500" spc="-1" strike="noStrike">
                <a:solidFill>
                  <a:srgbClr val="ffcd75"/>
                </a:solidFill>
                <a:latin typeface="Jersey 15"/>
                <a:ea typeface="Jersey 15"/>
              </a:rPr>
              <a:t>billions in revenue</a:t>
            </a:r>
            <a:r>
              <a:rPr b="0" lang="en-US" sz="1500" spc="-1" strike="noStrike">
                <a:solidFill>
                  <a:srgbClr val="f4f4f4"/>
                </a:solidFill>
                <a:latin typeface="Jersey 15"/>
                <a:ea typeface="Jersey 15"/>
              </a:rPr>
              <a:t> and established gaming archetypes that persist today</a:t>
            </a:r>
            <a:endParaRPr b="0" lang="en-HK" sz="1500" spc="-1" strike="noStrike">
              <a:latin typeface="Arial"/>
            </a:endParaRPr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Image 0"/>
          <p:cNvSpPr/>
          <p:nvPr/>
        </p:nvSpPr>
        <p:spPr>
          <a:xfrm>
            <a:off x="0" y="0"/>
            <a:ext cx="12189960" cy="685476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Shape 0"/>
          <p:cNvSpPr/>
          <p:nvPr/>
        </p:nvSpPr>
        <p:spPr>
          <a:xfrm>
            <a:off x="0" y="0"/>
            <a:ext cx="12189960" cy="685476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Shape 1"/>
          <p:cNvSpPr/>
          <p:nvPr/>
        </p:nvSpPr>
        <p:spPr>
          <a:xfrm>
            <a:off x="380880" y="1542960"/>
            <a:ext cx="1863720" cy="606240"/>
          </a:xfrm>
          <a:custGeom>
            <a:avLst/>
            <a:gdLst/>
            <a:ahLst/>
            <a:rect l="l" t="t" r="r" b="b"/>
            <a:pathLst>
              <a:path w="1866900" h="609600">
                <a:moveTo>
                  <a:pt x="0" y="0"/>
                </a:moveTo>
                <a:lnTo>
                  <a:pt x="1866900" y="0"/>
                </a:lnTo>
                <a:lnTo>
                  <a:pt x="18669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Text 2"/>
          <p:cNvSpPr/>
          <p:nvPr/>
        </p:nvSpPr>
        <p:spPr>
          <a:xfrm>
            <a:off x="609480" y="1676520"/>
            <a:ext cx="157788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1a1c2c"/>
                </a:solidFill>
                <a:latin typeface="Jersey 15"/>
                <a:ea typeface="Jersey 15"/>
              </a:rPr>
              <a:t>CHAPTER 03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88" name="Text 3"/>
          <p:cNvSpPr/>
          <p:nvPr/>
        </p:nvSpPr>
        <p:spPr>
          <a:xfrm>
            <a:off x="380880" y="2381400"/>
            <a:ext cx="11770920" cy="171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THE BUSINESS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OF FUN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289" name="Shape 4"/>
          <p:cNvSpPr/>
          <p:nvPr/>
        </p:nvSpPr>
        <p:spPr>
          <a:xfrm>
            <a:off x="380880" y="4324320"/>
            <a:ext cx="1520640" cy="73080"/>
          </a:xfrm>
          <a:custGeom>
            <a:avLst/>
            <a:gdLst/>
            <a:ah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 5"/>
          <p:cNvSpPr/>
          <p:nvPr/>
        </p:nvSpPr>
        <p:spPr>
          <a:xfrm>
            <a:off x="380880" y="4629240"/>
            <a:ext cx="745560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a7f070"/>
                </a:solidFill>
                <a:latin typeface="Jersey 15"/>
                <a:ea typeface="Jersey 15"/>
              </a:rPr>
              <a:t>Billions of Quarters:</a:t>
            </a:r>
            <a:endParaRPr b="0" lang="en-HK" sz="2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a7f070"/>
                </a:solidFill>
                <a:latin typeface="Jersey 15"/>
                <a:ea typeface="Jersey 15"/>
              </a:rPr>
              <a:t>An Economic Phenomenon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291" name="Shape 6"/>
          <p:cNvSpPr/>
          <p:nvPr/>
        </p:nvSpPr>
        <p:spPr>
          <a:xfrm>
            <a:off x="10592640" y="5867280"/>
            <a:ext cx="149040" cy="14904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Shape 7"/>
          <p:cNvSpPr/>
          <p:nvPr/>
        </p:nvSpPr>
        <p:spPr>
          <a:xfrm>
            <a:off x="10897200" y="5867280"/>
            <a:ext cx="149040" cy="14904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Shape 8"/>
          <p:cNvSpPr/>
          <p:nvPr/>
        </p:nvSpPr>
        <p:spPr>
          <a:xfrm>
            <a:off x="11202120" y="5867280"/>
            <a:ext cx="149040" cy="14904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0"/>
          <p:cNvSpPr/>
          <p:nvPr/>
        </p:nvSpPr>
        <p:spPr>
          <a:xfrm>
            <a:off x="0" y="0"/>
            <a:ext cx="12189960" cy="6852600"/>
          </a:xfrm>
          <a:custGeom>
            <a:avLst/>
            <a:gdLst/>
            <a:ahLst/>
            <a:rect l="l" t="t" r="r" b="b"/>
            <a:pathLst>
              <a:path w="12192000" h="6855841">
                <a:moveTo>
                  <a:pt x="0" y="0"/>
                </a:moveTo>
                <a:lnTo>
                  <a:pt x="12192000" y="0"/>
                </a:lnTo>
                <a:lnTo>
                  <a:pt x="12192000" y="6855841"/>
                </a:lnTo>
                <a:lnTo>
                  <a:pt x="0" y="6855841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Text 1"/>
          <p:cNvSpPr/>
          <p:nvPr/>
        </p:nvSpPr>
        <p:spPr>
          <a:xfrm>
            <a:off x="345240" y="345240"/>
            <a:ext cx="11706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27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INDUSTRY REVENUE</a:t>
            </a:r>
            <a:endParaRPr b="0" lang="en-HK" sz="3270" spc="-1" strike="noStrike">
              <a:latin typeface="Arial"/>
            </a:endParaRPr>
          </a:p>
        </p:txBody>
      </p:sp>
      <p:sp>
        <p:nvSpPr>
          <p:cNvPr id="296" name="Text 2"/>
          <p:cNvSpPr/>
          <p:nvPr/>
        </p:nvSpPr>
        <p:spPr>
          <a:xfrm>
            <a:off x="345240" y="863280"/>
            <a:ext cx="11602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629" spc="-1" strike="noStrike">
                <a:solidFill>
                  <a:srgbClr val="f4f4f4"/>
                </a:solidFill>
                <a:latin typeface="Jersey 15"/>
                <a:ea typeface="Jersey 15"/>
              </a:rPr>
              <a:t>Peak and Decline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297" name="Shape 3"/>
          <p:cNvSpPr/>
          <p:nvPr/>
        </p:nvSpPr>
        <p:spPr>
          <a:xfrm>
            <a:off x="345240" y="1243440"/>
            <a:ext cx="825840" cy="31320"/>
          </a:xfrm>
          <a:custGeom>
            <a:avLst/>
            <a:gdLst/>
            <a:ahLst/>
            <a:rect l="l" t="t" r="r" b="b"/>
            <a:pathLst>
              <a:path w="828918" h="34538">
                <a:moveTo>
                  <a:pt x="0" y="0"/>
                </a:moveTo>
                <a:lnTo>
                  <a:pt x="828918" y="0"/>
                </a:lnTo>
                <a:lnTo>
                  <a:pt x="828918" y="34538"/>
                </a:lnTo>
                <a:lnTo>
                  <a:pt x="0" y="34538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Shape 4"/>
          <p:cNvSpPr/>
          <p:nvPr/>
        </p:nvSpPr>
        <p:spPr>
          <a:xfrm>
            <a:off x="358200" y="1429200"/>
            <a:ext cx="5618160" cy="2751120"/>
          </a:xfrm>
          <a:custGeom>
            <a:avLst/>
            <a:gdLst/>
            <a:ahLst/>
            <a:rect l="l" t="t" r="r" b="b"/>
            <a:pathLst>
              <a:path w="5621099" h="2754425">
                <a:moveTo>
                  <a:pt x="0" y="0"/>
                </a:moveTo>
                <a:lnTo>
                  <a:pt x="5621099" y="0"/>
                </a:lnTo>
                <a:lnTo>
                  <a:pt x="5621099" y="2754425"/>
                </a:lnTo>
                <a:lnTo>
                  <a:pt x="0" y="27544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5"/>
          <p:cNvSpPr/>
          <p:nvPr/>
        </p:nvSpPr>
        <p:spPr>
          <a:xfrm>
            <a:off x="492120" y="1614600"/>
            <a:ext cx="5350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a7f070"/>
                </a:solidFill>
                <a:latin typeface="Jersey 15"/>
                <a:ea typeface="Jersey 15"/>
              </a:rPr>
              <a:t>THE PEAK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00" name="Text 6"/>
          <p:cNvSpPr/>
          <p:nvPr/>
        </p:nvSpPr>
        <p:spPr>
          <a:xfrm>
            <a:off x="440280" y="2028960"/>
            <a:ext cx="5454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270" spc="-1" strike="noStrike">
                <a:solidFill>
                  <a:srgbClr val="a7f070"/>
                </a:solidFill>
                <a:latin typeface="Jersey 20 Charted"/>
                <a:ea typeface="Jersey 20 Charted"/>
              </a:rPr>
              <a:t>$8 Billion</a:t>
            </a:r>
            <a:endParaRPr b="0" lang="en-HK" sz="3270" spc="-1" strike="noStrike">
              <a:latin typeface="Arial"/>
            </a:endParaRPr>
          </a:p>
        </p:txBody>
      </p:sp>
      <p:sp>
        <p:nvSpPr>
          <p:cNvPr id="301" name="Text 7"/>
          <p:cNvSpPr/>
          <p:nvPr/>
        </p:nvSpPr>
        <p:spPr>
          <a:xfrm>
            <a:off x="505080" y="2478240"/>
            <a:ext cx="532476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220" spc="-1" strike="noStrike">
                <a:solidFill>
                  <a:srgbClr val="f4f4f4"/>
                </a:solidFill>
                <a:latin typeface="Jersey 15"/>
                <a:ea typeface="Jersey 15"/>
              </a:rPr>
              <a:t>1981 Revenue</a:t>
            </a:r>
            <a:endParaRPr b="0" lang="en-HK" sz="1220" spc="-1" strike="noStrike">
              <a:latin typeface="Arial"/>
            </a:endParaRPr>
          </a:p>
        </p:txBody>
      </p:sp>
      <p:sp>
        <p:nvSpPr>
          <p:cNvPr id="302" name="Shape 8"/>
          <p:cNvSpPr/>
          <p:nvPr/>
        </p:nvSpPr>
        <p:spPr>
          <a:xfrm>
            <a:off x="543960" y="2858040"/>
            <a:ext cx="5247000" cy="411120"/>
          </a:xfrm>
          <a:custGeom>
            <a:avLst/>
            <a:gdLst/>
            <a:ahLst/>
            <a:rect l="l" t="t" r="r" b="b"/>
            <a:pathLst>
              <a:path w="5249813" h="414459">
                <a:moveTo>
                  <a:pt x="0" y="0"/>
                </a:moveTo>
                <a:lnTo>
                  <a:pt x="5249813" y="0"/>
                </a:lnTo>
                <a:lnTo>
                  <a:pt x="5249813" y="414459"/>
                </a:lnTo>
                <a:lnTo>
                  <a:pt x="0" y="41445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9"/>
          <p:cNvSpPr/>
          <p:nvPr/>
        </p:nvSpPr>
        <p:spPr>
          <a:xfrm>
            <a:off x="613080" y="2961720"/>
            <a:ext cx="510876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90" spc="-1" strike="noStrike">
                <a:solidFill>
                  <a:srgbClr val="f4f4f4"/>
                </a:solidFill>
                <a:latin typeface="Jersey 15"/>
                <a:ea typeface="Jersey 15"/>
              </a:rPr>
              <a:t>Nearly </a:t>
            </a:r>
            <a:r>
              <a:rPr b="1" lang="en-US" sz="1090" spc="-1" strike="noStrike">
                <a:solidFill>
                  <a:srgbClr val="ffcd75"/>
                </a:solidFill>
                <a:latin typeface="Jersey 15"/>
                <a:ea typeface="Jersey 15"/>
              </a:rPr>
              <a:t>4x movie box office</a:t>
            </a:r>
            <a:r>
              <a:rPr b="0" lang="en-US" sz="1090" spc="-1" strike="noStrike">
                <a:solidFill>
                  <a:srgbClr val="f4f4f4"/>
                </a:solidFill>
                <a:latin typeface="Jersey 15"/>
                <a:ea typeface="Jersey 15"/>
              </a:rPr>
              <a:t> ($3.2B)</a:t>
            </a:r>
            <a:endParaRPr b="0" lang="en-HK" sz="1090" spc="-1" strike="noStrike">
              <a:latin typeface="Arial"/>
            </a:endParaRPr>
          </a:p>
        </p:txBody>
      </p:sp>
      <p:sp>
        <p:nvSpPr>
          <p:cNvPr id="304" name="Shape 10"/>
          <p:cNvSpPr/>
          <p:nvPr/>
        </p:nvSpPr>
        <p:spPr>
          <a:xfrm>
            <a:off x="543960" y="3410640"/>
            <a:ext cx="2570040" cy="583920"/>
          </a:xfrm>
          <a:custGeom>
            <a:avLst/>
            <a:gdLst/>
            <a:ah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Text 11"/>
          <p:cNvSpPr/>
          <p:nvPr/>
        </p:nvSpPr>
        <p:spPr>
          <a:xfrm>
            <a:off x="561240" y="3479760"/>
            <a:ext cx="2535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29adff"/>
                </a:solidFill>
                <a:latin typeface="Jersey 15"/>
                <a:ea typeface="Jersey 15"/>
              </a:rPr>
              <a:t>24,000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06" name="Text 12"/>
          <p:cNvSpPr/>
          <p:nvPr/>
        </p:nvSpPr>
        <p:spPr>
          <a:xfrm>
            <a:off x="582840" y="3755880"/>
            <a:ext cx="2492640" cy="1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f4f4f4"/>
                </a:solidFill>
                <a:latin typeface="Jersey 15"/>
                <a:ea typeface="Jersey 15"/>
              </a:rPr>
              <a:t>Full Arcades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07" name="Shape 13"/>
          <p:cNvSpPr/>
          <p:nvPr/>
        </p:nvSpPr>
        <p:spPr>
          <a:xfrm>
            <a:off x="3219840" y="3410640"/>
            <a:ext cx="2570040" cy="583920"/>
          </a:xfrm>
          <a:custGeom>
            <a:avLst/>
            <a:gdLst/>
            <a:ah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Text 14"/>
          <p:cNvSpPr/>
          <p:nvPr/>
        </p:nvSpPr>
        <p:spPr>
          <a:xfrm>
            <a:off x="3237120" y="3479760"/>
            <a:ext cx="2535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ffcd75"/>
                </a:solidFill>
                <a:latin typeface="Jersey 15"/>
                <a:ea typeface="Jersey 15"/>
              </a:rPr>
              <a:t>1.5M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09" name="Text 15"/>
          <p:cNvSpPr/>
          <p:nvPr/>
        </p:nvSpPr>
        <p:spPr>
          <a:xfrm>
            <a:off x="3258360" y="3755880"/>
            <a:ext cx="2492640" cy="1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f4f4f4"/>
                </a:solidFill>
                <a:latin typeface="Jersey 15"/>
                <a:ea typeface="Jersey 15"/>
              </a:rPr>
              <a:t>Machines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10" name="Shape 16"/>
          <p:cNvSpPr/>
          <p:nvPr/>
        </p:nvSpPr>
        <p:spPr>
          <a:xfrm>
            <a:off x="6211080" y="1429200"/>
            <a:ext cx="5618160" cy="2751120"/>
          </a:xfrm>
          <a:custGeom>
            <a:avLst/>
            <a:gdLst/>
            <a:ahLst/>
            <a:rect l="l" t="t" r="r" b="b"/>
            <a:pathLst>
              <a:path w="5621099" h="2754425">
                <a:moveTo>
                  <a:pt x="0" y="0"/>
                </a:moveTo>
                <a:lnTo>
                  <a:pt x="5621099" y="0"/>
                </a:lnTo>
                <a:lnTo>
                  <a:pt x="5621099" y="2754425"/>
                </a:lnTo>
                <a:lnTo>
                  <a:pt x="0" y="27544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 17"/>
          <p:cNvSpPr/>
          <p:nvPr/>
        </p:nvSpPr>
        <p:spPr>
          <a:xfrm>
            <a:off x="6344640" y="1614600"/>
            <a:ext cx="5350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ffcd75"/>
                </a:solidFill>
                <a:latin typeface="Jersey 15"/>
                <a:ea typeface="Jersey 15"/>
              </a:rPr>
              <a:t>THE DECLINE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12" name="Text 18"/>
          <p:cNvSpPr/>
          <p:nvPr/>
        </p:nvSpPr>
        <p:spPr>
          <a:xfrm>
            <a:off x="6293160" y="2028960"/>
            <a:ext cx="5454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27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$100M</a:t>
            </a:r>
            <a:endParaRPr b="0" lang="en-HK" sz="3270" spc="-1" strike="noStrike">
              <a:latin typeface="Arial"/>
            </a:endParaRPr>
          </a:p>
        </p:txBody>
      </p:sp>
      <p:sp>
        <p:nvSpPr>
          <p:cNvPr id="313" name="Text 19"/>
          <p:cNvSpPr/>
          <p:nvPr/>
        </p:nvSpPr>
        <p:spPr>
          <a:xfrm>
            <a:off x="6357600" y="2478240"/>
            <a:ext cx="532476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220" spc="-1" strike="noStrike">
                <a:solidFill>
                  <a:srgbClr val="f4f4f4"/>
                </a:solidFill>
                <a:latin typeface="Jersey 15"/>
                <a:ea typeface="Jersey 15"/>
              </a:rPr>
              <a:t>1985 Revenue</a:t>
            </a:r>
            <a:endParaRPr b="0" lang="en-HK" sz="1220" spc="-1" strike="noStrike">
              <a:latin typeface="Arial"/>
            </a:endParaRPr>
          </a:p>
        </p:txBody>
      </p:sp>
      <p:sp>
        <p:nvSpPr>
          <p:cNvPr id="314" name="Shape 20"/>
          <p:cNvSpPr/>
          <p:nvPr/>
        </p:nvSpPr>
        <p:spPr>
          <a:xfrm>
            <a:off x="6396480" y="2858040"/>
            <a:ext cx="5247000" cy="411120"/>
          </a:xfrm>
          <a:custGeom>
            <a:avLst/>
            <a:gdLst/>
            <a:ahLst/>
            <a:rect l="l" t="t" r="r" b="b"/>
            <a:pathLst>
              <a:path w="5249813" h="414459">
                <a:moveTo>
                  <a:pt x="0" y="0"/>
                </a:moveTo>
                <a:lnTo>
                  <a:pt x="5249813" y="0"/>
                </a:lnTo>
                <a:lnTo>
                  <a:pt x="5249813" y="414459"/>
                </a:lnTo>
                <a:lnTo>
                  <a:pt x="0" y="41445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21"/>
          <p:cNvSpPr/>
          <p:nvPr/>
        </p:nvSpPr>
        <p:spPr>
          <a:xfrm>
            <a:off x="6465600" y="2961720"/>
            <a:ext cx="510876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90" spc="-1" strike="noStrike">
                <a:solidFill>
                  <a:srgbClr val="ff6b6b"/>
                </a:solidFill>
                <a:latin typeface="Jersey 15"/>
                <a:ea typeface="Jersey 15"/>
              </a:rPr>
              <a:t>97% decline</a:t>
            </a:r>
            <a:r>
              <a:rPr b="0" lang="en-US" sz="1090" spc="-1" strike="noStrike">
                <a:solidFill>
                  <a:srgbClr val="f4f4f4"/>
                </a:solidFill>
                <a:latin typeface="Jersey 15"/>
                <a:ea typeface="Jersey 15"/>
              </a:rPr>
              <a:t> in just 4 years</a:t>
            </a:r>
            <a:endParaRPr b="0" lang="en-HK" sz="1090" spc="-1" strike="noStrike">
              <a:latin typeface="Arial"/>
            </a:endParaRPr>
          </a:p>
        </p:txBody>
      </p:sp>
      <p:sp>
        <p:nvSpPr>
          <p:cNvPr id="316" name="Shape 22"/>
          <p:cNvSpPr/>
          <p:nvPr/>
        </p:nvSpPr>
        <p:spPr>
          <a:xfrm>
            <a:off x="6396480" y="3410640"/>
            <a:ext cx="2570040" cy="583920"/>
          </a:xfrm>
          <a:custGeom>
            <a:avLst/>
            <a:gdLst/>
            <a:ah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Text 23"/>
          <p:cNvSpPr/>
          <p:nvPr/>
        </p:nvSpPr>
        <p:spPr>
          <a:xfrm>
            <a:off x="6413760" y="3479760"/>
            <a:ext cx="2535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ff6b6b"/>
                </a:solidFill>
                <a:latin typeface="Jersey 15"/>
                <a:ea typeface="Jersey 15"/>
              </a:rPr>
              <a:t>$7B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18" name="Text 24"/>
          <p:cNvSpPr/>
          <p:nvPr/>
        </p:nvSpPr>
        <p:spPr>
          <a:xfrm>
            <a:off x="6435360" y="3755880"/>
            <a:ext cx="2492640" cy="1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f4f4f4"/>
                </a:solidFill>
                <a:latin typeface="Jersey 15"/>
                <a:ea typeface="Jersey 15"/>
              </a:rPr>
              <a:t>1982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19" name="Shape 25"/>
          <p:cNvSpPr/>
          <p:nvPr/>
        </p:nvSpPr>
        <p:spPr>
          <a:xfrm>
            <a:off x="9072720" y="3410640"/>
            <a:ext cx="2570040" cy="583920"/>
          </a:xfrm>
          <a:custGeom>
            <a:avLst/>
            <a:gdLst/>
            <a:ah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26"/>
          <p:cNvSpPr/>
          <p:nvPr/>
        </p:nvSpPr>
        <p:spPr>
          <a:xfrm>
            <a:off x="9090000" y="3479760"/>
            <a:ext cx="2535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ff6b6b"/>
                </a:solidFill>
                <a:latin typeface="Jersey 15"/>
                <a:ea typeface="Jersey 15"/>
              </a:rPr>
              <a:t>$5B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21" name="Text 27"/>
          <p:cNvSpPr/>
          <p:nvPr/>
        </p:nvSpPr>
        <p:spPr>
          <a:xfrm>
            <a:off x="9111600" y="3755880"/>
            <a:ext cx="2492640" cy="1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f4f4f4"/>
                </a:solidFill>
                <a:latin typeface="Jersey 15"/>
                <a:ea typeface="Jersey 15"/>
              </a:rPr>
              <a:t>1983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22" name="Shape 28"/>
          <p:cNvSpPr/>
          <p:nvPr/>
        </p:nvSpPr>
        <p:spPr>
          <a:xfrm>
            <a:off x="362520" y="4351680"/>
            <a:ext cx="11464560" cy="2483640"/>
          </a:xfrm>
          <a:custGeom>
            <a:avLst/>
            <a:gdLst/>
            <a:ahLst/>
            <a:rect l="l" t="t" r="r" b="b"/>
            <a:pathLst>
              <a:path w="11466697" h="2486754">
                <a:moveTo>
                  <a:pt x="0" y="0"/>
                </a:moveTo>
                <a:lnTo>
                  <a:pt x="11466697" y="0"/>
                </a:lnTo>
                <a:lnTo>
                  <a:pt x="11466697" y="2486754"/>
                </a:lnTo>
                <a:lnTo>
                  <a:pt x="0" y="248675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508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Text 29"/>
          <p:cNvSpPr/>
          <p:nvPr/>
        </p:nvSpPr>
        <p:spPr>
          <a:xfrm>
            <a:off x="500760" y="4541760"/>
            <a:ext cx="11188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29adff"/>
                </a:solidFill>
                <a:latin typeface="Jersey 15"/>
                <a:ea typeface="Jersey 15"/>
              </a:rPr>
              <a:t>REVENUE TRAJECTORY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324" name="Image 0"/>
          <p:cNvSpPr/>
          <p:nvPr/>
        </p:nvSpPr>
        <p:spPr>
          <a:xfrm>
            <a:off x="552600" y="4921560"/>
            <a:ext cx="9944640" cy="17236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0"/>
          <p:cNvSpPr/>
          <p:nvPr/>
        </p:nvSpPr>
        <p:spPr>
          <a:xfrm>
            <a:off x="0" y="0"/>
            <a:ext cx="12189960" cy="685476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Text 1"/>
          <p:cNvSpPr/>
          <p:nvPr/>
        </p:nvSpPr>
        <p:spPr>
          <a:xfrm>
            <a:off x="380880" y="380880"/>
            <a:ext cx="1165644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POWER PLAYERS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327" name="Text 2"/>
          <p:cNvSpPr/>
          <p:nvPr/>
        </p:nvSpPr>
        <p:spPr>
          <a:xfrm>
            <a:off x="380880" y="952560"/>
            <a:ext cx="115423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f4f4f4"/>
                </a:solidFill>
                <a:latin typeface="Jersey 15"/>
                <a:ea typeface="Jersey 15"/>
              </a:rPr>
              <a:t>Companies That Ruled the Arcades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28" name="Shape 3"/>
          <p:cNvSpPr/>
          <p:nvPr/>
        </p:nvSpPr>
        <p:spPr>
          <a:xfrm>
            <a:off x="380880" y="1371600"/>
            <a:ext cx="911160" cy="34920"/>
          </a:xfrm>
          <a:custGeom>
            <a:avLst/>
            <a:gdLst/>
            <a:ah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Shape 4"/>
          <p:cNvSpPr/>
          <p:nvPr/>
        </p:nvSpPr>
        <p:spPr>
          <a:xfrm>
            <a:off x="395280" y="1576440"/>
            <a:ext cx="3673800" cy="234936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Shape 5"/>
          <p:cNvSpPr/>
          <p:nvPr/>
        </p:nvSpPr>
        <p:spPr>
          <a:xfrm>
            <a:off x="564480" y="1752480"/>
            <a:ext cx="353880" cy="282600"/>
          </a:xfrm>
          <a:custGeom>
            <a:avLst/>
            <a:gdLst/>
            <a:ahLst/>
            <a:rect l="l" t="t" r="r" b="b"/>
            <a:pathLst>
              <a:path w="357188" h="285750">
                <a:moveTo>
                  <a:pt x="250031" y="35719"/>
                </a:moveTo>
                <a:cubicBezTo>
                  <a:pt x="309190" y="35719"/>
                  <a:pt x="357188" y="83716"/>
                  <a:pt x="357188" y="142875"/>
                </a:cubicBezTo>
                <a:cubicBezTo>
                  <a:pt x="357188" y="202034"/>
                  <a:pt x="309190" y="250031"/>
                  <a:pt x="250031" y="250031"/>
                </a:cubicBezTo>
                <a:lnTo>
                  <a:pt x="107156" y="250031"/>
                </a:lnTo>
                <a:cubicBezTo>
                  <a:pt x="47997" y="250031"/>
                  <a:pt x="0" y="202034"/>
                  <a:pt x="0" y="142875"/>
                </a:cubicBezTo>
                <a:cubicBezTo>
                  <a:pt x="0" y="83716"/>
                  <a:pt x="47997" y="35719"/>
                  <a:pt x="107156" y="35719"/>
                </a:cubicBezTo>
                <a:lnTo>
                  <a:pt x="250031" y="35719"/>
                </a:lnTo>
                <a:close/>
                <a:moveTo>
                  <a:pt x="107156" y="98227"/>
                </a:moveTo>
                <a:cubicBezTo>
                  <a:pt x="99733" y="98227"/>
                  <a:pt x="93762" y="104198"/>
                  <a:pt x="93762" y="111621"/>
                </a:cubicBezTo>
                <a:lnTo>
                  <a:pt x="93762" y="129480"/>
                </a:lnTo>
                <a:lnTo>
                  <a:pt x="75902" y="129480"/>
                </a:lnTo>
                <a:cubicBezTo>
                  <a:pt x="68480" y="129480"/>
                  <a:pt x="62508" y="135452"/>
                  <a:pt x="62508" y="142875"/>
                </a:cubicBezTo>
                <a:cubicBezTo>
                  <a:pt x="62508" y="150298"/>
                  <a:pt x="68480" y="156270"/>
                  <a:pt x="75902" y="156270"/>
                </a:cubicBezTo>
                <a:lnTo>
                  <a:pt x="93762" y="156270"/>
                </a:lnTo>
                <a:lnTo>
                  <a:pt x="93762" y="174129"/>
                </a:lnTo>
                <a:cubicBezTo>
                  <a:pt x="93762" y="181552"/>
                  <a:pt x="99733" y="187523"/>
                  <a:pt x="107156" y="187523"/>
                </a:cubicBezTo>
                <a:cubicBezTo>
                  <a:pt x="114579" y="187523"/>
                  <a:pt x="120551" y="181552"/>
                  <a:pt x="120551" y="174129"/>
                </a:cubicBezTo>
                <a:lnTo>
                  <a:pt x="120551" y="156270"/>
                </a:lnTo>
                <a:lnTo>
                  <a:pt x="138410" y="156270"/>
                </a:lnTo>
                <a:cubicBezTo>
                  <a:pt x="145833" y="156270"/>
                  <a:pt x="151805" y="150298"/>
                  <a:pt x="151805" y="142875"/>
                </a:cubicBezTo>
                <a:cubicBezTo>
                  <a:pt x="151805" y="135452"/>
                  <a:pt x="145833" y="129480"/>
                  <a:pt x="138410" y="129480"/>
                </a:cubicBezTo>
                <a:lnTo>
                  <a:pt x="120551" y="129480"/>
                </a:lnTo>
                <a:lnTo>
                  <a:pt x="120551" y="111621"/>
                </a:lnTo>
                <a:cubicBezTo>
                  <a:pt x="120551" y="104198"/>
                  <a:pt x="114579" y="98227"/>
                  <a:pt x="107156" y="98227"/>
                </a:cubicBezTo>
                <a:close/>
                <a:moveTo>
                  <a:pt x="241102" y="151805"/>
                </a:moveTo>
                <a:cubicBezTo>
                  <a:pt x="231245" y="151805"/>
                  <a:pt x="223242" y="159807"/>
                  <a:pt x="223242" y="169664"/>
                </a:cubicBezTo>
                <a:cubicBezTo>
                  <a:pt x="223242" y="179521"/>
                  <a:pt x="231245" y="187523"/>
                  <a:pt x="241102" y="187523"/>
                </a:cubicBezTo>
                <a:cubicBezTo>
                  <a:pt x="250958" y="187523"/>
                  <a:pt x="258961" y="179521"/>
                  <a:pt x="258961" y="169664"/>
                </a:cubicBezTo>
                <a:cubicBezTo>
                  <a:pt x="258961" y="159807"/>
                  <a:pt x="250958" y="151805"/>
                  <a:pt x="241102" y="151805"/>
                </a:cubicBezTo>
                <a:close/>
                <a:moveTo>
                  <a:pt x="276820" y="98227"/>
                </a:moveTo>
                <a:cubicBezTo>
                  <a:pt x="266963" y="98227"/>
                  <a:pt x="258961" y="106229"/>
                  <a:pt x="258961" y="116086"/>
                </a:cubicBezTo>
                <a:cubicBezTo>
                  <a:pt x="258961" y="125943"/>
                  <a:pt x="266963" y="133945"/>
                  <a:pt x="276820" y="133945"/>
                </a:cubicBezTo>
                <a:cubicBezTo>
                  <a:pt x="286677" y="133945"/>
                  <a:pt x="294680" y="125943"/>
                  <a:pt x="294680" y="116086"/>
                </a:cubicBezTo>
                <a:cubicBezTo>
                  <a:pt x="294680" y="106229"/>
                  <a:pt x="286677" y="98227"/>
                  <a:pt x="276820" y="98227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Text 6"/>
          <p:cNvSpPr/>
          <p:nvPr/>
        </p:nvSpPr>
        <p:spPr>
          <a:xfrm>
            <a:off x="1033560" y="1743120"/>
            <a:ext cx="5493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ffcd75"/>
                </a:solidFill>
                <a:latin typeface="Jersey 15"/>
                <a:ea typeface="Jersey 15"/>
              </a:rPr>
              <a:t>ATARI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32" name="Text 7"/>
          <p:cNvSpPr/>
          <p:nvPr/>
        </p:nvSpPr>
        <p:spPr>
          <a:xfrm>
            <a:off x="561960" y="2200320"/>
            <a:ext cx="6994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33" name="Text 8"/>
          <p:cNvSpPr/>
          <p:nvPr/>
        </p:nvSpPr>
        <p:spPr>
          <a:xfrm>
            <a:off x="714240" y="2467080"/>
            <a:ext cx="32641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Asteroids (1979)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34" name="Text 9"/>
          <p:cNvSpPr/>
          <p:nvPr/>
        </p:nvSpPr>
        <p:spPr>
          <a:xfrm>
            <a:off x="714240" y="2771640"/>
            <a:ext cx="32641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Centipede (1981)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35" name="Text 10"/>
          <p:cNvSpPr/>
          <p:nvPr/>
        </p:nvSpPr>
        <p:spPr>
          <a:xfrm>
            <a:off x="714240" y="3076560"/>
            <a:ext cx="32641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Tempest (1981)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36" name="Shape 11"/>
          <p:cNvSpPr/>
          <p:nvPr/>
        </p:nvSpPr>
        <p:spPr>
          <a:xfrm>
            <a:off x="561960" y="3419640"/>
            <a:ext cx="3340440" cy="33984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Text 12"/>
          <p:cNvSpPr/>
          <p:nvPr/>
        </p:nvSpPr>
        <p:spPr>
          <a:xfrm>
            <a:off x="604800" y="3495600"/>
            <a:ext cx="3254760" cy="1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Pioneered vector graphics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38" name="Shape 13"/>
          <p:cNvSpPr/>
          <p:nvPr/>
        </p:nvSpPr>
        <p:spPr>
          <a:xfrm>
            <a:off x="4256280" y="1576440"/>
            <a:ext cx="3673800" cy="234936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Shape 14"/>
          <p:cNvSpPr/>
          <p:nvPr/>
        </p:nvSpPr>
        <p:spPr>
          <a:xfrm>
            <a:off x="4496760" y="1752480"/>
            <a:ext cx="210960" cy="282600"/>
          </a:xfrm>
          <a:custGeom>
            <a:avLst/>
            <a:gdLst/>
            <a:ahLst/>
            <a:rect l="l" t="t" r="r" b="b"/>
            <a:pathLst>
              <a:path w="214313" h="285750">
                <a:moveTo>
                  <a:pt x="22380" y="260691"/>
                </a:moveTo>
                <a:lnTo>
                  <a:pt x="16129" y="265714"/>
                </a:lnTo>
                <a:cubicBezTo>
                  <a:pt x="14343" y="267109"/>
                  <a:pt x="12167" y="267891"/>
                  <a:pt x="9934" y="267891"/>
                </a:cubicBezTo>
                <a:cubicBezTo>
                  <a:pt x="4465" y="267891"/>
                  <a:pt x="0" y="263426"/>
                  <a:pt x="0" y="257956"/>
                </a:cubicBezTo>
                <a:lnTo>
                  <a:pt x="0" y="107156"/>
                </a:lnTo>
                <a:cubicBezTo>
                  <a:pt x="0" y="47997"/>
                  <a:pt x="47997" y="0"/>
                  <a:pt x="107156" y="0"/>
                </a:cubicBezTo>
                <a:cubicBezTo>
                  <a:pt x="166315" y="0"/>
                  <a:pt x="214313" y="47997"/>
                  <a:pt x="214313" y="107156"/>
                </a:cubicBezTo>
                <a:lnTo>
                  <a:pt x="214313" y="257956"/>
                </a:lnTo>
                <a:cubicBezTo>
                  <a:pt x="214313" y="263426"/>
                  <a:pt x="209848" y="267891"/>
                  <a:pt x="204378" y="267891"/>
                </a:cubicBezTo>
                <a:cubicBezTo>
                  <a:pt x="202146" y="267891"/>
                  <a:pt x="199969" y="267109"/>
                  <a:pt x="198183" y="265714"/>
                </a:cubicBezTo>
                <a:lnTo>
                  <a:pt x="191932" y="260691"/>
                </a:lnTo>
                <a:cubicBezTo>
                  <a:pt x="184454" y="254719"/>
                  <a:pt x="173627" y="255668"/>
                  <a:pt x="167320" y="262868"/>
                </a:cubicBezTo>
                <a:lnTo>
                  <a:pt x="150298" y="282401"/>
                </a:lnTo>
                <a:cubicBezTo>
                  <a:pt x="148456" y="284522"/>
                  <a:pt x="145721" y="285750"/>
                  <a:pt x="142875" y="285750"/>
                </a:cubicBezTo>
                <a:cubicBezTo>
                  <a:pt x="140029" y="285750"/>
                  <a:pt x="137350" y="284522"/>
                  <a:pt x="135452" y="282401"/>
                </a:cubicBezTo>
                <a:lnTo>
                  <a:pt x="120607" y="265379"/>
                </a:lnTo>
                <a:cubicBezTo>
                  <a:pt x="113519" y="257231"/>
                  <a:pt x="100850" y="257231"/>
                  <a:pt x="93706" y="265379"/>
                </a:cubicBezTo>
                <a:lnTo>
                  <a:pt x="78860" y="282401"/>
                </a:lnTo>
                <a:cubicBezTo>
                  <a:pt x="77019" y="284522"/>
                  <a:pt x="74284" y="285750"/>
                  <a:pt x="71438" y="285750"/>
                </a:cubicBezTo>
                <a:cubicBezTo>
                  <a:pt x="68591" y="285750"/>
                  <a:pt x="65912" y="284522"/>
                  <a:pt x="64015" y="282401"/>
                </a:cubicBezTo>
                <a:lnTo>
                  <a:pt x="46992" y="262868"/>
                </a:lnTo>
                <a:cubicBezTo>
                  <a:pt x="40686" y="255668"/>
                  <a:pt x="29859" y="254719"/>
                  <a:pt x="22380" y="260691"/>
                </a:cubicBezTo>
                <a:close/>
                <a:moveTo>
                  <a:pt x="89297" y="107156"/>
                </a:moveTo>
                <a:cubicBezTo>
                  <a:pt x="89297" y="97299"/>
                  <a:pt x="81294" y="89297"/>
                  <a:pt x="71438" y="89297"/>
                </a:cubicBezTo>
                <a:cubicBezTo>
                  <a:pt x="61581" y="89297"/>
                  <a:pt x="53578" y="97299"/>
                  <a:pt x="53578" y="107156"/>
                </a:cubicBezTo>
                <a:cubicBezTo>
                  <a:pt x="53578" y="117013"/>
                  <a:pt x="61581" y="125016"/>
                  <a:pt x="71438" y="125016"/>
                </a:cubicBezTo>
                <a:cubicBezTo>
                  <a:pt x="81294" y="125016"/>
                  <a:pt x="89297" y="117013"/>
                  <a:pt x="89297" y="107156"/>
                </a:cubicBezTo>
                <a:close/>
                <a:moveTo>
                  <a:pt x="142875" y="125016"/>
                </a:moveTo>
                <a:cubicBezTo>
                  <a:pt x="152732" y="125016"/>
                  <a:pt x="160734" y="117013"/>
                  <a:pt x="160734" y="107156"/>
                </a:cubicBezTo>
                <a:cubicBezTo>
                  <a:pt x="160734" y="97299"/>
                  <a:pt x="152732" y="89297"/>
                  <a:pt x="142875" y="89297"/>
                </a:cubicBezTo>
                <a:cubicBezTo>
                  <a:pt x="133018" y="89297"/>
                  <a:pt x="125016" y="97299"/>
                  <a:pt x="125016" y="107156"/>
                </a:cubicBezTo>
                <a:cubicBezTo>
                  <a:pt x="125016" y="117013"/>
                  <a:pt x="133018" y="125016"/>
                  <a:pt x="142875" y="125016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 15"/>
          <p:cNvSpPr/>
          <p:nvPr/>
        </p:nvSpPr>
        <p:spPr>
          <a:xfrm>
            <a:off x="4894560" y="1743120"/>
            <a:ext cx="67320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a7f070"/>
                </a:solidFill>
                <a:latin typeface="Jersey 15"/>
                <a:ea typeface="Jersey 15"/>
              </a:rPr>
              <a:t>NAMCO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41" name="Text 16"/>
          <p:cNvSpPr/>
          <p:nvPr/>
        </p:nvSpPr>
        <p:spPr>
          <a:xfrm>
            <a:off x="4422960" y="2200320"/>
            <a:ext cx="6994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42" name="Text 17"/>
          <p:cNvSpPr/>
          <p:nvPr/>
        </p:nvSpPr>
        <p:spPr>
          <a:xfrm>
            <a:off x="4575600" y="2467080"/>
            <a:ext cx="32641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Pac-Man (1980)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43" name="Text 18"/>
          <p:cNvSpPr/>
          <p:nvPr/>
        </p:nvSpPr>
        <p:spPr>
          <a:xfrm>
            <a:off x="4575600" y="2771640"/>
            <a:ext cx="32641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Galaga (1981)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44" name="Text 19"/>
          <p:cNvSpPr/>
          <p:nvPr/>
        </p:nvSpPr>
        <p:spPr>
          <a:xfrm>
            <a:off x="4575600" y="3076560"/>
            <a:ext cx="32641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Dig Dug (1982)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45" name="Shape 20"/>
          <p:cNvSpPr/>
          <p:nvPr/>
        </p:nvSpPr>
        <p:spPr>
          <a:xfrm>
            <a:off x="4422960" y="3419640"/>
            <a:ext cx="3340440" cy="33984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Text 21"/>
          <p:cNvSpPr/>
          <p:nvPr/>
        </p:nvSpPr>
        <p:spPr>
          <a:xfrm>
            <a:off x="4465800" y="3495600"/>
            <a:ext cx="3254760" cy="1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Created gaming icons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47" name="Shape 22"/>
          <p:cNvSpPr/>
          <p:nvPr/>
        </p:nvSpPr>
        <p:spPr>
          <a:xfrm>
            <a:off x="8117280" y="1576440"/>
            <a:ext cx="3673800" cy="234936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Shape 23"/>
          <p:cNvSpPr/>
          <p:nvPr/>
        </p:nvSpPr>
        <p:spPr>
          <a:xfrm>
            <a:off x="8322480" y="1752480"/>
            <a:ext cx="282600" cy="282600"/>
          </a:xfrm>
          <a:custGeom>
            <a:avLst/>
            <a:gdLst/>
            <a:ah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24"/>
          <p:cNvSpPr/>
          <p:nvPr/>
        </p:nvSpPr>
        <p:spPr>
          <a:xfrm>
            <a:off x="8755920" y="1743120"/>
            <a:ext cx="53964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29adff"/>
                </a:solidFill>
                <a:latin typeface="Jersey 15"/>
                <a:ea typeface="Jersey 15"/>
              </a:rPr>
              <a:t>TAITO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50" name="Text 25"/>
          <p:cNvSpPr/>
          <p:nvPr/>
        </p:nvSpPr>
        <p:spPr>
          <a:xfrm>
            <a:off x="8284320" y="2200320"/>
            <a:ext cx="6994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51" name="Text 26"/>
          <p:cNvSpPr/>
          <p:nvPr/>
        </p:nvSpPr>
        <p:spPr>
          <a:xfrm>
            <a:off x="8436600" y="2467080"/>
            <a:ext cx="32641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Space Invaders (1978)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52" name="Text 27"/>
          <p:cNvSpPr/>
          <p:nvPr/>
        </p:nvSpPr>
        <p:spPr>
          <a:xfrm>
            <a:off x="8436600" y="2771640"/>
            <a:ext cx="32641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Bubble Bobble (1986)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53" name="Text 28"/>
          <p:cNvSpPr/>
          <p:nvPr/>
        </p:nvSpPr>
        <p:spPr>
          <a:xfrm>
            <a:off x="8436600" y="3076560"/>
            <a:ext cx="32641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Arkanoid (1986)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54" name="Shape 29"/>
          <p:cNvSpPr/>
          <p:nvPr/>
        </p:nvSpPr>
        <p:spPr>
          <a:xfrm>
            <a:off x="8284320" y="3419640"/>
            <a:ext cx="3340440" cy="33984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Text 30"/>
          <p:cNvSpPr/>
          <p:nvPr/>
        </p:nvSpPr>
        <p:spPr>
          <a:xfrm>
            <a:off x="8327160" y="3495600"/>
            <a:ext cx="3254760" cy="1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Started the golden age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56" name="Shape 31"/>
          <p:cNvSpPr/>
          <p:nvPr/>
        </p:nvSpPr>
        <p:spPr>
          <a:xfrm>
            <a:off x="395280" y="4110120"/>
            <a:ext cx="3673800" cy="234936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Shape 32"/>
          <p:cNvSpPr/>
          <p:nvPr/>
        </p:nvSpPr>
        <p:spPr>
          <a:xfrm>
            <a:off x="600120" y="4286160"/>
            <a:ext cx="282600" cy="282600"/>
          </a:xfrm>
          <a:custGeom>
            <a:avLst/>
            <a:gdLst/>
            <a:ah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14467" y="171283"/>
                </a:moveTo>
                <a:cubicBezTo>
                  <a:pt x="130150" y="186965"/>
                  <a:pt x="155600" y="186965"/>
                  <a:pt x="171283" y="171283"/>
                </a:cubicBezTo>
                <a:cubicBezTo>
                  <a:pt x="176529" y="166036"/>
                  <a:pt x="185012" y="166036"/>
                  <a:pt x="190202" y="171283"/>
                </a:cubicBezTo>
                <a:cubicBezTo>
                  <a:pt x="195393" y="176529"/>
                  <a:pt x="195449" y="185012"/>
                  <a:pt x="190202" y="190202"/>
                </a:cubicBezTo>
                <a:cubicBezTo>
                  <a:pt x="164027" y="216377"/>
                  <a:pt x="121667" y="216377"/>
                  <a:pt x="95492" y="190202"/>
                </a:cubicBezTo>
                <a:cubicBezTo>
                  <a:pt x="69317" y="164027"/>
                  <a:pt x="69317" y="121667"/>
                  <a:pt x="95492" y="95492"/>
                </a:cubicBezTo>
                <a:cubicBezTo>
                  <a:pt x="121667" y="69317"/>
                  <a:pt x="164027" y="69317"/>
                  <a:pt x="190202" y="95492"/>
                </a:cubicBezTo>
                <a:cubicBezTo>
                  <a:pt x="195449" y="100738"/>
                  <a:pt x="195449" y="109221"/>
                  <a:pt x="190202" y="114412"/>
                </a:cubicBezTo>
                <a:cubicBezTo>
                  <a:pt x="184956" y="119602"/>
                  <a:pt x="176473" y="119658"/>
                  <a:pt x="171283" y="114412"/>
                </a:cubicBezTo>
                <a:cubicBezTo>
                  <a:pt x="155600" y="98729"/>
                  <a:pt x="130150" y="98729"/>
                  <a:pt x="114467" y="114412"/>
                </a:cubicBezTo>
                <a:cubicBezTo>
                  <a:pt x="98785" y="130094"/>
                  <a:pt x="98785" y="155544"/>
                  <a:pt x="114467" y="171227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Text 33"/>
          <p:cNvSpPr/>
          <p:nvPr/>
        </p:nvSpPr>
        <p:spPr>
          <a:xfrm>
            <a:off x="1033560" y="4276800"/>
            <a:ext cx="87300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ffcd75"/>
                </a:solidFill>
                <a:latin typeface="Jersey 15"/>
                <a:ea typeface="Jersey 15"/>
              </a:rPr>
              <a:t>NINTENDO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59" name="Text 34"/>
          <p:cNvSpPr/>
          <p:nvPr/>
        </p:nvSpPr>
        <p:spPr>
          <a:xfrm>
            <a:off x="561960" y="4734000"/>
            <a:ext cx="6994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60" name="Text 35"/>
          <p:cNvSpPr/>
          <p:nvPr/>
        </p:nvSpPr>
        <p:spPr>
          <a:xfrm>
            <a:off x="714240" y="5000760"/>
            <a:ext cx="32641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Donkey Kong (1981)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61" name="Text 36"/>
          <p:cNvSpPr/>
          <p:nvPr/>
        </p:nvSpPr>
        <p:spPr>
          <a:xfrm>
            <a:off x="714240" y="5305320"/>
            <a:ext cx="32641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Mario Bros. (1983)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62" name="Text 37"/>
          <p:cNvSpPr/>
          <p:nvPr/>
        </p:nvSpPr>
        <p:spPr>
          <a:xfrm>
            <a:off x="714240" y="5610240"/>
            <a:ext cx="32641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Popeye (1982)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63" name="Shape 38"/>
          <p:cNvSpPr/>
          <p:nvPr/>
        </p:nvSpPr>
        <p:spPr>
          <a:xfrm>
            <a:off x="561960" y="5952960"/>
            <a:ext cx="3340440" cy="33984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Text 39"/>
          <p:cNvSpPr/>
          <p:nvPr/>
        </p:nvSpPr>
        <p:spPr>
          <a:xfrm>
            <a:off x="604800" y="6029280"/>
            <a:ext cx="3254760" cy="1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Created Mario universe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65" name="Shape 40"/>
          <p:cNvSpPr/>
          <p:nvPr/>
        </p:nvSpPr>
        <p:spPr>
          <a:xfrm>
            <a:off x="4256280" y="4110120"/>
            <a:ext cx="3673800" cy="234936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6" name="Shape 41"/>
          <p:cNvSpPr/>
          <p:nvPr/>
        </p:nvSpPr>
        <p:spPr>
          <a:xfrm>
            <a:off x="4443480" y="4286160"/>
            <a:ext cx="318240" cy="282600"/>
          </a:xfrm>
          <a:custGeom>
            <a:avLst/>
            <a:gdLst/>
            <a:ahLst/>
            <a:rect l="l" t="t" r="r" b="b"/>
            <a:pathLst>
              <a:path w="321469" h="285750">
                <a:moveTo>
                  <a:pt x="150075" y="47551"/>
                </a:moveTo>
                <a:lnTo>
                  <a:pt x="84999" y="119881"/>
                </a:lnTo>
                <a:cubicBezTo>
                  <a:pt x="82432" y="122727"/>
                  <a:pt x="82544" y="127136"/>
                  <a:pt x="85279" y="129871"/>
                </a:cubicBezTo>
                <a:cubicBezTo>
                  <a:pt x="102301" y="146893"/>
                  <a:pt x="129927" y="146893"/>
                  <a:pt x="146949" y="129871"/>
                </a:cubicBezTo>
                <a:lnTo>
                  <a:pt x="164697" y="112123"/>
                </a:lnTo>
                <a:cubicBezTo>
                  <a:pt x="167041" y="109779"/>
                  <a:pt x="169999" y="108496"/>
                  <a:pt x="173013" y="108272"/>
                </a:cubicBezTo>
                <a:cubicBezTo>
                  <a:pt x="176808" y="107938"/>
                  <a:pt x="180715" y="109221"/>
                  <a:pt x="183617" y="112123"/>
                </a:cubicBezTo>
                <a:lnTo>
                  <a:pt x="282178" y="209848"/>
                </a:lnTo>
                <a:lnTo>
                  <a:pt x="321469" y="178594"/>
                </a:lnTo>
                <a:lnTo>
                  <a:pt x="321469" y="17859"/>
                </a:lnTo>
                <a:lnTo>
                  <a:pt x="258961" y="53578"/>
                </a:lnTo>
                <a:lnTo>
                  <a:pt x="245678" y="44704"/>
                </a:lnTo>
                <a:cubicBezTo>
                  <a:pt x="236860" y="38844"/>
                  <a:pt x="226535" y="35719"/>
                  <a:pt x="215931" y="35719"/>
                </a:cubicBezTo>
                <a:lnTo>
                  <a:pt x="176640" y="35719"/>
                </a:lnTo>
                <a:cubicBezTo>
                  <a:pt x="176026" y="35719"/>
                  <a:pt x="175357" y="35719"/>
                  <a:pt x="174743" y="35775"/>
                </a:cubicBezTo>
                <a:cubicBezTo>
                  <a:pt x="165311" y="36277"/>
                  <a:pt x="156437" y="40518"/>
                  <a:pt x="150075" y="47551"/>
                </a:cubicBezTo>
                <a:close/>
                <a:moveTo>
                  <a:pt x="65075" y="101966"/>
                </a:moveTo>
                <a:lnTo>
                  <a:pt x="124681" y="35719"/>
                </a:lnTo>
                <a:lnTo>
                  <a:pt x="102580" y="35719"/>
                </a:lnTo>
                <a:cubicBezTo>
                  <a:pt x="88348" y="35719"/>
                  <a:pt x="74730" y="41356"/>
                  <a:pt x="64684" y="51402"/>
                </a:cubicBezTo>
                <a:lnTo>
                  <a:pt x="62508" y="53578"/>
                </a:lnTo>
                <a:lnTo>
                  <a:pt x="0" y="17859"/>
                </a:lnTo>
                <a:lnTo>
                  <a:pt x="0" y="178594"/>
                </a:lnTo>
                <a:lnTo>
                  <a:pt x="87288" y="251315"/>
                </a:lnTo>
                <a:cubicBezTo>
                  <a:pt x="100124" y="262031"/>
                  <a:pt x="116309" y="267891"/>
                  <a:pt x="132997" y="267891"/>
                </a:cubicBezTo>
                <a:lnTo>
                  <a:pt x="141759" y="267891"/>
                </a:lnTo>
                <a:lnTo>
                  <a:pt x="137852" y="263984"/>
                </a:lnTo>
                <a:cubicBezTo>
                  <a:pt x="132606" y="258738"/>
                  <a:pt x="132606" y="250254"/>
                  <a:pt x="137852" y="245064"/>
                </a:cubicBezTo>
                <a:cubicBezTo>
                  <a:pt x="143098" y="239874"/>
                  <a:pt x="151581" y="239818"/>
                  <a:pt x="156772" y="245064"/>
                </a:cubicBezTo>
                <a:lnTo>
                  <a:pt x="179654" y="267946"/>
                </a:lnTo>
                <a:lnTo>
                  <a:pt x="184677" y="267946"/>
                </a:lnTo>
                <a:cubicBezTo>
                  <a:pt x="195337" y="267946"/>
                  <a:pt x="205773" y="265547"/>
                  <a:pt x="215261" y="261082"/>
                </a:cubicBezTo>
                <a:lnTo>
                  <a:pt x="200360" y="246125"/>
                </a:lnTo>
                <a:cubicBezTo>
                  <a:pt x="195114" y="240878"/>
                  <a:pt x="195114" y="232395"/>
                  <a:pt x="200360" y="227205"/>
                </a:cubicBezTo>
                <a:cubicBezTo>
                  <a:pt x="205606" y="222014"/>
                  <a:pt x="214089" y="221959"/>
                  <a:pt x="219280" y="227205"/>
                </a:cubicBezTo>
                <a:lnTo>
                  <a:pt x="237139" y="245064"/>
                </a:lnTo>
                <a:lnTo>
                  <a:pt x="246906" y="235297"/>
                </a:lnTo>
                <a:cubicBezTo>
                  <a:pt x="251873" y="230330"/>
                  <a:pt x="253324" y="223131"/>
                  <a:pt x="251147" y="216824"/>
                </a:cubicBezTo>
                <a:lnTo>
                  <a:pt x="174185" y="140475"/>
                </a:lnTo>
                <a:lnTo>
                  <a:pt x="165869" y="148791"/>
                </a:lnTo>
                <a:cubicBezTo>
                  <a:pt x="138354" y="176306"/>
                  <a:pt x="93818" y="176306"/>
                  <a:pt x="66303" y="148791"/>
                </a:cubicBezTo>
                <a:cubicBezTo>
                  <a:pt x="53467" y="135954"/>
                  <a:pt x="52964" y="115360"/>
                  <a:pt x="65075" y="101910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Text 42"/>
          <p:cNvSpPr/>
          <p:nvPr/>
        </p:nvSpPr>
        <p:spPr>
          <a:xfrm>
            <a:off x="4894560" y="4276800"/>
            <a:ext cx="75888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a7f070"/>
                </a:solidFill>
                <a:latin typeface="Jersey 15"/>
                <a:ea typeface="Jersey 15"/>
              </a:rPr>
              <a:t>MIDWAY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68" name="Text 43"/>
          <p:cNvSpPr/>
          <p:nvPr/>
        </p:nvSpPr>
        <p:spPr>
          <a:xfrm>
            <a:off x="4422960" y="4734000"/>
            <a:ext cx="6994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69" name="Text 44"/>
          <p:cNvSpPr/>
          <p:nvPr/>
        </p:nvSpPr>
        <p:spPr>
          <a:xfrm>
            <a:off x="4575600" y="5000760"/>
            <a:ext cx="32641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Pac-Man (US dist.)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70" name="Text 45"/>
          <p:cNvSpPr/>
          <p:nvPr/>
        </p:nvSpPr>
        <p:spPr>
          <a:xfrm>
            <a:off x="4575600" y="5305320"/>
            <a:ext cx="32641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Ms. Pac-Man (1982)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71" name="Text 46"/>
          <p:cNvSpPr/>
          <p:nvPr/>
        </p:nvSpPr>
        <p:spPr>
          <a:xfrm>
            <a:off x="4575600" y="5610240"/>
            <a:ext cx="32641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Galaga (US dist.)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72" name="Shape 47"/>
          <p:cNvSpPr/>
          <p:nvPr/>
        </p:nvSpPr>
        <p:spPr>
          <a:xfrm>
            <a:off x="4422960" y="5952960"/>
            <a:ext cx="3340440" cy="33984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Text 48"/>
          <p:cNvSpPr/>
          <p:nvPr/>
        </p:nvSpPr>
        <p:spPr>
          <a:xfrm>
            <a:off x="4465800" y="6029280"/>
            <a:ext cx="3254760" cy="1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Major US distributor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74" name="Shape 49"/>
          <p:cNvSpPr/>
          <p:nvPr/>
        </p:nvSpPr>
        <p:spPr>
          <a:xfrm>
            <a:off x="8117280" y="4110120"/>
            <a:ext cx="3673800" cy="2349360"/>
          </a:xfrm>
          <a:custGeom>
            <a:avLst/>
            <a:gdLst/>
            <a:ah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5" name="Shape 50"/>
          <p:cNvSpPr/>
          <p:nvPr/>
        </p:nvSpPr>
        <p:spPr>
          <a:xfrm>
            <a:off x="8322480" y="4286160"/>
            <a:ext cx="282600" cy="282600"/>
          </a:xfrm>
          <a:custGeom>
            <a:avLst/>
            <a:gdLst/>
            <a:ah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Text 51"/>
          <p:cNvSpPr/>
          <p:nvPr/>
        </p:nvSpPr>
        <p:spPr>
          <a:xfrm>
            <a:off x="8755920" y="4276800"/>
            <a:ext cx="86364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29adff"/>
                </a:solidFill>
                <a:latin typeface="Jersey 15"/>
                <a:ea typeface="Jersey 15"/>
              </a:rPr>
              <a:t>WILLIAMS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377" name="Text 52"/>
          <p:cNvSpPr/>
          <p:nvPr/>
        </p:nvSpPr>
        <p:spPr>
          <a:xfrm>
            <a:off x="8284320" y="4734000"/>
            <a:ext cx="6994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Key Games: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78" name="Text 53"/>
          <p:cNvSpPr/>
          <p:nvPr/>
        </p:nvSpPr>
        <p:spPr>
          <a:xfrm>
            <a:off x="8436600" y="5000760"/>
            <a:ext cx="32641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Defender (1981)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79" name="Text 54"/>
          <p:cNvSpPr/>
          <p:nvPr/>
        </p:nvSpPr>
        <p:spPr>
          <a:xfrm>
            <a:off x="8436600" y="5305320"/>
            <a:ext cx="32641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Joust (1982)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80" name="Text 55"/>
          <p:cNvSpPr/>
          <p:nvPr/>
        </p:nvSpPr>
        <p:spPr>
          <a:xfrm>
            <a:off x="8436600" y="5610240"/>
            <a:ext cx="326412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• </a:t>
            </a:r>
            <a:r>
              <a:rPr b="0" lang="en-US" sz="1200" spc="-1" strike="noStrike">
                <a:solidFill>
                  <a:srgbClr val="f4f4f4"/>
                </a:solidFill>
                <a:latin typeface="Jersey 15"/>
                <a:ea typeface="Jersey 15"/>
              </a:rPr>
              <a:t>Robotron 2084 (1982)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81" name="Shape 56"/>
          <p:cNvSpPr/>
          <p:nvPr/>
        </p:nvSpPr>
        <p:spPr>
          <a:xfrm>
            <a:off x="8284320" y="5952960"/>
            <a:ext cx="3340440" cy="339840"/>
          </a:xfrm>
          <a:custGeom>
            <a:avLst/>
            <a:gdLst/>
            <a:ah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Text 57"/>
          <p:cNvSpPr/>
          <p:nvPr/>
        </p:nvSpPr>
        <p:spPr>
          <a:xfrm>
            <a:off x="8327160" y="6029280"/>
            <a:ext cx="3254760" cy="1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f4f4f4"/>
                </a:solidFill>
                <a:latin typeface="Jersey 15"/>
                <a:ea typeface="Jersey 15"/>
              </a:rPr>
              <a:t>Innovative gameplay</a:t>
            </a:r>
            <a:endParaRPr b="0" lang="en-HK" sz="1050" spc="-1" strike="noStrike">
              <a:latin typeface="Arial"/>
            </a:endParaRPr>
          </a:p>
        </p:txBody>
      </p:sp>
    </p:spTree>
  </p:cSld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Image 0"/>
          <p:cNvSpPr/>
          <p:nvPr/>
        </p:nvSpPr>
        <p:spPr>
          <a:xfrm>
            <a:off x="0" y="0"/>
            <a:ext cx="12189960" cy="685476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Shape 0"/>
          <p:cNvSpPr/>
          <p:nvPr/>
        </p:nvSpPr>
        <p:spPr>
          <a:xfrm>
            <a:off x="0" y="0"/>
            <a:ext cx="12189960" cy="685476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Shape 1"/>
          <p:cNvSpPr/>
          <p:nvPr/>
        </p:nvSpPr>
        <p:spPr>
          <a:xfrm>
            <a:off x="380880" y="1542960"/>
            <a:ext cx="1854000" cy="606240"/>
          </a:xfrm>
          <a:custGeom>
            <a:avLst/>
            <a:gdLst/>
            <a:ahLst/>
            <a:rect l="l" t="t" r="r" b="b"/>
            <a:pathLst>
              <a:path w="1857375" h="609600">
                <a:moveTo>
                  <a:pt x="0" y="0"/>
                </a:moveTo>
                <a:lnTo>
                  <a:pt x="1857375" y="0"/>
                </a:lnTo>
                <a:lnTo>
                  <a:pt x="185737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Text 2"/>
          <p:cNvSpPr/>
          <p:nvPr/>
        </p:nvSpPr>
        <p:spPr>
          <a:xfrm>
            <a:off x="609480" y="1676520"/>
            <a:ext cx="156528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1a1c2c"/>
                </a:solidFill>
                <a:latin typeface="Jersey 15"/>
                <a:ea typeface="Jersey 15"/>
              </a:rPr>
              <a:t>CHAPTER 04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387" name="Text 3"/>
          <p:cNvSpPr/>
          <p:nvPr/>
        </p:nvSpPr>
        <p:spPr>
          <a:xfrm>
            <a:off x="380880" y="2381400"/>
            <a:ext cx="11770920" cy="171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CULTURAL IMPACT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&amp; LEGACY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388" name="Shape 4"/>
          <p:cNvSpPr/>
          <p:nvPr/>
        </p:nvSpPr>
        <p:spPr>
          <a:xfrm>
            <a:off x="380880" y="4324320"/>
            <a:ext cx="1520640" cy="73080"/>
          </a:xfrm>
          <a:custGeom>
            <a:avLst/>
            <a:gdLst/>
            <a:ah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Text 5"/>
          <p:cNvSpPr/>
          <p:nvPr/>
        </p:nvSpPr>
        <p:spPr>
          <a:xfrm>
            <a:off x="380880" y="4629240"/>
            <a:ext cx="745560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From Niche Hobby</a:t>
            </a:r>
            <a:endParaRPr b="0" lang="en-HK" sz="2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to Global Phenomenon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390" name="Shape 6"/>
          <p:cNvSpPr/>
          <p:nvPr/>
        </p:nvSpPr>
        <p:spPr>
          <a:xfrm>
            <a:off x="10592640" y="5867280"/>
            <a:ext cx="149040" cy="14904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Shape 7"/>
          <p:cNvSpPr/>
          <p:nvPr/>
        </p:nvSpPr>
        <p:spPr>
          <a:xfrm>
            <a:off x="10897200" y="5867280"/>
            <a:ext cx="149040" cy="14904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Shape 8"/>
          <p:cNvSpPr/>
          <p:nvPr/>
        </p:nvSpPr>
        <p:spPr>
          <a:xfrm>
            <a:off x="11202120" y="5867280"/>
            <a:ext cx="149040" cy="14904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0"/>
          <p:cNvSpPr/>
          <p:nvPr/>
        </p:nvSpPr>
        <p:spPr>
          <a:xfrm>
            <a:off x="0" y="0"/>
            <a:ext cx="12189960" cy="6852600"/>
          </a:xfrm>
          <a:custGeom>
            <a:avLst/>
            <a:gdLst/>
            <a:ahLst/>
            <a:rect l="l" t="t" r="r" b="b"/>
            <a:pathLst>
              <a:path w="12192000" h="6855791">
                <a:moveTo>
                  <a:pt x="0" y="0"/>
                </a:moveTo>
                <a:lnTo>
                  <a:pt x="12192000" y="0"/>
                </a:lnTo>
                <a:lnTo>
                  <a:pt x="12192000" y="6855791"/>
                </a:lnTo>
                <a:lnTo>
                  <a:pt x="0" y="6855791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Text 1"/>
          <p:cNvSpPr/>
          <p:nvPr/>
        </p:nvSpPr>
        <p:spPr>
          <a:xfrm>
            <a:off x="353520" y="353520"/>
            <a:ext cx="11694960" cy="4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34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ARCADES AS SOCIAL HUBS</a:t>
            </a:r>
            <a:endParaRPr b="0" lang="en-HK" sz="3340" spc="-1" strike="noStrike">
              <a:latin typeface="Arial"/>
            </a:endParaRPr>
          </a:p>
        </p:txBody>
      </p:sp>
      <p:sp>
        <p:nvSpPr>
          <p:cNvPr id="395" name="Text 2"/>
          <p:cNvSpPr/>
          <p:nvPr/>
        </p:nvSpPr>
        <p:spPr>
          <a:xfrm>
            <a:off x="353520" y="883440"/>
            <a:ext cx="1158912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670" spc="-1" strike="noStrike">
                <a:solidFill>
                  <a:srgbClr val="f4f4f4"/>
                </a:solidFill>
                <a:latin typeface="Jersey 15"/>
                <a:ea typeface="Jersey 15"/>
              </a:rPr>
              <a:t>Where Youth Culture Thrived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396" name="Shape 3"/>
          <p:cNvSpPr/>
          <p:nvPr/>
        </p:nvSpPr>
        <p:spPr>
          <a:xfrm>
            <a:off x="353520" y="1272240"/>
            <a:ext cx="844920" cy="32040"/>
          </a:xfrm>
          <a:custGeom>
            <a:avLst/>
            <a:gdLst/>
            <a:ahLst/>
            <a:rect l="l" t="t" r="r" b="b"/>
            <a:pathLst>
              <a:path w="848139" h="35339">
                <a:moveTo>
                  <a:pt x="0" y="0"/>
                </a:moveTo>
                <a:lnTo>
                  <a:pt x="848139" y="0"/>
                </a:lnTo>
                <a:lnTo>
                  <a:pt x="848139" y="35339"/>
                </a:lnTo>
                <a:lnTo>
                  <a:pt x="0" y="35339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Shape 4"/>
          <p:cNvSpPr/>
          <p:nvPr/>
        </p:nvSpPr>
        <p:spPr>
          <a:xfrm>
            <a:off x="366480" y="1462320"/>
            <a:ext cx="3707640" cy="2108160"/>
          </a:xfrm>
          <a:custGeom>
            <a:avLst/>
            <a:gdLst/>
            <a:ah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Shape 5"/>
          <p:cNvSpPr/>
          <p:nvPr/>
        </p:nvSpPr>
        <p:spPr>
          <a:xfrm>
            <a:off x="1954800" y="1652040"/>
            <a:ext cx="526680" cy="420840"/>
          </a:xfrm>
          <a:custGeom>
            <a:avLst/>
            <a:gdLst/>
            <a:ahLst/>
            <a:rect l="l" t="t" r="r" b="b"/>
            <a:pathLst>
              <a:path w="530087" h="424070">
                <a:moveTo>
                  <a:pt x="265043" y="13252"/>
                </a:moveTo>
                <a:cubicBezTo>
                  <a:pt x="312585" y="13252"/>
                  <a:pt x="351183" y="51850"/>
                  <a:pt x="351183" y="99391"/>
                </a:cubicBezTo>
                <a:cubicBezTo>
                  <a:pt x="351183" y="146933"/>
                  <a:pt x="312585" y="185530"/>
                  <a:pt x="265043" y="185530"/>
                </a:cubicBezTo>
                <a:cubicBezTo>
                  <a:pt x="217502" y="185530"/>
                  <a:pt x="178904" y="146933"/>
                  <a:pt x="178904" y="99391"/>
                </a:cubicBezTo>
                <a:cubicBezTo>
                  <a:pt x="178904" y="51850"/>
                  <a:pt x="217502" y="13252"/>
                  <a:pt x="265043" y="13252"/>
                </a:cubicBezTo>
                <a:close/>
                <a:moveTo>
                  <a:pt x="79513" y="72887"/>
                </a:moveTo>
                <a:cubicBezTo>
                  <a:pt x="112426" y="72887"/>
                  <a:pt x="139148" y="99608"/>
                  <a:pt x="139148" y="132522"/>
                </a:cubicBezTo>
                <a:cubicBezTo>
                  <a:pt x="139148" y="165435"/>
                  <a:pt x="112426" y="192157"/>
                  <a:pt x="79513" y="192157"/>
                </a:cubicBezTo>
                <a:cubicBezTo>
                  <a:pt x="46600" y="192157"/>
                  <a:pt x="19878" y="165435"/>
                  <a:pt x="19878" y="132522"/>
                </a:cubicBezTo>
                <a:cubicBezTo>
                  <a:pt x="19878" y="99608"/>
                  <a:pt x="46600" y="72887"/>
                  <a:pt x="79513" y="72887"/>
                </a:cubicBezTo>
                <a:close/>
                <a:moveTo>
                  <a:pt x="0" y="344557"/>
                </a:moveTo>
                <a:cubicBezTo>
                  <a:pt x="0" y="285998"/>
                  <a:pt x="47459" y="238539"/>
                  <a:pt x="106017" y="238539"/>
                </a:cubicBezTo>
                <a:cubicBezTo>
                  <a:pt x="116619" y="238539"/>
                  <a:pt x="126890" y="240113"/>
                  <a:pt x="136580" y="243012"/>
                </a:cubicBezTo>
                <a:cubicBezTo>
                  <a:pt x="109330" y="273492"/>
                  <a:pt x="92765" y="313745"/>
                  <a:pt x="92765" y="357809"/>
                </a:cubicBezTo>
                <a:lnTo>
                  <a:pt x="92765" y="371061"/>
                </a:lnTo>
                <a:cubicBezTo>
                  <a:pt x="92765" y="380503"/>
                  <a:pt x="94753" y="389448"/>
                  <a:pt x="98315" y="397565"/>
                </a:cubicBezTo>
                <a:lnTo>
                  <a:pt x="26504" y="397565"/>
                </a:lnTo>
                <a:cubicBezTo>
                  <a:pt x="11844" y="397565"/>
                  <a:pt x="0" y="385721"/>
                  <a:pt x="0" y="371061"/>
                </a:cubicBezTo>
                <a:lnTo>
                  <a:pt x="0" y="344557"/>
                </a:lnTo>
                <a:close/>
                <a:moveTo>
                  <a:pt x="431772" y="397565"/>
                </a:moveTo>
                <a:cubicBezTo>
                  <a:pt x="435334" y="389448"/>
                  <a:pt x="437322" y="380503"/>
                  <a:pt x="437322" y="371061"/>
                </a:cubicBezTo>
                <a:lnTo>
                  <a:pt x="437322" y="357809"/>
                </a:lnTo>
                <a:cubicBezTo>
                  <a:pt x="437322" y="313745"/>
                  <a:pt x="420757" y="273492"/>
                  <a:pt x="393507" y="243012"/>
                </a:cubicBezTo>
                <a:cubicBezTo>
                  <a:pt x="403197" y="240113"/>
                  <a:pt x="413468" y="238539"/>
                  <a:pt x="424070" y="238539"/>
                </a:cubicBezTo>
                <a:cubicBezTo>
                  <a:pt x="482628" y="238539"/>
                  <a:pt x="530087" y="285998"/>
                  <a:pt x="530087" y="344557"/>
                </a:cubicBezTo>
                <a:lnTo>
                  <a:pt x="530087" y="371061"/>
                </a:lnTo>
                <a:cubicBezTo>
                  <a:pt x="530087" y="385721"/>
                  <a:pt x="518243" y="397565"/>
                  <a:pt x="503583" y="397565"/>
                </a:cubicBezTo>
                <a:lnTo>
                  <a:pt x="431772" y="397565"/>
                </a:lnTo>
                <a:close/>
                <a:moveTo>
                  <a:pt x="390939" y="132522"/>
                </a:moveTo>
                <a:cubicBezTo>
                  <a:pt x="390939" y="99608"/>
                  <a:pt x="417661" y="72887"/>
                  <a:pt x="450574" y="72887"/>
                </a:cubicBezTo>
                <a:cubicBezTo>
                  <a:pt x="483487" y="72887"/>
                  <a:pt x="510209" y="99608"/>
                  <a:pt x="510209" y="132522"/>
                </a:cubicBezTo>
                <a:cubicBezTo>
                  <a:pt x="510209" y="165435"/>
                  <a:pt x="483487" y="192157"/>
                  <a:pt x="450574" y="192157"/>
                </a:cubicBezTo>
                <a:cubicBezTo>
                  <a:pt x="417661" y="192157"/>
                  <a:pt x="390939" y="165435"/>
                  <a:pt x="390939" y="132522"/>
                </a:cubicBezTo>
                <a:close/>
                <a:moveTo>
                  <a:pt x="132522" y="357809"/>
                </a:moveTo>
                <a:cubicBezTo>
                  <a:pt x="132522" y="284590"/>
                  <a:pt x="191825" y="225287"/>
                  <a:pt x="265043" y="225287"/>
                </a:cubicBezTo>
                <a:cubicBezTo>
                  <a:pt x="338262" y="225287"/>
                  <a:pt x="397565" y="284590"/>
                  <a:pt x="397565" y="357809"/>
                </a:cubicBezTo>
                <a:lnTo>
                  <a:pt x="397565" y="371061"/>
                </a:lnTo>
                <a:cubicBezTo>
                  <a:pt x="397565" y="385721"/>
                  <a:pt x="385721" y="397565"/>
                  <a:pt x="371061" y="397565"/>
                </a:cubicBezTo>
                <a:lnTo>
                  <a:pt x="159026" y="397565"/>
                </a:lnTo>
                <a:cubicBezTo>
                  <a:pt x="144366" y="397565"/>
                  <a:pt x="132522" y="385721"/>
                  <a:pt x="132522" y="371061"/>
                </a:cubicBezTo>
                <a:lnTo>
                  <a:pt x="132522" y="357809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Text 6"/>
          <p:cNvSpPr/>
          <p:nvPr/>
        </p:nvSpPr>
        <p:spPr>
          <a:xfrm>
            <a:off x="503640" y="2217600"/>
            <a:ext cx="343368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ffcd75"/>
                </a:solidFill>
                <a:latin typeface="Jersey 15"/>
                <a:ea typeface="Jersey 15"/>
              </a:rPr>
              <a:t>GATHERING PLACES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00" name="Text 7"/>
          <p:cNvSpPr/>
          <p:nvPr/>
        </p:nvSpPr>
        <p:spPr>
          <a:xfrm>
            <a:off x="516960" y="2606400"/>
            <a:ext cx="3407400" cy="7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Arcades became the </a:t>
            </a:r>
            <a:r>
              <a:rPr b="1" lang="en-US" sz="1250" spc="-1" strike="noStrike">
                <a:solidFill>
                  <a:srgbClr val="a7f070"/>
                </a:solidFill>
                <a:latin typeface="Jersey 15"/>
                <a:ea typeface="Jersey 15"/>
              </a:rPr>
              <a:t>malls of the 80s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—where teenagers hung out, made friends, and built communities around shared interests.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01" name="Shape 8"/>
          <p:cNvSpPr/>
          <p:nvPr/>
        </p:nvSpPr>
        <p:spPr>
          <a:xfrm>
            <a:off x="4241160" y="1462320"/>
            <a:ext cx="3707640" cy="2108160"/>
          </a:xfrm>
          <a:custGeom>
            <a:avLst/>
            <a:gdLst/>
            <a:ah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2" name="Shape 9"/>
          <p:cNvSpPr/>
          <p:nvPr/>
        </p:nvSpPr>
        <p:spPr>
          <a:xfrm>
            <a:off x="5882400" y="1652040"/>
            <a:ext cx="420840" cy="420840"/>
          </a:xfrm>
          <a:custGeom>
            <a:avLst/>
            <a:gdLst/>
            <a:ahLst/>
            <a:rect l="l" t="t" r="r" b="b"/>
            <a:pathLst>
              <a:path w="424070" h="424070">
                <a:moveTo>
                  <a:pt x="119518" y="0"/>
                </a:moveTo>
                <a:lnTo>
                  <a:pt x="305048" y="0"/>
                </a:lnTo>
                <a:cubicBezTo>
                  <a:pt x="326997" y="0"/>
                  <a:pt x="344888" y="18056"/>
                  <a:pt x="344060" y="39922"/>
                </a:cubicBezTo>
                <a:cubicBezTo>
                  <a:pt x="343894" y="44312"/>
                  <a:pt x="343728" y="48702"/>
                  <a:pt x="343480" y="53009"/>
                </a:cubicBezTo>
                <a:lnTo>
                  <a:pt x="384562" y="53009"/>
                </a:lnTo>
                <a:cubicBezTo>
                  <a:pt x="406179" y="53009"/>
                  <a:pt x="425229" y="70899"/>
                  <a:pt x="423573" y="94256"/>
                </a:cubicBezTo>
                <a:cubicBezTo>
                  <a:pt x="417361" y="180147"/>
                  <a:pt x="373463" y="227358"/>
                  <a:pt x="325838" y="252040"/>
                </a:cubicBezTo>
                <a:cubicBezTo>
                  <a:pt x="312751" y="258832"/>
                  <a:pt x="299416" y="263884"/>
                  <a:pt x="286744" y="267611"/>
                </a:cubicBezTo>
                <a:cubicBezTo>
                  <a:pt x="270013" y="291299"/>
                  <a:pt x="252620" y="303806"/>
                  <a:pt x="238788" y="310515"/>
                </a:cubicBezTo>
                <a:lnTo>
                  <a:pt x="238788" y="371061"/>
                </a:lnTo>
                <a:lnTo>
                  <a:pt x="291796" y="371061"/>
                </a:lnTo>
                <a:cubicBezTo>
                  <a:pt x="306457" y="371061"/>
                  <a:pt x="318301" y="382905"/>
                  <a:pt x="318301" y="397565"/>
                </a:cubicBezTo>
                <a:cubicBezTo>
                  <a:pt x="318301" y="412225"/>
                  <a:pt x="306457" y="424070"/>
                  <a:pt x="291796" y="424070"/>
                </a:cubicBezTo>
                <a:lnTo>
                  <a:pt x="132770" y="424070"/>
                </a:lnTo>
                <a:cubicBezTo>
                  <a:pt x="118110" y="424070"/>
                  <a:pt x="106266" y="412225"/>
                  <a:pt x="106266" y="397565"/>
                </a:cubicBezTo>
                <a:cubicBezTo>
                  <a:pt x="106266" y="382905"/>
                  <a:pt x="118110" y="371061"/>
                  <a:pt x="132770" y="371061"/>
                </a:cubicBezTo>
                <a:lnTo>
                  <a:pt x="185779" y="371061"/>
                </a:lnTo>
                <a:lnTo>
                  <a:pt x="185779" y="310515"/>
                </a:lnTo>
                <a:cubicBezTo>
                  <a:pt x="172527" y="304137"/>
                  <a:pt x="156044" y="292293"/>
                  <a:pt x="139976" y="270510"/>
                </a:cubicBezTo>
                <a:cubicBezTo>
                  <a:pt x="124736" y="266534"/>
                  <a:pt x="108171" y="260488"/>
                  <a:pt x="92020" y="251377"/>
                </a:cubicBezTo>
                <a:cubicBezTo>
                  <a:pt x="47211" y="226281"/>
                  <a:pt x="6792" y="178987"/>
                  <a:pt x="994" y="94090"/>
                </a:cubicBezTo>
                <a:cubicBezTo>
                  <a:pt x="-580" y="70816"/>
                  <a:pt x="18387" y="52926"/>
                  <a:pt x="40005" y="52926"/>
                </a:cubicBezTo>
                <a:lnTo>
                  <a:pt x="81087" y="52926"/>
                </a:lnTo>
                <a:cubicBezTo>
                  <a:pt x="80838" y="48619"/>
                  <a:pt x="80673" y="44312"/>
                  <a:pt x="80507" y="39839"/>
                </a:cubicBezTo>
                <a:cubicBezTo>
                  <a:pt x="79679" y="17890"/>
                  <a:pt x="97569" y="-83"/>
                  <a:pt x="119518" y="-83"/>
                </a:cubicBezTo>
                <a:close/>
                <a:moveTo>
                  <a:pt x="84068" y="92765"/>
                </a:moveTo>
                <a:lnTo>
                  <a:pt x="40668" y="92765"/>
                </a:lnTo>
                <a:cubicBezTo>
                  <a:pt x="45803" y="162919"/>
                  <a:pt x="78022" y="198037"/>
                  <a:pt x="111235" y="216673"/>
                </a:cubicBezTo>
                <a:cubicBezTo>
                  <a:pt x="99308" y="185779"/>
                  <a:pt x="89452" y="145443"/>
                  <a:pt x="84068" y="92765"/>
                </a:cubicBezTo>
                <a:close/>
                <a:moveTo>
                  <a:pt x="314739" y="212697"/>
                </a:moveTo>
                <a:cubicBezTo>
                  <a:pt x="348284" y="192985"/>
                  <a:pt x="378598" y="157949"/>
                  <a:pt x="383733" y="92765"/>
                </a:cubicBezTo>
                <a:lnTo>
                  <a:pt x="340415" y="92765"/>
                </a:lnTo>
                <a:cubicBezTo>
                  <a:pt x="335280" y="143206"/>
                  <a:pt x="326003" y="182383"/>
                  <a:pt x="314739" y="212697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3" name="Text 10"/>
          <p:cNvSpPr/>
          <p:nvPr/>
        </p:nvSpPr>
        <p:spPr>
          <a:xfrm>
            <a:off x="4377960" y="2217600"/>
            <a:ext cx="343368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a7f070"/>
                </a:solidFill>
                <a:latin typeface="Jersey 15"/>
                <a:ea typeface="Jersey 15"/>
              </a:rPr>
              <a:t>HIGH-SCORE WARS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04" name="Text 11"/>
          <p:cNvSpPr/>
          <p:nvPr/>
        </p:nvSpPr>
        <p:spPr>
          <a:xfrm>
            <a:off x="4391280" y="2606400"/>
            <a:ext cx="3407400" cy="7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Competing for top scores created </a:t>
            </a:r>
            <a:r>
              <a:rPr b="1" lang="en-US" sz="1250" spc="-1" strike="noStrike">
                <a:solidFill>
                  <a:srgbClr val="ffcd75"/>
                </a:solidFill>
                <a:latin typeface="Jersey 15"/>
                <a:ea typeface="Jersey 15"/>
              </a:rPr>
              <a:t>social currency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. Being the best at Pac-Man or Donkey Kong brought status and respect.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05" name="Shape 12"/>
          <p:cNvSpPr/>
          <p:nvPr/>
        </p:nvSpPr>
        <p:spPr>
          <a:xfrm>
            <a:off x="8115480" y="1462320"/>
            <a:ext cx="3707640" cy="2108160"/>
          </a:xfrm>
          <a:custGeom>
            <a:avLst/>
            <a:gdLst/>
            <a:ah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Shape 13"/>
          <p:cNvSpPr/>
          <p:nvPr/>
        </p:nvSpPr>
        <p:spPr>
          <a:xfrm>
            <a:off x="9756720" y="1652040"/>
            <a:ext cx="420840" cy="420840"/>
          </a:xfrm>
          <a:custGeom>
            <a:avLst/>
            <a:gdLst/>
            <a:ahLst/>
            <a:rect l="l" t="t" r="r" b="b"/>
            <a:pathLst>
              <a:path w="424070" h="424070">
                <a:moveTo>
                  <a:pt x="230091" y="7123"/>
                </a:moveTo>
                <a:cubicBezTo>
                  <a:pt x="219903" y="-2319"/>
                  <a:pt x="204166" y="-2319"/>
                  <a:pt x="194062" y="7123"/>
                </a:cubicBezTo>
                <a:lnTo>
                  <a:pt x="8531" y="179401"/>
                </a:lnTo>
                <a:cubicBezTo>
                  <a:pt x="580" y="186856"/>
                  <a:pt x="-2071" y="198368"/>
                  <a:pt x="1905" y="208473"/>
                </a:cubicBezTo>
                <a:cubicBezTo>
                  <a:pt x="5881" y="218578"/>
                  <a:pt x="15571" y="225287"/>
                  <a:pt x="26504" y="225287"/>
                </a:cubicBezTo>
                <a:lnTo>
                  <a:pt x="39757" y="225287"/>
                </a:lnTo>
                <a:lnTo>
                  <a:pt x="39757" y="371061"/>
                </a:lnTo>
                <a:cubicBezTo>
                  <a:pt x="39757" y="400298"/>
                  <a:pt x="63528" y="424070"/>
                  <a:pt x="92765" y="424070"/>
                </a:cubicBezTo>
                <a:lnTo>
                  <a:pt x="331304" y="424070"/>
                </a:lnTo>
                <a:cubicBezTo>
                  <a:pt x="360542" y="424070"/>
                  <a:pt x="384313" y="400298"/>
                  <a:pt x="384313" y="371061"/>
                </a:cubicBezTo>
                <a:lnTo>
                  <a:pt x="384313" y="225287"/>
                </a:lnTo>
                <a:lnTo>
                  <a:pt x="397565" y="225287"/>
                </a:lnTo>
                <a:cubicBezTo>
                  <a:pt x="408498" y="225287"/>
                  <a:pt x="418272" y="218578"/>
                  <a:pt x="422247" y="208473"/>
                </a:cubicBezTo>
                <a:cubicBezTo>
                  <a:pt x="426223" y="198368"/>
                  <a:pt x="423573" y="186773"/>
                  <a:pt x="415621" y="179401"/>
                </a:cubicBezTo>
                <a:lnTo>
                  <a:pt x="230091" y="7123"/>
                </a:lnTo>
                <a:close/>
                <a:moveTo>
                  <a:pt x="198783" y="265043"/>
                </a:moveTo>
                <a:lnTo>
                  <a:pt x="225287" y="265043"/>
                </a:lnTo>
                <a:cubicBezTo>
                  <a:pt x="247236" y="265043"/>
                  <a:pt x="265043" y="282851"/>
                  <a:pt x="265043" y="304800"/>
                </a:cubicBezTo>
                <a:lnTo>
                  <a:pt x="265043" y="384313"/>
                </a:lnTo>
                <a:lnTo>
                  <a:pt x="159026" y="384313"/>
                </a:lnTo>
                <a:lnTo>
                  <a:pt x="159026" y="304800"/>
                </a:lnTo>
                <a:cubicBezTo>
                  <a:pt x="159026" y="282851"/>
                  <a:pt x="176834" y="265043"/>
                  <a:pt x="198783" y="265043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Text 14"/>
          <p:cNvSpPr/>
          <p:nvPr/>
        </p:nvSpPr>
        <p:spPr>
          <a:xfrm>
            <a:off x="8252640" y="2217600"/>
            <a:ext cx="343368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29adff"/>
                </a:solidFill>
                <a:latin typeface="Jersey 15"/>
                <a:ea typeface="Jersey 15"/>
              </a:rPr>
              <a:t>A SAFE HAVEN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08" name="Text 15"/>
          <p:cNvSpPr/>
          <p:nvPr/>
        </p:nvSpPr>
        <p:spPr>
          <a:xfrm>
            <a:off x="8265960" y="2606400"/>
            <a:ext cx="340740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For many teens, arcades offered a </a:t>
            </a:r>
            <a:r>
              <a:rPr b="1" lang="en-US" sz="1250" spc="-1" strike="noStrike">
                <a:solidFill>
                  <a:srgbClr val="a7f070"/>
                </a:solidFill>
                <a:latin typeface="Jersey 15"/>
                <a:ea typeface="Jersey 15"/>
              </a:rPr>
              <a:t>refuge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—a place to escape, belong, and connect with like-minded peers.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09" name="Shape 16"/>
          <p:cNvSpPr/>
          <p:nvPr/>
        </p:nvSpPr>
        <p:spPr>
          <a:xfrm>
            <a:off x="366480" y="3739320"/>
            <a:ext cx="5607360" cy="3097800"/>
          </a:xfrm>
          <a:custGeom>
            <a:avLst/>
            <a:gdLst/>
            <a:ahLst/>
            <a:rect l="l" t="t" r="r" b="b"/>
            <a:pathLst>
              <a:path w="5610087" h="3101009">
                <a:moveTo>
                  <a:pt x="0" y="0"/>
                </a:moveTo>
                <a:lnTo>
                  <a:pt x="5610087" y="0"/>
                </a:lnTo>
                <a:lnTo>
                  <a:pt x="5610087" y="3101009"/>
                </a:lnTo>
                <a:lnTo>
                  <a:pt x="0" y="310100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Text 17"/>
          <p:cNvSpPr/>
          <p:nvPr/>
        </p:nvSpPr>
        <p:spPr>
          <a:xfrm>
            <a:off x="503640" y="3929400"/>
            <a:ext cx="533340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ffcd75"/>
                </a:solidFill>
                <a:latin typeface="Jersey 15"/>
                <a:ea typeface="Jersey 15"/>
              </a:rPr>
              <a:t>ARCADE EXPLOSION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11" name="Shape 18"/>
          <p:cNvSpPr/>
          <p:nvPr/>
        </p:nvSpPr>
        <p:spPr>
          <a:xfrm>
            <a:off x="556560" y="4353480"/>
            <a:ext cx="5227200" cy="491400"/>
          </a:xfrm>
          <a:custGeom>
            <a:avLst/>
            <a:gdLst/>
            <a:ah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2" name="Text 19"/>
          <p:cNvSpPr/>
          <p:nvPr/>
        </p:nvSpPr>
        <p:spPr>
          <a:xfrm>
            <a:off x="662760" y="4476960"/>
            <a:ext cx="1622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Video Game Arcades (1980)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13" name="Text 20"/>
          <p:cNvSpPr/>
          <p:nvPr/>
        </p:nvSpPr>
        <p:spPr>
          <a:xfrm>
            <a:off x="5294160" y="4459320"/>
            <a:ext cx="49140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ffcd75"/>
                </a:solidFill>
                <a:latin typeface="Jersey 15"/>
                <a:ea typeface="Jersey 15"/>
              </a:rPr>
              <a:t>4,000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14" name="Shape 21"/>
          <p:cNvSpPr/>
          <p:nvPr/>
        </p:nvSpPr>
        <p:spPr>
          <a:xfrm>
            <a:off x="556560" y="4953960"/>
            <a:ext cx="5227200" cy="491400"/>
          </a:xfrm>
          <a:custGeom>
            <a:avLst/>
            <a:gdLst/>
            <a:ah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Text 22"/>
          <p:cNvSpPr/>
          <p:nvPr/>
        </p:nvSpPr>
        <p:spPr>
          <a:xfrm>
            <a:off x="662760" y="5077800"/>
            <a:ext cx="1622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Video Game Arcades (1982)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16" name="Text 23"/>
          <p:cNvSpPr/>
          <p:nvPr/>
        </p:nvSpPr>
        <p:spPr>
          <a:xfrm>
            <a:off x="5137200" y="5060160"/>
            <a:ext cx="64152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a7f070"/>
                </a:solidFill>
                <a:latin typeface="Jersey 15"/>
                <a:ea typeface="Jersey 15"/>
              </a:rPr>
              <a:t>10,000+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17" name="Shape 24"/>
          <p:cNvSpPr/>
          <p:nvPr/>
        </p:nvSpPr>
        <p:spPr>
          <a:xfrm>
            <a:off x="556560" y="5554800"/>
            <a:ext cx="5227200" cy="491400"/>
          </a:xfrm>
          <a:custGeom>
            <a:avLst/>
            <a:gdLst/>
            <a:ah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Text 25"/>
          <p:cNvSpPr/>
          <p:nvPr/>
        </p:nvSpPr>
        <p:spPr>
          <a:xfrm>
            <a:off x="662760" y="5678640"/>
            <a:ext cx="11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Full Arcades (1982)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19" name="Text 26"/>
          <p:cNvSpPr/>
          <p:nvPr/>
        </p:nvSpPr>
        <p:spPr>
          <a:xfrm>
            <a:off x="5200200" y="5661000"/>
            <a:ext cx="57996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29adff"/>
                </a:solidFill>
                <a:latin typeface="Jersey 15"/>
                <a:ea typeface="Jersey 15"/>
              </a:rPr>
              <a:t>24,000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20" name="Shape 27"/>
          <p:cNvSpPr/>
          <p:nvPr/>
        </p:nvSpPr>
        <p:spPr>
          <a:xfrm>
            <a:off x="556560" y="6155640"/>
            <a:ext cx="5227200" cy="491400"/>
          </a:xfrm>
          <a:custGeom>
            <a:avLst/>
            <a:gdLst/>
            <a:ah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1" name="Text 28"/>
          <p:cNvSpPr/>
          <p:nvPr/>
        </p:nvSpPr>
        <p:spPr>
          <a:xfrm>
            <a:off x="662760" y="6279480"/>
            <a:ext cx="1410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Active Machines (1982)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22" name="Text 29"/>
          <p:cNvSpPr/>
          <p:nvPr/>
        </p:nvSpPr>
        <p:spPr>
          <a:xfrm>
            <a:off x="4972320" y="6261480"/>
            <a:ext cx="80964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ffcd75"/>
                </a:solidFill>
                <a:latin typeface="Jersey 15"/>
                <a:ea typeface="Jersey 15"/>
              </a:rPr>
              <a:t>1.5 Million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23" name="Shape 30"/>
          <p:cNvSpPr/>
          <p:nvPr/>
        </p:nvSpPr>
        <p:spPr>
          <a:xfrm>
            <a:off x="6213600" y="3739320"/>
            <a:ext cx="5607360" cy="3097800"/>
          </a:xfrm>
          <a:custGeom>
            <a:avLst/>
            <a:gdLst/>
            <a:ahLst/>
            <a:rect l="l" t="t" r="r" b="b"/>
            <a:pathLst>
              <a:path w="5610087" h="3101009">
                <a:moveTo>
                  <a:pt x="0" y="0"/>
                </a:moveTo>
                <a:lnTo>
                  <a:pt x="5610087" y="0"/>
                </a:lnTo>
                <a:lnTo>
                  <a:pt x="5610087" y="3101009"/>
                </a:lnTo>
                <a:lnTo>
                  <a:pt x="0" y="310100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4" name="Text 31"/>
          <p:cNvSpPr/>
          <p:nvPr/>
        </p:nvSpPr>
        <p:spPr>
          <a:xfrm>
            <a:off x="6350400" y="3929400"/>
            <a:ext cx="533340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70" spc="-1" strike="noStrike">
                <a:solidFill>
                  <a:srgbClr val="a7f070"/>
                </a:solidFill>
                <a:latin typeface="Jersey 15"/>
                <a:ea typeface="Jersey 15"/>
              </a:rPr>
              <a:t>SOCIAL DYNAMICS</a:t>
            </a:r>
            <a:endParaRPr b="0" lang="en-HK" sz="1670" spc="-1" strike="noStrike">
              <a:latin typeface="Arial"/>
            </a:endParaRPr>
          </a:p>
        </p:txBody>
      </p:sp>
      <p:sp>
        <p:nvSpPr>
          <p:cNvPr id="425" name="Shape 32"/>
          <p:cNvSpPr/>
          <p:nvPr/>
        </p:nvSpPr>
        <p:spPr>
          <a:xfrm>
            <a:off x="6403680" y="4353480"/>
            <a:ext cx="5227200" cy="456120"/>
          </a:xfrm>
          <a:custGeom>
            <a:avLst/>
            <a:gdLst/>
            <a:ah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6" name="Shape 33"/>
          <p:cNvSpPr/>
          <p:nvPr/>
        </p:nvSpPr>
        <p:spPr>
          <a:xfrm>
            <a:off x="6520680" y="4494600"/>
            <a:ext cx="195480" cy="173520"/>
          </a:xfrm>
          <a:custGeom>
            <a:avLst/>
            <a:gdLst/>
            <a:ahLst/>
            <a:rect l="l" t="t" r="r" b="b"/>
            <a:pathLst>
              <a:path w="198783" h="176696">
                <a:moveTo>
                  <a:pt x="106811" y="-6523"/>
                </a:moveTo>
                <a:cubicBezTo>
                  <a:pt x="105396" y="-9283"/>
                  <a:pt x="102532" y="-11043"/>
                  <a:pt x="99426" y="-11043"/>
                </a:cubicBezTo>
                <a:cubicBezTo>
                  <a:pt x="96320" y="-11043"/>
                  <a:pt x="93455" y="-9283"/>
                  <a:pt x="92040" y="-6523"/>
                </a:cubicBezTo>
                <a:lnTo>
                  <a:pt x="66640" y="43242"/>
                </a:lnTo>
                <a:lnTo>
                  <a:pt x="11458" y="52008"/>
                </a:lnTo>
                <a:cubicBezTo>
                  <a:pt x="8386" y="52491"/>
                  <a:pt x="5832" y="54665"/>
                  <a:pt x="4866" y="57633"/>
                </a:cubicBezTo>
                <a:cubicBezTo>
                  <a:pt x="3900" y="60601"/>
                  <a:pt x="4693" y="63845"/>
                  <a:pt x="6868" y="66054"/>
                </a:cubicBezTo>
                <a:lnTo>
                  <a:pt x="46348" y="105569"/>
                </a:lnTo>
                <a:lnTo>
                  <a:pt x="37651" y="160752"/>
                </a:lnTo>
                <a:cubicBezTo>
                  <a:pt x="37168" y="163823"/>
                  <a:pt x="38445" y="166929"/>
                  <a:pt x="40964" y="168758"/>
                </a:cubicBezTo>
                <a:cubicBezTo>
                  <a:pt x="43484" y="170587"/>
                  <a:pt x="46797" y="170863"/>
                  <a:pt x="49592" y="169448"/>
                </a:cubicBezTo>
                <a:lnTo>
                  <a:pt x="99426" y="144117"/>
                </a:lnTo>
                <a:lnTo>
                  <a:pt x="149225" y="169448"/>
                </a:lnTo>
                <a:cubicBezTo>
                  <a:pt x="151986" y="170863"/>
                  <a:pt x="155333" y="170587"/>
                  <a:pt x="157853" y="168758"/>
                </a:cubicBezTo>
                <a:cubicBezTo>
                  <a:pt x="160372" y="166929"/>
                  <a:pt x="161649" y="163858"/>
                  <a:pt x="161166" y="160752"/>
                </a:cubicBezTo>
                <a:lnTo>
                  <a:pt x="152435" y="105569"/>
                </a:lnTo>
                <a:lnTo>
                  <a:pt x="191915" y="66054"/>
                </a:lnTo>
                <a:cubicBezTo>
                  <a:pt x="194124" y="63845"/>
                  <a:pt x="194883" y="60601"/>
                  <a:pt x="193917" y="57633"/>
                </a:cubicBezTo>
                <a:cubicBezTo>
                  <a:pt x="192950" y="54665"/>
                  <a:pt x="190431" y="52491"/>
                  <a:pt x="187325" y="52008"/>
                </a:cubicBezTo>
                <a:lnTo>
                  <a:pt x="132177" y="43242"/>
                </a:lnTo>
                <a:lnTo>
                  <a:pt x="106811" y="-6523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7" name="Text 34"/>
          <p:cNvSpPr/>
          <p:nvPr/>
        </p:nvSpPr>
        <p:spPr>
          <a:xfrm>
            <a:off x="6836400" y="4459320"/>
            <a:ext cx="24177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Crowds gathered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 around skilled players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28" name="Shape 35"/>
          <p:cNvSpPr/>
          <p:nvPr/>
        </p:nvSpPr>
        <p:spPr>
          <a:xfrm>
            <a:off x="6403680" y="4918680"/>
            <a:ext cx="5227200" cy="456120"/>
          </a:xfrm>
          <a:custGeom>
            <a:avLst/>
            <a:gdLst/>
            <a:ah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9" name="Shape 36"/>
          <p:cNvSpPr/>
          <p:nvPr/>
        </p:nvSpPr>
        <p:spPr>
          <a:xfrm>
            <a:off x="6520680" y="5060160"/>
            <a:ext cx="195480" cy="173520"/>
          </a:xfrm>
          <a:custGeom>
            <a:avLst/>
            <a:gdLst/>
            <a:ahLst/>
            <a:rect l="l" t="t" r="r" b="b"/>
            <a:pathLst>
              <a:path w="198783" h="176696">
                <a:moveTo>
                  <a:pt x="132522" y="49696"/>
                </a:moveTo>
                <a:cubicBezTo>
                  <a:pt x="132522" y="83240"/>
                  <a:pt x="102842" y="110435"/>
                  <a:pt x="66261" y="110435"/>
                </a:cubicBezTo>
                <a:cubicBezTo>
                  <a:pt x="57046" y="110435"/>
                  <a:pt x="48281" y="108709"/>
                  <a:pt x="40309" y="105603"/>
                </a:cubicBezTo>
                <a:lnTo>
                  <a:pt x="12148" y="120512"/>
                </a:lnTo>
                <a:cubicBezTo>
                  <a:pt x="8938" y="122203"/>
                  <a:pt x="5004" y="121616"/>
                  <a:pt x="2416" y="119063"/>
                </a:cubicBezTo>
                <a:cubicBezTo>
                  <a:pt x="-173" y="116509"/>
                  <a:pt x="-759" y="112540"/>
                  <a:pt x="966" y="109330"/>
                </a:cubicBezTo>
                <a:lnTo>
                  <a:pt x="13252" y="86139"/>
                </a:lnTo>
                <a:cubicBezTo>
                  <a:pt x="4935" y="75993"/>
                  <a:pt x="0" y="63362"/>
                  <a:pt x="0" y="49696"/>
                </a:cubicBezTo>
                <a:cubicBezTo>
                  <a:pt x="0" y="16151"/>
                  <a:pt x="29679" y="-11043"/>
                  <a:pt x="66261" y="-11043"/>
                </a:cubicBezTo>
                <a:cubicBezTo>
                  <a:pt x="102842" y="-11043"/>
                  <a:pt x="132522" y="16151"/>
                  <a:pt x="132522" y="49696"/>
                </a:cubicBezTo>
                <a:close/>
                <a:moveTo>
                  <a:pt x="132522" y="176696"/>
                </a:moveTo>
                <a:cubicBezTo>
                  <a:pt x="100047" y="176696"/>
                  <a:pt x="73025" y="155264"/>
                  <a:pt x="67365" y="127000"/>
                </a:cubicBezTo>
                <a:cubicBezTo>
                  <a:pt x="108778" y="126482"/>
                  <a:pt x="144773" y="97010"/>
                  <a:pt x="148742" y="57046"/>
                </a:cubicBezTo>
                <a:cubicBezTo>
                  <a:pt x="177489" y="63673"/>
                  <a:pt x="198783" y="87520"/>
                  <a:pt x="198783" y="115957"/>
                </a:cubicBezTo>
                <a:cubicBezTo>
                  <a:pt x="198783" y="129623"/>
                  <a:pt x="193848" y="142254"/>
                  <a:pt x="185530" y="152400"/>
                </a:cubicBezTo>
                <a:lnTo>
                  <a:pt x="197816" y="175591"/>
                </a:lnTo>
                <a:cubicBezTo>
                  <a:pt x="199507" y="178801"/>
                  <a:pt x="198921" y="182735"/>
                  <a:pt x="196367" y="185323"/>
                </a:cubicBezTo>
                <a:cubicBezTo>
                  <a:pt x="193813" y="187912"/>
                  <a:pt x="189844" y="188498"/>
                  <a:pt x="186635" y="186773"/>
                </a:cubicBezTo>
                <a:lnTo>
                  <a:pt x="158474" y="171864"/>
                </a:lnTo>
                <a:cubicBezTo>
                  <a:pt x="150502" y="174970"/>
                  <a:pt x="141736" y="176696"/>
                  <a:pt x="132522" y="176696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0" name="Text 37"/>
          <p:cNvSpPr/>
          <p:nvPr/>
        </p:nvSpPr>
        <p:spPr>
          <a:xfrm>
            <a:off x="6836400" y="5024880"/>
            <a:ext cx="20556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Strategies shared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 among players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31" name="Shape 38"/>
          <p:cNvSpPr/>
          <p:nvPr/>
        </p:nvSpPr>
        <p:spPr>
          <a:xfrm>
            <a:off x="6403680" y="5484240"/>
            <a:ext cx="5227200" cy="456120"/>
          </a:xfrm>
          <a:custGeom>
            <a:avLst/>
            <a:gdLst/>
            <a:ah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2" name="Shape 39"/>
          <p:cNvSpPr/>
          <p:nvPr/>
        </p:nvSpPr>
        <p:spPr>
          <a:xfrm>
            <a:off x="6520680" y="5625720"/>
            <a:ext cx="195480" cy="173520"/>
          </a:xfrm>
          <a:custGeom>
            <a:avLst/>
            <a:gdLst/>
            <a:ahLst/>
            <a:rect l="l" t="t" r="r" b="b"/>
            <a:pathLst>
              <a:path w="198783" h="176696">
                <a:moveTo>
                  <a:pt x="92800" y="29403"/>
                </a:moveTo>
                <a:lnTo>
                  <a:pt x="52560" y="74129"/>
                </a:lnTo>
                <a:cubicBezTo>
                  <a:pt x="50973" y="75889"/>
                  <a:pt x="51042" y="78616"/>
                  <a:pt x="52733" y="80307"/>
                </a:cubicBezTo>
                <a:cubicBezTo>
                  <a:pt x="63258" y="90833"/>
                  <a:pt x="80341" y="90833"/>
                  <a:pt x="90867" y="80307"/>
                </a:cubicBezTo>
                <a:lnTo>
                  <a:pt x="101842" y="69332"/>
                </a:lnTo>
                <a:cubicBezTo>
                  <a:pt x="103291" y="67883"/>
                  <a:pt x="105120" y="67089"/>
                  <a:pt x="106984" y="66951"/>
                </a:cubicBezTo>
                <a:cubicBezTo>
                  <a:pt x="109330" y="66744"/>
                  <a:pt x="111746" y="67538"/>
                  <a:pt x="113541" y="69332"/>
                </a:cubicBezTo>
                <a:lnTo>
                  <a:pt x="174487" y="129761"/>
                </a:lnTo>
                <a:lnTo>
                  <a:pt x="198783" y="110435"/>
                </a:lnTo>
                <a:lnTo>
                  <a:pt x="198783" y="11043"/>
                </a:lnTo>
                <a:lnTo>
                  <a:pt x="160130" y="33130"/>
                </a:lnTo>
                <a:lnTo>
                  <a:pt x="151917" y="27643"/>
                </a:lnTo>
                <a:cubicBezTo>
                  <a:pt x="146464" y="24020"/>
                  <a:pt x="140080" y="22087"/>
                  <a:pt x="133523" y="22087"/>
                </a:cubicBezTo>
                <a:lnTo>
                  <a:pt x="109227" y="22087"/>
                </a:lnTo>
                <a:cubicBezTo>
                  <a:pt x="108847" y="22087"/>
                  <a:pt x="108433" y="22087"/>
                  <a:pt x="108054" y="22121"/>
                </a:cubicBezTo>
                <a:cubicBezTo>
                  <a:pt x="102221" y="22432"/>
                  <a:pt x="96734" y="25055"/>
                  <a:pt x="92800" y="29403"/>
                </a:cubicBezTo>
                <a:close/>
                <a:moveTo>
                  <a:pt x="40240" y="63051"/>
                </a:moveTo>
                <a:lnTo>
                  <a:pt x="77097" y="22087"/>
                </a:lnTo>
                <a:lnTo>
                  <a:pt x="63431" y="22087"/>
                </a:lnTo>
                <a:cubicBezTo>
                  <a:pt x="54631" y="22087"/>
                  <a:pt x="46210" y="25573"/>
                  <a:pt x="39998" y="31785"/>
                </a:cubicBezTo>
                <a:lnTo>
                  <a:pt x="38652" y="33130"/>
                </a:lnTo>
                <a:lnTo>
                  <a:pt x="0" y="11043"/>
                </a:lnTo>
                <a:lnTo>
                  <a:pt x="0" y="110435"/>
                </a:lnTo>
                <a:lnTo>
                  <a:pt x="53975" y="155402"/>
                </a:lnTo>
                <a:cubicBezTo>
                  <a:pt x="61912" y="162029"/>
                  <a:pt x="71921" y="165652"/>
                  <a:pt x="82239" y="165652"/>
                </a:cubicBezTo>
                <a:lnTo>
                  <a:pt x="87658" y="165652"/>
                </a:lnTo>
                <a:lnTo>
                  <a:pt x="85242" y="163236"/>
                </a:lnTo>
                <a:cubicBezTo>
                  <a:pt x="81998" y="159992"/>
                  <a:pt x="81998" y="154747"/>
                  <a:pt x="85242" y="151537"/>
                </a:cubicBezTo>
                <a:cubicBezTo>
                  <a:pt x="88486" y="148328"/>
                  <a:pt x="93732" y="148293"/>
                  <a:pt x="96941" y="151537"/>
                </a:cubicBezTo>
                <a:lnTo>
                  <a:pt x="111090" y="165687"/>
                </a:lnTo>
                <a:lnTo>
                  <a:pt x="114196" y="165687"/>
                </a:lnTo>
                <a:cubicBezTo>
                  <a:pt x="120788" y="165687"/>
                  <a:pt x="127242" y="164203"/>
                  <a:pt x="133108" y="161442"/>
                </a:cubicBezTo>
                <a:lnTo>
                  <a:pt x="123894" y="152193"/>
                </a:lnTo>
                <a:cubicBezTo>
                  <a:pt x="120650" y="148949"/>
                  <a:pt x="120650" y="143703"/>
                  <a:pt x="123894" y="140494"/>
                </a:cubicBezTo>
                <a:cubicBezTo>
                  <a:pt x="127138" y="137284"/>
                  <a:pt x="132384" y="137250"/>
                  <a:pt x="135593" y="140494"/>
                </a:cubicBezTo>
                <a:lnTo>
                  <a:pt x="146637" y="151537"/>
                </a:lnTo>
                <a:lnTo>
                  <a:pt x="152676" y="145498"/>
                </a:lnTo>
                <a:cubicBezTo>
                  <a:pt x="155748" y="142426"/>
                  <a:pt x="156645" y="137974"/>
                  <a:pt x="155299" y="134075"/>
                </a:cubicBezTo>
                <a:lnTo>
                  <a:pt x="107708" y="86864"/>
                </a:lnTo>
                <a:lnTo>
                  <a:pt x="102566" y="92006"/>
                </a:lnTo>
                <a:cubicBezTo>
                  <a:pt x="85552" y="109020"/>
                  <a:pt x="58013" y="109020"/>
                  <a:pt x="40999" y="92006"/>
                </a:cubicBezTo>
                <a:cubicBezTo>
                  <a:pt x="33061" y="84068"/>
                  <a:pt x="32751" y="71334"/>
                  <a:pt x="40240" y="63017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3" name="Text 40"/>
          <p:cNvSpPr/>
          <p:nvPr/>
        </p:nvSpPr>
        <p:spPr>
          <a:xfrm>
            <a:off x="6836400" y="5590080"/>
            <a:ext cx="24530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Friendships formed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 over shared passion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34" name="Shape 41"/>
          <p:cNvSpPr/>
          <p:nvPr/>
        </p:nvSpPr>
        <p:spPr>
          <a:xfrm>
            <a:off x="6403680" y="6049440"/>
            <a:ext cx="5227200" cy="456120"/>
          </a:xfrm>
          <a:custGeom>
            <a:avLst/>
            <a:gdLst/>
            <a:ah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Shape 42"/>
          <p:cNvSpPr/>
          <p:nvPr/>
        </p:nvSpPr>
        <p:spPr>
          <a:xfrm>
            <a:off x="6542640" y="6190920"/>
            <a:ext cx="151200" cy="173520"/>
          </a:xfrm>
          <a:custGeom>
            <a:avLst/>
            <a:gdLst/>
            <a:ahLst/>
            <a:rect l="l" t="t" r="r" b="b"/>
            <a:pathLst>
              <a:path w="154609" h="176696">
                <a:moveTo>
                  <a:pt x="55390" y="-9111"/>
                </a:moveTo>
                <a:cubicBezTo>
                  <a:pt x="58599" y="-11803"/>
                  <a:pt x="63327" y="-11699"/>
                  <a:pt x="66399" y="-8800"/>
                </a:cubicBezTo>
                <a:cubicBezTo>
                  <a:pt x="70644" y="-4797"/>
                  <a:pt x="74440" y="-380"/>
                  <a:pt x="78098" y="4107"/>
                </a:cubicBezTo>
                <a:cubicBezTo>
                  <a:pt x="82757" y="9801"/>
                  <a:pt x="88348" y="17324"/>
                  <a:pt x="93732" y="26263"/>
                </a:cubicBezTo>
                <a:cubicBezTo>
                  <a:pt x="95526" y="23916"/>
                  <a:pt x="97183" y="21845"/>
                  <a:pt x="98632" y="20085"/>
                </a:cubicBezTo>
                <a:cubicBezTo>
                  <a:pt x="99012" y="19637"/>
                  <a:pt x="99391" y="19154"/>
                  <a:pt x="99771" y="18670"/>
                </a:cubicBezTo>
                <a:cubicBezTo>
                  <a:pt x="102497" y="15288"/>
                  <a:pt x="105879" y="11043"/>
                  <a:pt x="110400" y="11043"/>
                </a:cubicBezTo>
                <a:cubicBezTo>
                  <a:pt x="115025" y="11043"/>
                  <a:pt x="118269" y="15150"/>
                  <a:pt x="121030" y="18670"/>
                </a:cubicBezTo>
                <a:cubicBezTo>
                  <a:pt x="121478" y="19257"/>
                  <a:pt x="121927" y="19809"/>
                  <a:pt x="122376" y="20327"/>
                </a:cubicBezTo>
                <a:cubicBezTo>
                  <a:pt x="125930" y="24606"/>
                  <a:pt x="130658" y="30784"/>
                  <a:pt x="135386" y="38411"/>
                </a:cubicBezTo>
                <a:cubicBezTo>
                  <a:pt x="144773" y="53561"/>
                  <a:pt x="154574" y="75130"/>
                  <a:pt x="154574" y="99357"/>
                </a:cubicBezTo>
                <a:cubicBezTo>
                  <a:pt x="154574" y="142047"/>
                  <a:pt x="119960" y="176661"/>
                  <a:pt x="77270" y="176661"/>
                </a:cubicBezTo>
                <a:cubicBezTo>
                  <a:pt x="34580" y="176661"/>
                  <a:pt x="0" y="142081"/>
                  <a:pt x="0" y="99391"/>
                </a:cubicBezTo>
                <a:cubicBezTo>
                  <a:pt x="0" y="67952"/>
                  <a:pt x="14184" y="40723"/>
                  <a:pt x="27781" y="21742"/>
                </a:cubicBezTo>
                <a:cubicBezTo>
                  <a:pt x="34649" y="12182"/>
                  <a:pt x="41482" y="4521"/>
                  <a:pt x="46624" y="-725"/>
                </a:cubicBezTo>
                <a:cubicBezTo>
                  <a:pt x="49454" y="-3624"/>
                  <a:pt x="52318" y="-6488"/>
                  <a:pt x="55424" y="-9076"/>
                </a:cubicBezTo>
                <a:close/>
                <a:moveTo>
                  <a:pt x="77891" y="143565"/>
                </a:moveTo>
                <a:cubicBezTo>
                  <a:pt x="86622" y="143565"/>
                  <a:pt x="94353" y="141149"/>
                  <a:pt x="101635" y="136318"/>
                </a:cubicBezTo>
                <a:cubicBezTo>
                  <a:pt x="116164" y="126172"/>
                  <a:pt x="120063" y="105879"/>
                  <a:pt x="111332" y="89935"/>
                </a:cubicBezTo>
                <a:cubicBezTo>
                  <a:pt x="109779" y="86829"/>
                  <a:pt x="105810" y="86622"/>
                  <a:pt x="103567" y="89245"/>
                </a:cubicBezTo>
                <a:lnTo>
                  <a:pt x="94870" y="99357"/>
                </a:lnTo>
                <a:cubicBezTo>
                  <a:pt x="92593" y="101980"/>
                  <a:pt x="88486" y="101911"/>
                  <a:pt x="86346" y="99184"/>
                </a:cubicBezTo>
                <a:cubicBezTo>
                  <a:pt x="80376" y="91557"/>
                  <a:pt x="69401" y="77649"/>
                  <a:pt x="63811" y="70540"/>
                </a:cubicBezTo>
                <a:cubicBezTo>
                  <a:pt x="61947" y="68159"/>
                  <a:pt x="58565" y="67779"/>
                  <a:pt x="56391" y="69885"/>
                </a:cubicBezTo>
                <a:cubicBezTo>
                  <a:pt x="50075" y="76027"/>
                  <a:pt x="38618" y="89487"/>
                  <a:pt x="38618" y="105879"/>
                </a:cubicBezTo>
                <a:cubicBezTo>
                  <a:pt x="38618" y="129554"/>
                  <a:pt x="56080" y="143565"/>
                  <a:pt x="77857" y="143565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6" name="Text 43"/>
          <p:cNvSpPr/>
          <p:nvPr/>
        </p:nvSpPr>
        <p:spPr>
          <a:xfrm>
            <a:off x="6836400" y="6155640"/>
            <a:ext cx="2294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Rivalries developed</a:t>
            </a:r>
            <a:r>
              <a:rPr b="0" lang="en-US" sz="1250" spc="-1" strike="noStrike">
                <a:solidFill>
                  <a:srgbClr val="f4f4f4"/>
                </a:solidFill>
                <a:latin typeface="Jersey 15"/>
                <a:ea typeface="Jersey 15"/>
              </a:rPr>
              <a:t> between regulars</a:t>
            </a:r>
            <a:endParaRPr b="0" lang="en-HK" sz="1250" spc="-1" strike="noStrike">
              <a:latin typeface="Arial"/>
            </a:endParaRPr>
          </a:p>
        </p:txBody>
      </p:sp>
    </p:spTree>
  </p:cSld>
  <p:transition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hape 0"/>
          <p:cNvSpPr/>
          <p:nvPr/>
        </p:nvSpPr>
        <p:spPr>
          <a:xfrm>
            <a:off x="0" y="0"/>
            <a:ext cx="12189960" cy="685476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Text 1"/>
          <p:cNvSpPr/>
          <p:nvPr/>
        </p:nvSpPr>
        <p:spPr>
          <a:xfrm>
            <a:off x="354240" y="354240"/>
            <a:ext cx="11693520" cy="42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35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POP CULTURE INVASION</a:t>
            </a:r>
            <a:endParaRPr b="0" lang="en-HK" sz="3350" spc="-1" strike="noStrike">
              <a:latin typeface="Arial"/>
            </a:endParaRPr>
          </a:p>
        </p:txBody>
      </p:sp>
      <p:sp>
        <p:nvSpPr>
          <p:cNvPr id="439" name="Text 2"/>
          <p:cNvSpPr/>
          <p:nvPr/>
        </p:nvSpPr>
        <p:spPr>
          <a:xfrm>
            <a:off x="354240" y="885960"/>
            <a:ext cx="11587320" cy="28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679" spc="-1" strike="noStrike">
                <a:solidFill>
                  <a:srgbClr val="f4f4f4"/>
                </a:solidFill>
                <a:latin typeface="Jersey 15"/>
                <a:ea typeface="Jersey 15"/>
              </a:rPr>
              <a:t>When Games Became Icons</a:t>
            </a:r>
            <a:endParaRPr b="0" lang="en-HK" sz="1679" spc="-1" strike="noStrike">
              <a:latin typeface="Arial"/>
            </a:endParaRPr>
          </a:p>
        </p:txBody>
      </p:sp>
      <p:sp>
        <p:nvSpPr>
          <p:cNvPr id="440" name="Shape 3"/>
          <p:cNvSpPr/>
          <p:nvPr/>
        </p:nvSpPr>
        <p:spPr>
          <a:xfrm>
            <a:off x="354240" y="1275840"/>
            <a:ext cx="847440" cy="32040"/>
          </a:xfrm>
          <a:custGeom>
            <a:avLst/>
            <a:gdLst/>
            <a:ahLst/>
            <a:rect l="l" t="t" r="r" b="b"/>
            <a:pathLst>
              <a:path w="850605" h="35442">
                <a:moveTo>
                  <a:pt x="0" y="0"/>
                </a:moveTo>
                <a:lnTo>
                  <a:pt x="850605" y="0"/>
                </a:lnTo>
                <a:lnTo>
                  <a:pt x="850605" y="35442"/>
                </a:lnTo>
                <a:lnTo>
                  <a:pt x="0" y="35442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Shape 4"/>
          <p:cNvSpPr/>
          <p:nvPr/>
        </p:nvSpPr>
        <p:spPr>
          <a:xfrm>
            <a:off x="367560" y="1466280"/>
            <a:ext cx="5605920" cy="3177720"/>
          </a:xfrm>
          <a:custGeom>
            <a:avLst/>
            <a:gdLst/>
            <a:ahLst/>
            <a:rect l="l" t="t" r="r" b="b"/>
            <a:pathLst>
              <a:path w="5608674" h="3180907">
                <a:moveTo>
                  <a:pt x="0" y="0"/>
                </a:moveTo>
                <a:lnTo>
                  <a:pt x="5608674" y="0"/>
                </a:lnTo>
                <a:lnTo>
                  <a:pt x="5608674" y="3180907"/>
                </a:lnTo>
                <a:lnTo>
                  <a:pt x="0" y="318090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Shape 5"/>
          <p:cNvSpPr/>
          <p:nvPr/>
        </p:nvSpPr>
        <p:spPr>
          <a:xfrm>
            <a:off x="618120" y="1657080"/>
            <a:ext cx="275760" cy="315720"/>
          </a:xfrm>
          <a:custGeom>
            <a:avLst/>
            <a:gdLst/>
            <a:ahLst/>
            <a:rect l="l" t="t" r="r" b="b"/>
            <a:pathLst>
              <a:path w="279105" h="318977">
                <a:moveTo>
                  <a:pt x="0" y="59808"/>
                </a:moveTo>
                <a:cubicBezTo>
                  <a:pt x="0" y="37816"/>
                  <a:pt x="17880" y="19936"/>
                  <a:pt x="39872" y="19936"/>
                </a:cubicBezTo>
                <a:lnTo>
                  <a:pt x="239233" y="19936"/>
                </a:lnTo>
                <a:cubicBezTo>
                  <a:pt x="261225" y="19936"/>
                  <a:pt x="279105" y="37816"/>
                  <a:pt x="279105" y="59808"/>
                </a:cubicBezTo>
                <a:lnTo>
                  <a:pt x="279105" y="259169"/>
                </a:lnTo>
                <a:cubicBezTo>
                  <a:pt x="279105" y="281161"/>
                  <a:pt x="261225" y="299041"/>
                  <a:pt x="239233" y="299041"/>
                </a:cubicBezTo>
                <a:lnTo>
                  <a:pt x="39872" y="299041"/>
                </a:lnTo>
                <a:cubicBezTo>
                  <a:pt x="17880" y="299041"/>
                  <a:pt x="0" y="281161"/>
                  <a:pt x="0" y="259169"/>
                </a:cubicBezTo>
                <a:lnTo>
                  <a:pt x="0" y="59808"/>
                </a:lnTo>
                <a:close/>
                <a:moveTo>
                  <a:pt x="29904" y="229265"/>
                </a:moveTo>
                <a:lnTo>
                  <a:pt x="29904" y="249201"/>
                </a:lnTo>
                <a:cubicBezTo>
                  <a:pt x="29904" y="254683"/>
                  <a:pt x="34390" y="259169"/>
                  <a:pt x="39872" y="259169"/>
                </a:cubicBezTo>
                <a:lnTo>
                  <a:pt x="59808" y="259169"/>
                </a:lnTo>
                <a:cubicBezTo>
                  <a:pt x="65291" y="259169"/>
                  <a:pt x="69776" y="254683"/>
                  <a:pt x="69776" y="249201"/>
                </a:cubicBezTo>
                <a:lnTo>
                  <a:pt x="69776" y="229265"/>
                </a:lnTo>
                <a:cubicBezTo>
                  <a:pt x="69776" y="223782"/>
                  <a:pt x="65291" y="219297"/>
                  <a:pt x="59808" y="219297"/>
                </a:cubicBezTo>
                <a:lnTo>
                  <a:pt x="39872" y="219297"/>
                </a:lnTo>
                <a:cubicBezTo>
                  <a:pt x="34390" y="219297"/>
                  <a:pt x="29904" y="223782"/>
                  <a:pt x="29904" y="229265"/>
                </a:cubicBezTo>
                <a:close/>
                <a:moveTo>
                  <a:pt x="219297" y="219297"/>
                </a:moveTo>
                <a:cubicBezTo>
                  <a:pt x="213814" y="219297"/>
                  <a:pt x="209328" y="223782"/>
                  <a:pt x="209328" y="229265"/>
                </a:cubicBezTo>
                <a:lnTo>
                  <a:pt x="209328" y="249201"/>
                </a:lnTo>
                <a:cubicBezTo>
                  <a:pt x="209328" y="254683"/>
                  <a:pt x="213814" y="259169"/>
                  <a:pt x="219297" y="259169"/>
                </a:cubicBezTo>
                <a:lnTo>
                  <a:pt x="239233" y="259169"/>
                </a:lnTo>
                <a:cubicBezTo>
                  <a:pt x="244715" y="259169"/>
                  <a:pt x="249201" y="254683"/>
                  <a:pt x="249201" y="249201"/>
                </a:cubicBezTo>
                <a:lnTo>
                  <a:pt x="249201" y="229265"/>
                </a:lnTo>
                <a:cubicBezTo>
                  <a:pt x="249201" y="223782"/>
                  <a:pt x="244715" y="219297"/>
                  <a:pt x="239233" y="219297"/>
                </a:cubicBezTo>
                <a:lnTo>
                  <a:pt x="219297" y="219297"/>
                </a:lnTo>
                <a:close/>
                <a:moveTo>
                  <a:pt x="29904" y="149520"/>
                </a:moveTo>
                <a:lnTo>
                  <a:pt x="29904" y="169456"/>
                </a:lnTo>
                <a:cubicBezTo>
                  <a:pt x="29904" y="174939"/>
                  <a:pt x="34390" y="179424"/>
                  <a:pt x="39872" y="179424"/>
                </a:cubicBezTo>
                <a:lnTo>
                  <a:pt x="59808" y="179424"/>
                </a:lnTo>
                <a:cubicBezTo>
                  <a:pt x="65291" y="179424"/>
                  <a:pt x="69776" y="174939"/>
                  <a:pt x="69776" y="169456"/>
                </a:cubicBezTo>
                <a:lnTo>
                  <a:pt x="69776" y="149520"/>
                </a:lnTo>
                <a:cubicBezTo>
                  <a:pt x="69776" y="144038"/>
                  <a:pt x="65291" y="139552"/>
                  <a:pt x="59808" y="139552"/>
                </a:cubicBezTo>
                <a:lnTo>
                  <a:pt x="39872" y="139552"/>
                </a:lnTo>
                <a:cubicBezTo>
                  <a:pt x="34390" y="139552"/>
                  <a:pt x="29904" y="144038"/>
                  <a:pt x="29904" y="149520"/>
                </a:cubicBezTo>
                <a:close/>
                <a:moveTo>
                  <a:pt x="219297" y="139552"/>
                </a:moveTo>
                <a:cubicBezTo>
                  <a:pt x="213814" y="139552"/>
                  <a:pt x="209328" y="144038"/>
                  <a:pt x="209328" y="149520"/>
                </a:cubicBezTo>
                <a:lnTo>
                  <a:pt x="209328" y="169456"/>
                </a:lnTo>
                <a:cubicBezTo>
                  <a:pt x="209328" y="174939"/>
                  <a:pt x="213814" y="179424"/>
                  <a:pt x="219297" y="179424"/>
                </a:cubicBezTo>
                <a:lnTo>
                  <a:pt x="239233" y="179424"/>
                </a:lnTo>
                <a:cubicBezTo>
                  <a:pt x="244715" y="179424"/>
                  <a:pt x="249201" y="174939"/>
                  <a:pt x="249201" y="169456"/>
                </a:cubicBezTo>
                <a:lnTo>
                  <a:pt x="249201" y="149520"/>
                </a:lnTo>
                <a:cubicBezTo>
                  <a:pt x="249201" y="144038"/>
                  <a:pt x="244715" y="139552"/>
                  <a:pt x="239233" y="139552"/>
                </a:cubicBezTo>
                <a:lnTo>
                  <a:pt x="219297" y="139552"/>
                </a:lnTo>
                <a:close/>
                <a:moveTo>
                  <a:pt x="29904" y="69776"/>
                </a:moveTo>
                <a:lnTo>
                  <a:pt x="29904" y="89712"/>
                </a:lnTo>
                <a:cubicBezTo>
                  <a:pt x="29904" y="95195"/>
                  <a:pt x="34390" y="99680"/>
                  <a:pt x="39872" y="99680"/>
                </a:cubicBezTo>
                <a:lnTo>
                  <a:pt x="59808" y="99680"/>
                </a:lnTo>
                <a:cubicBezTo>
                  <a:pt x="65291" y="99680"/>
                  <a:pt x="69776" y="95195"/>
                  <a:pt x="69776" y="89712"/>
                </a:cubicBezTo>
                <a:lnTo>
                  <a:pt x="69776" y="69776"/>
                </a:lnTo>
                <a:cubicBezTo>
                  <a:pt x="69776" y="64294"/>
                  <a:pt x="65291" y="59808"/>
                  <a:pt x="59808" y="59808"/>
                </a:cubicBezTo>
                <a:lnTo>
                  <a:pt x="39872" y="59808"/>
                </a:lnTo>
                <a:cubicBezTo>
                  <a:pt x="34390" y="59808"/>
                  <a:pt x="29904" y="64294"/>
                  <a:pt x="29904" y="69776"/>
                </a:cubicBezTo>
                <a:close/>
                <a:moveTo>
                  <a:pt x="219297" y="59808"/>
                </a:moveTo>
                <a:cubicBezTo>
                  <a:pt x="213814" y="59808"/>
                  <a:pt x="209328" y="64294"/>
                  <a:pt x="209328" y="69776"/>
                </a:cubicBezTo>
                <a:lnTo>
                  <a:pt x="209328" y="89712"/>
                </a:lnTo>
                <a:cubicBezTo>
                  <a:pt x="209328" y="95195"/>
                  <a:pt x="213814" y="99680"/>
                  <a:pt x="219297" y="99680"/>
                </a:cubicBezTo>
                <a:lnTo>
                  <a:pt x="239233" y="99680"/>
                </a:lnTo>
                <a:cubicBezTo>
                  <a:pt x="244715" y="99680"/>
                  <a:pt x="249201" y="95195"/>
                  <a:pt x="249201" y="89712"/>
                </a:cubicBezTo>
                <a:lnTo>
                  <a:pt x="249201" y="69776"/>
                </a:lnTo>
                <a:cubicBezTo>
                  <a:pt x="249201" y="64294"/>
                  <a:pt x="244715" y="59808"/>
                  <a:pt x="239233" y="59808"/>
                </a:cubicBezTo>
                <a:lnTo>
                  <a:pt x="219297" y="59808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3" name="Text 6"/>
          <p:cNvSpPr/>
          <p:nvPr/>
        </p:nvSpPr>
        <p:spPr>
          <a:xfrm>
            <a:off x="1063080" y="1657080"/>
            <a:ext cx="12106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090" spc="-1" strike="noStrike">
                <a:solidFill>
                  <a:srgbClr val="ffcd75"/>
                </a:solidFill>
                <a:latin typeface="Jersey 15"/>
                <a:ea typeface="Jersey 15"/>
              </a:rPr>
              <a:t>HOLLYWOOD</a:t>
            </a:r>
            <a:endParaRPr b="0" lang="en-HK" sz="2090" spc="-1" strike="noStrike">
              <a:latin typeface="Arial"/>
            </a:endParaRPr>
          </a:p>
        </p:txBody>
      </p:sp>
      <p:sp>
        <p:nvSpPr>
          <p:cNvPr id="444" name="Shape 7"/>
          <p:cNvSpPr/>
          <p:nvPr/>
        </p:nvSpPr>
        <p:spPr>
          <a:xfrm>
            <a:off x="558360" y="2117520"/>
            <a:ext cx="5224680" cy="705600"/>
          </a:xfrm>
          <a:custGeom>
            <a:avLst/>
            <a:gdLst/>
            <a:ah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5" name="Text 8"/>
          <p:cNvSpPr/>
          <p:nvPr/>
        </p:nvSpPr>
        <p:spPr>
          <a:xfrm>
            <a:off x="664560" y="2224080"/>
            <a:ext cx="509184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TRON (1982)</a:t>
            </a:r>
            <a:endParaRPr b="0" lang="en-HK" sz="1260" spc="-1" strike="noStrike">
              <a:latin typeface="Arial"/>
            </a:endParaRPr>
          </a:p>
        </p:txBody>
      </p:sp>
      <p:sp>
        <p:nvSpPr>
          <p:cNvPr id="446" name="Text 9"/>
          <p:cNvSpPr/>
          <p:nvPr/>
        </p:nvSpPr>
        <p:spPr>
          <a:xfrm>
            <a:off x="664560" y="2507400"/>
            <a:ext cx="50832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First movie set inside a video game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47" name="Shape 10"/>
          <p:cNvSpPr/>
          <p:nvPr/>
        </p:nvSpPr>
        <p:spPr>
          <a:xfrm>
            <a:off x="558360" y="2932920"/>
            <a:ext cx="5224680" cy="705600"/>
          </a:xfrm>
          <a:custGeom>
            <a:avLst/>
            <a:gdLst/>
            <a:ah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Text 11"/>
          <p:cNvSpPr/>
          <p:nvPr/>
        </p:nvSpPr>
        <p:spPr>
          <a:xfrm>
            <a:off x="664560" y="3039120"/>
            <a:ext cx="509184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The Last Starfighter (1984)</a:t>
            </a:r>
            <a:endParaRPr b="0" lang="en-HK" sz="1260" spc="-1" strike="noStrike">
              <a:latin typeface="Arial"/>
            </a:endParaRPr>
          </a:p>
        </p:txBody>
      </p:sp>
      <p:sp>
        <p:nvSpPr>
          <p:cNvPr id="449" name="Text 12"/>
          <p:cNvSpPr/>
          <p:nvPr/>
        </p:nvSpPr>
        <p:spPr>
          <a:xfrm>
            <a:off x="664560" y="3322800"/>
            <a:ext cx="50832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Arcade game as gateway to space adventure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50" name="Shape 13"/>
          <p:cNvSpPr/>
          <p:nvPr/>
        </p:nvSpPr>
        <p:spPr>
          <a:xfrm>
            <a:off x="558360" y="3747960"/>
            <a:ext cx="5224680" cy="705600"/>
          </a:xfrm>
          <a:custGeom>
            <a:avLst/>
            <a:gdLst/>
            <a:ah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1" name="Text 14"/>
          <p:cNvSpPr/>
          <p:nvPr/>
        </p:nvSpPr>
        <p:spPr>
          <a:xfrm>
            <a:off x="664560" y="3854160"/>
            <a:ext cx="509184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WarGames (1983)</a:t>
            </a:r>
            <a:endParaRPr b="0" lang="en-HK" sz="1260" spc="-1" strike="noStrike">
              <a:latin typeface="Arial"/>
            </a:endParaRPr>
          </a:p>
        </p:txBody>
      </p:sp>
      <p:sp>
        <p:nvSpPr>
          <p:cNvPr id="452" name="Text 15"/>
          <p:cNvSpPr/>
          <p:nvPr/>
        </p:nvSpPr>
        <p:spPr>
          <a:xfrm>
            <a:off x="664560" y="4137840"/>
            <a:ext cx="50832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Gaming culture meets Cold War tension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53" name="Shape 16"/>
          <p:cNvSpPr/>
          <p:nvPr/>
        </p:nvSpPr>
        <p:spPr>
          <a:xfrm>
            <a:off x="6216120" y="1466280"/>
            <a:ext cx="5605920" cy="1290240"/>
          </a:xfrm>
          <a:custGeom>
            <a:avLst/>
            <a:gdLst/>
            <a:ahLst/>
            <a:rect l="l" t="t" r="r" b="b"/>
            <a:pathLst>
              <a:path w="5608674" h="1293628">
                <a:moveTo>
                  <a:pt x="0" y="0"/>
                </a:moveTo>
                <a:lnTo>
                  <a:pt x="5608674" y="0"/>
                </a:lnTo>
                <a:lnTo>
                  <a:pt x="5608674" y="1293628"/>
                </a:lnTo>
                <a:lnTo>
                  <a:pt x="0" y="129362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4" name="Shape 17"/>
          <p:cNvSpPr/>
          <p:nvPr/>
        </p:nvSpPr>
        <p:spPr>
          <a:xfrm>
            <a:off x="6441840" y="1665720"/>
            <a:ext cx="262440" cy="262440"/>
          </a:xfrm>
          <a:custGeom>
            <a:avLst/>
            <a:gdLst/>
            <a:ahLst/>
            <a:rect l="l" t="t" r="r" b="b"/>
            <a:pathLst>
              <a:path w="265814" h="265814">
                <a:moveTo>
                  <a:pt x="242971" y="3634"/>
                </a:moveTo>
                <a:cubicBezTo>
                  <a:pt x="246916" y="6801"/>
                  <a:pt x="249201" y="11577"/>
                  <a:pt x="249201" y="16613"/>
                </a:cubicBezTo>
                <a:lnTo>
                  <a:pt x="249201" y="174440"/>
                </a:lnTo>
                <a:cubicBezTo>
                  <a:pt x="249201" y="197388"/>
                  <a:pt x="226876" y="215974"/>
                  <a:pt x="199360" y="215974"/>
                </a:cubicBezTo>
                <a:cubicBezTo>
                  <a:pt x="171845" y="215974"/>
                  <a:pt x="149520" y="197388"/>
                  <a:pt x="149520" y="174440"/>
                </a:cubicBezTo>
                <a:cubicBezTo>
                  <a:pt x="149520" y="151493"/>
                  <a:pt x="171845" y="132907"/>
                  <a:pt x="199360" y="132907"/>
                </a:cubicBezTo>
                <a:cubicBezTo>
                  <a:pt x="205175" y="132907"/>
                  <a:pt x="210782" y="133738"/>
                  <a:pt x="215974" y="135295"/>
                </a:cubicBezTo>
                <a:lnTo>
                  <a:pt x="215974" y="74708"/>
                </a:lnTo>
                <a:lnTo>
                  <a:pt x="99680" y="100563"/>
                </a:lnTo>
                <a:lnTo>
                  <a:pt x="99680" y="207667"/>
                </a:lnTo>
                <a:cubicBezTo>
                  <a:pt x="99680" y="230614"/>
                  <a:pt x="77356" y="249201"/>
                  <a:pt x="49840" y="249201"/>
                </a:cubicBezTo>
                <a:cubicBezTo>
                  <a:pt x="22324" y="249201"/>
                  <a:pt x="0" y="230614"/>
                  <a:pt x="0" y="207667"/>
                </a:cubicBezTo>
                <a:cubicBezTo>
                  <a:pt x="0" y="184720"/>
                  <a:pt x="22324" y="166134"/>
                  <a:pt x="49840" y="166134"/>
                </a:cubicBezTo>
                <a:cubicBezTo>
                  <a:pt x="55655" y="166134"/>
                  <a:pt x="61262" y="166964"/>
                  <a:pt x="66453" y="168522"/>
                </a:cubicBezTo>
                <a:lnTo>
                  <a:pt x="66453" y="49840"/>
                </a:lnTo>
                <a:cubicBezTo>
                  <a:pt x="66453" y="42053"/>
                  <a:pt x="71853" y="35303"/>
                  <a:pt x="79485" y="33642"/>
                </a:cubicBezTo>
                <a:lnTo>
                  <a:pt x="229005" y="415"/>
                </a:lnTo>
                <a:cubicBezTo>
                  <a:pt x="233937" y="-675"/>
                  <a:pt x="239077" y="519"/>
                  <a:pt x="243022" y="3686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5" name="Text 18"/>
          <p:cNvSpPr/>
          <p:nvPr/>
        </p:nvSpPr>
        <p:spPr>
          <a:xfrm>
            <a:off x="6845040" y="1657080"/>
            <a:ext cx="980280" cy="28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9" spc="-1" strike="noStrike">
                <a:solidFill>
                  <a:srgbClr val="a7f070"/>
                </a:solidFill>
                <a:latin typeface="Jersey 15"/>
                <a:ea typeface="Jersey 15"/>
              </a:rPr>
              <a:t>MUSIC &amp; TV</a:t>
            </a:r>
            <a:endParaRPr b="0" lang="en-HK" sz="1679" spc="-1" strike="noStrike">
              <a:latin typeface="Arial"/>
            </a:endParaRPr>
          </a:p>
        </p:txBody>
      </p:sp>
      <p:sp>
        <p:nvSpPr>
          <p:cNvPr id="456" name="Text 19"/>
          <p:cNvSpPr/>
          <p:nvPr/>
        </p:nvSpPr>
        <p:spPr>
          <a:xfrm>
            <a:off x="6406560" y="2046600"/>
            <a:ext cx="530460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Music videos featured arcade imagery. TV shows like </a:t>
            </a:r>
            <a:r>
              <a:rPr b="1" lang="en-US" sz="1260" spc="-1" strike="noStrike">
                <a:solidFill>
                  <a:srgbClr val="ffcd75"/>
                </a:solidFill>
                <a:latin typeface="Jersey 15"/>
                <a:ea typeface="Jersey 15"/>
              </a:rPr>
              <a:t>"Starcade"</a:t>
            </a:r>
            <a:r>
              <a:rPr b="0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 (1982-84) made gaming a spectator sport. Pac-Man even got his own </a:t>
            </a:r>
            <a:r>
              <a:rPr b="1" lang="en-US" sz="1260" spc="-1" strike="noStrike">
                <a:solidFill>
                  <a:srgbClr val="29adff"/>
                </a:solidFill>
                <a:latin typeface="Jersey 15"/>
                <a:ea typeface="Jersey 15"/>
              </a:rPr>
              <a:t>Saturday morning cartoon</a:t>
            </a:r>
            <a:r>
              <a:rPr b="0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 (1982-83).</a:t>
            </a:r>
            <a:endParaRPr b="0" lang="en-HK" sz="1260" spc="-1" strike="noStrike">
              <a:latin typeface="Arial"/>
            </a:endParaRPr>
          </a:p>
        </p:txBody>
      </p:sp>
      <p:sp>
        <p:nvSpPr>
          <p:cNvPr id="457" name="Shape 20"/>
          <p:cNvSpPr/>
          <p:nvPr/>
        </p:nvSpPr>
        <p:spPr>
          <a:xfrm>
            <a:off x="6216120" y="2923920"/>
            <a:ext cx="5605920" cy="1290240"/>
          </a:xfrm>
          <a:custGeom>
            <a:avLst/>
            <a:gdLst/>
            <a:ahLst/>
            <a:rect l="l" t="t" r="r" b="b"/>
            <a:pathLst>
              <a:path w="5608674" h="1293628">
                <a:moveTo>
                  <a:pt x="0" y="0"/>
                </a:moveTo>
                <a:lnTo>
                  <a:pt x="5608674" y="0"/>
                </a:lnTo>
                <a:lnTo>
                  <a:pt x="5608674" y="1293628"/>
                </a:lnTo>
                <a:lnTo>
                  <a:pt x="0" y="129362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8" name="Shape 21"/>
          <p:cNvSpPr/>
          <p:nvPr/>
        </p:nvSpPr>
        <p:spPr>
          <a:xfrm>
            <a:off x="6408720" y="3123360"/>
            <a:ext cx="329040" cy="262440"/>
          </a:xfrm>
          <a:custGeom>
            <a:avLst/>
            <a:gdLst/>
            <a:ahLst/>
            <a:rect l="l" t="t" r="r" b="b"/>
            <a:pathLst>
              <a:path w="332267" h="265814">
                <a:moveTo>
                  <a:pt x="166238" y="58147"/>
                </a:moveTo>
                <a:cubicBezTo>
                  <a:pt x="189185" y="58147"/>
                  <a:pt x="207771" y="39561"/>
                  <a:pt x="207771" y="16613"/>
                </a:cubicBezTo>
                <a:lnTo>
                  <a:pt x="235546" y="16613"/>
                </a:lnTo>
                <a:cubicBezTo>
                  <a:pt x="244372" y="16613"/>
                  <a:pt x="252835" y="20092"/>
                  <a:pt x="259065" y="26322"/>
                </a:cubicBezTo>
                <a:lnTo>
                  <a:pt x="320638" y="87947"/>
                </a:lnTo>
                <a:cubicBezTo>
                  <a:pt x="327128" y="94437"/>
                  <a:pt x="327128" y="104976"/>
                  <a:pt x="320638" y="111465"/>
                </a:cubicBezTo>
                <a:lnTo>
                  <a:pt x="294316" y="137787"/>
                </a:lnTo>
                <a:cubicBezTo>
                  <a:pt x="287827" y="144277"/>
                  <a:pt x="277288" y="144277"/>
                  <a:pt x="270798" y="137787"/>
                </a:cubicBezTo>
                <a:lnTo>
                  <a:pt x="249304" y="116294"/>
                </a:lnTo>
                <a:lnTo>
                  <a:pt x="249304" y="232587"/>
                </a:lnTo>
                <a:cubicBezTo>
                  <a:pt x="249304" y="250914"/>
                  <a:pt x="234404" y="265814"/>
                  <a:pt x="216078" y="265814"/>
                </a:cubicBezTo>
                <a:lnTo>
                  <a:pt x="116397" y="265814"/>
                </a:lnTo>
                <a:cubicBezTo>
                  <a:pt x="98071" y="265814"/>
                  <a:pt x="83171" y="250914"/>
                  <a:pt x="83171" y="232587"/>
                </a:cubicBezTo>
                <a:lnTo>
                  <a:pt x="83171" y="116294"/>
                </a:lnTo>
                <a:lnTo>
                  <a:pt x="61677" y="137787"/>
                </a:lnTo>
                <a:cubicBezTo>
                  <a:pt x="55188" y="144277"/>
                  <a:pt x="44648" y="144277"/>
                  <a:pt x="38159" y="137787"/>
                </a:cubicBezTo>
                <a:lnTo>
                  <a:pt x="11889" y="111413"/>
                </a:lnTo>
                <a:cubicBezTo>
                  <a:pt x="5399" y="104924"/>
                  <a:pt x="5399" y="94385"/>
                  <a:pt x="11889" y="87895"/>
                </a:cubicBezTo>
                <a:lnTo>
                  <a:pt x="73462" y="26322"/>
                </a:lnTo>
                <a:cubicBezTo>
                  <a:pt x="79692" y="20092"/>
                  <a:pt x="88155" y="16613"/>
                  <a:pt x="96981" y="16613"/>
                </a:cubicBezTo>
                <a:lnTo>
                  <a:pt x="124756" y="16613"/>
                </a:lnTo>
                <a:cubicBezTo>
                  <a:pt x="124756" y="39561"/>
                  <a:pt x="143342" y="58147"/>
                  <a:pt x="166289" y="58147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Text 22"/>
          <p:cNvSpPr/>
          <p:nvPr/>
        </p:nvSpPr>
        <p:spPr>
          <a:xfrm>
            <a:off x="6845040" y="3114360"/>
            <a:ext cx="705600" cy="28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79" spc="-1" strike="noStrike">
                <a:solidFill>
                  <a:srgbClr val="29adff"/>
                </a:solidFill>
                <a:latin typeface="Jersey 15"/>
                <a:ea typeface="Jersey 15"/>
              </a:rPr>
              <a:t>FASHION</a:t>
            </a:r>
            <a:endParaRPr b="0" lang="en-HK" sz="1679" spc="-1" strike="noStrike">
              <a:latin typeface="Arial"/>
            </a:endParaRPr>
          </a:p>
        </p:txBody>
      </p:sp>
      <p:sp>
        <p:nvSpPr>
          <p:cNvPr id="460" name="Text 23"/>
          <p:cNvSpPr/>
          <p:nvPr/>
        </p:nvSpPr>
        <p:spPr>
          <a:xfrm>
            <a:off x="6406560" y="3504240"/>
            <a:ext cx="530460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Bright, neon colors from game screens influenced 80s fashion. Arcade-inspired patterns appeared on clothing, creating a </a:t>
            </a:r>
            <a:r>
              <a:rPr b="1" lang="en-US" sz="1260" spc="-1" strike="noStrike">
                <a:solidFill>
                  <a:srgbClr val="a7f070"/>
                </a:solidFill>
                <a:latin typeface="Jersey 15"/>
                <a:ea typeface="Jersey 15"/>
              </a:rPr>
              <a:t>distinctive aesthetic</a:t>
            </a:r>
            <a:r>
              <a:rPr b="0" lang="en-US" sz="1260" spc="-1" strike="noStrike">
                <a:solidFill>
                  <a:srgbClr val="f4f4f4"/>
                </a:solidFill>
                <a:latin typeface="Jersey 15"/>
                <a:ea typeface="Jersey 15"/>
              </a:rPr>
              <a:t> of the era.</a:t>
            </a:r>
            <a:endParaRPr b="0" lang="en-HK" sz="1260" spc="-1" strike="noStrike">
              <a:latin typeface="Arial"/>
            </a:endParaRPr>
          </a:p>
        </p:txBody>
      </p:sp>
      <p:sp>
        <p:nvSpPr>
          <p:cNvPr id="461" name="Shape 24"/>
          <p:cNvSpPr/>
          <p:nvPr/>
        </p:nvSpPr>
        <p:spPr>
          <a:xfrm>
            <a:off x="367560" y="4815720"/>
            <a:ext cx="2734920" cy="1263960"/>
          </a:xfrm>
          <a:custGeom>
            <a:avLst/>
            <a:gdLst/>
            <a:ah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2" name="Shape 25"/>
          <p:cNvSpPr/>
          <p:nvPr/>
        </p:nvSpPr>
        <p:spPr>
          <a:xfrm>
            <a:off x="1577160" y="4970880"/>
            <a:ext cx="315720" cy="315720"/>
          </a:xfrm>
          <a:custGeom>
            <a:avLst/>
            <a:gdLst/>
            <a:ahLst/>
            <a:rect l="l" t="t" r="r" b="b"/>
            <a:pathLst>
              <a:path w="318977" h="318977">
                <a:moveTo>
                  <a:pt x="139552" y="0"/>
                </a:moveTo>
                <a:cubicBezTo>
                  <a:pt x="161544" y="0"/>
                  <a:pt x="179424" y="13395"/>
                  <a:pt x="179424" y="29904"/>
                </a:cubicBezTo>
                <a:cubicBezTo>
                  <a:pt x="179424" y="36383"/>
                  <a:pt x="176683" y="42364"/>
                  <a:pt x="171948" y="47286"/>
                </a:cubicBezTo>
                <a:cubicBezTo>
                  <a:pt x="167837" y="51585"/>
                  <a:pt x="164472" y="56818"/>
                  <a:pt x="164472" y="62799"/>
                </a:cubicBezTo>
                <a:cubicBezTo>
                  <a:pt x="164472" y="72144"/>
                  <a:pt x="172073" y="79744"/>
                  <a:pt x="181418" y="79744"/>
                </a:cubicBezTo>
                <a:lnTo>
                  <a:pt x="209328" y="79744"/>
                </a:lnTo>
                <a:cubicBezTo>
                  <a:pt x="225838" y="79744"/>
                  <a:pt x="239233" y="93139"/>
                  <a:pt x="239233" y="109648"/>
                </a:cubicBezTo>
                <a:lnTo>
                  <a:pt x="239233" y="137559"/>
                </a:lnTo>
                <a:cubicBezTo>
                  <a:pt x="239233" y="146904"/>
                  <a:pt x="246833" y="154504"/>
                  <a:pt x="256178" y="154504"/>
                </a:cubicBezTo>
                <a:cubicBezTo>
                  <a:pt x="262097" y="154504"/>
                  <a:pt x="267392" y="151140"/>
                  <a:pt x="271691" y="147028"/>
                </a:cubicBezTo>
                <a:cubicBezTo>
                  <a:pt x="276613" y="142356"/>
                  <a:pt x="282593" y="139552"/>
                  <a:pt x="289073" y="139552"/>
                </a:cubicBezTo>
                <a:cubicBezTo>
                  <a:pt x="305582" y="139552"/>
                  <a:pt x="318977" y="157432"/>
                  <a:pt x="318977" y="179424"/>
                </a:cubicBezTo>
                <a:cubicBezTo>
                  <a:pt x="318977" y="201416"/>
                  <a:pt x="305582" y="219297"/>
                  <a:pt x="289073" y="219297"/>
                </a:cubicBezTo>
                <a:cubicBezTo>
                  <a:pt x="282593" y="219297"/>
                  <a:pt x="276550" y="216555"/>
                  <a:pt x="271691" y="211820"/>
                </a:cubicBezTo>
                <a:cubicBezTo>
                  <a:pt x="267392" y="207709"/>
                  <a:pt x="262159" y="204344"/>
                  <a:pt x="256178" y="204344"/>
                </a:cubicBezTo>
                <a:cubicBezTo>
                  <a:pt x="246833" y="204344"/>
                  <a:pt x="239233" y="211945"/>
                  <a:pt x="239233" y="221290"/>
                </a:cubicBezTo>
                <a:lnTo>
                  <a:pt x="239233" y="289073"/>
                </a:lnTo>
                <a:cubicBezTo>
                  <a:pt x="239233" y="305582"/>
                  <a:pt x="225838" y="318977"/>
                  <a:pt x="209328" y="318977"/>
                </a:cubicBezTo>
                <a:lnTo>
                  <a:pt x="173942" y="318977"/>
                </a:lnTo>
                <a:cubicBezTo>
                  <a:pt x="165968" y="318977"/>
                  <a:pt x="159488" y="312498"/>
                  <a:pt x="159488" y="304523"/>
                </a:cubicBezTo>
                <a:cubicBezTo>
                  <a:pt x="159488" y="298791"/>
                  <a:pt x="163102" y="293745"/>
                  <a:pt x="167712" y="290319"/>
                </a:cubicBezTo>
                <a:cubicBezTo>
                  <a:pt x="174939" y="284899"/>
                  <a:pt x="179424" y="277423"/>
                  <a:pt x="179424" y="269137"/>
                </a:cubicBezTo>
                <a:cubicBezTo>
                  <a:pt x="179424" y="252627"/>
                  <a:pt x="161544" y="239233"/>
                  <a:pt x="139552" y="239233"/>
                </a:cubicBezTo>
                <a:cubicBezTo>
                  <a:pt x="117560" y="239233"/>
                  <a:pt x="99680" y="252627"/>
                  <a:pt x="99680" y="269137"/>
                </a:cubicBezTo>
                <a:cubicBezTo>
                  <a:pt x="99680" y="277423"/>
                  <a:pt x="104166" y="284899"/>
                  <a:pt x="111393" y="290319"/>
                </a:cubicBezTo>
                <a:cubicBezTo>
                  <a:pt x="116003" y="293745"/>
                  <a:pt x="119616" y="298729"/>
                  <a:pt x="119616" y="304523"/>
                </a:cubicBezTo>
                <a:cubicBezTo>
                  <a:pt x="119616" y="312498"/>
                  <a:pt x="113137" y="318977"/>
                  <a:pt x="105163" y="318977"/>
                </a:cubicBezTo>
                <a:lnTo>
                  <a:pt x="29904" y="318977"/>
                </a:lnTo>
                <a:cubicBezTo>
                  <a:pt x="13395" y="318977"/>
                  <a:pt x="0" y="305582"/>
                  <a:pt x="0" y="289073"/>
                </a:cubicBezTo>
                <a:lnTo>
                  <a:pt x="0" y="213814"/>
                </a:lnTo>
                <a:cubicBezTo>
                  <a:pt x="0" y="205840"/>
                  <a:pt x="6479" y="199360"/>
                  <a:pt x="14454" y="199360"/>
                </a:cubicBezTo>
                <a:cubicBezTo>
                  <a:pt x="20185" y="199360"/>
                  <a:pt x="25232" y="202974"/>
                  <a:pt x="28658" y="207584"/>
                </a:cubicBezTo>
                <a:cubicBezTo>
                  <a:pt x="34078" y="214811"/>
                  <a:pt x="41554" y="219297"/>
                  <a:pt x="49840" y="219297"/>
                </a:cubicBezTo>
                <a:cubicBezTo>
                  <a:pt x="66350" y="219297"/>
                  <a:pt x="79744" y="201416"/>
                  <a:pt x="79744" y="179424"/>
                </a:cubicBezTo>
                <a:cubicBezTo>
                  <a:pt x="79744" y="157432"/>
                  <a:pt x="66350" y="139552"/>
                  <a:pt x="49840" y="139552"/>
                </a:cubicBezTo>
                <a:cubicBezTo>
                  <a:pt x="41554" y="139552"/>
                  <a:pt x="34078" y="144038"/>
                  <a:pt x="28658" y="151265"/>
                </a:cubicBezTo>
                <a:cubicBezTo>
                  <a:pt x="25232" y="155875"/>
                  <a:pt x="20248" y="159488"/>
                  <a:pt x="14454" y="159488"/>
                </a:cubicBezTo>
                <a:cubicBezTo>
                  <a:pt x="6479" y="159488"/>
                  <a:pt x="0" y="153009"/>
                  <a:pt x="0" y="145035"/>
                </a:cubicBezTo>
                <a:lnTo>
                  <a:pt x="0" y="109648"/>
                </a:lnTo>
                <a:cubicBezTo>
                  <a:pt x="0" y="93139"/>
                  <a:pt x="13395" y="79744"/>
                  <a:pt x="29904" y="79744"/>
                </a:cubicBezTo>
                <a:lnTo>
                  <a:pt x="97687" y="79744"/>
                </a:lnTo>
                <a:cubicBezTo>
                  <a:pt x="107032" y="79744"/>
                  <a:pt x="114632" y="72144"/>
                  <a:pt x="114632" y="62799"/>
                </a:cubicBezTo>
                <a:cubicBezTo>
                  <a:pt x="114632" y="56880"/>
                  <a:pt x="111268" y="51585"/>
                  <a:pt x="107156" y="47286"/>
                </a:cubicBezTo>
                <a:cubicBezTo>
                  <a:pt x="102484" y="42364"/>
                  <a:pt x="99680" y="36383"/>
                  <a:pt x="99680" y="29904"/>
                </a:cubicBezTo>
                <a:cubicBezTo>
                  <a:pt x="99680" y="13395"/>
                  <a:pt x="117560" y="0"/>
                  <a:pt x="139552" y="0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3" name="Text 26"/>
          <p:cNvSpPr/>
          <p:nvPr/>
        </p:nvSpPr>
        <p:spPr>
          <a:xfrm>
            <a:off x="478440" y="5396040"/>
            <a:ext cx="25135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390" spc="-1" strike="noStrike">
                <a:solidFill>
                  <a:srgbClr val="f4f4f4"/>
                </a:solidFill>
                <a:latin typeface="Jersey 15"/>
                <a:ea typeface="Jersey 15"/>
              </a:rPr>
              <a:t>MERCHANDISE</a:t>
            </a:r>
            <a:endParaRPr b="0" lang="en-HK" sz="1390" spc="-1" strike="noStrike">
              <a:latin typeface="Arial"/>
            </a:endParaRPr>
          </a:p>
        </p:txBody>
      </p:sp>
      <p:sp>
        <p:nvSpPr>
          <p:cNvPr id="464" name="Text 27"/>
          <p:cNvSpPr/>
          <p:nvPr/>
        </p:nvSpPr>
        <p:spPr>
          <a:xfrm>
            <a:off x="487440" y="5715000"/>
            <a:ext cx="249588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/>
                </a:solidFill>
                <a:latin typeface="Jersey 15"/>
                <a:ea typeface="Jersey 15"/>
              </a:rPr>
              <a:t>Lunch boxes, toys, bedsheets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65" name="Shape 28"/>
          <p:cNvSpPr/>
          <p:nvPr/>
        </p:nvSpPr>
        <p:spPr>
          <a:xfrm>
            <a:off x="3273840" y="4815720"/>
            <a:ext cx="2734920" cy="1263960"/>
          </a:xfrm>
          <a:custGeom>
            <a:avLst/>
            <a:gdLst/>
            <a:ah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6" name="Shape 29"/>
          <p:cNvSpPr/>
          <p:nvPr/>
        </p:nvSpPr>
        <p:spPr>
          <a:xfrm>
            <a:off x="4503600" y="4970880"/>
            <a:ext cx="275760" cy="315720"/>
          </a:xfrm>
          <a:custGeom>
            <a:avLst/>
            <a:gdLst/>
            <a:ahLst/>
            <a:rect l="l" t="t" r="r" b="b"/>
            <a:pathLst>
              <a:path w="279105" h="318977">
                <a:moveTo>
                  <a:pt x="239233" y="318977"/>
                </a:moveTo>
                <a:lnTo>
                  <a:pt x="59808" y="318977"/>
                </a:lnTo>
                <a:cubicBezTo>
                  <a:pt x="26789" y="318977"/>
                  <a:pt x="0" y="292188"/>
                  <a:pt x="0" y="259169"/>
                </a:cubicBezTo>
                <a:lnTo>
                  <a:pt x="0" y="59808"/>
                </a:lnTo>
                <a:cubicBezTo>
                  <a:pt x="0" y="26789"/>
                  <a:pt x="26789" y="0"/>
                  <a:pt x="59808" y="0"/>
                </a:cubicBezTo>
                <a:lnTo>
                  <a:pt x="249201" y="0"/>
                </a:lnTo>
                <a:cubicBezTo>
                  <a:pt x="265710" y="0"/>
                  <a:pt x="279105" y="13395"/>
                  <a:pt x="279105" y="29904"/>
                </a:cubicBezTo>
                <a:lnTo>
                  <a:pt x="279105" y="209328"/>
                </a:lnTo>
                <a:cubicBezTo>
                  <a:pt x="279105" y="222349"/>
                  <a:pt x="270756" y="233439"/>
                  <a:pt x="259169" y="237550"/>
                </a:cubicBezTo>
                <a:lnTo>
                  <a:pt x="259169" y="279105"/>
                </a:lnTo>
                <a:cubicBezTo>
                  <a:pt x="270196" y="279105"/>
                  <a:pt x="279105" y="288014"/>
                  <a:pt x="279105" y="299041"/>
                </a:cubicBezTo>
                <a:cubicBezTo>
                  <a:pt x="279105" y="310068"/>
                  <a:pt x="270196" y="318977"/>
                  <a:pt x="259169" y="318977"/>
                </a:cubicBezTo>
                <a:lnTo>
                  <a:pt x="239233" y="318977"/>
                </a:lnTo>
                <a:close/>
                <a:moveTo>
                  <a:pt x="59808" y="239233"/>
                </a:moveTo>
                <a:cubicBezTo>
                  <a:pt x="48781" y="239233"/>
                  <a:pt x="39872" y="248141"/>
                  <a:pt x="39872" y="259169"/>
                </a:cubicBezTo>
                <a:cubicBezTo>
                  <a:pt x="39872" y="270196"/>
                  <a:pt x="48781" y="279105"/>
                  <a:pt x="59808" y="279105"/>
                </a:cubicBezTo>
                <a:lnTo>
                  <a:pt x="219297" y="279105"/>
                </a:lnTo>
                <a:lnTo>
                  <a:pt x="219297" y="239233"/>
                </a:lnTo>
                <a:lnTo>
                  <a:pt x="59808" y="239233"/>
                </a:lnTo>
                <a:close/>
                <a:moveTo>
                  <a:pt x="79744" y="94696"/>
                </a:moveTo>
                <a:cubicBezTo>
                  <a:pt x="79744" y="102982"/>
                  <a:pt x="86410" y="109648"/>
                  <a:pt x="94696" y="109648"/>
                </a:cubicBezTo>
                <a:lnTo>
                  <a:pt x="204344" y="109648"/>
                </a:lnTo>
                <a:cubicBezTo>
                  <a:pt x="212630" y="109648"/>
                  <a:pt x="219297" y="102982"/>
                  <a:pt x="219297" y="94696"/>
                </a:cubicBezTo>
                <a:cubicBezTo>
                  <a:pt x="219297" y="86410"/>
                  <a:pt x="212630" y="79744"/>
                  <a:pt x="204344" y="79744"/>
                </a:cubicBezTo>
                <a:lnTo>
                  <a:pt x="94696" y="79744"/>
                </a:lnTo>
                <a:cubicBezTo>
                  <a:pt x="86410" y="79744"/>
                  <a:pt x="79744" y="86410"/>
                  <a:pt x="79744" y="94696"/>
                </a:cubicBezTo>
                <a:close/>
                <a:moveTo>
                  <a:pt x="94696" y="139552"/>
                </a:moveTo>
                <a:cubicBezTo>
                  <a:pt x="86410" y="139552"/>
                  <a:pt x="79744" y="146218"/>
                  <a:pt x="79744" y="154504"/>
                </a:cubicBezTo>
                <a:cubicBezTo>
                  <a:pt x="79744" y="162790"/>
                  <a:pt x="86410" y="169456"/>
                  <a:pt x="94696" y="169456"/>
                </a:cubicBezTo>
                <a:lnTo>
                  <a:pt x="204344" y="169456"/>
                </a:lnTo>
                <a:cubicBezTo>
                  <a:pt x="212630" y="169456"/>
                  <a:pt x="219297" y="162790"/>
                  <a:pt x="219297" y="154504"/>
                </a:cubicBezTo>
                <a:cubicBezTo>
                  <a:pt x="219297" y="146218"/>
                  <a:pt x="212630" y="139552"/>
                  <a:pt x="204344" y="139552"/>
                </a:cubicBezTo>
                <a:lnTo>
                  <a:pt x="94696" y="139552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7" name="Text 30"/>
          <p:cNvSpPr/>
          <p:nvPr/>
        </p:nvSpPr>
        <p:spPr>
          <a:xfrm>
            <a:off x="3384720" y="5396040"/>
            <a:ext cx="25135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390" spc="-1" strike="noStrike">
                <a:solidFill>
                  <a:srgbClr val="f4f4f4"/>
                </a:solidFill>
                <a:latin typeface="Jersey 15"/>
                <a:ea typeface="Jersey 15"/>
              </a:rPr>
              <a:t>COMICS</a:t>
            </a:r>
            <a:endParaRPr b="0" lang="en-HK" sz="1390" spc="-1" strike="noStrike">
              <a:latin typeface="Arial"/>
            </a:endParaRPr>
          </a:p>
        </p:txBody>
      </p:sp>
      <p:sp>
        <p:nvSpPr>
          <p:cNvPr id="468" name="Text 31"/>
          <p:cNvSpPr/>
          <p:nvPr/>
        </p:nvSpPr>
        <p:spPr>
          <a:xfrm>
            <a:off x="3393720" y="5715000"/>
            <a:ext cx="249588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/>
                </a:solidFill>
                <a:latin typeface="Jersey 15"/>
                <a:ea typeface="Jersey 15"/>
              </a:rPr>
              <a:t>Game-based comic books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69" name="Shape 32"/>
          <p:cNvSpPr/>
          <p:nvPr/>
        </p:nvSpPr>
        <p:spPr>
          <a:xfrm>
            <a:off x="6180480" y="4815720"/>
            <a:ext cx="2734920" cy="1263960"/>
          </a:xfrm>
          <a:custGeom>
            <a:avLst/>
            <a:gdLst/>
            <a:ah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0" name="Shape 33"/>
          <p:cNvSpPr/>
          <p:nvPr/>
        </p:nvSpPr>
        <p:spPr>
          <a:xfrm>
            <a:off x="7390080" y="4970880"/>
            <a:ext cx="315720" cy="315720"/>
          </a:xfrm>
          <a:custGeom>
            <a:avLst/>
            <a:gdLst/>
            <a:ahLst/>
            <a:rect l="l" t="t" r="r" b="b"/>
            <a:pathLst>
              <a:path w="318977" h="318977">
                <a:moveTo>
                  <a:pt x="41056" y="142356"/>
                </a:moveTo>
                <a:cubicBezTo>
                  <a:pt x="49342" y="84417"/>
                  <a:pt x="99244" y="39872"/>
                  <a:pt x="159488" y="39872"/>
                </a:cubicBezTo>
                <a:cubicBezTo>
                  <a:pt x="192507" y="39872"/>
                  <a:pt x="222412" y="53267"/>
                  <a:pt x="244092" y="74885"/>
                </a:cubicBezTo>
                <a:cubicBezTo>
                  <a:pt x="244217" y="75009"/>
                  <a:pt x="244341" y="75134"/>
                  <a:pt x="244466" y="75259"/>
                </a:cubicBezTo>
                <a:lnTo>
                  <a:pt x="249201" y="79744"/>
                </a:lnTo>
                <a:lnTo>
                  <a:pt x="219359" y="79744"/>
                </a:lnTo>
                <a:cubicBezTo>
                  <a:pt x="208332" y="79744"/>
                  <a:pt x="199423" y="88653"/>
                  <a:pt x="199423" y="99680"/>
                </a:cubicBezTo>
                <a:cubicBezTo>
                  <a:pt x="199423" y="110707"/>
                  <a:pt x="208332" y="119616"/>
                  <a:pt x="219359" y="119616"/>
                </a:cubicBezTo>
                <a:lnTo>
                  <a:pt x="299103" y="119616"/>
                </a:lnTo>
                <a:cubicBezTo>
                  <a:pt x="310130" y="119616"/>
                  <a:pt x="319039" y="110707"/>
                  <a:pt x="319039" y="99680"/>
                </a:cubicBezTo>
                <a:lnTo>
                  <a:pt x="319039" y="19936"/>
                </a:lnTo>
                <a:cubicBezTo>
                  <a:pt x="319039" y="8909"/>
                  <a:pt x="310130" y="0"/>
                  <a:pt x="299103" y="0"/>
                </a:cubicBezTo>
                <a:cubicBezTo>
                  <a:pt x="288076" y="0"/>
                  <a:pt x="279167" y="8909"/>
                  <a:pt x="279167" y="19936"/>
                </a:cubicBezTo>
                <a:lnTo>
                  <a:pt x="279167" y="53204"/>
                </a:lnTo>
                <a:lnTo>
                  <a:pt x="272127" y="46538"/>
                </a:lnTo>
                <a:cubicBezTo>
                  <a:pt x="243282" y="17818"/>
                  <a:pt x="203410" y="0"/>
                  <a:pt x="159488" y="0"/>
                </a:cubicBezTo>
                <a:cubicBezTo>
                  <a:pt x="79121" y="0"/>
                  <a:pt x="12647" y="59434"/>
                  <a:pt x="1620" y="136749"/>
                </a:cubicBezTo>
                <a:cubicBezTo>
                  <a:pt x="62" y="147651"/>
                  <a:pt x="7601" y="157744"/>
                  <a:pt x="18503" y="159301"/>
                </a:cubicBezTo>
                <a:cubicBezTo>
                  <a:pt x="29406" y="160859"/>
                  <a:pt x="39498" y="153258"/>
                  <a:pt x="41056" y="142418"/>
                </a:cubicBezTo>
                <a:close/>
                <a:moveTo>
                  <a:pt x="317357" y="182228"/>
                </a:moveTo>
                <a:cubicBezTo>
                  <a:pt x="318914" y="171325"/>
                  <a:pt x="311314" y="161233"/>
                  <a:pt x="300474" y="159675"/>
                </a:cubicBezTo>
                <a:cubicBezTo>
                  <a:pt x="289633" y="158118"/>
                  <a:pt x="279478" y="165718"/>
                  <a:pt x="277921" y="176559"/>
                </a:cubicBezTo>
                <a:cubicBezTo>
                  <a:pt x="269635" y="234498"/>
                  <a:pt x="219733" y="279042"/>
                  <a:pt x="159488" y="279042"/>
                </a:cubicBezTo>
                <a:cubicBezTo>
                  <a:pt x="126469" y="279042"/>
                  <a:pt x="96565" y="265648"/>
                  <a:pt x="74885" y="244030"/>
                </a:cubicBezTo>
                <a:cubicBezTo>
                  <a:pt x="74760" y="243905"/>
                  <a:pt x="74636" y="243780"/>
                  <a:pt x="74511" y="243656"/>
                </a:cubicBezTo>
                <a:lnTo>
                  <a:pt x="69776" y="239170"/>
                </a:lnTo>
                <a:lnTo>
                  <a:pt x="99618" y="239170"/>
                </a:lnTo>
                <a:cubicBezTo>
                  <a:pt x="110645" y="239170"/>
                  <a:pt x="119554" y="230261"/>
                  <a:pt x="119554" y="219234"/>
                </a:cubicBezTo>
                <a:cubicBezTo>
                  <a:pt x="119554" y="208207"/>
                  <a:pt x="110645" y="199298"/>
                  <a:pt x="99618" y="199298"/>
                </a:cubicBezTo>
                <a:lnTo>
                  <a:pt x="19936" y="199360"/>
                </a:lnTo>
                <a:cubicBezTo>
                  <a:pt x="14641" y="199360"/>
                  <a:pt x="9532" y="201479"/>
                  <a:pt x="5794" y="205279"/>
                </a:cubicBezTo>
                <a:cubicBezTo>
                  <a:pt x="2056" y="209079"/>
                  <a:pt x="-62" y="214126"/>
                  <a:pt x="0" y="219483"/>
                </a:cubicBezTo>
                <a:lnTo>
                  <a:pt x="623" y="298605"/>
                </a:lnTo>
                <a:cubicBezTo>
                  <a:pt x="685" y="309632"/>
                  <a:pt x="9719" y="318478"/>
                  <a:pt x="20746" y="318354"/>
                </a:cubicBezTo>
                <a:cubicBezTo>
                  <a:pt x="31773" y="318229"/>
                  <a:pt x="40620" y="309258"/>
                  <a:pt x="40495" y="298231"/>
                </a:cubicBezTo>
                <a:lnTo>
                  <a:pt x="40246" y="266146"/>
                </a:lnTo>
                <a:lnTo>
                  <a:pt x="46912" y="272439"/>
                </a:lnTo>
                <a:cubicBezTo>
                  <a:pt x="75757" y="301159"/>
                  <a:pt x="115567" y="318977"/>
                  <a:pt x="159488" y="318977"/>
                </a:cubicBezTo>
                <a:cubicBezTo>
                  <a:pt x="239856" y="318977"/>
                  <a:pt x="306330" y="259542"/>
                  <a:pt x="317357" y="182228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1" name="Text 34"/>
          <p:cNvSpPr/>
          <p:nvPr/>
        </p:nvSpPr>
        <p:spPr>
          <a:xfrm>
            <a:off x="6291360" y="5396040"/>
            <a:ext cx="25135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390" spc="-1" strike="noStrike">
                <a:solidFill>
                  <a:srgbClr val="f4f4f4"/>
                </a:solidFill>
                <a:latin typeface="Jersey 15"/>
                <a:ea typeface="Jersey 15"/>
              </a:rPr>
              <a:t>CEREAL</a:t>
            </a:r>
            <a:endParaRPr b="0" lang="en-HK" sz="1390" spc="-1" strike="noStrike">
              <a:latin typeface="Arial"/>
            </a:endParaRPr>
          </a:p>
        </p:txBody>
      </p:sp>
      <p:sp>
        <p:nvSpPr>
          <p:cNvPr id="472" name="Text 35"/>
          <p:cNvSpPr/>
          <p:nvPr/>
        </p:nvSpPr>
        <p:spPr>
          <a:xfrm>
            <a:off x="6300000" y="5715000"/>
            <a:ext cx="249588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/>
                </a:solidFill>
                <a:latin typeface="Jersey 15"/>
                <a:ea typeface="Jersey 15"/>
              </a:rPr>
              <a:t>Pac-Man breakfast cereal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73" name="Shape 36"/>
          <p:cNvSpPr/>
          <p:nvPr/>
        </p:nvSpPr>
        <p:spPr>
          <a:xfrm>
            <a:off x="9087120" y="4815720"/>
            <a:ext cx="2734920" cy="1263960"/>
          </a:xfrm>
          <a:custGeom>
            <a:avLst/>
            <a:gdLst/>
            <a:ah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4" name="Shape 37"/>
          <p:cNvSpPr/>
          <p:nvPr/>
        </p:nvSpPr>
        <p:spPr>
          <a:xfrm>
            <a:off x="10296720" y="4970880"/>
            <a:ext cx="315720" cy="315720"/>
          </a:xfrm>
          <a:custGeom>
            <a:avLst/>
            <a:gdLst/>
            <a:ahLst/>
            <a:rect l="l" t="t" r="r" b="b"/>
            <a:pathLst>
              <a:path w="318977" h="318977">
                <a:moveTo>
                  <a:pt x="0" y="259169"/>
                </a:moveTo>
                <a:lnTo>
                  <a:pt x="0" y="74760"/>
                </a:lnTo>
                <a:cubicBezTo>
                  <a:pt x="0" y="66474"/>
                  <a:pt x="6666" y="59808"/>
                  <a:pt x="14952" y="59808"/>
                </a:cubicBezTo>
                <a:cubicBezTo>
                  <a:pt x="23238" y="59808"/>
                  <a:pt x="29904" y="66474"/>
                  <a:pt x="29904" y="74760"/>
                </a:cubicBezTo>
                <a:lnTo>
                  <a:pt x="29904" y="254185"/>
                </a:lnTo>
                <a:cubicBezTo>
                  <a:pt x="29904" y="262471"/>
                  <a:pt x="36570" y="269137"/>
                  <a:pt x="44856" y="269137"/>
                </a:cubicBezTo>
                <a:cubicBezTo>
                  <a:pt x="53142" y="269137"/>
                  <a:pt x="59808" y="262471"/>
                  <a:pt x="59808" y="254185"/>
                </a:cubicBezTo>
                <a:lnTo>
                  <a:pt x="59808" y="59808"/>
                </a:lnTo>
                <a:cubicBezTo>
                  <a:pt x="59808" y="37816"/>
                  <a:pt x="77688" y="19936"/>
                  <a:pt x="99680" y="19936"/>
                </a:cubicBezTo>
                <a:lnTo>
                  <a:pt x="279105" y="19936"/>
                </a:lnTo>
                <a:cubicBezTo>
                  <a:pt x="301097" y="19936"/>
                  <a:pt x="318977" y="37816"/>
                  <a:pt x="318977" y="59808"/>
                </a:cubicBezTo>
                <a:lnTo>
                  <a:pt x="318977" y="259169"/>
                </a:lnTo>
                <a:cubicBezTo>
                  <a:pt x="318977" y="281161"/>
                  <a:pt x="301097" y="299041"/>
                  <a:pt x="279105" y="299041"/>
                </a:cubicBezTo>
                <a:lnTo>
                  <a:pt x="39872" y="299041"/>
                </a:lnTo>
                <a:cubicBezTo>
                  <a:pt x="17880" y="299041"/>
                  <a:pt x="0" y="281161"/>
                  <a:pt x="0" y="259169"/>
                </a:cubicBezTo>
                <a:close/>
                <a:moveTo>
                  <a:pt x="99680" y="79744"/>
                </a:moveTo>
                <a:lnTo>
                  <a:pt x="99680" y="119616"/>
                </a:lnTo>
                <a:cubicBezTo>
                  <a:pt x="99680" y="130643"/>
                  <a:pt x="108589" y="139552"/>
                  <a:pt x="119616" y="139552"/>
                </a:cubicBezTo>
                <a:lnTo>
                  <a:pt x="159488" y="139552"/>
                </a:lnTo>
                <a:cubicBezTo>
                  <a:pt x="170515" y="139552"/>
                  <a:pt x="179424" y="130643"/>
                  <a:pt x="179424" y="119616"/>
                </a:cubicBezTo>
                <a:lnTo>
                  <a:pt x="179424" y="79744"/>
                </a:lnTo>
                <a:cubicBezTo>
                  <a:pt x="179424" y="68717"/>
                  <a:pt x="170515" y="59808"/>
                  <a:pt x="159488" y="59808"/>
                </a:cubicBezTo>
                <a:lnTo>
                  <a:pt x="119616" y="59808"/>
                </a:lnTo>
                <a:cubicBezTo>
                  <a:pt x="108589" y="59808"/>
                  <a:pt x="99680" y="68717"/>
                  <a:pt x="99680" y="79744"/>
                </a:cubicBezTo>
                <a:close/>
                <a:moveTo>
                  <a:pt x="114632" y="229265"/>
                </a:moveTo>
                <a:cubicBezTo>
                  <a:pt x="106346" y="229265"/>
                  <a:pt x="99680" y="235931"/>
                  <a:pt x="99680" y="244217"/>
                </a:cubicBezTo>
                <a:cubicBezTo>
                  <a:pt x="99680" y="252502"/>
                  <a:pt x="106346" y="259169"/>
                  <a:pt x="114632" y="259169"/>
                </a:cubicBezTo>
                <a:lnTo>
                  <a:pt x="264153" y="259169"/>
                </a:lnTo>
                <a:cubicBezTo>
                  <a:pt x="272439" y="259169"/>
                  <a:pt x="279105" y="252502"/>
                  <a:pt x="279105" y="244217"/>
                </a:cubicBezTo>
                <a:cubicBezTo>
                  <a:pt x="279105" y="235931"/>
                  <a:pt x="272439" y="229265"/>
                  <a:pt x="264153" y="229265"/>
                </a:cubicBezTo>
                <a:lnTo>
                  <a:pt x="114632" y="229265"/>
                </a:lnTo>
                <a:close/>
                <a:moveTo>
                  <a:pt x="99680" y="184408"/>
                </a:moveTo>
                <a:cubicBezTo>
                  <a:pt x="99680" y="192694"/>
                  <a:pt x="106346" y="199360"/>
                  <a:pt x="114632" y="199360"/>
                </a:cubicBezTo>
                <a:lnTo>
                  <a:pt x="264153" y="199360"/>
                </a:lnTo>
                <a:cubicBezTo>
                  <a:pt x="272439" y="199360"/>
                  <a:pt x="279105" y="192694"/>
                  <a:pt x="279105" y="184408"/>
                </a:cubicBezTo>
                <a:cubicBezTo>
                  <a:pt x="279105" y="176123"/>
                  <a:pt x="272439" y="169456"/>
                  <a:pt x="264153" y="169456"/>
                </a:cubicBezTo>
                <a:lnTo>
                  <a:pt x="114632" y="169456"/>
                </a:lnTo>
                <a:cubicBezTo>
                  <a:pt x="106346" y="169456"/>
                  <a:pt x="99680" y="176123"/>
                  <a:pt x="99680" y="184408"/>
                </a:cubicBezTo>
                <a:close/>
                <a:moveTo>
                  <a:pt x="224281" y="109648"/>
                </a:moveTo>
                <a:cubicBezTo>
                  <a:pt x="215995" y="109648"/>
                  <a:pt x="209328" y="116314"/>
                  <a:pt x="209328" y="124600"/>
                </a:cubicBezTo>
                <a:cubicBezTo>
                  <a:pt x="209328" y="132886"/>
                  <a:pt x="215995" y="139552"/>
                  <a:pt x="224281" y="139552"/>
                </a:cubicBezTo>
                <a:lnTo>
                  <a:pt x="264153" y="139552"/>
                </a:lnTo>
                <a:cubicBezTo>
                  <a:pt x="272439" y="139552"/>
                  <a:pt x="279105" y="132886"/>
                  <a:pt x="279105" y="124600"/>
                </a:cubicBezTo>
                <a:cubicBezTo>
                  <a:pt x="279105" y="116314"/>
                  <a:pt x="272439" y="109648"/>
                  <a:pt x="264153" y="109648"/>
                </a:cubicBezTo>
                <a:lnTo>
                  <a:pt x="224281" y="109648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5" name="Text 38"/>
          <p:cNvSpPr/>
          <p:nvPr/>
        </p:nvSpPr>
        <p:spPr>
          <a:xfrm>
            <a:off x="9198000" y="5396040"/>
            <a:ext cx="25135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390" spc="-1" strike="noStrike">
                <a:solidFill>
                  <a:srgbClr val="f4f4f4"/>
                </a:solidFill>
                <a:latin typeface="Jersey 15"/>
                <a:ea typeface="Jersey 15"/>
              </a:rPr>
              <a:t>MEDIA</a:t>
            </a:r>
            <a:endParaRPr b="0" lang="en-HK" sz="1390" spc="-1" strike="noStrike">
              <a:latin typeface="Arial"/>
            </a:endParaRPr>
          </a:p>
        </p:txBody>
      </p:sp>
      <p:sp>
        <p:nvSpPr>
          <p:cNvPr id="476" name="Text 39"/>
          <p:cNvSpPr/>
          <p:nvPr/>
        </p:nvSpPr>
        <p:spPr>
          <a:xfrm>
            <a:off x="9206640" y="5715000"/>
            <a:ext cx="249588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10" spc="-1" strike="noStrike">
                <a:solidFill>
                  <a:srgbClr val="f4f4f4"/>
                </a:solidFill>
                <a:latin typeface="Jersey 15"/>
                <a:ea typeface="Jersey 15"/>
              </a:rPr>
              <a:t>Newspaper coverage, strategy guides</a:t>
            </a:r>
            <a:endParaRPr b="0" lang="en-HK" sz="1110" spc="-1" strike="noStrike">
              <a:latin typeface="Arial"/>
            </a:endParaRPr>
          </a:p>
        </p:txBody>
      </p:sp>
      <p:sp>
        <p:nvSpPr>
          <p:cNvPr id="477" name="Shape 40"/>
          <p:cNvSpPr/>
          <p:nvPr/>
        </p:nvSpPr>
        <p:spPr>
          <a:xfrm>
            <a:off x="367560" y="6251040"/>
            <a:ext cx="11454480" cy="590400"/>
          </a:xfrm>
          <a:custGeom>
            <a:avLst/>
            <a:gdLst/>
            <a:ahLst/>
            <a:rect l="l" t="t" r="r" b="b"/>
            <a:pathLst>
              <a:path w="11456581" h="593651">
                <a:moveTo>
                  <a:pt x="0" y="0"/>
                </a:moveTo>
                <a:lnTo>
                  <a:pt x="11456581" y="0"/>
                </a:lnTo>
                <a:lnTo>
                  <a:pt x="11456581" y="593651"/>
                </a:lnTo>
                <a:lnTo>
                  <a:pt x="0" y="59365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8" name="Text 41"/>
          <p:cNvSpPr/>
          <p:nvPr/>
        </p:nvSpPr>
        <p:spPr>
          <a:xfrm>
            <a:off x="469440" y="6406200"/>
            <a:ext cx="11250720" cy="28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en-US" sz="1679" spc="-1" strike="noStrike">
                <a:solidFill>
                  <a:srgbClr val="f4f4f4"/>
                </a:solidFill>
                <a:latin typeface="Jersey 15"/>
                <a:ea typeface="Jersey 15"/>
              </a:rPr>
              <a:t>Games became </a:t>
            </a:r>
            <a:r>
              <a:rPr b="1" lang="en-US" sz="1679" spc="-1" strike="noStrike">
                <a:solidFill>
                  <a:srgbClr val="ffcd75"/>
                </a:solidFill>
                <a:latin typeface="Jersey 15"/>
                <a:ea typeface="Jersey 15"/>
              </a:rPr>
              <a:t>cultural touchstones</a:t>
            </a:r>
            <a:r>
              <a:rPr b="0" lang="en-US" sz="1679" spc="-1" strike="noStrike">
                <a:solidFill>
                  <a:srgbClr val="f4f4f4"/>
                </a:solidFill>
                <a:latin typeface="Jersey 15"/>
                <a:ea typeface="Jersey 15"/>
              </a:rPr>
              <a:t> recognized worldwide—transcending entertainment to become </a:t>
            </a:r>
            <a:r>
              <a:rPr b="1" lang="en-US" sz="1679" spc="-1" strike="noStrike">
                <a:solidFill>
                  <a:srgbClr val="a7f070"/>
                </a:solidFill>
                <a:latin typeface="Jersey 15"/>
                <a:ea typeface="Jersey 15"/>
              </a:rPr>
              <a:t>symbols of a generation</a:t>
            </a:r>
            <a:endParaRPr b="0" lang="en-HK" sz="1679" spc="-1" strike="noStrike">
              <a:latin typeface="Arial"/>
            </a:endParaRPr>
          </a:p>
        </p:txBody>
      </p:sp>
    </p:spTree>
  </p:cSld>
  <p:transition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Image 0"/>
          <p:cNvSpPr/>
          <p:nvPr/>
        </p:nvSpPr>
        <p:spPr>
          <a:xfrm>
            <a:off x="0" y="0"/>
            <a:ext cx="12189960" cy="685476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0" name="Shape 0"/>
          <p:cNvSpPr/>
          <p:nvPr/>
        </p:nvSpPr>
        <p:spPr>
          <a:xfrm>
            <a:off x="0" y="0"/>
            <a:ext cx="12189960" cy="685476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1" name="Shape 1"/>
          <p:cNvSpPr/>
          <p:nvPr/>
        </p:nvSpPr>
        <p:spPr>
          <a:xfrm>
            <a:off x="380880" y="1714680"/>
            <a:ext cx="1854000" cy="606240"/>
          </a:xfrm>
          <a:custGeom>
            <a:avLst/>
            <a:gdLst/>
            <a:ahLst/>
            <a:rect l="l" t="t" r="r" b="b"/>
            <a:pathLst>
              <a:path w="1857375" h="609600">
                <a:moveTo>
                  <a:pt x="0" y="0"/>
                </a:moveTo>
                <a:lnTo>
                  <a:pt x="1857375" y="0"/>
                </a:lnTo>
                <a:lnTo>
                  <a:pt x="185737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2" name="Text 2"/>
          <p:cNvSpPr/>
          <p:nvPr/>
        </p:nvSpPr>
        <p:spPr>
          <a:xfrm>
            <a:off x="609480" y="1847880"/>
            <a:ext cx="156528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1a1c2c"/>
                </a:solidFill>
                <a:latin typeface="Jersey 15"/>
                <a:ea typeface="Jersey 15"/>
              </a:rPr>
              <a:t>CHAPTER 05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483" name="Text 3"/>
          <p:cNvSpPr/>
          <p:nvPr/>
        </p:nvSpPr>
        <p:spPr>
          <a:xfrm>
            <a:off x="380880" y="2552760"/>
            <a:ext cx="11770920" cy="171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THE DECLINE</a:t>
            </a:r>
            <a:endParaRPr b="0" lang="en-HK" sz="5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f4f4f4"/>
                </a:solidFill>
                <a:latin typeface="Jersey 20 Charted"/>
                <a:ea typeface="Jersey 20 Charted"/>
              </a:rPr>
              <a:t>AND BEYOND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484" name="Shape 4"/>
          <p:cNvSpPr/>
          <p:nvPr/>
        </p:nvSpPr>
        <p:spPr>
          <a:xfrm>
            <a:off x="380880" y="4495680"/>
            <a:ext cx="1520640" cy="73080"/>
          </a:xfrm>
          <a:custGeom>
            <a:avLst/>
            <a:gdLst/>
            <a:ah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5" name="Text 5"/>
          <p:cNvSpPr/>
          <p:nvPr/>
        </p:nvSpPr>
        <p:spPr>
          <a:xfrm>
            <a:off x="380880" y="4800600"/>
            <a:ext cx="745560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50" spc="-1" strike="noStrike">
                <a:solidFill>
                  <a:srgbClr val="29adff"/>
                </a:solidFill>
                <a:latin typeface="Jersey 15"/>
                <a:ea typeface="Jersey 15"/>
              </a:rPr>
              <a:t>The Crash That Changed Everything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86" name="Shape 6"/>
          <p:cNvSpPr/>
          <p:nvPr/>
        </p:nvSpPr>
        <p:spPr>
          <a:xfrm>
            <a:off x="10592640" y="5867280"/>
            <a:ext cx="149040" cy="14904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7" name="Shape 7"/>
          <p:cNvSpPr/>
          <p:nvPr/>
        </p:nvSpPr>
        <p:spPr>
          <a:xfrm>
            <a:off x="10897200" y="5867280"/>
            <a:ext cx="149040" cy="14904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8" name="Shape 8"/>
          <p:cNvSpPr/>
          <p:nvPr/>
        </p:nvSpPr>
        <p:spPr>
          <a:xfrm>
            <a:off x="11202120" y="5867280"/>
            <a:ext cx="149040" cy="14904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Shape 0"/>
          <p:cNvSpPr/>
          <p:nvPr/>
        </p:nvSpPr>
        <p:spPr>
          <a:xfrm>
            <a:off x="0" y="0"/>
            <a:ext cx="12189960" cy="6853680"/>
          </a:xfrm>
          <a:custGeom>
            <a:avLst/>
            <a:gdLst/>
            <a:ahLst/>
            <a:rect l="l" t="t" r="r" b="b"/>
            <a:pathLst>
              <a:path w="12192000" h="6856977">
                <a:moveTo>
                  <a:pt x="0" y="0"/>
                </a:moveTo>
                <a:lnTo>
                  <a:pt x="12192000" y="0"/>
                </a:lnTo>
                <a:lnTo>
                  <a:pt x="12192000" y="6856977"/>
                </a:lnTo>
                <a:lnTo>
                  <a:pt x="0" y="6856977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0" name="Text 1"/>
          <p:cNvSpPr/>
          <p:nvPr/>
        </p:nvSpPr>
        <p:spPr>
          <a:xfrm>
            <a:off x="327240" y="327240"/>
            <a:ext cx="1173168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1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VIDEO GAME CRASH OF 1983</a:t>
            </a:r>
            <a:endParaRPr b="0" lang="en-HK" sz="3100" spc="-1" strike="noStrike">
              <a:latin typeface="Arial"/>
            </a:endParaRPr>
          </a:p>
        </p:txBody>
      </p:sp>
      <p:sp>
        <p:nvSpPr>
          <p:cNvPr id="491" name="Text 2"/>
          <p:cNvSpPr/>
          <p:nvPr/>
        </p:nvSpPr>
        <p:spPr>
          <a:xfrm>
            <a:off x="327240" y="818280"/>
            <a:ext cx="1163340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540" spc="-1" strike="noStrike">
                <a:solidFill>
                  <a:srgbClr val="f4f4f4"/>
                </a:solidFill>
                <a:latin typeface="Jersey 15"/>
                <a:ea typeface="Jersey 15"/>
              </a:rPr>
              <a:t>When the Industry Collapsed</a:t>
            </a:r>
            <a:endParaRPr b="0" lang="en-HK" sz="1540" spc="-1" strike="noStrike">
              <a:latin typeface="Arial"/>
            </a:endParaRPr>
          </a:p>
        </p:txBody>
      </p:sp>
      <p:sp>
        <p:nvSpPr>
          <p:cNvPr id="492" name="Shape 3"/>
          <p:cNvSpPr/>
          <p:nvPr/>
        </p:nvSpPr>
        <p:spPr>
          <a:xfrm>
            <a:off x="327240" y="1178280"/>
            <a:ext cx="782280" cy="29520"/>
          </a:xfrm>
          <a:custGeom>
            <a:avLst/>
            <a:gdLst/>
            <a:ahLst/>
            <a:rect l="l" t="t" r="r" b="b"/>
            <a:pathLst>
              <a:path w="785525" h="32730">
                <a:moveTo>
                  <a:pt x="0" y="0"/>
                </a:moveTo>
                <a:lnTo>
                  <a:pt x="785525" y="0"/>
                </a:lnTo>
                <a:lnTo>
                  <a:pt x="785525" y="32730"/>
                </a:lnTo>
                <a:lnTo>
                  <a:pt x="0" y="3273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3" name="Shape 4"/>
          <p:cNvSpPr/>
          <p:nvPr/>
        </p:nvSpPr>
        <p:spPr>
          <a:xfrm>
            <a:off x="339480" y="1354320"/>
            <a:ext cx="5643000" cy="3490560"/>
          </a:xfrm>
          <a:custGeom>
            <a:avLst/>
            <a:gdLst/>
            <a:ahLst/>
            <a:rect l="l" t="t" r="r" b="b"/>
            <a:pathLst>
              <a:path w="5645960" h="3493949">
                <a:moveTo>
                  <a:pt x="0" y="0"/>
                </a:moveTo>
                <a:lnTo>
                  <a:pt x="5645960" y="0"/>
                </a:lnTo>
                <a:lnTo>
                  <a:pt x="5645960" y="3493949"/>
                </a:lnTo>
                <a:lnTo>
                  <a:pt x="0" y="3493949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15000"/>
            </a:srgbClr>
          </a:solidFill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4" name="Text 5"/>
          <p:cNvSpPr/>
          <p:nvPr/>
        </p:nvSpPr>
        <p:spPr>
          <a:xfrm>
            <a:off x="453960" y="1530000"/>
            <a:ext cx="5414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940" spc="-1" strike="noStrike">
                <a:solidFill>
                  <a:srgbClr val="ff6b6b"/>
                </a:solidFill>
                <a:latin typeface="Jersey 15"/>
                <a:ea typeface="Jersey 15"/>
              </a:rPr>
              <a:t>THE PERFECT STORM</a:t>
            </a:r>
            <a:endParaRPr b="0" lang="en-HK" sz="1940" spc="-1" strike="noStrike">
              <a:latin typeface="Arial"/>
            </a:endParaRPr>
          </a:p>
        </p:txBody>
      </p:sp>
      <p:sp>
        <p:nvSpPr>
          <p:cNvPr id="495" name="Shape 6"/>
          <p:cNvSpPr/>
          <p:nvPr/>
        </p:nvSpPr>
        <p:spPr>
          <a:xfrm>
            <a:off x="515520" y="1955520"/>
            <a:ext cx="5291280" cy="618480"/>
          </a:xfrm>
          <a:custGeom>
            <a:avLst/>
            <a:gdLst/>
            <a:ah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6" name="Shape 7"/>
          <p:cNvSpPr/>
          <p:nvPr/>
        </p:nvSpPr>
        <p:spPr>
          <a:xfrm>
            <a:off x="634320" y="2086560"/>
            <a:ext cx="160560" cy="160560"/>
          </a:xfrm>
          <a:custGeom>
            <a:avLst/>
            <a:gdLst/>
            <a:ahLst/>
            <a:rect l="l" t="t" r="r" b="b"/>
            <a:pathLst>
              <a:path w="163651" h="163651">
                <a:moveTo>
                  <a:pt x="81826" y="0"/>
                </a:moveTo>
                <a:cubicBezTo>
                  <a:pt x="86524" y="0"/>
                  <a:pt x="90839" y="2589"/>
                  <a:pt x="93077" y="6712"/>
                </a:cubicBezTo>
                <a:lnTo>
                  <a:pt x="162117" y="134565"/>
                </a:lnTo>
                <a:cubicBezTo>
                  <a:pt x="164258" y="138528"/>
                  <a:pt x="164162" y="143322"/>
                  <a:pt x="161861" y="147190"/>
                </a:cubicBezTo>
                <a:cubicBezTo>
                  <a:pt x="159560" y="151058"/>
                  <a:pt x="155373" y="153423"/>
                  <a:pt x="150866" y="153423"/>
                </a:cubicBezTo>
                <a:lnTo>
                  <a:pt x="12785" y="153423"/>
                </a:lnTo>
                <a:cubicBezTo>
                  <a:pt x="8278" y="153423"/>
                  <a:pt x="4123" y="151058"/>
                  <a:pt x="1790" y="147190"/>
                </a:cubicBezTo>
                <a:cubicBezTo>
                  <a:pt x="-543" y="143322"/>
                  <a:pt x="-607" y="138528"/>
                  <a:pt x="1534" y="134565"/>
                </a:cubicBezTo>
                <a:lnTo>
                  <a:pt x="70574" y="6712"/>
                </a:lnTo>
                <a:cubicBezTo>
                  <a:pt x="72812" y="2589"/>
                  <a:pt x="77127" y="0"/>
                  <a:pt x="81826" y="0"/>
                </a:cubicBezTo>
                <a:close/>
                <a:moveTo>
                  <a:pt x="81826" y="53698"/>
                </a:moveTo>
                <a:cubicBezTo>
                  <a:pt x="77574" y="53698"/>
                  <a:pt x="74154" y="57118"/>
                  <a:pt x="74154" y="61369"/>
                </a:cubicBezTo>
                <a:lnTo>
                  <a:pt x="74154" y="97168"/>
                </a:lnTo>
                <a:cubicBezTo>
                  <a:pt x="74154" y="101419"/>
                  <a:pt x="77574" y="104839"/>
                  <a:pt x="81826" y="104839"/>
                </a:cubicBezTo>
                <a:cubicBezTo>
                  <a:pt x="86077" y="104839"/>
                  <a:pt x="89497" y="101419"/>
                  <a:pt x="89497" y="97168"/>
                </a:cubicBezTo>
                <a:lnTo>
                  <a:pt x="89497" y="61369"/>
                </a:lnTo>
                <a:cubicBezTo>
                  <a:pt x="89497" y="57118"/>
                  <a:pt x="86077" y="53698"/>
                  <a:pt x="81826" y="53698"/>
                </a:cubicBezTo>
                <a:close/>
                <a:moveTo>
                  <a:pt x="90360" y="122738"/>
                </a:moveTo>
                <a:cubicBezTo>
                  <a:pt x="90554" y="119570"/>
                  <a:pt x="88974" y="116557"/>
                  <a:pt x="86258" y="114914"/>
                </a:cubicBezTo>
                <a:cubicBezTo>
                  <a:pt x="83543" y="113271"/>
                  <a:pt x="80140" y="113271"/>
                  <a:pt x="77425" y="114914"/>
                </a:cubicBezTo>
                <a:cubicBezTo>
                  <a:pt x="74709" y="116557"/>
                  <a:pt x="73129" y="119570"/>
                  <a:pt x="73323" y="122738"/>
                </a:cubicBezTo>
                <a:cubicBezTo>
                  <a:pt x="73129" y="125906"/>
                  <a:pt x="74709" y="128920"/>
                  <a:pt x="77425" y="130562"/>
                </a:cubicBezTo>
                <a:cubicBezTo>
                  <a:pt x="80140" y="132205"/>
                  <a:pt x="83543" y="132205"/>
                  <a:pt x="86258" y="130562"/>
                </a:cubicBezTo>
                <a:cubicBezTo>
                  <a:pt x="88974" y="128920"/>
                  <a:pt x="90554" y="125906"/>
                  <a:pt x="90360" y="122738"/>
                </a:cubicBez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7" name="Text 8"/>
          <p:cNvSpPr/>
          <p:nvPr/>
        </p:nvSpPr>
        <p:spPr>
          <a:xfrm>
            <a:off x="916560" y="2053800"/>
            <a:ext cx="240264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Market Oversaturation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498" name="Text 9"/>
          <p:cNvSpPr/>
          <p:nvPr/>
        </p:nvSpPr>
        <p:spPr>
          <a:xfrm>
            <a:off x="916560" y="2282760"/>
            <a:ext cx="239472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Too many low-quality games flooded the market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499" name="Shape 10"/>
          <p:cNvSpPr/>
          <p:nvPr/>
        </p:nvSpPr>
        <p:spPr>
          <a:xfrm>
            <a:off x="515520" y="2675520"/>
            <a:ext cx="5291280" cy="618480"/>
          </a:xfrm>
          <a:custGeom>
            <a:avLst/>
            <a:gdLst/>
            <a:ah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0" name="Shape 11"/>
          <p:cNvSpPr/>
          <p:nvPr/>
        </p:nvSpPr>
        <p:spPr>
          <a:xfrm>
            <a:off x="634320" y="2806560"/>
            <a:ext cx="160560" cy="160560"/>
          </a:xfrm>
          <a:custGeom>
            <a:avLst/>
            <a:gdLst/>
            <a:ahLst/>
            <a:rect l="l" t="t" r="r" b="b"/>
            <a:pathLst>
              <a:path w="163651" h="163651">
                <a:moveTo>
                  <a:pt x="81826" y="163651"/>
                </a:moveTo>
                <a:cubicBezTo>
                  <a:pt x="126986" y="163651"/>
                  <a:pt x="163651" y="126986"/>
                  <a:pt x="163651" y="81826"/>
                </a:cubicBezTo>
                <a:cubicBezTo>
                  <a:pt x="163651" y="36665"/>
                  <a:pt x="126986" y="0"/>
                  <a:pt x="81826" y="0"/>
                </a:cubicBezTo>
                <a:cubicBezTo>
                  <a:pt x="36665" y="0"/>
                  <a:pt x="0" y="36665"/>
                  <a:pt x="0" y="81826"/>
                </a:cubicBezTo>
                <a:cubicBezTo>
                  <a:pt x="0" y="126986"/>
                  <a:pt x="36665" y="163651"/>
                  <a:pt x="81826" y="163651"/>
                </a:cubicBezTo>
                <a:close/>
                <a:moveTo>
                  <a:pt x="53378" y="53378"/>
                </a:moveTo>
                <a:cubicBezTo>
                  <a:pt x="56383" y="50374"/>
                  <a:pt x="61241" y="50374"/>
                  <a:pt x="64214" y="53378"/>
                </a:cubicBezTo>
                <a:lnTo>
                  <a:pt x="81794" y="70958"/>
                </a:lnTo>
                <a:lnTo>
                  <a:pt x="99373" y="53378"/>
                </a:lnTo>
                <a:cubicBezTo>
                  <a:pt x="102378" y="50374"/>
                  <a:pt x="107236" y="50374"/>
                  <a:pt x="110209" y="53378"/>
                </a:cubicBezTo>
                <a:cubicBezTo>
                  <a:pt x="113181" y="56383"/>
                  <a:pt x="113213" y="61241"/>
                  <a:pt x="110209" y="64214"/>
                </a:cubicBezTo>
                <a:lnTo>
                  <a:pt x="92629" y="81794"/>
                </a:lnTo>
                <a:lnTo>
                  <a:pt x="110209" y="99373"/>
                </a:lnTo>
                <a:cubicBezTo>
                  <a:pt x="113213" y="102378"/>
                  <a:pt x="113213" y="107236"/>
                  <a:pt x="110209" y="110209"/>
                </a:cubicBezTo>
                <a:cubicBezTo>
                  <a:pt x="107204" y="113181"/>
                  <a:pt x="102346" y="113213"/>
                  <a:pt x="99373" y="110209"/>
                </a:cubicBezTo>
                <a:lnTo>
                  <a:pt x="81794" y="92629"/>
                </a:lnTo>
                <a:lnTo>
                  <a:pt x="64214" y="110209"/>
                </a:lnTo>
                <a:cubicBezTo>
                  <a:pt x="61209" y="113213"/>
                  <a:pt x="56351" y="113213"/>
                  <a:pt x="53378" y="110209"/>
                </a:cubicBezTo>
                <a:cubicBezTo>
                  <a:pt x="50406" y="107204"/>
                  <a:pt x="50374" y="102346"/>
                  <a:pt x="53378" y="99373"/>
                </a:cubicBezTo>
                <a:lnTo>
                  <a:pt x="70958" y="81794"/>
                </a:lnTo>
                <a:lnTo>
                  <a:pt x="53378" y="64214"/>
                </a:lnTo>
                <a:cubicBezTo>
                  <a:pt x="50374" y="61209"/>
                  <a:pt x="50374" y="56351"/>
                  <a:pt x="53378" y="53378"/>
                </a:cubicBez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1" name="Text 12"/>
          <p:cNvSpPr/>
          <p:nvPr/>
        </p:nvSpPr>
        <p:spPr>
          <a:xfrm>
            <a:off x="916560" y="2773800"/>
            <a:ext cx="204264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Loss of Consumer Trust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502" name="Text 13"/>
          <p:cNvSpPr/>
          <p:nvPr/>
        </p:nvSpPr>
        <p:spPr>
          <a:xfrm>
            <a:off x="916560" y="3003120"/>
            <a:ext cx="203472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Poor games destroyed buyer confidence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03" name="Shape 14"/>
          <p:cNvSpPr/>
          <p:nvPr/>
        </p:nvSpPr>
        <p:spPr>
          <a:xfrm>
            <a:off x="515520" y="3395880"/>
            <a:ext cx="5291280" cy="618480"/>
          </a:xfrm>
          <a:custGeom>
            <a:avLst/>
            <a:gdLst/>
            <a:ah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4" name="Shape 15"/>
          <p:cNvSpPr/>
          <p:nvPr/>
        </p:nvSpPr>
        <p:spPr>
          <a:xfrm>
            <a:off x="634320" y="3526560"/>
            <a:ext cx="160560" cy="160560"/>
          </a:xfrm>
          <a:custGeom>
            <a:avLst/>
            <a:gdLst/>
            <a:ahLst/>
            <a:rect l="l" t="t" r="r" b="b"/>
            <a:pathLst>
              <a:path w="163651" h="163651">
                <a:moveTo>
                  <a:pt x="20456" y="10228"/>
                </a:moveTo>
                <a:cubicBezTo>
                  <a:pt x="9173" y="10228"/>
                  <a:pt x="0" y="19402"/>
                  <a:pt x="0" y="30685"/>
                </a:cubicBezTo>
                <a:lnTo>
                  <a:pt x="0" y="112510"/>
                </a:lnTo>
                <a:cubicBezTo>
                  <a:pt x="0" y="123793"/>
                  <a:pt x="9173" y="132966"/>
                  <a:pt x="20456" y="132966"/>
                </a:cubicBezTo>
                <a:lnTo>
                  <a:pt x="66483" y="132966"/>
                </a:lnTo>
                <a:lnTo>
                  <a:pt x="61369" y="148309"/>
                </a:lnTo>
                <a:lnTo>
                  <a:pt x="38356" y="148309"/>
                </a:lnTo>
                <a:cubicBezTo>
                  <a:pt x="34105" y="148309"/>
                  <a:pt x="30685" y="151729"/>
                  <a:pt x="30685" y="155980"/>
                </a:cubicBezTo>
                <a:cubicBezTo>
                  <a:pt x="30685" y="160231"/>
                  <a:pt x="34105" y="163651"/>
                  <a:pt x="38356" y="163651"/>
                </a:cubicBezTo>
                <a:lnTo>
                  <a:pt x="125295" y="163651"/>
                </a:lnTo>
                <a:cubicBezTo>
                  <a:pt x="129546" y="163651"/>
                  <a:pt x="132966" y="160231"/>
                  <a:pt x="132966" y="155980"/>
                </a:cubicBezTo>
                <a:cubicBezTo>
                  <a:pt x="132966" y="151729"/>
                  <a:pt x="129546" y="148309"/>
                  <a:pt x="125295" y="148309"/>
                </a:cubicBezTo>
                <a:lnTo>
                  <a:pt x="102282" y="148309"/>
                </a:lnTo>
                <a:lnTo>
                  <a:pt x="97168" y="132966"/>
                </a:lnTo>
                <a:lnTo>
                  <a:pt x="143195" y="132966"/>
                </a:lnTo>
                <a:cubicBezTo>
                  <a:pt x="154478" y="132966"/>
                  <a:pt x="163651" y="123793"/>
                  <a:pt x="163651" y="112510"/>
                </a:cubicBezTo>
                <a:lnTo>
                  <a:pt x="163651" y="30685"/>
                </a:lnTo>
                <a:cubicBezTo>
                  <a:pt x="163651" y="19402"/>
                  <a:pt x="154478" y="10228"/>
                  <a:pt x="143195" y="10228"/>
                </a:cubicBezTo>
                <a:lnTo>
                  <a:pt x="20456" y="10228"/>
                </a:lnTo>
                <a:close/>
                <a:moveTo>
                  <a:pt x="30685" y="30685"/>
                </a:moveTo>
                <a:lnTo>
                  <a:pt x="132966" y="30685"/>
                </a:lnTo>
                <a:cubicBezTo>
                  <a:pt x="138624" y="30685"/>
                  <a:pt x="143195" y="35255"/>
                  <a:pt x="143195" y="40913"/>
                </a:cubicBezTo>
                <a:lnTo>
                  <a:pt x="143195" y="92054"/>
                </a:lnTo>
                <a:cubicBezTo>
                  <a:pt x="143195" y="97711"/>
                  <a:pt x="138624" y="102282"/>
                  <a:pt x="132966" y="102282"/>
                </a:cubicBezTo>
                <a:lnTo>
                  <a:pt x="30685" y="102282"/>
                </a:lnTo>
                <a:cubicBezTo>
                  <a:pt x="25027" y="102282"/>
                  <a:pt x="20456" y="97711"/>
                  <a:pt x="20456" y="92054"/>
                </a:cubicBezTo>
                <a:lnTo>
                  <a:pt x="20456" y="40913"/>
                </a:lnTo>
                <a:cubicBezTo>
                  <a:pt x="20456" y="35255"/>
                  <a:pt x="25027" y="30685"/>
                  <a:pt x="30685" y="30685"/>
                </a:cubicBez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5" name="Text 16"/>
          <p:cNvSpPr/>
          <p:nvPr/>
        </p:nvSpPr>
        <p:spPr>
          <a:xfrm>
            <a:off x="916560" y="3493800"/>
            <a:ext cx="196056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Home Computer Rise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506" name="Text 17"/>
          <p:cNvSpPr/>
          <p:nvPr/>
        </p:nvSpPr>
        <p:spPr>
          <a:xfrm>
            <a:off x="916560" y="3723120"/>
            <a:ext cx="195228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PCs offered better value than arcades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07" name="Shape 18"/>
          <p:cNvSpPr/>
          <p:nvPr/>
        </p:nvSpPr>
        <p:spPr>
          <a:xfrm>
            <a:off x="6206040" y="1354320"/>
            <a:ext cx="5643000" cy="3490560"/>
          </a:xfrm>
          <a:custGeom>
            <a:avLst/>
            <a:gdLst/>
            <a:ahLst/>
            <a:rect l="l" t="t" r="r" b="b"/>
            <a:pathLst>
              <a:path w="5645960" h="3493949">
                <a:moveTo>
                  <a:pt x="0" y="0"/>
                </a:moveTo>
                <a:lnTo>
                  <a:pt x="5645960" y="0"/>
                </a:lnTo>
                <a:lnTo>
                  <a:pt x="5645960" y="3493949"/>
                </a:lnTo>
                <a:lnTo>
                  <a:pt x="0" y="3493949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8" name="Text 19"/>
          <p:cNvSpPr/>
          <p:nvPr/>
        </p:nvSpPr>
        <p:spPr>
          <a:xfrm>
            <a:off x="6320520" y="1530000"/>
            <a:ext cx="5414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940" spc="-1" strike="noStrike">
                <a:solidFill>
                  <a:srgbClr val="ffcd75"/>
                </a:solidFill>
                <a:latin typeface="Jersey 15"/>
                <a:ea typeface="Jersey 15"/>
              </a:rPr>
              <a:t>THE DEVASTATION</a:t>
            </a:r>
            <a:endParaRPr b="0" lang="en-HK" sz="1940" spc="-1" strike="noStrike">
              <a:latin typeface="Arial"/>
            </a:endParaRPr>
          </a:p>
        </p:txBody>
      </p:sp>
      <p:sp>
        <p:nvSpPr>
          <p:cNvPr id="509" name="Shape 20"/>
          <p:cNvSpPr/>
          <p:nvPr/>
        </p:nvSpPr>
        <p:spPr>
          <a:xfrm>
            <a:off x="6381720" y="1955520"/>
            <a:ext cx="5291280" cy="1142280"/>
          </a:xfrm>
          <a:custGeom>
            <a:avLst/>
            <a:gdLst/>
            <a:ahLst/>
            <a:rect l="l" t="t" r="r" b="b"/>
            <a:pathLst>
              <a:path w="5294110" h="1145557">
                <a:moveTo>
                  <a:pt x="0" y="0"/>
                </a:moveTo>
                <a:lnTo>
                  <a:pt x="5294110" y="0"/>
                </a:lnTo>
                <a:lnTo>
                  <a:pt x="5294110" y="1145557"/>
                </a:lnTo>
                <a:lnTo>
                  <a:pt x="0" y="114555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0" name="Text 21"/>
          <p:cNvSpPr/>
          <p:nvPr/>
        </p:nvSpPr>
        <p:spPr>
          <a:xfrm>
            <a:off x="6414480" y="2086560"/>
            <a:ext cx="522576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100" spc="-1" strike="noStrike">
                <a:solidFill>
                  <a:srgbClr val="ff6b6b"/>
                </a:solidFill>
                <a:latin typeface="Jersey 20 Charted"/>
                <a:ea typeface="Jersey 20 Charted"/>
              </a:rPr>
              <a:t>97%</a:t>
            </a:r>
            <a:endParaRPr b="0" lang="en-HK" sz="3100" spc="-1" strike="noStrike">
              <a:latin typeface="Arial"/>
            </a:endParaRPr>
          </a:p>
        </p:txBody>
      </p:sp>
      <p:sp>
        <p:nvSpPr>
          <p:cNvPr id="511" name="Text 22"/>
          <p:cNvSpPr/>
          <p:nvPr/>
        </p:nvSpPr>
        <p:spPr>
          <a:xfrm>
            <a:off x="6476040" y="2544840"/>
            <a:ext cx="510300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Revenue Decline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512" name="Text 23"/>
          <p:cNvSpPr/>
          <p:nvPr/>
        </p:nvSpPr>
        <p:spPr>
          <a:xfrm>
            <a:off x="6480000" y="2773800"/>
            <a:ext cx="509472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>
                    <a:alpha val="80000"/>
                  </a:srgbClr>
                </a:solidFill>
                <a:latin typeface="Jersey 15"/>
                <a:ea typeface="Jersey 15"/>
              </a:rPr>
              <a:t>$3.2B → $100M (1983-1985)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13" name="Shape 24"/>
          <p:cNvSpPr/>
          <p:nvPr/>
        </p:nvSpPr>
        <p:spPr>
          <a:xfrm>
            <a:off x="6381720" y="3232080"/>
            <a:ext cx="5291280" cy="651240"/>
          </a:xfrm>
          <a:custGeom>
            <a:avLst/>
            <a:gdLst/>
            <a:ahLst/>
            <a:rect l="l" t="t" r="r" b="b"/>
            <a:pathLst>
              <a:path w="5294110" h="654604">
                <a:moveTo>
                  <a:pt x="0" y="0"/>
                </a:moveTo>
                <a:lnTo>
                  <a:pt x="5294110" y="0"/>
                </a:lnTo>
                <a:lnTo>
                  <a:pt x="5294110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4" name="Text 25"/>
          <p:cNvSpPr/>
          <p:nvPr/>
        </p:nvSpPr>
        <p:spPr>
          <a:xfrm>
            <a:off x="6480000" y="3330360"/>
            <a:ext cx="516852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Atari's Loss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515" name="Text 26"/>
          <p:cNvSpPr/>
          <p:nvPr/>
        </p:nvSpPr>
        <p:spPr>
          <a:xfrm>
            <a:off x="6480000" y="3592080"/>
            <a:ext cx="51602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30" spc="-1" strike="noStrike">
                <a:solidFill>
                  <a:srgbClr val="ff6b6b">
                    <a:alpha val="90000"/>
                  </a:srgbClr>
                </a:solidFill>
                <a:latin typeface="Jersey 15"/>
                <a:ea typeface="Jersey 15"/>
              </a:rPr>
              <a:t>$350 million</a:t>
            </a:r>
            <a:r>
              <a:rPr b="0" lang="en-US" sz="103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 in 1983 alone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16" name="Shape 27"/>
          <p:cNvSpPr/>
          <p:nvPr/>
        </p:nvSpPr>
        <p:spPr>
          <a:xfrm>
            <a:off x="6381720" y="4017600"/>
            <a:ext cx="5291280" cy="651240"/>
          </a:xfrm>
          <a:custGeom>
            <a:avLst/>
            <a:gdLst/>
            <a:ahLst/>
            <a:rect l="l" t="t" r="r" b="b"/>
            <a:pathLst>
              <a:path w="5294110" h="654604">
                <a:moveTo>
                  <a:pt x="0" y="0"/>
                </a:moveTo>
                <a:lnTo>
                  <a:pt x="5294110" y="0"/>
                </a:lnTo>
                <a:lnTo>
                  <a:pt x="5294110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7" name="Text 28"/>
          <p:cNvSpPr/>
          <p:nvPr/>
        </p:nvSpPr>
        <p:spPr>
          <a:xfrm>
            <a:off x="6480000" y="4115880"/>
            <a:ext cx="516852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60" spc="-1" strike="noStrike">
                <a:solidFill>
                  <a:srgbClr val="f4f4f4"/>
                </a:solidFill>
                <a:latin typeface="Jersey 15"/>
                <a:ea typeface="Jersey 15"/>
              </a:rPr>
              <a:t>The Landfill</a:t>
            </a:r>
            <a:endParaRPr b="0" lang="en-HK" sz="1160" spc="-1" strike="noStrike">
              <a:latin typeface="Arial"/>
            </a:endParaRPr>
          </a:p>
        </p:txBody>
      </p:sp>
      <p:sp>
        <p:nvSpPr>
          <p:cNvPr id="518" name="Text 29"/>
          <p:cNvSpPr/>
          <p:nvPr/>
        </p:nvSpPr>
        <p:spPr>
          <a:xfrm>
            <a:off x="6480000" y="4377600"/>
            <a:ext cx="51602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Unsold cartridges buried in </a:t>
            </a:r>
            <a:r>
              <a:rPr b="1" lang="en-US" sz="1030" spc="-1" strike="noStrike">
                <a:solidFill>
                  <a:srgbClr val="ff6b6b">
                    <a:alpha val="90000"/>
                  </a:srgbClr>
                </a:solidFill>
                <a:latin typeface="Jersey 15"/>
                <a:ea typeface="Jersey 15"/>
              </a:rPr>
              <a:t>New Mexico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19" name="Shape 30"/>
          <p:cNvSpPr/>
          <p:nvPr/>
        </p:nvSpPr>
        <p:spPr>
          <a:xfrm>
            <a:off x="339480" y="5003640"/>
            <a:ext cx="3728520" cy="1166760"/>
          </a:xfrm>
          <a:custGeom>
            <a:avLst/>
            <a:gdLst/>
            <a:ah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0" name="Shape 31"/>
          <p:cNvSpPr/>
          <p:nvPr/>
        </p:nvSpPr>
        <p:spPr>
          <a:xfrm>
            <a:off x="2095920" y="5146920"/>
            <a:ext cx="217800" cy="291240"/>
          </a:xfrm>
          <a:custGeom>
            <a:avLst/>
            <a:gdLst/>
            <a:ahLst/>
            <a:rect l="l" t="t" r="r" b="b"/>
            <a:pathLst>
              <a:path w="220929" h="294572">
                <a:moveTo>
                  <a:pt x="36821" y="0"/>
                </a:moveTo>
                <a:cubicBezTo>
                  <a:pt x="16512" y="0"/>
                  <a:pt x="0" y="16512"/>
                  <a:pt x="0" y="36821"/>
                </a:cubicBezTo>
                <a:lnTo>
                  <a:pt x="0" y="257750"/>
                </a:lnTo>
                <a:cubicBezTo>
                  <a:pt x="0" y="278060"/>
                  <a:pt x="16512" y="294572"/>
                  <a:pt x="36821" y="294572"/>
                </a:cubicBezTo>
                <a:lnTo>
                  <a:pt x="184107" y="294572"/>
                </a:lnTo>
                <a:cubicBezTo>
                  <a:pt x="204417" y="294572"/>
                  <a:pt x="220929" y="278060"/>
                  <a:pt x="220929" y="257750"/>
                </a:cubicBezTo>
                <a:lnTo>
                  <a:pt x="220929" y="36821"/>
                </a:lnTo>
                <a:cubicBezTo>
                  <a:pt x="220929" y="16512"/>
                  <a:pt x="204417" y="0"/>
                  <a:pt x="184107" y="0"/>
                </a:cubicBezTo>
                <a:lnTo>
                  <a:pt x="36821" y="0"/>
                </a:lnTo>
                <a:close/>
                <a:moveTo>
                  <a:pt x="101259" y="202518"/>
                </a:moveTo>
                <a:lnTo>
                  <a:pt x="119670" y="202518"/>
                </a:lnTo>
                <a:cubicBezTo>
                  <a:pt x="129853" y="202518"/>
                  <a:pt x="138081" y="210745"/>
                  <a:pt x="138081" y="220929"/>
                </a:cubicBezTo>
                <a:lnTo>
                  <a:pt x="138081" y="266956"/>
                </a:lnTo>
                <a:lnTo>
                  <a:pt x="82848" y="266956"/>
                </a:lnTo>
                <a:lnTo>
                  <a:pt x="82848" y="220929"/>
                </a:lnTo>
                <a:cubicBezTo>
                  <a:pt x="82848" y="210745"/>
                  <a:pt x="91076" y="202518"/>
                  <a:pt x="101259" y="202518"/>
                </a:cubicBezTo>
                <a:close/>
                <a:moveTo>
                  <a:pt x="55232" y="64438"/>
                </a:moveTo>
                <a:cubicBezTo>
                  <a:pt x="55232" y="59375"/>
                  <a:pt x="59375" y="55232"/>
                  <a:pt x="64438" y="55232"/>
                </a:cubicBezTo>
                <a:lnTo>
                  <a:pt x="82848" y="55232"/>
                </a:lnTo>
                <a:cubicBezTo>
                  <a:pt x="87911" y="55232"/>
                  <a:pt x="92054" y="59375"/>
                  <a:pt x="92054" y="64438"/>
                </a:cubicBezTo>
                <a:lnTo>
                  <a:pt x="92054" y="82848"/>
                </a:lnTo>
                <a:cubicBezTo>
                  <a:pt x="92054" y="87911"/>
                  <a:pt x="87911" y="92054"/>
                  <a:pt x="82848" y="92054"/>
                </a:cubicBezTo>
                <a:lnTo>
                  <a:pt x="64438" y="92054"/>
                </a:lnTo>
                <a:cubicBezTo>
                  <a:pt x="59375" y="92054"/>
                  <a:pt x="55232" y="87911"/>
                  <a:pt x="55232" y="82848"/>
                </a:cubicBezTo>
                <a:lnTo>
                  <a:pt x="55232" y="64438"/>
                </a:lnTo>
                <a:close/>
                <a:moveTo>
                  <a:pt x="138081" y="55232"/>
                </a:moveTo>
                <a:lnTo>
                  <a:pt x="156491" y="55232"/>
                </a:lnTo>
                <a:cubicBezTo>
                  <a:pt x="161554" y="55232"/>
                  <a:pt x="165697" y="59375"/>
                  <a:pt x="165697" y="64438"/>
                </a:cubicBezTo>
                <a:lnTo>
                  <a:pt x="165697" y="82848"/>
                </a:lnTo>
                <a:cubicBezTo>
                  <a:pt x="165697" y="87911"/>
                  <a:pt x="161554" y="92054"/>
                  <a:pt x="156491" y="92054"/>
                </a:cubicBezTo>
                <a:lnTo>
                  <a:pt x="138081" y="92054"/>
                </a:lnTo>
                <a:cubicBezTo>
                  <a:pt x="133018" y="92054"/>
                  <a:pt x="128875" y="87911"/>
                  <a:pt x="128875" y="82848"/>
                </a:cubicBezTo>
                <a:lnTo>
                  <a:pt x="128875" y="64438"/>
                </a:lnTo>
                <a:cubicBezTo>
                  <a:pt x="128875" y="59375"/>
                  <a:pt x="133018" y="55232"/>
                  <a:pt x="138081" y="55232"/>
                </a:cubicBezTo>
                <a:close/>
                <a:moveTo>
                  <a:pt x="55232" y="138081"/>
                </a:moveTo>
                <a:cubicBezTo>
                  <a:pt x="55232" y="133018"/>
                  <a:pt x="59375" y="128875"/>
                  <a:pt x="64438" y="128875"/>
                </a:cubicBezTo>
                <a:lnTo>
                  <a:pt x="82848" y="128875"/>
                </a:lnTo>
                <a:cubicBezTo>
                  <a:pt x="87911" y="128875"/>
                  <a:pt x="92054" y="133018"/>
                  <a:pt x="92054" y="138081"/>
                </a:cubicBezTo>
                <a:lnTo>
                  <a:pt x="92054" y="156491"/>
                </a:lnTo>
                <a:cubicBezTo>
                  <a:pt x="92054" y="161554"/>
                  <a:pt x="87911" y="165697"/>
                  <a:pt x="82848" y="165697"/>
                </a:cubicBezTo>
                <a:lnTo>
                  <a:pt x="64438" y="165697"/>
                </a:lnTo>
                <a:cubicBezTo>
                  <a:pt x="59375" y="165697"/>
                  <a:pt x="55232" y="161554"/>
                  <a:pt x="55232" y="156491"/>
                </a:cubicBezTo>
                <a:lnTo>
                  <a:pt x="55232" y="138081"/>
                </a:lnTo>
                <a:close/>
                <a:moveTo>
                  <a:pt x="138081" y="128875"/>
                </a:moveTo>
                <a:lnTo>
                  <a:pt x="156491" y="128875"/>
                </a:lnTo>
                <a:cubicBezTo>
                  <a:pt x="161554" y="128875"/>
                  <a:pt x="165697" y="133018"/>
                  <a:pt x="165697" y="138081"/>
                </a:cubicBezTo>
                <a:lnTo>
                  <a:pt x="165697" y="156491"/>
                </a:lnTo>
                <a:cubicBezTo>
                  <a:pt x="165697" y="161554"/>
                  <a:pt x="161554" y="165697"/>
                  <a:pt x="156491" y="165697"/>
                </a:cubicBezTo>
                <a:lnTo>
                  <a:pt x="138081" y="165697"/>
                </a:lnTo>
                <a:cubicBezTo>
                  <a:pt x="133018" y="165697"/>
                  <a:pt x="128875" y="161554"/>
                  <a:pt x="128875" y="156491"/>
                </a:cubicBezTo>
                <a:lnTo>
                  <a:pt x="128875" y="138081"/>
                </a:lnTo>
                <a:cubicBezTo>
                  <a:pt x="128875" y="133018"/>
                  <a:pt x="133018" y="128875"/>
                  <a:pt x="138081" y="128875"/>
                </a:cubicBez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1" name="Text 32"/>
          <p:cNvSpPr/>
          <p:nvPr/>
        </p:nvSpPr>
        <p:spPr>
          <a:xfrm>
            <a:off x="441720" y="5539680"/>
            <a:ext cx="352368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90" spc="-1" strike="noStrike">
                <a:solidFill>
                  <a:srgbClr val="f4f4f4"/>
                </a:solidFill>
                <a:latin typeface="Jersey 15"/>
                <a:ea typeface="Jersey 15"/>
              </a:rPr>
              <a:t>COMPANIES FOLDED</a:t>
            </a:r>
            <a:endParaRPr b="0" lang="en-HK" sz="1290" spc="-1" strike="noStrike">
              <a:latin typeface="Arial"/>
            </a:endParaRPr>
          </a:p>
        </p:txBody>
      </p:sp>
      <p:sp>
        <p:nvSpPr>
          <p:cNvPr id="522" name="Text 33"/>
          <p:cNvSpPr/>
          <p:nvPr/>
        </p:nvSpPr>
        <p:spPr>
          <a:xfrm>
            <a:off x="450000" y="5834160"/>
            <a:ext cx="350748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/>
                </a:solidFill>
                <a:latin typeface="Jersey 15"/>
                <a:ea typeface="Jersey 15"/>
              </a:rPr>
              <a:t>U.S. Games, Magnavox, and dozens more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23" name="Shape 34"/>
          <p:cNvSpPr/>
          <p:nvPr/>
        </p:nvSpPr>
        <p:spPr>
          <a:xfrm>
            <a:off x="4228920" y="5003640"/>
            <a:ext cx="3728520" cy="1166760"/>
          </a:xfrm>
          <a:custGeom>
            <a:avLst/>
            <a:gdLst/>
            <a:ah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4" name="Shape 35"/>
          <p:cNvSpPr/>
          <p:nvPr/>
        </p:nvSpPr>
        <p:spPr>
          <a:xfrm>
            <a:off x="5929560" y="5146920"/>
            <a:ext cx="328320" cy="291240"/>
          </a:xfrm>
          <a:custGeom>
            <a:avLst/>
            <a:gdLst/>
            <a:ahLst/>
            <a:rect l="l" t="t" r="r" b="b"/>
            <a:pathLst>
              <a:path w="331393" h="294572">
                <a:moveTo>
                  <a:pt x="23589" y="-14326"/>
                </a:moveTo>
                <a:cubicBezTo>
                  <a:pt x="18181" y="-19734"/>
                  <a:pt x="9436" y="-19734"/>
                  <a:pt x="4085" y="-14326"/>
                </a:cubicBezTo>
                <a:cubicBezTo>
                  <a:pt x="-1266" y="-8918"/>
                  <a:pt x="-1323" y="-173"/>
                  <a:pt x="4027" y="5236"/>
                </a:cubicBezTo>
                <a:lnTo>
                  <a:pt x="307805" y="309013"/>
                </a:lnTo>
                <a:cubicBezTo>
                  <a:pt x="313213" y="314421"/>
                  <a:pt x="321958" y="314421"/>
                  <a:pt x="327308" y="309013"/>
                </a:cubicBezTo>
                <a:cubicBezTo>
                  <a:pt x="332659" y="303605"/>
                  <a:pt x="332717" y="294859"/>
                  <a:pt x="327308" y="289509"/>
                </a:cubicBezTo>
                <a:lnTo>
                  <a:pt x="179217" y="141360"/>
                </a:lnTo>
                <a:cubicBezTo>
                  <a:pt x="210860" y="135089"/>
                  <a:pt x="234737" y="107127"/>
                  <a:pt x="234737" y="73643"/>
                </a:cubicBezTo>
                <a:cubicBezTo>
                  <a:pt x="234737" y="35498"/>
                  <a:pt x="203841" y="4603"/>
                  <a:pt x="165697" y="4603"/>
                </a:cubicBezTo>
                <a:cubicBezTo>
                  <a:pt x="132212" y="4603"/>
                  <a:pt x="104251" y="28479"/>
                  <a:pt x="97980" y="60123"/>
                </a:cubicBezTo>
                <a:lnTo>
                  <a:pt x="23589" y="-14326"/>
                </a:lnTo>
                <a:close/>
                <a:moveTo>
                  <a:pt x="135549" y="175707"/>
                </a:moveTo>
                <a:cubicBezTo>
                  <a:pt x="85092" y="182151"/>
                  <a:pt x="46027" y="225244"/>
                  <a:pt x="46027" y="277484"/>
                </a:cubicBezTo>
                <a:cubicBezTo>
                  <a:pt x="46027" y="286920"/>
                  <a:pt x="53679" y="294572"/>
                  <a:pt x="63114" y="294572"/>
                </a:cubicBezTo>
                <a:lnTo>
                  <a:pt x="254413" y="294572"/>
                </a:lnTo>
                <a:lnTo>
                  <a:pt x="135549" y="175707"/>
                </a:ln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5" name="Text 36"/>
          <p:cNvSpPr/>
          <p:nvPr/>
        </p:nvSpPr>
        <p:spPr>
          <a:xfrm>
            <a:off x="4331160" y="5539680"/>
            <a:ext cx="352368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90" spc="-1" strike="noStrike">
                <a:solidFill>
                  <a:srgbClr val="f4f4f4"/>
                </a:solidFill>
                <a:latin typeface="Jersey 15"/>
                <a:ea typeface="Jersey 15"/>
              </a:rPr>
              <a:t>LAYOFFS</a:t>
            </a:r>
            <a:endParaRPr b="0" lang="en-HK" sz="1290" spc="-1" strike="noStrike">
              <a:latin typeface="Arial"/>
            </a:endParaRPr>
          </a:p>
        </p:txBody>
      </p:sp>
      <p:sp>
        <p:nvSpPr>
          <p:cNvPr id="526" name="Text 37"/>
          <p:cNvSpPr/>
          <p:nvPr/>
        </p:nvSpPr>
        <p:spPr>
          <a:xfrm>
            <a:off x="4339080" y="5834160"/>
            <a:ext cx="350748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/>
                </a:solidFill>
                <a:latin typeface="Jersey 15"/>
                <a:ea typeface="Jersey 15"/>
              </a:rPr>
              <a:t>Thousands lost jobs industry-wide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27" name="Shape 38"/>
          <p:cNvSpPr/>
          <p:nvPr/>
        </p:nvSpPr>
        <p:spPr>
          <a:xfrm>
            <a:off x="8117640" y="5003640"/>
            <a:ext cx="3728520" cy="1166760"/>
          </a:xfrm>
          <a:custGeom>
            <a:avLst/>
            <a:gdLst/>
            <a:ah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8" name="Shape 39"/>
          <p:cNvSpPr/>
          <p:nvPr/>
        </p:nvSpPr>
        <p:spPr>
          <a:xfrm>
            <a:off x="9819000" y="5146920"/>
            <a:ext cx="328320" cy="291240"/>
          </a:xfrm>
          <a:custGeom>
            <a:avLst/>
            <a:gdLst/>
            <a:ahLst/>
            <a:rect l="l" t="t" r="r" b="b"/>
            <a:pathLst>
              <a:path w="331393" h="294572">
                <a:moveTo>
                  <a:pt x="23589" y="-14326"/>
                </a:moveTo>
                <a:cubicBezTo>
                  <a:pt x="18181" y="-19734"/>
                  <a:pt x="9436" y="-19734"/>
                  <a:pt x="4085" y="-14326"/>
                </a:cubicBezTo>
                <a:cubicBezTo>
                  <a:pt x="-1266" y="-8918"/>
                  <a:pt x="-1323" y="-173"/>
                  <a:pt x="4027" y="5236"/>
                </a:cubicBezTo>
                <a:lnTo>
                  <a:pt x="307805" y="309013"/>
                </a:lnTo>
                <a:cubicBezTo>
                  <a:pt x="313213" y="314421"/>
                  <a:pt x="321958" y="314421"/>
                  <a:pt x="327308" y="309013"/>
                </a:cubicBezTo>
                <a:cubicBezTo>
                  <a:pt x="332659" y="303605"/>
                  <a:pt x="332717" y="294859"/>
                  <a:pt x="327308" y="289509"/>
                </a:cubicBezTo>
                <a:lnTo>
                  <a:pt x="293594" y="255794"/>
                </a:lnTo>
                <a:cubicBezTo>
                  <a:pt x="294227" y="253493"/>
                  <a:pt x="294514" y="251076"/>
                  <a:pt x="294514" y="248602"/>
                </a:cubicBezTo>
                <a:lnTo>
                  <a:pt x="294514" y="161612"/>
                </a:lnTo>
                <a:cubicBezTo>
                  <a:pt x="287323" y="164258"/>
                  <a:pt x="279498" y="165754"/>
                  <a:pt x="271213" y="165754"/>
                </a:cubicBezTo>
                <a:cubicBezTo>
                  <a:pt x="266553" y="165754"/>
                  <a:pt x="262065" y="165294"/>
                  <a:pt x="257693" y="164373"/>
                </a:cubicBezTo>
                <a:lnTo>
                  <a:pt x="257693" y="202576"/>
                </a:lnTo>
                <a:lnTo>
                  <a:pt x="240318" y="202576"/>
                </a:lnTo>
                <a:lnTo>
                  <a:pt x="161209" y="123467"/>
                </a:lnTo>
                <a:cubicBezTo>
                  <a:pt x="162877" y="121396"/>
                  <a:pt x="164373" y="119210"/>
                  <a:pt x="165582" y="116851"/>
                </a:cubicBezTo>
                <a:cubicBezTo>
                  <a:pt x="172255" y="129508"/>
                  <a:pt x="185546" y="138138"/>
                  <a:pt x="200850" y="138138"/>
                </a:cubicBezTo>
                <a:cubicBezTo>
                  <a:pt x="216269" y="138138"/>
                  <a:pt x="229501" y="129451"/>
                  <a:pt x="236175" y="116793"/>
                </a:cubicBezTo>
                <a:cubicBezTo>
                  <a:pt x="242734" y="129508"/>
                  <a:pt x="256024" y="138138"/>
                  <a:pt x="271156" y="138138"/>
                </a:cubicBezTo>
                <a:cubicBezTo>
                  <a:pt x="297391" y="138138"/>
                  <a:pt x="316262" y="112996"/>
                  <a:pt x="308898" y="87796"/>
                </a:cubicBezTo>
                <a:lnTo>
                  <a:pt x="295607" y="41597"/>
                </a:lnTo>
                <a:cubicBezTo>
                  <a:pt x="291580" y="27846"/>
                  <a:pt x="278980" y="18411"/>
                  <a:pt x="264654" y="18411"/>
                </a:cubicBezTo>
                <a:lnTo>
                  <a:pt x="66739" y="18411"/>
                </a:lnTo>
                <a:cubicBezTo>
                  <a:pt x="63575" y="18411"/>
                  <a:pt x="60525" y="18871"/>
                  <a:pt x="57591" y="19734"/>
                </a:cubicBezTo>
                <a:lnTo>
                  <a:pt x="23589" y="-14326"/>
                </a:lnTo>
                <a:close/>
                <a:moveTo>
                  <a:pt x="87163" y="127322"/>
                </a:moveTo>
                <a:lnTo>
                  <a:pt x="28019" y="68235"/>
                </a:lnTo>
                <a:lnTo>
                  <a:pt x="22381" y="87739"/>
                </a:lnTo>
                <a:cubicBezTo>
                  <a:pt x="15016" y="112881"/>
                  <a:pt x="33887" y="138081"/>
                  <a:pt x="60123" y="138081"/>
                </a:cubicBezTo>
                <a:cubicBezTo>
                  <a:pt x="70536" y="138081"/>
                  <a:pt x="80087" y="133996"/>
                  <a:pt x="87163" y="127322"/>
                </a:cubicBezTo>
                <a:close/>
                <a:moveTo>
                  <a:pt x="236003" y="276161"/>
                </a:moveTo>
                <a:lnTo>
                  <a:pt x="162360" y="202518"/>
                </a:lnTo>
                <a:lnTo>
                  <a:pt x="73643" y="202518"/>
                </a:lnTo>
                <a:lnTo>
                  <a:pt x="73643" y="164316"/>
                </a:lnTo>
                <a:cubicBezTo>
                  <a:pt x="69270" y="165236"/>
                  <a:pt x="64725" y="165697"/>
                  <a:pt x="60123" y="165697"/>
                </a:cubicBezTo>
                <a:cubicBezTo>
                  <a:pt x="51838" y="165697"/>
                  <a:pt x="44013" y="164201"/>
                  <a:pt x="36821" y="161554"/>
                </a:cubicBezTo>
                <a:lnTo>
                  <a:pt x="36821" y="248545"/>
                </a:lnTo>
                <a:cubicBezTo>
                  <a:pt x="36821" y="263791"/>
                  <a:pt x="49191" y="276161"/>
                  <a:pt x="64438" y="276161"/>
                </a:cubicBezTo>
                <a:lnTo>
                  <a:pt x="236003" y="276161"/>
                </a:lnTo>
                <a:close/>
              </a:path>
            </a:pathLst>
          </a:cu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9" name="Text 40"/>
          <p:cNvSpPr/>
          <p:nvPr/>
        </p:nvSpPr>
        <p:spPr>
          <a:xfrm>
            <a:off x="8220240" y="5539680"/>
            <a:ext cx="352368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90" spc="-1" strike="noStrike">
                <a:solidFill>
                  <a:srgbClr val="f4f4f4"/>
                </a:solidFill>
                <a:latin typeface="Jersey 15"/>
                <a:ea typeface="Jersey 15"/>
              </a:rPr>
              <a:t>ARCADES CLOSED</a:t>
            </a:r>
            <a:endParaRPr b="0" lang="en-HK" sz="1290" spc="-1" strike="noStrike">
              <a:latin typeface="Arial"/>
            </a:endParaRPr>
          </a:p>
        </p:txBody>
      </p:sp>
      <p:sp>
        <p:nvSpPr>
          <p:cNvPr id="530" name="Text 41"/>
          <p:cNvSpPr/>
          <p:nvPr/>
        </p:nvSpPr>
        <p:spPr>
          <a:xfrm>
            <a:off x="8228520" y="5834160"/>
            <a:ext cx="350748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030" spc="-1" strike="noStrike">
                <a:solidFill>
                  <a:srgbClr val="f4f4f4"/>
                </a:solidFill>
                <a:latin typeface="Jersey 15"/>
                <a:ea typeface="Jersey 15"/>
              </a:rPr>
              <a:t>Many arcades shut down permanently</a:t>
            </a:r>
            <a:endParaRPr b="0" lang="en-HK" sz="1030" spc="-1" strike="noStrike">
              <a:latin typeface="Arial"/>
            </a:endParaRPr>
          </a:p>
        </p:txBody>
      </p:sp>
      <p:sp>
        <p:nvSpPr>
          <p:cNvPr id="531" name="Shape 42"/>
          <p:cNvSpPr/>
          <p:nvPr/>
        </p:nvSpPr>
        <p:spPr>
          <a:xfrm>
            <a:off x="339480" y="6329160"/>
            <a:ext cx="11510640" cy="512280"/>
          </a:xfrm>
          <a:custGeom>
            <a:avLst/>
            <a:gdLst/>
            <a:ahLst/>
            <a:rect l="l" t="t" r="r" b="b"/>
            <a:pathLst>
              <a:path w="11512848" h="515501">
                <a:moveTo>
                  <a:pt x="0" y="0"/>
                </a:moveTo>
                <a:lnTo>
                  <a:pt x="11512848" y="0"/>
                </a:lnTo>
                <a:lnTo>
                  <a:pt x="11512848" y="515501"/>
                </a:lnTo>
                <a:lnTo>
                  <a:pt x="0" y="51550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2" name="Text 43"/>
          <p:cNvSpPr/>
          <p:nvPr/>
        </p:nvSpPr>
        <p:spPr>
          <a:xfrm>
            <a:off x="441720" y="6472440"/>
            <a:ext cx="1130616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290" spc="-1" strike="noStrike">
                <a:solidFill>
                  <a:srgbClr val="f4f4f4"/>
                </a:solidFill>
                <a:latin typeface="Jersey 15"/>
                <a:ea typeface="Jersey 15"/>
              </a:rPr>
              <a:t>By 1985, the industry was on its knees. But from the ashes, a </a:t>
            </a:r>
            <a:r>
              <a:rPr b="1" lang="en-US" sz="1290" spc="-1" strike="noStrike">
                <a:solidFill>
                  <a:srgbClr val="a7f070"/>
                </a:solidFill>
                <a:latin typeface="Jersey 15"/>
                <a:ea typeface="Jersey 15"/>
              </a:rPr>
              <a:t>phoenix would rise</a:t>
            </a:r>
            <a:r>
              <a:rPr b="0" lang="en-US" sz="1290" spc="-1" strike="noStrike">
                <a:solidFill>
                  <a:srgbClr val="f4f4f4"/>
                </a:solidFill>
                <a:latin typeface="Jersey 15"/>
                <a:ea typeface="Jersey 15"/>
              </a:rPr>
              <a:t>...</a:t>
            </a:r>
            <a:endParaRPr b="0" lang="en-HK" sz="1290" spc="-1" strike="noStrike">
              <a:latin typeface="Arial"/>
            </a:endParaRPr>
          </a:p>
        </p:txBody>
      </p:sp>
    </p:spTree>
  </p:cSld>
  <p:transition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Shape 0"/>
          <p:cNvSpPr/>
          <p:nvPr/>
        </p:nvSpPr>
        <p:spPr>
          <a:xfrm>
            <a:off x="0" y="0"/>
            <a:ext cx="12189960" cy="6856920"/>
          </a:xfrm>
          <a:custGeom>
            <a:avLst/>
            <a:gdLst/>
            <a:ahLst/>
            <a:rect l="l" t="t" r="r" b="b"/>
            <a:pathLst>
              <a:path w="12192000" h="6860330">
                <a:moveTo>
                  <a:pt x="0" y="0"/>
                </a:moveTo>
                <a:lnTo>
                  <a:pt x="12192000" y="0"/>
                </a:lnTo>
                <a:lnTo>
                  <a:pt x="12192000" y="6860330"/>
                </a:lnTo>
                <a:lnTo>
                  <a:pt x="0" y="686033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4" name="Text 1"/>
          <p:cNvSpPr/>
          <p:nvPr/>
        </p:nvSpPr>
        <p:spPr>
          <a:xfrm>
            <a:off x="372960" y="372960"/>
            <a:ext cx="1166796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53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PHOENIX RISES</a:t>
            </a:r>
            <a:endParaRPr b="0" lang="en-HK" sz="3530" spc="-1" strike="noStrike">
              <a:latin typeface="Arial"/>
            </a:endParaRPr>
          </a:p>
        </p:txBody>
      </p:sp>
      <p:sp>
        <p:nvSpPr>
          <p:cNvPr id="535" name="Text 2"/>
          <p:cNvSpPr/>
          <p:nvPr/>
        </p:nvSpPr>
        <p:spPr>
          <a:xfrm>
            <a:off x="372960" y="932040"/>
            <a:ext cx="1155600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760" spc="-1" strike="noStrike">
                <a:solidFill>
                  <a:srgbClr val="f4f4f4"/>
                </a:solidFill>
                <a:latin typeface="Jersey 15"/>
                <a:ea typeface="Jersey 15"/>
              </a:rPr>
              <a:t>Nintendo's Redemption</a:t>
            </a:r>
            <a:endParaRPr b="0" lang="en-HK" sz="1760" spc="-1" strike="noStrike">
              <a:latin typeface="Arial"/>
            </a:endParaRPr>
          </a:p>
        </p:txBody>
      </p:sp>
      <p:sp>
        <p:nvSpPr>
          <p:cNvPr id="536" name="Shape 3"/>
          <p:cNvSpPr/>
          <p:nvPr/>
        </p:nvSpPr>
        <p:spPr>
          <a:xfrm>
            <a:off x="372960" y="1342080"/>
            <a:ext cx="891720" cy="34200"/>
          </a:xfrm>
          <a:custGeom>
            <a:avLst/>
            <a:gdLst/>
            <a:ahLst/>
            <a:rect l="l" t="t" r="r" b="b"/>
            <a:pathLst>
              <a:path w="894826" h="37284">
                <a:moveTo>
                  <a:pt x="0" y="0"/>
                </a:moveTo>
                <a:lnTo>
                  <a:pt x="894826" y="0"/>
                </a:lnTo>
                <a:lnTo>
                  <a:pt x="894826" y="37284"/>
                </a:lnTo>
                <a:lnTo>
                  <a:pt x="0" y="37284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7" name="Shape 4"/>
          <p:cNvSpPr/>
          <p:nvPr/>
        </p:nvSpPr>
        <p:spPr>
          <a:xfrm>
            <a:off x="387000" y="1542600"/>
            <a:ext cx="5580360" cy="2010240"/>
          </a:xfrm>
          <a:custGeom>
            <a:avLst/>
            <a:gdLst/>
            <a:ahLst/>
            <a:rect l="l" t="t" r="r" b="b"/>
            <a:pathLst>
              <a:path w="5583339" h="2013358">
                <a:moveTo>
                  <a:pt x="0" y="0"/>
                </a:moveTo>
                <a:lnTo>
                  <a:pt x="5583339" y="0"/>
                </a:lnTo>
                <a:lnTo>
                  <a:pt x="5583339" y="2013358"/>
                </a:lnTo>
                <a:lnTo>
                  <a:pt x="0" y="201335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8" name="Text 5"/>
          <p:cNvSpPr/>
          <p:nvPr/>
        </p:nvSpPr>
        <p:spPr>
          <a:xfrm>
            <a:off x="587160" y="1743120"/>
            <a:ext cx="529164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760" spc="-1" strike="noStrike">
                <a:solidFill>
                  <a:srgbClr val="ffcd75"/>
                </a:solidFill>
                <a:latin typeface="Jersey 15"/>
                <a:ea typeface="Jersey 15"/>
              </a:rPr>
              <a:t>THE NEWCOMER ARRIVES</a:t>
            </a:r>
            <a:endParaRPr b="0" lang="en-HK" sz="1760" spc="-1" strike="noStrike">
              <a:latin typeface="Arial"/>
            </a:endParaRPr>
          </a:p>
        </p:txBody>
      </p:sp>
      <p:sp>
        <p:nvSpPr>
          <p:cNvPr id="539" name="Text 6"/>
          <p:cNvSpPr/>
          <p:nvPr/>
        </p:nvSpPr>
        <p:spPr>
          <a:xfrm>
            <a:off x="587160" y="2153160"/>
            <a:ext cx="52635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In </a:t>
            </a:r>
            <a:r>
              <a:rPr b="1" lang="en-US" sz="1320" spc="-1" strike="noStrike">
                <a:solidFill>
                  <a:srgbClr val="a7f070"/>
                </a:solidFill>
                <a:latin typeface="Jersey 15"/>
                <a:ea typeface="Jersey 15"/>
              </a:rPr>
              <a:t>1985</a:t>
            </a: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, a Japanese company entered the US market with a revolutionary approach: the </a:t>
            </a:r>
            <a:r>
              <a:rPr b="1" lang="en-US" sz="1320" spc="-1" strike="noStrike">
                <a:solidFill>
                  <a:srgbClr val="29adff"/>
                </a:solidFill>
                <a:latin typeface="Jersey 15"/>
                <a:ea typeface="Jersey 15"/>
              </a:rPr>
              <a:t>Nintendo Entertainment System (NES)</a:t>
            </a: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.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540" name="Text 7"/>
          <p:cNvSpPr/>
          <p:nvPr/>
        </p:nvSpPr>
        <p:spPr>
          <a:xfrm>
            <a:off x="587160" y="2810160"/>
            <a:ext cx="52635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Nintendo studied the crash's lessons and implemented </a:t>
            </a:r>
            <a:r>
              <a:rPr b="1" lang="en-US" sz="1320" spc="-1" strike="noStrike">
                <a:solidFill>
                  <a:srgbClr val="ffcd75"/>
                </a:solidFill>
                <a:latin typeface="Jersey 15"/>
                <a:ea typeface="Jersey 15"/>
              </a:rPr>
              <a:t>strict quality control</a:t>
            </a: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 to prevent another market collapse.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541" name="Shape 8"/>
          <p:cNvSpPr/>
          <p:nvPr/>
        </p:nvSpPr>
        <p:spPr>
          <a:xfrm>
            <a:off x="387000" y="3733200"/>
            <a:ext cx="5580360" cy="1926360"/>
          </a:xfrm>
          <a:custGeom>
            <a:avLst/>
            <a:gdLst/>
            <a:ahLst/>
            <a:rect l="l" t="t" r="r" b="b"/>
            <a:pathLst>
              <a:path w="5583339" h="1929468">
                <a:moveTo>
                  <a:pt x="0" y="0"/>
                </a:moveTo>
                <a:lnTo>
                  <a:pt x="5583339" y="0"/>
                </a:lnTo>
                <a:lnTo>
                  <a:pt x="5583339" y="1929468"/>
                </a:lnTo>
                <a:lnTo>
                  <a:pt x="0" y="192946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5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2" name="Text 9"/>
          <p:cNvSpPr/>
          <p:nvPr/>
        </p:nvSpPr>
        <p:spPr>
          <a:xfrm>
            <a:off x="587160" y="3933360"/>
            <a:ext cx="529164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760" spc="-1" strike="noStrike">
                <a:solidFill>
                  <a:srgbClr val="a7f070"/>
                </a:solidFill>
                <a:latin typeface="Jersey 15"/>
                <a:ea typeface="Jersey 15"/>
              </a:rPr>
              <a:t>THE NINTENDO STRATEGY</a:t>
            </a:r>
            <a:endParaRPr b="0" lang="en-HK" sz="1760" spc="-1" strike="noStrike">
              <a:latin typeface="Arial"/>
            </a:endParaRPr>
          </a:p>
        </p:txBody>
      </p:sp>
      <p:sp>
        <p:nvSpPr>
          <p:cNvPr id="543" name="Shape 10"/>
          <p:cNvSpPr/>
          <p:nvPr/>
        </p:nvSpPr>
        <p:spPr>
          <a:xfrm>
            <a:off x="610560" y="4380840"/>
            <a:ext cx="164520" cy="164520"/>
          </a:xfrm>
          <a:custGeom>
            <a:avLst/>
            <a:gdLst/>
            <a:ah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4" name="Text 11"/>
          <p:cNvSpPr/>
          <p:nvPr/>
        </p:nvSpPr>
        <p:spPr>
          <a:xfrm>
            <a:off x="908640" y="4343760"/>
            <a:ext cx="314748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Third-party licensing: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Controlled who could make games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45" name="Shape 12"/>
          <p:cNvSpPr/>
          <p:nvPr/>
        </p:nvSpPr>
        <p:spPr>
          <a:xfrm>
            <a:off x="610560" y="4679280"/>
            <a:ext cx="164520" cy="164520"/>
          </a:xfrm>
          <a:custGeom>
            <a:avLst/>
            <a:gdLst/>
            <a:ah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6" name="Text 13"/>
          <p:cNvSpPr/>
          <p:nvPr/>
        </p:nvSpPr>
        <p:spPr>
          <a:xfrm>
            <a:off x="908640" y="4641840"/>
            <a:ext cx="277488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Quality standards: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Every game required approval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47" name="Shape 14"/>
          <p:cNvSpPr/>
          <p:nvPr/>
        </p:nvSpPr>
        <p:spPr>
          <a:xfrm>
            <a:off x="610560" y="4977360"/>
            <a:ext cx="164520" cy="164520"/>
          </a:xfrm>
          <a:custGeom>
            <a:avLst/>
            <a:gdLst/>
            <a:ah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8" name="Text 15"/>
          <p:cNvSpPr/>
          <p:nvPr/>
        </p:nvSpPr>
        <p:spPr>
          <a:xfrm>
            <a:off x="908640" y="4940280"/>
            <a:ext cx="318492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Marketing: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Repositioned NES as "entertainment system"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49" name="Shape 16"/>
          <p:cNvSpPr/>
          <p:nvPr/>
        </p:nvSpPr>
        <p:spPr>
          <a:xfrm>
            <a:off x="610560" y="5275800"/>
            <a:ext cx="164520" cy="164520"/>
          </a:xfrm>
          <a:custGeom>
            <a:avLst/>
            <a:gdLst/>
            <a:ah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0" name="Text 17"/>
          <p:cNvSpPr/>
          <p:nvPr/>
        </p:nvSpPr>
        <p:spPr>
          <a:xfrm>
            <a:off x="908640" y="5238360"/>
            <a:ext cx="297972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Iconic games: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Super Mario Bros., The Legend of Zelda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51" name="Shape 18"/>
          <p:cNvSpPr/>
          <p:nvPr/>
        </p:nvSpPr>
        <p:spPr>
          <a:xfrm>
            <a:off x="6224400" y="1542600"/>
            <a:ext cx="5580360" cy="3939480"/>
          </a:xfrm>
          <a:custGeom>
            <a:avLst/>
            <a:gdLst/>
            <a:ahLst/>
            <a:rect l="l" t="t" r="r" b="b"/>
            <a:pathLst>
              <a:path w="5583339" h="3942826">
                <a:moveTo>
                  <a:pt x="0" y="0"/>
                </a:moveTo>
                <a:lnTo>
                  <a:pt x="5583339" y="0"/>
                </a:lnTo>
                <a:lnTo>
                  <a:pt x="5583339" y="3942826"/>
                </a:lnTo>
                <a:lnTo>
                  <a:pt x="0" y="3942826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5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2" name="Text 19"/>
          <p:cNvSpPr/>
          <p:nvPr/>
        </p:nvSpPr>
        <p:spPr>
          <a:xfrm>
            <a:off x="6368760" y="1743120"/>
            <a:ext cx="529164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760" spc="-1" strike="noStrike">
                <a:solidFill>
                  <a:srgbClr val="29adff"/>
                </a:solidFill>
                <a:latin typeface="Jersey 15"/>
                <a:ea typeface="Jersey 15"/>
              </a:rPr>
              <a:t>THE RESULT</a:t>
            </a:r>
            <a:endParaRPr b="0" lang="en-HK" sz="1760" spc="-1" strike="noStrike">
              <a:latin typeface="Arial"/>
            </a:endParaRPr>
          </a:p>
        </p:txBody>
      </p:sp>
      <p:sp>
        <p:nvSpPr>
          <p:cNvPr id="553" name="Shape 20"/>
          <p:cNvSpPr/>
          <p:nvPr/>
        </p:nvSpPr>
        <p:spPr>
          <a:xfrm>
            <a:off x="6424560" y="2190600"/>
            <a:ext cx="5179680" cy="1077840"/>
          </a:xfrm>
          <a:custGeom>
            <a:avLst/>
            <a:gdLst/>
            <a:ahLst/>
            <a:rect l="l" t="t" r="r" b="b"/>
            <a:pathLst>
              <a:path w="5182532" h="1081248">
                <a:moveTo>
                  <a:pt x="0" y="0"/>
                </a:moveTo>
                <a:lnTo>
                  <a:pt x="5182532" y="0"/>
                </a:lnTo>
                <a:lnTo>
                  <a:pt x="5182532" y="1081248"/>
                </a:lnTo>
                <a:lnTo>
                  <a:pt x="0" y="1081248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4" name="Text 21"/>
          <p:cNvSpPr/>
          <p:nvPr/>
        </p:nvSpPr>
        <p:spPr>
          <a:xfrm>
            <a:off x="6462000" y="2339640"/>
            <a:ext cx="510516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530" spc="-1" strike="noStrike">
                <a:solidFill>
                  <a:srgbClr val="a7f070"/>
                </a:solidFill>
                <a:latin typeface="Jersey 20 Charted"/>
                <a:ea typeface="Jersey 20 Charted"/>
              </a:rPr>
              <a:t>90%</a:t>
            </a:r>
            <a:endParaRPr b="0" lang="en-HK" sz="3530" spc="-1" strike="noStrike">
              <a:latin typeface="Arial"/>
            </a:endParaRPr>
          </a:p>
        </p:txBody>
      </p:sp>
      <p:sp>
        <p:nvSpPr>
          <p:cNvPr id="555" name="Text 22"/>
          <p:cNvSpPr/>
          <p:nvPr/>
        </p:nvSpPr>
        <p:spPr>
          <a:xfrm>
            <a:off x="6531840" y="2861640"/>
            <a:ext cx="496512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0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US Console Market Share by 1987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556" name="Shape 23"/>
          <p:cNvSpPr/>
          <p:nvPr/>
        </p:nvSpPr>
        <p:spPr>
          <a:xfrm>
            <a:off x="6424560" y="3420720"/>
            <a:ext cx="5179680" cy="854280"/>
          </a:xfrm>
          <a:custGeom>
            <a:avLst/>
            <a:gdLst/>
            <a:ahLst/>
            <a:rect l="l" t="t" r="r" b="b"/>
            <a:pathLst>
              <a:path w="5182532" h="857541">
                <a:moveTo>
                  <a:pt x="0" y="0"/>
                </a:moveTo>
                <a:lnTo>
                  <a:pt x="5182532" y="0"/>
                </a:lnTo>
                <a:lnTo>
                  <a:pt x="5182532" y="857541"/>
                </a:lnTo>
                <a:lnTo>
                  <a:pt x="0" y="85754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7" name="Text 24"/>
          <p:cNvSpPr/>
          <p:nvPr/>
        </p:nvSpPr>
        <p:spPr>
          <a:xfrm>
            <a:off x="6573600" y="3570120"/>
            <a:ext cx="496512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Consumer Confidence Restored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558" name="Text 25"/>
          <p:cNvSpPr/>
          <p:nvPr/>
        </p:nvSpPr>
        <p:spPr>
          <a:xfrm>
            <a:off x="6573600" y="3905640"/>
            <a:ext cx="495612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8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Nintendo's seal of quality reassured buyers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59" name="Shape 26"/>
          <p:cNvSpPr/>
          <p:nvPr/>
        </p:nvSpPr>
        <p:spPr>
          <a:xfrm>
            <a:off x="6424560" y="4427640"/>
            <a:ext cx="5179680" cy="854280"/>
          </a:xfrm>
          <a:custGeom>
            <a:avLst/>
            <a:gdLst/>
            <a:ahLst/>
            <a:rect l="l" t="t" r="r" b="b"/>
            <a:pathLst>
              <a:path w="5182532" h="857541">
                <a:moveTo>
                  <a:pt x="0" y="0"/>
                </a:moveTo>
                <a:lnTo>
                  <a:pt x="5182532" y="0"/>
                </a:lnTo>
                <a:lnTo>
                  <a:pt x="5182532" y="857541"/>
                </a:lnTo>
                <a:lnTo>
                  <a:pt x="0" y="85754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0" name="Text 27"/>
          <p:cNvSpPr/>
          <p:nvPr/>
        </p:nvSpPr>
        <p:spPr>
          <a:xfrm>
            <a:off x="6573600" y="4576680"/>
            <a:ext cx="496512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20" spc="-1" strike="noStrike">
                <a:solidFill>
                  <a:srgbClr val="f4f4f4"/>
                </a:solidFill>
                <a:latin typeface="Jersey 15"/>
                <a:ea typeface="Jersey 15"/>
              </a:rPr>
              <a:t>Industry Foundation Rebuilt</a:t>
            </a:r>
            <a:endParaRPr b="0" lang="en-HK" sz="1320" spc="-1" strike="noStrike">
              <a:latin typeface="Arial"/>
            </a:endParaRPr>
          </a:p>
        </p:txBody>
      </p:sp>
      <p:sp>
        <p:nvSpPr>
          <p:cNvPr id="561" name="Text 28"/>
          <p:cNvSpPr/>
          <p:nvPr/>
        </p:nvSpPr>
        <p:spPr>
          <a:xfrm>
            <a:off x="6573600" y="4912200"/>
            <a:ext cx="495612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80" spc="-1" strike="noStrike">
                <a:solidFill>
                  <a:srgbClr val="f4f4f4">
                    <a:alpha val="90000"/>
                  </a:srgbClr>
                </a:solidFill>
                <a:latin typeface="Jersey 15"/>
                <a:ea typeface="Jersey 15"/>
              </a:rPr>
              <a:t>Modern gaming business model established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562" name="Shape 29"/>
          <p:cNvSpPr/>
          <p:nvPr/>
        </p:nvSpPr>
        <p:spPr>
          <a:xfrm>
            <a:off x="6224400" y="5662440"/>
            <a:ext cx="5580360" cy="1180440"/>
          </a:xfrm>
          <a:custGeom>
            <a:avLst/>
            <a:gdLst/>
            <a:ahLst/>
            <a:rect l="l" t="t" r="r" b="b"/>
            <a:pathLst>
              <a:path w="5583339" h="1183780">
                <a:moveTo>
                  <a:pt x="0" y="0"/>
                </a:moveTo>
                <a:lnTo>
                  <a:pt x="5583339" y="0"/>
                </a:lnTo>
                <a:lnTo>
                  <a:pt x="5583339" y="1183780"/>
                </a:lnTo>
                <a:lnTo>
                  <a:pt x="0" y="118378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5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3" name="Text 30"/>
          <p:cNvSpPr/>
          <p:nvPr/>
        </p:nvSpPr>
        <p:spPr>
          <a:xfrm>
            <a:off x="6340680" y="5825520"/>
            <a:ext cx="534744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470" spc="-1" strike="noStrike">
                <a:solidFill>
                  <a:srgbClr val="ffcd75"/>
                </a:solidFill>
                <a:latin typeface="Jersey 15"/>
                <a:ea typeface="Jersey 15"/>
              </a:rPr>
              <a:t>THE ARCADE LEGACY</a:t>
            </a:r>
            <a:endParaRPr b="0" lang="en-HK" sz="1470" spc="-1" strike="noStrike">
              <a:latin typeface="Arial"/>
            </a:endParaRPr>
          </a:p>
        </p:txBody>
      </p:sp>
      <p:sp>
        <p:nvSpPr>
          <p:cNvPr id="564" name="Text 31"/>
          <p:cNvSpPr/>
          <p:nvPr/>
        </p:nvSpPr>
        <p:spPr>
          <a:xfrm>
            <a:off x="6350040" y="6198480"/>
            <a:ext cx="532872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NES games like </a:t>
            </a:r>
            <a:r>
              <a:rPr b="1" lang="en-US" sz="1180" spc="-1" strike="noStrike">
                <a:solidFill>
                  <a:srgbClr val="a7f070"/>
                </a:solidFill>
                <a:latin typeface="Jersey 15"/>
                <a:ea typeface="Jersey 15"/>
              </a:rPr>
              <a:t>Super Mario Bros.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and </a:t>
            </a:r>
            <a:r>
              <a:rPr b="1" lang="en-US" sz="1180" spc="-1" strike="noStrike">
                <a:solidFill>
                  <a:srgbClr val="29adff"/>
                </a:solidFill>
                <a:latin typeface="Jersey 15"/>
                <a:ea typeface="Jersey 15"/>
              </a:rPr>
              <a:t>Donkey Kong</a:t>
            </a:r>
            <a:r>
              <a:rPr b="0" lang="en-US" sz="1180" spc="-1" strike="noStrike">
                <a:solidFill>
                  <a:srgbClr val="f4f4f4"/>
                </a:solidFill>
                <a:latin typeface="Jersey 15"/>
                <a:ea typeface="Jersey 15"/>
              </a:rPr>
              <a:t> brought arcade-quality experiences into living rooms—preserving the golden age's innovations for future generations.</a:t>
            </a:r>
            <a:endParaRPr b="0" lang="en-HK" sz="1180" spc="-1" strike="noStrike">
              <a:latin typeface="Arial"/>
            </a:endParaRPr>
          </a:p>
        </p:txBody>
      </p:sp>
    </p:spTree>
  </p:cSld>
  <p:transition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Image 0"/>
          <p:cNvSpPr/>
          <p:nvPr/>
        </p:nvSpPr>
        <p:spPr>
          <a:xfrm>
            <a:off x="0" y="0"/>
            <a:ext cx="12189960" cy="685296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6" name="Shape 0"/>
          <p:cNvSpPr/>
          <p:nvPr/>
        </p:nvSpPr>
        <p:spPr>
          <a:xfrm>
            <a:off x="0" y="0"/>
            <a:ext cx="12189960" cy="6852960"/>
          </a:xfrm>
          <a:custGeom>
            <a:avLst/>
            <a:gdLst/>
            <a:ahLst/>
            <a:rect l="l" t="t" r="r" b="b"/>
            <a:pathLst>
              <a:path w="12192000" h="6856313">
                <a:moveTo>
                  <a:pt x="0" y="0"/>
                </a:moveTo>
                <a:lnTo>
                  <a:pt x="12192000" y="0"/>
                </a:lnTo>
                <a:lnTo>
                  <a:pt x="12192000" y="6856313"/>
                </a:lnTo>
                <a:lnTo>
                  <a:pt x="0" y="6856313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0000">
                  <a:alpha val="15294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7" name="Text 1"/>
          <p:cNvSpPr/>
          <p:nvPr/>
        </p:nvSpPr>
        <p:spPr>
          <a:xfrm>
            <a:off x="5608800" y="-186840"/>
            <a:ext cx="96840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0" lang="en-US" sz="5100" spc="-1" strike="noStrike">
                <a:solidFill>
                  <a:srgbClr val="f4f4f4"/>
                </a:solidFill>
                <a:latin typeface="Jersey 15"/>
                <a:ea typeface="Jersey 15"/>
              </a:rPr>
              <a:t>🕹️</a:t>
            </a:r>
            <a:endParaRPr b="0" lang="en-HK" sz="5100" spc="-1" strike="noStrike">
              <a:latin typeface="Arial"/>
            </a:endParaRPr>
          </a:p>
        </p:txBody>
      </p:sp>
      <p:sp>
        <p:nvSpPr>
          <p:cNvPr id="568" name="Text 2"/>
          <p:cNvSpPr/>
          <p:nvPr/>
        </p:nvSpPr>
        <p:spPr>
          <a:xfrm>
            <a:off x="4541760" y="821160"/>
            <a:ext cx="3101400" cy="161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51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THE LEGACY</a:t>
            </a:r>
            <a:endParaRPr b="0" lang="en-HK" sz="5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510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LIVES ON</a:t>
            </a:r>
            <a:endParaRPr b="0" lang="en-HK" sz="5100" spc="-1" strike="noStrike">
              <a:latin typeface="Arial"/>
            </a:endParaRPr>
          </a:p>
        </p:txBody>
      </p:sp>
      <p:sp>
        <p:nvSpPr>
          <p:cNvPr id="569" name="Shape 3"/>
          <p:cNvSpPr/>
          <p:nvPr/>
        </p:nvSpPr>
        <p:spPr>
          <a:xfrm>
            <a:off x="5375160" y="2656440"/>
            <a:ext cx="1436400" cy="360"/>
          </a:xfrm>
          <a:custGeom>
            <a:avLst/>
            <a:gdLst/>
            <a:ahLst/>
            <a:rect l="l" t="t" r="r" b="b"/>
            <a:pathLst>
              <a:path w="1439646" h="0">
                <a:moveTo>
                  <a:pt x="0" y="0"/>
                </a:moveTo>
                <a:lnTo>
                  <a:pt x="1439646" y="0"/>
                </a:lnTo>
                <a:lnTo>
                  <a:pt x="1439646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0" name="Text 4"/>
          <p:cNvSpPr/>
          <p:nvPr/>
        </p:nvSpPr>
        <p:spPr>
          <a:xfrm>
            <a:off x="2201400" y="2944440"/>
            <a:ext cx="778068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700" spc="-1" strike="noStrike">
                <a:solidFill>
                  <a:srgbClr val="f4f4f4"/>
                </a:solidFill>
                <a:latin typeface="Jersey 15"/>
                <a:ea typeface="Jersey 15"/>
              </a:rPr>
              <a:t>The golden age of arcade games established principles that still drive the industry today:</a:t>
            </a:r>
            <a:endParaRPr b="0" lang="en-HK" sz="1700" spc="-1" strike="noStrike">
              <a:latin typeface="Arial"/>
            </a:endParaRPr>
          </a:p>
        </p:txBody>
      </p:sp>
      <p:sp>
        <p:nvSpPr>
          <p:cNvPr id="571" name="Shape 5"/>
          <p:cNvSpPr/>
          <p:nvPr/>
        </p:nvSpPr>
        <p:spPr>
          <a:xfrm>
            <a:off x="2268720" y="3524760"/>
            <a:ext cx="3740040" cy="941400"/>
          </a:xfrm>
          <a:custGeom>
            <a:avLst/>
            <a:gdLst/>
            <a:ah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2" name="Shape 6"/>
          <p:cNvSpPr/>
          <p:nvPr/>
        </p:nvSpPr>
        <p:spPr>
          <a:xfrm>
            <a:off x="4006080" y="3682440"/>
            <a:ext cx="266760" cy="266760"/>
          </a:xfrm>
          <a:custGeom>
            <a:avLst/>
            <a:gdLst/>
            <a:ahLst/>
            <a:rect l="l" t="t" r="r" b="b"/>
            <a:pathLst>
              <a:path w="269934" h="269934">
                <a:moveTo>
                  <a:pt x="76077" y="0"/>
                </a:moveTo>
                <a:lnTo>
                  <a:pt x="194173" y="0"/>
                </a:lnTo>
                <a:cubicBezTo>
                  <a:pt x="208144" y="0"/>
                  <a:pt x="219532" y="11493"/>
                  <a:pt x="219005" y="25412"/>
                </a:cubicBezTo>
                <a:cubicBezTo>
                  <a:pt x="218899" y="28206"/>
                  <a:pt x="218794" y="31000"/>
                  <a:pt x="218636" y="33742"/>
                </a:cubicBezTo>
                <a:lnTo>
                  <a:pt x="244785" y="33742"/>
                </a:lnTo>
                <a:cubicBezTo>
                  <a:pt x="258546" y="33742"/>
                  <a:pt x="270672" y="45130"/>
                  <a:pt x="269617" y="59997"/>
                </a:cubicBezTo>
                <a:cubicBezTo>
                  <a:pt x="265663" y="114669"/>
                  <a:pt x="237721" y="144720"/>
                  <a:pt x="207406" y="160431"/>
                </a:cubicBezTo>
                <a:cubicBezTo>
                  <a:pt x="199076" y="164754"/>
                  <a:pt x="190588" y="167970"/>
                  <a:pt x="182521" y="170343"/>
                </a:cubicBezTo>
                <a:cubicBezTo>
                  <a:pt x="171872" y="185421"/>
                  <a:pt x="160800" y="193382"/>
                  <a:pt x="151996" y="197653"/>
                </a:cubicBezTo>
                <a:lnTo>
                  <a:pt x="151996" y="236192"/>
                </a:lnTo>
                <a:lnTo>
                  <a:pt x="185738" y="236192"/>
                </a:lnTo>
                <a:cubicBezTo>
                  <a:pt x="195069" y="236192"/>
                  <a:pt x="202608" y="243731"/>
                  <a:pt x="202608" y="253063"/>
                </a:cubicBezTo>
                <a:cubicBezTo>
                  <a:pt x="202608" y="262394"/>
                  <a:pt x="195069" y="269934"/>
                  <a:pt x="185738" y="269934"/>
                </a:cubicBezTo>
                <a:lnTo>
                  <a:pt x="84512" y="269934"/>
                </a:lnTo>
                <a:cubicBezTo>
                  <a:pt x="75181" y="269934"/>
                  <a:pt x="67642" y="262394"/>
                  <a:pt x="67642" y="253063"/>
                </a:cubicBezTo>
                <a:cubicBezTo>
                  <a:pt x="67642" y="243731"/>
                  <a:pt x="75181" y="236192"/>
                  <a:pt x="84512" y="236192"/>
                </a:cubicBezTo>
                <a:lnTo>
                  <a:pt x="118254" y="236192"/>
                </a:lnTo>
                <a:lnTo>
                  <a:pt x="118254" y="197653"/>
                </a:lnTo>
                <a:cubicBezTo>
                  <a:pt x="109819" y="193593"/>
                  <a:pt x="99327" y="186054"/>
                  <a:pt x="89099" y="172188"/>
                </a:cubicBezTo>
                <a:cubicBezTo>
                  <a:pt x="79398" y="169657"/>
                  <a:pt x="68854" y="165809"/>
                  <a:pt x="58573" y="160009"/>
                </a:cubicBezTo>
                <a:cubicBezTo>
                  <a:pt x="30051" y="144035"/>
                  <a:pt x="4323" y="113931"/>
                  <a:pt x="633" y="59892"/>
                </a:cubicBezTo>
                <a:cubicBezTo>
                  <a:pt x="-369" y="45077"/>
                  <a:pt x="11704" y="33689"/>
                  <a:pt x="25464" y="33689"/>
                </a:cubicBezTo>
                <a:lnTo>
                  <a:pt x="51614" y="33689"/>
                </a:lnTo>
                <a:cubicBezTo>
                  <a:pt x="51456" y="30947"/>
                  <a:pt x="51351" y="28206"/>
                  <a:pt x="51245" y="25359"/>
                </a:cubicBezTo>
                <a:cubicBezTo>
                  <a:pt x="50718" y="11388"/>
                  <a:pt x="62106" y="-53"/>
                  <a:pt x="76077" y="-53"/>
                </a:cubicBezTo>
                <a:close/>
                <a:moveTo>
                  <a:pt x="53512" y="59048"/>
                </a:moveTo>
                <a:lnTo>
                  <a:pt x="25886" y="59048"/>
                </a:lnTo>
                <a:cubicBezTo>
                  <a:pt x="29155" y="103703"/>
                  <a:pt x="49664" y="126057"/>
                  <a:pt x="70805" y="137919"/>
                </a:cubicBezTo>
                <a:cubicBezTo>
                  <a:pt x="63213" y="118254"/>
                  <a:pt x="56939" y="92579"/>
                  <a:pt x="53512" y="59048"/>
                </a:cubicBezTo>
                <a:close/>
                <a:moveTo>
                  <a:pt x="200341" y="135389"/>
                </a:moveTo>
                <a:cubicBezTo>
                  <a:pt x="221693" y="122841"/>
                  <a:pt x="240990" y="100540"/>
                  <a:pt x="244258" y="59048"/>
                </a:cubicBezTo>
                <a:lnTo>
                  <a:pt x="216685" y="59048"/>
                </a:lnTo>
                <a:cubicBezTo>
                  <a:pt x="213416" y="91155"/>
                  <a:pt x="207511" y="116093"/>
                  <a:pt x="200341" y="135389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3" name="Text 7"/>
          <p:cNvSpPr/>
          <p:nvPr/>
        </p:nvSpPr>
        <p:spPr>
          <a:xfrm>
            <a:off x="2385720" y="4060080"/>
            <a:ext cx="350640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80" spc="-1" strike="noStrike">
                <a:solidFill>
                  <a:srgbClr val="f4f4f4"/>
                </a:solidFill>
                <a:latin typeface="Jersey 15"/>
                <a:ea typeface="Jersey 15"/>
              </a:rPr>
              <a:t>Competitive Gaming Culture</a:t>
            </a:r>
            <a:endParaRPr b="0" lang="en-HK" sz="1280" spc="-1" strike="noStrike">
              <a:latin typeface="Arial"/>
            </a:endParaRPr>
          </a:p>
        </p:txBody>
      </p:sp>
      <p:sp>
        <p:nvSpPr>
          <p:cNvPr id="574" name="Shape 8"/>
          <p:cNvSpPr/>
          <p:nvPr/>
        </p:nvSpPr>
        <p:spPr>
          <a:xfrm>
            <a:off x="6180120" y="3524760"/>
            <a:ext cx="3740040" cy="941400"/>
          </a:xfrm>
          <a:custGeom>
            <a:avLst/>
            <a:gdLst/>
            <a:ah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5" name="Shape 9"/>
          <p:cNvSpPr/>
          <p:nvPr/>
        </p:nvSpPr>
        <p:spPr>
          <a:xfrm>
            <a:off x="7884000" y="3682440"/>
            <a:ext cx="334080" cy="266760"/>
          </a:xfrm>
          <a:custGeom>
            <a:avLst/>
            <a:gdLst/>
            <a:ahLst/>
            <a:rect l="l" t="t" r="r" b="b"/>
            <a:pathLst>
              <a:path w="337417" h="269934">
                <a:moveTo>
                  <a:pt x="168708" y="8435"/>
                </a:moveTo>
                <a:cubicBezTo>
                  <a:pt x="198970" y="8435"/>
                  <a:pt x="223539" y="33004"/>
                  <a:pt x="223539" y="63266"/>
                </a:cubicBezTo>
                <a:cubicBezTo>
                  <a:pt x="223539" y="93527"/>
                  <a:pt x="198970" y="118096"/>
                  <a:pt x="168708" y="118096"/>
                </a:cubicBezTo>
                <a:cubicBezTo>
                  <a:pt x="138447" y="118096"/>
                  <a:pt x="113878" y="93527"/>
                  <a:pt x="113878" y="63266"/>
                </a:cubicBezTo>
                <a:cubicBezTo>
                  <a:pt x="113878" y="33004"/>
                  <a:pt x="138447" y="8435"/>
                  <a:pt x="168708" y="8435"/>
                </a:cubicBezTo>
                <a:close/>
                <a:moveTo>
                  <a:pt x="50613" y="46395"/>
                </a:moveTo>
                <a:cubicBezTo>
                  <a:pt x="71563" y="46395"/>
                  <a:pt x="88572" y="63404"/>
                  <a:pt x="88572" y="84354"/>
                </a:cubicBezTo>
                <a:cubicBezTo>
                  <a:pt x="88572" y="105305"/>
                  <a:pt x="71563" y="122314"/>
                  <a:pt x="50613" y="122314"/>
                </a:cubicBezTo>
                <a:cubicBezTo>
                  <a:pt x="29662" y="122314"/>
                  <a:pt x="12653" y="105305"/>
                  <a:pt x="12653" y="84354"/>
                </a:cubicBezTo>
                <a:cubicBezTo>
                  <a:pt x="12653" y="63404"/>
                  <a:pt x="29662" y="46395"/>
                  <a:pt x="50613" y="46395"/>
                </a:cubicBezTo>
                <a:close/>
                <a:moveTo>
                  <a:pt x="0" y="219321"/>
                </a:moveTo>
                <a:cubicBezTo>
                  <a:pt x="0" y="182047"/>
                  <a:pt x="30209" y="151838"/>
                  <a:pt x="67483" y="151838"/>
                </a:cubicBezTo>
                <a:cubicBezTo>
                  <a:pt x="74232" y="151838"/>
                  <a:pt x="80769" y="152839"/>
                  <a:pt x="86938" y="154685"/>
                </a:cubicBezTo>
                <a:cubicBezTo>
                  <a:pt x="69592" y="174086"/>
                  <a:pt x="59048" y="199709"/>
                  <a:pt x="59048" y="227756"/>
                </a:cubicBezTo>
                <a:lnTo>
                  <a:pt x="59048" y="236192"/>
                </a:lnTo>
                <a:cubicBezTo>
                  <a:pt x="59048" y="242202"/>
                  <a:pt x="60313" y="247896"/>
                  <a:pt x="62580" y="253063"/>
                </a:cubicBezTo>
                <a:lnTo>
                  <a:pt x="16871" y="253063"/>
                </a:lnTo>
                <a:cubicBezTo>
                  <a:pt x="7539" y="253063"/>
                  <a:pt x="0" y="245524"/>
                  <a:pt x="0" y="236192"/>
                </a:cubicBezTo>
                <a:lnTo>
                  <a:pt x="0" y="219321"/>
                </a:lnTo>
                <a:close/>
                <a:moveTo>
                  <a:pt x="274837" y="253063"/>
                </a:moveTo>
                <a:cubicBezTo>
                  <a:pt x="277104" y="247896"/>
                  <a:pt x="278369" y="242202"/>
                  <a:pt x="278369" y="236192"/>
                </a:cubicBezTo>
                <a:lnTo>
                  <a:pt x="278369" y="227756"/>
                </a:lnTo>
                <a:cubicBezTo>
                  <a:pt x="278369" y="199709"/>
                  <a:pt x="267825" y="174086"/>
                  <a:pt x="250479" y="154685"/>
                </a:cubicBezTo>
                <a:cubicBezTo>
                  <a:pt x="256648" y="152839"/>
                  <a:pt x="263185" y="151838"/>
                  <a:pt x="269934" y="151838"/>
                </a:cubicBezTo>
                <a:cubicBezTo>
                  <a:pt x="307208" y="151838"/>
                  <a:pt x="337417" y="182047"/>
                  <a:pt x="337417" y="219321"/>
                </a:cubicBezTo>
                <a:lnTo>
                  <a:pt x="337417" y="236192"/>
                </a:lnTo>
                <a:cubicBezTo>
                  <a:pt x="337417" y="245524"/>
                  <a:pt x="329878" y="253063"/>
                  <a:pt x="320546" y="253063"/>
                </a:cubicBezTo>
                <a:lnTo>
                  <a:pt x="274837" y="253063"/>
                </a:lnTo>
                <a:close/>
                <a:moveTo>
                  <a:pt x="248845" y="84354"/>
                </a:moveTo>
                <a:cubicBezTo>
                  <a:pt x="248845" y="63404"/>
                  <a:pt x="265854" y="46395"/>
                  <a:pt x="286804" y="46395"/>
                </a:cubicBezTo>
                <a:cubicBezTo>
                  <a:pt x="307755" y="46395"/>
                  <a:pt x="324764" y="63404"/>
                  <a:pt x="324764" y="84354"/>
                </a:cubicBezTo>
                <a:cubicBezTo>
                  <a:pt x="324764" y="105305"/>
                  <a:pt x="307755" y="122314"/>
                  <a:pt x="286804" y="122314"/>
                </a:cubicBezTo>
                <a:cubicBezTo>
                  <a:pt x="265854" y="122314"/>
                  <a:pt x="248845" y="105305"/>
                  <a:pt x="248845" y="84354"/>
                </a:cubicBezTo>
                <a:close/>
                <a:moveTo>
                  <a:pt x="84354" y="227756"/>
                </a:moveTo>
                <a:cubicBezTo>
                  <a:pt x="84354" y="181151"/>
                  <a:pt x="122103" y="143402"/>
                  <a:pt x="168708" y="143402"/>
                </a:cubicBezTo>
                <a:cubicBezTo>
                  <a:pt x="215314" y="143402"/>
                  <a:pt x="253063" y="181151"/>
                  <a:pt x="253063" y="227756"/>
                </a:cubicBezTo>
                <a:lnTo>
                  <a:pt x="253063" y="236192"/>
                </a:lnTo>
                <a:cubicBezTo>
                  <a:pt x="253063" y="245524"/>
                  <a:pt x="245524" y="253063"/>
                  <a:pt x="236192" y="253063"/>
                </a:cubicBezTo>
                <a:lnTo>
                  <a:pt x="101225" y="253063"/>
                </a:lnTo>
                <a:cubicBezTo>
                  <a:pt x="91893" y="253063"/>
                  <a:pt x="84354" y="245524"/>
                  <a:pt x="84354" y="236192"/>
                </a:cubicBezTo>
                <a:lnTo>
                  <a:pt x="84354" y="227756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6" name="Text 10"/>
          <p:cNvSpPr/>
          <p:nvPr/>
        </p:nvSpPr>
        <p:spPr>
          <a:xfrm>
            <a:off x="6297120" y="4060080"/>
            <a:ext cx="350640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80" spc="-1" strike="noStrike">
                <a:solidFill>
                  <a:srgbClr val="f4f4f4"/>
                </a:solidFill>
                <a:latin typeface="Jersey 15"/>
                <a:ea typeface="Jersey 15"/>
              </a:rPr>
              <a:t>Social Experiences</a:t>
            </a:r>
            <a:endParaRPr b="0" lang="en-HK" sz="1280" spc="-1" strike="noStrike">
              <a:latin typeface="Arial"/>
            </a:endParaRPr>
          </a:p>
        </p:txBody>
      </p:sp>
      <p:sp>
        <p:nvSpPr>
          <p:cNvPr id="577" name="Shape 11"/>
          <p:cNvSpPr/>
          <p:nvPr/>
        </p:nvSpPr>
        <p:spPr>
          <a:xfrm>
            <a:off x="2268720" y="4640760"/>
            <a:ext cx="3740040" cy="941400"/>
          </a:xfrm>
          <a:custGeom>
            <a:avLst/>
            <a:gdLst/>
            <a:ah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38100">
            <a:solidFill>
              <a:srgbClr val="29ad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8" name="Shape 12"/>
          <p:cNvSpPr/>
          <p:nvPr/>
        </p:nvSpPr>
        <p:spPr>
          <a:xfrm>
            <a:off x="4039920" y="4798080"/>
            <a:ext cx="199080" cy="266760"/>
          </a:xfrm>
          <a:custGeom>
            <a:avLst/>
            <a:gdLst/>
            <a:ahLst/>
            <a:rect l="l" t="t" r="r" b="b"/>
            <a:pathLst>
              <a:path w="202450" h="269934">
                <a:moveTo>
                  <a:pt x="21141" y="246262"/>
                </a:moveTo>
                <a:lnTo>
                  <a:pt x="15236" y="251007"/>
                </a:lnTo>
                <a:cubicBezTo>
                  <a:pt x="13549" y="252325"/>
                  <a:pt x="11493" y="253063"/>
                  <a:pt x="9384" y="253063"/>
                </a:cubicBezTo>
                <a:cubicBezTo>
                  <a:pt x="4218" y="253063"/>
                  <a:pt x="0" y="248845"/>
                  <a:pt x="0" y="243678"/>
                </a:cubicBezTo>
                <a:lnTo>
                  <a:pt x="0" y="101225"/>
                </a:lnTo>
                <a:cubicBezTo>
                  <a:pt x="0" y="45340"/>
                  <a:pt x="45340" y="0"/>
                  <a:pt x="101225" y="0"/>
                </a:cubicBezTo>
                <a:cubicBezTo>
                  <a:pt x="157110" y="0"/>
                  <a:pt x="202450" y="45340"/>
                  <a:pt x="202450" y="101225"/>
                </a:cubicBezTo>
                <a:lnTo>
                  <a:pt x="202450" y="243678"/>
                </a:lnTo>
                <a:cubicBezTo>
                  <a:pt x="202450" y="248845"/>
                  <a:pt x="198232" y="253063"/>
                  <a:pt x="193066" y="253063"/>
                </a:cubicBezTo>
                <a:cubicBezTo>
                  <a:pt x="190957" y="253063"/>
                  <a:pt x="188901" y="252325"/>
                  <a:pt x="187214" y="251007"/>
                </a:cubicBezTo>
                <a:lnTo>
                  <a:pt x="181309" y="246262"/>
                </a:lnTo>
                <a:cubicBezTo>
                  <a:pt x="174244" y="240620"/>
                  <a:pt x="164016" y="241517"/>
                  <a:pt x="158059" y="248318"/>
                </a:cubicBezTo>
                <a:lnTo>
                  <a:pt x="141979" y="266770"/>
                </a:lnTo>
                <a:cubicBezTo>
                  <a:pt x="140239" y="268774"/>
                  <a:pt x="137656" y="269934"/>
                  <a:pt x="134967" y="269934"/>
                </a:cubicBezTo>
                <a:cubicBezTo>
                  <a:pt x="132278" y="269934"/>
                  <a:pt x="129747" y="268774"/>
                  <a:pt x="127955" y="266770"/>
                </a:cubicBezTo>
                <a:lnTo>
                  <a:pt x="113931" y="250690"/>
                </a:lnTo>
                <a:cubicBezTo>
                  <a:pt x="107235" y="242993"/>
                  <a:pt x="95268" y="242993"/>
                  <a:pt x="88519" y="250690"/>
                </a:cubicBezTo>
                <a:lnTo>
                  <a:pt x="74495" y="266770"/>
                </a:lnTo>
                <a:cubicBezTo>
                  <a:pt x="72756" y="268774"/>
                  <a:pt x="70172" y="269934"/>
                  <a:pt x="67483" y="269934"/>
                </a:cubicBezTo>
                <a:cubicBezTo>
                  <a:pt x="64795" y="269934"/>
                  <a:pt x="62264" y="268774"/>
                  <a:pt x="60471" y="266770"/>
                </a:cubicBezTo>
                <a:lnTo>
                  <a:pt x="44391" y="248318"/>
                </a:lnTo>
                <a:cubicBezTo>
                  <a:pt x="38434" y="241517"/>
                  <a:pt x="28206" y="240620"/>
                  <a:pt x="21141" y="246262"/>
                </a:cubicBezTo>
                <a:close/>
                <a:moveTo>
                  <a:pt x="84354" y="101225"/>
                </a:moveTo>
                <a:cubicBezTo>
                  <a:pt x="84354" y="91914"/>
                  <a:pt x="76795" y="84354"/>
                  <a:pt x="67483" y="84354"/>
                </a:cubicBezTo>
                <a:cubicBezTo>
                  <a:pt x="58172" y="84354"/>
                  <a:pt x="50613" y="91914"/>
                  <a:pt x="50613" y="101225"/>
                </a:cubicBezTo>
                <a:cubicBezTo>
                  <a:pt x="50613" y="110536"/>
                  <a:pt x="58172" y="118096"/>
                  <a:pt x="67483" y="118096"/>
                </a:cubicBezTo>
                <a:cubicBezTo>
                  <a:pt x="76795" y="118096"/>
                  <a:pt x="84354" y="110536"/>
                  <a:pt x="84354" y="101225"/>
                </a:cubicBezTo>
                <a:close/>
                <a:moveTo>
                  <a:pt x="134967" y="118096"/>
                </a:moveTo>
                <a:cubicBezTo>
                  <a:pt x="144278" y="118096"/>
                  <a:pt x="151838" y="110536"/>
                  <a:pt x="151838" y="101225"/>
                </a:cubicBezTo>
                <a:cubicBezTo>
                  <a:pt x="151838" y="91914"/>
                  <a:pt x="144278" y="84354"/>
                  <a:pt x="134967" y="84354"/>
                </a:cubicBezTo>
                <a:cubicBezTo>
                  <a:pt x="125656" y="84354"/>
                  <a:pt x="118096" y="91914"/>
                  <a:pt x="118096" y="101225"/>
                </a:cubicBezTo>
                <a:cubicBezTo>
                  <a:pt x="118096" y="110536"/>
                  <a:pt x="125656" y="118096"/>
                  <a:pt x="134967" y="118096"/>
                </a:cubicBez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9" name="Text 13"/>
          <p:cNvSpPr/>
          <p:nvPr/>
        </p:nvSpPr>
        <p:spPr>
          <a:xfrm>
            <a:off x="2385720" y="5176080"/>
            <a:ext cx="350640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80" spc="-1" strike="noStrike">
                <a:solidFill>
                  <a:srgbClr val="f4f4f4"/>
                </a:solidFill>
                <a:latin typeface="Jersey 15"/>
                <a:ea typeface="Jersey 15"/>
              </a:rPr>
              <a:t>Iconic Character Design</a:t>
            </a:r>
            <a:endParaRPr b="0" lang="en-HK" sz="1280" spc="-1" strike="noStrike">
              <a:latin typeface="Arial"/>
            </a:endParaRPr>
          </a:p>
        </p:txBody>
      </p:sp>
      <p:sp>
        <p:nvSpPr>
          <p:cNvPr id="580" name="Shape 14"/>
          <p:cNvSpPr/>
          <p:nvPr/>
        </p:nvSpPr>
        <p:spPr>
          <a:xfrm>
            <a:off x="6180120" y="4640760"/>
            <a:ext cx="3740040" cy="941400"/>
          </a:xfrm>
          <a:custGeom>
            <a:avLst/>
            <a:gdLst/>
            <a:ah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1" name="Shape 15"/>
          <p:cNvSpPr/>
          <p:nvPr/>
        </p:nvSpPr>
        <p:spPr>
          <a:xfrm>
            <a:off x="7917480" y="4798080"/>
            <a:ext cx="266760" cy="266760"/>
          </a:xfrm>
          <a:custGeom>
            <a:avLst/>
            <a:gdLst/>
            <a:ahLst/>
            <a:rect l="l" t="t" r="r" b="b"/>
            <a:pathLst>
              <a:path w="269934" h="269934">
                <a:moveTo>
                  <a:pt x="127059" y="45920"/>
                </a:moveTo>
                <a:lnTo>
                  <a:pt x="134967" y="56834"/>
                </a:lnTo>
                <a:lnTo>
                  <a:pt x="142875" y="45920"/>
                </a:lnTo>
                <a:cubicBezTo>
                  <a:pt x="156055" y="27679"/>
                  <a:pt x="177249" y="16871"/>
                  <a:pt x="199761" y="16871"/>
                </a:cubicBezTo>
                <a:cubicBezTo>
                  <a:pt x="238512" y="16871"/>
                  <a:pt x="269934" y="48293"/>
                  <a:pt x="269934" y="87043"/>
                </a:cubicBezTo>
                <a:lnTo>
                  <a:pt x="269934" y="88414"/>
                </a:lnTo>
                <a:cubicBezTo>
                  <a:pt x="269934" y="147567"/>
                  <a:pt x="196176" y="216263"/>
                  <a:pt x="157690" y="245629"/>
                </a:cubicBezTo>
                <a:cubicBezTo>
                  <a:pt x="151152" y="250585"/>
                  <a:pt x="143139" y="253063"/>
                  <a:pt x="134967" y="253063"/>
                </a:cubicBezTo>
                <a:cubicBezTo>
                  <a:pt x="126795" y="253063"/>
                  <a:pt x="118729" y="250638"/>
                  <a:pt x="112244" y="245629"/>
                </a:cubicBezTo>
                <a:cubicBezTo>
                  <a:pt x="73757" y="216263"/>
                  <a:pt x="0" y="147567"/>
                  <a:pt x="0" y="88414"/>
                </a:cubicBezTo>
                <a:lnTo>
                  <a:pt x="0" y="87043"/>
                </a:lnTo>
                <a:cubicBezTo>
                  <a:pt x="0" y="48293"/>
                  <a:pt x="31422" y="16871"/>
                  <a:pt x="70172" y="16871"/>
                </a:cubicBezTo>
                <a:cubicBezTo>
                  <a:pt x="92684" y="16871"/>
                  <a:pt x="113878" y="27679"/>
                  <a:pt x="127059" y="45920"/>
                </a:cubicBez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2" name="Text 16"/>
          <p:cNvSpPr/>
          <p:nvPr/>
        </p:nvSpPr>
        <p:spPr>
          <a:xfrm>
            <a:off x="6297120" y="5176080"/>
            <a:ext cx="350640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80" spc="-1" strike="noStrike">
                <a:solidFill>
                  <a:srgbClr val="f4f4f4"/>
                </a:solidFill>
                <a:latin typeface="Jersey 15"/>
                <a:ea typeface="Jersey 15"/>
              </a:rPr>
              <a:t>Games for Everyone</a:t>
            </a:r>
            <a:endParaRPr b="0" lang="en-HK" sz="1280" spc="-1" strike="noStrike">
              <a:latin typeface="Arial"/>
            </a:endParaRPr>
          </a:p>
        </p:txBody>
      </p:sp>
      <p:sp>
        <p:nvSpPr>
          <p:cNvPr id="583" name="Text 17"/>
          <p:cNvSpPr/>
          <p:nvPr/>
        </p:nvSpPr>
        <p:spPr>
          <a:xfrm>
            <a:off x="2210400" y="5814720"/>
            <a:ext cx="7762680" cy="29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en-US" sz="1410" spc="-1" strike="noStrike">
                <a:solidFill>
                  <a:srgbClr val="f4f4f4"/>
                </a:solidFill>
                <a:latin typeface="Jersey 15"/>
                <a:ea typeface="Jersey 15"/>
              </a:rPr>
              <a:t>Every mobile game, esports tournament, and modern arcade traces its roots to those </a:t>
            </a:r>
            <a:r>
              <a:rPr b="1" lang="en-US" sz="1410" spc="-1" strike="noStrike">
                <a:solidFill>
                  <a:srgbClr val="a7f070"/>
                </a:solidFill>
                <a:latin typeface="Jersey 15"/>
                <a:ea typeface="Jersey 15"/>
              </a:rPr>
              <a:t>neon-lit rooms of the 1980s</a:t>
            </a:r>
            <a:r>
              <a:rPr b="0" lang="en-US" sz="1410" spc="-1" strike="noStrike">
                <a:solidFill>
                  <a:srgbClr val="f4f4f4"/>
                </a:solidFill>
                <a:latin typeface="Jersey 15"/>
                <a:ea typeface="Jersey 15"/>
              </a:rPr>
              <a:t>.</a:t>
            </a:r>
            <a:endParaRPr b="0" lang="en-HK" sz="1410" spc="-1" strike="noStrike">
              <a:latin typeface="Arial"/>
            </a:endParaRPr>
          </a:p>
        </p:txBody>
      </p:sp>
      <p:sp>
        <p:nvSpPr>
          <p:cNvPr id="584" name="Text 18"/>
          <p:cNvSpPr/>
          <p:nvPr/>
        </p:nvSpPr>
        <p:spPr>
          <a:xfrm>
            <a:off x="2187720" y="6395040"/>
            <a:ext cx="780768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130" spc="-1" strike="noStrike">
                <a:solidFill>
                  <a:srgbClr val="ffcd75"/>
                </a:solidFill>
                <a:latin typeface="Jersey 20 Charted"/>
                <a:ea typeface="Jersey 20 Charted"/>
              </a:rPr>
              <a:t>INSERT COIN TO CONTINUE</a:t>
            </a:r>
            <a:endParaRPr b="0" lang="en-HK" sz="2130" spc="-1" strike="noStrike">
              <a:latin typeface="Arial"/>
            </a:endParaRPr>
          </a:p>
        </p:txBody>
      </p:sp>
      <p:sp>
        <p:nvSpPr>
          <p:cNvPr id="585" name="Text 19"/>
          <p:cNvSpPr/>
          <p:nvPr/>
        </p:nvSpPr>
        <p:spPr>
          <a:xfrm>
            <a:off x="2210400" y="6791040"/>
            <a:ext cx="776268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410" spc="-1" strike="noStrike">
                <a:solidFill>
                  <a:srgbClr val="29adff"/>
                </a:solidFill>
                <a:latin typeface="Jersey 15"/>
                <a:ea typeface="Jersey 15"/>
              </a:rPr>
              <a:t>The game never really ended.</a:t>
            </a:r>
            <a:endParaRPr b="0" lang="en-HK" sz="1410" spc="-1" strike="noStrike">
              <a:latin typeface="Arial"/>
            </a:endParaRPr>
          </a:p>
        </p:txBody>
      </p:sp>
      <p:sp>
        <p:nvSpPr>
          <p:cNvPr id="586" name="Shape 20"/>
          <p:cNvSpPr/>
          <p:nvPr/>
        </p:nvSpPr>
        <p:spPr>
          <a:xfrm>
            <a:off x="5734800" y="5920560"/>
            <a:ext cx="140760" cy="140760"/>
          </a:xfrm>
          <a:custGeom>
            <a:avLst/>
            <a:gdLst/>
            <a:ah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7" name="Shape 21"/>
          <p:cNvSpPr/>
          <p:nvPr/>
        </p:nvSpPr>
        <p:spPr>
          <a:xfrm>
            <a:off x="6022800" y="5920560"/>
            <a:ext cx="140760" cy="140760"/>
          </a:xfrm>
          <a:custGeom>
            <a:avLst/>
            <a:gdLst/>
            <a:ah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8" name="Shape 22"/>
          <p:cNvSpPr/>
          <p:nvPr/>
        </p:nvSpPr>
        <p:spPr>
          <a:xfrm>
            <a:off x="6310800" y="5920560"/>
            <a:ext cx="140760" cy="140760"/>
          </a:xfrm>
          <a:custGeom>
            <a:avLst/>
            <a:gdLst/>
            <a:ah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</TotalTime>
  <Application>LibreOffice/7.3.7.2$Linux_X86_64 LibreOffice_project/30$Build-2</Application>
  <AppVersion>15.0000</AppVers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2026-03-18T12:09:07Z</dcterms:created>
  <dc:creator>Kimi</dc:creator>
  <dc:description/>
  <dc:language>en-HK</dc:language>
  <cp:lastModifiedBy/>
  <dcterms:modified xsi:type="dcterms:W3CDTF">2026-04-27T02:10:51Z</dcterms:modified>
  <cp:revision>12</cp:revision>
  <dc:subject>The Golden Age of Arcade Games</dc:subject>
  <dc:title>The Golden Age of Arcade Games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{"Label":"The Golden Age of Arcade Games","ContentProducer":"001191110108MACG2KBH8F10000","ProduceID":"19d00d2d-f972-8642-8000-0000cf20ea95","ReservedCode1":"","ContentPropagator":"001191110108MACG2KBH8F20000","PropagateID":"19d00d2d-f972-8642-8000-0000cf20ea95","ReservedCode2":""}</vt:lpwstr>
  </property>
  <property fmtid="{D5CDD505-2E9C-101B-9397-08002B2CF9AE}" pid="3" name="Notes">
    <vt:i4>20</vt:i4>
  </property>
  <property fmtid="{D5CDD505-2E9C-101B-9397-08002B2CF9AE}" pid="4" name="PresentationFormat">
    <vt:lpwstr>On-screen Show (16:9)</vt:lpwstr>
  </property>
  <property fmtid="{D5CDD505-2E9C-101B-9397-08002B2CF9AE}" pid="5" name="Slides">
    <vt:i4>20</vt:i4>
  </property>
</Properties>
</file>