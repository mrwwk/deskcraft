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4.ftcdn.net/27b3ff25ceec35b7e829bf189de1611880e01a03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21556" r="21556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91919">
                  <a:alpha val="80000"/>
                </a:srgbClr>
              </a:gs>
              <a:gs pos="50000">
                <a:srgbClr val="191919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" name="Shape 2"/>
          <p:cNvSpPr/>
          <p:nvPr/>
        </p:nvSpPr>
        <p:spPr>
          <a:xfrm>
            <a:off x="495300" y="495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952500" y="514350"/>
            <a:ext cx="1990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INTERIM FINANCIAL REPORT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05740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Tencent Holdings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0005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267200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2025 Interim Report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48006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and Six Months Ended 30 June 2025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9575" y="63055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2" name="Text 9"/>
          <p:cNvSpPr/>
          <p:nvPr/>
        </p:nvSpPr>
        <p:spPr>
          <a:xfrm>
            <a:off x="647700" y="6286500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August 2025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757139" y="63055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52388" y="104775"/>
                </a:moveTo>
                <a:lnTo>
                  <a:pt x="61912" y="104775"/>
                </a:lnTo>
                <a:cubicBezTo>
                  <a:pt x="67181" y="104775"/>
                  <a:pt x="71438" y="109031"/>
                  <a:pt x="71438" y="114300"/>
                </a:cubicBezTo>
                <a:lnTo>
                  <a:pt x="71438" y="138113"/>
                </a:lnTo>
                <a:lnTo>
                  <a:pt x="42863" y="138113"/>
                </a:lnTo>
                <a:lnTo>
                  <a:pt x="42863" y="114300"/>
                </a:lnTo>
                <a:cubicBezTo>
                  <a:pt x="42863" y="109031"/>
                  <a:pt x="47119" y="104775"/>
                  <a:pt x="52388" y="104775"/>
                </a:cubicBezTo>
                <a:close/>
                <a:moveTo>
                  <a:pt x="28575" y="33338"/>
                </a:moveTo>
                <a:cubicBezTo>
                  <a:pt x="28575" y="30718"/>
                  <a:pt x="30718" y="28575"/>
                  <a:pt x="33338" y="28575"/>
                </a:cubicBezTo>
                <a:lnTo>
                  <a:pt x="42863" y="28575"/>
                </a:lnTo>
                <a:cubicBezTo>
                  <a:pt x="45482" y="28575"/>
                  <a:pt x="47625" y="30718"/>
                  <a:pt x="47625" y="33338"/>
                </a:cubicBezTo>
                <a:lnTo>
                  <a:pt x="47625" y="42863"/>
                </a:lnTo>
                <a:cubicBezTo>
                  <a:pt x="47625" y="45482"/>
                  <a:pt x="45482" y="47625"/>
                  <a:pt x="42863" y="47625"/>
                </a:cubicBezTo>
                <a:lnTo>
                  <a:pt x="33338" y="47625"/>
                </a:lnTo>
                <a:cubicBezTo>
                  <a:pt x="30718" y="47625"/>
                  <a:pt x="28575" y="45482"/>
                  <a:pt x="28575" y="42863"/>
                </a:cubicBezTo>
                <a:lnTo>
                  <a:pt x="28575" y="33338"/>
                </a:lnTo>
                <a:close/>
                <a:moveTo>
                  <a:pt x="71438" y="28575"/>
                </a:moveTo>
                <a:lnTo>
                  <a:pt x="80962" y="28575"/>
                </a:lnTo>
                <a:cubicBezTo>
                  <a:pt x="83582" y="28575"/>
                  <a:pt x="85725" y="30718"/>
                  <a:pt x="85725" y="33338"/>
                </a:cubicBezTo>
                <a:lnTo>
                  <a:pt x="85725" y="42863"/>
                </a:lnTo>
                <a:cubicBezTo>
                  <a:pt x="85725" y="45482"/>
                  <a:pt x="83582" y="47625"/>
                  <a:pt x="80962" y="47625"/>
                </a:cubicBezTo>
                <a:lnTo>
                  <a:pt x="71438" y="47625"/>
                </a:lnTo>
                <a:cubicBezTo>
                  <a:pt x="68818" y="47625"/>
                  <a:pt x="66675" y="45482"/>
                  <a:pt x="66675" y="42863"/>
                </a:cubicBezTo>
                <a:lnTo>
                  <a:pt x="66675" y="33338"/>
                </a:lnTo>
                <a:cubicBezTo>
                  <a:pt x="66675" y="30718"/>
                  <a:pt x="68818" y="28575"/>
                  <a:pt x="71438" y="28575"/>
                </a:cubicBezTo>
                <a:close/>
                <a:moveTo>
                  <a:pt x="28575" y="71438"/>
                </a:moveTo>
                <a:cubicBezTo>
                  <a:pt x="28575" y="68818"/>
                  <a:pt x="30718" y="66675"/>
                  <a:pt x="33338" y="66675"/>
                </a:cubicBezTo>
                <a:lnTo>
                  <a:pt x="42863" y="66675"/>
                </a:lnTo>
                <a:cubicBezTo>
                  <a:pt x="45482" y="66675"/>
                  <a:pt x="47625" y="68818"/>
                  <a:pt x="47625" y="71438"/>
                </a:cubicBezTo>
                <a:lnTo>
                  <a:pt x="47625" y="80962"/>
                </a:lnTo>
                <a:cubicBezTo>
                  <a:pt x="47625" y="83582"/>
                  <a:pt x="45482" y="85725"/>
                  <a:pt x="42863" y="85725"/>
                </a:cubicBezTo>
                <a:lnTo>
                  <a:pt x="33338" y="85725"/>
                </a:lnTo>
                <a:cubicBezTo>
                  <a:pt x="30718" y="85725"/>
                  <a:pt x="28575" y="83582"/>
                  <a:pt x="28575" y="80962"/>
                </a:cubicBezTo>
                <a:lnTo>
                  <a:pt x="28575" y="71438"/>
                </a:lnTo>
                <a:close/>
                <a:moveTo>
                  <a:pt x="71438" y="66675"/>
                </a:moveTo>
                <a:lnTo>
                  <a:pt x="80962" y="66675"/>
                </a:lnTo>
                <a:cubicBezTo>
                  <a:pt x="83582" y="66675"/>
                  <a:pt x="85725" y="68818"/>
                  <a:pt x="85725" y="71438"/>
                </a:cubicBezTo>
                <a:lnTo>
                  <a:pt x="85725" y="80962"/>
                </a:lnTo>
                <a:cubicBezTo>
                  <a:pt x="85725" y="83582"/>
                  <a:pt x="83582" y="85725"/>
                  <a:pt x="80962" y="85725"/>
                </a:cubicBezTo>
                <a:lnTo>
                  <a:pt x="71438" y="85725"/>
                </a:lnTo>
                <a:cubicBezTo>
                  <a:pt x="68818" y="85725"/>
                  <a:pt x="66675" y="83582"/>
                  <a:pt x="66675" y="80962"/>
                </a:cubicBezTo>
                <a:lnTo>
                  <a:pt x="66675" y="71438"/>
                </a:lnTo>
                <a:cubicBezTo>
                  <a:pt x="66675" y="68818"/>
                  <a:pt x="68818" y="66675"/>
                  <a:pt x="71438" y="6667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4" name="Text 11"/>
          <p:cNvSpPr/>
          <p:nvPr/>
        </p:nvSpPr>
        <p:spPr>
          <a:xfrm>
            <a:off x="1985739" y="6286500"/>
            <a:ext cx="79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HKEX: 0700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PRESENTATION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414463"/>
            <a:ext cx="3676650" cy="1800225"/>
          </a:xfrm>
          <a:custGeom>
            <a:avLst/>
            <a:gdLst/>
            <a:ahLst/>
            <a:cxnLst/>
            <a:rect l="l" t="t" r="r" b="b"/>
            <a:pathLst>
              <a:path w="3676650" h="1800225">
                <a:moveTo>
                  <a:pt x="114296" y="0"/>
                </a:moveTo>
                <a:lnTo>
                  <a:pt x="3562354" y="0"/>
                </a:lnTo>
                <a:cubicBezTo>
                  <a:pt x="3625436" y="0"/>
                  <a:pt x="3676650" y="51214"/>
                  <a:pt x="3676650" y="114296"/>
                </a:cubicBezTo>
                <a:lnTo>
                  <a:pt x="3676650" y="1685929"/>
                </a:lnTo>
                <a:cubicBezTo>
                  <a:pt x="3676650" y="1749011"/>
                  <a:pt x="3625436" y="1800225"/>
                  <a:pt x="3562354" y="1800225"/>
                </a:cubicBezTo>
                <a:lnTo>
                  <a:pt x="114296" y="1800225"/>
                </a:lnTo>
                <a:cubicBezTo>
                  <a:pt x="51214" y="1800225"/>
                  <a:pt x="0" y="1749011"/>
                  <a:pt x="0" y="16859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9125" y="1647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48829" y="1743075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9125" y="2257425"/>
            <a:ext cx="330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9125" y="2600325"/>
            <a:ext cx="3276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performance highlights and strategic achievements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59238" y="1414463"/>
            <a:ext cx="3676650" cy="1800225"/>
          </a:xfrm>
          <a:custGeom>
            <a:avLst/>
            <a:gdLst/>
            <a:ahLst/>
            <a:cxnLst/>
            <a:rect l="l" t="t" r="r" b="b"/>
            <a:pathLst>
              <a:path w="3676650" h="1800225">
                <a:moveTo>
                  <a:pt x="114296" y="0"/>
                </a:moveTo>
                <a:lnTo>
                  <a:pt x="3562354" y="0"/>
                </a:lnTo>
                <a:cubicBezTo>
                  <a:pt x="3625436" y="0"/>
                  <a:pt x="3676650" y="51214"/>
                  <a:pt x="3676650" y="114296"/>
                </a:cubicBezTo>
                <a:lnTo>
                  <a:pt x="3676650" y="1685929"/>
                </a:lnTo>
                <a:cubicBezTo>
                  <a:pt x="3676650" y="1749011"/>
                  <a:pt x="3625436" y="1800225"/>
                  <a:pt x="3562354" y="1800225"/>
                </a:cubicBezTo>
                <a:lnTo>
                  <a:pt x="114296" y="1800225"/>
                </a:lnTo>
                <a:cubicBezTo>
                  <a:pt x="51214" y="1800225"/>
                  <a:pt x="0" y="1749011"/>
                  <a:pt x="0" y="16859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2600" y="1647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605040" y="1743075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92600" y="2257425"/>
            <a:ext cx="330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 Performance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92600" y="2600325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Q2 and H1 2025 results with YoY comparisons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32713" y="1414463"/>
            <a:ext cx="3676650" cy="1800225"/>
          </a:xfrm>
          <a:custGeom>
            <a:avLst/>
            <a:gdLst/>
            <a:ahLst/>
            <a:cxnLst/>
            <a:rect l="l" t="t" r="r" b="b"/>
            <a:pathLst>
              <a:path w="3676650" h="1800225">
                <a:moveTo>
                  <a:pt x="114296" y="0"/>
                </a:moveTo>
                <a:lnTo>
                  <a:pt x="3562354" y="0"/>
                </a:lnTo>
                <a:cubicBezTo>
                  <a:pt x="3625436" y="0"/>
                  <a:pt x="3676650" y="51214"/>
                  <a:pt x="3676650" y="114296"/>
                </a:cubicBezTo>
                <a:lnTo>
                  <a:pt x="3676650" y="1685929"/>
                </a:lnTo>
                <a:cubicBezTo>
                  <a:pt x="3676650" y="1749011"/>
                  <a:pt x="3625436" y="1800225"/>
                  <a:pt x="3562354" y="1800225"/>
                </a:cubicBezTo>
                <a:lnTo>
                  <a:pt x="114296" y="1800225"/>
                </a:lnTo>
                <a:cubicBezTo>
                  <a:pt x="51214" y="1800225"/>
                  <a:pt x="0" y="1749011"/>
                  <a:pt x="0" y="16859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075" y="1647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477696" y="1743075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66075" y="2257425"/>
            <a:ext cx="330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by Segment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66075" y="2600325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Breakdown across VAS, Marketing, and FinTech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5763" y="3414713"/>
            <a:ext cx="3676650" cy="1609725"/>
          </a:xfrm>
          <a:custGeom>
            <a:avLst/>
            <a:gdLst/>
            <a:ahLst/>
            <a:cxnLst/>
            <a:rect l="l" t="t" r="r" b="b"/>
            <a:pathLst>
              <a:path w="3676650" h="1609725">
                <a:moveTo>
                  <a:pt x="114307" y="0"/>
                </a:moveTo>
                <a:lnTo>
                  <a:pt x="3562343" y="0"/>
                </a:lnTo>
                <a:cubicBezTo>
                  <a:pt x="3625431" y="0"/>
                  <a:pt x="3676650" y="51219"/>
                  <a:pt x="3676650" y="114307"/>
                </a:cubicBezTo>
                <a:lnTo>
                  <a:pt x="3676650" y="1495418"/>
                </a:lnTo>
                <a:cubicBezTo>
                  <a:pt x="3676650" y="1558506"/>
                  <a:pt x="3625431" y="1609725"/>
                  <a:pt x="3562343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125" y="36480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30821" y="3743325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9125" y="4257675"/>
            <a:ext cx="330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Profitability &amp; Margins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9125" y="4600575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Gross margin expansion and cost efficiency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59238" y="3414713"/>
            <a:ext cx="3676650" cy="1609725"/>
          </a:xfrm>
          <a:custGeom>
            <a:avLst/>
            <a:gdLst/>
            <a:ahLst/>
            <a:cxnLst/>
            <a:rect l="l" t="t" r="r" b="b"/>
            <a:pathLst>
              <a:path w="3676650" h="1609725">
                <a:moveTo>
                  <a:pt x="114307" y="0"/>
                </a:moveTo>
                <a:lnTo>
                  <a:pt x="3562343" y="0"/>
                </a:lnTo>
                <a:cubicBezTo>
                  <a:pt x="3625431" y="0"/>
                  <a:pt x="3676650" y="51219"/>
                  <a:pt x="3676650" y="114307"/>
                </a:cubicBezTo>
                <a:lnTo>
                  <a:pt x="3676650" y="1495418"/>
                </a:lnTo>
                <a:cubicBezTo>
                  <a:pt x="3676650" y="1558506"/>
                  <a:pt x="3625431" y="1609725"/>
                  <a:pt x="3562343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92600" y="36480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605561" y="3743325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92600" y="4257675"/>
            <a:ext cx="330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Games Performance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92600" y="4600575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Domestic and international games growth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32713" y="3414713"/>
            <a:ext cx="3676650" cy="1609725"/>
          </a:xfrm>
          <a:custGeom>
            <a:avLst/>
            <a:gdLst/>
            <a:ahLst/>
            <a:cxnLst/>
            <a:rect l="l" t="t" r="r" b="b"/>
            <a:pathLst>
              <a:path w="3676650" h="1609725">
                <a:moveTo>
                  <a:pt x="114307" y="0"/>
                </a:moveTo>
                <a:lnTo>
                  <a:pt x="3562343" y="0"/>
                </a:lnTo>
                <a:cubicBezTo>
                  <a:pt x="3625431" y="0"/>
                  <a:pt x="3676650" y="51219"/>
                  <a:pt x="3676650" y="114307"/>
                </a:cubicBezTo>
                <a:lnTo>
                  <a:pt x="3676650" y="1495418"/>
                </a:lnTo>
                <a:cubicBezTo>
                  <a:pt x="3676650" y="1558506"/>
                  <a:pt x="3625431" y="1609725"/>
                  <a:pt x="3562343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66075" y="36480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476878" y="3743325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66075" y="4257675"/>
            <a:ext cx="330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Integration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66075" y="4600575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innovation across all platforms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5763" y="5224463"/>
            <a:ext cx="3676650" cy="1609725"/>
          </a:xfrm>
          <a:custGeom>
            <a:avLst/>
            <a:gdLst/>
            <a:ahLst/>
            <a:cxnLst/>
            <a:rect l="l" t="t" r="r" b="b"/>
            <a:pathLst>
              <a:path w="3676650" h="1609725">
                <a:moveTo>
                  <a:pt x="114307" y="0"/>
                </a:moveTo>
                <a:lnTo>
                  <a:pt x="3562343" y="0"/>
                </a:lnTo>
                <a:cubicBezTo>
                  <a:pt x="3625431" y="0"/>
                  <a:pt x="3676650" y="51219"/>
                  <a:pt x="3676650" y="114307"/>
                </a:cubicBezTo>
                <a:lnTo>
                  <a:pt x="3676650" y="1495418"/>
                </a:lnTo>
                <a:cubicBezTo>
                  <a:pt x="3676650" y="1558506"/>
                  <a:pt x="3625431" y="1609725"/>
                  <a:pt x="3562343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9125" y="5457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38188" y="5553075"/>
            <a:ext cx="31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19125" y="6067425"/>
            <a:ext cx="330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Metrics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19125" y="6410325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 engagement and subscriber data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259238" y="5224463"/>
            <a:ext cx="3676650" cy="1609725"/>
          </a:xfrm>
          <a:custGeom>
            <a:avLst/>
            <a:gdLst/>
            <a:ahLst/>
            <a:cxnLst/>
            <a:rect l="l" t="t" r="r" b="b"/>
            <a:pathLst>
              <a:path w="3676650" h="1609725">
                <a:moveTo>
                  <a:pt x="114307" y="0"/>
                </a:moveTo>
                <a:lnTo>
                  <a:pt x="3562343" y="0"/>
                </a:lnTo>
                <a:cubicBezTo>
                  <a:pt x="3625431" y="0"/>
                  <a:pt x="3676650" y="51219"/>
                  <a:pt x="3676650" y="114307"/>
                </a:cubicBezTo>
                <a:lnTo>
                  <a:pt x="3676650" y="1495418"/>
                </a:lnTo>
                <a:cubicBezTo>
                  <a:pt x="3676650" y="1558506"/>
                  <a:pt x="3625431" y="1609725"/>
                  <a:pt x="3562343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92600" y="5457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601914" y="5553075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492600" y="6067425"/>
            <a:ext cx="330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Investment Portfolio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492600" y="6410325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 position and liquidity analysis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132713" y="5224463"/>
            <a:ext cx="3676650" cy="1609725"/>
          </a:xfrm>
          <a:custGeom>
            <a:avLst/>
            <a:gdLst/>
            <a:ahLst/>
            <a:cxnLst/>
            <a:rect l="l" t="t" r="r" b="b"/>
            <a:pathLst>
              <a:path w="3676650" h="1609725">
                <a:moveTo>
                  <a:pt x="114307" y="0"/>
                </a:moveTo>
                <a:lnTo>
                  <a:pt x="3562343" y="0"/>
                </a:lnTo>
                <a:cubicBezTo>
                  <a:pt x="3625431" y="0"/>
                  <a:pt x="3676650" y="51219"/>
                  <a:pt x="3676650" y="114307"/>
                </a:cubicBezTo>
                <a:lnTo>
                  <a:pt x="3676650" y="1495418"/>
                </a:lnTo>
                <a:cubicBezTo>
                  <a:pt x="3676650" y="1558506"/>
                  <a:pt x="3625431" y="1609725"/>
                  <a:pt x="3562343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366075" y="5457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8476878" y="5553075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366075" y="6067425"/>
            <a:ext cx="330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Outlook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366075" y="6410325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priorities and growth initiatives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928" y="378928"/>
            <a:ext cx="11500457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spc="52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8928" y="644177"/>
            <a:ext cx="11604662" cy="378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8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3664" y="1255198"/>
            <a:ext cx="6650182" cy="1733594"/>
          </a:xfrm>
          <a:custGeom>
            <a:avLst/>
            <a:gdLst/>
            <a:ahLst/>
            <a:cxnLst/>
            <a:rect l="l" t="t" r="r" b="b"/>
            <a:pathLst>
              <a:path w="6650182" h="1733594">
                <a:moveTo>
                  <a:pt x="113672" y="0"/>
                </a:moveTo>
                <a:lnTo>
                  <a:pt x="6536510" y="0"/>
                </a:lnTo>
                <a:cubicBezTo>
                  <a:pt x="6599289" y="0"/>
                  <a:pt x="6650182" y="50893"/>
                  <a:pt x="6650182" y="113672"/>
                </a:cubicBezTo>
                <a:lnTo>
                  <a:pt x="6650182" y="1619923"/>
                </a:lnTo>
                <a:cubicBezTo>
                  <a:pt x="6650182" y="1682702"/>
                  <a:pt x="6599289" y="1733594"/>
                  <a:pt x="6536510" y="1733594"/>
                </a:cubicBezTo>
                <a:lnTo>
                  <a:pt x="113672" y="1733594"/>
                </a:lnTo>
                <a:cubicBezTo>
                  <a:pt x="50893" y="1733594"/>
                  <a:pt x="0" y="1682702"/>
                  <a:pt x="0" y="1619923"/>
                </a:cubicBezTo>
                <a:lnTo>
                  <a:pt x="0" y="113672"/>
                </a:lnTo>
                <a:cubicBezTo>
                  <a:pt x="0" y="50935"/>
                  <a:pt x="50935" y="0"/>
                  <a:pt x="11367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5758" y="1487291"/>
            <a:ext cx="378928" cy="378928"/>
          </a:xfrm>
          <a:custGeom>
            <a:avLst/>
            <a:gdLst/>
            <a:ahLst/>
            <a:cxn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29436" y="1600970"/>
            <a:ext cx="151571" cy="151571"/>
          </a:xfrm>
          <a:custGeom>
            <a:avLst/>
            <a:gdLst/>
            <a:ahLst/>
            <a:cxnLst/>
            <a:rect l="l" t="t" r="r" b="b"/>
            <a:pathLst>
              <a:path w="151571" h="151571">
                <a:moveTo>
                  <a:pt x="37893" y="94732"/>
                </a:moveTo>
                <a:lnTo>
                  <a:pt x="7253" y="94732"/>
                </a:lnTo>
                <a:cubicBezTo>
                  <a:pt x="-118" y="94732"/>
                  <a:pt x="-4648" y="86709"/>
                  <a:pt x="-859" y="80374"/>
                </a:cubicBezTo>
                <a:lnTo>
                  <a:pt x="14802" y="54264"/>
                </a:lnTo>
                <a:cubicBezTo>
                  <a:pt x="17377" y="49971"/>
                  <a:pt x="21996" y="47366"/>
                  <a:pt x="26999" y="47366"/>
                </a:cubicBezTo>
                <a:lnTo>
                  <a:pt x="55122" y="47366"/>
                </a:lnTo>
                <a:cubicBezTo>
                  <a:pt x="77651" y="9207"/>
                  <a:pt x="111251" y="7283"/>
                  <a:pt x="133720" y="10569"/>
                </a:cubicBezTo>
                <a:cubicBezTo>
                  <a:pt x="137509" y="11131"/>
                  <a:pt x="140470" y="14091"/>
                  <a:pt x="141003" y="17851"/>
                </a:cubicBezTo>
                <a:cubicBezTo>
                  <a:pt x="144289" y="40320"/>
                  <a:pt x="142364" y="73921"/>
                  <a:pt x="104205" y="96449"/>
                </a:cubicBezTo>
                <a:lnTo>
                  <a:pt x="104205" y="124572"/>
                </a:lnTo>
                <a:cubicBezTo>
                  <a:pt x="104205" y="129576"/>
                  <a:pt x="101600" y="134194"/>
                  <a:pt x="97307" y="136769"/>
                </a:cubicBezTo>
                <a:lnTo>
                  <a:pt x="71197" y="152430"/>
                </a:lnTo>
                <a:cubicBezTo>
                  <a:pt x="64891" y="156219"/>
                  <a:pt x="56839" y="151660"/>
                  <a:pt x="56839" y="144318"/>
                </a:cubicBezTo>
                <a:lnTo>
                  <a:pt x="56839" y="113678"/>
                </a:lnTo>
                <a:cubicBezTo>
                  <a:pt x="56839" y="103228"/>
                  <a:pt x="48343" y="94732"/>
                  <a:pt x="37893" y="94732"/>
                </a:cubicBezTo>
                <a:lnTo>
                  <a:pt x="37863" y="94732"/>
                </a:lnTo>
                <a:close/>
                <a:moveTo>
                  <a:pt x="118415" y="47366"/>
                </a:moveTo>
                <a:cubicBezTo>
                  <a:pt x="118415" y="39523"/>
                  <a:pt x="112048" y="33156"/>
                  <a:pt x="104205" y="33156"/>
                </a:cubicBezTo>
                <a:cubicBezTo>
                  <a:pt x="96363" y="33156"/>
                  <a:pt x="89995" y="39523"/>
                  <a:pt x="89995" y="47366"/>
                </a:cubicBezTo>
                <a:cubicBezTo>
                  <a:pt x="89995" y="55209"/>
                  <a:pt x="96363" y="61576"/>
                  <a:pt x="104205" y="61576"/>
                </a:cubicBezTo>
                <a:cubicBezTo>
                  <a:pt x="112048" y="61576"/>
                  <a:pt x="118415" y="55209"/>
                  <a:pt x="118415" y="4736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108364" y="1544131"/>
            <a:ext cx="2415664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Double-Digit Growth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5758" y="2017790"/>
            <a:ext cx="6261781" cy="738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Delivered robust performance in Q2 and H1 2025 with </a:t>
            </a:r>
            <a:pPr>
              <a:lnSpc>
                <a:spcPct val="140000"/>
              </a:lnSpc>
            </a:pPr>
            <a:r>
              <a:rPr lang="en-US" sz="119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15% YoY revenue growth</a:t>
            </a:r>
            <a:pPr>
              <a:lnSpc>
                <a:spcPct val="140000"/>
              </a:lnSpc>
            </a:pPr>
            <a:r>
              <a:rPr lang="en-US" sz="119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pPr>
              <a:lnSpc>
                <a:spcPct val="140000"/>
              </a:lnSpc>
            </a:pPr>
            <a:r>
              <a:rPr lang="en-US" sz="119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17% profit increase</a:t>
            </a:r>
            <a:pPr>
              <a:lnSpc>
                <a:spcPct val="140000"/>
              </a:lnSpc>
            </a:pPr>
            <a:r>
              <a:rPr lang="en-US" sz="119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Q2, driven by strategic AI investments and operational excellence across all business segments.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3664" y="3187730"/>
            <a:ext cx="6650182" cy="1733594"/>
          </a:xfrm>
          <a:custGeom>
            <a:avLst/>
            <a:gdLst/>
            <a:ahLst/>
            <a:cxnLst/>
            <a:rect l="l" t="t" r="r" b="b"/>
            <a:pathLst>
              <a:path w="6650182" h="1733594">
                <a:moveTo>
                  <a:pt x="113672" y="0"/>
                </a:moveTo>
                <a:lnTo>
                  <a:pt x="6536510" y="0"/>
                </a:lnTo>
                <a:cubicBezTo>
                  <a:pt x="6599289" y="0"/>
                  <a:pt x="6650182" y="50893"/>
                  <a:pt x="6650182" y="113672"/>
                </a:cubicBezTo>
                <a:lnTo>
                  <a:pt x="6650182" y="1619923"/>
                </a:lnTo>
                <a:cubicBezTo>
                  <a:pt x="6650182" y="1682702"/>
                  <a:pt x="6599289" y="1733594"/>
                  <a:pt x="6536510" y="1733594"/>
                </a:cubicBezTo>
                <a:lnTo>
                  <a:pt x="113672" y="1733594"/>
                </a:lnTo>
                <a:cubicBezTo>
                  <a:pt x="50893" y="1733594"/>
                  <a:pt x="0" y="1682702"/>
                  <a:pt x="0" y="1619923"/>
                </a:cubicBezTo>
                <a:lnTo>
                  <a:pt x="0" y="113672"/>
                </a:lnTo>
                <a:cubicBezTo>
                  <a:pt x="0" y="50935"/>
                  <a:pt x="50935" y="0"/>
                  <a:pt x="11367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5758" y="3419823"/>
            <a:ext cx="378928" cy="378928"/>
          </a:xfrm>
          <a:custGeom>
            <a:avLst/>
            <a:gdLst/>
            <a:ahLst/>
            <a:cxn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10490" y="3533501"/>
            <a:ext cx="189464" cy="151571"/>
          </a:xfrm>
          <a:custGeom>
            <a:avLst/>
            <a:gdLst/>
            <a:ahLst/>
            <a:cxnLst/>
            <a:rect l="l" t="t" r="r" b="b"/>
            <a:pathLst>
              <a:path w="189464" h="151571">
                <a:moveTo>
                  <a:pt x="132625" y="18946"/>
                </a:moveTo>
                <a:cubicBezTo>
                  <a:pt x="164005" y="18946"/>
                  <a:pt x="189464" y="44406"/>
                  <a:pt x="189464" y="75786"/>
                </a:cubicBezTo>
                <a:cubicBezTo>
                  <a:pt x="189464" y="107166"/>
                  <a:pt x="164005" y="132625"/>
                  <a:pt x="132625" y="132625"/>
                </a:cubicBezTo>
                <a:lnTo>
                  <a:pt x="56839" y="132625"/>
                </a:lnTo>
                <a:cubicBezTo>
                  <a:pt x="25459" y="132625"/>
                  <a:pt x="0" y="107166"/>
                  <a:pt x="0" y="75786"/>
                </a:cubicBezTo>
                <a:cubicBezTo>
                  <a:pt x="0" y="44406"/>
                  <a:pt x="25459" y="18946"/>
                  <a:pt x="56839" y="18946"/>
                </a:cubicBezTo>
                <a:lnTo>
                  <a:pt x="132625" y="18946"/>
                </a:lnTo>
                <a:close/>
                <a:moveTo>
                  <a:pt x="56839" y="52103"/>
                </a:moveTo>
                <a:cubicBezTo>
                  <a:pt x="52902" y="52103"/>
                  <a:pt x="49734" y="55270"/>
                  <a:pt x="49734" y="59207"/>
                </a:cubicBezTo>
                <a:lnTo>
                  <a:pt x="49734" y="68681"/>
                </a:lnTo>
                <a:lnTo>
                  <a:pt x="40261" y="68681"/>
                </a:lnTo>
                <a:cubicBezTo>
                  <a:pt x="36324" y="68681"/>
                  <a:pt x="33156" y="71848"/>
                  <a:pt x="33156" y="75786"/>
                </a:cubicBezTo>
                <a:cubicBezTo>
                  <a:pt x="33156" y="79723"/>
                  <a:pt x="36324" y="82890"/>
                  <a:pt x="40261" y="82890"/>
                </a:cubicBezTo>
                <a:lnTo>
                  <a:pt x="49734" y="82890"/>
                </a:lnTo>
                <a:lnTo>
                  <a:pt x="49734" y="92364"/>
                </a:lnTo>
                <a:cubicBezTo>
                  <a:pt x="49734" y="96301"/>
                  <a:pt x="52902" y="99469"/>
                  <a:pt x="56839" y="99469"/>
                </a:cubicBezTo>
                <a:cubicBezTo>
                  <a:pt x="60776" y="99469"/>
                  <a:pt x="63944" y="96301"/>
                  <a:pt x="63944" y="92364"/>
                </a:cubicBezTo>
                <a:lnTo>
                  <a:pt x="63944" y="82890"/>
                </a:lnTo>
                <a:lnTo>
                  <a:pt x="73417" y="82890"/>
                </a:lnTo>
                <a:cubicBezTo>
                  <a:pt x="77355" y="82890"/>
                  <a:pt x="80522" y="79723"/>
                  <a:pt x="80522" y="75786"/>
                </a:cubicBezTo>
                <a:cubicBezTo>
                  <a:pt x="80522" y="71848"/>
                  <a:pt x="77355" y="68681"/>
                  <a:pt x="73417" y="68681"/>
                </a:cubicBezTo>
                <a:lnTo>
                  <a:pt x="63944" y="68681"/>
                </a:lnTo>
                <a:lnTo>
                  <a:pt x="63944" y="59207"/>
                </a:lnTo>
                <a:cubicBezTo>
                  <a:pt x="63944" y="55270"/>
                  <a:pt x="60776" y="52103"/>
                  <a:pt x="56839" y="52103"/>
                </a:cubicBezTo>
                <a:close/>
                <a:moveTo>
                  <a:pt x="127888" y="80522"/>
                </a:moveTo>
                <a:cubicBezTo>
                  <a:pt x="122660" y="80522"/>
                  <a:pt x="118415" y="84767"/>
                  <a:pt x="118415" y="89995"/>
                </a:cubicBezTo>
                <a:cubicBezTo>
                  <a:pt x="118415" y="95224"/>
                  <a:pt x="122660" y="99469"/>
                  <a:pt x="127888" y="99469"/>
                </a:cubicBezTo>
                <a:cubicBezTo>
                  <a:pt x="133117" y="99469"/>
                  <a:pt x="137361" y="95224"/>
                  <a:pt x="137361" y="89995"/>
                </a:cubicBezTo>
                <a:cubicBezTo>
                  <a:pt x="137361" y="84767"/>
                  <a:pt x="133117" y="80522"/>
                  <a:pt x="127888" y="80522"/>
                </a:cubicBezTo>
                <a:close/>
                <a:moveTo>
                  <a:pt x="146834" y="52103"/>
                </a:moveTo>
                <a:cubicBezTo>
                  <a:pt x="141606" y="52103"/>
                  <a:pt x="137361" y="56347"/>
                  <a:pt x="137361" y="61576"/>
                </a:cubicBezTo>
                <a:cubicBezTo>
                  <a:pt x="137361" y="66804"/>
                  <a:pt x="141606" y="71049"/>
                  <a:pt x="146834" y="71049"/>
                </a:cubicBezTo>
                <a:cubicBezTo>
                  <a:pt x="152063" y="71049"/>
                  <a:pt x="156308" y="66804"/>
                  <a:pt x="156308" y="61576"/>
                </a:cubicBezTo>
                <a:cubicBezTo>
                  <a:pt x="156308" y="56347"/>
                  <a:pt x="152063" y="52103"/>
                  <a:pt x="146834" y="5210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1108364" y="3476662"/>
            <a:ext cx="1648336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Games Leadership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5758" y="3950322"/>
            <a:ext cx="6261781" cy="738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Domestic games revenue grew </a:t>
            </a:r>
            <a:pPr>
              <a:lnSpc>
                <a:spcPct val="140000"/>
              </a:lnSpc>
            </a:pPr>
            <a:r>
              <a:rPr lang="en-US" sz="119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17% YoY</a:t>
            </a:r>
            <a:pPr>
              <a:lnSpc>
                <a:spcPct val="140000"/>
              </a:lnSpc>
            </a:pPr>
            <a:r>
              <a:rPr lang="en-US" sz="119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Delta Force achieving 20M+ DAU and ranking top 3 industry-wide. International games surged </a:t>
            </a:r>
            <a:pPr>
              <a:lnSpc>
                <a:spcPct val="140000"/>
              </a:lnSpc>
            </a:pPr>
            <a:r>
              <a:rPr lang="en-US" sz="119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35% YoY</a:t>
            </a:r>
            <a:pPr>
              <a:lnSpc>
                <a:spcPct val="140000"/>
              </a:lnSpc>
            </a:pPr>
            <a:r>
              <a:rPr lang="en-US" sz="119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driven by Supercell and PUBG MOBILE.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3664" y="5120261"/>
            <a:ext cx="6650182" cy="1733594"/>
          </a:xfrm>
          <a:custGeom>
            <a:avLst/>
            <a:gdLst/>
            <a:ahLst/>
            <a:cxnLst/>
            <a:rect l="l" t="t" r="r" b="b"/>
            <a:pathLst>
              <a:path w="6650182" h="1733594">
                <a:moveTo>
                  <a:pt x="113672" y="0"/>
                </a:moveTo>
                <a:lnTo>
                  <a:pt x="6536510" y="0"/>
                </a:lnTo>
                <a:cubicBezTo>
                  <a:pt x="6599289" y="0"/>
                  <a:pt x="6650182" y="50893"/>
                  <a:pt x="6650182" y="113672"/>
                </a:cubicBezTo>
                <a:lnTo>
                  <a:pt x="6650182" y="1619923"/>
                </a:lnTo>
                <a:cubicBezTo>
                  <a:pt x="6650182" y="1682702"/>
                  <a:pt x="6599289" y="1733594"/>
                  <a:pt x="6536510" y="1733594"/>
                </a:cubicBezTo>
                <a:lnTo>
                  <a:pt x="113672" y="1733594"/>
                </a:lnTo>
                <a:cubicBezTo>
                  <a:pt x="50893" y="1733594"/>
                  <a:pt x="0" y="1682702"/>
                  <a:pt x="0" y="1619923"/>
                </a:cubicBezTo>
                <a:lnTo>
                  <a:pt x="0" y="113672"/>
                </a:lnTo>
                <a:cubicBezTo>
                  <a:pt x="0" y="50935"/>
                  <a:pt x="50935" y="0"/>
                  <a:pt x="11367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5758" y="5352354"/>
            <a:ext cx="378928" cy="378928"/>
          </a:xfrm>
          <a:custGeom>
            <a:avLst/>
            <a:gdLst/>
            <a:ahLst/>
            <a:cxn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29436" y="5466033"/>
            <a:ext cx="151571" cy="151571"/>
          </a:xfrm>
          <a:custGeom>
            <a:avLst/>
            <a:gdLst/>
            <a:ahLst/>
            <a:cxnLst/>
            <a:rect l="l" t="t" r="r" b="b"/>
            <a:pathLst>
              <a:path w="151571" h="151571">
                <a:moveTo>
                  <a:pt x="18946" y="18946"/>
                </a:moveTo>
                <a:cubicBezTo>
                  <a:pt x="8496" y="18946"/>
                  <a:pt x="0" y="27443"/>
                  <a:pt x="0" y="37893"/>
                </a:cubicBezTo>
                <a:lnTo>
                  <a:pt x="0" y="113678"/>
                </a:lnTo>
                <a:cubicBezTo>
                  <a:pt x="0" y="124128"/>
                  <a:pt x="8496" y="132625"/>
                  <a:pt x="18946" y="132625"/>
                </a:cubicBezTo>
                <a:lnTo>
                  <a:pt x="132625" y="132625"/>
                </a:lnTo>
                <a:cubicBezTo>
                  <a:pt x="143075" y="132625"/>
                  <a:pt x="151571" y="124128"/>
                  <a:pt x="151571" y="113678"/>
                </a:cubicBezTo>
                <a:lnTo>
                  <a:pt x="151571" y="37893"/>
                </a:lnTo>
                <a:cubicBezTo>
                  <a:pt x="151571" y="27443"/>
                  <a:pt x="143075" y="18946"/>
                  <a:pt x="132625" y="18946"/>
                </a:cubicBezTo>
                <a:lnTo>
                  <a:pt x="18946" y="18946"/>
                </a:lnTo>
                <a:close/>
                <a:moveTo>
                  <a:pt x="123152" y="54471"/>
                </a:moveTo>
                <a:lnTo>
                  <a:pt x="123152" y="97100"/>
                </a:lnTo>
                <a:cubicBezTo>
                  <a:pt x="123152" y="101038"/>
                  <a:pt x="119984" y="104205"/>
                  <a:pt x="116047" y="104205"/>
                </a:cubicBezTo>
                <a:cubicBezTo>
                  <a:pt x="113945" y="104205"/>
                  <a:pt x="112050" y="103287"/>
                  <a:pt x="110748" y="101837"/>
                </a:cubicBezTo>
                <a:cubicBezTo>
                  <a:pt x="107728" y="103347"/>
                  <a:pt x="104294" y="104205"/>
                  <a:pt x="100653" y="104205"/>
                </a:cubicBezTo>
                <a:cubicBezTo>
                  <a:pt x="88219" y="104205"/>
                  <a:pt x="78154" y="94140"/>
                  <a:pt x="78154" y="81706"/>
                </a:cubicBezTo>
                <a:cubicBezTo>
                  <a:pt x="78154" y="69273"/>
                  <a:pt x="88219" y="59207"/>
                  <a:pt x="100653" y="59207"/>
                </a:cubicBezTo>
                <a:cubicBezTo>
                  <a:pt x="103583" y="59207"/>
                  <a:pt x="106366" y="59770"/>
                  <a:pt x="108942" y="60776"/>
                </a:cubicBezTo>
                <a:lnTo>
                  <a:pt x="108942" y="54471"/>
                </a:lnTo>
                <a:cubicBezTo>
                  <a:pt x="108942" y="50534"/>
                  <a:pt x="112109" y="47366"/>
                  <a:pt x="116047" y="47366"/>
                </a:cubicBezTo>
                <a:cubicBezTo>
                  <a:pt x="119984" y="47366"/>
                  <a:pt x="123152" y="50534"/>
                  <a:pt x="123152" y="54471"/>
                </a:cubicBezTo>
                <a:close/>
                <a:moveTo>
                  <a:pt x="108942" y="81706"/>
                </a:moveTo>
                <a:cubicBezTo>
                  <a:pt x="108942" y="77131"/>
                  <a:pt x="105228" y="73417"/>
                  <a:pt x="100653" y="73417"/>
                </a:cubicBezTo>
                <a:cubicBezTo>
                  <a:pt x="96078" y="73417"/>
                  <a:pt x="92364" y="77131"/>
                  <a:pt x="92364" y="81706"/>
                </a:cubicBezTo>
                <a:cubicBezTo>
                  <a:pt x="92364" y="86281"/>
                  <a:pt x="96078" y="89995"/>
                  <a:pt x="100653" y="89995"/>
                </a:cubicBezTo>
                <a:cubicBezTo>
                  <a:pt x="105228" y="89995"/>
                  <a:pt x="108942" y="86281"/>
                  <a:pt x="108942" y="81706"/>
                </a:cubicBezTo>
                <a:close/>
                <a:moveTo>
                  <a:pt x="47366" y="61576"/>
                </a:moveTo>
                <a:cubicBezTo>
                  <a:pt x="44761" y="61576"/>
                  <a:pt x="42629" y="63707"/>
                  <a:pt x="42629" y="66312"/>
                </a:cubicBezTo>
                <a:lnTo>
                  <a:pt x="42629" y="75786"/>
                </a:lnTo>
                <a:lnTo>
                  <a:pt x="56839" y="75786"/>
                </a:lnTo>
                <a:lnTo>
                  <a:pt x="56839" y="66312"/>
                </a:lnTo>
                <a:cubicBezTo>
                  <a:pt x="56839" y="63707"/>
                  <a:pt x="54708" y="61576"/>
                  <a:pt x="52103" y="61576"/>
                </a:cubicBezTo>
                <a:lnTo>
                  <a:pt x="47366" y="61576"/>
                </a:lnTo>
                <a:close/>
                <a:moveTo>
                  <a:pt x="56839" y="89995"/>
                </a:moveTo>
                <a:lnTo>
                  <a:pt x="42629" y="89995"/>
                </a:lnTo>
                <a:lnTo>
                  <a:pt x="42629" y="97100"/>
                </a:lnTo>
                <a:cubicBezTo>
                  <a:pt x="42629" y="101038"/>
                  <a:pt x="39462" y="104205"/>
                  <a:pt x="35524" y="104205"/>
                </a:cubicBezTo>
                <a:cubicBezTo>
                  <a:pt x="31587" y="104205"/>
                  <a:pt x="28420" y="101038"/>
                  <a:pt x="28420" y="97100"/>
                </a:cubicBezTo>
                <a:lnTo>
                  <a:pt x="28420" y="66312"/>
                </a:lnTo>
                <a:cubicBezTo>
                  <a:pt x="28420" y="55862"/>
                  <a:pt x="36916" y="47366"/>
                  <a:pt x="47366" y="47366"/>
                </a:cubicBezTo>
                <a:lnTo>
                  <a:pt x="52103" y="47366"/>
                </a:lnTo>
                <a:cubicBezTo>
                  <a:pt x="62553" y="47366"/>
                  <a:pt x="71049" y="55862"/>
                  <a:pt x="71049" y="66312"/>
                </a:cubicBezTo>
                <a:lnTo>
                  <a:pt x="71049" y="97100"/>
                </a:lnTo>
                <a:cubicBezTo>
                  <a:pt x="71049" y="101038"/>
                  <a:pt x="67881" y="104205"/>
                  <a:pt x="63944" y="104205"/>
                </a:cubicBezTo>
                <a:cubicBezTo>
                  <a:pt x="60007" y="104205"/>
                  <a:pt x="56839" y="101038"/>
                  <a:pt x="56839" y="97100"/>
                </a:cubicBezTo>
                <a:lnTo>
                  <a:pt x="56839" y="8999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1108364" y="5409193"/>
            <a:ext cx="1979897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Marketing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5758" y="5882853"/>
            <a:ext cx="6261781" cy="738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Marketing Services revenue increased </a:t>
            </a:r>
            <a:pPr>
              <a:lnSpc>
                <a:spcPct val="140000"/>
              </a:lnSpc>
            </a:pPr>
            <a:r>
              <a:rPr lang="en-US" sz="119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20% YoY</a:t>
            </a:r>
            <a:pPr>
              <a:lnSpc>
                <a:spcPct val="140000"/>
              </a:lnSpc>
            </a:pPr>
            <a:r>
              <a:rPr lang="en-US" sz="119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through AI-driven advertising platform upgrades, enhancing click-through rates and advertiser ROI across Video Accounts, Mini Programs, and Weixin Search.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71712" y="1255198"/>
            <a:ext cx="4537660" cy="5598657"/>
          </a:xfrm>
          <a:custGeom>
            <a:avLst/>
            <a:gdLst/>
            <a:ahLst/>
            <a:cxnLst/>
            <a:rect l="l" t="t" r="r" b="b"/>
            <a:pathLst>
              <a:path w="4537660" h="5598657">
                <a:moveTo>
                  <a:pt x="113668" y="0"/>
                </a:moveTo>
                <a:lnTo>
                  <a:pt x="4423991" y="0"/>
                </a:lnTo>
                <a:cubicBezTo>
                  <a:pt x="4486769" y="0"/>
                  <a:pt x="4537660" y="50891"/>
                  <a:pt x="4537660" y="113668"/>
                </a:cubicBezTo>
                <a:lnTo>
                  <a:pt x="4537660" y="5484989"/>
                </a:lnTo>
                <a:cubicBezTo>
                  <a:pt x="4537660" y="5547766"/>
                  <a:pt x="4486769" y="5598657"/>
                  <a:pt x="4423991" y="5598657"/>
                </a:cubicBezTo>
                <a:lnTo>
                  <a:pt x="113668" y="5598657"/>
                </a:lnTo>
                <a:cubicBezTo>
                  <a:pt x="50891" y="5598657"/>
                  <a:pt x="0" y="5547766"/>
                  <a:pt x="0" y="5484989"/>
                </a:cubicBezTo>
                <a:lnTo>
                  <a:pt x="0" y="113668"/>
                </a:lnTo>
                <a:cubicBezTo>
                  <a:pt x="0" y="50891"/>
                  <a:pt x="50891" y="0"/>
                  <a:pt x="113668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03805" y="1487291"/>
            <a:ext cx="378928" cy="378928"/>
          </a:xfrm>
          <a:custGeom>
            <a:avLst/>
            <a:gdLst/>
            <a:ahLst/>
            <a:cxn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626957" y="1600970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0" y="63944"/>
                </a:moveTo>
                <a:cubicBezTo>
                  <a:pt x="0" y="44317"/>
                  <a:pt x="15897" y="28420"/>
                  <a:pt x="35524" y="28420"/>
                </a:cubicBezTo>
                <a:lnTo>
                  <a:pt x="37893" y="28420"/>
                </a:lnTo>
                <a:cubicBezTo>
                  <a:pt x="43133" y="28420"/>
                  <a:pt x="47366" y="32653"/>
                  <a:pt x="47366" y="37893"/>
                </a:cubicBezTo>
                <a:cubicBezTo>
                  <a:pt x="47366" y="43133"/>
                  <a:pt x="43133" y="47366"/>
                  <a:pt x="37893" y="47366"/>
                </a:cubicBezTo>
                <a:lnTo>
                  <a:pt x="35524" y="47366"/>
                </a:lnTo>
                <a:cubicBezTo>
                  <a:pt x="26377" y="47366"/>
                  <a:pt x="18946" y="54797"/>
                  <a:pt x="18946" y="63944"/>
                </a:cubicBezTo>
                <a:lnTo>
                  <a:pt x="18946" y="66312"/>
                </a:lnTo>
                <a:lnTo>
                  <a:pt x="37893" y="66312"/>
                </a:lnTo>
                <a:cubicBezTo>
                  <a:pt x="48343" y="66312"/>
                  <a:pt x="56839" y="74809"/>
                  <a:pt x="56839" y="85259"/>
                </a:cubicBezTo>
                <a:lnTo>
                  <a:pt x="56839" y="104205"/>
                </a:lnTo>
                <a:cubicBezTo>
                  <a:pt x="56839" y="114655"/>
                  <a:pt x="48343" y="123152"/>
                  <a:pt x="37893" y="123152"/>
                </a:cubicBezTo>
                <a:lnTo>
                  <a:pt x="18946" y="123152"/>
                </a:lnTo>
                <a:cubicBezTo>
                  <a:pt x="8496" y="123152"/>
                  <a:pt x="0" y="114655"/>
                  <a:pt x="0" y="104205"/>
                </a:cubicBezTo>
                <a:lnTo>
                  <a:pt x="0" y="63944"/>
                </a:lnTo>
                <a:close/>
                <a:moveTo>
                  <a:pt x="75786" y="63944"/>
                </a:moveTo>
                <a:cubicBezTo>
                  <a:pt x="75786" y="44317"/>
                  <a:pt x="91683" y="28420"/>
                  <a:pt x="111310" y="28420"/>
                </a:cubicBezTo>
                <a:lnTo>
                  <a:pt x="113678" y="28420"/>
                </a:lnTo>
                <a:cubicBezTo>
                  <a:pt x="118918" y="28420"/>
                  <a:pt x="123152" y="32653"/>
                  <a:pt x="123152" y="37893"/>
                </a:cubicBezTo>
                <a:cubicBezTo>
                  <a:pt x="123152" y="43133"/>
                  <a:pt x="118918" y="47366"/>
                  <a:pt x="113678" y="47366"/>
                </a:cubicBezTo>
                <a:lnTo>
                  <a:pt x="111310" y="47366"/>
                </a:lnTo>
                <a:cubicBezTo>
                  <a:pt x="102162" y="47366"/>
                  <a:pt x="94732" y="54797"/>
                  <a:pt x="94732" y="63944"/>
                </a:cubicBezTo>
                <a:lnTo>
                  <a:pt x="94732" y="66312"/>
                </a:lnTo>
                <a:lnTo>
                  <a:pt x="113678" y="66312"/>
                </a:lnTo>
                <a:cubicBezTo>
                  <a:pt x="124128" y="66312"/>
                  <a:pt x="132625" y="74809"/>
                  <a:pt x="132625" y="85259"/>
                </a:cubicBezTo>
                <a:lnTo>
                  <a:pt x="132625" y="104205"/>
                </a:lnTo>
                <a:cubicBezTo>
                  <a:pt x="132625" y="114655"/>
                  <a:pt x="124128" y="123152"/>
                  <a:pt x="113678" y="123152"/>
                </a:cubicBezTo>
                <a:lnTo>
                  <a:pt x="94732" y="123152"/>
                </a:lnTo>
                <a:cubicBezTo>
                  <a:pt x="84282" y="123152"/>
                  <a:pt x="75786" y="114655"/>
                  <a:pt x="75786" y="104205"/>
                </a:cubicBezTo>
                <a:lnTo>
                  <a:pt x="75786" y="6394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7996411" y="1544131"/>
            <a:ext cx="1942005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Chairman's Statement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522752" y="2017790"/>
            <a:ext cx="4054527" cy="3334564"/>
          </a:xfrm>
          <a:custGeom>
            <a:avLst/>
            <a:gdLst/>
            <a:ahLst/>
            <a:cxnLst/>
            <a:rect l="l" t="t" r="r" b="b"/>
            <a:pathLst>
              <a:path w="4054527" h="3334564">
                <a:moveTo>
                  <a:pt x="37893" y="0"/>
                </a:moveTo>
                <a:lnTo>
                  <a:pt x="3978732" y="0"/>
                </a:lnTo>
                <a:cubicBezTo>
                  <a:pt x="4020592" y="0"/>
                  <a:pt x="4054527" y="33934"/>
                  <a:pt x="4054527" y="75795"/>
                </a:cubicBezTo>
                <a:lnTo>
                  <a:pt x="4054527" y="3258769"/>
                </a:lnTo>
                <a:cubicBezTo>
                  <a:pt x="4054527" y="3300630"/>
                  <a:pt x="4020592" y="3334564"/>
                  <a:pt x="3978732" y="3334564"/>
                </a:cubicBezTo>
                <a:lnTo>
                  <a:pt x="37893" y="3334564"/>
                </a:lnTo>
                <a:cubicBezTo>
                  <a:pt x="16965" y="3334564"/>
                  <a:pt x="0" y="3317599"/>
                  <a:pt x="0" y="3296671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24" name="Shape 22"/>
          <p:cNvSpPr/>
          <p:nvPr/>
        </p:nvSpPr>
        <p:spPr>
          <a:xfrm>
            <a:off x="7522752" y="2017790"/>
            <a:ext cx="37893" cy="3334564"/>
          </a:xfrm>
          <a:custGeom>
            <a:avLst/>
            <a:gdLst/>
            <a:ahLst/>
            <a:cxnLst/>
            <a:rect l="l" t="t" r="r" b="b"/>
            <a:pathLst>
              <a:path w="37893" h="3334564">
                <a:moveTo>
                  <a:pt x="37893" y="0"/>
                </a:moveTo>
                <a:lnTo>
                  <a:pt x="37893" y="0"/>
                </a:lnTo>
                <a:lnTo>
                  <a:pt x="37893" y="3334564"/>
                </a:lnTo>
                <a:lnTo>
                  <a:pt x="37893" y="3334564"/>
                </a:lnTo>
                <a:cubicBezTo>
                  <a:pt x="16965" y="3334564"/>
                  <a:pt x="0" y="3317599"/>
                  <a:pt x="0" y="3296671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7731162" y="2821828"/>
            <a:ext cx="3741911" cy="1383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3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"During the second quarter of 2025, we delivered double-digit revenue and non-IFRS operating profit growth on a year-on-year basis, as we invested in, and also benefitted from, utilising AI."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31162" y="4358853"/>
            <a:ext cx="3722965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Ma Huateng, Chairman &amp; CEO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508542" y="5546555"/>
            <a:ext cx="1951478" cy="1070471"/>
          </a:xfrm>
          <a:custGeom>
            <a:avLst/>
            <a:gdLst/>
            <a:ahLst/>
            <a:cxnLst/>
            <a:rect l="l" t="t" r="r" b="b"/>
            <a:pathLst>
              <a:path w="1951478" h="1070471">
                <a:moveTo>
                  <a:pt x="75789" y="0"/>
                </a:moveTo>
                <a:lnTo>
                  <a:pt x="1875689" y="0"/>
                </a:lnTo>
                <a:cubicBezTo>
                  <a:pt x="1917546" y="0"/>
                  <a:pt x="1951478" y="33932"/>
                  <a:pt x="1951478" y="75789"/>
                </a:cubicBezTo>
                <a:lnTo>
                  <a:pt x="1951478" y="994682"/>
                </a:lnTo>
                <a:cubicBezTo>
                  <a:pt x="1951478" y="1036539"/>
                  <a:pt x="1917546" y="1070471"/>
                  <a:pt x="1875689" y="1070471"/>
                </a:cubicBezTo>
                <a:lnTo>
                  <a:pt x="75789" y="1070471"/>
                </a:lnTo>
                <a:cubicBezTo>
                  <a:pt x="33932" y="1070471"/>
                  <a:pt x="0" y="1036539"/>
                  <a:pt x="0" y="994682"/>
                </a:cubicBezTo>
                <a:lnTo>
                  <a:pt x="0" y="75789"/>
                </a:lnTo>
                <a:cubicBezTo>
                  <a:pt x="0" y="33960"/>
                  <a:pt x="33960" y="0"/>
                  <a:pt x="7578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31693" y="5702862"/>
            <a:ext cx="1705175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WeChat MAU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593801" y="5930219"/>
            <a:ext cx="1780960" cy="341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38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1.41B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36430" y="6309147"/>
            <a:ext cx="1695702" cy="151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+3% YoY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621064" y="5546555"/>
            <a:ext cx="1951478" cy="1070471"/>
          </a:xfrm>
          <a:custGeom>
            <a:avLst/>
            <a:gdLst/>
            <a:ahLst/>
            <a:cxnLst/>
            <a:rect l="l" t="t" r="r" b="b"/>
            <a:pathLst>
              <a:path w="1951478" h="1070471">
                <a:moveTo>
                  <a:pt x="75789" y="0"/>
                </a:moveTo>
                <a:lnTo>
                  <a:pt x="1875689" y="0"/>
                </a:lnTo>
                <a:cubicBezTo>
                  <a:pt x="1917546" y="0"/>
                  <a:pt x="1951478" y="33932"/>
                  <a:pt x="1951478" y="75789"/>
                </a:cubicBezTo>
                <a:lnTo>
                  <a:pt x="1951478" y="994682"/>
                </a:lnTo>
                <a:cubicBezTo>
                  <a:pt x="1951478" y="1036539"/>
                  <a:pt x="1917546" y="1070471"/>
                  <a:pt x="1875689" y="1070471"/>
                </a:cubicBezTo>
                <a:lnTo>
                  <a:pt x="75789" y="1070471"/>
                </a:lnTo>
                <a:cubicBezTo>
                  <a:pt x="33932" y="1070471"/>
                  <a:pt x="0" y="1036539"/>
                  <a:pt x="0" y="994682"/>
                </a:cubicBezTo>
                <a:lnTo>
                  <a:pt x="0" y="75789"/>
                </a:lnTo>
                <a:cubicBezTo>
                  <a:pt x="0" y="33960"/>
                  <a:pt x="33960" y="0"/>
                  <a:pt x="7578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44216" y="5702862"/>
            <a:ext cx="1705175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Gross Margin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706323" y="5930219"/>
            <a:ext cx="1780960" cy="341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38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57%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748952" y="6309147"/>
            <a:ext cx="1695702" cy="151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+4pp YoY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303" y="365303"/>
            <a:ext cx="11525321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spc="50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 PERFORMANCE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303" y="621016"/>
            <a:ext cx="11625780" cy="365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Q2 2025 Highlights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303" y="1059380"/>
            <a:ext cx="11534454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months ended 30 June 2025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9870" y="1356189"/>
            <a:ext cx="3178139" cy="1251164"/>
          </a:xfrm>
          <a:custGeom>
            <a:avLst/>
            <a:gdLst/>
            <a:ahLst/>
            <a:cxnLst/>
            <a:rect l="l" t="t" r="r" b="b"/>
            <a:pathLst>
              <a:path w="3178139" h="1251164">
                <a:moveTo>
                  <a:pt x="109589" y="0"/>
                </a:moveTo>
                <a:lnTo>
                  <a:pt x="3068550" y="0"/>
                </a:lnTo>
                <a:cubicBezTo>
                  <a:pt x="3129074" y="0"/>
                  <a:pt x="3178139" y="49065"/>
                  <a:pt x="3178139" y="109589"/>
                </a:cubicBezTo>
                <a:lnTo>
                  <a:pt x="3178139" y="1141575"/>
                </a:lnTo>
                <a:cubicBezTo>
                  <a:pt x="3178139" y="1202099"/>
                  <a:pt x="3129074" y="1251164"/>
                  <a:pt x="3068550" y="1251164"/>
                </a:cubicBezTo>
                <a:lnTo>
                  <a:pt x="109589" y="1251164"/>
                </a:lnTo>
                <a:cubicBezTo>
                  <a:pt x="49065" y="1251164"/>
                  <a:pt x="0" y="1202099"/>
                  <a:pt x="0" y="1141575"/>
                </a:cubicBezTo>
                <a:lnTo>
                  <a:pt x="0" y="109589"/>
                </a:lnTo>
                <a:cubicBezTo>
                  <a:pt x="0" y="49105"/>
                  <a:pt x="49105" y="0"/>
                  <a:pt x="10958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7088" y="1561672"/>
            <a:ext cx="611883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957602" y="1543407"/>
            <a:ext cx="401834" cy="219182"/>
          </a:xfrm>
          <a:custGeom>
            <a:avLst/>
            <a:gdLst/>
            <a:ahLst/>
            <a:cxnLst/>
            <a:rect l="l" t="t" r="r" b="b"/>
            <a:pathLst>
              <a:path w="401834" h="219182">
                <a:moveTo>
                  <a:pt x="36531" y="0"/>
                </a:moveTo>
                <a:lnTo>
                  <a:pt x="365303" y="0"/>
                </a:lnTo>
                <a:cubicBezTo>
                  <a:pt x="385478" y="0"/>
                  <a:pt x="401834" y="16356"/>
                  <a:pt x="401834" y="36531"/>
                </a:cubicBezTo>
                <a:lnTo>
                  <a:pt x="401834" y="182651"/>
                </a:lnTo>
                <a:cubicBezTo>
                  <a:pt x="401834" y="202827"/>
                  <a:pt x="385478" y="219182"/>
                  <a:pt x="365303" y="219182"/>
                </a:cubicBezTo>
                <a:lnTo>
                  <a:pt x="36531" y="219182"/>
                </a:lnTo>
                <a:cubicBezTo>
                  <a:pt x="16356" y="219182"/>
                  <a:pt x="0" y="202827"/>
                  <a:pt x="0" y="182651"/>
                </a:cubicBezTo>
                <a:lnTo>
                  <a:pt x="0" y="36531"/>
                </a:lnTo>
                <a:cubicBezTo>
                  <a:pt x="0" y="16369"/>
                  <a:pt x="16369" y="0"/>
                  <a:pt x="365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957602" y="1543407"/>
            <a:ext cx="456629" cy="219182"/>
          </a:xfrm>
          <a:prstGeom prst="rect">
            <a:avLst/>
          </a:prstGeom>
          <a:noFill/>
          <a:ln/>
        </p:spPr>
        <p:txBody>
          <a:bodyPr wrap="square" lIns="73061" tIns="36530" rIns="73061" bIns="36530" rtlCol="0" anchor="ctr"/>
          <a:lstStyle/>
          <a:p>
            <a:pPr>
              <a:lnSpc>
                <a:spcPct val="110000"/>
              </a:lnSpc>
            </a:pPr>
            <a:r>
              <a:rPr lang="en-US" sz="86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+15%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7088" y="1872180"/>
            <a:ext cx="2968090" cy="365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184.5B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7088" y="2274013"/>
            <a:ext cx="2858499" cy="14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million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00837" y="1356189"/>
            <a:ext cx="3178139" cy="1251164"/>
          </a:xfrm>
          <a:custGeom>
            <a:avLst/>
            <a:gdLst/>
            <a:ahLst/>
            <a:cxnLst/>
            <a:rect l="l" t="t" r="r" b="b"/>
            <a:pathLst>
              <a:path w="3178139" h="1251164">
                <a:moveTo>
                  <a:pt x="109589" y="0"/>
                </a:moveTo>
                <a:lnTo>
                  <a:pt x="3068550" y="0"/>
                </a:lnTo>
                <a:cubicBezTo>
                  <a:pt x="3129074" y="0"/>
                  <a:pt x="3178139" y="49065"/>
                  <a:pt x="3178139" y="109589"/>
                </a:cubicBezTo>
                <a:lnTo>
                  <a:pt x="3178139" y="1141575"/>
                </a:lnTo>
                <a:cubicBezTo>
                  <a:pt x="3178139" y="1202099"/>
                  <a:pt x="3129074" y="1251164"/>
                  <a:pt x="3068550" y="1251164"/>
                </a:cubicBezTo>
                <a:lnTo>
                  <a:pt x="109589" y="1251164"/>
                </a:lnTo>
                <a:cubicBezTo>
                  <a:pt x="49065" y="1251164"/>
                  <a:pt x="0" y="1202099"/>
                  <a:pt x="0" y="1141575"/>
                </a:cubicBezTo>
                <a:lnTo>
                  <a:pt x="0" y="109589"/>
                </a:lnTo>
                <a:cubicBezTo>
                  <a:pt x="0" y="49105"/>
                  <a:pt x="49105" y="0"/>
                  <a:pt x="10958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8055" y="1561672"/>
            <a:ext cx="730607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Gross Profit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68235" y="1543407"/>
            <a:ext cx="420099" cy="219182"/>
          </a:xfrm>
          <a:custGeom>
            <a:avLst/>
            <a:gdLst/>
            <a:ahLst/>
            <a:cxnLst/>
            <a:rect l="l" t="t" r="r" b="b"/>
            <a:pathLst>
              <a:path w="420099" h="219182">
                <a:moveTo>
                  <a:pt x="36531" y="0"/>
                </a:moveTo>
                <a:lnTo>
                  <a:pt x="383568" y="0"/>
                </a:lnTo>
                <a:cubicBezTo>
                  <a:pt x="403743" y="0"/>
                  <a:pt x="420099" y="16356"/>
                  <a:pt x="420099" y="36531"/>
                </a:cubicBezTo>
                <a:lnTo>
                  <a:pt x="420099" y="182651"/>
                </a:lnTo>
                <a:cubicBezTo>
                  <a:pt x="420099" y="202827"/>
                  <a:pt x="403743" y="219182"/>
                  <a:pt x="383568" y="219182"/>
                </a:cubicBezTo>
                <a:lnTo>
                  <a:pt x="36531" y="219182"/>
                </a:lnTo>
                <a:cubicBezTo>
                  <a:pt x="16356" y="219182"/>
                  <a:pt x="0" y="202827"/>
                  <a:pt x="0" y="182651"/>
                </a:cubicBezTo>
                <a:lnTo>
                  <a:pt x="0" y="36531"/>
                </a:lnTo>
                <a:cubicBezTo>
                  <a:pt x="0" y="16369"/>
                  <a:pt x="16369" y="0"/>
                  <a:pt x="365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268235" y="1543407"/>
            <a:ext cx="474894" cy="219182"/>
          </a:xfrm>
          <a:prstGeom prst="rect">
            <a:avLst/>
          </a:prstGeom>
          <a:noFill/>
          <a:ln/>
        </p:spPr>
        <p:txBody>
          <a:bodyPr wrap="square" lIns="73061" tIns="36530" rIns="73061" bIns="36530" rtlCol="0" anchor="ctr"/>
          <a:lstStyle/>
          <a:p>
            <a:pPr>
              <a:lnSpc>
                <a:spcPct val="110000"/>
              </a:lnSpc>
            </a:pPr>
            <a:r>
              <a:rPr lang="en-US" sz="86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+22%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88055" y="1872180"/>
            <a:ext cx="2968090" cy="365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105.0B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88055" y="2274013"/>
            <a:ext cx="2858499" cy="14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million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9870" y="2762607"/>
            <a:ext cx="3178139" cy="1251164"/>
          </a:xfrm>
          <a:custGeom>
            <a:avLst/>
            <a:gdLst/>
            <a:ahLst/>
            <a:cxnLst/>
            <a:rect l="l" t="t" r="r" b="b"/>
            <a:pathLst>
              <a:path w="3178139" h="1251164">
                <a:moveTo>
                  <a:pt x="109589" y="0"/>
                </a:moveTo>
                <a:lnTo>
                  <a:pt x="3068550" y="0"/>
                </a:lnTo>
                <a:cubicBezTo>
                  <a:pt x="3129074" y="0"/>
                  <a:pt x="3178139" y="49065"/>
                  <a:pt x="3178139" y="109589"/>
                </a:cubicBezTo>
                <a:lnTo>
                  <a:pt x="3178139" y="1141575"/>
                </a:lnTo>
                <a:cubicBezTo>
                  <a:pt x="3178139" y="1202099"/>
                  <a:pt x="3129074" y="1251164"/>
                  <a:pt x="3068550" y="1251164"/>
                </a:cubicBezTo>
                <a:lnTo>
                  <a:pt x="109589" y="1251164"/>
                </a:lnTo>
                <a:cubicBezTo>
                  <a:pt x="49065" y="1251164"/>
                  <a:pt x="0" y="1202099"/>
                  <a:pt x="0" y="1141575"/>
                </a:cubicBezTo>
                <a:lnTo>
                  <a:pt x="0" y="109589"/>
                </a:lnTo>
                <a:cubicBezTo>
                  <a:pt x="0" y="49105"/>
                  <a:pt x="49105" y="0"/>
                  <a:pt x="10958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088" y="2968090"/>
            <a:ext cx="968054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Operating Profit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953463" y="2949825"/>
            <a:ext cx="401834" cy="219182"/>
          </a:xfrm>
          <a:custGeom>
            <a:avLst/>
            <a:gdLst/>
            <a:ahLst/>
            <a:cxnLst/>
            <a:rect l="l" t="t" r="r" b="b"/>
            <a:pathLst>
              <a:path w="401834" h="219182">
                <a:moveTo>
                  <a:pt x="36531" y="0"/>
                </a:moveTo>
                <a:lnTo>
                  <a:pt x="365303" y="0"/>
                </a:lnTo>
                <a:cubicBezTo>
                  <a:pt x="385478" y="0"/>
                  <a:pt x="401834" y="16356"/>
                  <a:pt x="401834" y="36531"/>
                </a:cubicBezTo>
                <a:lnTo>
                  <a:pt x="401834" y="182651"/>
                </a:lnTo>
                <a:cubicBezTo>
                  <a:pt x="401834" y="202827"/>
                  <a:pt x="385478" y="219182"/>
                  <a:pt x="365303" y="219182"/>
                </a:cubicBezTo>
                <a:lnTo>
                  <a:pt x="36531" y="219182"/>
                </a:lnTo>
                <a:cubicBezTo>
                  <a:pt x="16356" y="219182"/>
                  <a:pt x="0" y="202827"/>
                  <a:pt x="0" y="182651"/>
                </a:cubicBezTo>
                <a:lnTo>
                  <a:pt x="0" y="36531"/>
                </a:lnTo>
                <a:cubicBezTo>
                  <a:pt x="0" y="16369"/>
                  <a:pt x="16369" y="0"/>
                  <a:pt x="365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953463" y="2949825"/>
            <a:ext cx="456629" cy="219182"/>
          </a:xfrm>
          <a:prstGeom prst="rect">
            <a:avLst/>
          </a:prstGeom>
          <a:noFill/>
          <a:ln/>
        </p:spPr>
        <p:txBody>
          <a:bodyPr wrap="square" lIns="73061" tIns="36530" rIns="73061" bIns="36530" rtlCol="0" anchor="ctr"/>
          <a:lstStyle/>
          <a:p>
            <a:pPr>
              <a:lnSpc>
                <a:spcPct val="110000"/>
              </a:lnSpc>
            </a:pPr>
            <a:r>
              <a:rPr lang="en-US" sz="86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+18%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7088" y="3278598"/>
            <a:ext cx="2968090" cy="365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60.1B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7088" y="3680431"/>
            <a:ext cx="2858499" cy="14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million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700837" y="2762607"/>
            <a:ext cx="3178139" cy="1251164"/>
          </a:xfrm>
          <a:custGeom>
            <a:avLst/>
            <a:gdLst/>
            <a:ahLst/>
            <a:cxnLst/>
            <a:rect l="l" t="t" r="r" b="b"/>
            <a:pathLst>
              <a:path w="3178139" h="1251164">
                <a:moveTo>
                  <a:pt x="109589" y="0"/>
                </a:moveTo>
                <a:lnTo>
                  <a:pt x="3068550" y="0"/>
                </a:lnTo>
                <a:cubicBezTo>
                  <a:pt x="3129074" y="0"/>
                  <a:pt x="3178139" y="49065"/>
                  <a:pt x="3178139" y="109589"/>
                </a:cubicBezTo>
                <a:lnTo>
                  <a:pt x="3178139" y="1141575"/>
                </a:lnTo>
                <a:cubicBezTo>
                  <a:pt x="3178139" y="1202099"/>
                  <a:pt x="3129074" y="1251164"/>
                  <a:pt x="3068550" y="1251164"/>
                </a:cubicBezTo>
                <a:lnTo>
                  <a:pt x="109589" y="1251164"/>
                </a:lnTo>
                <a:cubicBezTo>
                  <a:pt x="49065" y="1251164"/>
                  <a:pt x="0" y="1202099"/>
                  <a:pt x="0" y="1141575"/>
                </a:cubicBezTo>
                <a:lnTo>
                  <a:pt x="0" y="109589"/>
                </a:lnTo>
                <a:cubicBezTo>
                  <a:pt x="0" y="49105"/>
                  <a:pt x="49105" y="0"/>
                  <a:pt x="10958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88055" y="2968090"/>
            <a:ext cx="1068512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Profit Attributable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95633" y="2949825"/>
            <a:ext cx="392701" cy="219182"/>
          </a:xfrm>
          <a:custGeom>
            <a:avLst/>
            <a:gdLst/>
            <a:ahLst/>
            <a:cxnLst/>
            <a:rect l="l" t="t" r="r" b="b"/>
            <a:pathLst>
              <a:path w="392701" h="219182">
                <a:moveTo>
                  <a:pt x="36531" y="0"/>
                </a:moveTo>
                <a:lnTo>
                  <a:pt x="356170" y="0"/>
                </a:lnTo>
                <a:cubicBezTo>
                  <a:pt x="376346" y="0"/>
                  <a:pt x="392701" y="16356"/>
                  <a:pt x="392701" y="36531"/>
                </a:cubicBezTo>
                <a:lnTo>
                  <a:pt x="392701" y="182651"/>
                </a:lnTo>
                <a:cubicBezTo>
                  <a:pt x="392701" y="202827"/>
                  <a:pt x="376346" y="219182"/>
                  <a:pt x="356170" y="219182"/>
                </a:cubicBezTo>
                <a:lnTo>
                  <a:pt x="36531" y="219182"/>
                </a:lnTo>
                <a:cubicBezTo>
                  <a:pt x="16356" y="219182"/>
                  <a:pt x="0" y="202827"/>
                  <a:pt x="0" y="182651"/>
                </a:cubicBezTo>
                <a:lnTo>
                  <a:pt x="0" y="36531"/>
                </a:lnTo>
                <a:cubicBezTo>
                  <a:pt x="0" y="16369"/>
                  <a:pt x="16369" y="0"/>
                  <a:pt x="365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295633" y="2949825"/>
            <a:ext cx="447497" cy="219182"/>
          </a:xfrm>
          <a:prstGeom prst="rect">
            <a:avLst/>
          </a:prstGeom>
          <a:noFill/>
          <a:ln/>
        </p:spPr>
        <p:txBody>
          <a:bodyPr wrap="square" lIns="73061" tIns="36530" rIns="73061" bIns="36530" rtlCol="0" anchor="ctr"/>
          <a:lstStyle/>
          <a:p>
            <a:pPr>
              <a:lnSpc>
                <a:spcPct val="110000"/>
              </a:lnSpc>
            </a:pPr>
            <a:r>
              <a:rPr lang="en-US" sz="86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+17%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88055" y="3278598"/>
            <a:ext cx="2968090" cy="365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55.6B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888055" y="3680431"/>
            <a:ext cx="2858499" cy="14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million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69870" y="4169025"/>
            <a:ext cx="6502400" cy="2684980"/>
          </a:xfrm>
          <a:custGeom>
            <a:avLst/>
            <a:gdLst/>
            <a:ahLst/>
            <a:cxnLst/>
            <a:rect l="l" t="t" r="r" b="b"/>
            <a:pathLst>
              <a:path w="6502400" h="2684980">
                <a:moveTo>
                  <a:pt x="109601" y="0"/>
                </a:moveTo>
                <a:lnTo>
                  <a:pt x="6392799" y="0"/>
                </a:lnTo>
                <a:cubicBezTo>
                  <a:pt x="6453330" y="0"/>
                  <a:pt x="6502400" y="49070"/>
                  <a:pt x="6502400" y="109601"/>
                </a:cubicBezTo>
                <a:lnTo>
                  <a:pt x="6502400" y="2575379"/>
                </a:lnTo>
                <a:cubicBezTo>
                  <a:pt x="6502400" y="2635869"/>
                  <a:pt x="6453289" y="2684980"/>
                  <a:pt x="6392799" y="2684980"/>
                </a:cubicBezTo>
                <a:lnTo>
                  <a:pt x="109601" y="2684980"/>
                </a:lnTo>
                <a:cubicBezTo>
                  <a:pt x="49070" y="2684980"/>
                  <a:pt x="0" y="2635910"/>
                  <a:pt x="0" y="2575379"/>
                </a:cubicBezTo>
                <a:lnTo>
                  <a:pt x="0" y="109601"/>
                </a:lnTo>
                <a:cubicBezTo>
                  <a:pt x="0" y="49070"/>
                  <a:pt x="49070" y="0"/>
                  <a:pt x="10960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088" y="4356243"/>
            <a:ext cx="6210157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Earnings Per Share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57088" y="4721546"/>
            <a:ext cx="2995488" cy="1059380"/>
          </a:xfrm>
          <a:custGeom>
            <a:avLst/>
            <a:gdLst/>
            <a:ahLst/>
            <a:cxnLst/>
            <a:rect l="l" t="t" r="r" b="b"/>
            <a:pathLst>
              <a:path w="2995488" h="1059380">
                <a:moveTo>
                  <a:pt x="73065" y="0"/>
                </a:moveTo>
                <a:lnTo>
                  <a:pt x="2922422" y="0"/>
                </a:lnTo>
                <a:cubicBezTo>
                  <a:pt x="2962775" y="0"/>
                  <a:pt x="2995488" y="32713"/>
                  <a:pt x="2995488" y="73065"/>
                </a:cubicBezTo>
                <a:lnTo>
                  <a:pt x="2995488" y="986314"/>
                </a:lnTo>
                <a:cubicBezTo>
                  <a:pt x="2995488" y="1026667"/>
                  <a:pt x="2962775" y="1059380"/>
                  <a:pt x="2922422" y="1059380"/>
                </a:cubicBezTo>
                <a:lnTo>
                  <a:pt x="73065" y="1059380"/>
                </a:lnTo>
                <a:cubicBezTo>
                  <a:pt x="32713" y="1059380"/>
                  <a:pt x="0" y="1026667"/>
                  <a:pt x="0" y="986314"/>
                </a:cubicBezTo>
                <a:lnTo>
                  <a:pt x="0" y="73065"/>
                </a:lnTo>
                <a:cubicBezTo>
                  <a:pt x="0" y="32740"/>
                  <a:pt x="32740" y="0"/>
                  <a:pt x="73065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2" name="Text 30"/>
          <p:cNvSpPr/>
          <p:nvPr/>
        </p:nvSpPr>
        <p:spPr>
          <a:xfrm>
            <a:off x="703209" y="4867667"/>
            <a:ext cx="2767173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Basic EPS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3209" y="5123380"/>
            <a:ext cx="2812836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6.115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3209" y="5452153"/>
            <a:ext cx="2767173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+20% YoY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696271" y="4721546"/>
            <a:ext cx="2995488" cy="1059380"/>
          </a:xfrm>
          <a:custGeom>
            <a:avLst/>
            <a:gdLst/>
            <a:ahLst/>
            <a:cxnLst/>
            <a:rect l="l" t="t" r="r" b="b"/>
            <a:pathLst>
              <a:path w="2995488" h="1059380">
                <a:moveTo>
                  <a:pt x="73065" y="0"/>
                </a:moveTo>
                <a:lnTo>
                  <a:pt x="2922422" y="0"/>
                </a:lnTo>
                <a:cubicBezTo>
                  <a:pt x="2962775" y="0"/>
                  <a:pt x="2995488" y="32713"/>
                  <a:pt x="2995488" y="73065"/>
                </a:cubicBezTo>
                <a:lnTo>
                  <a:pt x="2995488" y="986314"/>
                </a:lnTo>
                <a:cubicBezTo>
                  <a:pt x="2995488" y="1026667"/>
                  <a:pt x="2962775" y="1059380"/>
                  <a:pt x="2922422" y="1059380"/>
                </a:cubicBezTo>
                <a:lnTo>
                  <a:pt x="73065" y="1059380"/>
                </a:lnTo>
                <a:cubicBezTo>
                  <a:pt x="32713" y="1059380"/>
                  <a:pt x="0" y="1026667"/>
                  <a:pt x="0" y="986314"/>
                </a:cubicBezTo>
                <a:lnTo>
                  <a:pt x="0" y="73065"/>
                </a:lnTo>
                <a:cubicBezTo>
                  <a:pt x="0" y="32740"/>
                  <a:pt x="32740" y="0"/>
                  <a:pt x="73065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6" name="Text 34"/>
          <p:cNvSpPr/>
          <p:nvPr/>
        </p:nvSpPr>
        <p:spPr>
          <a:xfrm>
            <a:off x="3842392" y="4867667"/>
            <a:ext cx="2767173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Diluted EPS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842392" y="5123380"/>
            <a:ext cx="2812836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5.996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842392" y="5452153"/>
            <a:ext cx="2767173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+20% YoY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57088" y="5931613"/>
            <a:ext cx="6127964" cy="9133"/>
          </a:xfrm>
          <a:custGeom>
            <a:avLst/>
            <a:gdLst/>
            <a:ahLst/>
            <a:cxnLst/>
            <a:rect l="l" t="t" r="r" b="b"/>
            <a:pathLst>
              <a:path w="6127964" h="9133">
                <a:moveTo>
                  <a:pt x="0" y="0"/>
                </a:moveTo>
                <a:lnTo>
                  <a:pt x="6127964" y="0"/>
                </a:lnTo>
                <a:lnTo>
                  <a:pt x="6127964" y="9133"/>
                </a:lnTo>
                <a:lnTo>
                  <a:pt x="0" y="9133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40" name="Text 38"/>
          <p:cNvSpPr/>
          <p:nvPr/>
        </p:nvSpPr>
        <p:spPr>
          <a:xfrm>
            <a:off x="557088" y="6082301"/>
            <a:ext cx="6191892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Non-IFRS Profit Attributable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57088" y="6338013"/>
            <a:ext cx="1442948" cy="328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5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63.1B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974137" y="6447604"/>
            <a:ext cx="630148" cy="219182"/>
          </a:xfrm>
          <a:custGeom>
            <a:avLst/>
            <a:gdLst/>
            <a:ahLst/>
            <a:cxnLst/>
            <a:rect l="l" t="t" r="r" b="b"/>
            <a:pathLst>
              <a:path w="630148" h="219182">
                <a:moveTo>
                  <a:pt x="36531" y="0"/>
                </a:moveTo>
                <a:lnTo>
                  <a:pt x="593617" y="0"/>
                </a:lnTo>
                <a:cubicBezTo>
                  <a:pt x="613793" y="0"/>
                  <a:pt x="630148" y="16356"/>
                  <a:pt x="630148" y="36531"/>
                </a:cubicBezTo>
                <a:lnTo>
                  <a:pt x="630148" y="182651"/>
                </a:lnTo>
                <a:cubicBezTo>
                  <a:pt x="630148" y="202827"/>
                  <a:pt x="613793" y="219182"/>
                  <a:pt x="593617" y="219182"/>
                </a:cubicBezTo>
                <a:lnTo>
                  <a:pt x="36531" y="219182"/>
                </a:lnTo>
                <a:cubicBezTo>
                  <a:pt x="16356" y="219182"/>
                  <a:pt x="0" y="202827"/>
                  <a:pt x="0" y="182651"/>
                </a:cubicBezTo>
                <a:lnTo>
                  <a:pt x="0" y="36531"/>
                </a:lnTo>
                <a:cubicBezTo>
                  <a:pt x="0" y="16369"/>
                  <a:pt x="16369" y="0"/>
                  <a:pt x="365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974137" y="6447604"/>
            <a:ext cx="684944" cy="219182"/>
          </a:xfrm>
          <a:prstGeom prst="rect">
            <a:avLst/>
          </a:prstGeom>
          <a:noFill/>
          <a:ln/>
        </p:spPr>
        <p:txBody>
          <a:bodyPr wrap="square" lIns="73061" tIns="36530" rIns="73061" bIns="36530" rtlCol="0" anchor="ctr"/>
          <a:lstStyle/>
          <a:p>
            <a:pPr>
              <a:lnSpc>
                <a:spcPct val="110000"/>
              </a:lnSpc>
            </a:pPr>
            <a:r>
              <a:rPr lang="en-US" sz="86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+10% YoY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104865" y="1356189"/>
            <a:ext cx="4721546" cy="5497816"/>
          </a:xfrm>
          <a:custGeom>
            <a:avLst/>
            <a:gdLst/>
            <a:ahLst/>
            <a:cxnLst/>
            <a:rect l="l" t="t" r="r" b="b"/>
            <a:pathLst>
              <a:path w="4721546" h="5497816">
                <a:moveTo>
                  <a:pt x="109587" y="0"/>
                </a:moveTo>
                <a:lnTo>
                  <a:pt x="4611959" y="0"/>
                </a:lnTo>
                <a:cubicBezTo>
                  <a:pt x="4672482" y="0"/>
                  <a:pt x="4721546" y="49064"/>
                  <a:pt x="4721546" y="109587"/>
                </a:cubicBezTo>
                <a:lnTo>
                  <a:pt x="4721546" y="5388229"/>
                </a:lnTo>
                <a:cubicBezTo>
                  <a:pt x="4721546" y="5448752"/>
                  <a:pt x="4672482" y="5497816"/>
                  <a:pt x="4611959" y="5497816"/>
                </a:cubicBezTo>
                <a:lnTo>
                  <a:pt x="109587" y="5497816"/>
                </a:lnTo>
                <a:cubicBezTo>
                  <a:pt x="49064" y="5497816"/>
                  <a:pt x="0" y="5448752"/>
                  <a:pt x="0" y="5388229"/>
                </a:cubicBezTo>
                <a:lnTo>
                  <a:pt x="0" y="109587"/>
                </a:lnTo>
                <a:cubicBezTo>
                  <a:pt x="0" y="49104"/>
                  <a:pt x="49104" y="0"/>
                  <a:pt x="1095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92083" y="1543407"/>
            <a:ext cx="4429303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Quarter-on-Quarter Performance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292083" y="1945240"/>
            <a:ext cx="4347110" cy="986319"/>
          </a:xfrm>
          <a:custGeom>
            <a:avLst/>
            <a:gdLst/>
            <a:ahLst/>
            <a:cxnLst/>
            <a:rect l="l" t="t" r="r" b="b"/>
            <a:pathLst>
              <a:path w="4347110" h="986319">
                <a:moveTo>
                  <a:pt x="73057" y="0"/>
                </a:moveTo>
                <a:lnTo>
                  <a:pt x="4274053" y="0"/>
                </a:lnTo>
                <a:cubicBezTo>
                  <a:pt x="4314402" y="0"/>
                  <a:pt x="4347110" y="32709"/>
                  <a:pt x="4347110" y="73057"/>
                </a:cubicBezTo>
                <a:lnTo>
                  <a:pt x="4347110" y="913262"/>
                </a:lnTo>
                <a:cubicBezTo>
                  <a:pt x="4347110" y="953611"/>
                  <a:pt x="4314402" y="986319"/>
                  <a:pt x="4274053" y="986319"/>
                </a:cubicBezTo>
                <a:lnTo>
                  <a:pt x="73057" y="986319"/>
                </a:lnTo>
                <a:cubicBezTo>
                  <a:pt x="32709" y="986319"/>
                  <a:pt x="0" y="953611"/>
                  <a:pt x="0" y="913262"/>
                </a:cubicBezTo>
                <a:lnTo>
                  <a:pt x="0" y="73057"/>
                </a:lnTo>
                <a:cubicBezTo>
                  <a:pt x="0" y="32736"/>
                  <a:pt x="32736" y="0"/>
                  <a:pt x="73057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47" name="Text 45"/>
          <p:cNvSpPr/>
          <p:nvPr/>
        </p:nvSpPr>
        <p:spPr>
          <a:xfrm>
            <a:off x="7438204" y="2091362"/>
            <a:ext cx="611883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243281" y="2091362"/>
            <a:ext cx="310508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+2%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438204" y="2347074"/>
            <a:ext cx="4146193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184.5B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438204" y="2639317"/>
            <a:ext cx="4109663" cy="14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Q1 2025: RMB 180.0B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292083" y="3077681"/>
            <a:ext cx="4347110" cy="986319"/>
          </a:xfrm>
          <a:custGeom>
            <a:avLst/>
            <a:gdLst/>
            <a:ahLst/>
            <a:cxnLst/>
            <a:rect l="l" t="t" r="r" b="b"/>
            <a:pathLst>
              <a:path w="4347110" h="986319">
                <a:moveTo>
                  <a:pt x="73057" y="0"/>
                </a:moveTo>
                <a:lnTo>
                  <a:pt x="4274053" y="0"/>
                </a:lnTo>
                <a:cubicBezTo>
                  <a:pt x="4314402" y="0"/>
                  <a:pt x="4347110" y="32709"/>
                  <a:pt x="4347110" y="73057"/>
                </a:cubicBezTo>
                <a:lnTo>
                  <a:pt x="4347110" y="913262"/>
                </a:lnTo>
                <a:cubicBezTo>
                  <a:pt x="4347110" y="953611"/>
                  <a:pt x="4314402" y="986319"/>
                  <a:pt x="4274053" y="986319"/>
                </a:cubicBezTo>
                <a:lnTo>
                  <a:pt x="73057" y="986319"/>
                </a:lnTo>
                <a:cubicBezTo>
                  <a:pt x="32709" y="986319"/>
                  <a:pt x="0" y="953611"/>
                  <a:pt x="0" y="913262"/>
                </a:cubicBezTo>
                <a:lnTo>
                  <a:pt x="0" y="73057"/>
                </a:lnTo>
                <a:cubicBezTo>
                  <a:pt x="0" y="32736"/>
                  <a:pt x="32736" y="0"/>
                  <a:pt x="73057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52" name="Text 50"/>
          <p:cNvSpPr/>
          <p:nvPr/>
        </p:nvSpPr>
        <p:spPr>
          <a:xfrm>
            <a:off x="7438204" y="3223802"/>
            <a:ext cx="730607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Gross Profit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242211" y="3223802"/>
            <a:ext cx="310508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+4%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438204" y="3479515"/>
            <a:ext cx="4146193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105.0B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438204" y="3771757"/>
            <a:ext cx="4109663" cy="14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Q1 2025: RMB 100.5B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292083" y="4210121"/>
            <a:ext cx="4347110" cy="986319"/>
          </a:xfrm>
          <a:custGeom>
            <a:avLst/>
            <a:gdLst/>
            <a:ahLst/>
            <a:cxnLst/>
            <a:rect l="l" t="t" r="r" b="b"/>
            <a:pathLst>
              <a:path w="4347110" h="986319">
                <a:moveTo>
                  <a:pt x="73057" y="0"/>
                </a:moveTo>
                <a:lnTo>
                  <a:pt x="4274053" y="0"/>
                </a:lnTo>
                <a:cubicBezTo>
                  <a:pt x="4314402" y="0"/>
                  <a:pt x="4347110" y="32709"/>
                  <a:pt x="4347110" y="73057"/>
                </a:cubicBezTo>
                <a:lnTo>
                  <a:pt x="4347110" y="913262"/>
                </a:lnTo>
                <a:cubicBezTo>
                  <a:pt x="4347110" y="953611"/>
                  <a:pt x="4314402" y="986319"/>
                  <a:pt x="4274053" y="986319"/>
                </a:cubicBezTo>
                <a:lnTo>
                  <a:pt x="73057" y="986319"/>
                </a:lnTo>
                <a:cubicBezTo>
                  <a:pt x="32709" y="986319"/>
                  <a:pt x="0" y="953611"/>
                  <a:pt x="0" y="913262"/>
                </a:cubicBezTo>
                <a:lnTo>
                  <a:pt x="0" y="73057"/>
                </a:lnTo>
                <a:cubicBezTo>
                  <a:pt x="0" y="32736"/>
                  <a:pt x="32736" y="0"/>
                  <a:pt x="73057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57" name="Text 55"/>
          <p:cNvSpPr/>
          <p:nvPr/>
        </p:nvSpPr>
        <p:spPr>
          <a:xfrm>
            <a:off x="7438204" y="4356243"/>
            <a:ext cx="968054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Operating Profit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242211" y="4356243"/>
            <a:ext cx="310508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+4%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438204" y="4611955"/>
            <a:ext cx="4146193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60.1B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438204" y="4904198"/>
            <a:ext cx="4109663" cy="14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Q1 2025: RMB 57.6B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292083" y="5342562"/>
            <a:ext cx="4347110" cy="986319"/>
          </a:xfrm>
          <a:custGeom>
            <a:avLst/>
            <a:gdLst/>
            <a:ahLst/>
            <a:cxnLst/>
            <a:rect l="l" t="t" r="r" b="b"/>
            <a:pathLst>
              <a:path w="4347110" h="986319">
                <a:moveTo>
                  <a:pt x="73057" y="0"/>
                </a:moveTo>
                <a:lnTo>
                  <a:pt x="4274053" y="0"/>
                </a:lnTo>
                <a:cubicBezTo>
                  <a:pt x="4314402" y="0"/>
                  <a:pt x="4347110" y="32709"/>
                  <a:pt x="4347110" y="73057"/>
                </a:cubicBezTo>
                <a:lnTo>
                  <a:pt x="4347110" y="913262"/>
                </a:lnTo>
                <a:cubicBezTo>
                  <a:pt x="4347110" y="953611"/>
                  <a:pt x="4314402" y="986319"/>
                  <a:pt x="4274053" y="986319"/>
                </a:cubicBezTo>
                <a:lnTo>
                  <a:pt x="73057" y="986319"/>
                </a:lnTo>
                <a:cubicBezTo>
                  <a:pt x="32709" y="986319"/>
                  <a:pt x="0" y="953611"/>
                  <a:pt x="0" y="913262"/>
                </a:cubicBezTo>
                <a:lnTo>
                  <a:pt x="0" y="73057"/>
                </a:lnTo>
                <a:cubicBezTo>
                  <a:pt x="0" y="32736"/>
                  <a:pt x="32736" y="0"/>
                  <a:pt x="73057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62" name="Text 60"/>
          <p:cNvSpPr/>
          <p:nvPr/>
        </p:nvSpPr>
        <p:spPr>
          <a:xfrm>
            <a:off x="7438204" y="5488683"/>
            <a:ext cx="1068512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Profit Attributable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1189913" y="5488683"/>
            <a:ext cx="365303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+16%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438204" y="5744396"/>
            <a:ext cx="4146193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55.6B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438204" y="6036638"/>
            <a:ext cx="4109663" cy="14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Q1 2025: RMB 47.8B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1304" y="331304"/>
            <a:ext cx="11587370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b="1" spc="46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 HALF 2025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1304" y="563217"/>
            <a:ext cx="11678478" cy="331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4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H1 2025 Consolidated Results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1304" y="960783"/>
            <a:ext cx="11595652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Six months ended 30 June 2025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5446" y="1296228"/>
            <a:ext cx="6220239" cy="5557630"/>
          </a:xfrm>
          <a:custGeom>
            <a:avLst/>
            <a:gdLst/>
            <a:ahLst/>
            <a:cxnLst/>
            <a:rect l="l" t="t" r="r" b="b"/>
            <a:pathLst>
              <a:path w="6220239" h="5557630">
                <a:moveTo>
                  <a:pt x="99370" y="0"/>
                </a:moveTo>
                <a:lnTo>
                  <a:pt x="6120869" y="0"/>
                </a:lnTo>
                <a:cubicBezTo>
                  <a:pt x="6175749" y="0"/>
                  <a:pt x="6220239" y="44490"/>
                  <a:pt x="6220239" y="99370"/>
                </a:cubicBezTo>
                <a:lnTo>
                  <a:pt x="6220239" y="5458260"/>
                </a:lnTo>
                <a:cubicBezTo>
                  <a:pt x="6220239" y="5513141"/>
                  <a:pt x="6175749" y="5557630"/>
                  <a:pt x="6120869" y="5557630"/>
                </a:cubicBezTo>
                <a:lnTo>
                  <a:pt x="99370" y="5557630"/>
                </a:lnTo>
                <a:cubicBezTo>
                  <a:pt x="44490" y="5557630"/>
                  <a:pt x="0" y="5513141"/>
                  <a:pt x="0" y="5458260"/>
                </a:cubicBezTo>
                <a:lnTo>
                  <a:pt x="0" y="99370"/>
                </a:lnTo>
                <a:cubicBezTo>
                  <a:pt x="0" y="44526"/>
                  <a:pt x="44526" y="0"/>
                  <a:pt x="9937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https://kimi-img.moonshot.cn/pub/slides/26-03-18-15:39:39-d6t5deuqvl77l85hp04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8370" y="1499152"/>
            <a:ext cx="4944717" cy="5151783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766050" y="1296228"/>
            <a:ext cx="2476500" cy="1300370"/>
          </a:xfrm>
          <a:custGeom>
            <a:avLst/>
            <a:gdLst/>
            <a:ahLst/>
            <a:cxnLst/>
            <a:rect l="l" t="t" r="r" b="b"/>
            <a:pathLst>
              <a:path w="2476500" h="1300370">
                <a:moveTo>
                  <a:pt x="99387" y="0"/>
                </a:moveTo>
                <a:lnTo>
                  <a:pt x="2377113" y="0"/>
                </a:lnTo>
                <a:cubicBezTo>
                  <a:pt x="2432003" y="0"/>
                  <a:pt x="2476500" y="44497"/>
                  <a:pt x="2476500" y="99387"/>
                </a:cubicBezTo>
                <a:lnTo>
                  <a:pt x="2476500" y="1200982"/>
                </a:lnTo>
                <a:cubicBezTo>
                  <a:pt x="2476500" y="1255872"/>
                  <a:pt x="2432003" y="1300370"/>
                  <a:pt x="2377113" y="1300370"/>
                </a:cubicBezTo>
                <a:lnTo>
                  <a:pt x="99387" y="1300370"/>
                </a:lnTo>
                <a:cubicBezTo>
                  <a:pt x="44497" y="1300370"/>
                  <a:pt x="0" y="1255872"/>
                  <a:pt x="0" y="1200982"/>
                </a:cubicBezTo>
                <a:lnTo>
                  <a:pt x="0" y="99387"/>
                </a:lnTo>
                <a:cubicBezTo>
                  <a:pt x="0" y="44534"/>
                  <a:pt x="44534" y="0"/>
                  <a:pt x="993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35844" y="1466022"/>
            <a:ext cx="2194891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Revenues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35844" y="1697935"/>
            <a:ext cx="2261152" cy="298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5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364.5B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935844" y="2062370"/>
            <a:ext cx="364435" cy="198783"/>
          </a:xfrm>
          <a:custGeom>
            <a:avLst/>
            <a:gdLst/>
            <a:ahLst/>
            <a:cxnLst/>
            <a:rect l="l" t="t" r="r" b="b"/>
            <a:pathLst>
              <a:path w="364435" h="198783">
                <a:moveTo>
                  <a:pt x="33131" y="0"/>
                </a:moveTo>
                <a:lnTo>
                  <a:pt x="331304" y="0"/>
                </a:lnTo>
                <a:cubicBezTo>
                  <a:pt x="349601" y="0"/>
                  <a:pt x="364435" y="14833"/>
                  <a:pt x="364435" y="33131"/>
                </a:cubicBezTo>
                <a:lnTo>
                  <a:pt x="364435" y="165652"/>
                </a:lnTo>
                <a:cubicBezTo>
                  <a:pt x="364435" y="183949"/>
                  <a:pt x="349601" y="198783"/>
                  <a:pt x="331304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935844" y="2062370"/>
            <a:ext cx="414130" cy="198783"/>
          </a:xfrm>
          <a:prstGeom prst="rect">
            <a:avLst/>
          </a:prstGeom>
          <a:noFill/>
          <a:ln/>
        </p:spPr>
        <p:txBody>
          <a:bodyPr wrap="square" lIns="66261" tIns="33130" rIns="66261" bIns="33130" rtlCol="0" anchor="ctr"/>
          <a:lstStyle/>
          <a:p>
            <a:pPr>
              <a:lnSpc>
                <a:spcPct val="110000"/>
              </a:lnSpc>
            </a:pPr>
            <a:r>
              <a:rPr lang="en-US" sz="78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+14%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66863" y="2095500"/>
            <a:ext cx="231913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935844" y="2294283"/>
            <a:ext cx="2186609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million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381672" y="1296228"/>
            <a:ext cx="2476500" cy="1300370"/>
          </a:xfrm>
          <a:custGeom>
            <a:avLst/>
            <a:gdLst/>
            <a:ahLst/>
            <a:cxnLst/>
            <a:rect l="l" t="t" r="r" b="b"/>
            <a:pathLst>
              <a:path w="2476500" h="1300370">
                <a:moveTo>
                  <a:pt x="99387" y="0"/>
                </a:moveTo>
                <a:lnTo>
                  <a:pt x="2377113" y="0"/>
                </a:lnTo>
                <a:cubicBezTo>
                  <a:pt x="2432003" y="0"/>
                  <a:pt x="2476500" y="44497"/>
                  <a:pt x="2476500" y="99387"/>
                </a:cubicBezTo>
                <a:lnTo>
                  <a:pt x="2476500" y="1200982"/>
                </a:lnTo>
                <a:cubicBezTo>
                  <a:pt x="2476500" y="1255872"/>
                  <a:pt x="2432003" y="1300370"/>
                  <a:pt x="2377113" y="1300370"/>
                </a:cubicBezTo>
                <a:lnTo>
                  <a:pt x="99387" y="1300370"/>
                </a:lnTo>
                <a:cubicBezTo>
                  <a:pt x="44497" y="1300370"/>
                  <a:pt x="0" y="1255872"/>
                  <a:pt x="0" y="1200982"/>
                </a:cubicBezTo>
                <a:lnTo>
                  <a:pt x="0" y="99387"/>
                </a:lnTo>
                <a:cubicBezTo>
                  <a:pt x="0" y="44534"/>
                  <a:pt x="44534" y="0"/>
                  <a:pt x="993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551466" y="1466022"/>
            <a:ext cx="2194891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Gross Profit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551466" y="1697935"/>
            <a:ext cx="2261152" cy="298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5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205.5B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9551466" y="2062370"/>
            <a:ext cx="364435" cy="198783"/>
          </a:xfrm>
          <a:custGeom>
            <a:avLst/>
            <a:gdLst/>
            <a:ahLst/>
            <a:cxnLst/>
            <a:rect l="l" t="t" r="r" b="b"/>
            <a:pathLst>
              <a:path w="364435" h="198783">
                <a:moveTo>
                  <a:pt x="33131" y="0"/>
                </a:moveTo>
                <a:lnTo>
                  <a:pt x="331304" y="0"/>
                </a:lnTo>
                <a:cubicBezTo>
                  <a:pt x="349601" y="0"/>
                  <a:pt x="364435" y="14833"/>
                  <a:pt x="364435" y="33131"/>
                </a:cubicBezTo>
                <a:lnTo>
                  <a:pt x="364435" y="165652"/>
                </a:lnTo>
                <a:cubicBezTo>
                  <a:pt x="364435" y="183949"/>
                  <a:pt x="349601" y="198783"/>
                  <a:pt x="331304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9551466" y="2062370"/>
            <a:ext cx="414130" cy="198783"/>
          </a:xfrm>
          <a:prstGeom prst="rect">
            <a:avLst/>
          </a:prstGeom>
          <a:noFill/>
          <a:ln/>
        </p:spPr>
        <p:txBody>
          <a:bodyPr wrap="square" lIns="66261" tIns="33130" rIns="66261" bIns="33130" rtlCol="0" anchor="ctr"/>
          <a:lstStyle/>
          <a:p>
            <a:pPr>
              <a:lnSpc>
                <a:spcPct val="110000"/>
              </a:lnSpc>
            </a:pPr>
            <a:r>
              <a:rPr lang="en-US" sz="78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+21%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981644" y="2095500"/>
            <a:ext cx="231913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YoY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551466" y="2294283"/>
            <a:ext cx="2186609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million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766050" y="2737402"/>
            <a:ext cx="5093804" cy="1300370"/>
          </a:xfrm>
          <a:custGeom>
            <a:avLst/>
            <a:gdLst/>
            <a:ahLst/>
            <a:cxnLst/>
            <a:rect l="l" t="t" r="r" b="b"/>
            <a:pathLst>
              <a:path w="5093804" h="1300370">
                <a:moveTo>
                  <a:pt x="99387" y="0"/>
                </a:moveTo>
                <a:lnTo>
                  <a:pt x="4994417" y="0"/>
                </a:lnTo>
                <a:cubicBezTo>
                  <a:pt x="5049307" y="0"/>
                  <a:pt x="5093804" y="44497"/>
                  <a:pt x="5093804" y="99387"/>
                </a:cubicBezTo>
                <a:lnTo>
                  <a:pt x="5093804" y="1200982"/>
                </a:lnTo>
                <a:cubicBezTo>
                  <a:pt x="5093804" y="1255872"/>
                  <a:pt x="5049307" y="1300370"/>
                  <a:pt x="4994417" y="1300370"/>
                </a:cubicBezTo>
                <a:lnTo>
                  <a:pt x="99387" y="1300370"/>
                </a:lnTo>
                <a:cubicBezTo>
                  <a:pt x="44497" y="1300370"/>
                  <a:pt x="0" y="1255872"/>
                  <a:pt x="0" y="1200982"/>
                </a:cubicBezTo>
                <a:lnTo>
                  <a:pt x="0" y="99387"/>
                </a:lnTo>
                <a:cubicBezTo>
                  <a:pt x="0" y="44534"/>
                  <a:pt x="44534" y="0"/>
                  <a:pt x="993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35844" y="2907196"/>
            <a:ext cx="4812196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Operating Profit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935844" y="3139109"/>
            <a:ext cx="4878457" cy="298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5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117.7B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935844" y="3503543"/>
            <a:ext cx="364435" cy="198783"/>
          </a:xfrm>
          <a:custGeom>
            <a:avLst/>
            <a:gdLst/>
            <a:ahLst/>
            <a:cxnLst/>
            <a:rect l="l" t="t" r="r" b="b"/>
            <a:pathLst>
              <a:path w="364435" h="198783">
                <a:moveTo>
                  <a:pt x="33131" y="0"/>
                </a:moveTo>
                <a:lnTo>
                  <a:pt x="331304" y="0"/>
                </a:lnTo>
                <a:cubicBezTo>
                  <a:pt x="349601" y="0"/>
                  <a:pt x="364435" y="14833"/>
                  <a:pt x="364435" y="33131"/>
                </a:cubicBezTo>
                <a:lnTo>
                  <a:pt x="364435" y="165652"/>
                </a:lnTo>
                <a:cubicBezTo>
                  <a:pt x="364435" y="183949"/>
                  <a:pt x="349601" y="198783"/>
                  <a:pt x="331304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6935844" y="3503543"/>
            <a:ext cx="414130" cy="198783"/>
          </a:xfrm>
          <a:prstGeom prst="rect">
            <a:avLst/>
          </a:prstGeom>
          <a:noFill/>
          <a:ln/>
        </p:spPr>
        <p:txBody>
          <a:bodyPr wrap="square" lIns="66261" tIns="33130" rIns="66261" bIns="33130" rtlCol="0" anchor="ctr"/>
          <a:lstStyle/>
          <a:p>
            <a:pPr>
              <a:lnSpc>
                <a:spcPct val="110000"/>
              </a:lnSpc>
            </a:pPr>
            <a:r>
              <a:rPr lang="en-US" sz="78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+14%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366863" y="3536674"/>
            <a:ext cx="231913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YoY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935844" y="3735457"/>
            <a:ext cx="4803913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million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766050" y="4178576"/>
            <a:ext cx="5093804" cy="1300370"/>
          </a:xfrm>
          <a:custGeom>
            <a:avLst/>
            <a:gdLst/>
            <a:ahLst/>
            <a:cxnLst/>
            <a:rect l="l" t="t" r="r" b="b"/>
            <a:pathLst>
              <a:path w="5093804" h="1300370">
                <a:moveTo>
                  <a:pt x="99387" y="0"/>
                </a:moveTo>
                <a:lnTo>
                  <a:pt x="4994417" y="0"/>
                </a:lnTo>
                <a:cubicBezTo>
                  <a:pt x="5049307" y="0"/>
                  <a:pt x="5093804" y="44497"/>
                  <a:pt x="5093804" y="99387"/>
                </a:cubicBezTo>
                <a:lnTo>
                  <a:pt x="5093804" y="1200982"/>
                </a:lnTo>
                <a:cubicBezTo>
                  <a:pt x="5093804" y="1255872"/>
                  <a:pt x="5049307" y="1300370"/>
                  <a:pt x="4994417" y="1300370"/>
                </a:cubicBezTo>
                <a:lnTo>
                  <a:pt x="99387" y="1300370"/>
                </a:lnTo>
                <a:cubicBezTo>
                  <a:pt x="44497" y="1300370"/>
                  <a:pt x="0" y="1255872"/>
                  <a:pt x="0" y="1200982"/>
                </a:cubicBezTo>
                <a:lnTo>
                  <a:pt x="0" y="99387"/>
                </a:lnTo>
                <a:cubicBezTo>
                  <a:pt x="0" y="44534"/>
                  <a:pt x="44534" y="0"/>
                  <a:pt x="993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35844" y="4348370"/>
            <a:ext cx="4812196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Profit Attributable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935844" y="4580283"/>
            <a:ext cx="4878457" cy="298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5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103.4B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935844" y="4944717"/>
            <a:ext cx="364435" cy="198783"/>
          </a:xfrm>
          <a:custGeom>
            <a:avLst/>
            <a:gdLst/>
            <a:ahLst/>
            <a:cxnLst/>
            <a:rect l="l" t="t" r="r" b="b"/>
            <a:pathLst>
              <a:path w="364435" h="198783">
                <a:moveTo>
                  <a:pt x="33131" y="0"/>
                </a:moveTo>
                <a:lnTo>
                  <a:pt x="331304" y="0"/>
                </a:lnTo>
                <a:cubicBezTo>
                  <a:pt x="349601" y="0"/>
                  <a:pt x="364435" y="14833"/>
                  <a:pt x="364435" y="33131"/>
                </a:cubicBezTo>
                <a:lnTo>
                  <a:pt x="364435" y="165652"/>
                </a:lnTo>
                <a:cubicBezTo>
                  <a:pt x="364435" y="183949"/>
                  <a:pt x="349601" y="198783"/>
                  <a:pt x="331304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6935844" y="4944717"/>
            <a:ext cx="414130" cy="198783"/>
          </a:xfrm>
          <a:prstGeom prst="rect">
            <a:avLst/>
          </a:prstGeom>
          <a:noFill/>
          <a:ln/>
        </p:spPr>
        <p:txBody>
          <a:bodyPr wrap="square" lIns="66261" tIns="33130" rIns="66261" bIns="33130" rtlCol="0" anchor="ctr"/>
          <a:lstStyle/>
          <a:p>
            <a:pPr>
              <a:lnSpc>
                <a:spcPct val="110000"/>
              </a:lnSpc>
            </a:pPr>
            <a:r>
              <a:rPr lang="en-US" sz="78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+16%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367704" y="4977848"/>
            <a:ext cx="231913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YoY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935844" y="5176630"/>
            <a:ext cx="4803913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million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766050" y="5619750"/>
            <a:ext cx="5093804" cy="1234109"/>
          </a:xfrm>
          <a:custGeom>
            <a:avLst/>
            <a:gdLst/>
            <a:ahLst/>
            <a:cxnLst/>
            <a:rect l="l" t="t" r="r" b="b"/>
            <a:pathLst>
              <a:path w="5093804" h="1234109">
                <a:moveTo>
                  <a:pt x="99395" y="0"/>
                </a:moveTo>
                <a:lnTo>
                  <a:pt x="4994409" y="0"/>
                </a:lnTo>
                <a:cubicBezTo>
                  <a:pt x="5049304" y="0"/>
                  <a:pt x="5093804" y="44501"/>
                  <a:pt x="5093804" y="99395"/>
                </a:cubicBezTo>
                <a:lnTo>
                  <a:pt x="5093804" y="1134714"/>
                </a:lnTo>
                <a:cubicBezTo>
                  <a:pt x="5093804" y="1189608"/>
                  <a:pt x="5049304" y="1234109"/>
                  <a:pt x="4994409" y="1234109"/>
                </a:cubicBezTo>
                <a:lnTo>
                  <a:pt x="99395" y="1234109"/>
                </a:lnTo>
                <a:cubicBezTo>
                  <a:pt x="44501" y="1234109"/>
                  <a:pt x="0" y="1189608"/>
                  <a:pt x="0" y="1134714"/>
                </a:cubicBezTo>
                <a:lnTo>
                  <a:pt x="0" y="99395"/>
                </a:lnTo>
                <a:cubicBezTo>
                  <a:pt x="0" y="44537"/>
                  <a:pt x="44537" y="0"/>
                  <a:pt x="99395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935844" y="5789543"/>
            <a:ext cx="4828761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H1 2025 EPS Performance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935844" y="6120848"/>
            <a:ext cx="1060174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Basic EPS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935844" y="6286500"/>
            <a:ext cx="1101587" cy="26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11.367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935844" y="6551543"/>
            <a:ext cx="1051891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+19% YoY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0646582" y="6120848"/>
            <a:ext cx="1043609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1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Diluted EPS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10605169" y="6286500"/>
            <a:ext cx="1085022" cy="26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6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11.126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10654864" y="6551543"/>
            <a:ext cx="1035326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783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+19% YoY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SEGMENTS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Analysis by Segment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Q2 2025 segment performance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414463"/>
            <a:ext cx="5791200" cy="5057775"/>
          </a:xfrm>
          <a:custGeom>
            <a:avLst/>
            <a:gdLst/>
            <a:ahLst/>
            <a:cxnLst/>
            <a:rect l="l" t="t" r="r" b="b"/>
            <a:pathLst>
              <a:path w="5791200" h="5057775">
                <a:moveTo>
                  <a:pt x="114306" y="0"/>
                </a:moveTo>
                <a:lnTo>
                  <a:pt x="5676894" y="0"/>
                </a:lnTo>
                <a:cubicBezTo>
                  <a:pt x="5740024" y="0"/>
                  <a:pt x="5791200" y="51176"/>
                  <a:pt x="5791200" y="114306"/>
                </a:cubicBezTo>
                <a:lnTo>
                  <a:pt x="5791200" y="4943469"/>
                </a:lnTo>
                <a:cubicBezTo>
                  <a:pt x="5791200" y="5006599"/>
                  <a:pt x="5740024" y="5057775"/>
                  <a:pt x="5676894" y="5057775"/>
                </a:cubicBezTo>
                <a:lnTo>
                  <a:pt x="114306" y="5057775"/>
                </a:lnTo>
                <a:cubicBezTo>
                  <a:pt x="51176" y="5057775"/>
                  <a:pt x="0" y="5006599"/>
                  <a:pt x="0" y="494346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https://kimi-img.moonshot.cn/pub/slides/26-03-18-15:39:39-d6t5deq7ch94jfualgk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1025" y="1609725"/>
            <a:ext cx="5400675" cy="4667250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429375" y="1414463"/>
            <a:ext cx="5376863" cy="2038350"/>
          </a:xfrm>
          <a:custGeom>
            <a:avLst/>
            <a:gdLst/>
            <a:ahLst/>
            <a:cxnLst/>
            <a:rect l="l" t="t" r="r" b="b"/>
            <a:pathLst>
              <a:path w="5376863" h="2038350">
                <a:moveTo>
                  <a:pt x="114290" y="0"/>
                </a:moveTo>
                <a:lnTo>
                  <a:pt x="5262572" y="0"/>
                </a:lnTo>
                <a:cubicBezTo>
                  <a:pt x="5325693" y="0"/>
                  <a:pt x="5376863" y="51170"/>
                  <a:pt x="5376863" y="114290"/>
                </a:cubicBezTo>
                <a:lnTo>
                  <a:pt x="5376863" y="1924060"/>
                </a:lnTo>
                <a:cubicBezTo>
                  <a:pt x="5376863" y="1987180"/>
                  <a:pt x="5325693" y="2038350"/>
                  <a:pt x="5262572" y="2038350"/>
                </a:cubicBezTo>
                <a:lnTo>
                  <a:pt x="114290" y="2038350"/>
                </a:lnTo>
                <a:cubicBezTo>
                  <a:pt x="51170" y="2038350"/>
                  <a:pt x="0" y="1987180"/>
                  <a:pt x="0" y="1924060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00825" y="1571625"/>
            <a:ext cx="1771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Value-Added Services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267256" y="1590675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1" y="0"/>
                </a:moveTo>
                <a:lnTo>
                  <a:pt x="342899" y="0"/>
                </a:lnTo>
                <a:cubicBezTo>
                  <a:pt x="363942" y="0"/>
                  <a:pt x="381000" y="17058"/>
                  <a:pt x="381000" y="38101"/>
                </a:cubicBezTo>
                <a:lnTo>
                  <a:pt x="381000" y="190499"/>
                </a:lnTo>
                <a:cubicBezTo>
                  <a:pt x="381000" y="211542"/>
                  <a:pt x="363942" y="228600"/>
                  <a:pt x="3428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1267256" y="1590675"/>
            <a:ext cx="4381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600825" y="1914525"/>
            <a:ext cx="5191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91.4B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600825" y="2295525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+16% YoY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255371" y="2314575"/>
            <a:ext cx="133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Games + Social Networks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600825" y="2605088"/>
            <a:ext cx="5048250" cy="9525"/>
          </a:xfrm>
          <a:custGeom>
            <a:avLst/>
            <a:gdLst/>
            <a:ahLst/>
            <a:cxnLst/>
            <a:rect l="l" t="t" r="r" b="b"/>
            <a:pathLst>
              <a:path w="5048250" h="9525">
                <a:moveTo>
                  <a:pt x="0" y="0"/>
                </a:moveTo>
                <a:lnTo>
                  <a:pt x="5048250" y="0"/>
                </a:lnTo>
                <a:lnTo>
                  <a:pt x="50482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15" name="Text 12"/>
          <p:cNvSpPr/>
          <p:nvPr/>
        </p:nvSpPr>
        <p:spPr>
          <a:xfrm>
            <a:off x="6600825" y="2724150"/>
            <a:ext cx="2524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Domestic Games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600825" y="2876550"/>
            <a:ext cx="2552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40.4B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600825" y="3143250"/>
            <a:ext cx="2524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+17% YoY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182100" y="2724150"/>
            <a:ext cx="2524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International Games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182100" y="2876550"/>
            <a:ext cx="2552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18.8B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182100" y="3143250"/>
            <a:ext cx="2524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+35% YoY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429375" y="3538538"/>
            <a:ext cx="5376863" cy="1228725"/>
          </a:xfrm>
          <a:custGeom>
            <a:avLst/>
            <a:gdLst/>
            <a:ahLst/>
            <a:cxnLst/>
            <a:rect l="l" t="t" r="r" b="b"/>
            <a:pathLst>
              <a:path w="5376863" h="1228725">
                <a:moveTo>
                  <a:pt x="114296" y="0"/>
                </a:moveTo>
                <a:lnTo>
                  <a:pt x="5262567" y="0"/>
                </a:lnTo>
                <a:cubicBezTo>
                  <a:pt x="5325690" y="0"/>
                  <a:pt x="5376863" y="51172"/>
                  <a:pt x="5376863" y="114296"/>
                </a:cubicBezTo>
                <a:lnTo>
                  <a:pt x="5376863" y="1114429"/>
                </a:lnTo>
                <a:cubicBezTo>
                  <a:pt x="5376863" y="1177553"/>
                  <a:pt x="5325690" y="1228725"/>
                  <a:pt x="5262567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00825" y="3695700"/>
            <a:ext cx="154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Marketing Services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1291962" y="3714750"/>
            <a:ext cx="352425" cy="228600"/>
          </a:xfrm>
          <a:custGeom>
            <a:avLst/>
            <a:gdLst/>
            <a:ahLst/>
            <a:cxnLst/>
            <a:rect l="l" t="t" r="r" b="b"/>
            <a:pathLst>
              <a:path w="352425" h="228600">
                <a:moveTo>
                  <a:pt x="38101" y="0"/>
                </a:moveTo>
                <a:lnTo>
                  <a:pt x="314324" y="0"/>
                </a:lnTo>
                <a:cubicBezTo>
                  <a:pt x="335367" y="0"/>
                  <a:pt x="352425" y="17058"/>
                  <a:pt x="352425" y="38101"/>
                </a:cubicBezTo>
                <a:lnTo>
                  <a:pt x="352425" y="190499"/>
                </a:lnTo>
                <a:cubicBezTo>
                  <a:pt x="352425" y="211542"/>
                  <a:pt x="335367" y="228600"/>
                  <a:pt x="3143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F8F8F">
              <a:alpha val="2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11291962" y="3714750"/>
            <a:ext cx="4095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600825" y="4038600"/>
            <a:ext cx="5191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35.8B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600825" y="4419600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+20% YoY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284839" y="4438650"/>
            <a:ext cx="1685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advertising platform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429375" y="4852988"/>
            <a:ext cx="5376863" cy="1228725"/>
          </a:xfrm>
          <a:custGeom>
            <a:avLst/>
            <a:gdLst/>
            <a:ahLst/>
            <a:cxnLst/>
            <a:rect l="l" t="t" r="r" b="b"/>
            <a:pathLst>
              <a:path w="5376863" h="1228725">
                <a:moveTo>
                  <a:pt x="114296" y="0"/>
                </a:moveTo>
                <a:lnTo>
                  <a:pt x="5262567" y="0"/>
                </a:lnTo>
                <a:cubicBezTo>
                  <a:pt x="5325690" y="0"/>
                  <a:pt x="5376863" y="51172"/>
                  <a:pt x="5376863" y="114296"/>
                </a:cubicBezTo>
                <a:lnTo>
                  <a:pt x="5376863" y="1114429"/>
                </a:lnTo>
                <a:cubicBezTo>
                  <a:pt x="5376863" y="1177553"/>
                  <a:pt x="5325690" y="1228725"/>
                  <a:pt x="5262567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600825" y="5010150"/>
            <a:ext cx="2257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FinTech &amp; Business Services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11265619" y="5029200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1" y="0"/>
                </a:moveTo>
                <a:lnTo>
                  <a:pt x="342899" y="0"/>
                </a:lnTo>
                <a:cubicBezTo>
                  <a:pt x="363942" y="0"/>
                  <a:pt x="381000" y="17058"/>
                  <a:pt x="381000" y="38101"/>
                </a:cubicBezTo>
                <a:lnTo>
                  <a:pt x="381000" y="190499"/>
                </a:lnTo>
                <a:cubicBezTo>
                  <a:pt x="381000" y="211542"/>
                  <a:pt x="363942" y="228600"/>
                  <a:pt x="3428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11265619" y="5029200"/>
            <a:ext cx="4381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30%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600825" y="5353050"/>
            <a:ext cx="5191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55.5B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600825" y="5734050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+10% YoY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260729" y="5753100"/>
            <a:ext cx="1571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+ Cloud + AI services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MARGIN EXPANSION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Profitability &amp; Margins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Gross margin improvement driven by high-margin revenue streams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414463"/>
            <a:ext cx="6334125" cy="5314950"/>
          </a:xfrm>
          <a:custGeom>
            <a:avLst/>
            <a:gdLst/>
            <a:ahLst/>
            <a:cxnLst/>
            <a:rect l="l" t="t" r="r" b="b"/>
            <a:pathLst>
              <a:path w="6334125" h="5314950">
                <a:moveTo>
                  <a:pt x="114325" y="0"/>
                </a:moveTo>
                <a:lnTo>
                  <a:pt x="6219800" y="0"/>
                </a:lnTo>
                <a:cubicBezTo>
                  <a:pt x="6282940" y="0"/>
                  <a:pt x="6334125" y="51185"/>
                  <a:pt x="6334125" y="114325"/>
                </a:cubicBezTo>
                <a:lnTo>
                  <a:pt x="6334125" y="5200625"/>
                </a:lnTo>
                <a:cubicBezTo>
                  <a:pt x="6334125" y="5263765"/>
                  <a:pt x="6282940" y="5314950"/>
                  <a:pt x="6219800" y="5314950"/>
                </a:cubicBezTo>
                <a:lnTo>
                  <a:pt x="114325" y="5314950"/>
                </a:lnTo>
                <a:cubicBezTo>
                  <a:pt x="51185" y="5314950"/>
                  <a:pt x="0" y="5263765"/>
                  <a:pt x="0" y="5200625"/>
                </a:cubicBezTo>
                <a:lnTo>
                  <a:pt x="0" y="114325"/>
                </a:lnTo>
                <a:cubicBezTo>
                  <a:pt x="0" y="51185"/>
                  <a:pt x="51185" y="0"/>
                  <a:pt x="114325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https://kimi-img.moonshot.cn/pub/slides/26-03-18-15:39:39-d6t5detqip6f6ijbes2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1025" y="1609725"/>
            <a:ext cx="5943600" cy="4924425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958013" y="1414463"/>
            <a:ext cx="4848225" cy="2581275"/>
          </a:xfrm>
          <a:custGeom>
            <a:avLst/>
            <a:gdLst/>
            <a:ahLst/>
            <a:cxnLst/>
            <a:rect l="l" t="t" r="r" b="b"/>
            <a:pathLst>
              <a:path w="4848225" h="2581275">
                <a:moveTo>
                  <a:pt x="114299" y="0"/>
                </a:moveTo>
                <a:lnTo>
                  <a:pt x="4733926" y="0"/>
                </a:lnTo>
                <a:cubicBezTo>
                  <a:pt x="4797052" y="0"/>
                  <a:pt x="4848225" y="51173"/>
                  <a:pt x="4848225" y="114299"/>
                </a:cubicBezTo>
                <a:lnTo>
                  <a:pt x="4848225" y="2466976"/>
                </a:lnTo>
                <a:cubicBezTo>
                  <a:pt x="4848225" y="2530102"/>
                  <a:pt x="4797052" y="2581275"/>
                  <a:pt x="4733926" y="2581275"/>
                </a:cubicBezTo>
                <a:lnTo>
                  <a:pt x="114299" y="2581275"/>
                </a:lnTo>
                <a:cubicBezTo>
                  <a:pt x="51173" y="2581275"/>
                  <a:pt x="0" y="2530102"/>
                  <a:pt x="0" y="246697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53275" y="16097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7267575" y="1724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7"/>
          <p:cNvSpPr/>
          <p:nvPr/>
        </p:nvSpPr>
        <p:spPr>
          <a:xfrm>
            <a:off x="7648575" y="1666875"/>
            <a:ext cx="1847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Overall Gross Margin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153275" y="2105025"/>
            <a:ext cx="1085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57%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127578" y="2300288"/>
            <a:ext cx="457200" cy="266700"/>
          </a:xfrm>
          <a:custGeom>
            <a:avLst/>
            <a:gdLst/>
            <a:ahLst/>
            <a:cxnLst/>
            <a:rect l="l" t="t" r="r" b="b"/>
            <a:pathLst>
              <a:path w="457200" h="266700">
                <a:moveTo>
                  <a:pt x="38101" y="0"/>
                </a:moveTo>
                <a:lnTo>
                  <a:pt x="419099" y="0"/>
                </a:lnTo>
                <a:cubicBezTo>
                  <a:pt x="440142" y="0"/>
                  <a:pt x="457200" y="17058"/>
                  <a:pt x="457200" y="38101"/>
                </a:cubicBezTo>
                <a:lnTo>
                  <a:pt x="457200" y="228599"/>
                </a:lnTo>
                <a:cubicBezTo>
                  <a:pt x="457200" y="249628"/>
                  <a:pt x="440128" y="266700"/>
                  <a:pt x="4190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8127578" y="2300288"/>
            <a:ext cx="52387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+4pp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153275" y="2643188"/>
            <a:ext cx="452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53% in Q2 2024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153275" y="2990850"/>
            <a:ext cx="4457700" cy="9525"/>
          </a:xfrm>
          <a:custGeom>
            <a:avLst/>
            <a:gdLst/>
            <a:ahLst/>
            <a:cxnLst/>
            <a:rect l="l" t="t" r="r" b="b"/>
            <a:pathLst>
              <a:path w="4457700" h="9525">
                <a:moveTo>
                  <a:pt x="0" y="0"/>
                </a:moveTo>
                <a:lnTo>
                  <a:pt x="4457700" y="0"/>
                </a:lnTo>
                <a:lnTo>
                  <a:pt x="44577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16" name="Text 13"/>
          <p:cNvSpPr/>
          <p:nvPr/>
        </p:nvSpPr>
        <p:spPr>
          <a:xfrm>
            <a:off x="7153275" y="3148013"/>
            <a:ext cx="452437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Driven by increased contributions from high-margin revenue streams including Domestic Games, Video Accounts, and Weixin Search, alongside enhanced cost efficiency.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958013" y="4079081"/>
            <a:ext cx="4848225" cy="2638425"/>
          </a:xfrm>
          <a:custGeom>
            <a:avLst/>
            <a:gdLst/>
            <a:ahLst/>
            <a:cxnLst/>
            <a:rect l="l" t="t" r="r" b="b"/>
            <a:pathLst>
              <a:path w="4848225" h="2638425">
                <a:moveTo>
                  <a:pt x="114297" y="0"/>
                </a:moveTo>
                <a:lnTo>
                  <a:pt x="4733928" y="0"/>
                </a:lnTo>
                <a:cubicBezTo>
                  <a:pt x="4797053" y="0"/>
                  <a:pt x="4848225" y="51172"/>
                  <a:pt x="4848225" y="114297"/>
                </a:cubicBezTo>
                <a:lnTo>
                  <a:pt x="4848225" y="2524128"/>
                </a:lnTo>
                <a:cubicBezTo>
                  <a:pt x="4848225" y="2587253"/>
                  <a:pt x="4797053" y="2638425"/>
                  <a:pt x="4733928" y="2638425"/>
                </a:cubicBezTo>
                <a:lnTo>
                  <a:pt x="114297" y="2638425"/>
                </a:lnTo>
                <a:cubicBezTo>
                  <a:pt x="51172" y="2638425"/>
                  <a:pt x="0" y="2587253"/>
                  <a:pt x="0" y="2524128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53275" y="4274344"/>
            <a:ext cx="4543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Segment Gross Margins (Q2 2025)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153275" y="4712494"/>
            <a:ext cx="323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301710" y="4693444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60%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153275" y="4960144"/>
            <a:ext cx="4457700" cy="76200"/>
          </a:xfrm>
          <a:custGeom>
            <a:avLst/>
            <a:gdLst/>
            <a:ahLst/>
            <a:cxnLst/>
            <a:rect l="l" t="t" r="r" b="b"/>
            <a:pathLst>
              <a:path w="4457700" h="76200">
                <a:moveTo>
                  <a:pt x="38100" y="0"/>
                </a:moveTo>
                <a:lnTo>
                  <a:pt x="4419600" y="0"/>
                </a:lnTo>
                <a:cubicBezTo>
                  <a:pt x="4440628" y="0"/>
                  <a:pt x="4457700" y="17072"/>
                  <a:pt x="4457700" y="38100"/>
                </a:cubicBezTo>
                <a:lnTo>
                  <a:pt x="4457700" y="38100"/>
                </a:lnTo>
                <a:cubicBezTo>
                  <a:pt x="4457700" y="59128"/>
                  <a:pt x="4440628" y="76200"/>
                  <a:pt x="4419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22" name="Shape 19"/>
          <p:cNvSpPr/>
          <p:nvPr/>
        </p:nvSpPr>
        <p:spPr>
          <a:xfrm>
            <a:off x="7153275" y="4960144"/>
            <a:ext cx="2676525" cy="76200"/>
          </a:xfrm>
          <a:custGeom>
            <a:avLst/>
            <a:gdLst/>
            <a:ahLst/>
            <a:cxnLst/>
            <a:rect l="l" t="t" r="r" b="b"/>
            <a:pathLst>
              <a:path w="2676525" h="76200">
                <a:moveTo>
                  <a:pt x="38100" y="0"/>
                </a:moveTo>
                <a:lnTo>
                  <a:pt x="2638425" y="0"/>
                </a:lnTo>
                <a:cubicBezTo>
                  <a:pt x="2659453" y="0"/>
                  <a:pt x="2676525" y="17072"/>
                  <a:pt x="2676525" y="38100"/>
                </a:cubicBezTo>
                <a:lnTo>
                  <a:pt x="2676525" y="38100"/>
                </a:lnTo>
                <a:cubicBezTo>
                  <a:pt x="2676525" y="59128"/>
                  <a:pt x="2659453" y="76200"/>
                  <a:pt x="26384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0"/>
          <p:cNvSpPr/>
          <p:nvPr/>
        </p:nvSpPr>
        <p:spPr>
          <a:xfrm>
            <a:off x="7153275" y="5074444"/>
            <a:ext cx="4514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57% in Q2 2024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153275" y="5360194"/>
            <a:ext cx="120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Marketing Services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1308705" y="5341144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58%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153275" y="5607844"/>
            <a:ext cx="4457700" cy="76200"/>
          </a:xfrm>
          <a:custGeom>
            <a:avLst/>
            <a:gdLst/>
            <a:ahLst/>
            <a:cxnLst/>
            <a:rect l="l" t="t" r="r" b="b"/>
            <a:pathLst>
              <a:path w="4457700" h="76200">
                <a:moveTo>
                  <a:pt x="38100" y="0"/>
                </a:moveTo>
                <a:lnTo>
                  <a:pt x="4419600" y="0"/>
                </a:lnTo>
                <a:cubicBezTo>
                  <a:pt x="4440628" y="0"/>
                  <a:pt x="4457700" y="17072"/>
                  <a:pt x="4457700" y="38100"/>
                </a:cubicBezTo>
                <a:lnTo>
                  <a:pt x="4457700" y="38100"/>
                </a:lnTo>
                <a:cubicBezTo>
                  <a:pt x="4457700" y="59128"/>
                  <a:pt x="4440628" y="76200"/>
                  <a:pt x="4419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27" name="Shape 24"/>
          <p:cNvSpPr/>
          <p:nvPr/>
        </p:nvSpPr>
        <p:spPr>
          <a:xfrm>
            <a:off x="7153275" y="5607844"/>
            <a:ext cx="2581275" cy="76200"/>
          </a:xfrm>
          <a:custGeom>
            <a:avLst/>
            <a:gdLst/>
            <a:ahLst/>
            <a:cxnLst/>
            <a:rect l="l" t="t" r="r" b="b"/>
            <a:pathLst>
              <a:path w="2581275" h="76200">
                <a:moveTo>
                  <a:pt x="38100" y="0"/>
                </a:moveTo>
                <a:lnTo>
                  <a:pt x="2543175" y="0"/>
                </a:lnTo>
                <a:cubicBezTo>
                  <a:pt x="2564203" y="0"/>
                  <a:pt x="2581275" y="17072"/>
                  <a:pt x="2581275" y="38100"/>
                </a:cubicBezTo>
                <a:lnTo>
                  <a:pt x="2581275" y="38100"/>
                </a:lnTo>
                <a:cubicBezTo>
                  <a:pt x="2581275" y="59128"/>
                  <a:pt x="2564203" y="76200"/>
                  <a:pt x="25431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8" name="Text 25"/>
          <p:cNvSpPr/>
          <p:nvPr/>
        </p:nvSpPr>
        <p:spPr>
          <a:xfrm>
            <a:off x="7153275" y="5722144"/>
            <a:ext cx="4514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56% in Q2 2024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153275" y="6007894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FinTech &amp; Business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1313765" y="5988844"/>
            <a:ext cx="371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52%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153275" y="6255544"/>
            <a:ext cx="4457700" cy="76200"/>
          </a:xfrm>
          <a:custGeom>
            <a:avLst/>
            <a:gdLst/>
            <a:ahLst/>
            <a:cxnLst/>
            <a:rect l="l" t="t" r="r" b="b"/>
            <a:pathLst>
              <a:path w="4457700" h="76200">
                <a:moveTo>
                  <a:pt x="38100" y="0"/>
                </a:moveTo>
                <a:lnTo>
                  <a:pt x="4419600" y="0"/>
                </a:lnTo>
                <a:cubicBezTo>
                  <a:pt x="4440628" y="0"/>
                  <a:pt x="4457700" y="17072"/>
                  <a:pt x="4457700" y="38100"/>
                </a:cubicBezTo>
                <a:lnTo>
                  <a:pt x="4457700" y="38100"/>
                </a:lnTo>
                <a:cubicBezTo>
                  <a:pt x="4457700" y="59128"/>
                  <a:pt x="4440628" y="76200"/>
                  <a:pt x="4419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32" name="Shape 29"/>
          <p:cNvSpPr/>
          <p:nvPr/>
        </p:nvSpPr>
        <p:spPr>
          <a:xfrm>
            <a:off x="7153275" y="6255544"/>
            <a:ext cx="2314575" cy="76200"/>
          </a:xfrm>
          <a:custGeom>
            <a:avLst/>
            <a:gdLst/>
            <a:ahLst/>
            <a:cxnLst/>
            <a:rect l="l" t="t" r="r" b="b"/>
            <a:pathLst>
              <a:path w="2314575" h="76200">
                <a:moveTo>
                  <a:pt x="38100" y="0"/>
                </a:moveTo>
                <a:lnTo>
                  <a:pt x="2276475" y="0"/>
                </a:lnTo>
                <a:cubicBezTo>
                  <a:pt x="2297503" y="0"/>
                  <a:pt x="2314575" y="17072"/>
                  <a:pt x="2314575" y="38100"/>
                </a:cubicBezTo>
                <a:lnTo>
                  <a:pt x="2314575" y="38100"/>
                </a:lnTo>
                <a:cubicBezTo>
                  <a:pt x="2314575" y="59128"/>
                  <a:pt x="2297503" y="76200"/>
                  <a:pt x="22764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3" name="Text 30"/>
          <p:cNvSpPr/>
          <p:nvPr/>
        </p:nvSpPr>
        <p:spPr>
          <a:xfrm>
            <a:off x="7153275" y="6369844"/>
            <a:ext cx="4514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48% in Q2 2024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296" y="370296"/>
            <a:ext cx="11516210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spc="51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GAMING BUSINESS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0296" y="629503"/>
            <a:ext cx="11618041" cy="37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Games Performance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0296" y="1073859"/>
            <a:ext cx="11525467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Domestic and international games driving VAS growth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8811" y="1374724"/>
            <a:ext cx="5633130" cy="3758506"/>
          </a:xfrm>
          <a:custGeom>
            <a:avLst/>
            <a:gdLst/>
            <a:ahLst/>
            <a:cxnLst/>
            <a:rect l="l" t="t" r="r" b="b"/>
            <a:pathLst>
              <a:path w="5633130" h="3758506">
                <a:moveTo>
                  <a:pt x="111101" y="0"/>
                </a:moveTo>
                <a:lnTo>
                  <a:pt x="5522028" y="0"/>
                </a:lnTo>
                <a:cubicBezTo>
                  <a:pt x="5583388" y="0"/>
                  <a:pt x="5633130" y="49742"/>
                  <a:pt x="5633130" y="111101"/>
                </a:cubicBezTo>
                <a:lnTo>
                  <a:pt x="5633130" y="3647404"/>
                </a:lnTo>
                <a:cubicBezTo>
                  <a:pt x="5633130" y="3708723"/>
                  <a:pt x="5583347" y="3758506"/>
                  <a:pt x="5522028" y="3758506"/>
                </a:cubicBezTo>
                <a:lnTo>
                  <a:pt x="111101" y="3758506"/>
                </a:lnTo>
                <a:cubicBezTo>
                  <a:pt x="49742" y="3758506"/>
                  <a:pt x="0" y="3708764"/>
                  <a:pt x="0" y="3647404"/>
                </a:cubicBezTo>
                <a:lnTo>
                  <a:pt x="0" y="111101"/>
                </a:lnTo>
                <a:cubicBezTo>
                  <a:pt x="0" y="49742"/>
                  <a:pt x="49742" y="0"/>
                  <a:pt x="11110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2474" y="1564501"/>
            <a:ext cx="444355" cy="444355"/>
          </a:xfrm>
          <a:custGeom>
            <a:avLst/>
            <a:gdLst/>
            <a:ahLst/>
            <a:cxnLst/>
            <a:rect l="l" t="t" r="r" b="b"/>
            <a:pathLst>
              <a:path w="444355" h="444355">
                <a:moveTo>
                  <a:pt x="74061" y="0"/>
                </a:moveTo>
                <a:lnTo>
                  <a:pt x="370295" y="0"/>
                </a:lnTo>
                <a:cubicBezTo>
                  <a:pt x="411197" y="0"/>
                  <a:pt x="444355" y="33158"/>
                  <a:pt x="444355" y="74061"/>
                </a:cubicBezTo>
                <a:lnTo>
                  <a:pt x="444355" y="370295"/>
                </a:lnTo>
                <a:cubicBezTo>
                  <a:pt x="444355" y="411197"/>
                  <a:pt x="411197" y="444355"/>
                  <a:pt x="370295" y="444355"/>
                </a:cubicBezTo>
                <a:lnTo>
                  <a:pt x="74061" y="444355"/>
                </a:lnTo>
                <a:cubicBezTo>
                  <a:pt x="33158" y="444355"/>
                  <a:pt x="0" y="411197"/>
                  <a:pt x="0" y="370295"/>
                </a:cubicBezTo>
                <a:lnTo>
                  <a:pt x="0" y="74061"/>
                </a:lnTo>
                <a:cubicBezTo>
                  <a:pt x="0" y="33158"/>
                  <a:pt x="33158" y="0"/>
                  <a:pt x="7406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22077" y="1694105"/>
            <a:ext cx="185148" cy="185148"/>
          </a:xfrm>
          <a:custGeom>
            <a:avLst/>
            <a:gdLst/>
            <a:ahLst/>
            <a:cxnLst/>
            <a:rect l="l" t="t" r="r" b="b"/>
            <a:pathLst>
              <a:path w="185148" h="185148">
                <a:moveTo>
                  <a:pt x="100457" y="3110"/>
                </a:moveTo>
                <a:cubicBezTo>
                  <a:pt x="96009" y="-1013"/>
                  <a:pt x="89139" y="-1013"/>
                  <a:pt x="84727" y="3110"/>
                </a:cubicBezTo>
                <a:lnTo>
                  <a:pt x="3725" y="78326"/>
                </a:lnTo>
                <a:cubicBezTo>
                  <a:pt x="253" y="81581"/>
                  <a:pt x="-904" y="86607"/>
                  <a:pt x="832" y="91019"/>
                </a:cubicBezTo>
                <a:cubicBezTo>
                  <a:pt x="2567" y="95431"/>
                  <a:pt x="6798" y="98360"/>
                  <a:pt x="11572" y="98360"/>
                </a:cubicBezTo>
                <a:lnTo>
                  <a:pt x="17358" y="98360"/>
                </a:lnTo>
                <a:lnTo>
                  <a:pt x="17358" y="162005"/>
                </a:lnTo>
                <a:cubicBezTo>
                  <a:pt x="17358" y="174770"/>
                  <a:pt x="27736" y="185148"/>
                  <a:pt x="40501" y="185148"/>
                </a:cubicBezTo>
                <a:lnTo>
                  <a:pt x="144647" y="185148"/>
                </a:lnTo>
                <a:cubicBezTo>
                  <a:pt x="157412" y="185148"/>
                  <a:pt x="167790" y="174770"/>
                  <a:pt x="167790" y="162005"/>
                </a:cubicBezTo>
                <a:lnTo>
                  <a:pt x="167790" y="98360"/>
                </a:lnTo>
                <a:lnTo>
                  <a:pt x="173576" y="98360"/>
                </a:lnTo>
                <a:cubicBezTo>
                  <a:pt x="178350" y="98360"/>
                  <a:pt x="182617" y="95431"/>
                  <a:pt x="184353" y="91019"/>
                </a:cubicBezTo>
                <a:cubicBezTo>
                  <a:pt x="186088" y="86607"/>
                  <a:pt x="184931" y="81545"/>
                  <a:pt x="181460" y="78326"/>
                </a:cubicBezTo>
                <a:lnTo>
                  <a:pt x="100457" y="3110"/>
                </a:lnTo>
                <a:close/>
                <a:moveTo>
                  <a:pt x="86788" y="115718"/>
                </a:moveTo>
                <a:lnTo>
                  <a:pt x="98360" y="115718"/>
                </a:lnTo>
                <a:cubicBezTo>
                  <a:pt x="107943" y="115718"/>
                  <a:pt x="115718" y="123492"/>
                  <a:pt x="115718" y="133075"/>
                </a:cubicBezTo>
                <a:lnTo>
                  <a:pt x="115718" y="167790"/>
                </a:lnTo>
                <a:lnTo>
                  <a:pt x="69431" y="167790"/>
                </a:lnTo>
                <a:lnTo>
                  <a:pt x="69431" y="133075"/>
                </a:lnTo>
                <a:cubicBezTo>
                  <a:pt x="69431" y="123492"/>
                  <a:pt x="77205" y="115718"/>
                  <a:pt x="86788" y="11571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147918" y="1564501"/>
            <a:ext cx="1481185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Domestic Games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7918" y="1823708"/>
            <a:ext cx="1453412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China market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2474" y="2156975"/>
            <a:ext cx="5304492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2474" y="2379153"/>
            <a:ext cx="1832966" cy="37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40.4B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369895" y="2494870"/>
            <a:ext cx="703563" cy="259207"/>
          </a:xfrm>
          <a:custGeom>
            <a:avLst/>
            <a:gdLst/>
            <a:ahLst/>
            <a:cxnLst/>
            <a:rect l="l" t="t" r="r" b="b"/>
            <a:pathLst>
              <a:path w="703563" h="259207">
                <a:moveTo>
                  <a:pt x="37030" y="0"/>
                </a:moveTo>
                <a:lnTo>
                  <a:pt x="666532" y="0"/>
                </a:lnTo>
                <a:cubicBezTo>
                  <a:pt x="686984" y="0"/>
                  <a:pt x="703563" y="16579"/>
                  <a:pt x="703563" y="37030"/>
                </a:cubicBezTo>
                <a:lnTo>
                  <a:pt x="703563" y="222177"/>
                </a:lnTo>
                <a:cubicBezTo>
                  <a:pt x="703563" y="242628"/>
                  <a:pt x="686984" y="259207"/>
                  <a:pt x="666532" y="259207"/>
                </a:cubicBezTo>
                <a:lnTo>
                  <a:pt x="37030" y="259207"/>
                </a:lnTo>
                <a:cubicBezTo>
                  <a:pt x="16593" y="259207"/>
                  <a:pt x="0" y="242615"/>
                  <a:pt x="0" y="222177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369895" y="2494870"/>
            <a:ext cx="768364" cy="259207"/>
          </a:xfrm>
          <a:prstGeom prst="rect">
            <a:avLst/>
          </a:prstGeom>
          <a:noFill/>
          <a:ln/>
        </p:spPr>
        <p:txBody>
          <a:bodyPr wrap="square" lIns="74059" tIns="37030" rIns="74059" bIns="37030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+17% YoY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2474" y="2902196"/>
            <a:ext cx="5239690" cy="1147918"/>
          </a:xfrm>
          <a:custGeom>
            <a:avLst/>
            <a:gdLst/>
            <a:ahLst/>
            <a:cxnLst/>
            <a:rect l="l" t="t" r="r" b="b"/>
            <a:pathLst>
              <a:path w="5239690" h="1147918">
                <a:moveTo>
                  <a:pt x="74064" y="0"/>
                </a:moveTo>
                <a:lnTo>
                  <a:pt x="5165627" y="0"/>
                </a:lnTo>
                <a:cubicBezTo>
                  <a:pt x="5206531" y="0"/>
                  <a:pt x="5239690" y="33159"/>
                  <a:pt x="5239690" y="74064"/>
                </a:cubicBezTo>
                <a:lnTo>
                  <a:pt x="5239690" y="1073854"/>
                </a:lnTo>
                <a:cubicBezTo>
                  <a:pt x="5239690" y="1114759"/>
                  <a:pt x="5206531" y="1147918"/>
                  <a:pt x="5165627" y="1147918"/>
                </a:cubicBezTo>
                <a:lnTo>
                  <a:pt x="74064" y="1147918"/>
                </a:lnTo>
                <a:cubicBezTo>
                  <a:pt x="33159" y="1147918"/>
                  <a:pt x="0" y="1114759"/>
                  <a:pt x="0" y="1073854"/>
                </a:cubicBezTo>
                <a:lnTo>
                  <a:pt x="0" y="74064"/>
                </a:lnTo>
                <a:cubicBezTo>
                  <a:pt x="0" y="33187"/>
                  <a:pt x="33187" y="0"/>
                  <a:pt x="74064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5" name="Text 13"/>
          <p:cNvSpPr/>
          <p:nvPr/>
        </p:nvSpPr>
        <p:spPr>
          <a:xfrm>
            <a:off x="703563" y="3013285"/>
            <a:ext cx="5091572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Delta Force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3563" y="3272492"/>
            <a:ext cx="5082314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First-person shooter released Sep 2024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3563" y="3531699"/>
            <a:ext cx="749850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8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20M+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3563" y="3790907"/>
            <a:ext cx="712820" cy="148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Monthly DAU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161" y="3531699"/>
            <a:ext cx="1009057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8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08161" y="3790907"/>
            <a:ext cx="972027" cy="148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 DAU Rank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575872" y="3531699"/>
            <a:ext cx="1092374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8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575872" y="3790907"/>
            <a:ext cx="1055344" cy="148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Gross Receipts Rank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2474" y="4161203"/>
            <a:ext cx="5239690" cy="777622"/>
          </a:xfrm>
          <a:custGeom>
            <a:avLst/>
            <a:gdLst/>
            <a:ahLst/>
            <a:cxnLst/>
            <a:rect l="l" t="t" r="r" b="b"/>
            <a:pathLst>
              <a:path w="5239690" h="777622">
                <a:moveTo>
                  <a:pt x="74061" y="0"/>
                </a:moveTo>
                <a:lnTo>
                  <a:pt x="5165629" y="0"/>
                </a:lnTo>
                <a:cubicBezTo>
                  <a:pt x="5206532" y="0"/>
                  <a:pt x="5239690" y="33158"/>
                  <a:pt x="5239690" y="74061"/>
                </a:cubicBezTo>
                <a:lnTo>
                  <a:pt x="5239690" y="703561"/>
                </a:lnTo>
                <a:cubicBezTo>
                  <a:pt x="5239690" y="744464"/>
                  <a:pt x="5206532" y="777622"/>
                  <a:pt x="5165629" y="777622"/>
                </a:cubicBezTo>
                <a:lnTo>
                  <a:pt x="74061" y="777622"/>
                </a:lnTo>
                <a:cubicBezTo>
                  <a:pt x="33185" y="777622"/>
                  <a:pt x="0" y="744436"/>
                  <a:pt x="0" y="703561"/>
                </a:cubicBezTo>
                <a:lnTo>
                  <a:pt x="0" y="74061"/>
                </a:lnTo>
                <a:cubicBezTo>
                  <a:pt x="0" y="33158"/>
                  <a:pt x="33158" y="0"/>
                  <a:pt x="74061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24" name="Text 22"/>
          <p:cNvSpPr/>
          <p:nvPr/>
        </p:nvSpPr>
        <p:spPr>
          <a:xfrm>
            <a:off x="703563" y="4272292"/>
            <a:ext cx="5091572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Evergreen Titles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03563" y="4568528"/>
            <a:ext cx="1064601" cy="259207"/>
          </a:xfrm>
          <a:custGeom>
            <a:avLst/>
            <a:gdLst/>
            <a:ahLst/>
            <a:cxnLst/>
            <a:rect l="l" t="t" r="r" b="b"/>
            <a:pathLst>
              <a:path w="1064601" h="259207">
                <a:moveTo>
                  <a:pt x="129604" y="0"/>
                </a:moveTo>
                <a:lnTo>
                  <a:pt x="934998" y="0"/>
                </a:lnTo>
                <a:cubicBezTo>
                  <a:pt x="1006576" y="0"/>
                  <a:pt x="1064601" y="58026"/>
                  <a:pt x="1064601" y="129604"/>
                </a:cubicBezTo>
                <a:lnTo>
                  <a:pt x="1064601" y="129604"/>
                </a:lnTo>
                <a:cubicBezTo>
                  <a:pt x="1064601" y="201182"/>
                  <a:pt x="1006576" y="259207"/>
                  <a:pt x="934998" y="259207"/>
                </a:cubicBezTo>
                <a:lnTo>
                  <a:pt x="129604" y="259207"/>
                </a:lnTo>
                <a:cubicBezTo>
                  <a:pt x="58073" y="259207"/>
                  <a:pt x="0" y="201134"/>
                  <a:pt x="0" y="129604"/>
                </a:cubicBezTo>
                <a:lnTo>
                  <a:pt x="0" y="129604"/>
                </a:lnTo>
                <a:cubicBezTo>
                  <a:pt x="0" y="58073"/>
                  <a:pt x="58073" y="0"/>
                  <a:pt x="129604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03563" y="4568528"/>
            <a:ext cx="1129403" cy="259207"/>
          </a:xfrm>
          <a:prstGeom prst="rect">
            <a:avLst/>
          </a:prstGeom>
          <a:noFill/>
          <a:ln/>
        </p:spPr>
        <p:txBody>
          <a:bodyPr wrap="square" lIns="111089" tIns="37030" rIns="111089" bIns="3703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Honor of Kings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843453" y="4568528"/>
            <a:ext cx="1240492" cy="259207"/>
          </a:xfrm>
          <a:custGeom>
            <a:avLst/>
            <a:gdLst/>
            <a:ahLst/>
            <a:cxnLst/>
            <a:rect l="l" t="t" r="r" b="b"/>
            <a:pathLst>
              <a:path w="1240492" h="259207">
                <a:moveTo>
                  <a:pt x="129604" y="0"/>
                </a:moveTo>
                <a:lnTo>
                  <a:pt x="1110888" y="0"/>
                </a:lnTo>
                <a:cubicBezTo>
                  <a:pt x="1182466" y="0"/>
                  <a:pt x="1240492" y="58026"/>
                  <a:pt x="1240492" y="129604"/>
                </a:cubicBezTo>
                <a:lnTo>
                  <a:pt x="1240492" y="129604"/>
                </a:lnTo>
                <a:cubicBezTo>
                  <a:pt x="1240492" y="201182"/>
                  <a:pt x="1182466" y="259207"/>
                  <a:pt x="1110888" y="259207"/>
                </a:cubicBezTo>
                <a:lnTo>
                  <a:pt x="129604" y="259207"/>
                </a:lnTo>
                <a:cubicBezTo>
                  <a:pt x="58073" y="259207"/>
                  <a:pt x="0" y="201134"/>
                  <a:pt x="0" y="129604"/>
                </a:cubicBezTo>
                <a:lnTo>
                  <a:pt x="0" y="129604"/>
                </a:lnTo>
                <a:cubicBezTo>
                  <a:pt x="0" y="58073"/>
                  <a:pt x="58073" y="0"/>
                  <a:pt x="129604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843453" y="4568528"/>
            <a:ext cx="1305294" cy="259207"/>
          </a:xfrm>
          <a:prstGeom prst="rect">
            <a:avLst/>
          </a:prstGeom>
          <a:noFill/>
          <a:ln/>
        </p:spPr>
        <p:txBody>
          <a:bodyPr wrap="square" lIns="111089" tIns="37030" rIns="111089" bIns="3703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Peacekeeper Elite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162054" y="4568528"/>
            <a:ext cx="897968" cy="259207"/>
          </a:xfrm>
          <a:custGeom>
            <a:avLst/>
            <a:gdLst/>
            <a:ahLst/>
            <a:cxnLst/>
            <a:rect l="l" t="t" r="r" b="b"/>
            <a:pathLst>
              <a:path w="897968" h="259207">
                <a:moveTo>
                  <a:pt x="129604" y="0"/>
                </a:moveTo>
                <a:lnTo>
                  <a:pt x="768364" y="0"/>
                </a:lnTo>
                <a:cubicBezTo>
                  <a:pt x="839943" y="0"/>
                  <a:pt x="897968" y="58026"/>
                  <a:pt x="897968" y="129604"/>
                </a:cubicBezTo>
                <a:lnTo>
                  <a:pt x="897968" y="129604"/>
                </a:lnTo>
                <a:cubicBezTo>
                  <a:pt x="897968" y="201182"/>
                  <a:pt x="839943" y="259207"/>
                  <a:pt x="768364" y="259207"/>
                </a:cubicBezTo>
                <a:lnTo>
                  <a:pt x="129604" y="259207"/>
                </a:lnTo>
                <a:cubicBezTo>
                  <a:pt x="58073" y="259207"/>
                  <a:pt x="0" y="201134"/>
                  <a:pt x="0" y="129604"/>
                </a:cubicBezTo>
                <a:lnTo>
                  <a:pt x="0" y="129604"/>
                </a:lnTo>
                <a:cubicBezTo>
                  <a:pt x="0" y="58073"/>
                  <a:pt x="58073" y="0"/>
                  <a:pt x="129604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162054" y="4568528"/>
            <a:ext cx="962770" cy="259207"/>
          </a:xfrm>
          <a:prstGeom prst="rect">
            <a:avLst/>
          </a:prstGeom>
          <a:noFill/>
          <a:ln/>
        </p:spPr>
        <p:txBody>
          <a:bodyPr wrap="square" lIns="111089" tIns="37030" rIns="111089" bIns="3703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VALORANT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90093" y="1374724"/>
            <a:ext cx="5633130" cy="4128802"/>
          </a:xfrm>
          <a:custGeom>
            <a:avLst/>
            <a:gdLst/>
            <a:ahLst/>
            <a:cxnLst/>
            <a:rect l="l" t="t" r="r" b="b"/>
            <a:pathLst>
              <a:path w="5633130" h="4128802">
                <a:moveTo>
                  <a:pt x="111106" y="0"/>
                </a:moveTo>
                <a:lnTo>
                  <a:pt x="5522024" y="0"/>
                </a:lnTo>
                <a:cubicBezTo>
                  <a:pt x="5583386" y="0"/>
                  <a:pt x="5633130" y="49744"/>
                  <a:pt x="5633130" y="111106"/>
                </a:cubicBezTo>
                <a:lnTo>
                  <a:pt x="5633130" y="4017696"/>
                </a:lnTo>
                <a:cubicBezTo>
                  <a:pt x="5633130" y="4079058"/>
                  <a:pt x="5583386" y="4128802"/>
                  <a:pt x="5522024" y="4128802"/>
                </a:cubicBezTo>
                <a:lnTo>
                  <a:pt x="111106" y="4128802"/>
                </a:lnTo>
                <a:cubicBezTo>
                  <a:pt x="49744" y="4128802"/>
                  <a:pt x="0" y="4079058"/>
                  <a:pt x="0" y="4017696"/>
                </a:cubicBezTo>
                <a:lnTo>
                  <a:pt x="0" y="111106"/>
                </a:lnTo>
                <a:cubicBezTo>
                  <a:pt x="0" y="49785"/>
                  <a:pt x="49785" y="0"/>
                  <a:pt x="11110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93756" y="1564501"/>
            <a:ext cx="444355" cy="444355"/>
          </a:xfrm>
          <a:custGeom>
            <a:avLst/>
            <a:gdLst/>
            <a:ahLst/>
            <a:cxnLst/>
            <a:rect l="l" t="t" r="r" b="b"/>
            <a:pathLst>
              <a:path w="444355" h="444355">
                <a:moveTo>
                  <a:pt x="74061" y="0"/>
                </a:moveTo>
                <a:lnTo>
                  <a:pt x="370295" y="0"/>
                </a:lnTo>
                <a:cubicBezTo>
                  <a:pt x="411197" y="0"/>
                  <a:pt x="444355" y="33158"/>
                  <a:pt x="444355" y="74061"/>
                </a:cubicBezTo>
                <a:lnTo>
                  <a:pt x="444355" y="370295"/>
                </a:lnTo>
                <a:cubicBezTo>
                  <a:pt x="444355" y="411197"/>
                  <a:pt x="411197" y="444355"/>
                  <a:pt x="370295" y="444355"/>
                </a:cubicBezTo>
                <a:lnTo>
                  <a:pt x="74061" y="444355"/>
                </a:lnTo>
                <a:cubicBezTo>
                  <a:pt x="33158" y="444355"/>
                  <a:pt x="0" y="411197"/>
                  <a:pt x="0" y="370295"/>
                </a:cubicBezTo>
                <a:lnTo>
                  <a:pt x="0" y="74061"/>
                </a:lnTo>
                <a:cubicBezTo>
                  <a:pt x="0" y="33158"/>
                  <a:pt x="33158" y="0"/>
                  <a:pt x="74061" y="0"/>
                </a:cubicBezTo>
                <a:close/>
              </a:path>
            </a:pathLst>
          </a:custGeom>
          <a:solidFill>
            <a:srgbClr val="8F8F8F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523359" y="1694105"/>
            <a:ext cx="185148" cy="185148"/>
          </a:xfrm>
          <a:custGeom>
            <a:avLst/>
            <a:gdLst/>
            <a:ahLst/>
            <a:cxnLst/>
            <a:rect l="l" t="t" r="r" b="b"/>
            <a:pathLst>
              <a:path w="185148" h="185148">
                <a:moveTo>
                  <a:pt x="127253" y="101253"/>
                </a:moveTo>
                <a:lnTo>
                  <a:pt x="58220" y="101253"/>
                </a:lnTo>
                <a:cubicBezTo>
                  <a:pt x="59269" y="124577"/>
                  <a:pt x="64440" y="146057"/>
                  <a:pt x="71781" y="161788"/>
                </a:cubicBezTo>
                <a:cubicBezTo>
                  <a:pt x="75903" y="170647"/>
                  <a:pt x="80351" y="176903"/>
                  <a:pt x="84474" y="180736"/>
                </a:cubicBezTo>
                <a:cubicBezTo>
                  <a:pt x="88524" y="184533"/>
                  <a:pt x="91308" y="185148"/>
                  <a:pt x="92755" y="185148"/>
                </a:cubicBezTo>
                <a:cubicBezTo>
                  <a:pt x="94201" y="185148"/>
                  <a:pt x="96986" y="184533"/>
                  <a:pt x="101036" y="180736"/>
                </a:cubicBezTo>
                <a:cubicBezTo>
                  <a:pt x="105158" y="176903"/>
                  <a:pt x="109606" y="170611"/>
                  <a:pt x="113729" y="161788"/>
                </a:cubicBezTo>
                <a:cubicBezTo>
                  <a:pt x="121069" y="146057"/>
                  <a:pt x="126241" y="124577"/>
                  <a:pt x="127289" y="101253"/>
                </a:cubicBezTo>
                <a:close/>
                <a:moveTo>
                  <a:pt x="58184" y="83895"/>
                </a:moveTo>
                <a:lnTo>
                  <a:pt x="127217" y="83895"/>
                </a:lnTo>
                <a:cubicBezTo>
                  <a:pt x="126204" y="60571"/>
                  <a:pt x="121033" y="39091"/>
                  <a:pt x="113692" y="23360"/>
                </a:cubicBezTo>
                <a:cubicBezTo>
                  <a:pt x="109570" y="14537"/>
                  <a:pt x="105122" y="8245"/>
                  <a:pt x="101000" y="4412"/>
                </a:cubicBezTo>
                <a:cubicBezTo>
                  <a:pt x="96950" y="615"/>
                  <a:pt x="94165" y="0"/>
                  <a:pt x="92719" y="0"/>
                </a:cubicBezTo>
                <a:cubicBezTo>
                  <a:pt x="91272" y="0"/>
                  <a:pt x="88488" y="615"/>
                  <a:pt x="84438" y="4412"/>
                </a:cubicBezTo>
                <a:cubicBezTo>
                  <a:pt x="80315" y="8245"/>
                  <a:pt x="75867" y="14537"/>
                  <a:pt x="71745" y="23360"/>
                </a:cubicBezTo>
                <a:cubicBezTo>
                  <a:pt x="64404" y="39091"/>
                  <a:pt x="59233" y="60571"/>
                  <a:pt x="58184" y="83895"/>
                </a:cubicBezTo>
                <a:close/>
                <a:moveTo>
                  <a:pt x="40827" y="83895"/>
                </a:moveTo>
                <a:cubicBezTo>
                  <a:pt x="42092" y="52941"/>
                  <a:pt x="50084" y="24192"/>
                  <a:pt x="61764" y="5316"/>
                </a:cubicBezTo>
                <a:cubicBezTo>
                  <a:pt x="28459" y="17104"/>
                  <a:pt x="3942" y="47444"/>
                  <a:pt x="542" y="83895"/>
                </a:cubicBezTo>
                <a:lnTo>
                  <a:pt x="40827" y="83895"/>
                </a:lnTo>
                <a:close/>
                <a:moveTo>
                  <a:pt x="542" y="101253"/>
                </a:moveTo>
                <a:cubicBezTo>
                  <a:pt x="3942" y="137704"/>
                  <a:pt x="28459" y="168044"/>
                  <a:pt x="61764" y="179832"/>
                </a:cubicBezTo>
                <a:cubicBezTo>
                  <a:pt x="50084" y="160956"/>
                  <a:pt x="42092" y="132207"/>
                  <a:pt x="40827" y="101253"/>
                </a:cubicBezTo>
                <a:lnTo>
                  <a:pt x="542" y="101253"/>
                </a:lnTo>
                <a:close/>
                <a:moveTo>
                  <a:pt x="144611" y="101253"/>
                </a:moveTo>
                <a:cubicBezTo>
                  <a:pt x="143345" y="132207"/>
                  <a:pt x="135353" y="160956"/>
                  <a:pt x="123673" y="179832"/>
                </a:cubicBezTo>
                <a:cubicBezTo>
                  <a:pt x="156978" y="168007"/>
                  <a:pt x="181496" y="137704"/>
                  <a:pt x="184895" y="101253"/>
                </a:cubicBezTo>
                <a:lnTo>
                  <a:pt x="144611" y="101253"/>
                </a:lnTo>
                <a:close/>
                <a:moveTo>
                  <a:pt x="184895" y="83895"/>
                </a:moveTo>
                <a:cubicBezTo>
                  <a:pt x="181496" y="47444"/>
                  <a:pt x="156978" y="17104"/>
                  <a:pt x="123673" y="5316"/>
                </a:cubicBezTo>
                <a:cubicBezTo>
                  <a:pt x="135353" y="24192"/>
                  <a:pt x="143345" y="52941"/>
                  <a:pt x="144611" y="83895"/>
                </a:cubicBezTo>
                <a:lnTo>
                  <a:pt x="184895" y="83895"/>
                </a:lnTo>
                <a:close/>
              </a:path>
            </a:pathLst>
          </a:custGeom>
          <a:solidFill>
            <a:srgbClr val="8F8F8F"/>
          </a:solidFill>
          <a:ln/>
        </p:spPr>
      </p:sp>
      <p:sp>
        <p:nvSpPr>
          <p:cNvPr id="34" name="Text 32"/>
          <p:cNvSpPr/>
          <p:nvPr/>
        </p:nvSpPr>
        <p:spPr>
          <a:xfrm>
            <a:off x="6949200" y="1564501"/>
            <a:ext cx="1721877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International Games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49200" y="1823708"/>
            <a:ext cx="1694105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markets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93756" y="2156975"/>
            <a:ext cx="5304492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93756" y="2379153"/>
            <a:ext cx="1768164" cy="37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18.8B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108545" y="2494870"/>
            <a:ext cx="731335" cy="259207"/>
          </a:xfrm>
          <a:custGeom>
            <a:avLst/>
            <a:gdLst/>
            <a:ahLst/>
            <a:cxnLst/>
            <a:rect l="l" t="t" r="r" b="b"/>
            <a:pathLst>
              <a:path w="731335" h="259207">
                <a:moveTo>
                  <a:pt x="37030" y="0"/>
                </a:moveTo>
                <a:lnTo>
                  <a:pt x="694304" y="0"/>
                </a:lnTo>
                <a:cubicBezTo>
                  <a:pt x="714756" y="0"/>
                  <a:pt x="731335" y="16579"/>
                  <a:pt x="731335" y="37030"/>
                </a:cubicBezTo>
                <a:lnTo>
                  <a:pt x="731335" y="222177"/>
                </a:lnTo>
                <a:cubicBezTo>
                  <a:pt x="731335" y="242628"/>
                  <a:pt x="714756" y="259207"/>
                  <a:pt x="694304" y="259207"/>
                </a:cubicBezTo>
                <a:lnTo>
                  <a:pt x="37030" y="259207"/>
                </a:lnTo>
                <a:cubicBezTo>
                  <a:pt x="16593" y="259207"/>
                  <a:pt x="0" y="242615"/>
                  <a:pt x="0" y="222177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8108545" y="2494870"/>
            <a:ext cx="796137" cy="259207"/>
          </a:xfrm>
          <a:prstGeom prst="rect">
            <a:avLst/>
          </a:prstGeom>
          <a:noFill/>
          <a:ln/>
        </p:spPr>
        <p:txBody>
          <a:bodyPr wrap="square" lIns="74059" tIns="37030" rIns="74059" bIns="37030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+35% YoY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93756" y="2791107"/>
            <a:ext cx="5295235" cy="148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+33% on constant currency basis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93756" y="3087344"/>
            <a:ext cx="5239690" cy="1221977"/>
          </a:xfrm>
          <a:custGeom>
            <a:avLst/>
            <a:gdLst/>
            <a:ahLst/>
            <a:cxnLst/>
            <a:rect l="l" t="t" r="r" b="b"/>
            <a:pathLst>
              <a:path w="5239690" h="1221977">
                <a:moveTo>
                  <a:pt x="74064" y="0"/>
                </a:moveTo>
                <a:lnTo>
                  <a:pt x="5165626" y="0"/>
                </a:lnTo>
                <a:cubicBezTo>
                  <a:pt x="5206531" y="0"/>
                  <a:pt x="5239690" y="33160"/>
                  <a:pt x="5239690" y="74064"/>
                </a:cubicBezTo>
                <a:lnTo>
                  <a:pt x="5239690" y="1147913"/>
                </a:lnTo>
                <a:cubicBezTo>
                  <a:pt x="5239690" y="1188818"/>
                  <a:pt x="5206531" y="1221977"/>
                  <a:pt x="5165626" y="1221977"/>
                </a:cubicBezTo>
                <a:lnTo>
                  <a:pt x="74064" y="1221977"/>
                </a:lnTo>
                <a:cubicBezTo>
                  <a:pt x="33160" y="1221977"/>
                  <a:pt x="0" y="1188818"/>
                  <a:pt x="0" y="1147913"/>
                </a:cubicBezTo>
                <a:lnTo>
                  <a:pt x="0" y="74064"/>
                </a:lnTo>
                <a:cubicBezTo>
                  <a:pt x="0" y="33160"/>
                  <a:pt x="33160" y="0"/>
                  <a:pt x="74064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42" name="Text 40"/>
          <p:cNvSpPr/>
          <p:nvPr/>
        </p:nvSpPr>
        <p:spPr>
          <a:xfrm>
            <a:off x="6504845" y="3198433"/>
            <a:ext cx="5091572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Growth Drivers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523359" y="3513185"/>
            <a:ext cx="148118" cy="148118"/>
          </a:xfrm>
          <a:custGeom>
            <a:avLst/>
            <a:gdLst/>
            <a:ahLst/>
            <a:cxnLst/>
            <a:rect l="l" t="t" r="r" b="b"/>
            <a:pathLst>
              <a:path w="148118" h="148118">
                <a:moveTo>
                  <a:pt x="74059" y="148118"/>
                </a:moveTo>
                <a:cubicBezTo>
                  <a:pt x="114934" y="148118"/>
                  <a:pt x="148118" y="114934"/>
                  <a:pt x="148118" y="74059"/>
                </a:cubicBezTo>
                <a:cubicBezTo>
                  <a:pt x="148118" y="33185"/>
                  <a:pt x="114934" y="0"/>
                  <a:pt x="74059" y="0"/>
                </a:cubicBezTo>
                <a:cubicBezTo>
                  <a:pt x="33185" y="0"/>
                  <a:pt x="0" y="33185"/>
                  <a:pt x="0" y="74059"/>
                </a:cubicBezTo>
                <a:cubicBezTo>
                  <a:pt x="0" y="114934"/>
                  <a:pt x="33185" y="148118"/>
                  <a:pt x="74059" y="148118"/>
                </a:cubicBezTo>
                <a:close/>
                <a:moveTo>
                  <a:pt x="98476" y="61533"/>
                </a:moveTo>
                <a:lnTo>
                  <a:pt x="75332" y="98562"/>
                </a:lnTo>
                <a:cubicBezTo>
                  <a:pt x="74117" y="100501"/>
                  <a:pt x="72034" y="101716"/>
                  <a:pt x="69749" y="101831"/>
                </a:cubicBezTo>
                <a:cubicBezTo>
                  <a:pt x="67463" y="101947"/>
                  <a:pt x="65265" y="100906"/>
                  <a:pt x="63905" y="99054"/>
                </a:cubicBezTo>
                <a:lnTo>
                  <a:pt x="50019" y="80539"/>
                </a:lnTo>
                <a:cubicBezTo>
                  <a:pt x="47705" y="77473"/>
                  <a:pt x="48341" y="73133"/>
                  <a:pt x="51408" y="70819"/>
                </a:cubicBezTo>
                <a:cubicBezTo>
                  <a:pt x="54474" y="68505"/>
                  <a:pt x="58813" y="69141"/>
                  <a:pt x="61128" y="72208"/>
                </a:cubicBezTo>
                <a:lnTo>
                  <a:pt x="68939" y="82622"/>
                </a:lnTo>
                <a:lnTo>
                  <a:pt x="86701" y="54185"/>
                </a:lnTo>
                <a:cubicBezTo>
                  <a:pt x="88726" y="50945"/>
                  <a:pt x="93008" y="49932"/>
                  <a:pt x="96277" y="51986"/>
                </a:cubicBezTo>
                <a:cubicBezTo>
                  <a:pt x="99546" y="54040"/>
                  <a:pt x="100530" y="58293"/>
                  <a:pt x="98476" y="6156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4" name="Text 42"/>
          <p:cNvSpPr/>
          <p:nvPr/>
        </p:nvSpPr>
        <p:spPr>
          <a:xfrm>
            <a:off x="6764052" y="3494670"/>
            <a:ext cx="1777421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Supercell games performance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523359" y="3772392"/>
            <a:ext cx="148118" cy="148118"/>
          </a:xfrm>
          <a:custGeom>
            <a:avLst/>
            <a:gdLst/>
            <a:ahLst/>
            <a:cxnLst/>
            <a:rect l="l" t="t" r="r" b="b"/>
            <a:pathLst>
              <a:path w="148118" h="148118">
                <a:moveTo>
                  <a:pt x="74059" y="148118"/>
                </a:moveTo>
                <a:cubicBezTo>
                  <a:pt x="114934" y="148118"/>
                  <a:pt x="148118" y="114934"/>
                  <a:pt x="148118" y="74059"/>
                </a:cubicBezTo>
                <a:cubicBezTo>
                  <a:pt x="148118" y="33185"/>
                  <a:pt x="114934" y="0"/>
                  <a:pt x="74059" y="0"/>
                </a:cubicBezTo>
                <a:cubicBezTo>
                  <a:pt x="33185" y="0"/>
                  <a:pt x="0" y="33185"/>
                  <a:pt x="0" y="74059"/>
                </a:cubicBezTo>
                <a:cubicBezTo>
                  <a:pt x="0" y="114934"/>
                  <a:pt x="33185" y="148118"/>
                  <a:pt x="74059" y="148118"/>
                </a:cubicBezTo>
                <a:close/>
                <a:moveTo>
                  <a:pt x="98476" y="61533"/>
                </a:moveTo>
                <a:lnTo>
                  <a:pt x="75332" y="98562"/>
                </a:lnTo>
                <a:cubicBezTo>
                  <a:pt x="74117" y="100501"/>
                  <a:pt x="72034" y="101716"/>
                  <a:pt x="69749" y="101831"/>
                </a:cubicBezTo>
                <a:cubicBezTo>
                  <a:pt x="67463" y="101947"/>
                  <a:pt x="65265" y="100906"/>
                  <a:pt x="63905" y="99054"/>
                </a:cubicBezTo>
                <a:lnTo>
                  <a:pt x="50019" y="80539"/>
                </a:lnTo>
                <a:cubicBezTo>
                  <a:pt x="47705" y="77473"/>
                  <a:pt x="48341" y="73133"/>
                  <a:pt x="51408" y="70819"/>
                </a:cubicBezTo>
                <a:cubicBezTo>
                  <a:pt x="54474" y="68505"/>
                  <a:pt x="58813" y="69141"/>
                  <a:pt x="61128" y="72208"/>
                </a:cubicBezTo>
                <a:lnTo>
                  <a:pt x="68939" y="82622"/>
                </a:lnTo>
                <a:lnTo>
                  <a:pt x="86701" y="54185"/>
                </a:lnTo>
                <a:cubicBezTo>
                  <a:pt x="88726" y="50945"/>
                  <a:pt x="93008" y="49932"/>
                  <a:pt x="96277" y="51986"/>
                </a:cubicBezTo>
                <a:cubicBezTo>
                  <a:pt x="99546" y="54040"/>
                  <a:pt x="100530" y="58293"/>
                  <a:pt x="98476" y="6156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6" name="Text 44"/>
          <p:cNvSpPr/>
          <p:nvPr/>
        </p:nvSpPr>
        <p:spPr>
          <a:xfrm>
            <a:off x="6764052" y="3753877"/>
            <a:ext cx="1333066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PUBG MOBILE growth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523359" y="4031599"/>
            <a:ext cx="148118" cy="148118"/>
          </a:xfrm>
          <a:custGeom>
            <a:avLst/>
            <a:gdLst/>
            <a:ahLst/>
            <a:cxnLst/>
            <a:rect l="l" t="t" r="r" b="b"/>
            <a:pathLst>
              <a:path w="148118" h="148118">
                <a:moveTo>
                  <a:pt x="74059" y="148118"/>
                </a:moveTo>
                <a:cubicBezTo>
                  <a:pt x="114934" y="148118"/>
                  <a:pt x="148118" y="114934"/>
                  <a:pt x="148118" y="74059"/>
                </a:cubicBezTo>
                <a:cubicBezTo>
                  <a:pt x="148118" y="33185"/>
                  <a:pt x="114934" y="0"/>
                  <a:pt x="74059" y="0"/>
                </a:cubicBezTo>
                <a:cubicBezTo>
                  <a:pt x="33185" y="0"/>
                  <a:pt x="0" y="33185"/>
                  <a:pt x="0" y="74059"/>
                </a:cubicBezTo>
                <a:cubicBezTo>
                  <a:pt x="0" y="114934"/>
                  <a:pt x="33185" y="148118"/>
                  <a:pt x="74059" y="148118"/>
                </a:cubicBezTo>
                <a:close/>
                <a:moveTo>
                  <a:pt x="98476" y="61533"/>
                </a:moveTo>
                <a:lnTo>
                  <a:pt x="75332" y="98562"/>
                </a:lnTo>
                <a:cubicBezTo>
                  <a:pt x="74117" y="100501"/>
                  <a:pt x="72034" y="101716"/>
                  <a:pt x="69749" y="101831"/>
                </a:cubicBezTo>
                <a:cubicBezTo>
                  <a:pt x="67463" y="101947"/>
                  <a:pt x="65265" y="100906"/>
                  <a:pt x="63905" y="99054"/>
                </a:cubicBezTo>
                <a:lnTo>
                  <a:pt x="50019" y="80539"/>
                </a:lnTo>
                <a:cubicBezTo>
                  <a:pt x="47705" y="77473"/>
                  <a:pt x="48341" y="73133"/>
                  <a:pt x="51408" y="70819"/>
                </a:cubicBezTo>
                <a:cubicBezTo>
                  <a:pt x="54474" y="68505"/>
                  <a:pt x="58813" y="69141"/>
                  <a:pt x="61128" y="72208"/>
                </a:cubicBezTo>
                <a:lnTo>
                  <a:pt x="68939" y="82622"/>
                </a:lnTo>
                <a:lnTo>
                  <a:pt x="86701" y="54185"/>
                </a:lnTo>
                <a:cubicBezTo>
                  <a:pt x="88726" y="50945"/>
                  <a:pt x="93008" y="49932"/>
                  <a:pt x="96277" y="51986"/>
                </a:cubicBezTo>
                <a:cubicBezTo>
                  <a:pt x="99546" y="54040"/>
                  <a:pt x="100530" y="58293"/>
                  <a:pt x="98476" y="6156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8" name="Text 46"/>
          <p:cNvSpPr/>
          <p:nvPr/>
        </p:nvSpPr>
        <p:spPr>
          <a:xfrm>
            <a:off x="6764052" y="4013084"/>
            <a:ext cx="1777421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Dune: Awakening contribution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93756" y="4420410"/>
            <a:ext cx="5239690" cy="888711"/>
          </a:xfrm>
          <a:custGeom>
            <a:avLst/>
            <a:gdLst/>
            <a:ahLst/>
            <a:cxnLst/>
            <a:rect l="l" t="t" r="r" b="b"/>
            <a:pathLst>
              <a:path w="5239690" h="888711">
                <a:moveTo>
                  <a:pt x="74056" y="0"/>
                </a:moveTo>
                <a:lnTo>
                  <a:pt x="5165634" y="0"/>
                </a:lnTo>
                <a:cubicBezTo>
                  <a:pt x="5206534" y="0"/>
                  <a:pt x="5239690" y="33156"/>
                  <a:pt x="5239690" y="74056"/>
                </a:cubicBezTo>
                <a:lnTo>
                  <a:pt x="5239690" y="814654"/>
                </a:lnTo>
                <a:cubicBezTo>
                  <a:pt x="5239690" y="855555"/>
                  <a:pt x="5206534" y="888711"/>
                  <a:pt x="5165634" y="888711"/>
                </a:cubicBezTo>
                <a:lnTo>
                  <a:pt x="74056" y="888711"/>
                </a:lnTo>
                <a:cubicBezTo>
                  <a:pt x="33156" y="888711"/>
                  <a:pt x="0" y="855555"/>
                  <a:pt x="0" y="814654"/>
                </a:cubicBezTo>
                <a:lnTo>
                  <a:pt x="0" y="74056"/>
                </a:lnTo>
                <a:cubicBezTo>
                  <a:pt x="0" y="33156"/>
                  <a:pt x="33156" y="0"/>
                  <a:pt x="74056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50" name="Text 48"/>
          <p:cNvSpPr/>
          <p:nvPr/>
        </p:nvSpPr>
        <p:spPr>
          <a:xfrm>
            <a:off x="6504845" y="4531499"/>
            <a:ext cx="5091572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Clash Royale Highlights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504845" y="4827736"/>
            <a:ext cx="5082314" cy="37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More frequent content updates, optimized reward system, and community events boosted DAU to a </a:t>
            </a:r>
            <a:pPr>
              <a:lnSpc>
                <a:spcPct val="120000"/>
              </a:lnSpc>
            </a:pPr>
            <a:r>
              <a:rPr lang="en-US" sz="1021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7-year high</a:t>
            </a:r>
            <a:pPr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June 2025.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74925" y="5582214"/>
            <a:ext cx="3712219" cy="1268264"/>
          </a:xfrm>
          <a:custGeom>
            <a:avLst/>
            <a:gdLst/>
            <a:ahLst/>
            <a:cxnLst/>
            <a:rect l="l" t="t" r="r" b="b"/>
            <a:pathLst>
              <a:path w="3712219" h="1268264">
                <a:moveTo>
                  <a:pt x="111087" y="0"/>
                </a:moveTo>
                <a:lnTo>
                  <a:pt x="3601131" y="0"/>
                </a:lnTo>
                <a:cubicBezTo>
                  <a:pt x="3662483" y="0"/>
                  <a:pt x="3712219" y="49735"/>
                  <a:pt x="3712219" y="111087"/>
                </a:cubicBezTo>
                <a:lnTo>
                  <a:pt x="3712219" y="1157177"/>
                </a:lnTo>
                <a:cubicBezTo>
                  <a:pt x="3712219" y="1218529"/>
                  <a:pt x="3662483" y="1268264"/>
                  <a:pt x="3601131" y="1268264"/>
                </a:cubicBezTo>
                <a:lnTo>
                  <a:pt x="111087" y="1268264"/>
                </a:lnTo>
                <a:cubicBezTo>
                  <a:pt x="49735" y="1268264"/>
                  <a:pt x="0" y="1218529"/>
                  <a:pt x="0" y="1157177"/>
                </a:cubicBezTo>
                <a:lnTo>
                  <a:pt x="0" y="111087"/>
                </a:lnTo>
                <a:cubicBezTo>
                  <a:pt x="0" y="49777"/>
                  <a:pt x="49777" y="0"/>
                  <a:pt x="1110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091088" y="5734961"/>
            <a:ext cx="277722" cy="222178"/>
          </a:xfrm>
          <a:custGeom>
            <a:avLst/>
            <a:gdLst/>
            <a:ahLst/>
            <a:cxnLst/>
            <a:rect l="l" t="t" r="r" b="b"/>
            <a:pathLst>
              <a:path w="277722" h="222178">
                <a:moveTo>
                  <a:pt x="194405" y="27772"/>
                </a:moveTo>
                <a:cubicBezTo>
                  <a:pt x="240403" y="27772"/>
                  <a:pt x="277722" y="65091"/>
                  <a:pt x="277722" y="111089"/>
                </a:cubicBezTo>
                <a:cubicBezTo>
                  <a:pt x="277722" y="157087"/>
                  <a:pt x="240403" y="194405"/>
                  <a:pt x="194405" y="194405"/>
                </a:cubicBezTo>
                <a:lnTo>
                  <a:pt x="83317" y="194405"/>
                </a:lnTo>
                <a:cubicBezTo>
                  <a:pt x="37319" y="194405"/>
                  <a:pt x="0" y="157087"/>
                  <a:pt x="0" y="111089"/>
                </a:cubicBezTo>
                <a:cubicBezTo>
                  <a:pt x="0" y="65091"/>
                  <a:pt x="37319" y="27772"/>
                  <a:pt x="83317" y="27772"/>
                </a:cubicBezTo>
                <a:lnTo>
                  <a:pt x="194405" y="27772"/>
                </a:lnTo>
                <a:close/>
                <a:moveTo>
                  <a:pt x="83317" y="76374"/>
                </a:moveTo>
                <a:cubicBezTo>
                  <a:pt x="77545" y="76374"/>
                  <a:pt x="72902" y="81017"/>
                  <a:pt x="72902" y="86788"/>
                </a:cubicBezTo>
                <a:lnTo>
                  <a:pt x="72902" y="100674"/>
                </a:lnTo>
                <a:lnTo>
                  <a:pt x="59016" y="100674"/>
                </a:lnTo>
                <a:cubicBezTo>
                  <a:pt x="53245" y="100674"/>
                  <a:pt x="48601" y="105317"/>
                  <a:pt x="48601" y="111089"/>
                </a:cubicBezTo>
                <a:cubicBezTo>
                  <a:pt x="48601" y="116860"/>
                  <a:pt x="53245" y="121503"/>
                  <a:pt x="59016" y="121503"/>
                </a:cubicBezTo>
                <a:lnTo>
                  <a:pt x="72902" y="121503"/>
                </a:lnTo>
                <a:lnTo>
                  <a:pt x="72902" y="135390"/>
                </a:lnTo>
                <a:cubicBezTo>
                  <a:pt x="72902" y="141161"/>
                  <a:pt x="77545" y="145804"/>
                  <a:pt x="83317" y="145804"/>
                </a:cubicBezTo>
                <a:cubicBezTo>
                  <a:pt x="89088" y="145804"/>
                  <a:pt x="93731" y="141161"/>
                  <a:pt x="93731" y="135390"/>
                </a:cubicBezTo>
                <a:lnTo>
                  <a:pt x="93731" y="121503"/>
                </a:lnTo>
                <a:lnTo>
                  <a:pt x="107617" y="121503"/>
                </a:lnTo>
                <a:cubicBezTo>
                  <a:pt x="113389" y="121503"/>
                  <a:pt x="118032" y="116860"/>
                  <a:pt x="118032" y="111089"/>
                </a:cubicBezTo>
                <a:cubicBezTo>
                  <a:pt x="118032" y="105317"/>
                  <a:pt x="113389" y="100674"/>
                  <a:pt x="107617" y="100674"/>
                </a:cubicBezTo>
                <a:lnTo>
                  <a:pt x="93731" y="100674"/>
                </a:lnTo>
                <a:lnTo>
                  <a:pt x="93731" y="86788"/>
                </a:lnTo>
                <a:cubicBezTo>
                  <a:pt x="93731" y="81017"/>
                  <a:pt x="89088" y="76374"/>
                  <a:pt x="83317" y="76374"/>
                </a:cubicBezTo>
                <a:close/>
                <a:moveTo>
                  <a:pt x="187462" y="118032"/>
                </a:moveTo>
                <a:cubicBezTo>
                  <a:pt x="179798" y="118032"/>
                  <a:pt x="173576" y="124254"/>
                  <a:pt x="173576" y="131918"/>
                </a:cubicBezTo>
                <a:cubicBezTo>
                  <a:pt x="173576" y="139582"/>
                  <a:pt x="179798" y="145804"/>
                  <a:pt x="187462" y="145804"/>
                </a:cubicBezTo>
                <a:cubicBezTo>
                  <a:pt x="195126" y="145804"/>
                  <a:pt x="201349" y="139582"/>
                  <a:pt x="201349" y="131918"/>
                </a:cubicBezTo>
                <a:cubicBezTo>
                  <a:pt x="201349" y="124254"/>
                  <a:pt x="195126" y="118032"/>
                  <a:pt x="187462" y="118032"/>
                </a:cubicBezTo>
                <a:close/>
                <a:moveTo>
                  <a:pt x="215235" y="76374"/>
                </a:moveTo>
                <a:cubicBezTo>
                  <a:pt x="207571" y="76374"/>
                  <a:pt x="201349" y="82596"/>
                  <a:pt x="201349" y="90260"/>
                </a:cubicBezTo>
                <a:cubicBezTo>
                  <a:pt x="201349" y="97924"/>
                  <a:pt x="207571" y="104146"/>
                  <a:pt x="215235" y="104146"/>
                </a:cubicBezTo>
                <a:cubicBezTo>
                  <a:pt x="222899" y="104146"/>
                  <a:pt x="229121" y="97924"/>
                  <a:pt x="229121" y="90260"/>
                </a:cubicBezTo>
                <a:cubicBezTo>
                  <a:pt x="229121" y="82596"/>
                  <a:pt x="222899" y="76374"/>
                  <a:pt x="215235" y="7637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4" name="Text 52"/>
          <p:cNvSpPr/>
          <p:nvPr/>
        </p:nvSpPr>
        <p:spPr>
          <a:xfrm>
            <a:off x="495271" y="6031198"/>
            <a:ext cx="3471526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Games Revenue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72128" y="6216346"/>
            <a:ext cx="3517813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4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59.2B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95271" y="6512583"/>
            <a:ext cx="3471526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+22% YoY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242422" y="5582214"/>
            <a:ext cx="3712219" cy="1268264"/>
          </a:xfrm>
          <a:custGeom>
            <a:avLst/>
            <a:gdLst/>
            <a:ahLst/>
            <a:cxnLst/>
            <a:rect l="l" t="t" r="r" b="b"/>
            <a:pathLst>
              <a:path w="3712219" h="1268264">
                <a:moveTo>
                  <a:pt x="111087" y="0"/>
                </a:moveTo>
                <a:lnTo>
                  <a:pt x="3601131" y="0"/>
                </a:lnTo>
                <a:cubicBezTo>
                  <a:pt x="3662483" y="0"/>
                  <a:pt x="3712219" y="49735"/>
                  <a:pt x="3712219" y="111087"/>
                </a:cubicBezTo>
                <a:lnTo>
                  <a:pt x="3712219" y="1157177"/>
                </a:lnTo>
                <a:cubicBezTo>
                  <a:pt x="3712219" y="1218529"/>
                  <a:pt x="3662483" y="1268264"/>
                  <a:pt x="3601131" y="1268264"/>
                </a:cubicBezTo>
                <a:lnTo>
                  <a:pt x="111087" y="1268264"/>
                </a:lnTo>
                <a:cubicBezTo>
                  <a:pt x="49735" y="1268264"/>
                  <a:pt x="0" y="1218529"/>
                  <a:pt x="0" y="1157177"/>
                </a:cubicBezTo>
                <a:lnTo>
                  <a:pt x="0" y="111087"/>
                </a:lnTo>
                <a:cubicBezTo>
                  <a:pt x="0" y="49777"/>
                  <a:pt x="49777" y="0"/>
                  <a:pt x="1110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014130" y="5734961"/>
            <a:ext cx="166633" cy="222178"/>
          </a:xfrm>
          <a:custGeom>
            <a:avLst/>
            <a:gdLst/>
            <a:ahLst/>
            <a:cxnLst/>
            <a:rect l="l" t="t" r="r" b="b"/>
            <a:pathLst>
              <a:path w="166633" h="222178">
                <a:moveTo>
                  <a:pt x="6943" y="27772"/>
                </a:moveTo>
                <a:cubicBezTo>
                  <a:pt x="6943" y="12454"/>
                  <a:pt x="19397" y="0"/>
                  <a:pt x="34715" y="0"/>
                </a:cubicBezTo>
                <a:lnTo>
                  <a:pt x="131918" y="0"/>
                </a:lnTo>
                <a:cubicBezTo>
                  <a:pt x="147236" y="0"/>
                  <a:pt x="159690" y="12454"/>
                  <a:pt x="159690" y="27772"/>
                </a:cubicBezTo>
                <a:lnTo>
                  <a:pt x="159690" y="194405"/>
                </a:lnTo>
                <a:cubicBezTo>
                  <a:pt x="159690" y="209724"/>
                  <a:pt x="147236" y="222178"/>
                  <a:pt x="131918" y="222178"/>
                </a:cubicBezTo>
                <a:lnTo>
                  <a:pt x="34715" y="222178"/>
                </a:lnTo>
                <a:cubicBezTo>
                  <a:pt x="19397" y="222178"/>
                  <a:pt x="6943" y="209724"/>
                  <a:pt x="6943" y="194405"/>
                </a:cubicBezTo>
                <a:lnTo>
                  <a:pt x="6943" y="27772"/>
                </a:lnTo>
                <a:close/>
                <a:moveTo>
                  <a:pt x="34715" y="27772"/>
                </a:moveTo>
                <a:lnTo>
                  <a:pt x="34715" y="159690"/>
                </a:lnTo>
                <a:lnTo>
                  <a:pt x="131918" y="159690"/>
                </a:lnTo>
                <a:lnTo>
                  <a:pt x="131918" y="27772"/>
                </a:lnTo>
                <a:lnTo>
                  <a:pt x="34715" y="27772"/>
                </a:lnTo>
                <a:close/>
                <a:moveTo>
                  <a:pt x="83317" y="204820"/>
                </a:moveTo>
                <a:cubicBezTo>
                  <a:pt x="90997" y="204820"/>
                  <a:pt x="97203" y="198615"/>
                  <a:pt x="97203" y="190934"/>
                </a:cubicBezTo>
                <a:cubicBezTo>
                  <a:pt x="97203" y="183253"/>
                  <a:pt x="90997" y="177048"/>
                  <a:pt x="83317" y="177048"/>
                </a:cubicBezTo>
                <a:cubicBezTo>
                  <a:pt x="75636" y="177048"/>
                  <a:pt x="69431" y="183253"/>
                  <a:pt x="69431" y="190934"/>
                </a:cubicBezTo>
                <a:cubicBezTo>
                  <a:pt x="69431" y="198615"/>
                  <a:pt x="75636" y="204820"/>
                  <a:pt x="83317" y="20482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9" name="Text 57"/>
          <p:cNvSpPr/>
          <p:nvPr/>
        </p:nvSpPr>
        <p:spPr>
          <a:xfrm>
            <a:off x="4362768" y="6031198"/>
            <a:ext cx="3471526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 Games Gross Receipts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4339625" y="6216346"/>
            <a:ext cx="3517813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4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+20%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362768" y="6512583"/>
            <a:ext cx="3471526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YoY Growth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109919" y="5582214"/>
            <a:ext cx="3712219" cy="1268264"/>
          </a:xfrm>
          <a:custGeom>
            <a:avLst/>
            <a:gdLst/>
            <a:ahLst/>
            <a:cxnLst/>
            <a:rect l="l" t="t" r="r" b="b"/>
            <a:pathLst>
              <a:path w="3712219" h="1268264">
                <a:moveTo>
                  <a:pt x="111087" y="0"/>
                </a:moveTo>
                <a:lnTo>
                  <a:pt x="3601131" y="0"/>
                </a:lnTo>
                <a:cubicBezTo>
                  <a:pt x="3662483" y="0"/>
                  <a:pt x="3712219" y="49735"/>
                  <a:pt x="3712219" y="111087"/>
                </a:cubicBezTo>
                <a:lnTo>
                  <a:pt x="3712219" y="1157177"/>
                </a:lnTo>
                <a:cubicBezTo>
                  <a:pt x="3712219" y="1218529"/>
                  <a:pt x="3662483" y="1268264"/>
                  <a:pt x="3601131" y="1268264"/>
                </a:cubicBezTo>
                <a:lnTo>
                  <a:pt x="111087" y="1268264"/>
                </a:lnTo>
                <a:cubicBezTo>
                  <a:pt x="49735" y="1268264"/>
                  <a:pt x="0" y="1218529"/>
                  <a:pt x="0" y="1157177"/>
                </a:cubicBezTo>
                <a:lnTo>
                  <a:pt x="0" y="111087"/>
                </a:lnTo>
                <a:cubicBezTo>
                  <a:pt x="0" y="49777"/>
                  <a:pt x="49777" y="0"/>
                  <a:pt x="1110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826083" y="5734961"/>
            <a:ext cx="277722" cy="222178"/>
          </a:xfrm>
          <a:custGeom>
            <a:avLst/>
            <a:gdLst/>
            <a:ahLst/>
            <a:cxnLst/>
            <a:rect l="l" t="t" r="r" b="b"/>
            <a:pathLst>
              <a:path w="277722" h="222178">
                <a:moveTo>
                  <a:pt x="152747" y="0"/>
                </a:moveTo>
                <a:cubicBezTo>
                  <a:pt x="152747" y="-7681"/>
                  <a:pt x="146542" y="-13886"/>
                  <a:pt x="138861" y="-13886"/>
                </a:cubicBezTo>
                <a:cubicBezTo>
                  <a:pt x="131180" y="-13886"/>
                  <a:pt x="124975" y="-7681"/>
                  <a:pt x="124975" y="0"/>
                </a:cubicBezTo>
                <a:lnTo>
                  <a:pt x="124975" y="27772"/>
                </a:lnTo>
                <a:lnTo>
                  <a:pt x="83317" y="27772"/>
                </a:lnTo>
                <a:cubicBezTo>
                  <a:pt x="60318" y="27772"/>
                  <a:pt x="41658" y="46432"/>
                  <a:pt x="41658" y="69431"/>
                </a:cubicBezTo>
                <a:lnTo>
                  <a:pt x="41658" y="166633"/>
                </a:lnTo>
                <a:cubicBezTo>
                  <a:pt x="41658" y="189632"/>
                  <a:pt x="60318" y="208292"/>
                  <a:pt x="83317" y="208292"/>
                </a:cubicBezTo>
                <a:lnTo>
                  <a:pt x="194405" y="208292"/>
                </a:lnTo>
                <a:cubicBezTo>
                  <a:pt x="217404" y="208292"/>
                  <a:pt x="236064" y="189632"/>
                  <a:pt x="236064" y="166633"/>
                </a:cubicBezTo>
                <a:lnTo>
                  <a:pt x="236064" y="69431"/>
                </a:lnTo>
                <a:cubicBezTo>
                  <a:pt x="236064" y="46432"/>
                  <a:pt x="217404" y="27772"/>
                  <a:pt x="194405" y="27772"/>
                </a:cubicBezTo>
                <a:lnTo>
                  <a:pt x="152747" y="27772"/>
                </a:lnTo>
                <a:lnTo>
                  <a:pt x="152747" y="0"/>
                </a:lnTo>
                <a:close/>
                <a:moveTo>
                  <a:pt x="69431" y="159690"/>
                </a:moveTo>
                <a:cubicBezTo>
                  <a:pt x="69431" y="153919"/>
                  <a:pt x="74074" y="149276"/>
                  <a:pt x="79845" y="149276"/>
                </a:cubicBezTo>
                <a:lnTo>
                  <a:pt x="93731" y="149276"/>
                </a:lnTo>
                <a:cubicBezTo>
                  <a:pt x="99503" y="149276"/>
                  <a:pt x="104146" y="153919"/>
                  <a:pt x="104146" y="159690"/>
                </a:cubicBezTo>
                <a:cubicBezTo>
                  <a:pt x="104146" y="165462"/>
                  <a:pt x="99503" y="170105"/>
                  <a:pt x="93731" y="170105"/>
                </a:cubicBezTo>
                <a:lnTo>
                  <a:pt x="79845" y="170105"/>
                </a:lnTo>
                <a:cubicBezTo>
                  <a:pt x="74074" y="170105"/>
                  <a:pt x="69431" y="165462"/>
                  <a:pt x="69431" y="159690"/>
                </a:cubicBezTo>
                <a:close/>
                <a:moveTo>
                  <a:pt x="121503" y="159690"/>
                </a:moveTo>
                <a:cubicBezTo>
                  <a:pt x="121503" y="153919"/>
                  <a:pt x="126147" y="149276"/>
                  <a:pt x="131918" y="149276"/>
                </a:cubicBezTo>
                <a:lnTo>
                  <a:pt x="145804" y="149276"/>
                </a:lnTo>
                <a:cubicBezTo>
                  <a:pt x="151576" y="149276"/>
                  <a:pt x="156219" y="153919"/>
                  <a:pt x="156219" y="159690"/>
                </a:cubicBezTo>
                <a:cubicBezTo>
                  <a:pt x="156219" y="165462"/>
                  <a:pt x="151576" y="170105"/>
                  <a:pt x="145804" y="170105"/>
                </a:cubicBezTo>
                <a:lnTo>
                  <a:pt x="131918" y="170105"/>
                </a:lnTo>
                <a:cubicBezTo>
                  <a:pt x="126147" y="170105"/>
                  <a:pt x="121503" y="165462"/>
                  <a:pt x="121503" y="159690"/>
                </a:cubicBezTo>
                <a:close/>
                <a:moveTo>
                  <a:pt x="173576" y="159690"/>
                </a:moveTo>
                <a:cubicBezTo>
                  <a:pt x="173576" y="153919"/>
                  <a:pt x="178219" y="149276"/>
                  <a:pt x="183991" y="149276"/>
                </a:cubicBezTo>
                <a:lnTo>
                  <a:pt x="197877" y="149276"/>
                </a:lnTo>
                <a:cubicBezTo>
                  <a:pt x="203648" y="149276"/>
                  <a:pt x="208292" y="153919"/>
                  <a:pt x="208292" y="159690"/>
                </a:cubicBezTo>
                <a:cubicBezTo>
                  <a:pt x="208292" y="165462"/>
                  <a:pt x="203648" y="170105"/>
                  <a:pt x="197877" y="170105"/>
                </a:cubicBezTo>
                <a:lnTo>
                  <a:pt x="183991" y="170105"/>
                </a:lnTo>
                <a:cubicBezTo>
                  <a:pt x="178219" y="170105"/>
                  <a:pt x="173576" y="165462"/>
                  <a:pt x="173576" y="159690"/>
                </a:cubicBezTo>
                <a:close/>
                <a:moveTo>
                  <a:pt x="97203" y="76374"/>
                </a:moveTo>
                <a:cubicBezTo>
                  <a:pt x="108699" y="76374"/>
                  <a:pt x="118032" y="85707"/>
                  <a:pt x="118032" y="97203"/>
                </a:cubicBezTo>
                <a:cubicBezTo>
                  <a:pt x="118032" y="108699"/>
                  <a:pt x="108699" y="118032"/>
                  <a:pt x="97203" y="118032"/>
                </a:cubicBezTo>
                <a:cubicBezTo>
                  <a:pt x="85707" y="118032"/>
                  <a:pt x="76374" y="108699"/>
                  <a:pt x="76374" y="97203"/>
                </a:cubicBezTo>
                <a:cubicBezTo>
                  <a:pt x="76374" y="85707"/>
                  <a:pt x="85707" y="76374"/>
                  <a:pt x="97203" y="76374"/>
                </a:cubicBezTo>
                <a:close/>
                <a:moveTo>
                  <a:pt x="159690" y="97203"/>
                </a:moveTo>
                <a:cubicBezTo>
                  <a:pt x="159690" y="85707"/>
                  <a:pt x="169023" y="76374"/>
                  <a:pt x="180519" y="76374"/>
                </a:cubicBezTo>
                <a:cubicBezTo>
                  <a:pt x="192015" y="76374"/>
                  <a:pt x="201349" y="85707"/>
                  <a:pt x="201349" y="97203"/>
                </a:cubicBezTo>
                <a:cubicBezTo>
                  <a:pt x="201349" y="108699"/>
                  <a:pt x="192015" y="118032"/>
                  <a:pt x="180519" y="118032"/>
                </a:cubicBezTo>
                <a:cubicBezTo>
                  <a:pt x="169023" y="118032"/>
                  <a:pt x="159690" y="108699"/>
                  <a:pt x="159690" y="97203"/>
                </a:cubicBezTo>
                <a:close/>
                <a:moveTo>
                  <a:pt x="27772" y="97203"/>
                </a:moveTo>
                <a:cubicBezTo>
                  <a:pt x="27772" y="89522"/>
                  <a:pt x="21567" y="83317"/>
                  <a:pt x="13886" y="83317"/>
                </a:cubicBezTo>
                <a:cubicBezTo>
                  <a:pt x="6205" y="83317"/>
                  <a:pt x="0" y="89522"/>
                  <a:pt x="0" y="97203"/>
                </a:cubicBezTo>
                <a:lnTo>
                  <a:pt x="0" y="138861"/>
                </a:lnTo>
                <a:cubicBezTo>
                  <a:pt x="0" y="146542"/>
                  <a:pt x="6205" y="152747"/>
                  <a:pt x="13886" y="152747"/>
                </a:cubicBezTo>
                <a:cubicBezTo>
                  <a:pt x="21567" y="152747"/>
                  <a:pt x="27772" y="146542"/>
                  <a:pt x="27772" y="138861"/>
                </a:cubicBezTo>
                <a:lnTo>
                  <a:pt x="27772" y="97203"/>
                </a:lnTo>
                <a:close/>
                <a:moveTo>
                  <a:pt x="263836" y="83317"/>
                </a:moveTo>
                <a:cubicBezTo>
                  <a:pt x="256155" y="83317"/>
                  <a:pt x="249950" y="89522"/>
                  <a:pt x="249950" y="97203"/>
                </a:cubicBezTo>
                <a:lnTo>
                  <a:pt x="249950" y="138861"/>
                </a:lnTo>
                <a:cubicBezTo>
                  <a:pt x="249950" y="146542"/>
                  <a:pt x="256155" y="152747"/>
                  <a:pt x="263836" y="152747"/>
                </a:cubicBezTo>
                <a:cubicBezTo>
                  <a:pt x="271517" y="152747"/>
                  <a:pt x="277722" y="146542"/>
                  <a:pt x="277722" y="138861"/>
                </a:cubicBezTo>
                <a:lnTo>
                  <a:pt x="277722" y="97203"/>
                </a:lnTo>
                <a:cubicBezTo>
                  <a:pt x="277722" y="89522"/>
                  <a:pt x="271517" y="83317"/>
                  <a:pt x="263836" y="8331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4" name="Text 62"/>
          <p:cNvSpPr/>
          <p:nvPr/>
        </p:nvSpPr>
        <p:spPr>
          <a:xfrm>
            <a:off x="8230265" y="6031198"/>
            <a:ext cx="3471526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in Games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207122" y="6216346"/>
            <a:ext cx="3517813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4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Deployed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230265" y="6512583"/>
            <a:ext cx="3471526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 &amp; NPCs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b48adaf99e783ee3f92db8f58ac6860f3e6bab1b.jp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0" r="0" t="3590" b="3590"/>
          <a:stretch/>
        </p:blipFill>
        <p:spPr>
          <a:xfrm>
            <a:off x="0" y="0"/>
            <a:ext cx="12192000" cy="6858539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539"/>
          </a:xfrm>
          <a:custGeom>
            <a:avLst/>
            <a:gdLst/>
            <a:ahLst/>
            <a:cxnLst/>
            <a:rect l="l" t="t" r="r" b="b"/>
            <a:pathLst>
              <a:path w="12192000" h="6858539">
                <a:moveTo>
                  <a:pt x="0" y="0"/>
                </a:moveTo>
                <a:lnTo>
                  <a:pt x="12192000" y="0"/>
                </a:lnTo>
                <a:lnTo>
                  <a:pt x="12192000" y="6858539"/>
                </a:lnTo>
                <a:lnTo>
                  <a:pt x="0" y="6858539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91919">
                  <a:alpha val="90000"/>
                </a:srgbClr>
              </a:gs>
              <a:gs pos="50000">
                <a:srgbClr val="191919">
                  <a:alpha val="80000"/>
                </a:srgbClr>
              </a:gs>
              <a:gs pos="100000">
                <a:srgbClr val="191919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44650" y="344650"/>
            <a:ext cx="11563013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spc="47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INNOVATION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44650" y="585905"/>
            <a:ext cx="11657792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4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Integration &amp; Innovation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44650" y="999486"/>
            <a:ext cx="11571630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driving value creation across all platforms and services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48958" y="1348444"/>
            <a:ext cx="5678112" cy="2765818"/>
          </a:xfrm>
          <a:custGeom>
            <a:avLst/>
            <a:gdLst/>
            <a:ahLst/>
            <a:cxnLst/>
            <a:rect l="l" t="t" r="r" b="b"/>
            <a:pathLst>
              <a:path w="5678112" h="2765818">
                <a:moveTo>
                  <a:pt x="103386" y="0"/>
                </a:moveTo>
                <a:lnTo>
                  <a:pt x="5574725" y="0"/>
                </a:lnTo>
                <a:cubicBezTo>
                  <a:pt x="5631824" y="0"/>
                  <a:pt x="5678112" y="46288"/>
                  <a:pt x="5678112" y="103386"/>
                </a:cubicBezTo>
                <a:lnTo>
                  <a:pt x="5678112" y="2662431"/>
                </a:lnTo>
                <a:cubicBezTo>
                  <a:pt x="5678112" y="2719530"/>
                  <a:pt x="5631824" y="2765818"/>
                  <a:pt x="5574725" y="2765818"/>
                </a:cubicBezTo>
                <a:lnTo>
                  <a:pt x="103386" y="2765818"/>
                </a:lnTo>
                <a:cubicBezTo>
                  <a:pt x="46288" y="2765818"/>
                  <a:pt x="0" y="2719530"/>
                  <a:pt x="0" y="2662431"/>
                </a:cubicBezTo>
                <a:lnTo>
                  <a:pt x="0" y="103386"/>
                </a:lnTo>
                <a:cubicBezTo>
                  <a:pt x="0" y="46326"/>
                  <a:pt x="46326" y="0"/>
                  <a:pt x="103386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25592" y="1525077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68931" y="0"/>
                </a:moveTo>
                <a:lnTo>
                  <a:pt x="344649" y="0"/>
                </a:lnTo>
                <a:cubicBezTo>
                  <a:pt x="382719" y="0"/>
                  <a:pt x="413580" y="30862"/>
                  <a:pt x="413580" y="68931"/>
                </a:cubicBezTo>
                <a:lnTo>
                  <a:pt x="413580" y="344649"/>
                </a:lnTo>
                <a:cubicBezTo>
                  <a:pt x="413580" y="382719"/>
                  <a:pt x="382719" y="413580"/>
                  <a:pt x="344649" y="413580"/>
                </a:cubicBezTo>
                <a:lnTo>
                  <a:pt x="68931" y="413580"/>
                </a:lnTo>
                <a:cubicBezTo>
                  <a:pt x="30862" y="413580"/>
                  <a:pt x="0" y="382719"/>
                  <a:pt x="0" y="344649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35449" y="1645705"/>
            <a:ext cx="193866" cy="172325"/>
          </a:xfrm>
          <a:custGeom>
            <a:avLst/>
            <a:gdLst/>
            <a:ahLst/>
            <a:cxnLst/>
            <a:rect l="l" t="t" r="r" b="b"/>
            <a:pathLst>
              <a:path w="193866" h="172325">
                <a:moveTo>
                  <a:pt x="129244" y="48466"/>
                </a:moveTo>
                <a:cubicBezTo>
                  <a:pt x="129244" y="81181"/>
                  <a:pt x="100299" y="107703"/>
                  <a:pt x="64622" y="107703"/>
                </a:cubicBezTo>
                <a:cubicBezTo>
                  <a:pt x="55635" y="107703"/>
                  <a:pt x="47086" y="106020"/>
                  <a:pt x="39312" y="102991"/>
                </a:cubicBezTo>
                <a:lnTo>
                  <a:pt x="11847" y="117531"/>
                </a:lnTo>
                <a:cubicBezTo>
                  <a:pt x="8717" y="119180"/>
                  <a:pt x="4880" y="118608"/>
                  <a:pt x="2356" y="116117"/>
                </a:cubicBezTo>
                <a:cubicBezTo>
                  <a:pt x="-168" y="113627"/>
                  <a:pt x="-740" y="109756"/>
                  <a:pt x="942" y="106626"/>
                </a:cubicBezTo>
                <a:lnTo>
                  <a:pt x="12924" y="84008"/>
                </a:lnTo>
                <a:cubicBezTo>
                  <a:pt x="4813" y="74113"/>
                  <a:pt x="0" y="61795"/>
                  <a:pt x="0" y="48466"/>
                </a:cubicBezTo>
                <a:cubicBezTo>
                  <a:pt x="0" y="15752"/>
                  <a:pt x="28945" y="-10770"/>
                  <a:pt x="64622" y="-10770"/>
                </a:cubicBezTo>
                <a:cubicBezTo>
                  <a:pt x="100299" y="-10770"/>
                  <a:pt x="129244" y="15752"/>
                  <a:pt x="129244" y="48466"/>
                </a:cubicBezTo>
                <a:close/>
                <a:moveTo>
                  <a:pt x="129244" y="172325"/>
                </a:moveTo>
                <a:cubicBezTo>
                  <a:pt x="97572" y="172325"/>
                  <a:pt x="71219" y="151424"/>
                  <a:pt x="65699" y="123859"/>
                </a:cubicBezTo>
                <a:cubicBezTo>
                  <a:pt x="106088" y="123354"/>
                  <a:pt x="141192" y="94611"/>
                  <a:pt x="145063" y="55635"/>
                </a:cubicBezTo>
                <a:cubicBezTo>
                  <a:pt x="173099" y="62098"/>
                  <a:pt x="193866" y="85355"/>
                  <a:pt x="193866" y="113088"/>
                </a:cubicBezTo>
                <a:cubicBezTo>
                  <a:pt x="193866" y="126417"/>
                  <a:pt x="189053" y="138735"/>
                  <a:pt x="180941" y="148630"/>
                </a:cubicBezTo>
                <a:lnTo>
                  <a:pt x="192923" y="171248"/>
                </a:lnTo>
                <a:cubicBezTo>
                  <a:pt x="194573" y="174378"/>
                  <a:pt x="194000" y="178215"/>
                  <a:pt x="191510" y="180739"/>
                </a:cubicBezTo>
                <a:cubicBezTo>
                  <a:pt x="189019" y="183264"/>
                  <a:pt x="185148" y="183836"/>
                  <a:pt x="182018" y="182153"/>
                </a:cubicBezTo>
                <a:lnTo>
                  <a:pt x="154554" y="167613"/>
                </a:lnTo>
                <a:cubicBezTo>
                  <a:pt x="146779" y="170642"/>
                  <a:pt x="138230" y="172325"/>
                  <a:pt x="129244" y="17232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7"/>
          <p:cNvSpPr/>
          <p:nvPr/>
        </p:nvSpPr>
        <p:spPr>
          <a:xfrm>
            <a:off x="1042567" y="1611240"/>
            <a:ext cx="1507845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Weixin AI Features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25592" y="2076517"/>
            <a:ext cx="5324845" cy="551440"/>
          </a:xfrm>
          <a:custGeom>
            <a:avLst/>
            <a:gdLst/>
            <a:ahLst/>
            <a:cxnLst/>
            <a:rect l="l" t="t" r="r" b="b"/>
            <a:pathLst>
              <a:path w="5324845" h="551440">
                <a:moveTo>
                  <a:pt x="68930" y="0"/>
                </a:moveTo>
                <a:lnTo>
                  <a:pt x="5255915" y="0"/>
                </a:lnTo>
                <a:cubicBezTo>
                  <a:pt x="5293984" y="0"/>
                  <a:pt x="5324845" y="30861"/>
                  <a:pt x="5324845" y="68930"/>
                </a:cubicBezTo>
                <a:lnTo>
                  <a:pt x="5324845" y="482510"/>
                </a:lnTo>
                <a:cubicBezTo>
                  <a:pt x="5324845" y="520579"/>
                  <a:pt x="5293984" y="551440"/>
                  <a:pt x="5255915" y="551440"/>
                </a:cubicBezTo>
                <a:lnTo>
                  <a:pt x="68930" y="551440"/>
                </a:lnTo>
                <a:cubicBezTo>
                  <a:pt x="30861" y="551440"/>
                  <a:pt x="0" y="520579"/>
                  <a:pt x="0" y="482510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2" name="Shape 9"/>
          <p:cNvSpPr/>
          <p:nvPr/>
        </p:nvSpPr>
        <p:spPr>
          <a:xfrm>
            <a:off x="654835" y="2214377"/>
            <a:ext cx="120628" cy="137860"/>
          </a:xfrm>
          <a:custGeom>
            <a:avLst/>
            <a:gdLst/>
            <a:ahLst/>
            <a:cxnLst/>
            <a:rect l="l" t="t" r="r" b="b"/>
            <a:pathLst>
              <a:path w="120628" h="137860">
                <a:moveTo>
                  <a:pt x="120628" y="79700"/>
                </a:moveTo>
                <a:cubicBezTo>
                  <a:pt x="120628" y="97552"/>
                  <a:pt x="106168" y="112011"/>
                  <a:pt x="88317" y="112011"/>
                </a:cubicBezTo>
                <a:lnTo>
                  <a:pt x="86163" y="112011"/>
                </a:lnTo>
                <a:cubicBezTo>
                  <a:pt x="81397" y="112011"/>
                  <a:pt x="77546" y="108161"/>
                  <a:pt x="77546" y="103395"/>
                </a:cubicBezTo>
                <a:cubicBezTo>
                  <a:pt x="77546" y="98629"/>
                  <a:pt x="81397" y="94779"/>
                  <a:pt x="86163" y="94779"/>
                </a:cubicBezTo>
                <a:lnTo>
                  <a:pt x="88317" y="94779"/>
                </a:lnTo>
                <a:cubicBezTo>
                  <a:pt x="96637" y="94779"/>
                  <a:pt x="103395" y="88020"/>
                  <a:pt x="103395" y="79700"/>
                </a:cubicBezTo>
                <a:lnTo>
                  <a:pt x="103395" y="77546"/>
                </a:lnTo>
                <a:lnTo>
                  <a:pt x="86163" y="77546"/>
                </a:lnTo>
                <a:cubicBezTo>
                  <a:pt x="76658" y="77546"/>
                  <a:pt x="68930" y="69819"/>
                  <a:pt x="68930" y="60314"/>
                </a:cubicBezTo>
                <a:lnTo>
                  <a:pt x="68930" y="43081"/>
                </a:lnTo>
                <a:cubicBezTo>
                  <a:pt x="68930" y="33576"/>
                  <a:pt x="76658" y="25849"/>
                  <a:pt x="86163" y="25849"/>
                </a:cubicBezTo>
                <a:lnTo>
                  <a:pt x="103395" y="25849"/>
                </a:lnTo>
                <a:cubicBezTo>
                  <a:pt x="112900" y="25849"/>
                  <a:pt x="120628" y="33576"/>
                  <a:pt x="120628" y="43081"/>
                </a:cubicBezTo>
                <a:lnTo>
                  <a:pt x="120628" y="79700"/>
                </a:lnTo>
                <a:close/>
                <a:moveTo>
                  <a:pt x="51698" y="79700"/>
                </a:moveTo>
                <a:cubicBezTo>
                  <a:pt x="51698" y="97552"/>
                  <a:pt x="37238" y="112011"/>
                  <a:pt x="19387" y="112011"/>
                </a:cubicBezTo>
                <a:lnTo>
                  <a:pt x="17233" y="112011"/>
                </a:lnTo>
                <a:cubicBezTo>
                  <a:pt x="12467" y="112011"/>
                  <a:pt x="8616" y="108161"/>
                  <a:pt x="8616" y="103395"/>
                </a:cubicBezTo>
                <a:cubicBezTo>
                  <a:pt x="8616" y="98629"/>
                  <a:pt x="12467" y="94779"/>
                  <a:pt x="17233" y="94779"/>
                </a:cubicBezTo>
                <a:lnTo>
                  <a:pt x="19387" y="94779"/>
                </a:lnTo>
                <a:cubicBezTo>
                  <a:pt x="27707" y="94779"/>
                  <a:pt x="34465" y="88020"/>
                  <a:pt x="34465" y="79700"/>
                </a:cubicBezTo>
                <a:lnTo>
                  <a:pt x="34465" y="77546"/>
                </a:lnTo>
                <a:lnTo>
                  <a:pt x="17233" y="77546"/>
                </a:lnTo>
                <a:cubicBezTo>
                  <a:pt x="7728" y="77546"/>
                  <a:pt x="0" y="69819"/>
                  <a:pt x="0" y="60314"/>
                </a:cubicBezTo>
                <a:lnTo>
                  <a:pt x="0" y="43081"/>
                </a:lnTo>
                <a:cubicBezTo>
                  <a:pt x="0" y="33576"/>
                  <a:pt x="7728" y="25849"/>
                  <a:pt x="17233" y="25849"/>
                </a:cubicBezTo>
                <a:lnTo>
                  <a:pt x="34465" y="25849"/>
                </a:lnTo>
                <a:cubicBezTo>
                  <a:pt x="43970" y="25849"/>
                  <a:pt x="51698" y="33576"/>
                  <a:pt x="51698" y="43081"/>
                </a:cubicBezTo>
                <a:lnTo>
                  <a:pt x="51698" y="7970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904707" y="2179912"/>
            <a:ext cx="3265560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Citations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04707" y="2352237"/>
            <a:ext cx="3265560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content citations and references in Weixin content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25592" y="2731353"/>
            <a:ext cx="5324845" cy="551440"/>
          </a:xfrm>
          <a:custGeom>
            <a:avLst/>
            <a:gdLst/>
            <a:ahLst/>
            <a:cxnLst/>
            <a:rect l="l" t="t" r="r" b="b"/>
            <a:pathLst>
              <a:path w="5324845" h="551440">
                <a:moveTo>
                  <a:pt x="68930" y="0"/>
                </a:moveTo>
                <a:lnTo>
                  <a:pt x="5255915" y="0"/>
                </a:lnTo>
                <a:cubicBezTo>
                  <a:pt x="5293984" y="0"/>
                  <a:pt x="5324845" y="30861"/>
                  <a:pt x="5324845" y="68930"/>
                </a:cubicBezTo>
                <a:lnTo>
                  <a:pt x="5324845" y="482510"/>
                </a:lnTo>
                <a:cubicBezTo>
                  <a:pt x="5324845" y="520579"/>
                  <a:pt x="5293984" y="551440"/>
                  <a:pt x="5255915" y="551440"/>
                </a:cubicBezTo>
                <a:lnTo>
                  <a:pt x="68930" y="551440"/>
                </a:lnTo>
                <a:cubicBezTo>
                  <a:pt x="30861" y="551440"/>
                  <a:pt x="0" y="520579"/>
                  <a:pt x="0" y="482510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6" name="Shape 13"/>
          <p:cNvSpPr/>
          <p:nvPr/>
        </p:nvSpPr>
        <p:spPr>
          <a:xfrm>
            <a:off x="646219" y="2869213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8266" y="19467"/>
                </a:moveTo>
                <a:cubicBezTo>
                  <a:pt x="10124" y="13032"/>
                  <a:pt x="16021" y="8616"/>
                  <a:pt x="22725" y="8616"/>
                </a:cubicBezTo>
                <a:lnTo>
                  <a:pt x="115350" y="8616"/>
                </a:lnTo>
                <a:cubicBezTo>
                  <a:pt x="122055" y="8616"/>
                  <a:pt x="127951" y="13032"/>
                  <a:pt x="129836" y="19467"/>
                </a:cubicBezTo>
                <a:lnTo>
                  <a:pt x="136137" y="41062"/>
                </a:lnTo>
                <a:cubicBezTo>
                  <a:pt x="139583" y="52828"/>
                  <a:pt x="130725" y="64622"/>
                  <a:pt x="118473" y="64622"/>
                </a:cubicBezTo>
                <a:cubicBezTo>
                  <a:pt x="111392" y="64622"/>
                  <a:pt x="105172" y="60610"/>
                  <a:pt x="102103" y="54632"/>
                </a:cubicBezTo>
                <a:cubicBezTo>
                  <a:pt x="98979" y="60529"/>
                  <a:pt x="92786" y="64622"/>
                  <a:pt x="85570" y="64622"/>
                </a:cubicBezTo>
                <a:cubicBezTo>
                  <a:pt x="78408" y="64622"/>
                  <a:pt x="72188" y="60583"/>
                  <a:pt x="69065" y="54659"/>
                </a:cubicBezTo>
                <a:cubicBezTo>
                  <a:pt x="65941" y="60583"/>
                  <a:pt x="59721" y="64622"/>
                  <a:pt x="52559" y="64622"/>
                </a:cubicBezTo>
                <a:cubicBezTo>
                  <a:pt x="45343" y="64622"/>
                  <a:pt x="39150" y="60556"/>
                  <a:pt x="36027" y="54632"/>
                </a:cubicBezTo>
                <a:cubicBezTo>
                  <a:pt x="32957" y="60583"/>
                  <a:pt x="26737" y="64622"/>
                  <a:pt x="19656" y="64622"/>
                </a:cubicBezTo>
                <a:cubicBezTo>
                  <a:pt x="7378" y="64622"/>
                  <a:pt x="-1454" y="52855"/>
                  <a:pt x="1993" y="41062"/>
                </a:cubicBezTo>
                <a:lnTo>
                  <a:pt x="8266" y="19467"/>
                </a:lnTo>
                <a:close/>
                <a:moveTo>
                  <a:pt x="25956" y="94779"/>
                </a:moveTo>
                <a:lnTo>
                  <a:pt x="112119" y="94779"/>
                </a:lnTo>
                <a:lnTo>
                  <a:pt x="112119" y="76900"/>
                </a:lnTo>
                <a:cubicBezTo>
                  <a:pt x="114165" y="77331"/>
                  <a:pt x="116293" y="77546"/>
                  <a:pt x="118447" y="77546"/>
                </a:cubicBezTo>
                <a:cubicBezTo>
                  <a:pt x="122297" y="77546"/>
                  <a:pt x="125986" y="76846"/>
                  <a:pt x="129352" y="75608"/>
                </a:cubicBezTo>
                <a:lnTo>
                  <a:pt x="129352" y="116319"/>
                </a:lnTo>
                <a:cubicBezTo>
                  <a:pt x="129352" y="123455"/>
                  <a:pt x="123562" y="129244"/>
                  <a:pt x="116427" y="129244"/>
                </a:cubicBezTo>
                <a:lnTo>
                  <a:pt x="21648" y="129244"/>
                </a:lnTo>
                <a:cubicBezTo>
                  <a:pt x="14513" y="129244"/>
                  <a:pt x="8724" y="123455"/>
                  <a:pt x="8724" y="116319"/>
                </a:cubicBezTo>
                <a:lnTo>
                  <a:pt x="8724" y="75608"/>
                </a:lnTo>
                <a:cubicBezTo>
                  <a:pt x="12090" y="76846"/>
                  <a:pt x="15752" y="77546"/>
                  <a:pt x="19629" y="77546"/>
                </a:cubicBezTo>
                <a:cubicBezTo>
                  <a:pt x="21810" y="77546"/>
                  <a:pt x="23910" y="77331"/>
                  <a:pt x="25956" y="76900"/>
                </a:cubicBezTo>
                <a:lnTo>
                  <a:pt x="25956" y="9477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904707" y="2834748"/>
            <a:ext cx="3170782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 Shops Intelligence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04707" y="3007073"/>
            <a:ext cx="3170782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responses to customer enquiries for merchants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25592" y="3386188"/>
            <a:ext cx="5324845" cy="551440"/>
          </a:xfrm>
          <a:custGeom>
            <a:avLst/>
            <a:gdLst/>
            <a:ahLst/>
            <a:cxnLst/>
            <a:rect l="l" t="t" r="r" b="b"/>
            <a:pathLst>
              <a:path w="5324845" h="551440">
                <a:moveTo>
                  <a:pt x="68930" y="0"/>
                </a:moveTo>
                <a:lnTo>
                  <a:pt x="5255915" y="0"/>
                </a:lnTo>
                <a:cubicBezTo>
                  <a:pt x="5293984" y="0"/>
                  <a:pt x="5324845" y="30861"/>
                  <a:pt x="5324845" y="68930"/>
                </a:cubicBezTo>
                <a:lnTo>
                  <a:pt x="5324845" y="482510"/>
                </a:lnTo>
                <a:cubicBezTo>
                  <a:pt x="5324845" y="520579"/>
                  <a:pt x="5293984" y="551440"/>
                  <a:pt x="5255915" y="551440"/>
                </a:cubicBezTo>
                <a:lnTo>
                  <a:pt x="68930" y="551440"/>
                </a:lnTo>
                <a:cubicBezTo>
                  <a:pt x="30861" y="551440"/>
                  <a:pt x="0" y="520579"/>
                  <a:pt x="0" y="482510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20" name="Shape 17"/>
          <p:cNvSpPr/>
          <p:nvPr/>
        </p:nvSpPr>
        <p:spPr>
          <a:xfrm>
            <a:off x="637603" y="3524048"/>
            <a:ext cx="155093" cy="137860"/>
          </a:xfrm>
          <a:custGeom>
            <a:avLst/>
            <a:gdLst/>
            <a:ahLst/>
            <a:cxnLst/>
            <a:rect l="l" t="t" r="r" b="b"/>
            <a:pathLst>
              <a:path w="155093" h="137860">
                <a:moveTo>
                  <a:pt x="25849" y="17233"/>
                </a:moveTo>
                <a:cubicBezTo>
                  <a:pt x="16344" y="17233"/>
                  <a:pt x="8616" y="24960"/>
                  <a:pt x="8616" y="34465"/>
                </a:cubicBezTo>
                <a:lnTo>
                  <a:pt x="8616" y="103395"/>
                </a:lnTo>
                <a:cubicBezTo>
                  <a:pt x="8616" y="112900"/>
                  <a:pt x="16344" y="120628"/>
                  <a:pt x="25849" y="120628"/>
                </a:cubicBezTo>
                <a:lnTo>
                  <a:pt x="94779" y="120628"/>
                </a:lnTo>
                <a:cubicBezTo>
                  <a:pt x="104284" y="120628"/>
                  <a:pt x="112011" y="112900"/>
                  <a:pt x="112011" y="103395"/>
                </a:cubicBezTo>
                <a:lnTo>
                  <a:pt x="112011" y="34465"/>
                </a:lnTo>
                <a:cubicBezTo>
                  <a:pt x="112011" y="24960"/>
                  <a:pt x="104284" y="17233"/>
                  <a:pt x="94779" y="17233"/>
                </a:cubicBezTo>
                <a:lnTo>
                  <a:pt x="25849" y="17233"/>
                </a:lnTo>
                <a:close/>
                <a:moveTo>
                  <a:pt x="124936" y="90471"/>
                </a:moveTo>
                <a:lnTo>
                  <a:pt x="144726" y="106303"/>
                </a:lnTo>
                <a:cubicBezTo>
                  <a:pt x="145857" y="107219"/>
                  <a:pt x="147257" y="107703"/>
                  <a:pt x="148711" y="107703"/>
                </a:cubicBezTo>
                <a:cubicBezTo>
                  <a:pt x="152238" y="107703"/>
                  <a:pt x="155093" y="104849"/>
                  <a:pt x="155093" y="101322"/>
                </a:cubicBezTo>
                <a:lnTo>
                  <a:pt x="155093" y="36538"/>
                </a:lnTo>
                <a:cubicBezTo>
                  <a:pt x="155093" y="33011"/>
                  <a:pt x="152238" y="30157"/>
                  <a:pt x="148711" y="30157"/>
                </a:cubicBezTo>
                <a:cubicBezTo>
                  <a:pt x="147257" y="30157"/>
                  <a:pt x="145857" y="30642"/>
                  <a:pt x="144726" y="31557"/>
                </a:cubicBezTo>
                <a:lnTo>
                  <a:pt x="124936" y="47389"/>
                </a:lnTo>
                <a:lnTo>
                  <a:pt x="124936" y="90471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1" name="Text 18"/>
          <p:cNvSpPr/>
          <p:nvPr/>
        </p:nvSpPr>
        <p:spPr>
          <a:xfrm>
            <a:off x="904707" y="3489583"/>
            <a:ext cx="2808899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 Summaries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04707" y="3661908"/>
            <a:ext cx="2808899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text summaries for Video Accounts clips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169709" y="1348444"/>
            <a:ext cx="5678112" cy="2765818"/>
          </a:xfrm>
          <a:custGeom>
            <a:avLst/>
            <a:gdLst/>
            <a:ahLst/>
            <a:cxnLst/>
            <a:rect l="l" t="t" r="r" b="b"/>
            <a:pathLst>
              <a:path w="5678112" h="2765818">
                <a:moveTo>
                  <a:pt x="103386" y="0"/>
                </a:moveTo>
                <a:lnTo>
                  <a:pt x="5574725" y="0"/>
                </a:lnTo>
                <a:cubicBezTo>
                  <a:pt x="5631824" y="0"/>
                  <a:pt x="5678112" y="46288"/>
                  <a:pt x="5678112" y="103386"/>
                </a:cubicBezTo>
                <a:lnTo>
                  <a:pt x="5678112" y="2662431"/>
                </a:lnTo>
                <a:cubicBezTo>
                  <a:pt x="5678112" y="2719530"/>
                  <a:pt x="5631824" y="2765818"/>
                  <a:pt x="5574725" y="2765818"/>
                </a:cubicBezTo>
                <a:lnTo>
                  <a:pt x="103386" y="2765818"/>
                </a:lnTo>
                <a:cubicBezTo>
                  <a:pt x="46288" y="2765818"/>
                  <a:pt x="0" y="2719530"/>
                  <a:pt x="0" y="2662431"/>
                </a:cubicBezTo>
                <a:lnTo>
                  <a:pt x="0" y="103386"/>
                </a:lnTo>
                <a:cubicBezTo>
                  <a:pt x="0" y="46326"/>
                  <a:pt x="46326" y="0"/>
                  <a:pt x="103386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346343" y="1525077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68931" y="0"/>
                </a:moveTo>
                <a:lnTo>
                  <a:pt x="344649" y="0"/>
                </a:lnTo>
                <a:cubicBezTo>
                  <a:pt x="382719" y="0"/>
                  <a:pt x="413580" y="30862"/>
                  <a:pt x="413580" y="68931"/>
                </a:cubicBezTo>
                <a:lnTo>
                  <a:pt x="413580" y="344649"/>
                </a:lnTo>
                <a:cubicBezTo>
                  <a:pt x="413580" y="382719"/>
                  <a:pt x="382719" y="413580"/>
                  <a:pt x="344649" y="413580"/>
                </a:cubicBezTo>
                <a:lnTo>
                  <a:pt x="68931" y="413580"/>
                </a:lnTo>
                <a:cubicBezTo>
                  <a:pt x="30862" y="413580"/>
                  <a:pt x="0" y="382719"/>
                  <a:pt x="0" y="344649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6445430" y="1645705"/>
            <a:ext cx="215406" cy="172325"/>
          </a:xfrm>
          <a:custGeom>
            <a:avLst/>
            <a:gdLst/>
            <a:ahLst/>
            <a:cxnLst/>
            <a:rect l="l" t="t" r="r" b="b"/>
            <a:pathLst>
              <a:path w="215406" h="172325">
                <a:moveTo>
                  <a:pt x="150784" y="21541"/>
                </a:moveTo>
                <a:cubicBezTo>
                  <a:pt x="186461" y="21541"/>
                  <a:pt x="215406" y="50486"/>
                  <a:pt x="215406" y="86163"/>
                </a:cubicBezTo>
                <a:cubicBezTo>
                  <a:pt x="215406" y="121839"/>
                  <a:pt x="186461" y="150784"/>
                  <a:pt x="150784" y="150784"/>
                </a:cubicBezTo>
                <a:lnTo>
                  <a:pt x="64622" y="150784"/>
                </a:lnTo>
                <a:cubicBezTo>
                  <a:pt x="28945" y="150784"/>
                  <a:pt x="0" y="121839"/>
                  <a:pt x="0" y="86163"/>
                </a:cubicBezTo>
                <a:cubicBezTo>
                  <a:pt x="0" y="50486"/>
                  <a:pt x="28945" y="21541"/>
                  <a:pt x="64622" y="21541"/>
                </a:cubicBezTo>
                <a:lnTo>
                  <a:pt x="150784" y="21541"/>
                </a:lnTo>
                <a:close/>
                <a:moveTo>
                  <a:pt x="64622" y="59237"/>
                </a:moveTo>
                <a:cubicBezTo>
                  <a:pt x="60145" y="59237"/>
                  <a:pt x="56544" y="62838"/>
                  <a:pt x="56544" y="67314"/>
                </a:cubicBezTo>
                <a:lnTo>
                  <a:pt x="56544" y="78085"/>
                </a:lnTo>
                <a:lnTo>
                  <a:pt x="45774" y="78085"/>
                </a:lnTo>
                <a:cubicBezTo>
                  <a:pt x="41297" y="78085"/>
                  <a:pt x="37696" y="81686"/>
                  <a:pt x="37696" y="86163"/>
                </a:cubicBezTo>
                <a:cubicBezTo>
                  <a:pt x="37696" y="90639"/>
                  <a:pt x="41297" y="94240"/>
                  <a:pt x="45774" y="94240"/>
                </a:cubicBezTo>
                <a:lnTo>
                  <a:pt x="56544" y="94240"/>
                </a:lnTo>
                <a:lnTo>
                  <a:pt x="56544" y="105011"/>
                </a:lnTo>
                <a:cubicBezTo>
                  <a:pt x="56544" y="109487"/>
                  <a:pt x="60145" y="113088"/>
                  <a:pt x="64622" y="113088"/>
                </a:cubicBezTo>
                <a:cubicBezTo>
                  <a:pt x="69098" y="113088"/>
                  <a:pt x="72700" y="109487"/>
                  <a:pt x="72700" y="105011"/>
                </a:cubicBezTo>
                <a:lnTo>
                  <a:pt x="72700" y="94240"/>
                </a:lnTo>
                <a:lnTo>
                  <a:pt x="83470" y="94240"/>
                </a:lnTo>
                <a:cubicBezTo>
                  <a:pt x="87946" y="94240"/>
                  <a:pt x="91548" y="90639"/>
                  <a:pt x="91548" y="86163"/>
                </a:cubicBezTo>
                <a:cubicBezTo>
                  <a:pt x="91548" y="81686"/>
                  <a:pt x="87946" y="78085"/>
                  <a:pt x="83470" y="78085"/>
                </a:cubicBezTo>
                <a:lnTo>
                  <a:pt x="72700" y="78085"/>
                </a:lnTo>
                <a:lnTo>
                  <a:pt x="72700" y="67314"/>
                </a:lnTo>
                <a:cubicBezTo>
                  <a:pt x="72700" y="62838"/>
                  <a:pt x="69098" y="59237"/>
                  <a:pt x="64622" y="59237"/>
                </a:cubicBezTo>
                <a:close/>
                <a:moveTo>
                  <a:pt x="145399" y="91548"/>
                </a:moveTo>
                <a:cubicBezTo>
                  <a:pt x="139455" y="91548"/>
                  <a:pt x="134629" y="96374"/>
                  <a:pt x="134629" y="102318"/>
                </a:cubicBezTo>
                <a:cubicBezTo>
                  <a:pt x="134629" y="108262"/>
                  <a:pt x="139455" y="113088"/>
                  <a:pt x="145399" y="113088"/>
                </a:cubicBezTo>
                <a:cubicBezTo>
                  <a:pt x="151344" y="113088"/>
                  <a:pt x="156170" y="108262"/>
                  <a:pt x="156170" y="102318"/>
                </a:cubicBezTo>
                <a:cubicBezTo>
                  <a:pt x="156170" y="96374"/>
                  <a:pt x="151344" y="91548"/>
                  <a:pt x="145399" y="91548"/>
                </a:cubicBezTo>
                <a:close/>
                <a:moveTo>
                  <a:pt x="166940" y="59237"/>
                </a:moveTo>
                <a:cubicBezTo>
                  <a:pt x="160996" y="59237"/>
                  <a:pt x="156170" y="64063"/>
                  <a:pt x="156170" y="70007"/>
                </a:cubicBezTo>
                <a:cubicBezTo>
                  <a:pt x="156170" y="75951"/>
                  <a:pt x="160996" y="80777"/>
                  <a:pt x="166940" y="80777"/>
                </a:cubicBezTo>
                <a:cubicBezTo>
                  <a:pt x="172884" y="80777"/>
                  <a:pt x="177710" y="75951"/>
                  <a:pt x="177710" y="70007"/>
                </a:cubicBezTo>
                <a:cubicBezTo>
                  <a:pt x="177710" y="64063"/>
                  <a:pt x="172884" y="59237"/>
                  <a:pt x="166940" y="5923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6" name="Text 23"/>
          <p:cNvSpPr/>
          <p:nvPr/>
        </p:nvSpPr>
        <p:spPr>
          <a:xfrm>
            <a:off x="6863318" y="1611240"/>
            <a:ext cx="1180427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AI Tools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346343" y="2076517"/>
            <a:ext cx="5324845" cy="551440"/>
          </a:xfrm>
          <a:custGeom>
            <a:avLst/>
            <a:gdLst/>
            <a:ahLst/>
            <a:cxnLst/>
            <a:rect l="l" t="t" r="r" b="b"/>
            <a:pathLst>
              <a:path w="5324845" h="551440">
                <a:moveTo>
                  <a:pt x="68930" y="0"/>
                </a:moveTo>
                <a:lnTo>
                  <a:pt x="5255915" y="0"/>
                </a:lnTo>
                <a:cubicBezTo>
                  <a:pt x="5293984" y="0"/>
                  <a:pt x="5324845" y="30861"/>
                  <a:pt x="5324845" y="68930"/>
                </a:cubicBezTo>
                <a:lnTo>
                  <a:pt x="5324845" y="482510"/>
                </a:lnTo>
                <a:cubicBezTo>
                  <a:pt x="5324845" y="520579"/>
                  <a:pt x="5293984" y="551440"/>
                  <a:pt x="5255915" y="551440"/>
                </a:cubicBezTo>
                <a:lnTo>
                  <a:pt x="68930" y="551440"/>
                </a:lnTo>
                <a:cubicBezTo>
                  <a:pt x="30861" y="551440"/>
                  <a:pt x="0" y="520579"/>
                  <a:pt x="0" y="482510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28" name="Shape 25"/>
          <p:cNvSpPr/>
          <p:nvPr/>
        </p:nvSpPr>
        <p:spPr>
          <a:xfrm>
            <a:off x="6475586" y="2214377"/>
            <a:ext cx="120628" cy="137860"/>
          </a:xfrm>
          <a:custGeom>
            <a:avLst/>
            <a:gdLst/>
            <a:ahLst/>
            <a:cxnLst/>
            <a:rect l="l" t="t" r="r" b="b"/>
            <a:pathLst>
              <a:path w="120628" h="137860">
                <a:moveTo>
                  <a:pt x="91225" y="-2666"/>
                </a:moveTo>
                <a:cubicBezTo>
                  <a:pt x="94429" y="-350"/>
                  <a:pt x="95613" y="3850"/>
                  <a:pt x="94160" y="7512"/>
                </a:cubicBezTo>
                <a:lnTo>
                  <a:pt x="73050" y="60314"/>
                </a:lnTo>
                <a:lnTo>
                  <a:pt x="112011" y="60314"/>
                </a:lnTo>
                <a:cubicBezTo>
                  <a:pt x="115646" y="60314"/>
                  <a:pt x="118877" y="62576"/>
                  <a:pt x="120116" y="65995"/>
                </a:cubicBezTo>
                <a:cubicBezTo>
                  <a:pt x="121355" y="69415"/>
                  <a:pt x="120304" y="73238"/>
                  <a:pt x="117531" y="75554"/>
                </a:cubicBezTo>
                <a:lnTo>
                  <a:pt x="39985" y="140176"/>
                </a:lnTo>
                <a:cubicBezTo>
                  <a:pt x="36942" y="142707"/>
                  <a:pt x="32607" y="142841"/>
                  <a:pt x="29403" y="140526"/>
                </a:cubicBezTo>
                <a:cubicBezTo>
                  <a:pt x="26199" y="138210"/>
                  <a:pt x="25014" y="134010"/>
                  <a:pt x="26468" y="130348"/>
                </a:cubicBezTo>
                <a:lnTo>
                  <a:pt x="47578" y="77546"/>
                </a:lnTo>
                <a:lnTo>
                  <a:pt x="8616" y="77546"/>
                </a:lnTo>
                <a:cubicBezTo>
                  <a:pt x="4981" y="77546"/>
                  <a:pt x="1750" y="75285"/>
                  <a:pt x="512" y="71865"/>
                </a:cubicBezTo>
                <a:cubicBezTo>
                  <a:pt x="-727" y="68445"/>
                  <a:pt x="323" y="64622"/>
                  <a:pt x="3096" y="62306"/>
                </a:cubicBezTo>
                <a:lnTo>
                  <a:pt x="80643" y="-2316"/>
                </a:lnTo>
                <a:cubicBezTo>
                  <a:pt x="83685" y="-4847"/>
                  <a:pt x="88020" y="-4981"/>
                  <a:pt x="91225" y="-266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9" name="Text 26"/>
          <p:cNvSpPr/>
          <p:nvPr/>
        </p:nvSpPr>
        <p:spPr>
          <a:xfrm>
            <a:off x="6725458" y="2179912"/>
            <a:ext cx="2800283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 Production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725458" y="2352237"/>
            <a:ext cx="2800283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tools accelerating game content creation pipeline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346343" y="2731353"/>
            <a:ext cx="5324845" cy="551440"/>
          </a:xfrm>
          <a:custGeom>
            <a:avLst/>
            <a:gdLst/>
            <a:ahLst/>
            <a:cxnLst/>
            <a:rect l="l" t="t" r="r" b="b"/>
            <a:pathLst>
              <a:path w="5324845" h="551440">
                <a:moveTo>
                  <a:pt x="68930" y="0"/>
                </a:moveTo>
                <a:lnTo>
                  <a:pt x="5255915" y="0"/>
                </a:lnTo>
                <a:cubicBezTo>
                  <a:pt x="5293984" y="0"/>
                  <a:pt x="5324845" y="30861"/>
                  <a:pt x="5324845" y="68930"/>
                </a:cubicBezTo>
                <a:lnTo>
                  <a:pt x="5324845" y="482510"/>
                </a:lnTo>
                <a:cubicBezTo>
                  <a:pt x="5324845" y="520579"/>
                  <a:pt x="5293984" y="551440"/>
                  <a:pt x="5255915" y="551440"/>
                </a:cubicBezTo>
                <a:lnTo>
                  <a:pt x="68930" y="551440"/>
                </a:lnTo>
                <a:cubicBezTo>
                  <a:pt x="30861" y="551440"/>
                  <a:pt x="0" y="520579"/>
                  <a:pt x="0" y="482510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2" name="Shape 29"/>
          <p:cNvSpPr/>
          <p:nvPr/>
        </p:nvSpPr>
        <p:spPr>
          <a:xfrm>
            <a:off x="6449738" y="2869213"/>
            <a:ext cx="172325" cy="137860"/>
          </a:xfrm>
          <a:custGeom>
            <a:avLst/>
            <a:gdLst/>
            <a:ahLst/>
            <a:cxnLst/>
            <a:rect l="l" t="t" r="r" b="b"/>
            <a:pathLst>
              <a:path w="172325" h="137860">
                <a:moveTo>
                  <a:pt x="86163" y="4308"/>
                </a:moveTo>
                <a:cubicBezTo>
                  <a:pt x="101618" y="4308"/>
                  <a:pt x="114165" y="16856"/>
                  <a:pt x="114165" y="32311"/>
                </a:cubicBezTo>
                <a:cubicBezTo>
                  <a:pt x="114165" y="47766"/>
                  <a:pt x="101618" y="60314"/>
                  <a:pt x="86163" y="60314"/>
                </a:cubicBezTo>
                <a:cubicBezTo>
                  <a:pt x="70707" y="60314"/>
                  <a:pt x="58160" y="47766"/>
                  <a:pt x="58160" y="32311"/>
                </a:cubicBezTo>
                <a:cubicBezTo>
                  <a:pt x="58160" y="16856"/>
                  <a:pt x="70707" y="4308"/>
                  <a:pt x="86163" y="4308"/>
                </a:cubicBezTo>
                <a:close/>
                <a:moveTo>
                  <a:pt x="25849" y="23695"/>
                </a:moveTo>
                <a:cubicBezTo>
                  <a:pt x="36549" y="23695"/>
                  <a:pt x="45235" y="32382"/>
                  <a:pt x="45235" y="43081"/>
                </a:cubicBezTo>
                <a:cubicBezTo>
                  <a:pt x="45235" y="53781"/>
                  <a:pt x="36549" y="62468"/>
                  <a:pt x="25849" y="62468"/>
                </a:cubicBezTo>
                <a:cubicBezTo>
                  <a:pt x="15149" y="62468"/>
                  <a:pt x="6462" y="53781"/>
                  <a:pt x="6462" y="43081"/>
                </a:cubicBezTo>
                <a:cubicBezTo>
                  <a:pt x="6462" y="32382"/>
                  <a:pt x="15149" y="23695"/>
                  <a:pt x="25849" y="23695"/>
                </a:cubicBezTo>
                <a:close/>
                <a:moveTo>
                  <a:pt x="0" y="112011"/>
                </a:moveTo>
                <a:cubicBezTo>
                  <a:pt x="0" y="92975"/>
                  <a:pt x="15428" y="77546"/>
                  <a:pt x="34465" y="77546"/>
                </a:cubicBezTo>
                <a:cubicBezTo>
                  <a:pt x="37912" y="77546"/>
                  <a:pt x="41250" y="78058"/>
                  <a:pt x="44401" y="79000"/>
                </a:cubicBezTo>
                <a:cubicBezTo>
                  <a:pt x="35542" y="88909"/>
                  <a:pt x="30157" y="101995"/>
                  <a:pt x="30157" y="116319"/>
                </a:cubicBezTo>
                <a:lnTo>
                  <a:pt x="30157" y="120628"/>
                </a:lnTo>
                <a:cubicBezTo>
                  <a:pt x="30157" y="123697"/>
                  <a:pt x="30803" y="126605"/>
                  <a:pt x="31961" y="129244"/>
                </a:cubicBezTo>
                <a:lnTo>
                  <a:pt x="8616" y="129244"/>
                </a:lnTo>
                <a:cubicBezTo>
                  <a:pt x="3850" y="129244"/>
                  <a:pt x="0" y="125393"/>
                  <a:pt x="0" y="120628"/>
                </a:cubicBezTo>
                <a:lnTo>
                  <a:pt x="0" y="112011"/>
                </a:lnTo>
                <a:close/>
                <a:moveTo>
                  <a:pt x="140364" y="129244"/>
                </a:moveTo>
                <a:cubicBezTo>
                  <a:pt x="141522" y="126605"/>
                  <a:pt x="142168" y="123697"/>
                  <a:pt x="142168" y="120628"/>
                </a:cubicBezTo>
                <a:lnTo>
                  <a:pt x="142168" y="116319"/>
                </a:lnTo>
                <a:cubicBezTo>
                  <a:pt x="142168" y="101995"/>
                  <a:pt x="136783" y="88909"/>
                  <a:pt x="127924" y="79000"/>
                </a:cubicBezTo>
                <a:cubicBezTo>
                  <a:pt x="131075" y="78058"/>
                  <a:pt x="134414" y="77546"/>
                  <a:pt x="137860" y="77546"/>
                </a:cubicBezTo>
                <a:cubicBezTo>
                  <a:pt x="156897" y="77546"/>
                  <a:pt x="172325" y="92975"/>
                  <a:pt x="172325" y="112011"/>
                </a:cubicBezTo>
                <a:lnTo>
                  <a:pt x="172325" y="120628"/>
                </a:lnTo>
                <a:cubicBezTo>
                  <a:pt x="172325" y="125393"/>
                  <a:pt x="168475" y="129244"/>
                  <a:pt x="163709" y="129244"/>
                </a:cubicBezTo>
                <a:lnTo>
                  <a:pt x="140364" y="129244"/>
                </a:lnTo>
                <a:close/>
                <a:moveTo>
                  <a:pt x="127090" y="43081"/>
                </a:moveTo>
                <a:cubicBezTo>
                  <a:pt x="127090" y="32382"/>
                  <a:pt x="135777" y="23695"/>
                  <a:pt x="146476" y="23695"/>
                </a:cubicBezTo>
                <a:cubicBezTo>
                  <a:pt x="157176" y="23695"/>
                  <a:pt x="165863" y="32382"/>
                  <a:pt x="165863" y="43081"/>
                </a:cubicBezTo>
                <a:cubicBezTo>
                  <a:pt x="165863" y="53781"/>
                  <a:pt x="157176" y="62468"/>
                  <a:pt x="146476" y="62468"/>
                </a:cubicBezTo>
                <a:cubicBezTo>
                  <a:pt x="135777" y="62468"/>
                  <a:pt x="127090" y="53781"/>
                  <a:pt x="127090" y="43081"/>
                </a:cubicBezTo>
                <a:close/>
                <a:moveTo>
                  <a:pt x="43081" y="116319"/>
                </a:moveTo>
                <a:cubicBezTo>
                  <a:pt x="43081" y="92517"/>
                  <a:pt x="62360" y="73238"/>
                  <a:pt x="86163" y="73238"/>
                </a:cubicBezTo>
                <a:cubicBezTo>
                  <a:pt x="109965" y="73238"/>
                  <a:pt x="129244" y="92517"/>
                  <a:pt x="129244" y="116319"/>
                </a:cubicBezTo>
                <a:lnTo>
                  <a:pt x="129244" y="120628"/>
                </a:lnTo>
                <a:cubicBezTo>
                  <a:pt x="129244" y="125393"/>
                  <a:pt x="125393" y="129244"/>
                  <a:pt x="120628" y="129244"/>
                </a:cubicBezTo>
                <a:lnTo>
                  <a:pt x="51698" y="129244"/>
                </a:lnTo>
                <a:cubicBezTo>
                  <a:pt x="46932" y="129244"/>
                  <a:pt x="43081" y="125393"/>
                  <a:pt x="43081" y="120628"/>
                </a:cubicBezTo>
                <a:lnTo>
                  <a:pt x="43081" y="11631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3" name="Text 30"/>
          <p:cNvSpPr/>
          <p:nvPr/>
        </p:nvSpPr>
        <p:spPr>
          <a:xfrm>
            <a:off x="6725458" y="2834748"/>
            <a:ext cx="2877829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Teammates &amp; NPCs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725458" y="3007073"/>
            <a:ext cx="2877829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Realistic AI-powered characters enhancing gameplay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346343" y="3386188"/>
            <a:ext cx="5324845" cy="551440"/>
          </a:xfrm>
          <a:custGeom>
            <a:avLst/>
            <a:gdLst/>
            <a:ahLst/>
            <a:cxnLst/>
            <a:rect l="l" t="t" r="r" b="b"/>
            <a:pathLst>
              <a:path w="5324845" h="551440">
                <a:moveTo>
                  <a:pt x="68930" y="0"/>
                </a:moveTo>
                <a:lnTo>
                  <a:pt x="5255915" y="0"/>
                </a:lnTo>
                <a:cubicBezTo>
                  <a:pt x="5293984" y="0"/>
                  <a:pt x="5324845" y="30861"/>
                  <a:pt x="5324845" y="68930"/>
                </a:cubicBezTo>
                <a:lnTo>
                  <a:pt x="5324845" y="482510"/>
                </a:lnTo>
                <a:cubicBezTo>
                  <a:pt x="5324845" y="520579"/>
                  <a:pt x="5293984" y="551440"/>
                  <a:pt x="5255915" y="551440"/>
                </a:cubicBezTo>
                <a:lnTo>
                  <a:pt x="68930" y="551440"/>
                </a:lnTo>
                <a:cubicBezTo>
                  <a:pt x="30861" y="551440"/>
                  <a:pt x="0" y="520579"/>
                  <a:pt x="0" y="482510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6" name="Shape 33"/>
          <p:cNvSpPr/>
          <p:nvPr/>
        </p:nvSpPr>
        <p:spPr>
          <a:xfrm>
            <a:off x="6466970" y="3524048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124182" y="5089"/>
                </a:moveTo>
                <a:cubicBezTo>
                  <a:pt x="127278" y="6462"/>
                  <a:pt x="129244" y="9532"/>
                  <a:pt x="129244" y="12924"/>
                </a:cubicBezTo>
                <a:lnTo>
                  <a:pt x="129244" y="124936"/>
                </a:lnTo>
                <a:cubicBezTo>
                  <a:pt x="129244" y="128328"/>
                  <a:pt x="127278" y="131398"/>
                  <a:pt x="124182" y="132771"/>
                </a:cubicBezTo>
                <a:cubicBezTo>
                  <a:pt x="121085" y="134144"/>
                  <a:pt x="117504" y="133633"/>
                  <a:pt x="114946" y="131398"/>
                </a:cubicBezTo>
                <a:lnTo>
                  <a:pt x="102399" y="120439"/>
                </a:lnTo>
                <a:cubicBezTo>
                  <a:pt x="90659" y="110180"/>
                  <a:pt x="75823" y="104203"/>
                  <a:pt x="60287" y="103476"/>
                </a:cubicBezTo>
                <a:lnTo>
                  <a:pt x="60287" y="129244"/>
                </a:lnTo>
                <a:cubicBezTo>
                  <a:pt x="60287" y="134010"/>
                  <a:pt x="56436" y="137860"/>
                  <a:pt x="51671" y="137860"/>
                </a:cubicBezTo>
                <a:lnTo>
                  <a:pt x="43054" y="137860"/>
                </a:lnTo>
                <a:cubicBezTo>
                  <a:pt x="38288" y="137860"/>
                  <a:pt x="34438" y="134010"/>
                  <a:pt x="34438" y="129244"/>
                </a:cubicBezTo>
                <a:lnTo>
                  <a:pt x="34438" y="103395"/>
                </a:lnTo>
                <a:cubicBezTo>
                  <a:pt x="15428" y="103395"/>
                  <a:pt x="0" y="87967"/>
                  <a:pt x="0" y="68930"/>
                </a:cubicBezTo>
                <a:cubicBezTo>
                  <a:pt x="0" y="49893"/>
                  <a:pt x="15428" y="34465"/>
                  <a:pt x="34465" y="34465"/>
                </a:cubicBezTo>
                <a:lnTo>
                  <a:pt x="57217" y="34465"/>
                </a:lnTo>
                <a:cubicBezTo>
                  <a:pt x="73857" y="34411"/>
                  <a:pt x="89905" y="28353"/>
                  <a:pt x="102426" y="17421"/>
                </a:cubicBezTo>
                <a:lnTo>
                  <a:pt x="114973" y="6462"/>
                </a:lnTo>
                <a:cubicBezTo>
                  <a:pt x="117504" y="4227"/>
                  <a:pt x="121139" y="3716"/>
                  <a:pt x="124209" y="5089"/>
                </a:cubicBezTo>
                <a:close/>
                <a:moveTo>
                  <a:pt x="60314" y="86163"/>
                </a:moveTo>
                <a:lnTo>
                  <a:pt x="60314" y="86216"/>
                </a:lnTo>
                <a:cubicBezTo>
                  <a:pt x="79243" y="86943"/>
                  <a:pt x="97418" y="93890"/>
                  <a:pt x="112011" y="105980"/>
                </a:cubicBezTo>
                <a:lnTo>
                  <a:pt x="112011" y="31853"/>
                </a:lnTo>
                <a:cubicBezTo>
                  <a:pt x="97418" y="43943"/>
                  <a:pt x="79243" y="50890"/>
                  <a:pt x="60314" y="51617"/>
                </a:cubicBezTo>
                <a:lnTo>
                  <a:pt x="60314" y="8616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7" name="Text 34"/>
          <p:cNvSpPr/>
          <p:nvPr/>
        </p:nvSpPr>
        <p:spPr>
          <a:xfrm>
            <a:off x="6725458" y="3489583"/>
            <a:ext cx="2438400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Marketing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725458" y="3661908"/>
            <a:ext cx="2438400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acquisition and engagement campaigns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348958" y="4260738"/>
            <a:ext cx="5678112" cy="2593493"/>
          </a:xfrm>
          <a:custGeom>
            <a:avLst/>
            <a:gdLst/>
            <a:ahLst/>
            <a:cxnLst/>
            <a:rect l="l" t="t" r="r" b="b"/>
            <a:pathLst>
              <a:path w="5678112" h="2593493">
                <a:moveTo>
                  <a:pt x="103403" y="0"/>
                </a:moveTo>
                <a:lnTo>
                  <a:pt x="5574709" y="0"/>
                </a:lnTo>
                <a:cubicBezTo>
                  <a:pt x="5631817" y="0"/>
                  <a:pt x="5678112" y="46295"/>
                  <a:pt x="5678112" y="103403"/>
                </a:cubicBezTo>
                <a:lnTo>
                  <a:pt x="5678112" y="2490090"/>
                </a:lnTo>
                <a:cubicBezTo>
                  <a:pt x="5678112" y="2547198"/>
                  <a:pt x="5631817" y="2593493"/>
                  <a:pt x="5574709" y="2593493"/>
                </a:cubicBezTo>
                <a:lnTo>
                  <a:pt x="103403" y="2593493"/>
                </a:lnTo>
                <a:cubicBezTo>
                  <a:pt x="46295" y="2593493"/>
                  <a:pt x="0" y="2547198"/>
                  <a:pt x="0" y="2490090"/>
                </a:cubicBezTo>
                <a:lnTo>
                  <a:pt x="0" y="103403"/>
                </a:lnTo>
                <a:cubicBezTo>
                  <a:pt x="0" y="46333"/>
                  <a:pt x="46333" y="0"/>
                  <a:pt x="103403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25592" y="4437371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68931" y="0"/>
                </a:moveTo>
                <a:lnTo>
                  <a:pt x="344649" y="0"/>
                </a:lnTo>
                <a:cubicBezTo>
                  <a:pt x="382719" y="0"/>
                  <a:pt x="413580" y="30862"/>
                  <a:pt x="413580" y="68931"/>
                </a:cubicBezTo>
                <a:lnTo>
                  <a:pt x="413580" y="344649"/>
                </a:lnTo>
                <a:cubicBezTo>
                  <a:pt x="413580" y="382719"/>
                  <a:pt x="382719" y="413580"/>
                  <a:pt x="344649" y="413580"/>
                </a:cubicBezTo>
                <a:lnTo>
                  <a:pt x="68931" y="413580"/>
                </a:lnTo>
                <a:cubicBezTo>
                  <a:pt x="30862" y="413580"/>
                  <a:pt x="0" y="382719"/>
                  <a:pt x="0" y="344649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646219" y="4557999"/>
            <a:ext cx="172325" cy="172325"/>
          </a:xfrm>
          <a:custGeom>
            <a:avLst/>
            <a:gdLst/>
            <a:ahLst/>
            <a:cxnLst/>
            <a:rect l="l" t="t" r="r" b="b"/>
            <a:pathLst>
              <a:path w="172325" h="172325">
                <a:moveTo>
                  <a:pt x="21541" y="21541"/>
                </a:moveTo>
                <a:cubicBezTo>
                  <a:pt x="9660" y="21541"/>
                  <a:pt x="0" y="31200"/>
                  <a:pt x="0" y="43081"/>
                </a:cubicBezTo>
                <a:lnTo>
                  <a:pt x="0" y="129244"/>
                </a:lnTo>
                <a:cubicBezTo>
                  <a:pt x="0" y="141125"/>
                  <a:pt x="9660" y="150784"/>
                  <a:pt x="21541" y="150784"/>
                </a:cubicBezTo>
                <a:lnTo>
                  <a:pt x="150784" y="150784"/>
                </a:lnTo>
                <a:cubicBezTo>
                  <a:pt x="162665" y="150784"/>
                  <a:pt x="172325" y="141125"/>
                  <a:pt x="172325" y="129244"/>
                </a:cubicBezTo>
                <a:lnTo>
                  <a:pt x="172325" y="43081"/>
                </a:lnTo>
                <a:cubicBezTo>
                  <a:pt x="172325" y="31200"/>
                  <a:pt x="162665" y="21541"/>
                  <a:pt x="150784" y="21541"/>
                </a:cubicBezTo>
                <a:lnTo>
                  <a:pt x="21541" y="21541"/>
                </a:lnTo>
                <a:close/>
                <a:moveTo>
                  <a:pt x="140014" y="61929"/>
                </a:moveTo>
                <a:lnTo>
                  <a:pt x="140014" y="110396"/>
                </a:lnTo>
                <a:cubicBezTo>
                  <a:pt x="140014" y="114872"/>
                  <a:pt x="136413" y="118473"/>
                  <a:pt x="131936" y="118473"/>
                </a:cubicBezTo>
                <a:cubicBezTo>
                  <a:pt x="129547" y="118473"/>
                  <a:pt x="127393" y="117430"/>
                  <a:pt x="125912" y="115781"/>
                </a:cubicBezTo>
                <a:cubicBezTo>
                  <a:pt x="122479" y="117497"/>
                  <a:pt x="118574" y="118473"/>
                  <a:pt x="114435" y="118473"/>
                </a:cubicBezTo>
                <a:cubicBezTo>
                  <a:pt x="100299" y="118473"/>
                  <a:pt x="88855" y="107030"/>
                  <a:pt x="88855" y="92894"/>
                </a:cubicBezTo>
                <a:cubicBezTo>
                  <a:pt x="88855" y="78758"/>
                  <a:pt x="100299" y="67314"/>
                  <a:pt x="114435" y="67314"/>
                </a:cubicBezTo>
                <a:cubicBezTo>
                  <a:pt x="117767" y="67314"/>
                  <a:pt x="120930" y="67954"/>
                  <a:pt x="123859" y="69098"/>
                </a:cubicBezTo>
                <a:lnTo>
                  <a:pt x="123859" y="61929"/>
                </a:lnTo>
                <a:cubicBezTo>
                  <a:pt x="123859" y="57453"/>
                  <a:pt x="127460" y="53852"/>
                  <a:pt x="131936" y="53852"/>
                </a:cubicBezTo>
                <a:cubicBezTo>
                  <a:pt x="136413" y="53852"/>
                  <a:pt x="140014" y="57453"/>
                  <a:pt x="140014" y="61929"/>
                </a:cubicBezTo>
                <a:close/>
                <a:moveTo>
                  <a:pt x="123859" y="92894"/>
                </a:moveTo>
                <a:cubicBezTo>
                  <a:pt x="123859" y="87693"/>
                  <a:pt x="119636" y="83470"/>
                  <a:pt x="114435" y="83470"/>
                </a:cubicBezTo>
                <a:cubicBezTo>
                  <a:pt x="109233" y="83470"/>
                  <a:pt x="105011" y="87693"/>
                  <a:pt x="105011" y="92894"/>
                </a:cubicBezTo>
                <a:cubicBezTo>
                  <a:pt x="105011" y="98095"/>
                  <a:pt x="109233" y="102318"/>
                  <a:pt x="114435" y="102318"/>
                </a:cubicBezTo>
                <a:cubicBezTo>
                  <a:pt x="119636" y="102318"/>
                  <a:pt x="123859" y="98095"/>
                  <a:pt x="123859" y="92894"/>
                </a:cubicBezTo>
                <a:close/>
                <a:moveTo>
                  <a:pt x="53852" y="70007"/>
                </a:moveTo>
                <a:cubicBezTo>
                  <a:pt x="50890" y="70007"/>
                  <a:pt x="48466" y="72430"/>
                  <a:pt x="48466" y="75392"/>
                </a:cubicBezTo>
                <a:lnTo>
                  <a:pt x="48466" y="86163"/>
                </a:lnTo>
                <a:lnTo>
                  <a:pt x="64622" y="86163"/>
                </a:lnTo>
                <a:lnTo>
                  <a:pt x="64622" y="75392"/>
                </a:lnTo>
                <a:cubicBezTo>
                  <a:pt x="64622" y="72430"/>
                  <a:pt x="62199" y="70007"/>
                  <a:pt x="59237" y="70007"/>
                </a:cubicBezTo>
                <a:lnTo>
                  <a:pt x="53852" y="70007"/>
                </a:lnTo>
                <a:close/>
                <a:moveTo>
                  <a:pt x="64622" y="102318"/>
                </a:moveTo>
                <a:lnTo>
                  <a:pt x="48466" y="102318"/>
                </a:lnTo>
                <a:lnTo>
                  <a:pt x="48466" y="110396"/>
                </a:lnTo>
                <a:cubicBezTo>
                  <a:pt x="48466" y="114872"/>
                  <a:pt x="44865" y="118473"/>
                  <a:pt x="40389" y="118473"/>
                </a:cubicBezTo>
                <a:cubicBezTo>
                  <a:pt x="35912" y="118473"/>
                  <a:pt x="32311" y="114872"/>
                  <a:pt x="32311" y="110396"/>
                </a:cubicBezTo>
                <a:lnTo>
                  <a:pt x="32311" y="75392"/>
                </a:lnTo>
                <a:cubicBezTo>
                  <a:pt x="32311" y="63511"/>
                  <a:pt x="41971" y="53852"/>
                  <a:pt x="53852" y="53852"/>
                </a:cubicBezTo>
                <a:lnTo>
                  <a:pt x="59237" y="53852"/>
                </a:lnTo>
                <a:cubicBezTo>
                  <a:pt x="71118" y="53852"/>
                  <a:pt x="80777" y="63511"/>
                  <a:pt x="80777" y="75392"/>
                </a:cubicBezTo>
                <a:lnTo>
                  <a:pt x="80777" y="110396"/>
                </a:lnTo>
                <a:cubicBezTo>
                  <a:pt x="80777" y="114872"/>
                  <a:pt x="77176" y="118473"/>
                  <a:pt x="72700" y="118473"/>
                </a:cubicBezTo>
                <a:cubicBezTo>
                  <a:pt x="68223" y="118473"/>
                  <a:pt x="64622" y="114872"/>
                  <a:pt x="64622" y="110396"/>
                </a:cubicBezTo>
                <a:lnTo>
                  <a:pt x="64622" y="10231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2" name="Text 39"/>
          <p:cNvSpPr/>
          <p:nvPr/>
        </p:nvSpPr>
        <p:spPr>
          <a:xfrm>
            <a:off x="1042567" y="4523534"/>
            <a:ext cx="1645705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Advertising Platform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525592" y="4988811"/>
            <a:ext cx="5324845" cy="620370"/>
          </a:xfrm>
          <a:custGeom>
            <a:avLst/>
            <a:gdLst/>
            <a:ahLst/>
            <a:cxnLst/>
            <a:rect l="l" t="t" r="r" b="b"/>
            <a:pathLst>
              <a:path w="5324845" h="620370">
                <a:moveTo>
                  <a:pt x="68929" y="0"/>
                </a:moveTo>
                <a:lnTo>
                  <a:pt x="5255916" y="0"/>
                </a:lnTo>
                <a:cubicBezTo>
                  <a:pt x="5293985" y="0"/>
                  <a:pt x="5324845" y="30861"/>
                  <a:pt x="5324845" y="68929"/>
                </a:cubicBezTo>
                <a:lnTo>
                  <a:pt x="5324845" y="551441"/>
                </a:lnTo>
                <a:cubicBezTo>
                  <a:pt x="5324845" y="589510"/>
                  <a:pt x="5293985" y="620370"/>
                  <a:pt x="5255916" y="620370"/>
                </a:cubicBezTo>
                <a:lnTo>
                  <a:pt x="68929" y="620370"/>
                </a:lnTo>
                <a:cubicBezTo>
                  <a:pt x="30861" y="620370"/>
                  <a:pt x="0" y="589510"/>
                  <a:pt x="0" y="551441"/>
                </a:cubicBezTo>
                <a:lnTo>
                  <a:pt x="0" y="68929"/>
                </a:lnTo>
                <a:cubicBezTo>
                  <a:pt x="0" y="30861"/>
                  <a:pt x="30861" y="0"/>
                  <a:pt x="68929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44" name="Text 41"/>
          <p:cNvSpPr/>
          <p:nvPr/>
        </p:nvSpPr>
        <p:spPr>
          <a:xfrm>
            <a:off x="628987" y="5092206"/>
            <a:ext cx="5178369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Foundation Model Upgrade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28987" y="5333461"/>
            <a:ext cx="5178369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Enhanced advertising performance across Video Accounts, Mini Programs, and Weixin Search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525592" y="5712577"/>
            <a:ext cx="2610725" cy="620370"/>
          </a:xfrm>
          <a:custGeom>
            <a:avLst/>
            <a:gdLst/>
            <a:ahLst/>
            <a:cxnLst/>
            <a:rect l="l" t="t" r="r" b="b"/>
            <a:pathLst>
              <a:path w="2610725" h="620370">
                <a:moveTo>
                  <a:pt x="68929" y="0"/>
                </a:moveTo>
                <a:lnTo>
                  <a:pt x="2541796" y="0"/>
                </a:lnTo>
                <a:cubicBezTo>
                  <a:pt x="2579864" y="0"/>
                  <a:pt x="2610725" y="30861"/>
                  <a:pt x="2610725" y="68929"/>
                </a:cubicBezTo>
                <a:lnTo>
                  <a:pt x="2610725" y="551441"/>
                </a:lnTo>
                <a:cubicBezTo>
                  <a:pt x="2610725" y="589510"/>
                  <a:pt x="2579864" y="620370"/>
                  <a:pt x="2541796" y="620370"/>
                </a:cubicBezTo>
                <a:lnTo>
                  <a:pt x="68929" y="620370"/>
                </a:lnTo>
                <a:cubicBezTo>
                  <a:pt x="30861" y="620370"/>
                  <a:pt x="0" y="589510"/>
                  <a:pt x="0" y="551441"/>
                </a:cubicBezTo>
                <a:lnTo>
                  <a:pt x="0" y="68929"/>
                </a:lnTo>
                <a:cubicBezTo>
                  <a:pt x="0" y="30861"/>
                  <a:pt x="30861" y="0"/>
                  <a:pt x="68929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47" name="Text 44"/>
          <p:cNvSpPr/>
          <p:nvPr/>
        </p:nvSpPr>
        <p:spPr>
          <a:xfrm>
            <a:off x="577289" y="5815972"/>
            <a:ext cx="2507330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28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+20%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603138" y="6091692"/>
            <a:ext cx="2455633" cy="137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Marketing Services Revenue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3237760" y="5712577"/>
            <a:ext cx="2610725" cy="620370"/>
          </a:xfrm>
          <a:custGeom>
            <a:avLst/>
            <a:gdLst/>
            <a:ahLst/>
            <a:cxnLst/>
            <a:rect l="l" t="t" r="r" b="b"/>
            <a:pathLst>
              <a:path w="2610725" h="620370">
                <a:moveTo>
                  <a:pt x="68929" y="0"/>
                </a:moveTo>
                <a:lnTo>
                  <a:pt x="2541796" y="0"/>
                </a:lnTo>
                <a:cubicBezTo>
                  <a:pt x="2579864" y="0"/>
                  <a:pt x="2610725" y="30861"/>
                  <a:pt x="2610725" y="68929"/>
                </a:cubicBezTo>
                <a:lnTo>
                  <a:pt x="2610725" y="551441"/>
                </a:lnTo>
                <a:cubicBezTo>
                  <a:pt x="2610725" y="589510"/>
                  <a:pt x="2579864" y="620370"/>
                  <a:pt x="2541796" y="620370"/>
                </a:cubicBezTo>
                <a:lnTo>
                  <a:pt x="68929" y="620370"/>
                </a:lnTo>
                <a:cubicBezTo>
                  <a:pt x="30861" y="620370"/>
                  <a:pt x="0" y="589510"/>
                  <a:pt x="0" y="551441"/>
                </a:cubicBezTo>
                <a:lnTo>
                  <a:pt x="0" y="68929"/>
                </a:lnTo>
                <a:cubicBezTo>
                  <a:pt x="0" y="30861"/>
                  <a:pt x="30861" y="0"/>
                  <a:pt x="68929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50" name="Text 47"/>
          <p:cNvSpPr/>
          <p:nvPr/>
        </p:nvSpPr>
        <p:spPr>
          <a:xfrm>
            <a:off x="3289457" y="5815972"/>
            <a:ext cx="2507330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28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Higher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3315306" y="6091692"/>
            <a:ext cx="2455633" cy="137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CTR &amp; Conversions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6169709" y="4260738"/>
            <a:ext cx="5678112" cy="2593493"/>
          </a:xfrm>
          <a:custGeom>
            <a:avLst/>
            <a:gdLst/>
            <a:ahLst/>
            <a:cxnLst/>
            <a:rect l="l" t="t" r="r" b="b"/>
            <a:pathLst>
              <a:path w="5678112" h="2593493">
                <a:moveTo>
                  <a:pt x="103403" y="0"/>
                </a:moveTo>
                <a:lnTo>
                  <a:pt x="5574709" y="0"/>
                </a:lnTo>
                <a:cubicBezTo>
                  <a:pt x="5631817" y="0"/>
                  <a:pt x="5678112" y="46295"/>
                  <a:pt x="5678112" y="103403"/>
                </a:cubicBezTo>
                <a:lnTo>
                  <a:pt x="5678112" y="2490090"/>
                </a:lnTo>
                <a:cubicBezTo>
                  <a:pt x="5678112" y="2547198"/>
                  <a:pt x="5631817" y="2593493"/>
                  <a:pt x="5574709" y="2593493"/>
                </a:cubicBezTo>
                <a:lnTo>
                  <a:pt x="103403" y="2593493"/>
                </a:lnTo>
                <a:cubicBezTo>
                  <a:pt x="46295" y="2593493"/>
                  <a:pt x="0" y="2547198"/>
                  <a:pt x="0" y="2490090"/>
                </a:cubicBezTo>
                <a:lnTo>
                  <a:pt x="0" y="103403"/>
                </a:lnTo>
                <a:cubicBezTo>
                  <a:pt x="0" y="46333"/>
                  <a:pt x="46333" y="0"/>
                  <a:pt x="103403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346343" y="4437371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68931" y="0"/>
                </a:moveTo>
                <a:lnTo>
                  <a:pt x="344649" y="0"/>
                </a:lnTo>
                <a:cubicBezTo>
                  <a:pt x="382719" y="0"/>
                  <a:pt x="413580" y="30862"/>
                  <a:pt x="413580" y="68931"/>
                </a:cubicBezTo>
                <a:lnTo>
                  <a:pt x="413580" y="344649"/>
                </a:lnTo>
                <a:cubicBezTo>
                  <a:pt x="413580" y="382719"/>
                  <a:pt x="382719" y="413580"/>
                  <a:pt x="344649" y="413580"/>
                </a:cubicBezTo>
                <a:lnTo>
                  <a:pt x="68931" y="413580"/>
                </a:lnTo>
                <a:cubicBezTo>
                  <a:pt x="30862" y="413580"/>
                  <a:pt x="0" y="382719"/>
                  <a:pt x="0" y="344649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6466970" y="4557999"/>
            <a:ext cx="172325" cy="172325"/>
          </a:xfrm>
          <a:custGeom>
            <a:avLst/>
            <a:gdLst/>
            <a:ahLst/>
            <a:cxnLst/>
            <a:rect l="l" t="t" r="r" b="b"/>
            <a:pathLst>
              <a:path w="172325" h="172325">
                <a:moveTo>
                  <a:pt x="75493" y="-841"/>
                </a:moveTo>
                <a:cubicBezTo>
                  <a:pt x="82157" y="-4678"/>
                  <a:pt x="90370" y="-4678"/>
                  <a:pt x="97034" y="-841"/>
                </a:cubicBezTo>
                <a:lnTo>
                  <a:pt x="156237" y="33321"/>
                </a:lnTo>
                <a:cubicBezTo>
                  <a:pt x="162901" y="37158"/>
                  <a:pt x="167007" y="44293"/>
                  <a:pt x="167007" y="51967"/>
                </a:cubicBezTo>
                <a:lnTo>
                  <a:pt x="167007" y="120291"/>
                </a:lnTo>
                <a:cubicBezTo>
                  <a:pt x="167007" y="127998"/>
                  <a:pt x="162901" y="135100"/>
                  <a:pt x="156237" y="138937"/>
                </a:cubicBezTo>
                <a:lnTo>
                  <a:pt x="97034" y="173167"/>
                </a:lnTo>
                <a:cubicBezTo>
                  <a:pt x="90370" y="177003"/>
                  <a:pt x="82157" y="177003"/>
                  <a:pt x="75493" y="173167"/>
                </a:cubicBezTo>
                <a:lnTo>
                  <a:pt x="16324" y="139004"/>
                </a:lnTo>
                <a:cubicBezTo>
                  <a:pt x="9660" y="135167"/>
                  <a:pt x="5553" y="128032"/>
                  <a:pt x="5553" y="120358"/>
                </a:cubicBezTo>
                <a:lnTo>
                  <a:pt x="5553" y="52034"/>
                </a:lnTo>
                <a:cubicBezTo>
                  <a:pt x="5553" y="44327"/>
                  <a:pt x="9660" y="37225"/>
                  <a:pt x="16324" y="33388"/>
                </a:cubicBezTo>
                <a:lnTo>
                  <a:pt x="75493" y="-841"/>
                </a:lnTo>
                <a:close/>
                <a:moveTo>
                  <a:pt x="145433" y="120325"/>
                </a:moveTo>
                <a:lnTo>
                  <a:pt x="145433" y="64420"/>
                </a:lnTo>
                <a:lnTo>
                  <a:pt x="97034" y="92355"/>
                </a:lnTo>
                <a:lnTo>
                  <a:pt x="97034" y="148260"/>
                </a:lnTo>
                <a:lnTo>
                  <a:pt x="145433" y="12032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5" name="Text 52"/>
          <p:cNvSpPr/>
          <p:nvPr/>
        </p:nvSpPr>
        <p:spPr>
          <a:xfrm>
            <a:off x="6863318" y="4523534"/>
            <a:ext cx="1387217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HunYuan Models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6346343" y="4988811"/>
            <a:ext cx="5324845" cy="792695"/>
          </a:xfrm>
          <a:custGeom>
            <a:avLst/>
            <a:gdLst/>
            <a:ahLst/>
            <a:cxnLst/>
            <a:rect l="l" t="t" r="r" b="b"/>
            <a:pathLst>
              <a:path w="5324845" h="792695">
                <a:moveTo>
                  <a:pt x="68933" y="0"/>
                </a:moveTo>
                <a:lnTo>
                  <a:pt x="5255912" y="0"/>
                </a:lnTo>
                <a:cubicBezTo>
                  <a:pt x="5293983" y="0"/>
                  <a:pt x="5324845" y="30862"/>
                  <a:pt x="5324845" y="68933"/>
                </a:cubicBezTo>
                <a:lnTo>
                  <a:pt x="5324845" y="723763"/>
                </a:lnTo>
                <a:cubicBezTo>
                  <a:pt x="5324845" y="761833"/>
                  <a:pt x="5293983" y="792695"/>
                  <a:pt x="5255912" y="792695"/>
                </a:cubicBezTo>
                <a:lnTo>
                  <a:pt x="68933" y="792695"/>
                </a:lnTo>
                <a:cubicBezTo>
                  <a:pt x="30862" y="792695"/>
                  <a:pt x="0" y="761833"/>
                  <a:pt x="0" y="723763"/>
                </a:cubicBezTo>
                <a:lnTo>
                  <a:pt x="0" y="68933"/>
                </a:lnTo>
                <a:cubicBezTo>
                  <a:pt x="0" y="30888"/>
                  <a:pt x="30888" y="0"/>
                  <a:pt x="68933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57" name="Shape 54"/>
          <p:cNvSpPr/>
          <p:nvPr/>
        </p:nvSpPr>
        <p:spPr>
          <a:xfrm>
            <a:off x="6466970" y="5109439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38854" y="0"/>
                </a:moveTo>
                <a:lnTo>
                  <a:pt x="99168" y="0"/>
                </a:lnTo>
                <a:cubicBezTo>
                  <a:pt x="106303" y="0"/>
                  <a:pt x="112119" y="5870"/>
                  <a:pt x="111850" y="12978"/>
                </a:cubicBezTo>
                <a:cubicBezTo>
                  <a:pt x="111796" y="14405"/>
                  <a:pt x="111742" y="15832"/>
                  <a:pt x="111661" y="17233"/>
                </a:cubicBezTo>
                <a:lnTo>
                  <a:pt x="125016" y="17233"/>
                </a:lnTo>
                <a:cubicBezTo>
                  <a:pt x="132044" y="17233"/>
                  <a:pt x="138237" y="23048"/>
                  <a:pt x="137699" y="30642"/>
                </a:cubicBezTo>
                <a:cubicBezTo>
                  <a:pt x="135679" y="58564"/>
                  <a:pt x="121408" y="73911"/>
                  <a:pt x="105926" y="81935"/>
                </a:cubicBezTo>
                <a:cubicBezTo>
                  <a:pt x="101672" y="84143"/>
                  <a:pt x="97337" y="85786"/>
                  <a:pt x="93217" y="86997"/>
                </a:cubicBezTo>
                <a:cubicBezTo>
                  <a:pt x="87778" y="94698"/>
                  <a:pt x="82124" y="98764"/>
                  <a:pt x="77627" y="100945"/>
                </a:cubicBezTo>
                <a:lnTo>
                  <a:pt x="77627" y="120628"/>
                </a:lnTo>
                <a:lnTo>
                  <a:pt x="94860" y="120628"/>
                </a:lnTo>
                <a:cubicBezTo>
                  <a:pt x="99625" y="120628"/>
                  <a:pt x="103476" y="124478"/>
                  <a:pt x="103476" y="129244"/>
                </a:cubicBezTo>
                <a:cubicBezTo>
                  <a:pt x="103476" y="134010"/>
                  <a:pt x="99625" y="137860"/>
                  <a:pt x="94860" y="137860"/>
                </a:cubicBezTo>
                <a:lnTo>
                  <a:pt x="43162" y="137860"/>
                </a:lnTo>
                <a:cubicBezTo>
                  <a:pt x="38396" y="137860"/>
                  <a:pt x="34546" y="134010"/>
                  <a:pt x="34546" y="129244"/>
                </a:cubicBezTo>
                <a:cubicBezTo>
                  <a:pt x="34546" y="124478"/>
                  <a:pt x="38396" y="120628"/>
                  <a:pt x="43162" y="120628"/>
                </a:cubicBezTo>
                <a:lnTo>
                  <a:pt x="60395" y="120628"/>
                </a:lnTo>
                <a:lnTo>
                  <a:pt x="60395" y="100945"/>
                </a:lnTo>
                <a:cubicBezTo>
                  <a:pt x="56086" y="98872"/>
                  <a:pt x="50728" y="95021"/>
                  <a:pt x="45505" y="87940"/>
                </a:cubicBezTo>
                <a:cubicBezTo>
                  <a:pt x="40550" y="86647"/>
                  <a:pt x="35165" y="84682"/>
                  <a:pt x="29915" y="81720"/>
                </a:cubicBezTo>
                <a:cubicBezTo>
                  <a:pt x="15348" y="73561"/>
                  <a:pt x="2208" y="58187"/>
                  <a:pt x="323" y="30588"/>
                </a:cubicBezTo>
                <a:cubicBezTo>
                  <a:pt x="-188" y="23022"/>
                  <a:pt x="5978" y="17206"/>
                  <a:pt x="13005" y="17206"/>
                </a:cubicBezTo>
                <a:lnTo>
                  <a:pt x="26360" y="17206"/>
                </a:lnTo>
                <a:cubicBezTo>
                  <a:pt x="26280" y="15805"/>
                  <a:pt x="26226" y="14405"/>
                  <a:pt x="26172" y="12951"/>
                </a:cubicBezTo>
                <a:cubicBezTo>
                  <a:pt x="25903" y="5816"/>
                  <a:pt x="31719" y="-27"/>
                  <a:pt x="38854" y="-27"/>
                </a:cubicBezTo>
                <a:close/>
                <a:moveTo>
                  <a:pt x="27330" y="30157"/>
                </a:moveTo>
                <a:lnTo>
                  <a:pt x="13221" y="30157"/>
                </a:lnTo>
                <a:cubicBezTo>
                  <a:pt x="14890" y="52963"/>
                  <a:pt x="25364" y="64380"/>
                  <a:pt x="36161" y="70438"/>
                </a:cubicBezTo>
                <a:cubicBezTo>
                  <a:pt x="32284" y="60395"/>
                  <a:pt x="29080" y="47282"/>
                  <a:pt x="27330" y="30157"/>
                </a:cubicBezTo>
                <a:close/>
                <a:moveTo>
                  <a:pt x="102318" y="69145"/>
                </a:moveTo>
                <a:cubicBezTo>
                  <a:pt x="113223" y="62737"/>
                  <a:pt x="123078" y="51347"/>
                  <a:pt x="124747" y="30157"/>
                </a:cubicBezTo>
                <a:lnTo>
                  <a:pt x="110665" y="30157"/>
                </a:lnTo>
                <a:cubicBezTo>
                  <a:pt x="108996" y="46555"/>
                  <a:pt x="105980" y="59291"/>
                  <a:pt x="102318" y="6914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8" name="Text 55"/>
          <p:cNvSpPr/>
          <p:nvPr/>
        </p:nvSpPr>
        <p:spPr>
          <a:xfrm>
            <a:off x="6690993" y="5092206"/>
            <a:ext cx="1740483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HunYuan 3D Model - Ranked #1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6449738" y="5333461"/>
            <a:ext cx="5178369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Leading Hugging Face leaderboard for geometric precision, texture fidelity, and prompt-3D alignment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6346343" y="5884902"/>
            <a:ext cx="5324845" cy="792695"/>
          </a:xfrm>
          <a:custGeom>
            <a:avLst/>
            <a:gdLst/>
            <a:ahLst/>
            <a:cxnLst/>
            <a:rect l="l" t="t" r="r" b="b"/>
            <a:pathLst>
              <a:path w="5324845" h="792695">
                <a:moveTo>
                  <a:pt x="68933" y="0"/>
                </a:moveTo>
                <a:lnTo>
                  <a:pt x="5255912" y="0"/>
                </a:lnTo>
                <a:cubicBezTo>
                  <a:pt x="5293983" y="0"/>
                  <a:pt x="5324845" y="30862"/>
                  <a:pt x="5324845" y="68933"/>
                </a:cubicBezTo>
                <a:lnTo>
                  <a:pt x="5324845" y="723763"/>
                </a:lnTo>
                <a:cubicBezTo>
                  <a:pt x="5324845" y="761833"/>
                  <a:pt x="5293983" y="792695"/>
                  <a:pt x="5255912" y="792695"/>
                </a:cubicBezTo>
                <a:lnTo>
                  <a:pt x="68933" y="792695"/>
                </a:lnTo>
                <a:cubicBezTo>
                  <a:pt x="30862" y="792695"/>
                  <a:pt x="0" y="761833"/>
                  <a:pt x="0" y="723763"/>
                </a:cubicBezTo>
                <a:lnTo>
                  <a:pt x="0" y="68933"/>
                </a:lnTo>
                <a:cubicBezTo>
                  <a:pt x="0" y="30888"/>
                  <a:pt x="30888" y="0"/>
                  <a:pt x="68933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61" name="Text 58"/>
          <p:cNvSpPr/>
          <p:nvPr/>
        </p:nvSpPr>
        <p:spPr>
          <a:xfrm>
            <a:off x="6449738" y="5988297"/>
            <a:ext cx="5178369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Adoption Growing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6449738" y="6229552"/>
            <a:ext cx="5178369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developers, 3D printing enterprises, and design professionals increasingly adopting HunYuan 3D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9610" y="339610"/>
            <a:ext cx="11572212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b="1" spc="47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 ENGAGEMENT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9610" y="577337"/>
            <a:ext cx="11665604" cy="33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0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Metrics &amp; Engagement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9610" y="984869"/>
            <a:ext cx="11580702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user base across social platforms and content services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3855" y="1328724"/>
            <a:ext cx="5646017" cy="1647109"/>
          </a:xfrm>
          <a:custGeom>
            <a:avLst/>
            <a:gdLst/>
            <a:ahLst/>
            <a:cxnLst/>
            <a:rect l="l" t="t" r="r" b="b"/>
            <a:pathLst>
              <a:path w="5646017" h="1647109">
                <a:moveTo>
                  <a:pt x="101890" y="0"/>
                </a:moveTo>
                <a:lnTo>
                  <a:pt x="5544127" y="0"/>
                </a:lnTo>
                <a:cubicBezTo>
                  <a:pt x="5600399" y="0"/>
                  <a:pt x="5646017" y="45618"/>
                  <a:pt x="5646017" y="101890"/>
                </a:cubicBezTo>
                <a:lnTo>
                  <a:pt x="5646017" y="1545218"/>
                </a:lnTo>
                <a:cubicBezTo>
                  <a:pt x="5646017" y="1601491"/>
                  <a:pt x="5600399" y="1647109"/>
                  <a:pt x="5544127" y="1647109"/>
                </a:cubicBezTo>
                <a:lnTo>
                  <a:pt x="101890" y="1647109"/>
                </a:lnTo>
                <a:cubicBezTo>
                  <a:pt x="45618" y="1647109"/>
                  <a:pt x="0" y="1601491"/>
                  <a:pt x="0" y="1545218"/>
                </a:cubicBezTo>
                <a:lnTo>
                  <a:pt x="0" y="101890"/>
                </a:lnTo>
                <a:cubicBezTo>
                  <a:pt x="0" y="45655"/>
                  <a:pt x="45655" y="0"/>
                  <a:pt x="10189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1866" y="1536735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67923" y="0"/>
                </a:moveTo>
                <a:lnTo>
                  <a:pt x="339609" y="0"/>
                </a:lnTo>
                <a:cubicBezTo>
                  <a:pt x="377122" y="0"/>
                  <a:pt x="407532" y="30410"/>
                  <a:pt x="407532" y="67923"/>
                </a:cubicBezTo>
                <a:lnTo>
                  <a:pt x="407532" y="339609"/>
                </a:lnTo>
                <a:cubicBezTo>
                  <a:pt x="407532" y="377122"/>
                  <a:pt x="377122" y="407532"/>
                  <a:pt x="339609" y="407532"/>
                </a:cubicBezTo>
                <a:lnTo>
                  <a:pt x="67923" y="407532"/>
                </a:lnTo>
                <a:cubicBezTo>
                  <a:pt x="30410" y="407532"/>
                  <a:pt x="0" y="377122"/>
                  <a:pt x="0" y="339609"/>
                </a:cubicBezTo>
                <a:lnTo>
                  <a:pt x="0" y="67923"/>
                </a:lnTo>
                <a:cubicBezTo>
                  <a:pt x="0" y="30435"/>
                  <a:pt x="30435" y="0"/>
                  <a:pt x="67923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41014" y="1638618"/>
            <a:ext cx="229237" cy="203766"/>
          </a:xfrm>
          <a:custGeom>
            <a:avLst/>
            <a:gdLst/>
            <a:ahLst/>
            <a:cxnLst/>
            <a:rect l="l" t="t" r="r" b="b"/>
            <a:pathLst>
              <a:path w="229237" h="203766">
                <a:moveTo>
                  <a:pt x="153302" y="66702"/>
                </a:moveTo>
                <a:cubicBezTo>
                  <a:pt x="155849" y="66702"/>
                  <a:pt x="158317" y="66821"/>
                  <a:pt x="160784" y="67139"/>
                </a:cubicBezTo>
                <a:cubicBezTo>
                  <a:pt x="154178" y="35938"/>
                  <a:pt x="120707" y="12735"/>
                  <a:pt x="82661" y="12735"/>
                </a:cubicBezTo>
                <a:cubicBezTo>
                  <a:pt x="39997" y="12735"/>
                  <a:pt x="5174" y="41708"/>
                  <a:pt x="5174" y="78561"/>
                </a:cubicBezTo>
                <a:cubicBezTo>
                  <a:pt x="5174" y="99814"/>
                  <a:pt x="16835" y="117364"/>
                  <a:pt x="36176" y="130936"/>
                </a:cubicBezTo>
                <a:lnTo>
                  <a:pt x="28495" y="154257"/>
                </a:lnTo>
                <a:lnTo>
                  <a:pt x="55558" y="140686"/>
                </a:lnTo>
                <a:cubicBezTo>
                  <a:pt x="65269" y="142596"/>
                  <a:pt x="72990" y="144547"/>
                  <a:pt x="82700" y="144547"/>
                </a:cubicBezTo>
                <a:cubicBezTo>
                  <a:pt x="85168" y="144547"/>
                  <a:pt x="87516" y="144427"/>
                  <a:pt x="89983" y="144228"/>
                </a:cubicBezTo>
                <a:cubicBezTo>
                  <a:pt x="88391" y="139094"/>
                  <a:pt x="87516" y="133642"/>
                  <a:pt x="87516" y="127991"/>
                </a:cubicBezTo>
                <a:cubicBezTo>
                  <a:pt x="87476" y="94202"/>
                  <a:pt x="116529" y="66702"/>
                  <a:pt x="153302" y="66702"/>
                </a:cubicBezTo>
                <a:close/>
                <a:moveTo>
                  <a:pt x="111713" y="45648"/>
                </a:moveTo>
                <a:cubicBezTo>
                  <a:pt x="117484" y="45648"/>
                  <a:pt x="121344" y="49509"/>
                  <a:pt x="121344" y="55359"/>
                </a:cubicBezTo>
                <a:cubicBezTo>
                  <a:pt x="121344" y="61130"/>
                  <a:pt x="117484" y="64990"/>
                  <a:pt x="111713" y="64990"/>
                </a:cubicBezTo>
                <a:cubicBezTo>
                  <a:pt x="105823" y="64990"/>
                  <a:pt x="100052" y="61130"/>
                  <a:pt x="100052" y="55359"/>
                </a:cubicBezTo>
                <a:cubicBezTo>
                  <a:pt x="100092" y="49509"/>
                  <a:pt x="105863" y="45648"/>
                  <a:pt x="111713" y="45648"/>
                </a:cubicBezTo>
                <a:close/>
                <a:moveTo>
                  <a:pt x="57429" y="64990"/>
                </a:moveTo>
                <a:cubicBezTo>
                  <a:pt x="51658" y="64990"/>
                  <a:pt x="45768" y="61130"/>
                  <a:pt x="45768" y="55359"/>
                </a:cubicBezTo>
                <a:cubicBezTo>
                  <a:pt x="45768" y="49469"/>
                  <a:pt x="51658" y="45648"/>
                  <a:pt x="57429" y="45648"/>
                </a:cubicBezTo>
                <a:cubicBezTo>
                  <a:pt x="63319" y="45648"/>
                  <a:pt x="67139" y="49509"/>
                  <a:pt x="67139" y="55359"/>
                </a:cubicBezTo>
                <a:cubicBezTo>
                  <a:pt x="67139" y="61170"/>
                  <a:pt x="63319" y="64990"/>
                  <a:pt x="57429" y="64990"/>
                </a:cubicBezTo>
                <a:close/>
                <a:moveTo>
                  <a:pt x="224063" y="127115"/>
                </a:moveTo>
                <a:cubicBezTo>
                  <a:pt x="224063" y="96112"/>
                  <a:pt x="193060" y="70880"/>
                  <a:pt x="158237" y="70880"/>
                </a:cubicBezTo>
                <a:cubicBezTo>
                  <a:pt x="121344" y="70880"/>
                  <a:pt x="92411" y="96112"/>
                  <a:pt x="92411" y="127115"/>
                </a:cubicBezTo>
                <a:cubicBezTo>
                  <a:pt x="92411" y="158118"/>
                  <a:pt x="121384" y="183350"/>
                  <a:pt x="158237" y="183350"/>
                </a:cubicBezTo>
                <a:cubicBezTo>
                  <a:pt x="165918" y="183350"/>
                  <a:pt x="173718" y="181320"/>
                  <a:pt x="181559" y="179410"/>
                </a:cubicBezTo>
                <a:lnTo>
                  <a:pt x="202811" y="191070"/>
                </a:lnTo>
                <a:lnTo>
                  <a:pt x="196921" y="171729"/>
                </a:lnTo>
                <a:cubicBezTo>
                  <a:pt x="212522" y="160028"/>
                  <a:pt x="224063" y="144547"/>
                  <a:pt x="224063" y="127115"/>
                </a:cubicBezTo>
                <a:close/>
                <a:moveTo>
                  <a:pt x="136865" y="117364"/>
                </a:moveTo>
                <a:cubicBezTo>
                  <a:pt x="133005" y="117364"/>
                  <a:pt x="129184" y="113504"/>
                  <a:pt x="129184" y="109564"/>
                </a:cubicBezTo>
                <a:cubicBezTo>
                  <a:pt x="129184" y="105704"/>
                  <a:pt x="133045" y="101883"/>
                  <a:pt x="136865" y="101883"/>
                </a:cubicBezTo>
                <a:cubicBezTo>
                  <a:pt x="142756" y="101883"/>
                  <a:pt x="146576" y="105743"/>
                  <a:pt x="146576" y="109564"/>
                </a:cubicBezTo>
                <a:cubicBezTo>
                  <a:pt x="146576" y="113544"/>
                  <a:pt x="142716" y="117364"/>
                  <a:pt x="136865" y="117364"/>
                </a:cubicBezTo>
                <a:close/>
                <a:moveTo>
                  <a:pt x="179489" y="117364"/>
                </a:moveTo>
                <a:cubicBezTo>
                  <a:pt x="175629" y="117364"/>
                  <a:pt x="171808" y="113504"/>
                  <a:pt x="171808" y="109564"/>
                </a:cubicBezTo>
                <a:cubicBezTo>
                  <a:pt x="171808" y="105704"/>
                  <a:pt x="175669" y="101883"/>
                  <a:pt x="179489" y="101883"/>
                </a:cubicBezTo>
                <a:cubicBezTo>
                  <a:pt x="185260" y="101883"/>
                  <a:pt x="189200" y="105743"/>
                  <a:pt x="189200" y="109564"/>
                </a:cubicBezTo>
                <a:cubicBezTo>
                  <a:pt x="189240" y="113544"/>
                  <a:pt x="185260" y="117364"/>
                  <a:pt x="179489" y="11736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061281" y="1536735"/>
            <a:ext cx="1409382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Weixin &amp; WeChat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1281" y="1774462"/>
            <a:ext cx="1383911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Combined MAU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1866" y="2080111"/>
            <a:ext cx="1282028" cy="407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09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1.411B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730088" y="2254162"/>
            <a:ext cx="602808" cy="237727"/>
          </a:xfrm>
          <a:custGeom>
            <a:avLst/>
            <a:gdLst/>
            <a:ahLst/>
            <a:cxnLst/>
            <a:rect l="l" t="t" r="r" b="b"/>
            <a:pathLst>
              <a:path w="602808" h="237727">
                <a:moveTo>
                  <a:pt x="33962" y="0"/>
                </a:moveTo>
                <a:lnTo>
                  <a:pt x="568846" y="0"/>
                </a:lnTo>
                <a:cubicBezTo>
                  <a:pt x="587603" y="0"/>
                  <a:pt x="602808" y="15205"/>
                  <a:pt x="602808" y="33962"/>
                </a:cubicBezTo>
                <a:lnTo>
                  <a:pt x="602808" y="203765"/>
                </a:lnTo>
                <a:cubicBezTo>
                  <a:pt x="602808" y="222522"/>
                  <a:pt x="587603" y="237727"/>
                  <a:pt x="568846" y="237727"/>
                </a:cubicBezTo>
                <a:lnTo>
                  <a:pt x="33962" y="237727"/>
                </a:lnTo>
                <a:cubicBezTo>
                  <a:pt x="15205" y="237727"/>
                  <a:pt x="0" y="222522"/>
                  <a:pt x="0" y="203765"/>
                </a:cubicBezTo>
                <a:lnTo>
                  <a:pt x="0" y="33962"/>
                </a:lnTo>
                <a:cubicBezTo>
                  <a:pt x="0" y="15205"/>
                  <a:pt x="15205" y="0"/>
                  <a:pt x="3396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730088" y="2254162"/>
            <a:ext cx="662240" cy="237727"/>
          </a:xfrm>
          <a:prstGeom prst="rect">
            <a:avLst/>
          </a:prstGeom>
          <a:noFill/>
          <a:ln/>
        </p:spPr>
        <p:txBody>
          <a:bodyPr wrap="square" lIns="67922" tIns="33961" rIns="67922" bIns="33961" rtlCol="0" anchor="ctr"/>
          <a:lstStyle/>
          <a:p>
            <a:pPr>
              <a:lnSpc>
                <a:spcPct val="120000"/>
              </a:lnSpc>
            </a:pPr>
            <a:r>
              <a:rPr lang="en-US" sz="936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+3% YoY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1866" y="2593772"/>
            <a:ext cx="528942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Sustained leadership in China's social messaging market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3855" y="3115922"/>
            <a:ext cx="5646017" cy="1647109"/>
          </a:xfrm>
          <a:custGeom>
            <a:avLst/>
            <a:gdLst/>
            <a:ahLst/>
            <a:cxnLst/>
            <a:rect l="l" t="t" r="r" b="b"/>
            <a:pathLst>
              <a:path w="5646017" h="1647109">
                <a:moveTo>
                  <a:pt x="101890" y="0"/>
                </a:moveTo>
                <a:lnTo>
                  <a:pt x="5544127" y="0"/>
                </a:lnTo>
                <a:cubicBezTo>
                  <a:pt x="5600399" y="0"/>
                  <a:pt x="5646017" y="45618"/>
                  <a:pt x="5646017" y="101890"/>
                </a:cubicBezTo>
                <a:lnTo>
                  <a:pt x="5646017" y="1545218"/>
                </a:lnTo>
                <a:cubicBezTo>
                  <a:pt x="5646017" y="1601491"/>
                  <a:pt x="5600399" y="1647109"/>
                  <a:pt x="5544127" y="1647109"/>
                </a:cubicBezTo>
                <a:lnTo>
                  <a:pt x="101890" y="1647109"/>
                </a:lnTo>
                <a:cubicBezTo>
                  <a:pt x="45618" y="1647109"/>
                  <a:pt x="0" y="1601491"/>
                  <a:pt x="0" y="1545218"/>
                </a:cubicBezTo>
                <a:lnTo>
                  <a:pt x="0" y="101890"/>
                </a:lnTo>
                <a:cubicBezTo>
                  <a:pt x="0" y="45655"/>
                  <a:pt x="45655" y="0"/>
                  <a:pt x="10189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1866" y="3323933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67923" y="0"/>
                </a:moveTo>
                <a:lnTo>
                  <a:pt x="339609" y="0"/>
                </a:lnTo>
                <a:cubicBezTo>
                  <a:pt x="377122" y="0"/>
                  <a:pt x="407532" y="30410"/>
                  <a:pt x="407532" y="67923"/>
                </a:cubicBezTo>
                <a:lnTo>
                  <a:pt x="407532" y="339609"/>
                </a:lnTo>
                <a:cubicBezTo>
                  <a:pt x="407532" y="377122"/>
                  <a:pt x="377122" y="407532"/>
                  <a:pt x="339609" y="407532"/>
                </a:cubicBezTo>
                <a:lnTo>
                  <a:pt x="67923" y="407532"/>
                </a:lnTo>
                <a:cubicBezTo>
                  <a:pt x="30410" y="407532"/>
                  <a:pt x="0" y="377122"/>
                  <a:pt x="0" y="339609"/>
                </a:cubicBezTo>
                <a:lnTo>
                  <a:pt x="0" y="67923"/>
                </a:lnTo>
                <a:cubicBezTo>
                  <a:pt x="0" y="30435"/>
                  <a:pt x="30435" y="0"/>
                  <a:pt x="67923" y="0"/>
                </a:cubicBezTo>
                <a:close/>
              </a:path>
            </a:pathLst>
          </a:custGeom>
          <a:solidFill>
            <a:srgbClr val="8F8F8F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66485" y="3425816"/>
            <a:ext cx="178295" cy="203766"/>
          </a:xfrm>
          <a:custGeom>
            <a:avLst/>
            <a:gdLst/>
            <a:ahLst/>
            <a:cxnLst/>
            <a:rect l="l" t="t" r="r" b="b"/>
            <a:pathLst>
              <a:path w="178295" h="203766">
                <a:moveTo>
                  <a:pt x="172763" y="167311"/>
                </a:moveTo>
                <a:cubicBezTo>
                  <a:pt x="168187" y="167868"/>
                  <a:pt x="154894" y="146337"/>
                  <a:pt x="154894" y="146337"/>
                </a:cubicBezTo>
                <a:cubicBezTo>
                  <a:pt x="154894" y="158794"/>
                  <a:pt x="148487" y="175072"/>
                  <a:pt x="134597" y="186852"/>
                </a:cubicBezTo>
                <a:cubicBezTo>
                  <a:pt x="141283" y="188921"/>
                  <a:pt x="156406" y="194493"/>
                  <a:pt x="152825" y="200542"/>
                </a:cubicBezTo>
                <a:cubicBezTo>
                  <a:pt x="149919" y="205438"/>
                  <a:pt x="102878" y="203686"/>
                  <a:pt x="89307" y="202134"/>
                </a:cubicBezTo>
                <a:cubicBezTo>
                  <a:pt x="75736" y="203647"/>
                  <a:pt x="28694" y="205438"/>
                  <a:pt x="25789" y="200542"/>
                </a:cubicBezTo>
                <a:cubicBezTo>
                  <a:pt x="22207" y="194493"/>
                  <a:pt x="37291" y="188921"/>
                  <a:pt x="44017" y="186852"/>
                </a:cubicBezTo>
                <a:cubicBezTo>
                  <a:pt x="30127" y="175111"/>
                  <a:pt x="23680" y="158834"/>
                  <a:pt x="23680" y="146337"/>
                </a:cubicBezTo>
                <a:cubicBezTo>
                  <a:pt x="23680" y="146337"/>
                  <a:pt x="10427" y="167868"/>
                  <a:pt x="5811" y="167311"/>
                </a:cubicBezTo>
                <a:cubicBezTo>
                  <a:pt x="3661" y="167072"/>
                  <a:pt x="876" y="155531"/>
                  <a:pt x="9512" y="127632"/>
                </a:cubicBezTo>
                <a:cubicBezTo>
                  <a:pt x="13611" y="114499"/>
                  <a:pt x="18267" y="103555"/>
                  <a:pt x="25471" y="85526"/>
                </a:cubicBezTo>
                <a:cubicBezTo>
                  <a:pt x="24237" y="39002"/>
                  <a:pt x="43459" y="-40"/>
                  <a:pt x="89267" y="-40"/>
                </a:cubicBezTo>
                <a:cubicBezTo>
                  <a:pt x="134517" y="-40"/>
                  <a:pt x="154217" y="38206"/>
                  <a:pt x="153063" y="85526"/>
                </a:cubicBezTo>
                <a:cubicBezTo>
                  <a:pt x="160267" y="103515"/>
                  <a:pt x="164963" y="114539"/>
                  <a:pt x="169022" y="127632"/>
                </a:cubicBezTo>
                <a:cubicBezTo>
                  <a:pt x="177698" y="155531"/>
                  <a:pt x="174873" y="167072"/>
                  <a:pt x="172724" y="167311"/>
                </a:cubicBezTo>
                <a:close/>
              </a:path>
            </a:pathLst>
          </a:custGeom>
          <a:solidFill>
            <a:srgbClr val="8F8F8F"/>
          </a:solidFill>
          <a:ln/>
        </p:spPr>
      </p:sp>
      <p:sp>
        <p:nvSpPr>
          <p:cNvPr id="17" name="Text 15"/>
          <p:cNvSpPr/>
          <p:nvPr/>
        </p:nvSpPr>
        <p:spPr>
          <a:xfrm>
            <a:off x="1061281" y="3323933"/>
            <a:ext cx="1112223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QQ Mobile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61281" y="3561660"/>
            <a:ext cx="1086752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device MAU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1866" y="3867309"/>
            <a:ext cx="1282028" cy="407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0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532M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729292" y="4041359"/>
            <a:ext cx="577337" cy="237727"/>
          </a:xfrm>
          <a:custGeom>
            <a:avLst/>
            <a:gdLst/>
            <a:ahLst/>
            <a:cxnLst/>
            <a:rect l="l" t="t" r="r" b="b"/>
            <a:pathLst>
              <a:path w="577337" h="237727">
                <a:moveTo>
                  <a:pt x="33962" y="0"/>
                </a:moveTo>
                <a:lnTo>
                  <a:pt x="543375" y="0"/>
                </a:lnTo>
                <a:cubicBezTo>
                  <a:pt x="562132" y="0"/>
                  <a:pt x="577337" y="15205"/>
                  <a:pt x="577337" y="33962"/>
                </a:cubicBezTo>
                <a:lnTo>
                  <a:pt x="577337" y="203765"/>
                </a:lnTo>
                <a:cubicBezTo>
                  <a:pt x="577337" y="222522"/>
                  <a:pt x="562132" y="237727"/>
                  <a:pt x="543375" y="237727"/>
                </a:cubicBezTo>
                <a:lnTo>
                  <a:pt x="33962" y="237727"/>
                </a:lnTo>
                <a:cubicBezTo>
                  <a:pt x="15205" y="237727"/>
                  <a:pt x="0" y="222522"/>
                  <a:pt x="0" y="203765"/>
                </a:cubicBezTo>
                <a:lnTo>
                  <a:pt x="0" y="33962"/>
                </a:lnTo>
                <a:cubicBezTo>
                  <a:pt x="0" y="15205"/>
                  <a:pt x="15205" y="0"/>
                  <a:pt x="33962" y="0"/>
                </a:cubicBezTo>
                <a:close/>
              </a:path>
            </a:pathLst>
          </a:custGeom>
          <a:solidFill>
            <a:srgbClr val="8F8F8F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729292" y="4041359"/>
            <a:ext cx="636769" cy="237727"/>
          </a:xfrm>
          <a:prstGeom prst="rect">
            <a:avLst/>
          </a:prstGeom>
          <a:noFill/>
          <a:ln/>
        </p:spPr>
        <p:txBody>
          <a:bodyPr wrap="square" lIns="67922" tIns="33961" rIns="67922" bIns="33961" rtlCol="0" anchor="ctr"/>
          <a:lstStyle/>
          <a:p>
            <a:pPr>
              <a:lnSpc>
                <a:spcPct val="120000"/>
              </a:lnSpc>
            </a:pPr>
            <a:r>
              <a:rPr lang="en-US" sz="936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-7% YoY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1866" y="4380969"/>
            <a:ext cx="528942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focus shift to younger demographics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43855" y="4903120"/>
            <a:ext cx="5646017" cy="1647109"/>
          </a:xfrm>
          <a:custGeom>
            <a:avLst/>
            <a:gdLst/>
            <a:ahLst/>
            <a:cxnLst/>
            <a:rect l="l" t="t" r="r" b="b"/>
            <a:pathLst>
              <a:path w="5646017" h="1647109">
                <a:moveTo>
                  <a:pt x="101890" y="0"/>
                </a:moveTo>
                <a:lnTo>
                  <a:pt x="5544127" y="0"/>
                </a:lnTo>
                <a:cubicBezTo>
                  <a:pt x="5600399" y="0"/>
                  <a:pt x="5646017" y="45618"/>
                  <a:pt x="5646017" y="101890"/>
                </a:cubicBezTo>
                <a:lnTo>
                  <a:pt x="5646017" y="1545218"/>
                </a:lnTo>
                <a:cubicBezTo>
                  <a:pt x="5646017" y="1601491"/>
                  <a:pt x="5600399" y="1647109"/>
                  <a:pt x="5544127" y="1647109"/>
                </a:cubicBezTo>
                <a:lnTo>
                  <a:pt x="101890" y="1647109"/>
                </a:lnTo>
                <a:cubicBezTo>
                  <a:pt x="45618" y="1647109"/>
                  <a:pt x="0" y="1601491"/>
                  <a:pt x="0" y="1545218"/>
                </a:cubicBezTo>
                <a:lnTo>
                  <a:pt x="0" y="101890"/>
                </a:lnTo>
                <a:cubicBezTo>
                  <a:pt x="0" y="45655"/>
                  <a:pt x="45655" y="0"/>
                  <a:pt x="10189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1866" y="5111131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67923" y="0"/>
                </a:moveTo>
                <a:lnTo>
                  <a:pt x="339609" y="0"/>
                </a:lnTo>
                <a:cubicBezTo>
                  <a:pt x="377122" y="0"/>
                  <a:pt x="407532" y="30410"/>
                  <a:pt x="407532" y="67923"/>
                </a:cubicBezTo>
                <a:lnTo>
                  <a:pt x="407532" y="339609"/>
                </a:lnTo>
                <a:cubicBezTo>
                  <a:pt x="407532" y="377122"/>
                  <a:pt x="377122" y="407532"/>
                  <a:pt x="339609" y="407532"/>
                </a:cubicBezTo>
                <a:lnTo>
                  <a:pt x="67923" y="407532"/>
                </a:lnTo>
                <a:cubicBezTo>
                  <a:pt x="30410" y="407532"/>
                  <a:pt x="0" y="377122"/>
                  <a:pt x="0" y="339609"/>
                </a:cubicBezTo>
                <a:lnTo>
                  <a:pt x="0" y="67923"/>
                </a:lnTo>
                <a:cubicBezTo>
                  <a:pt x="0" y="30435"/>
                  <a:pt x="30435" y="0"/>
                  <a:pt x="67923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41014" y="5213014"/>
            <a:ext cx="229237" cy="203766"/>
          </a:xfrm>
          <a:custGeom>
            <a:avLst/>
            <a:gdLst/>
            <a:ahLst/>
            <a:cxnLst/>
            <a:rect l="l" t="t" r="r" b="b"/>
            <a:pathLst>
              <a:path w="229237" h="203766">
                <a:moveTo>
                  <a:pt x="124568" y="34704"/>
                </a:moveTo>
                <a:cubicBezTo>
                  <a:pt x="128229" y="31799"/>
                  <a:pt x="130538" y="27301"/>
                  <a:pt x="130538" y="22287"/>
                </a:cubicBezTo>
                <a:cubicBezTo>
                  <a:pt x="130538" y="13492"/>
                  <a:pt x="123414" y="6368"/>
                  <a:pt x="114618" y="6368"/>
                </a:cubicBezTo>
                <a:cubicBezTo>
                  <a:pt x="105823" y="6368"/>
                  <a:pt x="98699" y="13492"/>
                  <a:pt x="98699" y="22287"/>
                </a:cubicBezTo>
                <a:cubicBezTo>
                  <a:pt x="98699" y="27301"/>
                  <a:pt x="101047" y="31799"/>
                  <a:pt x="104669" y="34704"/>
                </a:cubicBezTo>
                <a:lnTo>
                  <a:pt x="77447" y="77527"/>
                </a:lnTo>
                <a:cubicBezTo>
                  <a:pt x="73467" y="83775"/>
                  <a:pt x="64990" y="85327"/>
                  <a:pt x="59060" y="80870"/>
                </a:cubicBezTo>
                <a:lnTo>
                  <a:pt x="35380" y="63160"/>
                </a:lnTo>
                <a:cubicBezTo>
                  <a:pt x="37171" y="60612"/>
                  <a:pt x="38206" y="57468"/>
                  <a:pt x="38206" y="54125"/>
                </a:cubicBezTo>
                <a:cubicBezTo>
                  <a:pt x="38206" y="45330"/>
                  <a:pt x="31082" y="38206"/>
                  <a:pt x="22287" y="38206"/>
                </a:cubicBezTo>
                <a:cubicBezTo>
                  <a:pt x="13492" y="38206"/>
                  <a:pt x="6368" y="45330"/>
                  <a:pt x="6368" y="54125"/>
                </a:cubicBezTo>
                <a:cubicBezTo>
                  <a:pt x="6368" y="62801"/>
                  <a:pt x="13332" y="69885"/>
                  <a:pt x="21969" y="70045"/>
                </a:cubicBezTo>
                <a:lnTo>
                  <a:pt x="34943" y="156605"/>
                </a:lnTo>
                <a:cubicBezTo>
                  <a:pt x="36813" y="169062"/>
                  <a:pt x="47519" y="178295"/>
                  <a:pt x="60135" y="178295"/>
                </a:cubicBezTo>
                <a:lnTo>
                  <a:pt x="169102" y="178295"/>
                </a:lnTo>
                <a:cubicBezTo>
                  <a:pt x="181718" y="178295"/>
                  <a:pt x="192424" y="169062"/>
                  <a:pt x="194294" y="156605"/>
                </a:cubicBezTo>
                <a:lnTo>
                  <a:pt x="207268" y="70045"/>
                </a:lnTo>
                <a:cubicBezTo>
                  <a:pt x="215904" y="69885"/>
                  <a:pt x="222869" y="62801"/>
                  <a:pt x="222869" y="54125"/>
                </a:cubicBezTo>
                <a:cubicBezTo>
                  <a:pt x="222869" y="45330"/>
                  <a:pt x="215745" y="38206"/>
                  <a:pt x="206950" y="38206"/>
                </a:cubicBezTo>
                <a:cubicBezTo>
                  <a:pt x="198154" y="38206"/>
                  <a:pt x="191031" y="45330"/>
                  <a:pt x="191031" y="54125"/>
                </a:cubicBezTo>
                <a:cubicBezTo>
                  <a:pt x="191031" y="57468"/>
                  <a:pt x="192065" y="60612"/>
                  <a:pt x="193856" y="63160"/>
                </a:cubicBezTo>
                <a:lnTo>
                  <a:pt x="170216" y="80909"/>
                </a:lnTo>
                <a:cubicBezTo>
                  <a:pt x="164286" y="85367"/>
                  <a:pt x="155809" y="83815"/>
                  <a:pt x="151830" y="77566"/>
                </a:cubicBezTo>
                <a:lnTo>
                  <a:pt x="124568" y="3470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1061281" y="5111131"/>
            <a:ext cx="1248067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Fee-based VAS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61281" y="5348858"/>
            <a:ext cx="122259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Paying users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1866" y="5654507"/>
            <a:ext cx="1290518" cy="407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0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264M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737848" y="5828557"/>
            <a:ext cx="704691" cy="237727"/>
          </a:xfrm>
          <a:custGeom>
            <a:avLst/>
            <a:gdLst/>
            <a:ahLst/>
            <a:cxnLst/>
            <a:rect l="l" t="t" r="r" b="b"/>
            <a:pathLst>
              <a:path w="704691" h="237727">
                <a:moveTo>
                  <a:pt x="33962" y="0"/>
                </a:moveTo>
                <a:lnTo>
                  <a:pt x="670729" y="0"/>
                </a:lnTo>
                <a:cubicBezTo>
                  <a:pt x="689486" y="0"/>
                  <a:pt x="704691" y="15205"/>
                  <a:pt x="704691" y="33962"/>
                </a:cubicBezTo>
                <a:lnTo>
                  <a:pt x="704691" y="203765"/>
                </a:lnTo>
                <a:cubicBezTo>
                  <a:pt x="704691" y="222522"/>
                  <a:pt x="689486" y="237727"/>
                  <a:pt x="670729" y="237727"/>
                </a:cubicBezTo>
                <a:lnTo>
                  <a:pt x="33962" y="237727"/>
                </a:lnTo>
                <a:cubicBezTo>
                  <a:pt x="15205" y="237727"/>
                  <a:pt x="0" y="222522"/>
                  <a:pt x="0" y="203765"/>
                </a:cubicBezTo>
                <a:lnTo>
                  <a:pt x="0" y="33962"/>
                </a:lnTo>
                <a:cubicBezTo>
                  <a:pt x="0" y="15205"/>
                  <a:pt x="15205" y="0"/>
                  <a:pt x="3396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737848" y="5828557"/>
            <a:ext cx="764123" cy="237727"/>
          </a:xfrm>
          <a:prstGeom prst="rect">
            <a:avLst/>
          </a:prstGeom>
          <a:noFill/>
          <a:ln/>
        </p:spPr>
        <p:txBody>
          <a:bodyPr wrap="square" lIns="67922" tIns="33961" rIns="67922" bIns="33961" rtlCol="0" anchor="ctr"/>
          <a:lstStyle/>
          <a:p>
            <a:pPr>
              <a:lnSpc>
                <a:spcPct val="120000"/>
              </a:lnSpc>
            </a:pPr>
            <a:r>
              <a:rPr lang="en-US" sz="936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+0.4% YoY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51866" y="6168167"/>
            <a:ext cx="528942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Stable premium subscriber base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03985" y="1328724"/>
            <a:ext cx="5646017" cy="2827253"/>
          </a:xfrm>
          <a:custGeom>
            <a:avLst/>
            <a:gdLst/>
            <a:ahLst/>
            <a:cxnLst/>
            <a:rect l="l" t="t" r="r" b="b"/>
            <a:pathLst>
              <a:path w="5646017" h="2827253">
                <a:moveTo>
                  <a:pt x="101894" y="0"/>
                </a:moveTo>
                <a:lnTo>
                  <a:pt x="5544122" y="0"/>
                </a:lnTo>
                <a:cubicBezTo>
                  <a:pt x="5600397" y="0"/>
                  <a:pt x="5646017" y="45620"/>
                  <a:pt x="5646017" y="101894"/>
                </a:cubicBezTo>
                <a:lnTo>
                  <a:pt x="5646017" y="2725359"/>
                </a:lnTo>
                <a:cubicBezTo>
                  <a:pt x="5646017" y="2781634"/>
                  <a:pt x="5600397" y="2827253"/>
                  <a:pt x="5544122" y="2827253"/>
                </a:cubicBezTo>
                <a:lnTo>
                  <a:pt x="101894" y="2827253"/>
                </a:lnTo>
                <a:cubicBezTo>
                  <a:pt x="45657" y="2827253"/>
                  <a:pt x="0" y="2781596"/>
                  <a:pt x="0" y="2725359"/>
                </a:cubicBezTo>
                <a:lnTo>
                  <a:pt x="0" y="101894"/>
                </a:lnTo>
                <a:cubicBezTo>
                  <a:pt x="0" y="45657"/>
                  <a:pt x="45657" y="0"/>
                  <a:pt x="101894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11997" y="1536735"/>
            <a:ext cx="5314897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 Services Subscribers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11997" y="1910306"/>
            <a:ext cx="5229994" cy="950908"/>
          </a:xfrm>
          <a:custGeom>
            <a:avLst/>
            <a:gdLst/>
            <a:ahLst/>
            <a:cxnLst/>
            <a:rect l="l" t="t" r="r" b="b"/>
            <a:pathLst>
              <a:path w="5229994" h="950908">
                <a:moveTo>
                  <a:pt x="67923" y="0"/>
                </a:moveTo>
                <a:lnTo>
                  <a:pt x="5162071" y="0"/>
                </a:lnTo>
                <a:cubicBezTo>
                  <a:pt x="5199584" y="0"/>
                  <a:pt x="5229994" y="30410"/>
                  <a:pt x="5229994" y="67923"/>
                </a:cubicBezTo>
                <a:lnTo>
                  <a:pt x="5229994" y="882985"/>
                </a:lnTo>
                <a:cubicBezTo>
                  <a:pt x="5229994" y="920498"/>
                  <a:pt x="5199584" y="950908"/>
                  <a:pt x="5162071" y="950908"/>
                </a:cubicBezTo>
                <a:lnTo>
                  <a:pt x="67923" y="950908"/>
                </a:lnTo>
                <a:cubicBezTo>
                  <a:pt x="30410" y="950908"/>
                  <a:pt x="0" y="920498"/>
                  <a:pt x="0" y="882985"/>
                </a:cubicBezTo>
                <a:lnTo>
                  <a:pt x="0" y="67923"/>
                </a:lnTo>
                <a:cubicBezTo>
                  <a:pt x="0" y="30410"/>
                  <a:pt x="30410" y="0"/>
                  <a:pt x="67923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5" name="Shape 33"/>
          <p:cNvSpPr/>
          <p:nvPr/>
        </p:nvSpPr>
        <p:spPr>
          <a:xfrm>
            <a:off x="6569066" y="2097092"/>
            <a:ext cx="169805" cy="169805"/>
          </a:xfrm>
          <a:custGeom>
            <a:avLst/>
            <a:gdLst/>
            <a:ahLst/>
            <a:cxnLst/>
            <a:rect l="l" t="t" r="r" b="b"/>
            <a:pathLst>
              <a:path w="169805" h="169805">
                <a:moveTo>
                  <a:pt x="0" y="84903"/>
                </a:moveTo>
                <a:cubicBezTo>
                  <a:pt x="0" y="38044"/>
                  <a:pt x="38044" y="0"/>
                  <a:pt x="84903" y="0"/>
                </a:cubicBezTo>
                <a:cubicBezTo>
                  <a:pt x="131761" y="0"/>
                  <a:pt x="169805" y="38044"/>
                  <a:pt x="169805" y="84903"/>
                </a:cubicBezTo>
                <a:cubicBezTo>
                  <a:pt x="169805" y="131761"/>
                  <a:pt x="131761" y="169805"/>
                  <a:pt x="84903" y="169805"/>
                </a:cubicBezTo>
                <a:cubicBezTo>
                  <a:pt x="38044" y="169805"/>
                  <a:pt x="0" y="131761"/>
                  <a:pt x="0" y="84903"/>
                </a:cubicBezTo>
                <a:close/>
                <a:moveTo>
                  <a:pt x="62450" y="48786"/>
                </a:moveTo>
                <a:cubicBezTo>
                  <a:pt x="59929" y="50179"/>
                  <a:pt x="58370" y="52865"/>
                  <a:pt x="58370" y="55717"/>
                </a:cubicBezTo>
                <a:lnTo>
                  <a:pt x="58370" y="114088"/>
                </a:lnTo>
                <a:cubicBezTo>
                  <a:pt x="58370" y="116973"/>
                  <a:pt x="59929" y="119626"/>
                  <a:pt x="62450" y="121019"/>
                </a:cubicBezTo>
                <a:cubicBezTo>
                  <a:pt x="64970" y="122412"/>
                  <a:pt x="68022" y="122379"/>
                  <a:pt x="70509" y="120853"/>
                </a:cubicBezTo>
                <a:lnTo>
                  <a:pt x="118267" y="91668"/>
                </a:lnTo>
                <a:cubicBezTo>
                  <a:pt x="120621" y="90209"/>
                  <a:pt x="122081" y="87655"/>
                  <a:pt x="122081" y="84869"/>
                </a:cubicBezTo>
                <a:cubicBezTo>
                  <a:pt x="122081" y="82083"/>
                  <a:pt x="120621" y="79530"/>
                  <a:pt x="118267" y="78071"/>
                </a:cubicBezTo>
                <a:lnTo>
                  <a:pt x="70509" y="48885"/>
                </a:lnTo>
                <a:cubicBezTo>
                  <a:pt x="68055" y="47393"/>
                  <a:pt x="64970" y="47327"/>
                  <a:pt x="62450" y="4871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6" name="Text 34"/>
          <p:cNvSpPr/>
          <p:nvPr/>
        </p:nvSpPr>
        <p:spPr>
          <a:xfrm>
            <a:off x="6861980" y="2080111"/>
            <a:ext cx="942418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Tencent Video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043163" y="2046150"/>
            <a:ext cx="568847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4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114M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47841" y="2385760"/>
            <a:ext cx="5017738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Leading position in China's long-form video market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47841" y="2589526"/>
            <a:ext cx="5009248" cy="1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Average daily paying users in Q2 2025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11997" y="2997058"/>
            <a:ext cx="5229994" cy="950908"/>
          </a:xfrm>
          <a:custGeom>
            <a:avLst/>
            <a:gdLst/>
            <a:ahLst/>
            <a:cxnLst/>
            <a:rect l="l" t="t" r="r" b="b"/>
            <a:pathLst>
              <a:path w="5229994" h="950908">
                <a:moveTo>
                  <a:pt x="67923" y="0"/>
                </a:moveTo>
                <a:lnTo>
                  <a:pt x="5162071" y="0"/>
                </a:lnTo>
                <a:cubicBezTo>
                  <a:pt x="5199584" y="0"/>
                  <a:pt x="5229994" y="30410"/>
                  <a:pt x="5229994" y="67923"/>
                </a:cubicBezTo>
                <a:lnTo>
                  <a:pt x="5229994" y="882985"/>
                </a:lnTo>
                <a:cubicBezTo>
                  <a:pt x="5229994" y="920498"/>
                  <a:pt x="5199584" y="950908"/>
                  <a:pt x="5162071" y="950908"/>
                </a:cubicBezTo>
                <a:lnTo>
                  <a:pt x="67923" y="950908"/>
                </a:lnTo>
                <a:cubicBezTo>
                  <a:pt x="30410" y="950908"/>
                  <a:pt x="0" y="920498"/>
                  <a:pt x="0" y="882985"/>
                </a:cubicBezTo>
                <a:lnTo>
                  <a:pt x="0" y="67923"/>
                </a:lnTo>
                <a:cubicBezTo>
                  <a:pt x="0" y="30410"/>
                  <a:pt x="30410" y="0"/>
                  <a:pt x="67923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41" name="Shape 39"/>
          <p:cNvSpPr/>
          <p:nvPr/>
        </p:nvSpPr>
        <p:spPr>
          <a:xfrm>
            <a:off x="6569066" y="3183844"/>
            <a:ext cx="169805" cy="169805"/>
          </a:xfrm>
          <a:custGeom>
            <a:avLst/>
            <a:gdLst/>
            <a:ahLst/>
            <a:cxnLst/>
            <a:rect l="l" t="t" r="r" b="b"/>
            <a:pathLst>
              <a:path w="169805" h="169805">
                <a:moveTo>
                  <a:pt x="155212" y="2322"/>
                </a:moveTo>
                <a:cubicBezTo>
                  <a:pt x="157733" y="4345"/>
                  <a:pt x="159192" y="7396"/>
                  <a:pt x="159192" y="10613"/>
                </a:cubicBezTo>
                <a:lnTo>
                  <a:pt x="159192" y="111435"/>
                </a:lnTo>
                <a:cubicBezTo>
                  <a:pt x="159192" y="126093"/>
                  <a:pt x="144931" y="137967"/>
                  <a:pt x="127354" y="137967"/>
                </a:cubicBezTo>
                <a:cubicBezTo>
                  <a:pt x="109776" y="137967"/>
                  <a:pt x="95515" y="126093"/>
                  <a:pt x="95515" y="111435"/>
                </a:cubicBezTo>
                <a:cubicBezTo>
                  <a:pt x="95515" y="96776"/>
                  <a:pt x="109776" y="84903"/>
                  <a:pt x="127354" y="84903"/>
                </a:cubicBezTo>
                <a:cubicBezTo>
                  <a:pt x="131068" y="84903"/>
                  <a:pt x="134650" y="85433"/>
                  <a:pt x="137967" y="86428"/>
                </a:cubicBezTo>
                <a:lnTo>
                  <a:pt x="137967" y="47724"/>
                </a:lnTo>
                <a:lnTo>
                  <a:pt x="63677" y="64241"/>
                </a:lnTo>
                <a:lnTo>
                  <a:pt x="63677" y="132660"/>
                </a:lnTo>
                <a:cubicBezTo>
                  <a:pt x="63677" y="147319"/>
                  <a:pt x="49416" y="159192"/>
                  <a:pt x="31838" y="159192"/>
                </a:cubicBezTo>
                <a:cubicBezTo>
                  <a:pt x="14261" y="159192"/>
                  <a:pt x="0" y="147319"/>
                  <a:pt x="0" y="132660"/>
                </a:cubicBezTo>
                <a:cubicBezTo>
                  <a:pt x="0" y="118001"/>
                  <a:pt x="14261" y="106128"/>
                  <a:pt x="31838" y="106128"/>
                </a:cubicBezTo>
                <a:cubicBezTo>
                  <a:pt x="35553" y="106128"/>
                  <a:pt x="39135" y="106659"/>
                  <a:pt x="42451" y="107654"/>
                </a:cubicBezTo>
                <a:lnTo>
                  <a:pt x="42451" y="31838"/>
                </a:lnTo>
                <a:cubicBezTo>
                  <a:pt x="42451" y="26864"/>
                  <a:pt x="45900" y="22552"/>
                  <a:pt x="50776" y="21491"/>
                </a:cubicBezTo>
                <a:lnTo>
                  <a:pt x="146291" y="265"/>
                </a:lnTo>
                <a:cubicBezTo>
                  <a:pt x="149442" y="-431"/>
                  <a:pt x="152725" y="332"/>
                  <a:pt x="155246" y="235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2" name="Text 40"/>
          <p:cNvSpPr/>
          <p:nvPr/>
        </p:nvSpPr>
        <p:spPr>
          <a:xfrm>
            <a:off x="6861980" y="3166864"/>
            <a:ext cx="959398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Tencent Music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006283" y="3132903"/>
            <a:ext cx="602808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4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124M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47841" y="3472513"/>
            <a:ext cx="5017738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Leading music streaming platform in China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47841" y="3676279"/>
            <a:ext cx="5009248" cy="1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Average paying users at quarter-end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03985" y="4300312"/>
            <a:ext cx="5646017" cy="2555565"/>
          </a:xfrm>
          <a:custGeom>
            <a:avLst/>
            <a:gdLst/>
            <a:ahLst/>
            <a:cxnLst/>
            <a:rect l="l" t="t" r="r" b="b"/>
            <a:pathLst>
              <a:path w="5646017" h="2555565">
                <a:moveTo>
                  <a:pt x="101890" y="0"/>
                </a:moveTo>
                <a:lnTo>
                  <a:pt x="5544126" y="0"/>
                </a:lnTo>
                <a:cubicBezTo>
                  <a:pt x="5600399" y="0"/>
                  <a:pt x="5646017" y="45618"/>
                  <a:pt x="5646017" y="101890"/>
                </a:cubicBezTo>
                <a:lnTo>
                  <a:pt x="5646017" y="2453675"/>
                </a:lnTo>
                <a:cubicBezTo>
                  <a:pt x="5646017" y="2509948"/>
                  <a:pt x="5600399" y="2555565"/>
                  <a:pt x="5544126" y="2555565"/>
                </a:cubicBezTo>
                <a:lnTo>
                  <a:pt x="101890" y="2555565"/>
                </a:lnTo>
                <a:cubicBezTo>
                  <a:pt x="45618" y="2555565"/>
                  <a:pt x="0" y="2509948"/>
                  <a:pt x="0" y="2453675"/>
                </a:cubicBezTo>
                <a:lnTo>
                  <a:pt x="0" y="101890"/>
                </a:lnTo>
                <a:cubicBezTo>
                  <a:pt x="0" y="45618"/>
                  <a:pt x="45618" y="0"/>
                  <a:pt x="10189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11997" y="4508323"/>
            <a:ext cx="5314897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 Games Performance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11997" y="4881894"/>
            <a:ext cx="5229994" cy="1765972"/>
          </a:xfrm>
          <a:custGeom>
            <a:avLst/>
            <a:gdLst/>
            <a:ahLst/>
            <a:cxnLst/>
            <a:rect l="l" t="t" r="r" b="b"/>
            <a:pathLst>
              <a:path w="5229994" h="1765972">
                <a:moveTo>
                  <a:pt x="67919" y="0"/>
                </a:moveTo>
                <a:lnTo>
                  <a:pt x="5162075" y="0"/>
                </a:lnTo>
                <a:cubicBezTo>
                  <a:pt x="5199586" y="0"/>
                  <a:pt x="5229994" y="30409"/>
                  <a:pt x="5229994" y="67919"/>
                </a:cubicBezTo>
                <a:lnTo>
                  <a:pt x="5229994" y="1698053"/>
                </a:lnTo>
                <a:cubicBezTo>
                  <a:pt x="5229994" y="1735564"/>
                  <a:pt x="5199586" y="1765972"/>
                  <a:pt x="5162075" y="1765972"/>
                </a:cubicBezTo>
                <a:lnTo>
                  <a:pt x="67919" y="1765972"/>
                </a:lnTo>
                <a:cubicBezTo>
                  <a:pt x="30409" y="1765972"/>
                  <a:pt x="0" y="1735564"/>
                  <a:pt x="0" y="1698053"/>
                </a:cubicBezTo>
                <a:lnTo>
                  <a:pt x="0" y="67919"/>
                </a:lnTo>
                <a:cubicBezTo>
                  <a:pt x="0" y="30409"/>
                  <a:pt x="30409" y="0"/>
                  <a:pt x="67919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49" name="Shape 47"/>
          <p:cNvSpPr/>
          <p:nvPr/>
        </p:nvSpPr>
        <p:spPr>
          <a:xfrm>
            <a:off x="6581802" y="5102641"/>
            <a:ext cx="543376" cy="543376"/>
          </a:xfrm>
          <a:custGeom>
            <a:avLst/>
            <a:gdLst/>
            <a:ahLst/>
            <a:cxnLst/>
            <a:rect l="l" t="t" r="r" b="b"/>
            <a:pathLst>
              <a:path w="543376" h="543376">
                <a:moveTo>
                  <a:pt x="271688" y="0"/>
                </a:moveTo>
                <a:lnTo>
                  <a:pt x="271688" y="0"/>
                </a:lnTo>
                <a:cubicBezTo>
                  <a:pt x="421737" y="0"/>
                  <a:pt x="543376" y="121639"/>
                  <a:pt x="543376" y="271688"/>
                </a:cubicBezTo>
                <a:lnTo>
                  <a:pt x="543376" y="271688"/>
                </a:lnTo>
                <a:cubicBezTo>
                  <a:pt x="543376" y="421737"/>
                  <a:pt x="421737" y="543376"/>
                  <a:pt x="271688" y="543376"/>
                </a:cubicBezTo>
                <a:lnTo>
                  <a:pt x="271688" y="543376"/>
                </a:lnTo>
                <a:cubicBezTo>
                  <a:pt x="121639" y="543376"/>
                  <a:pt x="0" y="421737"/>
                  <a:pt x="0" y="271688"/>
                </a:cubicBezTo>
                <a:lnTo>
                  <a:pt x="0" y="271688"/>
                </a:lnTo>
                <a:cubicBezTo>
                  <a:pt x="0" y="121639"/>
                  <a:pt x="121639" y="0"/>
                  <a:pt x="271688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728258" y="5246975"/>
            <a:ext cx="254708" cy="254708"/>
          </a:xfrm>
          <a:custGeom>
            <a:avLst/>
            <a:gdLst/>
            <a:ahLst/>
            <a:cxnLst/>
            <a:rect l="l" t="t" r="r" b="b"/>
            <a:pathLst>
              <a:path w="254708" h="254708">
                <a:moveTo>
                  <a:pt x="63677" y="159192"/>
                </a:moveTo>
                <a:lnTo>
                  <a:pt x="12188" y="159192"/>
                </a:lnTo>
                <a:cubicBezTo>
                  <a:pt x="-199" y="159192"/>
                  <a:pt x="-7810" y="145711"/>
                  <a:pt x="-1443" y="135065"/>
                </a:cubicBezTo>
                <a:lnTo>
                  <a:pt x="24874" y="91187"/>
                </a:lnTo>
                <a:cubicBezTo>
                  <a:pt x="29202" y="83974"/>
                  <a:pt x="36962" y="79596"/>
                  <a:pt x="45370" y="79596"/>
                </a:cubicBezTo>
                <a:lnTo>
                  <a:pt x="92630" y="79596"/>
                </a:lnTo>
                <a:cubicBezTo>
                  <a:pt x="130488" y="15471"/>
                  <a:pt x="186951" y="12238"/>
                  <a:pt x="224710" y="17760"/>
                </a:cubicBezTo>
                <a:cubicBezTo>
                  <a:pt x="231077" y="18705"/>
                  <a:pt x="236052" y="23680"/>
                  <a:pt x="236948" y="29998"/>
                </a:cubicBezTo>
                <a:cubicBezTo>
                  <a:pt x="242470" y="67756"/>
                  <a:pt x="239236" y="124220"/>
                  <a:pt x="175111" y="162078"/>
                </a:cubicBezTo>
                <a:lnTo>
                  <a:pt x="175111" y="209338"/>
                </a:lnTo>
                <a:cubicBezTo>
                  <a:pt x="175111" y="217745"/>
                  <a:pt x="170734" y="225506"/>
                  <a:pt x="163520" y="229834"/>
                </a:cubicBezTo>
                <a:lnTo>
                  <a:pt x="119643" y="256150"/>
                </a:lnTo>
                <a:cubicBezTo>
                  <a:pt x="109047" y="262518"/>
                  <a:pt x="95515" y="254857"/>
                  <a:pt x="95515" y="242519"/>
                </a:cubicBezTo>
                <a:lnTo>
                  <a:pt x="95515" y="191031"/>
                </a:lnTo>
                <a:cubicBezTo>
                  <a:pt x="95515" y="173470"/>
                  <a:pt x="81238" y="159192"/>
                  <a:pt x="63677" y="159192"/>
                </a:cubicBezTo>
                <a:lnTo>
                  <a:pt x="63627" y="159192"/>
                </a:lnTo>
                <a:close/>
                <a:moveTo>
                  <a:pt x="198990" y="79596"/>
                </a:moveTo>
                <a:cubicBezTo>
                  <a:pt x="198990" y="66417"/>
                  <a:pt x="188291" y="55717"/>
                  <a:pt x="175111" y="55717"/>
                </a:cubicBezTo>
                <a:cubicBezTo>
                  <a:pt x="161932" y="55717"/>
                  <a:pt x="151233" y="66417"/>
                  <a:pt x="151233" y="79596"/>
                </a:cubicBezTo>
                <a:cubicBezTo>
                  <a:pt x="151233" y="92775"/>
                  <a:pt x="161932" y="103475"/>
                  <a:pt x="175111" y="103475"/>
                </a:cubicBezTo>
                <a:cubicBezTo>
                  <a:pt x="188291" y="103475"/>
                  <a:pt x="198990" y="92775"/>
                  <a:pt x="198990" y="7959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1" name="Text 49"/>
          <p:cNvSpPr/>
          <p:nvPr/>
        </p:nvSpPr>
        <p:spPr>
          <a:xfrm>
            <a:off x="7261022" y="5051699"/>
            <a:ext cx="1256557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Gross Receipts Growth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261022" y="5221504"/>
            <a:ext cx="1349950" cy="33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0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+20%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261022" y="5561114"/>
            <a:ext cx="1248067" cy="1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Year-on-year in Q2 2025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598782" y="5858273"/>
            <a:ext cx="118864" cy="118864"/>
          </a:xfrm>
          <a:custGeom>
            <a:avLst/>
            <a:gdLst/>
            <a:ahLst/>
            <a:cxnLst/>
            <a:rect l="l" t="t" r="r" b="b"/>
            <a:pathLst>
              <a:path w="118864" h="118864">
                <a:moveTo>
                  <a:pt x="59432" y="118864"/>
                </a:moveTo>
                <a:cubicBezTo>
                  <a:pt x="92233" y="118864"/>
                  <a:pt x="118864" y="92233"/>
                  <a:pt x="118864" y="59432"/>
                </a:cubicBezTo>
                <a:cubicBezTo>
                  <a:pt x="118864" y="26630"/>
                  <a:pt x="92233" y="0"/>
                  <a:pt x="59432" y="0"/>
                </a:cubicBezTo>
                <a:cubicBezTo>
                  <a:pt x="26630" y="0"/>
                  <a:pt x="0" y="26630"/>
                  <a:pt x="0" y="59432"/>
                </a:cubicBezTo>
                <a:cubicBezTo>
                  <a:pt x="0" y="92233"/>
                  <a:pt x="26630" y="118864"/>
                  <a:pt x="59432" y="118864"/>
                </a:cubicBezTo>
                <a:close/>
                <a:moveTo>
                  <a:pt x="79026" y="49379"/>
                </a:moveTo>
                <a:lnTo>
                  <a:pt x="60453" y="79095"/>
                </a:lnTo>
                <a:cubicBezTo>
                  <a:pt x="59478" y="80651"/>
                  <a:pt x="57807" y="81626"/>
                  <a:pt x="55973" y="81719"/>
                </a:cubicBezTo>
                <a:cubicBezTo>
                  <a:pt x="54139" y="81812"/>
                  <a:pt x="52374" y="80976"/>
                  <a:pt x="51283" y="79490"/>
                </a:cubicBezTo>
                <a:lnTo>
                  <a:pt x="40140" y="64632"/>
                </a:lnTo>
                <a:cubicBezTo>
                  <a:pt x="38282" y="62171"/>
                  <a:pt x="38793" y="58689"/>
                  <a:pt x="41254" y="56832"/>
                </a:cubicBezTo>
                <a:cubicBezTo>
                  <a:pt x="43715" y="54974"/>
                  <a:pt x="47197" y="55485"/>
                  <a:pt x="49054" y="57946"/>
                </a:cubicBezTo>
                <a:lnTo>
                  <a:pt x="55323" y="66304"/>
                </a:lnTo>
                <a:lnTo>
                  <a:pt x="69577" y="43483"/>
                </a:lnTo>
                <a:cubicBezTo>
                  <a:pt x="71202" y="40883"/>
                  <a:pt x="74638" y="40070"/>
                  <a:pt x="77261" y="41718"/>
                </a:cubicBezTo>
                <a:cubicBezTo>
                  <a:pt x="79885" y="43367"/>
                  <a:pt x="80674" y="46779"/>
                  <a:pt x="79026" y="4940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5" name="Text 53"/>
          <p:cNvSpPr/>
          <p:nvPr/>
        </p:nvSpPr>
        <p:spPr>
          <a:xfrm>
            <a:off x="6798303" y="5832802"/>
            <a:ext cx="1986719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Expanded game engine compatibility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598782" y="6096000"/>
            <a:ext cx="118864" cy="118864"/>
          </a:xfrm>
          <a:custGeom>
            <a:avLst/>
            <a:gdLst/>
            <a:ahLst/>
            <a:cxnLst/>
            <a:rect l="l" t="t" r="r" b="b"/>
            <a:pathLst>
              <a:path w="118864" h="118864">
                <a:moveTo>
                  <a:pt x="59432" y="118864"/>
                </a:moveTo>
                <a:cubicBezTo>
                  <a:pt x="92233" y="118864"/>
                  <a:pt x="118864" y="92233"/>
                  <a:pt x="118864" y="59432"/>
                </a:cubicBezTo>
                <a:cubicBezTo>
                  <a:pt x="118864" y="26630"/>
                  <a:pt x="92233" y="0"/>
                  <a:pt x="59432" y="0"/>
                </a:cubicBezTo>
                <a:cubicBezTo>
                  <a:pt x="26630" y="0"/>
                  <a:pt x="0" y="26630"/>
                  <a:pt x="0" y="59432"/>
                </a:cubicBezTo>
                <a:cubicBezTo>
                  <a:pt x="0" y="92233"/>
                  <a:pt x="26630" y="118864"/>
                  <a:pt x="59432" y="118864"/>
                </a:cubicBezTo>
                <a:close/>
                <a:moveTo>
                  <a:pt x="79026" y="49379"/>
                </a:moveTo>
                <a:lnTo>
                  <a:pt x="60453" y="79095"/>
                </a:lnTo>
                <a:cubicBezTo>
                  <a:pt x="59478" y="80651"/>
                  <a:pt x="57807" y="81626"/>
                  <a:pt x="55973" y="81719"/>
                </a:cubicBezTo>
                <a:cubicBezTo>
                  <a:pt x="54139" y="81812"/>
                  <a:pt x="52374" y="80976"/>
                  <a:pt x="51283" y="79490"/>
                </a:cubicBezTo>
                <a:lnTo>
                  <a:pt x="40140" y="64632"/>
                </a:lnTo>
                <a:cubicBezTo>
                  <a:pt x="38282" y="62171"/>
                  <a:pt x="38793" y="58689"/>
                  <a:pt x="41254" y="56832"/>
                </a:cubicBezTo>
                <a:cubicBezTo>
                  <a:pt x="43715" y="54974"/>
                  <a:pt x="47197" y="55485"/>
                  <a:pt x="49054" y="57946"/>
                </a:cubicBezTo>
                <a:lnTo>
                  <a:pt x="55323" y="66304"/>
                </a:lnTo>
                <a:lnTo>
                  <a:pt x="69577" y="43483"/>
                </a:lnTo>
                <a:cubicBezTo>
                  <a:pt x="71202" y="40883"/>
                  <a:pt x="74638" y="40070"/>
                  <a:pt x="77261" y="41718"/>
                </a:cubicBezTo>
                <a:cubicBezTo>
                  <a:pt x="79885" y="43367"/>
                  <a:pt x="80674" y="46779"/>
                  <a:pt x="79026" y="4940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7" name="Text 55"/>
          <p:cNvSpPr/>
          <p:nvPr/>
        </p:nvSpPr>
        <p:spPr>
          <a:xfrm>
            <a:off x="6798303" y="6070529"/>
            <a:ext cx="1587677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Enhanced graphics rendering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598782" y="6333727"/>
            <a:ext cx="118864" cy="118864"/>
          </a:xfrm>
          <a:custGeom>
            <a:avLst/>
            <a:gdLst/>
            <a:ahLst/>
            <a:cxnLst/>
            <a:rect l="l" t="t" r="r" b="b"/>
            <a:pathLst>
              <a:path w="118864" h="118864">
                <a:moveTo>
                  <a:pt x="59432" y="118864"/>
                </a:moveTo>
                <a:cubicBezTo>
                  <a:pt x="92233" y="118864"/>
                  <a:pt x="118864" y="92233"/>
                  <a:pt x="118864" y="59432"/>
                </a:cubicBezTo>
                <a:cubicBezTo>
                  <a:pt x="118864" y="26630"/>
                  <a:pt x="92233" y="0"/>
                  <a:pt x="59432" y="0"/>
                </a:cubicBezTo>
                <a:cubicBezTo>
                  <a:pt x="26630" y="0"/>
                  <a:pt x="0" y="26630"/>
                  <a:pt x="0" y="59432"/>
                </a:cubicBezTo>
                <a:cubicBezTo>
                  <a:pt x="0" y="92233"/>
                  <a:pt x="26630" y="118864"/>
                  <a:pt x="59432" y="118864"/>
                </a:cubicBezTo>
                <a:close/>
                <a:moveTo>
                  <a:pt x="79026" y="49379"/>
                </a:moveTo>
                <a:lnTo>
                  <a:pt x="60453" y="79095"/>
                </a:lnTo>
                <a:cubicBezTo>
                  <a:pt x="59478" y="80651"/>
                  <a:pt x="57807" y="81626"/>
                  <a:pt x="55973" y="81719"/>
                </a:cubicBezTo>
                <a:cubicBezTo>
                  <a:pt x="54139" y="81812"/>
                  <a:pt x="52374" y="80976"/>
                  <a:pt x="51283" y="79490"/>
                </a:cubicBezTo>
                <a:lnTo>
                  <a:pt x="40140" y="64632"/>
                </a:lnTo>
                <a:cubicBezTo>
                  <a:pt x="38282" y="62171"/>
                  <a:pt x="38793" y="58689"/>
                  <a:pt x="41254" y="56832"/>
                </a:cubicBezTo>
                <a:cubicBezTo>
                  <a:pt x="43715" y="54974"/>
                  <a:pt x="47197" y="55485"/>
                  <a:pt x="49054" y="57946"/>
                </a:cubicBezTo>
                <a:lnTo>
                  <a:pt x="55323" y="66304"/>
                </a:lnTo>
                <a:lnTo>
                  <a:pt x="69577" y="43483"/>
                </a:lnTo>
                <a:cubicBezTo>
                  <a:pt x="71202" y="40883"/>
                  <a:pt x="74638" y="40070"/>
                  <a:pt x="77261" y="41718"/>
                </a:cubicBezTo>
                <a:cubicBezTo>
                  <a:pt x="79885" y="43367"/>
                  <a:pt x="80674" y="46779"/>
                  <a:pt x="79026" y="4940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9" name="Text 57"/>
          <p:cNvSpPr/>
          <p:nvPr/>
        </p:nvSpPr>
        <p:spPr>
          <a:xfrm>
            <a:off x="6798303" y="6308256"/>
            <a:ext cx="1027320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Reduced load time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 POSITION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Investment Portfolio &amp; Liquidity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2075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financial foundation supporting strategic growth initiatives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469" y="1178719"/>
            <a:ext cx="6096000" cy="2643188"/>
          </a:xfrm>
          <a:custGeom>
            <a:avLst/>
            <a:gdLst/>
            <a:ahLst/>
            <a:cxnLst/>
            <a:rect l="l" t="t" r="r" b="b"/>
            <a:pathLst>
              <a:path w="6096000" h="2643188">
                <a:moveTo>
                  <a:pt x="95260" y="0"/>
                </a:moveTo>
                <a:lnTo>
                  <a:pt x="6000740" y="0"/>
                </a:lnTo>
                <a:cubicBezTo>
                  <a:pt x="6053350" y="0"/>
                  <a:pt x="6096000" y="42650"/>
                  <a:pt x="6096000" y="95260"/>
                </a:cubicBezTo>
                <a:lnTo>
                  <a:pt x="6096000" y="2547927"/>
                </a:lnTo>
                <a:cubicBezTo>
                  <a:pt x="6096000" y="2600538"/>
                  <a:pt x="6053350" y="2643188"/>
                  <a:pt x="6000740" y="2643188"/>
                </a:cubicBezTo>
                <a:lnTo>
                  <a:pt x="95260" y="2643188"/>
                </a:lnTo>
                <a:cubicBezTo>
                  <a:pt x="42650" y="2643188"/>
                  <a:pt x="0" y="2600538"/>
                  <a:pt x="0" y="2547927"/>
                </a:cubicBezTo>
                <a:lnTo>
                  <a:pt x="0" y="95260"/>
                </a:lnTo>
                <a:cubicBezTo>
                  <a:pt x="0" y="42650"/>
                  <a:pt x="42650" y="0"/>
                  <a:pt x="9526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187" y="1341438"/>
            <a:ext cx="5849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Investment Portfolio (as of 30 June 2025)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4187" y="1690688"/>
            <a:ext cx="2817813" cy="920750"/>
          </a:xfrm>
          <a:custGeom>
            <a:avLst/>
            <a:gdLst/>
            <a:ahLst/>
            <a:cxnLst/>
            <a:rect l="l" t="t" r="r" b="b"/>
            <a:pathLst>
              <a:path w="2817813" h="920750">
                <a:moveTo>
                  <a:pt x="63504" y="0"/>
                </a:moveTo>
                <a:lnTo>
                  <a:pt x="2754308" y="0"/>
                </a:lnTo>
                <a:cubicBezTo>
                  <a:pt x="2789381" y="0"/>
                  <a:pt x="2817813" y="28432"/>
                  <a:pt x="2817813" y="63504"/>
                </a:cubicBezTo>
                <a:lnTo>
                  <a:pt x="2817813" y="857246"/>
                </a:lnTo>
                <a:cubicBezTo>
                  <a:pt x="2817813" y="892318"/>
                  <a:pt x="2789381" y="920750"/>
                  <a:pt x="2754308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8" name="Text 6"/>
          <p:cNvSpPr/>
          <p:nvPr/>
        </p:nvSpPr>
        <p:spPr>
          <a:xfrm>
            <a:off x="611188" y="1817688"/>
            <a:ext cx="261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Portfolio Value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1188" y="2039938"/>
            <a:ext cx="2682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948.3B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1188" y="2357438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RMB 817.7B in Dec 2024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32535" y="1690688"/>
            <a:ext cx="2817813" cy="920750"/>
          </a:xfrm>
          <a:custGeom>
            <a:avLst/>
            <a:gdLst/>
            <a:ahLst/>
            <a:cxnLst/>
            <a:rect l="l" t="t" r="r" b="b"/>
            <a:pathLst>
              <a:path w="2817813" h="920750">
                <a:moveTo>
                  <a:pt x="63504" y="0"/>
                </a:moveTo>
                <a:lnTo>
                  <a:pt x="2754308" y="0"/>
                </a:lnTo>
                <a:cubicBezTo>
                  <a:pt x="2789381" y="0"/>
                  <a:pt x="2817813" y="28432"/>
                  <a:pt x="2817813" y="63504"/>
                </a:cubicBezTo>
                <a:lnTo>
                  <a:pt x="2817813" y="857246"/>
                </a:lnTo>
                <a:cubicBezTo>
                  <a:pt x="2817813" y="892318"/>
                  <a:pt x="2789381" y="920750"/>
                  <a:pt x="2754308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2" name="Text 10"/>
          <p:cNvSpPr/>
          <p:nvPr/>
        </p:nvSpPr>
        <p:spPr>
          <a:xfrm>
            <a:off x="3559535" y="1817688"/>
            <a:ext cx="261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Listed Investee Companies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59535" y="2039938"/>
            <a:ext cx="2682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714.3B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59535" y="2357438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Fair value of shareholdings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4187" y="2738438"/>
            <a:ext cx="2817813" cy="920750"/>
          </a:xfrm>
          <a:custGeom>
            <a:avLst/>
            <a:gdLst/>
            <a:ahLst/>
            <a:cxnLst/>
            <a:rect l="l" t="t" r="r" b="b"/>
            <a:pathLst>
              <a:path w="2817813" h="920750">
                <a:moveTo>
                  <a:pt x="63504" y="0"/>
                </a:moveTo>
                <a:lnTo>
                  <a:pt x="2754308" y="0"/>
                </a:lnTo>
                <a:cubicBezTo>
                  <a:pt x="2789381" y="0"/>
                  <a:pt x="2817813" y="28432"/>
                  <a:pt x="2817813" y="63504"/>
                </a:cubicBezTo>
                <a:lnTo>
                  <a:pt x="2817813" y="857246"/>
                </a:lnTo>
                <a:cubicBezTo>
                  <a:pt x="2817813" y="892318"/>
                  <a:pt x="2789381" y="920750"/>
                  <a:pt x="2754308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6" name="Text 14"/>
          <p:cNvSpPr/>
          <p:nvPr/>
        </p:nvSpPr>
        <p:spPr>
          <a:xfrm>
            <a:off x="611188" y="2865438"/>
            <a:ext cx="261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Unlisted Investee Companies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1188" y="3087688"/>
            <a:ext cx="2682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342.3B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1188" y="3405188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Carrying book value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32535" y="2738438"/>
            <a:ext cx="2817813" cy="920750"/>
          </a:xfrm>
          <a:custGeom>
            <a:avLst/>
            <a:gdLst/>
            <a:ahLst/>
            <a:cxnLst/>
            <a:rect l="l" t="t" r="r" b="b"/>
            <a:pathLst>
              <a:path w="2817813" h="920750">
                <a:moveTo>
                  <a:pt x="63504" y="0"/>
                </a:moveTo>
                <a:lnTo>
                  <a:pt x="2754308" y="0"/>
                </a:lnTo>
                <a:cubicBezTo>
                  <a:pt x="2789381" y="0"/>
                  <a:pt x="2817813" y="28432"/>
                  <a:pt x="2817813" y="63504"/>
                </a:cubicBezTo>
                <a:lnTo>
                  <a:pt x="2817813" y="857246"/>
                </a:lnTo>
                <a:cubicBezTo>
                  <a:pt x="2817813" y="892318"/>
                  <a:pt x="2789381" y="920750"/>
                  <a:pt x="2754308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20" name="Text 18"/>
          <p:cNvSpPr/>
          <p:nvPr/>
        </p:nvSpPr>
        <p:spPr>
          <a:xfrm>
            <a:off x="3559535" y="2865438"/>
            <a:ext cx="261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H1 2025 Return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559535" y="3087688"/>
            <a:ext cx="2682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10.6B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59535" y="3405188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+28% vs H1 2024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1469" y="3956844"/>
            <a:ext cx="6096000" cy="3373438"/>
          </a:xfrm>
          <a:custGeom>
            <a:avLst/>
            <a:gdLst/>
            <a:ahLst/>
            <a:cxnLst/>
            <a:rect l="l" t="t" r="r" b="b"/>
            <a:pathLst>
              <a:path w="6096000" h="3373438">
                <a:moveTo>
                  <a:pt x="95266" y="0"/>
                </a:moveTo>
                <a:lnTo>
                  <a:pt x="6000734" y="0"/>
                </a:lnTo>
                <a:cubicBezTo>
                  <a:pt x="6053348" y="0"/>
                  <a:pt x="6096000" y="42652"/>
                  <a:pt x="6096000" y="95266"/>
                </a:cubicBezTo>
                <a:lnTo>
                  <a:pt x="6096000" y="3278172"/>
                </a:lnTo>
                <a:cubicBezTo>
                  <a:pt x="6096000" y="3330786"/>
                  <a:pt x="6053348" y="3373437"/>
                  <a:pt x="6000734" y="3373438"/>
                </a:cubicBezTo>
                <a:lnTo>
                  <a:pt x="95266" y="3373438"/>
                </a:lnTo>
                <a:cubicBezTo>
                  <a:pt x="42652" y="3373438"/>
                  <a:pt x="0" y="3330786"/>
                  <a:pt x="0" y="3278172"/>
                </a:cubicBezTo>
                <a:lnTo>
                  <a:pt x="0" y="95266"/>
                </a:lnTo>
                <a:cubicBezTo>
                  <a:pt x="0" y="42652"/>
                  <a:pt x="42652" y="0"/>
                  <a:pt x="9526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187" y="4119562"/>
            <a:ext cx="5849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Cash Flow &amp; Liquidity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4187" y="4468813"/>
            <a:ext cx="5770563" cy="889000"/>
          </a:xfrm>
          <a:custGeom>
            <a:avLst/>
            <a:gdLst/>
            <a:ahLst/>
            <a:cxnLst/>
            <a:rect l="l" t="t" r="r" b="b"/>
            <a:pathLst>
              <a:path w="5770563" h="889000">
                <a:moveTo>
                  <a:pt x="63501" y="0"/>
                </a:moveTo>
                <a:lnTo>
                  <a:pt x="5707061" y="0"/>
                </a:lnTo>
                <a:cubicBezTo>
                  <a:pt x="5742132" y="0"/>
                  <a:pt x="5770563" y="28430"/>
                  <a:pt x="5770563" y="63501"/>
                </a:cubicBezTo>
                <a:lnTo>
                  <a:pt x="5770563" y="825499"/>
                </a:lnTo>
                <a:cubicBezTo>
                  <a:pt x="5770563" y="860570"/>
                  <a:pt x="5742132" y="889000"/>
                  <a:pt x="5707061" y="889000"/>
                </a:cubicBezTo>
                <a:lnTo>
                  <a:pt x="63501" y="889000"/>
                </a:lnTo>
                <a:cubicBezTo>
                  <a:pt x="28430" y="889000"/>
                  <a:pt x="0" y="860570"/>
                  <a:pt x="0" y="825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26" name="Text 24"/>
          <p:cNvSpPr/>
          <p:nvPr/>
        </p:nvSpPr>
        <p:spPr>
          <a:xfrm>
            <a:off x="611188" y="4627563"/>
            <a:ext cx="1055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 Cash Position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96706" y="4595813"/>
            <a:ext cx="10239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74.6B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1188" y="4913313"/>
            <a:ext cx="5572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 of 30 June 2025 (vs RMB 90.2B in Q1 2025)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1188" y="5103813"/>
            <a:ext cx="5564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Decrease due to FY2024 final dividend payment of RMB 37.5B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84187" y="5453063"/>
            <a:ext cx="5770563" cy="730250"/>
          </a:xfrm>
          <a:custGeom>
            <a:avLst/>
            <a:gdLst/>
            <a:ahLst/>
            <a:cxnLst/>
            <a:rect l="l" t="t" r="r" b="b"/>
            <a:pathLst>
              <a:path w="5770563" h="730250">
                <a:moveTo>
                  <a:pt x="63503" y="0"/>
                </a:moveTo>
                <a:lnTo>
                  <a:pt x="5707060" y="0"/>
                </a:lnTo>
                <a:cubicBezTo>
                  <a:pt x="5742131" y="0"/>
                  <a:pt x="5770563" y="28431"/>
                  <a:pt x="5770563" y="63503"/>
                </a:cubicBezTo>
                <a:lnTo>
                  <a:pt x="5770563" y="666747"/>
                </a:lnTo>
                <a:cubicBezTo>
                  <a:pt x="5770563" y="701819"/>
                  <a:pt x="5742131" y="730250"/>
                  <a:pt x="5707060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1" name="Text 29"/>
          <p:cNvSpPr/>
          <p:nvPr/>
        </p:nvSpPr>
        <p:spPr>
          <a:xfrm>
            <a:off x="611188" y="5611813"/>
            <a:ext cx="111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Q2 Free Cash Flow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74196" y="5580063"/>
            <a:ext cx="1047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43.0B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11188" y="5897563"/>
            <a:ext cx="5572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Operating cash flow RMB 74.4B offset by capex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84187" y="6278563"/>
            <a:ext cx="5770563" cy="889000"/>
          </a:xfrm>
          <a:custGeom>
            <a:avLst/>
            <a:gdLst/>
            <a:ahLst/>
            <a:cxnLst/>
            <a:rect l="l" t="t" r="r" b="b"/>
            <a:pathLst>
              <a:path w="5770563" h="889000">
                <a:moveTo>
                  <a:pt x="63501" y="0"/>
                </a:moveTo>
                <a:lnTo>
                  <a:pt x="5707061" y="0"/>
                </a:lnTo>
                <a:cubicBezTo>
                  <a:pt x="5742132" y="0"/>
                  <a:pt x="5770563" y="28430"/>
                  <a:pt x="5770563" y="63501"/>
                </a:cubicBezTo>
                <a:lnTo>
                  <a:pt x="5770563" y="825499"/>
                </a:lnTo>
                <a:cubicBezTo>
                  <a:pt x="5770563" y="860570"/>
                  <a:pt x="5742132" y="889000"/>
                  <a:pt x="5707061" y="889000"/>
                </a:cubicBezTo>
                <a:lnTo>
                  <a:pt x="63501" y="889000"/>
                </a:lnTo>
                <a:cubicBezTo>
                  <a:pt x="28430" y="889000"/>
                  <a:pt x="0" y="860570"/>
                  <a:pt x="0" y="825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5" name="Text 33"/>
          <p:cNvSpPr/>
          <p:nvPr/>
        </p:nvSpPr>
        <p:spPr>
          <a:xfrm>
            <a:off x="611188" y="6437313"/>
            <a:ext cx="1389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H1 Capital Expenditures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180335" y="6405563"/>
            <a:ext cx="10398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46.6B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11188" y="6723063"/>
            <a:ext cx="5572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RMB 23.1B in H1 2024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11188" y="6913563"/>
            <a:ext cx="5564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Primarily for AI infrastructure and data centers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551600" y="1178719"/>
            <a:ext cx="5318125" cy="6151563"/>
          </a:xfrm>
          <a:custGeom>
            <a:avLst/>
            <a:gdLst/>
            <a:ahLst/>
            <a:cxnLst/>
            <a:rect l="l" t="t" r="r" b="b"/>
            <a:pathLst>
              <a:path w="5318125" h="6151563">
                <a:moveTo>
                  <a:pt x="95248" y="0"/>
                </a:moveTo>
                <a:lnTo>
                  <a:pt x="5222877" y="0"/>
                </a:lnTo>
                <a:cubicBezTo>
                  <a:pt x="5275481" y="0"/>
                  <a:pt x="5318125" y="42644"/>
                  <a:pt x="5318125" y="95248"/>
                </a:cubicBezTo>
                <a:lnTo>
                  <a:pt x="5318125" y="6056315"/>
                </a:lnTo>
                <a:cubicBezTo>
                  <a:pt x="5318125" y="6108919"/>
                  <a:pt x="5275481" y="6151563"/>
                  <a:pt x="5222877" y="6151563"/>
                </a:cubicBezTo>
                <a:lnTo>
                  <a:pt x="95248" y="6151563"/>
                </a:lnTo>
                <a:cubicBezTo>
                  <a:pt x="42644" y="6151563"/>
                  <a:pt x="0" y="6108919"/>
                  <a:pt x="0" y="6056315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14319" y="1341438"/>
            <a:ext cx="5072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Major Investment: Sea Limited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714319" y="1690688"/>
            <a:ext cx="4992688" cy="2801938"/>
          </a:xfrm>
          <a:custGeom>
            <a:avLst/>
            <a:gdLst/>
            <a:ahLst/>
            <a:cxnLst/>
            <a:rect l="l" t="t" r="r" b="b"/>
            <a:pathLst>
              <a:path w="4992688" h="2801938">
                <a:moveTo>
                  <a:pt x="63492" y="0"/>
                </a:moveTo>
                <a:lnTo>
                  <a:pt x="4929196" y="0"/>
                </a:lnTo>
                <a:cubicBezTo>
                  <a:pt x="4964261" y="0"/>
                  <a:pt x="4992688" y="28426"/>
                  <a:pt x="4992688" y="63492"/>
                </a:cubicBezTo>
                <a:lnTo>
                  <a:pt x="4992688" y="2738446"/>
                </a:lnTo>
                <a:cubicBezTo>
                  <a:pt x="4992688" y="2773511"/>
                  <a:pt x="4964261" y="2801938"/>
                  <a:pt x="4929196" y="2801938"/>
                </a:cubicBezTo>
                <a:lnTo>
                  <a:pt x="63492" y="2801938"/>
                </a:lnTo>
                <a:cubicBezTo>
                  <a:pt x="28426" y="2801938"/>
                  <a:pt x="0" y="2773511"/>
                  <a:pt x="0" y="2738446"/>
                </a:cubicBezTo>
                <a:lnTo>
                  <a:pt x="0" y="63492"/>
                </a:lnTo>
                <a:cubicBezTo>
                  <a:pt x="0" y="28450"/>
                  <a:pt x="28450" y="0"/>
                  <a:pt x="63492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42" name="Shape 40"/>
          <p:cNvSpPr/>
          <p:nvPr/>
        </p:nvSpPr>
        <p:spPr>
          <a:xfrm>
            <a:off x="6873069" y="18494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004038" y="1960563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19844" y="0"/>
                </a:moveTo>
                <a:cubicBezTo>
                  <a:pt x="8899" y="0"/>
                  <a:pt x="0" y="8899"/>
                  <a:pt x="0" y="19844"/>
                </a:cubicBezTo>
                <a:lnTo>
                  <a:pt x="0" y="138906"/>
                </a:lnTo>
                <a:cubicBezTo>
                  <a:pt x="0" y="149851"/>
                  <a:pt x="8899" y="158750"/>
                  <a:pt x="19844" y="158750"/>
                </a:cubicBezTo>
                <a:lnTo>
                  <a:pt x="99219" y="158750"/>
                </a:lnTo>
                <a:cubicBezTo>
                  <a:pt x="110164" y="158750"/>
                  <a:pt x="119062" y="149851"/>
                  <a:pt x="119062" y="138906"/>
                </a:cubicBezTo>
                <a:lnTo>
                  <a:pt x="119062" y="19844"/>
                </a:lnTo>
                <a:cubicBezTo>
                  <a:pt x="119062" y="8899"/>
                  <a:pt x="110164" y="0"/>
                  <a:pt x="99219" y="0"/>
                </a:cubicBezTo>
                <a:lnTo>
                  <a:pt x="19844" y="0"/>
                </a:lnTo>
                <a:close/>
                <a:moveTo>
                  <a:pt x="54570" y="109141"/>
                </a:moveTo>
                <a:lnTo>
                  <a:pt x="64492" y="109141"/>
                </a:lnTo>
                <a:cubicBezTo>
                  <a:pt x="69980" y="109141"/>
                  <a:pt x="74414" y="113574"/>
                  <a:pt x="74414" y="119062"/>
                </a:cubicBezTo>
                <a:lnTo>
                  <a:pt x="74414" y="143867"/>
                </a:lnTo>
                <a:lnTo>
                  <a:pt x="44648" y="143867"/>
                </a:lnTo>
                <a:lnTo>
                  <a:pt x="44648" y="119062"/>
                </a:lnTo>
                <a:cubicBezTo>
                  <a:pt x="44648" y="113574"/>
                  <a:pt x="49082" y="109141"/>
                  <a:pt x="54570" y="109141"/>
                </a:cubicBezTo>
                <a:close/>
                <a:moveTo>
                  <a:pt x="29766" y="34727"/>
                </a:moveTo>
                <a:cubicBezTo>
                  <a:pt x="29766" y="31998"/>
                  <a:pt x="31998" y="29766"/>
                  <a:pt x="34727" y="29766"/>
                </a:cubicBezTo>
                <a:lnTo>
                  <a:pt x="44648" y="29766"/>
                </a:lnTo>
                <a:cubicBezTo>
                  <a:pt x="47377" y="29766"/>
                  <a:pt x="49609" y="31998"/>
                  <a:pt x="49609" y="34727"/>
                </a:cubicBezTo>
                <a:lnTo>
                  <a:pt x="49609" y="44648"/>
                </a:lnTo>
                <a:cubicBezTo>
                  <a:pt x="49609" y="47377"/>
                  <a:pt x="47377" y="49609"/>
                  <a:pt x="44648" y="49609"/>
                </a:cubicBezTo>
                <a:lnTo>
                  <a:pt x="34727" y="49609"/>
                </a:lnTo>
                <a:cubicBezTo>
                  <a:pt x="31998" y="49609"/>
                  <a:pt x="29766" y="47377"/>
                  <a:pt x="29766" y="44648"/>
                </a:cubicBezTo>
                <a:lnTo>
                  <a:pt x="29766" y="34727"/>
                </a:lnTo>
                <a:close/>
                <a:moveTo>
                  <a:pt x="74414" y="29766"/>
                </a:moveTo>
                <a:lnTo>
                  <a:pt x="84336" y="29766"/>
                </a:lnTo>
                <a:cubicBezTo>
                  <a:pt x="87064" y="29766"/>
                  <a:pt x="89297" y="31998"/>
                  <a:pt x="89297" y="34727"/>
                </a:cubicBezTo>
                <a:lnTo>
                  <a:pt x="89297" y="44648"/>
                </a:lnTo>
                <a:cubicBezTo>
                  <a:pt x="89297" y="47377"/>
                  <a:pt x="87064" y="49609"/>
                  <a:pt x="84336" y="49609"/>
                </a:cubicBezTo>
                <a:lnTo>
                  <a:pt x="74414" y="49609"/>
                </a:lnTo>
                <a:cubicBezTo>
                  <a:pt x="71686" y="49609"/>
                  <a:pt x="69453" y="47377"/>
                  <a:pt x="69453" y="44648"/>
                </a:cubicBezTo>
                <a:lnTo>
                  <a:pt x="69453" y="34727"/>
                </a:lnTo>
                <a:cubicBezTo>
                  <a:pt x="69453" y="31998"/>
                  <a:pt x="71686" y="29766"/>
                  <a:pt x="74414" y="29766"/>
                </a:cubicBezTo>
                <a:close/>
                <a:moveTo>
                  <a:pt x="29766" y="74414"/>
                </a:moveTo>
                <a:cubicBezTo>
                  <a:pt x="29766" y="71686"/>
                  <a:pt x="31998" y="69453"/>
                  <a:pt x="34727" y="69453"/>
                </a:cubicBezTo>
                <a:lnTo>
                  <a:pt x="44648" y="69453"/>
                </a:lnTo>
                <a:cubicBezTo>
                  <a:pt x="47377" y="69453"/>
                  <a:pt x="49609" y="71686"/>
                  <a:pt x="49609" y="74414"/>
                </a:cubicBezTo>
                <a:lnTo>
                  <a:pt x="49609" y="84336"/>
                </a:lnTo>
                <a:cubicBezTo>
                  <a:pt x="49609" y="87064"/>
                  <a:pt x="47377" y="89297"/>
                  <a:pt x="44648" y="89297"/>
                </a:cubicBezTo>
                <a:lnTo>
                  <a:pt x="34727" y="89297"/>
                </a:lnTo>
                <a:cubicBezTo>
                  <a:pt x="31998" y="89297"/>
                  <a:pt x="29766" y="87064"/>
                  <a:pt x="29766" y="84336"/>
                </a:cubicBezTo>
                <a:lnTo>
                  <a:pt x="29766" y="74414"/>
                </a:lnTo>
                <a:close/>
                <a:moveTo>
                  <a:pt x="74414" y="69453"/>
                </a:moveTo>
                <a:lnTo>
                  <a:pt x="84336" y="69453"/>
                </a:lnTo>
                <a:cubicBezTo>
                  <a:pt x="87064" y="69453"/>
                  <a:pt x="89297" y="71686"/>
                  <a:pt x="89297" y="74414"/>
                </a:cubicBezTo>
                <a:lnTo>
                  <a:pt x="89297" y="84336"/>
                </a:lnTo>
                <a:cubicBezTo>
                  <a:pt x="89297" y="87064"/>
                  <a:pt x="87064" y="89297"/>
                  <a:pt x="84336" y="89297"/>
                </a:cubicBezTo>
                <a:lnTo>
                  <a:pt x="74414" y="89297"/>
                </a:lnTo>
                <a:cubicBezTo>
                  <a:pt x="71686" y="89297"/>
                  <a:pt x="69453" y="87064"/>
                  <a:pt x="69453" y="84336"/>
                </a:cubicBezTo>
                <a:lnTo>
                  <a:pt x="69453" y="74414"/>
                </a:lnTo>
                <a:cubicBezTo>
                  <a:pt x="69453" y="71686"/>
                  <a:pt x="71686" y="69453"/>
                  <a:pt x="74414" y="6945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4" name="Text 42"/>
          <p:cNvSpPr/>
          <p:nvPr/>
        </p:nvSpPr>
        <p:spPr>
          <a:xfrm>
            <a:off x="7349319" y="1865312"/>
            <a:ext cx="301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 Limited (NYSE: SE)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349319" y="2055813"/>
            <a:ext cx="3008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eCommerce, Digital Financial Services, Digital Entertainment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73069" y="2373313"/>
            <a:ext cx="706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Shareholding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321479" y="2357438"/>
            <a:ext cx="1293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~17.6% (104M shares)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73069" y="2674938"/>
            <a:ext cx="777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Carrying Value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810255" y="2643188"/>
            <a:ext cx="809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119.4B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73069" y="2976563"/>
            <a:ext cx="555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Cost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028846" y="2960688"/>
            <a:ext cx="587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1.7B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873069" y="3262313"/>
            <a:ext cx="896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% of Total Assets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202851" y="3246438"/>
            <a:ext cx="412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~5.9%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873069" y="3567906"/>
            <a:ext cx="4675188" cy="7938"/>
          </a:xfrm>
          <a:custGeom>
            <a:avLst/>
            <a:gdLst/>
            <a:ahLst/>
            <a:cxnLst/>
            <a:rect l="l" t="t" r="r" b="b"/>
            <a:pathLst>
              <a:path w="4675188" h="7938">
                <a:moveTo>
                  <a:pt x="0" y="0"/>
                </a:moveTo>
                <a:lnTo>
                  <a:pt x="4675188" y="0"/>
                </a:lnTo>
                <a:lnTo>
                  <a:pt x="4675188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55" name="Text 53"/>
          <p:cNvSpPr/>
          <p:nvPr/>
        </p:nvSpPr>
        <p:spPr>
          <a:xfrm>
            <a:off x="6873069" y="3698875"/>
            <a:ext cx="4730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H1 2025 Unrealized Gains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873069" y="3921125"/>
            <a:ext cx="4770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40.3B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873069" y="4206875"/>
            <a:ext cx="47228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Included in other reserves under equity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718288" y="4623594"/>
            <a:ext cx="4984750" cy="1182688"/>
          </a:xfrm>
          <a:custGeom>
            <a:avLst/>
            <a:gdLst/>
            <a:ahLst/>
            <a:cxnLst/>
            <a:rect l="l" t="t" r="r" b="b"/>
            <a:pathLst>
              <a:path w="4984750" h="1182688">
                <a:moveTo>
                  <a:pt x="95254" y="0"/>
                </a:moveTo>
                <a:lnTo>
                  <a:pt x="4889496" y="0"/>
                </a:lnTo>
                <a:cubicBezTo>
                  <a:pt x="4942103" y="0"/>
                  <a:pt x="4984750" y="42647"/>
                  <a:pt x="4984750" y="95254"/>
                </a:cubicBezTo>
                <a:lnTo>
                  <a:pt x="4984750" y="1087434"/>
                </a:lnTo>
                <a:cubicBezTo>
                  <a:pt x="4984750" y="1140041"/>
                  <a:pt x="4942103" y="1182688"/>
                  <a:pt x="4889496" y="1182688"/>
                </a:cubicBezTo>
                <a:lnTo>
                  <a:pt x="95254" y="1182688"/>
                </a:lnTo>
                <a:cubicBezTo>
                  <a:pt x="42682" y="1182688"/>
                  <a:pt x="0" y="1140006"/>
                  <a:pt x="0" y="1087434"/>
                </a:cubicBezTo>
                <a:lnTo>
                  <a:pt x="0" y="95254"/>
                </a:lnTo>
                <a:cubicBezTo>
                  <a:pt x="0" y="42647"/>
                  <a:pt x="42647" y="0"/>
                  <a:pt x="95254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49256" y="4754563"/>
            <a:ext cx="479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Financial Ratios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849256" y="5072063"/>
            <a:ext cx="2317750" cy="603250"/>
          </a:xfrm>
          <a:custGeom>
            <a:avLst/>
            <a:gdLst/>
            <a:ahLst/>
            <a:cxnLst/>
            <a:rect l="l" t="t" r="r" b="b"/>
            <a:pathLst>
              <a:path w="2317750" h="603250">
                <a:moveTo>
                  <a:pt x="63498" y="0"/>
                </a:moveTo>
                <a:lnTo>
                  <a:pt x="2254252" y="0"/>
                </a:lnTo>
                <a:cubicBezTo>
                  <a:pt x="2289321" y="0"/>
                  <a:pt x="2317750" y="28429"/>
                  <a:pt x="2317750" y="63498"/>
                </a:cubicBezTo>
                <a:lnTo>
                  <a:pt x="2317750" y="539752"/>
                </a:lnTo>
                <a:cubicBezTo>
                  <a:pt x="2317750" y="574821"/>
                  <a:pt x="2289321" y="603250"/>
                  <a:pt x="2254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61" name="Text 59"/>
          <p:cNvSpPr/>
          <p:nvPr/>
        </p:nvSpPr>
        <p:spPr>
          <a:xfrm>
            <a:off x="6920694" y="5167313"/>
            <a:ext cx="2174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Debts / Adj. EBITDA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896881" y="5326063"/>
            <a:ext cx="222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1.29x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9258660" y="5072063"/>
            <a:ext cx="2317750" cy="603250"/>
          </a:xfrm>
          <a:custGeom>
            <a:avLst/>
            <a:gdLst/>
            <a:ahLst/>
            <a:cxnLst/>
            <a:rect l="l" t="t" r="r" b="b"/>
            <a:pathLst>
              <a:path w="2317750" h="603250">
                <a:moveTo>
                  <a:pt x="63498" y="0"/>
                </a:moveTo>
                <a:lnTo>
                  <a:pt x="2254252" y="0"/>
                </a:lnTo>
                <a:cubicBezTo>
                  <a:pt x="2289321" y="0"/>
                  <a:pt x="2317750" y="28429"/>
                  <a:pt x="2317750" y="63498"/>
                </a:cubicBezTo>
                <a:lnTo>
                  <a:pt x="2317750" y="539752"/>
                </a:lnTo>
                <a:cubicBezTo>
                  <a:pt x="2317750" y="574821"/>
                  <a:pt x="2289321" y="603250"/>
                  <a:pt x="2254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64" name="Text 62"/>
          <p:cNvSpPr/>
          <p:nvPr/>
        </p:nvSpPr>
        <p:spPr>
          <a:xfrm>
            <a:off x="9330097" y="5167313"/>
            <a:ext cx="2174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Adj. EBITDA Margin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9306285" y="5326063"/>
            <a:ext cx="222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46%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dezeen.com/4d96e96501cbe63f58c46ff0433916c37930d087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9" b="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91919">
                  <a:alpha val="90000"/>
                </a:srgbClr>
              </a:gs>
              <a:gs pos="50000">
                <a:srgbClr val="191919">
                  <a:alpha val="85000"/>
                </a:srgbClr>
              </a:gs>
              <a:gs pos="100000">
                <a:srgbClr val="191919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LOOKING AHEAD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Outlook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Continued innovation and AI-driven growth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5763" y="1643063"/>
            <a:ext cx="3276600" cy="1752600"/>
          </a:xfrm>
          <a:custGeom>
            <a:avLst/>
            <a:gdLst/>
            <a:ahLst/>
            <a:cxnLst/>
            <a:rect l="l" t="t" r="r" b="b"/>
            <a:pathLst>
              <a:path w="3276600" h="1752600">
                <a:moveTo>
                  <a:pt x="114305" y="0"/>
                </a:moveTo>
                <a:lnTo>
                  <a:pt x="3162295" y="0"/>
                </a:lnTo>
                <a:cubicBezTo>
                  <a:pt x="3225424" y="0"/>
                  <a:pt x="3276600" y="51176"/>
                  <a:pt x="3276600" y="114305"/>
                </a:cubicBezTo>
                <a:lnTo>
                  <a:pt x="3276600" y="1638295"/>
                </a:lnTo>
                <a:cubicBezTo>
                  <a:pt x="3276600" y="1701424"/>
                  <a:pt x="3225424" y="1752600"/>
                  <a:pt x="3162295" y="1752600"/>
                </a:cubicBezTo>
                <a:lnTo>
                  <a:pt x="114305" y="1752600"/>
                </a:lnTo>
                <a:cubicBezTo>
                  <a:pt x="51176" y="1752600"/>
                  <a:pt x="0" y="1701424"/>
                  <a:pt x="0" y="16382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81025" y="1838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95325" y="1952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7"/>
          <p:cNvSpPr/>
          <p:nvPr/>
        </p:nvSpPr>
        <p:spPr>
          <a:xfrm>
            <a:off x="1076325" y="1895475"/>
            <a:ext cx="112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Leadership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81025" y="2333625"/>
            <a:ext cx="295275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Continue investing in AI capabilities across all business lines, upgrading HunYuan foundation models, and expanding AI use cases within Weixin ecosystem.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22353" y="1643063"/>
            <a:ext cx="3276600" cy="1752600"/>
          </a:xfrm>
          <a:custGeom>
            <a:avLst/>
            <a:gdLst/>
            <a:ahLst/>
            <a:cxnLst/>
            <a:rect l="l" t="t" r="r" b="b"/>
            <a:pathLst>
              <a:path w="3276600" h="1752600">
                <a:moveTo>
                  <a:pt x="114305" y="0"/>
                </a:moveTo>
                <a:lnTo>
                  <a:pt x="3162295" y="0"/>
                </a:lnTo>
                <a:cubicBezTo>
                  <a:pt x="3225424" y="0"/>
                  <a:pt x="3276600" y="51176"/>
                  <a:pt x="3276600" y="114305"/>
                </a:cubicBezTo>
                <a:lnTo>
                  <a:pt x="3276600" y="1638295"/>
                </a:lnTo>
                <a:cubicBezTo>
                  <a:pt x="3276600" y="1701424"/>
                  <a:pt x="3225424" y="1752600"/>
                  <a:pt x="3162295" y="1752600"/>
                </a:cubicBezTo>
                <a:lnTo>
                  <a:pt x="114305" y="1752600"/>
                </a:lnTo>
                <a:cubicBezTo>
                  <a:pt x="51176" y="1752600"/>
                  <a:pt x="0" y="1701424"/>
                  <a:pt x="0" y="16382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017615" y="1838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4112865" y="195262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33350" y="19050"/>
                </a:moveTo>
                <a:cubicBezTo>
                  <a:pt x="164902" y="19050"/>
                  <a:pt x="190500" y="44648"/>
                  <a:pt x="190500" y="76200"/>
                </a:cubicBezTo>
                <a:cubicBezTo>
                  <a:pt x="190500" y="107752"/>
                  <a:pt x="164902" y="133350"/>
                  <a:pt x="133350" y="133350"/>
                </a:cubicBezTo>
                <a:lnTo>
                  <a:pt x="57150" y="133350"/>
                </a:lnTo>
                <a:cubicBezTo>
                  <a:pt x="25598" y="133350"/>
                  <a:pt x="0" y="107752"/>
                  <a:pt x="0" y="76200"/>
                </a:cubicBezTo>
                <a:cubicBezTo>
                  <a:pt x="0" y="44648"/>
                  <a:pt x="25598" y="19050"/>
                  <a:pt x="57150" y="19050"/>
                </a:cubicBezTo>
                <a:lnTo>
                  <a:pt x="133350" y="19050"/>
                </a:lnTo>
                <a:close/>
                <a:moveTo>
                  <a:pt x="57150" y="52388"/>
                </a:moveTo>
                <a:cubicBezTo>
                  <a:pt x="53191" y="52388"/>
                  <a:pt x="50006" y="55572"/>
                  <a:pt x="50006" y="59531"/>
                </a:cubicBezTo>
                <a:lnTo>
                  <a:pt x="50006" y="69056"/>
                </a:lnTo>
                <a:lnTo>
                  <a:pt x="40481" y="69056"/>
                </a:lnTo>
                <a:cubicBezTo>
                  <a:pt x="36522" y="69056"/>
                  <a:pt x="33338" y="72241"/>
                  <a:pt x="33338" y="76200"/>
                </a:cubicBezTo>
                <a:cubicBezTo>
                  <a:pt x="33338" y="80159"/>
                  <a:pt x="36522" y="83344"/>
                  <a:pt x="40481" y="83344"/>
                </a:cubicBezTo>
                <a:lnTo>
                  <a:pt x="50006" y="83344"/>
                </a:lnTo>
                <a:lnTo>
                  <a:pt x="50006" y="92869"/>
                </a:lnTo>
                <a:cubicBezTo>
                  <a:pt x="50006" y="96828"/>
                  <a:pt x="53191" y="100013"/>
                  <a:pt x="57150" y="100013"/>
                </a:cubicBezTo>
                <a:cubicBezTo>
                  <a:pt x="61109" y="100013"/>
                  <a:pt x="64294" y="96828"/>
                  <a:pt x="64294" y="92869"/>
                </a:cubicBezTo>
                <a:lnTo>
                  <a:pt x="64294" y="83344"/>
                </a:lnTo>
                <a:lnTo>
                  <a:pt x="73819" y="83344"/>
                </a:lnTo>
                <a:cubicBezTo>
                  <a:pt x="77778" y="83344"/>
                  <a:pt x="80962" y="80159"/>
                  <a:pt x="80962" y="76200"/>
                </a:cubicBezTo>
                <a:cubicBezTo>
                  <a:pt x="80962" y="72241"/>
                  <a:pt x="77778" y="69056"/>
                  <a:pt x="73819" y="69056"/>
                </a:cubicBezTo>
                <a:lnTo>
                  <a:pt x="64294" y="69056"/>
                </a:lnTo>
                <a:lnTo>
                  <a:pt x="64294" y="59531"/>
                </a:lnTo>
                <a:cubicBezTo>
                  <a:pt x="64294" y="55572"/>
                  <a:pt x="61109" y="52388"/>
                  <a:pt x="57150" y="52388"/>
                </a:cubicBezTo>
                <a:close/>
                <a:moveTo>
                  <a:pt x="128588" y="80962"/>
                </a:moveTo>
                <a:cubicBezTo>
                  <a:pt x="123331" y="80962"/>
                  <a:pt x="119062" y="85231"/>
                  <a:pt x="119062" y="90488"/>
                </a:cubicBezTo>
                <a:cubicBezTo>
                  <a:pt x="119062" y="95744"/>
                  <a:pt x="123331" y="100013"/>
                  <a:pt x="128588" y="100013"/>
                </a:cubicBezTo>
                <a:cubicBezTo>
                  <a:pt x="133844" y="100013"/>
                  <a:pt x="138113" y="95744"/>
                  <a:pt x="138113" y="90488"/>
                </a:cubicBezTo>
                <a:cubicBezTo>
                  <a:pt x="138113" y="85231"/>
                  <a:pt x="133844" y="80962"/>
                  <a:pt x="128588" y="80962"/>
                </a:cubicBezTo>
                <a:close/>
                <a:moveTo>
                  <a:pt x="147638" y="52388"/>
                </a:moveTo>
                <a:cubicBezTo>
                  <a:pt x="142381" y="52388"/>
                  <a:pt x="138113" y="56656"/>
                  <a:pt x="138113" y="61912"/>
                </a:cubicBezTo>
                <a:cubicBezTo>
                  <a:pt x="138113" y="67169"/>
                  <a:pt x="142381" y="71438"/>
                  <a:pt x="147638" y="71438"/>
                </a:cubicBezTo>
                <a:cubicBezTo>
                  <a:pt x="152894" y="71438"/>
                  <a:pt x="157163" y="67169"/>
                  <a:pt x="157163" y="61912"/>
                </a:cubicBezTo>
                <a:cubicBezTo>
                  <a:pt x="157163" y="56656"/>
                  <a:pt x="152894" y="52388"/>
                  <a:pt x="147638" y="5238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4512915" y="1895475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Games Excellence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017615" y="2333625"/>
            <a:ext cx="295275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Maintain leadership in domestic and international markets through evergreen title evolution, new game launches, and AI-enhanced gaming experiences.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85763" y="3557588"/>
            <a:ext cx="3276600" cy="1752600"/>
          </a:xfrm>
          <a:custGeom>
            <a:avLst/>
            <a:gdLst/>
            <a:ahLst/>
            <a:cxnLst/>
            <a:rect l="l" t="t" r="r" b="b"/>
            <a:pathLst>
              <a:path w="3276600" h="1752600">
                <a:moveTo>
                  <a:pt x="114305" y="0"/>
                </a:moveTo>
                <a:lnTo>
                  <a:pt x="3162295" y="0"/>
                </a:lnTo>
                <a:cubicBezTo>
                  <a:pt x="3225424" y="0"/>
                  <a:pt x="3276600" y="51176"/>
                  <a:pt x="3276600" y="114305"/>
                </a:cubicBezTo>
                <a:lnTo>
                  <a:pt x="3276600" y="1638295"/>
                </a:lnTo>
                <a:cubicBezTo>
                  <a:pt x="3276600" y="1701424"/>
                  <a:pt x="3225424" y="1752600"/>
                  <a:pt x="3162295" y="1752600"/>
                </a:cubicBezTo>
                <a:lnTo>
                  <a:pt x="114305" y="1752600"/>
                </a:lnTo>
                <a:cubicBezTo>
                  <a:pt x="51176" y="1752600"/>
                  <a:pt x="0" y="1701424"/>
                  <a:pt x="0" y="16382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81025" y="3752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95325" y="3867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8543" y="19050"/>
                  <a:pt x="0" y="27593"/>
                  <a:pt x="0" y="38100"/>
                </a:cubicBez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38100"/>
                </a:lnTo>
                <a:cubicBezTo>
                  <a:pt x="152400" y="27593"/>
                  <a:pt x="143857" y="19050"/>
                  <a:pt x="133350" y="19050"/>
                </a:cubicBezTo>
                <a:lnTo>
                  <a:pt x="19050" y="19050"/>
                </a:lnTo>
                <a:close/>
                <a:moveTo>
                  <a:pt x="123825" y="54769"/>
                </a:moveTo>
                <a:lnTo>
                  <a:pt x="123825" y="97631"/>
                </a:lnTo>
                <a:cubicBezTo>
                  <a:pt x="123825" y="101590"/>
                  <a:pt x="120640" y="104775"/>
                  <a:pt x="116681" y="104775"/>
                </a:cubicBezTo>
                <a:cubicBezTo>
                  <a:pt x="114568" y="104775"/>
                  <a:pt x="112663" y="103852"/>
                  <a:pt x="111353" y="102394"/>
                </a:cubicBezTo>
                <a:cubicBezTo>
                  <a:pt x="108317" y="103912"/>
                  <a:pt x="104864" y="104775"/>
                  <a:pt x="101203" y="104775"/>
                </a:cubicBezTo>
                <a:cubicBezTo>
                  <a:pt x="88702" y="104775"/>
                  <a:pt x="78581" y="94655"/>
                  <a:pt x="78581" y="82153"/>
                </a:cubicBezTo>
                <a:cubicBezTo>
                  <a:pt x="78581" y="69652"/>
                  <a:pt x="88702" y="59531"/>
                  <a:pt x="101203" y="59531"/>
                </a:cubicBezTo>
                <a:cubicBezTo>
                  <a:pt x="104150" y="59531"/>
                  <a:pt x="106948" y="60097"/>
                  <a:pt x="109537" y="61109"/>
                </a:cubicBezTo>
                <a:lnTo>
                  <a:pt x="109537" y="54769"/>
                </a:lnTo>
                <a:cubicBezTo>
                  <a:pt x="109537" y="50810"/>
                  <a:pt x="112722" y="47625"/>
                  <a:pt x="116681" y="47625"/>
                </a:cubicBezTo>
                <a:cubicBezTo>
                  <a:pt x="120640" y="47625"/>
                  <a:pt x="123825" y="50810"/>
                  <a:pt x="123825" y="54769"/>
                </a:cubicBezTo>
                <a:close/>
                <a:moveTo>
                  <a:pt x="109537" y="82153"/>
                </a:moveTo>
                <a:cubicBezTo>
                  <a:pt x="109537" y="77553"/>
                  <a:pt x="105803" y="73819"/>
                  <a:pt x="101203" y="73819"/>
                </a:cubicBezTo>
                <a:cubicBezTo>
                  <a:pt x="96603" y="73819"/>
                  <a:pt x="92869" y="77553"/>
                  <a:pt x="92869" y="82153"/>
                </a:cubicBezTo>
                <a:cubicBezTo>
                  <a:pt x="92869" y="86753"/>
                  <a:pt x="96603" y="90488"/>
                  <a:pt x="101203" y="90488"/>
                </a:cubicBezTo>
                <a:cubicBezTo>
                  <a:pt x="105803" y="90488"/>
                  <a:pt x="109537" y="86753"/>
                  <a:pt x="109537" y="82153"/>
                </a:cubicBezTo>
                <a:close/>
                <a:moveTo>
                  <a:pt x="47625" y="61912"/>
                </a:moveTo>
                <a:cubicBezTo>
                  <a:pt x="45006" y="61912"/>
                  <a:pt x="42863" y="64056"/>
                  <a:pt x="42863" y="66675"/>
                </a:cubicBezTo>
                <a:lnTo>
                  <a:pt x="42863" y="76200"/>
                </a:lnTo>
                <a:lnTo>
                  <a:pt x="57150" y="76200"/>
                </a:lnTo>
                <a:lnTo>
                  <a:pt x="57150" y="66675"/>
                </a:lnTo>
                <a:cubicBezTo>
                  <a:pt x="57150" y="64056"/>
                  <a:pt x="55007" y="61912"/>
                  <a:pt x="52388" y="61912"/>
                </a:cubicBezTo>
                <a:lnTo>
                  <a:pt x="47625" y="61912"/>
                </a:lnTo>
                <a:close/>
                <a:moveTo>
                  <a:pt x="57150" y="90488"/>
                </a:moveTo>
                <a:lnTo>
                  <a:pt x="42863" y="90488"/>
                </a:lnTo>
                <a:lnTo>
                  <a:pt x="42863" y="97631"/>
                </a:lnTo>
                <a:cubicBezTo>
                  <a:pt x="42863" y="101590"/>
                  <a:pt x="39678" y="104775"/>
                  <a:pt x="35719" y="104775"/>
                </a:cubicBezTo>
                <a:cubicBezTo>
                  <a:pt x="31760" y="104775"/>
                  <a:pt x="28575" y="101590"/>
                  <a:pt x="28575" y="97631"/>
                </a:cubicBezTo>
                <a:lnTo>
                  <a:pt x="28575" y="66675"/>
                </a:lnTo>
                <a:cubicBezTo>
                  <a:pt x="28575" y="56168"/>
                  <a:pt x="37118" y="47625"/>
                  <a:pt x="47625" y="47625"/>
                </a:cubicBezTo>
                <a:lnTo>
                  <a:pt x="52388" y="47625"/>
                </a:lnTo>
                <a:cubicBezTo>
                  <a:pt x="62895" y="47625"/>
                  <a:pt x="71438" y="56168"/>
                  <a:pt x="71438" y="66675"/>
                </a:cubicBezTo>
                <a:lnTo>
                  <a:pt x="71438" y="97631"/>
                </a:lnTo>
                <a:cubicBezTo>
                  <a:pt x="71438" y="101590"/>
                  <a:pt x="68253" y="104775"/>
                  <a:pt x="64294" y="104775"/>
                </a:cubicBezTo>
                <a:cubicBezTo>
                  <a:pt x="60335" y="104775"/>
                  <a:pt x="57150" y="101590"/>
                  <a:pt x="57150" y="97631"/>
                </a:cubicBezTo>
                <a:lnTo>
                  <a:pt x="57150" y="9048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7"/>
          <p:cNvSpPr/>
          <p:nvPr/>
        </p:nvSpPr>
        <p:spPr>
          <a:xfrm>
            <a:off x="1076325" y="3810000"/>
            <a:ext cx="154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Advertising Growth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81025" y="4248150"/>
            <a:ext cx="295275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Leverage AI-powered advertising platform to drive higher ROI for advertisers and capture growing demand across Video Accounts and Mini Programs.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822353" y="3557588"/>
            <a:ext cx="3276600" cy="1752600"/>
          </a:xfrm>
          <a:custGeom>
            <a:avLst/>
            <a:gdLst/>
            <a:ahLst/>
            <a:cxnLst/>
            <a:rect l="l" t="t" r="r" b="b"/>
            <a:pathLst>
              <a:path w="3276600" h="1752600">
                <a:moveTo>
                  <a:pt x="114305" y="0"/>
                </a:moveTo>
                <a:lnTo>
                  <a:pt x="3162295" y="0"/>
                </a:lnTo>
                <a:cubicBezTo>
                  <a:pt x="3225424" y="0"/>
                  <a:pt x="3276600" y="51176"/>
                  <a:pt x="3276600" y="114305"/>
                </a:cubicBezTo>
                <a:lnTo>
                  <a:pt x="3276600" y="1638295"/>
                </a:lnTo>
                <a:cubicBezTo>
                  <a:pt x="3276600" y="1701424"/>
                  <a:pt x="3225424" y="1752600"/>
                  <a:pt x="3162295" y="1752600"/>
                </a:cubicBezTo>
                <a:lnTo>
                  <a:pt x="114305" y="1752600"/>
                </a:lnTo>
                <a:cubicBezTo>
                  <a:pt x="51176" y="1752600"/>
                  <a:pt x="0" y="1701424"/>
                  <a:pt x="0" y="16382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017615" y="3752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4122390" y="38671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0" y="100013"/>
                </a:moveTo>
                <a:cubicBezTo>
                  <a:pt x="0" y="123676"/>
                  <a:pt x="19199" y="142875"/>
                  <a:pt x="42863" y="142875"/>
                </a:cubicBezTo>
                <a:lnTo>
                  <a:pt x="133350" y="142875"/>
                </a:lnTo>
                <a:cubicBezTo>
                  <a:pt x="154394" y="142875"/>
                  <a:pt x="171450" y="125819"/>
                  <a:pt x="171450" y="104775"/>
                </a:cubicBezTo>
                <a:cubicBezTo>
                  <a:pt x="171450" y="89416"/>
                  <a:pt x="162371" y="76170"/>
                  <a:pt x="149275" y="70158"/>
                </a:cubicBezTo>
                <a:cubicBezTo>
                  <a:pt x="151269" y="66258"/>
                  <a:pt x="152400" y="61823"/>
                  <a:pt x="152400" y="57150"/>
                </a:cubicBezTo>
                <a:cubicBezTo>
                  <a:pt x="152400" y="41374"/>
                  <a:pt x="139601" y="28575"/>
                  <a:pt x="123825" y="28575"/>
                </a:cubicBezTo>
                <a:cubicBezTo>
                  <a:pt x="118556" y="28575"/>
                  <a:pt x="113645" y="30004"/>
                  <a:pt x="109418" y="32474"/>
                </a:cubicBezTo>
                <a:cubicBezTo>
                  <a:pt x="102245" y="18842"/>
                  <a:pt x="87928" y="9525"/>
                  <a:pt x="71438" y="9525"/>
                </a:cubicBezTo>
                <a:cubicBezTo>
                  <a:pt x="47774" y="9525"/>
                  <a:pt x="28575" y="28724"/>
                  <a:pt x="28575" y="52388"/>
                </a:cubicBezTo>
                <a:cubicBezTo>
                  <a:pt x="28575" y="54769"/>
                  <a:pt x="28783" y="57120"/>
                  <a:pt x="29141" y="59382"/>
                </a:cubicBezTo>
                <a:cubicBezTo>
                  <a:pt x="12204" y="65097"/>
                  <a:pt x="0" y="81141"/>
                  <a:pt x="0" y="10001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5" name="Text 22"/>
          <p:cNvSpPr/>
          <p:nvPr/>
        </p:nvSpPr>
        <p:spPr>
          <a:xfrm>
            <a:off x="4512915" y="3810000"/>
            <a:ext cx="134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&amp; FinTech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017615" y="4248150"/>
            <a:ext cx="295275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Expand enterprise AI-related services including GPU rental and API token usage, while growing commercial payment volume and wealth management services.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85763" y="5472113"/>
            <a:ext cx="6715125" cy="1323975"/>
          </a:xfrm>
          <a:custGeom>
            <a:avLst/>
            <a:gdLst/>
            <a:ahLst/>
            <a:cxnLst/>
            <a:rect l="l" t="t" r="r" b="b"/>
            <a:pathLst>
              <a:path w="6715125" h="1323975">
                <a:moveTo>
                  <a:pt x="114299" y="0"/>
                </a:moveTo>
                <a:lnTo>
                  <a:pt x="6600826" y="0"/>
                </a:lnTo>
                <a:cubicBezTo>
                  <a:pt x="6663952" y="0"/>
                  <a:pt x="6715125" y="51173"/>
                  <a:pt x="6715125" y="114299"/>
                </a:cubicBezTo>
                <a:lnTo>
                  <a:pt x="6715125" y="1209676"/>
                </a:lnTo>
                <a:cubicBezTo>
                  <a:pt x="6715125" y="1272802"/>
                  <a:pt x="6663952" y="1323975"/>
                  <a:pt x="6600826" y="1323975"/>
                </a:cubicBezTo>
                <a:lnTo>
                  <a:pt x="114299" y="1323975"/>
                </a:lnTo>
                <a:cubicBezTo>
                  <a:pt x="51173" y="1323975"/>
                  <a:pt x="0" y="1272802"/>
                  <a:pt x="0" y="120967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81025" y="56673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714375" y="578167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4763" y="19050"/>
                </a:moveTo>
                <a:cubicBezTo>
                  <a:pt x="4763" y="8543"/>
                  <a:pt x="13305" y="0"/>
                  <a:pt x="23813" y="0"/>
                </a:cubicBezTo>
                <a:lnTo>
                  <a:pt x="90488" y="0"/>
                </a:lnTo>
                <a:cubicBezTo>
                  <a:pt x="100995" y="0"/>
                  <a:pt x="109537" y="8543"/>
                  <a:pt x="109537" y="19050"/>
                </a:cubicBezTo>
                <a:lnTo>
                  <a:pt x="109537" y="133350"/>
                </a:lnTo>
                <a:cubicBezTo>
                  <a:pt x="109537" y="143857"/>
                  <a:pt x="100995" y="152400"/>
                  <a:pt x="90488" y="152400"/>
                </a:cubicBezTo>
                <a:lnTo>
                  <a:pt x="23813" y="152400"/>
                </a:lnTo>
                <a:cubicBezTo>
                  <a:pt x="13305" y="152400"/>
                  <a:pt x="4763" y="143857"/>
                  <a:pt x="4763" y="133350"/>
                </a:cubicBezTo>
                <a:lnTo>
                  <a:pt x="4763" y="19050"/>
                </a:lnTo>
                <a:close/>
                <a:moveTo>
                  <a:pt x="23813" y="19050"/>
                </a:moveTo>
                <a:lnTo>
                  <a:pt x="23813" y="109537"/>
                </a:lnTo>
                <a:lnTo>
                  <a:pt x="90488" y="109537"/>
                </a:lnTo>
                <a:lnTo>
                  <a:pt x="90488" y="19050"/>
                </a:lnTo>
                <a:lnTo>
                  <a:pt x="23813" y="19050"/>
                </a:lnTo>
                <a:close/>
                <a:moveTo>
                  <a:pt x="57150" y="140494"/>
                </a:moveTo>
                <a:cubicBezTo>
                  <a:pt x="62419" y="140494"/>
                  <a:pt x="66675" y="136237"/>
                  <a:pt x="66675" y="130969"/>
                </a:cubicBezTo>
                <a:cubicBezTo>
                  <a:pt x="66675" y="125700"/>
                  <a:pt x="62419" y="121444"/>
                  <a:pt x="57150" y="121444"/>
                </a:cubicBezTo>
                <a:cubicBezTo>
                  <a:pt x="51881" y="121444"/>
                  <a:pt x="47625" y="125700"/>
                  <a:pt x="47625" y="130969"/>
                </a:cubicBezTo>
                <a:cubicBezTo>
                  <a:pt x="47625" y="136237"/>
                  <a:pt x="51881" y="140494"/>
                  <a:pt x="57150" y="14049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0" name="Text 27"/>
          <p:cNvSpPr/>
          <p:nvPr/>
        </p:nvSpPr>
        <p:spPr>
          <a:xfrm>
            <a:off x="1076325" y="5724525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Yuanbao &amp; AI Native Apps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81025" y="6162675"/>
            <a:ext cx="63912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Drive adoption of AI native app Yuanbao and bring further benefits of AI to consumers and enterprises through powering more use cases within Weixin and beyond.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7335217" y="1643063"/>
            <a:ext cx="4467225" cy="3876675"/>
          </a:xfrm>
          <a:custGeom>
            <a:avLst/>
            <a:gdLst/>
            <a:ahLst/>
            <a:cxnLst/>
            <a:rect l="l" t="t" r="r" b="b"/>
            <a:pathLst>
              <a:path w="4467225" h="3876675">
                <a:moveTo>
                  <a:pt x="114284" y="0"/>
                </a:moveTo>
                <a:lnTo>
                  <a:pt x="4352941" y="0"/>
                </a:lnTo>
                <a:cubicBezTo>
                  <a:pt x="4416058" y="0"/>
                  <a:pt x="4467225" y="51167"/>
                  <a:pt x="4467225" y="114284"/>
                </a:cubicBezTo>
                <a:lnTo>
                  <a:pt x="4467225" y="3762391"/>
                </a:lnTo>
                <a:cubicBezTo>
                  <a:pt x="4467225" y="3825508"/>
                  <a:pt x="4416058" y="3876675"/>
                  <a:pt x="4352941" y="3876675"/>
                </a:cubicBezTo>
                <a:lnTo>
                  <a:pt x="114284" y="3876675"/>
                </a:lnTo>
                <a:cubicBezTo>
                  <a:pt x="51167" y="3876675"/>
                  <a:pt x="0" y="3825508"/>
                  <a:pt x="0" y="3762391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611442" y="18954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96441"/>
                </a:moveTo>
                <a:cubicBezTo>
                  <a:pt x="0" y="66839"/>
                  <a:pt x="23976" y="42863"/>
                  <a:pt x="53578" y="42863"/>
                </a:cubicBezTo>
                <a:lnTo>
                  <a:pt x="57150" y="42863"/>
                </a:lnTo>
                <a:cubicBezTo>
                  <a:pt x="65053" y="42863"/>
                  <a:pt x="71438" y="49247"/>
                  <a:pt x="71438" y="57150"/>
                </a:cubicBezTo>
                <a:cubicBezTo>
                  <a:pt x="71438" y="65053"/>
                  <a:pt x="65053" y="71438"/>
                  <a:pt x="57150" y="71438"/>
                </a:cubicBezTo>
                <a:lnTo>
                  <a:pt x="53578" y="71438"/>
                </a:lnTo>
                <a:cubicBezTo>
                  <a:pt x="39782" y="71438"/>
                  <a:pt x="28575" y="82644"/>
                  <a:pt x="28575" y="96441"/>
                </a:cubicBezTo>
                <a:lnTo>
                  <a:pt x="28575" y="100013"/>
                </a:lnTo>
                <a:lnTo>
                  <a:pt x="57150" y="100013"/>
                </a:lnTo>
                <a:cubicBezTo>
                  <a:pt x="72911" y="100013"/>
                  <a:pt x="85725" y="112827"/>
                  <a:pt x="85725" y="128588"/>
                </a:cubicBezTo>
                <a:lnTo>
                  <a:pt x="85725" y="157163"/>
                </a:lnTo>
                <a:cubicBezTo>
                  <a:pt x="85725" y="172923"/>
                  <a:pt x="72911" y="185738"/>
                  <a:pt x="57150" y="185738"/>
                </a:cubicBezTo>
                <a:lnTo>
                  <a:pt x="28575" y="185738"/>
                </a:lnTo>
                <a:cubicBezTo>
                  <a:pt x="12814" y="185738"/>
                  <a:pt x="0" y="172923"/>
                  <a:pt x="0" y="157163"/>
                </a:cubicBezTo>
                <a:lnTo>
                  <a:pt x="0" y="96441"/>
                </a:lnTo>
                <a:close/>
                <a:moveTo>
                  <a:pt x="114300" y="96441"/>
                </a:moveTo>
                <a:cubicBezTo>
                  <a:pt x="114300" y="66839"/>
                  <a:pt x="138276" y="42863"/>
                  <a:pt x="167878" y="42863"/>
                </a:cubicBezTo>
                <a:lnTo>
                  <a:pt x="171450" y="42863"/>
                </a:lnTo>
                <a:cubicBezTo>
                  <a:pt x="179353" y="42863"/>
                  <a:pt x="185738" y="49247"/>
                  <a:pt x="185738" y="57150"/>
                </a:cubicBezTo>
                <a:cubicBezTo>
                  <a:pt x="185738" y="65053"/>
                  <a:pt x="179353" y="71438"/>
                  <a:pt x="171450" y="71438"/>
                </a:cubicBezTo>
                <a:lnTo>
                  <a:pt x="167878" y="71438"/>
                </a:lnTo>
                <a:cubicBezTo>
                  <a:pt x="154082" y="71438"/>
                  <a:pt x="142875" y="82644"/>
                  <a:pt x="142875" y="96441"/>
                </a:cubicBezTo>
                <a:lnTo>
                  <a:pt x="142875" y="100013"/>
                </a:lnTo>
                <a:lnTo>
                  <a:pt x="171450" y="100013"/>
                </a:lnTo>
                <a:cubicBezTo>
                  <a:pt x="187211" y="100013"/>
                  <a:pt x="200025" y="112827"/>
                  <a:pt x="200025" y="128588"/>
                </a:cubicBezTo>
                <a:lnTo>
                  <a:pt x="200025" y="157163"/>
                </a:lnTo>
                <a:cubicBezTo>
                  <a:pt x="200025" y="172923"/>
                  <a:pt x="187211" y="185738"/>
                  <a:pt x="171450" y="185738"/>
                </a:cubicBezTo>
                <a:lnTo>
                  <a:pt x="142875" y="185738"/>
                </a:lnTo>
                <a:cubicBezTo>
                  <a:pt x="127114" y="185738"/>
                  <a:pt x="114300" y="172923"/>
                  <a:pt x="114300" y="157163"/>
                </a:cubicBezTo>
                <a:lnTo>
                  <a:pt x="114300" y="96441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4" name="Text 31"/>
          <p:cNvSpPr/>
          <p:nvPr/>
        </p:nvSpPr>
        <p:spPr>
          <a:xfrm>
            <a:off x="7968630" y="1876425"/>
            <a:ext cx="154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Commitment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7587630" y="2295525"/>
            <a:ext cx="3981450" cy="1085850"/>
          </a:xfrm>
          <a:custGeom>
            <a:avLst/>
            <a:gdLst/>
            <a:ahLst/>
            <a:cxnLst/>
            <a:rect l="l" t="t" r="r" b="b"/>
            <a:pathLst>
              <a:path w="3981450" h="1085850">
                <a:moveTo>
                  <a:pt x="38100" y="0"/>
                </a:moveTo>
                <a:lnTo>
                  <a:pt x="3905245" y="0"/>
                </a:lnTo>
                <a:cubicBezTo>
                  <a:pt x="3947332" y="0"/>
                  <a:pt x="3981450" y="34118"/>
                  <a:pt x="3981450" y="76205"/>
                </a:cubicBezTo>
                <a:lnTo>
                  <a:pt x="3981450" y="1009645"/>
                </a:lnTo>
                <a:cubicBezTo>
                  <a:pt x="3981450" y="1051732"/>
                  <a:pt x="3947332" y="1085850"/>
                  <a:pt x="3905245" y="1085850"/>
                </a:cubicBez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6" name="Shape 33"/>
          <p:cNvSpPr/>
          <p:nvPr/>
        </p:nvSpPr>
        <p:spPr>
          <a:xfrm>
            <a:off x="7587630" y="2295525"/>
            <a:ext cx="38100" cy="1085850"/>
          </a:xfrm>
          <a:custGeom>
            <a:avLst/>
            <a:gdLst/>
            <a:ahLst/>
            <a:cxnLst/>
            <a:rect l="l" t="t" r="r" b="b"/>
            <a:pathLst>
              <a:path w="38100" h="1085850">
                <a:moveTo>
                  <a:pt x="38100" y="0"/>
                </a:moveTo>
                <a:lnTo>
                  <a:pt x="38100" y="0"/>
                </a:lnTo>
                <a:lnTo>
                  <a:pt x="38100" y="1085850"/>
                </a:ln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7" name="Text 34"/>
          <p:cNvSpPr/>
          <p:nvPr/>
        </p:nvSpPr>
        <p:spPr>
          <a:xfrm>
            <a:off x="7759080" y="2447925"/>
            <a:ext cx="3743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"Value for User, Tech for Good"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7759080" y="2790825"/>
            <a:ext cx="37242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 remain committed to our core principle and continue to deliver meaningful impact through technology.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7568580" y="35290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7673355" y="3614738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1" name="Text 38"/>
          <p:cNvSpPr/>
          <p:nvPr/>
        </p:nvSpPr>
        <p:spPr>
          <a:xfrm>
            <a:off x="7987680" y="3586163"/>
            <a:ext cx="101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Drive innovation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7568580" y="394811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7640017" y="4033837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4" name="Text 41"/>
          <p:cNvSpPr/>
          <p:nvPr/>
        </p:nvSpPr>
        <p:spPr>
          <a:xfrm>
            <a:off x="7987680" y="4005262"/>
            <a:ext cx="216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 to evolving community needs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7568580" y="43672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7656686" y="445293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91652" y="72926"/>
                </a:moveTo>
                <a:lnTo>
                  <a:pt x="41932" y="72926"/>
                </a:lnTo>
                <a:cubicBezTo>
                  <a:pt x="42688" y="89725"/>
                  <a:pt x="46412" y="105195"/>
                  <a:pt x="51699" y="116525"/>
                </a:cubicBezTo>
                <a:cubicBezTo>
                  <a:pt x="54668" y="122906"/>
                  <a:pt x="57872" y="127412"/>
                  <a:pt x="60841" y="130173"/>
                </a:cubicBezTo>
                <a:cubicBezTo>
                  <a:pt x="63758" y="132907"/>
                  <a:pt x="65763" y="133350"/>
                  <a:pt x="66805" y="133350"/>
                </a:cubicBezTo>
                <a:cubicBezTo>
                  <a:pt x="67847" y="133350"/>
                  <a:pt x="69852" y="132907"/>
                  <a:pt x="72770" y="130173"/>
                </a:cubicBezTo>
                <a:cubicBezTo>
                  <a:pt x="75739" y="127412"/>
                  <a:pt x="78942" y="122880"/>
                  <a:pt x="81911" y="116525"/>
                </a:cubicBezTo>
                <a:cubicBezTo>
                  <a:pt x="87198" y="105195"/>
                  <a:pt x="90923" y="89725"/>
                  <a:pt x="91678" y="72926"/>
                </a:cubicBezTo>
                <a:close/>
                <a:moveTo>
                  <a:pt x="41906" y="60424"/>
                </a:moveTo>
                <a:lnTo>
                  <a:pt x="91626" y="60424"/>
                </a:lnTo>
                <a:cubicBezTo>
                  <a:pt x="90897" y="43625"/>
                  <a:pt x="87172" y="28155"/>
                  <a:pt x="81885" y="16825"/>
                </a:cubicBezTo>
                <a:cubicBezTo>
                  <a:pt x="78916" y="10470"/>
                  <a:pt x="75713" y="5938"/>
                  <a:pt x="72743" y="3177"/>
                </a:cubicBezTo>
                <a:cubicBezTo>
                  <a:pt x="69826" y="443"/>
                  <a:pt x="67821" y="0"/>
                  <a:pt x="66779" y="0"/>
                </a:cubicBezTo>
                <a:cubicBezTo>
                  <a:pt x="65737" y="0"/>
                  <a:pt x="63732" y="443"/>
                  <a:pt x="60815" y="3177"/>
                </a:cubicBezTo>
                <a:cubicBezTo>
                  <a:pt x="57846" y="5938"/>
                  <a:pt x="54642" y="10470"/>
                  <a:pt x="51673" y="16825"/>
                </a:cubicBezTo>
                <a:cubicBezTo>
                  <a:pt x="46386" y="28155"/>
                  <a:pt x="42662" y="43625"/>
                  <a:pt x="41906" y="60424"/>
                </a:cubicBezTo>
                <a:close/>
                <a:moveTo>
                  <a:pt x="29405" y="60424"/>
                </a:moveTo>
                <a:cubicBezTo>
                  <a:pt x="30316" y="38130"/>
                  <a:pt x="36072" y="17424"/>
                  <a:pt x="44485" y="3829"/>
                </a:cubicBezTo>
                <a:cubicBezTo>
                  <a:pt x="20497" y="12319"/>
                  <a:pt x="2839" y="34171"/>
                  <a:pt x="391" y="60424"/>
                </a:cubicBezTo>
                <a:lnTo>
                  <a:pt x="29405" y="60424"/>
                </a:lnTo>
                <a:close/>
                <a:moveTo>
                  <a:pt x="391" y="72926"/>
                </a:moveTo>
                <a:cubicBezTo>
                  <a:pt x="2839" y="99179"/>
                  <a:pt x="20497" y="121031"/>
                  <a:pt x="44485" y="129521"/>
                </a:cubicBezTo>
                <a:cubicBezTo>
                  <a:pt x="36072" y="115926"/>
                  <a:pt x="30316" y="95220"/>
                  <a:pt x="29405" y="72926"/>
                </a:cubicBezTo>
                <a:lnTo>
                  <a:pt x="391" y="72926"/>
                </a:lnTo>
                <a:close/>
                <a:moveTo>
                  <a:pt x="104154" y="72926"/>
                </a:moveTo>
                <a:cubicBezTo>
                  <a:pt x="103242" y="95220"/>
                  <a:pt x="97486" y="115926"/>
                  <a:pt x="89074" y="129521"/>
                </a:cubicBezTo>
                <a:cubicBezTo>
                  <a:pt x="113061" y="121005"/>
                  <a:pt x="130719" y="99179"/>
                  <a:pt x="133168" y="72926"/>
                </a:cubicBezTo>
                <a:lnTo>
                  <a:pt x="104154" y="72926"/>
                </a:lnTo>
                <a:close/>
                <a:moveTo>
                  <a:pt x="133168" y="60424"/>
                </a:moveTo>
                <a:cubicBezTo>
                  <a:pt x="130719" y="34171"/>
                  <a:pt x="113061" y="12319"/>
                  <a:pt x="89074" y="3829"/>
                </a:cubicBezTo>
                <a:cubicBezTo>
                  <a:pt x="97486" y="17424"/>
                  <a:pt x="103242" y="38130"/>
                  <a:pt x="104154" y="60424"/>
                </a:cubicBezTo>
                <a:lnTo>
                  <a:pt x="133168" y="6042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7" name="Text 44"/>
          <p:cNvSpPr/>
          <p:nvPr/>
        </p:nvSpPr>
        <p:spPr>
          <a:xfrm>
            <a:off x="7987680" y="4424363"/>
            <a:ext cx="2495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Contribute to inclusive, sustainable future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7335217" y="5676900"/>
            <a:ext cx="4467225" cy="1114425"/>
          </a:xfrm>
          <a:custGeom>
            <a:avLst/>
            <a:gdLst/>
            <a:ahLst/>
            <a:cxnLst/>
            <a:rect l="l" t="t" r="r" b="b"/>
            <a:pathLst>
              <a:path w="4467225" h="1114425">
                <a:moveTo>
                  <a:pt x="114295" y="0"/>
                </a:moveTo>
                <a:lnTo>
                  <a:pt x="4352930" y="0"/>
                </a:lnTo>
                <a:cubicBezTo>
                  <a:pt x="4416011" y="0"/>
                  <a:pt x="4467225" y="51214"/>
                  <a:pt x="4467225" y="114295"/>
                </a:cubicBezTo>
                <a:lnTo>
                  <a:pt x="4467225" y="1000130"/>
                </a:lnTo>
                <a:cubicBezTo>
                  <a:pt x="4467225" y="1063211"/>
                  <a:pt x="4416011" y="1114425"/>
                  <a:pt x="4352930" y="1114425"/>
                </a:cubicBezTo>
                <a:lnTo>
                  <a:pt x="114295" y="1114425"/>
                </a:lnTo>
                <a:cubicBezTo>
                  <a:pt x="51214" y="1114425"/>
                  <a:pt x="0" y="1063211"/>
                  <a:pt x="0" y="10001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497142" y="5872163"/>
            <a:ext cx="414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 for your trust and support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7492380" y="6138863"/>
            <a:ext cx="415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Tencent Holdings Limited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7497142" y="6405563"/>
            <a:ext cx="414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HKEX: 0700 | www.tencent.com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Tencent Holdings Limited - 2025 Interim Report</dc:title>
  <dc:subject>Tencent Holdings Limited - 2025 Interim Report</dc:subject>
  <dc:creator>Kimi</dc:creator>
  <cp:lastModifiedBy>Kimi</cp:lastModifiedBy>
  <cp:revision>1</cp:revision>
  <dcterms:created xsi:type="dcterms:W3CDTF">2026-03-18T07:40:13Z</dcterms:created>
  <dcterms:modified xsi:type="dcterms:W3CDTF">2026-03-18T07:40:13Z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{"Label":"Tencent Holdings Limited - 2025 Interim Report","ContentProducer":"001191110108MACG2KBH8F10000","ProduceID":"19cffe21-aa22-8ca2-8000-0000d6c8a249","ReservedCode1":"","ContentPropagator":"001191110108MACG2KBH8F20000","PropagateID":"19cffe21-aa22-8ca2-8000-0000d6c8a249","ReservedCode2":""}</vt:lpwstr>
  </property>
</Properties>
</file>