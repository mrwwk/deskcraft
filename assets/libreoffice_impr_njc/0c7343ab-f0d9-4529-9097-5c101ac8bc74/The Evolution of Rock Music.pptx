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19.xml.rels" ContentType="application/vnd.openxmlformats-package.relationships+xml"/>
  <Override PartName="/ppt/notesSlides/_rels/notesSlide20.xml.rels" ContentType="application/vnd.openxmlformats-package.relationships+xml"/>
  <Override PartName="/ppt/notesSlides/_rels/notesSlide3.xml.rels" ContentType="application/vnd.openxmlformats-package.relationships+xml"/>
  <Override PartName="/ppt/notesSlides/_rels/notesSlide14.xml.rels" ContentType="application/vnd.openxmlformats-package.relationships+xml"/>
  <Override PartName="/ppt/notesSlides/_rels/notesSlide10.xml.rels" ContentType="application/vnd.openxmlformats-package.relationships+xml"/>
  <Override PartName="/ppt/notesSlides/_rels/notesSlide1.xml.rels" ContentType="application/vnd.openxmlformats-package.relationships+xml"/>
  <Override PartName="/ppt/notesSlides/_rels/notesSlide16.xml.rels" ContentType="application/vnd.openxmlformats-package.relationships+xml"/>
  <Override PartName="/ppt/notesSlides/_rels/notesSlide7.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10.png" ContentType="image/png"/>
  <Override PartName="/ppt/media/image6.png" ContentType="image/png"/>
  <Override PartName="/ppt/media/image11.png" ContentType="image/png"/>
  <Override PartName="/ppt/media/image12.jpeg" ContentType="image/jpeg"/>
  <Override PartName="/ppt/media/image7.png" ContentType="image/png"/>
  <Override PartName="/ppt/media/image8.png" ContentType="image/png"/>
  <Override PartName="/ppt/media/image13.png" ContentType="image/png"/>
  <Override PartName="/ppt/media/image9.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5.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19.xml.rels" ContentType="application/vnd.openxmlformats-package.relationships+xml"/>
  <Override PartName="/ppt/slides/_rels/slide3.xml.rels" ContentType="application/vnd.openxmlformats-package.relationships+xml"/>
  <Override PartName="/ppt/slides/_rels/slide6.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solidFill>
                  <a:srgbClr val="000000"/>
                </a:solidFill>
                <a:latin typeface="Calibri Light"/>
              </a:rPr>
              <a:t>Click to move the slide</a:t>
            </a:r>
            <a:endParaRPr b="0" lang="en-HK" sz="4400" spc="-1" strike="noStrike">
              <a:solidFill>
                <a:srgbClr val="000000"/>
              </a:solidFill>
              <a:latin typeface="Calibri Light"/>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6958F0D8-CC0A-4BD0-A84D-2BF674969043}"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8" name="PlaceHolder 1"/>
          <p:cNvSpPr>
            <a:spLocks noGrp="1"/>
          </p:cNvSpPr>
          <p:nvPr>
            <p:ph type="sldImg"/>
          </p:nvPr>
        </p:nvSpPr>
        <p:spPr>
          <a:xfrm>
            <a:off x="685800" y="1143000"/>
            <a:ext cx="5486040" cy="3085920"/>
          </a:xfrm>
          <a:prstGeom prst="rect">
            <a:avLst/>
          </a:prstGeom>
          <a:ln w="0">
            <a:noFill/>
          </a:ln>
        </p:spPr>
      </p:sp>
      <p:sp>
        <p:nvSpPr>
          <p:cNvPr id="729"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730" name="PlaceHolder 3"/>
          <p:cNvSpPr>
            <a:spLocks noGrp="1"/>
          </p:cNvSpPr>
          <p:nvPr>
            <p:ph type="sldNum" idx="4"/>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DA5F51C2-0538-4787-A92A-AECFDB1B6EE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1" name="PlaceHolder 1"/>
          <p:cNvSpPr>
            <a:spLocks noGrp="1"/>
          </p:cNvSpPr>
          <p:nvPr>
            <p:ph type="sldImg"/>
          </p:nvPr>
        </p:nvSpPr>
        <p:spPr>
          <a:xfrm>
            <a:off x="685800" y="1143000"/>
            <a:ext cx="5486040" cy="3085920"/>
          </a:xfrm>
          <a:prstGeom prst="rect">
            <a:avLst/>
          </a:prstGeom>
          <a:ln w="0">
            <a:noFill/>
          </a:ln>
        </p:spPr>
      </p:sp>
      <p:sp>
        <p:nvSpPr>
          <p:cNvPr id="732"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733" name="PlaceHolder 3"/>
          <p:cNvSpPr>
            <a:spLocks noGrp="1"/>
          </p:cNvSpPr>
          <p:nvPr>
            <p:ph type="sldNum" idx="5"/>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A75081D4-86CA-45EC-B36E-4D8534246E4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4" name="PlaceHolder 1"/>
          <p:cNvSpPr>
            <a:spLocks noGrp="1"/>
          </p:cNvSpPr>
          <p:nvPr>
            <p:ph type="sldImg"/>
          </p:nvPr>
        </p:nvSpPr>
        <p:spPr>
          <a:xfrm>
            <a:off x="685800" y="1143000"/>
            <a:ext cx="5486040" cy="3085920"/>
          </a:xfrm>
          <a:prstGeom prst="rect">
            <a:avLst/>
          </a:prstGeom>
          <a:ln w="0">
            <a:noFill/>
          </a:ln>
        </p:spPr>
      </p:sp>
      <p:sp>
        <p:nvSpPr>
          <p:cNvPr id="735"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736" name="PlaceHolder 3"/>
          <p:cNvSpPr>
            <a:spLocks noGrp="1"/>
          </p:cNvSpPr>
          <p:nvPr>
            <p:ph type="sldNum" idx="6"/>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0BF0951D-D9D3-4A2F-88DD-7389EA1E9A7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7" name="PlaceHolder 1"/>
          <p:cNvSpPr>
            <a:spLocks noGrp="1"/>
          </p:cNvSpPr>
          <p:nvPr>
            <p:ph type="sldImg"/>
          </p:nvPr>
        </p:nvSpPr>
        <p:spPr>
          <a:xfrm>
            <a:off x="685800" y="1143000"/>
            <a:ext cx="5486040" cy="3085920"/>
          </a:xfrm>
          <a:prstGeom prst="rect">
            <a:avLst/>
          </a:prstGeom>
          <a:ln w="0">
            <a:noFill/>
          </a:ln>
        </p:spPr>
      </p:sp>
      <p:sp>
        <p:nvSpPr>
          <p:cNvPr id="738"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739" name="PlaceHolder 3"/>
          <p:cNvSpPr>
            <a:spLocks noGrp="1"/>
          </p:cNvSpPr>
          <p:nvPr>
            <p:ph type="sldNum" idx="7"/>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3D28747F-5698-4DA6-9AC2-499111B4CC7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0" name="PlaceHolder 1"/>
          <p:cNvSpPr>
            <a:spLocks noGrp="1"/>
          </p:cNvSpPr>
          <p:nvPr>
            <p:ph type="sldImg"/>
          </p:nvPr>
        </p:nvSpPr>
        <p:spPr>
          <a:xfrm>
            <a:off x="685800" y="1143000"/>
            <a:ext cx="5486040" cy="3085920"/>
          </a:xfrm>
          <a:prstGeom prst="rect">
            <a:avLst/>
          </a:prstGeom>
          <a:ln w="0">
            <a:noFill/>
          </a:ln>
        </p:spPr>
      </p:sp>
      <p:sp>
        <p:nvSpPr>
          <p:cNvPr id="741"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742" name="PlaceHolder 3"/>
          <p:cNvSpPr>
            <a:spLocks noGrp="1"/>
          </p:cNvSpPr>
          <p:nvPr>
            <p:ph type="sldNum" idx="8"/>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2D621A4A-503D-436A-9195-3337F40BA62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3" name="PlaceHolder 1"/>
          <p:cNvSpPr>
            <a:spLocks noGrp="1"/>
          </p:cNvSpPr>
          <p:nvPr>
            <p:ph type="sldImg"/>
          </p:nvPr>
        </p:nvSpPr>
        <p:spPr>
          <a:xfrm>
            <a:off x="685800" y="1143000"/>
            <a:ext cx="5486040" cy="3085920"/>
          </a:xfrm>
          <a:prstGeom prst="rect">
            <a:avLst/>
          </a:prstGeom>
          <a:ln w="0">
            <a:noFill/>
          </a:ln>
        </p:spPr>
      </p:sp>
      <p:sp>
        <p:nvSpPr>
          <p:cNvPr id="744"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745" name="PlaceHolder 3"/>
          <p:cNvSpPr>
            <a:spLocks noGrp="1"/>
          </p:cNvSpPr>
          <p:nvPr>
            <p:ph type="sldNum" idx="9"/>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6DAFD15B-248F-420D-A6C1-DBD34D0C660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6" name="PlaceHolder 1"/>
          <p:cNvSpPr>
            <a:spLocks noGrp="1"/>
          </p:cNvSpPr>
          <p:nvPr>
            <p:ph type="sldImg"/>
          </p:nvPr>
        </p:nvSpPr>
        <p:spPr>
          <a:xfrm>
            <a:off x="685800" y="1143000"/>
            <a:ext cx="5486040" cy="3085920"/>
          </a:xfrm>
          <a:prstGeom prst="rect">
            <a:avLst/>
          </a:prstGeom>
          <a:ln w="0">
            <a:noFill/>
          </a:ln>
        </p:spPr>
      </p:sp>
      <p:sp>
        <p:nvSpPr>
          <p:cNvPr id="747"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748" name="PlaceHolder 3"/>
          <p:cNvSpPr>
            <a:spLocks noGrp="1"/>
          </p:cNvSpPr>
          <p:nvPr>
            <p:ph type="sldNum" idx="10"/>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72DB99F5-C143-43EF-B952-FB75C90D50A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9" name="PlaceHolder 1"/>
          <p:cNvSpPr>
            <a:spLocks noGrp="1"/>
          </p:cNvSpPr>
          <p:nvPr>
            <p:ph type="sldImg"/>
          </p:nvPr>
        </p:nvSpPr>
        <p:spPr>
          <a:xfrm>
            <a:off x="685800" y="1143000"/>
            <a:ext cx="5486040" cy="3085920"/>
          </a:xfrm>
          <a:prstGeom prst="rect">
            <a:avLst/>
          </a:prstGeom>
          <a:ln w="0">
            <a:noFill/>
          </a:ln>
        </p:spPr>
      </p:sp>
      <p:sp>
        <p:nvSpPr>
          <p:cNvPr id="750"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751" name="PlaceHolder 3"/>
          <p:cNvSpPr>
            <a:spLocks noGrp="1"/>
          </p:cNvSpPr>
          <p:nvPr>
            <p:ph type="sldNum" idx="11"/>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896215E7-33E0-4CBC-AD13-73040F73FDA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2" name="PlaceHolder 1"/>
          <p:cNvSpPr>
            <a:spLocks noGrp="1"/>
          </p:cNvSpPr>
          <p:nvPr>
            <p:ph type="sldImg"/>
          </p:nvPr>
        </p:nvSpPr>
        <p:spPr>
          <a:xfrm>
            <a:off x="685800" y="1143000"/>
            <a:ext cx="5486040" cy="3085920"/>
          </a:xfrm>
          <a:prstGeom prst="rect">
            <a:avLst/>
          </a:prstGeom>
          <a:ln w="0">
            <a:noFill/>
          </a:ln>
        </p:spPr>
      </p:sp>
      <p:sp>
        <p:nvSpPr>
          <p:cNvPr id="753"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754" name="PlaceHolder 3"/>
          <p:cNvSpPr>
            <a:spLocks noGrp="1"/>
          </p:cNvSpPr>
          <p:nvPr>
            <p:ph type="sldNum" idx="12"/>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C46AB63E-A1AE-4980-A6B0-C7A3CF4AA67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5" name="PlaceHolder 1"/>
          <p:cNvSpPr>
            <a:spLocks noGrp="1"/>
          </p:cNvSpPr>
          <p:nvPr>
            <p:ph type="sldImg"/>
          </p:nvPr>
        </p:nvSpPr>
        <p:spPr>
          <a:xfrm>
            <a:off x="685800" y="1143000"/>
            <a:ext cx="5486040" cy="3085920"/>
          </a:xfrm>
          <a:prstGeom prst="rect">
            <a:avLst/>
          </a:prstGeom>
          <a:ln w="0">
            <a:noFill/>
          </a:ln>
        </p:spPr>
      </p:sp>
      <p:sp>
        <p:nvSpPr>
          <p:cNvPr id="756"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757" name="PlaceHolder 3"/>
          <p:cNvSpPr>
            <a:spLocks noGrp="1"/>
          </p:cNvSpPr>
          <p:nvPr>
            <p:ph type="sldNum" idx="13"/>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66AC044A-A7F5-448F-AF0E-8F6E1E39467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8" name="PlaceHolder 1"/>
          <p:cNvSpPr>
            <a:spLocks noGrp="1"/>
          </p:cNvSpPr>
          <p:nvPr>
            <p:ph type="sldImg"/>
          </p:nvPr>
        </p:nvSpPr>
        <p:spPr>
          <a:xfrm>
            <a:off x="685800" y="1143000"/>
            <a:ext cx="5486040" cy="3085920"/>
          </a:xfrm>
          <a:prstGeom prst="rect">
            <a:avLst/>
          </a:prstGeom>
          <a:ln w="0">
            <a:noFill/>
          </a:ln>
        </p:spPr>
      </p:sp>
      <p:sp>
        <p:nvSpPr>
          <p:cNvPr id="759"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760" name="PlaceHolder 3"/>
          <p:cNvSpPr>
            <a:spLocks noGrp="1"/>
          </p:cNvSpPr>
          <p:nvPr>
            <p:ph type="sldNum" idx="14"/>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04746769-CB32-481E-A455-C0823298B49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1" name="PlaceHolder 1"/>
          <p:cNvSpPr>
            <a:spLocks noGrp="1"/>
          </p:cNvSpPr>
          <p:nvPr>
            <p:ph type="sldImg"/>
          </p:nvPr>
        </p:nvSpPr>
        <p:spPr>
          <a:xfrm>
            <a:off x="685800" y="1143000"/>
            <a:ext cx="5486040" cy="3085920"/>
          </a:xfrm>
          <a:prstGeom prst="rect">
            <a:avLst/>
          </a:prstGeom>
          <a:ln w="0">
            <a:noFill/>
          </a:ln>
        </p:spPr>
      </p:sp>
      <p:sp>
        <p:nvSpPr>
          <p:cNvPr id="762"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763" name="PlaceHolder 3"/>
          <p:cNvSpPr>
            <a:spLocks noGrp="1"/>
          </p:cNvSpPr>
          <p:nvPr>
            <p:ph type="sldNum" idx="15"/>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85A15710-50A9-4C4E-A248-E513E12B71F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4" name="PlaceHolder 1"/>
          <p:cNvSpPr>
            <a:spLocks noGrp="1"/>
          </p:cNvSpPr>
          <p:nvPr>
            <p:ph type="sldImg"/>
          </p:nvPr>
        </p:nvSpPr>
        <p:spPr>
          <a:xfrm>
            <a:off x="685800" y="1143000"/>
            <a:ext cx="5486040" cy="3085920"/>
          </a:xfrm>
          <a:prstGeom prst="rect">
            <a:avLst/>
          </a:prstGeom>
          <a:ln w="0">
            <a:noFill/>
          </a:ln>
        </p:spPr>
      </p:sp>
      <p:sp>
        <p:nvSpPr>
          <p:cNvPr id="765"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766" name="PlaceHolder 3"/>
          <p:cNvSpPr>
            <a:spLocks noGrp="1"/>
          </p:cNvSpPr>
          <p:nvPr>
            <p:ph type="sldNum" idx="16"/>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F95BA6A6-1ABA-456D-AD7F-42810F037DE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7" name="PlaceHolder 1"/>
          <p:cNvSpPr>
            <a:spLocks noGrp="1"/>
          </p:cNvSpPr>
          <p:nvPr>
            <p:ph type="sldImg"/>
          </p:nvPr>
        </p:nvSpPr>
        <p:spPr>
          <a:xfrm>
            <a:off x="685800" y="1143000"/>
            <a:ext cx="5486040" cy="3085920"/>
          </a:xfrm>
          <a:prstGeom prst="rect">
            <a:avLst/>
          </a:prstGeom>
          <a:ln w="0">
            <a:noFill/>
          </a:ln>
        </p:spPr>
      </p:sp>
      <p:sp>
        <p:nvSpPr>
          <p:cNvPr id="768"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769" name="PlaceHolder 3"/>
          <p:cNvSpPr>
            <a:spLocks noGrp="1"/>
          </p:cNvSpPr>
          <p:nvPr>
            <p:ph type="sldNum" idx="17"/>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F819F68F-71B1-4B4B-8D89-A192977B4EA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0" name="PlaceHolder 1"/>
          <p:cNvSpPr>
            <a:spLocks noGrp="1"/>
          </p:cNvSpPr>
          <p:nvPr>
            <p:ph type="sldImg"/>
          </p:nvPr>
        </p:nvSpPr>
        <p:spPr>
          <a:xfrm>
            <a:off x="685800" y="1143000"/>
            <a:ext cx="5486040" cy="3085920"/>
          </a:xfrm>
          <a:prstGeom prst="rect">
            <a:avLst/>
          </a:prstGeom>
          <a:ln w="0">
            <a:noFill/>
          </a:ln>
        </p:spPr>
      </p:sp>
      <p:sp>
        <p:nvSpPr>
          <p:cNvPr id="771"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772" name="PlaceHolder 3"/>
          <p:cNvSpPr>
            <a:spLocks noGrp="1"/>
          </p:cNvSpPr>
          <p:nvPr>
            <p:ph type="sldNum" idx="18"/>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17A699F6-18F4-43D1-80AC-CD1BF1AD4EC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3" name="PlaceHolder 1"/>
          <p:cNvSpPr>
            <a:spLocks noGrp="1"/>
          </p:cNvSpPr>
          <p:nvPr>
            <p:ph type="sldImg"/>
          </p:nvPr>
        </p:nvSpPr>
        <p:spPr>
          <a:xfrm>
            <a:off x="685800" y="1143000"/>
            <a:ext cx="5486040" cy="3085920"/>
          </a:xfrm>
          <a:prstGeom prst="rect">
            <a:avLst/>
          </a:prstGeom>
          <a:ln w="0">
            <a:noFill/>
          </a:ln>
        </p:spPr>
      </p:sp>
      <p:sp>
        <p:nvSpPr>
          <p:cNvPr id="774"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775" name="PlaceHolder 3"/>
          <p:cNvSpPr>
            <a:spLocks noGrp="1"/>
          </p:cNvSpPr>
          <p:nvPr>
            <p:ph type="sldNum" idx="19"/>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AAA8D163-B496-4DC3-83A2-18E789BADF2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6" name="PlaceHolder 1"/>
          <p:cNvSpPr>
            <a:spLocks noGrp="1"/>
          </p:cNvSpPr>
          <p:nvPr>
            <p:ph type="sldImg"/>
          </p:nvPr>
        </p:nvSpPr>
        <p:spPr>
          <a:xfrm>
            <a:off x="685800" y="1143000"/>
            <a:ext cx="5486040" cy="3085920"/>
          </a:xfrm>
          <a:prstGeom prst="rect">
            <a:avLst/>
          </a:prstGeom>
          <a:ln w="0">
            <a:noFill/>
          </a:ln>
        </p:spPr>
      </p:sp>
      <p:sp>
        <p:nvSpPr>
          <p:cNvPr id="777"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778" name="PlaceHolder 3"/>
          <p:cNvSpPr>
            <a:spLocks noGrp="1"/>
          </p:cNvSpPr>
          <p:nvPr>
            <p:ph type="sldNum" idx="20"/>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808974F8-945F-4E82-8544-08D5DC77ACB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9" name="PlaceHolder 1"/>
          <p:cNvSpPr>
            <a:spLocks noGrp="1"/>
          </p:cNvSpPr>
          <p:nvPr>
            <p:ph type="sldImg"/>
          </p:nvPr>
        </p:nvSpPr>
        <p:spPr>
          <a:xfrm>
            <a:off x="685800" y="1143000"/>
            <a:ext cx="5486040" cy="3085920"/>
          </a:xfrm>
          <a:prstGeom prst="rect">
            <a:avLst/>
          </a:prstGeom>
          <a:ln w="0">
            <a:noFill/>
          </a:ln>
        </p:spPr>
      </p:sp>
      <p:sp>
        <p:nvSpPr>
          <p:cNvPr id="780"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781" name="PlaceHolder 3"/>
          <p:cNvSpPr>
            <a:spLocks noGrp="1"/>
          </p:cNvSpPr>
          <p:nvPr>
            <p:ph type="sldNum" idx="21"/>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319DF9A2-4EBE-4E3A-A71F-97246462FE4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2" name="PlaceHolder 1"/>
          <p:cNvSpPr>
            <a:spLocks noGrp="1"/>
          </p:cNvSpPr>
          <p:nvPr>
            <p:ph type="sldImg"/>
          </p:nvPr>
        </p:nvSpPr>
        <p:spPr>
          <a:xfrm>
            <a:off x="685800" y="1143000"/>
            <a:ext cx="5486040" cy="3085920"/>
          </a:xfrm>
          <a:prstGeom prst="rect">
            <a:avLst/>
          </a:prstGeom>
          <a:ln w="0">
            <a:noFill/>
          </a:ln>
        </p:spPr>
      </p:sp>
      <p:sp>
        <p:nvSpPr>
          <p:cNvPr id="783"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784" name="PlaceHolder 3"/>
          <p:cNvSpPr>
            <a:spLocks noGrp="1"/>
          </p:cNvSpPr>
          <p:nvPr>
            <p:ph type="sldNum" idx="22"/>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D4FCE9CB-17B4-4A10-9FC3-FFAE5A01D7D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5" name="PlaceHolder 1"/>
          <p:cNvSpPr>
            <a:spLocks noGrp="1"/>
          </p:cNvSpPr>
          <p:nvPr>
            <p:ph type="sldImg"/>
          </p:nvPr>
        </p:nvSpPr>
        <p:spPr>
          <a:xfrm>
            <a:off x="685800" y="1143000"/>
            <a:ext cx="5486040" cy="3085920"/>
          </a:xfrm>
          <a:prstGeom prst="rect">
            <a:avLst/>
          </a:prstGeom>
          <a:ln w="0">
            <a:noFill/>
          </a:ln>
        </p:spPr>
      </p:sp>
      <p:sp>
        <p:nvSpPr>
          <p:cNvPr id="786"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787" name="PlaceHolder 3"/>
          <p:cNvSpPr>
            <a:spLocks noGrp="1"/>
          </p:cNvSpPr>
          <p:nvPr>
            <p:ph type="sldNum" idx="23"/>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B6BD76BC-9603-4B77-91FB-D44855C10DC5}"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HK" sz="4400" spc="-1" strike="noStrike">
                <a:solidFill>
                  <a:srgbClr val="000000"/>
                </a:solidFill>
                <a:latin typeface="Calibri Light"/>
              </a:rPr>
              <a:t>Click to edit the title text format</a:t>
            </a:r>
            <a:endParaRPr b="0" lang="en-HK" sz="4400" spc="-1" strike="noStrike">
              <a:solidFill>
                <a:srgbClr val="000000"/>
              </a:solidFill>
              <a:latin typeface="Calibri Light"/>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solidFill>
                  <a:srgbClr val="000000"/>
                </a:solidFill>
                <a:latin typeface="Calibri"/>
              </a:rPr>
              <a:t>Click to edit the outline text format</a:t>
            </a:r>
            <a:endParaRPr b="0" lang="en-HK" sz="3200" spc="-1" strike="noStrike">
              <a:solidFill>
                <a:srgbClr val="000000"/>
              </a:solidFill>
              <a:latin typeface="Calibri"/>
            </a:endParaRPr>
          </a:p>
          <a:p>
            <a:pPr lvl="1" marL="864000" indent="-324000">
              <a:spcBef>
                <a:spcPts val="1134"/>
              </a:spcBef>
              <a:buClr>
                <a:srgbClr val="000000"/>
              </a:buClr>
              <a:buSzPct val="75000"/>
              <a:buFont typeface="Symbol" charset="2"/>
              <a:buChar char=""/>
            </a:pPr>
            <a:r>
              <a:rPr b="0" lang="en-HK" sz="2400" spc="-1" strike="noStrike">
                <a:solidFill>
                  <a:srgbClr val="000000"/>
                </a:solidFill>
                <a:latin typeface="Calibri"/>
              </a:rPr>
              <a:t>Second Outline Level</a:t>
            </a:r>
            <a:endParaRPr b="0" lang="en-HK" sz="2400" spc="-1" strike="noStrike">
              <a:solidFill>
                <a:srgbClr val="000000"/>
              </a:solidFill>
              <a:latin typeface="Calibri"/>
            </a:endParaRPr>
          </a:p>
          <a:p>
            <a:pPr lvl="2" marL="1296000" indent="-288000">
              <a:spcBef>
                <a:spcPts val="850"/>
              </a:spcBef>
              <a:buClr>
                <a:srgbClr val="000000"/>
              </a:buClr>
              <a:buSzPct val="45000"/>
              <a:buFont typeface="Wingdings" charset="2"/>
              <a:buChar char=""/>
            </a:pPr>
            <a:r>
              <a:rPr b="0" lang="en-HK" sz="2000" spc="-1" strike="noStrike">
                <a:solidFill>
                  <a:srgbClr val="000000"/>
                </a:solidFill>
                <a:latin typeface="Calibri"/>
              </a:rPr>
              <a:t>Third Outline Level</a:t>
            </a:r>
            <a:endParaRPr b="0" lang="en-HK" sz="2000" spc="-1" strike="noStrike">
              <a:solidFill>
                <a:srgbClr val="000000"/>
              </a:solidFill>
              <a:latin typeface="Calibri"/>
            </a:endParaRPr>
          </a:p>
          <a:p>
            <a:pPr lvl="3" marL="1728000" indent="-216000">
              <a:spcBef>
                <a:spcPts val="567"/>
              </a:spcBef>
              <a:buClr>
                <a:srgbClr val="000000"/>
              </a:buClr>
              <a:buSzPct val="75000"/>
              <a:buFont typeface="Symbol" charset="2"/>
              <a:buChar char=""/>
            </a:pPr>
            <a:r>
              <a:rPr b="0" lang="en-HK" sz="2000" spc="-1" strike="noStrike">
                <a:solidFill>
                  <a:srgbClr val="000000"/>
                </a:solidFill>
                <a:latin typeface="Calibri"/>
              </a:rPr>
              <a:t>Fourth Outline Level</a:t>
            </a:r>
            <a:endParaRPr b="0" lang="en-HK" sz="2000" spc="-1" strike="noStrike">
              <a:solidFill>
                <a:srgbClr val="000000"/>
              </a:solidFill>
              <a:latin typeface="Calibri"/>
            </a:endParaRPr>
          </a:p>
          <a:p>
            <a:pPr lvl="4" marL="2160000" indent="-216000">
              <a:spcBef>
                <a:spcPts val="283"/>
              </a:spcBef>
              <a:buClr>
                <a:srgbClr val="000000"/>
              </a:buClr>
              <a:buSzPct val="45000"/>
              <a:buFont typeface="Wingdings" charset="2"/>
              <a:buChar char=""/>
            </a:pPr>
            <a:r>
              <a:rPr b="0" lang="en-HK" sz="2000" spc="-1" strike="noStrike">
                <a:solidFill>
                  <a:srgbClr val="000000"/>
                </a:solidFill>
                <a:latin typeface="Calibri"/>
              </a:rPr>
              <a:t>Fifth Outline Level</a:t>
            </a:r>
            <a:endParaRPr b="0" lang="en-HK" sz="2000" spc="-1" strike="noStrike">
              <a:solidFill>
                <a:srgbClr val="000000"/>
              </a:solidFill>
              <a:latin typeface="Calibri"/>
            </a:endParaRPr>
          </a:p>
          <a:p>
            <a:pPr lvl="5" marL="2592000" indent="-216000">
              <a:spcBef>
                <a:spcPts val="283"/>
              </a:spcBef>
              <a:buClr>
                <a:srgbClr val="000000"/>
              </a:buClr>
              <a:buSzPct val="45000"/>
              <a:buFont typeface="Wingdings" charset="2"/>
              <a:buChar char=""/>
            </a:pPr>
            <a:r>
              <a:rPr b="0" lang="en-HK" sz="2000" spc="-1" strike="noStrike">
                <a:solidFill>
                  <a:srgbClr val="000000"/>
                </a:solidFill>
                <a:latin typeface="Calibri"/>
              </a:rPr>
              <a:t>Sixth Outline Level</a:t>
            </a:r>
            <a:endParaRPr b="0" lang="en-HK" sz="2000" spc="-1" strike="noStrike">
              <a:solidFill>
                <a:srgbClr val="000000"/>
              </a:solidFill>
              <a:latin typeface="Calibri"/>
            </a:endParaRPr>
          </a:p>
          <a:p>
            <a:pPr lvl="6" marL="3024000" indent="-216000">
              <a:spcBef>
                <a:spcPts val="283"/>
              </a:spcBef>
              <a:buClr>
                <a:srgbClr val="000000"/>
              </a:buClr>
              <a:buSzPct val="45000"/>
              <a:buFont typeface="Wingdings" charset="2"/>
              <a:buChar char=""/>
            </a:pPr>
            <a:r>
              <a:rPr b="0" lang="en-HK" sz="2000" spc="-1" strike="noStrike">
                <a:solidFill>
                  <a:srgbClr val="000000"/>
                </a:solidFill>
                <a:latin typeface="Calibri"/>
              </a:rPr>
              <a:t>Seventh Outline Level</a:t>
            </a:r>
            <a:endParaRPr b="0" lang="en-HK" sz="2000" spc="-1" strike="noStrike">
              <a:solidFill>
                <a:srgbClr val="000000"/>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slideLayout" Target="../slideLayouts/slideLayout1.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 Id="rId3" Type="http://schemas.openxmlformats.org/officeDocument/2006/relationships/notesSlide" Target="../notesSlides/notesSlide20.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4" name="Image 0"/>
          <p:cNvSpPr/>
          <p:nvPr/>
        </p:nvSpPr>
        <p:spPr>
          <a:xfrm>
            <a:off x="0" y="0"/>
            <a:ext cx="12191760" cy="6857640"/>
          </a:xfrm>
          <a:prstGeom prst="roundRect">
            <a:avLst>
              <a:gd name="adj" fmla="val 0"/>
            </a:avLst>
          </a:prstGeom>
          <a:blipFill rotWithShape="0">
            <a:blip r:embed="rId1"/>
            <a:srcRect/>
            <a:stretch/>
          </a:blipFill>
          <a:ln w="0">
            <a:noFill/>
          </a:ln>
        </p:spPr>
        <p:style>
          <a:lnRef idx="0"/>
          <a:fillRef idx="0"/>
          <a:effectRef idx="0"/>
          <a:fontRef idx="minor"/>
        </p:style>
      </p:sp>
      <p:sp>
        <p:nvSpPr>
          <p:cNvPr id="45" name="Shape 0"/>
          <p:cNvSpPr/>
          <p:nvPr/>
        </p:nvSpPr>
        <p:spPr>
          <a:xfrm>
            <a:off x="0" y="0"/>
            <a:ext cx="12191760" cy="68576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0"/>
                </a:srgbClr>
              </a:gs>
            </a:gsLst>
            <a:lin ang="2700000"/>
          </a:gradFill>
          <a:ln w="0">
            <a:noFill/>
          </a:ln>
        </p:spPr>
        <p:style>
          <a:lnRef idx="0"/>
          <a:fillRef idx="0"/>
          <a:effectRef idx="0"/>
          <a:fontRef idx="minor"/>
        </p:style>
      </p:sp>
      <p:sp>
        <p:nvSpPr>
          <p:cNvPr id="46" name="Shape 1"/>
          <p:cNvSpPr/>
          <p:nvPr/>
        </p:nvSpPr>
        <p:spPr>
          <a:xfrm>
            <a:off x="336600" y="781200"/>
            <a:ext cx="2219040" cy="418680"/>
          </a:xfrm>
          <a:custGeom>
            <a:avLst/>
            <a:gdLst/>
            <a:ahLst/>
            <a:rect l="l" t="t" r="r" b="b"/>
            <a:pathLst>
              <a:path w="2219325" h="419100">
                <a:moveTo>
                  <a:pt x="0" y="0"/>
                </a:moveTo>
                <a:lnTo>
                  <a:pt x="2219325" y="0"/>
                </a:lnTo>
                <a:lnTo>
                  <a:pt x="2219325" y="419100"/>
                </a:lnTo>
                <a:lnTo>
                  <a:pt x="0" y="419100"/>
                </a:lnTo>
                <a:lnTo>
                  <a:pt x="0" y="0"/>
                </a:lnTo>
                <a:close/>
              </a:path>
            </a:pathLst>
          </a:custGeom>
          <a:solidFill>
            <a:srgbClr val="ddff00"/>
          </a:solidFill>
          <a:ln w="0">
            <a:noFill/>
          </a:ln>
        </p:spPr>
        <p:style>
          <a:lnRef idx="0"/>
          <a:fillRef idx="0"/>
          <a:effectRef idx="0"/>
          <a:fontRef idx="minor"/>
        </p:style>
      </p:sp>
      <p:sp>
        <p:nvSpPr>
          <p:cNvPr id="47" name="Text 2"/>
          <p:cNvSpPr/>
          <p:nvPr/>
        </p:nvSpPr>
        <p:spPr>
          <a:xfrm>
            <a:off x="609480" y="857160"/>
            <a:ext cx="185688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4400" spc="148" strike="noStrike">
                <a:solidFill>
                  <a:srgbClr val="ff0000"/>
                </a:solidFill>
                <a:latin typeface="Liter"/>
                <a:ea typeface="Liter"/>
              </a:rPr>
              <a:t>LECTURE SERIES</a:t>
            </a:r>
            <a:endParaRPr b="0" lang="en-HK" sz="4400" spc="-1" strike="noStrike">
              <a:latin typeface="Arial"/>
            </a:endParaRPr>
          </a:p>
        </p:txBody>
      </p:sp>
      <p:sp>
        <p:nvSpPr>
          <p:cNvPr id="48" name="Text 3"/>
          <p:cNvSpPr/>
          <p:nvPr/>
        </p:nvSpPr>
        <p:spPr>
          <a:xfrm>
            <a:off x="380880" y="1733400"/>
            <a:ext cx="12001320" cy="3428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400" spc="-452" strike="noStrike">
                <a:solidFill>
                  <a:srgbClr val="ff0000"/>
                </a:solidFill>
                <a:latin typeface="Liter"/>
                <a:ea typeface="Liter"/>
              </a:rPr>
              <a:t>THE</a:t>
            </a:r>
            <a:endParaRPr b="0" lang="en-HK" sz="4400" spc="-1" strike="noStrike">
              <a:latin typeface="Arial"/>
            </a:endParaRPr>
          </a:p>
          <a:p>
            <a:pPr>
              <a:lnSpc>
                <a:spcPct val="80000"/>
              </a:lnSpc>
              <a:buNone/>
            </a:pPr>
            <a:r>
              <a:rPr b="1" lang="en-US" sz="4400" spc="-452" strike="noStrike">
                <a:solidFill>
                  <a:srgbClr val="ff0000"/>
                </a:solidFill>
                <a:latin typeface="Liter"/>
                <a:ea typeface="Liter"/>
              </a:rPr>
              <a:t>EVOLUTION</a:t>
            </a:r>
            <a:endParaRPr b="0" lang="en-HK" sz="4400" spc="-1" strike="noStrike">
              <a:latin typeface="Arial"/>
            </a:endParaRPr>
          </a:p>
          <a:p>
            <a:pPr>
              <a:lnSpc>
                <a:spcPct val="80000"/>
              </a:lnSpc>
              <a:buNone/>
            </a:pPr>
            <a:r>
              <a:rPr b="1" lang="en-US" sz="4400" spc="-452" strike="noStrike">
                <a:solidFill>
                  <a:srgbClr val="ff0000"/>
                </a:solidFill>
                <a:latin typeface="Liter"/>
                <a:ea typeface="Liter"/>
              </a:rPr>
              <a:t>OF ROCK</a:t>
            </a:r>
            <a:endParaRPr b="0" lang="en-HK" sz="4400" spc="-1" strike="noStrike">
              <a:latin typeface="Arial"/>
            </a:endParaRPr>
          </a:p>
        </p:txBody>
      </p:sp>
      <p:sp>
        <p:nvSpPr>
          <p:cNvPr id="49" name="Shape 4"/>
          <p:cNvSpPr/>
          <p:nvPr/>
        </p:nvSpPr>
        <p:spPr>
          <a:xfrm>
            <a:off x="380880" y="5391000"/>
            <a:ext cx="914040" cy="37800"/>
          </a:xfrm>
          <a:custGeom>
            <a:avLst/>
            <a:gdLst/>
            <a:ahLst/>
            <a:rect l="l" t="t" r="r" b="b"/>
            <a:pathLst>
              <a:path w="914400" h="38100">
                <a:moveTo>
                  <a:pt x="0" y="0"/>
                </a:moveTo>
                <a:lnTo>
                  <a:pt x="914400" y="0"/>
                </a:lnTo>
                <a:lnTo>
                  <a:pt x="914400" y="38100"/>
                </a:lnTo>
                <a:lnTo>
                  <a:pt x="0" y="38100"/>
                </a:lnTo>
                <a:lnTo>
                  <a:pt x="0" y="0"/>
                </a:lnTo>
                <a:close/>
              </a:path>
            </a:pathLst>
          </a:custGeom>
          <a:solidFill>
            <a:srgbClr val="ddff00"/>
          </a:solidFill>
          <a:ln w="0">
            <a:noFill/>
          </a:ln>
        </p:spPr>
        <p:style>
          <a:lnRef idx="0"/>
          <a:fillRef idx="0"/>
          <a:effectRef idx="0"/>
          <a:fontRef idx="minor"/>
        </p:style>
      </p:sp>
      <p:sp>
        <p:nvSpPr>
          <p:cNvPr id="50" name="Shape 5"/>
          <p:cNvSpPr/>
          <p:nvPr/>
        </p:nvSpPr>
        <p:spPr>
          <a:xfrm>
            <a:off x="1447920" y="5391000"/>
            <a:ext cx="456840" cy="37800"/>
          </a:xfrm>
          <a:custGeom>
            <a:avLst/>
            <a:gdLst/>
            <a:ahLst/>
            <a:rect l="l" t="t" r="r" b="b"/>
            <a:pathLst>
              <a:path w="457200" h="38100">
                <a:moveTo>
                  <a:pt x="0" y="0"/>
                </a:moveTo>
                <a:lnTo>
                  <a:pt x="457200" y="0"/>
                </a:lnTo>
                <a:lnTo>
                  <a:pt x="457200" y="38100"/>
                </a:lnTo>
                <a:lnTo>
                  <a:pt x="0" y="38100"/>
                </a:lnTo>
                <a:lnTo>
                  <a:pt x="0" y="0"/>
                </a:lnTo>
                <a:close/>
              </a:path>
            </a:pathLst>
          </a:custGeom>
          <a:solidFill>
            <a:srgbClr val="ddff00"/>
          </a:solidFill>
          <a:ln w="0">
            <a:noFill/>
          </a:ln>
        </p:spPr>
        <p:style>
          <a:lnRef idx="0"/>
          <a:fillRef idx="0"/>
          <a:effectRef idx="0"/>
          <a:fontRef idx="minor"/>
        </p:style>
      </p:sp>
      <p:sp>
        <p:nvSpPr>
          <p:cNvPr id="51" name="Shape 6"/>
          <p:cNvSpPr/>
          <p:nvPr/>
        </p:nvSpPr>
        <p:spPr>
          <a:xfrm>
            <a:off x="2057400" y="5391000"/>
            <a:ext cx="228240" cy="37800"/>
          </a:xfrm>
          <a:custGeom>
            <a:avLst/>
            <a:gdLst/>
            <a:ahLst/>
            <a:rect l="l" t="t" r="r" b="b"/>
            <a:pathLst>
              <a:path w="228600" h="38100">
                <a:moveTo>
                  <a:pt x="0" y="0"/>
                </a:moveTo>
                <a:lnTo>
                  <a:pt x="228600" y="0"/>
                </a:lnTo>
                <a:lnTo>
                  <a:pt x="228600" y="38100"/>
                </a:lnTo>
                <a:lnTo>
                  <a:pt x="0" y="38100"/>
                </a:lnTo>
                <a:lnTo>
                  <a:pt x="0" y="0"/>
                </a:lnTo>
                <a:close/>
              </a:path>
            </a:pathLst>
          </a:custGeom>
          <a:solidFill>
            <a:srgbClr val="ddff00"/>
          </a:solidFill>
          <a:ln w="0">
            <a:noFill/>
          </a:ln>
        </p:spPr>
        <p:style>
          <a:lnRef idx="0"/>
          <a:fillRef idx="0"/>
          <a:effectRef idx="0"/>
          <a:fontRef idx="minor"/>
        </p:style>
      </p:sp>
      <p:sp>
        <p:nvSpPr>
          <p:cNvPr id="52" name="Text 7"/>
          <p:cNvSpPr/>
          <p:nvPr/>
        </p:nvSpPr>
        <p:spPr>
          <a:xfrm>
            <a:off x="380880" y="5734080"/>
            <a:ext cx="6543360" cy="3427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4400" spc="-1" strike="noStrike">
                <a:solidFill>
                  <a:srgbClr val="ff0000"/>
                </a:solidFill>
                <a:latin typeface="Liter"/>
                <a:ea typeface="Liter"/>
              </a:rPr>
              <a:t>A Journey Through the History of Rock 'n' Roll</a:t>
            </a:r>
            <a:endParaRPr b="0" lang="en-HK" sz="4400" spc="-1" strike="noStrike">
              <a:latin typeface="Arial"/>
            </a:endParaRPr>
          </a:p>
        </p:txBody>
      </p:sp>
      <p:sp>
        <p:nvSpPr>
          <p:cNvPr id="53" name="Shape 8"/>
          <p:cNvSpPr/>
          <p:nvPr/>
        </p:nvSpPr>
        <p:spPr>
          <a:xfrm rot="2700000">
            <a:off x="10636920" y="5302800"/>
            <a:ext cx="571320" cy="571320"/>
          </a:xfrm>
          <a:custGeom>
            <a:avLst/>
            <a:gdLst/>
            <a:ahLst/>
            <a:rect l="l" t="t" r="r" b="b"/>
            <a:pathLst>
              <a:path w="571500" h="571500">
                <a:moveTo>
                  <a:pt x="0" y="0"/>
                </a:moveTo>
                <a:lnTo>
                  <a:pt x="571500" y="0"/>
                </a:lnTo>
                <a:lnTo>
                  <a:pt x="571500" y="571500"/>
                </a:lnTo>
                <a:lnTo>
                  <a:pt x="0" y="571500"/>
                </a:lnTo>
                <a:lnTo>
                  <a:pt x="0" y="0"/>
                </a:lnTo>
                <a:close/>
              </a:path>
            </a:pathLst>
          </a:custGeom>
          <a:noFill/>
          <a:ln w="50800">
            <a:solidFill>
              <a:srgbClr val="ddff00"/>
            </a:solidFill>
            <a:round/>
          </a:ln>
          <a:effectLst>
            <a:outerShdw algn="bl" blurRad="285840" dir="2700000" dist="50402" kx="0" ky="0" rotWithShape="0" sx="100000" sy="100000">
              <a:srgbClr val="ddff00">
                <a:alpha val="30000"/>
              </a:srgbClr>
            </a:outerShdw>
          </a:effectLst>
        </p:spPr>
        <p:style>
          <a:lnRef idx="0"/>
          <a:fillRef idx="0"/>
          <a:effectRef idx="0"/>
          <a:fontRef idx="minor"/>
        </p:style>
      </p:sp>
      <p:sp>
        <p:nvSpPr>
          <p:cNvPr id="54" name="Shape 9"/>
          <p:cNvSpPr/>
          <p:nvPr/>
        </p:nvSpPr>
        <p:spPr>
          <a:xfrm>
            <a:off x="10934640" y="5600880"/>
            <a:ext cx="228240" cy="228240"/>
          </a:xfrm>
          <a:custGeom>
            <a:avLst/>
            <a:gdLst/>
            <a:ahLst/>
            <a:rect l="l" t="t" r="r" b="b"/>
            <a:pathLst>
              <a:path w="228600" h="228600">
                <a:moveTo>
                  <a:pt x="208955" y="3125"/>
                </a:moveTo>
                <a:cubicBezTo>
                  <a:pt x="212348" y="5849"/>
                  <a:pt x="214313" y="9957"/>
                  <a:pt x="214313" y="14288"/>
                </a:cubicBezTo>
                <a:lnTo>
                  <a:pt x="214313" y="150019"/>
                </a:lnTo>
                <a:cubicBezTo>
                  <a:pt x="214313" y="169753"/>
                  <a:pt x="195114" y="185738"/>
                  <a:pt x="171450" y="185738"/>
                </a:cubicBezTo>
                <a:cubicBezTo>
                  <a:pt x="147786" y="185738"/>
                  <a:pt x="128588" y="169753"/>
                  <a:pt x="128588" y="150019"/>
                </a:cubicBezTo>
                <a:cubicBezTo>
                  <a:pt x="128588" y="130284"/>
                  <a:pt x="147786" y="114300"/>
                  <a:pt x="171450" y="114300"/>
                </a:cubicBezTo>
                <a:cubicBezTo>
                  <a:pt x="176451" y="114300"/>
                  <a:pt x="181273" y="115014"/>
                  <a:pt x="185738" y="116354"/>
                </a:cubicBezTo>
                <a:lnTo>
                  <a:pt x="185738" y="64249"/>
                </a:lnTo>
                <a:lnTo>
                  <a:pt x="85725" y="86484"/>
                </a:lnTo>
                <a:lnTo>
                  <a:pt x="85725" y="178594"/>
                </a:lnTo>
                <a:cubicBezTo>
                  <a:pt x="85725" y="198328"/>
                  <a:pt x="66526" y="214313"/>
                  <a:pt x="42863" y="214313"/>
                </a:cubicBezTo>
                <a:cubicBezTo>
                  <a:pt x="19199" y="214313"/>
                  <a:pt x="0" y="198328"/>
                  <a:pt x="0" y="178594"/>
                </a:cubicBezTo>
                <a:cubicBezTo>
                  <a:pt x="0" y="158859"/>
                  <a:pt x="19199" y="142875"/>
                  <a:pt x="42863" y="142875"/>
                </a:cubicBezTo>
                <a:cubicBezTo>
                  <a:pt x="47863" y="142875"/>
                  <a:pt x="52685" y="143589"/>
                  <a:pt x="57150" y="144929"/>
                </a:cubicBezTo>
                <a:lnTo>
                  <a:pt x="57150" y="42863"/>
                </a:lnTo>
                <a:cubicBezTo>
                  <a:pt x="57150" y="36165"/>
                  <a:pt x="61793" y="30361"/>
                  <a:pt x="68357" y="28932"/>
                </a:cubicBezTo>
                <a:lnTo>
                  <a:pt x="196944" y="357"/>
                </a:lnTo>
                <a:cubicBezTo>
                  <a:pt x="201186" y="-580"/>
                  <a:pt x="205606" y="446"/>
                  <a:pt x="208999" y="3170"/>
                </a:cubicBez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55" name="Shape 0"/>
          <p:cNvSpPr/>
          <p:nvPr/>
        </p:nvSpPr>
        <p:spPr>
          <a:xfrm>
            <a:off x="380880" y="419040"/>
            <a:ext cx="75960" cy="609120"/>
          </a:xfrm>
          <a:custGeom>
            <a:avLst/>
            <a:gdLst/>
            <a:ahLst/>
            <a:rect l="l" t="t" r="r" b="b"/>
            <a:pathLst>
              <a:path w="76200" h="609600">
                <a:moveTo>
                  <a:pt x="0" y="0"/>
                </a:moveTo>
                <a:lnTo>
                  <a:pt x="76200" y="0"/>
                </a:lnTo>
                <a:lnTo>
                  <a:pt x="76200" y="609600"/>
                </a:lnTo>
                <a:lnTo>
                  <a:pt x="0" y="609600"/>
                </a:lnTo>
                <a:lnTo>
                  <a:pt x="0" y="0"/>
                </a:lnTo>
                <a:close/>
              </a:path>
            </a:pathLst>
          </a:custGeom>
          <a:solidFill>
            <a:srgbClr val="ddff00"/>
          </a:solidFill>
          <a:ln w="0">
            <a:noFill/>
          </a:ln>
        </p:spPr>
        <p:style>
          <a:lnRef idx="0"/>
          <a:fillRef idx="0"/>
          <a:effectRef idx="0"/>
          <a:fontRef idx="minor"/>
        </p:style>
      </p:sp>
      <p:sp>
        <p:nvSpPr>
          <p:cNvPr id="56" name="Text 1"/>
          <p:cNvSpPr/>
          <p:nvPr/>
        </p:nvSpPr>
        <p:spPr>
          <a:xfrm>
            <a:off x="609480" y="380880"/>
            <a:ext cx="2485800" cy="190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103" strike="noStrike">
                <a:solidFill>
                  <a:srgbClr val="ddff00"/>
                </a:solidFill>
                <a:latin typeface="Liter"/>
                <a:ea typeface="Liter"/>
              </a:rPr>
              <a:t>NAVIGATION</a:t>
            </a:r>
            <a:endParaRPr b="0" lang="en-HK" sz="1050" spc="-1" strike="noStrike">
              <a:latin typeface="Arial"/>
            </a:endParaRPr>
          </a:p>
        </p:txBody>
      </p:sp>
      <p:sp>
        <p:nvSpPr>
          <p:cNvPr id="57" name="Text 2"/>
          <p:cNvSpPr/>
          <p:nvPr/>
        </p:nvSpPr>
        <p:spPr>
          <a:xfrm>
            <a:off x="609480" y="609480"/>
            <a:ext cx="2647440" cy="456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ffffff"/>
                </a:solidFill>
                <a:latin typeface="Liter"/>
                <a:ea typeface="Liter"/>
              </a:rPr>
              <a:t>CONTENTS</a:t>
            </a:r>
            <a:endParaRPr b="0" lang="en-HK" sz="3600" spc="-1" strike="noStrike">
              <a:latin typeface="Arial"/>
            </a:endParaRPr>
          </a:p>
        </p:txBody>
      </p:sp>
      <p:sp>
        <p:nvSpPr>
          <p:cNvPr id="58" name="Shape 3"/>
          <p:cNvSpPr/>
          <p:nvPr/>
        </p:nvSpPr>
        <p:spPr>
          <a:xfrm>
            <a:off x="380880" y="1523880"/>
            <a:ext cx="609120" cy="6091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59" name="Text 4"/>
          <p:cNvSpPr/>
          <p:nvPr/>
        </p:nvSpPr>
        <p:spPr>
          <a:xfrm>
            <a:off x="537480" y="1657440"/>
            <a:ext cx="437760" cy="3427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01</a:t>
            </a:r>
            <a:endParaRPr b="0" lang="en-HK" sz="2250" spc="-1" strike="noStrike">
              <a:latin typeface="Arial"/>
            </a:endParaRPr>
          </a:p>
        </p:txBody>
      </p:sp>
      <p:sp>
        <p:nvSpPr>
          <p:cNvPr id="60" name="Text 5"/>
          <p:cNvSpPr/>
          <p:nvPr/>
        </p:nvSpPr>
        <p:spPr>
          <a:xfrm>
            <a:off x="1143000" y="1600200"/>
            <a:ext cx="481932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Origins &amp; Birth of Rock</a:t>
            </a:r>
            <a:endParaRPr b="0" lang="en-HK" sz="1500" spc="-1" strike="noStrike">
              <a:latin typeface="Arial"/>
            </a:endParaRPr>
          </a:p>
        </p:txBody>
      </p:sp>
      <p:sp>
        <p:nvSpPr>
          <p:cNvPr id="61" name="Text 6"/>
          <p:cNvSpPr/>
          <p:nvPr/>
        </p:nvSpPr>
        <p:spPr>
          <a:xfrm>
            <a:off x="1143000" y="1905120"/>
            <a:ext cx="480024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1940s-1950s: The Musical Fusion That Changed Everything</a:t>
            </a:r>
            <a:endParaRPr b="0" lang="en-HK" sz="1200" spc="-1" strike="noStrike">
              <a:latin typeface="Arial"/>
            </a:endParaRPr>
          </a:p>
        </p:txBody>
      </p:sp>
      <p:sp>
        <p:nvSpPr>
          <p:cNvPr id="62" name="Shape 7"/>
          <p:cNvSpPr/>
          <p:nvPr/>
        </p:nvSpPr>
        <p:spPr>
          <a:xfrm>
            <a:off x="6324480" y="1523880"/>
            <a:ext cx="609120" cy="6091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63" name="Text 8"/>
          <p:cNvSpPr/>
          <p:nvPr/>
        </p:nvSpPr>
        <p:spPr>
          <a:xfrm>
            <a:off x="6455160" y="1657440"/>
            <a:ext cx="495000" cy="3427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02</a:t>
            </a:r>
            <a:endParaRPr b="0" lang="en-HK" sz="2250" spc="-1" strike="noStrike">
              <a:latin typeface="Arial"/>
            </a:endParaRPr>
          </a:p>
        </p:txBody>
      </p:sp>
      <p:sp>
        <p:nvSpPr>
          <p:cNvPr id="64" name="Text 9"/>
          <p:cNvSpPr/>
          <p:nvPr/>
        </p:nvSpPr>
        <p:spPr>
          <a:xfrm>
            <a:off x="7086600" y="1600200"/>
            <a:ext cx="481932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The British Invasion</a:t>
            </a:r>
            <a:endParaRPr b="0" lang="en-HK" sz="1500" spc="-1" strike="noStrike">
              <a:latin typeface="Arial"/>
            </a:endParaRPr>
          </a:p>
        </p:txBody>
      </p:sp>
      <p:sp>
        <p:nvSpPr>
          <p:cNvPr id="65" name="Text 10"/>
          <p:cNvSpPr/>
          <p:nvPr/>
        </p:nvSpPr>
        <p:spPr>
          <a:xfrm>
            <a:off x="7086600" y="1905120"/>
            <a:ext cx="480024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1960s: When Britain Took Back American Music</a:t>
            </a:r>
            <a:endParaRPr b="0" lang="en-HK" sz="1200" spc="-1" strike="noStrike">
              <a:latin typeface="Arial"/>
            </a:endParaRPr>
          </a:p>
        </p:txBody>
      </p:sp>
      <p:sp>
        <p:nvSpPr>
          <p:cNvPr id="66" name="Shape 11"/>
          <p:cNvSpPr/>
          <p:nvPr/>
        </p:nvSpPr>
        <p:spPr>
          <a:xfrm>
            <a:off x="380880" y="2714760"/>
            <a:ext cx="609120" cy="6091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67" name="Text 12"/>
          <p:cNvSpPr/>
          <p:nvPr/>
        </p:nvSpPr>
        <p:spPr>
          <a:xfrm>
            <a:off x="510480" y="2847960"/>
            <a:ext cx="495000" cy="3427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03</a:t>
            </a:r>
            <a:endParaRPr b="0" lang="en-HK" sz="2250" spc="-1" strike="noStrike">
              <a:latin typeface="Arial"/>
            </a:endParaRPr>
          </a:p>
        </p:txBody>
      </p:sp>
      <p:sp>
        <p:nvSpPr>
          <p:cNvPr id="68" name="Text 13"/>
          <p:cNvSpPr/>
          <p:nvPr/>
        </p:nvSpPr>
        <p:spPr>
          <a:xfrm>
            <a:off x="1143000" y="2790720"/>
            <a:ext cx="481932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Classic Rock &amp; Hard Rock</a:t>
            </a:r>
            <a:endParaRPr b="0" lang="en-HK" sz="1500" spc="-1" strike="noStrike">
              <a:latin typeface="Arial"/>
            </a:endParaRPr>
          </a:p>
        </p:txBody>
      </p:sp>
      <p:sp>
        <p:nvSpPr>
          <p:cNvPr id="69" name="Text 14"/>
          <p:cNvSpPr/>
          <p:nvPr/>
        </p:nvSpPr>
        <p:spPr>
          <a:xfrm>
            <a:off x="1143000" y="3095640"/>
            <a:ext cx="480024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Late 1960s-1970s: The Golden Age of Rock</a:t>
            </a:r>
            <a:endParaRPr b="0" lang="en-HK" sz="1200" spc="-1" strike="noStrike">
              <a:latin typeface="Arial"/>
            </a:endParaRPr>
          </a:p>
        </p:txBody>
      </p:sp>
      <p:sp>
        <p:nvSpPr>
          <p:cNvPr id="70" name="Shape 15"/>
          <p:cNvSpPr/>
          <p:nvPr/>
        </p:nvSpPr>
        <p:spPr>
          <a:xfrm>
            <a:off x="6324480" y="2714760"/>
            <a:ext cx="609120" cy="6091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1" name="Text 16"/>
          <p:cNvSpPr/>
          <p:nvPr/>
        </p:nvSpPr>
        <p:spPr>
          <a:xfrm>
            <a:off x="6454080" y="2847960"/>
            <a:ext cx="495000" cy="3427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04</a:t>
            </a:r>
            <a:endParaRPr b="0" lang="en-HK" sz="2250" spc="-1" strike="noStrike">
              <a:latin typeface="Arial"/>
            </a:endParaRPr>
          </a:p>
        </p:txBody>
      </p:sp>
      <p:sp>
        <p:nvSpPr>
          <p:cNvPr id="72" name="Text 17"/>
          <p:cNvSpPr/>
          <p:nvPr/>
        </p:nvSpPr>
        <p:spPr>
          <a:xfrm>
            <a:off x="7086600" y="2790720"/>
            <a:ext cx="481932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Birth of Heavy Metal</a:t>
            </a:r>
            <a:endParaRPr b="0" lang="en-HK" sz="1500" spc="-1" strike="noStrike">
              <a:latin typeface="Arial"/>
            </a:endParaRPr>
          </a:p>
        </p:txBody>
      </p:sp>
      <p:sp>
        <p:nvSpPr>
          <p:cNvPr id="73" name="Text 18"/>
          <p:cNvSpPr/>
          <p:nvPr/>
        </p:nvSpPr>
        <p:spPr>
          <a:xfrm>
            <a:off x="7086600" y="3095640"/>
            <a:ext cx="480024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Late 1960s-1970s: The Unholy Trinity</a:t>
            </a:r>
            <a:endParaRPr b="0" lang="en-HK" sz="1200" spc="-1" strike="noStrike">
              <a:latin typeface="Arial"/>
            </a:endParaRPr>
          </a:p>
        </p:txBody>
      </p:sp>
      <p:sp>
        <p:nvSpPr>
          <p:cNvPr id="74" name="Shape 19"/>
          <p:cNvSpPr/>
          <p:nvPr/>
        </p:nvSpPr>
        <p:spPr>
          <a:xfrm>
            <a:off x="380880" y="3905280"/>
            <a:ext cx="609120" cy="6091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5" name="Text 20"/>
          <p:cNvSpPr/>
          <p:nvPr/>
        </p:nvSpPr>
        <p:spPr>
          <a:xfrm>
            <a:off x="512280" y="4038480"/>
            <a:ext cx="485280" cy="3427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05</a:t>
            </a:r>
            <a:endParaRPr b="0" lang="en-HK" sz="2250" spc="-1" strike="noStrike">
              <a:latin typeface="Arial"/>
            </a:endParaRPr>
          </a:p>
        </p:txBody>
      </p:sp>
      <p:sp>
        <p:nvSpPr>
          <p:cNvPr id="76" name="Text 21"/>
          <p:cNvSpPr/>
          <p:nvPr/>
        </p:nvSpPr>
        <p:spPr>
          <a:xfrm>
            <a:off x="1143000" y="3981600"/>
            <a:ext cx="481932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Punk Rock &amp; New Wave</a:t>
            </a:r>
            <a:endParaRPr b="0" lang="en-HK" sz="1500" spc="-1" strike="noStrike">
              <a:latin typeface="Arial"/>
            </a:endParaRPr>
          </a:p>
        </p:txBody>
      </p:sp>
      <p:sp>
        <p:nvSpPr>
          <p:cNvPr id="77" name="Text 22"/>
          <p:cNvSpPr/>
          <p:nvPr/>
        </p:nvSpPr>
        <p:spPr>
          <a:xfrm>
            <a:off x="1143000" y="4286160"/>
            <a:ext cx="480024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1970s-1980s: Raw Energy &amp; Artistic Expression</a:t>
            </a:r>
            <a:endParaRPr b="0" lang="en-HK" sz="1200" spc="-1" strike="noStrike">
              <a:latin typeface="Arial"/>
            </a:endParaRPr>
          </a:p>
        </p:txBody>
      </p:sp>
      <p:sp>
        <p:nvSpPr>
          <p:cNvPr id="78" name="Shape 23"/>
          <p:cNvSpPr/>
          <p:nvPr/>
        </p:nvSpPr>
        <p:spPr>
          <a:xfrm>
            <a:off x="6324480" y="3905280"/>
            <a:ext cx="609120" cy="6091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9" name="Text 24"/>
          <p:cNvSpPr/>
          <p:nvPr/>
        </p:nvSpPr>
        <p:spPr>
          <a:xfrm>
            <a:off x="6452640" y="4038480"/>
            <a:ext cx="495000" cy="3427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06</a:t>
            </a:r>
            <a:endParaRPr b="0" lang="en-HK" sz="2250" spc="-1" strike="noStrike">
              <a:latin typeface="Arial"/>
            </a:endParaRPr>
          </a:p>
        </p:txBody>
      </p:sp>
      <p:sp>
        <p:nvSpPr>
          <p:cNvPr id="80" name="Text 25"/>
          <p:cNvSpPr/>
          <p:nvPr/>
        </p:nvSpPr>
        <p:spPr>
          <a:xfrm>
            <a:off x="7086600" y="3981600"/>
            <a:ext cx="481932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Alternative Rock &amp; Grunge</a:t>
            </a:r>
            <a:endParaRPr b="0" lang="en-HK" sz="1500" spc="-1" strike="noStrike">
              <a:latin typeface="Arial"/>
            </a:endParaRPr>
          </a:p>
        </p:txBody>
      </p:sp>
      <p:sp>
        <p:nvSpPr>
          <p:cNvPr id="81" name="Text 26"/>
          <p:cNvSpPr/>
          <p:nvPr/>
        </p:nvSpPr>
        <p:spPr>
          <a:xfrm>
            <a:off x="7086600" y="4286160"/>
            <a:ext cx="480024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1990s: The Seattle Sound Goes Global</a:t>
            </a:r>
            <a:endParaRPr b="0" lang="en-HK" sz="1200" spc="-1" strike="noStrike">
              <a:latin typeface="Arial"/>
            </a:endParaRPr>
          </a:p>
        </p:txBody>
      </p:sp>
      <p:sp>
        <p:nvSpPr>
          <p:cNvPr id="82" name="Shape 27"/>
          <p:cNvSpPr/>
          <p:nvPr/>
        </p:nvSpPr>
        <p:spPr>
          <a:xfrm>
            <a:off x="380880" y="5095800"/>
            <a:ext cx="609120" cy="6091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83" name="Text 28"/>
          <p:cNvSpPr/>
          <p:nvPr/>
        </p:nvSpPr>
        <p:spPr>
          <a:xfrm>
            <a:off x="521640" y="5229360"/>
            <a:ext cx="475920" cy="3427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07</a:t>
            </a:r>
            <a:endParaRPr b="0" lang="en-HK" sz="2250" spc="-1" strike="noStrike">
              <a:latin typeface="Arial"/>
            </a:endParaRPr>
          </a:p>
        </p:txBody>
      </p:sp>
      <p:sp>
        <p:nvSpPr>
          <p:cNvPr id="84" name="Text 29"/>
          <p:cNvSpPr/>
          <p:nvPr/>
        </p:nvSpPr>
        <p:spPr>
          <a:xfrm>
            <a:off x="1143000" y="5172120"/>
            <a:ext cx="481932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Indie Rock Revival</a:t>
            </a:r>
            <a:endParaRPr b="0" lang="en-HK" sz="1500" spc="-1" strike="noStrike">
              <a:latin typeface="Arial"/>
            </a:endParaRPr>
          </a:p>
        </p:txBody>
      </p:sp>
      <p:sp>
        <p:nvSpPr>
          <p:cNvPr id="85" name="Text 30"/>
          <p:cNvSpPr/>
          <p:nvPr/>
        </p:nvSpPr>
        <p:spPr>
          <a:xfrm>
            <a:off x="1143000" y="5477040"/>
            <a:ext cx="480024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2000s-2010s: Return to Raw, DIY Aesthetics</a:t>
            </a:r>
            <a:endParaRPr b="0" lang="en-HK" sz="1200" spc="-1" strike="noStrike">
              <a:latin typeface="Arial"/>
            </a:endParaRPr>
          </a:p>
        </p:txBody>
      </p:sp>
      <p:sp>
        <p:nvSpPr>
          <p:cNvPr id="86" name="Shape 31"/>
          <p:cNvSpPr/>
          <p:nvPr/>
        </p:nvSpPr>
        <p:spPr>
          <a:xfrm>
            <a:off x="6324480" y="5095800"/>
            <a:ext cx="609120" cy="6091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87" name="Text 32"/>
          <p:cNvSpPr/>
          <p:nvPr/>
        </p:nvSpPr>
        <p:spPr>
          <a:xfrm>
            <a:off x="6450480" y="5229360"/>
            <a:ext cx="504360" cy="3427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08</a:t>
            </a:r>
            <a:endParaRPr b="0" lang="en-HK" sz="2250" spc="-1" strike="noStrike">
              <a:latin typeface="Arial"/>
            </a:endParaRPr>
          </a:p>
        </p:txBody>
      </p:sp>
      <p:sp>
        <p:nvSpPr>
          <p:cNvPr id="88" name="Text 33"/>
          <p:cNvSpPr/>
          <p:nvPr/>
        </p:nvSpPr>
        <p:spPr>
          <a:xfrm>
            <a:off x="7086600" y="5172120"/>
            <a:ext cx="481932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Legacy &amp; Cultural Impact</a:t>
            </a:r>
            <a:endParaRPr b="0" lang="en-HK" sz="1500" spc="-1" strike="noStrike">
              <a:latin typeface="Arial"/>
            </a:endParaRPr>
          </a:p>
        </p:txBody>
      </p:sp>
      <p:sp>
        <p:nvSpPr>
          <p:cNvPr id="89" name="Text 34"/>
          <p:cNvSpPr/>
          <p:nvPr/>
        </p:nvSpPr>
        <p:spPr>
          <a:xfrm>
            <a:off x="7086600" y="5477040"/>
            <a:ext cx="480024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Rock's Enduring Influence on Music &amp; Culture</a:t>
            </a:r>
            <a:endParaRPr b="0" lang="en-HK" sz="1200" spc="-1" strike="noStrike">
              <a:latin typeface="Arial"/>
            </a:endParaRPr>
          </a:p>
        </p:txBody>
      </p:sp>
      <p:sp>
        <p:nvSpPr>
          <p:cNvPr id="90" name="Shape 35"/>
          <p:cNvSpPr/>
          <p:nvPr/>
        </p:nvSpPr>
        <p:spPr>
          <a:xfrm rot="2700000">
            <a:off x="11215800" y="6338880"/>
            <a:ext cx="114120" cy="11412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
        <p:nvSpPr>
          <p:cNvPr id="91" name="Shape 36"/>
          <p:cNvSpPr/>
          <p:nvPr/>
        </p:nvSpPr>
        <p:spPr>
          <a:xfrm rot="2700000">
            <a:off x="11444400" y="6338880"/>
            <a:ext cx="114120" cy="11412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
        <p:nvSpPr>
          <p:cNvPr id="92" name="Shape 37"/>
          <p:cNvSpPr/>
          <p:nvPr/>
        </p:nvSpPr>
        <p:spPr>
          <a:xfrm rot="2700000">
            <a:off x="11673000" y="6338880"/>
            <a:ext cx="114120" cy="11412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93" name="Image 0"/>
          <p:cNvSpPr/>
          <p:nvPr/>
        </p:nvSpPr>
        <p:spPr>
          <a:xfrm>
            <a:off x="0" y="0"/>
            <a:ext cx="12191760" cy="6857640"/>
          </a:xfrm>
          <a:prstGeom prst="roundRect">
            <a:avLst>
              <a:gd name="adj" fmla="val 0"/>
            </a:avLst>
          </a:prstGeom>
          <a:blipFill rotWithShape="0">
            <a:blip r:embed="rId1"/>
            <a:srcRect/>
            <a:stretch/>
          </a:blipFill>
          <a:ln w="0">
            <a:noFill/>
          </a:ln>
        </p:spPr>
        <p:style>
          <a:lnRef idx="0"/>
          <a:fillRef idx="0"/>
          <a:effectRef idx="0"/>
          <a:fontRef idx="minor"/>
        </p:style>
      </p:sp>
      <p:sp>
        <p:nvSpPr>
          <p:cNvPr id="94" name="Shape 0"/>
          <p:cNvSpPr/>
          <p:nvPr/>
        </p:nvSpPr>
        <p:spPr>
          <a:xfrm>
            <a:off x="0" y="0"/>
            <a:ext cx="12191760" cy="68576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95" name="Shape 1"/>
          <p:cNvSpPr/>
          <p:nvPr/>
        </p:nvSpPr>
        <p:spPr>
          <a:xfrm rot="720000">
            <a:off x="10754280" y="5420160"/>
            <a:ext cx="875880" cy="87588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96" name="Shape 2"/>
          <p:cNvSpPr/>
          <p:nvPr/>
        </p:nvSpPr>
        <p:spPr>
          <a:xfrm rot="21240000">
            <a:off x="320400" y="1311120"/>
            <a:ext cx="1218960" cy="121896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97" name="Text 3"/>
          <p:cNvSpPr/>
          <p:nvPr/>
        </p:nvSpPr>
        <p:spPr>
          <a:xfrm>
            <a:off x="634680" y="1638360"/>
            <a:ext cx="1056960" cy="6854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i="1" lang="en-US" sz="5400" spc="-1" strike="noStrike">
                <a:solidFill>
                  <a:srgbClr val="404040"/>
                </a:solidFill>
                <a:latin typeface="Liter"/>
                <a:ea typeface="Liter"/>
              </a:rPr>
              <a:t>01</a:t>
            </a:r>
            <a:endParaRPr b="0" lang="en-HK" sz="5400" spc="-1" strike="noStrike">
              <a:latin typeface="Arial"/>
            </a:endParaRPr>
          </a:p>
        </p:txBody>
      </p:sp>
      <p:sp>
        <p:nvSpPr>
          <p:cNvPr id="98" name="Shape 4"/>
          <p:cNvSpPr/>
          <p:nvPr/>
        </p:nvSpPr>
        <p:spPr>
          <a:xfrm>
            <a:off x="1828800" y="1752480"/>
            <a:ext cx="4505040" cy="37800"/>
          </a:xfrm>
          <a:custGeom>
            <a:avLst/>
            <a:gdLst/>
            <a:ahLst/>
            <a:rect l="l" t="t" r="r" b="b"/>
            <a:pathLst>
              <a:path w="4505325" h="38100">
                <a:moveTo>
                  <a:pt x="0" y="0"/>
                </a:moveTo>
                <a:lnTo>
                  <a:pt x="4505325" y="0"/>
                </a:lnTo>
                <a:lnTo>
                  <a:pt x="4505325" y="38100"/>
                </a:lnTo>
                <a:lnTo>
                  <a:pt x="0" y="38100"/>
                </a:lnTo>
                <a:lnTo>
                  <a:pt x="0" y="0"/>
                </a:lnTo>
                <a:close/>
              </a:path>
            </a:pathLst>
          </a:custGeom>
          <a:solidFill>
            <a:srgbClr val="ddff00"/>
          </a:solidFill>
          <a:ln w="0">
            <a:noFill/>
          </a:ln>
        </p:spPr>
        <p:style>
          <a:lnRef idx="0"/>
          <a:fillRef idx="0"/>
          <a:effectRef idx="0"/>
          <a:fontRef idx="minor"/>
        </p:style>
      </p:sp>
      <p:sp>
        <p:nvSpPr>
          <p:cNvPr id="99" name="Text 5"/>
          <p:cNvSpPr/>
          <p:nvPr/>
        </p:nvSpPr>
        <p:spPr>
          <a:xfrm>
            <a:off x="1828800" y="1943280"/>
            <a:ext cx="4590720" cy="266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350" spc="134" strike="noStrike">
                <a:solidFill>
                  <a:srgbClr val="404040"/>
                </a:solidFill>
                <a:latin typeface="Liter"/>
                <a:ea typeface="Liter"/>
              </a:rPr>
              <a:t>CHAPTER ONE</a:t>
            </a:r>
            <a:endParaRPr b="0" lang="en-HK" sz="1350" spc="-1" strike="noStrike">
              <a:latin typeface="Arial"/>
            </a:endParaRPr>
          </a:p>
        </p:txBody>
      </p:sp>
      <p:sp>
        <p:nvSpPr>
          <p:cNvPr id="100" name="Text 6"/>
          <p:cNvSpPr/>
          <p:nvPr/>
        </p:nvSpPr>
        <p:spPr>
          <a:xfrm>
            <a:off x="380880" y="2895480"/>
            <a:ext cx="6295680" cy="17143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i="1" lang="en-US" sz="5400" spc="-1" strike="noStrike">
                <a:solidFill>
                  <a:srgbClr val="404040"/>
                </a:solidFill>
                <a:latin typeface="Liter"/>
                <a:ea typeface="Liter"/>
              </a:rPr>
              <a:t>ORIGINS &amp;</a:t>
            </a:r>
            <a:endParaRPr b="0" lang="en-HK" sz="5400" spc="-1" strike="noStrike">
              <a:latin typeface="Arial"/>
            </a:endParaRPr>
          </a:p>
          <a:p>
            <a:pPr>
              <a:lnSpc>
                <a:spcPct val="100000"/>
              </a:lnSpc>
              <a:buNone/>
            </a:pPr>
            <a:r>
              <a:rPr b="1" i="1" lang="en-US" sz="5400" spc="-1" strike="noStrike">
                <a:solidFill>
                  <a:srgbClr val="404040"/>
                </a:solidFill>
                <a:latin typeface="Liter"/>
                <a:ea typeface="Liter"/>
              </a:rPr>
              <a:t>BIRTH OF ROCK</a:t>
            </a:r>
            <a:endParaRPr b="0" lang="en-HK" sz="5400" spc="-1" strike="noStrike">
              <a:latin typeface="Arial"/>
            </a:endParaRPr>
          </a:p>
        </p:txBody>
      </p:sp>
      <p:sp>
        <p:nvSpPr>
          <p:cNvPr id="101" name="Text 7"/>
          <p:cNvSpPr/>
          <p:nvPr/>
        </p:nvSpPr>
        <p:spPr>
          <a:xfrm>
            <a:off x="380880" y="4838760"/>
            <a:ext cx="606708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i="1" lang="en-US" sz="1800" spc="-1" strike="noStrike">
                <a:solidFill>
                  <a:srgbClr val="404040">
                    <a:alpha val="80000"/>
                  </a:srgbClr>
                </a:solidFill>
                <a:latin typeface="Liter"/>
                <a:ea typeface="Liter"/>
              </a:rPr>
              <a:t>1940s-1950s: The Musical Fusion That Changed Everything</a:t>
            </a:r>
            <a:endParaRPr b="0" lang="en-HK" sz="1800" spc="-1" strike="noStrike">
              <a:latin typeface="Arial"/>
            </a:endParaRPr>
          </a:p>
        </p:txBody>
      </p:sp>
      <p:sp>
        <p:nvSpPr>
          <p:cNvPr id="102" name="Shape 8"/>
          <p:cNvSpPr/>
          <p:nvPr/>
        </p:nvSpPr>
        <p:spPr>
          <a:xfrm>
            <a:off x="380880" y="5448240"/>
            <a:ext cx="761760" cy="3780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103" name="Shape 9"/>
          <p:cNvSpPr/>
          <p:nvPr/>
        </p:nvSpPr>
        <p:spPr>
          <a:xfrm>
            <a:off x="1295280" y="5448240"/>
            <a:ext cx="380520" cy="3780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104" name="Shape 10"/>
          <p:cNvSpPr/>
          <p:nvPr/>
        </p:nvSpPr>
        <p:spPr>
          <a:xfrm>
            <a:off x="1828800" y="5448240"/>
            <a:ext cx="190080" cy="3780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05" name="Shape 0"/>
          <p:cNvSpPr/>
          <p:nvPr/>
        </p:nvSpPr>
        <p:spPr>
          <a:xfrm>
            <a:off x="380880" y="438120"/>
            <a:ext cx="75960" cy="456840"/>
          </a:xfrm>
          <a:custGeom>
            <a:avLst/>
            <a:gdLst/>
            <a:ahLst/>
            <a:rect l="l" t="t" r="r" b="b"/>
            <a:pathLst>
              <a:path w="76200" h="457200">
                <a:moveTo>
                  <a:pt x="0" y="0"/>
                </a:moveTo>
                <a:lnTo>
                  <a:pt x="76200" y="0"/>
                </a:lnTo>
                <a:lnTo>
                  <a:pt x="76200" y="457200"/>
                </a:lnTo>
                <a:lnTo>
                  <a:pt x="0" y="457200"/>
                </a:lnTo>
                <a:lnTo>
                  <a:pt x="0" y="0"/>
                </a:lnTo>
                <a:close/>
              </a:path>
            </a:pathLst>
          </a:custGeom>
          <a:solidFill>
            <a:srgbClr val="ddff00"/>
          </a:solidFill>
          <a:ln w="0">
            <a:noFill/>
          </a:ln>
        </p:spPr>
        <p:style>
          <a:lnRef idx="0"/>
          <a:fillRef idx="0"/>
          <a:effectRef idx="0"/>
          <a:fontRef idx="minor"/>
        </p:style>
      </p:sp>
      <p:sp>
        <p:nvSpPr>
          <p:cNvPr id="106" name="Text 1"/>
          <p:cNvSpPr/>
          <p:nvPr/>
        </p:nvSpPr>
        <p:spPr>
          <a:xfrm>
            <a:off x="609480" y="380880"/>
            <a:ext cx="6590880" cy="190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103" strike="noStrike">
                <a:solidFill>
                  <a:srgbClr val="ddff00"/>
                </a:solidFill>
                <a:latin typeface="Liter"/>
                <a:ea typeface="Liter"/>
              </a:rPr>
              <a:t>CHAPTER 01</a:t>
            </a:r>
            <a:endParaRPr b="0" lang="en-HK" sz="1050" spc="-1" strike="noStrike">
              <a:latin typeface="Arial"/>
            </a:endParaRPr>
          </a:p>
        </p:txBody>
      </p:sp>
      <p:sp>
        <p:nvSpPr>
          <p:cNvPr id="107" name="Text 2"/>
          <p:cNvSpPr/>
          <p:nvPr/>
        </p:nvSpPr>
        <p:spPr>
          <a:xfrm>
            <a:off x="609480" y="571680"/>
            <a:ext cx="6695640" cy="3805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700" spc="-1" strike="noStrike">
                <a:solidFill>
                  <a:srgbClr val="ffffff"/>
                </a:solidFill>
                <a:latin typeface="Liter"/>
                <a:ea typeface="Liter"/>
              </a:rPr>
              <a:t>The Roots of Rock: Blues, Gospel &amp; Country</a:t>
            </a:r>
            <a:endParaRPr b="0" lang="en-HK" sz="2700" spc="-1" strike="noStrike">
              <a:latin typeface="Arial"/>
            </a:endParaRPr>
          </a:p>
        </p:txBody>
      </p:sp>
      <p:sp>
        <p:nvSpPr>
          <p:cNvPr id="108" name="Shape 3"/>
          <p:cNvSpPr/>
          <p:nvPr/>
        </p:nvSpPr>
        <p:spPr>
          <a:xfrm>
            <a:off x="399960" y="1257480"/>
            <a:ext cx="37800" cy="1771200"/>
          </a:xfrm>
          <a:custGeom>
            <a:avLst/>
            <a:gdLst/>
            <a:ahLst/>
            <a:rect l="l" t="t" r="r" b="b"/>
            <a:pathLst>
              <a:path w="38100" h="1771650">
                <a:moveTo>
                  <a:pt x="0" y="0"/>
                </a:moveTo>
                <a:lnTo>
                  <a:pt x="38100" y="0"/>
                </a:lnTo>
                <a:lnTo>
                  <a:pt x="38100" y="1771650"/>
                </a:lnTo>
                <a:lnTo>
                  <a:pt x="0" y="1771650"/>
                </a:lnTo>
                <a:lnTo>
                  <a:pt x="0" y="0"/>
                </a:lnTo>
                <a:close/>
              </a:path>
            </a:pathLst>
          </a:custGeom>
          <a:solidFill>
            <a:srgbClr val="ddff00"/>
          </a:solidFill>
          <a:ln w="0">
            <a:noFill/>
          </a:ln>
        </p:spPr>
        <p:style>
          <a:lnRef idx="0"/>
          <a:fillRef idx="0"/>
          <a:effectRef idx="0"/>
          <a:fontRef idx="minor"/>
        </p:style>
      </p:sp>
      <p:sp>
        <p:nvSpPr>
          <p:cNvPr id="109" name="Shape 4"/>
          <p:cNvSpPr/>
          <p:nvPr/>
        </p:nvSpPr>
        <p:spPr>
          <a:xfrm>
            <a:off x="676440" y="1295280"/>
            <a:ext cx="228240" cy="228240"/>
          </a:xfrm>
          <a:custGeom>
            <a:avLst/>
            <a:gdLst/>
            <a:ahLst/>
            <a:rect l="l" t="t" r="r" b="b"/>
            <a:pathLst>
              <a:path w="228600" h="228600">
                <a:moveTo>
                  <a:pt x="208955" y="3125"/>
                </a:moveTo>
                <a:cubicBezTo>
                  <a:pt x="212348" y="5849"/>
                  <a:pt x="214313" y="9957"/>
                  <a:pt x="214313" y="14288"/>
                </a:cubicBezTo>
                <a:lnTo>
                  <a:pt x="214313" y="150019"/>
                </a:lnTo>
                <a:cubicBezTo>
                  <a:pt x="214313" y="169753"/>
                  <a:pt x="195114" y="185738"/>
                  <a:pt x="171450" y="185738"/>
                </a:cubicBezTo>
                <a:cubicBezTo>
                  <a:pt x="147786" y="185738"/>
                  <a:pt x="128588" y="169753"/>
                  <a:pt x="128588" y="150019"/>
                </a:cubicBezTo>
                <a:cubicBezTo>
                  <a:pt x="128588" y="130284"/>
                  <a:pt x="147786" y="114300"/>
                  <a:pt x="171450" y="114300"/>
                </a:cubicBezTo>
                <a:cubicBezTo>
                  <a:pt x="176451" y="114300"/>
                  <a:pt x="181273" y="115014"/>
                  <a:pt x="185738" y="116354"/>
                </a:cubicBezTo>
                <a:lnTo>
                  <a:pt x="185738" y="64249"/>
                </a:lnTo>
                <a:lnTo>
                  <a:pt x="85725" y="86484"/>
                </a:lnTo>
                <a:lnTo>
                  <a:pt x="85725" y="178594"/>
                </a:lnTo>
                <a:cubicBezTo>
                  <a:pt x="85725" y="198328"/>
                  <a:pt x="66526" y="214313"/>
                  <a:pt x="42863" y="214313"/>
                </a:cubicBezTo>
                <a:cubicBezTo>
                  <a:pt x="19199" y="214313"/>
                  <a:pt x="0" y="198328"/>
                  <a:pt x="0" y="178594"/>
                </a:cubicBezTo>
                <a:cubicBezTo>
                  <a:pt x="0" y="158859"/>
                  <a:pt x="19199" y="142875"/>
                  <a:pt x="42863" y="142875"/>
                </a:cubicBezTo>
                <a:cubicBezTo>
                  <a:pt x="47863" y="142875"/>
                  <a:pt x="52685" y="143589"/>
                  <a:pt x="57150" y="144929"/>
                </a:cubicBezTo>
                <a:lnTo>
                  <a:pt x="57150" y="42863"/>
                </a:lnTo>
                <a:cubicBezTo>
                  <a:pt x="57150" y="36165"/>
                  <a:pt x="61793" y="30361"/>
                  <a:pt x="68357" y="28932"/>
                </a:cubicBezTo>
                <a:lnTo>
                  <a:pt x="196944" y="357"/>
                </a:lnTo>
                <a:cubicBezTo>
                  <a:pt x="201186" y="-580"/>
                  <a:pt x="205606" y="446"/>
                  <a:pt x="208999" y="3170"/>
                </a:cubicBezTo>
                <a:close/>
              </a:path>
            </a:pathLst>
          </a:custGeom>
          <a:solidFill>
            <a:srgbClr val="ddff00"/>
          </a:solidFill>
          <a:ln w="0">
            <a:noFill/>
          </a:ln>
        </p:spPr>
        <p:style>
          <a:lnRef idx="0"/>
          <a:fillRef idx="0"/>
          <a:effectRef idx="0"/>
          <a:fontRef idx="minor"/>
        </p:style>
      </p:sp>
      <p:sp>
        <p:nvSpPr>
          <p:cNvPr id="110" name="Text 5"/>
          <p:cNvSpPr/>
          <p:nvPr/>
        </p:nvSpPr>
        <p:spPr>
          <a:xfrm>
            <a:off x="933480" y="1257480"/>
            <a:ext cx="628632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African American Blues</a:t>
            </a:r>
            <a:endParaRPr b="0" lang="en-HK" sz="1800" spc="-1" strike="noStrike">
              <a:latin typeface="Arial"/>
            </a:endParaRPr>
          </a:p>
        </p:txBody>
      </p:sp>
      <p:sp>
        <p:nvSpPr>
          <p:cNvPr id="111" name="Text 6"/>
          <p:cNvSpPr/>
          <p:nvPr/>
        </p:nvSpPr>
        <p:spPr>
          <a:xfrm>
            <a:off x="647640" y="1676520"/>
            <a:ext cx="6533640" cy="742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The blues emerged in the late 19th century</a:t>
            </a:r>
            <a:r>
              <a:rPr b="0" lang="en-US" sz="1200" spc="-1" strike="noStrike">
                <a:solidFill>
                  <a:srgbClr val="ffffff"/>
                </a:solidFill>
                <a:latin typeface="Liter"/>
                <a:ea typeface="Liter"/>
              </a:rPr>
              <a:t> in the Mississippi Delta, rooted in African American experiences of struggle and resilience. Early blues was primarily call-and-response vocal music, evolving from field shouts and hollers into passionate solo songs.</a:t>
            </a:r>
            <a:endParaRPr b="0" lang="en-HK" sz="1200" spc="-1" strike="noStrike">
              <a:latin typeface="Arial"/>
            </a:endParaRPr>
          </a:p>
        </p:txBody>
      </p:sp>
      <p:sp>
        <p:nvSpPr>
          <p:cNvPr id="112" name="Text 7"/>
          <p:cNvSpPr/>
          <p:nvPr/>
        </p:nvSpPr>
        <p:spPr>
          <a:xfrm>
            <a:off x="647640" y="2533680"/>
            <a:ext cx="653364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ffffff">
                    <a:alpha val="80000"/>
                  </a:srgbClr>
                </a:solidFill>
                <a:latin typeface="Liter"/>
                <a:ea typeface="Liter"/>
              </a:rPr>
              <a:t>Legendary artists like </a:t>
            </a:r>
            <a:r>
              <a:rPr b="1" lang="en-US" sz="1200" spc="-1" strike="noStrike">
                <a:solidFill>
                  <a:srgbClr val="ddff00"/>
                </a:solidFill>
                <a:latin typeface="Liter"/>
                <a:ea typeface="Liter"/>
              </a:rPr>
              <a:t>Robert Johnson</a:t>
            </a:r>
            <a:r>
              <a:rPr b="0" lang="en-US" sz="1200" spc="-1" strike="noStrike">
                <a:solidFill>
                  <a:srgbClr val="ffffff">
                    <a:alpha val="80000"/>
                  </a:srgbClr>
                </a:solidFill>
                <a:latin typeface="Liter"/>
                <a:ea typeface="Liter"/>
              </a:rPr>
              <a:t> , </a:t>
            </a:r>
            <a:r>
              <a:rPr b="1" lang="en-US" sz="1200" spc="-1" strike="noStrike">
                <a:solidFill>
                  <a:srgbClr val="ddff00"/>
                </a:solidFill>
                <a:latin typeface="Liter"/>
                <a:ea typeface="Liter"/>
              </a:rPr>
              <a:t>Muddy Waters</a:t>
            </a:r>
            <a:r>
              <a:rPr b="0" lang="en-US" sz="1200" spc="-1" strike="noStrike">
                <a:solidFill>
                  <a:srgbClr val="ffffff">
                    <a:alpha val="80000"/>
                  </a:srgbClr>
                </a:solidFill>
                <a:latin typeface="Liter"/>
                <a:ea typeface="Liter"/>
              </a:rPr>
              <a:t> , and </a:t>
            </a:r>
            <a:r>
              <a:rPr b="1" lang="en-US" sz="1200" spc="-1" strike="noStrike">
                <a:solidFill>
                  <a:srgbClr val="ddff00"/>
                </a:solidFill>
                <a:latin typeface="Liter"/>
                <a:ea typeface="Liter"/>
              </a:rPr>
              <a:t>B.B. King</a:t>
            </a:r>
            <a:r>
              <a:rPr b="0" lang="en-US" sz="1200" spc="-1" strike="noStrike">
                <a:solidFill>
                  <a:srgbClr val="ffffff">
                    <a:alpha val="80000"/>
                  </a:srgbClr>
                </a:solidFill>
                <a:latin typeface="Liter"/>
                <a:ea typeface="Liter"/>
              </a:rPr>
              <a:t> established the guitar as the dominant instrument, creating the foundation for rock's signature sound.</a:t>
            </a:r>
            <a:endParaRPr b="0" lang="en-HK" sz="1200" spc="-1" strike="noStrike">
              <a:latin typeface="Arial"/>
            </a:endParaRPr>
          </a:p>
        </p:txBody>
      </p:sp>
      <p:sp>
        <p:nvSpPr>
          <p:cNvPr id="113" name="Shape 8"/>
          <p:cNvSpPr/>
          <p:nvPr/>
        </p:nvSpPr>
        <p:spPr>
          <a:xfrm>
            <a:off x="399960" y="3286080"/>
            <a:ext cx="37800" cy="1771200"/>
          </a:xfrm>
          <a:custGeom>
            <a:avLst/>
            <a:gdLst/>
            <a:ahLst/>
            <a:rect l="l" t="t" r="r" b="b"/>
            <a:pathLst>
              <a:path w="38100" h="1771650">
                <a:moveTo>
                  <a:pt x="0" y="0"/>
                </a:moveTo>
                <a:lnTo>
                  <a:pt x="38100" y="0"/>
                </a:lnTo>
                <a:lnTo>
                  <a:pt x="38100" y="1771650"/>
                </a:lnTo>
                <a:lnTo>
                  <a:pt x="0" y="1771650"/>
                </a:lnTo>
                <a:lnTo>
                  <a:pt x="0" y="0"/>
                </a:lnTo>
                <a:close/>
              </a:path>
            </a:pathLst>
          </a:custGeom>
          <a:solidFill>
            <a:srgbClr val="ddff00"/>
          </a:solidFill>
          <a:ln w="0">
            <a:noFill/>
          </a:ln>
        </p:spPr>
        <p:style>
          <a:lnRef idx="0"/>
          <a:fillRef idx="0"/>
          <a:effectRef idx="0"/>
          <a:fontRef idx="minor"/>
        </p:style>
      </p:sp>
      <p:sp>
        <p:nvSpPr>
          <p:cNvPr id="114" name="Shape 9"/>
          <p:cNvSpPr/>
          <p:nvPr/>
        </p:nvSpPr>
        <p:spPr>
          <a:xfrm>
            <a:off x="676440" y="3324240"/>
            <a:ext cx="228240" cy="228240"/>
          </a:xfrm>
          <a:custGeom>
            <a:avLst/>
            <a:gdLst/>
            <a:ahLst/>
            <a:rect l="l" t="t" r="r" b="b"/>
            <a:pathLst>
              <a:path w="228600" h="228600">
                <a:moveTo>
                  <a:pt x="125016" y="-3572"/>
                </a:moveTo>
                <a:cubicBezTo>
                  <a:pt x="125016" y="-9510"/>
                  <a:pt x="120238" y="-14287"/>
                  <a:pt x="114300" y="-14287"/>
                </a:cubicBezTo>
                <a:cubicBezTo>
                  <a:pt x="108362" y="-14287"/>
                  <a:pt x="103584" y="-9510"/>
                  <a:pt x="103584" y="-3572"/>
                </a:cubicBezTo>
                <a:lnTo>
                  <a:pt x="103584" y="7144"/>
                </a:lnTo>
                <a:lnTo>
                  <a:pt x="89297" y="7144"/>
                </a:lnTo>
                <a:cubicBezTo>
                  <a:pt x="83359" y="7144"/>
                  <a:pt x="78581" y="11921"/>
                  <a:pt x="78581" y="17859"/>
                </a:cubicBezTo>
                <a:cubicBezTo>
                  <a:pt x="78581" y="23798"/>
                  <a:pt x="83359" y="28575"/>
                  <a:pt x="89297" y="28575"/>
                </a:cubicBezTo>
                <a:lnTo>
                  <a:pt x="103584" y="28575"/>
                </a:lnTo>
                <a:lnTo>
                  <a:pt x="103584" y="50006"/>
                </a:lnTo>
                <a:lnTo>
                  <a:pt x="59561" y="79385"/>
                </a:lnTo>
                <a:cubicBezTo>
                  <a:pt x="53578" y="83359"/>
                  <a:pt x="50006" y="90011"/>
                  <a:pt x="50006" y="97200"/>
                </a:cubicBezTo>
                <a:lnTo>
                  <a:pt x="50006" y="114300"/>
                </a:lnTo>
                <a:lnTo>
                  <a:pt x="14377" y="134660"/>
                </a:lnTo>
                <a:cubicBezTo>
                  <a:pt x="5492" y="139750"/>
                  <a:pt x="0" y="149215"/>
                  <a:pt x="0" y="159440"/>
                </a:cubicBezTo>
                <a:lnTo>
                  <a:pt x="0" y="200025"/>
                </a:lnTo>
                <a:cubicBezTo>
                  <a:pt x="0" y="215786"/>
                  <a:pt x="12814" y="228600"/>
                  <a:pt x="28575" y="228600"/>
                </a:cubicBezTo>
                <a:cubicBezTo>
                  <a:pt x="61927" y="228600"/>
                  <a:pt x="66705" y="228600"/>
                  <a:pt x="171450" y="228600"/>
                </a:cubicBezTo>
                <a:lnTo>
                  <a:pt x="200025" y="228600"/>
                </a:lnTo>
                <a:cubicBezTo>
                  <a:pt x="215786" y="228600"/>
                  <a:pt x="228600" y="215786"/>
                  <a:pt x="228600" y="200025"/>
                </a:cubicBezTo>
                <a:lnTo>
                  <a:pt x="228600" y="159440"/>
                </a:lnTo>
                <a:cubicBezTo>
                  <a:pt x="228600" y="149170"/>
                  <a:pt x="223108" y="139705"/>
                  <a:pt x="214223" y="134615"/>
                </a:cubicBezTo>
                <a:lnTo>
                  <a:pt x="178594" y="114300"/>
                </a:lnTo>
                <a:lnTo>
                  <a:pt x="178594" y="97200"/>
                </a:lnTo>
                <a:cubicBezTo>
                  <a:pt x="178594" y="90056"/>
                  <a:pt x="175022" y="83359"/>
                  <a:pt x="169039" y="79385"/>
                </a:cubicBezTo>
                <a:lnTo>
                  <a:pt x="125016" y="50006"/>
                </a:lnTo>
                <a:lnTo>
                  <a:pt x="125016" y="28575"/>
                </a:lnTo>
                <a:lnTo>
                  <a:pt x="139303" y="28575"/>
                </a:lnTo>
                <a:cubicBezTo>
                  <a:pt x="145241" y="28575"/>
                  <a:pt x="150019" y="23798"/>
                  <a:pt x="150019" y="17859"/>
                </a:cubicBezTo>
                <a:cubicBezTo>
                  <a:pt x="150019" y="11921"/>
                  <a:pt x="145241" y="7144"/>
                  <a:pt x="139303" y="7144"/>
                </a:cubicBezTo>
                <a:lnTo>
                  <a:pt x="125016" y="7144"/>
                </a:lnTo>
                <a:lnTo>
                  <a:pt x="125016" y="-3572"/>
                </a:lnTo>
                <a:close/>
                <a:moveTo>
                  <a:pt x="114300" y="142875"/>
                </a:moveTo>
                <a:cubicBezTo>
                  <a:pt x="130061" y="142875"/>
                  <a:pt x="142875" y="155689"/>
                  <a:pt x="142875" y="171450"/>
                </a:cubicBezTo>
                <a:lnTo>
                  <a:pt x="142875" y="207169"/>
                </a:lnTo>
                <a:lnTo>
                  <a:pt x="85725" y="207169"/>
                </a:lnTo>
                <a:lnTo>
                  <a:pt x="85725" y="171450"/>
                </a:lnTo>
                <a:cubicBezTo>
                  <a:pt x="85725" y="155689"/>
                  <a:pt x="98539" y="142875"/>
                  <a:pt x="114300" y="142875"/>
                </a:cubicBezTo>
                <a:close/>
              </a:path>
            </a:pathLst>
          </a:custGeom>
          <a:solidFill>
            <a:srgbClr val="ddff00"/>
          </a:solidFill>
          <a:ln w="0">
            <a:noFill/>
          </a:ln>
        </p:spPr>
        <p:style>
          <a:lnRef idx="0"/>
          <a:fillRef idx="0"/>
          <a:effectRef idx="0"/>
          <a:fontRef idx="minor"/>
        </p:style>
      </p:sp>
      <p:sp>
        <p:nvSpPr>
          <p:cNvPr id="115" name="Text 10"/>
          <p:cNvSpPr/>
          <p:nvPr/>
        </p:nvSpPr>
        <p:spPr>
          <a:xfrm>
            <a:off x="933480" y="3286080"/>
            <a:ext cx="628632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Gospel Spirituals</a:t>
            </a:r>
            <a:endParaRPr b="0" lang="en-HK" sz="1800" spc="-1" strike="noStrike">
              <a:latin typeface="Arial"/>
            </a:endParaRPr>
          </a:p>
        </p:txBody>
      </p:sp>
      <p:sp>
        <p:nvSpPr>
          <p:cNvPr id="116" name="Text 11"/>
          <p:cNvSpPr/>
          <p:nvPr/>
        </p:nvSpPr>
        <p:spPr>
          <a:xfrm>
            <a:off x="647640" y="3705120"/>
            <a:ext cx="6533640" cy="742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Gospel music evolved from spirituals and blues</a:t>
            </a:r>
            <a:r>
              <a:rPr b="0" lang="en-US" sz="1200" spc="-1" strike="noStrike">
                <a:solidFill>
                  <a:srgbClr val="ffffff"/>
                </a:solidFill>
                <a:latin typeface="Liter"/>
                <a:ea typeface="Liter"/>
              </a:rPr>
              <a:t> , maintaining the call-and-response tradition rooted in African music. Modern gospel began in African American churches in the 1920s, with composers like </a:t>
            </a:r>
            <a:r>
              <a:rPr b="1" lang="en-US" sz="1200" spc="-1" strike="noStrike">
                <a:solidFill>
                  <a:srgbClr val="ddff00"/>
                </a:solidFill>
                <a:latin typeface="Liter"/>
                <a:ea typeface="Liter"/>
              </a:rPr>
              <a:t>Thomas A. Dorsey</a:t>
            </a:r>
            <a:r>
              <a:rPr b="0" lang="en-US" sz="1200" spc="-1" strike="noStrike">
                <a:solidFill>
                  <a:srgbClr val="ffffff"/>
                </a:solidFill>
                <a:latin typeface="Liter"/>
                <a:ea typeface="Liter"/>
              </a:rPr>
              <a:t> blending blues and jazz elements with traditional hymns.</a:t>
            </a:r>
            <a:endParaRPr b="0" lang="en-HK" sz="1200" spc="-1" strike="noStrike">
              <a:latin typeface="Arial"/>
            </a:endParaRPr>
          </a:p>
        </p:txBody>
      </p:sp>
      <p:sp>
        <p:nvSpPr>
          <p:cNvPr id="117" name="Text 12"/>
          <p:cNvSpPr/>
          <p:nvPr/>
        </p:nvSpPr>
        <p:spPr>
          <a:xfrm>
            <a:off x="647640" y="4562640"/>
            <a:ext cx="653364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ffffff">
                    <a:alpha val="80000"/>
                  </a:srgbClr>
                </a:solidFill>
                <a:latin typeface="Liter"/>
                <a:ea typeface="Liter"/>
              </a:rPr>
              <a:t>The emotional intensity and vocal power of gospel would profoundly influence rock singers, from </a:t>
            </a:r>
            <a:r>
              <a:rPr b="1" lang="en-US" sz="1200" spc="-1" strike="noStrike">
                <a:solidFill>
                  <a:srgbClr val="ddff00"/>
                </a:solidFill>
                <a:latin typeface="Liter"/>
                <a:ea typeface="Liter"/>
              </a:rPr>
              <a:t>Little Richard</a:t>
            </a:r>
            <a:r>
              <a:rPr b="0" lang="en-US" sz="1200" spc="-1" strike="noStrike">
                <a:solidFill>
                  <a:srgbClr val="ffffff">
                    <a:alpha val="80000"/>
                  </a:srgbClr>
                </a:solidFill>
                <a:latin typeface="Liter"/>
                <a:ea typeface="Liter"/>
              </a:rPr>
              <a:t> 's ecstatic performances to </a:t>
            </a:r>
            <a:r>
              <a:rPr b="1" lang="en-US" sz="1200" spc="-1" strike="noStrike">
                <a:solidFill>
                  <a:srgbClr val="ddff00"/>
                </a:solidFill>
                <a:latin typeface="Liter"/>
                <a:ea typeface="Liter"/>
              </a:rPr>
              <a:t>Aretha Franklin</a:t>
            </a:r>
            <a:r>
              <a:rPr b="0" lang="en-US" sz="1200" spc="-1" strike="noStrike">
                <a:solidFill>
                  <a:srgbClr val="ffffff">
                    <a:alpha val="80000"/>
                  </a:srgbClr>
                </a:solidFill>
                <a:latin typeface="Liter"/>
                <a:ea typeface="Liter"/>
              </a:rPr>
              <a:t> 's soulful delivery.</a:t>
            </a:r>
            <a:endParaRPr b="0" lang="en-HK" sz="1200" spc="-1" strike="noStrike">
              <a:latin typeface="Arial"/>
            </a:endParaRPr>
          </a:p>
        </p:txBody>
      </p:sp>
      <p:sp>
        <p:nvSpPr>
          <p:cNvPr id="118" name="Shape 13"/>
          <p:cNvSpPr/>
          <p:nvPr/>
        </p:nvSpPr>
        <p:spPr>
          <a:xfrm>
            <a:off x="399960" y="5315040"/>
            <a:ext cx="37800" cy="1161720"/>
          </a:xfrm>
          <a:custGeom>
            <a:avLst/>
            <a:gdLst/>
            <a:ahLst/>
            <a:rect l="l" t="t" r="r" b="b"/>
            <a:pathLst>
              <a:path w="38100" h="1162050">
                <a:moveTo>
                  <a:pt x="0" y="0"/>
                </a:moveTo>
                <a:lnTo>
                  <a:pt x="38100" y="0"/>
                </a:lnTo>
                <a:lnTo>
                  <a:pt x="38100" y="1162050"/>
                </a:lnTo>
                <a:lnTo>
                  <a:pt x="0" y="1162050"/>
                </a:lnTo>
                <a:lnTo>
                  <a:pt x="0" y="0"/>
                </a:lnTo>
                <a:close/>
              </a:path>
            </a:pathLst>
          </a:custGeom>
          <a:solidFill>
            <a:srgbClr val="ddff00"/>
          </a:solidFill>
          <a:ln w="0">
            <a:noFill/>
          </a:ln>
        </p:spPr>
        <p:style>
          <a:lnRef idx="0"/>
          <a:fillRef idx="0"/>
          <a:effectRef idx="0"/>
          <a:fontRef idx="minor"/>
        </p:style>
      </p:sp>
      <p:sp>
        <p:nvSpPr>
          <p:cNvPr id="119" name="Shape 14"/>
          <p:cNvSpPr/>
          <p:nvPr/>
        </p:nvSpPr>
        <p:spPr>
          <a:xfrm>
            <a:off x="676440" y="5353200"/>
            <a:ext cx="228240" cy="228240"/>
          </a:xfrm>
          <a:custGeom>
            <a:avLst/>
            <a:gdLst/>
            <a:ahLst/>
            <a:rect l="l" t="t" r="r" b="b"/>
            <a:pathLst>
              <a:path w="228600" h="228600">
                <a:moveTo>
                  <a:pt x="124033" y="3840"/>
                </a:moveTo>
                <a:cubicBezTo>
                  <a:pt x="118542" y="-1250"/>
                  <a:pt x="110058" y="-1250"/>
                  <a:pt x="104611" y="3840"/>
                </a:cubicBezTo>
                <a:lnTo>
                  <a:pt x="4599" y="96709"/>
                </a:lnTo>
                <a:cubicBezTo>
                  <a:pt x="313" y="100727"/>
                  <a:pt x="-1116" y="106933"/>
                  <a:pt x="1027" y="112380"/>
                </a:cubicBezTo>
                <a:cubicBezTo>
                  <a:pt x="3170" y="117827"/>
                  <a:pt x="8394" y="121444"/>
                  <a:pt x="14288" y="121444"/>
                </a:cubicBezTo>
                <a:lnTo>
                  <a:pt x="21431" y="121444"/>
                </a:lnTo>
                <a:lnTo>
                  <a:pt x="21431" y="200025"/>
                </a:lnTo>
                <a:cubicBezTo>
                  <a:pt x="21431" y="215786"/>
                  <a:pt x="34245" y="228600"/>
                  <a:pt x="50006" y="228600"/>
                </a:cubicBezTo>
                <a:lnTo>
                  <a:pt x="178594" y="228600"/>
                </a:lnTo>
                <a:cubicBezTo>
                  <a:pt x="194355" y="228600"/>
                  <a:pt x="207169" y="215786"/>
                  <a:pt x="207169" y="200025"/>
                </a:cubicBezTo>
                <a:lnTo>
                  <a:pt x="207169" y="121444"/>
                </a:lnTo>
                <a:lnTo>
                  <a:pt x="214313" y="121444"/>
                </a:lnTo>
                <a:cubicBezTo>
                  <a:pt x="220206" y="121444"/>
                  <a:pt x="225475" y="117827"/>
                  <a:pt x="227618" y="112380"/>
                </a:cubicBezTo>
                <a:cubicBezTo>
                  <a:pt x="229761" y="106933"/>
                  <a:pt x="228332" y="100682"/>
                  <a:pt x="224046" y="96709"/>
                </a:cubicBezTo>
                <a:lnTo>
                  <a:pt x="124033" y="3840"/>
                </a:lnTo>
                <a:close/>
                <a:moveTo>
                  <a:pt x="107156" y="142875"/>
                </a:moveTo>
                <a:lnTo>
                  <a:pt x="121444" y="142875"/>
                </a:lnTo>
                <a:cubicBezTo>
                  <a:pt x="133276" y="142875"/>
                  <a:pt x="142875" y="152474"/>
                  <a:pt x="142875" y="164306"/>
                </a:cubicBezTo>
                <a:lnTo>
                  <a:pt x="142875" y="207169"/>
                </a:lnTo>
                <a:lnTo>
                  <a:pt x="85725" y="207169"/>
                </a:lnTo>
                <a:lnTo>
                  <a:pt x="85725" y="164306"/>
                </a:lnTo>
                <a:cubicBezTo>
                  <a:pt x="85725" y="152474"/>
                  <a:pt x="95324" y="142875"/>
                  <a:pt x="107156" y="142875"/>
                </a:cubicBezTo>
                <a:close/>
              </a:path>
            </a:pathLst>
          </a:custGeom>
          <a:solidFill>
            <a:srgbClr val="ddff00"/>
          </a:solidFill>
          <a:ln w="0">
            <a:noFill/>
          </a:ln>
        </p:spPr>
        <p:style>
          <a:lnRef idx="0"/>
          <a:fillRef idx="0"/>
          <a:effectRef idx="0"/>
          <a:fontRef idx="minor"/>
        </p:style>
      </p:sp>
      <p:sp>
        <p:nvSpPr>
          <p:cNvPr id="120" name="Text 15"/>
          <p:cNvSpPr/>
          <p:nvPr/>
        </p:nvSpPr>
        <p:spPr>
          <a:xfrm>
            <a:off x="933480" y="5315040"/>
            <a:ext cx="628632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Country &amp; Folk Traditions</a:t>
            </a:r>
            <a:endParaRPr b="0" lang="en-HK" sz="1800" spc="-1" strike="noStrike">
              <a:latin typeface="Arial"/>
            </a:endParaRPr>
          </a:p>
        </p:txBody>
      </p:sp>
      <p:sp>
        <p:nvSpPr>
          <p:cNvPr id="121" name="Text 16"/>
          <p:cNvSpPr/>
          <p:nvPr/>
        </p:nvSpPr>
        <p:spPr>
          <a:xfrm>
            <a:off x="647640" y="5734080"/>
            <a:ext cx="6533640" cy="742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Country music, originating in the 1920s Southern U.S.</a:t>
            </a:r>
            <a:r>
              <a:rPr b="0" lang="en-US" sz="1200" spc="-1" strike="noStrike">
                <a:solidFill>
                  <a:srgbClr val="ffffff"/>
                </a:solidFill>
                <a:latin typeface="Liter"/>
                <a:ea typeface="Liter"/>
              </a:rPr>
              <a:t> , brought storytelling lyrics and simple melodies to the rock equation. The twang of the guitar and narrative songwriting style would merge with blues intensity to create rockabilly and early rock 'n' roll.</a:t>
            </a:r>
            <a:endParaRPr b="0" lang="en-HK" sz="1200" spc="-1" strike="noStrike">
              <a:latin typeface="Arial"/>
            </a:endParaRPr>
          </a:p>
        </p:txBody>
      </p:sp>
      <p:sp>
        <p:nvSpPr>
          <p:cNvPr id="122" name="Shape 17"/>
          <p:cNvSpPr/>
          <p:nvPr/>
        </p:nvSpPr>
        <p:spPr>
          <a:xfrm>
            <a:off x="7340040" y="1266840"/>
            <a:ext cx="4457520" cy="3543120"/>
          </a:xfrm>
          <a:custGeom>
            <a:avLst/>
            <a:gdLst/>
            <a:ahLst/>
            <a:rect l="l" t="t" r="r" b="b"/>
            <a:pathLst>
              <a:path w="4457700" h="3543300">
                <a:moveTo>
                  <a:pt x="0" y="0"/>
                </a:moveTo>
                <a:lnTo>
                  <a:pt x="4457700" y="0"/>
                </a:lnTo>
                <a:lnTo>
                  <a:pt x="4457700" y="3543300"/>
                </a:lnTo>
                <a:lnTo>
                  <a:pt x="0" y="3543300"/>
                </a:lnTo>
                <a:lnTo>
                  <a:pt x="0" y="0"/>
                </a:lnTo>
                <a:close/>
              </a:path>
            </a:pathLst>
          </a:custGeom>
          <a:noFill/>
          <a:ln w="25400">
            <a:solidFill>
              <a:srgbClr val="ddff00"/>
            </a:solidFill>
            <a:round/>
          </a:ln>
        </p:spPr>
        <p:style>
          <a:lnRef idx="0"/>
          <a:fillRef idx="0"/>
          <a:effectRef idx="0"/>
          <a:fontRef idx="minor"/>
        </p:style>
      </p:sp>
      <p:sp>
        <p:nvSpPr>
          <p:cNvPr id="123" name="Shape 18"/>
          <p:cNvSpPr/>
          <p:nvPr/>
        </p:nvSpPr>
        <p:spPr>
          <a:xfrm>
            <a:off x="9342000" y="1732320"/>
            <a:ext cx="456840" cy="456840"/>
          </a:xfrm>
          <a:custGeom>
            <a:avLst/>
            <a:gdLst/>
            <a:ahLst/>
            <a:rect l="l" t="t" r="r" b="b"/>
            <a:pathLst>
              <a:path w="457200" h="457200">
                <a:moveTo>
                  <a:pt x="58847" y="204043"/>
                </a:moveTo>
                <a:cubicBezTo>
                  <a:pt x="70723" y="120997"/>
                  <a:pt x="142250" y="57150"/>
                  <a:pt x="228600" y="57150"/>
                </a:cubicBezTo>
                <a:cubicBezTo>
                  <a:pt x="275927" y="57150"/>
                  <a:pt x="318790" y="76349"/>
                  <a:pt x="349865" y="107335"/>
                </a:cubicBezTo>
                <a:cubicBezTo>
                  <a:pt x="350044" y="107513"/>
                  <a:pt x="350222" y="107692"/>
                  <a:pt x="350401" y="107871"/>
                </a:cubicBezTo>
                <a:lnTo>
                  <a:pt x="357188" y="114300"/>
                </a:lnTo>
                <a:lnTo>
                  <a:pt x="314414" y="114300"/>
                </a:lnTo>
                <a:cubicBezTo>
                  <a:pt x="298609" y="114300"/>
                  <a:pt x="285839" y="127069"/>
                  <a:pt x="285839" y="142875"/>
                </a:cubicBezTo>
                <a:cubicBezTo>
                  <a:pt x="285839" y="158681"/>
                  <a:pt x="298609" y="171450"/>
                  <a:pt x="314414" y="171450"/>
                </a:cubicBezTo>
                <a:lnTo>
                  <a:pt x="428714" y="171450"/>
                </a:lnTo>
                <a:cubicBezTo>
                  <a:pt x="444520" y="171450"/>
                  <a:pt x="457289" y="158681"/>
                  <a:pt x="457289" y="142875"/>
                </a:cubicBezTo>
                <a:lnTo>
                  <a:pt x="457289" y="28575"/>
                </a:lnTo>
                <a:cubicBezTo>
                  <a:pt x="457289" y="12769"/>
                  <a:pt x="444520" y="0"/>
                  <a:pt x="428714" y="0"/>
                </a:cubicBezTo>
                <a:cubicBezTo>
                  <a:pt x="412909" y="0"/>
                  <a:pt x="400139" y="12769"/>
                  <a:pt x="400139" y="28575"/>
                </a:cubicBezTo>
                <a:lnTo>
                  <a:pt x="400139" y="76260"/>
                </a:lnTo>
                <a:lnTo>
                  <a:pt x="390049" y="66705"/>
                </a:lnTo>
                <a:cubicBezTo>
                  <a:pt x="348704" y="25539"/>
                  <a:pt x="291554" y="0"/>
                  <a:pt x="228600" y="0"/>
                </a:cubicBezTo>
                <a:cubicBezTo>
                  <a:pt x="113407" y="0"/>
                  <a:pt x="18127" y="85189"/>
                  <a:pt x="2322" y="196007"/>
                </a:cubicBezTo>
                <a:cubicBezTo>
                  <a:pt x="89" y="211634"/>
                  <a:pt x="10894" y="226100"/>
                  <a:pt x="26521" y="228332"/>
                </a:cubicBezTo>
                <a:cubicBezTo>
                  <a:pt x="42148" y="230565"/>
                  <a:pt x="56614" y="219670"/>
                  <a:pt x="58847" y="204133"/>
                </a:cubicBezTo>
                <a:close/>
                <a:moveTo>
                  <a:pt x="454878" y="261193"/>
                </a:moveTo>
                <a:cubicBezTo>
                  <a:pt x="457111" y="245566"/>
                  <a:pt x="446216" y="231100"/>
                  <a:pt x="430679" y="228868"/>
                </a:cubicBezTo>
                <a:cubicBezTo>
                  <a:pt x="415141" y="226635"/>
                  <a:pt x="400586" y="237530"/>
                  <a:pt x="398353" y="253067"/>
                </a:cubicBezTo>
                <a:cubicBezTo>
                  <a:pt x="386477" y="336113"/>
                  <a:pt x="314950" y="399961"/>
                  <a:pt x="228600" y="399961"/>
                </a:cubicBezTo>
                <a:cubicBezTo>
                  <a:pt x="181273" y="399961"/>
                  <a:pt x="138410" y="380762"/>
                  <a:pt x="107335" y="349776"/>
                </a:cubicBezTo>
                <a:cubicBezTo>
                  <a:pt x="107156" y="349597"/>
                  <a:pt x="106978" y="349419"/>
                  <a:pt x="106799" y="349240"/>
                </a:cubicBezTo>
                <a:lnTo>
                  <a:pt x="100012" y="342811"/>
                </a:lnTo>
                <a:lnTo>
                  <a:pt x="142786" y="342811"/>
                </a:lnTo>
                <a:cubicBezTo>
                  <a:pt x="158591" y="342811"/>
                  <a:pt x="171361" y="330041"/>
                  <a:pt x="171361" y="314236"/>
                </a:cubicBezTo>
                <a:cubicBezTo>
                  <a:pt x="171361" y="298430"/>
                  <a:pt x="158591" y="285661"/>
                  <a:pt x="142786" y="285661"/>
                </a:cubicBezTo>
                <a:lnTo>
                  <a:pt x="28575" y="285750"/>
                </a:lnTo>
                <a:cubicBezTo>
                  <a:pt x="20985" y="285750"/>
                  <a:pt x="13662" y="288786"/>
                  <a:pt x="8305" y="294233"/>
                </a:cubicBezTo>
                <a:cubicBezTo>
                  <a:pt x="2947" y="299680"/>
                  <a:pt x="-89" y="306913"/>
                  <a:pt x="0" y="314593"/>
                </a:cubicBezTo>
                <a:lnTo>
                  <a:pt x="893" y="428000"/>
                </a:lnTo>
                <a:cubicBezTo>
                  <a:pt x="982" y="443805"/>
                  <a:pt x="13930" y="456486"/>
                  <a:pt x="29736" y="456307"/>
                </a:cubicBezTo>
                <a:cubicBezTo>
                  <a:pt x="45541" y="456128"/>
                  <a:pt x="58222" y="443270"/>
                  <a:pt x="58043" y="427464"/>
                </a:cubicBezTo>
                <a:lnTo>
                  <a:pt x="57686" y="381476"/>
                </a:lnTo>
                <a:lnTo>
                  <a:pt x="67241" y="390495"/>
                </a:lnTo>
                <a:cubicBezTo>
                  <a:pt x="108585" y="431661"/>
                  <a:pt x="165646" y="457200"/>
                  <a:pt x="228600" y="457200"/>
                </a:cubicBezTo>
                <a:cubicBezTo>
                  <a:pt x="343793" y="457200"/>
                  <a:pt x="439073" y="372011"/>
                  <a:pt x="454878" y="261193"/>
                </a:cubicBezTo>
                <a:close/>
              </a:path>
            </a:pathLst>
          </a:custGeom>
          <a:solidFill>
            <a:srgbClr val="ddff00"/>
          </a:solidFill>
          <a:ln w="0">
            <a:noFill/>
          </a:ln>
        </p:spPr>
        <p:style>
          <a:lnRef idx="0"/>
          <a:fillRef idx="0"/>
          <a:effectRef idx="0"/>
          <a:fontRef idx="minor"/>
        </p:style>
      </p:sp>
      <p:sp>
        <p:nvSpPr>
          <p:cNvPr id="124" name="Text 19"/>
          <p:cNvSpPr/>
          <p:nvPr/>
        </p:nvSpPr>
        <p:spPr>
          <a:xfrm>
            <a:off x="7521120" y="2341800"/>
            <a:ext cx="4095360" cy="30456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800" spc="-1" strike="noStrike">
                <a:solidFill>
                  <a:srgbClr val="ffffff"/>
                </a:solidFill>
                <a:latin typeface="Liter"/>
                <a:ea typeface="Liter"/>
              </a:rPr>
              <a:t>The Perfect Storm</a:t>
            </a:r>
            <a:endParaRPr b="0" lang="en-HK" sz="1800" spc="-1" strike="noStrike">
              <a:latin typeface="Arial"/>
            </a:endParaRPr>
          </a:p>
        </p:txBody>
      </p:sp>
      <p:sp>
        <p:nvSpPr>
          <p:cNvPr id="125" name="Text 20"/>
          <p:cNvSpPr/>
          <p:nvPr/>
        </p:nvSpPr>
        <p:spPr>
          <a:xfrm>
            <a:off x="7535160" y="2951640"/>
            <a:ext cx="4066920" cy="139032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350" spc="-1" strike="noStrike">
                <a:solidFill>
                  <a:srgbClr val="ffffff"/>
                </a:solidFill>
                <a:latin typeface="Liter"/>
                <a:ea typeface="Liter"/>
              </a:rPr>
              <a:t>Post-war America created the cultural conditions for these diverse musical traditions to merge. </a:t>
            </a:r>
            <a:r>
              <a:rPr b="1" lang="en-US" sz="1350" spc="-1" strike="noStrike">
                <a:solidFill>
                  <a:srgbClr val="ffffff"/>
                </a:solidFill>
                <a:latin typeface="Liter"/>
                <a:ea typeface="Liter"/>
              </a:rPr>
              <a:t>The migration of African Americans to Northern cities</a:t>
            </a:r>
            <a:r>
              <a:rPr b="0" lang="en-US" sz="1350" spc="-1" strike="noStrike">
                <a:solidFill>
                  <a:srgbClr val="ffffff"/>
                </a:solidFill>
                <a:latin typeface="Liter"/>
                <a:ea typeface="Liter"/>
              </a:rPr>
              <a:t> brought blues and gospel to new audiences, while radio and records allowed cross-cultural pollination.</a:t>
            </a:r>
            <a:endParaRPr b="0" lang="en-HK" sz="1350" spc="-1" strike="noStrike">
              <a:latin typeface="Arial"/>
            </a:endParaRPr>
          </a:p>
        </p:txBody>
      </p:sp>
      <p:sp>
        <p:nvSpPr>
          <p:cNvPr id="126" name="Shape 21"/>
          <p:cNvSpPr/>
          <p:nvPr/>
        </p:nvSpPr>
        <p:spPr>
          <a:xfrm>
            <a:off x="7330320" y="4971960"/>
            <a:ext cx="4476240" cy="1504440"/>
          </a:xfrm>
          <a:custGeom>
            <a:avLst/>
            <a:gdLst/>
            <a:ahLst/>
            <a:rect l="l" t="t" r="r" b="b"/>
            <a:pathLst>
              <a:path w="4476750" h="1504950">
                <a:moveTo>
                  <a:pt x="0" y="0"/>
                </a:moveTo>
                <a:lnTo>
                  <a:pt x="4476750" y="0"/>
                </a:lnTo>
                <a:lnTo>
                  <a:pt x="4476750" y="1504950"/>
                </a:lnTo>
                <a:lnTo>
                  <a:pt x="0" y="1504950"/>
                </a:lnTo>
                <a:lnTo>
                  <a:pt x="0" y="0"/>
                </a:lnTo>
                <a:close/>
              </a:path>
            </a:pathLst>
          </a:custGeom>
          <a:solidFill>
            <a:srgbClr val="ddff00"/>
          </a:solidFill>
          <a:ln w="0">
            <a:noFill/>
          </a:ln>
        </p:spPr>
        <p:style>
          <a:lnRef idx="0"/>
          <a:fillRef idx="0"/>
          <a:effectRef idx="0"/>
          <a:fontRef idx="minor"/>
        </p:style>
      </p:sp>
      <p:sp>
        <p:nvSpPr>
          <p:cNvPr id="127" name="Text 22"/>
          <p:cNvSpPr/>
          <p:nvPr/>
        </p:nvSpPr>
        <p:spPr>
          <a:xfrm>
            <a:off x="7521120" y="5162400"/>
            <a:ext cx="419076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000000"/>
                </a:solidFill>
                <a:latin typeface="Liter"/>
                <a:ea typeface="Liter"/>
              </a:rPr>
              <a:t>Key Innovation</a:t>
            </a:r>
            <a:endParaRPr b="0" lang="en-HK" sz="1500" spc="-1" strike="noStrike">
              <a:latin typeface="Arial"/>
            </a:endParaRPr>
          </a:p>
        </p:txBody>
      </p:sp>
      <p:sp>
        <p:nvSpPr>
          <p:cNvPr id="128" name="Text 23"/>
          <p:cNvSpPr/>
          <p:nvPr/>
        </p:nvSpPr>
        <p:spPr>
          <a:xfrm>
            <a:off x="7521120" y="5543640"/>
            <a:ext cx="4171680" cy="742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000000"/>
                </a:solidFill>
                <a:latin typeface="Liter"/>
                <a:ea typeface="Liter"/>
              </a:rPr>
              <a:t>The electric guitar</a:t>
            </a:r>
            <a:r>
              <a:rPr b="0" lang="en-US" sz="1200" spc="-1" strike="noStrike">
                <a:solidFill>
                  <a:srgbClr val="000000"/>
                </a:solidFill>
                <a:latin typeface="Liter"/>
                <a:ea typeface="Liter"/>
              </a:rPr>
              <a:t> replaced the saxophone as the central soloing instrument, thanks to pioneers like </a:t>
            </a:r>
            <a:r>
              <a:rPr b="1" lang="en-US" sz="1200" spc="-1" strike="noStrike">
                <a:solidFill>
                  <a:srgbClr val="000000"/>
                </a:solidFill>
                <a:latin typeface="Liter"/>
                <a:ea typeface="Liter"/>
              </a:rPr>
              <a:t>Chuck Berry</a:t>
            </a:r>
            <a:r>
              <a:rPr b="0" lang="en-US" sz="1200" spc="-1" strike="noStrike">
                <a:solidFill>
                  <a:srgbClr val="000000"/>
                </a:solidFill>
                <a:latin typeface="Liter"/>
                <a:ea typeface="Liter"/>
              </a:rPr>
              <a:t> and </a:t>
            </a:r>
            <a:r>
              <a:rPr b="1" lang="en-US" sz="1200" spc="-1" strike="noStrike">
                <a:solidFill>
                  <a:srgbClr val="000000"/>
                </a:solidFill>
                <a:latin typeface="Liter"/>
                <a:ea typeface="Liter"/>
              </a:rPr>
              <a:t>Bo Diddley</a:t>
            </a:r>
            <a:r>
              <a:rPr b="0" lang="en-US" sz="1200" spc="-1" strike="noStrike">
                <a:solidFill>
                  <a:srgbClr val="000000"/>
                </a:solidFill>
                <a:latin typeface="Liter"/>
                <a:ea typeface="Liter"/>
              </a:rPr>
              <a:t> in the mid-1950s.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29" name="Shape 0"/>
          <p:cNvSpPr/>
          <p:nvPr/>
        </p:nvSpPr>
        <p:spPr>
          <a:xfrm>
            <a:off x="317520" y="365040"/>
            <a:ext cx="63000" cy="38052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130" name="Text 1"/>
          <p:cNvSpPr/>
          <p:nvPr/>
        </p:nvSpPr>
        <p:spPr>
          <a:xfrm>
            <a:off x="507960" y="317520"/>
            <a:ext cx="52938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6" strike="noStrike">
                <a:solidFill>
                  <a:srgbClr val="ddff00"/>
                </a:solidFill>
                <a:latin typeface="Liter"/>
                <a:ea typeface="Liter"/>
              </a:rPr>
              <a:t>CHAPTER 01</a:t>
            </a:r>
            <a:endParaRPr b="0" lang="en-HK" sz="880" spc="-1" strike="noStrike">
              <a:latin typeface="Arial"/>
            </a:endParaRPr>
          </a:p>
        </p:txBody>
      </p:sp>
      <p:sp>
        <p:nvSpPr>
          <p:cNvPr id="131" name="Text 2"/>
          <p:cNvSpPr/>
          <p:nvPr/>
        </p:nvSpPr>
        <p:spPr>
          <a:xfrm>
            <a:off x="507960" y="476280"/>
            <a:ext cx="5381280" cy="3171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Rock 'n' Roll Is Born: The 1950s Revolution</a:t>
            </a:r>
            <a:endParaRPr b="0" lang="en-HK" sz="2250" spc="-1" strike="noStrike">
              <a:latin typeface="Arial"/>
            </a:endParaRPr>
          </a:p>
        </p:txBody>
      </p:sp>
      <p:sp>
        <p:nvSpPr>
          <p:cNvPr id="132" name="Shape 3"/>
          <p:cNvSpPr/>
          <p:nvPr/>
        </p:nvSpPr>
        <p:spPr>
          <a:xfrm>
            <a:off x="317520" y="1047600"/>
            <a:ext cx="4547880" cy="247608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133" name="Text 4"/>
          <p:cNvSpPr/>
          <p:nvPr/>
        </p:nvSpPr>
        <p:spPr>
          <a:xfrm>
            <a:off x="507960" y="1238400"/>
            <a:ext cx="426204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Birth of a Genre</a:t>
            </a:r>
            <a:endParaRPr b="0" lang="en-HK" sz="1500" spc="-1" strike="noStrike">
              <a:latin typeface="Arial"/>
            </a:endParaRPr>
          </a:p>
        </p:txBody>
      </p:sp>
      <p:sp>
        <p:nvSpPr>
          <p:cNvPr id="134" name="Text 5"/>
          <p:cNvSpPr/>
          <p:nvPr/>
        </p:nvSpPr>
        <p:spPr>
          <a:xfrm>
            <a:off x="507960" y="1587600"/>
            <a:ext cx="4230360" cy="1031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Rock music emerged in the mid-1950s</a:t>
            </a:r>
            <a:r>
              <a:rPr b="0" lang="en-US" sz="1000" spc="-1" strike="noStrike">
                <a:solidFill>
                  <a:srgbClr val="000000"/>
                </a:solidFill>
                <a:latin typeface="Liter"/>
                <a:ea typeface="Liter"/>
              </a:rPr>
              <a:t>, characterized by hard-edged music performed with electric guitars, bass, and drums, accompanied by lyrics sung by a vocalist. This new sound was aided by electric guitars and a steady drumbeat, creating an aggressive attack that suggested sexual freedom in a conservative age.</a:t>
            </a:r>
            <a:endParaRPr b="0" lang="en-HK" sz="1000" spc="-1" strike="noStrike">
              <a:latin typeface="Arial"/>
            </a:endParaRPr>
          </a:p>
        </p:txBody>
      </p:sp>
      <p:sp>
        <p:nvSpPr>
          <p:cNvPr id="135" name="Text 6"/>
          <p:cNvSpPr/>
          <p:nvPr/>
        </p:nvSpPr>
        <p:spPr>
          <a:xfrm>
            <a:off x="507960" y="2714760"/>
            <a:ext cx="4230360" cy="618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Unlike the safe pop music of the era, rock's raw energy and rebellious spirit captured the imagination of teenagers seeking something authentic and exciting.</a:t>
            </a:r>
            <a:endParaRPr b="0" lang="en-HK" sz="1000" spc="-1" strike="noStrike">
              <a:latin typeface="Arial"/>
            </a:endParaRPr>
          </a:p>
        </p:txBody>
      </p:sp>
      <p:sp>
        <p:nvSpPr>
          <p:cNvPr id="136" name="Shape 7"/>
          <p:cNvSpPr/>
          <p:nvPr/>
        </p:nvSpPr>
        <p:spPr>
          <a:xfrm>
            <a:off x="325440" y="3659040"/>
            <a:ext cx="4532040" cy="4198680"/>
          </a:xfrm>
          <a:custGeom>
            <a:avLst/>
            <a:gdLst/>
            <a:ahLst/>
            <a:rect l="l" t="t" r="r" b="b"/>
            <a:pathLst>
              <a:path w="4532313" h="4198938">
                <a:moveTo>
                  <a:pt x="0" y="0"/>
                </a:moveTo>
                <a:lnTo>
                  <a:pt x="4532313" y="0"/>
                </a:lnTo>
                <a:lnTo>
                  <a:pt x="4532313" y="4198938"/>
                </a:lnTo>
                <a:lnTo>
                  <a:pt x="0" y="4198938"/>
                </a:lnTo>
                <a:lnTo>
                  <a:pt x="0" y="0"/>
                </a:lnTo>
                <a:close/>
              </a:path>
            </a:pathLst>
          </a:custGeom>
          <a:noFill/>
          <a:ln w="25400">
            <a:solidFill>
              <a:srgbClr val="ddff00"/>
            </a:solidFill>
            <a:round/>
          </a:ln>
        </p:spPr>
        <p:style>
          <a:lnRef idx="0"/>
          <a:fillRef idx="0"/>
          <a:effectRef idx="0"/>
          <a:fontRef idx="minor"/>
        </p:style>
      </p:sp>
      <p:sp>
        <p:nvSpPr>
          <p:cNvPr id="137" name="Text 8"/>
          <p:cNvSpPr/>
          <p:nvPr/>
        </p:nvSpPr>
        <p:spPr>
          <a:xfrm>
            <a:off x="492120" y="3825720"/>
            <a:ext cx="4277880" cy="221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Pioneering Artists</a:t>
            </a:r>
            <a:endParaRPr b="0" lang="en-HK" sz="1250" spc="-1" strike="noStrike">
              <a:latin typeface="Arial"/>
            </a:endParaRPr>
          </a:p>
        </p:txBody>
      </p:sp>
      <p:sp>
        <p:nvSpPr>
          <p:cNvPr id="138" name="Shape 9"/>
          <p:cNvSpPr/>
          <p:nvPr/>
        </p:nvSpPr>
        <p:spPr>
          <a:xfrm>
            <a:off x="492120" y="4175280"/>
            <a:ext cx="317160" cy="3171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39" name="Shape 10"/>
          <p:cNvSpPr/>
          <p:nvPr/>
        </p:nvSpPr>
        <p:spPr>
          <a:xfrm>
            <a:off x="579600" y="4270320"/>
            <a:ext cx="142560" cy="12672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0" name="Text 11"/>
          <p:cNvSpPr/>
          <p:nvPr/>
        </p:nvSpPr>
        <p:spPr>
          <a:xfrm>
            <a:off x="905040" y="4175280"/>
            <a:ext cx="385740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Elvis Presley</a:t>
            </a:r>
            <a:endParaRPr b="0" lang="en-HK" sz="1130" spc="-1" strike="noStrike">
              <a:latin typeface="Arial"/>
            </a:endParaRPr>
          </a:p>
        </p:txBody>
      </p:sp>
      <p:sp>
        <p:nvSpPr>
          <p:cNvPr id="141" name="Text 12"/>
          <p:cNvSpPr/>
          <p:nvPr/>
        </p:nvSpPr>
        <p:spPr>
          <a:xfrm>
            <a:off x="905040" y="4397400"/>
            <a:ext cx="3849480" cy="38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The King of Rock 'n' Roll, blending country, blues, and gospel into an irresistible sound</a:t>
            </a:r>
            <a:endParaRPr b="0" lang="en-HK" sz="1000" spc="-1" strike="noStrike">
              <a:latin typeface="Arial"/>
            </a:endParaRPr>
          </a:p>
        </p:txBody>
      </p:sp>
      <p:sp>
        <p:nvSpPr>
          <p:cNvPr id="142" name="Shape 13"/>
          <p:cNvSpPr/>
          <p:nvPr/>
        </p:nvSpPr>
        <p:spPr>
          <a:xfrm>
            <a:off x="492120" y="4873680"/>
            <a:ext cx="317160" cy="3171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43" name="Shape 14"/>
          <p:cNvSpPr/>
          <p:nvPr/>
        </p:nvSpPr>
        <p:spPr>
          <a:xfrm>
            <a:off x="579600" y="4968720"/>
            <a:ext cx="142560" cy="12672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4" name="Text 15"/>
          <p:cNvSpPr/>
          <p:nvPr/>
        </p:nvSpPr>
        <p:spPr>
          <a:xfrm>
            <a:off x="905040" y="4873680"/>
            <a:ext cx="385740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Chuck Berry</a:t>
            </a:r>
            <a:endParaRPr b="0" lang="en-HK" sz="1130" spc="-1" strike="noStrike">
              <a:latin typeface="Arial"/>
            </a:endParaRPr>
          </a:p>
        </p:txBody>
      </p:sp>
      <p:sp>
        <p:nvSpPr>
          <p:cNvPr id="145" name="Text 16"/>
          <p:cNvSpPr/>
          <p:nvPr/>
        </p:nvSpPr>
        <p:spPr>
          <a:xfrm>
            <a:off x="905040" y="5095800"/>
            <a:ext cx="3849480" cy="38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Leaned heavily on classic blues structures while demonstrating natural-born showmanship</a:t>
            </a:r>
            <a:endParaRPr b="0" lang="en-HK" sz="1000" spc="-1" strike="noStrike">
              <a:latin typeface="Arial"/>
            </a:endParaRPr>
          </a:p>
        </p:txBody>
      </p:sp>
      <p:sp>
        <p:nvSpPr>
          <p:cNvPr id="146" name="Shape 17"/>
          <p:cNvSpPr/>
          <p:nvPr/>
        </p:nvSpPr>
        <p:spPr>
          <a:xfrm>
            <a:off x="492120" y="5572080"/>
            <a:ext cx="317160" cy="3171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47" name="Shape 18"/>
          <p:cNvSpPr/>
          <p:nvPr/>
        </p:nvSpPr>
        <p:spPr>
          <a:xfrm>
            <a:off x="579600" y="5667480"/>
            <a:ext cx="142560" cy="12672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8" name="Text 19"/>
          <p:cNvSpPr/>
          <p:nvPr/>
        </p:nvSpPr>
        <p:spPr>
          <a:xfrm>
            <a:off x="905040" y="5572080"/>
            <a:ext cx="382536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Little Richard</a:t>
            </a:r>
            <a:endParaRPr b="0" lang="en-HK" sz="1130" spc="-1" strike="noStrike">
              <a:latin typeface="Arial"/>
            </a:endParaRPr>
          </a:p>
        </p:txBody>
      </p:sp>
      <p:sp>
        <p:nvSpPr>
          <p:cNvPr id="149" name="Text 20"/>
          <p:cNvSpPr/>
          <p:nvPr/>
        </p:nvSpPr>
        <p:spPr>
          <a:xfrm>
            <a:off x="905040" y="5794200"/>
            <a:ext cx="381744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Brought ecstatic, gospel-influenced vocals and piano-driven energy</a:t>
            </a:r>
            <a:endParaRPr b="0" lang="en-HK" sz="1000" spc="-1" strike="noStrike">
              <a:latin typeface="Arial"/>
            </a:endParaRPr>
          </a:p>
        </p:txBody>
      </p:sp>
      <p:sp>
        <p:nvSpPr>
          <p:cNvPr id="150" name="Shape 21"/>
          <p:cNvSpPr/>
          <p:nvPr/>
        </p:nvSpPr>
        <p:spPr>
          <a:xfrm>
            <a:off x="492120" y="6080040"/>
            <a:ext cx="317160" cy="3171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51" name="Shape 22"/>
          <p:cNvSpPr/>
          <p:nvPr/>
        </p:nvSpPr>
        <p:spPr>
          <a:xfrm>
            <a:off x="579600" y="6175440"/>
            <a:ext cx="142560" cy="12672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52" name="Text 23"/>
          <p:cNvSpPr/>
          <p:nvPr/>
        </p:nvSpPr>
        <p:spPr>
          <a:xfrm>
            <a:off x="905040" y="6080040"/>
            <a:ext cx="385740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Buddy Holly</a:t>
            </a:r>
            <a:endParaRPr b="0" lang="en-HK" sz="1130" spc="-1" strike="noStrike">
              <a:latin typeface="Arial"/>
            </a:endParaRPr>
          </a:p>
        </p:txBody>
      </p:sp>
      <p:sp>
        <p:nvSpPr>
          <p:cNvPr id="153" name="Text 24"/>
          <p:cNvSpPr/>
          <p:nvPr/>
        </p:nvSpPr>
        <p:spPr>
          <a:xfrm>
            <a:off x="905040" y="6302520"/>
            <a:ext cx="3849480" cy="38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Pioneered the standard rock band lineup with guitar, bass, and drums</a:t>
            </a:r>
            <a:endParaRPr b="0" lang="en-HK" sz="1000" spc="-1" strike="noStrike">
              <a:latin typeface="Arial"/>
            </a:endParaRPr>
          </a:p>
        </p:txBody>
      </p:sp>
      <p:sp>
        <p:nvSpPr>
          <p:cNvPr id="154" name="Image 0"/>
          <p:cNvSpPr/>
          <p:nvPr/>
        </p:nvSpPr>
        <p:spPr>
          <a:xfrm>
            <a:off x="5054400" y="1047600"/>
            <a:ext cx="6818040" cy="4722480"/>
          </a:xfrm>
          <a:prstGeom prst="roundRect">
            <a:avLst>
              <a:gd name="adj" fmla="val 0"/>
            </a:avLst>
          </a:prstGeom>
          <a:blipFill rotWithShape="0">
            <a:blip r:embed="rId1"/>
            <a:srcRect/>
            <a:stretch/>
          </a:blipFill>
          <a:ln w="0">
            <a:noFill/>
          </a:ln>
        </p:spPr>
        <p:style>
          <a:lnRef idx="0"/>
          <a:fillRef idx="0"/>
          <a:effectRef idx="0"/>
          <a:fontRef idx="minor"/>
        </p:style>
      </p:sp>
      <p:sp>
        <p:nvSpPr>
          <p:cNvPr id="155" name="Shape 25"/>
          <p:cNvSpPr/>
          <p:nvPr/>
        </p:nvSpPr>
        <p:spPr>
          <a:xfrm>
            <a:off x="5054400" y="1047600"/>
            <a:ext cx="6818040" cy="4722480"/>
          </a:xfrm>
          <a:custGeom>
            <a:avLst/>
            <a:gdLst/>
            <a:ahLst/>
            <a:rect l="l" t="t" r="r" b="b"/>
            <a:pathLst>
              <a:path w="6818313" h="4722813">
                <a:moveTo>
                  <a:pt x="0" y="0"/>
                </a:moveTo>
                <a:lnTo>
                  <a:pt x="6818313" y="0"/>
                </a:lnTo>
                <a:lnTo>
                  <a:pt x="6818313" y="4722813"/>
                </a:lnTo>
                <a:lnTo>
                  <a:pt x="0" y="4722813"/>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156" name="Text 26"/>
          <p:cNvSpPr/>
          <p:nvPr/>
        </p:nvSpPr>
        <p:spPr>
          <a:xfrm>
            <a:off x="5181480" y="5228640"/>
            <a:ext cx="661968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1950s PERFORMANCE</a:t>
            </a:r>
            <a:endParaRPr b="0" lang="en-HK" sz="880" spc="-1" strike="noStrike">
              <a:latin typeface="Arial"/>
            </a:endParaRPr>
          </a:p>
        </p:txBody>
      </p:sp>
      <p:sp>
        <p:nvSpPr>
          <p:cNvPr id="157" name="Text 27"/>
          <p:cNvSpPr/>
          <p:nvPr/>
        </p:nvSpPr>
        <p:spPr>
          <a:xfrm>
            <a:off x="5181480" y="5419080"/>
            <a:ext cx="663552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Elvis Presley on Stage</a:t>
            </a:r>
            <a:endParaRPr b="0" lang="en-HK" sz="1130" spc="-1" strike="noStrike">
              <a:latin typeface="Arial"/>
            </a:endParaRPr>
          </a:p>
        </p:txBody>
      </p:sp>
      <p:sp>
        <p:nvSpPr>
          <p:cNvPr id="158" name="Shape 28"/>
          <p:cNvSpPr/>
          <p:nvPr/>
        </p:nvSpPr>
        <p:spPr>
          <a:xfrm>
            <a:off x="5058720" y="5899320"/>
            <a:ext cx="2198160" cy="92844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59" name="Text 29"/>
          <p:cNvSpPr/>
          <p:nvPr/>
        </p:nvSpPr>
        <p:spPr>
          <a:xfrm>
            <a:off x="5118120" y="6030360"/>
            <a:ext cx="2079360" cy="31716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1954</a:t>
            </a:r>
            <a:endParaRPr b="0" lang="en-HK" sz="2250" spc="-1" strike="noStrike">
              <a:latin typeface="Arial"/>
            </a:endParaRPr>
          </a:p>
        </p:txBody>
      </p:sp>
      <p:sp>
        <p:nvSpPr>
          <p:cNvPr id="160" name="Text 30"/>
          <p:cNvSpPr/>
          <p:nvPr/>
        </p:nvSpPr>
        <p:spPr>
          <a:xfrm>
            <a:off x="5161680" y="6379560"/>
            <a:ext cx="1991880" cy="3171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"That's All Right"</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Elvis's debut</a:t>
            </a:r>
            <a:endParaRPr b="0" lang="en-HK" sz="880" spc="-1" strike="noStrike">
              <a:latin typeface="Arial"/>
            </a:endParaRPr>
          </a:p>
        </p:txBody>
      </p:sp>
      <p:sp>
        <p:nvSpPr>
          <p:cNvPr id="161" name="Shape 31"/>
          <p:cNvSpPr/>
          <p:nvPr/>
        </p:nvSpPr>
        <p:spPr>
          <a:xfrm>
            <a:off x="7363440" y="5899320"/>
            <a:ext cx="2198160" cy="92844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62" name="Text 32"/>
          <p:cNvSpPr/>
          <p:nvPr/>
        </p:nvSpPr>
        <p:spPr>
          <a:xfrm>
            <a:off x="7423200" y="6030360"/>
            <a:ext cx="2079360" cy="31716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1955</a:t>
            </a:r>
            <a:endParaRPr b="0" lang="en-HK" sz="2250" spc="-1" strike="noStrike">
              <a:latin typeface="Arial"/>
            </a:endParaRPr>
          </a:p>
        </p:txBody>
      </p:sp>
      <p:sp>
        <p:nvSpPr>
          <p:cNvPr id="163" name="Text 33"/>
          <p:cNvSpPr/>
          <p:nvPr/>
        </p:nvSpPr>
        <p:spPr>
          <a:xfrm>
            <a:off x="7466760" y="6379560"/>
            <a:ext cx="1991880" cy="3171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"Maybellene"</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Chuck Berry</a:t>
            </a:r>
            <a:endParaRPr b="0" lang="en-HK" sz="880" spc="-1" strike="noStrike">
              <a:latin typeface="Arial"/>
            </a:endParaRPr>
          </a:p>
        </p:txBody>
      </p:sp>
      <p:sp>
        <p:nvSpPr>
          <p:cNvPr id="164" name="Shape 34"/>
          <p:cNvSpPr/>
          <p:nvPr/>
        </p:nvSpPr>
        <p:spPr>
          <a:xfrm>
            <a:off x="9668520" y="5899320"/>
            <a:ext cx="2198160" cy="92844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65" name="Text 35"/>
          <p:cNvSpPr/>
          <p:nvPr/>
        </p:nvSpPr>
        <p:spPr>
          <a:xfrm>
            <a:off x="9728280" y="6030360"/>
            <a:ext cx="2079360" cy="31716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1955</a:t>
            </a:r>
            <a:endParaRPr b="0" lang="en-HK" sz="2250" spc="-1" strike="noStrike">
              <a:latin typeface="Arial"/>
            </a:endParaRPr>
          </a:p>
        </p:txBody>
      </p:sp>
      <p:sp>
        <p:nvSpPr>
          <p:cNvPr id="166" name="Text 36"/>
          <p:cNvSpPr/>
          <p:nvPr/>
        </p:nvSpPr>
        <p:spPr>
          <a:xfrm>
            <a:off x="9771840" y="6379560"/>
            <a:ext cx="1991880" cy="3171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"Tutti Frutti"</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Little Richard</a:t>
            </a:r>
            <a:endParaRPr b="0" lang="en-HK" sz="880" spc="-1" strike="noStrike">
              <a:latin typeface="Arial"/>
            </a:endParaRPr>
          </a:p>
        </p:txBody>
      </p:sp>
      <p:sp>
        <p:nvSpPr>
          <p:cNvPr id="167" name="Shape 37"/>
          <p:cNvSpPr/>
          <p:nvPr/>
        </p:nvSpPr>
        <p:spPr>
          <a:xfrm>
            <a:off x="5070600" y="6959160"/>
            <a:ext cx="31320" cy="904680"/>
          </a:xfrm>
          <a:custGeom>
            <a:avLst/>
            <a:gdLst/>
            <a:ahLst/>
            <a:rect l="l" t="t" r="r" b="b"/>
            <a:pathLst>
              <a:path w="31750" h="904875">
                <a:moveTo>
                  <a:pt x="0" y="0"/>
                </a:moveTo>
                <a:lnTo>
                  <a:pt x="31750" y="0"/>
                </a:lnTo>
                <a:lnTo>
                  <a:pt x="31750" y="904875"/>
                </a:lnTo>
                <a:lnTo>
                  <a:pt x="0" y="904875"/>
                </a:lnTo>
                <a:lnTo>
                  <a:pt x="0" y="0"/>
                </a:lnTo>
                <a:close/>
              </a:path>
            </a:pathLst>
          </a:custGeom>
          <a:solidFill>
            <a:srgbClr val="ddff00"/>
          </a:solidFill>
          <a:ln w="0">
            <a:noFill/>
          </a:ln>
        </p:spPr>
        <p:style>
          <a:lnRef idx="0"/>
          <a:fillRef idx="0"/>
          <a:effectRef idx="0"/>
          <a:fontRef idx="minor"/>
        </p:style>
      </p:sp>
      <p:sp>
        <p:nvSpPr>
          <p:cNvPr id="168" name="Text 38"/>
          <p:cNvSpPr/>
          <p:nvPr/>
        </p:nvSpPr>
        <p:spPr>
          <a:xfrm>
            <a:off x="5213160" y="6959160"/>
            <a:ext cx="673056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ddff00"/>
                </a:solidFill>
                <a:latin typeface="Liter"/>
                <a:ea typeface="Liter"/>
              </a:rPr>
              <a:t>Cultural Impact</a:t>
            </a:r>
            <a:endParaRPr b="0" lang="en-HK" sz="1130" spc="-1" strike="noStrike">
              <a:latin typeface="Arial"/>
            </a:endParaRPr>
          </a:p>
        </p:txBody>
      </p:sp>
      <p:sp>
        <p:nvSpPr>
          <p:cNvPr id="169" name="Text 39"/>
          <p:cNvSpPr/>
          <p:nvPr/>
        </p:nvSpPr>
        <p:spPr>
          <a:xfrm>
            <a:off x="5213160" y="7244640"/>
            <a:ext cx="6722640" cy="618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ffffff"/>
                </a:solidFill>
                <a:latin typeface="Liter"/>
                <a:ea typeface="Liter"/>
              </a:rPr>
              <a:t>Rock 'n' roll became the voice of youth rebellion</a:t>
            </a:r>
            <a:r>
              <a:rPr b="0" lang="en-US" sz="1000" spc="-1" strike="noStrike">
                <a:solidFill>
                  <a:srgbClr val="ffffff"/>
                </a:solidFill>
                <a:latin typeface="Liter"/>
                <a:ea typeface="Liter"/>
              </a:rPr>
              <a:t>, challenging racial segregation by bringing black and white audiences together. The music's energy and attitude would inspire generations of musicians in England and America to pick up guitars and form bands.</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404040"/>
        </a:solidFill>
      </p:bgPr>
    </p:bg>
    <p:spTree>
      <p:nvGrpSpPr>
        <p:cNvPr id="1" name=""/>
        <p:cNvGrpSpPr/>
        <p:nvPr/>
      </p:nvGrpSpPr>
      <p:grpSpPr>
        <a:xfrm>
          <a:off x="0" y="0"/>
          <a:ext cx="0" cy="0"/>
          <a:chOff x="0" y="0"/>
          <a:chExt cx="0" cy="0"/>
        </a:xfrm>
      </p:grpSpPr>
      <p:sp>
        <p:nvSpPr>
          <p:cNvPr id="170" name="Image 0"/>
          <p:cNvSpPr/>
          <p:nvPr/>
        </p:nvSpPr>
        <p:spPr>
          <a:xfrm>
            <a:off x="0" y="0"/>
            <a:ext cx="12191760" cy="6857640"/>
          </a:xfrm>
          <a:prstGeom prst="roundRect">
            <a:avLst>
              <a:gd name="adj" fmla="val 0"/>
            </a:avLst>
          </a:prstGeom>
          <a:blipFill rotWithShape="0">
            <a:blip r:embed="rId1"/>
            <a:srcRect/>
            <a:stretch/>
          </a:blipFill>
          <a:ln w="0">
            <a:noFill/>
          </a:ln>
        </p:spPr>
        <p:style>
          <a:lnRef idx="0"/>
          <a:fillRef idx="0"/>
          <a:effectRef idx="0"/>
          <a:fontRef idx="minor"/>
        </p:style>
      </p:sp>
      <p:sp>
        <p:nvSpPr>
          <p:cNvPr id="171" name="Shape 0"/>
          <p:cNvSpPr/>
          <p:nvPr/>
        </p:nvSpPr>
        <p:spPr>
          <a:xfrm>
            <a:off x="0" y="0"/>
            <a:ext cx="12191760" cy="68576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172" name="Shape 1"/>
          <p:cNvSpPr/>
          <p:nvPr/>
        </p:nvSpPr>
        <p:spPr>
          <a:xfrm rot="720000">
            <a:off x="10754280" y="5420160"/>
            <a:ext cx="875880" cy="87588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173" name="Shape 2"/>
          <p:cNvSpPr/>
          <p:nvPr/>
        </p:nvSpPr>
        <p:spPr>
          <a:xfrm rot="21240000">
            <a:off x="320400" y="1311120"/>
            <a:ext cx="1218960" cy="121896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174" name="Text 3"/>
          <p:cNvSpPr/>
          <p:nvPr/>
        </p:nvSpPr>
        <p:spPr>
          <a:xfrm>
            <a:off x="572400" y="1638360"/>
            <a:ext cx="1180800" cy="6854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ffffff"/>
                </a:solidFill>
                <a:latin typeface="Liter"/>
                <a:ea typeface="Liter"/>
              </a:rPr>
              <a:t>02</a:t>
            </a:r>
            <a:endParaRPr b="0" lang="en-HK" sz="5400" spc="-1" strike="noStrike">
              <a:latin typeface="Arial"/>
            </a:endParaRPr>
          </a:p>
        </p:txBody>
      </p:sp>
      <p:sp>
        <p:nvSpPr>
          <p:cNvPr id="175" name="Shape 4"/>
          <p:cNvSpPr/>
          <p:nvPr/>
        </p:nvSpPr>
        <p:spPr>
          <a:xfrm>
            <a:off x="1828800" y="1752480"/>
            <a:ext cx="3333240" cy="37800"/>
          </a:xfrm>
          <a:custGeom>
            <a:avLst/>
            <a:gdLst/>
            <a:ahLst/>
            <a:rect l="l" t="t" r="r" b="b"/>
            <a:pathLst>
              <a:path w="3333750" h="38100">
                <a:moveTo>
                  <a:pt x="0" y="0"/>
                </a:moveTo>
                <a:lnTo>
                  <a:pt x="3333750" y="0"/>
                </a:lnTo>
                <a:lnTo>
                  <a:pt x="3333750" y="38100"/>
                </a:lnTo>
                <a:lnTo>
                  <a:pt x="0" y="38100"/>
                </a:lnTo>
                <a:lnTo>
                  <a:pt x="0" y="0"/>
                </a:lnTo>
                <a:close/>
              </a:path>
            </a:pathLst>
          </a:custGeom>
          <a:solidFill>
            <a:srgbClr val="ddff00"/>
          </a:solidFill>
          <a:ln w="0">
            <a:noFill/>
          </a:ln>
        </p:spPr>
        <p:style>
          <a:lnRef idx="0"/>
          <a:fillRef idx="0"/>
          <a:effectRef idx="0"/>
          <a:fontRef idx="minor"/>
        </p:style>
      </p:sp>
      <p:sp>
        <p:nvSpPr>
          <p:cNvPr id="176" name="Text 5"/>
          <p:cNvSpPr/>
          <p:nvPr/>
        </p:nvSpPr>
        <p:spPr>
          <a:xfrm>
            <a:off x="1828800" y="1943280"/>
            <a:ext cx="3419280" cy="266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34" strike="noStrike">
                <a:solidFill>
                  <a:srgbClr val="ffffff"/>
                </a:solidFill>
                <a:latin typeface="Liter"/>
                <a:ea typeface="Liter"/>
              </a:rPr>
              <a:t>CHAPTER TWO</a:t>
            </a:r>
            <a:endParaRPr b="0" lang="en-HK" sz="1350" spc="-1" strike="noStrike">
              <a:latin typeface="Arial"/>
            </a:endParaRPr>
          </a:p>
        </p:txBody>
      </p:sp>
      <p:sp>
        <p:nvSpPr>
          <p:cNvPr id="177" name="Text 6"/>
          <p:cNvSpPr/>
          <p:nvPr/>
        </p:nvSpPr>
        <p:spPr>
          <a:xfrm>
            <a:off x="380880" y="2895480"/>
            <a:ext cx="5124240" cy="17143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THE BRITISH</a:t>
            </a:r>
            <a:endParaRPr b="0" lang="en-HK" sz="5400" spc="-1" strike="noStrike">
              <a:latin typeface="Arial"/>
            </a:endParaRPr>
          </a:p>
          <a:p>
            <a:pPr>
              <a:lnSpc>
                <a:spcPct val="100000"/>
              </a:lnSpc>
              <a:buNone/>
            </a:pPr>
            <a:r>
              <a:rPr b="1" lang="en-US" sz="5400" spc="-1" strike="noStrike">
                <a:solidFill>
                  <a:srgbClr val="ffffff"/>
                </a:solidFill>
                <a:latin typeface="Liter"/>
                <a:ea typeface="Liter"/>
              </a:rPr>
              <a:t>INVASION</a:t>
            </a:r>
            <a:endParaRPr b="0" lang="en-HK" sz="5400" spc="-1" strike="noStrike">
              <a:latin typeface="Arial"/>
            </a:endParaRPr>
          </a:p>
        </p:txBody>
      </p:sp>
      <p:sp>
        <p:nvSpPr>
          <p:cNvPr id="178" name="Text 7"/>
          <p:cNvSpPr/>
          <p:nvPr/>
        </p:nvSpPr>
        <p:spPr>
          <a:xfrm>
            <a:off x="380880" y="4838760"/>
            <a:ext cx="489564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1960s: When Britain Took Back American Music</a:t>
            </a:r>
            <a:endParaRPr b="0" lang="en-HK" sz="1800" spc="-1" strike="noStrike">
              <a:latin typeface="Arial"/>
            </a:endParaRPr>
          </a:p>
        </p:txBody>
      </p:sp>
      <p:sp>
        <p:nvSpPr>
          <p:cNvPr id="179" name="Shape 8"/>
          <p:cNvSpPr/>
          <p:nvPr/>
        </p:nvSpPr>
        <p:spPr>
          <a:xfrm>
            <a:off x="380880" y="5448240"/>
            <a:ext cx="761760" cy="3780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180" name="Shape 9"/>
          <p:cNvSpPr/>
          <p:nvPr/>
        </p:nvSpPr>
        <p:spPr>
          <a:xfrm>
            <a:off x="1295280" y="5448240"/>
            <a:ext cx="380520" cy="3780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181" name="Shape 10"/>
          <p:cNvSpPr/>
          <p:nvPr/>
        </p:nvSpPr>
        <p:spPr>
          <a:xfrm>
            <a:off x="1828800" y="5448240"/>
            <a:ext cx="190080" cy="3780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82" name="Shape 0"/>
          <p:cNvSpPr/>
          <p:nvPr/>
        </p:nvSpPr>
        <p:spPr>
          <a:xfrm>
            <a:off x="329760" y="379080"/>
            <a:ext cx="65520" cy="395280"/>
          </a:xfrm>
          <a:custGeom>
            <a:avLst/>
            <a:gdLst/>
            <a:ahLst/>
            <a:rect l="l" t="t" r="r" b="b"/>
            <a:pathLst>
              <a:path w="65947" h="395684">
                <a:moveTo>
                  <a:pt x="0" y="0"/>
                </a:moveTo>
                <a:lnTo>
                  <a:pt x="65947" y="0"/>
                </a:lnTo>
                <a:lnTo>
                  <a:pt x="65947" y="395684"/>
                </a:lnTo>
                <a:lnTo>
                  <a:pt x="0" y="395684"/>
                </a:lnTo>
                <a:lnTo>
                  <a:pt x="0" y="0"/>
                </a:lnTo>
                <a:close/>
              </a:path>
            </a:pathLst>
          </a:custGeom>
          <a:solidFill>
            <a:srgbClr val="ddff00"/>
          </a:solidFill>
          <a:ln w="0">
            <a:noFill/>
          </a:ln>
        </p:spPr>
        <p:style>
          <a:lnRef idx="0"/>
          <a:fillRef idx="0"/>
          <a:effectRef idx="0"/>
          <a:fontRef idx="minor"/>
        </p:style>
      </p:sp>
      <p:sp>
        <p:nvSpPr>
          <p:cNvPr id="183" name="Text 1"/>
          <p:cNvSpPr/>
          <p:nvPr/>
        </p:nvSpPr>
        <p:spPr>
          <a:xfrm>
            <a:off x="527400" y="329760"/>
            <a:ext cx="4550040" cy="164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10" spc="89" strike="noStrike">
                <a:solidFill>
                  <a:srgbClr val="ddff00"/>
                </a:solidFill>
                <a:latin typeface="Liter"/>
                <a:ea typeface="Liter"/>
              </a:rPr>
              <a:t>CHAPTER 02</a:t>
            </a:r>
            <a:endParaRPr b="0" lang="en-HK" sz="910" spc="-1" strike="noStrike">
              <a:latin typeface="Arial"/>
            </a:endParaRPr>
          </a:p>
        </p:txBody>
      </p:sp>
      <p:sp>
        <p:nvSpPr>
          <p:cNvPr id="184" name="Text 2"/>
          <p:cNvSpPr/>
          <p:nvPr/>
        </p:nvSpPr>
        <p:spPr>
          <a:xfrm>
            <a:off x="527400" y="494640"/>
            <a:ext cx="4640760" cy="3294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40" spc="-1" strike="noStrike">
                <a:solidFill>
                  <a:srgbClr val="ffffff"/>
                </a:solidFill>
                <a:latin typeface="Liter"/>
                <a:ea typeface="Liter"/>
              </a:rPr>
              <a:t>Beatlemania &amp; The British Invasion</a:t>
            </a:r>
            <a:endParaRPr b="0" lang="en-HK" sz="2340" spc="-1" strike="noStrike">
              <a:latin typeface="Arial"/>
            </a:endParaRPr>
          </a:p>
        </p:txBody>
      </p:sp>
      <p:sp>
        <p:nvSpPr>
          <p:cNvPr id="185" name="Shape 3"/>
          <p:cNvSpPr/>
          <p:nvPr/>
        </p:nvSpPr>
        <p:spPr>
          <a:xfrm>
            <a:off x="329760" y="1088280"/>
            <a:ext cx="6800400" cy="2143080"/>
          </a:xfrm>
          <a:custGeom>
            <a:avLst/>
            <a:gdLst/>
            <a:ahLst/>
            <a:rect l="l" t="t" r="r" b="b"/>
            <a:pathLst>
              <a:path w="6800811" h="2143286">
                <a:moveTo>
                  <a:pt x="0" y="0"/>
                </a:moveTo>
                <a:lnTo>
                  <a:pt x="6800811" y="0"/>
                </a:lnTo>
                <a:lnTo>
                  <a:pt x="6800811" y="2143286"/>
                </a:lnTo>
                <a:lnTo>
                  <a:pt x="0" y="2143286"/>
                </a:lnTo>
                <a:lnTo>
                  <a:pt x="0" y="0"/>
                </a:lnTo>
                <a:close/>
              </a:path>
            </a:pathLst>
          </a:custGeom>
          <a:solidFill>
            <a:srgbClr val="ddff00"/>
          </a:solidFill>
          <a:ln w="0">
            <a:noFill/>
          </a:ln>
        </p:spPr>
        <p:style>
          <a:lnRef idx="0"/>
          <a:fillRef idx="0"/>
          <a:effectRef idx="0"/>
          <a:fontRef idx="minor"/>
        </p:style>
      </p:sp>
      <p:sp>
        <p:nvSpPr>
          <p:cNvPr id="186" name="Text 4"/>
          <p:cNvSpPr/>
          <p:nvPr/>
        </p:nvSpPr>
        <p:spPr>
          <a:xfrm>
            <a:off x="527400" y="1285920"/>
            <a:ext cx="6503760" cy="2635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60" spc="-1" strike="noStrike">
                <a:solidFill>
                  <a:srgbClr val="000000"/>
                </a:solidFill>
                <a:latin typeface="Liter"/>
                <a:ea typeface="Liter"/>
              </a:rPr>
              <a:t>The Ed Sullivan Show: February 9, 1964</a:t>
            </a:r>
            <a:endParaRPr b="0" lang="en-HK" sz="1560" spc="-1" strike="noStrike">
              <a:latin typeface="Arial"/>
            </a:endParaRPr>
          </a:p>
        </p:txBody>
      </p:sp>
      <p:sp>
        <p:nvSpPr>
          <p:cNvPr id="187" name="Text 5"/>
          <p:cNvSpPr/>
          <p:nvPr/>
        </p:nvSpPr>
        <p:spPr>
          <a:xfrm>
            <a:off x="527400" y="1648800"/>
            <a:ext cx="6470640" cy="642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40" spc="-1" strike="noStrike">
                <a:solidFill>
                  <a:srgbClr val="000000"/>
                </a:solidFill>
                <a:latin typeface="Liter"/>
                <a:ea typeface="Liter"/>
              </a:rPr>
              <a:t>73 million Americans watched</a:t>
            </a:r>
            <a:r>
              <a:rPr b="0" lang="en-US" sz="1040" spc="-1" strike="noStrike">
                <a:solidFill>
                  <a:srgbClr val="000000"/>
                </a:solidFill>
                <a:latin typeface="Liter"/>
                <a:ea typeface="Liter"/>
              </a:rPr>
              <a:t> as The Beatles made their historic U.S. television debut. This moment marked the beginning of "Beatlemania" and the British Invasion—a cultural phenomenon that would transform American music forever.</a:t>
            </a:r>
            <a:endParaRPr b="0" lang="en-HK" sz="1040" spc="-1" strike="noStrike">
              <a:latin typeface="Arial"/>
            </a:endParaRPr>
          </a:p>
        </p:txBody>
      </p:sp>
      <p:sp>
        <p:nvSpPr>
          <p:cNvPr id="188" name="Text 6"/>
          <p:cNvSpPr/>
          <p:nvPr/>
        </p:nvSpPr>
        <p:spPr>
          <a:xfrm>
            <a:off x="527400" y="2390760"/>
            <a:ext cx="6470640" cy="642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000000">
                    <a:alpha val="80000"/>
                  </a:srgbClr>
                </a:solidFill>
                <a:latin typeface="Liter"/>
                <a:ea typeface="Liter"/>
              </a:rPr>
              <a:t>Ed Sullivan had witnessed the frenzy firsthand at London airport weeks earlier, where thousands of fans screamed for The Beatles. Realizing their potential impact, he invited them to his show, unknowingly igniting a musical revolution.</a:t>
            </a:r>
            <a:endParaRPr b="0" lang="en-HK" sz="1040" spc="-1" strike="noStrike">
              <a:latin typeface="Arial"/>
            </a:endParaRPr>
          </a:p>
        </p:txBody>
      </p:sp>
      <p:sp>
        <p:nvSpPr>
          <p:cNvPr id="189" name="Shape 7"/>
          <p:cNvSpPr/>
          <p:nvPr/>
        </p:nvSpPr>
        <p:spPr>
          <a:xfrm>
            <a:off x="338040" y="3371400"/>
            <a:ext cx="6783840" cy="2612880"/>
          </a:xfrm>
          <a:custGeom>
            <a:avLst/>
            <a:gdLst/>
            <a:ahLst/>
            <a:rect l="l" t="t" r="r" b="b"/>
            <a:pathLst>
              <a:path w="6784325" h="2613160">
                <a:moveTo>
                  <a:pt x="0" y="0"/>
                </a:moveTo>
                <a:lnTo>
                  <a:pt x="6784325" y="0"/>
                </a:lnTo>
                <a:lnTo>
                  <a:pt x="6784325" y="2613160"/>
                </a:lnTo>
                <a:lnTo>
                  <a:pt x="0" y="2613160"/>
                </a:lnTo>
                <a:lnTo>
                  <a:pt x="0" y="0"/>
                </a:lnTo>
                <a:close/>
              </a:path>
            </a:pathLst>
          </a:custGeom>
          <a:noFill/>
          <a:ln w="25400">
            <a:solidFill>
              <a:srgbClr val="ddff00"/>
            </a:solidFill>
            <a:round/>
          </a:ln>
        </p:spPr>
        <p:style>
          <a:lnRef idx="0"/>
          <a:fillRef idx="0"/>
          <a:effectRef idx="0"/>
          <a:fontRef idx="minor"/>
        </p:style>
      </p:sp>
      <p:sp>
        <p:nvSpPr>
          <p:cNvPr id="190" name="Text 8"/>
          <p:cNvSpPr/>
          <p:nvPr/>
        </p:nvSpPr>
        <p:spPr>
          <a:xfrm>
            <a:off x="511200" y="3544560"/>
            <a:ext cx="6520320" cy="230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00" spc="-1" strike="noStrike">
                <a:solidFill>
                  <a:srgbClr val="ddff00"/>
                </a:solidFill>
                <a:latin typeface="Liter"/>
                <a:ea typeface="Liter"/>
              </a:rPr>
              <a:t>Two Cities, Two Sounds</a:t>
            </a:r>
            <a:endParaRPr b="0" lang="en-HK" sz="1300" spc="-1" strike="noStrike">
              <a:latin typeface="Arial"/>
            </a:endParaRPr>
          </a:p>
        </p:txBody>
      </p:sp>
      <p:sp>
        <p:nvSpPr>
          <p:cNvPr id="191" name="Shape 9"/>
          <p:cNvSpPr/>
          <p:nvPr/>
        </p:nvSpPr>
        <p:spPr>
          <a:xfrm>
            <a:off x="527400" y="3907440"/>
            <a:ext cx="32760" cy="1582200"/>
          </a:xfrm>
          <a:custGeom>
            <a:avLst/>
            <a:gdLst/>
            <a:ahLst/>
            <a:rect l="l" t="t" r="r" b="b"/>
            <a:pathLst>
              <a:path w="32974" h="1582734">
                <a:moveTo>
                  <a:pt x="0" y="0"/>
                </a:moveTo>
                <a:lnTo>
                  <a:pt x="32974" y="0"/>
                </a:lnTo>
                <a:lnTo>
                  <a:pt x="32974" y="1582734"/>
                </a:lnTo>
                <a:lnTo>
                  <a:pt x="0" y="1582734"/>
                </a:lnTo>
                <a:lnTo>
                  <a:pt x="0" y="0"/>
                </a:lnTo>
                <a:close/>
              </a:path>
            </a:pathLst>
          </a:custGeom>
          <a:solidFill>
            <a:srgbClr val="ddff00"/>
          </a:solidFill>
          <a:ln w="0">
            <a:noFill/>
          </a:ln>
        </p:spPr>
        <p:style>
          <a:lnRef idx="0"/>
          <a:fillRef idx="0"/>
          <a:effectRef idx="0"/>
          <a:fontRef idx="minor"/>
        </p:style>
      </p:sp>
      <p:sp>
        <p:nvSpPr>
          <p:cNvPr id="192" name="Shape 10"/>
          <p:cNvSpPr/>
          <p:nvPr/>
        </p:nvSpPr>
        <p:spPr>
          <a:xfrm>
            <a:off x="677880" y="3948480"/>
            <a:ext cx="185040" cy="147960"/>
          </a:xfrm>
          <a:custGeom>
            <a:avLst/>
            <a:gdLst/>
            <a:ahLst/>
            <a:rect l="l" t="t" r="r" b="b"/>
            <a:pathLst>
              <a:path w="185477" h="148381">
                <a:moveTo>
                  <a:pt x="78828" y="0"/>
                </a:moveTo>
                <a:cubicBezTo>
                  <a:pt x="71148" y="0"/>
                  <a:pt x="64917" y="6231"/>
                  <a:pt x="64917" y="13911"/>
                </a:cubicBezTo>
                <a:lnTo>
                  <a:pt x="64917" y="18548"/>
                </a:lnTo>
                <a:lnTo>
                  <a:pt x="60280" y="18548"/>
                </a:lnTo>
                <a:cubicBezTo>
                  <a:pt x="47470" y="18548"/>
                  <a:pt x="37095" y="28923"/>
                  <a:pt x="37095" y="41732"/>
                </a:cubicBezTo>
                <a:lnTo>
                  <a:pt x="37095" y="73263"/>
                </a:lnTo>
                <a:lnTo>
                  <a:pt x="30835" y="75756"/>
                </a:lnTo>
                <a:cubicBezTo>
                  <a:pt x="26546" y="77465"/>
                  <a:pt x="24315" y="82247"/>
                  <a:pt x="25793" y="86623"/>
                </a:cubicBezTo>
                <a:cubicBezTo>
                  <a:pt x="28807" y="95694"/>
                  <a:pt x="33560" y="103809"/>
                  <a:pt x="39617" y="110706"/>
                </a:cubicBezTo>
                <a:cubicBezTo>
                  <a:pt x="45442" y="108040"/>
                  <a:pt x="51702" y="106678"/>
                  <a:pt x="57961" y="106649"/>
                </a:cubicBezTo>
                <a:cubicBezTo>
                  <a:pt x="67554" y="106591"/>
                  <a:pt x="77176" y="109605"/>
                  <a:pt x="85319" y="115749"/>
                </a:cubicBezTo>
                <a:lnTo>
                  <a:pt x="85783" y="116097"/>
                </a:lnTo>
                <a:lnTo>
                  <a:pt x="85783" y="53788"/>
                </a:lnTo>
                <a:lnTo>
                  <a:pt x="55643" y="65844"/>
                </a:lnTo>
                <a:lnTo>
                  <a:pt x="55643" y="41732"/>
                </a:lnTo>
                <a:cubicBezTo>
                  <a:pt x="55643" y="39182"/>
                  <a:pt x="57730" y="37095"/>
                  <a:pt x="60280" y="37095"/>
                </a:cubicBezTo>
                <a:lnTo>
                  <a:pt x="125197" y="37095"/>
                </a:lnTo>
                <a:cubicBezTo>
                  <a:pt x="127747" y="37095"/>
                  <a:pt x="129834" y="39182"/>
                  <a:pt x="129834" y="41732"/>
                </a:cubicBezTo>
                <a:lnTo>
                  <a:pt x="129834" y="65844"/>
                </a:lnTo>
                <a:lnTo>
                  <a:pt x="99694" y="53788"/>
                </a:lnTo>
                <a:lnTo>
                  <a:pt x="99694" y="116097"/>
                </a:lnTo>
                <a:lnTo>
                  <a:pt x="100157" y="115749"/>
                </a:lnTo>
                <a:cubicBezTo>
                  <a:pt x="108127" y="109750"/>
                  <a:pt x="117517" y="106707"/>
                  <a:pt x="126936" y="106649"/>
                </a:cubicBezTo>
                <a:cubicBezTo>
                  <a:pt x="133398" y="106620"/>
                  <a:pt x="139861" y="107953"/>
                  <a:pt x="145860" y="110706"/>
                </a:cubicBezTo>
                <a:cubicBezTo>
                  <a:pt x="151917" y="103838"/>
                  <a:pt x="156670" y="95694"/>
                  <a:pt x="159684" y="86623"/>
                </a:cubicBezTo>
                <a:cubicBezTo>
                  <a:pt x="161133" y="82218"/>
                  <a:pt x="158930" y="77465"/>
                  <a:pt x="154641" y="75756"/>
                </a:cubicBezTo>
                <a:lnTo>
                  <a:pt x="148381" y="73263"/>
                </a:lnTo>
                <a:lnTo>
                  <a:pt x="148381" y="41732"/>
                </a:lnTo>
                <a:cubicBezTo>
                  <a:pt x="148381" y="28923"/>
                  <a:pt x="138006" y="18548"/>
                  <a:pt x="125197" y="18548"/>
                </a:cubicBezTo>
                <a:lnTo>
                  <a:pt x="120560" y="18548"/>
                </a:lnTo>
                <a:lnTo>
                  <a:pt x="120560" y="13911"/>
                </a:lnTo>
                <a:cubicBezTo>
                  <a:pt x="120560" y="6231"/>
                  <a:pt x="114329" y="0"/>
                  <a:pt x="106649" y="0"/>
                </a:cubicBezTo>
                <a:lnTo>
                  <a:pt x="78828" y="0"/>
                </a:lnTo>
                <a:close/>
                <a:moveTo>
                  <a:pt x="116908" y="137977"/>
                </a:moveTo>
                <a:cubicBezTo>
                  <a:pt x="123081" y="133311"/>
                  <a:pt x="131370" y="133311"/>
                  <a:pt x="137543" y="137977"/>
                </a:cubicBezTo>
                <a:cubicBezTo>
                  <a:pt x="143049" y="142150"/>
                  <a:pt x="149685" y="146150"/>
                  <a:pt x="157018" y="147628"/>
                </a:cubicBezTo>
                <a:cubicBezTo>
                  <a:pt x="164697" y="149193"/>
                  <a:pt x="172754" y="147860"/>
                  <a:pt x="180405" y="142093"/>
                </a:cubicBezTo>
                <a:cubicBezTo>
                  <a:pt x="183477" y="139774"/>
                  <a:pt x="184086" y="135427"/>
                  <a:pt x="181767" y="132355"/>
                </a:cubicBezTo>
                <a:cubicBezTo>
                  <a:pt x="179449" y="129283"/>
                  <a:pt x="175102" y="128674"/>
                  <a:pt x="172030" y="130993"/>
                </a:cubicBezTo>
                <a:cubicBezTo>
                  <a:pt x="167711" y="134239"/>
                  <a:pt x="163741" y="134789"/>
                  <a:pt x="159771" y="133978"/>
                </a:cubicBezTo>
                <a:cubicBezTo>
                  <a:pt x="155453" y="133108"/>
                  <a:pt x="150816" y="130529"/>
                  <a:pt x="145918" y="126849"/>
                </a:cubicBezTo>
                <a:cubicBezTo>
                  <a:pt x="134789" y="118444"/>
                  <a:pt x="119690" y="118444"/>
                  <a:pt x="108533" y="126849"/>
                </a:cubicBezTo>
                <a:cubicBezTo>
                  <a:pt x="101577" y="132094"/>
                  <a:pt x="96738" y="134471"/>
                  <a:pt x="92738" y="134471"/>
                </a:cubicBezTo>
                <a:cubicBezTo>
                  <a:pt x="88739" y="134471"/>
                  <a:pt x="83899" y="132094"/>
                  <a:pt x="76944" y="126849"/>
                </a:cubicBezTo>
                <a:cubicBezTo>
                  <a:pt x="65815" y="118444"/>
                  <a:pt x="50716" y="118444"/>
                  <a:pt x="39559" y="126849"/>
                </a:cubicBezTo>
                <a:cubicBezTo>
                  <a:pt x="33299" y="131573"/>
                  <a:pt x="27590" y="134326"/>
                  <a:pt x="22489" y="134297"/>
                </a:cubicBezTo>
                <a:cubicBezTo>
                  <a:pt x="19707" y="134268"/>
                  <a:pt x="16722" y="133427"/>
                  <a:pt x="13447" y="130964"/>
                </a:cubicBezTo>
                <a:cubicBezTo>
                  <a:pt x="10375" y="128645"/>
                  <a:pt x="6028" y="129254"/>
                  <a:pt x="3710" y="132326"/>
                </a:cubicBezTo>
                <a:cubicBezTo>
                  <a:pt x="1391" y="135398"/>
                  <a:pt x="2029" y="139774"/>
                  <a:pt x="5101" y="142093"/>
                </a:cubicBezTo>
                <a:cubicBezTo>
                  <a:pt x="10636" y="146266"/>
                  <a:pt x="16519" y="148178"/>
                  <a:pt x="22431" y="148207"/>
                </a:cubicBezTo>
                <a:cubicBezTo>
                  <a:pt x="32256" y="148265"/>
                  <a:pt x="41066" y="143165"/>
                  <a:pt x="47963" y="137977"/>
                </a:cubicBezTo>
                <a:cubicBezTo>
                  <a:pt x="54136" y="133311"/>
                  <a:pt x="62424" y="133311"/>
                  <a:pt x="68597" y="137977"/>
                </a:cubicBezTo>
                <a:cubicBezTo>
                  <a:pt x="75611" y="143281"/>
                  <a:pt x="83754" y="148381"/>
                  <a:pt x="92767" y="148381"/>
                </a:cubicBezTo>
                <a:cubicBezTo>
                  <a:pt x="101780" y="148381"/>
                  <a:pt x="109895" y="143252"/>
                  <a:pt x="116937" y="137977"/>
                </a:cubicBezTo>
                <a:close/>
              </a:path>
            </a:pathLst>
          </a:custGeom>
          <a:solidFill>
            <a:srgbClr val="ddff00"/>
          </a:solidFill>
          <a:ln w="0">
            <a:noFill/>
          </a:ln>
        </p:spPr>
        <p:style>
          <a:lnRef idx="0"/>
          <a:fillRef idx="0"/>
          <a:effectRef idx="0"/>
          <a:fontRef idx="minor"/>
        </p:style>
      </p:sp>
      <p:sp>
        <p:nvSpPr>
          <p:cNvPr id="193" name="Text 11"/>
          <p:cNvSpPr/>
          <p:nvPr/>
        </p:nvSpPr>
        <p:spPr>
          <a:xfrm>
            <a:off x="865440" y="3907440"/>
            <a:ext cx="2876760" cy="230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Liverpool</a:t>
            </a:r>
            <a:endParaRPr b="0" lang="en-HK" sz="1170" spc="-1" strike="noStrike">
              <a:latin typeface="Arial"/>
            </a:endParaRPr>
          </a:p>
        </p:txBody>
      </p:sp>
      <p:sp>
        <p:nvSpPr>
          <p:cNvPr id="194" name="Text 12"/>
          <p:cNvSpPr/>
          <p:nvPr/>
        </p:nvSpPr>
        <p:spPr>
          <a:xfrm>
            <a:off x="676080" y="4204080"/>
            <a:ext cx="3057840" cy="1285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ffffff">
                    <a:alpha val="80000"/>
                  </a:srgbClr>
                </a:solidFill>
                <a:latin typeface="Liter"/>
                <a:ea typeface="Liter"/>
              </a:rPr>
              <a:t>The port city embraced American rock and roll from sailors bringing records. </a:t>
            </a:r>
            <a:r>
              <a:rPr b="1" lang="en-US" sz="1040" spc="-1" strike="noStrike">
                <a:solidFill>
                  <a:srgbClr val="ddff00"/>
                </a:solidFill>
                <a:latin typeface="Liter"/>
                <a:ea typeface="Liter"/>
              </a:rPr>
              <a:t>Skiffle music</a:t>
            </a:r>
            <a:r>
              <a:rPr b="0" lang="en-US" sz="1040" spc="-1" strike="noStrike">
                <a:solidFill>
                  <a:srgbClr val="ffffff">
                    <a:alpha val="80000"/>
                  </a:srgbClr>
                </a:solidFill>
                <a:latin typeface="Liter"/>
                <a:ea typeface="Liter"/>
              </a:rPr>
              <a:t>—combining folk, jazz, country and blues—provided the backdrop. This produced upbeat, melodic </a:t>
            </a:r>
            <a:r>
              <a:rPr b="1" lang="en-US" sz="1040" spc="-1" strike="noStrike">
                <a:solidFill>
                  <a:srgbClr val="ffffff">
                    <a:alpha val="80000"/>
                  </a:srgbClr>
                </a:solidFill>
                <a:latin typeface="Liter"/>
                <a:ea typeface="Liter"/>
              </a:rPr>
              <a:t>Merseybeat</a:t>
            </a:r>
            <a:r>
              <a:rPr b="0" lang="en-US" sz="1040" spc="-1" strike="noStrike">
                <a:solidFill>
                  <a:srgbClr val="ffffff">
                    <a:alpha val="80000"/>
                  </a:srgbClr>
                </a:solidFill>
                <a:latin typeface="Liter"/>
                <a:ea typeface="Liter"/>
              </a:rPr>
              <a:t> exemplified by The Beatles and Gerry &amp; the Pacemakers.</a:t>
            </a:r>
            <a:endParaRPr b="0" lang="en-HK" sz="1040" spc="-1" strike="noStrike">
              <a:latin typeface="Arial"/>
            </a:endParaRPr>
          </a:p>
        </p:txBody>
      </p:sp>
      <p:sp>
        <p:nvSpPr>
          <p:cNvPr id="195" name="Shape 13"/>
          <p:cNvSpPr/>
          <p:nvPr/>
        </p:nvSpPr>
        <p:spPr>
          <a:xfrm>
            <a:off x="3812760" y="3907440"/>
            <a:ext cx="32760" cy="1582200"/>
          </a:xfrm>
          <a:custGeom>
            <a:avLst/>
            <a:gdLst/>
            <a:ahLst/>
            <a:rect l="l" t="t" r="r" b="b"/>
            <a:pathLst>
              <a:path w="32974" h="1582734">
                <a:moveTo>
                  <a:pt x="0" y="0"/>
                </a:moveTo>
                <a:lnTo>
                  <a:pt x="32974" y="0"/>
                </a:lnTo>
                <a:lnTo>
                  <a:pt x="32974" y="1582734"/>
                </a:lnTo>
                <a:lnTo>
                  <a:pt x="0" y="1582734"/>
                </a:lnTo>
                <a:lnTo>
                  <a:pt x="0" y="0"/>
                </a:lnTo>
                <a:close/>
              </a:path>
            </a:pathLst>
          </a:custGeom>
          <a:solidFill>
            <a:srgbClr val="ddff00"/>
          </a:solidFill>
          <a:ln w="0">
            <a:noFill/>
          </a:ln>
        </p:spPr>
        <p:style>
          <a:lnRef idx="0"/>
          <a:fillRef idx="0"/>
          <a:effectRef idx="0"/>
          <a:fontRef idx="minor"/>
        </p:style>
      </p:sp>
      <p:sp>
        <p:nvSpPr>
          <p:cNvPr id="196" name="Shape 14"/>
          <p:cNvSpPr/>
          <p:nvPr/>
        </p:nvSpPr>
        <p:spPr>
          <a:xfrm>
            <a:off x="4000320" y="3948480"/>
            <a:ext cx="110880" cy="147960"/>
          </a:xfrm>
          <a:custGeom>
            <a:avLst/>
            <a:gdLst/>
            <a:ahLst/>
            <a:rect l="l" t="t" r="r" b="b"/>
            <a:pathLst>
              <a:path w="111286" h="148381">
                <a:moveTo>
                  <a:pt x="18548" y="0"/>
                </a:moveTo>
                <a:cubicBezTo>
                  <a:pt x="8317" y="0"/>
                  <a:pt x="0" y="8317"/>
                  <a:pt x="0" y="18548"/>
                </a:cubicBezTo>
                <a:lnTo>
                  <a:pt x="0" y="129834"/>
                </a:lnTo>
                <a:cubicBezTo>
                  <a:pt x="0" y="140064"/>
                  <a:pt x="8317" y="148381"/>
                  <a:pt x="18548" y="148381"/>
                </a:cubicBezTo>
                <a:lnTo>
                  <a:pt x="92738" y="148381"/>
                </a:lnTo>
                <a:cubicBezTo>
                  <a:pt x="102969" y="148381"/>
                  <a:pt x="111286" y="140064"/>
                  <a:pt x="111286" y="129834"/>
                </a:cubicBezTo>
                <a:lnTo>
                  <a:pt x="111286" y="18548"/>
                </a:lnTo>
                <a:cubicBezTo>
                  <a:pt x="111286" y="8317"/>
                  <a:pt x="102969" y="0"/>
                  <a:pt x="92738" y="0"/>
                </a:cubicBezTo>
                <a:lnTo>
                  <a:pt x="18548" y="0"/>
                </a:lnTo>
                <a:close/>
                <a:moveTo>
                  <a:pt x="51006" y="102012"/>
                </a:moveTo>
                <a:lnTo>
                  <a:pt x="60280" y="102012"/>
                </a:lnTo>
                <a:cubicBezTo>
                  <a:pt x="65410" y="102012"/>
                  <a:pt x="69554" y="106156"/>
                  <a:pt x="69554" y="111286"/>
                </a:cubicBezTo>
                <a:lnTo>
                  <a:pt x="69554" y="134471"/>
                </a:lnTo>
                <a:lnTo>
                  <a:pt x="41732" y="134471"/>
                </a:lnTo>
                <a:lnTo>
                  <a:pt x="41732" y="111286"/>
                </a:lnTo>
                <a:cubicBezTo>
                  <a:pt x="41732" y="106156"/>
                  <a:pt x="45876" y="102012"/>
                  <a:pt x="51006" y="102012"/>
                </a:cubicBezTo>
                <a:close/>
                <a:moveTo>
                  <a:pt x="27822" y="32458"/>
                </a:moveTo>
                <a:cubicBezTo>
                  <a:pt x="27822" y="29908"/>
                  <a:pt x="29908" y="27822"/>
                  <a:pt x="32458" y="27822"/>
                </a:cubicBezTo>
                <a:lnTo>
                  <a:pt x="41732" y="27822"/>
                </a:lnTo>
                <a:cubicBezTo>
                  <a:pt x="44283" y="27822"/>
                  <a:pt x="46369" y="29908"/>
                  <a:pt x="46369" y="32458"/>
                </a:cubicBezTo>
                <a:lnTo>
                  <a:pt x="46369" y="41732"/>
                </a:lnTo>
                <a:cubicBezTo>
                  <a:pt x="46369" y="44283"/>
                  <a:pt x="44283" y="46369"/>
                  <a:pt x="41732" y="46369"/>
                </a:cubicBezTo>
                <a:lnTo>
                  <a:pt x="32458" y="46369"/>
                </a:lnTo>
                <a:cubicBezTo>
                  <a:pt x="29908" y="46369"/>
                  <a:pt x="27822" y="44283"/>
                  <a:pt x="27822" y="41732"/>
                </a:cubicBezTo>
                <a:lnTo>
                  <a:pt x="27822" y="32458"/>
                </a:lnTo>
                <a:close/>
                <a:moveTo>
                  <a:pt x="69554" y="27822"/>
                </a:moveTo>
                <a:lnTo>
                  <a:pt x="78828" y="27822"/>
                </a:lnTo>
                <a:cubicBezTo>
                  <a:pt x="81378" y="27822"/>
                  <a:pt x="83465" y="29908"/>
                  <a:pt x="83465" y="32458"/>
                </a:cubicBezTo>
                <a:lnTo>
                  <a:pt x="83465" y="41732"/>
                </a:lnTo>
                <a:cubicBezTo>
                  <a:pt x="83465" y="44283"/>
                  <a:pt x="81378" y="46369"/>
                  <a:pt x="78828" y="46369"/>
                </a:cubicBezTo>
                <a:lnTo>
                  <a:pt x="69554" y="46369"/>
                </a:lnTo>
                <a:cubicBezTo>
                  <a:pt x="67003" y="46369"/>
                  <a:pt x="64917" y="44283"/>
                  <a:pt x="64917" y="41732"/>
                </a:cubicBezTo>
                <a:lnTo>
                  <a:pt x="64917" y="32458"/>
                </a:lnTo>
                <a:cubicBezTo>
                  <a:pt x="64917" y="29908"/>
                  <a:pt x="67003" y="27822"/>
                  <a:pt x="69554" y="27822"/>
                </a:cubicBezTo>
                <a:close/>
                <a:moveTo>
                  <a:pt x="27822" y="69554"/>
                </a:moveTo>
                <a:cubicBezTo>
                  <a:pt x="27822" y="67003"/>
                  <a:pt x="29908" y="64917"/>
                  <a:pt x="32458" y="64917"/>
                </a:cubicBezTo>
                <a:lnTo>
                  <a:pt x="41732" y="64917"/>
                </a:lnTo>
                <a:cubicBezTo>
                  <a:pt x="44283" y="64917"/>
                  <a:pt x="46369" y="67003"/>
                  <a:pt x="46369" y="69554"/>
                </a:cubicBezTo>
                <a:lnTo>
                  <a:pt x="46369" y="78828"/>
                </a:lnTo>
                <a:cubicBezTo>
                  <a:pt x="46369" y="81378"/>
                  <a:pt x="44283" y="83465"/>
                  <a:pt x="41732" y="83465"/>
                </a:cubicBezTo>
                <a:lnTo>
                  <a:pt x="32458" y="83465"/>
                </a:lnTo>
                <a:cubicBezTo>
                  <a:pt x="29908" y="83465"/>
                  <a:pt x="27822" y="81378"/>
                  <a:pt x="27822" y="78828"/>
                </a:cubicBezTo>
                <a:lnTo>
                  <a:pt x="27822" y="69554"/>
                </a:lnTo>
                <a:close/>
                <a:moveTo>
                  <a:pt x="69554" y="64917"/>
                </a:moveTo>
                <a:lnTo>
                  <a:pt x="78828" y="64917"/>
                </a:lnTo>
                <a:cubicBezTo>
                  <a:pt x="81378" y="64917"/>
                  <a:pt x="83465" y="67003"/>
                  <a:pt x="83465" y="69554"/>
                </a:cubicBezTo>
                <a:lnTo>
                  <a:pt x="83465" y="78828"/>
                </a:lnTo>
                <a:cubicBezTo>
                  <a:pt x="83465" y="81378"/>
                  <a:pt x="81378" y="83465"/>
                  <a:pt x="78828" y="83465"/>
                </a:cubicBezTo>
                <a:lnTo>
                  <a:pt x="69554" y="83465"/>
                </a:lnTo>
                <a:cubicBezTo>
                  <a:pt x="67003" y="83465"/>
                  <a:pt x="64917" y="81378"/>
                  <a:pt x="64917" y="78828"/>
                </a:cubicBezTo>
                <a:lnTo>
                  <a:pt x="64917" y="69554"/>
                </a:lnTo>
                <a:cubicBezTo>
                  <a:pt x="64917" y="67003"/>
                  <a:pt x="67003" y="64917"/>
                  <a:pt x="69554" y="64917"/>
                </a:cubicBezTo>
                <a:close/>
              </a:path>
            </a:pathLst>
          </a:custGeom>
          <a:solidFill>
            <a:srgbClr val="ddff00"/>
          </a:solidFill>
          <a:ln w="0">
            <a:noFill/>
          </a:ln>
        </p:spPr>
        <p:style>
          <a:lnRef idx="0"/>
          <a:fillRef idx="0"/>
          <a:effectRef idx="0"/>
          <a:fontRef idx="minor"/>
        </p:style>
      </p:sp>
      <p:sp>
        <p:nvSpPr>
          <p:cNvPr id="197" name="Text 15"/>
          <p:cNvSpPr/>
          <p:nvPr/>
        </p:nvSpPr>
        <p:spPr>
          <a:xfrm>
            <a:off x="4150800" y="3907440"/>
            <a:ext cx="2876760" cy="230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London</a:t>
            </a:r>
            <a:endParaRPr b="0" lang="en-HK" sz="1170" spc="-1" strike="noStrike">
              <a:latin typeface="Arial"/>
            </a:endParaRPr>
          </a:p>
        </p:txBody>
      </p:sp>
      <p:sp>
        <p:nvSpPr>
          <p:cNvPr id="198" name="Text 16"/>
          <p:cNvSpPr/>
          <p:nvPr/>
        </p:nvSpPr>
        <p:spPr>
          <a:xfrm>
            <a:off x="3961080" y="4204080"/>
            <a:ext cx="3057840" cy="1071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ffffff">
                    <a:alpha val="80000"/>
                  </a:srgbClr>
                </a:solidFill>
                <a:latin typeface="Liter"/>
                <a:ea typeface="Liter"/>
              </a:rPr>
              <a:t>College students and bohemians were drawn to raw American </a:t>
            </a:r>
            <a:r>
              <a:rPr b="1" lang="en-US" sz="1040" spc="-1" strike="noStrike">
                <a:solidFill>
                  <a:srgbClr val="ddff00"/>
                </a:solidFill>
                <a:latin typeface="Liter"/>
                <a:ea typeface="Liter"/>
              </a:rPr>
              <a:t>blues and R&amp;B</a:t>
            </a:r>
            <a:r>
              <a:rPr b="0" lang="en-US" sz="1040" spc="-1" strike="noStrike">
                <a:solidFill>
                  <a:srgbClr val="ffffff">
                    <a:alpha val="80000"/>
                  </a:srgbClr>
                </a:solidFill>
                <a:latin typeface="Liter"/>
                <a:ea typeface="Liter"/>
              </a:rPr>
              <a:t>. Artists like Muddy Waters and B.B. King inspired a grittier, blues-infused rock sound exemplified by </a:t>
            </a:r>
            <a:r>
              <a:rPr b="1" lang="en-US" sz="1040" spc="-1" strike="noStrike">
                <a:solidFill>
                  <a:srgbClr val="ffffff">
                    <a:alpha val="80000"/>
                  </a:srgbClr>
                </a:solidFill>
                <a:latin typeface="Liter"/>
                <a:ea typeface="Liter"/>
              </a:rPr>
              <a:t>The Rolling Stones</a:t>
            </a:r>
            <a:r>
              <a:rPr b="0" lang="en-US" sz="1040" spc="-1" strike="noStrike">
                <a:solidFill>
                  <a:srgbClr val="ffffff">
                    <a:alpha val="80000"/>
                  </a:srgbClr>
                </a:solidFill>
                <a:latin typeface="Liter"/>
                <a:ea typeface="Liter"/>
              </a:rPr>
              <a:t> and The Yardbirds.</a:t>
            </a:r>
            <a:endParaRPr b="0" lang="en-HK" sz="1040" spc="-1" strike="noStrike">
              <a:latin typeface="Arial"/>
            </a:endParaRPr>
          </a:p>
        </p:txBody>
      </p:sp>
      <p:sp>
        <p:nvSpPr>
          <p:cNvPr id="199" name="Shape 17"/>
          <p:cNvSpPr/>
          <p:nvPr/>
        </p:nvSpPr>
        <p:spPr>
          <a:xfrm>
            <a:off x="333720" y="6128640"/>
            <a:ext cx="2192400" cy="83232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0" name="Text 18"/>
          <p:cNvSpPr/>
          <p:nvPr/>
        </p:nvSpPr>
        <p:spPr>
          <a:xfrm>
            <a:off x="375120" y="6231600"/>
            <a:ext cx="2109960" cy="2962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14</a:t>
            </a:r>
            <a:endParaRPr b="0" lang="en-HK" sz="1940" spc="-1" strike="noStrike">
              <a:latin typeface="Arial"/>
            </a:endParaRPr>
          </a:p>
        </p:txBody>
      </p:sp>
      <p:sp>
        <p:nvSpPr>
          <p:cNvPr id="201" name="Text 19"/>
          <p:cNvSpPr/>
          <p:nvPr/>
        </p:nvSpPr>
        <p:spPr>
          <a:xfrm>
            <a:off x="407880" y="6528600"/>
            <a:ext cx="2044080" cy="329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British singles in</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U.S. Top 40 (1965)</a:t>
            </a:r>
            <a:endParaRPr b="0" lang="en-HK" sz="910" spc="-1" strike="noStrike">
              <a:latin typeface="Arial"/>
            </a:endParaRPr>
          </a:p>
        </p:txBody>
      </p:sp>
      <p:sp>
        <p:nvSpPr>
          <p:cNvPr id="202" name="Shape 20"/>
          <p:cNvSpPr/>
          <p:nvPr/>
        </p:nvSpPr>
        <p:spPr>
          <a:xfrm>
            <a:off x="2633760" y="6128640"/>
            <a:ext cx="2192400" cy="83232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3" name="Text 21"/>
          <p:cNvSpPr/>
          <p:nvPr/>
        </p:nvSpPr>
        <p:spPr>
          <a:xfrm>
            <a:off x="2675160" y="6231600"/>
            <a:ext cx="2109960" cy="2962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1.92M</a:t>
            </a:r>
            <a:endParaRPr b="0" lang="en-HK" sz="1940" spc="-1" strike="noStrike">
              <a:latin typeface="Arial"/>
            </a:endParaRPr>
          </a:p>
        </p:txBody>
      </p:sp>
      <p:sp>
        <p:nvSpPr>
          <p:cNvPr id="204" name="Text 22"/>
          <p:cNvSpPr/>
          <p:nvPr/>
        </p:nvSpPr>
        <p:spPr>
          <a:xfrm>
            <a:off x="2707920" y="6528600"/>
            <a:ext cx="2044080" cy="329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"She Loves You"</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UK sales</a:t>
            </a:r>
            <a:endParaRPr b="0" lang="en-HK" sz="910" spc="-1" strike="noStrike">
              <a:latin typeface="Arial"/>
            </a:endParaRPr>
          </a:p>
        </p:txBody>
      </p:sp>
      <p:sp>
        <p:nvSpPr>
          <p:cNvPr id="205" name="Shape 23"/>
          <p:cNvSpPr/>
          <p:nvPr/>
        </p:nvSpPr>
        <p:spPr>
          <a:xfrm>
            <a:off x="4934160" y="6128640"/>
            <a:ext cx="2192400" cy="83232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6" name="Text 24"/>
          <p:cNvSpPr/>
          <p:nvPr/>
        </p:nvSpPr>
        <p:spPr>
          <a:xfrm>
            <a:off x="4975200" y="6231600"/>
            <a:ext cx="2109960" cy="2962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73M</a:t>
            </a:r>
            <a:endParaRPr b="0" lang="en-HK" sz="1940" spc="-1" strike="noStrike">
              <a:latin typeface="Arial"/>
            </a:endParaRPr>
          </a:p>
        </p:txBody>
      </p:sp>
      <p:sp>
        <p:nvSpPr>
          <p:cNvPr id="207" name="Text 25"/>
          <p:cNvSpPr/>
          <p:nvPr/>
        </p:nvSpPr>
        <p:spPr>
          <a:xfrm>
            <a:off x="5008320" y="6528600"/>
            <a:ext cx="2044080" cy="329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TV viewers for</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Ed Sullivan debut</a:t>
            </a:r>
            <a:endParaRPr b="0" lang="en-HK" sz="910" spc="-1" strike="noStrike">
              <a:latin typeface="Arial"/>
            </a:endParaRPr>
          </a:p>
        </p:txBody>
      </p:sp>
      <p:sp>
        <p:nvSpPr>
          <p:cNvPr id="208" name="Image 0"/>
          <p:cNvSpPr/>
          <p:nvPr/>
        </p:nvSpPr>
        <p:spPr>
          <a:xfrm>
            <a:off x="7328880" y="1088280"/>
            <a:ext cx="4533480" cy="4063680"/>
          </a:xfrm>
          <a:prstGeom prst="roundRect">
            <a:avLst>
              <a:gd name="adj" fmla="val 0"/>
            </a:avLst>
          </a:prstGeom>
          <a:blipFill rotWithShape="0">
            <a:blip r:embed="rId1"/>
            <a:srcRect/>
            <a:stretch/>
          </a:blipFill>
          <a:ln w="0">
            <a:noFill/>
          </a:ln>
        </p:spPr>
        <p:style>
          <a:lnRef idx="0"/>
          <a:fillRef idx="0"/>
          <a:effectRef idx="0"/>
          <a:fontRef idx="minor"/>
        </p:style>
      </p:sp>
      <p:sp>
        <p:nvSpPr>
          <p:cNvPr id="209" name="Shape 26"/>
          <p:cNvSpPr/>
          <p:nvPr/>
        </p:nvSpPr>
        <p:spPr>
          <a:xfrm>
            <a:off x="7328880" y="1088280"/>
            <a:ext cx="4533480" cy="4063680"/>
          </a:xfrm>
          <a:custGeom>
            <a:avLst/>
            <a:gdLst/>
            <a:ahLst/>
            <a:rect l="l" t="t" r="r" b="b"/>
            <a:pathLst>
              <a:path w="4533874" h="4064000">
                <a:moveTo>
                  <a:pt x="0" y="0"/>
                </a:moveTo>
                <a:lnTo>
                  <a:pt x="4533874" y="0"/>
                </a:lnTo>
                <a:lnTo>
                  <a:pt x="4533874" y="4064000"/>
                </a:lnTo>
                <a:lnTo>
                  <a:pt x="0" y="4064000"/>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210" name="Text 27"/>
          <p:cNvSpPr/>
          <p:nvPr/>
        </p:nvSpPr>
        <p:spPr>
          <a:xfrm>
            <a:off x="7460640" y="4591440"/>
            <a:ext cx="4327560" cy="164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10" spc="-1" strike="noStrike">
                <a:solidFill>
                  <a:srgbClr val="ddff00"/>
                </a:solidFill>
                <a:latin typeface="Liter"/>
                <a:ea typeface="Liter"/>
              </a:rPr>
              <a:t>1964</a:t>
            </a:r>
            <a:endParaRPr b="0" lang="en-HK" sz="910" spc="-1" strike="noStrike">
              <a:latin typeface="Arial"/>
            </a:endParaRPr>
          </a:p>
        </p:txBody>
      </p:sp>
      <p:sp>
        <p:nvSpPr>
          <p:cNvPr id="211" name="Text 28"/>
          <p:cNvSpPr/>
          <p:nvPr/>
        </p:nvSpPr>
        <p:spPr>
          <a:xfrm>
            <a:off x="7460640" y="4789080"/>
            <a:ext cx="4343760" cy="230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The Beatles on Ed Sullivan</a:t>
            </a:r>
            <a:endParaRPr b="0" lang="en-HK" sz="1170" spc="-1" strike="noStrike">
              <a:latin typeface="Arial"/>
            </a:endParaRPr>
          </a:p>
        </p:txBody>
      </p:sp>
      <p:sp>
        <p:nvSpPr>
          <p:cNvPr id="212" name="Shape 29"/>
          <p:cNvSpPr/>
          <p:nvPr/>
        </p:nvSpPr>
        <p:spPr>
          <a:xfrm>
            <a:off x="7337160" y="5292000"/>
            <a:ext cx="4516920" cy="1664640"/>
          </a:xfrm>
          <a:custGeom>
            <a:avLst/>
            <a:gdLst/>
            <a:ahLst/>
            <a:rect l="l" t="t" r="r" b="b"/>
            <a:pathLst>
              <a:path w="4517387" h="1665168">
                <a:moveTo>
                  <a:pt x="0" y="0"/>
                </a:moveTo>
                <a:lnTo>
                  <a:pt x="4517387" y="0"/>
                </a:lnTo>
                <a:lnTo>
                  <a:pt x="4517387" y="1665168"/>
                </a:lnTo>
                <a:lnTo>
                  <a:pt x="0" y="1665168"/>
                </a:lnTo>
                <a:lnTo>
                  <a:pt x="0" y="0"/>
                </a:lnTo>
                <a:close/>
              </a:path>
            </a:pathLst>
          </a:custGeom>
          <a:noFill/>
          <a:ln w="25400">
            <a:solidFill>
              <a:srgbClr val="ddff00"/>
            </a:solidFill>
            <a:round/>
          </a:ln>
        </p:spPr>
        <p:style>
          <a:lnRef idx="0"/>
          <a:fillRef idx="0"/>
          <a:effectRef idx="0"/>
          <a:fontRef idx="minor"/>
        </p:style>
      </p:sp>
      <p:sp>
        <p:nvSpPr>
          <p:cNvPr id="213" name="Text 30"/>
          <p:cNvSpPr/>
          <p:nvPr/>
        </p:nvSpPr>
        <p:spPr>
          <a:xfrm>
            <a:off x="7510320" y="5465160"/>
            <a:ext cx="4245120" cy="230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ddff00"/>
                </a:solidFill>
                <a:latin typeface="Liter"/>
                <a:ea typeface="Liter"/>
              </a:rPr>
              <a:t>Cultural Revolution</a:t>
            </a:r>
            <a:endParaRPr b="0" lang="en-HK" sz="1170" spc="-1" strike="noStrike">
              <a:latin typeface="Arial"/>
            </a:endParaRPr>
          </a:p>
        </p:txBody>
      </p:sp>
      <p:sp>
        <p:nvSpPr>
          <p:cNvPr id="214" name="Shape 31"/>
          <p:cNvSpPr/>
          <p:nvPr/>
        </p:nvSpPr>
        <p:spPr>
          <a:xfrm>
            <a:off x="7510320" y="5860800"/>
            <a:ext cx="65520" cy="6552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5" name="Text 32"/>
          <p:cNvSpPr/>
          <p:nvPr/>
        </p:nvSpPr>
        <p:spPr>
          <a:xfrm>
            <a:off x="7642080" y="5794920"/>
            <a:ext cx="3008520" cy="19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Fashion:</a:t>
            </a:r>
            <a:r>
              <a:rPr b="0" lang="en-US" sz="1040" spc="-1" strike="noStrike">
                <a:solidFill>
                  <a:srgbClr val="ffffff">
                    <a:alpha val="80000"/>
                  </a:srgbClr>
                </a:solidFill>
                <a:latin typeface="Liter"/>
                <a:ea typeface="Liter"/>
              </a:rPr>
              <a:t> Mod style, mop-top haircuts, tailored suits</a:t>
            </a:r>
            <a:endParaRPr b="0" lang="en-HK" sz="1040" spc="-1" strike="noStrike">
              <a:latin typeface="Arial"/>
            </a:endParaRPr>
          </a:p>
        </p:txBody>
      </p:sp>
      <p:sp>
        <p:nvSpPr>
          <p:cNvPr id="216" name="Shape 33"/>
          <p:cNvSpPr/>
          <p:nvPr/>
        </p:nvSpPr>
        <p:spPr>
          <a:xfrm>
            <a:off x="7510320" y="6124680"/>
            <a:ext cx="65520" cy="6552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7" name="Text 34"/>
          <p:cNvSpPr/>
          <p:nvPr/>
        </p:nvSpPr>
        <p:spPr>
          <a:xfrm>
            <a:off x="7642080" y="6058800"/>
            <a:ext cx="3239280" cy="19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Youth Culture:</a:t>
            </a:r>
            <a:r>
              <a:rPr b="0" lang="en-US" sz="1040" spc="-1" strike="noStrike">
                <a:solidFill>
                  <a:srgbClr val="ffffff">
                    <a:alpha val="80000"/>
                  </a:srgbClr>
                </a:solidFill>
                <a:latin typeface="Liter"/>
                <a:ea typeface="Liter"/>
              </a:rPr>
              <a:t> Teenagers found their voice and identity</a:t>
            </a:r>
            <a:endParaRPr b="0" lang="en-HK" sz="1040" spc="-1" strike="noStrike">
              <a:latin typeface="Arial"/>
            </a:endParaRPr>
          </a:p>
        </p:txBody>
      </p:sp>
      <p:sp>
        <p:nvSpPr>
          <p:cNvPr id="218" name="Shape 35"/>
          <p:cNvSpPr/>
          <p:nvPr/>
        </p:nvSpPr>
        <p:spPr>
          <a:xfrm>
            <a:off x="7510320" y="6388560"/>
            <a:ext cx="65520" cy="6552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9" name="Text 36"/>
          <p:cNvSpPr/>
          <p:nvPr/>
        </p:nvSpPr>
        <p:spPr>
          <a:xfrm>
            <a:off x="7642080" y="6322320"/>
            <a:ext cx="3264120" cy="19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Counterculture:</a:t>
            </a:r>
            <a:r>
              <a:rPr b="0" lang="en-US" sz="1040" spc="-1" strike="noStrike">
                <a:solidFill>
                  <a:srgbClr val="ffffff">
                    <a:alpha val="80000"/>
                  </a:srgbClr>
                </a:solidFill>
                <a:latin typeface="Liter"/>
                <a:ea typeface="Liter"/>
              </a:rPr>
              <a:t> Music touched on peace, love, freedom</a:t>
            </a:r>
            <a:endParaRPr b="0" lang="en-HK" sz="1040" spc="-1" strike="noStrike">
              <a:latin typeface="Arial"/>
            </a:endParaRPr>
          </a:p>
        </p:txBody>
      </p:sp>
      <p:sp>
        <p:nvSpPr>
          <p:cNvPr id="220" name="Shape 37"/>
          <p:cNvSpPr/>
          <p:nvPr/>
        </p:nvSpPr>
        <p:spPr>
          <a:xfrm>
            <a:off x="7510320" y="6652080"/>
            <a:ext cx="65520" cy="6552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21" name="Text 38"/>
          <p:cNvSpPr/>
          <p:nvPr/>
        </p:nvSpPr>
        <p:spPr>
          <a:xfrm>
            <a:off x="7642080" y="6586200"/>
            <a:ext cx="4038840" cy="19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Global Impact:</a:t>
            </a:r>
            <a:r>
              <a:rPr b="0" lang="en-US" sz="1040" spc="-1" strike="noStrike">
                <a:solidFill>
                  <a:srgbClr val="ffffff">
                    <a:alpha val="80000"/>
                  </a:srgbClr>
                </a:solidFill>
                <a:latin typeface="Liter"/>
                <a:ea typeface="Liter"/>
              </a:rPr>
              <a:t> Proved non-American acts could dominate U.S. charts</a:t>
            </a:r>
            <a:endParaRPr b="0" lang="en-HK" sz="104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22" name="Shape 0"/>
          <p:cNvSpPr/>
          <p:nvPr/>
        </p:nvSpPr>
        <p:spPr>
          <a:xfrm>
            <a:off x="317520" y="365040"/>
            <a:ext cx="63000" cy="38052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223" name="Text 1"/>
          <p:cNvSpPr/>
          <p:nvPr/>
        </p:nvSpPr>
        <p:spPr>
          <a:xfrm>
            <a:off x="507960" y="317520"/>
            <a:ext cx="581004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6" strike="noStrike">
                <a:solidFill>
                  <a:srgbClr val="ddff00"/>
                </a:solidFill>
                <a:latin typeface="Liter"/>
                <a:ea typeface="Liter"/>
              </a:rPr>
              <a:t>CHAPTER 02</a:t>
            </a:r>
            <a:endParaRPr b="0" lang="en-HK" sz="880" spc="-1" strike="noStrike">
              <a:latin typeface="Arial"/>
            </a:endParaRPr>
          </a:p>
        </p:txBody>
      </p:sp>
      <p:sp>
        <p:nvSpPr>
          <p:cNvPr id="224" name="Text 2"/>
          <p:cNvSpPr/>
          <p:nvPr/>
        </p:nvSpPr>
        <p:spPr>
          <a:xfrm>
            <a:off x="507960" y="476280"/>
            <a:ext cx="5897160" cy="3171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The Rolling Stones &amp; The London Blues Scene</a:t>
            </a:r>
            <a:endParaRPr b="0" lang="en-HK" sz="2250" spc="-1" strike="noStrike">
              <a:latin typeface="Arial"/>
            </a:endParaRPr>
          </a:p>
        </p:txBody>
      </p:sp>
      <p:sp>
        <p:nvSpPr>
          <p:cNvPr id="225" name="Shape 3"/>
          <p:cNvSpPr/>
          <p:nvPr/>
        </p:nvSpPr>
        <p:spPr>
          <a:xfrm>
            <a:off x="317520" y="1047600"/>
            <a:ext cx="4547880" cy="247608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226" name="Text 4"/>
          <p:cNvSpPr/>
          <p:nvPr/>
        </p:nvSpPr>
        <p:spPr>
          <a:xfrm>
            <a:off x="507960" y="1238400"/>
            <a:ext cx="426204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Bad Boys of Rock</a:t>
            </a:r>
            <a:endParaRPr b="0" lang="en-HK" sz="1500" spc="-1" strike="noStrike">
              <a:latin typeface="Arial"/>
            </a:endParaRPr>
          </a:p>
        </p:txBody>
      </p:sp>
      <p:sp>
        <p:nvSpPr>
          <p:cNvPr id="227" name="Text 5"/>
          <p:cNvSpPr/>
          <p:nvPr/>
        </p:nvSpPr>
        <p:spPr>
          <a:xfrm>
            <a:off x="507960" y="1587600"/>
            <a:ext cx="4230360" cy="825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While The Beatles represented wholesome charm,</a:t>
            </a:r>
            <a:r>
              <a:rPr b="0" lang="en-US" sz="1000" spc="-1" strike="noStrike">
                <a:solidFill>
                  <a:srgbClr val="000000"/>
                </a:solidFill>
                <a:latin typeface="Liter"/>
                <a:ea typeface="Liter"/>
              </a:rPr>
              <a:t> The Rolling Stones brought danger and sexuality to rock. Their scruffy appearance and blues-influenced sound offered a stark contrast to the clean-cut image of early British Invasion bands.</a:t>
            </a:r>
            <a:endParaRPr b="0" lang="en-HK" sz="1000" spc="-1" strike="noStrike">
              <a:latin typeface="Arial"/>
            </a:endParaRPr>
          </a:p>
        </p:txBody>
      </p:sp>
      <p:sp>
        <p:nvSpPr>
          <p:cNvPr id="228" name="Text 6"/>
          <p:cNvSpPr/>
          <p:nvPr/>
        </p:nvSpPr>
        <p:spPr>
          <a:xfrm>
            <a:off x="507960" y="2508120"/>
            <a:ext cx="4230360" cy="825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By embracing sex and youthful rebellion in their music, The Stones courted controversy but also elevated rock to new cultural heights. They expanded rock's scope by transitioning from singles artists into musicians capable of producing cohesive albums.</a:t>
            </a:r>
            <a:endParaRPr b="0" lang="en-HK" sz="1000" spc="-1" strike="noStrike">
              <a:latin typeface="Arial"/>
            </a:endParaRPr>
          </a:p>
        </p:txBody>
      </p:sp>
      <p:sp>
        <p:nvSpPr>
          <p:cNvPr id="229" name="Shape 7"/>
          <p:cNvSpPr/>
          <p:nvPr/>
        </p:nvSpPr>
        <p:spPr>
          <a:xfrm>
            <a:off x="325440" y="3659040"/>
            <a:ext cx="4532040" cy="2873160"/>
          </a:xfrm>
          <a:custGeom>
            <a:avLst/>
            <a:gdLst/>
            <a:ahLst/>
            <a:rect l="l" t="t" r="r" b="b"/>
            <a:pathLst>
              <a:path w="4532313" h="2873375">
                <a:moveTo>
                  <a:pt x="0" y="0"/>
                </a:moveTo>
                <a:lnTo>
                  <a:pt x="4532313" y="0"/>
                </a:lnTo>
                <a:lnTo>
                  <a:pt x="4532313" y="2873375"/>
                </a:lnTo>
                <a:lnTo>
                  <a:pt x="0" y="2873375"/>
                </a:lnTo>
                <a:lnTo>
                  <a:pt x="0" y="0"/>
                </a:lnTo>
                <a:close/>
              </a:path>
            </a:pathLst>
          </a:custGeom>
          <a:noFill/>
          <a:ln w="25400">
            <a:solidFill>
              <a:srgbClr val="ddff00"/>
            </a:solidFill>
            <a:round/>
          </a:ln>
        </p:spPr>
        <p:style>
          <a:lnRef idx="0"/>
          <a:fillRef idx="0"/>
          <a:effectRef idx="0"/>
          <a:fontRef idx="minor"/>
        </p:style>
      </p:sp>
      <p:sp>
        <p:nvSpPr>
          <p:cNvPr id="230" name="Text 8"/>
          <p:cNvSpPr/>
          <p:nvPr/>
        </p:nvSpPr>
        <p:spPr>
          <a:xfrm>
            <a:off x="492120" y="3825720"/>
            <a:ext cx="4277880" cy="221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Key British Invasion Bands</a:t>
            </a:r>
            <a:endParaRPr b="0" lang="en-HK" sz="1250" spc="-1" strike="noStrike">
              <a:latin typeface="Arial"/>
            </a:endParaRPr>
          </a:p>
        </p:txBody>
      </p:sp>
      <p:sp>
        <p:nvSpPr>
          <p:cNvPr id="231" name="Shape 9"/>
          <p:cNvSpPr/>
          <p:nvPr/>
        </p:nvSpPr>
        <p:spPr>
          <a:xfrm>
            <a:off x="507960" y="4175280"/>
            <a:ext cx="31320" cy="4125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32" name="Shape 10"/>
          <p:cNvSpPr/>
          <p:nvPr/>
        </p:nvSpPr>
        <p:spPr>
          <a:xfrm>
            <a:off x="619200" y="4191120"/>
            <a:ext cx="380520" cy="3805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33" name="Shape 11"/>
          <p:cNvSpPr/>
          <p:nvPr/>
        </p:nvSpPr>
        <p:spPr>
          <a:xfrm>
            <a:off x="730080" y="4302000"/>
            <a:ext cx="158400" cy="158400"/>
          </a:xfrm>
          <a:custGeom>
            <a:avLst/>
            <a:gdLst/>
            <a:ahLst/>
            <a:rect l="l" t="t" r="r" b="b"/>
            <a:pathLst>
              <a:path w="158750" h="158750">
                <a:moveTo>
                  <a:pt x="144177" y="2170"/>
                </a:moveTo>
                <a:cubicBezTo>
                  <a:pt x="141263" y="-744"/>
                  <a:pt x="136550" y="-744"/>
                  <a:pt x="133666" y="2170"/>
                </a:cubicBezTo>
                <a:lnTo>
                  <a:pt x="118752" y="17053"/>
                </a:lnTo>
                <a:cubicBezTo>
                  <a:pt x="118008" y="17797"/>
                  <a:pt x="117419" y="18697"/>
                  <a:pt x="117047" y="19689"/>
                </a:cubicBezTo>
                <a:lnTo>
                  <a:pt x="112272" y="32401"/>
                </a:lnTo>
                <a:lnTo>
                  <a:pt x="88243" y="56462"/>
                </a:lnTo>
                <a:cubicBezTo>
                  <a:pt x="74259" y="47346"/>
                  <a:pt x="57454" y="47098"/>
                  <a:pt x="47625" y="56958"/>
                </a:cubicBezTo>
                <a:cubicBezTo>
                  <a:pt x="44214" y="60368"/>
                  <a:pt x="42044" y="64585"/>
                  <a:pt x="40990" y="69236"/>
                </a:cubicBezTo>
                <a:cubicBezTo>
                  <a:pt x="39843" y="74383"/>
                  <a:pt x="35068" y="78755"/>
                  <a:pt x="29797" y="79034"/>
                </a:cubicBezTo>
                <a:cubicBezTo>
                  <a:pt x="21859" y="79437"/>
                  <a:pt x="14511" y="82352"/>
                  <a:pt x="8930" y="87902"/>
                </a:cubicBezTo>
                <a:cubicBezTo>
                  <a:pt x="-4961" y="101792"/>
                  <a:pt x="-2356" y="126907"/>
                  <a:pt x="14728" y="143991"/>
                </a:cubicBezTo>
                <a:cubicBezTo>
                  <a:pt x="31812" y="161075"/>
                  <a:pt x="56927" y="163711"/>
                  <a:pt x="70817" y="149820"/>
                </a:cubicBezTo>
                <a:cubicBezTo>
                  <a:pt x="76367" y="144270"/>
                  <a:pt x="79313" y="136891"/>
                  <a:pt x="79685" y="128953"/>
                </a:cubicBezTo>
                <a:cubicBezTo>
                  <a:pt x="79964" y="123682"/>
                  <a:pt x="84336" y="118938"/>
                  <a:pt x="89483" y="117760"/>
                </a:cubicBezTo>
                <a:cubicBezTo>
                  <a:pt x="94134" y="116706"/>
                  <a:pt x="98351" y="114505"/>
                  <a:pt x="101761" y="111125"/>
                </a:cubicBezTo>
                <a:cubicBezTo>
                  <a:pt x="111621" y="101265"/>
                  <a:pt x="111373" y="84491"/>
                  <a:pt x="102257" y="70507"/>
                </a:cubicBezTo>
                <a:lnTo>
                  <a:pt x="126318" y="46447"/>
                </a:lnTo>
                <a:lnTo>
                  <a:pt x="139030" y="41672"/>
                </a:lnTo>
                <a:cubicBezTo>
                  <a:pt x="140022" y="41300"/>
                  <a:pt x="140922" y="40711"/>
                  <a:pt x="141666" y="39967"/>
                </a:cubicBezTo>
                <a:lnTo>
                  <a:pt x="156549" y="25084"/>
                </a:lnTo>
                <a:cubicBezTo>
                  <a:pt x="159463" y="22169"/>
                  <a:pt x="159463" y="17456"/>
                  <a:pt x="156549" y="14573"/>
                </a:cubicBezTo>
                <a:lnTo>
                  <a:pt x="144177" y="2170"/>
                </a:lnTo>
                <a:close/>
                <a:moveTo>
                  <a:pt x="64492" y="79375"/>
                </a:moveTo>
                <a:cubicBezTo>
                  <a:pt x="72706" y="79375"/>
                  <a:pt x="79375" y="86044"/>
                  <a:pt x="79375" y="94258"/>
                </a:cubicBezTo>
                <a:cubicBezTo>
                  <a:pt x="79375" y="102472"/>
                  <a:pt x="72706" y="109141"/>
                  <a:pt x="64492" y="109141"/>
                </a:cubicBezTo>
                <a:cubicBezTo>
                  <a:pt x="56278" y="109141"/>
                  <a:pt x="49609" y="102472"/>
                  <a:pt x="49609" y="94258"/>
                </a:cubicBezTo>
                <a:cubicBezTo>
                  <a:pt x="49609" y="86044"/>
                  <a:pt x="56278" y="79375"/>
                  <a:pt x="64492" y="79375"/>
                </a:cubicBezTo>
                <a:close/>
              </a:path>
            </a:pathLst>
          </a:custGeom>
          <a:solidFill>
            <a:srgbClr val="000000"/>
          </a:solidFill>
          <a:ln w="0">
            <a:noFill/>
          </a:ln>
        </p:spPr>
        <p:style>
          <a:lnRef idx="0"/>
          <a:fillRef idx="0"/>
          <a:effectRef idx="0"/>
          <a:fontRef idx="minor"/>
        </p:style>
      </p:sp>
      <p:sp>
        <p:nvSpPr>
          <p:cNvPr id="234" name="Text 12"/>
          <p:cNvSpPr/>
          <p:nvPr/>
        </p:nvSpPr>
        <p:spPr>
          <a:xfrm>
            <a:off x="1095480" y="4175280"/>
            <a:ext cx="336528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Who</a:t>
            </a:r>
            <a:endParaRPr b="0" lang="en-HK" sz="1130" spc="-1" strike="noStrike">
              <a:latin typeface="Arial"/>
            </a:endParaRPr>
          </a:p>
        </p:txBody>
      </p:sp>
      <p:sp>
        <p:nvSpPr>
          <p:cNvPr id="235" name="Text 13"/>
          <p:cNvSpPr/>
          <p:nvPr/>
        </p:nvSpPr>
        <p:spPr>
          <a:xfrm>
            <a:off x="1095480" y="4397400"/>
            <a:ext cx="335736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Raw energy, power chords, destroyed instruments on stage</a:t>
            </a:r>
            <a:endParaRPr b="0" lang="en-HK" sz="1000" spc="-1" strike="noStrike">
              <a:latin typeface="Arial"/>
            </a:endParaRPr>
          </a:p>
        </p:txBody>
      </p:sp>
      <p:sp>
        <p:nvSpPr>
          <p:cNvPr id="236" name="Shape 14"/>
          <p:cNvSpPr/>
          <p:nvPr/>
        </p:nvSpPr>
        <p:spPr>
          <a:xfrm>
            <a:off x="507960" y="4683240"/>
            <a:ext cx="31320" cy="4125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37" name="Shape 15"/>
          <p:cNvSpPr/>
          <p:nvPr/>
        </p:nvSpPr>
        <p:spPr>
          <a:xfrm>
            <a:off x="619200" y="4699080"/>
            <a:ext cx="380520" cy="3805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38" name="Shape 16"/>
          <p:cNvSpPr/>
          <p:nvPr/>
        </p:nvSpPr>
        <p:spPr>
          <a:xfrm>
            <a:off x="740160" y="4809960"/>
            <a:ext cx="138600" cy="15840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239" name="Text 17"/>
          <p:cNvSpPr/>
          <p:nvPr/>
        </p:nvSpPr>
        <p:spPr>
          <a:xfrm>
            <a:off x="1095480" y="4683240"/>
            <a:ext cx="249984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Kinks</a:t>
            </a:r>
            <a:endParaRPr b="0" lang="en-HK" sz="1130" spc="-1" strike="noStrike">
              <a:latin typeface="Arial"/>
            </a:endParaRPr>
          </a:p>
        </p:txBody>
      </p:sp>
      <p:sp>
        <p:nvSpPr>
          <p:cNvPr id="240" name="Text 18"/>
          <p:cNvSpPr/>
          <p:nvPr/>
        </p:nvSpPr>
        <p:spPr>
          <a:xfrm>
            <a:off x="1095480" y="4905360"/>
            <a:ext cx="249192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Innovative songwriting, distorted guitar riffs</a:t>
            </a:r>
            <a:endParaRPr b="0" lang="en-HK" sz="1000" spc="-1" strike="noStrike">
              <a:latin typeface="Arial"/>
            </a:endParaRPr>
          </a:p>
        </p:txBody>
      </p:sp>
      <p:sp>
        <p:nvSpPr>
          <p:cNvPr id="241" name="Shape 19"/>
          <p:cNvSpPr/>
          <p:nvPr/>
        </p:nvSpPr>
        <p:spPr>
          <a:xfrm>
            <a:off x="507960" y="5191200"/>
            <a:ext cx="31320" cy="4125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42" name="Shape 20"/>
          <p:cNvSpPr/>
          <p:nvPr/>
        </p:nvSpPr>
        <p:spPr>
          <a:xfrm>
            <a:off x="619200" y="5207040"/>
            <a:ext cx="380520" cy="3805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43" name="Shape 21"/>
          <p:cNvSpPr/>
          <p:nvPr/>
        </p:nvSpPr>
        <p:spPr>
          <a:xfrm>
            <a:off x="740160" y="5318280"/>
            <a:ext cx="138600" cy="158400"/>
          </a:xfrm>
          <a:custGeom>
            <a:avLst/>
            <a:gdLst/>
            <a:ahLst/>
            <a:rect l="l" t="t" r="r" b="b"/>
            <a:pathLst>
              <a:path w="138906" h="158750">
                <a:moveTo>
                  <a:pt x="49764" y="-8186"/>
                </a:moveTo>
                <a:cubicBezTo>
                  <a:pt x="52648" y="-10604"/>
                  <a:pt x="56896" y="-10511"/>
                  <a:pt x="59655" y="-7906"/>
                </a:cubicBezTo>
                <a:cubicBezTo>
                  <a:pt x="63469" y="-4310"/>
                  <a:pt x="66880" y="-341"/>
                  <a:pt x="70166" y="3690"/>
                </a:cubicBezTo>
                <a:cubicBezTo>
                  <a:pt x="74352" y="8806"/>
                  <a:pt x="79375" y="15565"/>
                  <a:pt x="84212" y="23595"/>
                </a:cubicBezTo>
                <a:cubicBezTo>
                  <a:pt x="85824" y="21487"/>
                  <a:pt x="87313" y="19627"/>
                  <a:pt x="88615" y="18045"/>
                </a:cubicBezTo>
                <a:cubicBezTo>
                  <a:pt x="88956" y="17642"/>
                  <a:pt x="89297" y="17208"/>
                  <a:pt x="89638" y="16774"/>
                </a:cubicBezTo>
                <a:cubicBezTo>
                  <a:pt x="92087" y="13736"/>
                  <a:pt x="95126" y="9922"/>
                  <a:pt x="99188" y="9922"/>
                </a:cubicBezTo>
                <a:cubicBezTo>
                  <a:pt x="103343" y="9922"/>
                  <a:pt x="106257" y="13612"/>
                  <a:pt x="108738" y="16774"/>
                </a:cubicBezTo>
                <a:cubicBezTo>
                  <a:pt x="109141" y="17301"/>
                  <a:pt x="109544" y="17797"/>
                  <a:pt x="109947" y="18262"/>
                </a:cubicBezTo>
                <a:cubicBezTo>
                  <a:pt x="113140" y="22107"/>
                  <a:pt x="117388" y="27657"/>
                  <a:pt x="121636" y="34510"/>
                </a:cubicBezTo>
                <a:cubicBezTo>
                  <a:pt x="130070" y="48121"/>
                  <a:pt x="138875" y="67500"/>
                  <a:pt x="138875" y="89266"/>
                </a:cubicBezTo>
                <a:cubicBezTo>
                  <a:pt x="138875" y="127620"/>
                  <a:pt x="107776" y="158719"/>
                  <a:pt x="69422" y="158719"/>
                </a:cubicBezTo>
                <a:cubicBezTo>
                  <a:pt x="31068" y="158719"/>
                  <a:pt x="0" y="127651"/>
                  <a:pt x="0" y="89297"/>
                </a:cubicBezTo>
                <a:cubicBezTo>
                  <a:pt x="0" y="61051"/>
                  <a:pt x="12743" y="36587"/>
                  <a:pt x="24960" y="19534"/>
                </a:cubicBezTo>
                <a:cubicBezTo>
                  <a:pt x="31130" y="10945"/>
                  <a:pt x="37269" y="4062"/>
                  <a:pt x="41889" y="-651"/>
                </a:cubicBezTo>
                <a:cubicBezTo>
                  <a:pt x="44431" y="-3256"/>
                  <a:pt x="47005" y="-5829"/>
                  <a:pt x="49795" y="-8155"/>
                </a:cubicBezTo>
                <a:close/>
                <a:moveTo>
                  <a:pt x="69980" y="128984"/>
                </a:moveTo>
                <a:cubicBezTo>
                  <a:pt x="77825" y="128984"/>
                  <a:pt x="84770" y="126814"/>
                  <a:pt x="91312" y="122473"/>
                </a:cubicBezTo>
                <a:cubicBezTo>
                  <a:pt x="104366" y="113357"/>
                  <a:pt x="107869" y="95126"/>
                  <a:pt x="100025" y="80801"/>
                </a:cubicBezTo>
                <a:cubicBezTo>
                  <a:pt x="98630" y="78011"/>
                  <a:pt x="95064" y="77825"/>
                  <a:pt x="93049" y="80181"/>
                </a:cubicBezTo>
                <a:lnTo>
                  <a:pt x="85235" y="89266"/>
                </a:lnTo>
                <a:cubicBezTo>
                  <a:pt x="83189" y="91622"/>
                  <a:pt x="79499" y="91560"/>
                  <a:pt x="77577" y="89111"/>
                </a:cubicBezTo>
                <a:cubicBezTo>
                  <a:pt x="72213" y="82259"/>
                  <a:pt x="62353" y="69763"/>
                  <a:pt x="57330" y="63376"/>
                </a:cubicBezTo>
                <a:cubicBezTo>
                  <a:pt x="55656" y="61237"/>
                  <a:pt x="52617" y="60896"/>
                  <a:pt x="50664" y="62787"/>
                </a:cubicBezTo>
                <a:cubicBezTo>
                  <a:pt x="44990" y="68306"/>
                  <a:pt x="34696" y="80398"/>
                  <a:pt x="34696" y="95126"/>
                </a:cubicBezTo>
                <a:cubicBezTo>
                  <a:pt x="34696" y="116396"/>
                  <a:pt x="50385" y="128984"/>
                  <a:pt x="69949" y="128984"/>
                </a:cubicBezTo>
                <a:close/>
              </a:path>
            </a:pathLst>
          </a:custGeom>
          <a:solidFill>
            <a:srgbClr val="000000"/>
          </a:solidFill>
          <a:ln w="0">
            <a:noFill/>
          </a:ln>
        </p:spPr>
        <p:style>
          <a:lnRef idx="0"/>
          <a:fillRef idx="0"/>
          <a:effectRef idx="0"/>
          <a:fontRef idx="minor"/>
        </p:style>
      </p:sp>
      <p:sp>
        <p:nvSpPr>
          <p:cNvPr id="244" name="Text 22"/>
          <p:cNvSpPr/>
          <p:nvPr/>
        </p:nvSpPr>
        <p:spPr>
          <a:xfrm>
            <a:off x="1095480" y="5191200"/>
            <a:ext cx="269856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Animals</a:t>
            </a:r>
            <a:endParaRPr b="0" lang="en-HK" sz="1130" spc="-1" strike="noStrike">
              <a:latin typeface="Arial"/>
            </a:endParaRPr>
          </a:p>
        </p:txBody>
      </p:sp>
      <p:sp>
        <p:nvSpPr>
          <p:cNvPr id="245" name="Text 23"/>
          <p:cNvSpPr/>
          <p:nvPr/>
        </p:nvSpPr>
        <p:spPr>
          <a:xfrm>
            <a:off x="1095480" y="5413320"/>
            <a:ext cx="269028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"House of the Rising Sun" - gritty R&amp;B influence</a:t>
            </a:r>
            <a:endParaRPr b="0" lang="en-HK" sz="1000" spc="-1" strike="noStrike">
              <a:latin typeface="Arial"/>
            </a:endParaRPr>
          </a:p>
        </p:txBody>
      </p:sp>
      <p:sp>
        <p:nvSpPr>
          <p:cNvPr id="246" name="Shape 24"/>
          <p:cNvSpPr/>
          <p:nvPr/>
        </p:nvSpPr>
        <p:spPr>
          <a:xfrm>
            <a:off x="507960" y="5699160"/>
            <a:ext cx="31320" cy="4125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47" name="Shape 25"/>
          <p:cNvSpPr/>
          <p:nvPr/>
        </p:nvSpPr>
        <p:spPr>
          <a:xfrm>
            <a:off x="619200" y="5715000"/>
            <a:ext cx="380520" cy="3805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48" name="Shape 26"/>
          <p:cNvSpPr/>
          <p:nvPr/>
        </p:nvSpPr>
        <p:spPr>
          <a:xfrm>
            <a:off x="720360" y="5826240"/>
            <a:ext cx="178200" cy="158400"/>
          </a:xfrm>
          <a:custGeom>
            <a:avLst/>
            <a:gdLst/>
            <a:ahLst/>
            <a:rect l="l" t="t" r="r" b="b"/>
            <a:pathLst>
              <a:path w="178594" h="158750">
                <a:moveTo>
                  <a:pt x="95963" y="-5860"/>
                </a:moveTo>
                <a:cubicBezTo>
                  <a:pt x="94692" y="-8341"/>
                  <a:pt x="92118" y="-9922"/>
                  <a:pt x="89328" y="-9922"/>
                </a:cubicBezTo>
                <a:cubicBezTo>
                  <a:pt x="86537" y="-9922"/>
                  <a:pt x="83964" y="-8341"/>
                  <a:pt x="82693" y="-5860"/>
                </a:cubicBezTo>
                <a:lnTo>
                  <a:pt x="59872" y="38850"/>
                </a:lnTo>
                <a:lnTo>
                  <a:pt x="10294" y="46726"/>
                </a:lnTo>
                <a:cubicBezTo>
                  <a:pt x="7534" y="47160"/>
                  <a:pt x="5240" y="49113"/>
                  <a:pt x="4372" y="51780"/>
                </a:cubicBezTo>
                <a:cubicBezTo>
                  <a:pt x="3504" y="54446"/>
                  <a:pt x="4217" y="57361"/>
                  <a:pt x="6170" y="59345"/>
                </a:cubicBezTo>
                <a:lnTo>
                  <a:pt x="41641" y="94847"/>
                </a:lnTo>
                <a:lnTo>
                  <a:pt x="33827" y="144425"/>
                </a:lnTo>
                <a:cubicBezTo>
                  <a:pt x="33393" y="147185"/>
                  <a:pt x="34541" y="149975"/>
                  <a:pt x="36804" y="151619"/>
                </a:cubicBezTo>
                <a:cubicBezTo>
                  <a:pt x="39067" y="153262"/>
                  <a:pt x="42044" y="153510"/>
                  <a:pt x="44555" y="152239"/>
                </a:cubicBezTo>
                <a:lnTo>
                  <a:pt x="89328" y="129480"/>
                </a:lnTo>
                <a:lnTo>
                  <a:pt x="134069" y="152239"/>
                </a:lnTo>
                <a:cubicBezTo>
                  <a:pt x="136550" y="153510"/>
                  <a:pt x="139557" y="153262"/>
                  <a:pt x="141821" y="151619"/>
                </a:cubicBezTo>
                <a:cubicBezTo>
                  <a:pt x="144084" y="149975"/>
                  <a:pt x="145231" y="147216"/>
                  <a:pt x="144797" y="144425"/>
                </a:cubicBezTo>
                <a:lnTo>
                  <a:pt x="136953" y="94847"/>
                </a:lnTo>
                <a:lnTo>
                  <a:pt x="172424" y="59345"/>
                </a:lnTo>
                <a:cubicBezTo>
                  <a:pt x="174408" y="57361"/>
                  <a:pt x="175090" y="54446"/>
                  <a:pt x="174222" y="51780"/>
                </a:cubicBezTo>
                <a:cubicBezTo>
                  <a:pt x="173354" y="49113"/>
                  <a:pt x="171090" y="47160"/>
                  <a:pt x="168300" y="46726"/>
                </a:cubicBezTo>
                <a:lnTo>
                  <a:pt x="118752" y="38850"/>
                </a:lnTo>
                <a:lnTo>
                  <a:pt x="95963" y="-5860"/>
                </a:lnTo>
                <a:close/>
              </a:path>
            </a:pathLst>
          </a:custGeom>
          <a:solidFill>
            <a:srgbClr val="000000"/>
          </a:solidFill>
          <a:ln w="0">
            <a:noFill/>
          </a:ln>
        </p:spPr>
        <p:style>
          <a:lnRef idx="0"/>
          <a:fillRef idx="0"/>
          <a:effectRef idx="0"/>
          <a:fontRef idx="minor"/>
        </p:style>
      </p:sp>
      <p:sp>
        <p:nvSpPr>
          <p:cNvPr id="249" name="Text 27"/>
          <p:cNvSpPr/>
          <p:nvPr/>
        </p:nvSpPr>
        <p:spPr>
          <a:xfrm>
            <a:off x="1095480" y="5699160"/>
            <a:ext cx="291276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Yardbirds</a:t>
            </a:r>
            <a:endParaRPr b="0" lang="en-HK" sz="1130" spc="-1" strike="noStrike">
              <a:latin typeface="Arial"/>
            </a:endParaRPr>
          </a:p>
        </p:txBody>
      </p:sp>
      <p:sp>
        <p:nvSpPr>
          <p:cNvPr id="250" name="Text 28"/>
          <p:cNvSpPr/>
          <p:nvPr/>
        </p:nvSpPr>
        <p:spPr>
          <a:xfrm>
            <a:off x="1095480" y="5921280"/>
            <a:ext cx="290484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Guitar legends Eric Clapton, Jeff Beck, Jimmy Page</a:t>
            </a:r>
            <a:endParaRPr b="0" lang="en-HK" sz="1000" spc="-1" strike="noStrike">
              <a:latin typeface="Arial"/>
            </a:endParaRPr>
          </a:p>
        </p:txBody>
      </p:sp>
      <p:sp>
        <p:nvSpPr>
          <p:cNvPr id="251" name="Shape 29"/>
          <p:cNvSpPr/>
          <p:nvPr/>
        </p:nvSpPr>
        <p:spPr>
          <a:xfrm>
            <a:off x="5062680" y="1055520"/>
            <a:ext cx="6802200" cy="2746080"/>
          </a:xfrm>
          <a:custGeom>
            <a:avLst/>
            <a:gdLst/>
            <a:ahLst/>
            <a:rect l="l" t="t" r="r" b="b"/>
            <a:pathLst>
              <a:path w="6802438" h="2746375">
                <a:moveTo>
                  <a:pt x="0" y="0"/>
                </a:moveTo>
                <a:lnTo>
                  <a:pt x="6802438" y="0"/>
                </a:lnTo>
                <a:lnTo>
                  <a:pt x="6802438" y="2746375"/>
                </a:lnTo>
                <a:lnTo>
                  <a:pt x="0" y="2746375"/>
                </a:lnTo>
                <a:lnTo>
                  <a:pt x="0" y="0"/>
                </a:lnTo>
                <a:close/>
              </a:path>
            </a:pathLst>
          </a:custGeom>
          <a:noFill/>
          <a:ln w="25400">
            <a:solidFill>
              <a:srgbClr val="ddff00"/>
            </a:solidFill>
            <a:round/>
          </a:ln>
        </p:spPr>
        <p:style>
          <a:lnRef idx="0"/>
          <a:fillRef idx="0"/>
          <a:effectRef idx="0"/>
          <a:fontRef idx="minor"/>
        </p:style>
      </p:sp>
      <p:sp>
        <p:nvSpPr>
          <p:cNvPr id="252" name="Text 30"/>
          <p:cNvSpPr/>
          <p:nvPr/>
        </p:nvSpPr>
        <p:spPr>
          <a:xfrm>
            <a:off x="5261040" y="1254240"/>
            <a:ext cx="650052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The British Invasion Timeline</a:t>
            </a:r>
            <a:endParaRPr b="0" lang="en-HK" sz="1500" spc="-1" strike="noStrike">
              <a:latin typeface="Arial"/>
            </a:endParaRPr>
          </a:p>
        </p:txBody>
      </p:sp>
      <p:sp>
        <p:nvSpPr>
          <p:cNvPr id="253" name="Shape 31"/>
          <p:cNvSpPr/>
          <p:nvPr/>
        </p:nvSpPr>
        <p:spPr>
          <a:xfrm>
            <a:off x="5261040" y="1635120"/>
            <a:ext cx="761760" cy="31716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54" name="Text 32"/>
          <p:cNvSpPr/>
          <p:nvPr/>
        </p:nvSpPr>
        <p:spPr>
          <a:xfrm>
            <a:off x="5229360" y="1635120"/>
            <a:ext cx="825120" cy="31716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1963</a:t>
            </a:r>
            <a:endParaRPr b="0" lang="en-HK" sz="1000" spc="-1" strike="noStrike">
              <a:latin typeface="Arial"/>
            </a:endParaRPr>
          </a:p>
        </p:txBody>
      </p:sp>
      <p:sp>
        <p:nvSpPr>
          <p:cNvPr id="255" name="Shape 33"/>
          <p:cNvSpPr/>
          <p:nvPr/>
        </p:nvSpPr>
        <p:spPr>
          <a:xfrm>
            <a:off x="6165720" y="1635120"/>
            <a:ext cx="31320" cy="31716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56" name="Text 34"/>
          <p:cNvSpPr/>
          <p:nvPr/>
        </p:nvSpPr>
        <p:spPr>
          <a:xfrm>
            <a:off x="6308640" y="1635120"/>
            <a:ext cx="542088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The Beatles release "Please Please Me" and "From Me to You" - first UK #1 hits</a:t>
            </a:r>
            <a:endParaRPr b="0" lang="en-HK" sz="1000" spc="-1" strike="noStrike">
              <a:latin typeface="Arial"/>
            </a:endParaRPr>
          </a:p>
        </p:txBody>
      </p:sp>
      <p:sp>
        <p:nvSpPr>
          <p:cNvPr id="257" name="Shape 35"/>
          <p:cNvSpPr/>
          <p:nvPr/>
        </p:nvSpPr>
        <p:spPr>
          <a:xfrm>
            <a:off x="5261040" y="2048040"/>
            <a:ext cx="761760" cy="31716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58" name="Text 36"/>
          <p:cNvSpPr/>
          <p:nvPr/>
        </p:nvSpPr>
        <p:spPr>
          <a:xfrm>
            <a:off x="5229360" y="2048040"/>
            <a:ext cx="825120" cy="31716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1964</a:t>
            </a:r>
            <a:endParaRPr b="0" lang="en-HK" sz="1000" spc="-1" strike="noStrike">
              <a:latin typeface="Arial"/>
            </a:endParaRPr>
          </a:p>
        </p:txBody>
      </p:sp>
      <p:sp>
        <p:nvSpPr>
          <p:cNvPr id="259" name="Shape 37"/>
          <p:cNvSpPr/>
          <p:nvPr/>
        </p:nvSpPr>
        <p:spPr>
          <a:xfrm>
            <a:off x="6165720" y="2048040"/>
            <a:ext cx="31320" cy="31716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0" name="Text 38"/>
          <p:cNvSpPr/>
          <p:nvPr/>
        </p:nvSpPr>
        <p:spPr>
          <a:xfrm>
            <a:off x="6308640" y="2048040"/>
            <a:ext cx="542088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February: Beatles on Ed Sullivan. "I Want to Hold Your Hand" tops U.S. charts</a:t>
            </a:r>
            <a:endParaRPr b="0" lang="en-HK" sz="1000" spc="-1" strike="noStrike">
              <a:latin typeface="Arial"/>
            </a:endParaRPr>
          </a:p>
        </p:txBody>
      </p:sp>
      <p:sp>
        <p:nvSpPr>
          <p:cNvPr id="261" name="Shape 39"/>
          <p:cNvSpPr/>
          <p:nvPr/>
        </p:nvSpPr>
        <p:spPr>
          <a:xfrm>
            <a:off x="5261040" y="2460600"/>
            <a:ext cx="761760" cy="31716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62" name="Text 40"/>
          <p:cNvSpPr/>
          <p:nvPr/>
        </p:nvSpPr>
        <p:spPr>
          <a:xfrm>
            <a:off x="5229360" y="2460600"/>
            <a:ext cx="825120" cy="31716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1964</a:t>
            </a:r>
            <a:endParaRPr b="0" lang="en-HK" sz="1000" spc="-1" strike="noStrike">
              <a:latin typeface="Arial"/>
            </a:endParaRPr>
          </a:p>
        </p:txBody>
      </p:sp>
      <p:sp>
        <p:nvSpPr>
          <p:cNvPr id="263" name="Shape 41"/>
          <p:cNvSpPr/>
          <p:nvPr/>
        </p:nvSpPr>
        <p:spPr>
          <a:xfrm>
            <a:off x="6165720" y="2460600"/>
            <a:ext cx="31320" cy="31716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4" name="Text 42"/>
          <p:cNvSpPr/>
          <p:nvPr/>
        </p:nvSpPr>
        <p:spPr>
          <a:xfrm>
            <a:off x="6308640" y="2460600"/>
            <a:ext cx="542088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Rolling Stones release "(I Can't Get No) Satisfaction" - becomes anthem of rebellion</a:t>
            </a:r>
            <a:endParaRPr b="0" lang="en-HK" sz="1000" spc="-1" strike="noStrike">
              <a:latin typeface="Arial"/>
            </a:endParaRPr>
          </a:p>
        </p:txBody>
      </p:sp>
      <p:sp>
        <p:nvSpPr>
          <p:cNvPr id="265" name="Shape 43"/>
          <p:cNvSpPr/>
          <p:nvPr/>
        </p:nvSpPr>
        <p:spPr>
          <a:xfrm>
            <a:off x="5261040" y="2873520"/>
            <a:ext cx="761760" cy="31716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66" name="Text 44"/>
          <p:cNvSpPr/>
          <p:nvPr/>
        </p:nvSpPr>
        <p:spPr>
          <a:xfrm>
            <a:off x="5229360" y="2873520"/>
            <a:ext cx="825120" cy="31716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1965</a:t>
            </a:r>
            <a:endParaRPr b="0" lang="en-HK" sz="1000" spc="-1" strike="noStrike">
              <a:latin typeface="Arial"/>
            </a:endParaRPr>
          </a:p>
        </p:txBody>
      </p:sp>
      <p:sp>
        <p:nvSpPr>
          <p:cNvPr id="267" name="Shape 45"/>
          <p:cNvSpPr/>
          <p:nvPr/>
        </p:nvSpPr>
        <p:spPr>
          <a:xfrm>
            <a:off x="6165720" y="2873520"/>
            <a:ext cx="31320" cy="31716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8" name="Text 46"/>
          <p:cNvSpPr/>
          <p:nvPr/>
        </p:nvSpPr>
        <p:spPr>
          <a:xfrm>
            <a:off x="6308640" y="2873520"/>
            <a:ext cx="542088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June 18: 14 British records in U.S. Top 40 - the invasion's peak</a:t>
            </a:r>
            <a:endParaRPr b="0" lang="en-HK" sz="1000" spc="-1" strike="noStrike">
              <a:latin typeface="Arial"/>
            </a:endParaRPr>
          </a:p>
        </p:txBody>
      </p:sp>
      <p:sp>
        <p:nvSpPr>
          <p:cNvPr id="269" name="Shape 47"/>
          <p:cNvSpPr/>
          <p:nvPr/>
        </p:nvSpPr>
        <p:spPr>
          <a:xfrm>
            <a:off x="5261040" y="3286080"/>
            <a:ext cx="761760" cy="31716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70" name="Text 48"/>
          <p:cNvSpPr/>
          <p:nvPr/>
        </p:nvSpPr>
        <p:spPr>
          <a:xfrm>
            <a:off x="5229360" y="3286080"/>
            <a:ext cx="825120" cy="31716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1966</a:t>
            </a:r>
            <a:endParaRPr b="0" lang="en-HK" sz="1000" spc="-1" strike="noStrike">
              <a:latin typeface="Arial"/>
            </a:endParaRPr>
          </a:p>
        </p:txBody>
      </p:sp>
      <p:sp>
        <p:nvSpPr>
          <p:cNvPr id="271" name="Shape 49"/>
          <p:cNvSpPr/>
          <p:nvPr/>
        </p:nvSpPr>
        <p:spPr>
          <a:xfrm>
            <a:off x="6165720" y="3286080"/>
            <a:ext cx="31320" cy="31716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72" name="Text 50"/>
          <p:cNvSpPr/>
          <p:nvPr/>
        </p:nvSpPr>
        <p:spPr>
          <a:xfrm>
            <a:off x="6308640" y="3286080"/>
            <a:ext cx="542088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Time magazine cover: "London: The Swinging City" - America surrenders</a:t>
            </a:r>
            <a:endParaRPr b="0" lang="en-HK" sz="1000" spc="-1" strike="noStrike">
              <a:latin typeface="Arial"/>
            </a:endParaRPr>
          </a:p>
        </p:txBody>
      </p:sp>
      <p:sp>
        <p:nvSpPr>
          <p:cNvPr id="273" name="Shape 51"/>
          <p:cNvSpPr/>
          <p:nvPr/>
        </p:nvSpPr>
        <p:spPr>
          <a:xfrm>
            <a:off x="5054400" y="3936960"/>
            <a:ext cx="6818040" cy="1221840"/>
          </a:xfrm>
          <a:custGeom>
            <a:avLst/>
            <a:gdLst/>
            <a:ahLst/>
            <a:rect l="l" t="t" r="r" b="b"/>
            <a:pathLst>
              <a:path w="6818313" h="1222375">
                <a:moveTo>
                  <a:pt x="0" y="0"/>
                </a:moveTo>
                <a:lnTo>
                  <a:pt x="6818313" y="0"/>
                </a:lnTo>
                <a:lnTo>
                  <a:pt x="6818313" y="1222375"/>
                </a:lnTo>
                <a:lnTo>
                  <a:pt x="0" y="1222375"/>
                </a:lnTo>
                <a:lnTo>
                  <a:pt x="0" y="0"/>
                </a:lnTo>
                <a:close/>
              </a:path>
            </a:pathLst>
          </a:custGeom>
          <a:solidFill>
            <a:srgbClr val="ddff00"/>
          </a:solidFill>
          <a:ln w="0">
            <a:noFill/>
          </a:ln>
        </p:spPr>
        <p:style>
          <a:lnRef idx="0"/>
          <a:fillRef idx="0"/>
          <a:effectRef idx="0"/>
          <a:fontRef idx="minor"/>
        </p:style>
      </p:sp>
      <p:sp>
        <p:nvSpPr>
          <p:cNvPr id="274" name="Text 52"/>
          <p:cNvSpPr/>
          <p:nvPr/>
        </p:nvSpPr>
        <p:spPr>
          <a:xfrm>
            <a:off x="5213160" y="4095720"/>
            <a:ext cx="6579720" cy="221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The Invasion's Legacy</a:t>
            </a:r>
            <a:endParaRPr b="0" lang="en-HK" sz="1250" spc="-1" strike="noStrike">
              <a:latin typeface="Arial"/>
            </a:endParaRPr>
          </a:p>
        </p:txBody>
      </p:sp>
      <p:sp>
        <p:nvSpPr>
          <p:cNvPr id="275" name="Text 53"/>
          <p:cNvSpPr/>
          <p:nvPr/>
        </p:nvSpPr>
        <p:spPr>
          <a:xfrm>
            <a:off x="5213160" y="4381560"/>
            <a:ext cx="6563880" cy="618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The British Invasion proved that British musicians could not only match American artists but surpass them.</a:t>
            </a:r>
            <a:r>
              <a:rPr b="0" lang="en-US" sz="1000" spc="-1" strike="noStrike">
                <a:solidFill>
                  <a:srgbClr val="000000"/>
                </a:solidFill>
                <a:latin typeface="Liter"/>
                <a:ea typeface="Liter"/>
              </a:rPr>
              <a:t> By 1967, English and American bands were equal partners in one international rock culture. The invasion opened doors for foreign acts and established rock as a global phenomenon.</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76" name="Image 0"/>
          <p:cNvSpPr/>
          <p:nvPr/>
        </p:nvSpPr>
        <p:spPr>
          <a:xfrm>
            <a:off x="0" y="0"/>
            <a:ext cx="12191760" cy="6857640"/>
          </a:xfrm>
          <a:prstGeom prst="roundRect">
            <a:avLst>
              <a:gd name="adj" fmla="val 0"/>
            </a:avLst>
          </a:prstGeom>
          <a:blipFill rotWithShape="0">
            <a:blip r:embed="rId1"/>
            <a:srcRect/>
            <a:stretch/>
          </a:blipFill>
          <a:ln w="0">
            <a:noFill/>
          </a:ln>
        </p:spPr>
        <p:style>
          <a:lnRef idx="0"/>
          <a:fillRef idx="0"/>
          <a:effectRef idx="0"/>
          <a:fontRef idx="minor"/>
        </p:style>
      </p:sp>
      <p:sp>
        <p:nvSpPr>
          <p:cNvPr id="277" name="Shape 0"/>
          <p:cNvSpPr/>
          <p:nvPr/>
        </p:nvSpPr>
        <p:spPr>
          <a:xfrm>
            <a:off x="0" y="0"/>
            <a:ext cx="12191760" cy="68576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278" name="Shape 1"/>
          <p:cNvSpPr/>
          <p:nvPr/>
        </p:nvSpPr>
        <p:spPr>
          <a:xfrm rot="720000">
            <a:off x="10754280" y="5420160"/>
            <a:ext cx="875880" cy="87588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279" name="Shape 2"/>
          <p:cNvSpPr/>
          <p:nvPr/>
        </p:nvSpPr>
        <p:spPr>
          <a:xfrm rot="21240000">
            <a:off x="320400" y="1311120"/>
            <a:ext cx="1218960" cy="121896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280" name="Text 3"/>
          <p:cNvSpPr/>
          <p:nvPr/>
        </p:nvSpPr>
        <p:spPr>
          <a:xfrm>
            <a:off x="569520" y="1638360"/>
            <a:ext cx="1180800" cy="6854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03</a:t>
            </a:r>
            <a:endParaRPr b="0" lang="en-HK" sz="5400" spc="-1" strike="noStrike">
              <a:latin typeface="Arial"/>
            </a:endParaRPr>
          </a:p>
        </p:txBody>
      </p:sp>
      <p:sp>
        <p:nvSpPr>
          <p:cNvPr id="281" name="Shape 4"/>
          <p:cNvSpPr/>
          <p:nvPr/>
        </p:nvSpPr>
        <p:spPr>
          <a:xfrm>
            <a:off x="1828800" y="1752480"/>
            <a:ext cx="3314520" cy="37800"/>
          </a:xfrm>
          <a:custGeom>
            <a:avLst/>
            <a:gdLst/>
            <a:ahLst/>
            <a:rect l="l" t="t" r="r" b="b"/>
            <a:pathLst>
              <a:path w="3314700" h="38100">
                <a:moveTo>
                  <a:pt x="0" y="0"/>
                </a:moveTo>
                <a:lnTo>
                  <a:pt x="3314700" y="0"/>
                </a:lnTo>
                <a:lnTo>
                  <a:pt x="3314700" y="38100"/>
                </a:lnTo>
                <a:lnTo>
                  <a:pt x="0" y="38100"/>
                </a:lnTo>
                <a:lnTo>
                  <a:pt x="0" y="0"/>
                </a:lnTo>
                <a:close/>
              </a:path>
            </a:pathLst>
          </a:custGeom>
          <a:solidFill>
            <a:srgbClr val="ddff00"/>
          </a:solidFill>
          <a:ln w="0">
            <a:noFill/>
          </a:ln>
        </p:spPr>
        <p:style>
          <a:lnRef idx="0"/>
          <a:fillRef idx="0"/>
          <a:effectRef idx="0"/>
          <a:fontRef idx="minor"/>
        </p:style>
      </p:sp>
      <p:sp>
        <p:nvSpPr>
          <p:cNvPr id="282" name="Text 5"/>
          <p:cNvSpPr/>
          <p:nvPr/>
        </p:nvSpPr>
        <p:spPr>
          <a:xfrm>
            <a:off x="1828800" y="1943280"/>
            <a:ext cx="3400200" cy="266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34" strike="noStrike">
                <a:solidFill>
                  <a:srgbClr val="ddff00"/>
                </a:solidFill>
                <a:latin typeface="Liter"/>
                <a:ea typeface="Liter"/>
              </a:rPr>
              <a:t>CHAPTER THREE</a:t>
            </a:r>
            <a:endParaRPr b="0" lang="en-HK" sz="1350" spc="-1" strike="noStrike">
              <a:latin typeface="Arial"/>
            </a:endParaRPr>
          </a:p>
        </p:txBody>
      </p:sp>
      <p:sp>
        <p:nvSpPr>
          <p:cNvPr id="283" name="Text 6"/>
          <p:cNvSpPr/>
          <p:nvPr/>
        </p:nvSpPr>
        <p:spPr>
          <a:xfrm>
            <a:off x="380880" y="2895480"/>
            <a:ext cx="5105160" cy="17143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CLASSIC ROCK</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&amp; HARD ROCK</a:t>
            </a:r>
            <a:endParaRPr b="0" lang="en-HK" sz="5400" spc="-1" strike="noStrike">
              <a:latin typeface="Arial"/>
            </a:endParaRPr>
          </a:p>
        </p:txBody>
      </p:sp>
      <p:sp>
        <p:nvSpPr>
          <p:cNvPr id="284" name="Text 7"/>
          <p:cNvSpPr/>
          <p:nvPr/>
        </p:nvSpPr>
        <p:spPr>
          <a:xfrm>
            <a:off x="380880" y="4838760"/>
            <a:ext cx="487656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Late 1960s-1970s: The Golden Age of Rock</a:t>
            </a:r>
            <a:endParaRPr b="0" lang="en-HK" sz="1800" spc="-1" strike="noStrike">
              <a:latin typeface="Arial"/>
            </a:endParaRPr>
          </a:p>
        </p:txBody>
      </p:sp>
      <p:sp>
        <p:nvSpPr>
          <p:cNvPr id="285" name="Shape 8"/>
          <p:cNvSpPr/>
          <p:nvPr/>
        </p:nvSpPr>
        <p:spPr>
          <a:xfrm>
            <a:off x="380880" y="5448240"/>
            <a:ext cx="761760" cy="3780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286" name="Shape 9"/>
          <p:cNvSpPr/>
          <p:nvPr/>
        </p:nvSpPr>
        <p:spPr>
          <a:xfrm>
            <a:off x="1295280" y="5448240"/>
            <a:ext cx="380520" cy="3780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287" name="Shape 10"/>
          <p:cNvSpPr/>
          <p:nvPr/>
        </p:nvSpPr>
        <p:spPr>
          <a:xfrm>
            <a:off x="1828800" y="5448240"/>
            <a:ext cx="190080" cy="3780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88" name="Shape 0"/>
          <p:cNvSpPr/>
          <p:nvPr/>
        </p:nvSpPr>
        <p:spPr>
          <a:xfrm>
            <a:off x="327240" y="376560"/>
            <a:ext cx="65160" cy="392400"/>
          </a:xfrm>
          <a:custGeom>
            <a:avLst/>
            <a:gdLst/>
            <a:ahLst/>
            <a:rect l="l" t="t" r="r" b="b"/>
            <a:pathLst>
              <a:path w="65460" h="392762">
                <a:moveTo>
                  <a:pt x="0" y="0"/>
                </a:moveTo>
                <a:lnTo>
                  <a:pt x="65460" y="0"/>
                </a:lnTo>
                <a:lnTo>
                  <a:pt x="65460" y="392762"/>
                </a:lnTo>
                <a:lnTo>
                  <a:pt x="0" y="392762"/>
                </a:lnTo>
                <a:lnTo>
                  <a:pt x="0" y="0"/>
                </a:lnTo>
                <a:close/>
              </a:path>
            </a:pathLst>
          </a:custGeom>
          <a:solidFill>
            <a:srgbClr val="ddff00"/>
          </a:solidFill>
          <a:ln w="0">
            <a:noFill/>
          </a:ln>
        </p:spPr>
        <p:style>
          <a:lnRef idx="0"/>
          <a:fillRef idx="0"/>
          <a:effectRef idx="0"/>
          <a:fontRef idx="minor"/>
        </p:style>
      </p:sp>
      <p:sp>
        <p:nvSpPr>
          <p:cNvPr id="289" name="Text 1"/>
          <p:cNvSpPr/>
          <p:nvPr/>
        </p:nvSpPr>
        <p:spPr>
          <a:xfrm>
            <a:off x="523800" y="327240"/>
            <a:ext cx="3198960" cy="163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89" strike="noStrike">
                <a:solidFill>
                  <a:srgbClr val="ddff00"/>
                </a:solidFill>
                <a:latin typeface="Liter"/>
                <a:ea typeface="Liter"/>
              </a:rPr>
              <a:t>CHAPTER 03</a:t>
            </a:r>
            <a:endParaRPr b="0" lang="en-HK" sz="900" spc="-1" strike="noStrike">
              <a:latin typeface="Arial"/>
            </a:endParaRPr>
          </a:p>
        </p:txBody>
      </p:sp>
      <p:sp>
        <p:nvSpPr>
          <p:cNvPr id="290" name="Text 2"/>
          <p:cNvSpPr/>
          <p:nvPr/>
        </p:nvSpPr>
        <p:spPr>
          <a:xfrm>
            <a:off x="523800" y="491040"/>
            <a:ext cx="3288960" cy="3268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20" spc="-1" strike="noStrike">
                <a:solidFill>
                  <a:srgbClr val="ffffff"/>
                </a:solidFill>
                <a:latin typeface="Liter"/>
                <a:ea typeface="Liter"/>
              </a:rPr>
              <a:t>The Rise of Classic Rock</a:t>
            </a:r>
            <a:endParaRPr b="0" lang="en-HK" sz="2320" spc="-1" strike="noStrike">
              <a:latin typeface="Arial"/>
            </a:endParaRPr>
          </a:p>
        </p:txBody>
      </p:sp>
      <p:sp>
        <p:nvSpPr>
          <p:cNvPr id="291" name="Shape 3"/>
          <p:cNvSpPr/>
          <p:nvPr/>
        </p:nvSpPr>
        <p:spPr>
          <a:xfrm>
            <a:off x="327240" y="1080000"/>
            <a:ext cx="6799320" cy="2127240"/>
          </a:xfrm>
          <a:custGeom>
            <a:avLst/>
            <a:gdLst/>
            <a:ahLst/>
            <a:rect l="l" t="t" r="r" b="b"/>
            <a:pathLst>
              <a:path w="6799699" h="2127463">
                <a:moveTo>
                  <a:pt x="0" y="0"/>
                </a:moveTo>
                <a:lnTo>
                  <a:pt x="6799699" y="0"/>
                </a:lnTo>
                <a:lnTo>
                  <a:pt x="6799699" y="2127463"/>
                </a:lnTo>
                <a:lnTo>
                  <a:pt x="0" y="2127463"/>
                </a:lnTo>
                <a:lnTo>
                  <a:pt x="0" y="0"/>
                </a:lnTo>
                <a:close/>
              </a:path>
            </a:pathLst>
          </a:custGeom>
          <a:solidFill>
            <a:srgbClr val="ddff00"/>
          </a:solidFill>
          <a:ln w="0">
            <a:noFill/>
          </a:ln>
        </p:spPr>
        <p:style>
          <a:lnRef idx="0"/>
          <a:fillRef idx="0"/>
          <a:effectRef idx="0"/>
          <a:fontRef idx="minor"/>
        </p:style>
      </p:sp>
      <p:sp>
        <p:nvSpPr>
          <p:cNvPr id="292" name="Text 4"/>
          <p:cNvSpPr/>
          <p:nvPr/>
        </p:nvSpPr>
        <p:spPr>
          <a:xfrm>
            <a:off x="523800" y="1276560"/>
            <a:ext cx="6504840" cy="2613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40" spc="-1" strike="noStrike">
                <a:solidFill>
                  <a:srgbClr val="000000"/>
                </a:solidFill>
                <a:latin typeface="Liter"/>
                <a:ea typeface="Liter"/>
              </a:rPr>
              <a:t>From Singles to Albums</a:t>
            </a:r>
            <a:endParaRPr b="0" lang="en-HK" sz="1540" spc="-1" strike="noStrike">
              <a:latin typeface="Arial"/>
            </a:endParaRPr>
          </a:p>
        </p:txBody>
      </p:sp>
      <p:sp>
        <p:nvSpPr>
          <p:cNvPr id="293" name="Text 5"/>
          <p:cNvSpPr/>
          <p:nvPr/>
        </p:nvSpPr>
        <p:spPr>
          <a:xfrm>
            <a:off x="523800" y="1636560"/>
            <a:ext cx="6472080" cy="637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30" spc="-1" strike="noStrike">
                <a:solidFill>
                  <a:srgbClr val="000000"/>
                </a:solidFill>
                <a:latin typeface="Liter"/>
                <a:ea typeface="Liter"/>
              </a:rPr>
              <a:t>Classic rock emerged in the late 1960s through the 1970s</a:t>
            </a:r>
            <a:r>
              <a:rPr b="0" lang="en-US" sz="1030" spc="-1" strike="noStrike">
                <a:solidFill>
                  <a:srgbClr val="000000"/>
                </a:solidFill>
                <a:latin typeface="Liter"/>
                <a:ea typeface="Liter"/>
              </a:rPr>
              <a:t> as rock musicians transitioned from singles-oriented artists to album-focused creators. This era saw the birth of Album-Oriented Rock (AOR), where radio stations played not just hit singles but deeper album tracks, allowing for extensive exploration of an artist's catalog.</a:t>
            </a:r>
            <a:endParaRPr b="0" lang="en-HK" sz="1030" spc="-1" strike="noStrike">
              <a:latin typeface="Arial"/>
            </a:endParaRPr>
          </a:p>
        </p:txBody>
      </p:sp>
      <p:sp>
        <p:nvSpPr>
          <p:cNvPr id="294" name="Text 6"/>
          <p:cNvSpPr/>
          <p:nvPr/>
        </p:nvSpPr>
        <p:spPr>
          <a:xfrm>
            <a:off x="523800" y="2373120"/>
            <a:ext cx="6472080" cy="637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30" spc="-1" strike="noStrike">
                <a:solidFill>
                  <a:srgbClr val="000000">
                    <a:alpha val="80000"/>
                  </a:srgbClr>
                </a:solidFill>
                <a:latin typeface="Liter"/>
                <a:ea typeface="Liter"/>
              </a:rPr>
              <a:t>Classic rock is characterized by its melodic, radio-friendly sound with well-structured songs, catchy hooks, and strong vocal harmonies. It features prominent guitar work and classic rock instrumentation including electric guitars, bass, drums, and keyboards.</a:t>
            </a:r>
            <a:endParaRPr b="0" lang="en-HK" sz="1030" spc="-1" strike="noStrike">
              <a:latin typeface="Arial"/>
            </a:endParaRPr>
          </a:p>
        </p:txBody>
      </p:sp>
      <p:sp>
        <p:nvSpPr>
          <p:cNvPr id="295" name="Shape 7"/>
          <p:cNvSpPr/>
          <p:nvPr/>
        </p:nvSpPr>
        <p:spPr>
          <a:xfrm>
            <a:off x="335520" y="3346560"/>
            <a:ext cx="6783120" cy="2405160"/>
          </a:xfrm>
          <a:custGeom>
            <a:avLst/>
            <a:gdLst/>
            <a:ahLst/>
            <a:rect l="l" t="t" r="r" b="b"/>
            <a:pathLst>
              <a:path w="6783334" h="2405670">
                <a:moveTo>
                  <a:pt x="0" y="0"/>
                </a:moveTo>
                <a:lnTo>
                  <a:pt x="6783334" y="0"/>
                </a:lnTo>
                <a:lnTo>
                  <a:pt x="6783334" y="2405670"/>
                </a:lnTo>
                <a:lnTo>
                  <a:pt x="0" y="2405670"/>
                </a:lnTo>
                <a:lnTo>
                  <a:pt x="0" y="0"/>
                </a:lnTo>
                <a:close/>
              </a:path>
            </a:pathLst>
          </a:custGeom>
          <a:noFill/>
          <a:ln w="25400">
            <a:solidFill>
              <a:srgbClr val="ddff00"/>
            </a:solidFill>
            <a:round/>
          </a:ln>
        </p:spPr>
        <p:style>
          <a:lnRef idx="0"/>
          <a:fillRef idx="0"/>
          <a:effectRef idx="0"/>
          <a:fontRef idx="minor"/>
        </p:style>
      </p:sp>
      <p:sp>
        <p:nvSpPr>
          <p:cNvPr id="296" name="Text 8"/>
          <p:cNvSpPr/>
          <p:nvPr/>
        </p:nvSpPr>
        <p:spPr>
          <a:xfrm>
            <a:off x="507240" y="3518640"/>
            <a:ext cx="6521040" cy="228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90" spc="-1" strike="noStrike">
                <a:solidFill>
                  <a:srgbClr val="ddff00"/>
                </a:solidFill>
                <a:latin typeface="Liter"/>
                <a:ea typeface="Liter"/>
              </a:rPr>
              <a:t>Iconic Classic Rock Albums</a:t>
            </a:r>
            <a:endParaRPr b="0" lang="en-HK" sz="1290" spc="-1" strike="noStrike">
              <a:latin typeface="Arial"/>
            </a:endParaRPr>
          </a:p>
        </p:txBody>
      </p:sp>
      <p:sp>
        <p:nvSpPr>
          <p:cNvPr id="297" name="Shape 9"/>
          <p:cNvSpPr/>
          <p:nvPr/>
        </p:nvSpPr>
        <p:spPr>
          <a:xfrm>
            <a:off x="511560" y="3882600"/>
            <a:ext cx="3166200" cy="79344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98" name="Text 10"/>
          <p:cNvSpPr/>
          <p:nvPr/>
        </p:nvSpPr>
        <p:spPr>
          <a:xfrm>
            <a:off x="613800" y="3984840"/>
            <a:ext cx="3035520" cy="228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Led Zeppelin IV</a:t>
            </a:r>
            <a:endParaRPr b="0" lang="en-HK" sz="1160" spc="-1" strike="noStrike">
              <a:latin typeface="Arial"/>
            </a:endParaRPr>
          </a:p>
        </p:txBody>
      </p:sp>
      <p:sp>
        <p:nvSpPr>
          <p:cNvPr id="299" name="Text 11"/>
          <p:cNvSpPr/>
          <p:nvPr/>
        </p:nvSpPr>
        <p:spPr>
          <a:xfrm>
            <a:off x="613800" y="4246920"/>
            <a:ext cx="3018960" cy="163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Led Zeppelin (1971)</a:t>
            </a:r>
            <a:endParaRPr b="0" lang="en-HK" sz="900" spc="-1" strike="noStrike">
              <a:latin typeface="Arial"/>
            </a:endParaRPr>
          </a:p>
        </p:txBody>
      </p:sp>
      <p:sp>
        <p:nvSpPr>
          <p:cNvPr id="300" name="Text 12"/>
          <p:cNvSpPr/>
          <p:nvPr/>
        </p:nvSpPr>
        <p:spPr>
          <a:xfrm>
            <a:off x="613800" y="4443120"/>
            <a:ext cx="3010680" cy="130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Features "Stairway to Heaven"</a:t>
            </a:r>
            <a:endParaRPr b="0" lang="en-HK" sz="770" spc="-1" strike="noStrike">
              <a:latin typeface="Arial"/>
            </a:endParaRPr>
          </a:p>
        </p:txBody>
      </p:sp>
      <p:sp>
        <p:nvSpPr>
          <p:cNvPr id="301" name="Shape 13"/>
          <p:cNvSpPr/>
          <p:nvPr/>
        </p:nvSpPr>
        <p:spPr>
          <a:xfrm>
            <a:off x="3782160" y="3882600"/>
            <a:ext cx="3166200" cy="79344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02" name="Text 14"/>
          <p:cNvSpPr/>
          <p:nvPr/>
        </p:nvSpPr>
        <p:spPr>
          <a:xfrm>
            <a:off x="3884400" y="3984840"/>
            <a:ext cx="3035520" cy="228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The Dark Side of the Moon</a:t>
            </a:r>
            <a:endParaRPr b="0" lang="en-HK" sz="1160" spc="-1" strike="noStrike">
              <a:latin typeface="Arial"/>
            </a:endParaRPr>
          </a:p>
        </p:txBody>
      </p:sp>
      <p:sp>
        <p:nvSpPr>
          <p:cNvPr id="303" name="Text 15"/>
          <p:cNvSpPr/>
          <p:nvPr/>
        </p:nvSpPr>
        <p:spPr>
          <a:xfrm>
            <a:off x="3884400" y="4246920"/>
            <a:ext cx="3018960" cy="163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Pink Floyd (1973)</a:t>
            </a:r>
            <a:endParaRPr b="0" lang="en-HK" sz="900" spc="-1" strike="noStrike">
              <a:latin typeface="Arial"/>
            </a:endParaRPr>
          </a:p>
        </p:txBody>
      </p:sp>
      <p:sp>
        <p:nvSpPr>
          <p:cNvPr id="304" name="Text 16"/>
          <p:cNvSpPr/>
          <p:nvPr/>
        </p:nvSpPr>
        <p:spPr>
          <a:xfrm>
            <a:off x="3884400" y="4443120"/>
            <a:ext cx="3010680" cy="130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Concept album masterpiece</a:t>
            </a:r>
            <a:endParaRPr b="0" lang="en-HK" sz="770" spc="-1" strike="noStrike">
              <a:latin typeface="Arial"/>
            </a:endParaRPr>
          </a:p>
        </p:txBody>
      </p:sp>
      <p:sp>
        <p:nvSpPr>
          <p:cNvPr id="305" name="Shape 17"/>
          <p:cNvSpPr/>
          <p:nvPr/>
        </p:nvSpPr>
        <p:spPr>
          <a:xfrm>
            <a:off x="511560" y="4782600"/>
            <a:ext cx="3166200" cy="79344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06" name="Text 18"/>
          <p:cNvSpPr/>
          <p:nvPr/>
        </p:nvSpPr>
        <p:spPr>
          <a:xfrm>
            <a:off x="613800" y="4884840"/>
            <a:ext cx="3035520" cy="228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Hotel California</a:t>
            </a:r>
            <a:endParaRPr b="0" lang="en-HK" sz="1160" spc="-1" strike="noStrike">
              <a:latin typeface="Arial"/>
            </a:endParaRPr>
          </a:p>
        </p:txBody>
      </p:sp>
      <p:sp>
        <p:nvSpPr>
          <p:cNvPr id="307" name="Text 19"/>
          <p:cNvSpPr/>
          <p:nvPr/>
        </p:nvSpPr>
        <p:spPr>
          <a:xfrm>
            <a:off x="613800" y="5146920"/>
            <a:ext cx="3018960" cy="163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The Eagles (1976)</a:t>
            </a:r>
            <a:endParaRPr b="0" lang="en-HK" sz="900" spc="-1" strike="noStrike">
              <a:latin typeface="Arial"/>
            </a:endParaRPr>
          </a:p>
        </p:txBody>
      </p:sp>
      <p:sp>
        <p:nvSpPr>
          <p:cNvPr id="308" name="Text 20"/>
          <p:cNvSpPr/>
          <p:nvPr/>
        </p:nvSpPr>
        <p:spPr>
          <a:xfrm>
            <a:off x="613800" y="5343120"/>
            <a:ext cx="3010680" cy="130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Title track guitar solo legendary</a:t>
            </a:r>
            <a:endParaRPr b="0" lang="en-HK" sz="770" spc="-1" strike="noStrike">
              <a:latin typeface="Arial"/>
            </a:endParaRPr>
          </a:p>
        </p:txBody>
      </p:sp>
      <p:sp>
        <p:nvSpPr>
          <p:cNvPr id="309" name="Shape 21"/>
          <p:cNvSpPr/>
          <p:nvPr/>
        </p:nvSpPr>
        <p:spPr>
          <a:xfrm>
            <a:off x="3782160" y="4782600"/>
            <a:ext cx="3166200" cy="79344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10" name="Text 22"/>
          <p:cNvSpPr/>
          <p:nvPr/>
        </p:nvSpPr>
        <p:spPr>
          <a:xfrm>
            <a:off x="3884400" y="4884840"/>
            <a:ext cx="3035520" cy="228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Who's Next</a:t>
            </a:r>
            <a:endParaRPr b="0" lang="en-HK" sz="1160" spc="-1" strike="noStrike">
              <a:latin typeface="Arial"/>
            </a:endParaRPr>
          </a:p>
        </p:txBody>
      </p:sp>
      <p:sp>
        <p:nvSpPr>
          <p:cNvPr id="311" name="Text 23"/>
          <p:cNvSpPr/>
          <p:nvPr/>
        </p:nvSpPr>
        <p:spPr>
          <a:xfrm>
            <a:off x="3884400" y="5146920"/>
            <a:ext cx="3018960" cy="163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The Who (1971)</a:t>
            </a:r>
            <a:endParaRPr b="0" lang="en-HK" sz="900" spc="-1" strike="noStrike">
              <a:latin typeface="Arial"/>
            </a:endParaRPr>
          </a:p>
        </p:txBody>
      </p:sp>
      <p:sp>
        <p:nvSpPr>
          <p:cNvPr id="312" name="Text 24"/>
          <p:cNvSpPr/>
          <p:nvPr/>
        </p:nvSpPr>
        <p:spPr>
          <a:xfrm>
            <a:off x="3884400" y="5343120"/>
            <a:ext cx="3010680" cy="1306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"Baba O'Riley" &amp; "Won't Get Fooled Again"</a:t>
            </a:r>
            <a:endParaRPr b="0" lang="en-HK" sz="770" spc="-1" strike="noStrike">
              <a:latin typeface="Arial"/>
            </a:endParaRPr>
          </a:p>
        </p:txBody>
      </p:sp>
      <p:sp>
        <p:nvSpPr>
          <p:cNvPr id="313" name="Shape 25"/>
          <p:cNvSpPr/>
          <p:nvPr/>
        </p:nvSpPr>
        <p:spPr>
          <a:xfrm>
            <a:off x="879120" y="5891400"/>
            <a:ext cx="523440" cy="52344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14" name="Shape 26"/>
          <p:cNvSpPr/>
          <p:nvPr/>
        </p:nvSpPr>
        <p:spPr>
          <a:xfrm>
            <a:off x="1030320" y="6055200"/>
            <a:ext cx="220680" cy="196200"/>
          </a:xfrm>
          <a:custGeom>
            <a:avLst/>
            <a:gdLst/>
            <a:ahLst/>
            <a:rect l="l" t="t" r="r" b="b"/>
            <a:pathLst>
              <a:path w="220929" h="196381">
                <a:moveTo>
                  <a:pt x="120053" y="33446"/>
                </a:moveTo>
                <a:cubicBezTo>
                  <a:pt x="123582" y="30646"/>
                  <a:pt x="125807" y="26312"/>
                  <a:pt x="125807" y="21479"/>
                </a:cubicBezTo>
                <a:cubicBezTo>
                  <a:pt x="125807" y="13003"/>
                  <a:pt x="118941" y="6137"/>
                  <a:pt x="110464" y="6137"/>
                </a:cubicBezTo>
                <a:cubicBezTo>
                  <a:pt x="101988" y="6137"/>
                  <a:pt x="95122" y="13003"/>
                  <a:pt x="95122" y="21479"/>
                </a:cubicBezTo>
                <a:cubicBezTo>
                  <a:pt x="95122" y="26312"/>
                  <a:pt x="97385" y="30646"/>
                  <a:pt x="100876" y="33446"/>
                </a:cubicBezTo>
                <a:lnTo>
                  <a:pt x="74640" y="74717"/>
                </a:lnTo>
                <a:cubicBezTo>
                  <a:pt x="70805" y="80739"/>
                  <a:pt x="62635" y="82235"/>
                  <a:pt x="56920" y="77939"/>
                </a:cubicBezTo>
                <a:lnTo>
                  <a:pt x="34098" y="60871"/>
                </a:lnTo>
                <a:cubicBezTo>
                  <a:pt x="35824" y="58416"/>
                  <a:pt x="36821" y="55386"/>
                  <a:pt x="36821" y="52164"/>
                </a:cubicBezTo>
                <a:cubicBezTo>
                  <a:pt x="36821" y="43687"/>
                  <a:pt x="29956" y="36821"/>
                  <a:pt x="21479" y="36821"/>
                </a:cubicBezTo>
                <a:cubicBezTo>
                  <a:pt x="13003" y="36821"/>
                  <a:pt x="6137" y="43687"/>
                  <a:pt x="6137" y="52164"/>
                </a:cubicBezTo>
                <a:cubicBezTo>
                  <a:pt x="6137" y="60525"/>
                  <a:pt x="12849" y="67353"/>
                  <a:pt x="21172" y="67506"/>
                </a:cubicBezTo>
                <a:lnTo>
                  <a:pt x="33676" y="150930"/>
                </a:lnTo>
                <a:cubicBezTo>
                  <a:pt x="35479" y="162935"/>
                  <a:pt x="45797" y="171834"/>
                  <a:pt x="57955" y="171834"/>
                </a:cubicBezTo>
                <a:lnTo>
                  <a:pt x="162973" y="171834"/>
                </a:lnTo>
                <a:cubicBezTo>
                  <a:pt x="175132" y="171834"/>
                  <a:pt x="185450" y="162935"/>
                  <a:pt x="187253" y="150930"/>
                </a:cubicBezTo>
                <a:lnTo>
                  <a:pt x="199757" y="67506"/>
                </a:lnTo>
                <a:cubicBezTo>
                  <a:pt x="208080" y="67353"/>
                  <a:pt x="214792" y="60525"/>
                  <a:pt x="214792" y="52164"/>
                </a:cubicBezTo>
                <a:cubicBezTo>
                  <a:pt x="214792" y="43687"/>
                  <a:pt x="207926" y="36821"/>
                  <a:pt x="199450" y="36821"/>
                </a:cubicBezTo>
                <a:cubicBezTo>
                  <a:pt x="190973" y="36821"/>
                  <a:pt x="184107" y="43687"/>
                  <a:pt x="184107" y="52164"/>
                </a:cubicBezTo>
                <a:cubicBezTo>
                  <a:pt x="184107" y="55386"/>
                  <a:pt x="185105" y="58416"/>
                  <a:pt x="186831" y="60871"/>
                </a:cubicBezTo>
                <a:lnTo>
                  <a:pt x="164047" y="77977"/>
                </a:lnTo>
                <a:cubicBezTo>
                  <a:pt x="158332" y="82273"/>
                  <a:pt x="150163" y="80777"/>
                  <a:pt x="146327" y="74755"/>
                </a:cubicBezTo>
                <a:lnTo>
                  <a:pt x="120053" y="33446"/>
                </a:lnTo>
                <a:close/>
              </a:path>
            </a:pathLst>
          </a:custGeom>
          <a:solidFill>
            <a:srgbClr val="000000"/>
          </a:solidFill>
          <a:ln w="0">
            <a:noFill/>
          </a:ln>
        </p:spPr>
        <p:style>
          <a:lnRef idx="0"/>
          <a:fillRef idx="0"/>
          <a:effectRef idx="0"/>
          <a:fontRef idx="minor"/>
        </p:style>
      </p:sp>
      <p:sp>
        <p:nvSpPr>
          <p:cNvPr id="315" name="Text 27"/>
          <p:cNvSpPr/>
          <p:nvPr/>
        </p:nvSpPr>
        <p:spPr>
          <a:xfrm>
            <a:off x="298800" y="6480720"/>
            <a:ext cx="1685160" cy="1634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Queen</a:t>
            </a:r>
            <a:endParaRPr b="0" lang="en-HK" sz="900" spc="-1" strike="noStrike">
              <a:latin typeface="Arial"/>
            </a:endParaRPr>
          </a:p>
        </p:txBody>
      </p:sp>
      <p:sp>
        <p:nvSpPr>
          <p:cNvPr id="316" name="Shape 28"/>
          <p:cNvSpPr/>
          <p:nvPr/>
        </p:nvSpPr>
        <p:spPr>
          <a:xfrm>
            <a:off x="2604240" y="5891400"/>
            <a:ext cx="523440" cy="52344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17" name="Shape 29"/>
          <p:cNvSpPr/>
          <p:nvPr/>
        </p:nvSpPr>
        <p:spPr>
          <a:xfrm>
            <a:off x="2768040" y="6055200"/>
            <a:ext cx="196200" cy="196200"/>
          </a:xfrm>
          <a:custGeom>
            <a:avLst/>
            <a:gdLst/>
            <a:ahLst/>
            <a:rect l="l" t="t" r="r" b="b"/>
            <a:pathLst>
              <a:path w="196381" h="196381">
                <a:moveTo>
                  <a:pt x="49095" y="122738"/>
                </a:moveTo>
                <a:lnTo>
                  <a:pt x="9397" y="122738"/>
                </a:lnTo>
                <a:cubicBezTo>
                  <a:pt x="-153" y="122738"/>
                  <a:pt x="-6022" y="112344"/>
                  <a:pt x="-1112" y="104136"/>
                </a:cubicBezTo>
                <a:lnTo>
                  <a:pt x="19178" y="70306"/>
                </a:lnTo>
                <a:cubicBezTo>
                  <a:pt x="22515" y="64744"/>
                  <a:pt x="28498" y="61369"/>
                  <a:pt x="34980" y="61369"/>
                </a:cubicBezTo>
                <a:lnTo>
                  <a:pt x="71418" y="61369"/>
                </a:lnTo>
                <a:cubicBezTo>
                  <a:pt x="100607" y="11929"/>
                  <a:pt x="144141" y="9436"/>
                  <a:pt x="173253" y="13693"/>
                </a:cubicBezTo>
                <a:cubicBezTo>
                  <a:pt x="178162" y="14422"/>
                  <a:pt x="181998" y="18257"/>
                  <a:pt x="182688" y="23128"/>
                </a:cubicBezTo>
                <a:cubicBezTo>
                  <a:pt x="186946" y="52240"/>
                  <a:pt x="184453" y="95774"/>
                  <a:pt x="135012" y="124963"/>
                </a:cubicBezTo>
                <a:lnTo>
                  <a:pt x="135012" y="161401"/>
                </a:lnTo>
                <a:cubicBezTo>
                  <a:pt x="135012" y="167883"/>
                  <a:pt x="131637" y="173866"/>
                  <a:pt x="126075" y="177203"/>
                </a:cubicBezTo>
                <a:lnTo>
                  <a:pt x="92245" y="197494"/>
                </a:lnTo>
                <a:cubicBezTo>
                  <a:pt x="84076" y="202403"/>
                  <a:pt x="73643" y="196496"/>
                  <a:pt x="73643" y="186984"/>
                </a:cubicBezTo>
                <a:lnTo>
                  <a:pt x="73643" y="147286"/>
                </a:lnTo>
                <a:cubicBezTo>
                  <a:pt x="73643" y="133746"/>
                  <a:pt x="62635" y="122738"/>
                  <a:pt x="49095" y="122738"/>
                </a:cubicBezTo>
                <a:lnTo>
                  <a:pt x="49057" y="122738"/>
                </a:lnTo>
                <a:close/>
                <a:moveTo>
                  <a:pt x="153423" y="61369"/>
                </a:moveTo>
                <a:cubicBezTo>
                  <a:pt x="153423" y="51208"/>
                  <a:pt x="145173" y="42958"/>
                  <a:pt x="135012" y="42958"/>
                </a:cubicBezTo>
                <a:cubicBezTo>
                  <a:pt x="124851" y="42958"/>
                  <a:pt x="116601" y="51208"/>
                  <a:pt x="116601" y="61369"/>
                </a:cubicBezTo>
                <a:cubicBezTo>
                  <a:pt x="116601" y="71530"/>
                  <a:pt x="124851" y="79780"/>
                  <a:pt x="135012" y="79780"/>
                </a:cubicBezTo>
                <a:cubicBezTo>
                  <a:pt x="145173" y="79780"/>
                  <a:pt x="153423" y="71530"/>
                  <a:pt x="153423" y="61369"/>
                </a:cubicBezTo>
                <a:close/>
              </a:path>
            </a:pathLst>
          </a:custGeom>
          <a:solidFill>
            <a:srgbClr val="000000"/>
          </a:solidFill>
          <a:ln w="0">
            <a:noFill/>
          </a:ln>
        </p:spPr>
        <p:style>
          <a:lnRef idx="0"/>
          <a:fillRef idx="0"/>
          <a:effectRef idx="0"/>
          <a:fontRef idx="minor"/>
        </p:style>
      </p:sp>
      <p:sp>
        <p:nvSpPr>
          <p:cNvPr id="318" name="Text 30"/>
          <p:cNvSpPr/>
          <p:nvPr/>
        </p:nvSpPr>
        <p:spPr>
          <a:xfrm>
            <a:off x="2023920" y="6480720"/>
            <a:ext cx="1685160" cy="1634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David Bowie</a:t>
            </a:r>
            <a:endParaRPr b="0" lang="en-HK" sz="900" spc="-1" strike="noStrike">
              <a:latin typeface="Arial"/>
            </a:endParaRPr>
          </a:p>
        </p:txBody>
      </p:sp>
      <p:sp>
        <p:nvSpPr>
          <p:cNvPr id="319" name="Shape 31"/>
          <p:cNvSpPr/>
          <p:nvPr/>
        </p:nvSpPr>
        <p:spPr>
          <a:xfrm>
            <a:off x="4329720" y="5891400"/>
            <a:ext cx="523440" cy="52344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20" name="Shape 32"/>
          <p:cNvSpPr/>
          <p:nvPr/>
        </p:nvSpPr>
        <p:spPr>
          <a:xfrm>
            <a:off x="4493520" y="6055200"/>
            <a:ext cx="196200" cy="196200"/>
          </a:xfrm>
          <a:custGeom>
            <a:avLst/>
            <a:gdLst/>
            <a:ahLst/>
            <a:rect l="l" t="t" r="r" b="b"/>
            <a:pathLst>
              <a:path w="196381" h="196381">
                <a:moveTo>
                  <a:pt x="44761" y="12964"/>
                </a:moveTo>
                <a:cubicBezTo>
                  <a:pt x="46487" y="10625"/>
                  <a:pt x="49249" y="9205"/>
                  <a:pt x="52164" y="9205"/>
                </a:cubicBezTo>
                <a:lnTo>
                  <a:pt x="144217" y="9205"/>
                </a:lnTo>
                <a:cubicBezTo>
                  <a:pt x="147132" y="9205"/>
                  <a:pt x="149894" y="10586"/>
                  <a:pt x="151620" y="12964"/>
                </a:cubicBezTo>
                <a:lnTo>
                  <a:pt x="194578" y="71265"/>
                </a:lnTo>
                <a:cubicBezTo>
                  <a:pt x="197187" y="74794"/>
                  <a:pt x="196918" y="79665"/>
                  <a:pt x="194003" y="82925"/>
                </a:cubicBezTo>
                <a:lnTo>
                  <a:pt x="105018" y="181116"/>
                </a:lnTo>
                <a:cubicBezTo>
                  <a:pt x="103292" y="183033"/>
                  <a:pt x="100799" y="184146"/>
                  <a:pt x="98191" y="184146"/>
                </a:cubicBezTo>
                <a:cubicBezTo>
                  <a:pt x="95582" y="184146"/>
                  <a:pt x="93128" y="183033"/>
                  <a:pt x="91363" y="181116"/>
                </a:cubicBezTo>
                <a:lnTo>
                  <a:pt x="2378" y="82925"/>
                </a:lnTo>
                <a:cubicBezTo>
                  <a:pt x="-575" y="79665"/>
                  <a:pt x="-805" y="74794"/>
                  <a:pt x="1803" y="71265"/>
                </a:cubicBezTo>
                <a:lnTo>
                  <a:pt x="44761" y="12964"/>
                </a:lnTo>
                <a:close/>
                <a:moveTo>
                  <a:pt x="59528" y="28230"/>
                </a:moveTo>
                <a:cubicBezTo>
                  <a:pt x="58262" y="29189"/>
                  <a:pt x="57917" y="30915"/>
                  <a:pt x="58723" y="32257"/>
                </a:cubicBezTo>
                <a:lnTo>
                  <a:pt x="80739" y="68964"/>
                </a:lnTo>
                <a:lnTo>
                  <a:pt x="24279" y="73643"/>
                </a:lnTo>
                <a:cubicBezTo>
                  <a:pt x="22707" y="73758"/>
                  <a:pt x="21479" y="75100"/>
                  <a:pt x="21479" y="76711"/>
                </a:cubicBezTo>
                <a:cubicBezTo>
                  <a:pt x="21479" y="78322"/>
                  <a:pt x="22707" y="79626"/>
                  <a:pt x="24279" y="79780"/>
                </a:cubicBezTo>
                <a:lnTo>
                  <a:pt x="97922" y="85917"/>
                </a:lnTo>
                <a:cubicBezTo>
                  <a:pt x="98076" y="85917"/>
                  <a:pt x="98267" y="85917"/>
                  <a:pt x="98421" y="85917"/>
                </a:cubicBezTo>
                <a:lnTo>
                  <a:pt x="172064" y="79780"/>
                </a:lnTo>
                <a:cubicBezTo>
                  <a:pt x="173636" y="79665"/>
                  <a:pt x="174864" y="78322"/>
                  <a:pt x="174864" y="76711"/>
                </a:cubicBezTo>
                <a:cubicBezTo>
                  <a:pt x="174864" y="75100"/>
                  <a:pt x="173636" y="73796"/>
                  <a:pt x="172064" y="73643"/>
                </a:cubicBezTo>
                <a:lnTo>
                  <a:pt x="115604" y="68925"/>
                </a:lnTo>
                <a:lnTo>
                  <a:pt x="137620" y="32257"/>
                </a:lnTo>
                <a:cubicBezTo>
                  <a:pt x="138426" y="30915"/>
                  <a:pt x="138081" y="29150"/>
                  <a:pt x="136815" y="28230"/>
                </a:cubicBezTo>
                <a:cubicBezTo>
                  <a:pt x="135549" y="27309"/>
                  <a:pt x="133785" y="27463"/>
                  <a:pt x="132711" y="28613"/>
                </a:cubicBezTo>
                <a:lnTo>
                  <a:pt x="98191" y="66049"/>
                </a:lnTo>
                <a:lnTo>
                  <a:pt x="63632" y="28613"/>
                </a:lnTo>
                <a:cubicBezTo>
                  <a:pt x="62558" y="27463"/>
                  <a:pt x="60794" y="27309"/>
                  <a:pt x="59528" y="28230"/>
                </a:cubicBezTo>
                <a:close/>
              </a:path>
            </a:pathLst>
          </a:custGeom>
          <a:solidFill>
            <a:srgbClr val="000000"/>
          </a:solidFill>
          <a:ln w="0">
            <a:noFill/>
          </a:ln>
        </p:spPr>
        <p:style>
          <a:lnRef idx="0"/>
          <a:fillRef idx="0"/>
          <a:effectRef idx="0"/>
          <a:fontRef idx="minor"/>
        </p:style>
      </p:sp>
      <p:sp>
        <p:nvSpPr>
          <p:cNvPr id="321" name="Text 33"/>
          <p:cNvSpPr/>
          <p:nvPr/>
        </p:nvSpPr>
        <p:spPr>
          <a:xfrm>
            <a:off x="3749400" y="6480720"/>
            <a:ext cx="1685160" cy="1634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Elton John</a:t>
            </a:r>
            <a:endParaRPr b="0" lang="en-HK" sz="900" spc="-1" strike="noStrike">
              <a:latin typeface="Arial"/>
            </a:endParaRPr>
          </a:p>
        </p:txBody>
      </p:sp>
      <p:sp>
        <p:nvSpPr>
          <p:cNvPr id="322" name="Shape 34"/>
          <p:cNvSpPr/>
          <p:nvPr/>
        </p:nvSpPr>
        <p:spPr>
          <a:xfrm>
            <a:off x="6055200" y="5891400"/>
            <a:ext cx="523440" cy="52344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23" name="Shape 35"/>
          <p:cNvSpPr/>
          <p:nvPr/>
        </p:nvSpPr>
        <p:spPr>
          <a:xfrm>
            <a:off x="6231240" y="6055200"/>
            <a:ext cx="171360" cy="196200"/>
          </a:xfrm>
          <a:custGeom>
            <a:avLst/>
            <a:gdLst/>
            <a:ahLst/>
            <a:rect l="l" t="t" r="r" b="b"/>
            <a:pathLst>
              <a:path w="171834" h="196381">
                <a:moveTo>
                  <a:pt x="129949" y="-3797"/>
                </a:moveTo>
                <a:cubicBezTo>
                  <a:pt x="134513" y="-499"/>
                  <a:pt x="136201" y="5485"/>
                  <a:pt x="134130" y="10701"/>
                </a:cubicBezTo>
                <a:lnTo>
                  <a:pt x="104059" y="85917"/>
                </a:lnTo>
                <a:lnTo>
                  <a:pt x="159560" y="85917"/>
                </a:lnTo>
                <a:cubicBezTo>
                  <a:pt x="164738" y="85917"/>
                  <a:pt x="169340" y="89139"/>
                  <a:pt x="171105" y="94010"/>
                </a:cubicBezTo>
                <a:cubicBezTo>
                  <a:pt x="172869" y="98881"/>
                  <a:pt x="171373" y="104328"/>
                  <a:pt x="167423" y="107626"/>
                </a:cubicBezTo>
                <a:lnTo>
                  <a:pt x="56958" y="199680"/>
                </a:lnTo>
                <a:cubicBezTo>
                  <a:pt x="52624" y="203285"/>
                  <a:pt x="46449" y="203477"/>
                  <a:pt x="41884" y="200178"/>
                </a:cubicBezTo>
                <a:cubicBezTo>
                  <a:pt x="37320" y="196880"/>
                  <a:pt x="35632" y="190896"/>
                  <a:pt x="37704" y="185680"/>
                </a:cubicBezTo>
                <a:lnTo>
                  <a:pt x="67775" y="110464"/>
                </a:lnTo>
                <a:lnTo>
                  <a:pt x="12274" y="110464"/>
                </a:lnTo>
                <a:cubicBezTo>
                  <a:pt x="7096" y="110464"/>
                  <a:pt x="2493" y="107243"/>
                  <a:pt x="729" y="102371"/>
                </a:cubicBezTo>
                <a:cubicBezTo>
                  <a:pt x="-1036" y="97500"/>
                  <a:pt x="460" y="92054"/>
                  <a:pt x="4411" y="88755"/>
                </a:cubicBezTo>
                <a:lnTo>
                  <a:pt x="114875" y="-3299"/>
                </a:lnTo>
                <a:cubicBezTo>
                  <a:pt x="119210" y="-6904"/>
                  <a:pt x="125385" y="-7096"/>
                  <a:pt x="129949" y="-3797"/>
                </a:cubicBezTo>
                <a:close/>
              </a:path>
            </a:pathLst>
          </a:custGeom>
          <a:solidFill>
            <a:srgbClr val="000000"/>
          </a:solidFill>
          <a:ln w="0">
            <a:noFill/>
          </a:ln>
        </p:spPr>
        <p:style>
          <a:lnRef idx="0"/>
          <a:fillRef idx="0"/>
          <a:effectRef idx="0"/>
          <a:fontRef idx="minor"/>
        </p:style>
      </p:sp>
      <p:sp>
        <p:nvSpPr>
          <p:cNvPr id="324" name="Text 36"/>
          <p:cNvSpPr/>
          <p:nvPr/>
        </p:nvSpPr>
        <p:spPr>
          <a:xfrm>
            <a:off x="5474880" y="6480720"/>
            <a:ext cx="1685160" cy="1634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Aerosmith</a:t>
            </a:r>
            <a:endParaRPr b="0" lang="en-HK" sz="900" spc="-1" strike="noStrike">
              <a:latin typeface="Arial"/>
            </a:endParaRPr>
          </a:p>
        </p:txBody>
      </p:sp>
      <p:sp>
        <p:nvSpPr>
          <p:cNvPr id="325" name="Image 0"/>
          <p:cNvSpPr/>
          <p:nvPr/>
        </p:nvSpPr>
        <p:spPr>
          <a:xfrm>
            <a:off x="7327080" y="1080000"/>
            <a:ext cx="4532760" cy="3501720"/>
          </a:xfrm>
          <a:prstGeom prst="roundRect">
            <a:avLst>
              <a:gd name="adj" fmla="val 0"/>
            </a:avLst>
          </a:prstGeom>
          <a:blipFill rotWithShape="0">
            <a:blip r:embed="rId1"/>
            <a:srcRect/>
            <a:stretch/>
          </a:blipFill>
          <a:ln w="0">
            <a:noFill/>
          </a:ln>
        </p:spPr>
        <p:style>
          <a:lnRef idx="0"/>
          <a:fillRef idx="0"/>
          <a:effectRef idx="0"/>
          <a:fontRef idx="minor"/>
        </p:style>
      </p:sp>
      <p:sp>
        <p:nvSpPr>
          <p:cNvPr id="326" name="Shape 37"/>
          <p:cNvSpPr/>
          <p:nvPr/>
        </p:nvSpPr>
        <p:spPr>
          <a:xfrm>
            <a:off x="7327080" y="1080000"/>
            <a:ext cx="4532760" cy="3501720"/>
          </a:xfrm>
          <a:custGeom>
            <a:avLst/>
            <a:gdLst/>
            <a:ahLst/>
            <a:rect l="l" t="t" r="r" b="b"/>
            <a:pathLst>
              <a:path w="4533133" h="3502132">
                <a:moveTo>
                  <a:pt x="0" y="0"/>
                </a:moveTo>
                <a:lnTo>
                  <a:pt x="4533133" y="0"/>
                </a:lnTo>
                <a:lnTo>
                  <a:pt x="4533133" y="3502132"/>
                </a:lnTo>
                <a:lnTo>
                  <a:pt x="0" y="3502132"/>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327" name="Text 38"/>
          <p:cNvSpPr/>
          <p:nvPr/>
        </p:nvSpPr>
        <p:spPr>
          <a:xfrm>
            <a:off x="7458120" y="4025880"/>
            <a:ext cx="4328280" cy="163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1" strike="noStrike">
                <a:solidFill>
                  <a:srgbClr val="ddff00"/>
                </a:solidFill>
                <a:latin typeface="Liter"/>
                <a:ea typeface="Liter"/>
              </a:rPr>
              <a:t>1970s ROCK</a:t>
            </a:r>
            <a:endParaRPr b="0" lang="en-HK" sz="900" spc="-1" strike="noStrike">
              <a:latin typeface="Arial"/>
            </a:endParaRPr>
          </a:p>
        </p:txBody>
      </p:sp>
      <p:sp>
        <p:nvSpPr>
          <p:cNvPr id="328" name="Text 39"/>
          <p:cNvSpPr/>
          <p:nvPr/>
        </p:nvSpPr>
        <p:spPr>
          <a:xfrm>
            <a:off x="7458120" y="4222080"/>
            <a:ext cx="4344480" cy="228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Stadium Rock Era</a:t>
            </a:r>
            <a:endParaRPr b="0" lang="en-HK" sz="1160" spc="-1" strike="noStrike">
              <a:latin typeface="Arial"/>
            </a:endParaRPr>
          </a:p>
        </p:txBody>
      </p:sp>
      <p:sp>
        <p:nvSpPr>
          <p:cNvPr id="329" name="Shape 40"/>
          <p:cNvSpPr/>
          <p:nvPr/>
        </p:nvSpPr>
        <p:spPr>
          <a:xfrm>
            <a:off x="7335360" y="4721400"/>
            <a:ext cx="4516560" cy="1914480"/>
          </a:xfrm>
          <a:custGeom>
            <a:avLst/>
            <a:gdLst/>
            <a:ahLst/>
            <a:rect l="l" t="t" r="r" b="b"/>
            <a:pathLst>
              <a:path w="4516768" h="1914717">
                <a:moveTo>
                  <a:pt x="0" y="0"/>
                </a:moveTo>
                <a:lnTo>
                  <a:pt x="4516768" y="0"/>
                </a:lnTo>
                <a:lnTo>
                  <a:pt x="4516768" y="1914717"/>
                </a:lnTo>
                <a:lnTo>
                  <a:pt x="0" y="1914717"/>
                </a:lnTo>
                <a:lnTo>
                  <a:pt x="0" y="0"/>
                </a:lnTo>
                <a:close/>
              </a:path>
            </a:pathLst>
          </a:custGeom>
          <a:noFill/>
          <a:ln w="25400">
            <a:solidFill>
              <a:srgbClr val="ddff00"/>
            </a:solidFill>
            <a:round/>
          </a:ln>
        </p:spPr>
        <p:style>
          <a:lnRef idx="0"/>
          <a:fillRef idx="0"/>
          <a:effectRef idx="0"/>
          <a:fontRef idx="minor"/>
        </p:style>
      </p:sp>
      <p:sp>
        <p:nvSpPr>
          <p:cNvPr id="330" name="Text 41"/>
          <p:cNvSpPr/>
          <p:nvPr/>
        </p:nvSpPr>
        <p:spPr>
          <a:xfrm>
            <a:off x="7507080" y="4893120"/>
            <a:ext cx="4246560" cy="228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ddff00"/>
                </a:solidFill>
                <a:latin typeface="Liter"/>
                <a:ea typeface="Liter"/>
              </a:rPr>
              <a:t>Musical Characteristics</a:t>
            </a:r>
            <a:endParaRPr b="0" lang="en-HK" sz="1160" spc="-1" strike="noStrike">
              <a:latin typeface="Arial"/>
            </a:endParaRPr>
          </a:p>
        </p:txBody>
      </p:sp>
      <p:sp>
        <p:nvSpPr>
          <p:cNvPr id="331" name="Shape 42"/>
          <p:cNvSpPr/>
          <p:nvPr/>
        </p:nvSpPr>
        <p:spPr>
          <a:xfrm>
            <a:off x="7507080" y="5285880"/>
            <a:ext cx="65160" cy="6516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2" name="Text 43"/>
          <p:cNvSpPr/>
          <p:nvPr/>
        </p:nvSpPr>
        <p:spPr>
          <a:xfrm>
            <a:off x="7638120" y="5220360"/>
            <a:ext cx="2380680" cy="196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Melodic hooks</a:t>
            </a:r>
            <a:r>
              <a:rPr b="0" lang="en-US" sz="1030" spc="-1" strike="noStrike">
                <a:solidFill>
                  <a:srgbClr val="ffffff">
                    <a:alpha val="80000"/>
                  </a:srgbClr>
                </a:solidFill>
                <a:latin typeface="Liter"/>
                <a:ea typeface="Liter"/>
              </a:rPr>
              <a:t> and memorable choruses</a:t>
            </a:r>
            <a:endParaRPr b="0" lang="en-HK" sz="1030" spc="-1" strike="noStrike">
              <a:latin typeface="Arial"/>
            </a:endParaRPr>
          </a:p>
        </p:txBody>
      </p:sp>
      <p:sp>
        <p:nvSpPr>
          <p:cNvPr id="333" name="Shape 44"/>
          <p:cNvSpPr/>
          <p:nvPr/>
        </p:nvSpPr>
        <p:spPr>
          <a:xfrm>
            <a:off x="7507080" y="5547600"/>
            <a:ext cx="65160" cy="6516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4" name="Text 45"/>
          <p:cNvSpPr/>
          <p:nvPr/>
        </p:nvSpPr>
        <p:spPr>
          <a:xfrm>
            <a:off x="7638120" y="5482440"/>
            <a:ext cx="2437920" cy="196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Prominent guitar work</a:t>
            </a:r>
            <a:r>
              <a:rPr b="0" lang="en-US" sz="1030" spc="-1" strike="noStrike">
                <a:solidFill>
                  <a:srgbClr val="ffffff">
                    <a:alpha val="80000"/>
                  </a:srgbClr>
                </a:solidFill>
                <a:latin typeface="Liter"/>
                <a:ea typeface="Liter"/>
              </a:rPr>
              <a:t> with solos and riffs</a:t>
            </a:r>
            <a:endParaRPr b="0" lang="en-HK" sz="1030" spc="-1" strike="noStrike">
              <a:latin typeface="Arial"/>
            </a:endParaRPr>
          </a:p>
        </p:txBody>
      </p:sp>
      <p:sp>
        <p:nvSpPr>
          <p:cNvPr id="335" name="Shape 46"/>
          <p:cNvSpPr/>
          <p:nvPr/>
        </p:nvSpPr>
        <p:spPr>
          <a:xfrm>
            <a:off x="7507080" y="5809680"/>
            <a:ext cx="65160" cy="6516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6" name="Text 47"/>
          <p:cNvSpPr/>
          <p:nvPr/>
        </p:nvSpPr>
        <p:spPr>
          <a:xfrm>
            <a:off x="7638120" y="5748120"/>
            <a:ext cx="141876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Strong vocal harmonies</a:t>
            </a:r>
            <a:endParaRPr b="0" lang="en-HK" sz="1030" spc="-1" strike="noStrike">
              <a:latin typeface="Arial"/>
            </a:endParaRPr>
          </a:p>
        </p:txBody>
      </p:sp>
      <p:sp>
        <p:nvSpPr>
          <p:cNvPr id="337" name="Shape 48"/>
          <p:cNvSpPr/>
          <p:nvPr/>
        </p:nvSpPr>
        <p:spPr>
          <a:xfrm>
            <a:off x="7507080" y="6071400"/>
            <a:ext cx="65160" cy="6516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8" name="Text 49"/>
          <p:cNvSpPr/>
          <p:nvPr/>
        </p:nvSpPr>
        <p:spPr>
          <a:xfrm>
            <a:off x="7638120" y="6005880"/>
            <a:ext cx="2887920" cy="196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Keyboard integration</a:t>
            </a:r>
            <a:r>
              <a:rPr b="0" lang="en-US" sz="1030" spc="-1" strike="noStrike">
                <a:solidFill>
                  <a:srgbClr val="ffffff">
                    <a:alpha val="80000"/>
                  </a:srgbClr>
                </a:solidFill>
                <a:latin typeface="Liter"/>
                <a:ea typeface="Liter"/>
              </a:rPr>
              <a:t> (piano, organ, synthesizers)</a:t>
            </a:r>
            <a:endParaRPr b="0" lang="en-HK" sz="1030" spc="-1" strike="noStrike">
              <a:latin typeface="Arial"/>
            </a:endParaRPr>
          </a:p>
        </p:txBody>
      </p:sp>
      <p:sp>
        <p:nvSpPr>
          <p:cNvPr id="339" name="Shape 50"/>
          <p:cNvSpPr/>
          <p:nvPr/>
        </p:nvSpPr>
        <p:spPr>
          <a:xfrm>
            <a:off x="7507080" y="6333120"/>
            <a:ext cx="65160" cy="6516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40" name="Text 51"/>
          <p:cNvSpPr/>
          <p:nvPr/>
        </p:nvSpPr>
        <p:spPr>
          <a:xfrm>
            <a:off x="7638120" y="6271920"/>
            <a:ext cx="1539000" cy="187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Radio-friendly production</a:t>
            </a:r>
            <a:endParaRPr b="0" lang="en-HK" sz="103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341" name="Shape 0"/>
          <p:cNvSpPr/>
          <p:nvPr/>
        </p:nvSpPr>
        <p:spPr>
          <a:xfrm>
            <a:off x="317520" y="365040"/>
            <a:ext cx="63000" cy="38052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342" name="Text 1"/>
          <p:cNvSpPr/>
          <p:nvPr/>
        </p:nvSpPr>
        <p:spPr>
          <a:xfrm>
            <a:off x="507960" y="317520"/>
            <a:ext cx="438912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6" strike="noStrike">
                <a:solidFill>
                  <a:srgbClr val="ddff00"/>
                </a:solidFill>
                <a:latin typeface="Liter"/>
                <a:ea typeface="Liter"/>
              </a:rPr>
              <a:t>CHAPTER 03</a:t>
            </a:r>
            <a:endParaRPr b="0" lang="en-HK" sz="880" spc="-1" strike="noStrike">
              <a:latin typeface="Arial"/>
            </a:endParaRPr>
          </a:p>
        </p:txBody>
      </p:sp>
      <p:sp>
        <p:nvSpPr>
          <p:cNvPr id="343" name="Text 2"/>
          <p:cNvSpPr/>
          <p:nvPr/>
        </p:nvSpPr>
        <p:spPr>
          <a:xfrm>
            <a:off x="507960" y="476280"/>
            <a:ext cx="4476240" cy="3171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Hard Rock: Louder, Heavier, Faster</a:t>
            </a:r>
            <a:endParaRPr b="0" lang="en-HK" sz="2250" spc="-1" strike="noStrike">
              <a:latin typeface="Arial"/>
            </a:endParaRPr>
          </a:p>
        </p:txBody>
      </p:sp>
      <p:sp>
        <p:nvSpPr>
          <p:cNvPr id="344" name="Shape 3"/>
          <p:cNvSpPr/>
          <p:nvPr/>
        </p:nvSpPr>
        <p:spPr>
          <a:xfrm>
            <a:off x="317520" y="1047600"/>
            <a:ext cx="4547880" cy="247608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345" name="Text 4"/>
          <p:cNvSpPr/>
          <p:nvPr/>
        </p:nvSpPr>
        <p:spPr>
          <a:xfrm>
            <a:off x="507960" y="1238400"/>
            <a:ext cx="426204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Evolution of Power</a:t>
            </a:r>
            <a:endParaRPr b="0" lang="en-HK" sz="1500" spc="-1" strike="noStrike">
              <a:latin typeface="Arial"/>
            </a:endParaRPr>
          </a:p>
        </p:txBody>
      </p:sp>
      <p:sp>
        <p:nvSpPr>
          <p:cNvPr id="346" name="Text 5"/>
          <p:cNvSpPr/>
          <p:nvPr/>
        </p:nvSpPr>
        <p:spPr>
          <a:xfrm>
            <a:off x="507960" y="1587600"/>
            <a:ext cx="4230360" cy="825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Hard rock emerged as a subgenre that combined the sound and attitude of rock 'n' roll with a heavier, more aggressive approach.</a:t>
            </a:r>
            <a:r>
              <a:rPr b="0" lang="en-US" sz="1000" spc="-1" strike="noStrike">
                <a:solidFill>
                  <a:srgbClr val="000000"/>
                </a:solidFill>
                <a:latin typeface="Liter"/>
                <a:ea typeface="Liter"/>
              </a:rPr>
              <a:t> It grew out of the blues-based rock and psychedelic rock of the 1960s, pushing the boundaries of volume, distortion, and intensity.</a:t>
            </a:r>
            <a:endParaRPr b="0" lang="en-HK" sz="1000" spc="-1" strike="noStrike">
              <a:latin typeface="Arial"/>
            </a:endParaRPr>
          </a:p>
        </p:txBody>
      </p:sp>
      <p:sp>
        <p:nvSpPr>
          <p:cNvPr id="347" name="Text 6"/>
          <p:cNvSpPr/>
          <p:nvPr/>
        </p:nvSpPr>
        <p:spPr>
          <a:xfrm>
            <a:off x="507960" y="2508120"/>
            <a:ext cx="4230360" cy="825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Hard rock is characterized by powerful, distorted guitar riffs, strong rhythm sections, and often high-energy, driving tempos. Extended guitar solos became a signature element, showcasing technical virtuosity and emotional expression.</a:t>
            </a:r>
            <a:endParaRPr b="0" lang="en-HK" sz="1000" spc="-1" strike="noStrike">
              <a:latin typeface="Arial"/>
            </a:endParaRPr>
          </a:p>
        </p:txBody>
      </p:sp>
      <p:sp>
        <p:nvSpPr>
          <p:cNvPr id="348" name="Shape 7"/>
          <p:cNvSpPr/>
          <p:nvPr/>
        </p:nvSpPr>
        <p:spPr>
          <a:xfrm>
            <a:off x="325440" y="3659040"/>
            <a:ext cx="4532040" cy="2873160"/>
          </a:xfrm>
          <a:custGeom>
            <a:avLst/>
            <a:gdLst/>
            <a:ahLst/>
            <a:rect l="l" t="t" r="r" b="b"/>
            <a:pathLst>
              <a:path w="4532313" h="2873375">
                <a:moveTo>
                  <a:pt x="0" y="0"/>
                </a:moveTo>
                <a:lnTo>
                  <a:pt x="4532313" y="0"/>
                </a:lnTo>
                <a:lnTo>
                  <a:pt x="4532313" y="2873375"/>
                </a:lnTo>
                <a:lnTo>
                  <a:pt x="0" y="2873375"/>
                </a:lnTo>
                <a:lnTo>
                  <a:pt x="0" y="0"/>
                </a:lnTo>
                <a:close/>
              </a:path>
            </a:pathLst>
          </a:custGeom>
          <a:noFill/>
          <a:ln w="25400">
            <a:solidFill>
              <a:srgbClr val="ddff00"/>
            </a:solidFill>
            <a:round/>
          </a:ln>
        </p:spPr>
        <p:style>
          <a:lnRef idx="0"/>
          <a:fillRef idx="0"/>
          <a:effectRef idx="0"/>
          <a:fontRef idx="minor"/>
        </p:style>
      </p:sp>
      <p:sp>
        <p:nvSpPr>
          <p:cNvPr id="349" name="Text 8"/>
          <p:cNvSpPr/>
          <p:nvPr/>
        </p:nvSpPr>
        <p:spPr>
          <a:xfrm>
            <a:off x="492120" y="3825720"/>
            <a:ext cx="4277880" cy="221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Hard Rock Pioneers</a:t>
            </a:r>
            <a:endParaRPr b="0" lang="en-HK" sz="1250" spc="-1" strike="noStrike">
              <a:latin typeface="Arial"/>
            </a:endParaRPr>
          </a:p>
        </p:txBody>
      </p:sp>
      <p:sp>
        <p:nvSpPr>
          <p:cNvPr id="350" name="Shape 9"/>
          <p:cNvSpPr/>
          <p:nvPr/>
        </p:nvSpPr>
        <p:spPr>
          <a:xfrm>
            <a:off x="507960" y="4175280"/>
            <a:ext cx="31320" cy="603000"/>
          </a:xfrm>
          <a:custGeom>
            <a:avLst/>
            <a:gdLst/>
            <a:ahLst/>
            <a:rect l="l" t="t" r="r" b="b"/>
            <a:pathLst>
              <a:path w="31750" h="603250">
                <a:moveTo>
                  <a:pt x="0" y="0"/>
                </a:moveTo>
                <a:lnTo>
                  <a:pt x="31750" y="0"/>
                </a:lnTo>
                <a:lnTo>
                  <a:pt x="31750" y="603250"/>
                </a:lnTo>
                <a:lnTo>
                  <a:pt x="0" y="603250"/>
                </a:lnTo>
                <a:lnTo>
                  <a:pt x="0" y="0"/>
                </a:lnTo>
                <a:close/>
              </a:path>
            </a:pathLst>
          </a:custGeom>
          <a:solidFill>
            <a:srgbClr val="ddff00"/>
          </a:solidFill>
          <a:ln w="0">
            <a:noFill/>
          </a:ln>
        </p:spPr>
        <p:style>
          <a:lnRef idx="0"/>
          <a:fillRef idx="0"/>
          <a:effectRef idx="0"/>
          <a:fontRef idx="minor"/>
        </p:style>
      </p:sp>
      <p:sp>
        <p:nvSpPr>
          <p:cNvPr id="351" name="Shape 10"/>
          <p:cNvSpPr/>
          <p:nvPr/>
        </p:nvSpPr>
        <p:spPr>
          <a:xfrm>
            <a:off x="619200" y="4175280"/>
            <a:ext cx="380520" cy="3805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52" name="Shape 11"/>
          <p:cNvSpPr/>
          <p:nvPr/>
        </p:nvSpPr>
        <p:spPr>
          <a:xfrm>
            <a:off x="740160" y="4286160"/>
            <a:ext cx="138600" cy="158400"/>
          </a:xfrm>
          <a:custGeom>
            <a:avLst/>
            <a:gdLst/>
            <a:ahLst/>
            <a:rect l="l" t="t" r="r" b="b"/>
            <a:pathLst>
              <a:path w="138906" h="158750">
                <a:moveTo>
                  <a:pt x="49764" y="-8186"/>
                </a:moveTo>
                <a:cubicBezTo>
                  <a:pt x="52648" y="-10604"/>
                  <a:pt x="56896" y="-10511"/>
                  <a:pt x="59655" y="-7906"/>
                </a:cubicBezTo>
                <a:cubicBezTo>
                  <a:pt x="63469" y="-4310"/>
                  <a:pt x="66880" y="-341"/>
                  <a:pt x="70166" y="3690"/>
                </a:cubicBezTo>
                <a:cubicBezTo>
                  <a:pt x="74352" y="8806"/>
                  <a:pt x="79375" y="15565"/>
                  <a:pt x="84212" y="23595"/>
                </a:cubicBezTo>
                <a:cubicBezTo>
                  <a:pt x="85824" y="21487"/>
                  <a:pt x="87313" y="19627"/>
                  <a:pt x="88615" y="18045"/>
                </a:cubicBezTo>
                <a:cubicBezTo>
                  <a:pt x="88956" y="17642"/>
                  <a:pt x="89297" y="17208"/>
                  <a:pt x="89638" y="16774"/>
                </a:cubicBezTo>
                <a:cubicBezTo>
                  <a:pt x="92087" y="13736"/>
                  <a:pt x="95126" y="9922"/>
                  <a:pt x="99188" y="9922"/>
                </a:cubicBezTo>
                <a:cubicBezTo>
                  <a:pt x="103343" y="9922"/>
                  <a:pt x="106257" y="13612"/>
                  <a:pt x="108738" y="16774"/>
                </a:cubicBezTo>
                <a:cubicBezTo>
                  <a:pt x="109141" y="17301"/>
                  <a:pt x="109544" y="17797"/>
                  <a:pt x="109947" y="18262"/>
                </a:cubicBezTo>
                <a:cubicBezTo>
                  <a:pt x="113140" y="22107"/>
                  <a:pt x="117388" y="27657"/>
                  <a:pt x="121636" y="34510"/>
                </a:cubicBezTo>
                <a:cubicBezTo>
                  <a:pt x="130070" y="48121"/>
                  <a:pt x="138875" y="67500"/>
                  <a:pt x="138875" y="89266"/>
                </a:cubicBezTo>
                <a:cubicBezTo>
                  <a:pt x="138875" y="127620"/>
                  <a:pt x="107776" y="158719"/>
                  <a:pt x="69422" y="158719"/>
                </a:cubicBezTo>
                <a:cubicBezTo>
                  <a:pt x="31068" y="158719"/>
                  <a:pt x="0" y="127651"/>
                  <a:pt x="0" y="89297"/>
                </a:cubicBezTo>
                <a:cubicBezTo>
                  <a:pt x="0" y="61051"/>
                  <a:pt x="12743" y="36587"/>
                  <a:pt x="24960" y="19534"/>
                </a:cubicBezTo>
                <a:cubicBezTo>
                  <a:pt x="31130" y="10945"/>
                  <a:pt x="37269" y="4062"/>
                  <a:pt x="41889" y="-651"/>
                </a:cubicBezTo>
                <a:cubicBezTo>
                  <a:pt x="44431" y="-3256"/>
                  <a:pt x="47005" y="-5829"/>
                  <a:pt x="49795" y="-8155"/>
                </a:cubicBezTo>
                <a:close/>
                <a:moveTo>
                  <a:pt x="69980" y="128984"/>
                </a:moveTo>
                <a:cubicBezTo>
                  <a:pt x="77825" y="128984"/>
                  <a:pt x="84770" y="126814"/>
                  <a:pt x="91312" y="122473"/>
                </a:cubicBezTo>
                <a:cubicBezTo>
                  <a:pt x="104366" y="113357"/>
                  <a:pt x="107869" y="95126"/>
                  <a:pt x="100025" y="80801"/>
                </a:cubicBezTo>
                <a:cubicBezTo>
                  <a:pt x="98630" y="78011"/>
                  <a:pt x="95064" y="77825"/>
                  <a:pt x="93049" y="80181"/>
                </a:cubicBezTo>
                <a:lnTo>
                  <a:pt x="85235" y="89266"/>
                </a:lnTo>
                <a:cubicBezTo>
                  <a:pt x="83189" y="91622"/>
                  <a:pt x="79499" y="91560"/>
                  <a:pt x="77577" y="89111"/>
                </a:cubicBezTo>
                <a:cubicBezTo>
                  <a:pt x="72213" y="82259"/>
                  <a:pt x="62353" y="69763"/>
                  <a:pt x="57330" y="63376"/>
                </a:cubicBezTo>
                <a:cubicBezTo>
                  <a:pt x="55656" y="61237"/>
                  <a:pt x="52617" y="60896"/>
                  <a:pt x="50664" y="62787"/>
                </a:cubicBezTo>
                <a:cubicBezTo>
                  <a:pt x="44990" y="68306"/>
                  <a:pt x="34696" y="80398"/>
                  <a:pt x="34696" y="95126"/>
                </a:cubicBezTo>
                <a:cubicBezTo>
                  <a:pt x="34696" y="116396"/>
                  <a:pt x="50385" y="128984"/>
                  <a:pt x="69949" y="128984"/>
                </a:cubicBezTo>
                <a:close/>
              </a:path>
            </a:pathLst>
          </a:custGeom>
          <a:solidFill>
            <a:srgbClr val="000000"/>
          </a:solidFill>
          <a:ln w="0">
            <a:noFill/>
          </a:ln>
        </p:spPr>
        <p:style>
          <a:lnRef idx="0"/>
          <a:fillRef idx="0"/>
          <a:effectRef idx="0"/>
          <a:fontRef idx="minor"/>
        </p:style>
      </p:sp>
      <p:sp>
        <p:nvSpPr>
          <p:cNvPr id="353" name="Text 12"/>
          <p:cNvSpPr/>
          <p:nvPr/>
        </p:nvSpPr>
        <p:spPr>
          <a:xfrm>
            <a:off x="1095480" y="4175280"/>
            <a:ext cx="366660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Led Zeppelin</a:t>
            </a:r>
            <a:endParaRPr b="0" lang="en-HK" sz="1130" spc="-1" strike="noStrike">
              <a:latin typeface="Arial"/>
            </a:endParaRPr>
          </a:p>
        </p:txBody>
      </p:sp>
      <p:sp>
        <p:nvSpPr>
          <p:cNvPr id="354" name="Text 13"/>
          <p:cNvSpPr/>
          <p:nvPr/>
        </p:nvSpPr>
        <p:spPr>
          <a:xfrm>
            <a:off x="1095480" y="4397400"/>
            <a:ext cx="3658680" cy="38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Jimmy Page's monster riffs and studio wizardry redefined rock guitar</a:t>
            </a:r>
            <a:endParaRPr b="0" lang="en-HK" sz="1000" spc="-1" strike="noStrike">
              <a:latin typeface="Arial"/>
            </a:endParaRPr>
          </a:p>
        </p:txBody>
      </p:sp>
      <p:sp>
        <p:nvSpPr>
          <p:cNvPr id="355" name="Shape 14"/>
          <p:cNvSpPr/>
          <p:nvPr/>
        </p:nvSpPr>
        <p:spPr>
          <a:xfrm>
            <a:off x="507960" y="4873680"/>
            <a:ext cx="31320" cy="4125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56" name="Shape 15"/>
          <p:cNvSpPr/>
          <p:nvPr/>
        </p:nvSpPr>
        <p:spPr>
          <a:xfrm>
            <a:off x="619200" y="4873680"/>
            <a:ext cx="380520" cy="3805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57" name="Shape 16"/>
          <p:cNvSpPr/>
          <p:nvPr/>
        </p:nvSpPr>
        <p:spPr>
          <a:xfrm>
            <a:off x="740160" y="4984920"/>
            <a:ext cx="138600" cy="15840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358" name="Text 17"/>
          <p:cNvSpPr/>
          <p:nvPr/>
        </p:nvSpPr>
        <p:spPr>
          <a:xfrm>
            <a:off x="1095480" y="4873680"/>
            <a:ext cx="314280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Deep Purple</a:t>
            </a:r>
            <a:endParaRPr b="0" lang="en-HK" sz="1130" spc="-1" strike="noStrike">
              <a:latin typeface="Arial"/>
            </a:endParaRPr>
          </a:p>
        </p:txBody>
      </p:sp>
      <p:sp>
        <p:nvSpPr>
          <p:cNvPr id="359" name="Text 18"/>
          <p:cNvSpPr/>
          <p:nvPr/>
        </p:nvSpPr>
        <p:spPr>
          <a:xfrm>
            <a:off x="1095480" y="5095800"/>
            <a:ext cx="313488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Ritchie Blackmore's classical-influenced guitar mastery</a:t>
            </a:r>
            <a:endParaRPr b="0" lang="en-HK" sz="1000" spc="-1" strike="noStrike">
              <a:latin typeface="Arial"/>
            </a:endParaRPr>
          </a:p>
        </p:txBody>
      </p:sp>
      <p:sp>
        <p:nvSpPr>
          <p:cNvPr id="360" name="Shape 19"/>
          <p:cNvSpPr/>
          <p:nvPr/>
        </p:nvSpPr>
        <p:spPr>
          <a:xfrm>
            <a:off x="507960" y="5381640"/>
            <a:ext cx="31320" cy="4125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61" name="Shape 20"/>
          <p:cNvSpPr/>
          <p:nvPr/>
        </p:nvSpPr>
        <p:spPr>
          <a:xfrm>
            <a:off x="619200" y="5381640"/>
            <a:ext cx="380520" cy="3805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62" name="Shape 21"/>
          <p:cNvSpPr/>
          <p:nvPr/>
        </p:nvSpPr>
        <p:spPr>
          <a:xfrm>
            <a:off x="730080" y="5492880"/>
            <a:ext cx="158400" cy="158400"/>
          </a:xfrm>
          <a:custGeom>
            <a:avLst/>
            <a:gdLst/>
            <a:ahLst/>
            <a:rect l="l" t="t" r="r" b="b"/>
            <a:pathLst>
              <a:path w="158750" h="158750">
                <a:moveTo>
                  <a:pt x="128984" y="132519"/>
                </a:moveTo>
                <a:cubicBezTo>
                  <a:pt x="147123" y="118876"/>
                  <a:pt x="158750" y="97917"/>
                  <a:pt x="158750" y="74414"/>
                </a:cubicBezTo>
                <a:cubicBezTo>
                  <a:pt x="158750" y="33331"/>
                  <a:pt x="123217" y="0"/>
                  <a:pt x="79375" y="0"/>
                </a:cubicBezTo>
                <a:cubicBezTo>
                  <a:pt x="35533" y="0"/>
                  <a:pt x="0" y="33331"/>
                  <a:pt x="0" y="74414"/>
                </a:cubicBezTo>
                <a:cubicBezTo>
                  <a:pt x="0" y="97917"/>
                  <a:pt x="11627" y="118876"/>
                  <a:pt x="29766" y="132519"/>
                </a:cubicBezTo>
                <a:lnTo>
                  <a:pt x="29766" y="143867"/>
                </a:lnTo>
                <a:cubicBezTo>
                  <a:pt x="29766" y="152084"/>
                  <a:pt x="36432" y="158750"/>
                  <a:pt x="44648" y="158750"/>
                </a:cubicBezTo>
                <a:lnTo>
                  <a:pt x="54570" y="158750"/>
                </a:lnTo>
                <a:lnTo>
                  <a:pt x="54570" y="146348"/>
                </a:lnTo>
                <a:cubicBezTo>
                  <a:pt x="54570" y="142224"/>
                  <a:pt x="57888" y="138906"/>
                  <a:pt x="62012" y="138906"/>
                </a:cubicBezTo>
                <a:cubicBezTo>
                  <a:pt x="66135" y="138906"/>
                  <a:pt x="69453" y="142224"/>
                  <a:pt x="69453" y="146348"/>
                </a:cubicBezTo>
                <a:lnTo>
                  <a:pt x="69453" y="158750"/>
                </a:lnTo>
                <a:lnTo>
                  <a:pt x="89297" y="158750"/>
                </a:lnTo>
                <a:lnTo>
                  <a:pt x="89297" y="146348"/>
                </a:lnTo>
                <a:cubicBezTo>
                  <a:pt x="89297" y="142224"/>
                  <a:pt x="92615" y="138906"/>
                  <a:pt x="96738" y="138906"/>
                </a:cubicBezTo>
                <a:cubicBezTo>
                  <a:pt x="100862" y="138906"/>
                  <a:pt x="104180" y="142224"/>
                  <a:pt x="104180" y="146348"/>
                </a:cubicBezTo>
                <a:lnTo>
                  <a:pt x="104180" y="158750"/>
                </a:lnTo>
                <a:lnTo>
                  <a:pt x="114102" y="158750"/>
                </a:lnTo>
                <a:cubicBezTo>
                  <a:pt x="122318" y="158750"/>
                  <a:pt x="128984" y="152084"/>
                  <a:pt x="128984" y="143867"/>
                </a:cubicBezTo>
                <a:lnTo>
                  <a:pt x="128984" y="132519"/>
                </a:lnTo>
                <a:close/>
                <a:moveTo>
                  <a:pt x="29766" y="79375"/>
                </a:moveTo>
                <a:cubicBezTo>
                  <a:pt x="29766" y="68423"/>
                  <a:pt x="38657" y="59531"/>
                  <a:pt x="49609" y="59531"/>
                </a:cubicBezTo>
                <a:cubicBezTo>
                  <a:pt x="60561" y="59531"/>
                  <a:pt x="69453" y="68423"/>
                  <a:pt x="69453" y="79375"/>
                </a:cubicBezTo>
                <a:cubicBezTo>
                  <a:pt x="69453" y="90327"/>
                  <a:pt x="60561" y="99219"/>
                  <a:pt x="49609" y="99219"/>
                </a:cubicBezTo>
                <a:cubicBezTo>
                  <a:pt x="38657" y="99219"/>
                  <a:pt x="29766" y="90327"/>
                  <a:pt x="29766" y="79375"/>
                </a:cubicBezTo>
                <a:close/>
                <a:moveTo>
                  <a:pt x="109141" y="59531"/>
                </a:moveTo>
                <a:cubicBezTo>
                  <a:pt x="120093" y="59531"/>
                  <a:pt x="128984" y="68423"/>
                  <a:pt x="128984" y="79375"/>
                </a:cubicBezTo>
                <a:cubicBezTo>
                  <a:pt x="128984" y="90327"/>
                  <a:pt x="120093" y="99219"/>
                  <a:pt x="109141" y="99219"/>
                </a:cubicBezTo>
                <a:cubicBezTo>
                  <a:pt x="98189" y="99219"/>
                  <a:pt x="89297" y="90327"/>
                  <a:pt x="89297" y="79375"/>
                </a:cubicBezTo>
                <a:cubicBezTo>
                  <a:pt x="89297" y="68423"/>
                  <a:pt x="98189" y="59531"/>
                  <a:pt x="109141" y="59531"/>
                </a:cubicBezTo>
                <a:close/>
              </a:path>
            </a:pathLst>
          </a:custGeom>
          <a:solidFill>
            <a:srgbClr val="000000"/>
          </a:solidFill>
          <a:ln w="0">
            <a:noFill/>
          </a:ln>
        </p:spPr>
        <p:style>
          <a:lnRef idx="0"/>
          <a:fillRef idx="0"/>
          <a:effectRef idx="0"/>
          <a:fontRef idx="minor"/>
        </p:style>
      </p:sp>
      <p:sp>
        <p:nvSpPr>
          <p:cNvPr id="363" name="Text 22"/>
          <p:cNvSpPr/>
          <p:nvPr/>
        </p:nvSpPr>
        <p:spPr>
          <a:xfrm>
            <a:off x="1095480" y="5381640"/>
            <a:ext cx="303984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Black Sabbath</a:t>
            </a:r>
            <a:endParaRPr b="0" lang="en-HK" sz="1130" spc="-1" strike="noStrike">
              <a:latin typeface="Arial"/>
            </a:endParaRPr>
          </a:p>
        </p:txBody>
      </p:sp>
      <p:sp>
        <p:nvSpPr>
          <p:cNvPr id="364" name="Text 23"/>
          <p:cNvSpPr/>
          <p:nvPr/>
        </p:nvSpPr>
        <p:spPr>
          <a:xfrm>
            <a:off x="1095480" y="5603760"/>
            <a:ext cx="303192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Tony Iommi's downtuned, heavy riffs pioneered metal</a:t>
            </a:r>
            <a:endParaRPr b="0" lang="en-HK" sz="1000" spc="-1" strike="noStrike">
              <a:latin typeface="Arial"/>
            </a:endParaRPr>
          </a:p>
        </p:txBody>
      </p:sp>
      <p:sp>
        <p:nvSpPr>
          <p:cNvPr id="365" name="Shape 24"/>
          <p:cNvSpPr/>
          <p:nvPr/>
        </p:nvSpPr>
        <p:spPr>
          <a:xfrm>
            <a:off x="507960" y="5889600"/>
            <a:ext cx="31320" cy="4125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66" name="Shape 25"/>
          <p:cNvSpPr/>
          <p:nvPr/>
        </p:nvSpPr>
        <p:spPr>
          <a:xfrm>
            <a:off x="619200" y="5889600"/>
            <a:ext cx="380520" cy="3805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67" name="Shape 26"/>
          <p:cNvSpPr/>
          <p:nvPr/>
        </p:nvSpPr>
        <p:spPr>
          <a:xfrm>
            <a:off x="740160" y="6000840"/>
            <a:ext cx="138600" cy="15840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368" name="Text 27"/>
          <p:cNvSpPr/>
          <p:nvPr/>
        </p:nvSpPr>
        <p:spPr>
          <a:xfrm>
            <a:off x="1095480" y="5889600"/>
            <a:ext cx="286524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AC/DC</a:t>
            </a:r>
            <a:endParaRPr b="0" lang="en-HK" sz="1130" spc="-1" strike="noStrike">
              <a:latin typeface="Arial"/>
            </a:endParaRPr>
          </a:p>
        </p:txBody>
      </p:sp>
      <p:sp>
        <p:nvSpPr>
          <p:cNvPr id="369" name="Text 28"/>
          <p:cNvSpPr/>
          <p:nvPr/>
        </p:nvSpPr>
        <p:spPr>
          <a:xfrm>
            <a:off x="1095480" y="6111720"/>
            <a:ext cx="285732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Raw, blues-based hard rock with infectious energy</a:t>
            </a:r>
            <a:endParaRPr b="0" lang="en-HK" sz="1000" spc="-1" strike="noStrike">
              <a:latin typeface="Arial"/>
            </a:endParaRPr>
          </a:p>
        </p:txBody>
      </p:sp>
      <p:sp>
        <p:nvSpPr>
          <p:cNvPr id="370" name="Shape 29"/>
          <p:cNvSpPr/>
          <p:nvPr/>
        </p:nvSpPr>
        <p:spPr>
          <a:xfrm>
            <a:off x="5062680" y="1055520"/>
            <a:ext cx="6802200" cy="3603240"/>
          </a:xfrm>
          <a:custGeom>
            <a:avLst/>
            <a:gdLst/>
            <a:ahLst/>
            <a:rect l="l" t="t" r="r" b="b"/>
            <a:pathLst>
              <a:path w="6802438" h="3603625">
                <a:moveTo>
                  <a:pt x="0" y="0"/>
                </a:moveTo>
                <a:lnTo>
                  <a:pt x="6802438" y="0"/>
                </a:lnTo>
                <a:lnTo>
                  <a:pt x="6802438" y="3603625"/>
                </a:lnTo>
                <a:lnTo>
                  <a:pt x="0" y="3603625"/>
                </a:lnTo>
                <a:lnTo>
                  <a:pt x="0" y="0"/>
                </a:lnTo>
                <a:close/>
              </a:path>
            </a:pathLst>
          </a:custGeom>
          <a:noFill/>
          <a:ln w="25400">
            <a:solidFill>
              <a:srgbClr val="ddff00"/>
            </a:solidFill>
            <a:round/>
          </a:ln>
        </p:spPr>
        <p:style>
          <a:lnRef idx="0"/>
          <a:fillRef idx="0"/>
          <a:effectRef idx="0"/>
          <a:fontRef idx="minor"/>
        </p:style>
      </p:sp>
      <p:sp>
        <p:nvSpPr>
          <p:cNvPr id="371" name="Text 30"/>
          <p:cNvSpPr/>
          <p:nvPr/>
        </p:nvSpPr>
        <p:spPr>
          <a:xfrm>
            <a:off x="5261040" y="1254240"/>
            <a:ext cx="650052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Defining Hard Rock Albums</a:t>
            </a:r>
            <a:endParaRPr b="0" lang="en-HK" sz="1500" spc="-1" strike="noStrike">
              <a:latin typeface="Arial"/>
            </a:endParaRPr>
          </a:p>
        </p:txBody>
      </p:sp>
      <p:sp>
        <p:nvSpPr>
          <p:cNvPr id="372" name="Shape 31"/>
          <p:cNvSpPr/>
          <p:nvPr/>
        </p:nvSpPr>
        <p:spPr>
          <a:xfrm>
            <a:off x="5261040" y="1635120"/>
            <a:ext cx="634680" cy="63468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73" name="Text 32"/>
          <p:cNvSpPr/>
          <p:nvPr/>
        </p:nvSpPr>
        <p:spPr>
          <a:xfrm>
            <a:off x="5469480" y="1825560"/>
            <a:ext cx="30924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LZ</a:t>
            </a:r>
            <a:endParaRPr b="0" lang="en-HK" sz="1500" spc="-1" strike="noStrike">
              <a:latin typeface="Arial"/>
            </a:endParaRPr>
          </a:p>
        </p:txBody>
      </p:sp>
      <p:sp>
        <p:nvSpPr>
          <p:cNvPr id="374" name="Text 33"/>
          <p:cNvSpPr/>
          <p:nvPr/>
        </p:nvSpPr>
        <p:spPr>
          <a:xfrm>
            <a:off x="6022800" y="1762200"/>
            <a:ext cx="571464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Physical Graffiti</a:t>
            </a:r>
            <a:endParaRPr b="0" lang="en-HK" sz="1130" spc="-1" strike="noStrike">
              <a:latin typeface="Arial"/>
            </a:endParaRPr>
          </a:p>
        </p:txBody>
      </p:sp>
      <p:sp>
        <p:nvSpPr>
          <p:cNvPr id="375" name="Text 34"/>
          <p:cNvSpPr/>
          <p:nvPr/>
        </p:nvSpPr>
        <p:spPr>
          <a:xfrm>
            <a:off x="6022800" y="1984320"/>
            <a:ext cx="56988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Led Zeppelin (1975) - Double album masterpiece</a:t>
            </a:r>
            <a:endParaRPr b="0" lang="en-HK" sz="880" spc="-1" strike="noStrike">
              <a:latin typeface="Arial"/>
            </a:endParaRPr>
          </a:p>
        </p:txBody>
      </p:sp>
      <p:sp>
        <p:nvSpPr>
          <p:cNvPr id="376" name="Shape 35"/>
          <p:cNvSpPr/>
          <p:nvPr/>
        </p:nvSpPr>
        <p:spPr>
          <a:xfrm>
            <a:off x="5261040" y="2365200"/>
            <a:ext cx="634680" cy="63468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77" name="Text 36"/>
          <p:cNvSpPr/>
          <p:nvPr/>
        </p:nvSpPr>
        <p:spPr>
          <a:xfrm>
            <a:off x="5454000" y="2556000"/>
            <a:ext cx="34092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DP</a:t>
            </a:r>
            <a:endParaRPr b="0" lang="en-HK" sz="1500" spc="-1" strike="noStrike">
              <a:latin typeface="Arial"/>
            </a:endParaRPr>
          </a:p>
        </p:txBody>
      </p:sp>
      <p:sp>
        <p:nvSpPr>
          <p:cNvPr id="378" name="Text 37"/>
          <p:cNvSpPr/>
          <p:nvPr/>
        </p:nvSpPr>
        <p:spPr>
          <a:xfrm>
            <a:off x="6022800" y="2492280"/>
            <a:ext cx="571464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Machine Head</a:t>
            </a:r>
            <a:endParaRPr b="0" lang="en-HK" sz="1130" spc="-1" strike="noStrike">
              <a:latin typeface="Arial"/>
            </a:endParaRPr>
          </a:p>
        </p:txBody>
      </p:sp>
      <p:sp>
        <p:nvSpPr>
          <p:cNvPr id="379" name="Text 38"/>
          <p:cNvSpPr/>
          <p:nvPr/>
        </p:nvSpPr>
        <p:spPr>
          <a:xfrm>
            <a:off x="6022800" y="2714760"/>
            <a:ext cx="56988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Deep Purple (1972) - "Smoke on the Water"</a:t>
            </a:r>
            <a:endParaRPr b="0" lang="en-HK" sz="880" spc="-1" strike="noStrike">
              <a:latin typeface="Arial"/>
            </a:endParaRPr>
          </a:p>
        </p:txBody>
      </p:sp>
      <p:sp>
        <p:nvSpPr>
          <p:cNvPr id="380" name="Shape 39"/>
          <p:cNvSpPr/>
          <p:nvPr/>
        </p:nvSpPr>
        <p:spPr>
          <a:xfrm>
            <a:off x="5261040" y="3095640"/>
            <a:ext cx="634680" cy="63468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81" name="Text 40"/>
          <p:cNvSpPr/>
          <p:nvPr/>
        </p:nvSpPr>
        <p:spPr>
          <a:xfrm>
            <a:off x="5460840" y="3286080"/>
            <a:ext cx="33300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BS</a:t>
            </a:r>
            <a:endParaRPr b="0" lang="en-HK" sz="1500" spc="-1" strike="noStrike">
              <a:latin typeface="Arial"/>
            </a:endParaRPr>
          </a:p>
        </p:txBody>
      </p:sp>
      <p:sp>
        <p:nvSpPr>
          <p:cNvPr id="382" name="Text 41"/>
          <p:cNvSpPr/>
          <p:nvPr/>
        </p:nvSpPr>
        <p:spPr>
          <a:xfrm>
            <a:off x="6022800" y="3222720"/>
            <a:ext cx="571464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Paranoid</a:t>
            </a:r>
            <a:endParaRPr b="0" lang="en-HK" sz="1130" spc="-1" strike="noStrike">
              <a:latin typeface="Arial"/>
            </a:endParaRPr>
          </a:p>
        </p:txBody>
      </p:sp>
      <p:sp>
        <p:nvSpPr>
          <p:cNvPr id="383" name="Text 42"/>
          <p:cNvSpPr/>
          <p:nvPr/>
        </p:nvSpPr>
        <p:spPr>
          <a:xfrm>
            <a:off x="6022800" y="3444840"/>
            <a:ext cx="56988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Black Sabbath (1970) - "Iron Man" &amp; "War Pigs"</a:t>
            </a:r>
            <a:endParaRPr b="0" lang="en-HK" sz="880" spc="-1" strike="noStrike">
              <a:latin typeface="Arial"/>
            </a:endParaRPr>
          </a:p>
        </p:txBody>
      </p:sp>
      <p:sp>
        <p:nvSpPr>
          <p:cNvPr id="384" name="Shape 43"/>
          <p:cNvSpPr/>
          <p:nvPr/>
        </p:nvSpPr>
        <p:spPr>
          <a:xfrm>
            <a:off x="5261040" y="3825720"/>
            <a:ext cx="634680" cy="63468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85" name="Text 44"/>
          <p:cNvSpPr/>
          <p:nvPr/>
        </p:nvSpPr>
        <p:spPr>
          <a:xfrm>
            <a:off x="5448600" y="4016520"/>
            <a:ext cx="35676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AC</a:t>
            </a:r>
            <a:endParaRPr b="0" lang="en-HK" sz="1500" spc="-1" strike="noStrike">
              <a:latin typeface="Arial"/>
            </a:endParaRPr>
          </a:p>
        </p:txBody>
      </p:sp>
      <p:sp>
        <p:nvSpPr>
          <p:cNvPr id="386" name="Text 45"/>
          <p:cNvSpPr/>
          <p:nvPr/>
        </p:nvSpPr>
        <p:spPr>
          <a:xfrm>
            <a:off x="6022800" y="3952800"/>
            <a:ext cx="571464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Highway to Hell</a:t>
            </a:r>
            <a:endParaRPr b="0" lang="en-HK" sz="1130" spc="-1" strike="noStrike">
              <a:latin typeface="Arial"/>
            </a:endParaRPr>
          </a:p>
        </p:txBody>
      </p:sp>
      <p:sp>
        <p:nvSpPr>
          <p:cNvPr id="387" name="Text 46"/>
          <p:cNvSpPr/>
          <p:nvPr/>
        </p:nvSpPr>
        <p:spPr>
          <a:xfrm>
            <a:off x="6022800" y="4175280"/>
            <a:ext cx="56988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AC/DC (1979) - Breakthrough album</a:t>
            </a:r>
            <a:endParaRPr b="0" lang="en-HK" sz="880" spc="-1" strike="noStrike">
              <a:latin typeface="Arial"/>
            </a:endParaRPr>
          </a:p>
        </p:txBody>
      </p:sp>
      <p:sp>
        <p:nvSpPr>
          <p:cNvPr id="388" name="Shape 47"/>
          <p:cNvSpPr/>
          <p:nvPr/>
        </p:nvSpPr>
        <p:spPr>
          <a:xfrm>
            <a:off x="5054400" y="4794120"/>
            <a:ext cx="6818040" cy="1396800"/>
          </a:xfrm>
          <a:custGeom>
            <a:avLst/>
            <a:gdLst/>
            <a:ahLst/>
            <a:rect l="l" t="t" r="r" b="b"/>
            <a:pathLst>
              <a:path w="6818313" h="1397000">
                <a:moveTo>
                  <a:pt x="0" y="0"/>
                </a:moveTo>
                <a:lnTo>
                  <a:pt x="6818313" y="0"/>
                </a:lnTo>
                <a:lnTo>
                  <a:pt x="6818313" y="1397000"/>
                </a:lnTo>
                <a:lnTo>
                  <a:pt x="0" y="1397000"/>
                </a:lnTo>
                <a:lnTo>
                  <a:pt x="0" y="0"/>
                </a:lnTo>
                <a:close/>
              </a:path>
            </a:pathLst>
          </a:custGeom>
          <a:solidFill>
            <a:srgbClr val="ddff00"/>
          </a:solidFill>
          <a:ln w="0">
            <a:noFill/>
          </a:ln>
        </p:spPr>
        <p:style>
          <a:lnRef idx="0"/>
          <a:fillRef idx="0"/>
          <a:effectRef idx="0"/>
          <a:fontRef idx="minor"/>
        </p:style>
      </p:sp>
      <p:sp>
        <p:nvSpPr>
          <p:cNvPr id="389" name="Text 48"/>
          <p:cNvSpPr/>
          <p:nvPr/>
        </p:nvSpPr>
        <p:spPr>
          <a:xfrm>
            <a:off x="5213160" y="4952880"/>
            <a:ext cx="6579720" cy="221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Key Characteristics</a:t>
            </a:r>
            <a:endParaRPr b="0" lang="en-HK" sz="1250" spc="-1" strike="noStrike">
              <a:latin typeface="Arial"/>
            </a:endParaRPr>
          </a:p>
        </p:txBody>
      </p:sp>
      <p:sp>
        <p:nvSpPr>
          <p:cNvPr id="390" name="Shape 49"/>
          <p:cNvSpPr/>
          <p:nvPr/>
        </p:nvSpPr>
        <p:spPr>
          <a:xfrm>
            <a:off x="5237280" y="5302080"/>
            <a:ext cx="110880" cy="12672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1" name="Text 50"/>
          <p:cNvSpPr/>
          <p:nvPr/>
        </p:nvSpPr>
        <p:spPr>
          <a:xfrm>
            <a:off x="5435640" y="5270400"/>
            <a:ext cx="119016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Distorted guitar riffs</a:t>
            </a:r>
            <a:endParaRPr b="0" lang="en-HK" sz="1000" spc="-1" strike="noStrike">
              <a:latin typeface="Arial"/>
            </a:endParaRPr>
          </a:p>
        </p:txBody>
      </p:sp>
      <p:sp>
        <p:nvSpPr>
          <p:cNvPr id="392" name="Shape 51"/>
          <p:cNvSpPr/>
          <p:nvPr/>
        </p:nvSpPr>
        <p:spPr>
          <a:xfrm>
            <a:off x="8535960" y="5302080"/>
            <a:ext cx="110880" cy="12672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3" name="Text 52"/>
          <p:cNvSpPr/>
          <p:nvPr/>
        </p:nvSpPr>
        <p:spPr>
          <a:xfrm>
            <a:off x="8734320" y="5270400"/>
            <a:ext cx="142848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Powerful rhythm section</a:t>
            </a:r>
            <a:endParaRPr b="0" lang="en-HK" sz="1000" spc="-1" strike="noStrike">
              <a:latin typeface="Arial"/>
            </a:endParaRPr>
          </a:p>
        </p:txBody>
      </p:sp>
      <p:sp>
        <p:nvSpPr>
          <p:cNvPr id="394" name="Shape 53"/>
          <p:cNvSpPr/>
          <p:nvPr/>
        </p:nvSpPr>
        <p:spPr>
          <a:xfrm>
            <a:off x="5237280" y="5587920"/>
            <a:ext cx="110880" cy="12672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5" name="Text 54"/>
          <p:cNvSpPr/>
          <p:nvPr/>
        </p:nvSpPr>
        <p:spPr>
          <a:xfrm>
            <a:off x="5435640" y="5556240"/>
            <a:ext cx="126972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Extended guitar solos</a:t>
            </a:r>
            <a:endParaRPr b="0" lang="en-HK" sz="1000" spc="-1" strike="noStrike">
              <a:latin typeface="Arial"/>
            </a:endParaRPr>
          </a:p>
        </p:txBody>
      </p:sp>
      <p:sp>
        <p:nvSpPr>
          <p:cNvPr id="396" name="Shape 55"/>
          <p:cNvSpPr/>
          <p:nvPr/>
        </p:nvSpPr>
        <p:spPr>
          <a:xfrm>
            <a:off x="8535960" y="5587920"/>
            <a:ext cx="110880" cy="12672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7" name="Text 56"/>
          <p:cNvSpPr/>
          <p:nvPr/>
        </p:nvSpPr>
        <p:spPr>
          <a:xfrm>
            <a:off x="8734320" y="5556240"/>
            <a:ext cx="122184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High-energy tempos</a:t>
            </a:r>
            <a:endParaRPr b="0" lang="en-HK" sz="1000" spc="-1" strike="noStrike">
              <a:latin typeface="Arial"/>
            </a:endParaRPr>
          </a:p>
        </p:txBody>
      </p:sp>
      <p:sp>
        <p:nvSpPr>
          <p:cNvPr id="398" name="Shape 57"/>
          <p:cNvSpPr/>
          <p:nvPr/>
        </p:nvSpPr>
        <p:spPr>
          <a:xfrm>
            <a:off x="5237280" y="5873760"/>
            <a:ext cx="110880" cy="12672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9" name="Text 58"/>
          <p:cNvSpPr/>
          <p:nvPr/>
        </p:nvSpPr>
        <p:spPr>
          <a:xfrm>
            <a:off x="5435640" y="5842080"/>
            <a:ext cx="134100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Raw, aggressive sound</a:t>
            </a:r>
            <a:endParaRPr b="0" lang="en-HK" sz="1000" spc="-1" strike="noStrike">
              <a:latin typeface="Arial"/>
            </a:endParaRPr>
          </a:p>
        </p:txBody>
      </p:sp>
      <p:sp>
        <p:nvSpPr>
          <p:cNvPr id="400" name="Shape 59"/>
          <p:cNvSpPr/>
          <p:nvPr/>
        </p:nvSpPr>
        <p:spPr>
          <a:xfrm>
            <a:off x="8535960" y="5873760"/>
            <a:ext cx="110880" cy="12672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401" name="Text 60"/>
          <p:cNvSpPr/>
          <p:nvPr/>
        </p:nvSpPr>
        <p:spPr>
          <a:xfrm>
            <a:off x="8734320" y="5842080"/>
            <a:ext cx="139680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Blues-based foundation</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02" name="Image 0"/>
          <p:cNvSpPr/>
          <p:nvPr/>
        </p:nvSpPr>
        <p:spPr>
          <a:xfrm>
            <a:off x="0" y="0"/>
            <a:ext cx="12191760" cy="6857640"/>
          </a:xfrm>
          <a:prstGeom prst="roundRect">
            <a:avLst>
              <a:gd name="adj" fmla="val 0"/>
            </a:avLst>
          </a:prstGeom>
          <a:blipFill rotWithShape="0">
            <a:blip r:embed="rId1"/>
            <a:srcRect/>
            <a:stretch/>
          </a:blipFill>
          <a:ln w="0">
            <a:noFill/>
          </a:ln>
        </p:spPr>
        <p:style>
          <a:lnRef idx="0"/>
          <a:fillRef idx="0"/>
          <a:effectRef idx="0"/>
          <a:fontRef idx="minor"/>
        </p:style>
      </p:sp>
      <p:sp>
        <p:nvSpPr>
          <p:cNvPr id="403" name="Shape 0"/>
          <p:cNvSpPr/>
          <p:nvPr/>
        </p:nvSpPr>
        <p:spPr>
          <a:xfrm>
            <a:off x="0" y="0"/>
            <a:ext cx="12191760" cy="68576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404" name="Shape 1"/>
          <p:cNvSpPr/>
          <p:nvPr/>
        </p:nvSpPr>
        <p:spPr>
          <a:xfrm rot="720000">
            <a:off x="10754280" y="5420160"/>
            <a:ext cx="875880" cy="87588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405" name="Shape 2"/>
          <p:cNvSpPr/>
          <p:nvPr/>
        </p:nvSpPr>
        <p:spPr>
          <a:xfrm rot="21240000">
            <a:off x="320400" y="1311120"/>
            <a:ext cx="1218960" cy="121896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406" name="Text 3"/>
          <p:cNvSpPr/>
          <p:nvPr/>
        </p:nvSpPr>
        <p:spPr>
          <a:xfrm>
            <a:off x="569880" y="1638360"/>
            <a:ext cx="1180800" cy="6854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04</a:t>
            </a:r>
            <a:endParaRPr b="0" lang="en-HK" sz="5400" spc="-1" strike="noStrike">
              <a:latin typeface="Arial"/>
            </a:endParaRPr>
          </a:p>
        </p:txBody>
      </p:sp>
      <p:sp>
        <p:nvSpPr>
          <p:cNvPr id="407" name="Shape 4"/>
          <p:cNvSpPr/>
          <p:nvPr/>
        </p:nvSpPr>
        <p:spPr>
          <a:xfrm>
            <a:off x="1828800" y="1752480"/>
            <a:ext cx="3209400" cy="37800"/>
          </a:xfrm>
          <a:custGeom>
            <a:avLst/>
            <a:gdLst/>
            <a:ahLst/>
            <a:rect l="l" t="t" r="r" b="b"/>
            <a:pathLst>
              <a:path w="3209925" h="38100">
                <a:moveTo>
                  <a:pt x="0" y="0"/>
                </a:moveTo>
                <a:lnTo>
                  <a:pt x="3209925" y="0"/>
                </a:lnTo>
                <a:lnTo>
                  <a:pt x="3209925" y="38100"/>
                </a:lnTo>
                <a:lnTo>
                  <a:pt x="0" y="38100"/>
                </a:lnTo>
                <a:lnTo>
                  <a:pt x="0" y="0"/>
                </a:lnTo>
                <a:close/>
              </a:path>
            </a:pathLst>
          </a:custGeom>
          <a:solidFill>
            <a:srgbClr val="ddff00"/>
          </a:solidFill>
          <a:ln w="0">
            <a:noFill/>
          </a:ln>
        </p:spPr>
        <p:style>
          <a:lnRef idx="0"/>
          <a:fillRef idx="0"/>
          <a:effectRef idx="0"/>
          <a:fontRef idx="minor"/>
        </p:style>
      </p:sp>
      <p:sp>
        <p:nvSpPr>
          <p:cNvPr id="408" name="Text 5"/>
          <p:cNvSpPr/>
          <p:nvPr/>
        </p:nvSpPr>
        <p:spPr>
          <a:xfrm>
            <a:off x="1828800" y="1943280"/>
            <a:ext cx="3295440" cy="266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34" strike="noStrike">
                <a:solidFill>
                  <a:srgbClr val="ddff00"/>
                </a:solidFill>
                <a:latin typeface="Liter"/>
                <a:ea typeface="Liter"/>
              </a:rPr>
              <a:t>CHAPTER FOUR</a:t>
            </a:r>
            <a:endParaRPr b="0" lang="en-HK" sz="1350" spc="-1" strike="noStrike">
              <a:latin typeface="Arial"/>
            </a:endParaRPr>
          </a:p>
        </p:txBody>
      </p:sp>
      <p:sp>
        <p:nvSpPr>
          <p:cNvPr id="409" name="Text 6"/>
          <p:cNvSpPr/>
          <p:nvPr/>
        </p:nvSpPr>
        <p:spPr>
          <a:xfrm>
            <a:off x="380880" y="2895480"/>
            <a:ext cx="5000400" cy="17143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BIRTH OF</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HEAVY METAL</a:t>
            </a:r>
            <a:endParaRPr b="0" lang="en-HK" sz="5400" spc="-1" strike="noStrike">
              <a:latin typeface="Arial"/>
            </a:endParaRPr>
          </a:p>
        </p:txBody>
      </p:sp>
      <p:sp>
        <p:nvSpPr>
          <p:cNvPr id="410" name="Text 7"/>
          <p:cNvSpPr/>
          <p:nvPr/>
        </p:nvSpPr>
        <p:spPr>
          <a:xfrm>
            <a:off x="380880" y="4838760"/>
            <a:ext cx="477180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Late 1960s-1970s: The Unholy Trinity</a:t>
            </a:r>
            <a:endParaRPr b="0" lang="en-HK" sz="1800" spc="-1" strike="noStrike">
              <a:latin typeface="Arial"/>
            </a:endParaRPr>
          </a:p>
        </p:txBody>
      </p:sp>
      <p:sp>
        <p:nvSpPr>
          <p:cNvPr id="411" name="Shape 8"/>
          <p:cNvSpPr/>
          <p:nvPr/>
        </p:nvSpPr>
        <p:spPr>
          <a:xfrm>
            <a:off x="380880" y="5448240"/>
            <a:ext cx="761760" cy="3780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412" name="Shape 9"/>
          <p:cNvSpPr/>
          <p:nvPr/>
        </p:nvSpPr>
        <p:spPr>
          <a:xfrm>
            <a:off x="1295280" y="5448240"/>
            <a:ext cx="380520" cy="3780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413" name="Shape 10"/>
          <p:cNvSpPr/>
          <p:nvPr/>
        </p:nvSpPr>
        <p:spPr>
          <a:xfrm>
            <a:off x="1828800" y="5448240"/>
            <a:ext cx="190080" cy="3780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14" name="Shape 0"/>
          <p:cNvSpPr/>
          <p:nvPr/>
        </p:nvSpPr>
        <p:spPr>
          <a:xfrm>
            <a:off x="317520" y="365040"/>
            <a:ext cx="63000" cy="38052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415" name="Text 1"/>
          <p:cNvSpPr/>
          <p:nvPr/>
        </p:nvSpPr>
        <p:spPr>
          <a:xfrm>
            <a:off x="507960" y="317520"/>
            <a:ext cx="409536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6" strike="noStrike">
                <a:solidFill>
                  <a:srgbClr val="ddff00"/>
                </a:solidFill>
                <a:latin typeface="Liter"/>
                <a:ea typeface="Liter"/>
              </a:rPr>
              <a:t>CHAPTER 04</a:t>
            </a:r>
            <a:endParaRPr b="0" lang="en-HK" sz="880" spc="-1" strike="noStrike">
              <a:latin typeface="Arial"/>
            </a:endParaRPr>
          </a:p>
        </p:txBody>
      </p:sp>
      <p:sp>
        <p:nvSpPr>
          <p:cNvPr id="416" name="Text 2"/>
          <p:cNvSpPr/>
          <p:nvPr/>
        </p:nvSpPr>
        <p:spPr>
          <a:xfrm>
            <a:off x="507960" y="476280"/>
            <a:ext cx="4182840" cy="3171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The Three Pillars of Heavy Metal</a:t>
            </a:r>
            <a:endParaRPr b="0" lang="en-HK" sz="2250" spc="-1" strike="noStrike">
              <a:latin typeface="Arial"/>
            </a:endParaRPr>
          </a:p>
        </p:txBody>
      </p:sp>
      <p:sp>
        <p:nvSpPr>
          <p:cNvPr id="417" name="Shape 3"/>
          <p:cNvSpPr/>
          <p:nvPr/>
        </p:nvSpPr>
        <p:spPr>
          <a:xfrm>
            <a:off x="317520" y="1047600"/>
            <a:ext cx="6818040" cy="2063520"/>
          </a:xfrm>
          <a:custGeom>
            <a:avLst/>
            <a:gdLst/>
            <a:ahLst/>
            <a:rect l="l" t="t" r="r" b="b"/>
            <a:pathLst>
              <a:path w="6818313" h="2063750">
                <a:moveTo>
                  <a:pt x="0" y="0"/>
                </a:moveTo>
                <a:lnTo>
                  <a:pt x="6818313" y="0"/>
                </a:lnTo>
                <a:lnTo>
                  <a:pt x="6818313" y="2063750"/>
                </a:lnTo>
                <a:lnTo>
                  <a:pt x="0" y="2063750"/>
                </a:lnTo>
                <a:lnTo>
                  <a:pt x="0" y="0"/>
                </a:lnTo>
                <a:close/>
              </a:path>
            </a:pathLst>
          </a:custGeom>
          <a:solidFill>
            <a:srgbClr val="ddff00"/>
          </a:solidFill>
          <a:ln w="0">
            <a:noFill/>
          </a:ln>
        </p:spPr>
        <p:style>
          <a:lnRef idx="0"/>
          <a:fillRef idx="0"/>
          <a:effectRef idx="0"/>
          <a:fontRef idx="minor"/>
        </p:style>
      </p:sp>
      <p:sp>
        <p:nvSpPr>
          <p:cNvPr id="418" name="Text 4"/>
          <p:cNvSpPr/>
          <p:nvPr/>
        </p:nvSpPr>
        <p:spPr>
          <a:xfrm>
            <a:off x="507960" y="1238400"/>
            <a:ext cx="653220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Unholy Trinity</a:t>
            </a:r>
            <a:endParaRPr b="0" lang="en-HK" sz="1500" spc="-1" strike="noStrike">
              <a:latin typeface="Arial"/>
            </a:endParaRPr>
          </a:p>
        </p:txBody>
      </p:sp>
      <p:sp>
        <p:nvSpPr>
          <p:cNvPr id="419" name="Text 5"/>
          <p:cNvSpPr/>
          <p:nvPr/>
        </p:nvSpPr>
        <p:spPr>
          <a:xfrm>
            <a:off x="507960" y="1587600"/>
            <a:ext cx="6500520" cy="618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In the late 1960s, three British bands emerged that would forge heavy metal:</a:t>
            </a:r>
            <a:r>
              <a:rPr b="0" lang="en-US" sz="1000" spc="-1" strike="noStrike">
                <a:solidFill>
                  <a:srgbClr val="000000"/>
                </a:solidFill>
                <a:latin typeface="Liter"/>
                <a:ea typeface="Liter"/>
              </a:rPr>
              <a:t> Led Zeppelin, Black Sabbath, and Deep Purple. Often called the "unholy trinity," these pioneering groups crystallized the heavy metal sound and style that would dominate the 1970s and beyond.</a:t>
            </a:r>
            <a:endParaRPr b="0" lang="en-HK" sz="1000" spc="-1" strike="noStrike">
              <a:latin typeface="Arial"/>
            </a:endParaRPr>
          </a:p>
        </p:txBody>
      </p:sp>
      <p:sp>
        <p:nvSpPr>
          <p:cNvPr id="420" name="Text 6"/>
          <p:cNvSpPr/>
          <p:nvPr/>
        </p:nvSpPr>
        <p:spPr>
          <a:xfrm>
            <a:off x="507960" y="2301840"/>
            <a:ext cx="6500520" cy="618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Each band contributed unique elements—Led Zeppelin's riff-driven anthems, Black Sabbath's dark and heavy atmosphere, and Deep Purple's technical virtuosity. Together, they established the musical and visual style that would define the genre.</a:t>
            </a:r>
            <a:endParaRPr b="0" lang="en-HK" sz="1000" spc="-1" strike="noStrike">
              <a:latin typeface="Arial"/>
            </a:endParaRPr>
          </a:p>
        </p:txBody>
      </p:sp>
      <p:sp>
        <p:nvSpPr>
          <p:cNvPr id="421" name="Shape 7"/>
          <p:cNvSpPr/>
          <p:nvPr/>
        </p:nvSpPr>
        <p:spPr>
          <a:xfrm>
            <a:off x="325440" y="3246480"/>
            <a:ext cx="2174400" cy="3285720"/>
          </a:xfrm>
          <a:custGeom>
            <a:avLst/>
            <a:gdLst/>
            <a:ahLst/>
            <a:rect l="l" t="t" r="r" b="b"/>
            <a:pathLst>
              <a:path w="2174875" h="3286125">
                <a:moveTo>
                  <a:pt x="0" y="0"/>
                </a:moveTo>
                <a:lnTo>
                  <a:pt x="2174875" y="0"/>
                </a:lnTo>
                <a:lnTo>
                  <a:pt x="2174875" y="3286125"/>
                </a:lnTo>
                <a:lnTo>
                  <a:pt x="0" y="3286125"/>
                </a:lnTo>
                <a:lnTo>
                  <a:pt x="0" y="0"/>
                </a:lnTo>
                <a:close/>
              </a:path>
            </a:pathLst>
          </a:custGeom>
          <a:noFill/>
          <a:ln w="25400">
            <a:solidFill>
              <a:srgbClr val="ddff00"/>
            </a:solidFill>
            <a:round/>
          </a:ln>
        </p:spPr>
        <p:style>
          <a:lnRef idx="0"/>
          <a:fillRef idx="0"/>
          <a:effectRef idx="0"/>
          <a:fontRef idx="minor"/>
        </p:style>
      </p:sp>
      <p:sp>
        <p:nvSpPr>
          <p:cNvPr id="422" name="Shape 8"/>
          <p:cNvSpPr/>
          <p:nvPr/>
        </p:nvSpPr>
        <p:spPr>
          <a:xfrm>
            <a:off x="1157760" y="3381480"/>
            <a:ext cx="507600" cy="507600"/>
          </a:xfrm>
          <a:custGeom>
            <a:avLst/>
            <a:gdLst/>
            <a:ahLst/>
            <a:rect l="l" t="t" r="r" b="b"/>
            <a:pathLst>
              <a:path w="508000" h="508000">
                <a:moveTo>
                  <a:pt x="0" y="0"/>
                </a:moveTo>
                <a:lnTo>
                  <a:pt x="508000" y="0"/>
                </a:lnTo>
                <a:lnTo>
                  <a:pt x="508000" y="508000"/>
                </a:lnTo>
                <a:lnTo>
                  <a:pt x="0" y="508000"/>
                </a:lnTo>
                <a:lnTo>
                  <a:pt x="0" y="0"/>
                </a:lnTo>
                <a:close/>
              </a:path>
            </a:pathLst>
          </a:custGeom>
          <a:solidFill>
            <a:srgbClr val="ddff00"/>
          </a:solidFill>
          <a:ln w="0">
            <a:noFill/>
          </a:ln>
        </p:spPr>
        <p:style>
          <a:lnRef idx="0"/>
          <a:fillRef idx="0"/>
          <a:effectRef idx="0"/>
          <a:fontRef idx="minor"/>
        </p:style>
      </p:sp>
      <p:sp>
        <p:nvSpPr>
          <p:cNvPr id="423" name="Shape 9"/>
          <p:cNvSpPr/>
          <p:nvPr/>
        </p:nvSpPr>
        <p:spPr>
          <a:xfrm>
            <a:off x="1309680" y="3516480"/>
            <a:ext cx="208080" cy="237600"/>
          </a:xfrm>
          <a:custGeom>
            <a:avLst/>
            <a:gdLst/>
            <a:ahLst/>
            <a:rect l="l" t="t" r="r" b="b"/>
            <a:pathLst>
              <a:path w="208359" h="238125">
                <a:moveTo>
                  <a:pt x="157572" y="-4604"/>
                </a:moveTo>
                <a:cubicBezTo>
                  <a:pt x="163106" y="-605"/>
                  <a:pt x="165153" y="6651"/>
                  <a:pt x="162641" y="12976"/>
                </a:cubicBezTo>
                <a:lnTo>
                  <a:pt x="126178" y="104180"/>
                </a:lnTo>
                <a:lnTo>
                  <a:pt x="193477" y="104180"/>
                </a:lnTo>
                <a:cubicBezTo>
                  <a:pt x="199755" y="104180"/>
                  <a:pt x="205336" y="108086"/>
                  <a:pt x="207476" y="113993"/>
                </a:cubicBezTo>
                <a:cubicBezTo>
                  <a:pt x="209615" y="119900"/>
                  <a:pt x="207801" y="126504"/>
                  <a:pt x="203011" y="130504"/>
                </a:cubicBezTo>
                <a:lnTo>
                  <a:pt x="69066" y="242125"/>
                </a:lnTo>
                <a:cubicBezTo>
                  <a:pt x="63810" y="246497"/>
                  <a:pt x="56322" y="246729"/>
                  <a:pt x="50788" y="242729"/>
                </a:cubicBezTo>
                <a:cubicBezTo>
                  <a:pt x="45253" y="238730"/>
                  <a:pt x="43207" y="231474"/>
                  <a:pt x="45718" y="225149"/>
                </a:cubicBezTo>
                <a:lnTo>
                  <a:pt x="82181" y="133945"/>
                </a:lnTo>
                <a:lnTo>
                  <a:pt x="14883" y="133945"/>
                </a:lnTo>
                <a:cubicBezTo>
                  <a:pt x="8604" y="133945"/>
                  <a:pt x="3023" y="130039"/>
                  <a:pt x="884" y="124132"/>
                </a:cubicBezTo>
                <a:cubicBezTo>
                  <a:pt x="-1256" y="118225"/>
                  <a:pt x="558" y="111621"/>
                  <a:pt x="5349" y="107621"/>
                </a:cubicBezTo>
                <a:lnTo>
                  <a:pt x="139294" y="-4000"/>
                </a:lnTo>
                <a:cubicBezTo>
                  <a:pt x="144549" y="-8372"/>
                  <a:pt x="152037" y="-8604"/>
                  <a:pt x="157572" y="-4604"/>
                </a:cubicBezTo>
                <a:close/>
              </a:path>
            </a:pathLst>
          </a:custGeom>
          <a:solidFill>
            <a:srgbClr val="000000"/>
          </a:solidFill>
          <a:ln w="0">
            <a:noFill/>
          </a:ln>
        </p:spPr>
        <p:style>
          <a:lnRef idx="0"/>
          <a:fillRef idx="0"/>
          <a:effectRef idx="0"/>
          <a:fontRef idx="minor"/>
        </p:style>
      </p:sp>
      <p:sp>
        <p:nvSpPr>
          <p:cNvPr id="424" name="Text 10"/>
          <p:cNvSpPr/>
          <p:nvPr/>
        </p:nvSpPr>
        <p:spPr>
          <a:xfrm>
            <a:off x="420840" y="3952800"/>
            <a:ext cx="1983960" cy="2217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50" spc="-1" strike="noStrike">
                <a:solidFill>
                  <a:srgbClr val="ffffff"/>
                </a:solidFill>
                <a:latin typeface="Liter"/>
                <a:ea typeface="Liter"/>
              </a:rPr>
              <a:t>Led Zeppelin</a:t>
            </a:r>
            <a:endParaRPr b="0" lang="en-HK" sz="1250" spc="-1" strike="noStrike">
              <a:latin typeface="Arial"/>
            </a:endParaRPr>
          </a:p>
        </p:txBody>
      </p:sp>
      <p:sp>
        <p:nvSpPr>
          <p:cNvPr id="425" name="Text 11"/>
          <p:cNvSpPr/>
          <p:nvPr/>
        </p:nvSpPr>
        <p:spPr>
          <a:xfrm>
            <a:off x="432720" y="4175280"/>
            <a:ext cx="1960200" cy="158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ddff00"/>
                </a:solidFill>
                <a:latin typeface="Liter"/>
                <a:ea typeface="Liter"/>
              </a:rPr>
              <a:t>The Blueprint</a:t>
            </a:r>
            <a:endParaRPr b="0" lang="en-HK" sz="880" spc="-1" strike="noStrike">
              <a:latin typeface="Arial"/>
            </a:endParaRPr>
          </a:p>
        </p:txBody>
      </p:sp>
      <p:sp>
        <p:nvSpPr>
          <p:cNvPr id="426" name="Text 12"/>
          <p:cNvSpPr/>
          <p:nvPr/>
        </p:nvSpPr>
        <p:spPr>
          <a:xfrm>
            <a:off x="460440" y="4429080"/>
            <a:ext cx="19602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Formed:</a:t>
            </a:r>
            <a:r>
              <a:rPr b="0" lang="en-US" sz="880" spc="-1" strike="noStrike">
                <a:solidFill>
                  <a:srgbClr val="ffffff">
                    <a:alpha val="80000"/>
                  </a:srgbClr>
                </a:solidFill>
                <a:latin typeface="Liter"/>
                <a:ea typeface="Liter"/>
              </a:rPr>
              <a:t> 1968, London</a:t>
            </a:r>
            <a:endParaRPr b="0" lang="en-HK" sz="880" spc="-1" strike="noStrike">
              <a:latin typeface="Arial"/>
            </a:endParaRPr>
          </a:p>
        </p:txBody>
      </p:sp>
      <p:sp>
        <p:nvSpPr>
          <p:cNvPr id="427" name="Text 13"/>
          <p:cNvSpPr/>
          <p:nvPr/>
        </p:nvSpPr>
        <p:spPr>
          <a:xfrm>
            <a:off x="460440" y="4651200"/>
            <a:ext cx="1960200" cy="317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Key Members:</a:t>
            </a:r>
            <a:r>
              <a:rPr b="0" lang="en-US" sz="880" spc="-1" strike="noStrike">
                <a:solidFill>
                  <a:srgbClr val="ffffff">
                    <a:alpha val="80000"/>
                  </a:srgbClr>
                </a:solidFill>
                <a:latin typeface="Liter"/>
                <a:ea typeface="Liter"/>
              </a:rPr>
              <a:t> Jimmy Page, Robert Plant, John Paul Jones, John Bonham</a:t>
            </a:r>
            <a:endParaRPr b="0" lang="en-HK" sz="880" spc="-1" strike="noStrike">
              <a:latin typeface="Arial"/>
            </a:endParaRPr>
          </a:p>
        </p:txBody>
      </p:sp>
      <p:sp>
        <p:nvSpPr>
          <p:cNvPr id="428" name="Text 14"/>
          <p:cNvSpPr/>
          <p:nvPr/>
        </p:nvSpPr>
        <p:spPr>
          <a:xfrm>
            <a:off x="460440" y="5032440"/>
            <a:ext cx="1960200" cy="317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Contribution:</a:t>
            </a:r>
            <a:r>
              <a:rPr b="0" lang="en-US" sz="880" spc="-1" strike="noStrike">
                <a:solidFill>
                  <a:srgbClr val="ffffff">
                    <a:alpha val="80000"/>
                  </a:srgbClr>
                </a:solidFill>
                <a:latin typeface="Liter"/>
                <a:ea typeface="Liter"/>
              </a:rPr>
              <a:t> Blues-rock fusion, monster riffs, mythological themes</a:t>
            </a:r>
            <a:endParaRPr b="0" lang="en-HK" sz="880" spc="-1" strike="noStrike">
              <a:latin typeface="Arial"/>
            </a:endParaRPr>
          </a:p>
        </p:txBody>
      </p:sp>
      <p:sp>
        <p:nvSpPr>
          <p:cNvPr id="429" name="Text 15"/>
          <p:cNvSpPr/>
          <p:nvPr/>
        </p:nvSpPr>
        <p:spPr>
          <a:xfrm>
            <a:off x="460440" y="5413320"/>
            <a:ext cx="1960200" cy="475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Iconic Tracks:</a:t>
            </a:r>
            <a:r>
              <a:rPr b="0" lang="en-US" sz="880" spc="-1" strike="noStrike">
                <a:solidFill>
                  <a:srgbClr val="ffffff">
                    <a:alpha val="80000"/>
                  </a:srgbClr>
                </a:solidFill>
                <a:latin typeface="Liter"/>
                <a:ea typeface="Liter"/>
              </a:rPr>
              <a:t> "Whole Lotta Love," "Stairway to Heaven," "Immigrant Song"</a:t>
            </a:r>
            <a:endParaRPr b="0" lang="en-HK" sz="880" spc="-1" strike="noStrike">
              <a:latin typeface="Arial"/>
            </a:endParaRPr>
          </a:p>
        </p:txBody>
      </p:sp>
      <p:sp>
        <p:nvSpPr>
          <p:cNvPr id="430" name="Shape 16"/>
          <p:cNvSpPr/>
          <p:nvPr/>
        </p:nvSpPr>
        <p:spPr>
          <a:xfrm>
            <a:off x="460440" y="6044400"/>
            <a:ext cx="1904760" cy="7560"/>
          </a:xfrm>
          <a:custGeom>
            <a:avLst/>
            <a:gdLst/>
            <a:ahLst/>
            <a:rect l="l" t="t" r="r" b="b"/>
            <a:pathLst>
              <a:path w="1905000" h="7938">
                <a:moveTo>
                  <a:pt x="0" y="0"/>
                </a:moveTo>
                <a:lnTo>
                  <a:pt x="1905000" y="0"/>
                </a:lnTo>
                <a:lnTo>
                  <a:pt x="1905000" y="7938"/>
                </a:lnTo>
                <a:lnTo>
                  <a:pt x="0" y="7938"/>
                </a:lnTo>
                <a:lnTo>
                  <a:pt x="0" y="0"/>
                </a:lnTo>
                <a:close/>
              </a:path>
            </a:pathLst>
          </a:custGeom>
          <a:solidFill>
            <a:srgbClr val="ddff00">
              <a:alpha val="30000"/>
            </a:srgbClr>
          </a:solidFill>
          <a:ln w="0">
            <a:noFill/>
          </a:ln>
        </p:spPr>
        <p:style>
          <a:lnRef idx="0"/>
          <a:fillRef idx="0"/>
          <a:effectRef idx="0"/>
          <a:fontRef idx="minor"/>
        </p:style>
      </p:sp>
      <p:sp>
        <p:nvSpPr>
          <p:cNvPr id="431" name="Text 17"/>
          <p:cNvSpPr/>
          <p:nvPr/>
        </p:nvSpPr>
        <p:spPr>
          <a:xfrm>
            <a:off x="460440" y="6143760"/>
            <a:ext cx="195228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ffffff">
                    <a:alpha val="60000"/>
                  </a:srgbClr>
                </a:solidFill>
                <a:latin typeface="Liter"/>
                <a:ea typeface="Liter"/>
              </a:rPr>
              <a:t>Pioneered stadium rock and album-oriented approach</a:t>
            </a:r>
            <a:endParaRPr b="0" lang="en-HK" sz="750" spc="-1" strike="noStrike">
              <a:latin typeface="Arial"/>
            </a:endParaRPr>
          </a:p>
        </p:txBody>
      </p:sp>
      <p:sp>
        <p:nvSpPr>
          <p:cNvPr id="432" name="Shape 18"/>
          <p:cNvSpPr/>
          <p:nvPr/>
        </p:nvSpPr>
        <p:spPr>
          <a:xfrm>
            <a:off x="2640960" y="3246480"/>
            <a:ext cx="2174400" cy="3285720"/>
          </a:xfrm>
          <a:custGeom>
            <a:avLst/>
            <a:gdLst/>
            <a:ahLst/>
            <a:rect l="l" t="t" r="r" b="b"/>
            <a:pathLst>
              <a:path w="2174875" h="3286125">
                <a:moveTo>
                  <a:pt x="0" y="0"/>
                </a:moveTo>
                <a:lnTo>
                  <a:pt x="2174875" y="0"/>
                </a:lnTo>
                <a:lnTo>
                  <a:pt x="2174875" y="3286125"/>
                </a:lnTo>
                <a:lnTo>
                  <a:pt x="0" y="3286125"/>
                </a:lnTo>
                <a:lnTo>
                  <a:pt x="0" y="0"/>
                </a:lnTo>
                <a:close/>
              </a:path>
            </a:pathLst>
          </a:custGeom>
          <a:noFill/>
          <a:ln w="25400">
            <a:solidFill>
              <a:srgbClr val="ddff00"/>
            </a:solidFill>
            <a:round/>
          </a:ln>
        </p:spPr>
        <p:style>
          <a:lnRef idx="0"/>
          <a:fillRef idx="0"/>
          <a:effectRef idx="0"/>
          <a:fontRef idx="minor"/>
        </p:style>
      </p:sp>
      <p:sp>
        <p:nvSpPr>
          <p:cNvPr id="433" name="Shape 19"/>
          <p:cNvSpPr/>
          <p:nvPr/>
        </p:nvSpPr>
        <p:spPr>
          <a:xfrm>
            <a:off x="3473640" y="3381480"/>
            <a:ext cx="507600" cy="507600"/>
          </a:xfrm>
          <a:custGeom>
            <a:avLst/>
            <a:gdLst/>
            <a:ahLst/>
            <a:rect l="l" t="t" r="r" b="b"/>
            <a:pathLst>
              <a:path w="508000" h="508000">
                <a:moveTo>
                  <a:pt x="0" y="0"/>
                </a:moveTo>
                <a:lnTo>
                  <a:pt x="508000" y="0"/>
                </a:lnTo>
                <a:lnTo>
                  <a:pt x="508000" y="508000"/>
                </a:lnTo>
                <a:lnTo>
                  <a:pt x="0" y="508000"/>
                </a:lnTo>
                <a:lnTo>
                  <a:pt x="0" y="0"/>
                </a:lnTo>
                <a:close/>
              </a:path>
            </a:pathLst>
          </a:custGeom>
          <a:solidFill>
            <a:srgbClr val="ddff00"/>
          </a:solidFill>
          <a:ln w="0">
            <a:noFill/>
          </a:ln>
        </p:spPr>
        <p:style>
          <a:lnRef idx="0"/>
          <a:fillRef idx="0"/>
          <a:effectRef idx="0"/>
          <a:fontRef idx="minor"/>
        </p:style>
      </p:sp>
      <p:sp>
        <p:nvSpPr>
          <p:cNvPr id="434" name="Shape 20"/>
          <p:cNvSpPr/>
          <p:nvPr/>
        </p:nvSpPr>
        <p:spPr>
          <a:xfrm>
            <a:off x="3610440" y="3516480"/>
            <a:ext cx="237600" cy="237600"/>
          </a:xfrm>
          <a:custGeom>
            <a:avLst/>
            <a:gdLst/>
            <a:ahLst/>
            <a:rect l="l" t="t" r="r" b="b"/>
            <a:pathLst>
              <a:path w="238125" h="238125">
                <a:moveTo>
                  <a:pt x="193477" y="198779"/>
                </a:moveTo>
                <a:cubicBezTo>
                  <a:pt x="220684" y="178315"/>
                  <a:pt x="238125" y="146875"/>
                  <a:pt x="238125" y="111621"/>
                </a:cubicBezTo>
                <a:cubicBezTo>
                  <a:pt x="238125" y="49997"/>
                  <a:pt x="184826" y="0"/>
                  <a:pt x="119062" y="0"/>
                </a:cubicBezTo>
                <a:cubicBezTo>
                  <a:pt x="53299" y="0"/>
                  <a:pt x="0" y="49997"/>
                  <a:pt x="0" y="111621"/>
                </a:cubicBezTo>
                <a:cubicBezTo>
                  <a:pt x="0" y="146875"/>
                  <a:pt x="17441" y="178315"/>
                  <a:pt x="44648" y="198779"/>
                </a:cubicBezTo>
                <a:lnTo>
                  <a:pt x="44648" y="215801"/>
                </a:lnTo>
                <a:cubicBezTo>
                  <a:pt x="44648" y="228126"/>
                  <a:pt x="54648" y="238125"/>
                  <a:pt x="66973" y="238125"/>
                </a:cubicBezTo>
                <a:lnTo>
                  <a:pt x="81855" y="238125"/>
                </a:lnTo>
                <a:lnTo>
                  <a:pt x="81855" y="219521"/>
                </a:lnTo>
                <a:cubicBezTo>
                  <a:pt x="81855" y="213336"/>
                  <a:pt x="86832" y="208359"/>
                  <a:pt x="93018" y="208359"/>
                </a:cubicBezTo>
                <a:cubicBezTo>
                  <a:pt x="99203" y="208359"/>
                  <a:pt x="104180" y="213336"/>
                  <a:pt x="104180" y="219521"/>
                </a:cubicBezTo>
                <a:lnTo>
                  <a:pt x="104180" y="238125"/>
                </a:lnTo>
                <a:lnTo>
                  <a:pt x="133945" y="238125"/>
                </a:lnTo>
                <a:lnTo>
                  <a:pt x="133945" y="219521"/>
                </a:lnTo>
                <a:cubicBezTo>
                  <a:pt x="133945" y="213336"/>
                  <a:pt x="138922" y="208359"/>
                  <a:pt x="145107" y="208359"/>
                </a:cubicBezTo>
                <a:cubicBezTo>
                  <a:pt x="151293" y="208359"/>
                  <a:pt x="156270" y="213336"/>
                  <a:pt x="156270" y="219521"/>
                </a:cubicBezTo>
                <a:lnTo>
                  <a:pt x="156270" y="238125"/>
                </a:lnTo>
                <a:lnTo>
                  <a:pt x="171152" y="238125"/>
                </a:lnTo>
                <a:cubicBezTo>
                  <a:pt x="183477" y="238125"/>
                  <a:pt x="193477" y="228126"/>
                  <a:pt x="193477" y="215801"/>
                </a:cubicBezTo>
                <a:lnTo>
                  <a:pt x="193477" y="198779"/>
                </a:lnTo>
                <a:close/>
                <a:moveTo>
                  <a:pt x="44648" y="119062"/>
                </a:moveTo>
                <a:cubicBezTo>
                  <a:pt x="44648" y="102634"/>
                  <a:pt x="57986" y="89297"/>
                  <a:pt x="74414" y="89297"/>
                </a:cubicBezTo>
                <a:cubicBezTo>
                  <a:pt x="90842" y="89297"/>
                  <a:pt x="104180" y="102634"/>
                  <a:pt x="104180" y="119062"/>
                </a:cubicBezTo>
                <a:cubicBezTo>
                  <a:pt x="104180" y="135491"/>
                  <a:pt x="90842" y="148828"/>
                  <a:pt x="74414" y="148828"/>
                </a:cubicBezTo>
                <a:cubicBezTo>
                  <a:pt x="57986" y="148828"/>
                  <a:pt x="44648" y="135491"/>
                  <a:pt x="44648" y="119062"/>
                </a:cubicBezTo>
                <a:close/>
                <a:moveTo>
                  <a:pt x="163711" y="89297"/>
                </a:moveTo>
                <a:cubicBezTo>
                  <a:pt x="180139" y="89297"/>
                  <a:pt x="193477" y="102634"/>
                  <a:pt x="193477" y="119062"/>
                </a:cubicBezTo>
                <a:cubicBezTo>
                  <a:pt x="193477" y="135491"/>
                  <a:pt x="180139" y="148828"/>
                  <a:pt x="163711" y="148828"/>
                </a:cubicBezTo>
                <a:cubicBezTo>
                  <a:pt x="147283" y="148828"/>
                  <a:pt x="133945" y="135491"/>
                  <a:pt x="133945" y="119062"/>
                </a:cubicBezTo>
                <a:cubicBezTo>
                  <a:pt x="133945" y="102634"/>
                  <a:pt x="147283" y="89297"/>
                  <a:pt x="163711" y="89297"/>
                </a:cubicBezTo>
                <a:close/>
              </a:path>
            </a:pathLst>
          </a:custGeom>
          <a:solidFill>
            <a:srgbClr val="000000"/>
          </a:solidFill>
          <a:ln w="0">
            <a:noFill/>
          </a:ln>
        </p:spPr>
        <p:style>
          <a:lnRef idx="0"/>
          <a:fillRef idx="0"/>
          <a:effectRef idx="0"/>
          <a:fontRef idx="minor"/>
        </p:style>
      </p:sp>
      <p:sp>
        <p:nvSpPr>
          <p:cNvPr id="435" name="Text 21"/>
          <p:cNvSpPr/>
          <p:nvPr/>
        </p:nvSpPr>
        <p:spPr>
          <a:xfrm>
            <a:off x="2736360" y="3952800"/>
            <a:ext cx="1983960" cy="2217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50" spc="-1" strike="noStrike">
                <a:solidFill>
                  <a:srgbClr val="ffffff"/>
                </a:solidFill>
                <a:latin typeface="Liter"/>
                <a:ea typeface="Liter"/>
              </a:rPr>
              <a:t>Black Sabbath</a:t>
            </a:r>
            <a:endParaRPr b="0" lang="en-HK" sz="1250" spc="-1" strike="noStrike">
              <a:latin typeface="Arial"/>
            </a:endParaRPr>
          </a:p>
        </p:txBody>
      </p:sp>
      <p:sp>
        <p:nvSpPr>
          <p:cNvPr id="436" name="Text 22"/>
          <p:cNvSpPr/>
          <p:nvPr/>
        </p:nvSpPr>
        <p:spPr>
          <a:xfrm>
            <a:off x="2748240" y="4175280"/>
            <a:ext cx="1960200" cy="158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ddff00"/>
                </a:solidFill>
                <a:latin typeface="Liter"/>
                <a:ea typeface="Liter"/>
              </a:rPr>
              <a:t>The Darkness</a:t>
            </a:r>
            <a:endParaRPr b="0" lang="en-HK" sz="880" spc="-1" strike="noStrike">
              <a:latin typeface="Arial"/>
            </a:endParaRPr>
          </a:p>
        </p:txBody>
      </p:sp>
      <p:sp>
        <p:nvSpPr>
          <p:cNvPr id="437" name="Text 23"/>
          <p:cNvSpPr/>
          <p:nvPr/>
        </p:nvSpPr>
        <p:spPr>
          <a:xfrm>
            <a:off x="2775960" y="4429080"/>
            <a:ext cx="19602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Formed:</a:t>
            </a:r>
            <a:r>
              <a:rPr b="0" lang="en-US" sz="880" spc="-1" strike="noStrike">
                <a:solidFill>
                  <a:srgbClr val="ffffff">
                    <a:alpha val="80000"/>
                  </a:srgbClr>
                </a:solidFill>
                <a:latin typeface="Liter"/>
                <a:ea typeface="Liter"/>
              </a:rPr>
              <a:t> 1968, Birmingham</a:t>
            </a:r>
            <a:endParaRPr b="0" lang="en-HK" sz="880" spc="-1" strike="noStrike">
              <a:latin typeface="Arial"/>
            </a:endParaRPr>
          </a:p>
        </p:txBody>
      </p:sp>
      <p:sp>
        <p:nvSpPr>
          <p:cNvPr id="438" name="Text 24"/>
          <p:cNvSpPr/>
          <p:nvPr/>
        </p:nvSpPr>
        <p:spPr>
          <a:xfrm>
            <a:off x="2775960" y="4651200"/>
            <a:ext cx="1960200" cy="317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Key Members:</a:t>
            </a:r>
            <a:r>
              <a:rPr b="0" lang="en-US" sz="880" spc="-1" strike="noStrike">
                <a:solidFill>
                  <a:srgbClr val="ffffff">
                    <a:alpha val="80000"/>
                  </a:srgbClr>
                </a:solidFill>
                <a:latin typeface="Liter"/>
                <a:ea typeface="Liter"/>
              </a:rPr>
              <a:t> Tony Iommi, Ozzy Osbourne, Geezer Butler, Bill Ward</a:t>
            </a:r>
            <a:endParaRPr b="0" lang="en-HK" sz="880" spc="-1" strike="noStrike">
              <a:latin typeface="Arial"/>
            </a:endParaRPr>
          </a:p>
        </p:txBody>
      </p:sp>
      <p:sp>
        <p:nvSpPr>
          <p:cNvPr id="439" name="Text 25"/>
          <p:cNvSpPr/>
          <p:nvPr/>
        </p:nvSpPr>
        <p:spPr>
          <a:xfrm>
            <a:off x="2775960" y="5032440"/>
            <a:ext cx="1960200" cy="317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Contribution:</a:t>
            </a:r>
            <a:r>
              <a:rPr b="0" lang="en-US" sz="880" spc="-1" strike="noStrike">
                <a:solidFill>
                  <a:srgbClr val="ffffff">
                    <a:alpha val="80000"/>
                  </a:srgbClr>
                </a:solidFill>
                <a:latin typeface="Liter"/>
                <a:ea typeface="Liter"/>
              </a:rPr>
              <a:t> Downtuned guitars, occult themes, doom atmosphere</a:t>
            </a:r>
            <a:endParaRPr b="0" lang="en-HK" sz="880" spc="-1" strike="noStrike">
              <a:latin typeface="Arial"/>
            </a:endParaRPr>
          </a:p>
        </p:txBody>
      </p:sp>
      <p:sp>
        <p:nvSpPr>
          <p:cNvPr id="440" name="Text 26"/>
          <p:cNvSpPr/>
          <p:nvPr/>
        </p:nvSpPr>
        <p:spPr>
          <a:xfrm>
            <a:off x="2775960" y="5413320"/>
            <a:ext cx="1960200" cy="317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Iconic Tracks:</a:t>
            </a:r>
            <a:r>
              <a:rPr b="0" lang="en-US" sz="880" spc="-1" strike="noStrike">
                <a:solidFill>
                  <a:srgbClr val="ffffff">
                    <a:alpha val="80000"/>
                  </a:srgbClr>
                </a:solidFill>
                <a:latin typeface="Liter"/>
                <a:ea typeface="Liter"/>
              </a:rPr>
              <a:t> "Paranoid," "Iron Man," "War Pigs"</a:t>
            </a:r>
            <a:endParaRPr b="0" lang="en-HK" sz="880" spc="-1" strike="noStrike">
              <a:latin typeface="Arial"/>
            </a:endParaRPr>
          </a:p>
        </p:txBody>
      </p:sp>
      <p:sp>
        <p:nvSpPr>
          <p:cNvPr id="441" name="Shape 27"/>
          <p:cNvSpPr/>
          <p:nvPr/>
        </p:nvSpPr>
        <p:spPr>
          <a:xfrm>
            <a:off x="2775960" y="6044400"/>
            <a:ext cx="1904760" cy="7560"/>
          </a:xfrm>
          <a:custGeom>
            <a:avLst/>
            <a:gdLst/>
            <a:ahLst/>
            <a:rect l="l" t="t" r="r" b="b"/>
            <a:pathLst>
              <a:path w="1905000" h="7938">
                <a:moveTo>
                  <a:pt x="0" y="0"/>
                </a:moveTo>
                <a:lnTo>
                  <a:pt x="1905000" y="0"/>
                </a:lnTo>
                <a:lnTo>
                  <a:pt x="1905000" y="7938"/>
                </a:lnTo>
                <a:lnTo>
                  <a:pt x="0" y="7938"/>
                </a:lnTo>
                <a:lnTo>
                  <a:pt x="0" y="0"/>
                </a:lnTo>
                <a:close/>
              </a:path>
            </a:pathLst>
          </a:custGeom>
          <a:solidFill>
            <a:srgbClr val="ddff00">
              <a:alpha val="30000"/>
            </a:srgbClr>
          </a:solidFill>
          <a:ln w="0">
            <a:noFill/>
          </a:ln>
        </p:spPr>
        <p:style>
          <a:lnRef idx="0"/>
          <a:fillRef idx="0"/>
          <a:effectRef idx="0"/>
          <a:fontRef idx="minor"/>
        </p:style>
      </p:sp>
      <p:sp>
        <p:nvSpPr>
          <p:cNvPr id="442" name="Text 28"/>
          <p:cNvSpPr/>
          <p:nvPr/>
        </p:nvSpPr>
        <p:spPr>
          <a:xfrm>
            <a:off x="2775960" y="6143760"/>
            <a:ext cx="195228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ffffff">
                    <a:alpha val="60000"/>
                  </a:srgbClr>
                </a:solidFill>
                <a:latin typeface="Liter"/>
                <a:ea typeface="Liter"/>
              </a:rPr>
              <a:t>Pioneered doom, stoner, and sludge metal subgenres</a:t>
            </a:r>
            <a:endParaRPr b="0" lang="en-HK" sz="750" spc="-1" strike="noStrike">
              <a:latin typeface="Arial"/>
            </a:endParaRPr>
          </a:p>
        </p:txBody>
      </p:sp>
      <p:sp>
        <p:nvSpPr>
          <p:cNvPr id="443" name="Shape 29"/>
          <p:cNvSpPr/>
          <p:nvPr/>
        </p:nvSpPr>
        <p:spPr>
          <a:xfrm>
            <a:off x="4956840" y="3246480"/>
            <a:ext cx="2174400" cy="3285720"/>
          </a:xfrm>
          <a:custGeom>
            <a:avLst/>
            <a:gdLst/>
            <a:ahLst/>
            <a:rect l="l" t="t" r="r" b="b"/>
            <a:pathLst>
              <a:path w="2174875" h="3286125">
                <a:moveTo>
                  <a:pt x="0" y="0"/>
                </a:moveTo>
                <a:lnTo>
                  <a:pt x="2174875" y="0"/>
                </a:lnTo>
                <a:lnTo>
                  <a:pt x="2174875" y="3286125"/>
                </a:lnTo>
                <a:lnTo>
                  <a:pt x="0" y="3286125"/>
                </a:lnTo>
                <a:lnTo>
                  <a:pt x="0" y="0"/>
                </a:lnTo>
                <a:close/>
              </a:path>
            </a:pathLst>
          </a:custGeom>
          <a:noFill/>
          <a:ln w="25400">
            <a:solidFill>
              <a:srgbClr val="ddff00"/>
            </a:solidFill>
            <a:round/>
          </a:ln>
        </p:spPr>
        <p:style>
          <a:lnRef idx="0"/>
          <a:fillRef idx="0"/>
          <a:effectRef idx="0"/>
          <a:fontRef idx="minor"/>
        </p:style>
      </p:sp>
      <p:sp>
        <p:nvSpPr>
          <p:cNvPr id="444" name="Shape 30"/>
          <p:cNvSpPr/>
          <p:nvPr/>
        </p:nvSpPr>
        <p:spPr>
          <a:xfrm>
            <a:off x="5789160" y="3381480"/>
            <a:ext cx="507600" cy="507600"/>
          </a:xfrm>
          <a:custGeom>
            <a:avLst/>
            <a:gdLst/>
            <a:ahLst/>
            <a:rect l="l" t="t" r="r" b="b"/>
            <a:pathLst>
              <a:path w="508000" h="508000">
                <a:moveTo>
                  <a:pt x="0" y="0"/>
                </a:moveTo>
                <a:lnTo>
                  <a:pt x="508000" y="0"/>
                </a:lnTo>
                <a:lnTo>
                  <a:pt x="508000" y="508000"/>
                </a:lnTo>
                <a:lnTo>
                  <a:pt x="0" y="508000"/>
                </a:lnTo>
                <a:lnTo>
                  <a:pt x="0" y="0"/>
                </a:lnTo>
                <a:close/>
              </a:path>
            </a:pathLst>
          </a:custGeom>
          <a:solidFill>
            <a:srgbClr val="ddff00"/>
          </a:solidFill>
          <a:ln w="0">
            <a:noFill/>
          </a:ln>
        </p:spPr>
        <p:style>
          <a:lnRef idx="0"/>
          <a:fillRef idx="0"/>
          <a:effectRef idx="0"/>
          <a:fontRef idx="minor"/>
        </p:style>
      </p:sp>
      <p:sp>
        <p:nvSpPr>
          <p:cNvPr id="445" name="Shape 31"/>
          <p:cNvSpPr/>
          <p:nvPr/>
        </p:nvSpPr>
        <p:spPr>
          <a:xfrm>
            <a:off x="5911200" y="3516480"/>
            <a:ext cx="267480" cy="237600"/>
          </a:xfrm>
          <a:custGeom>
            <a:avLst/>
            <a:gdLst/>
            <a:ahLst/>
            <a:rect l="l" t="t" r="r" b="b"/>
            <a:pathLst>
              <a:path w="267891" h="238125">
                <a:moveTo>
                  <a:pt x="145573" y="40556"/>
                </a:moveTo>
                <a:cubicBezTo>
                  <a:pt x="149851" y="37161"/>
                  <a:pt x="152549" y="31905"/>
                  <a:pt x="152549" y="26045"/>
                </a:cubicBezTo>
                <a:cubicBezTo>
                  <a:pt x="152549" y="15766"/>
                  <a:pt x="144224" y="7441"/>
                  <a:pt x="133945" y="7441"/>
                </a:cubicBezTo>
                <a:cubicBezTo>
                  <a:pt x="123667" y="7441"/>
                  <a:pt x="115342" y="15766"/>
                  <a:pt x="115342" y="26045"/>
                </a:cubicBezTo>
                <a:cubicBezTo>
                  <a:pt x="115342" y="31905"/>
                  <a:pt x="118086" y="37161"/>
                  <a:pt x="122318" y="40556"/>
                </a:cubicBezTo>
                <a:lnTo>
                  <a:pt x="90506" y="90599"/>
                </a:lnTo>
                <a:cubicBezTo>
                  <a:pt x="85855" y="97901"/>
                  <a:pt x="75949" y="99715"/>
                  <a:pt x="69019" y="94506"/>
                </a:cubicBezTo>
                <a:lnTo>
                  <a:pt x="41346" y="73809"/>
                </a:lnTo>
                <a:cubicBezTo>
                  <a:pt x="43439" y="70833"/>
                  <a:pt x="44648" y="67159"/>
                  <a:pt x="44648" y="63252"/>
                </a:cubicBezTo>
                <a:cubicBezTo>
                  <a:pt x="44648" y="52974"/>
                  <a:pt x="36323" y="44648"/>
                  <a:pt x="26045" y="44648"/>
                </a:cubicBezTo>
                <a:cubicBezTo>
                  <a:pt x="15766" y="44648"/>
                  <a:pt x="7441" y="52974"/>
                  <a:pt x="7441" y="63252"/>
                </a:cubicBezTo>
                <a:cubicBezTo>
                  <a:pt x="7441" y="73391"/>
                  <a:pt x="15580" y="81669"/>
                  <a:pt x="25673" y="81855"/>
                </a:cubicBezTo>
                <a:lnTo>
                  <a:pt x="40835" y="183012"/>
                </a:lnTo>
                <a:cubicBezTo>
                  <a:pt x="43021" y="197569"/>
                  <a:pt x="55531" y="208359"/>
                  <a:pt x="70275" y="208359"/>
                </a:cubicBezTo>
                <a:lnTo>
                  <a:pt x="197616" y="208359"/>
                </a:lnTo>
                <a:cubicBezTo>
                  <a:pt x="212359" y="208359"/>
                  <a:pt x="224870" y="197569"/>
                  <a:pt x="227056" y="183012"/>
                </a:cubicBezTo>
                <a:lnTo>
                  <a:pt x="242218" y="81855"/>
                </a:lnTo>
                <a:cubicBezTo>
                  <a:pt x="252310" y="81669"/>
                  <a:pt x="260449" y="73391"/>
                  <a:pt x="260449" y="63252"/>
                </a:cubicBezTo>
                <a:cubicBezTo>
                  <a:pt x="260449" y="52974"/>
                  <a:pt x="252124" y="44648"/>
                  <a:pt x="241846" y="44648"/>
                </a:cubicBezTo>
                <a:cubicBezTo>
                  <a:pt x="231567" y="44648"/>
                  <a:pt x="223242" y="52974"/>
                  <a:pt x="223242" y="63252"/>
                </a:cubicBezTo>
                <a:cubicBezTo>
                  <a:pt x="223242" y="67159"/>
                  <a:pt x="224451" y="70833"/>
                  <a:pt x="226544" y="73809"/>
                </a:cubicBezTo>
                <a:lnTo>
                  <a:pt x="198918" y="94552"/>
                </a:lnTo>
                <a:cubicBezTo>
                  <a:pt x="191988" y="99761"/>
                  <a:pt x="182082" y="97948"/>
                  <a:pt x="177431" y="90646"/>
                </a:cubicBezTo>
                <a:lnTo>
                  <a:pt x="145573" y="40556"/>
                </a:lnTo>
                <a:close/>
              </a:path>
            </a:pathLst>
          </a:custGeom>
          <a:solidFill>
            <a:srgbClr val="000000"/>
          </a:solidFill>
          <a:ln w="0">
            <a:noFill/>
          </a:ln>
        </p:spPr>
        <p:style>
          <a:lnRef idx="0"/>
          <a:fillRef idx="0"/>
          <a:effectRef idx="0"/>
          <a:fontRef idx="minor"/>
        </p:style>
      </p:sp>
      <p:sp>
        <p:nvSpPr>
          <p:cNvPr id="446" name="Text 32"/>
          <p:cNvSpPr/>
          <p:nvPr/>
        </p:nvSpPr>
        <p:spPr>
          <a:xfrm>
            <a:off x="5051880" y="3952800"/>
            <a:ext cx="1983960" cy="2217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50" spc="-1" strike="noStrike">
                <a:solidFill>
                  <a:srgbClr val="ffffff"/>
                </a:solidFill>
                <a:latin typeface="Liter"/>
                <a:ea typeface="Liter"/>
              </a:rPr>
              <a:t>Deep Purple</a:t>
            </a:r>
            <a:endParaRPr b="0" lang="en-HK" sz="1250" spc="-1" strike="noStrike">
              <a:latin typeface="Arial"/>
            </a:endParaRPr>
          </a:p>
        </p:txBody>
      </p:sp>
      <p:sp>
        <p:nvSpPr>
          <p:cNvPr id="447" name="Text 33"/>
          <p:cNvSpPr/>
          <p:nvPr/>
        </p:nvSpPr>
        <p:spPr>
          <a:xfrm>
            <a:off x="5063760" y="4175280"/>
            <a:ext cx="1960200" cy="158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ddff00"/>
                </a:solidFill>
                <a:latin typeface="Liter"/>
                <a:ea typeface="Liter"/>
              </a:rPr>
              <a:t>The Virtuosos</a:t>
            </a:r>
            <a:endParaRPr b="0" lang="en-HK" sz="880" spc="-1" strike="noStrike">
              <a:latin typeface="Arial"/>
            </a:endParaRPr>
          </a:p>
        </p:txBody>
      </p:sp>
      <p:sp>
        <p:nvSpPr>
          <p:cNvPr id="448" name="Text 34"/>
          <p:cNvSpPr/>
          <p:nvPr/>
        </p:nvSpPr>
        <p:spPr>
          <a:xfrm>
            <a:off x="5091480" y="4429080"/>
            <a:ext cx="19602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Formed:</a:t>
            </a:r>
            <a:r>
              <a:rPr b="0" lang="en-US" sz="880" spc="-1" strike="noStrike">
                <a:solidFill>
                  <a:srgbClr val="ffffff">
                    <a:alpha val="80000"/>
                  </a:srgbClr>
                </a:solidFill>
                <a:latin typeface="Liter"/>
                <a:ea typeface="Liter"/>
              </a:rPr>
              <a:t> 1968, Hertford</a:t>
            </a:r>
            <a:endParaRPr b="0" lang="en-HK" sz="880" spc="-1" strike="noStrike">
              <a:latin typeface="Arial"/>
            </a:endParaRPr>
          </a:p>
        </p:txBody>
      </p:sp>
      <p:sp>
        <p:nvSpPr>
          <p:cNvPr id="449" name="Text 35"/>
          <p:cNvSpPr/>
          <p:nvPr/>
        </p:nvSpPr>
        <p:spPr>
          <a:xfrm>
            <a:off x="5091480" y="4651200"/>
            <a:ext cx="1960200" cy="475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Key Members:</a:t>
            </a:r>
            <a:r>
              <a:rPr b="0" lang="en-US" sz="880" spc="-1" strike="noStrike">
                <a:solidFill>
                  <a:srgbClr val="ffffff">
                    <a:alpha val="80000"/>
                  </a:srgbClr>
                </a:solidFill>
                <a:latin typeface="Liter"/>
                <a:ea typeface="Liter"/>
              </a:rPr>
              <a:t> Ritchie Blackmore, Ian Gillan, Roger Glover, Jon Lord, Ian Paice</a:t>
            </a:r>
            <a:endParaRPr b="0" lang="en-HK" sz="880" spc="-1" strike="noStrike">
              <a:latin typeface="Arial"/>
            </a:endParaRPr>
          </a:p>
        </p:txBody>
      </p:sp>
      <p:sp>
        <p:nvSpPr>
          <p:cNvPr id="450" name="Text 36"/>
          <p:cNvSpPr/>
          <p:nvPr/>
        </p:nvSpPr>
        <p:spPr>
          <a:xfrm>
            <a:off x="5091480" y="5191200"/>
            <a:ext cx="1960200" cy="475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Contribution:</a:t>
            </a:r>
            <a:r>
              <a:rPr b="0" lang="en-US" sz="880" spc="-1" strike="noStrike">
                <a:solidFill>
                  <a:srgbClr val="ffffff">
                    <a:alpha val="80000"/>
                  </a:srgbClr>
                </a:solidFill>
                <a:latin typeface="Liter"/>
                <a:ea typeface="Liter"/>
              </a:rPr>
              <a:t> Classical influences, technical precision, keyboard-guitar interplay</a:t>
            </a:r>
            <a:endParaRPr b="0" lang="en-HK" sz="880" spc="-1" strike="noStrike">
              <a:latin typeface="Arial"/>
            </a:endParaRPr>
          </a:p>
        </p:txBody>
      </p:sp>
      <p:sp>
        <p:nvSpPr>
          <p:cNvPr id="451" name="Text 37"/>
          <p:cNvSpPr/>
          <p:nvPr/>
        </p:nvSpPr>
        <p:spPr>
          <a:xfrm>
            <a:off x="5091480" y="5730840"/>
            <a:ext cx="1960200" cy="317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Iconic Tracks:</a:t>
            </a:r>
            <a:r>
              <a:rPr b="0" lang="en-US" sz="880" spc="-1" strike="noStrike">
                <a:solidFill>
                  <a:srgbClr val="ffffff">
                    <a:alpha val="80000"/>
                  </a:srgbClr>
                </a:solidFill>
                <a:latin typeface="Liter"/>
                <a:ea typeface="Liter"/>
              </a:rPr>
              <a:t> "Smoke on the Water," "Highway Star," "Child in Time"</a:t>
            </a:r>
            <a:endParaRPr b="0" lang="en-HK" sz="880" spc="-1" strike="noStrike">
              <a:latin typeface="Arial"/>
            </a:endParaRPr>
          </a:p>
        </p:txBody>
      </p:sp>
      <p:sp>
        <p:nvSpPr>
          <p:cNvPr id="452" name="Shape 38"/>
          <p:cNvSpPr/>
          <p:nvPr/>
        </p:nvSpPr>
        <p:spPr>
          <a:xfrm>
            <a:off x="5091480" y="6171480"/>
            <a:ext cx="1904760" cy="7560"/>
          </a:xfrm>
          <a:custGeom>
            <a:avLst/>
            <a:gdLst/>
            <a:ahLst/>
            <a:rect l="l" t="t" r="r" b="b"/>
            <a:pathLst>
              <a:path w="1905000" h="7938">
                <a:moveTo>
                  <a:pt x="0" y="0"/>
                </a:moveTo>
                <a:lnTo>
                  <a:pt x="1905000" y="0"/>
                </a:lnTo>
                <a:lnTo>
                  <a:pt x="1905000" y="7938"/>
                </a:lnTo>
                <a:lnTo>
                  <a:pt x="0" y="7938"/>
                </a:lnTo>
                <a:lnTo>
                  <a:pt x="0" y="0"/>
                </a:lnTo>
                <a:close/>
              </a:path>
            </a:pathLst>
          </a:custGeom>
          <a:solidFill>
            <a:srgbClr val="ddff00">
              <a:alpha val="30000"/>
            </a:srgbClr>
          </a:solidFill>
          <a:ln w="0">
            <a:noFill/>
          </a:ln>
        </p:spPr>
        <p:style>
          <a:lnRef idx="0"/>
          <a:fillRef idx="0"/>
          <a:effectRef idx="0"/>
          <a:fontRef idx="minor"/>
        </p:style>
      </p:sp>
      <p:sp>
        <p:nvSpPr>
          <p:cNvPr id="453" name="Text 39"/>
          <p:cNvSpPr/>
          <p:nvPr/>
        </p:nvSpPr>
        <p:spPr>
          <a:xfrm>
            <a:off x="5091480" y="6270480"/>
            <a:ext cx="1952280" cy="1267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ffffff">
                    <a:alpha val="60000"/>
                  </a:srgbClr>
                </a:solidFill>
                <a:latin typeface="Liter"/>
                <a:ea typeface="Liter"/>
              </a:rPr>
              <a:t>Brought classical sophistication to heavy rock</a:t>
            </a:r>
            <a:endParaRPr b="0" lang="en-HK" sz="750" spc="-1" strike="noStrike">
              <a:latin typeface="Arial"/>
            </a:endParaRPr>
          </a:p>
        </p:txBody>
      </p:sp>
      <p:sp>
        <p:nvSpPr>
          <p:cNvPr id="454" name="Image 0"/>
          <p:cNvSpPr/>
          <p:nvPr/>
        </p:nvSpPr>
        <p:spPr>
          <a:xfrm>
            <a:off x="7327800" y="1047600"/>
            <a:ext cx="4547880" cy="3190680"/>
          </a:xfrm>
          <a:prstGeom prst="roundRect">
            <a:avLst>
              <a:gd name="adj" fmla="val 0"/>
            </a:avLst>
          </a:prstGeom>
          <a:blipFill rotWithShape="0">
            <a:blip r:embed="rId1"/>
            <a:srcRect/>
            <a:stretch/>
          </a:blipFill>
          <a:ln w="0">
            <a:noFill/>
          </a:ln>
        </p:spPr>
        <p:style>
          <a:lnRef idx="0"/>
          <a:fillRef idx="0"/>
          <a:effectRef idx="0"/>
          <a:fontRef idx="minor"/>
        </p:style>
      </p:sp>
      <p:sp>
        <p:nvSpPr>
          <p:cNvPr id="455" name="Shape 40"/>
          <p:cNvSpPr/>
          <p:nvPr/>
        </p:nvSpPr>
        <p:spPr>
          <a:xfrm>
            <a:off x="7327800" y="1047600"/>
            <a:ext cx="4547880" cy="3190680"/>
          </a:xfrm>
          <a:custGeom>
            <a:avLst/>
            <a:gdLst/>
            <a:ahLst/>
            <a:rect l="l" t="t" r="r" b="b"/>
            <a:pathLst>
              <a:path w="4548188" h="3190875">
                <a:moveTo>
                  <a:pt x="0" y="0"/>
                </a:moveTo>
                <a:lnTo>
                  <a:pt x="4548188" y="0"/>
                </a:lnTo>
                <a:lnTo>
                  <a:pt x="4548188" y="3190875"/>
                </a:lnTo>
                <a:lnTo>
                  <a:pt x="0" y="3190875"/>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456" name="Text 41"/>
          <p:cNvSpPr/>
          <p:nvPr/>
        </p:nvSpPr>
        <p:spPr>
          <a:xfrm>
            <a:off x="7454880" y="3699000"/>
            <a:ext cx="434952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HEAVY METAL</a:t>
            </a:r>
            <a:endParaRPr b="0" lang="en-HK" sz="880" spc="-1" strike="noStrike">
              <a:latin typeface="Arial"/>
            </a:endParaRPr>
          </a:p>
        </p:txBody>
      </p:sp>
      <p:sp>
        <p:nvSpPr>
          <p:cNvPr id="457" name="Text 42"/>
          <p:cNvSpPr/>
          <p:nvPr/>
        </p:nvSpPr>
        <p:spPr>
          <a:xfrm>
            <a:off x="7454880" y="3889440"/>
            <a:ext cx="436536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Birth of a Genre</a:t>
            </a:r>
            <a:endParaRPr b="0" lang="en-HK" sz="1130" spc="-1" strike="noStrike">
              <a:latin typeface="Arial"/>
            </a:endParaRPr>
          </a:p>
        </p:txBody>
      </p:sp>
      <p:sp>
        <p:nvSpPr>
          <p:cNvPr id="458" name="Shape 43"/>
          <p:cNvSpPr/>
          <p:nvPr/>
        </p:nvSpPr>
        <p:spPr>
          <a:xfrm>
            <a:off x="7327800" y="4365720"/>
            <a:ext cx="4547880" cy="2174400"/>
          </a:xfrm>
          <a:custGeom>
            <a:avLst/>
            <a:gdLst/>
            <a:ahLst/>
            <a:rect l="l" t="t" r="r" b="b"/>
            <a:pathLst>
              <a:path w="4548188" h="2174875">
                <a:moveTo>
                  <a:pt x="0" y="0"/>
                </a:moveTo>
                <a:lnTo>
                  <a:pt x="4548188" y="0"/>
                </a:lnTo>
                <a:lnTo>
                  <a:pt x="4548188" y="2174875"/>
                </a:lnTo>
                <a:lnTo>
                  <a:pt x="0" y="2174875"/>
                </a:lnTo>
                <a:lnTo>
                  <a:pt x="0" y="0"/>
                </a:lnTo>
                <a:close/>
              </a:path>
            </a:pathLst>
          </a:custGeom>
          <a:solidFill>
            <a:srgbClr val="ddff00"/>
          </a:solidFill>
          <a:ln w="0">
            <a:noFill/>
          </a:ln>
        </p:spPr>
        <p:style>
          <a:lnRef idx="0"/>
          <a:fillRef idx="0"/>
          <a:effectRef idx="0"/>
          <a:fontRef idx="minor"/>
        </p:style>
      </p:sp>
      <p:sp>
        <p:nvSpPr>
          <p:cNvPr id="459" name="Text 44"/>
          <p:cNvSpPr/>
          <p:nvPr/>
        </p:nvSpPr>
        <p:spPr>
          <a:xfrm>
            <a:off x="7486560" y="4524480"/>
            <a:ext cx="4309560" cy="221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Legacy &amp; Influence</a:t>
            </a:r>
            <a:endParaRPr b="0" lang="en-HK" sz="1250" spc="-1" strike="noStrike">
              <a:latin typeface="Arial"/>
            </a:endParaRPr>
          </a:p>
        </p:txBody>
      </p:sp>
      <p:sp>
        <p:nvSpPr>
          <p:cNvPr id="460" name="Text 45"/>
          <p:cNvSpPr/>
          <p:nvPr/>
        </p:nvSpPr>
        <p:spPr>
          <a:xfrm>
            <a:off x="7486560" y="4842000"/>
            <a:ext cx="4293720" cy="618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These three bands laid the foundation for all heavy metal that followed.</a:t>
            </a:r>
            <a:r>
              <a:rPr b="0" lang="en-US" sz="1000" spc="-1" strike="noStrike">
                <a:solidFill>
                  <a:srgbClr val="000000"/>
                </a:solidFill>
                <a:latin typeface="Liter"/>
                <a:ea typeface="Liter"/>
              </a:rPr>
              <a:t> Their influence can be heard in nearly every metal subgenre, from traditional heavy metal to thrash, death, and beyond.</a:t>
            </a:r>
            <a:endParaRPr b="0" lang="en-HK" sz="1000" spc="-1" strike="noStrike">
              <a:latin typeface="Arial"/>
            </a:endParaRPr>
          </a:p>
        </p:txBody>
      </p:sp>
      <p:sp>
        <p:nvSpPr>
          <p:cNvPr id="461" name="Text 46"/>
          <p:cNvSpPr/>
          <p:nvPr/>
        </p:nvSpPr>
        <p:spPr>
          <a:xfrm>
            <a:off x="7486560" y="5556240"/>
            <a:ext cx="4293720" cy="825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They established the visual aesthetic—leather, long hair, dark imagery—and the sonic template: distorted guitars, powerful vocals, and thunderous drums. Without them, the world of rock music would be a very different place.</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62" name="Image 0"/>
          <p:cNvSpPr/>
          <p:nvPr/>
        </p:nvSpPr>
        <p:spPr>
          <a:xfrm>
            <a:off x="0" y="0"/>
            <a:ext cx="12191760" cy="6857640"/>
          </a:xfrm>
          <a:prstGeom prst="roundRect">
            <a:avLst>
              <a:gd name="adj" fmla="val 0"/>
            </a:avLst>
          </a:prstGeom>
          <a:blipFill rotWithShape="0">
            <a:blip r:embed="rId1"/>
            <a:srcRect/>
            <a:stretch/>
          </a:blipFill>
          <a:ln w="0">
            <a:noFill/>
          </a:ln>
        </p:spPr>
        <p:style>
          <a:lnRef idx="0"/>
          <a:fillRef idx="0"/>
          <a:effectRef idx="0"/>
          <a:fontRef idx="minor"/>
        </p:style>
      </p:sp>
      <p:sp>
        <p:nvSpPr>
          <p:cNvPr id="463" name="Shape 0"/>
          <p:cNvSpPr/>
          <p:nvPr/>
        </p:nvSpPr>
        <p:spPr>
          <a:xfrm>
            <a:off x="0" y="0"/>
            <a:ext cx="12191760" cy="68576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464" name="Shape 1"/>
          <p:cNvSpPr/>
          <p:nvPr/>
        </p:nvSpPr>
        <p:spPr>
          <a:xfrm rot="720000">
            <a:off x="10754280" y="5420160"/>
            <a:ext cx="875880" cy="87588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465" name="Shape 2"/>
          <p:cNvSpPr/>
          <p:nvPr/>
        </p:nvSpPr>
        <p:spPr>
          <a:xfrm rot="21240000">
            <a:off x="320400" y="1311120"/>
            <a:ext cx="1218960" cy="121896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466" name="Text 3"/>
          <p:cNvSpPr/>
          <p:nvPr/>
        </p:nvSpPr>
        <p:spPr>
          <a:xfrm>
            <a:off x="574200" y="1638360"/>
            <a:ext cx="1171080" cy="6854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05</a:t>
            </a:r>
            <a:endParaRPr b="0" lang="en-HK" sz="5400" spc="-1" strike="noStrike">
              <a:latin typeface="Arial"/>
            </a:endParaRPr>
          </a:p>
        </p:txBody>
      </p:sp>
      <p:sp>
        <p:nvSpPr>
          <p:cNvPr id="467" name="Shape 4"/>
          <p:cNvSpPr/>
          <p:nvPr/>
        </p:nvSpPr>
        <p:spPr>
          <a:xfrm>
            <a:off x="1828800" y="1752480"/>
            <a:ext cx="3304800" cy="37800"/>
          </a:xfrm>
          <a:custGeom>
            <a:avLst/>
            <a:gdLst/>
            <a:ahLst/>
            <a:rect l="l" t="t" r="r" b="b"/>
            <a:pathLst>
              <a:path w="3305175" h="38100">
                <a:moveTo>
                  <a:pt x="0" y="0"/>
                </a:moveTo>
                <a:lnTo>
                  <a:pt x="3305175" y="0"/>
                </a:lnTo>
                <a:lnTo>
                  <a:pt x="3305175" y="38100"/>
                </a:lnTo>
                <a:lnTo>
                  <a:pt x="0" y="38100"/>
                </a:lnTo>
                <a:lnTo>
                  <a:pt x="0" y="0"/>
                </a:lnTo>
                <a:close/>
              </a:path>
            </a:pathLst>
          </a:custGeom>
          <a:solidFill>
            <a:srgbClr val="ddff00"/>
          </a:solidFill>
          <a:ln w="0">
            <a:noFill/>
          </a:ln>
        </p:spPr>
        <p:style>
          <a:lnRef idx="0"/>
          <a:fillRef idx="0"/>
          <a:effectRef idx="0"/>
          <a:fontRef idx="minor"/>
        </p:style>
      </p:sp>
      <p:sp>
        <p:nvSpPr>
          <p:cNvPr id="468" name="Text 5"/>
          <p:cNvSpPr/>
          <p:nvPr/>
        </p:nvSpPr>
        <p:spPr>
          <a:xfrm>
            <a:off x="1828800" y="1943280"/>
            <a:ext cx="3390480" cy="266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34" strike="noStrike">
                <a:solidFill>
                  <a:srgbClr val="ddff00"/>
                </a:solidFill>
                <a:latin typeface="Liter"/>
                <a:ea typeface="Liter"/>
              </a:rPr>
              <a:t>CHAPTER FIVE</a:t>
            </a:r>
            <a:endParaRPr b="0" lang="en-HK" sz="1350" spc="-1" strike="noStrike">
              <a:latin typeface="Arial"/>
            </a:endParaRPr>
          </a:p>
        </p:txBody>
      </p:sp>
      <p:sp>
        <p:nvSpPr>
          <p:cNvPr id="469" name="Text 6"/>
          <p:cNvSpPr/>
          <p:nvPr/>
        </p:nvSpPr>
        <p:spPr>
          <a:xfrm>
            <a:off x="380880" y="2895480"/>
            <a:ext cx="5095440" cy="17143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PUNK ROCK</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&amp; NEW WAVE</a:t>
            </a:r>
            <a:endParaRPr b="0" lang="en-HK" sz="5400" spc="-1" strike="noStrike">
              <a:latin typeface="Arial"/>
            </a:endParaRPr>
          </a:p>
        </p:txBody>
      </p:sp>
      <p:sp>
        <p:nvSpPr>
          <p:cNvPr id="470" name="Text 7"/>
          <p:cNvSpPr/>
          <p:nvPr/>
        </p:nvSpPr>
        <p:spPr>
          <a:xfrm>
            <a:off x="380880" y="4838760"/>
            <a:ext cx="486684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1970s-1980s: Raw Energy &amp; Artistic Expression</a:t>
            </a:r>
            <a:endParaRPr b="0" lang="en-HK" sz="1800" spc="-1" strike="noStrike">
              <a:latin typeface="Arial"/>
            </a:endParaRPr>
          </a:p>
        </p:txBody>
      </p:sp>
      <p:sp>
        <p:nvSpPr>
          <p:cNvPr id="471" name="Shape 8"/>
          <p:cNvSpPr/>
          <p:nvPr/>
        </p:nvSpPr>
        <p:spPr>
          <a:xfrm>
            <a:off x="380880" y="5448240"/>
            <a:ext cx="761760" cy="3780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472" name="Shape 9"/>
          <p:cNvSpPr/>
          <p:nvPr/>
        </p:nvSpPr>
        <p:spPr>
          <a:xfrm>
            <a:off x="1295280" y="5448240"/>
            <a:ext cx="380520" cy="3780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473" name="Shape 10"/>
          <p:cNvSpPr/>
          <p:nvPr/>
        </p:nvSpPr>
        <p:spPr>
          <a:xfrm>
            <a:off x="1828800" y="5448240"/>
            <a:ext cx="190080" cy="3780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74" name="Shape 0"/>
          <p:cNvSpPr/>
          <p:nvPr/>
        </p:nvSpPr>
        <p:spPr>
          <a:xfrm>
            <a:off x="333720" y="383760"/>
            <a:ext cx="66240" cy="400320"/>
          </a:xfrm>
          <a:custGeom>
            <a:avLst/>
            <a:gdLst/>
            <a:ahLst/>
            <a:rect l="l" t="t" r="r" b="b"/>
            <a:pathLst>
              <a:path w="66760" h="400559">
                <a:moveTo>
                  <a:pt x="0" y="0"/>
                </a:moveTo>
                <a:lnTo>
                  <a:pt x="66760" y="0"/>
                </a:lnTo>
                <a:lnTo>
                  <a:pt x="66760" y="400559"/>
                </a:lnTo>
                <a:lnTo>
                  <a:pt x="0" y="400559"/>
                </a:lnTo>
                <a:lnTo>
                  <a:pt x="0" y="0"/>
                </a:lnTo>
                <a:close/>
              </a:path>
            </a:pathLst>
          </a:custGeom>
          <a:solidFill>
            <a:srgbClr val="ddff00"/>
          </a:solidFill>
          <a:ln w="0">
            <a:noFill/>
          </a:ln>
        </p:spPr>
        <p:style>
          <a:lnRef idx="0"/>
          <a:fillRef idx="0"/>
          <a:effectRef idx="0"/>
          <a:fontRef idx="minor"/>
        </p:style>
      </p:sp>
      <p:sp>
        <p:nvSpPr>
          <p:cNvPr id="475" name="Text 1"/>
          <p:cNvSpPr/>
          <p:nvPr/>
        </p:nvSpPr>
        <p:spPr>
          <a:xfrm>
            <a:off x="534240" y="333720"/>
            <a:ext cx="498996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89" strike="noStrike">
                <a:solidFill>
                  <a:srgbClr val="ddff00"/>
                </a:solidFill>
                <a:latin typeface="Liter"/>
                <a:ea typeface="Liter"/>
              </a:rPr>
              <a:t>CHAPTER 05</a:t>
            </a:r>
            <a:endParaRPr b="0" lang="en-HK" sz="920" spc="-1" strike="noStrike">
              <a:latin typeface="Arial"/>
            </a:endParaRPr>
          </a:p>
        </p:txBody>
      </p:sp>
      <p:sp>
        <p:nvSpPr>
          <p:cNvPr id="476" name="Text 2"/>
          <p:cNvSpPr/>
          <p:nvPr/>
        </p:nvSpPr>
        <p:spPr>
          <a:xfrm>
            <a:off x="534240" y="500760"/>
            <a:ext cx="5081760" cy="3333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60" spc="-1" strike="noStrike">
                <a:solidFill>
                  <a:srgbClr val="ffffff"/>
                </a:solidFill>
                <a:latin typeface="Liter"/>
                <a:ea typeface="Liter"/>
              </a:rPr>
              <a:t>Punk Rock: Three Chords &amp; The Truth</a:t>
            </a:r>
            <a:endParaRPr b="0" lang="en-HK" sz="2360" spc="-1" strike="noStrike">
              <a:latin typeface="Arial"/>
            </a:endParaRPr>
          </a:p>
        </p:txBody>
      </p:sp>
      <p:sp>
        <p:nvSpPr>
          <p:cNvPr id="477" name="Shape 3"/>
          <p:cNvSpPr/>
          <p:nvPr/>
        </p:nvSpPr>
        <p:spPr>
          <a:xfrm>
            <a:off x="333720" y="1101600"/>
            <a:ext cx="6792480" cy="2169360"/>
          </a:xfrm>
          <a:custGeom>
            <a:avLst/>
            <a:gdLst/>
            <a:ahLst/>
            <a:rect l="l" t="t" r="r" b="b"/>
            <a:pathLst>
              <a:path w="6792805" h="2169692">
                <a:moveTo>
                  <a:pt x="0" y="0"/>
                </a:moveTo>
                <a:lnTo>
                  <a:pt x="6792805" y="0"/>
                </a:lnTo>
                <a:lnTo>
                  <a:pt x="6792805" y="2169692"/>
                </a:lnTo>
                <a:lnTo>
                  <a:pt x="0" y="2169692"/>
                </a:lnTo>
                <a:lnTo>
                  <a:pt x="0" y="0"/>
                </a:lnTo>
                <a:close/>
              </a:path>
            </a:pathLst>
          </a:custGeom>
          <a:solidFill>
            <a:srgbClr val="ddff00"/>
          </a:solidFill>
          <a:ln w="0">
            <a:noFill/>
          </a:ln>
        </p:spPr>
        <p:style>
          <a:lnRef idx="0"/>
          <a:fillRef idx="0"/>
          <a:effectRef idx="0"/>
          <a:fontRef idx="minor"/>
        </p:style>
      </p:sp>
      <p:sp>
        <p:nvSpPr>
          <p:cNvPr id="478" name="Text 4"/>
          <p:cNvSpPr/>
          <p:nvPr/>
        </p:nvSpPr>
        <p:spPr>
          <a:xfrm>
            <a:off x="534240" y="1301760"/>
            <a:ext cx="6491880" cy="266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80" spc="-1" strike="noStrike">
                <a:solidFill>
                  <a:srgbClr val="000000"/>
                </a:solidFill>
                <a:latin typeface="Liter"/>
                <a:ea typeface="Liter"/>
              </a:rPr>
              <a:t>The Revolution of Simplicity</a:t>
            </a:r>
            <a:endParaRPr b="0" lang="en-HK" sz="1580" spc="-1" strike="noStrike">
              <a:latin typeface="Arial"/>
            </a:endParaRPr>
          </a:p>
        </p:txBody>
      </p:sp>
      <p:sp>
        <p:nvSpPr>
          <p:cNvPr id="479" name="Text 5"/>
          <p:cNvSpPr/>
          <p:nvPr/>
        </p:nvSpPr>
        <p:spPr>
          <a:xfrm>
            <a:off x="534240" y="1668960"/>
            <a:ext cx="6458760" cy="650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50" spc="-1" strike="noStrike">
                <a:solidFill>
                  <a:srgbClr val="000000"/>
                </a:solidFill>
                <a:latin typeface="Liter"/>
                <a:ea typeface="Liter"/>
              </a:rPr>
              <a:t>Punk rock emerged in the mid-1970s as a direct reaction against the excesses of progressive rock and the polished production of mainstream music.</a:t>
            </a:r>
            <a:r>
              <a:rPr b="0" lang="en-US" sz="1050" spc="-1" strike="noStrike">
                <a:solidFill>
                  <a:srgbClr val="000000"/>
                </a:solidFill>
                <a:latin typeface="Liter"/>
                <a:ea typeface="Liter"/>
              </a:rPr>
              <a:t> Stripped down to its essentials, punk championed a DIY ethic—anyone could pick up a guitar, learn three chords, and start a band.</a:t>
            </a:r>
            <a:endParaRPr b="0" lang="en-HK" sz="1050" spc="-1" strike="noStrike">
              <a:latin typeface="Arial"/>
            </a:endParaRPr>
          </a:p>
        </p:txBody>
      </p:sp>
      <p:sp>
        <p:nvSpPr>
          <p:cNvPr id="480" name="Text 6"/>
          <p:cNvSpPr/>
          <p:nvPr/>
        </p:nvSpPr>
        <p:spPr>
          <a:xfrm>
            <a:off x="534240" y="2419920"/>
            <a:ext cx="6458760" cy="650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000000">
                    <a:alpha val="80000"/>
                  </a:srgbClr>
                </a:solidFill>
                <a:latin typeface="Liter"/>
                <a:ea typeface="Liter"/>
              </a:rPr>
              <a:t>Punk's raw, aggressive sound and anti-establishment lyrics gave voice to disenfranchised youth. It was fast, loud, and unapologetic—a musical revolution that proved you didn't need technical virtuosity to make powerful, meaningful music.</a:t>
            </a:r>
            <a:endParaRPr b="0" lang="en-HK" sz="1050" spc="-1" strike="noStrike">
              <a:latin typeface="Arial"/>
            </a:endParaRPr>
          </a:p>
        </p:txBody>
      </p:sp>
      <p:sp>
        <p:nvSpPr>
          <p:cNvPr id="481" name="Shape 7"/>
          <p:cNvSpPr/>
          <p:nvPr/>
        </p:nvSpPr>
        <p:spPr>
          <a:xfrm>
            <a:off x="342000" y="3413160"/>
            <a:ext cx="6775920" cy="2653200"/>
          </a:xfrm>
          <a:custGeom>
            <a:avLst/>
            <a:gdLst/>
            <a:ahLst/>
            <a:rect l="l" t="t" r="r" b="b"/>
            <a:pathLst>
              <a:path w="6776115" h="2653700">
                <a:moveTo>
                  <a:pt x="0" y="0"/>
                </a:moveTo>
                <a:lnTo>
                  <a:pt x="6776115" y="0"/>
                </a:lnTo>
                <a:lnTo>
                  <a:pt x="6776115" y="2653700"/>
                </a:lnTo>
                <a:lnTo>
                  <a:pt x="0" y="2653700"/>
                </a:lnTo>
                <a:lnTo>
                  <a:pt x="0" y="0"/>
                </a:lnTo>
                <a:close/>
              </a:path>
            </a:pathLst>
          </a:custGeom>
          <a:noFill/>
          <a:ln w="25400">
            <a:solidFill>
              <a:srgbClr val="ddff00"/>
            </a:solidFill>
            <a:round/>
          </a:ln>
        </p:spPr>
        <p:style>
          <a:lnRef idx="0"/>
          <a:fillRef idx="0"/>
          <a:effectRef idx="0"/>
          <a:fontRef idx="minor"/>
        </p:style>
      </p:sp>
      <p:sp>
        <p:nvSpPr>
          <p:cNvPr id="482" name="Text 8"/>
          <p:cNvSpPr/>
          <p:nvPr/>
        </p:nvSpPr>
        <p:spPr>
          <a:xfrm>
            <a:off x="517320" y="3588480"/>
            <a:ext cx="6508800" cy="233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ddff00"/>
                </a:solidFill>
                <a:latin typeface="Liter"/>
                <a:ea typeface="Liter"/>
              </a:rPr>
              <a:t>Punk Pioneers</a:t>
            </a:r>
            <a:endParaRPr b="0" lang="en-HK" sz="1320" spc="-1" strike="noStrike">
              <a:latin typeface="Arial"/>
            </a:endParaRPr>
          </a:p>
        </p:txBody>
      </p:sp>
      <p:sp>
        <p:nvSpPr>
          <p:cNvPr id="483" name="Shape 9"/>
          <p:cNvSpPr/>
          <p:nvPr/>
        </p:nvSpPr>
        <p:spPr>
          <a:xfrm>
            <a:off x="534240" y="3955680"/>
            <a:ext cx="33120" cy="90072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84" name="Text 10"/>
          <p:cNvSpPr/>
          <p:nvPr/>
        </p:nvSpPr>
        <p:spPr>
          <a:xfrm>
            <a:off x="684360" y="3955680"/>
            <a:ext cx="3053880" cy="233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Ramones</a:t>
            </a:r>
            <a:endParaRPr b="0" lang="en-HK" sz="1180" spc="-1" strike="noStrike">
              <a:latin typeface="Arial"/>
            </a:endParaRPr>
          </a:p>
        </p:txBody>
      </p:sp>
      <p:sp>
        <p:nvSpPr>
          <p:cNvPr id="485" name="Text 11"/>
          <p:cNvSpPr/>
          <p:nvPr/>
        </p:nvSpPr>
        <p:spPr>
          <a:xfrm>
            <a:off x="684360" y="4255920"/>
            <a:ext cx="304560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New York, 1974</a:t>
            </a:r>
            <a:endParaRPr b="0" lang="en-HK" sz="1050" spc="-1" strike="noStrike">
              <a:latin typeface="Arial"/>
            </a:endParaRPr>
          </a:p>
        </p:txBody>
      </p:sp>
      <p:sp>
        <p:nvSpPr>
          <p:cNvPr id="486" name="Text 12"/>
          <p:cNvSpPr/>
          <p:nvPr/>
        </p:nvSpPr>
        <p:spPr>
          <a:xfrm>
            <a:off x="684360" y="4523040"/>
            <a:ext cx="3037320" cy="333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"Blitzkrieg Bop," "I Wanna Be Sedated" - Fast, catchy, minimalist</a:t>
            </a:r>
            <a:endParaRPr b="0" lang="en-HK" sz="920" spc="-1" strike="noStrike">
              <a:latin typeface="Arial"/>
            </a:endParaRPr>
          </a:p>
        </p:txBody>
      </p:sp>
      <p:sp>
        <p:nvSpPr>
          <p:cNvPr id="487" name="Shape 13"/>
          <p:cNvSpPr/>
          <p:nvPr/>
        </p:nvSpPr>
        <p:spPr>
          <a:xfrm>
            <a:off x="3815280" y="3955680"/>
            <a:ext cx="33120" cy="90072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88" name="Text 14"/>
          <p:cNvSpPr/>
          <p:nvPr/>
        </p:nvSpPr>
        <p:spPr>
          <a:xfrm>
            <a:off x="3965400" y="3955680"/>
            <a:ext cx="3053880" cy="233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Sex Pistols</a:t>
            </a:r>
            <a:endParaRPr b="0" lang="en-HK" sz="1180" spc="-1" strike="noStrike">
              <a:latin typeface="Arial"/>
            </a:endParaRPr>
          </a:p>
        </p:txBody>
      </p:sp>
      <p:sp>
        <p:nvSpPr>
          <p:cNvPr id="489" name="Text 15"/>
          <p:cNvSpPr/>
          <p:nvPr/>
        </p:nvSpPr>
        <p:spPr>
          <a:xfrm>
            <a:off x="3965400" y="4255920"/>
            <a:ext cx="304560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London, 1975</a:t>
            </a:r>
            <a:endParaRPr b="0" lang="en-HK" sz="1050" spc="-1" strike="noStrike">
              <a:latin typeface="Arial"/>
            </a:endParaRPr>
          </a:p>
        </p:txBody>
      </p:sp>
      <p:sp>
        <p:nvSpPr>
          <p:cNvPr id="490" name="Text 16"/>
          <p:cNvSpPr/>
          <p:nvPr/>
        </p:nvSpPr>
        <p:spPr>
          <a:xfrm>
            <a:off x="3965400" y="4523040"/>
            <a:ext cx="3037320" cy="333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"Anarchy in the U.K.," "God Save the Queen" - Provocation incarnate</a:t>
            </a:r>
            <a:endParaRPr b="0" lang="en-HK" sz="920" spc="-1" strike="noStrike">
              <a:latin typeface="Arial"/>
            </a:endParaRPr>
          </a:p>
        </p:txBody>
      </p:sp>
      <p:sp>
        <p:nvSpPr>
          <p:cNvPr id="491" name="Shape 17"/>
          <p:cNvSpPr/>
          <p:nvPr/>
        </p:nvSpPr>
        <p:spPr>
          <a:xfrm>
            <a:off x="534240" y="4990320"/>
            <a:ext cx="33120" cy="90072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92" name="Text 18"/>
          <p:cNvSpPr/>
          <p:nvPr/>
        </p:nvSpPr>
        <p:spPr>
          <a:xfrm>
            <a:off x="684360" y="4990320"/>
            <a:ext cx="3053880" cy="233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Clash</a:t>
            </a:r>
            <a:endParaRPr b="0" lang="en-HK" sz="1180" spc="-1" strike="noStrike">
              <a:latin typeface="Arial"/>
            </a:endParaRPr>
          </a:p>
        </p:txBody>
      </p:sp>
      <p:sp>
        <p:nvSpPr>
          <p:cNvPr id="493" name="Text 19"/>
          <p:cNvSpPr/>
          <p:nvPr/>
        </p:nvSpPr>
        <p:spPr>
          <a:xfrm>
            <a:off x="684360" y="5290560"/>
            <a:ext cx="304560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London, 1976</a:t>
            </a:r>
            <a:endParaRPr b="0" lang="en-HK" sz="1050" spc="-1" strike="noStrike">
              <a:latin typeface="Arial"/>
            </a:endParaRPr>
          </a:p>
        </p:txBody>
      </p:sp>
      <p:sp>
        <p:nvSpPr>
          <p:cNvPr id="494" name="Text 20"/>
          <p:cNvSpPr/>
          <p:nvPr/>
        </p:nvSpPr>
        <p:spPr>
          <a:xfrm>
            <a:off x="684360" y="5557680"/>
            <a:ext cx="3037320" cy="333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"London Calling," "Should I Stay or Should I Go" - Punk with political depth</a:t>
            </a:r>
            <a:endParaRPr b="0" lang="en-HK" sz="920" spc="-1" strike="noStrike">
              <a:latin typeface="Arial"/>
            </a:endParaRPr>
          </a:p>
        </p:txBody>
      </p:sp>
      <p:sp>
        <p:nvSpPr>
          <p:cNvPr id="495" name="Shape 21"/>
          <p:cNvSpPr/>
          <p:nvPr/>
        </p:nvSpPr>
        <p:spPr>
          <a:xfrm>
            <a:off x="3815280" y="4990320"/>
            <a:ext cx="33120" cy="90072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96" name="Text 22"/>
          <p:cNvSpPr/>
          <p:nvPr/>
        </p:nvSpPr>
        <p:spPr>
          <a:xfrm>
            <a:off x="3965400" y="4990320"/>
            <a:ext cx="3053880" cy="233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Black Flag</a:t>
            </a:r>
            <a:endParaRPr b="0" lang="en-HK" sz="1180" spc="-1" strike="noStrike">
              <a:latin typeface="Arial"/>
            </a:endParaRPr>
          </a:p>
        </p:txBody>
      </p:sp>
      <p:sp>
        <p:nvSpPr>
          <p:cNvPr id="497" name="Text 23"/>
          <p:cNvSpPr/>
          <p:nvPr/>
        </p:nvSpPr>
        <p:spPr>
          <a:xfrm>
            <a:off x="3965400" y="5290560"/>
            <a:ext cx="304560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California, 1976</a:t>
            </a:r>
            <a:endParaRPr b="0" lang="en-HK" sz="1050" spc="-1" strike="noStrike">
              <a:latin typeface="Arial"/>
            </a:endParaRPr>
          </a:p>
        </p:txBody>
      </p:sp>
      <p:sp>
        <p:nvSpPr>
          <p:cNvPr id="498" name="Text 24"/>
          <p:cNvSpPr/>
          <p:nvPr/>
        </p:nvSpPr>
        <p:spPr>
          <a:xfrm>
            <a:off x="3965400" y="5557680"/>
            <a:ext cx="303732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"Rise Above," "TV Party" - Hardcore punk pioneers</a:t>
            </a:r>
            <a:endParaRPr b="0" lang="en-HK" sz="920" spc="-1" strike="noStrike">
              <a:latin typeface="Arial"/>
            </a:endParaRPr>
          </a:p>
        </p:txBody>
      </p:sp>
      <p:sp>
        <p:nvSpPr>
          <p:cNvPr id="499" name="Shape 25"/>
          <p:cNvSpPr/>
          <p:nvPr/>
        </p:nvSpPr>
        <p:spPr>
          <a:xfrm>
            <a:off x="338040" y="6212880"/>
            <a:ext cx="1618560" cy="64224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0" name="Shape 26"/>
          <p:cNvSpPr/>
          <p:nvPr/>
        </p:nvSpPr>
        <p:spPr>
          <a:xfrm>
            <a:off x="1058040" y="6317280"/>
            <a:ext cx="174960" cy="199800"/>
          </a:xfrm>
          <a:custGeom>
            <a:avLst/>
            <a:gdLst/>
            <a:ahLst/>
            <a:rect l="l" t="t" r="r" b="b"/>
            <a:pathLst>
              <a:path w="175244" h="200279">
                <a:moveTo>
                  <a:pt x="132529" y="-3873"/>
                </a:moveTo>
                <a:cubicBezTo>
                  <a:pt x="137183" y="-509"/>
                  <a:pt x="138905" y="5594"/>
                  <a:pt x="136792" y="10914"/>
                </a:cubicBezTo>
                <a:lnTo>
                  <a:pt x="106125" y="87622"/>
                </a:lnTo>
                <a:lnTo>
                  <a:pt x="162727" y="87622"/>
                </a:lnTo>
                <a:cubicBezTo>
                  <a:pt x="168008" y="87622"/>
                  <a:pt x="172702" y="90908"/>
                  <a:pt x="174501" y="95876"/>
                </a:cubicBezTo>
                <a:cubicBezTo>
                  <a:pt x="176301" y="100844"/>
                  <a:pt x="174775" y="106398"/>
                  <a:pt x="170746" y="109762"/>
                </a:cubicBezTo>
                <a:lnTo>
                  <a:pt x="58089" y="203643"/>
                </a:lnTo>
                <a:cubicBezTo>
                  <a:pt x="53669" y="207320"/>
                  <a:pt x="47371" y="207516"/>
                  <a:pt x="42716" y="204152"/>
                </a:cubicBezTo>
                <a:cubicBezTo>
                  <a:pt x="38061" y="200788"/>
                  <a:pt x="36340" y="194686"/>
                  <a:pt x="38452" y="189366"/>
                </a:cubicBezTo>
                <a:lnTo>
                  <a:pt x="69120" y="112657"/>
                </a:lnTo>
                <a:lnTo>
                  <a:pt x="12517" y="112657"/>
                </a:lnTo>
                <a:cubicBezTo>
                  <a:pt x="7237" y="112657"/>
                  <a:pt x="2543" y="109371"/>
                  <a:pt x="743" y="104403"/>
                </a:cubicBezTo>
                <a:cubicBezTo>
                  <a:pt x="-1056" y="99436"/>
                  <a:pt x="469" y="93881"/>
                  <a:pt x="4498" y="90517"/>
                </a:cubicBezTo>
                <a:lnTo>
                  <a:pt x="117156" y="-3364"/>
                </a:lnTo>
                <a:cubicBezTo>
                  <a:pt x="121576" y="-7041"/>
                  <a:pt x="127874" y="-7237"/>
                  <a:pt x="132529" y="-3873"/>
                </a:cubicBezTo>
                <a:close/>
              </a:path>
            </a:pathLst>
          </a:custGeom>
          <a:solidFill>
            <a:srgbClr val="ddff00"/>
          </a:solidFill>
          <a:ln w="0">
            <a:noFill/>
          </a:ln>
        </p:spPr>
        <p:style>
          <a:lnRef idx="0"/>
          <a:fillRef idx="0"/>
          <a:effectRef idx="0"/>
          <a:fontRef idx="minor"/>
        </p:style>
      </p:sp>
      <p:sp>
        <p:nvSpPr>
          <p:cNvPr id="501" name="Text 27"/>
          <p:cNvSpPr/>
          <p:nvPr/>
        </p:nvSpPr>
        <p:spPr>
          <a:xfrm>
            <a:off x="412920" y="6584040"/>
            <a:ext cx="1468440" cy="166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Fast-paced</a:t>
            </a:r>
            <a:endParaRPr b="0" lang="en-HK" sz="920" spc="-1" strike="noStrike">
              <a:latin typeface="Arial"/>
            </a:endParaRPr>
          </a:p>
        </p:txBody>
      </p:sp>
      <p:sp>
        <p:nvSpPr>
          <p:cNvPr id="502" name="Shape 28"/>
          <p:cNvSpPr/>
          <p:nvPr/>
        </p:nvSpPr>
        <p:spPr>
          <a:xfrm>
            <a:off x="2062080" y="6212880"/>
            <a:ext cx="1618560" cy="64224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3" name="Shape 29"/>
          <p:cNvSpPr/>
          <p:nvPr/>
        </p:nvSpPr>
        <p:spPr>
          <a:xfrm>
            <a:off x="2794680" y="6317280"/>
            <a:ext cx="149760" cy="199800"/>
          </a:xfrm>
          <a:custGeom>
            <a:avLst/>
            <a:gdLst/>
            <a:ahLst/>
            <a:rect l="l" t="t" r="r" b="b"/>
            <a:pathLst>
              <a:path w="150209" h="200279">
                <a:moveTo>
                  <a:pt x="62587" y="0"/>
                </a:moveTo>
                <a:cubicBezTo>
                  <a:pt x="69511" y="0"/>
                  <a:pt x="75105" y="5594"/>
                  <a:pt x="75105" y="12517"/>
                </a:cubicBezTo>
                <a:lnTo>
                  <a:pt x="75105" y="56329"/>
                </a:lnTo>
                <a:lnTo>
                  <a:pt x="50070" y="56329"/>
                </a:lnTo>
                <a:lnTo>
                  <a:pt x="50070" y="12517"/>
                </a:lnTo>
                <a:cubicBezTo>
                  <a:pt x="50070" y="5594"/>
                  <a:pt x="55664" y="0"/>
                  <a:pt x="62587" y="0"/>
                </a:cubicBezTo>
                <a:close/>
                <a:moveTo>
                  <a:pt x="12517" y="25035"/>
                </a:moveTo>
                <a:cubicBezTo>
                  <a:pt x="12517" y="18111"/>
                  <a:pt x="18111" y="12517"/>
                  <a:pt x="25035" y="12517"/>
                </a:cubicBezTo>
                <a:cubicBezTo>
                  <a:pt x="31959" y="12517"/>
                  <a:pt x="37552" y="18111"/>
                  <a:pt x="37552" y="25035"/>
                </a:cubicBezTo>
                <a:lnTo>
                  <a:pt x="37552" y="56329"/>
                </a:lnTo>
                <a:lnTo>
                  <a:pt x="12517" y="56329"/>
                </a:lnTo>
                <a:lnTo>
                  <a:pt x="12517" y="25035"/>
                </a:lnTo>
                <a:close/>
                <a:moveTo>
                  <a:pt x="87622" y="25035"/>
                </a:moveTo>
                <a:cubicBezTo>
                  <a:pt x="87622" y="18111"/>
                  <a:pt x="93216" y="12517"/>
                  <a:pt x="100140" y="12517"/>
                </a:cubicBezTo>
                <a:cubicBezTo>
                  <a:pt x="107063" y="12517"/>
                  <a:pt x="112657" y="18111"/>
                  <a:pt x="112657" y="25035"/>
                </a:cubicBezTo>
                <a:lnTo>
                  <a:pt x="112657" y="62587"/>
                </a:lnTo>
                <a:cubicBezTo>
                  <a:pt x="112657" y="69511"/>
                  <a:pt x="107063" y="75105"/>
                  <a:pt x="100140" y="75105"/>
                </a:cubicBezTo>
                <a:cubicBezTo>
                  <a:pt x="93216" y="75105"/>
                  <a:pt x="87622" y="69511"/>
                  <a:pt x="87622" y="62587"/>
                </a:cubicBezTo>
                <a:lnTo>
                  <a:pt x="87622" y="25035"/>
                </a:lnTo>
                <a:close/>
                <a:moveTo>
                  <a:pt x="125175" y="50070"/>
                </a:moveTo>
                <a:cubicBezTo>
                  <a:pt x="125175" y="43146"/>
                  <a:pt x="130768" y="37552"/>
                  <a:pt x="137692" y="37552"/>
                </a:cubicBezTo>
                <a:cubicBezTo>
                  <a:pt x="144616" y="37552"/>
                  <a:pt x="150209" y="43146"/>
                  <a:pt x="150209" y="50070"/>
                </a:cubicBezTo>
                <a:lnTo>
                  <a:pt x="150209" y="75105"/>
                </a:lnTo>
                <a:cubicBezTo>
                  <a:pt x="150209" y="82028"/>
                  <a:pt x="144616" y="87622"/>
                  <a:pt x="137692" y="87622"/>
                </a:cubicBezTo>
                <a:cubicBezTo>
                  <a:pt x="130768" y="87622"/>
                  <a:pt x="125175" y="82028"/>
                  <a:pt x="125175" y="75105"/>
                </a:cubicBezTo>
                <a:lnTo>
                  <a:pt x="125175" y="50070"/>
                </a:lnTo>
                <a:close/>
                <a:moveTo>
                  <a:pt x="87622" y="84493"/>
                </a:moveTo>
                <a:lnTo>
                  <a:pt x="87622" y="84258"/>
                </a:lnTo>
                <a:cubicBezTo>
                  <a:pt x="91299" y="86370"/>
                  <a:pt x="95563" y="87622"/>
                  <a:pt x="100140" y="87622"/>
                </a:cubicBezTo>
                <a:cubicBezTo>
                  <a:pt x="105303" y="87622"/>
                  <a:pt x="110075" y="86057"/>
                  <a:pt x="114065" y="83398"/>
                </a:cubicBezTo>
                <a:cubicBezTo>
                  <a:pt x="117468" y="93138"/>
                  <a:pt x="126778" y="100140"/>
                  <a:pt x="137692" y="100140"/>
                </a:cubicBezTo>
                <a:cubicBezTo>
                  <a:pt x="142269" y="100140"/>
                  <a:pt x="146532" y="98927"/>
                  <a:pt x="150209" y="96776"/>
                </a:cubicBezTo>
                <a:lnTo>
                  <a:pt x="150209" y="100140"/>
                </a:lnTo>
                <a:cubicBezTo>
                  <a:pt x="150209" y="120598"/>
                  <a:pt x="140391" y="138787"/>
                  <a:pt x="125175" y="150209"/>
                </a:cubicBezTo>
                <a:lnTo>
                  <a:pt x="125175" y="187762"/>
                </a:lnTo>
                <a:cubicBezTo>
                  <a:pt x="125175" y="194686"/>
                  <a:pt x="119581" y="200279"/>
                  <a:pt x="112657" y="200279"/>
                </a:cubicBezTo>
                <a:lnTo>
                  <a:pt x="50070" y="200279"/>
                </a:lnTo>
                <a:cubicBezTo>
                  <a:pt x="43146" y="200279"/>
                  <a:pt x="37552" y="194686"/>
                  <a:pt x="37552" y="187762"/>
                </a:cubicBezTo>
                <a:lnTo>
                  <a:pt x="37552" y="157094"/>
                </a:lnTo>
                <a:cubicBezTo>
                  <a:pt x="30785" y="154004"/>
                  <a:pt x="24566" y="149740"/>
                  <a:pt x="19206" y="144381"/>
                </a:cubicBezTo>
                <a:lnTo>
                  <a:pt x="14669" y="139843"/>
                </a:lnTo>
                <a:cubicBezTo>
                  <a:pt x="5281" y="130455"/>
                  <a:pt x="0" y="117703"/>
                  <a:pt x="0" y="104443"/>
                </a:cubicBezTo>
                <a:lnTo>
                  <a:pt x="0" y="93881"/>
                </a:lnTo>
                <a:cubicBezTo>
                  <a:pt x="0" y="80073"/>
                  <a:pt x="11227" y="68846"/>
                  <a:pt x="25035" y="68846"/>
                </a:cubicBezTo>
                <a:lnTo>
                  <a:pt x="59458" y="68846"/>
                </a:lnTo>
                <a:cubicBezTo>
                  <a:pt x="68103" y="68846"/>
                  <a:pt x="75105" y="75848"/>
                  <a:pt x="75105" y="84493"/>
                </a:cubicBezTo>
                <a:cubicBezTo>
                  <a:pt x="75105" y="93138"/>
                  <a:pt x="68103" y="100140"/>
                  <a:pt x="59458" y="100140"/>
                </a:cubicBezTo>
                <a:lnTo>
                  <a:pt x="37552" y="100140"/>
                </a:lnTo>
                <a:cubicBezTo>
                  <a:pt x="34110" y="100140"/>
                  <a:pt x="31294" y="102956"/>
                  <a:pt x="31294" y="106398"/>
                </a:cubicBezTo>
                <a:cubicBezTo>
                  <a:pt x="31294" y="109841"/>
                  <a:pt x="34110" y="112657"/>
                  <a:pt x="37552" y="112657"/>
                </a:cubicBezTo>
                <a:lnTo>
                  <a:pt x="59458" y="112657"/>
                </a:lnTo>
                <a:cubicBezTo>
                  <a:pt x="75026" y="112657"/>
                  <a:pt x="87622" y="100061"/>
                  <a:pt x="87622" y="84493"/>
                </a:cubicBezTo>
                <a:close/>
              </a:path>
            </a:pathLst>
          </a:custGeom>
          <a:solidFill>
            <a:srgbClr val="ddff00"/>
          </a:solidFill>
          <a:ln w="0">
            <a:noFill/>
          </a:ln>
        </p:spPr>
        <p:style>
          <a:lnRef idx="0"/>
          <a:fillRef idx="0"/>
          <a:effectRef idx="0"/>
          <a:fontRef idx="minor"/>
        </p:style>
      </p:sp>
      <p:sp>
        <p:nvSpPr>
          <p:cNvPr id="504" name="Text 30"/>
          <p:cNvSpPr/>
          <p:nvPr/>
        </p:nvSpPr>
        <p:spPr>
          <a:xfrm>
            <a:off x="2136960" y="6584040"/>
            <a:ext cx="1468440" cy="166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Anti-establishment</a:t>
            </a:r>
            <a:endParaRPr b="0" lang="en-HK" sz="920" spc="-1" strike="noStrike">
              <a:latin typeface="Arial"/>
            </a:endParaRPr>
          </a:p>
        </p:txBody>
      </p:sp>
      <p:sp>
        <p:nvSpPr>
          <p:cNvPr id="505" name="Shape 31"/>
          <p:cNvSpPr/>
          <p:nvPr/>
        </p:nvSpPr>
        <p:spPr>
          <a:xfrm>
            <a:off x="3786120" y="6212880"/>
            <a:ext cx="1618560" cy="64224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6" name="Shape 32"/>
          <p:cNvSpPr/>
          <p:nvPr/>
        </p:nvSpPr>
        <p:spPr>
          <a:xfrm>
            <a:off x="4481280" y="6317280"/>
            <a:ext cx="225000" cy="199800"/>
          </a:xfrm>
          <a:custGeom>
            <a:avLst/>
            <a:gdLst/>
            <a:ahLst/>
            <a:rect l="l" t="t" r="r" b="b"/>
            <a:pathLst>
              <a:path w="225314" h="200279">
                <a:moveTo>
                  <a:pt x="87661" y="37983"/>
                </a:moveTo>
                <a:lnTo>
                  <a:pt x="87661" y="57385"/>
                </a:lnTo>
                <a:lnTo>
                  <a:pt x="87857" y="57580"/>
                </a:lnTo>
                <a:cubicBezTo>
                  <a:pt x="90399" y="25348"/>
                  <a:pt x="117351" y="0"/>
                  <a:pt x="150249" y="0"/>
                </a:cubicBezTo>
                <a:cubicBezTo>
                  <a:pt x="158111" y="0"/>
                  <a:pt x="165661" y="1447"/>
                  <a:pt x="172584" y="4107"/>
                </a:cubicBezTo>
                <a:cubicBezTo>
                  <a:pt x="176496" y="5594"/>
                  <a:pt x="177200" y="10562"/>
                  <a:pt x="174266" y="13534"/>
                </a:cubicBezTo>
                <a:lnTo>
                  <a:pt x="139570" y="48231"/>
                </a:lnTo>
                <a:cubicBezTo>
                  <a:pt x="138396" y="49405"/>
                  <a:pt x="137731" y="51009"/>
                  <a:pt x="137731" y="52652"/>
                </a:cubicBezTo>
                <a:lnTo>
                  <a:pt x="137731" y="68846"/>
                </a:lnTo>
                <a:cubicBezTo>
                  <a:pt x="137731" y="72288"/>
                  <a:pt x="140548" y="75105"/>
                  <a:pt x="143990" y="75105"/>
                </a:cubicBezTo>
                <a:lnTo>
                  <a:pt x="160184" y="75105"/>
                </a:lnTo>
                <a:cubicBezTo>
                  <a:pt x="161827" y="75105"/>
                  <a:pt x="163431" y="74440"/>
                  <a:pt x="164605" y="73266"/>
                </a:cubicBezTo>
                <a:lnTo>
                  <a:pt x="199301" y="38569"/>
                </a:lnTo>
                <a:cubicBezTo>
                  <a:pt x="202274" y="35597"/>
                  <a:pt x="207242" y="36340"/>
                  <a:pt x="208729" y="40251"/>
                </a:cubicBezTo>
                <a:cubicBezTo>
                  <a:pt x="211389" y="47175"/>
                  <a:pt x="212836" y="54725"/>
                  <a:pt x="212836" y="62587"/>
                </a:cubicBezTo>
                <a:cubicBezTo>
                  <a:pt x="212836" y="86292"/>
                  <a:pt x="199653" y="106946"/>
                  <a:pt x="180173" y="117547"/>
                </a:cubicBezTo>
                <a:lnTo>
                  <a:pt x="212053" y="149427"/>
                </a:lnTo>
                <a:cubicBezTo>
                  <a:pt x="219368" y="156742"/>
                  <a:pt x="219368" y="168634"/>
                  <a:pt x="212053" y="175988"/>
                </a:cubicBezTo>
                <a:lnTo>
                  <a:pt x="188544" y="199497"/>
                </a:lnTo>
                <a:cubicBezTo>
                  <a:pt x="181229" y="206812"/>
                  <a:pt x="169338" y="206812"/>
                  <a:pt x="161984" y="199497"/>
                </a:cubicBezTo>
                <a:lnTo>
                  <a:pt x="112696" y="150209"/>
                </a:lnTo>
                <a:cubicBezTo>
                  <a:pt x="101978" y="139491"/>
                  <a:pt x="99553" y="123649"/>
                  <a:pt x="105460" y="110584"/>
                </a:cubicBezTo>
                <a:lnTo>
                  <a:pt x="69980" y="75105"/>
                </a:lnTo>
                <a:lnTo>
                  <a:pt x="50578" y="75105"/>
                </a:lnTo>
                <a:cubicBezTo>
                  <a:pt x="46393" y="75105"/>
                  <a:pt x="42481" y="73032"/>
                  <a:pt x="40173" y="69550"/>
                </a:cubicBezTo>
                <a:lnTo>
                  <a:pt x="9153" y="23040"/>
                </a:lnTo>
                <a:cubicBezTo>
                  <a:pt x="7510" y="20576"/>
                  <a:pt x="7823" y="17251"/>
                  <a:pt x="9936" y="15138"/>
                </a:cubicBezTo>
                <a:lnTo>
                  <a:pt x="27695" y="-2621"/>
                </a:lnTo>
                <a:cubicBezTo>
                  <a:pt x="29807" y="-4733"/>
                  <a:pt x="33093" y="-5046"/>
                  <a:pt x="35597" y="-3403"/>
                </a:cubicBezTo>
                <a:lnTo>
                  <a:pt x="82107" y="27578"/>
                </a:lnTo>
                <a:cubicBezTo>
                  <a:pt x="85588" y="29885"/>
                  <a:pt x="87661" y="33797"/>
                  <a:pt x="87661" y="37983"/>
                </a:cubicBezTo>
                <a:close/>
                <a:moveTo>
                  <a:pt x="84336" y="116021"/>
                </a:moveTo>
                <a:cubicBezTo>
                  <a:pt x="81872" y="130494"/>
                  <a:pt x="85275" y="145789"/>
                  <a:pt x="94663" y="158033"/>
                </a:cubicBezTo>
                <a:lnTo>
                  <a:pt x="57502" y="195155"/>
                </a:lnTo>
                <a:cubicBezTo>
                  <a:pt x="46510" y="206147"/>
                  <a:pt x="28673" y="206147"/>
                  <a:pt x="17681" y="195155"/>
                </a:cubicBezTo>
                <a:cubicBezTo>
                  <a:pt x="6689" y="184163"/>
                  <a:pt x="6689" y="166326"/>
                  <a:pt x="17681" y="155334"/>
                </a:cubicBezTo>
                <a:lnTo>
                  <a:pt x="70645" y="102369"/>
                </a:lnTo>
                <a:lnTo>
                  <a:pt x="84336" y="116060"/>
                </a:lnTo>
                <a:close/>
              </a:path>
            </a:pathLst>
          </a:custGeom>
          <a:solidFill>
            <a:srgbClr val="ddff00"/>
          </a:solidFill>
          <a:ln w="0">
            <a:noFill/>
          </a:ln>
        </p:spPr>
        <p:style>
          <a:lnRef idx="0"/>
          <a:fillRef idx="0"/>
          <a:effectRef idx="0"/>
          <a:fontRef idx="minor"/>
        </p:style>
      </p:sp>
      <p:sp>
        <p:nvSpPr>
          <p:cNvPr id="507" name="Text 33"/>
          <p:cNvSpPr/>
          <p:nvPr/>
        </p:nvSpPr>
        <p:spPr>
          <a:xfrm>
            <a:off x="3861000" y="6584040"/>
            <a:ext cx="1468440" cy="166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DIY Ethic</a:t>
            </a:r>
            <a:endParaRPr b="0" lang="en-HK" sz="920" spc="-1" strike="noStrike">
              <a:latin typeface="Arial"/>
            </a:endParaRPr>
          </a:p>
        </p:txBody>
      </p:sp>
      <p:sp>
        <p:nvSpPr>
          <p:cNvPr id="508" name="Shape 34"/>
          <p:cNvSpPr/>
          <p:nvPr/>
        </p:nvSpPr>
        <p:spPr>
          <a:xfrm>
            <a:off x="5510160" y="6212880"/>
            <a:ext cx="1618560" cy="64224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9" name="Shape 35"/>
          <p:cNvSpPr/>
          <p:nvPr/>
        </p:nvSpPr>
        <p:spPr>
          <a:xfrm>
            <a:off x="6230160" y="6317280"/>
            <a:ext cx="174960" cy="199800"/>
          </a:xfrm>
          <a:custGeom>
            <a:avLst/>
            <a:gdLst/>
            <a:ahLst/>
            <a:rect l="l" t="t" r="r" b="b"/>
            <a:pathLst>
              <a:path w="175244" h="200279">
                <a:moveTo>
                  <a:pt x="62783" y="-10327"/>
                </a:moveTo>
                <a:cubicBezTo>
                  <a:pt x="66421" y="-13378"/>
                  <a:pt x="71780" y="-13261"/>
                  <a:pt x="75261" y="-9975"/>
                </a:cubicBezTo>
                <a:cubicBezTo>
                  <a:pt x="80073" y="-5437"/>
                  <a:pt x="84375" y="-430"/>
                  <a:pt x="88522" y="4655"/>
                </a:cubicBezTo>
                <a:cubicBezTo>
                  <a:pt x="93803" y="11109"/>
                  <a:pt x="100140" y="19637"/>
                  <a:pt x="106242" y="29768"/>
                </a:cubicBezTo>
                <a:cubicBezTo>
                  <a:pt x="108276" y="27108"/>
                  <a:pt x="110154" y="24761"/>
                  <a:pt x="111797" y="22766"/>
                </a:cubicBezTo>
                <a:cubicBezTo>
                  <a:pt x="112227" y="22258"/>
                  <a:pt x="112657" y="21710"/>
                  <a:pt x="113087" y="21162"/>
                </a:cubicBezTo>
                <a:cubicBezTo>
                  <a:pt x="116178" y="17329"/>
                  <a:pt x="120011" y="12517"/>
                  <a:pt x="125135" y="12517"/>
                </a:cubicBezTo>
                <a:cubicBezTo>
                  <a:pt x="130377" y="12517"/>
                  <a:pt x="134054" y="17172"/>
                  <a:pt x="137183" y="21162"/>
                </a:cubicBezTo>
                <a:cubicBezTo>
                  <a:pt x="137692" y="21827"/>
                  <a:pt x="138201" y="22453"/>
                  <a:pt x="138709" y="23040"/>
                </a:cubicBezTo>
                <a:cubicBezTo>
                  <a:pt x="142738" y="27890"/>
                  <a:pt x="148097" y="34892"/>
                  <a:pt x="153456" y="43537"/>
                </a:cubicBezTo>
                <a:cubicBezTo>
                  <a:pt x="164096" y="60710"/>
                  <a:pt x="175205" y="85158"/>
                  <a:pt x="175205" y="112618"/>
                </a:cubicBezTo>
                <a:cubicBezTo>
                  <a:pt x="175205" y="161006"/>
                  <a:pt x="135971" y="200240"/>
                  <a:pt x="87583" y="200240"/>
                </a:cubicBezTo>
                <a:cubicBezTo>
                  <a:pt x="39195" y="200240"/>
                  <a:pt x="0" y="161045"/>
                  <a:pt x="0" y="112657"/>
                </a:cubicBezTo>
                <a:cubicBezTo>
                  <a:pt x="0" y="77021"/>
                  <a:pt x="16077" y="46158"/>
                  <a:pt x="31489" y="24644"/>
                </a:cubicBezTo>
                <a:cubicBezTo>
                  <a:pt x="39274" y="13808"/>
                  <a:pt x="47019" y="5124"/>
                  <a:pt x="52847" y="-821"/>
                </a:cubicBezTo>
                <a:cubicBezTo>
                  <a:pt x="56055" y="-4107"/>
                  <a:pt x="59301" y="-7354"/>
                  <a:pt x="62822" y="-10288"/>
                </a:cubicBezTo>
                <a:close/>
                <a:moveTo>
                  <a:pt x="88287" y="162727"/>
                </a:moveTo>
                <a:cubicBezTo>
                  <a:pt x="98184" y="162727"/>
                  <a:pt x="106946" y="159989"/>
                  <a:pt x="115200" y="154512"/>
                </a:cubicBezTo>
                <a:cubicBezTo>
                  <a:pt x="131668" y="143012"/>
                  <a:pt x="136088" y="120011"/>
                  <a:pt x="126192" y="101939"/>
                </a:cubicBezTo>
                <a:cubicBezTo>
                  <a:pt x="124431" y="98418"/>
                  <a:pt x="119933" y="98184"/>
                  <a:pt x="117390" y="101157"/>
                </a:cubicBezTo>
                <a:lnTo>
                  <a:pt x="107533" y="112618"/>
                </a:lnTo>
                <a:cubicBezTo>
                  <a:pt x="104951" y="115591"/>
                  <a:pt x="100296" y="115513"/>
                  <a:pt x="97871" y="112422"/>
                </a:cubicBezTo>
                <a:cubicBezTo>
                  <a:pt x="91104" y="103778"/>
                  <a:pt x="78664" y="88013"/>
                  <a:pt x="72327" y="79955"/>
                </a:cubicBezTo>
                <a:cubicBezTo>
                  <a:pt x="70215" y="77256"/>
                  <a:pt x="66382" y="76826"/>
                  <a:pt x="63917" y="79212"/>
                </a:cubicBezTo>
                <a:cubicBezTo>
                  <a:pt x="56759" y="86175"/>
                  <a:pt x="43772" y="101430"/>
                  <a:pt x="43772" y="120011"/>
                </a:cubicBezTo>
                <a:cubicBezTo>
                  <a:pt x="43772" y="146845"/>
                  <a:pt x="63565" y="162727"/>
                  <a:pt x="88248" y="162727"/>
                </a:cubicBezTo>
                <a:close/>
              </a:path>
            </a:pathLst>
          </a:custGeom>
          <a:solidFill>
            <a:srgbClr val="ddff00"/>
          </a:solidFill>
          <a:ln w="0">
            <a:noFill/>
          </a:ln>
        </p:spPr>
        <p:style>
          <a:lnRef idx="0"/>
          <a:fillRef idx="0"/>
          <a:effectRef idx="0"/>
          <a:fontRef idx="minor"/>
        </p:style>
      </p:sp>
      <p:sp>
        <p:nvSpPr>
          <p:cNvPr id="510" name="Text 36"/>
          <p:cNvSpPr/>
          <p:nvPr/>
        </p:nvSpPr>
        <p:spPr>
          <a:xfrm>
            <a:off x="5585400" y="6584040"/>
            <a:ext cx="1468440" cy="166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Raw Energy</a:t>
            </a:r>
            <a:endParaRPr b="0" lang="en-HK" sz="920" spc="-1" strike="noStrike">
              <a:latin typeface="Arial"/>
            </a:endParaRPr>
          </a:p>
        </p:txBody>
      </p:sp>
      <p:sp>
        <p:nvSpPr>
          <p:cNvPr id="511" name="Image 0"/>
          <p:cNvSpPr/>
          <p:nvPr/>
        </p:nvSpPr>
        <p:spPr>
          <a:xfrm>
            <a:off x="7330320" y="1101600"/>
            <a:ext cx="4530960" cy="3120480"/>
          </a:xfrm>
          <a:prstGeom prst="roundRect">
            <a:avLst>
              <a:gd name="adj" fmla="val 0"/>
            </a:avLst>
          </a:prstGeom>
          <a:blipFill rotWithShape="0">
            <a:blip r:embed="rId1"/>
            <a:srcRect/>
            <a:stretch/>
          </a:blipFill>
          <a:ln w="0">
            <a:noFill/>
          </a:ln>
        </p:spPr>
        <p:style>
          <a:lnRef idx="0"/>
          <a:fillRef idx="0"/>
          <a:effectRef idx="0"/>
          <a:fontRef idx="minor"/>
        </p:style>
      </p:sp>
      <p:sp>
        <p:nvSpPr>
          <p:cNvPr id="512" name="Shape 37"/>
          <p:cNvSpPr/>
          <p:nvPr/>
        </p:nvSpPr>
        <p:spPr>
          <a:xfrm>
            <a:off x="7330320" y="1101600"/>
            <a:ext cx="4530960" cy="3120480"/>
          </a:xfrm>
          <a:custGeom>
            <a:avLst/>
            <a:gdLst/>
            <a:ahLst/>
            <a:rect l="l" t="t" r="r" b="b"/>
            <a:pathLst>
              <a:path w="4531318" h="3121018">
                <a:moveTo>
                  <a:pt x="0" y="0"/>
                </a:moveTo>
                <a:lnTo>
                  <a:pt x="4531318" y="0"/>
                </a:lnTo>
                <a:lnTo>
                  <a:pt x="4531318" y="3121018"/>
                </a:lnTo>
                <a:lnTo>
                  <a:pt x="0" y="3121018"/>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513" name="Text 38"/>
          <p:cNvSpPr/>
          <p:nvPr/>
        </p:nvSpPr>
        <p:spPr>
          <a:xfrm>
            <a:off x="7463880" y="3655080"/>
            <a:ext cx="432216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ddff00"/>
                </a:solidFill>
                <a:latin typeface="Liter"/>
                <a:ea typeface="Liter"/>
              </a:rPr>
              <a:t>PUNK ENERGY</a:t>
            </a:r>
            <a:endParaRPr b="0" lang="en-HK" sz="920" spc="-1" strike="noStrike">
              <a:latin typeface="Arial"/>
            </a:endParaRPr>
          </a:p>
        </p:txBody>
      </p:sp>
      <p:sp>
        <p:nvSpPr>
          <p:cNvPr id="514" name="Text 39"/>
          <p:cNvSpPr/>
          <p:nvPr/>
        </p:nvSpPr>
        <p:spPr>
          <a:xfrm>
            <a:off x="7463880" y="3855240"/>
            <a:ext cx="4339080" cy="233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Raw &amp; Unfiltered</a:t>
            </a:r>
            <a:endParaRPr b="0" lang="en-HK" sz="1180" spc="-1" strike="noStrike">
              <a:latin typeface="Arial"/>
            </a:endParaRPr>
          </a:p>
        </p:txBody>
      </p:sp>
      <p:sp>
        <p:nvSpPr>
          <p:cNvPr id="515" name="Shape 40"/>
          <p:cNvSpPr/>
          <p:nvPr/>
        </p:nvSpPr>
        <p:spPr>
          <a:xfrm>
            <a:off x="7338600" y="4364280"/>
            <a:ext cx="4514400" cy="1685160"/>
          </a:xfrm>
          <a:custGeom>
            <a:avLst/>
            <a:gdLst/>
            <a:ahLst/>
            <a:rect l="l" t="t" r="r" b="b"/>
            <a:pathLst>
              <a:path w="4514628" h="1685684">
                <a:moveTo>
                  <a:pt x="0" y="0"/>
                </a:moveTo>
                <a:lnTo>
                  <a:pt x="4514628" y="0"/>
                </a:lnTo>
                <a:lnTo>
                  <a:pt x="4514628" y="1685684"/>
                </a:lnTo>
                <a:lnTo>
                  <a:pt x="0" y="1685684"/>
                </a:lnTo>
                <a:lnTo>
                  <a:pt x="0" y="0"/>
                </a:lnTo>
                <a:close/>
              </a:path>
            </a:pathLst>
          </a:custGeom>
          <a:noFill/>
          <a:ln w="25400">
            <a:solidFill>
              <a:srgbClr val="ddff00"/>
            </a:solidFill>
            <a:round/>
          </a:ln>
        </p:spPr>
        <p:style>
          <a:lnRef idx="0"/>
          <a:fillRef idx="0"/>
          <a:effectRef idx="0"/>
          <a:fontRef idx="minor"/>
        </p:style>
      </p:sp>
      <p:sp>
        <p:nvSpPr>
          <p:cNvPr id="516" name="Text 41"/>
          <p:cNvSpPr/>
          <p:nvPr/>
        </p:nvSpPr>
        <p:spPr>
          <a:xfrm>
            <a:off x="7513920" y="4539600"/>
            <a:ext cx="4239000" cy="233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ddff00"/>
                </a:solidFill>
                <a:latin typeface="Liter"/>
                <a:ea typeface="Liter"/>
              </a:rPr>
              <a:t>Cultural Impact</a:t>
            </a:r>
            <a:endParaRPr b="0" lang="en-HK" sz="1180" spc="-1" strike="noStrike">
              <a:latin typeface="Arial"/>
            </a:endParaRPr>
          </a:p>
        </p:txBody>
      </p:sp>
      <p:sp>
        <p:nvSpPr>
          <p:cNvPr id="517" name="Shape 42"/>
          <p:cNvSpPr/>
          <p:nvPr/>
        </p:nvSpPr>
        <p:spPr>
          <a:xfrm>
            <a:off x="7513920" y="4940280"/>
            <a:ext cx="66240" cy="6624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18" name="Text 43"/>
          <p:cNvSpPr/>
          <p:nvPr/>
        </p:nvSpPr>
        <p:spPr>
          <a:xfrm>
            <a:off x="7647480" y="4873320"/>
            <a:ext cx="290376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Fashion:</a:t>
            </a:r>
            <a:r>
              <a:rPr b="0" lang="en-US" sz="1050" spc="-1" strike="noStrike">
                <a:solidFill>
                  <a:srgbClr val="ffffff">
                    <a:alpha val="80000"/>
                  </a:srgbClr>
                </a:solidFill>
                <a:latin typeface="Liter"/>
                <a:ea typeface="Liter"/>
              </a:rPr>
              <a:t> Safety pins, leather jackets, torn clothes</a:t>
            </a:r>
            <a:endParaRPr b="0" lang="en-HK" sz="1050" spc="-1" strike="noStrike">
              <a:latin typeface="Arial"/>
            </a:endParaRPr>
          </a:p>
        </p:txBody>
      </p:sp>
      <p:sp>
        <p:nvSpPr>
          <p:cNvPr id="519" name="Shape 44"/>
          <p:cNvSpPr/>
          <p:nvPr/>
        </p:nvSpPr>
        <p:spPr>
          <a:xfrm>
            <a:off x="7513920" y="5207400"/>
            <a:ext cx="66240" cy="6624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20" name="Text 45"/>
          <p:cNvSpPr/>
          <p:nvPr/>
        </p:nvSpPr>
        <p:spPr>
          <a:xfrm>
            <a:off x="7647480" y="5140440"/>
            <a:ext cx="242820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Attitude:</a:t>
            </a:r>
            <a:r>
              <a:rPr b="0" lang="en-US" sz="1050" spc="-1" strike="noStrike">
                <a:solidFill>
                  <a:srgbClr val="ffffff">
                    <a:alpha val="80000"/>
                  </a:srgbClr>
                </a:solidFill>
                <a:latin typeface="Liter"/>
                <a:ea typeface="Liter"/>
              </a:rPr>
              <a:t> Rebellion, anti-authoritarianism</a:t>
            </a:r>
            <a:endParaRPr b="0" lang="en-HK" sz="1050" spc="-1" strike="noStrike">
              <a:latin typeface="Arial"/>
            </a:endParaRPr>
          </a:p>
        </p:txBody>
      </p:sp>
      <p:sp>
        <p:nvSpPr>
          <p:cNvPr id="521" name="Shape 46"/>
          <p:cNvSpPr/>
          <p:nvPr/>
        </p:nvSpPr>
        <p:spPr>
          <a:xfrm>
            <a:off x="7513920" y="5474160"/>
            <a:ext cx="66240" cy="6624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22" name="Text 47"/>
          <p:cNvSpPr/>
          <p:nvPr/>
        </p:nvSpPr>
        <p:spPr>
          <a:xfrm>
            <a:off x="7647480" y="5407560"/>
            <a:ext cx="246132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DIY Culture:</a:t>
            </a:r>
            <a:r>
              <a:rPr b="0" lang="en-US" sz="1050" spc="-1" strike="noStrike">
                <a:solidFill>
                  <a:srgbClr val="ffffff">
                    <a:alpha val="80000"/>
                  </a:srgbClr>
                </a:solidFill>
                <a:latin typeface="Liter"/>
                <a:ea typeface="Liter"/>
              </a:rPr>
              <a:t> Independent labels, fanzines</a:t>
            </a:r>
            <a:endParaRPr b="0" lang="en-HK" sz="1050" spc="-1" strike="noStrike">
              <a:latin typeface="Arial"/>
            </a:endParaRPr>
          </a:p>
        </p:txBody>
      </p:sp>
      <p:sp>
        <p:nvSpPr>
          <p:cNvPr id="523" name="Shape 48"/>
          <p:cNvSpPr/>
          <p:nvPr/>
        </p:nvSpPr>
        <p:spPr>
          <a:xfrm>
            <a:off x="7513920" y="5741280"/>
            <a:ext cx="66240" cy="6624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24" name="Text 49"/>
          <p:cNvSpPr/>
          <p:nvPr/>
        </p:nvSpPr>
        <p:spPr>
          <a:xfrm>
            <a:off x="7647480" y="5674680"/>
            <a:ext cx="331272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Social Commentary:</a:t>
            </a:r>
            <a:r>
              <a:rPr b="0" lang="en-US" sz="1050" spc="-1" strike="noStrike">
                <a:solidFill>
                  <a:srgbClr val="ffffff">
                    <a:alpha val="80000"/>
                  </a:srgbClr>
                </a:solidFill>
                <a:latin typeface="Liter"/>
                <a:ea typeface="Liter"/>
              </a:rPr>
              <a:t> Political lyrics, working-class voice</a:t>
            </a:r>
            <a:endParaRPr b="0" lang="en-HK" sz="1050" spc="-1" strike="noStrike">
              <a:latin typeface="Arial"/>
            </a:endParaRPr>
          </a:p>
        </p:txBody>
      </p:sp>
      <p:sp>
        <p:nvSpPr>
          <p:cNvPr id="525" name="Shape 50"/>
          <p:cNvSpPr/>
          <p:nvPr/>
        </p:nvSpPr>
        <p:spPr>
          <a:xfrm>
            <a:off x="7330320" y="6192000"/>
            <a:ext cx="4530960" cy="667080"/>
          </a:xfrm>
          <a:custGeom>
            <a:avLst/>
            <a:gdLst/>
            <a:ahLst/>
            <a:rect l="l" t="t" r="r" b="b"/>
            <a:pathLst>
              <a:path w="4531318" h="667598">
                <a:moveTo>
                  <a:pt x="0" y="0"/>
                </a:moveTo>
                <a:lnTo>
                  <a:pt x="4531318" y="0"/>
                </a:lnTo>
                <a:lnTo>
                  <a:pt x="4531318" y="667598"/>
                </a:lnTo>
                <a:lnTo>
                  <a:pt x="0" y="667598"/>
                </a:lnTo>
                <a:lnTo>
                  <a:pt x="0" y="0"/>
                </a:lnTo>
                <a:close/>
              </a:path>
            </a:pathLst>
          </a:custGeom>
          <a:solidFill>
            <a:srgbClr val="ddff00"/>
          </a:solidFill>
          <a:ln w="0">
            <a:noFill/>
          </a:ln>
        </p:spPr>
        <p:style>
          <a:lnRef idx="0"/>
          <a:fillRef idx="0"/>
          <a:effectRef idx="0"/>
          <a:fontRef idx="minor"/>
        </p:style>
      </p:sp>
      <p:sp>
        <p:nvSpPr>
          <p:cNvPr id="526" name="Text 51"/>
          <p:cNvSpPr/>
          <p:nvPr/>
        </p:nvSpPr>
        <p:spPr>
          <a:xfrm>
            <a:off x="7430400" y="6325560"/>
            <a:ext cx="4330800" cy="4003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000000"/>
                </a:solidFill>
                <a:latin typeface="Liter"/>
                <a:ea typeface="Liter"/>
              </a:rPr>
              <a:t>"Punk is musical freedom."</a:t>
            </a:r>
            <a:endParaRPr b="0" lang="en-HK" sz="1050" spc="-1" strike="noStrike">
              <a:latin typeface="Arial"/>
            </a:endParaRPr>
          </a:p>
          <a:p>
            <a:pPr algn="ctr">
              <a:lnSpc>
                <a:spcPct val="130000"/>
              </a:lnSpc>
              <a:buNone/>
            </a:pPr>
            <a:r>
              <a:rPr b="0" lang="en-US" sz="920" spc="-1" strike="noStrike">
                <a:solidFill>
                  <a:srgbClr val="000000"/>
                </a:solidFill>
                <a:latin typeface="Liter"/>
                <a:ea typeface="Liter"/>
              </a:rPr>
              <a:t>— </a:t>
            </a:r>
            <a:r>
              <a:rPr b="0" lang="en-US" sz="920" spc="-1" strike="noStrike">
                <a:solidFill>
                  <a:srgbClr val="000000"/>
                </a:solidFill>
                <a:latin typeface="Liter"/>
                <a:ea typeface="Liter"/>
              </a:rPr>
              <a:t>Kurt Cobain</a:t>
            </a:r>
            <a:endParaRPr b="0" lang="en-HK" sz="92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527" name="Shape 0"/>
          <p:cNvSpPr/>
          <p:nvPr/>
        </p:nvSpPr>
        <p:spPr>
          <a:xfrm>
            <a:off x="317520" y="365040"/>
            <a:ext cx="63000" cy="38052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528" name="Text 1"/>
          <p:cNvSpPr/>
          <p:nvPr/>
        </p:nvSpPr>
        <p:spPr>
          <a:xfrm>
            <a:off x="507960" y="317520"/>
            <a:ext cx="515124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6" strike="noStrike">
                <a:solidFill>
                  <a:srgbClr val="ddff00"/>
                </a:solidFill>
                <a:latin typeface="Liter"/>
                <a:ea typeface="Liter"/>
              </a:rPr>
              <a:t>CHAPTER 05</a:t>
            </a:r>
            <a:endParaRPr b="0" lang="en-HK" sz="880" spc="-1" strike="noStrike">
              <a:latin typeface="Arial"/>
            </a:endParaRPr>
          </a:p>
        </p:txBody>
      </p:sp>
      <p:sp>
        <p:nvSpPr>
          <p:cNvPr id="529" name="Text 2"/>
          <p:cNvSpPr/>
          <p:nvPr/>
        </p:nvSpPr>
        <p:spPr>
          <a:xfrm>
            <a:off x="507960" y="476280"/>
            <a:ext cx="5238360" cy="3171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New Wave: Creativity &amp; Experimentation</a:t>
            </a:r>
            <a:endParaRPr b="0" lang="en-HK" sz="2250" spc="-1" strike="noStrike">
              <a:latin typeface="Arial"/>
            </a:endParaRPr>
          </a:p>
        </p:txBody>
      </p:sp>
      <p:sp>
        <p:nvSpPr>
          <p:cNvPr id="530" name="Shape 3"/>
          <p:cNvSpPr/>
          <p:nvPr/>
        </p:nvSpPr>
        <p:spPr>
          <a:xfrm>
            <a:off x="317520" y="1047600"/>
            <a:ext cx="4547880" cy="2269800"/>
          </a:xfrm>
          <a:custGeom>
            <a:avLst/>
            <a:gdLst/>
            <a:ahLst/>
            <a:rect l="l" t="t" r="r" b="b"/>
            <a:pathLst>
              <a:path w="4548188" h="2270125">
                <a:moveTo>
                  <a:pt x="0" y="0"/>
                </a:moveTo>
                <a:lnTo>
                  <a:pt x="4548188" y="0"/>
                </a:lnTo>
                <a:lnTo>
                  <a:pt x="4548188" y="2270125"/>
                </a:lnTo>
                <a:lnTo>
                  <a:pt x="0" y="2270125"/>
                </a:lnTo>
                <a:lnTo>
                  <a:pt x="0" y="0"/>
                </a:lnTo>
                <a:close/>
              </a:path>
            </a:pathLst>
          </a:custGeom>
          <a:solidFill>
            <a:srgbClr val="ddff00"/>
          </a:solidFill>
          <a:ln w="0">
            <a:noFill/>
          </a:ln>
        </p:spPr>
        <p:style>
          <a:lnRef idx="0"/>
          <a:fillRef idx="0"/>
          <a:effectRef idx="0"/>
          <a:fontRef idx="minor"/>
        </p:style>
      </p:sp>
      <p:sp>
        <p:nvSpPr>
          <p:cNvPr id="531" name="Text 4"/>
          <p:cNvSpPr/>
          <p:nvPr/>
        </p:nvSpPr>
        <p:spPr>
          <a:xfrm>
            <a:off x="507960" y="1238400"/>
            <a:ext cx="426204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Artistic Evolution from Punk</a:t>
            </a:r>
            <a:endParaRPr b="0" lang="en-HK" sz="1500" spc="-1" strike="noStrike">
              <a:latin typeface="Arial"/>
            </a:endParaRPr>
          </a:p>
        </p:txBody>
      </p:sp>
      <p:sp>
        <p:nvSpPr>
          <p:cNvPr id="532" name="Text 5"/>
          <p:cNvSpPr/>
          <p:nvPr/>
        </p:nvSpPr>
        <p:spPr>
          <a:xfrm>
            <a:off x="507960" y="1587600"/>
            <a:ext cx="4230360" cy="825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New Wave emerged in the late 1970s as a departure from punk's rawness,</a:t>
            </a:r>
            <a:r>
              <a:rPr b="0" lang="en-US" sz="1000" spc="-1" strike="noStrike">
                <a:solidFill>
                  <a:srgbClr val="000000"/>
                </a:solidFill>
                <a:latin typeface="Liter"/>
                <a:ea typeface="Liter"/>
              </a:rPr>
              <a:t> incorporating a more diverse range of musical influences and a focus on creativity and experimentation. While punk stripped music down to its essentials, New Wave built it back up with artistic flair.</a:t>
            </a:r>
            <a:endParaRPr b="0" lang="en-HK" sz="1000" spc="-1" strike="noStrike">
              <a:latin typeface="Arial"/>
            </a:endParaRPr>
          </a:p>
        </p:txBody>
      </p:sp>
      <p:sp>
        <p:nvSpPr>
          <p:cNvPr id="533" name="Text 6"/>
          <p:cNvSpPr/>
          <p:nvPr/>
        </p:nvSpPr>
        <p:spPr>
          <a:xfrm>
            <a:off x="507960" y="2508120"/>
            <a:ext cx="4230360" cy="618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New Wave was not limited to a single musical style but embraced variety—incorporating pop, rock, punk, electronic, disco, and reggae elements. This diversity allowed for innovation while maintaining accessibility.</a:t>
            </a:r>
            <a:endParaRPr b="0" lang="en-HK" sz="1000" spc="-1" strike="noStrike">
              <a:latin typeface="Arial"/>
            </a:endParaRPr>
          </a:p>
        </p:txBody>
      </p:sp>
      <p:sp>
        <p:nvSpPr>
          <p:cNvPr id="534" name="Shape 7"/>
          <p:cNvSpPr/>
          <p:nvPr/>
        </p:nvSpPr>
        <p:spPr>
          <a:xfrm>
            <a:off x="325440" y="3452760"/>
            <a:ext cx="4532040" cy="3126960"/>
          </a:xfrm>
          <a:custGeom>
            <a:avLst/>
            <a:gdLst/>
            <a:ahLst/>
            <a:rect l="l" t="t" r="r" b="b"/>
            <a:pathLst>
              <a:path w="4532313" h="3127375">
                <a:moveTo>
                  <a:pt x="0" y="0"/>
                </a:moveTo>
                <a:lnTo>
                  <a:pt x="4532313" y="0"/>
                </a:lnTo>
                <a:lnTo>
                  <a:pt x="4532313" y="3127375"/>
                </a:lnTo>
                <a:lnTo>
                  <a:pt x="0" y="3127375"/>
                </a:lnTo>
                <a:lnTo>
                  <a:pt x="0" y="0"/>
                </a:lnTo>
                <a:close/>
              </a:path>
            </a:pathLst>
          </a:custGeom>
          <a:noFill/>
          <a:ln w="25400">
            <a:solidFill>
              <a:srgbClr val="ddff00"/>
            </a:solidFill>
            <a:round/>
          </a:ln>
        </p:spPr>
        <p:style>
          <a:lnRef idx="0"/>
          <a:fillRef idx="0"/>
          <a:effectRef idx="0"/>
          <a:fontRef idx="minor"/>
        </p:style>
      </p:sp>
      <p:sp>
        <p:nvSpPr>
          <p:cNvPr id="535" name="Text 8"/>
          <p:cNvSpPr/>
          <p:nvPr/>
        </p:nvSpPr>
        <p:spPr>
          <a:xfrm>
            <a:off x="492120" y="3619440"/>
            <a:ext cx="4277880" cy="221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Key New Wave Artists</a:t>
            </a:r>
            <a:endParaRPr b="0" lang="en-HK" sz="1250" spc="-1" strike="noStrike">
              <a:latin typeface="Arial"/>
            </a:endParaRPr>
          </a:p>
        </p:txBody>
      </p:sp>
      <p:sp>
        <p:nvSpPr>
          <p:cNvPr id="536" name="Shape 9"/>
          <p:cNvSpPr/>
          <p:nvPr/>
        </p:nvSpPr>
        <p:spPr>
          <a:xfrm>
            <a:off x="507960" y="3968640"/>
            <a:ext cx="31320" cy="4125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37" name="Shape 10"/>
          <p:cNvSpPr/>
          <p:nvPr/>
        </p:nvSpPr>
        <p:spPr>
          <a:xfrm>
            <a:off x="619200" y="3968640"/>
            <a:ext cx="317160" cy="3171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38" name="Shape 11"/>
          <p:cNvSpPr/>
          <p:nvPr/>
        </p:nvSpPr>
        <p:spPr>
          <a:xfrm>
            <a:off x="714240" y="4064040"/>
            <a:ext cx="126720" cy="126720"/>
          </a:xfrm>
          <a:custGeom>
            <a:avLst/>
            <a:gdLst/>
            <a:ahLst/>
            <a:rect l="l" t="t" r="r" b="b"/>
            <a:pathLst>
              <a:path w="127000" h="127000">
                <a:moveTo>
                  <a:pt x="29766" y="13891"/>
                </a:moveTo>
                <a:cubicBezTo>
                  <a:pt x="29766" y="6226"/>
                  <a:pt x="35992" y="0"/>
                  <a:pt x="43656" y="0"/>
                </a:cubicBezTo>
                <a:lnTo>
                  <a:pt x="49609" y="0"/>
                </a:lnTo>
                <a:cubicBezTo>
                  <a:pt x="54000" y="0"/>
                  <a:pt x="57547" y="3547"/>
                  <a:pt x="57547" y="7938"/>
                </a:cubicBezTo>
                <a:lnTo>
                  <a:pt x="57547" y="119063"/>
                </a:lnTo>
                <a:cubicBezTo>
                  <a:pt x="57547" y="123453"/>
                  <a:pt x="54000" y="127000"/>
                  <a:pt x="49609" y="127000"/>
                </a:cubicBezTo>
                <a:lnTo>
                  <a:pt x="41672" y="127000"/>
                </a:lnTo>
                <a:cubicBezTo>
                  <a:pt x="34280" y="127000"/>
                  <a:pt x="28054" y="121940"/>
                  <a:pt x="26293" y="115094"/>
                </a:cubicBezTo>
                <a:cubicBezTo>
                  <a:pt x="26119" y="115094"/>
                  <a:pt x="25971" y="115094"/>
                  <a:pt x="25797" y="115094"/>
                </a:cubicBezTo>
                <a:cubicBezTo>
                  <a:pt x="14833" y="115094"/>
                  <a:pt x="5953" y="106214"/>
                  <a:pt x="5953" y="95250"/>
                </a:cubicBezTo>
                <a:cubicBezTo>
                  <a:pt x="5953" y="90785"/>
                  <a:pt x="7441" y="86668"/>
                  <a:pt x="9922" y="83344"/>
                </a:cubicBezTo>
                <a:cubicBezTo>
                  <a:pt x="5110" y="79722"/>
                  <a:pt x="1984" y="73968"/>
                  <a:pt x="1984" y="67469"/>
                </a:cubicBezTo>
                <a:cubicBezTo>
                  <a:pt x="1984" y="59804"/>
                  <a:pt x="6350" y="53132"/>
                  <a:pt x="12700" y="49833"/>
                </a:cubicBezTo>
                <a:cubicBezTo>
                  <a:pt x="10939" y="46856"/>
                  <a:pt x="9922" y="43383"/>
                  <a:pt x="9922" y="39688"/>
                </a:cubicBezTo>
                <a:cubicBezTo>
                  <a:pt x="9922" y="28724"/>
                  <a:pt x="18802" y="19844"/>
                  <a:pt x="29766" y="19844"/>
                </a:cubicBezTo>
                <a:lnTo>
                  <a:pt x="29766" y="13891"/>
                </a:lnTo>
                <a:close/>
                <a:moveTo>
                  <a:pt x="97234" y="13891"/>
                </a:moveTo>
                <a:lnTo>
                  <a:pt x="97234" y="19844"/>
                </a:lnTo>
                <a:cubicBezTo>
                  <a:pt x="108198" y="19844"/>
                  <a:pt x="117078" y="28724"/>
                  <a:pt x="117078" y="39688"/>
                </a:cubicBezTo>
                <a:cubicBezTo>
                  <a:pt x="117078" y="43408"/>
                  <a:pt x="116061" y="46881"/>
                  <a:pt x="114300" y="49833"/>
                </a:cubicBezTo>
                <a:cubicBezTo>
                  <a:pt x="120675" y="53132"/>
                  <a:pt x="125016" y="59779"/>
                  <a:pt x="125016" y="67469"/>
                </a:cubicBezTo>
                <a:cubicBezTo>
                  <a:pt x="125016" y="73968"/>
                  <a:pt x="121890" y="79722"/>
                  <a:pt x="117078" y="83344"/>
                </a:cubicBezTo>
                <a:cubicBezTo>
                  <a:pt x="119559" y="86668"/>
                  <a:pt x="121047" y="90785"/>
                  <a:pt x="121047" y="95250"/>
                </a:cubicBezTo>
                <a:cubicBezTo>
                  <a:pt x="121047" y="106214"/>
                  <a:pt x="112167" y="115094"/>
                  <a:pt x="101203" y="115094"/>
                </a:cubicBezTo>
                <a:cubicBezTo>
                  <a:pt x="101029" y="115094"/>
                  <a:pt x="100881" y="115094"/>
                  <a:pt x="100707" y="115094"/>
                </a:cubicBezTo>
                <a:cubicBezTo>
                  <a:pt x="98946" y="121940"/>
                  <a:pt x="92720" y="127000"/>
                  <a:pt x="85328" y="127000"/>
                </a:cubicBezTo>
                <a:lnTo>
                  <a:pt x="77391" y="127000"/>
                </a:lnTo>
                <a:cubicBezTo>
                  <a:pt x="73000" y="127000"/>
                  <a:pt x="69453" y="123453"/>
                  <a:pt x="69453" y="119063"/>
                </a:cubicBezTo>
                <a:lnTo>
                  <a:pt x="69453" y="7938"/>
                </a:lnTo>
                <a:cubicBezTo>
                  <a:pt x="69453" y="3547"/>
                  <a:pt x="73000" y="0"/>
                  <a:pt x="77391" y="0"/>
                </a:cubicBezTo>
                <a:lnTo>
                  <a:pt x="83344" y="0"/>
                </a:lnTo>
                <a:cubicBezTo>
                  <a:pt x="91008" y="0"/>
                  <a:pt x="97234" y="6226"/>
                  <a:pt x="97234" y="13891"/>
                </a:cubicBezTo>
                <a:close/>
              </a:path>
            </a:pathLst>
          </a:custGeom>
          <a:solidFill>
            <a:srgbClr val="000000"/>
          </a:solidFill>
          <a:ln w="0">
            <a:noFill/>
          </a:ln>
        </p:spPr>
        <p:style>
          <a:lnRef idx="0"/>
          <a:fillRef idx="0"/>
          <a:effectRef idx="0"/>
          <a:fontRef idx="minor"/>
        </p:style>
      </p:sp>
      <p:sp>
        <p:nvSpPr>
          <p:cNvPr id="539" name="Text 12"/>
          <p:cNvSpPr/>
          <p:nvPr/>
        </p:nvSpPr>
        <p:spPr>
          <a:xfrm>
            <a:off x="1031760" y="3968640"/>
            <a:ext cx="207936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Talking Heads</a:t>
            </a:r>
            <a:endParaRPr b="0" lang="en-HK" sz="1130" spc="-1" strike="noStrike">
              <a:latin typeface="Arial"/>
            </a:endParaRPr>
          </a:p>
        </p:txBody>
      </p:sp>
      <p:sp>
        <p:nvSpPr>
          <p:cNvPr id="540" name="Text 13"/>
          <p:cNvSpPr/>
          <p:nvPr/>
        </p:nvSpPr>
        <p:spPr>
          <a:xfrm>
            <a:off x="1031760" y="4191120"/>
            <a:ext cx="207144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Art-rock sophistication, quirky lyrics</a:t>
            </a:r>
            <a:endParaRPr b="0" lang="en-HK" sz="1000" spc="-1" strike="noStrike">
              <a:latin typeface="Arial"/>
            </a:endParaRPr>
          </a:p>
        </p:txBody>
      </p:sp>
      <p:sp>
        <p:nvSpPr>
          <p:cNvPr id="541" name="Shape 14"/>
          <p:cNvSpPr/>
          <p:nvPr/>
        </p:nvSpPr>
        <p:spPr>
          <a:xfrm>
            <a:off x="507960" y="4476600"/>
            <a:ext cx="31320" cy="4125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42" name="Shape 15"/>
          <p:cNvSpPr/>
          <p:nvPr/>
        </p:nvSpPr>
        <p:spPr>
          <a:xfrm>
            <a:off x="619200" y="4476600"/>
            <a:ext cx="317160" cy="3171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43" name="Shape 16"/>
          <p:cNvSpPr/>
          <p:nvPr/>
        </p:nvSpPr>
        <p:spPr>
          <a:xfrm>
            <a:off x="730080" y="4572000"/>
            <a:ext cx="95040" cy="126720"/>
          </a:xfrm>
          <a:custGeom>
            <a:avLst/>
            <a:gdLst/>
            <a:ahLst/>
            <a:rect l="l" t="t" r="r" b="b"/>
            <a:pathLst>
              <a:path w="95250" h="127000">
                <a:moveTo>
                  <a:pt x="33734" y="5953"/>
                </a:moveTo>
                <a:cubicBezTo>
                  <a:pt x="33734" y="-1713"/>
                  <a:pt x="39959" y="-7937"/>
                  <a:pt x="47625" y="-7937"/>
                </a:cubicBezTo>
                <a:cubicBezTo>
                  <a:pt x="55291" y="-7937"/>
                  <a:pt x="61516" y="-1713"/>
                  <a:pt x="61516" y="5953"/>
                </a:cubicBezTo>
                <a:cubicBezTo>
                  <a:pt x="61516" y="13620"/>
                  <a:pt x="55291" y="19844"/>
                  <a:pt x="47625" y="19844"/>
                </a:cubicBezTo>
                <a:cubicBezTo>
                  <a:pt x="39959" y="19844"/>
                  <a:pt x="33734" y="13620"/>
                  <a:pt x="33734" y="5953"/>
                </a:cubicBezTo>
                <a:close/>
                <a:moveTo>
                  <a:pt x="27781" y="95250"/>
                </a:moveTo>
                <a:lnTo>
                  <a:pt x="21382" y="95250"/>
                </a:lnTo>
                <a:cubicBezTo>
                  <a:pt x="18678" y="95250"/>
                  <a:pt x="16768" y="92596"/>
                  <a:pt x="17611" y="90016"/>
                </a:cubicBezTo>
                <a:lnTo>
                  <a:pt x="28277" y="58018"/>
                </a:lnTo>
                <a:lnTo>
                  <a:pt x="16297" y="74166"/>
                </a:lnTo>
                <a:cubicBezTo>
                  <a:pt x="13692" y="77688"/>
                  <a:pt x="8706" y="78432"/>
                  <a:pt x="5184" y="75803"/>
                </a:cubicBezTo>
                <a:cubicBezTo>
                  <a:pt x="1662" y="73174"/>
                  <a:pt x="918" y="68213"/>
                  <a:pt x="3547" y="64691"/>
                </a:cubicBezTo>
                <a:lnTo>
                  <a:pt x="21034" y="41126"/>
                </a:lnTo>
                <a:cubicBezTo>
                  <a:pt x="27285" y="32742"/>
                  <a:pt x="37133" y="27781"/>
                  <a:pt x="47625" y="27781"/>
                </a:cubicBezTo>
                <a:cubicBezTo>
                  <a:pt x="58117" y="27781"/>
                  <a:pt x="67965" y="32742"/>
                  <a:pt x="74216" y="41151"/>
                </a:cubicBezTo>
                <a:lnTo>
                  <a:pt x="91703" y="64715"/>
                </a:lnTo>
                <a:cubicBezTo>
                  <a:pt x="94307" y="68238"/>
                  <a:pt x="93588" y="73199"/>
                  <a:pt x="90066" y="75828"/>
                </a:cubicBezTo>
                <a:cubicBezTo>
                  <a:pt x="86544" y="78457"/>
                  <a:pt x="81583" y="77713"/>
                  <a:pt x="78953" y="74191"/>
                </a:cubicBezTo>
                <a:lnTo>
                  <a:pt x="66973" y="58043"/>
                </a:lnTo>
                <a:lnTo>
                  <a:pt x="77639" y="90016"/>
                </a:lnTo>
                <a:cubicBezTo>
                  <a:pt x="78507" y="92596"/>
                  <a:pt x="76572" y="95250"/>
                  <a:pt x="73868" y="95250"/>
                </a:cubicBezTo>
                <a:lnTo>
                  <a:pt x="67469" y="95250"/>
                </a:lnTo>
                <a:lnTo>
                  <a:pt x="67469" y="127000"/>
                </a:lnTo>
                <a:cubicBezTo>
                  <a:pt x="67469" y="131390"/>
                  <a:pt x="63922" y="134938"/>
                  <a:pt x="59531" y="134938"/>
                </a:cubicBezTo>
                <a:cubicBezTo>
                  <a:pt x="55141" y="134938"/>
                  <a:pt x="51594" y="131390"/>
                  <a:pt x="51594" y="127000"/>
                </a:cubicBezTo>
                <a:lnTo>
                  <a:pt x="51594" y="95250"/>
                </a:lnTo>
                <a:lnTo>
                  <a:pt x="43656" y="95250"/>
                </a:lnTo>
                <a:lnTo>
                  <a:pt x="43656" y="127000"/>
                </a:lnTo>
                <a:cubicBezTo>
                  <a:pt x="43656" y="131390"/>
                  <a:pt x="40109" y="134938"/>
                  <a:pt x="35719" y="134938"/>
                </a:cubicBezTo>
                <a:cubicBezTo>
                  <a:pt x="31328" y="134938"/>
                  <a:pt x="27781" y="131390"/>
                  <a:pt x="27781" y="127000"/>
                </a:cubicBezTo>
                <a:lnTo>
                  <a:pt x="27781" y="95250"/>
                </a:lnTo>
                <a:close/>
              </a:path>
            </a:pathLst>
          </a:custGeom>
          <a:solidFill>
            <a:srgbClr val="000000"/>
          </a:solidFill>
          <a:ln w="0">
            <a:noFill/>
          </a:ln>
        </p:spPr>
        <p:style>
          <a:lnRef idx="0"/>
          <a:fillRef idx="0"/>
          <a:effectRef idx="0"/>
          <a:fontRef idx="minor"/>
        </p:style>
      </p:sp>
      <p:sp>
        <p:nvSpPr>
          <p:cNvPr id="544" name="Text 17"/>
          <p:cNvSpPr/>
          <p:nvPr/>
        </p:nvSpPr>
        <p:spPr>
          <a:xfrm>
            <a:off x="1031760" y="4476600"/>
            <a:ext cx="174600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Blondie</a:t>
            </a:r>
            <a:endParaRPr b="0" lang="en-HK" sz="1130" spc="-1" strike="noStrike">
              <a:latin typeface="Arial"/>
            </a:endParaRPr>
          </a:p>
        </p:txBody>
      </p:sp>
      <p:sp>
        <p:nvSpPr>
          <p:cNvPr id="545" name="Text 18"/>
          <p:cNvSpPr/>
          <p:nvPr/>
        </p:nvSpPr>
        <p:spPr>
          <a:xfrm>
            <a:off x="1031760" y="4699080"/>
            <a:ext cx="173808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Punk energy meets pop hooks</a:t>
            </a:r>
            <a:endParaRPr b="0" lang="en-HK" sz="1000" spc="-1" strike="noStrike">
              <a:latin typeface="Arial"/>
            </a:endParaRPr>
          </a:p>
        </p:txBody>
      </p:sp>
      <p:sp>
        <p:nvSpPr>
          <p:cNvPr id="546" name="Shape 19"/>
          <p:cNvSpPr/>
          <p:nvPr/>
        </p:nvSpPr>
        <p:spPr>
          <a:xfrm>
            <a:off x="507960" y="4984920"/>
            <a:ext cx="31320" cy="4125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47" name="Shape 20"/>
          <p:cNvSpPr/>
          <p:nvPr/>
        </p:nvSpPr>
        <p:spPr>
          <a:xfrm>
            <a:off x="619200" y="4984920"/>
            <a:ext cx="317160" cy="3171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48" name="Shape 21"/>
          <p:cNvSpPr/>
          <p:nvPr/>
        </p:nvSpPr>
        <p:spPr>
          <a:xfrm>
            <a:off x="714240" y="5079960"/>
            <a:ext cx="126720" cy="126720"/>
          </a:xfrm>
          <a:custGeom>
            <a:avLst/>
            <a:gdLst/>
            <a:ahLst/>
            <a:rect l="l" t="t" r="r" b="b"/>
            <a:pathLst>
              <a:path w="127000" h="127000">
                <a:moveTo>
                  <a:pt x="63500" y="0"/>
                </a:moveTo>
                <a:cubicBezTo>
                  <a:pt x="64641" y="0"/>
                  <a:pt x="65782" y="248"/>
                  <a:pt x="66824" y="719"/>
                </a:cubicBezTo>
                <a:lnTo>
                  <a:pt x="113556" y="20538"/>
                </a:lnTo>
                <a:cubicBezTo>
                  <a:pt x="119013" y="22845"/>
                  <a:pt x="123081" y="28228"/>
                  <a:pt x="123056" y="34727"/>
                </a:cubicBezTo>
                <a:cubicBezTo>
                  <a:pt x="122932" y="59333"/>
                  <a:pt x="112812" y="104353"/>
                  <a:pt x="70073" y="124817"/>
                </a:cubicBezTo>
                <a:cubicBezTo>
                  <a:pt x="65931" y="126802"/>
                  <a:pt x="61119" y="126802"/>
                  <a:pt x="56976" y="124817"/>
                </a:cubicBezTo>
                <a:cubicBezTo>
                  <a:pt x="14213" y="104353"/>
                  <a:pt x="4118" y="59333"/>
                  <a:pt x="3994" y="34727"/>
                </a:cubicBezTo>
                <a:cubicBezTo>
                  <a:pt x="3969" y="28228"/>
                  <a:pt x="8037" y="22845"/>
                  <a:pt x="13494" y="20538"/>
                </a:cubicBezTo>
                <a:lnTo>
                  <a:pt x="60201" y="719"/>
                </a:lnTo>
                <a:cubicBezTo>
                  <a:pt x="61243" y="248"/>
                  <a:pt x="62359" y="0"/>
                  <a:pt x="63500" y="0"/>
                </a:cubicBezTo>
                <a:close/>
                <a:moveTo>
                  <a:pt x="63500" y="16570"/>
                </a:moveTo>
                <a:lnTo>
                  <a:pt x="63500" y="110356"/>
                </a:lnTo>
                <a:cubicBezTo>
                  <a:pt x="97730" y="93787"/>
                  <a:pt x="106933" y="57076"/>
                  <a:pt x="107156" y="35099"/>
                </a:cubicBezTo>
                <a:lnTo>
                  <a:pt x="63500" y="16594"/>
                </a:lnTo>
                <a:lnTo>
                  <a:pt x="63500" y="16594"/>
                </a:lnTo>
                <a:close/>
              </a:path>
            </a:pathLst>
          </a:custGeom>
          <a:solidFill>
            <a:srgbClr val="000000"/>
          </a:solidFill>
          <a:ln w="0">
            <a:noFill/>
          </a:ln>
        </p:spPr>
        <p:style>
          <a:lnRef idx="0"/>
          <a:fillRef idx="0"/>
          <a:effectRef idx="0"/>
          <a:fontRef idx="minor"/>
        </p:style>
      </p:sp>
      <p:sp>
        <p:nvSpPr>
          <p:cNvPr id="549" name="Text 22"/>
          <p:cNvSpPr/>
          <p:nvPr/>
        </p:nvSpPr>
        <p:spPr>
          <a:xfrm>
            <a:off x="1031760" y="4984920"/>
            <a:ext cx="222228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Police</a:t>
            </a:r>
            <a:endParaRPr b="0" lang="en-HK" sz="1130" spc="-1" strike="noStrike">
              <a:latin typeface="Arial"/>
            </a:endParaRPr>
          </a:p>
        </p:txBody>
      </p:sp>
      <p:sp>
        <p:nvSpPr>
          <p:cNvPr id="550" name="Text 23"/>
          <p:cNvSpPr/>
          <p:nvPr/>
        </p:nvSpPr>
        <p:spPr>
          <a:xfrm>
            <a:off x="1031760" y="5207040"/>
            <a:ext cx="221436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Reggae-rock fusion, sophisticated pop</a:t>
            </a:r>
            <a:endParaRPr b="0" lang="en-HK" sz="1000" spc="-1" strike="noStrike">
              <a:latin typeface="Arial"/>
            </a:endParaRPr>
          </a:p>
        </p:txBody>
      </p:sp>
      <p:sp>
        <p:nvSpPr>
          <p:cNvPr id="551" name="Shape 24"/>
          <p:cNvSpPr/>
          <p:nvPr/>
        </p:nvSpPr>
        <p:spPr>
          <a:xfrm>
            <a:off x="507960" y="5492880"/>
            <a:ext cx="31320" cy="4125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52" name="Shape 25"/>
          <p:cNvSpPr/>
          <p:nvPr/>
        </p:nvSpPr>
        <p:spPr>
          <a:xfrm>
            <a:off x="619200" y="5492880"/>
            <a:ext cx="317160" cy="3171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53" name="Shape 26"/>
          <p:cNvSpPr/>
          <p:nvPr/>
        </p:nvSpPr>
        <p:spPr>
          <a:xfrm>
            <a:off x="698400" y="5587920"/>
            <a:ext cx="158400" cy="126720"/>
          </a:xfrm>
          <a:custGeom>
            <a:avLst/>
            <a:gdLst/>
            <a:ahLst/>
            <a:rect l="l" t="t" r="r" b="b"/>
            <a:pathLst>
              <a:path w="158750" h="127000">
                <a:moveTo>
                  <a:pt x="87313" y="0"/>
                </a:moveTo>
                <a:cubicBezTo>
                  <a:pt x="87313" y="-4390"/>
                  <a:pt x="83765" y="-7937"/>
                  <a:pt x="79375" y="-7937"/>
                </a:cubicBezTo>
                <a:cubicBezTo>
                  <a:pt x="74985" y="-7937"/>
                  <a:pt x="71438" y="-4390"/>
                  <a:pt x="71438" y="0"/>
                </a:cubicBezTo>
                <a:lnTo>
                  <a:pt x="71438" y="15875"/>
                </a:lnTo>
                <a:lnTo>
                  <a:pt x="47625" y="15875"/>
                </a:lnTo>
                <a:cubicBezTo>
                  <a:pt x="34479" y="15875"/>
                  <a:pt x="23812" y="26541"/>
                  <a:pt x="23812" y="39688"/>
                </a:cubicBezTo>
                <a:lnTo>
                  <a:pt x="23812" y="95250"/>
                </a:lnTo>
                <a:cubicBezTo>
                  <a:pt x="23812" y="108396"/>
                  <a:pt x="34479" y="119063"/>
                  <a:pt x="47625" y="119063"/>
                </a:cubicBezTo>
                <a:lnTo>
                  <a:pt x="111125" y="119063"/>
                </a:lnTo>
                <a:cubicBezTo>
                  <a:pt x="124271" y="119063"/>
                  <a:pt x="134938" y="108396"/>
                  <a:pt x="134938" y="95250"/>
                </a:cubicBezTo>
                <a:lnTo>
                  <a:pt x="134938" y="39688"/>
                </a:lnTo>
                <a:cubicBezTo>
                  <a:pt x="134938" y="26541"/>
                  <a:pt x="124271" y="15875"/>
                  <a:pt x="111125" y="15875"/>
                </a:cubicBezTo>
                <a:lnTo>
                  <a:pt x="87313" y="15875"/>
                </a:lnTo>
                <a:lnTo>
                  <a:pt x="87313" y="0"/>
                </a:lnTo>
                <a:close/>
                <a:moveTo>
                  <a:pt x="39688" y="91281"/>
                </a:moveTo>
                <a:cubicBezTo>
                  <a:pt x="39688" y="87982"/>
                  <a:pt x="42342" y="85328"/>
                  <a:pt x="45641" y="85328"/>
                </a:cubicBezTo>
                <a:lnTo>
                  <a:pt x="53578" y="85328"/>
                </a:lnTo>
                <a:cubicBezTo>
                  <a:pt x="56877" y="85328"/>
                  <a:pt x="59531" y="87982"/>
                  <a:pt x="59531" y="91281"/>
                </a:cubicBezTo>
                <a:cubicBezTo>
                  <a:pt x="59531" y="94580"/>
                  <a:pt x="56877" y="97234"/>
                  <a:pt x="53578" y="97234"/>
                </a:cubicBezTo>
                <a:lnTo>
                  <a:pt x="45641" y="97234"/>
                </a:lnTo>
                <a:cubicBezTo>
                  <a:pt x="42342" y="97234"/>
                  <a:pt x="39688" y="94580"/>
                  <a:pt x="39688" y="91281"/>
                </a:cubicBezTo>
                <a:close/>
                <a:moveTo>
                  <a:pt x="69453" y="91281"/>
                </a:moveTo>
                <a:cubicBezTo>
                  <a:pt x="69453" y="87982"/>
                  <a:pt x="72107" y="85328"/>
                  <a:pt x="75406" y="85328"/>
                </a:cubicBezTo>
                <a:lnTo>
                  <a:pt x="83344" y="85328"/>
                </a:lnTo>
                <a:cubicBezTo>
                  <a:pt x="86643" y="85328"/>
                  <a:pt x="89297" y="87982"/>
                  <a:pt x="89297" y="91281"/>
                </a:cubicBezTo>
                <a:cubicBezTo>
                  <a:pt x="89297" y="94580"/>
                  <a:pt x="86643" y="97234"/>
                  <a:pt x="83344" y="97234"/>
                </a:cubicBezTo>
                <a:lnTo>
                  <a:pt x="75406" y="97234"/>
                </a:lnTo>
                <a:cubicBezTo>
                  <a:pt x="72107" y="97234"/>
                  <a:pt x="69453" y="94580"/>
                  <a:pt x="69453" y="91281"/>
                </a:cubicBezTo>
                <a:close/>
                <a:moveTo>
                  <a:pt x="99219" y="91281"/>
                </a:moveTo>
                <a:cubicBezTo>
                  <a:pt x="99219" y="87982"/>
                  <a:pt x="101873" y="85328"/>
                  <a:pt x="105172" y="85328"/>
                </a:cubicBezTo>
                <a:lnTo>
                  <a:pt x="113109" y="85328"/>
                </a:lnTo>
                <a:cubicBezTo>
                  <a:pt x="116408" y="85328"/>
                  <a:pt x="119063" y="87982"/>
                  <a:pt x="119063" y="91281"/>
                </a:cubicBezTo>
                <a:cubicBezTo>
                  <a:pt x="119063" y="94580"/>
                  <a:pt x="116408" y="97234"/>
                  <a:pt x="113109" y="97234"/>
                </a:cubicBezTo>
                <a:lnTo>
                  <a:pt x="105172" y="97234"/>
                </a:lnTo>
                <a:cubicBezTo>
                  <a:pt x="101873" y="97234"/>
                  <a:pt x="99219" y="94580"/>
                  <a:pt x="99219" y="91281"/>
                </a:cubicBezTo>
                <a:close/>
                <a:moveTo>
                  <a:pt x="55563" y="43656"/>
                </a:moveTo>
                <a:cubicBezTo>
                  <a:pt x="62134" y="43656"/>
                  <a:pt x="67469" y="48991"/>
                  <a:pt x="67469" y="55563"/>
                </a:cubicBezTo>
                <a:cubicBezTo>
                  <a:pt x="67469" y="62134"/>
                  <a:pt x="62134" y="67469"/>
                  <a:pt x="55563" y="67469"/>
                </a:cubicBezTo>
                <a:cubicBezTo>
                  <a:pt x="48991" y="67469"/>
                  <a:pt x="43656" y="62134"/>
                  <a:pt x="43656" y="55563"/>
                </a:cubicBezTo>
                <a:cubicBezTo>
                  <a:pt x="43656" y="48991"/>
                  <a:pt x="48991" y="43656"/>
                  <a:pt x="55563" y="43656"/>
                </a:cubicBezTo>
                <a:close/>
                <a:moveTo>
                  <a:pt x="91281" y="55563"/>
                </a:moveTo>
                <a:cubicBezTo>
                  <a:pt x="91281" y="48991"/>
                  <a:pt x="96616" y="43656"/>
                  <a:pt x="103188" y="43656"/>
                </a:cubicBezTo>
                <a:cubicBezTo>
                  <a:pt x="109759" y="43656"/>
                  <a:pt x="115094" y="48991"/>
                  <a:pt x="115094" y="55563"/>
                </a:cubicBezTo>
                <a:cubicBezTo>
                  <a:pt x="115094" y="62134"/>
                  <a:pt x="109759" y="67469"/>
                  <a:pt x="103188" y="67469"/>
                </a:cubicBezTo>
                <a:cubicBezTo>
                  <a:pt x="96616" y="67469"/>
                  <a:pt x="91281" y="62134"/>
                  <a:pt x="91281" y="55563"/>
                </a:cubicBezTo>
                <a:close/>
                <a:moveTo>
                  <a:pt x="15875" y="55563"/>
                </a:moveTo>
                <a:cubicBezTo>
                  <a:pt x="15875" y="51172"/>
                  <a:pt x="12328" y="47625"/>
                  <a:pt x="7938" y="47625"/>
                </a:cubicBezTo>
                <a:cubicBezTo>
                  <a:pt x="3547" y="47625"/>
                  <a:pt x="0" y="51172"/>
                  <a:pt x="0" y="55563"/>
                </a:cubicBezTo>
                <a:lnTo>
                  <a:pt x="0" y="79375"/>
                </a:lnTo>
                <a:cubicBezTo>
                  <a:pt x="0" y="83765"/>
                  <a:pt x="3547" y="87313"/>
                  <a:pt x="7938" y="87313"/>
                </a:cubicBezTo>
                <a:cubicBezTo>
                  <a:pt x="12328" y="87313"/>
                  <a:pt x="15875" y="83765"/>
                  <a:pt x="15875" y="79375"/>
                </a:cubicBezTo>
                <a:lnTo>
                  <a:pt x="15875" y="55563"/>
                </a:lnTo>
                <a:close/>
                <a:moveTo>
                  <a:pt x="150813" y="47625"/>
                </a:moveTo>
                <a:cubicBezTo>
                  <a:pt x="146422" y="47625"/>
                  <a:pt x="142875" y="51172"/>
                  <a:pt x="142875" y="55563"/>
                </a:cubicBezTo>
                <a:lnTo>
                  <a:pt x="142875" y="79375"/>
                </a:lnTo>
                <a:cubicBezTo>
                  <a:pt x="142875" y="83765"/>
                  <a:pt x="146422" y="87313"/>
                  <a:pt x="150813" y="87313"/>
                </a:cubicBezTo>
                <a:cubicBezTo>
                  <a:pt x="155203" y="87313"/>
                  <a:pt x="158750" y="83765"/>
                  <a:pt x="158750" y="79375"/>
                </a:cubicBezTo>
                <a:lnTo>
                  <a:pt x="158750" y="55563"/>
                </a:lnTo>
                <a:cubicBezTo>
                  <a:pt x="158750" y="51172"/>
                  <a:pt x="155203" y="47625"/>
                  <a:pt x="150813" y="47625"/>
                </a:cubicBezTo>
                <a:close/>
              </a:path>
            </a:pathLst>
          </a:custGeom>
          <a:solidFill>
            <a:srgbClr val="000000"/>
          </a:solidFill>
          <a:ln w="0">
            <a:noFill/>
          </a:ln>
        </p:spPr>
        <p:style>
          <a:lnRef idx="0"/>
          <a:fillRef idx="0"/>
          <a:effectRef idx="0"/>
          <a:fontRef idx="minor"/>
        </p:style>
      </p:sp>
      <p:sp>
        <p:nvSpPr>
          <p:cNvPr id="554" name="Text 27"/>
          <p:cNvSpPr/>
          <p:nvPr/>
        </p:nvSpPr>
        <p:spPr>
          <a:xfrm>
            <a:off x="1031760" y="5492880"/>
            <a:ext cx="148392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Devo</a:t>
            </a:r>
            <a:endParaRPr b="0" lang="en-HK" sz="1130" spc="-1" strike="noStrike">
              <a:latin typeface="Arial"/>
            </a:endParaRPr>
          </a:p>
        </p:txBody>
      </p:sp>
      <p:sp>
        <p:nvSpPr>
          <p:cNvPr id="555" name="Text 28"/>
          <p:cNvSpPr/>
          <p:nvPr/>
        </p:nvSpPr>
        <p:spPr>
          <a:xfrm>
            <a:off x="1031760" y="5715000"/>
            <a:ext cx="147600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Quirky, futuristic, satirical</a:t>
            </a:r>
            <a:endParaRPr b="0" lang="en-HK" sz="1000" spc="-1" strike="noStrike">
              <a:latin typeface="Arial"/>
            </a:endParaRPr>
          </a:p>
        </p:txBody>
      </p:sp>
      <p:sp>
        <p:nvSpPr>
          <p:cNvPr id="556" name="Shape 29"/>
          <p:cNvSpPr/>
          <p:nvPr/>
        </p:nvSpPr>
        <p:spPr>
          <a:xfrm>
            <a:off x="507960" y="6000840"/>
            <a:ext cx="31320" cy="4125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57" name="Shape 30"/>
          <p:cNvSpPr/>
          <p:nvPr/>
        </p:nvSpPr>
        <p:spPr>
          <a:xfrm>
            <a:off x="619200" y="6000840"/>
            <a:ext cx="317160" cy="3171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58" name="Shape 31"/>
          <p:cNvSpPr/>
          <p:nvPr/>
        </p:nvSpPr>
        <p:spPr>
          <a:xfrm>
            <a:off x="706320" y="6095880"/>
            <a:ext cx="142560" cy="126720"/>
          </a:xfrm>
          <a:custGeom>
            <a:avLst/>
            <a:gdLst/>
            <a:ahLst/>
            <a:rect l="l" t="t" r="r" b="b"/>
            <a:pathLst>
              <a:path w="142875" h="127000">
                <a:moveTo>
                  <a:pt x="23812" y="15875"/>
                </a:moveTo>
                <a:cubicBezTo>
                  <a:pt x="15056" y="15875"/>
                  <a:pt x="7938" y="22994"/>
                  <a:pt x="7938" y="31750"/>
                </a:cubicBezTo>
                <a:lnTo>
                  <a:pt x="7938" y="95250"/>
                </a:lnTo>
                <a:cubicBezTo>
                  <a:pt x="7938" y="104006"/>
                  <a:pt x="15056" y="111125"/>
                  <a:pt x="23812" y="111125"/>
                </a:cubicBezTo>
                <a:lnTo>
                  <a:pt x="87313" y="111125"/>
                </a:lnTo>
                <a:cubicBezTo>
                  <a:pt x="96069" y="111125"/>
                  <a:pt x="103188" y="104006"/>
                  <a:pt x="103188" y="95250"/>
                </a:cubicBezTo>
                <a:lnTo>
                  <a:pt x="103188" y="31750"/>
                </a:lnTo>
                <a:cubicBezTo>
                  <a:pt x="103188" y="22994"/>
                  <a:pt x="96069" y="15875"/>
                  <a:pt x="87313" y="15875"/>
                </a:cubicBezTo>
                <a:lnTo>
                  <a:pt x="23812" y="15875"/>
                </a:lnTo>
                <a:close/>
                <a:moveTo>
                  <a:pt x="115094" y="83344"/>
                </a:moveTo>
                <a:lnTo>
                  <a:pt x="133325" y="97929"/>
                </a:lnTo>
                <a:cubicBezTo>
                  <a:pt x="134367" y="98772"/>
                  <a:pt x="135657" y="99219"/>
                  <a:pt x="136996" y="99219"/>
                </a:cubicBezTo>
                <a:cubicBezTo>
                  <a:pt x="140246" y="99219"/>
                  <a:pt x="142875" y="96589"/>
                  <a:pt x="142875" y="93340"/>
                </a:cubicBezTo>
                <a:lnTo>
                  <a:pt x="142875" y="33660"/>
                </a:lnTo>
                <a:cubicBezTo>
                  <a:pt x="142875" y="30411"/>
                  <a:pt x="140246" y="27781"/>
                  <a:pt x="136996" y="27781"/>
                </a:cubicBezTo>
                <a:cubicBezTo>
                  <a:pt x="135657" y="27781"/>
                  <a:pt x="134367" y="28228"/>
                  <a:pt x="133325" y="29071"/>
                </a:cubicBezTo>
                <a:lnTo>
                  <a:pt x="115094" y="43656"/>
                </a:lnTo>
                <a:lnTo>
                  <a:pt x="115094" y="83344"/>
                </a:lnTo>
                <a:close/>
              </a:path>
            </a:pathLst>
          </a:custGeom>
          <a:solidFill>
            <a:srgbClr val="000000"/>
          </a:solidFill>
          <a:ln w="0">
            <a:noFill/>
          </a:ln>
        </p:spPr>
        <p:style>
          <a:lnRef idx="0"/>
          <a:fillRef idx="0"/>
          <a:effectRef idx="0"/>
          <a:fontRef idx="minor"/>
        </p:style>
      </p:sp>
      <p:sp>
        <p:nvSpPr>
          <p:cNvPr id="559" name="Text 32"/>
          <p:cNvSpPr/>
          <p:nvPr/>
        </p:nvSpPr>
        <p:spPr>
          <a:xfrm>
            <a:off x="1031760" y="6000840"/>
            <a:ext cx="169020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Duran Duran</a:t>
            </a:r>
            <a:endParaRPr b="0" lang="en-HK" sz="1130" spc="-1" strike="noStrike">
              <a:latin typeface="Arial"/>
            </a:endParaRPr>
          </a:p>
        </p:txBody>
      </p:sp>
      <p:sp>
        <p:nvSpPr>
          <p:cNvPr id="560" name="Text 33"/>
          <p:cNvSpPr/>
          <p:nvPr/>
        </p:nvSpPr>
        <p:spPr>
          <a:xfrm>
            <a:off x="1031760" y="6222960"/>
            <a:ext cx="168228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MTV-era glamour, synth-pop</a:t>
            </a:r>
            <a:endParaRPr b="0" lang="en-HK" sz="1000" spc="-1" strike="noStrike">
              <a:latin typeface="Arial"/>
            </a:endParaRPr>
          </a:p>
        </p:txBody>
      </p:sp>
      <p:sp>
        <p:nvSpPr>
          <p:cNvPr id="561" name="Shape 34"/>
          <p:cNvSpPr/>
          <p:nvPr/>
        </p:nvSpPr>
        <p:spPr>
          <a:xfrm>
            <a:off x="5062680" y="1055520"/>
            <a:ext cx="6802200" cy="2777760"/>
          </a:xfrm>
          <a:custGeom>
            <a:avLst/>
            <a:gdLst/>
            <a:ahLst/>
            <a:rect l="l" t="t" r="r" b="b"/>
            <a:pathLst>
              <a:path w="6802438" h="2778125">
                <a:moveTo>
                  <a:pt x="0" y="0"/>
                </a:moveTo>
                <a:lnTo>
                  <a:pt x="6802438" y="0"/>
                </a:lnTo>
                <a:lnTo>
                  <a:pt x="6802438" y="2778125"/>
                </a:lnTo>
                <a:lnTo>
                  <a:pt x="0" y="2778125"/>
                </a:lnTo>
                <a:lnTo>
                  <a:pt x="0" y="0"/>
                </a:lnTo>
                <a:close/>
              </a:path>
            </a:pathLst>
          </a:custGeom>
          <a:noFill/>
          <a:ln w="25400">
            <a:solidFill>
              <a:srgbClr val="ddff00"/>
            </a:solidFill>
            <a:round/>
          </a:ln>
        </p:spPr>
        <p:style>
          <a:lnRef idx="0"/>
          <a:fillRef idx="0"/>
          <a:effectRef idx="0"/>
          <a:fontRef idx="minor"/>
        </p:style>
      </p:sp>
      <p:sp>
        <p:nvSpPr>
          <p:cNvPr id="562" name="Text 35"/>
          <p:cNvSpPr/>
          <p:nvPr/>
        </p:nvSpPr>
        <p:spPr>
          <a:xfrm>
            <a:off x="5261040" y="1254240"/>
            <a:ext cx="650052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New Wave Characteristics</a:t>
            </a:r>
            <a:endParaRPr b="0" lang="en-HK" sz="1500" spc="-1" strike="noStrike">
              <a:latin typeface="Arial"/>
            </a:endParaRPr>
          </a:p>
        </p:txBody>
      </p:sp>
      <p:sp>
        <p:nvSpPr>
          <p:cNvPr id="563" name="Shape 36"/>
          <p:cNvSpPr/>
          <p:nvPr/>
        </p:nvSpPr>
        <p:spPr>
          <a:xfrm>
            <a:off x="5265000" y="1639080"/>
            <a:ext cx="3134880" cy="92844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64" name="Shape 37"/>
          <p:cNvSpPr/>
          <p:nvPr/>
        </p:nvSpPr>
        <p:spPr>
          <a:xfrm>
            <a:off x="5415840" y="1809720"/>
            <a:ext cx="142560" cy="142560"/>
          </a:xfrm>
          <a:custGeom>
            <a:avLst/>
            <a:gdLst/>
            <a:ahLst/>
            <a:rect l="l" t="t" r="r" b="b"/>
            <a:pathLst>
              <a:path w="142875" h="142875">
                <a:moveTo>
                  <a:pt x="8930" y="17859"/>
                </a:moveTo>
                <a:cubicBezTo>
                  <a:pt x="3990" y="17859"/>
                  <a:pt x="0" y="21850"/>
                  <a:pt x="0" y="26789"/>
                </a:cubicBezTo>
                <a:cubicBezTo>
                  <a:pt x="0" y="31728"/>
                  <a:pt x="3990" y="35719"/>
                  <a:pt x="8930" y="35719"/>
                </a:cubicBezTo>
                <a:lnTo>
                  <a:pt x="33124" y="35719"/>
                </a:lnTo>
                <a:cubicBezTo>
                  <a:pt x="36556" y="43616"/>
                  <a:pt x="44425" y="49113"/>
                  <a:pt x="53578" y="49113"/>
                </a:cubicBezTo>
                <a:cubicBezTo>
                  <a:pt x="62731" y="49113"/>
                  <a:pt x="70600" y="43616"/>
                  <a:pt x="74033" y="35719"/>
                </a:cubicBezTo>
                <a:lnTo>
                  <a:pt x="133945" y="35719"/>
                </a:lnTo>
                <a:cubicBezTo>
                  <a:pt x="138885" y="35719"/>
                  <a:pt x="142875" y="31728"/>
                  <a:pt x="142875" y="26789"/>
                </a:cubicBezTo>
                <a:cubicBezTo>
                  <a:pt x="142875" y="21850"/>
                  <a:pt x="138885" y="17859"/>
                  <a:pt x="133945" y="17859"/>
                </a:cubicBezTo>
                <a:lnTo>
                  <a:pt x="74033" y="17859"/>
                </a:lnTo>
                <a:cubicBezTo>
                  <a:pt x="70600" y="9962"/>
                  <a:pt x="62731" y="4465"/>
                  <a:pt x="53578" y="4465"/>
                </a:cubicBezTo>
                <a:cubicBezTo>
                  <a:pt x="44425" y="4465"/>
                  <a:pt x="36556" y="9962"/>
                  <a:pt x="33124" y="17859"/>
                </a:cubicBezTo>
                <a:lnTo>
                  <a:pt x="8930" y="17859"/>
                </a:lnTo>
                <a:close/>
                <a:moveTo>
                  <a:pt x="8930" y="62508"/>
                </a:moveTo>
                <a:cubicBezTo>
                  <a:pt x="3990" y="62508"/>
                  <a:pt x="0" y="66498"/>
                  <a:pt x="0" y="71438"/>
                </a:cubicBezTo>
                <a:cubicBezTo>
                  <a:pt x="0" y="76377"/>
                  <a:pt x="3990" y="80367"/>
                  <a:pt x="8930" y="80367"/>
                </a:cubicBezTo>
                <a:lnTo>
                  <a:pt x="77772" y="80367"/>
                </a:lnTo>
                <a:cubicBezTo>
                  <a:pt x="81204" y="88264"/>
                  <a:pt x="89074" y="93762"/>
                  <a:pt x="98227" y="93762"/>
                </a:cubicBezTo>
                <a:cubicBezTo>
                  <a:pt x="107379" y="93762"/>
                  <a:pt x="115249" y="88264"/>
                  <a:pt x="118681" y="80367"/>
                </a:cubicBezTo>
                <a:lnTo>
                  <a:pt x="133945" y="80367"/>
                </a:lnTo>
                <a:cubicBezTo>
                  <a:pt x="138885" y="80367"/>
                  <a:pt x="142875" y="76377"/>
                  <a:pt x="142875" y="71438"/>
                </a:cubicBezTo>
                <a:cubicBezTo>
                  <a:pt x="142875" y="66498"/>
                  <a:pt x="138885" y="62508"/>
                  <a:pt x="133945" y="62508"/>
                </a:cubicBezTo>
                <a:lnTo>
                  <a:pt x="118681" y="62508"/>
                </a:lnTo>
                <a:cubicBezTo>
                  <a:pt x="115249" y="54611"/>
                  <a:pt x="107379" y="49113"/>
                  <a:pt x="98227" y="49113"/>
                </a:cubicBezTo>
                <a:cubicBezTo>
                  <a:pt x="89074" y="49113"/>
                  <a:pt x="81204" y="54611"/>
                  <a:pt x="77772" y="62508"/>
                </a:cubicBezTo>
                <a:lnTo>
                  <a:pt x="8930" y="62508"/>
                </a:lnTo>
                <a:close/>
                <a:moveTo>
                  <a:pt x="8930" y="107156"/>
                </a:moveTo>
                <a:cubicBezTo>
                  <a:pt x="3990" y="107156"/>
                  <a:pt x="0" y="111147"/>
                  <a:pt x="0" y="116086"/>
                </a:cubicBezTo>
                <a:cubicBezTo>
                  <a:pt x="0" y="121025"/>
                  <a:pt x="3990" y="125016"/>
                  <a:pt x="8930" y="125016"/>
                </a:cubicBezTo>
                <a:lnTo>
                  <a:pt x="24194" y="125016"/>
                </a:lnTo>
                <a:cubicBezTo>
                  <a:pt x="27626" y="132913"/>
                  <a:pt x="35496" y="138410"/>
                  <a:pt x="44648" y="138410"/>
                </a:cubicBezTo>
                <a:cubicBezTo>
                  <a:pt x="53801" y="138410"/>
                  <a:pt x="61671" y="132913"/>
                  <a:pt x="65103" y="125016"/>
                </a:cubicBezTo>
                <a:lnTo>
                  <a:pt x="133945" y="125016"/>
                </a:lnTo>
                <a:cubicBezTo>
                  <a:pt x="138885" y="125016"/>
                  <a:pt x="142875" y="121025"/>
                  <a:pt x="142875" y="116086"/>
                </a:cubicBezTo>
                <a:cubicBezTo>
                  <a:pt x="142875" y="111147"/>
                  <a:pt x="138885" y="107156"/>
                  <a:pt x="133945" y="107156"/>
                </a:cubicBezTo>
                <a:lnTo>
                  <a:pt x="65103" y="107156"/>
                </a:lnTo>
                <a:cubicBezTo>
                  <a:pt x="61671" y="99259"/>
                  <a:pt x="53801" y="93762"/>
                  <a:pt x="44648" y="93762"/>
                </a:cubicBezTo>
                <a:cubicBezTo>
                  <a:pt x="35496" y="93762"/>
                  <a:pt x="27626" y="99259"/>
                  <a:pt x="24194" y="107156"/>
                </a:cubicBezTo>
                <a:lnTo>
                  <a:pt x="8930" y="107156"/>
                </a:lnTo>
                <a:close/>
              </a:path>
            </a:pathLst>
          </a:custGeom>
          <a:solidFill>
            <a:srgbClr val="ddff00"/>
          </a:solidFill>
          <a:ln w="0">
            <a:noFill/>
          </a:ln>
        </p:spPr>
        <p:style>
          <a:lnRef idx="0"/>
          <a:fillRef idx="0"/>
          <a:effectRef idx="0"/>
          <a:fontRef idx="minor"/>
        </p:style>
      </p:sp>
      <p:sp>
        <p:nvSpPr>
          <p:cNvPr id="565" name="Text 38"/>
          <p:cNvSpPr/>
          <p:nvPr/>
        </p:nvSpPr>
        <p:spPr>
          <a:xfrm>
            <a:off x="5578560" y="1770120"/>
            <a:ext cx="276192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Synthesizers</a:t>
            </a:r>
            <a:endParaRPr b="0" lang="en-HK" sz="1130" spc="-1" strike="noStrike">
              <a:latin typeface="Arial"/>
            </a:endParaRPr>
          </a:p>
        </p:txBody>
      </p:sp>
      <p:sp>
        <p:nvSpPr>
          <p:cNvPr id="566" name="Text 39"/>
          <p:cNvSpPr/>
          <p:nvPr/>
        </p:nvSpPr>
        <p:spPr>
          <a:xfrm>
            <a:off x="5396040" y="2055960"/>
            <a:ext cx="2936520" cy="38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Electronic instruments played a significant role, contributing to futuristic and quirky sounds</a:t>
            </a:r>
            <a:endParaRPr b="0" lang="en-HK" sz="1000" spc="-1" strike="noStrike">
              <a:latin typeface="Arial"/>
            </a:endParaRPr>
          </a:p>
        </p:txBody>
      </p:sp>
      <p:sp>
        <p:nvSpPr>
          <p:cNvPr id="567" name="Shape 40"/>
          <p:cNvSpPr/>
          <p:nvPr/>
        </p:nvSpPr>
        <p:spPr>
          <a:xfrm>
            <a:off x="8532000" y="1639080"/>
            <a:ext cx="3134880" cy="92844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68" name="Shape 41"/>
          <p:cNvSpPr/>
          <p:nvPr/>
        </p:nvSpPr>
        <p:spPr>
          <a:xfrm>
            <a:off x="8682840" y="1809720"/>
            <a:ext cx="142560" cy="142560"/>
          </a:xfrm>
          <a:custGeom>
            <a:avLst/>
            <a:gdLst/>
            <a:ahLst/>
            <a:rect l="l" t="t" r="r" b="b"/>
            <a:pathLst>
              <a:path w="142875" h="142875">
                <a:moveTo>
                  <a:pt x="130597" y="1953"/>
                </a:moveTo>
                <a:cubicBezTo>
                  <a:pt x="132717" y="3656"/>
                  <a:pt x="133945" y="6223"/>
                  <a:pt x="133945" y="8930"/>
                </a:cubicBezTo>
                <a:lnTo>
                  <a:pt x="133945" y="93762"/>
                </a:lnTo>
                <a:cubicBezTo>
                  <a:pt x="133945" y="106096"/>
                  <a:pt x="121946" y="116086"/>
                  <a:pt x="107156" y="116086"/>
                </a:cubicBezTo>
                <a:cubicBezTo>
                  <a:pt x="92366" y="116086"/>
                  <a:pt x="80367" y="106096"/>
                  <a:pt x="80367" y="93762"/>
                </a:cubicBezTo>
                <a:cubicBezTo>
                  <a:pt x="80367" y="81428"/>
                  <a:pt x="92366" y="71438"/>
                  <a:pt x="107156" y="71438"/>
                </a:cubicBezTo>
                <a:cubicBezTo>
                  <a:pt x="110282" y="71438"/>
                  <a:pt x="113295" y="71884"/>
                  <a:pt x="116086" y="72721"/>
                </a:cubicBezTo>
                <a:lnTo>
                  <a:pt x="116086" y="40156"/>
                </a:lnTo>
                <a:lnTo>
                  <a:pt x="53578" y="54053"/>
                </a:lnTo>
                <a:lnTo>
                  <a:pt x="53578" y="111621"/>
                </a:lnTo>
                <a:cubicBezTo>
                  <a:pt x="53578" y="123955"/>
                  <a:pt x="41579" y="133945"/>
                  <a:pt x="26789" y="133945"/>
                </a:cubicBezTo>
                <a:cubicBezTo>
                  <a:pt x="11999" y="133945"/>
                  <a:pt x="0" y="123955"/>
                  <a:pt x="0" y="111621"/>
                </a:cubicBezTo>
                <a:cubicBezTo>
                  <a:pt x="0" y="99287"/>
                  <a:pt x="11999" y="89297"/>
                  <a:pt x="26789" y="89297"/>
                </a:cubicBezTo>
                <a:cubicBezTo>
                  <a:pt x="29914" y="89297"/>
                  <a:pt x="32928" y="89743"/>
                  <a:pt x="35719" y="90581"/>
                </a:cubicBezTo>
                <a:lnTo>
                  <a:pt x="35719" y="26789"/>
                </a:lnTo>
                <a:cubicBezTo>
                  <a:pt x="35719" y="22603"/>
                  <a:pt x="38621" y="18976"/>
                  <a:pt x="42723" y="18083"/>
                </a:cubicBezTo>
                <a:lnTo>
                  <a:pt x="123090" y="223"/>
                </a:lnTo>
                <a:cubicBezTo>
                  <a:pt x="125741" y="-363"/>
                  <a:pt x="128504" y="279"/>
                  <a:pt x="130625" y="1981"/>
                </a:cubicBezTo>
                <a:close/>
              </a:path>
            </a:pathLst>
          </a:custGeom>
          <a:solidFill>
            <a:srgbClr val="ddff00"/>
          </a:solidFill>
          <a:ln w="0">
            <a:noFill/>
          </a:ln>
        </p:spPr>
        <p:style>
          <a:lnRef idx="0"/>
          <a:fillRef idx="0"/>
          <a:effectRef idx="0"/>
          <a:fontRef idx="minor"/>
        </p:style>
      </p:sp>
      <p:sp>
        <p:nvSpPr>
          <p:cNvPr id="569" name="Text 42"/>
          <p:cNvSpPr/>
          <p:nvPr/>
        </p:nvSpPr>
        <p:spPr>
          <a:xfrm>
            <a:off x="8845560" y="1770120"/>
            <a:ext cx="276192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Catchy Melodies</a:t>
            </a:r>
            <a:endParaRPr b="0" lang="en-HK" sz="1130" spc="-1" strike="noStrike">
              <a:latin typeface="Arial"/>
            </a:endParaRPr>
          </a:p>
        </p:txBody>
      </p:sp>
      <p:sp>
        <p:nvSpPr>
          <p:cNvPr id="570" name="Text 43"/>
          <p:cNvSpPr/>
          <p:nvPr/>
        </p:nvSpPr>
        <p:spPr>
          <a:xfrm>
            <a:off x="8663040" y="2055960"/>
            <a:ext cx="2936520" cy="38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More accessible to mainstream audiences compared to punk's aggressive sound</a:t>
            </a:r>
            <a:endParaRPr b="0" lang="en-HK" sz="1000" spc="-1" strike="noStrike">
              <a:latin typeface="Arial"/>
            </a:endParaRPr>
          </a:p>
        </p:txBody>
      </p:sp>
      <p:sp>
        <p:nvSpPr>
          <p:cNvPr id="571" name="Shape 44"/>
          <p:cNvSpPr/>
          <p:nvPr/>
        </p:nvSpPr>
        <p:spPr>
          <a:xfrm>
            <a:off x="5265000" y="2702880"/>
            <a:ext cx="3134880" cy="92844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72" name="Shape 45"/>
          <p:cNvSpPr/>
          <p:nvPr/>
        </p:nvSpPr>
        <p:spPr>
          <a:xfrm>
            <a:off x="5415840" y="2873520"/>
            <a:ext cx="142560" cy="142560"/>
          </a:xfrm>
          <a:custGeom>
            <a:avLst/>
            <a:gdLst/>
            <a:ahLst/>
            <a:rect l="l" t="t" r="r" b="b"/>
            <a:pathLst>
              <a:path w="142875" h="142875">
                <a:moveTo>
                  <a:pt x="142875" y="71438"/>
                </a:moveTo>
                <a:cubicBezTo>
                  <a:pt x="142875" y="71689"/>
                  <a:pt x="142875" y="71940"/>
                  <a:pt x="142875" y="72191"/>
                </a:cubicBezTo>
                <a:cubicBezTo>
                  <a:pt x="142763" y="82376"/>
                  <a:pt x="133499" y="89297"/>
                  <a:pt x="123313" y="89297"/>
                </a:cubicBezTo>
                <a:lnTo>
                  <a:pt x="95994" y="89297"/>
                </a:lnTo>
                <a:cubicBezTo>
                  <a:pt x="88599" y="89297"/>
                  <a:pt x="82600" y="95297"/>
                  <a:pt x="82600" y="102691"/>
                </a:cubicBezTo>
                <a:cubicBezTo>
                  <a:pt x="82600" y="103640"/>
                  <a:pt x="82711" y="104561"/>
                  <a:pt x="82879" y="105454"/>
                </a:cubicBezTo>
                <a:cubicBezTo>
                  <a:pt x="83465" y="108300"/>
                  <a:pt x="84693" y="111035"/>
                  <a:pt x="85892" y="113798"/>
                </a:cubicBezTo>
                <a:cubicBezTo>
                  <a:pt x="87595" y="117649"/>
                  <a:pt x="89269" y="121472"/>
                  <a:pt x="89269" y="125518"/>
                </a:cubicBezTo>
                <a:cubicBezTo>
                  <a:pt x="89269" y="134392"/>
                  <a:pt x="83241" y="142456"/>
                  <a:pt x="74368" y="142819"/>
                </a:cubicBezTo>
                <a:cubicBezTo>
                  <a:pt x="73391" y="142847"/>
                  <a:pt x="72414" y="142875"/>
                  <a:pt x="71410" y="142875"/>
                </a:cubicBezTo>
                <a:cubicBezTo>
                  <a:pt x="31952" y="142875"/>
                  <a:pt x="-28" y="110896"/>
                  <a:pt x="-28" y="71437"/>
                </a:cubicBezTo>
                <a:cubicBezTo>
                  <a:pt x="-28" y="31979"/>
                  <a:pt x="31979" y="0"/>
                  <a:pt x="71438" y="0"/>
                </a:cubicBezTo>
                <a:cubicBezTo>
                  <a:pt x="110896" y="0"/>
                  <a:pt x="142875" y="31979"/>
                  <a:pt x="142875" y="71438"/>
                </a:cubicBezTo>
                <a:close/>
                <a:moveTo>
                  <a:pt x="35719" y="80367"/>
                </a:moveTo>
                <a:cubicBezTo>
                  <a:pt x="35719" y="75439"/>
                  <a:pt x="31717" y="71438"/>
                  <a:pt x="26789" y="71438"/>
                </a:cubicBezTo>
                <a:cubicBezTo>
                  <a:pt x="21861" y="71438"/>
                  <a:pt x="17859" y="75439"/>
                  <a:pt x="17859" y="80367"/>
                </a:cubicBezTo>
                <a:cubicBezTo>
                  <a:pt x="17859" y="85296"/>
                  <a:pt x="21861" y="89297"/>
                  <a:pt x="26789" y="89297"/>
                </a:cubicBezTo>
                <a:cubicBezTo>
                  <a:pt x="31717" y="89297"/>
                  <a:pt x="35719" y="85296"/>
                  <a:pt x="35719" y="80367"/>
                </a:cubicBezTo>
                <a:close/>
                <a:moveTo>
                  <a:pt x="35719" y="53578"/>
                </a:moveTo>
                <a:cubicBezTo>
                  <a:pt x="40647" y="53578"/>
                  <a:pt x="44648" y="49577"/>
                  <a:pt x="44648" y="44648"/>
                </a:cubicBezTo>
                <a:cubicBezTo>
                  <a:pt x="44648" y="39720"/>
                  <a:pt x="40647" y="35719"/>
                  <a:pt x="35719" y="35719"/>
                </a:cubicBezTo>
                <a:cubicBezTo>
                  <a:pt x="30790" y="35719"/>
                  <a:pt x="26789" y="39720"/>
                  <a:pt x="26789" y="44648"/>
                </a:cubicBezTo>
                <a:cubicBezTo>
                  <a:pt x="26789" y="49577"/>
                  <a:pt x="30790" y="53578"/>
                  <a:pt x="35719" y="53578"/>
                </a:cubicBezTo>
                <a:close/>
                <a:moveTo>
                  <a:pt x="80367" y="26789"/>
                </a:moveTo>
                <a:cubicBezTo>
                  <a:pt x="80367" y="21861"/>
                  <a:pt x="76366" y="17859"/>
                  <a:pt x="71438" y="17859"/>
                </a:cubicBezTo>
                <a:cubicBezTo>
                  <a:pt x="66509" y="17859"/>
                  <a:pt x="62508" y="21861"/>
                  <a:pt x="62508" y="26789"/>
                </a:cubicBezTo>
                <a:cubicBezTo>
                  <a:pt x="62508" y="31717"/>
                  <a:pt x="66509" y="35719"/>
                  <a:pt x="71438" y="35719"/>
                </a:cubicBezTo>
                <a:cubicBezTo>
                  <a:pt x="76366" y="35719"/>
                  <a:pt x="80367" y="31717"/>
                  <a:pt x="80367" y="26789"/>
                </a:cubicBezTo>
                <a:close/>
                <a:moveTo>
                  <a:pt x="107156" y="53578"/>
                </a:moveTo>
                <a:cubicBezTo>
                  <a:pt x="112085" y="53578"/>
                  <a:pt x="116086" y="49577"/>
                  <a:pt x="116086" y="44648"/>
                </a:cubicBezTo>
                <a:cubicBezTo>
                  <a:pt x="116086" y="39720"/>
                  <a:pt x="112085" y="35719"/>
                  <a:pt x="107156" y="35719"/>
                </a:cubicBezTo>
                <a:cubicBezTo>
                  <a:pt x="102228" y="35719"/>
                  <a:pt x="98227" y="39720"/>
                  <a:pt x="98227" y="44648"/>
                </a:cubicBezTo>
                <a:cubicBezTo>
                  <a:pt x="98227" y="49577"/>
                  <a:pt x="102228" y="53578"/>
                  <a:pt x="107156" y="53578"/>
                </a:cubicBezTo>
                <a:close/>
              </a:path>
            </a:pathLst>
          </a:custGeom>
          <a:solidFill>
            <a:srgbClr val="ddff00"/>
          </a:solidFill>
          <a:ln w="0">
            <a:noFill/>
          </a:ln>
        </p:spPr>
        <p:style>
          <a:lnRef idx="0"/>
          <a:fillRef idx="0"/>
          <a:effectRef idx="0"/>
          <a:fontRef idx="minor"/>
        </p:style>
      </p:sp>
      <p:sp>
        <p:nvSpPr>
          <p:cNvPr id="573" name="Text 46"/>
          <p:cNvSpPr/>
          <p:nvPr/>
        </p:nvSpPr>
        <p:spPr>
          <a:xfrm>
            <a:off x="5578560" y="2833560"/>
            <a:ext cx="276192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Artistic Expression</a:t>
            </a:r>
            <a:endParaRPr b="0" lang="en-HK" sz="1130" spc="-1" strike="noStrike">
              <a:latin typeface="Arial"/>
            </a:endParaRPr>
          </a:p>
        </p:txBody>
      </p:sp>
      <p:sp>
        <p:nvSpPr>
          <p:cNvPr id="574" name="Text 47"/>
          <p:cNvSpPr/>
          <p:nvPr/>
        </p:nvSpPr>
        <p:spPr>
          <a:xfrm>
            <a:off x="5396040" y="3119400"/>
            <a:ext cx="2936520" cy="38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Visual and theatrical elements in performances, fashion, and makeup</a:t>
            </a:r>
            <a:endParaRPr b="0" lang="en-HK" sz="1000" spc="-1" strike="noStrike">
              <a:latin typeface="Arial"/>
            </a:endParaRPr>
          </a:p>
        </p:txBody>
      </p:sp>
      <p:sp>
        <p:nvSpPr>
          <p:cNvPr id="575" name="Shape 48"/>
          <p:cNvSpPr/>
          <p:nvPr/>
        </p:nvSpPr>
        <p:spPr>
          <a:xfrm>
            <a:off x="8532000" y="2702880"/>
            <a:ext cx="3134880" cy="92844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76" name="Shape 49"/>
          <p:cNvSpPr/>
          <p:nvPr/>
        </p:nvSpPr>
        <p:spPr>
          <a:xfrm>
            <a:off x="8673840" y="2873520"/>
            <a:ext cx="160200" cy="142560"/>
          </a:xfrm>
          <a:custGeom>
            <a:avLst/>
            <a:gdLst/>
            <a:ahLst/>
            <a:rect l="l" t="t" r="r" b="b"/>
            <a:pathLst>
              <a:path w="160734" h="142875">
                <a:moveTo>
                  <a:pt x="17859" y="26789"/>
                </a:moveTo>
                <a:lnTo>
                  <a:pt x="17859" y="93762"/>
                </a:lnTo>
                <a:lnTo>
                  <a:pt x="142875" y="93762"/>
                </a:lnTo>
                <a:lnTo>
                  <a:pt x="142875" y="26789"/>
                </a:lnTo>
                <a:lnTo>
                  <a:pt x="17859" y="26789"/>
                </a:lnTo>
                <a:close/>
                <a:moveTo>
                  <a:pt x="0" y="26789"/>
                </a:moveTo>
                <a:cubicBezTo>
                  <a:pt x="0" y="16939"/>
                  <a:pt x="8009" y="8930"/>
                  <a:pt x="17859" y="8930"/>
                </a:cubicBezTo>
                <a:lnTo>
                  <a:pt x="142875" y="8930"/>
                </a:lnTo>
                <a:cubicBezTo>
                  <a:pt x="152726" y="8930"/>
                  <a:pt x="160734" y="16939"/>
                  <a:pt x="160734" y="26789"/>
                </a:cubicBezTo>
                <a:lnTo>
                  <a:pt x="160734" y="93762"/>
                </a:lnTo>
                <a:cubicBezTo>
                  <a:pt x="160734" y="103612"/>
                  <a:pt x="152726" y="111621"/>
                  <a:pt x="142875" y="111621"/>
                </a:cubicBezTo>
                <a:lnTo>
                  <a:pt x="17859" y="111621"/>
                </a:lnTo>
                <a:cubicBezTo>
                  <a:pt x="8009" y="111621"/>
                  <a:pt x="0" y="103612"/>
                  <a:pt x="0" y="93762"/>
                </a:cubicBezTo>
                <a:lnTo>
                  <a:pt x="0" y="26789"/>
                </a:lnTo>
                <a:close/>
                <a:moveTo>
                  <a:pt x="44648" y="125016"/>
                </a:moveTo>
                <a:lnTo>
                  <a:pt x="116086" y="125016"/>
                </a:lnTo>
                <a:cubicBezTo>
                  <a:pt x="121025" y="125016"/>
                  <a:pt x="125016" y="129006"/>
                  <a:pt x="125016" y="133945"/>
                </a:cubicBezTo>
                <a:cubicBezTo>
                  <a:pt x="125016" y="138885"/>
                  <a:pt x="121025" y="142875"/>
                  <a:pt x="116086" y="142875"/>
                </a:cubicBezTo>
                <a:lnTo>
                  <a:pt x="44648" y="142875"/>
                </a:lnTo>
                <a:cubicBezTo>
                  <a:pt x="39709" y="142875"/>
                  <a:pt x="35719" y="138885"/>
                  <a:pt x="35719" y="133945"/>
                </a:cubicBezTo>
                <a:cubicBezTo>
                  <a:pt x="35719" y="129006"/>
                  <a:pt x="39709" y="125016"/>
                  <a:pt x="44648" y="125016"/>
                </a:cubicBezTo>
                <a:close/>
              </a:path>
            </a:pathLst>
          </a:custGeom>
          <a:solidFill>
            <a:srgbClr val="ddff00"/>
          </a:solidFill>
          <a:ln w="0">
            <a:noFill/>
          </a:ln>
        </p:spPr>
        <p:style>
          <a:lnRef idx="0"/>
          <a:fillRef idx="0"/>
          <a:effectRef idx="0"/>
          <a:fontRef idx="minor"/>
        </p:style>
      </p:sp>
      <p:sp>
        <p:nvSpPr>
          <p:cNvPr id="577" name="Text 50"/>
          <p:cNvSpPr/>
          <p:nvPr/>
        </p:nvSpPr>
        <p:spPr>
          <a:xfrm>
            <a:off x="8845560" y="2833560"/>
            <a:ext cx="276192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Music Videos</a:t>
            </a:r>
            <a:endParaRPr b="0" lang="en-HK" sz="1130" spc="-1" strike="noStrike">
              <a:latin typeface="Arial"/>
            </a:endParaRPr>
          </a:p>
        </p:txBody>
      </p:sp>
      <p:sp>
        <p:nvSpPr>
          <p:cNvPr id="578" name="Text 51"/>
          <p:cNvSpPr/>
          <p:nvPr/>
        </p:nvSpPr>
        <p:spPr>
          <a:xfrm>
            <a:off x="8663040" y="3119400"/>
            <a:ext cx="2936520" cy="38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MTV's rise in the early 1980s played a significant role in New Wave's popularity</a:t>
            </a:r>
            <a:endParaRPr b="0" lang="en-HK" sz="1000" spc="-1" strike="noStrike">
              <a:latin typeface="Arial"/>
            </a:endParaRPr>
          </a:p>
        </p:txBody>
      </p:sp>
      <p:sp>
        <p:nvSpPr>
          <p:cNvPr id="579" name="Shape 52"/>
          <p:cNvSpPr/>
          <p:nvPr/>
        </p:nvSpPr>
        <p:spPr>
          <a:xfrm>
            <a:off x="5054400" y="3968640"/>
            <a:ext cx="6818040" cy="1761840"/>
          </a:xfrm>
          <a:custGeom>
            <a:avLst/>
            <a:gdLst/>
            <a:ahLst/>
            <a:rect l="l" t="t" r="r" b="b"/>
            <a:pathLst>
              <a:path w="6818313" h="1762125">
                <a:moveTo>
                  <a:pt x="0" y="0"/>
                </a:moveTo>
                <a:lnTo>
                  <a:pt x="6818313" y="0"/>
                </a:lnTo>
                <a:lnTo>
                  <a:pt x="6818313" y="1762125"/>
                </a:lnTo>
                <a:lnTo>
                  <a:pt x="0" y="1762125"/>
                </a:lnTo>
                <a:lnTo>
                  <a:pt x="0" y="0"/>
                </a:lnTo>
                <a:close/>
              </a:path>
            </a:pathLst>
          </a:custGeom>
          <a:solidFill>
            <a:srgbClr val="ddff00"/>
          </a:solidFill>
          <a:ln w="0">
            <a:noFill/>
          </a:ln>
        </p:spPr>
        <p:style>
          <a:lnRef idx="0"/>
          <a:fillRef idx="0"/>
          <a:effectRef idx="0"/>
          <a:fontRef idx="minor"/>
        </p:style>
      </p:sp>
      <p:sp>
        <p:nvSpPr>
          <p:cNvPr id="580" name="Text 53"/>
          <p:cNvSpPr/>
          <p:nvPr/>
        </p:nvSpPr>
        <p:spPr>
          <a:xfrm>
            <a:off x="5213160" y="4127400"/>
            <a:ext cx="6579720" cy="221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MTV &amp; The Visual Revolution</a:t>
            </a:r>
            <a:endParaRPr b="0" lang="en-HK" sz="1250" spc="-1" strike="noStrike">
              <a:latin typeface="Arial"/>
            </a:endParaRPr>
          </a:p>
        </p:txBody>
      </p:sp>
      <p:sp>
        <p:nvSpPr>
          <p:cNvPr id="581" name="Text 54"/>
          <p:cNvSpPr/>
          <p:nvPr/>
        </p:nvSpPr>
        <p:spPr>
          <a:xfrm>
            <a:off x="5213160" y="4444920"/>
            <a:ext cx="6563880" cy="618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The launch of MTV in 1981 transformed New Wave into a dominant cultural force.</a:t>
            </a:r>
            <a:r>
              <a:rPr b="0" lang="en-US" sz="1000" spc="-1" strike="noStrike">
                <a:solidFill>
                  <a:srgbClr val="000000"/>
                </a:solidFill>
                <a:latin typeface="Liter"/>
                <a:ea typeface="Liter"/>
              </a:rPr>
              <a:t> Artists used music videos to express creativity, tell stories, and connect with fans visually. Bands like Duran Duran, The Cars, and A-ha became video stars.</a:t>
            </a:r>
            <a:endParaRPr b="0" lang="en-HK" sz="1000" spc="-1" strike="noStrike">
              <a:latin typeface="Arial"/>
            </a:endParaRPr>
          </a:p>
        </p:txBody>
      </p:sp>
      <p:sp>
        <p:nvSpPr>
          <p:cNvPr id="582" name="Text 55"/>
          <p:cNvSpPr/>
          <p:nvPr/>
        </p:nvSpPr>
        <p:spPr>
          <a:xfrm>
            <a:off x="5213160" y="5159520"/>
            <a:ext cx="6563880" cy="412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New Wave's bold, colorful, and often eccentric styles became a defining part of 1980s pop culture, influencing fashion, art, and film far beyond music.</a:t>
            </a:r>
            <a:endParaRPr b="0" lang="en-HK" sz="1000" spc="-1" strike="noStrike">
              <a:latin typeface="Arial"/>
            </a:endParaRPr>
          </a:p>
        </p:txBody>
      </p:sp>
      <p:sp>
        <p:nvSpPr>
          <p:cNvPr id="583" name="Shape 56"/>
          <p:cNvSpPr/>
          <p:nvPr/>
        </p:nvSpPr>
        <p:spPr>
          <a:xfrm>
            <a:off x="5058720" y="5861880"/>
            <a:ext cx="2198160" cy="64260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84" name="Text 57"/>
          <p:cNvSpPr/>
          <p:nvPr/>
        </p:nvSpPr>
        <p:spPr>
          <a:xfrm>
            <a:off x="5110200" y="5961240"/>
            <a:ext cx="2095200" cy="25380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1981</a:t>
            </a:r>
            <a:endParaRPr b="0" lang="en-HK" sz="1500" spc="-1" strike="noStrike">
              <a:latin typeface="Arial"/>
            </a:endParaRPr>
          </a:p>
        </p:txBody>
      </p:sp>
      <p:sp>
        <p:nvSpPr>
          <p:cNvPr id="585" name="Text 58"/>
          <p:cNvSpPr/>
          <p:nvPr/>
        </p:nvSpPr>
        <p:spPr>
          <a:xfrm>
            <a:off x="5130000" y="6246720"/>
            <a:ext cx="2055600" cy="158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MTV launches</a:t>
            </a:r>
            <a:endParaRPr b="0" lang="en-HK" sz="880" spc="-1" strike="noStrike">
              <a:latin typeface="Arial"/>
            </a:endParaRPr>
          </a:p>
        </p:txBody>
      </p:sp>
      <p:sp>
        <p:nvSpPr>
          <p:cNvPr id="586" name="Shape 59"/>
          <p:cNvSpPr/>
          <p:nvPr/>
        </p:nvSpPr>
        <p:spPr>
          <a:xfrm>
            <a:off x="7363440" y="5861880"/>
            <a:ext cx="2198160" cy="64260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87" name="Text 60"/>
          <p:cNvSpPr/>
          <p:nvPr/>
        </p:nvSpPr>
        <p:spPr>
          <a:xfrm>
            <a:off x="7415280" y="5961240"/>
            <a:ext cx="2095200" cy="25380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18</a:t>
            </a:r>
            <a:endParaRPr b="0" lang="en-HK" sz="1500" spc="-1" strike="noStrike">
              <a:latin typeface="Arial"/>
            </a:endParaRPr>
          </a:p>
        </p:txBody>
      </p:sp>
      <p:sp>
        <p:nvSpPr>
          <p:cNvPr id="588" name="Text 61"/>
          <p:cNvSpPr/>
          <p:nvPr/>
        </p:nvSpPr>
        <p:spPr>
          <a:xfrm>
            <a:off x="7435080" y="6246720"/>
            <a:ext cx="2055600" cy="158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British hits in Top 40 (1983)</a:t>
            </a:r>
            <a:endParaRPr b="0" lang="en-HK" sz="880" spc="-1" strike="noStrike">
              <a:latin typeface="Arial"/>
            </a:endParaRPr>
          </a:p>
        </p:txBody>
      </p:sp>
      <p:sp>
        <p:nvSpPr>
          <p:cNvPr id="589" name="Shape 62"/>
          <p:cNvSpPr/>
          <p:nvPr/>
        </p:nvSpPr>
        <p:spPr>
          <a:xfrm>
            <a:off x="9668520" y="5861880"/>
            <a:ext cx="2198160" cy="64260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90" name="Text 63"/>
          <p:cNvSpPr/>
          <p:nvPr/>
        </p:nvSpPr>
        <p:spPr>
          <a:xfrm>
            <a:off x="9720360" y="5961240"/>
            <a:ext cx="2095200" cy="25380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2nd</a:t>
            </a:r>
            <a:endParaRPr b="0" lang="en-HK" sz="1500" spc="-1" strike="noStrike">
              <a:latin typeface="Arial"/>
            </a:endParaRPr>
          </a:p>
        </p:txBody>
      </p:sp>
      <p:sp>
        <p:nvSpPr>
          <p:cNvPr id="591" name="Text 64"/>
          <p:cNvSpPr/>
          <p:nvPr/>
        </p:nvSpPr>
        <p:spPr>
          <a:xfrm>
            <a:off x="9740160" y="6246720"/>
            <a:ext cx="2055600" cy="158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British Invasion</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592" name="Image 0"/>
          <p:cNvSpPr/>
          <p:nvPr/>
        </p:nvSpPr>
        <p:spPr>
          <a:xfrm>
            <a:off x="0" y="0"/>
            <a:ext cx="12191760" cy="6857640"/>
          </a:xfrm>
          <a:prstGeom prst="roundRect">
            <a:avLst>
              <a:gd name="adj" fmla="val 0"/>
            </a:avLst>
          </a:prstGeom>
          <a:solidFill>
            <a:srgbClr val="729fcf"/>
          </a:solidFill>
          <a:ln w="0">
            <a:noFill/>
          </a:ln>
        </p:spPr>
        <p:style>
          <a:lnRef idx="0"/>
          <a:fillRef idx="0"/>
          <a:effectRef idx="0"/>
          <a:fontRef idx="minor"/>
        </p:style>
      </p:sp>
      <p:sp>
        <p:nvSpPr>
          <p:cNvPr id="593" name="Shape 0"/>
          <p:cNvSpPr/>
          <p:nvPr/>
        </p:nvSpPr>
        <p:spPr>
          <a:xfrm>
            <a:off x="0" y="0"/>
            <a:ext cx="12191760" cy="68576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594" name="Shape 1"/>
          <p:cNvSpPr/>
          <p:nvPr/>
        </p:nvSpPr>
        <p:spPr>
          <a:xfrm rot="720000">
            <a:off x="10754280" y="5420160"/>
            <a:ext cx="875880" cy="87588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595" name="Shape 2"/>
          <p:cNvSpPr/>
          <p:nvPr/>
        </p:nvSpPr>
        <p:spPr>
          <a:xfrm rot="21240000">
            <a:off x="320400" y="1311120"/>
            <a:ext cx="1218960" cy="121896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596" name="Text 3"/>
          <p:cNvSpPr/>
          <p:nvPr/>
        </p:nvSpPr>
        <p:spPr>
          <a:xfrm>
            <a:off x="566640" y="1638360"/>
            <a:ext cx="1190160" cy="6854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06</a:t>
            </a:r>
            <a:endParaRPr b="0" lang="en-HK" sz="5400" spc="-1" strike="noStrike">
              <a:latin typeface="Arial"/>
            </a:endParaRPr>
          </a:p>
        </p:txBody>
      </p:sp>
      <p:sp>
        <p:nvSpPr>
          <p:cNvPr id="597" name="Shape 4"/>
          <p:cNvSpPr/>
          <p:nvPr/>
        </p:nvSpPr>
        <p:spPr>
          <a:xfrm>
            <a:off x="1828800" y="1752480"/>
            <a:ext cx="3924000" cy="37800"/>
          </a:xfrm>
          <a:custGeom>
            <a:avLst/>
            <a:gdLst/>
            <a:ahLst/>
            <a:rect l="l" t="t" r="r" b="b"/>
            <a:pathLst>
              <a:path w="3924300" h="38100">
                <a:moveTo>
                  <a:pt x="0" y="0"/>
                </a:moveTo>
                <a:lnTo>
                  <a:pt x="3924300" y="0"/>
                </a:lnTo>
                <a:lnTo>
                  <a:pt x="3924300" y="38100"/>
                </a:lnTo>
                <a:lnTo>
                  <a:pt x="0" y="38100"/>
                </a:lnTo>
                <a:lnTo>
                  <a:pt x="0" y="0"/>
                </a:lnTo>
                <a:close/>
              </a:path>
            </a:pathLst>
          </a:custGeom>
          <a:solidFill>
            <a:srgbClr val="ddff00"/>
          </a:solidFill>
          <a:ln w="0">
            <a:noFill/>
          </a:ln>
        </p:spPr>
        <p:style>
          <a:lnRef idx="0"/>
          <a:fillRef idx="0"/>
          <a:effectRef idx="0"/>
          <a:fontRef idx="minor"/>
        </p:style>
      </p:sp>
      <p:sp>
        <p:nvSpPr>
          <p:cNvPr id="598" name="Text 5"/>
          <p:cNvSpPr/>
          <p:nvPr/>
        </p:nvSpPr>
        <p:spPr>
          <a:xfrm>
            <a:off x="1828800" y="1943280"/>
            <a:ext cx="4009680" cy="266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34" strike="noStrike">
                <a:solidFill>
                  <a:srgbClr val="ddff00"/>
                </a:solidFill>
                <a:latin typeface="Liter"/>
                <a:ea typeface="Liter"/>
              </a:rPr>
              <a:t>CHAPTER SIX</a:t>
            </a:r>
            <a:endParaRPr b="0" lang="en-HK" sz="1350" spc="-1" strike="noStrike">
              <a:latin typeface="Arial"/>
            </a:endParaRPr>
          </a:p>
        </p:txBody>
      </p:sp>
      <p:sp>
        <p:nvSpPr>
          <p:cNvPr id="599" name="Text 6"/>
          <p:cNvSpPr/>
          <p:nvPr/>
        </p:nvSpPr>
        <p:spPr>
          <a:xfrm>
            <a:off x="380880" y="2895480"/>
            <a:ext cx="5714640" cy="17143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ALTERNATIVE</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ROCK &amp; GRUNGE</a:t>
            </a:r>
            <a:endParaRPr b="0" lang="en-HK" sz="5400" spc="-1" strike="noStrike">
              <a:latin typeface="Arial"/>
            </a:endParaRPr>
          </a:p>
        </p:txBody>
      </p:sp>
      <p:sp>
        <p:nvSpPr>
          <p:cNvPr id="600" name="Text 7"/>
          <p:cNvSpPr/>
          <p:nvPr/>
        </p:nvSpPr>
        <p:spPr>
          <a:xfrm>
            <a:off x="380880" y="4838760"/>
            <a:ext cx="548604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1990s: The Seattle Sound Goes Global</a:t>
            </a:r>
            <a:endParaRPr b="0" lang="en-HK" sz="1800" spc="-1" strike="noStrike">
              <a:latin typeface="Arial"/>
            </a:endParaRPr>
          </a:p>
        </p:txBody>
      </p:sp>
      <p:sp>
        <p:nvSpPr>
          <p:cNvPr id="601" name="Shape 8"/>
          <p:cNvSpPr/>
          <p:nvPr/>
        </p:nvSpPr>
        <p:spPr>
          <a:xfrm>
            <a:off x="380880" y="5448240"/>
            <a:ext cx="761760" cy="3780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602" name="Shape 9"/>
          <p:cNvSpPr/>
          <p:nvPr/>
        </p:nvSpPr>
        <p:spPr>
          <a:xfrm>
            <a:off x="1295280" y="5448240"/>
            <a:ext cx="380520" cy="3780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603" name="Shape 10"/>
          <p:cNvSpPr/>
          <p:nvPr/>
        </p:nvSpPr>
        <p:spPr>
          <a:xfrm>
            <a:off x="1828800" y="5448240"/>
            <a:ext cx="190080" cy="3780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604" name="Shape 0"/>
          <p:cNvSpPr/>
          <p:nvPr/>
        </p:nvSpPr>
        <p:spPr>
          <a:xfrm>
            <a:off x="324360" y="372960"/>
            <a:ext cx="64440" cy="388800"/>
          </a:xfrm>
          <a:custGeom>
            <a:avLst/>
            <a:gdLst/>
            <a:ahLst/>
            <a:rect l="l" t="t" r="r" b="b"/>
            <a:pathLst>
              <a:path w="64851" h="389106">
                <a:moveTo>
                  <a:pt x="0" y="0"/>
                </a:moveTo>
                <a:lnTo>
                  <a:pt x="64851" y="0"/>
                </a:lnTo>
                <a:lnTo>
                  <a:pt x="64851" y="389106"/>
                </a:lnTo>
                <a:lnTo>
                  <a:pt x="0" y="389106"/>
                </a:lnTo>
                <a:lnTo>
                  <a:pt x="0" y="0"/>
                </a:lnTo>
                <a:close/>
              </a:path>
            </a:pathLst>
          </a:custGeom>
          <a:solidFill>
            <a:srgbClr val="ddff00"/>
          </a:solidFill>
          <a:ln w="0">
            <a:noFill/>
          </a:ln>
        </p:spPr>
        <p:style>
          <a:lnRef idx="0"/>
          <a:fillRef idx="0"/>
          <a:effectRef idx="0"/>
          <a:fontRef idx="minor"/>
        </p:style>
      </p:sp>
      <p:sp>
        <p:nvSpPr>
          <p:cNvPr id="605" name="Text 1"/>
          <p:cNvSpPr/>
          <p:nvPr/>
        </p:nvSpPr>
        <p:spPr>
          <a:xfrm>
            <a:off x="518760" y="324360"/>
            <a:ext cx="495252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86" strike="noStrike">
                <a:solidFill>
                  <a:srgbClr val="ddff00"/>
                </a:solidFill>
                <a:latin typeface="Liter"/>
                <a:ea typeface="Liter"/>
              </a:rPr>
              <a:t>CHAPTER 06</a:t>
            </a:r>
            <a:endParaRPr b="0" lang="en-HK" sz="900" spc="-1" strike="noStrike">
              <a:latin typeface="Arial"/>
            </a:endParaRPr>
          </a:p>
        </p:txBody>
      </p:sp>
      <p:sp>
        <p:nvSpPr>
          <p:cNvPr id="606" name="Text 2"/>
          <p:cNvSpPr/>
          <p:nvPr/>
        </p:nvSpPr>
        <p:spPr>
          <a:xfrm>
            <a:off x="518760" y="486360"/>
            <a:ext cx="5041800" cy="3240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00" spc="-1" strike="noStrike">
                <a:solidFill>
                  <a:srgbClr val="ffffff"/>
                </a:solidFill>
                <a:latin typeface="Liter"/>
                <a:ea typeface="Liter"/>
              </a:rPr>
              <a:t>Grunge: Raw, Authentic, Revolutionary</a:t>
            </a:r>
            <a:endParaRPr b="0" lang="en-HK" sz="2300" spc="-1" strike="noStrike">
              <a:latin typeface="Arial"/>
            </a:endParaRPr>
          </a:p>
        </p:txBody>
      </p:sp>
      <p:sp>
        <p:nvSpPr>
          <p:cNvPr id="607" name="Shape 3"/>
          <p:cNvSpPr/>
          <p:nvPr/>
        </p:nvSpPr>
        <p:spPr>
          <a:xfrm>
            <a:off x="324360" y="1069920"/>
            <a:ext cx="6809040" cy="1896480"/>
          </a:xfrm>
          <a:custGeom>
            <a:avLst/>
            <a:gdLst/>
            <a:ahLst/>
            <a:rect l="l" t="t" r="r" b="b"/>
            <a:pathLst>
              <a:path w="6809362" h="1896894">
                <a:moveTo>
                  <a:pt x="0" y="0"/>
                </a:moveTo>
                <a:lnTo>
                  <a:pt x="6809362" y="0"/>
                </a:lnTo>
                <a:lnTo>
                  <a:pt x="6809362" y="1896894"/>
                </a:lnTo>
                <a:lnTo>
                  <a:pt x="0" y="1896894"/>
                </a:lnTo>
                <a:lnTo>
                  <a:pt x="0" y="0"/>
                </a:lnTo>
                <a:close/>
              </a:path>
            </a:pathLst>
          </a:custGeom>
          <a:solidFill>
            <a:srgbClr val="ddff00"/>
          </a:solidFill>
          <a:ln w="0">
            <a:noFill/>
          </a:ln>
        </p:spPr>
        <p:style>
          <a:lnRef idx="0"/>
          <a:fillRef idx="0"/>
          <a:effectRef idx="0"/>
          <a:fontRef idx="minor"/>
        </p:style>
      </p:sp>
      <p:sp>
        <p:nvSpPr>
          <p:cNvPr id="608" name="Text 4"/>
          <p:cNvSpPr/>
          <p:nvPr/>
        </p:nvSpPr>
        <p:spPr>
          <a:xfrm>
            <a:off x="518760" y="1264680"/>
            <a:ext cx="6517080" cy="259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30" spc="-1" strike="noStrike">
                <a:solidFill>
                  <a:srgbClr val="000000"/>
                </a:solidFill>
                <a:latin typeface="Liter"/>
                <a:ea typeface="Liter"/>
              </a:rPr>
              <a:t>The Seattle Sound Explodes</a:t>
            </a:r>
            <a:endParaRPr b="0" lang="en-HK" sz="1530" spc="-1" strike="noStrike">
              <a:latin typeface="Arial"/>
            </a:endParaRPr>
          </a:p>
        </p:txBody>
      </p:sp>
      <p:sp>
        <p:nvSpPr>
          <p:cNvPr id="609" name="Text 5"/>
          <p:cNvSpPr/>
          <p:nvPr/>
        </p:nvSpPr>
        <p:spPr>
          <a:xfrm>
            <a:off x="518760" y="1621440"/>
            <a:ext cx="6484680" cy="631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20" spc="-1" strike="noStrike">
                <a:solidFill>
                  <a:srgbClr val="000000"/>
                </a:solidFill>
                <a:latin typeface="Liter"/>
                <a:ea typeface="Liter"/>
              </a:rPr>
              <a:t>Grunge emerged from Seattle's underground scene in the late 1980s as a reaction against the excesses of 1980s hair metal.</a:t>
            </a:r>
            <a:r>
              <a:rPr b="0" lang="en-US" sz="1020" spc="-1" strike="noStrike">
                <a:solidFill>
                  <a:srgbClr val="000000"/>
                </a:solidFill>
                <a:latin typeface="Liter"/>
                <a:ea typeface="Liter"/>
              </a:rPr>
              <a:t> The gray skies of Seattle mirrored the brooding, introspective sound of this new movement—raw, unpolished, and deeply authentic.</a:t>
            </a:r>
            <a:endParaRPr b="0" lang="en-HK" sz="1020" spc="-1" strike="noStrike">
              <a:latin typeface="Arial"/>
            </a:endParaRPr>
          </a:p>
        </p:txBody>
      </p:sp>
      <p:sp>
        <p:nvSpPr>
          <p:cNvPr id="610" name="Text 6"/>
          <p:cNvSpPr/>
          <p:nvPr/>
        </p:nvSpPr>
        <p:spPr>
          <a:xfrm>
            <a:off x="518760" y="2350800"/>
            <a:ext cx="6484680" cy="421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000000">
                    <a:alpha val="80000"/>
                  </a:srgbClr>
                </a:solidFill>
                <a:latin typeface="Liter"/>
                <a:ea typeface="Liter"/>
              </a:rPr>
              <a:t>Mark Arm of Green River (later Mudhoney) is credited with first using the term "grunge" in 1981. The music combined punk's aggression with metal's heaviness, creating a sound that was both abrasive and melodic.</a:t>
            </a:r>
            <a:endParaRPr b="0" lang="en-HK" sz="1020" spc="-1" strike="noStrike">
              <a:latin typeface="Arial"/>
            </a:endParaRPr>
          </a:p>
        </p:txBody>
      </p:sp>
      <p:sp>
        <p:nvSpPr>
          <p:cNvPr id="611" name="Shape 7"/>
          <p:cNvSpPr/>
          <p:nvPr/>
        </p:nvSpPr>
        <p:spPr>
          <a:xfrm>
            <a:off x="332280" y="3104640"/>
            <a:ext cx="6792840" cy="2869200"/>
          </a:xfrm>
          <a:custGeom>
            <a:avLst/>
            <a:gdLst/>
            <a:ahLst/>
            <a:rect l="l" t="t" r="r" b="b"/>
            <a:pathLst>
              <a:path w="6793149" h="2869660">
                <a:moveTo>
                  <a:pt x="0" y="0"/>
                </a:moveTo>
                <a:lnTo>
                  <a:pt x="6793149" y="0"/>
                </a:lnTo>
                <a:lnTo>
                  <a:pt x="6793149" y="2869660"/>
                </a:lnTo>
                <a:lnTo>
                  <a:pt x="0" y="2869660"/>
                </a:lnTo>
                <a:lnTo>
                  <a:pt x="0" y="0"/>
                </a:lnTo>
                <a:close/>
              </a:path>
            </a:pathLst>
          </a:custGeom>
          <a:noFill/>
          <a:ln w="25400">
            <a:solidFill>
              <a:srgbClr val="ddff00"/>
            </a:solidFill>
            <a:round/>
          </a:ln>
        </p:spPr>
        <p:style>
          <a:lnRef idx="0"/>
          <a:fillRef idx="0"/>
          <a:effectRef idx="0"/>
          <a:fontRef idx="minor"/>
        </p:style>
      </p:sp>
      <p:sp>
        <p:nvSpPr>
          <p:cNvPr id="612" name="Text 8"/>
          <p:cNvSpPr/>
          <p:nvPr/>
        </p:nvSpPr>
        <p:spPr>
          <a:xfrm>
            <a:off x="502560" y="3274920"/>
            <a:ext cx="6533280" cy="226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ddff00"/>
                </a:solidFill>
                <a:latin typeface="Liter"/>
                <a:ea typeface="Liter"/>
              </a:rPr>
              <a:t>The Big Four of Grunge</a:t>
            </a:r>
            <a:endParaRPr b="0" lang="en-HK" sz="1280" spc="-1" strike="noStrike">
              <a:latin typeface="Arial"/>
            </a:endParaRPr>
          </a:p>
        </p:txBody>
      </p:sp>
      <p:sp>
        <p:nvSpPr>
          <p:cNvPr id="613" name="Shape 9"/>
          <p:cNvSpPr/>
          <p:nvPr/>
        </p:nvSpPr>
        <p:spPr>
          <a:xfrm>
            <a:off x="518760" y="3631680"/>
            <a:ext cx="32040" cy="87516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14" name="Text 10"/>
          <p:cNvSpPr/>
          <p:nvPr/>
        </p:nvSpPr>
        <p:spPr>
          <a:xfrm>
            <a:off x="664560" y="3631680"/>
            <a:ext cx="307188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Nirvana</a:t>
            </a:r>
            <a:endParaRPr b="0" lang="en-HK" sz="1150" spc="-1" strike="noStrike">
              <a:latin typeface="Arial"/>
            </a:endParaRPr>
          </a:p>
        </p:txBody>
      </p:sp>
      <p:sp>
        <p:nvSpPr>
          <p:cNvPr id="615" name="Text 11"/>
          <p:cNvSpPr/>
          <p:nvPr/>
        </p:nvSpPr>
        <p:spPr>
          <a:xfrm>
            <a:off x="664560" y="3923640"/>
            <a:ext cx="3063960" cy="194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Kurt Cobain, Krist Novoselic, Dave Grohl</a:t>
            </a:r>
            <a:endParaRPr b="0" lang="en-HK" sz="1020" spc="-1" strike="noStrike">
              <a:latin typeface="Arial"/>
            </a:endParaRPr>
          </a:p>
        </p:txBody>
      </p:sp>
      <p:sp>
        <p:nvSpPr>
          <p:cNvPr id="616" name="Text 12"/>
          <p:cNvSpPr/>
          <p:nvPr/>
        </p:nvSpPr>
        <p:spPr>
          <a:xfrm>
            <a:off x="664560" y="4182840"/>
            <a:ext cx="3055680" cy="324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"Nevermind" (1991) changed everything. "Smells Like Teen Spirit" became the anthem of Generation X.</a:t>
            </a:r>
            <a:endParaRPr b="0" lang="en-HK" sz="900" spc="-1" strike="noStrike">
              <a:latin typeface="Arial"/>
            </a:endParaRPr>
          </a:p>
        </p:txBody>
      </p:sp>
      <p:sp>
        <p:nvSpPr>
          <p:cNvPr id="617" name="Shape 13"/>
          <p:cNvSpPr/>
          <p:nvPr/>
        </p:nvSpPr>
        <p:spPr>
          <a:xfrm>
            <a:off x="3809880" y="3631680"/>
            <a:ext cx="32040" cy="87516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18" name="Text 14"/>
          <p:cNvSpPr/>
          <p:nvPr/>
        </p:nvSpPr>
        <p:spPr>
          <a:xfrm>
            <a:off x="3956040" y="3631680"/>
            <a:ext cx="307188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Pearl Jam</a:t>
            </a:r>
            <a:endParaRPr b="0" lang="en-HK" sz="1150" spc="-1" strike="noStrike">
              <a:latin typeface="Arial"/>
            </a:endParaRPr>
          </a:p>
        </p:txBody>
      </p:sp>
      <p:sp>
        <p:nvSpPr>
          <p:cNvPr id="619" name="Text 15"/>
          <p:cNvSpPr/>
          <p:nvPr/>
        </p:nvSpPr>
        <p:spPr>
          <a:xfrm>
            <a:off x="3956040" y="3923640"/>
            <a:ext cx="3063960" cy="194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Eddie Vedder, Mike McCready, Stone Gossard</a:t>
            </a:r>
            <a:endParaRPr b="0" lang="en-HK" sz="1020" spc="-1" strike="noStrike">
              <a:latin typeface="Arial"/>
            </a:endParaRPr>
          </a:p>
        </p:txBody>
      </p:sp>
      <p:sp>
        <p:nvSpPr>
          <p:cNvPr id="620" name="Text 16"/>
          <p:cNvSpPr/>
          <p:nvPr/>
        </p:nvSpPr>
        <p:spPr>
          <a:xfrm>
            <a:off x="3956040" y="4182840"/>
            <a:ext cx="3055680" cy="324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"Ten" (1991) showcased emotional depth and social conscience. "Jeremy," "Alive," "Black."</a:t>
            </a:r>
            <a:endParaRPr b="0" lang="en-HK" sz="900" spc="-1" strike="noStrike">
              <a:latin typeface="Arial"/>
            </a:endParaRPr>
          </a:p>
        </p:txBody>
      </p:sp>
      <p:sp>
        <p:nvSpPr>
          <p:cNvPr id="621" name="Shape 17"/>
          <p:cNvSpPr/>
          <p:nvPr/>
        </p:nvSpPr>
        <p:spPr>
          <a:xfrm>
            <a:off x="518760" y="4636800"/>
            <a:ext cx="32040" cy="87516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22" name="Text 18"/>
          <p:cNvSpPr/>
          <p:nvPr/>
        </p:nvSpPr>
        <p:spPr>
          <a:xfrm>
            <a:off x="664560" y="4636800"/>
            <a:ext cx="307188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Soundgarden</a:t>
            </a:r>
            <a:endParaRPr b="0" lang="en-HK" sz="1150" spc="-1" strike="noStrike">
              <a:latin typeface="Arial"/>
            </a:endParaRPr>
          </a:p>
        </p:txBody>
      </p:sp>
      <p:sp>
        <p:nvSpPr>
          <p:cNvPr id="623" name="Text 19"/>
          <p:cNvSpPr/>
          <p:nvPr/>
        </p:nvSpPr>
        <p:spPr>
          <a:xfrm>
            <a:off x="664560" y="4928760"/>
            <a:ext cx="3063960" cy="194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Chris Cornell, Kim Thayil, Ben Shepherd</a:t>
            </a:r>
            <a:endParaRPr b="0" lang="en-HK" sz="1020" spc="-1" strike="noStrike">
              <a:latin typeface="Arial"/>
            </a:endParaRPr>
          </a:p>
        </p:txBody>
      </p:sp>
      <p:sp>
        <p:nvSpPr>
          <p:cNvPr id="624" name="Text 20"/>
          <p:cNvSpPr/>
          <p:nvPr/>
        </p:nvSpPr>
        <p:spPr>
          <a:xfrm>
            <a:off x="664560" y="5187960"/>
            <a:ext cx="3055680" cy="324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"Badmotorfinger" (1991) merged metal riffs with classic rock songwriting. "Black Hole Sun."</a:t>
            </a:r>
            <a:endParaRPr b="0" lang="en-HK" sz="900" spc="-1" strike="noStrike">
              <a:latin typeface="Arial"/>
            </a:endParaRPr>
          </a:p>
        </p:txBody>
      </p:sp>
      <p:sp>
        <p:nvSpPr>
          <p:cNvPr id="625" name="Shape 21"/>
          <p:cNvSpPr/>
          <p:nvPr/>
        </p:nvSpPr>
        <p:spPr>
          <a:xfrm>
            <a:off x="3809880" y="4636800"/>
            <a:ext cx="32040" cy="87516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26" name="Text 22"/>
          <p:cNvSpPr/>
          <p:nvPr/>
        </p:nvSpPr>
        <p:spPr>
          <a:xfrm>
            <a:off x="3956040" y="4636800"/>
            <a:ext cx="307188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Alice in Chains</a:t>
            </a:r>
            <a:endParaRPr b="0" lang="en-HK" sz="1150" spc="-1" strike="noStrike">
              <a:latin typeface="Arial"/>
            </a:endParaRPr>
          </a:p>
        </p:txBody>
      </p:sp>
      <p:sp>
        <p:nvSpPr>
          <p:cNvPr id="627" name="Text 23"/>
          <p:cNvSpPr/>
          <p:nvPr/>
        </p:nvSpPr>
        <p:spPr>
          <a:xfrm>
            <a:off x="3956040" y="4928760"/>
            <a:ext cx="3063960" cy="194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Layne Staley, Jerry Cantrell, Mike Starr</a:t>
            </a:r>
            <a:endParaRPr b="0" lang="en-HK" sz="1020" spc="-1" strike="noStrike">
              <a:latin typeface="Arial"/>
            </a:endParaRPr>
          </a:p>
        </p:txBody>
      </p:sp>
      <p:sp>
        <p:nvSpPr>
          <p:cNvPr id="628" name="Text 24"/>
          <p:cNvSpPr/>
          <p:nvPr/>
        </p:nvSpPr>
        <p:spPr>
          <a:xfrm>
            <a:off x="3956040" y="5187960"/>
            <a:ext cx="3055680" cy="324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"Dirt" (1992) explored dark themes with haunting harmonies. "Man in the Box," "Rooster."</a:t>
            </a:r>
            <a:endParaRPr b="0" lang="en-HK" sz="900" spc="-1" strike="noStrike">
              <a:latin typeface="Arial"/>
            </a:endParaRPr>
          </a:p>
        </p:txBody>
      </p:sp>
      <p:sp>
        <p:nvSpPr>
          <p:cNvPr id="629" name="Shape 25"/>
          <p:cNvSpPr/>
          <p:nvPr/>
        </p:nvSpPr>
        <p:spPr>
          <a:xfrm>
            <a:off x="328320" y="6116400"/>
            <a:ext cx="1621080" cy="62388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0" name="Shape 26"/>
          <p:cNvSpPr/>
          <p:nvPr/>
        </p:nvSpPr>
        <p:spPr>
          <a:xfrm>
            <a:off x="1029600" y="6217560"/>
            <a:ext cx="218520" cy="194040"/>
          </a:xfrm>
          <a:custGeom>
            <a:avLst/>
            <a:gdLst/>
            <a:ahLst/>
            <a:rect l="l" t="t" r="r" b="b"/>
            <a:pathLst>
              <a:path w="218872" h="194553">
                <a:moveTo>
                  <a:pt x="0" y="127676"/>
                </a:moveTo>
                <a:cubicBezTo>
                  <a:pt x="0" y="157884"/>
                  <a:pt x="24509" y="182394"/>
                  <a:pt x="54718" y="182394"/>
                </a:cubicBezTo>
                <a:lnTo>
                  <a:pt x="170234" y="182394"/>
                </a:lnTo>
                <a:cubicBezTo>
                  <a:pt x="197099" y="182394"/>
                  <a:pt x="218872" y="160620"/>
                  <a:pt x="218872" y="133755"/>
                </a:cubicBezTo>
                <a:cubicBezTo>
                  <a:pt x="218872" y="114148"/>
                  <a:pt x="207283" y="97239"/>
                  <a:pt x="190563" y="89563"/>
                </a:cubicBezTo>
                <a:cubicBezTo>
                  <a:pt x="193109" y="84585"/>
                  <a:pt x="194553" y="78923"/>
                  <a:pt x="194553" y="72957"/>
                </a:cubicBezTo>
                <a:cubicBezTo>
                  <a:pt x="194553" y="52818"/>
                  <a:pt x="178214" y="36479"/>
                  <a:pt x="158074" y="36479"/>
                </a:cubicBezTo>
                <a:cubicBezTo>
                  <a:pt x="151349" y="36479"/>
                  <a:pt x="145079" y="38303"/>
                  <a:pt x="139683" y="41457"/>
                </a:cubicBezTo>
                <a:cubicBezTo>
                  <a:pt x="130525" y="24053"/>
                  <a:pt x="112248" y="12160"/>
                  <a:pt x="91197" y="12160"/>
                </a:cubicBezTo>
                <a:cubicBezTo>
                  <a:pt x="60988" y="12160"/>
                  <a:pt x="36479" y="36669"/>
                  <a:pt x="36479" y="66878"/>
                </a:cubicBezTo>
                <a:cubicBezTo>
                  <a:pt x="36479" y="69918"/>
                  <a:pt x="36745" y="72919"/>
                  <a:pt x="37201" y="75807"/>
                </a:cubicBezTo>
                <a:cubicBezTo>
                  <a:pt x="15579" y="83103"/>
                  <a:pt x="0" y="103584"/>
                  <a:pt x="0" y="127676"/>
                </a:cubicBezTo>
                <a:close/>
              </a:path>
            </a:pathLst>
          </a:custGeom>
          <a:solidFill>
            <a:srgbClr val="ddff00"/>
          </a:solidFill>
          <a:ln w="0">
            <a:noFill/>
          </a:ln>
        </p:spPr>
        <p:style>
          <a:lnRef idx="0"/>
          <a:fillRef idx="0"/>
          <a:effectRef idx="0"/>
          <a:fontRef idx="minor"/>
        </p:style>
      </p:sp>
      <p:sp>
        <p:nvSpPr>
          <p:cNvPr id="631" name="Text 27"/>
          <p:cNvSpPr/>
          <p:nvPr/>
        </p:nvSpPr>
        <p:spPr>
          <a:xfrm>
            <a:off x="401400" y="6477120"/>
            <a:ext cx="1474920" cy="1616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Dirty Tones</a:t>
            </a:r>
            <a:endParaRPr b="0" lang="en-HK" sz="900" spc="-1" strike="noStrike">
              <a:latin typeface="Arial"/>
            </a:endParaRPr>
          </a:p>
        </p:txBody>
      </p:sp>
      <p:sp>
        <p:nvSpPr>
          <p:cNvPr id="632" name="Shape 28"/>
          <p:cNvSpPr/>
          <p:nvPr/>
        </p:nvSpPr>
        <p:spPr>
          <a:xfrm>
            <a:off x="2054880" y="6116400"/>
            <a:ext cx="1621080" cy="62388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3" name="Shape 29"/>
          <p:cNvSpPr/>
          <p:nvPr/>
        </p:nvSpPr>
        <p:spPr>
          <a:xfrm>
            <a:off x="2768400" y="6217560"/>
            <a:ext cx="194040" cy="194040"/>
          </a:xfrm>
          <a:custGeom>
            <a:avLst/>
            <a:gdLst/>
            <a:ahLst/>
            <a:rect l="l" t="t" r="r" b="b"/>
            <a:pathLst>
              <a:path w="194553" h="194553">
                <a:moveTo>
                  <a:pt x="50576" y="12160"/>
                </a:moveTo>
                <a:cubicBezTo>
                  <a:pt x="57150" y="12160"/>
                  <a:pt x="63572" y="13452"/>
                  <a:pt x="69538" y="15845"/>
                </a:cubicBezTo>
                <a:lnTo>
                  <a:pt x="90361" y="48220"/>
                </a:lnTo>
                <a:lnTo>
                  <a:pt x="61710" y="76871"/>
                </a:lnTo>
                <a:cubicBezTo>
                  <a:pt x="61140" y="77441"/>
                  <a:pt x="60798" y="78239"/>
                  <a:pt x="60836" y="79075"/>
                </a:cubicBezTo>
                <a:cubicBezTo>
                  <a:pt x="60874" y="79911"/>
                  <a:pt x="61216" y="80671"/>
                  <a:pt x="61824" y="81241"/>
                </a:cubicBezTo>
                <a:lnTo>
                  <a:pt x="104382" y="120760"/>
                </a:lnTo>
                <a:cubicBezTo>
                  <a:pt x="105484" y="121786"/>
                  <a:pt x="107194" y="121862"/>
                  <a:pt x="108372" y="120874"/>
                </a:cubicBezTo>
                <a:cubicBezTo>
                  <a:pt x="109550" y="119886"/>
                  <a:pt x="109816" y="118214"/>
                  <a:pt x="109018" y="116922"/>
                </a:cubicBezTo>
                <a:lnTo>
                  <a:pt x="86067" y="79645"/>
                </a:lnTo>
                <a:lnTo>
                  <a:pt x="120532" y="50918"/>
                </a:lnTo>
                <a:cubicBezTo>
                  <a:pt x="121520" y="50120"/>
                  <a:pt x="121862" y="48752"/>
                  <a:pt x="121444" y="47574"/>
                </a:cubicBezTo>
                <a:lnTo>
                  <a:pt x="112628" y="23027"/>
                </a:lnTo>
                <a:cubicBezTo>
                  <a:pt x="121444" y="16073"/>
                  <a:pt x="132463" y="12160"/>
                  <a:pt x="143977" y="12160"/>
                </a:cubicBezTo>
                <a:cubicBezTo>
                  <a:pt x="171906" y="12160"/>
                  <a:pt x="194553" y="34807"/>
                  <a:pt x="194553" y="62736"/>
                </a:cubicBezTo>
                <a:lnTo>
                  <a:pt x="194553" y="63724"/>
                </a:lnTo>
                <a:cubicBezTo>
                  <a:pt x="194553" y="106358"/>
                  <a:pt x="141393" y="155871"/>
                  <a:pt x="113654" y="177036"/>
                </a:cubicBezTo>
                <a:cubicBezTo>
                  <a:pt x="108942" y="180608"/>
                  <a:pt x="103166" y="182394"/>
                  <a:pt x="97277" y="182394"/>
                </a:cubicBezTo>
                <a:cubicBezTo>
                  <a:pt x="91387" y="182394"/>
                  <a:pt x="85573" y="180646"/>
                  <a:pt x="80899" y="177036"/>
                </a:cubicBezTo>
                <a:cubicBezTo>
                  <a:pt x="53160" y="155871"/>
                  <a:pt x="0" y="106358"/>
                  <a:pt x="0" y="63724"/>
                </a:cubicBezTo>
                <a:lnTo>
                  <a:pt x="0" y="62736"/>
                </a:lnTo>
                <a:cubicBezTo>
                  <a:pt x="0" y="34807"/>
                  <a:pt x="22647" y="12160"/>
                  <a:pt x="50576" y="12160"/>
                </a:cubicBezTo>
                <a:close/>
              </a:path>
            </a:pathLst>
          </a:custGeom>
          <a:solidFill>
            <a:srgbClr val="ddff00"/>
          </a:solidFill>
          <a:ln w="0">
            <a:noFill/>
          </a:ln>
        </p:spPr>
        <p:style>
          <a:lnRef idx="0"/>
          <a:fillRef idx="0"/>
          <a:effectRef idx="0"/>
          <a:fontRef idx="minor"/>
        </p:style>
      </p:sp>
      <p:sp>
        <p:nvSpPr>
          <p:cNvPr id="634" name="Text 30"/>
          <p:cNvSpPr/>
          <p:nvPr/>
        </p:nvSpPr>
        <p:spPr>
          <a:xfrm>
            <a:off x="2127960" y="6477120"/>
            <a:ext cx="1474920" cy="1616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Alienation</a:t>
            </a:r>
            <a:endParaRPr b="0" lang="en-HK" sz="900" spc="-1" strike="noStrike">
              <a:latin typeface="Arial"/>
            </a:endParaRPr>
          </a:p>
        </p:txBody>
      </p:sp>
      <p:sp>
        <p:nvSpPr>
          <p:cNvPr id="635" name="Shape 31"/>
          <p:cNvSpPr/>
          <p:nvPr/>
        </p:nvSpPr>
        <p:spPr>
          <a:xfrm>
            <a:off x="3781800" y="6116400"/>
            <a:ext cx="1621080" cy="62388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6" name="Shape 32"/>
          <p:cNvSpPr/>
          <p:nvPr/>
        </p:nvSpPr>
        <p:spPr>
          <a:xfrm>
            <a:off x="4470840" y="6217560"/>
            <a:ext cx="243000" cy="194040"/>
          </a:xfrm>
          <a:custGeom>
            <a:avLst/>
            <a:gdLst/>
            <a:ahLst/>
            <a:rect l="l" t="t" r="r" b="b"/>
            <a:pathLst>
              <a:path w="243191" h="194553">
                <a:moveTo>
                  <a:pt x="121672" y="42559"/>
                </a:moveTo>
                <a:cubicBezTo>
                  <a:pt x="138467" y="42559"/>
                  <a:pt x="152071" y="28955"/>
                  <a:pt x="152071" y="12160"/>
                </a:cubicBezTo>
                <a:lnTo>
                  <a:pt x="172400" y="12160"/>
                </a:lnTo>
                <a:cubicBezTo>
                  <a:pt x="178860" y="12160"/>
                  <a:pt x="185054" y="14705"/>
                  <a:pt x="189613" y="19265"/>
                </a:cubicBezTo>
                <a:lnTo>
                  <a:pt x="234680" y="64370"/>
                </a:lnTo>
                <a:cubicBezTo>
                  <a:pt x="239430" y="69120"/>
                  <a:pt x="239430" y="76833"/>
                  <a:pt x="234680" y="81583"/>
                </a:cubicBezTo>
                <a:lnTo>
                  <a:pt x="215414" y="100848"/>
                </a:lnTo>
                <a:cubicBezTo>
                  <a:pt x="210665" y="105598"/>
                  <a:pt x="202951" y="105598"/>
                  <a:pt x="198201" y="100848"/>
                </a:cubicBezTo>
                <a:lnTo>
                  <a:pt x="182470" y="85117"/>
                </a:lnTo>
                <a:lnTo>
                  <a:pt x="182470" y="170234"/>
                </a:lnTo>
                <a:cubicBezTo>
                  <a:pt x="182470" y="183648"/>
                  <a:pt x="171564" y="194553"/>
                  <a:pt x="158150" y="194553"/>
                </a:cubicBezTo>
                <a:lnTo>
                  <a:pt x="85193" y="194553"/>
                </a:lnTo>
                <a:cubicBezTo>
                  <a:pt x="71779" y="194553"/>
                  <a:pt x="60874" y="183648"/>
                  <a:pt x="60874" y="170234"/>
                </a:cubicBezTo>
                <a:lnTo>
                  <a:pt x="60874" y="85117"/>
                </a:lnTo>
                <a:lnTo>
                  <a:pt x="45142" y="100848"/>
                </a:lnTo>
                <a:cubicBezTo>
                  <a:pt x="40393" y="105598"/>
                  <a:pt x="32679" y="105598"/>
                  <a:pt x="27929" y="100848"/>
                </a:cubicBezTo>
                <a:lnTo>
                  <a:pt x="8702" y="81545"/>
                </a:lnTo>
                <a:cubicBezTo>
                  <a:pt x="3952" y="76795"/>
                  <a:pt x="3952" y="69082"/>
                  <a:pt x="8702" y="64332"/>
                </a:cubicBezTo>
                <a:lnTo>
                  <a:pt x="53768" y="19265"/>
                </a:lnTo>
                <a:cubicBezTo>
                  <a:pt x="58328" y="14705"/>
                  <a:pt x="64522" y="12160"/>
                  <a:pt x="70982" y="12160"/>
                </a:cubicBezTo>
                <a:lnTo>
                  <a:pt x="91311" y="12160"/>
                </a:lnTo>
                <a:cubicBezTo>
                  <a:pt x="91311" y="28955"/>
                  <a:pt x="104914" y="42559"/>
                  <a:pt x="121710" y="42559"/>
                </a:cubicBezTo>
                <a:close/>
              </a:path>
            </a:pathLst>
          </a:custGeom>
          <a:solidFill>
            <a:srgbClr val="ddff00"/>
          </a:solidFill>
          <a:ln w="0">
            <a:noFill/>
          </a:ln>
        </p:spPr>
        <p:style>
          <a:lnRef idx="0"/>
          <a:fillRef idx="0"/>
          <a:effectRef idx="0"/>
          <a:fontRef idx="minor"/>
        </p:style>
      </p:sp>
      <p:sp>
        <p:nvSpPr>
          <p:cNvPr id="637" name="Text 33"/>
          <p:cNvSpPr/>
          <p:nvPr/>
        </p:nvSpPr>
        <p:spPr>
          <a:xfrm>
            <a:off x="3854520" y="6477120"/>
            <a:ext cx="1474920" cy="1616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Flannel Fashion</a:t>
            </a:r>
            <a:endParaRPr b="0" lang="en-HK" sz="900" spc="-1" strike="noStrike">
              <a:latin typeface="Arial"/>
            </a:endParaRPr>
          </a:p>
        </p:txBody>
      </p:sp>
      <p:sp>
        <p:nvSpPr>
          <p:cNvPr id="638" name="Shape 34"/>
          <p:cNvSpPr/>
          <p:nvPr/>
        </p:nvSpPr>
        <p:spPr>
          <a:xfrm>
            <a:off x="5508360" y="6116400"/>
            <a:ext cx="1621080" cy="62388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9" name="Shape 35"/>
          <p:cNvSpPr/>
          <p:nvPr/>
        </p:nvSpPr>
        <p:spPr>
          <a:xfrm>
            <a:off x="6246000" y="6217560"/>
            <a:ext cx="145440" cy="194040"/>
          </a:xfrm>
          <a:custGeom>
            <a:avLst/>
            <a:gdLst/>
            <a:ahLst/>
            <a:rect l="l" t="t" r="r" b="b"/>
            <a:pathLst>
              <a:path w="145915" h="194553">
                <a:moveTo>
                  <a:pt x="2812" y="96365"/>
                </a:moveTo>
                <a:cubicBezTo>
                  <a:pt x="988" y="93439"/>
                  <a:pt x="0" y="90095"/>
                  <a:pt x="0" y="86637"/>
                </a:cubicBezTo>
                <a:lnTo>
                  <a:pt x="0" y="72957"/>
                </a:lnTo>
                <a:cubicBezTo>
                  <a:pt x="0" y="62888"/>
                  <a:pt x="8170" y="54718"/>
                  <a:pt x="18239" y="54718"/>
                </a:cubicBezTo>
                <a:lnTo>
                  <a:pt x="24319" y="54718"/>
                </a:lnTo>
                <a:lnTo>
                  <a:pt x="24319" y="24319"/>
                </a:lnTo>
                <a:cubicBezTo>
                  <a:pt x="24319" y="14250"/>
                  <a:pt x="32489" y="6080"/>
                  <a:pt x="42559" y="6080"/>
                </a:cubicBezTo>
                <a:cubicBezTo>
                  <a:pt x="49132" y="6080"/>
                  <a:pt x="54870" y="9538"/>
                  <a:pt x="58100" y="14743"/>
                </a:cubicBezTo>
                <a:cubicBezTo>
                  <a:pt x="59734" y="6346"/>
                  <a:pt x="67144" y="0"/>
                  <a:pt x="75997" y="0"/>
                </a:cubicBezTo>
                <a:cubicBezTo>
                  <a:pt x="84889" y="0"/>
                  <a:pt x="92299" y="6384"/>
                  <a:pt x="93895" y="14781"/>
                </a:cubicBezTo>
                <a:cubicBezTo>
                  <a:pt x="96669" y="13110"/>
                  <a:pt x="99899" y="12160"/>
                  <a:pt x="103356" y="12160"/>
                </a:cubicBezTo>
                <a:cubicBezTo>
                  <a:pt x="111754" y="12160"/>
                  <a:pt x="118860" y="17859"/>
                  <a:pt x="120950" y="25611"/>
                </a:cubicBezTo>
                <a:cubicBezTo>
                  <a:pt x="123040" y="24775"/>
                  <a:pt x="125282" y="24319"/>
                  <a:pt x="127676" y="24319"/>
                </a:cubicBezTo>
                <a:cubicBezTo>
                  <a:pt x="137745" y="24319"/>
                  <a:pt x="145915" y="32489"/>
                  <a:pt x="145915" y="42559"/>
                </a:cubicBezTo>
                <a:lnTo>
                  <a:pt x="145915" y="79379"/>
                </a:lnTo>
                <a:cubicBezTo>
                  <a:pt x="145915" y="83141"/>
                  <a:pt x="145041" y="86865"/>
                  <a:pt x="143331" y="90247"/>
                </a:cubicBezTo>
                <a:lnTo>
                  <a:pt x="128284" y="120304"/>
                </a:lnTo>
                <a:cubicBezTo>
                  <a:pt x="124180" y="128550"/>
                  <a:pt x="115744" y="133755"/>
                  <a:pt x="106548" y="133755"/>
                </a:cubicBezTo>
                <a:lnTo>
                  <a:pt x="36479" y="133755"/>
                </a:lnTo>
                <a:cubicBezTo>
                  <a:pt x="30209" y="133755"/>
                  <a:pt x="24395" y="130563"/>
                  <a:pt x="21051" y="125244"/>
                </a:cubicBezTo>
                <a:lnTo>
                  <a:pt x="2812" y="96365"/>
                </a:lnTo>
                <a:close/>
                <a:moveTo>
                  <a:pt x="12160" y="182394"/>
                </a:moveTo>
                <a:lnTo>
                  <a:pt x="12160" y="164154"/>
                </a:lnTo>
                <a:cubicBezTo>
                  <a:pt x="12160" y="157428"/>
                  <a:pt x="17593" y="151995"/>
                  <a:pt x="24319" y="151995"/>
                </a:cubicBezTo>
                <a:lnTo>
                  <a:pt x="121596" y="151995"/>
                </a:lnTo>
                <a:cubicBezTo>
                  <a:pt x="128322" y="151995"/>
                  <a:pt x="133755" y="157428"/>
                  <a:pt x="133755" y="164154"/>
                </a:cubicBezTo>
                <a:lnTo>
                  <a:pt x="133755" y="182394"/>
                </a:lnTo>
                <a:cubicBezTo>
                  <a:pt x="133755" y="189119"/>
                  <a:pt x="128322" y="194553"/>
                  <a:pt x="121596" y="194553"/>
                </a:cubicBezTo>
                <a:lnTo>
                  <a:pt x="24319" y="194553"/>
                </a:lnTo>
                <a:cubicBezTo>
                  <a:pt x="17593" y="194553"/>
                  <a:pt x="12160" y="189119"/>
                  <a:pt x="12160" y="182394"/>
                </a:cubicBezTo>
                <a:close/>
              </a:path>
            </a:pathLst>
          </a:custGeom>
          <a:solidFill>
            <a:srgbClr val="ddff00"/>
          </a:solidFill>
          <a:ln w="0">
            <a:noFill/>
          </a:ln>
        </p:spPr>
        <p:style>
          <a:lnRef idx="0"/>
          <a:fillRef idx="0"/>
          <a:effectRef idx="0"/>
          <a:fontRef idx="minor"/>
        </p:style>
      </p:sp>
      <p:sp>
        <p:nvSpPr>
          <p:cNvPr id="640" name="Text 36"/>
          <p:cNvSpPr/>
          <p:nvPr/>
        </p:nvSpPr>
        <p:spPr>
          <a:xfrm>
            <a:off x="5581080" y="6477120"/>
            <a:ext cx="1474920" cy="1616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Authenticity</a:t>
            </a:r>
            <a:endParaRPr b="0" lang="en-HK" sz="900" spc="-1" strike="noStrike">
              <a:latin typeface="Arial"/>
            </a:endParaRPr>
          </a:p>
        </p:txBody>
      </p:sp>
      <p:sp>
        <p:nvSpPr>
          <p:cNvPr id="641" name="Image 0"/>
          <p:cNvSpPr/>
          <p:nvPr/>
        </p:nvSpPr>
        <p:spPr>
          <a:xfrm>
            <a:off x="7328160" y="1069920"/>
            <a:ext cx="4539240" cy="2723400"/>
          </a:xfrm>
          <a:prstGeom prst="roundRect">
            <a:avLst>
              <a:gd name="adj" fmla="val 0"/>
            </a:avLst>
          </a:prstGeom>
          <a:blipFill rotWithShape="0">
            <a:blip r:embed="rId1"/>
            <a:srcRect/>
            <a:stretch/>
          </a:blipFill>
          <a:ln w="0">
            <a:noFill/>
          </a:ln>
        </p:spPr>
        <p:style>
          <a:lnRef idx="0"/>
          <a:fillRef idx="0"/>
          <a:effectRef idx="0"/>
          <a:fontRef idx="minor"/>
        </p:style>
      </p:sp>
      <p:sp>
        <p:nvSpPr>
          <p:cNvPr id="642" name="Shape 37"/>
          <p:cNvSpPr/>
          <p:nvPr/>
        </p:nvSpPr>
        <p:spPr>
          <a:xfrm>
            <a:off x="7328160" y="1069920"/>
            <a:ext cx="4539240" cy="2723400"/>
          </a:xfrm>
          <a:custGeom>
            <a:avLst/>
            <a:gdLst/>
            <a:ahLst/>
            <a:rect l="l" t="t" r="r" b="b"/>
            <a:pathLst>
              <a:path w="4539574" h="2723745">
                <a:moveTo>
                  <a:pt x="0" y="0"/>
                </a:moveTo>
                <a:lnTo>
                  <a:pt x="4539574" y="0"/>
                </a:lnTo>
                <a:lnTo>
                  <a:pt x="4539574" y="2723745"/>
                </a:lnTo>
                <a:lnTo>
                  <a:pt x="0" y="2723745"/>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643" name="Text 38"/>
          <p:cNvSpPr/>
          <p:nvPr/>
        </p:nvSpPr>
        <p:spPr>
          <a:xfrm>
            <a:off x="7457760" y="3242520"/>
            <a:ext cx="433656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1" strike="noStrike">
                <a:solidFill>
                  <a:srgbClr val="ddff00"/>
                </a:solidFill>
                <a:latin typeface="Liter"/>
                <a:ea typeface="Liter"/>
              </a:rPr>
              <a:t>NIRVANA</a:t>
            </a:r>
            <a:endParaRPr b="0" lang="en-HK" sz="900" spc="-1" strike="noStrike">
              <a:latin typeface="Arial"/>
            </a:endParaRPr>
          </a:p>
        </p:txBody>
      </p:sp>
      <p:sp>
        <p:nvSpPr>
          <p:cNvPr id="644" name="Text 39"/>
          <p:cNvSpPr/>
          <p:nvPr/>
        </p:nvSpPr>
        <p:spPr>
          <a:xfrm>
            <a:off x="7457760" y="3437280"/>
            <a:ext cx="435276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The Voice of a Generation</a:t>
            </a:r>
            <a:endParaRPr b="0" lang="en-HK" sz="1150" spc="-1" strike="noStrike">
              <a:latin typeface="Arial"/>
            </a:endParaRPr>
          </a:p>
        </p:txBody>
      </p:sp>
      <p:sp>
        <p:nvSpPr>
          <p:cNvPr id="645" name="Shape 40"/>
          <p:cNvSpPr/>
          <p:nvPr/>
        </p:nvSpPr>
        <p:spPr>
          <a:xfrm>
            <a:off x="7336440" y="3931560"/>
            <a:ext cx="4523040" cy="2026080"/>
          </a:xfrm>
          <a:custGeom>
            <a:avLst/>
            <a:gdLst/>
            <a:ahLst/>
            <a:rect l="l" t="t" r="r" b="b"/>
            <a:pathLst>
              <a:path w="4523362" h="2026596">
                <a:moveTo>
                  <a:pt x="0" y="0"/>
                </a:moveTo>
                <a:lnTo>
                  <a:pt x="4523362" y="0"/>
                </a:lnTo>
                <a:lnTo>
                  <a:pt x="4523362" y="2026596"/>
                </a:lnTo>
                <a:lnTo>
                  <a:pt x="0" y="2026596"/>
                </a:lnTo>
                <a:lnTo>
                  <a:pt x="0" y="0"/>
                </a:lnTo>
                <a:close/>
              </a:path>
            </a:pathLst>
          </a:custGeom>
          <a:noFill/>
          <a:ln w="25400">
            <a:solidFill>
              <a:srgbClr val="ddff00"/>
            </a:solidFill>
            <a:round/>
          </a:ln>
        </p:spPr>
        <p:style>
          <a:lnRef idx="0"/>
          <a:fillRef idx="0"/>
          <a:effectRef idx="0"/>
          <a:fontRef idx="minor"/>
        </p:style>
      </p:sp>
      <p:sp>
        <p:nvSpPr>
          <p:cNvPr id="646" name="Text 41"/>
          <p:cNvSpPr/>
          <p:nvPr/>
        </p:nvSpPr>
        <p:spPr>
          <a:xfrm>
            <a:off x="7506360" y="4101840"/>
            <a:ext cx="425556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ddff00"/>
                </a:solidFill>
                <a:latin typeface="Liter"/>
                <a:ea typeface="Liter"/>
              </a:rPr>
              <a:t>The Nevermind Revolution</a:t>
            </a:r>
            <a:endParaRPr b="0" lang="en-HK" sz="1150" spc="-1" strike="noStrike">
              <a:latin typeface="Arial"/>
            </a:endParaRPr>
          </a:p>
        </p:txBody>
      </p:sp>
      <p:sp>
        <p:nvSpPr>
          <p:cNvPr id="647" name="Text 42"/>
          <p:cNvSpPr/>
          <p:nvPr/>
        </p:nvSpPr>
        <p:spPr>
          <a:xfrm>
            <a:off x="7506360" y="4426200"/>
            <a:ext cx="4247280" cy="631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20" spc="-1" strike="noStrike">
                <a:solidFill>
                  <a:srgbClr val="ffffff"/>
                </a:solidFill>
                <a:latin typeface="Liter"/>
                <a:ea typeface="Liter"/>
              </a:rPr>
              <a:t>September 24, 1991:</a:t>
            </a:r>
            <a:r>
              <a:rPr b="0" lang="en-US" sz="1020" spc="-1" strike="noStrike">
                <a:solidFill>
                  <a:srgbClr val="ffffff"/>
                </a:solidFill>
                <a:latin typeface="Liter"/>
                <a:ea typeface="Liter"/>
              </a:rPr>
              <a:t> Nirvana releases "Nevermind." The album's unexpected success brought grunge—and alternative rock—into the mainstream overnight.</a:t>
            </a:r>
            <a:endParaRPr b="0" lang="en-HK" sz="1020" spc="-1" strike="noStrike">
              <a:latin typeface="Arial"/>
            </a:endParaRPr>
          </a:p>
        </p:txBody>
      </p:sp>
      <p:sp>
        <p:nvSpPr>
          <p:cNvPr id="648" name="Text 43"/>
          <p:cNvSpPr/>
          <p:nvPr/>
        </p:nvSpPr>
        <p:spPr>
          <a:xfrm>
            <a:off x="7506360" y="5155560"/>
            <a:ext cx="4247280" cy="631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ffffff">
                    <a:alpha val="80000"/>
                  </a:srgbClr>
                </a:solidFill>
                <a:latin typeface="Liter"/>
                <a:ea typeface="Liter"/>
              </a:rPr>
              <a:t>"Smells Like Teen Spirit" became an anthem for disaffected youth worldwide. The music industry was transformed, with major labels scrambling to sign Seattle bands.</a:t>
            </a:r>
            <a:endParaRPr b="0" lang="en-HK" sz="1020" spc="-1" strike="noStrike">
              <a:latin typeface="Arial"/>
            </a:endParaRPr>
          </a:p>
        </p:txBody>
      </p:sp>
      <p:sp>
        <p:nvSpPr>
          <p:cNvPr id="649" name="Shape 44"/>
          <p:cNvSpPr/>
          <p:nvPr/>
        </p:nvSpPr>
        <p:spPr>
          <a:xfrm>
            <a:off x="7328160" y="6095880"/>
            <a:ext cx="4539240" cy="648000"/>
          </a:xfrm>
          <a:custGeom>
            <a:avLst/>
            <a:gdLst/>
            <a:ahLst/>
            <a:rect l="l" t="t" r="r" b="b"/>
            <a:pathLst>
              <a:path w="4539574" h="648511">
                <a:moveTo>
                  <a:pt x="0" y="0"/>
                </a:moveTo>
                <a:lnTo>
                  <a:pt x="4539574" y="0"/>
                </a:lnTo>
                <a:lnTo>
                  <a:pt x="4539574" y="648511"/>
                </a:lnTo>
                <a:lnTo>
                  <a:pt x="0" y="648511"/>
                </a:lnTo>
                <a:lnTo>
                  <a:pt x="0" y="0"/>
                </a:lnTo>
                <a:close/>
              </a:path>
            </a:pathLst>
          </a:custGeom>
          <a:solidFill>
            <a:srgbClr val="ddff00"/>
          </a:solidFill>
          <a:ln w="0">
            <a:noFill/>
          </a:ln>
        </p:spPr>
        <p:style>
          <a:lnRef idx="0"/>
          <a:fillRef idx="0"/>
          <a:effectRef idx="0"/>
          <a:fontRef idx="minor"/>
        </p:style>
      </p:sp>
      <p:sp>
        <p:nvSpPr>
          <p:cNvPr id="650" name="Text 45"/>
          <p:cNvSpPr/>
          <p:nvPr/>
        </p:nvSpPr>
        <p:spPr>
          <a:xfrm>
            <a:off x="7425360" y="6225840"/>
            <a:ext cx="4344840" cy="388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20" spc="-1" strike="noStrike">
                <a:solidFill>
                  <a:srgbClr val="000000"/>
                </a:solidFill>
                <a:latin typeface="Liter"/>
                <a:ea typeface="Liter"/>
              </a:rPr>
              <a:t>"Here we are now, entertain us."</a:t>
            </a:r>
            <a:endParaRPr b="0" lang="en-HK" sz="1020" spc="-1" strike="noStrike">
              <a:latin typeface="Arial"/>
            </a:endParaRPr>
          </a:p>
          <a:p>
            <a:pPr algn="ctr">
              <a:lnSpc>
                <a:spcPct val="130000"/>
              </a:lnSpc>
              <a:buNone/>
            </a:pPr>
            <a:r>
              <a:rPr b="0" lang="en-US" sz="900" spc="-1" strike="noStrike">
                <a:solidFill>
                  <a:srgbClr val="000000"/>
                </a:solidFill>
                <a:latin typeface="Liter"/>
                <a:ea typeface="Liter"/>
              </a:rPr>
              <a:t>— </a:t>
            </a:r>
            <a:r>
              <a:rPr b="0" lang="en-US" sz="900" spc="-1" strike="noStrike">
                <a:solidFill>
                  <a:srgbClr val="000000"/>
                </a:solidFill>
                <a:latin typeface="Liter"/>
                <a:ea typeface="Liter"/>
              </a:rPr>
              <a:t>Nirvana, "Smells Like Teen Spirit"</a:t>
            </a:r>
            <a:endParaRPr b="0" lang="en-HK" sz="9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651" name="Shape 0"/>
          <p:cNvSpPr/>
          <p:nvPr/>
        </p:nvSpPr>
        <p:spPr>
          <a:xfrm>
            <a:off x="317520" y="365040"/>
            <a:ext cx="63000" cy="38052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652" name="Text 1"/>
          <p:cNvSpPr/>
          <p:nvPr/>
        </p:nvSpPr>
        <p:spPr>
          <a:xfrm>
            <a:off x="507960" y="317520"/>
            <a:ext cx="339696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6" strike="noStrike">
                <a:solidFill>
                  <a:srgbClr val="ddff00"/>
                </a:solidFill>
                <a:latin typeface="Liter"/>
                <a:ea typeface="Liter"/>
              </a:rPr>
              <a:t>CHAPTER 06</a:t>
            </a:r>
            <a:endParaRPr b="0" lang="en-HK" sz="880" spc="-1" strike="noStrike">
              <a:latin typeface="Arial"/>
            </a:endParaRPr>
          </a:p>
        </p:txBody>
      </p:sp>
      <p:sp>
        <p:nvSpPr>
          <p:cNvPr id="653" name="Text 2"/>
          <p:cNvSpPr/>
          <p:nvPr/>
        </p:nvSpPr>
        <p:spPr>
          <a:xfrm>
            <a:off x="507960" y="476280"/>
            <a:ext cx="3484080" cy="3171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Alternative Rock Explosion</a:t>
            </a:r>
            <a:endParaRPr b="0" lang="en-HK" sz="2250" spc="-1" strike="noStrike">
              <a:latin typeface="Arial"/>
            </a:endParaRPr>
          </a:p>
        </p:txBody>
      </p:sp>
      <p:sp>
        <p:nvSpPr>
          <p:cNvPr id="654" name="Shape 3"/>
          <p:cNvSpPr/>
          <p:nvPr/>
        </p:nvSpPr>
        <p:spPr>
          <a:xfrm>
            <a:off x="317520" y="1047600"/>
            <a:ext cx="4547880" cy="247608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655" name="Text 4"/>
          <p:cNvSpPr/>
          <p:nvPr/>
        </p:nvSpPr>
        <p:spPr>
          <a:xfrm>
            <a:off x="507960" y="1238400"/>
            <a:ext cx="426204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Beyond Grunge</a:t>
            </a:r>
            <a:endParaRPr b="0" lang="en-HK" sz="1500" spc="-1" strike="noStrike">
              <a:latin typeface="Arial"/>
            </a:endParaRPr>
          </a:p>
        </p:txBody>
      </p:sp>
      <p:sp>
        <p:nvSpPr>
          <p:cNvPr id="656" name="Text 5"/>
          <p:cNvSpPr/>
          <p:nvPr/>
        </p:nvSpPr>
        <p:spPr>
          <a:xfrm>
            <a:off x="507960" y="1587600"/>
            <a:ext cx="4230360" cy="1031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While grunge dominated the early 1990s, alternative rock encompassed a much broader spectrum of sounds and styles.</a:t>
            </a:r>
            <a:r>
              <a:rPr b="0" lang="en-US" sz="1000" spc="-1" strike="noStrike">
                <a:solidFill>
                  <a:srgbClr val="000000"/>
                </a:solidFill>
                <a:latin typeface="Liter"/>
                <a:ea typeface="Liter"/>
              </a:rPr>
              <a:t> From the experimental art-rock of Radiohead to the geek-rock charm of Weezer, alternative rock proved that rock could evolve in countless directions while maintaining its rebellious spirit.</a:t>
            </a:r>
            <a:endParaRPr b="0" lang="en-HK" sz="1000" spc="-1" strike="noStrike">
              <a:latin typeface="Arial"/>
            </a:endParaRPr>
          </a:p>
        </p:txBody>
      </p:sp>
      <p:sp>
        <p:nvSpPr>
          <p:cNvPr id="657" name="Text 6"/>
          <p:cNvSpPr/>
          <p:nvPr/>
        </p:nvSpPr>
        <p:spPr>
          <a:xfrm>
            <a:off x="507960" y="2714760"/>
            <a:ext cx="4230360" cy="618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College radio stations and the Lollapalooza festival (launched 1991) became crucial platforms for promoting alternative acts, helping bands reach audiences outside the mainstream.</a:t>
            </a:r>
            <a:endParaRPr b="0" lang="en-HK" sz="1000" spc="-1" strike="noStrike">
              <a:latin typeface="Arial"/>
            </a:endParaRPr>
          </a:p>
        </p:txBody>
      </p:sp>
      <p:sp>
        <p:nvSpPr>
          <p:cNvPr id="658" name="Shape 7"/>
          <p:cNvSpPr/>
          <p:nvPr/>
        </p:nvSpPr>
        <p:spPr>
          <a:xfrm>
            <a:off x="325440" y="3659040"/>
            <a:ext cx="4532040" cy="3126960"/>
          </a:xfrm>
          <a:custGeom>
            <a:avLst/>
            <a:gdLst/>
            <a:ahLst/>
            <a:rect l="l" t="t" r="r" b="b"/>
            <a:pathLst>
              <a:path w="4532313" h="3127375">
                <a:moveTo>
                  <a:pt x="0" y="0"/>
                </a:moveTo>
                <a:lnTo>
                  <a:pt x="4532313" y="0"/>
                </a:lnTo>
                <a:lnTo>
                  <a:pt x="4532313" y="3127375"/>
                </a:lnTo>
                <a:lnTo>
                  <a:pt x="0" y="3127375"/>
                </a:lnTo>
                <a:lnTo>
                  <a:pt x="0" y="0"/>
                </a:lnTo>
                <a:close/>
              </a:path>
            </a:pathLst>
          </a:custGeom>
          <a:noFill/>
          <a:ln w="25400">
            <a:solidFill>
              <a:srgbClr val="ddff00"/>
            </a:solidFill>
            <a:round/>
          </a:ln>
        </p:spPr>
        <p:style>
          <a:lnRef idx="0"/>
          <a:fillRef idx="0"/>
          <a:effectRef idx="0"/>
          <a:fontRef idx="minor"/>
        </p:style>
      </p:sp>
      <p:sp>
        <p:nvSpPr>
          <p:cNvPr id="659" name="Text 8"/>
          <p:cNvSpPr/>
          <p:nvPr/>
        </p:nvSpPr>
        <p:spPr>
          <a:xfrm>
            <a:off x="492120" y="3825720"/>
            <a:ext cx="4277880" cy="221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Key Alternative Rock Bands</a:t>
            </a:r>
            <a:endParaRPr b="0" lang="en-HK" sz="1250" spc="-1" strike="noStrike">
              <a:latin typeface="Arial"/>
            </a:endParaRPr>
          </a:p>
        </p:txBody>
      </p:sp>
      <p:sp>
        <p:nvSpPr>
          <p:cNvPr id="660" name="Shape 9"/>
          <p:cNvSpPr/>
          <p:nvPr/>
        </p:nvSpPr>
        <p:spPr>
          <a:xfrm>
            <a:off x="507960" y="4175280"/>
            <a:ext cx="31320" cy="4125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61" name="Shape 10"/>
          <p:cNvSpPr/>
          <p:nvPr/>
        </p:nvSpPr>
        <p:spPr>
          <a:xfrm>
            <a:off x="619200" y="4175280"/>
            <a:ext cx="317160" cy="3171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62" name="Shape 11"/>
          <p:cNvSpPr/>
          <p:nvPr/>
        </p:nvSpPr>
        <p:spPr>
          <a:xfrm>
            <a:off x="722160" y="4270320"/>
            <a:ext cx="110880" cy="126720"/>
          </a:xfrm>
          <a:custGeom>
            <a:avLst/>
            <a:gdLst/>
            <a:ahLst/>
            <a:rect l="l" t="t" r="r" b="b"/>
            <a:pathLst>
              <a:path w="111125" h="127000">
                <a:moveTo>
                  <a:pt x="55563" y="98921"/>
                </a:moveTo>
                <a:cubicBezTo>
                  <a:pt x="52636" y="100186"/>
                  <a:pt x="49758" y="101327"/>
                  <a:pt x="46906" y="102270"/>
                </a:cubicBezTo>
                <a:cubicBezTo>
                  <a:pt x="51048" y="110654"/>
                  <a:pt x="54595" y="111125"/>
                  <a:pt x="55563" y="111125"/>
                </a:cubicBezTo>
                <a:cubicBezTo>
                  <a:pt x="56530" y="111125"/>
                  <a:pt x="60052" y="110654"/>
                  <a:pt x="64219" y="102270"/>
                </a:cubicBezTo>
                <a:cubicBezTo>
                  <a:pt x="61392" y="101302"/>
                  <a:pt x="58489" y="100186"/>
                  <a:pt x="55562" y="98921"/>
                </a:cubicBezTo>
                <a:close/>
                <a:moveTo>
                  <a:pt x="102691" y="63500"/>
                </a:moveTo>
                <a:cubicBezTo>
                  <a:pt x="110877" y="74712"/>
                  <a:pt x="113680" y="86047"/>
                  <a:pt x="108545" y="95250"/>
                </a:cubicBezTo>
                <a:cubicBezTo>
                  <a:pt x="103535" y="104254"/>
                  <a:pt x="93042" y="107479"/>
                  <a:pt x="79970" y="105966"/>
                </a:cubicBezTo>
                <a:cubicBezTo>
                  <a:pt x="74513" y="118889"/>
                  <a:pt x="66154" y="127000"/>
                  <a:pt x="55563" y="127000"/>
                </a:cubicBezTo>
                <a:cubicBezTo>
                  <a:pt x="44971" y="127000"/>
                  <a:pt x="36612" y="118889"/>
                  <a:pt x="31155" y="105966"/>
                </a:cubicBezTo>
                <a:cubicBezTo>
                  <a:pt x="18083" y="107479"/>
                  <a:pt x="7590" y="104254"/>
                  <a:pt x="2580" y="95250"/>
                </a:cubicBezTo>
                <a:cubicBezTo>
                  <a:pt x="-2555" y="86047"/>
                  <a:pt x="248" y="74712"/>
                  <a:pt x="8434" y="63500"/>
                </a:cubicBezTo>
                <a:cubicBezTo>
                  <a:pt x="248" y="52288"/>
                  <a:pt x="-2555" y="40953"/>
                  <a:pt x="2580" y="31750"/>
                </a:cubicBezTo>
                <a:cubicBezTo>
                  <a:pt x="7590" y="22746"/>
                  <a:pt x="18083" y="19521"/>
                  <a:pt x="31155" y="21034"/>
                </a:cubicBezTo>
                <a:cubicBezTo>
                  <a:pt x="36612" y="8111"/>
                  <a:pt x="44946" y="0"/>
                  <a:pt x="55563" y="0"/>
                </a:cubicBezTo>
                <a:cubicBezTo>
                  <a:pt x="66179" y="0"/>
                  <a:pt x="74513" y="8111"/>
                  <a:pt x="79970" y="21034"/>
                </a:cubicBezTo>
                <a:cubicBezTo>
                  <a:pt x="93042" y="19521"/>
                  <a:pt x="103535" y="22721"/>
                  <a:pt x="108545" y="31750"/>
                </a:cubicBezTo>
                <a:cubicBezTo>
                  <a:pt x="113680" y="40953"/>
                  <a:pt x="110877" y="52288"/>
                  <a:pt x="102691" y="63500"/>
                </a:cubicBezTo>
                <a:close/>
                <a:moveTo>
                  <a:pt x="86370" y="80218"/>
                </a:moveTo>
                <a:cubicBezTo>
                  <a:pt x="85948" y="83741"/>
                  <a:pt x="85403" y="87164"/>
                  <a:pt x="84708" y="90438"/>
                </a:cubicBezTo>
                <a:cubicBezTo>
                  <a:pt x="92596" y="90785"/>
                  <a:pt x="94283" y="88280"/>
                  <a:pt x="94679" y="87536"/>
                </a:cubicBezTo>
                <a:cubicBezTo>
                  <a:pt x="95250" y="86494"/>
                  <a:pt x="96416" y="83096"/>
                  <a:pt x="91728" y="75605"/>
                </a:cubicBezTo>
                <a:cubicBezTo>
                  <a:pt x="90041" y="77167"/>
                  <a:pt x="88255" y="78705"/>
                  <a:pt x="86370" y="80218"/>
                </a:cubicBezTo>
                <a:close/>
                <a:moveTo>
                  <a:pt x="84708" y="36587"/>
                </a:moveTo>
                <a:cubicBezTo>
                  <a:pt x="85403" y="39836"/>
                  <a:pt x="85948" y="43259"/>
                  <a:pt x="86370" y="46806"/>
                </a:cubicBezTo>
                <a:cubicBezTo>
                  <a:pt x="88255" y="48320"/>
                  <a:pt x="90041" y="49857"/>
                  <a:pt x="91728" y="51420"/>
                </a:cubicBezTo>
                <a:cubicBezTo>
                  <a:pt x="96416" y="43929"/>
                  <a:pt x="95250" y="40506"/>
                  <a:pt x="94679" y="39489"/>
                </a:cubicBezTo>
                <a:cubicBezTo>
                  <a:pt x="94283" y="38770"/>
                  <a:pt x="92596" y="36264"/>
                  <a:pt x="84708" y="36587"/>
                </a:cubicBezTo>
                <a:close/>
                <a:moveTo>
                  <a:pt x="64219" y="24730"/>
                </a:moveTo>
                <a:cubicBezTo>
                  <a:pt x="60052" y="16346"/>
                  <a:pt x="56530" y="15875"/>
                  <a:pt x="55563" y="15875"/>
                </a:cubicBezTo>
                <a:cubicBezTo>
                  <a:pt x="54595" y="15875"/>
                  <a:pt x="51073" y="16346"/>
                  <a:pt x="46906" y="24730"/>
                </a:cubicBezTo>
                <a:cubicBezTo>
                  <a:pt x="49733" y="25698"/>
                  <a:pt x="52636" y="26814"/>
                  <a:pt x="55563" y="28079"/>
                </a:cubicBezTo>
                <a:cubicBezTo>
                  <a:pt x="58489" y="26814"/>
                  <a:pt x="61367" y="25673"/>
                  <a:pt x="64219" y="24730"/>
                </a:cubicBezTo>
                <a:close/>
                <a:moveTo>
                  <a:pt x="24780" y="46782"/>
                </a:moveTo>
                <a:cubicBezTo>
                  <a:pt x="25202" y="43235"/>
                  <a:pt x="25747" y="39836"/>
                  <a:pt x="26442" y="36562"/>
                </a:cubicBezTo>
                <a:cubicBezTo>
                  <a:pt x="18554" y="36215"/>
                  <a:pt x="16867" y="38720"/>
                  <a:pt x="16470" y="39464"/>
                </a:cubicBezTo>
                <a:cubicBezTo>
                  <a:pt x="15900" y="40506"/>
                  <a:pt x="14734" y="43904"/>
                  <a:pt x="19422" y="51395"/>
                </a:cubicBezTo>
                <a:cubicBezTo>
                  <a:pt x="21109" y="49833"/>
                  <a:pt x="22895" y="48295"/>
                  <a:pt x="24780" y="46782"/>
                </a:cubicBezTo>
                <a:close/>
                <a:moveTo>
                  <a:pt x="19397" y="75605"/>
                </a:moveTo>
                <a:cubicBezTo>
                  <a:pt x="14709" y="83096"/>
                  <a:pt x="15875" y="86519"/>
                  <a:pt x="16446" y="87536"/>
                </a:cubicBezTo>
                <a:cubicBezTo>
                  <a:pt x="16842" y="88255"/>
                  <a:pt x="18529" y="90760"/>
                  <a:pt x="26417" y="90438"/>
                </a:cubicBezTo>
                <a:cubicBezTo>
                  <a:pt x="25722" y="87188"/>
                  <a:pt x="25177" y="83765"/>
                  <a:pt x="24755" y="80218"/>
                </a:cubicBezTo>
                <a:cubicBezTo>
                  <a:pt x="22870" y="78705"/>
                  <a:pt x="21084" y="77167"/>
                  <a:pt x="19397" y="75605"/>
                </a:cubicBezTo>
                <a:close/>
                <a:moveTo>
                  <a:pt x="75406" y="63500"/>
                </a:moveTo>
                <a:cubicBezTo>
                  <a:pt x="75406" y="52548"/>
                  <a:pt x="66515" y="43656"/>
                  <a:pt x="55563" y="43656"/>
                </a:cubicBezTo>
                <a:cubicBezTo>
                  <a:pt x="44610" y="43656"/>
                  <a:pt x="35719" y="52548"/>
                  <a:pt x="35719" y="63500"/>
                </a:cubicBezTo>
                <a:cubicBezTo>
                  <a:pt x="35719" y="74452"/>
                  <a:pt x="44610" y="83344"/>
                  <a:pt x="55563" y="83344"/>
                </a:cubicBezTo>
                <a:cubicBezTo>
                  <a:pt x="66515" y="83344"/>
                  <a:pt x="75406" y="74452"/>
                  <a:pt x="75406" y="63500"/>
                </a:cubicBezTo>
                <a:close/>
                <a:moveTo>
                  <a:pt x="55563" y="55563"/>
                </a:moveTo>
                <a:cubicBezTo>
                  <a:pt x="59943" y="55563"/>
                  <a:pt x="63500" y="59119"/>
                  <a:pt x="63500" y="63500"/>
                </a:cubicBezTo>
                <a:cubicBezTo>
                  <a:pt x="63500" y="67881"/>
                  <a:pt x="59943" y="71438"/>
                  <a:pt x="55563" y="71438"/>
                </a:cubicBezTo>
                <a:cubicBezTo>
                  <a:pt x="51182" y="71438"/>
                  <a:pt x="47625" y="67881"/>
                  <a:pt x="47625" y="63500"/>
                </a:cubicBezTo>
                <a:cubicBezTo>
                  <a:pt x="47625" y="59119"/>
                  <a:pt x="51182" y="55563"/>
                  <a:pt x="55563" y="55563"/>
                </a:cubicBezTo>
                <a:close/>
              </a:path>
            </a:pathLst>
          </a:custGeom>
          <a:solidFill>
            <a:srgbClr val="000000"/>
          </a:solidFill>
          <a:ln w="0">
            <a:noFill/>
          </a:ln>
        </p:spPr>
        <p:style>
          <a:lnRef idx="0"/>
          <a:fillRef idx="0"/>
          <a:effectRef idx="0"/>
          <a:fontRef idx="minor"/>
        </p:style>
      </p:sp>
      <p:sp>
        <p:nvSpPr>
          <p:cNvPr id="663" name="Text 12"/>
          <p:cNvSpPr/>
          <p:nvPr/>
        </p:nvSpPr>
        <p:spPr>
          <a:xfrm>
            <a:off x="1031760" y="4175280"/>
            <a:ext cx="361908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Radiohead</a:t>
            </a:r>
            <a:endParaRPr b="0" lang="en-HK" sz="1130" spc="-1" strike="noStrike">
              <a:latin typeface="Arial"/>
            </a:endParaRPr>
          </a:p>
        </p:txBody>
      </p:sp>
      <p:sp>
        <p:nvSpPr>
          <p:cNvPr id="664" name="Text 13"/>
          <p:cNvSpPr/>
          <p:nvPr/>
        </p:nvSpPr>
        <p:spPr>
          <a:xfrm>
            <a:off x="1031760" y="4397400"/>
            <a:ext cx="361116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"OK Computer" (1997) - Experimental, complex, groundbreaking</a:t>
            </a:r>
            <a:endParaRPr b="0" lang="en-HK" sz="1000" spc="-1" strike="noStrike">
              <a:latin typeface="Arial"/>
            </a:endParaRPr>
          </a:p>
        </p:txBody>
      </p:sp>
      <p:sp>
        <p:nvSpPr>
          <p:cNvPr id="665" name="Shape 14"/>
          <p:cNvSpPr/>
          <p:nvPr/>
        </p:nvSpPr>
        <p:spPr>
          <a:xfrm>
            <a:off x="507960" y="4683240"/>
            <a:ext cx="31320" cy="4125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66" name="Shape 15"/>
          <p:cNvSpPr/>
          <p:nvPr/>
        </p:nvSpPr>
        <p:spPr>
          <a:xfrm>
            <a:off x="619200" y="4683240"/>
            <a:ext cx="317160" cy="3171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67" name="Shape 16"/>
          <p:cNvSpPr/>
          <p:nvPr/>
        </p:nvSpPr>
        <p:spPr>
          <a:xfrm>
            <a:off x="706320" y="4778280"/>
            <a:ext cx="142560" cy="126720"/>
          </a:xfrm>
          <a:custGeom>
            <a:avLst/>
            <a:gdLst/>
            <a:ahLst/>
            <a:rect l="l" t="t" r="r" b="b"/>
            <a:pathLst>
              <a:path w="142875" h="127000">
                <a:moveTo>
                  <a:pt x="35545" y="23812"/>
                </a:moveTo>
                <a:cubicBezTo>
                  <a:pt x="32072" y="23812"/>
                  <a:pt x="28972" y="26095"/>
                  <a:pt x="27955" y="29418"/>
                </a:cubicBezTo>
                <a:lnTo>
                  <a:pt x="17463" y="63500"/>
                </a:lnTo>
                <a:lnTo>
                  <a:pt x="55563" y="63500"/>
                </a:lnTo>
                <a:cubicBezTo>
                  <a:pt x="59953" y="63500"/>
                  <a:pt x="63500" y="67047"/>
                  <a:pt x="63500" y="71438"/>
                </a:cubicBezTo>
                <a:lnTo>
                  <a:pt x="79375" y="71438"/>
                </a:lnTo>
                <a:cubicBezTo>
                  <a:pt x="79375" y="67047"/>
                  <a:pt x="82922" y="63500"/>
                  <a:pt x="87313" y="63500"/>
                </a:cubicBezTo>
                <a:lnTo>
                  <a:pt x="125413" y="63500"/>
                </a:lnTo>
                <a:lnTo>
                  <a:pt x="114920" y="29418"/>
                </a:lnTo>
                <a:cubicBezTo>
                  <a:pt x="113903" y="26095"/>
                  <a:pt x="110827" y="23812"/>
                  <a:pt x="107330" y="23812"/>
                </a:cubicBezTo>
                <a:lnTo>
                  <a:pt x="99219" y="23812"/>
                </a:lnTo>
                <a:cubicBezTo>
                  <a:pt x="94828" y="23812"/>
                  <a:pt x="91281" y="20265"/>
                  <a:pt x="91281" y="15875"/>
                </a:cubicBezTo>
                <a:cubicBezTo>
                  <a:pt x="91281" y="11485"/>
                  <a:pt x="94828" y="7938"/>
                  <a:pt x="99219" y="7938"/>
                </a:cubicBezTo>
                <a:lnTo>
                  <a:pt x="107330" y="7938"/>
                </a:lnTo>
                <a:cubicBezTo>
                  <a:pt x="117773" y="7938"/>
                  <a:pt x="127025" y="14759"/>
                  <a:pt x="130101" y="24755"/>
                </a:cubicBezTo>
                <a:lnTo>
                  <a:pt x="141362" y="61342"/>
                </a:lnTo>
                <a:cubicBezTo>
                  <a:pt x="142379" y="64616"/>
                  <a:pt x="142875" y="68014"/>
                  <a:pt x="142875" y="71438"/>
                </a:cubicBezTo>
                <a:lnTo>
                  <a:pt x="142875" y="95250"/>
                </a:lnTo>
                <a:cubicBezTo>
                  <a:pt x="142875" y="108396"/>
                  <a:pt x="132209" y="119063"/>
                  <a:pt x="119063" y="119063"/>
                </a:cubicBezTo>
                <a:lnTo>
                  <a:pt x="103188" y="119063"/>
                </a:lnTo>
                <a:cubicBezTo>
                  <a:pt x="90041" y="119063"/>
                  <a:pt x="79375" y="108396"/>
                  <a:pt x="79375" y="95250"/>
                </a:cubicBezTo>
                <a:lnTo>
                  <a:pt x="79375" y="87313"/>
                </a:lnTo>
                <a:lnTo>
                  <a:pt x="63500" y="87313"/>
                </a:lnTo>
                <a:lnTo>
                  <a:pt x="63500" y="95250"/>
                </a:lnTo>
                <a:cubicBezTo>
                  <a:pt x="63500" y="108396"/>
                  <a:pt x="52834" y="119063"/>
                  <a:pt x="39688" y="119063"/>
                </a:cubicBezTo>
                <a:lnTo>
                  <a:pt x="23812" y="119063"/>
                </a:lnTo>
                <a:cubicBezTo>
                  <a:pt x="10666" y="119063"/>
                  <a:pt x="0" y="108396"/>
                  <a:pt x="0" y="95250"/>
                </a:cubicBezTo>
                <a:lnTo>
                  <a:pt x="0" y="71438"/>
                </a:lnTo>
                <a:cubicBezTo>
                  <a:pt x="0" y="68014"/>
                  <a:pt x="521" y="64616"/>
                  <a:pt x="1513" y="61342"/>
                </a:cubicBezTo>
                <a:lnTo>
                  <a:pt x="12774" y="24755"/>
                </a:lnTo>
                <a:cubicBezTo>
                  <a:pt x="15850" y="14759"/>
                  <a:pt x="25078" y="7938"/>
                  <a:pt x="35545" y="7938"/>
                </a:cubicBezTo>
                <a:lnTo>
                  <a:pt x="43656" y="7938"/>
                </a:lnTo>
                <a:cubicBezTo>
                  <a:pt x="48047" y="7938"/>
                  <a:pt x="51594" y="11485"/>
                  <a:pt x="51594" y="15875"/>
                </a:cubicBezTo>
                <a:cubicBezTo>
                  <a:pt x="51594" y="20265"/>
                  <a:pt x="48047" y="23812"/>
                  <a:pt x="43656" y="23812"/>
                </a:cubicBezTo>
                <a:lnTo>
                  <a:pt x="35545" y="23812"/>
                </a:lnTo>
                <a:close/>
                <a:moveTo>
                  <a:pt x="15875" y="79375"/>
                </a:moveTo>
                <a:lnTo>
                  <a:pt x="15875" y="95250"/>
                </a:lnTo>
                <a:cubicBezTo>
                  <a:pt x="15875" y="99640"/>
                  <a:pt x="19422" y="103188"/>
                  <a:pt x="23812" y="103188"/>
                </a:cubicBezTo>
                <a:lnTo>
                  <a:pt x="39688" y="103188"/>
                </a:lnTo>
                <a:cubicBezTo>
                  <a:pt x="44078" y="103188"/>
                  <a:pt x="47625" y="99640"/>
                  <a:pt x="47625" y="95250"/>
                </a:cubicBezTo>
                <a:lnTo>
                  <a:pt x="47625" y="79375"/>
                </a:lnTo>
                <a:lnTo>
                  <a:pt x="15875" y="79375"/>
                </a:lnTo>
                <a:close/>
                <a:moveTo>
                  <a:pt x="119063" y="103188"/>
                </a:moveTo>
                <a:cubicBezTo>
                  <a:pt x="123453" y="103188"/>
                  <a:pt x="127000" y="99640"/>
                  <a:pt x="127000" y="95250"/>
                </a:cubicBezTo>
                <a:lnTo>
                  <a:pt x="127000" y="79375"/>
                </a:lnTo>
                <a:lnTo>
                  <a:pt x="95250" y="79375"/>
                </a:lnTo>
                <a:lnTo>
                  <a:pt x="95250" y="95250"/>
                </a:lnTo>
                <a:cubicBezTo>
                  <a:pt x="95250" y="99640"/>
                  <a:pt x="98797" y="103188"/>
                  <a:pt x="103188" y="103188"/>
                </a:cubicBezTo>
                <a:lnTo>
                  <a:pt x="119063" y="103188"/>
                </a:lnTo>
                <a:close/>
              </a:path>
            </a:pathLst>
          </a:custGeom>
          <a:solidFill>
            <a:srgbClr val="000000"/>
          </a:solidFill>
          <a:ln w="0">
            <a:noFill/>
          </a:ln>
        </p:spPr>
        <p:style>
          <a:lnRef idx="0"/>
          <a:fillRef idx="0"/>
          <a:effectRef idx="0"/>
          <a:fontRef idx="minor"/>
        </p:style>
      </p:sp>
      <p:sp>
        <p:nvSpPr>
          <p:cNvPr id="668" name="Text 17"/>
          <p:cNvSpPr/>
          <p:nvPr/>
        </p:nvSpPr>
        <p:spPr>
          <a:xfrm>
            <a:off x="1031760" y="4683240"/>
            <a:ext cx="351612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Weezer</a:t>
            </a:r>
            <a:endParaRPr b="0" lang="en-HK" sz="1130" spc="-1" strike="noStrike">
              <a:latin typeface="Arial"/>
            </a:endParaRPr>
          </a:p>
        </p:txBody>
      </p:sp>
      <p:sp>
        <p:nvSpPr>
          <p:cNvPr id="669" name="Text 18"/>
          <p:cNvSpPr/>
          <p:nvPr/>
        </p:nvSpPr>
        <p:spPr>
          <a:xfrm>
            <a:off x="1031760" y="4905360"/>
            <a:ext cx="350784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"Blue Album" (1994) - Geek rock, catchy hooks, relatable lyrics</a:t>
            </a:r>
            <a:endParaRPr b="0" lang="en-HK" sz="1000" spc="-1" strike="noStrike">
              <a:latin typeface="Arial"/>
            </a:endParaRPr>
          </a:p>
        </p:txBody>
      </p:sp>
      <p:sp>
        <p:nvSpPr>
          <p:cNvPr id="670" name="Shape 19"/>
          <p:cNvSpPr/>
          <p:nvPr/>
        </p:nvSpPr>
        <p:spPr>
          <a:xfrm>
            <a:off x="507960" y="5191200"/>
            <a:ext cx="31320" cy="4125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71" name="Shape 20"/>
          <p:cNvSpPr/>
          <p:nvPr/>
        </p:nvSpPr>
        <p:spPr>
          <a:xfrm>
            <a:off x="619200" y="5191200"/>
            <a:ext cx="317160" cy="3171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72" name="Shape 21"/>
          <p:cNvSpPr/>
          <p:nvPr/>
        </p:nvSpPr>
        <p:spPr>
          <a:xfrm>
            <a:off x="722160" y="5286240"/>
            <a:ext cx="110880" cy="126720"/>
          </a:xfrm>
          <a:custGeom>
            <a:avLst/>
            <a:gdLst/>
            <a:ahLst/>
            <a:rect l="l" t="t" r="r" b="b"/>
            <a:pathLst>
              <a:path w="111125" h="127000">
                <a:moveTo>
                  <a:pt x="39812" y="-6548"/>
                </a:moveTo>
                <a:cubicBezTo>
                  <a:pt x="42118" y="-8483"/>
                  <a:pt x="45517" y="-8409"/>
                  <a:pt x="47724" y="-6325"/>
                </a:cubicBezTo>
                <a:cubicBezTo>
                  <a:pt x="50775" y="-3448"/>
                  <a:pt x="53504" y="-273"/>
                  <a:pt x="56133" y="2952"/>
                </a:cubicBezTo>
                <a:cubicBezTo>
                  <a:pt x="59482" y="7045"/>
                  <a:pt x="63500" y="12452"/>
                  <a:pt x="67370" y="18876"/>
                </a:cubicBezTo>
                <a:cubicBezTo>
                  <a:pt x="68659" y="17190"/>
                  <a:pt x="69850" y="15701"/>
                  <a:pt x="70892" y="14436"/>
                </a:cubicBezTo>
                <a:cubicBezTo>
                  <a:pt x="71165" y="14114"/>
                  <a:pt x="71438" y="13767"/>
                  <a:pt x="71710" y="13419"/>
                </a:cubicBezTo>
                <a:cubicBezTo>
                  <a:pt x="73670" y="10988"/>
                  <a:pt x="76101" y="7937"/>
                  <a:pt x="79350" y="7937"/>
                </a:cubicBezTo>
                <a:cubicBezTo>
                  <a:pt x="82674" y="7937"/>
                  <a:pt x="85006" y="10889"/>
                  <a:pt x="86990" y="13419"/>
                </a:cubicBezTo>
                <a:cubicBezTo>
                  <a:pt x="87313" y="13841"/>
                  <a:pt x="87635" y="14238"/>
                  <a:pt x="87957" y="14610"/>
                </a:cubicBezTo>
                <a:cubicBezTo>
                  <a:pt x="90512" y="17686"/>
                  <a:pt x="93911" y="22126"/>
                  <a:pt x="97309" y="27608"/>
                </a:cubicBezTo>
                <a:cubicBezTo>
                  <a:pt x="104056" y="38497"/>
                  <a:pt x="111100" y="54000"/>
                  <a:pt x="111100" y="71413"/>
                </a:cubicBezTo>
                <a:cubicBezTo>
                  <a:pt x="111100" y="102096"/>
                  <a:pt x="86221" y="126975"/>
                  <a:pt x="55538" y="126975"/>
                </a:cubicBezTo>
                <a:cubicBezTo>
                  <a:pt x="24854" y="126975"/>
                  <a:pt x="0" y="102121"/>
                  <a:pt x="0" y="71438"/>
                </a:cubicBezTo>
                <a:cubicBezTo>
                  <a:pt x="0" y="48840"/>
                  <a:pt x="10195" y="29270"/>
                  <a:pt x="19968" y="15627"/>
                </a:cubicBezTo>
                <a:cubicBezTo>
                  <a:pt x="24904" y="8756"/>
                  <a:pt x="29815" y="3249"/>
                  <a:pt x="33511" y="-521"/>
                </a:cubicBezTo>
                <a:cubicBezTo>
                  <a:pt x="35545" y="-2604"/>
                  <a:pt x="37604" y="-4663"/>
                  <a:pt x="39836" y="-6524"/>
                </a:cubicBezTo>
                <a:close/>
                <a:moveTo>
                  <a:pt x="55984" y="103188"/>
                </a:moveTo>
                <a:cubicBezTo>
                  <a:pt x="62260" y="103188"/>
                  <a:pt x="67816" y="101451"/>
                  <a:pt x="73050" y="97979"/>
                </a:cubicBezTo>
                <a:cubicBezTo>
                  <a:pt x="83493" y="90686"/>
                  <a:pt x="86296" y="76101"/>
                  <a:pt x="80020" y="64641"/>
                </a:cubicBezTo>
                <a:cubicBezTo>
                  <a:pt x="78904" y="62409"/>
                  <a:pt x="76051" y="62260"/>
                  <a:pt x="74439" y="64145"/>
                </a:cubicBezTo>
                <a:lnTo>
                  <a:pt x="68188" y="71413"/>
                </a:lnTo>
                <a:cubicBezTo>
                  <a:pt x="66551" y="73298"/>
                  <a:pt x="63599" y="73248"/>
                  <a:pt x="62061" y="71289"/>
                </a:cubicBezTo>
                <a:cubicBezTo>
                  <a:pt x="57770" y="65807"/>
                  <a:pt x="49882" y="55811"/>
                  <a:pt x="45864" y="50701"/>
                </a:cubicBezTo>
                <a:cubicBezTo>
                  <a:pt x="44524" y="48989"/>
                  <a:pt x="42094" y="48716"/>
                  <a:pt x="40531" y="50229"/>
                </a:cubicBezTo>
                <a:cubicBezTo>
                  <a:pt x="35992" y="54645"/>
                  <a:pt x="27756" y="64319"/>
                  <a:pt x="27756" y="76101"/>
                </a:cubicBezTo>
                <a:cubicBezTo>
                  <a:pt x="27756" y="93117"/>
                  <a:pt x="40308" y="103188"/>
                  <a:pt x="55959" y="103188"/>
                </a:cubicBezTo>
                <a:close/>
              </a:path>
            </a:pathLst>
          </a:custGeom>
          <a:solidFill>
            <a:srgbClr val="000000"/>
          </a:solidFill>
          <a:ln w="0">
            <a:noFill/>
          </a:ln>
        </p:spPr>
        <p:style>
          <a:lnRef idx="0"/>
          <a:fillRef idx="0"/>
          <a:effectRef idx="0"/>
          <a:fontRef idx="minor"/>
        </p:style>
      </p:sp>
      <p:sp>
        <p:nvSpPr>
          <p:cNvPr id="673" name="Text 22"/>
          <p:cNvSpPr/>
          <p:nvPr/>
        </p:nvSpPr>
        <p:spPr>
          <a:xfrm>
            <a:off x="1031760" y="5191200"/>
            <a:ext cx="220644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Red Hot Chili Peppers</a:t>
            </a:r>
            <a:endParaRPr b="0" lang="en-HK" sz="1130" spc="-1" strike="noStrike">
              <a:latin typeface="Arial"/>
            </a:endParaRPr>
          </a:p>
        </p:txBody>
      </p:sp>
      <p:sp>
        <p:nvSpPr>
          <p:cNvPr id="674" name="Text 23"/>
          <p:cNvSpPr/>
          <p:nvPr/>
        </p:nvSpPr>
        <p:spPr>
          <a:xfrm>
            <a:off x="1031760" y="5413320"/>
            <a:ext cx="219816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Funk-rock fusion, energetic live shows</a:t>
            </a:r>
            <a:endParaRPr b="0" lang="en-HK" sz="1000" spc="-1" strike="noStrike">
              <a:latin typeface="Arial"/>
            </a:endParaRPr>
          </a:p>
        </p:txBody>
      </p:sp>
      <p:sp>
        <p:nvSpPr>
          <p:cNvPr id="675" name="Shape 24"/>
          <p:cNvSpPr/>
          <p:nvPr/>
        </p:nvSpPr>
        <p:spPr>
          <a:xfrm>
            <a:off x="507960" y="5699160"/>
            <a:ext cx="31320" cy="4125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76" name="Shape 25"/>
          <p:cNvSpPr/>
          <p:nvPr/>
        </p:nvSpPr>
        <p:spPr>
          <a:xfrm>
            <a:off x="619200" y="5699160"/>
            <a:ext cx="317160" cy="3171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77" name="Shape 26"/>
          <p:cNvSpPr/>
          <p:nvPr/>
        </p:nvSpPr>
        <p:spPr>
          <a:xfrm>
            <a:off x="714240" y="5794200"/>
            <a:ext cx="126720" cy="126720"/>
          </a:xfrm>
          <a:custGeom>
            <a:avLst/>
            <a:gdLst/>
            <a:ahLst/>
            <a:rect l="l" t="t" r="r" b="b"/>
            <a:pathLst>
              <a:path w="127000" h="127000">
                <a:moveTo>
                  <a:pt x="63500" y="0"/>
                </a:moveTo>
                <a:cubicBezTo>
                  <a:pt x="28426" y="0"/>
                  <a:pt x="0" y="28426"/>
                  <a:pt x="0" y="63500"/>
                </a:cubicBezTo>
                <a:cubicBezTo>
                  <a:pt x="0" y="98574"/>
                  <a:pt x="28426" y="127000"/>
                  <a:pt x="63500" y="127000"/>
                </a:cubicBezTo>
                <a:cubicBezTo>
                  <a:pt x="80566" y="127000"/>
                  <a:pt x="96069" y="120253"/>
                  <a:pt x="107479" y="109289"/>
                </a:cubicBezTo>
                <a:cubicBezTo>
                  <a:pt x="109289" y="107553"/>
                  <a:pt x="109810" y="104849"/>
                  <a:pt x="108793" y="102567"/>
                </a:cubicBezTo>
                <a:cubicBezTo>
                  <a:pt x="107776" y="100285"/>
                  <a:pt x="105395" y="98871"/>
                  <a:pt x="102890" y="99070"/>
                </a:cubicBezTo>
                <a:cubicBezTo>
                  <a:pt x="101674" y="99169"/>
                  <a:pt x="100459" y="99219"/>
                  <a:pt x="99219" y="99219"/>
                </a:cubicBezTo>
                <a:cubicBezTo>
                  <a:pt x="74017" y="99219"/>
                  <a:pt x="53578" y="78780"/>
                  <a:pt x="53578" y="53578"/>
                </a:cubicBezTo>
                <a:cubicBezTo>
                  <a:pt x="53578" y="35694"/>
                  <a:pt x="63872" y="20191"/>
                  <a:pt x="78904" y="12700"/>
                </a:cubicBezTo>
                <a:cubicBezTo>
                  <a:pt x="81161" y="11584"/>
                  <a:pt x="82451" y="9153"/>
                  <a:pt x="82153" y="6648"/>
                </a:cubicBezTo>
                <a:cubicBezTo>
                  <a:pt x="81855" y="4142"/>
                  <a:pt x="80020" y="2108"/>
                  <a:pt x="77564" y="1563"/>
                </a:cubicBezTo>
                <a:cubicBezTo>
                  <a:pt x="73025" y="546"/>
                  <a:pt x="68312" y="0"/>
                  <a:pt x="63500" y="0"/>
                </a:cubicBezTo>
                <a:close/>
              </a:path>
            </a:pathLst>
          </a:custGeom>
          <a:solidFill>
            <a:srgbClr val="000000"/>
          </a:solidFill>
          <a:ln w="0">
            <a:noFill/>
          </a:ln>
        </p:spPr>
        <p:style>
          <a:lnRef idx="0"/>
          <a:fillRef idx="0"/>
          <a:effectRef idx="0"/>
          <a:fontRef idx="minor"/>
        </p:style>
      </p:sp>
      <p:sp>
        <p:nvSpPr>
          <p:cNvPr id="678" name="Text 27"/>
          <p:cNvSpPr/>
          <p:nvPr/>
        </p:nvSpPr>
        <p:spPr>
          <a:xfrm>
            <a:off x="1031760" y="5699160"/>
            <a:ext cx="351612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Smashing Pumpkins</a:t>
            </a:r>
            <a:endParaRPr b="0" lang="en-HK" sz="1130" spc="-1" strike="noStrike">
              <a:latin typeface="Arial"/>
            </a:endParaRPr>
          </a:p>
        </p:txBody>
      </p:sp>
      <p:sp>
        <p:nvSpPr>
          <p:cNvPr id="679" name="Text 28"/>
          <p:cNvSpPr/>
          <p:nvPr/>
        </p:nvSpPr>
        <p:spPr>
          <a:xfrm>
            <a:off x="1031760" y="5921280"/>
            <a:ext cx="350784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"Siamese Dream" (1993) - Layered guitars, emotional intensity</a:t>
            </a:r>
            <a:endParaRPr b="0" lang="en-HK" sz="1000" spc="-1" strike="noStrike">
              <a:latin typeface="Arial"/>
            </a:endParaRPr>
          </a:p>
        </p:txBody>
      </p:sp>
      <p:sp>
        <p:nvSpPr>
          <p:cNvPr id="680" name="Shape 29"/>
          <p:cNvSpPr/>
          <p:nvPr/>
        </p:nvSpPr>
        <p:spPr>
          <a:xfrm>
            <a:off x="507960" y="6207120"/>
            <a:ext cx="31320" cy="4125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81" name="Shape 30"/>
          <p:cNvSpPr/>
          <p:nvPr/>
        </p:nvSpPr>
        <p:spPr>
          <a:xfrm>
            <a:off x="619200" y="6207120"/>
            <a:ext cx="317160" cy="3171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82" name="Shape 31"/>
          <p:cNvSpPr/>
          <p:nvPr/>
        </p:nvSpPr>
        <p:spPr>
          <a:xfrm>
            <a:off x="730080" y="6302520"/>
            <a:ext cx="95040" cy="126720"/>
          </a:xfrm>
          <a:custGeom>
            <a:avLst/>
            <a:gdLst/>
            <a:ahLst/>
            <a:rect l="l" t="t" r="r" b="b"/>
            <a:pathLst>
              <a:path w="95250" h="127000">
                <a:moveTo>
                  <a:pt x="33734" y="5953"/>
                </a:moveTo>
                <a:cubicBezTo>
                  <a:pt x="33734" y="-1713"/>
                  <a:pt x="39959" y="-7937"/>
                  <a:pt x="47625" y="-7937"/>
                </a:cubicBezTo>
                <a:cubicBezTo>
                  <a:pt x="55291" y="-7937"/>
                  <a:pt x="61516" y="-1713"/>
                  <a:pt x="61516" y="5953"/>
                </a:cubicBezTo>
                <a:cubicBezTo>
                  <a:pt x="61516" y="13620"/>
                  <a:pt x="55291" y="19844"/>
                  <a:pt x="47625" y="19844"/>
                </a:cubicBezTo>
                <a:cubicBezTo>
                  <a:pt x="39959" y="19844"/>
                  <a:pt x="33734" y="13620"/>
                  <a:pt x="33734" y="5953"/>
                </a:cubicBezTo>
                <a:close/>
                <a:moveTo>
                  <a:pt x="27781" y="95250"/>
                </a:moveTo>
                <a:lnTo>
                  <a:pt x="21382" y="95250"/>
                </a:lnTo>
                <a:cubicBezTo>
                  <a:pt x="18678" y="95250"/>
                  <a:pt x="16768" y="92596"/>
                  <a:pt x="17611" y="90016"/>
                </a:cubicBezTo>
                <a:lnTo>
                  <a:pt x="28277" y="58018"/>
                </a:lnTo>
                <a:lnTo>
                  <a:pt x="16297" y="74166"/>
                </a:lnTo>
                <a:cubicBezTo>
                  <a:pt x="13692" y="77688"/>
                  <a:pt x="8706" y="78432"/>
                  <a:pt x="5184" y="75803"/>
                </a:cubicBezTo>
                <a:cubicBezTo>
                  <a:pt x="1662" y="73174"/>
                  <a:pt x="918" y="68213"/>
                  <a:pt x="3547" y="64691"/>
                </a:cubicBezTo>
                <a:lnTo>
                  <a:pt x="21034" y="41126"/>
                </a:lnTo>
                <a:cubicBezTo>
                  <a:pt x="27285" y="32742"/>
                  <a:pt x="37133" y="27781"/>
                  <a:pt x="47625" y="27781"/>
                </a:cubicBezTo>
                <a:cubicBezTo>
                  <a:pt x="58117" y="27781"/>
                  <a:pt x="67965" y="32742"/>
                  <a:pt x="74216" y="41151"/>
                </a:cubicBezTo>
                <a:lnTo>
                  <a:pt x="91703" y="64715"/>
                </a:lnTo>
                <a:cubicBezTo>
                  <a:pt x="94307" y="68238"/>
                  <a:pt x="93588" y="73199"/>
                  <a:pt x="90066" y="75828"/>
                </a:cubicBezTo>
                <a:cubicBezTo>
                  <a:pt x="86544" y="78457"/>
                  <a:pt x="81583" y="77713"/>
                  <a:pt x="78953" y="74191"/>
                </a:cubicBezTo>
                <a:lnTo>
                  <a:pt x="66973" y="58043"/>
                </a:lnTo>
                <a:lnTo>
                  <a:pt x="77639" y="90016"/>
                </a:lnTo>
                <a:cubicBezTo>
                  <a:pt x="78507" y="92596"/>
                  <a:pt x="76572" y="95250"/>
                  <a:pt x="73868" y="95250"/>
                </a:cubicBezTo>
                <a:lnTo>
                  <a:pt x="67469" y="95250"/>
                </a:lnTo>
                <a:lnTo>
                  <a:pt x="67469" y="127000"/>
                </a:lnTo>
                <a:cubicBezTo>
                  <a:pt x="67469" y="131390"/>
                  <a:pt x="63922" y="134938"/>
                  <a:pt x="59531" y="134938"/>
                </a:cubicBezTo>
                <a:cubicBezTo>
                  <a:pt x="55141" y="134938"/>
                  <a:pt x="51594" y="131390"/>
                  <a:pt x="51594" y="127000"/>
                </a:cubicBezTo>
                <a:lnTo>
                  <a:pt x="51594" y="95250"/>
                </a:lnTo>
                <a:lnTo>
                  <a:pt x="43656" y="95250"/>
                </a:lnTo>
                <a:lnTo>
                  <a:pt x="43656" y="127000"/>
                </a:lnTo>
                <a:cubicBezTo>
                  <a:pt x="43656" y="131390"/>
                  <a:pt x="40109" y="134938"/>
                  <a:pt x="35719" y="134938"/>
                </a:cubicBezTo>
                <a:cubicBezTo>
                  <a:pt x="31328" y="134938"/>
                  <a:pt x="27781" y="131390"/>
                  <a:pt x="27781" y="127000"/>
                </a:cubicBezTo>
                <a:lnTo>
                  <a:pt x="27781" y="95250"/>
                </a:lnTo>
                <a:close/>
              </a:path>
            </a:pathLst>
          </a:custGeom>
          <a:solidFill>
            <a:srgbClr val="000000"/>
          </a:solidFill>
          <a:ln w="0">
            <a:noFill/>
          </a:ln>
        </p:spPr>
        <p:style>
          <a:lnRef idx="0"/>
          <a:fillRef idx="0"/>
          <a:effectRef idx="0"/>
          <a:fontRef idx="minor"/>
        </p:style>
      </p:sp>
      <p:sp>
        <p:nvSpPr>
          <p:cNvPr id="683" name="Text 32"/>
          <p:cNvSpPr/>
          <p:nvPr/>
        </p:nvSpPr>
        <p:spPr>
          <a:xfrm>
            <a:off x="1031760" y="6207120"/>
            <a:ext cx="307944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Alanis Morissette</a:t>
            </a:r>
            <a:endParaRPr b="0" lang="en-HK" sz="1130" spc="-1" strike="noStrike">
              <a:latin typeface="Arial"/>
            </a:endParaRPr>
          </a:p>
        </p:txBody>
      </p:sp>
      <p:sp>
        <p:nvSpPr>
          <p:cNvPr id="684" name="Text 33"/>
          <p:cNvSpPr/>
          <p:nvPr/>
        </p:nvSpPr>
        <p:spPr>
          <a:xfrm>
            <a:off x="1031760" y="6429240"/>
            <a:ext cx="307152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"Jagged Little Pill" (1995) - Feminist rock, raw emotion</a:t>
            </a:r>
            <a:endParaRPr b="0" lang="en-HK" sz="1000" spc="-1" strike="noStrike">
              <a:latin typeface="Arial"/>
            </a:endParaRPr>
          </a:p>
        </p:txBody>
      </p:sp>
      <p:sp>
        <p:nvSpPr>
          <p:cNvPr id="685" name="Shape 34"/>
          <p:cNvSpPr/>
          <p:nvPr/>
        </p:nvSpPr>
        <p:spPr>
          <a:xfrm>
            <a:off x="5062680" y="1055520"/>
            <a:ext cx="6802200" cy="2999880"/>
          </a:xfrm>
          <a:custGeom>
            <a:avLst/>
            <a:gdLst/>
            <a:ahLst/>
            <a:rect l="l" t="t" r="r" b="b"/>
            <a:pathLst>
              <a:path w="6802438" h="3000375">
                <a:moveTo>
                  <a:pt x="0" y="0"/>
                </a:moveTo>
                <a:lnTo>
                  <a:pt x="6802438" y="0"/>
                </a:lnTo>
                <a:lnTo>
                  <a:pt x="6802438" y="3000375"/>
                </a:lnTo>
                <a:lnTo>
                  <a:pt x="0" y="3000375"/>
                </a:lnTo>
                <a:lnTo>
                  <a:pt x="0" y="0"/>
                </a:lnTo>
                <a:close/>
              </a:path>
            </a:pathLst>
          </a:custGeom>
          <a:noFill/>
          <a:ln w="25400">
            <a:solidFill>
              <a:srgbClr val="ddff00"/>
            </a:solidFill>
            <a:round/>
          </a:ln>
        </p:spPr>
        <p:style>
          <a:lnRef idx="0"/>
          <a:fillRef idx="0"/>
          <a:effectRef idx="0"/>
          <a:fontRef idx="minor"/>
        </p:style>
      </p:sp>
      <p:sp>
        <p:nvSpPr>
          <p:cNvPr id="686" name="Text 35"/>
          <p:cNvSpPr/>
          <p:nvPr/>
        </p:nvSpPr>
        <p:spPr>
          <a:xfrm>
            <a:off x="5261040" y="1254240"/>
            <a:ext cx="6500520" cy="2538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Alternative Rock Subgenres</a:t>
            </a:r>
            <a:endParaRPr b="0" lang="en-HK" sz="1500" spc="-1" strike="noStrike">
              <a:latin typeface="Arial"/>
            </a:endParaRPr>
          </a:p>
        </p:txBody>
      </p:sp>
      <p:sp>
        <p:nvSpPr>
          <p:cNvPr id="687" name="Shape 36"/>
          <p:cNvSpPr/>
          <p:nvPr/>
        </p:nvSpPr>
        <p:spPr>
          <a:xfrm>
            <a:off x="5265000" y="1639080"/>
            <a:ext cx="3134880" cy="1118880"/>
          </a:xfrm>
          <a:custGeom>
            <a:avLst/>
            <a:gdLst/>
            <a:ahLst/>
            <a:rect l="l" t="t" r="r" b="b"/>
            <a:pathLst>
              <a:path w="3135313" h="1119188">
                <a:moveTo>
                  <a:pt x="0" y="0"/>
                </a:moveTo>
                <a:lnTo>
                  <a:pt x="3135313" y="0"/>
                </a:lnTo>
                <a:lnTo>
                  <a:pt x="313531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88" name="Text 37"/>
          <p:cNvSpPr/>
          <p:nvPr/>
        </p:nvSpPr>
        <p:spPr>
          <a:xfrm>
            <a:off x="5396040" y="1770120"/>
            <a:ext cx="294444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Britpop</a:t>
            </a:r>
            <a:endParaRPr b="0" lang="en-HK" sz="1130" spc="-1" strike="noStrike">
              <a:latin typeface="Arial"/>
            </a:endParaRPr>
          </a:p>
        </p:txBody>
      </p:sp>
      <p:sp>
        <p:nvSpPr>
          <p:cNvPr id="689" name="Text 38"/>
          <p:cNvSpPr/>
          <p:nvPr/>
        </p:nvSpPr>
        <p:spPr>
          <a:xfrm>
            <a:off x="5396040" y="2055960"/>
            <a:ext cx="293652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Oasis, Blur, Pulp</a:t>
            </a:r>
            <a:endParaRPr b="0" lang="en-HK" sz="1000" spc="-1" strike="noStrike">
              <a:latin typeface="Arial"/>
            </a:endParaRPr>
          </a:p>
        </p:txBody>
      </p:sp>
      <p:sp>
        <p:nvSpPr>
          <p:cNvPr id="690" name="Text 39"/>
          <p:cNvSpPr/>
          <p:nvPr/>
        </p:nvSpPr>
        <p:spPr>
          <a:xfrm>
            <a:off x="5396040" y="2309760"/>
            <a:ext cx="2928600" cy="317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British response to grunge, catchy melodies, working-class pride</a:t>
            </a:r>
            <a:endParaRPr b="0" lang="en-HK" sz="880" spc="-1" strike="noStrike">
              <a:latin typeface="Arial"/>
            </a:endParaRPr>
          </a:p>
        </p:txBody>
      </p:sp>
      <p:sp>
        <p:nvSpPr>
          <p:cNvPr id="691" name="Shape 40"/>
          <p:cNvSpPr/>
          <p:nvPr/>
        </p:nvSpPr>
        <p:spPr>
          <a:xfrm>
            <a:off x="8532000" y="1639080"/>
            <a:ext cx="3134880" cy="1118880"/>
          </a:xfrm>
          <a:custGeom>
            <a:avLst/>
            <a:gdLst/>
            <a:ahLst/>
            <a:rect l="l" t="t" r="r" b="b"/>
            <a:pathLst>
              <a:path w="3135313" h="1119188">
                <a:moveTo>
                  <a:pt x="0" y="0"/>
                </a:moveTo>
                <a:lnTo>
                  <a:pt x="3135313" y="0"/>
                </a:lnTo>
                <a:lnTo>
                  <a:pt x="313531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92" name="Text 41"/>
          <p:cNvSpPr/>
          <p:nvPr/>
        </p:nvSpPr>
        <p:spPr>
          <a:xfrm>
            <a:off x="8663040" y="1770120"/>
            <a:ext cx="294444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Pop Punk</a:t>
            </a:r>
            <a:endParaRPr b="0" lang="en-HK" sz="1130" spc="-1" strike="noStrike">
              <a:latin typeface="Arial"/>
            </a:endParaRPr>
          </a:p>
        </p:txBody>
      </p:sp>
      <p:sp>
        <p:nvSpPr>
          <p:cNvPr id="693" name="Text 42"/>
          <p:cNvSpPr/>
          <p:nvPr/>
        </p:nvSpPr>
        <p:spPr>
          <a:xfrm>
            <a:off x="8663040" y="2055960"/>
            <a:ext cx="293652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Green Day, The Offspring, Blink-182</a:t>
            </a:r>
            <a:endParaRPr b="0" lang="en-HK" sz="1000" spc="-1" strike="noStrike">
              <a:latin typeface="Arial"/>
            </a:endParaRPr>
          </a:p>
        </p:txBody>
      </p:sp>
      <p:sp>
        <p:nvSpPr>
          <p:cNvPr id="694" name="Text 43"/>
          <p:cNvSpPr/>
          <p:nvPr/>
        </p:nvSpPr>
        <p:spPr>
          <a:xfrm>
            <a:off x="8663040" y="2309760"/>
            <a:ext cx="29286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Punk energy with pop hooks, youth themes</a:t>
            </a:r>
            <a:endParaRPr b="0" lang="en-HK" sz="880" spc="-1" strike="noStrike">
              <a:latin typeface="Arial"/>
            </a:endParaRPr>
          </a:p>
        </p:txBody>
      </p:sp>
      <p:sp>
        <p:nvSpPr>
          <p:cNvPr id="695" name="Shape 44"/>
          <p:cNvSpPr/>
          <p:nvPr/>
        </p:nvSpPr>
        <p:spPr>
          <a:xfrm>
            <a:off x="5265000" y="2893320"/>
            <a:ext cx="3134880" cy="960120"/>
          </a:xfrm>
          <a:custGeom>
            <a:avLst/>
            <a:gdLst/>
            <a:ahLst/>
            <a:rect l="l" t="t" r="r" b="b"/>
            <a:pathLst>
              <a:path w="3135313" h="960438">
                <a:moveTo>
                  <a:pt x="0" y="0"/>
                </a:moveTo>
                <a:lnTo>
                  <a:pt x="3135313" y="0"/>
                </a:lnTo>
                <a:lnTo>
                  <a:pt x="3135313" y="960438"/>
                </a:lnTo>
                <a:lnTo>
                  <a:pt x="0" y="9604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96" name="Text 45"/>
          <p:cNvSpPr/>
          <p:nvPr/>
        </p:nvSpPr>
        <p:spPr>
          <a:xfrm>
            <a:off x="5396040" y="3024360"/>
            <a:ext cx="294444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Industrial Rock</a:t>
            </a:r>
            <a:endParaRPr b="0" lang="en-HK" sz="1130" spc="-1" strike="noStrike">
              <a:latin typeface="Arial"/>
            </a:endParaRPr>
          </a:p>
        </p:txBody>
      </p:sp>
      <p:sp>
        <p:nvSpPr>
          <p:cNvPr id="697" name="Text 46"/>
          <p:cNvSpPr/>
          <p:nvPr/>
        </p:nvSpPr>
        <p:spPr>
          <a:xfrm>
            <a:off x="5396040" y="3309840"/>
            <a:ext cx="293652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Nine Inch Nails, Ministry</a:t>
            </a:r>
            <a:endParaRPr b="0" lang="en-HK" sz="1000" spc="-1" strike="noStrike">
              <a:latin typeface="Arial"/>
            </a:endParaRPr>
          </a:p>
        </p:txBody>
      </p:sp>
      <p:sp>
        <p:nvSpPr>
          <p:cNvPr id="698" name="Text 47"/>
          <p:cNvSpPr/>
          <p:nvPr/>
        </p:nvSpPr>
        <p:spPr>
          <a:xfrm>
            <a:off x="5396040" y="3564000"/>
            <a:ext cx="29286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Electronic elements, dark, mechanical sound</a:t>
            </a:r>
            <a:endParaRPr b="0" lang="en-HK" sz="880" spc="-1" strike="noStrike">
              <a:latin typeface="Arial"/>
            </a:endParaRPr>
          </a:p>
        </p:txBody>
      </p:sp>
      <p:sp>
        <p:nvSpPr>
          <p:cNvPr id="699" name="Shape 48"/>
          <p:cNvSpPr/>
          <p:nvPr/>
        </p:nvSpPr>
        <p:spPr>
          <a:xfrm>
            <a:off x="8532000" y="2893320"/>
            <a:ext cx="3134880" cy="960120"/>
          </a:xfrm>
          <a:custGeom>
            <a:avLst/>
            <a:gdLst/>
            <a:ahLst/>
            <a:rect l="l" t="t" r="r" b="b"/>
            <a:pathLst>
              <a:path w="3135313" h="960438">
                <a:moveTo>
                  <a:pt x="0" y="0"/>
                </a:moveTo>
                <a:lnTo>
                  <a:pt x="3135313" y="0"/>
                </a:lnTo>
                <a:lnTo>
                  <a:pt x="3135313" y="960438"/>
                </a:lnTo>
                <a:lnTo>
                  <a:pt x="0" y="9604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00" name="Text 49"/>
          <p:cNvSpPr/>
          <p:nvPr/>
        </p:nvSpPr>
        <p:spPr>
          <a:xfrm>
            <a:off x="8663040" y="3024360"/>
            <a:ext cx="294444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Ska Punk</a:t>
            </a:r>
            <a:endParaRPr b="0" lang="en-HK" sz="1130" spc="-1" strike="noStrike">
              <a:latin typeface="Arial"/>
            </a:endParaRPr>
          </a:p>
        </p:txBody>
      </p:sp>
      <p:sp>
        <p:nvSpPr>
          <p:cNvPr id="701" name="Text 50"/>
          <p:cNvSpPr/>
          <p:nvPr/>
        </p:nvSpPr>
        <p:spPr>
          <a:xfrm>
            <a:off x="8663040" y="3309840"/>
            <a:ext cx="293652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Sublime, No Doubt, Reel Big Fish</a:t>
            </a:r>
            <a:endParaRPr b="0" lang="en-HK" sz="1000" spc="-1" strike="noStrike">
              <a:latin typeface="Arial"/>
            </a:endParaRPr>
          </a:p>
        </p:txBody>
      </p:sp>
      <p:sp>
        <p:nvSpPr>
          <p:cNvPr id="702" name="Text 51"/>
          <p:cNvSpPr/>
          <p:nvPr/>
        </p:nvSpPr>
        <p:spPr>
          <a:xfrm>
            <a:off x="8663040" y="3564000"/>
            <a:ext cx="29286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Ska rhythms mixed with punk energy</a:t>
            </a:r>
            <a:endParaRPr b="0" lang="en-HK" sz="880" spc="-1" strike="noStrike">
              <a:latin typeface="Arial"/>
            </a:endParaRPr>
          </a:p>
        </p:txBody>
      </p:sp>
      <p:sp>
        <p:nvSpPr>
          <p:cNvPr id="703" name="Shape 52"/>
          <p:cNvSpPr/>
          <p:nvPr/>
        </p:nvSpPr>
        <p:spPr>
          <a:xfrm>
            <a:off x="5054400" y="4191120"/>
            <a:ext cx="6818040" cy="1555560"/>
          </a:xfrm>
          <a:custGeom>
            <a:avLst/>
            <a:gdLst/>
            <a:ahLst/>
            <a:rect l="l" t="t" r="r" b="b"/>
            <a:pathLst>
              <a:path w="6818313" h="1555750">
                <a:moveTo>
                  <a:pt x="0" y="0"/>
                </a:moveTo>
                <a:lnTo>
                  <a:pt x="6818313" y="0"/>
                </a:lnTo>
                <a:lnTo>
                  <a:pt x="6818313" y="1555750"/>
                </a:lnTo>
                <a:lnTo>
                  <a:pt x="0" y="1555750"/>
                </a:lnTo>
                <a:lnTo>
                  <a:pt x="0" y="0"/>
                </a:lnTo>
                <a:close/>
              </a:path>
            </a:pathLst>
          </a:custGeom>
          <a:solidFill>
            <a:srgbClr val="ddff00"/>
          </a:solidFill>
          <a:ln w="0">
            <a:noFill/>
          </a:ln>
        </p:spPr>
        <p:style>
          <a:lnRef idx="0"/>
          <a:fillRef idx="0"/>
          <a:effectRef idx="0"/>
          <a:fontRef idx="minor"/>
        </p:style>
      </p:sp>
      <p:sp>
        <p:nvSpPr>
          <p:cNvPr id="704" name="Text 53"/>
          <p:cNvSpPr/>
          <p:nvPr/>
        </p:nvSpPr>
        <p:spPr>
          <a:xfrm>
            <a:off x="5213160" y="4349880"/>
            <a:ext cx="6579720" cy="221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Lollapalooza: The Alternative Festival</a:t>
            </a:r>
            <a:endParaRPr b="0" lang="en-HK" sz="1250" spc="-1" strike="noStrike">
              <a:latin typeface="Arial"/>
            </a:endParaRPr>
          </a:p>
        </p:txBody>
      </p:sp>
      <p:sp>
        <p:nvSpPr>
          <p:cNvPr id="705" name="Text 54"/>
          <p:cNvSpPr/>
          <p:nvPr/>
        </p:nvSpPr>
        <p:spPr>
          <a:xfrm>
            <a:off x="5213160" y="4667400"/>
            <a:ext cx="6563880" cy="412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Launched in 1991 by Jane's Addiction's Perry Farrell,</a:t>
            </a:r>
            <a:r>
              <a:rPr b="0" lang="en-US" sz="1000" spc="-1" strike="noStrike">
                <a:solidFill>
                  <a:srgbClr val="000000"/>
                </a:solidFill>
                <a:latin typeface="Liter"/>
                <a:ea typeface="Liter"/>
              </a:rPr>
              <a:t> Lollapalooza became the premier showcase for alternative rock. The touring festival introduced audiences to diverse acts and helped alternative rock reach mainstream success.</a:t>
            </a:r>
            <a:endParaRPr b="0" lang="en-HK" sz="1000" spc="-1" strike="noStrike">
              <a:latin typeface="Arial"/>
            </a:endParaRPr>
          </a:p>
        </p:txBody>
      </p:sp>
      <p:sp>
        <p:nvSpPr>
          <p:cNvPr id="706" name="Text 55"/>
          <p:cNvSpPr/>
          <p:nvPr/>
        </p:nvSpPr>
        <p:spPr>
          <a:xfrm>
            <a:off x="5213160" y="5175360"/>
            <a:ext cx="6563880" cy="412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The festival's eclectic lineups reflected alternative rock's diversity, featuring everything from grunge and industrial to hip-hop and electronic music.</a:t>
            </a:r>
            <a:endParaRPr b="0" lang="en-HK" sz="1000" spc="-1" strike="noStrike">
              <a:latin typeface="Arial"/>
            </a:endParaRPr>
          </a:p>
        </p:txBody>
      </p:sp>
      <p:sp>
        <p:nvSpPr>
          <p:cNvPr id="707" name="Shape 56"/>
          <p:cNvSpPr/>
          <p:nvPr/>
        </p:nvSpPr>
        <p:spPr>
          <a:xfrm>
            <a:off x="5058720" y="5877720"/>
            <a:ext cx="2198160" cy="64260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08" name="Text 57"/>
          <p:cNvSpPr/>
          <p:nvPr/>
        </p:nvSpPr>
        <p:spPr>
          <a:xfrm>
            <a:off x="5110200" y="5977080"/>
            <a:ext cx="2095200" cy="25380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1991</a:t>
            </a:r>
            <a:endParaRPr b="0" lang="en-HK" sz="1500" spc="-1" strike="noStrike">
              <a:latin typeface="Arial"/>
            </a:endParaRPr>
          </a:p>
        </p:txBody>
      </p:sp>
      <p:sp>
        <p:nvSpPr>
          <p:cNvPr id="709" name="Text 58"/>
          <p:cNvSpPr/>
          <p:nvPr/>
        </p:nvSpPr>
        <p:spPr>
          <a:xfrm>
            <a:off x="5130000" y="6262560"/>
            <a:ext cx="2055600" cy="158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Lollapalooza debuts</a:t>
            </a:r>
            <a:endParaRPr b="0" lang="en-HK" sz="880" spc="-1" strike="noStrike">
              <a:latin typeface="Arial"/>
            </a:endParaRPr>
          </a:p>
        </p:txBody>
      </p:sp>
      <p:sp>
        <p:nvSpPr>
          <p:cNvPr id="710" name="Shape 59"/>
          <p:cNvSpPr/>
          <p:nvPr/>
        </p:nvSpPr>
        <p:spPr>
          <a:xfrm>
            <a:off x="7363440" y="5877720"/>
            <a:ext cx="2198160" cy="64260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11" name="Text 60"/>
          <p:cNvSpPr/>
          <p:nvPr/>
        </p:nvSpPr>
        <p:spPr>
          <a:xfrm>
            <a:off x="7415280" y="5977080"/>
            <a:ext cx="2095200" cy="25380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30M+</a:t>
            </a:r>
            <a:endParaRPr b="0" lang="en-HK" sz="1500" spc="-1" strike="noStrike">
              <a:latin typeface="Arial"/>
            </a:endParaRPr>
          </a:p>
        </p:txBody>
      </p:sp>
      <p:sp>
        <p:nvSpPr>
          <p:cNvPr id="712" name="Text 61"/>
          <p:cNvSpPr/>
          <p:nvPr/>
        </p:nvSpPr>
        <p:spPr>
          <a:xfrm>
            <a:off x="7435080" y="6262560"/>
            <a:ext cx="2055600" cy="158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"Nevermind" sales</a:t>
            </a:r>
            <a:endParaRPr b="0" lang="en-HK" sz="880" spc="-1" strike="noStrike">
              <a:latin typeface="Arial"/>
            </a:endParaRPr>
          </a:p>
        </p:txBody>
      </p:sp>
      <p:sp>
        <p:nvSpPr>
          <p:cNvPr id="713" name="Shape 62"/>
          <p:cNvSpPr/>
          <p:nvPr/>
        </p:nvSpPr>
        <p:spPr>
          <a:xfrm>
            <a:off x="9668520" y="5877720"/>
            <a:ext cx="2198160" cy="64260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14" name="Text 63"/>
          <p:cNvSpPr/>
          <p:nvPr/>
        </p:nvSpPr>
        <p:spPr>
          <a:xfrm>
            <a:off x="9720360" y="5977080"/>
            <a:ext cx="2095200" cy="25380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Gen X</a:t>
            </a:r>
            <a:endParaRPr b="0" lang="en-HK" sz="1500" spc="-1" strike="noStrike">
              <a:latin typeface="Arial"/>
            </a:endParaRPr>
          </a:p>
        </p:txBody>
      </p:sp>
      <p:sp>
        <p:nvSpPr>
          <p:cNvPr id="715" name="Text 64"/>
          <p:cNvSpPr/>
          <p:nvPr/>
        </p:nvSpPr>
        <p:spPr>
          <a:xfrm>
            <a:off x="9740160" y="6262560"/>
            <a:ext cx="2055600" cy="158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Generation defined</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716" name="Image 0"/>
          <p:cNvSpPr/>
          <p:nvPr/>
        </p:nvSpPr>
        <p:spPr>
          <a:xfrm>
            <a:off x="0" y="0"/>
            <a:ext cx="12191760" cy="6857640"/>
          </a:xfrm>
          <a:prstGeom prst="roundRect">
            <a:avLst>
              <a:gd name="adj" fmla="val 0"/>
            </a:avLst>
          </a:prstGeom>
          <a:blipFill rotWithShape="0">
            <a:blip r:embed="rId1"/>
            <a:srcRect/>
            <a:stretch/>
          </a:blipFill>
          <a:ln w="0">
            <a:noFill/>
          </a:ln>
        </p:spPr>
        <p:style>
          <a:lnRef idx="0"/>
          <a:fillRef idx="0"/>
          <a:effectRef idx="0"/>
          <a:fontRef idx="minor"/>
        </p:style>
      </p:sp>
      <p:sp>
        <p:nvSpPr>
          <p:cNvPr id="717" name="Shape 0"/>
          <p:cNvSpPr/>
          <p:nvPr/>
        </p:nvSpPr>
        <p:spPr>
          <a:xfrm>
            <a:off x="0" y="0"/>
            <a:ext cx="12191760" cy="68576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718" name="Shape 1"/>
          <p:cNvSpPr/>
          <p:nvPr/>
        </p:nvSpPr>
        <p:spPr>
          <a:xfrm rot="720000">
            <a:off x="10754280" y="5420160"/>
            <a:ext cx="875880" cy="87588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719" name="Shape 2"/>
          <p:cNvSpPr/>
          <p:nvPr/>
        </p:nvSpPr>
        <p:spPr>
          <a:xfrm rot="21240000">
            <a:off x="320400" y="1311120"/>
            <a:ext cx="1218960" cy="121896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720" name="Text 3"/>
          <p:cNvSpPr/>
          <p:nvPr/>
        </p:nvSpPr>
        <p:spPr>
          <a:xfrm>
            <a:off x="596160" y="1638360"/>
            <a:ext cx="1133280" cy="6854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07</a:t>
            </a:r>
            <a:endParaRPr b="0" lang="en-HK" sz="5400" spc="-1" strike="noStrike">
              <a:latin typeface="Arial"/>
            </a:endParaRPr>
          </a:p>
        </p:txBody>
      </p:sp>
      <p:sp>
        <p:nvSpPr>
          <p:cNvPr id="721" name="Shape 4"/>
          <p:cNvSpPr/>
          <p:nvPr/>
        </p:nvSpPr>
        <p:spPr>
          <a:xfrm>
            <a:off x="1828800" y="1752480"/>
            <a:ext cx="3028680" cy="37800"/>
          </a:xfrm>
          <a:custGeom>
            <a:avLst/>
            <a:gdLst/>
            <a:ahLst/>
            <a:rect l="l" t="t" r="r" b="b"/>
            <a:pathLst>
              <a:path w="3028950" h="38100">
                <a:moveTo>
                  <a:pt x="0" y="0"/>
                </a:moveTo>
                <a:lnTo>
                  <a:pt x="3028950" y="0"/>
                </a:lnTo>
                <a:lnTo>
                  <a:pt x="3028950" y="38100"/>
                </a:lnTo>
                <a:lnTo>
                  <a:pt x="0" y="38100"/>
                </a:lnTo>
                <a:lnTo>
                  <a:pt x="0" y="0"/>
                </a:lnTo>
                <a:close/>
              </a:path>
            </a:pathLst>
          </a:custGeom>
          <a:solidFill>
            <a:srgbClr val="ddff00"/>
          </a:solidFill>
          <a:ln w="0">
            <a:noFill/>
          </a:ln>
        </p:spPr>
        <p:style>
          <a:lnRef idx="0"/>
          <a:fillRef idx="0"/>
          <a:effectRef idx="0"/>
          <a:fontRef idx="minor"/>
        </p:style>
      </p:sp>
      <p:sp>
        <p:nvSpPr>
          <p:cNvPr id="722" name="Text 5"/>
          <p:cNvSpPr/>
          <p:nvPr/>
        </p:nvSpPr>
        <p:spPr>
          <a:xfrm>
            <a:off x="1828800" y="1943280"/>
            <a:ext cx="3114360" cy="266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34" strike="noStrike">
                <a:solidFill>
                  <a:srgbClr val="ddff00"/>
                </a:solidFill>
                <a:latin typeface="Liter"/>
                <a:ea typeface="Liter"/>
              </a:rPr>
              <a:t>CHAPTER SEVEN</a:t>
            </a:r>
            <a:endParaRPr b="0" lang="en-HK" sz="1350" spc="-1" strike="noStrike">
              <a:latin typeface="Arial"/>
            </a:endParaRPr>
          </a:p>
        </p:txBody>
      </p:sp>
      <p:sp>
        <p:nvSpPr>
          <p:cNvPr id="723" name="Text 6"/>
          <p:cNvSpPr/>
          <p:nvPr/>
        </p:nvSpPr>
        <p:spPr>
          <a:xfrm>
            <a:off x="380880" y="2895480"/>
            <a:ext cx="4819320" cy="17143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INDIE ROCK</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REVIVAL</a:t>
            </a:r>
            <a:endParaRPr b="0" lang="en-HK" sz="5400" spc="-1" strike="noStrike">
              <a:latin typeface="Arial"/>
            </a:endParaRPr>
          </a:p>
        </p:txBody>
      </p:sp>
      <p:sp>
        <p:nvSpPr>
          <p:cNvPr id="724" name="Text 7"/>
          <p:cNvSpPr/>
          <p:nvPr/>
        </p:nvSpPr>
        <p:spPr>
          <a:xfrm>
            <a:off x="380880" y="4838760"/>
            <a:ext cx="4590720" cy="304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2000s-2010s: Return to Raw, DIY Aesthetics</a:t>
            </a:r>
            <a:endParaRPr b="0" lang="en-HK" sz="1800" spc="-1" strike="noStrike">
              <a:latin typeface="Arial"/>
            </a:endParaRPr>
          </a:p>
        </p:txBody>
      </p:sp>
      <p:sp>
        <p:nvSpPr>
          <p:cNvPr id="725" name="Shape 8"/>
          <p:cNvSpPr/>
          <p:nvPr/>
        </p:nvSpPr>
        <p:spPr>
          <a:xfrm>
            <a:off x="380880" y="5448240"/>
            <a:ext cx="761760" cy="3780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726" name="Shape 9"/>
          <p:cNvSpPr/>
          <p:nvPr/>
        </p:nvSpPr>
        <p:spPr>
          <a:xfrm>
            <a:off x="1295280" y="5448240"/>
            <a:ext cx="380520" cy="3780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727" name="Shape 10"/>
          <p:cNvSpPr/>
          <p:nvPr/>
        </p:nvSpPr>
        <p:spPr>
          <a:xfrm>
            <a:off x="1828800" y="5448240"/>
            <a:ext cx="190080" cy="3780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5</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2026-03-18T08:15:32Z</dcterms:created>
  <dc:creator>Kimi</dc:creator>
  <dc:description/>
  <dc:language>en-HK</dc:language>
  <cp:lastModifiedBy/>
  <dcterms:modified xsi:type="dcterms:W3CDTF">2026-04-07T20:50:29Z</dcterms:modified>
  <cp:revision>2</cp:revision>
  <dc:subject>The Evolution of Rock Music</dc:subject>
  <dc:title>The Evolution of Rock Music</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{"Label":"The Evolution of Rock Music","ContentProducer":"001191110108MACG2KBH8F10000","ProduceID":"19cfffb4-12a2-8b20-8000-0000a3d16f4b","ReservedCode1":"","ContentPropagator":"001191110108MACG2KBH8F20000","PropagateID":"19cfffb4-12a2-8b20-8000-0000a3d16f4b","ReservedCode2":""}</vt:lpwstr>
  </property>
  <property fmtid="{D5CDD505-2E9C-101B-9397-08002B2CF9AE}" pid="3" name="Notes">
    <vt:i4>24</vt:i4>
  </property>
  <property fmtid="{D5CDD505-2E9C-101B-9397-08002B2CF9AE}" pid="4" name="PresentationFormat">
    <vt:lpwstr>On-screen Show (16:9)</vt:lpwstr>
  </property>
  <property fmtid="{D5CDD505-2E9C-101B-9397-08002B2CF9AE}" pid="5" name="Slides">
    <vt:i4>24</vt:i4>
  </property>
</Properties>
</file>