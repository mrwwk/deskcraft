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8.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comments/comment4.xml" ContentType="application/vnd.openxmlformats-officedocument.presentationml.comments+xml"/>
  <Override PartName="/ppt/commentAuthors.xml" ContentType="application/vnd.openxmlformats-officedocument.presentationml.commentAuthor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3588" cy="6858000"/>
  <p:notesSz cx="6858000" cy="12192000"/>
</p:presentation>
</file>

<file path=ppt/commentAuthors.xml><?xml version="1.0" encoding="utf-8"?>
<p:cmAuthorLst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Relationship Id="rId21" Type="http://schemas.openxmlformats.org/officeDocument/2006/relationships/commentAuthors" Target="commentAuthors.xml"/>
</Relationships>
</file>

<file path=ppt/comments/comment4.xml><?xml version="1.0" encoding="utf-8"?>
<p:cmLst xmlns:p="http://schemas.openxmlformats.org/presentationml/2006/main">
  <p:cm authorId="0" dt="2026-04-19T07:45:15.000000000" idx="1">
    <p:pos x="0" y="0"/>
    <p:text>Legacy: Rock music’s influence extends beyond sound  it shaped fashion, politics, and social movements across multiple generations.</p:text>
  </p:cm>
</p:cmLst>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a:t>
            </a:r>
            <a:r>
              <a:rPr b="0" lang="en-HK" sz="2000" spc="-1" strike="noStrike">
                <a:latin typeface="Arial"/>
              </a:rPr>
              <a:t>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E5AC8BF8-9778-4C63-B801-972B5319809E}"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685800" y="1143000"/>
            <a:ext cx="5485320" cy="3085200"/>
          </a:xfrm>
          <a:prstGeom prst="rect">
            <a:avLst/>
          </a:prstGeom>
          <a:ln w="0">
            <a:noFill/>
          </a:ln>
        </p:spPr>
      </p:sp>
      <p:sp>
        <p:nvSpPr>
          <p:cNvPr id="593"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594" name="PlaceHolder 3"/>
          <p:cNvSpPr>
            <a:spLocks noGrp="1"/>
          </p:cNvSpPr>
          <p:nvPr>
            <p:ph type="sldNum" idx="4"/>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6B1F2F9-4BAC-4FBE-B745-331703F064E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685800" y="1143000"/>
            <a:ext cx="5485320" cy="3085200"/>
          </a:xfrm>
          <a:prstGeom prst="rect">
            <a:avLst/>
          </a:prstGeom>
          <a:ln w="0">
            <a:noFill/>
          </a:ln>
        </p:spPr>
      </p:sp>
      <p:sp>
        <p:nvSpPr>
          <p:cNvPr id="596"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597" name="PlaceHolder 3"/>
          <p:cNvSpPr>
            <a:spLocks noGrp="1"/>
          </p:cNvSpPr>
          <p:nvPr>
            <p:ph type="sldNum" idx="5"/>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EFB20C4-17C1-4FBC-8420-7F595E66C2E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685800" y="1143000"/>
            <a:ext cx="5485320" cy="3085200"/>
          </a:xfrm>
          <a:prstGeom prst="rect">
            <a:avLst/>
          </a:prstGeom>
          <a:ln w="0">
            <a:noFill/>
          </a:ln>
        </p:spPr>
      </p:sp>
      <p:sp>
        <p:nvSpPr>
          <p:cNvPr id="599"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00" name="PlaceHolder 3"/>
          <p:cNvSpPr>
            <a:spLocks noGrp="1"/>
          </p:cNvSpPr>
          <p:nvPr>
            <p:ph type="sldNum" idx="6"/>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9BA7E8E-F735-4C9E-9D70-31953C3917A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5320" cy="3085200"/>
          </a:xfrm>
          <a:prstGeom prst="rect">
            <a:avLst/>
          </a:prstGeom>
          <a:ln w="0">
            <a:noFill/>
          </a:ln>
        </p:spPr>
      </p:sp>
      <p:sp>
        <p:nvSpPr>
          <p:cNvPr id="602"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Legacy: Rock music’s influence extends beyond sound  it shaped </a:t>
            </a:r>
            <a:r>
              <a:rPr b="0" lang="en-HK" sz="1800" spc="-1" strike="noStrike">
                <a:latin typeface="Arial"/>
              </a:rPr>
              <a:t>fashion, politics, and social movements across multiple </a:t>
            </a:r>
            <a:r>
              <a:rPr b="0" lang="en-HK" sz="1800" spc="-1" strike="noStrike">
                <a:latin typeface="Arial"/>
              </a:rPr>
              <a:t>generations.</a:t>
            </a:r>
            <a:endParaRPr b="0" lang="en-HK" sz="1800" spc="-1" strike="noStrike">
              <a:latin typeface="Arial"/>
            </a:endParaRPr>
          </a:p>
        </p:txBody>
      </p:sp>
      <p:sp>
        <p:nvSpPr>
          <p:cNvPr id="603" name="PlaceHolder 3"/>
          <p:cNvSpPr>
            <a:spLocks noGrp="1"/>
          </p:cNvSpPr>
          <p:nvPr>
            <p:ph type="sldNum" idx="7"/>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E7897C8-10B1-450B-9E43-DA469425409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5320" cy="3085200"/>
          </a:xfrm>
          <a:prstGeom prst="rect">
            <a:avLst/>
          </a:prstGeom>
          <a:ln w="0">
            <a:noFill/>
          </a:ln>
        </p:spPr>
      </p:sp>
      <p:sp>
        <p:nvSpPr>
          <p:cNvPr id="605"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06" name="PlaceHolder 3"/>
          <p:cNvSpPr>
            <a:spLocks noGrp="1"/>
          </p:cNvSpPr>
          <p:nvPr>
            <p:ph type="sldNum" idx="8"/>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9FE2E22-7C11-435D-B4E8-98E0DFECBAD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5320" cy="3085200"/>
          </a:xfrm>
          <a:prstGeom prst="rect">
            <a:avLst/>
          </a:prstGeom>
          <a:ln w="0">
            <a:noFill/>
          </a:ln>
        </p:spPr>
      </p:sp>
      <p:sp>
        <p:nvSpPr>
          <p:cNvPr id="608"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09" name="PlaceHolder 3"/>
          <p:cNvSpPr>
            <a:spLocks noGrp="1"/>
          </p:cNvSpPr>
          <p:nvPr>
            <p:ph type="sldNum" idx="9"/>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C808E23-8005-45E6-B3B1-D166CE0A976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685800" y="1143000"/>
            <a:ext cx="5485320" cy="3085200"/>
          </a:xfrm>
          <a:prstGeom prst="rect">
            <a:avLst/>
          </a:prstGeom>
          <a:ln w="0">
            <a:noFill/>
          </a:ln>
        </p:spPr>
      </p:sp>
      <p:sp>
        <p:nvSpPr>
          <p:cNvPr id="611"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12" name="PlaceHolder 3"/>
          <p:cNvSpPr>
            <a:spLocks noGrp="1"/>
          </p:cNvSpPr>
          <p:nvPr>
            <p:ph type="sldNum" idx="10"/>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97E6F96-CD87-46E6-B20F-70906513C3E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685800" y="1143000"/>
            <a:ext cx="5485320" cy="3085200"/>
          </a:xfrm>
          <a:prstGeom prst="rect">
            <a:avLst/>
          </a:prstGeom>
          <a:ln w="0">
            <a:noFill/>
          </a:ln>
        </p:spPr>
      </p:sp>
      <p:sp>
        <p:nvSpPr>
          <p:cNvPr id="614"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15" name="PlaceHolder 3"/>
          <p:cNvSpPr>
            <a:spLocks noGrp="1"/>
          </p:cNvSpPr>
          <p:nvPr>
            <p:ph type="sldNum" idx="11"/>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8C71010-9002-459A-BC3B-3E265304C34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685800" y="1143000"/>
            <a:ext cx="5485320" cy="3085200"/>
          </a:xfrm>
          <a:prstGeom prst="rect">
            <a:avLst/>
          </a:prstGeom>
          <a:ln w="0">
            <a:noFill/>
          </a:ln>
        </p:spPr>
      </p:sp>
      <p:sp>
        <p:nvSpPr>
          <p:cNvPr id="617"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18" name="PlaceHolder 3"/>
          <p:cNvSpPr>
            <a:spLocks noGrp="1"/>
          </p:cNvSpPr>
          <p:nvPr>
            <p:ph type="sldNum" idx="12"/>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4A640D6-7C61-4F60-A065-307D156276C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685800" y="1143000"/>
            <a:ext cx="5485320" cy="3085200"/>
          </a:xfrm>
          <a:prstGeom prst="rect">
            <a:avLst/>
          </a:prstGeom>
          <a:ln w="0">
            <a:noFill/>
          </a:ln>
        </p:spPr>
      </p:sp>
      <p:sp>
        <p:nvSpPr>
          <p:cNvPr id="620"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21" name="PlaceHolder 3"/>
          <p:cNvSpPr>
            <a:spLocks noGrp="1"/>
          </p:cNvSpPr>
          <p:nvPr>
            <p:ph type="sldNum" idx="13"/>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764F9E6-FC5F-4572-8DAB-7701493007B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685800" y="1143000"/>
            <a:ext cx="5485320" cy="3085200"/>
          </a:xfrm>
          <a:prstGeom prst="rect">
            <a:avLst/>
          </a:prstGeom>
          <a:ln w="0">
            <a:noFill/>
          </a:ln>
        </p:spPr>
      </p:sp>
      <p:sp>
        <p:nvSpPr>
          <p:cNvPr id="623"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24" name="PlaceHolder 3"/>
          <p:cNvSpPr>
            <a:spLocks noGrp="1"/>
          </p:cNvSpPr>
          <p:nvPr>
            <p:ph type="sldNum" idx="14"/>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E3BF6C7-67F2-4016-8E7B-C3ABB37AD77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685800" y="1143000"/>
            <a:ext cx="5485320" cy="3085200"/>
          </a:xfrm>
          <a:prstGeom prst="rect">
            <a:avLst/>
          </a:prstGeom>
          <a:ln w="0">
            <a:noFill/>
          </a:ln>
        </p:spPr>
      </p:sp>
      <p:sp>
        <p:nvSpPr>
          <p:cNvPr id="626"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27" name="PlaceHolder 3"/>
          <p:cNvSpPr>
            <a:spLocks noGrp="1"/>
          </p:cNvSpPr>
          <p:nvPr>
            <p:ph type="sldNum" idx="15"/>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4FF5909-9661-4F04-A3D0-DF4EA0F7786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685800" y="1143000"/>
            <a:ext cx="5485320" cy="3085200"/>
          </a:xfrm>
          <a:prstGeom prst="rect">
            <a:avLst/>
          </a:prstGeom>
          <a:ln w="0">
            <a:noFill/>
          </a:ln>
        </p:spPr>
      </p:sp>
      <p:sp>
        <p:nvSpPr>
          <p:cNvPr id="629"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30" name="PlaceHolder 3"/>
          <p:cNvSpPr>
            <a:spLocks noGrp="1"/>
          </p:cNvSpPr>
          <p:nvPr>
            <p:ph type="sldNum" idx="16"/>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3BD964F-BEB2-479F-9B82-174E86A0E14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5320" cy="3085200"/>
          </a:xfrm>
          <a:prstGeom prst="rect">
            <a:avLst/>
          </a:prstGeom>
          <a:ln w="0">
            <a:noFill/>
          </a:ln>
        </p:spPr>
      </p:sp>
      <p:sp>
        <p:nvSpPr>
          <p:cNvPr id="632"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33" name="PlaceHolder 3"/>
          <p:cNvSpPr>
            <a:spLocks noGrp="1"/>
          </p:cNvSpPr>
          <p:nvPr>
            <p:ph type="sldNum" idx="17"/>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8363BB4-4CAB-4DFF-BC60-25A16A09C7D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685800" y="1143000"/>
            <a:ext cx="5485320" cy="3085200"/>
          </a:xfrm>
          <a:prstGeom prst="rect">
            <a:avLst/>
          </a:prstGeom>
          <a:ln w="0">
            <a:noFill/>
          </a:ln>
        </p:spPr>
      </p:sp>
      <p:sp>
        <p:nvSpPr>
          <p:cNvPr id="635"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36" name="PlaceHolder 3"/>
          <p:cNvSpPr>
            <a:spLocks noGrp="1"/>
          </p:cNvSpPr>
          <p:nvPr>
            <p:ph type="sldNum" idx="18"/>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01C32CB-E614-4137-9ED1-B8AE9AE9E60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685800" y="1143000"/>
            <a:ext cx="5485320" cy="3085200"/>
          </a:xfrm>
          <a:prstGeom prst="rect">
            <a:avLst/>
          </a:prstGeom>
          <a:ln w="0">
            <a:noFill/>
          </a:ln>
        </p:spPr>
      </p:sp>
      <p:sp>
        <p:nvSpPr>
          <p:cNvPr id="638"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639" name="PlaceHolder 3"/>
          <p:cNvSpPr>
            <a:spLocks noGrp="1"/>
          </p:cNvSpPr>
          <p:nvPr>
            <p:ph type="sldNum" idx="19"/>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578DF9A-B41D-4463-A605-5267801EE893}"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352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352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352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352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2000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3052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2000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3052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r>
              <a:rPr b="0" lang="en-HK" sz="4400" spc="-1" strike="noStrike">
                <a:latin typeface="Arial"/>
              </a:rPr>
              <a:t>Click </a:t>
            </a:r>
            <a:r>
              <a:rPr b="0" lang="en-HK" sz="4400" spc="-1" strike="noStrike">
                <a:latin typeface="Arial"/>
              </a:rPr>
              <a:t>to edit </a:t>
            </a:r>
            <a:r>
              <a:rPr b="0" lang="en-HK" sz="4400" spc="-1" strike="noStrike">
                <a:latin typeface="Arial"/>
              </a:rPr>
              <a:t>the </a:t>
            </a:r>
            <a:r>
              <a:rPr b="0" lang="en-HK" sz="4400" spc="-1" strike="noStrike">
                <a:latin typeface="Arial"/>
              </a:rPr>
              <a:t>title </a:t>
            </a:r>
            <a:r>
              <a:rPr b="0" lang="en-HK" sz="4400" spc="-1" strike="noStrike">
                <a:latin typeface="Arial"/>
              </a:rPr>
              <a:t>text </a:t>
            </a:r>
            <a:r>
              <a:rPr b="0" lang="en-HK" sz="4400" spc="-1" strike="noStrike">
                <a:latin typeface="Arial"/>
              </a:rPr>
              <a:t>format</a:t>
            </a:r>
            <a:endParaRPr b="0" lang="en-HK" sz="4400" spc="-1" strike="noStrike">
              <a:latin typeface="Arial"/>
            </a:endParaRPr>
          </a:p>
        </p:txBody>
      </p:sp>
      <p:sp>
        <p:nvSpPr>
          <p:cNvPr id="1" name="PlaceHolder 2"/>
          <p:cNvSpPr>
            <a:spLocks noGrp="1"/>
          </p:cNvSpPr>
          <p:nvPr>
            <p:ph type="body"/>
          </p:nvPr>
        </p:nvSpPr>
        <p:spPr>
          <a:xfrm>
            <a:off x="609480" y="1604520"/>
            <a:ext cx="1097352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4.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4"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0"/>
                </a:srgbClr>
              </a:gs>
            </a:gsLst>
            <a:lin ang="5400000"/>
          </a:gradFill>
          <a:ln w="0">
            <a:noFill/>
          </a:ln>
        </p:spPr>
        <p:style>
          <a:lnRef idx="0"/>
          <a:fillRef idx="0"/>
          <a:effectRef idx="0"/>
          <a:fontRef idx="minor"/>
        </p:style>
      </p:sp>
      <p:sp>
        <p:nvSpPr>
          <p:cNvPr id="46" name="Shape 1"/>
          <p:cNvSpPr/>
          <p:nvPr/>
        </p:nvSpPr>
        <p:spPr>
          <a:xfrm>
            <a:off x="336600" y="781200"/>
            <a:ext cx="2218680" cy="417960"/>
          </a:xfrm>
          <a:custGeom>
            <a:avLst/>
            <a:gdLst/>
            <a:ahLst/>
            <a:rect l="l" t="t" r="r" b="b"/>
            <a:pathLst>
              <a:path w="2219325" h="419100">
                <a:moveTo>
                  <a:pt x="0" y="0"/>
                </a:moveTo>
                <a:lnTo>
                  <a:pt x="2219325" y="0"/>
                </a:lnTo>
                <a:lnTo>
                  <a:pt x="2219325" y="419100"/>
                </a:lnTo>
                <a:lnTo>
                  <a:pt x="0" y="419100"/>
                </a:lnTo>
                <a:lnTo>
                  <a:pt x="0" y="0"/>
                </a:lnTo>
                <a:close/>
              </a:path>
            </a:pathLst>
          </a:custGeom>
          <a:solidFill>
            <a:srgbClr val="ddff00"/>
          </a:solidFill>
          <a:ln w="0">
            <a:noFill/>
          </a:ln>
        </p:spPr>
        <p:style>
          <a:lnRef idx="0"/>
          <a:fillRef idx="0"/>
          <a:effectRef idx="0"/>
          <a:fontRef idx="minor"/>
        </p:style>
      </p:sp>
      <p:sp>
        <p:nvSpPr>
          <p:cNvPr id="47" name="Text 2"/>
          <p:cNvSpPr/>
          <p:nvPr/>
        </p:nvSpPr>
        <p:spPr>
          <a:xfrm>
            <a:off x="609480" y="857160"/>
            <a:ext cx="18561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4400" spc="143" strike="noStrike">
                <a:solidFill>
                  <a:srgbClr val="ff0000"/>
                </a:solidFill>
                <a:latin typeface="Liter"/>
                <a:ea typeface="Liter"/>
              </a:rPr>
              <a:t>LECTURE SERIES</a:t>
            </a:r>
            <a:endParaRPr b="0" lang="en-HK" sz="4400" spc="-1" strike="noStrike">
              <a:latin typeface="Arial"/>
            </a:endParaRPr>
          </a:p>
        </p:txBody>
      </p:sp>
      <p:sp>
        <p:nvSpPr>
          <p:cNvPr id="48" name="Text 3"/>
          <p:cNvSpPr/>
          <p:nvPr/>
        </p:nvSpPr>
        <p:spPr>
          <a:xfrm>
            <a:off x="380880" y="1733400"/>
            <a:ext cx="12001680" cy="3427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400" spc="-452" strike="noStrike">
                <a:solidFill>
                  <a:srgbClr val="ff0000"/>
                </a:solidFill>
                <a:latin typeface="Liter"/>
                <a:ea typeface="Liter"/>
              </a:rPr>
              <a:t>THE</a:t>
            </a:r>
            <a:endParaRPr b="1" lang="en-HK" sz="4400" spc="-1" strike="noStrike">
              <a:latin typeface="Arial"/>
            </a:endParaRPr>
          </a:p>
          <a:p>
            <a:pPr>
              <a:lnSpc>
                <a:spcPct val="80000"/>
              </a:lnSpc>
              <a:buNone/>
            </a:pPr>
            <a:r>
              <a:rPr b="1" lang="en-US" sz="4400" spc="-452" strike="noStrike">
                <a:solidFill>
                  <a:srgbClr val="ff0000"/>
                </a:solidFill>
                <a:latin typeface="Liter"/>
                <a:ea typeface="Liter"/>
              </a:rPr>
              <a:t>EVOLUTION</a:t>
            </a:r>
            <a:endParaRPr b="1" lang="en-HK" sz="4400" spc="-1" strike="noStrike">
              <a:latin typeface="Arial"/>
            </a:endParaRPr>
          </a:p>
          <a:p>
            <a:pPr>
              <a:lnSpc>
                <a:spcPct val="80000"/>
              </a:lnSpc>
              <a:buNone/>
            </a:pPr>
            <a:r>
              <a:rPr b="1" lang="en-US" sz="4400" spc="-452" strike="noStrike">
                <a:solidFill>
                  <a:srgbClr val="ff0000"/>
                </a:solidFill>
                <a:latin typeface="Liter"/>
                <a:ea typeface="Liter"/>
              </a:rPr>
              <a:t>OF ROCK</a:t>
            </a:r>
            <a:endParaRPr b="1" lang="en-HK" sz="4400" spc="-1" strike="noStrike">
              <a:latin typeface="Arial"/>
            </a:endParaRPr>
          </a:p>
        </p:txBody>
      </p:sp>
      <p:sp>
        <p:nvSpPr>
          <p:cNvPr id="49" name="Shape 4"/>
          <p:cNvSpPr/>
          <p:nvPr/>
        </p:nvSpPr>
        <p:spPr>
          <a:xfrm>
            <a:off x="380880" y="5391000"/>
            <a:ext cx="913320" cy="37080"/>
          </a:xfrm>
          <a:custGeom>
            <a:avLst/>
            <a:gdLst/>
            <a:ahLst/>
            <a:rect l="l" t="t" r="r" b="b"/>
            <a:pathLst>
              <a:path w="914400" h="38100">
                <a:moveTo>
                  <a:pt x="0" y="0"/>
                </a:moveTo>
                <a:lnTo>
                  <a:pt x="914400" y="0"/>
                </a:lnTo>
                <a:lnTo>
                  <a:pt x="914400" y="38100"/>
                </a:lnTo>
                <a:lnTo>
                  <a:pt x="0" y="38100"/>
                </a:lnTo>
                <a:lnTo>
                  <a:pt x="0" y="0"/>
                </a:lnTo>
                <a:close/>
              </a:path>
            </a:pathLst>
          </a:custGeom>
          <a:solidFill>
            <a:srgbClr val="ddff00"/>
          </a:solidFill>
          <a:ln w="0">
            <a:noFill/>
          </a:ln>
        </p:spPr>
        <p:style>
          <a:lnRef idx="0"/>
          <a:fillRef idx="0"/>
          <a:effectRef idx="0"/>
          <a:fontRef idx="minor"/>
        </p:style>
      </p:sp>
      <p:sp>
        <p:nvSpPr>
          <p:cNvPr id="50" name="Shape 5"/>
          <p:cNvSpPr/>
          <p:nvPr/>
        </p:nvSpPr>
        <p:spPr>
          <a:xfrm>
            <a:off x="1447920" y="5391000"/>
            <a:ext cx="456120" cy="37080"/>
          </a:xfrm>
          <a:custGeom>
            <a:avLst/>
            <a:gdLst/>
            <a:ahLst/>
            <a:rect l="l" t="t" r="r" b="b"/>
            <a:pathLst>
              <a:path w="457200" h="38100">
                <a:moveTo>
                  <a:pt x="0" y="0"/>
                </a:moveTo>
                <a:lnTo>
                  <a:pt x="457200" y="0"/>
                </a:lnTo>
                <a:lnTo>
                  <a:pt x="457200" y="38100"/>
                </a:lnTo>
                <a:lnTo>
                  <a:pt x="0" y="38100"/>
                </a:lnTo>
                <a:lnTo>
                  <a:pt x="0" y="0"/>
                </a:lnTo>
                <a:close/>
              </a:path>
            </a:pathLst>
          </a:custGeom>
          <a:solidFill>
            <a:srgbClr val="ddff00"/>
          </a:solidFill>
          <a:ln w="0">
            <a:noFill/>
          </a:ln>
        </p:spPr>
        <p:style>
          <a:lnRef idx="0"/>
          <a:fillRef idx="0"/>
          <a:effectRef idx="0"/>
          <a:fontRef idx="minor"/>
        </p:style>
      </p:sp>
      <p:sp>
        <p:nvSpPr>
          <p:cNvPr id="51" name="Shape 6"/>
          <p:cNvSpPr/>
          <p:nvPr/>
        </p:nvSpPr>
        <p:spPr>
          <a:xfrm>
            <a:off x="2057400" y="5391000"/>
            <a:ext cx="227520" cy="37080"/>
          </a:xfrm>
          <a:custGeom>
            <a:avLst/>
            <a:gdLst/>
            <a:ahLst/>
            <a:rect l="l" t="t" r="r" b="b"/>
            <a:pathLst>
              <a:path w="228600" h="38100">
                <a:moveTo>
                  <a:pt x="0" y="0"/>
                </a:moveTo>
                <a:lnTo>
                  <a:pt x="228600" y="0"/>
                </a:lnTo>
                <a:lnTo>
                  <a:pt x="228600" y="38100"/>
                </a:lnTo>
                <a:lnTo>
                  <a:pt x="0" y="38100"/>
                </a:lnTo>
                <a:lnTo>
                  <a:pt x="0" y="0"/>
                </a:lnTo>
                <a:close/>
              </a:path>
            </a:pathLst>
          </a:custGeom>
          <a:solidFill>
            <a:srgbClr val="ddff00"/>
          </a:solidFill>
          <a:ln w="0">
            <a:noFill/>
          </a:ln>
        </p:spPr>
        <p:style>
          <a:lnRef idx="0"/>
          <a:fillRef idx="0"/>
          <a:effectRef idx="0"/>
          <a:fontRef idx="minor"/>
        </p:style>
      </p:sp>
      <p:sp>
        <p:nvSpPr>
          <p:cNvPr id="52" name="Text 7"/>
          <p:cNvSpPr/>
          <p:nvPr/>
        </p:nvSpPr>
        <p:spPr>
          <a:xfrm>
            <a:off x="380880" y="5734080"/>
            <a:ext cx="654336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4400" spc="-1" strike="noStrike">
                <a:solidFill>
                  <a:srgbClr val="ff0000"/>
                </a:solidFill>
                <a:latin typeface="Liter"/>
                <a:ea typeface="Liter"/>
              </a:rPr>
              <a:t>A Journey Through the History of Rock 'n' Roll</a:t>
            </a:r>
            <a:endParaRPr b="0" lang="en-HK" sz="4400" spc="-1" strike="noStrike">
              <a:latin typeface="Arial"/>
            </a:endParaRPr>
          </a:p>
        </p:txBody>
      </p:sp>
      <p:sp>
        <p:nvSpPr>
          <p:cNvPr id="53" name="Shape 8"/>
          <p:cNvSpPr/>
          <p:nvPr/>
        </p:nvSpPr>
        <p:spPr>
          <a:xfrm rot="2700000">
            <a:off x="10638360" y="5302440"/>
            <a:ext cx="570240" cy="570240"/>
          </a:xfrm>
          <a:custGeom>
            <a:avLst/>
            <a:gdLst/>
            <a:ahLst/>
            <a:rect l="l" t="t" r="r" b="b"/>
            <a:pathLst>
              <a:path w="571500" h="571500">
                <a:moveTo>
                  <a:pt x="0" y="0"/>
                </a:moveTo>
                <a:lnTo>
                  <a:pt x="571500" y="0"/>
                </a:lnTo>
                <a:lnTo>
                  <a:pt x="571500" y="571500"/>
                </a:lnTo>
                <a:lnTo>
                  <a:pt x="0" y="571500"/>
                </a:lnTo>
                <a:lnTo>
                  <a:pt x="0" y="0"/>
                </a:lnTo>
                <a:close/>
              </a:path>
            </a:pathLst>
          </a:custGeom>
          <a:noFill/>
          <a:ln w="50800">
            <a:solidFill>
              <a:srgbClr val="ddff00"/>
            </a:solidFill>
            <a:round/>
          </a:ln>
          <a:effectLst>
            <a:outerShdw algn="bl" blurRad="285840" dir="2700000" dist="49893" kx="0" ky="0" rotWithShape="0" sx="100000" sy="100000">
              <a:srgbClr val="ddff00">
                <a:alpha val="30000"/>
              </a:srgbClr>
            </a:outerShdw>
          </a:effectLst>
        </p:spPr>
        <p:style>
          <a:lnRef idx="0"/>
          <a:fillRef idx="0"/>
          <a:effectRef idx="0"/>
          <a:fontRef idx="minor"/>
        </p:style>
      </p:sp>
      <p:sp>
        <p:nvSpPr>
          <p:cNvPr id="54" name="Shape 9"/>
          <p:cNvSpPr/>
          <p:nvPr/>
        </p:nvSpPr>
        <p:spPr>
          <a:xfrm>
            <a:off x="10935360" y="5600880"/>
            <a:ext cx="227520" cy="22752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5" name="Shape 0"/>
          <p:cNvSpPr/>
          <p:nvPr/>
        </p:nvSpPr>
        <p:spPr>
          <a:xfrm>
            <a:off x="380880" y="419040"/>
            <a:ext cx="75240" cy="608400"/>
          </a:xfrm>
          <a:custGeom>
            <a:avLst/>
            <a:gdLst/>
            <a:ahLst/>
            <a:rect l="l" t="t" r="r" b="b"/>
            <a:pathLst>
              <a:path w="76200" h="609600">
                <a:moveTo>
                  <a:pt x="0" y="0"/>
                </a:moveTo>
                <a:lnTo>
                  <a:pt x="76200" y="0"/>
                </a:lnTo>
                <a:lnTo>
                  <a:pt x="76200" y="609600"/>
                </a:lnTo>
                <a:lnTo>
                  <a:pt x="0" y="609600"/>
                </a:lnTo>
                <a:lnTo>
                  <a:pt x="0" y="0"/>
                </a:lnTo>
                <a:close/>
              </a:path>
            </a:pathLst>
          </a:custGeom>
          <a:solidFill>
            <a:srgbClr val="ddff00"/>
          </a:solidFill>
          <a:ln w="0">
            <a:noFill/>
          </a:ln>
        </p:spPr>
        <p:style>
          <a:lnRef idx="0"/>
          <a:fillRef idx="0"/>
          <a:effectRef idx="0"/>
          <a:fontRef idx="minor"/>
        </p:style>
      </p:sp>
      <p:sp>
        <p:nvSpPr>
          <p:cNvPr id="56" name="Text 1"/>
          <p:cNvSpPr/>
          <p:nvPr/>
        </p:nvSpPr>
        <p:spPr>
          <a:xfrm>
            <a:off x="609480" y="380880"/>
            <a:ext cx="248544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7" strike="noStrike">
                <a:solidFill>
                  <a:srgbClr val="ddff00"/>
                </a:solidFill>
                <a:latin typeface="Liter"/>
                <a:ea typeface="Liter"/>
              </a:rPr>
              <a:t>NAVIGATION</a:t>
            </a:r>
            <a:endParaRPr b="0" lang="en-HK" sz="1050" spc="-1" strike="noStrike">
              <a:latin typeface="Arial"/>
            </a:endParaRPr>
          </a:p>
        </p:txBody>
      </p:sp>
      <p:sp>
        <p:nvSpPr>
          <p:cNvPr id="57" name="Text 2"/>
          <p:cNvSpPr/>
          <p:nvPr/>
        </p:nvSpPr>
        <p:spPr>
          <a:xfrm>
            <a:off x="609480" y="609480"/>
            <a:ext cx="2647080" cy="456120"/>
          </a:xfrm>
          <a:prstGeom prst="rect">
            <a:avLst/>
          </a:prstGeom>
          <a:noFill/>
          <a:ln w="0">
            <a:noFill/>
          </a:ln>
        </p:spPr>
        <p:style>
          <a:lnRef idx="0"/>
          <a:fillRef idx="0"/>
          <a:effectRef idx="0"/>
          <a:fontRef idx="minor"/>
        </p:style>
        <p:txBody>
          <a:bodyPr lIns="0" rIns="0" tIns="0" bIns="0" anchor="ctr">
            <a:noAutofit/>
          </a:bodyPr>
          <a:p>
            <a:pPr algn="just">
              <a:lnSpc>
                <a:spcPct val="80000"/>
              </a:lnSpc>
              <a:buNone/>
            </a:pPr>
            <a:r>
              <a:rPr b="1" lang="en-US" sz="3600" spc="-1" strike="noStrike">
                <a:solidFill>
                  <a:srgbClr val="ff0000"/>
                </a:solidFill>
                <a:latin typeface="Liter"/>
                <a:ea typeface="Liter"/>
              </a:rPr>
              <a:t>CONTENTS</a:t>
            </a:r>
            <a:endParaRPr b="1" lang="en-HK" sz="3600" spc="-1" strike="noStrike">
              <a:latin typeface="Arial"/>
            </a:endParaRPr>
          </a:p>
        </p:txBody>
      </p:sp>
      <p:sp>
        <p:nvSpPr>
          <p:cNvPr id="58" name="Shape 3"/>
          <p:cNvSpPr/>
          <p:nvPr/>
        </p:nvSpPr>
        <p:spPr>
          <a:xfrm>
            <a:off x="380880" y="152388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59" name="Text 4"/>
          <p:cNvSpPr/>
          <p:nvPr/>
        </p:nvSpPr>
        <p:spPr>
          <a:xfrm>
            <a:off x="537480" y="1657440"/>
            <a:ext cx="43704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01</a:t>
            </a:r>
            <a:endParaRPr b="0" lang="en-HK" sz="2250" spc="-1" strike="noStrike">
              <a:latin typeface="Arial"/>
            </a:endParaRPr>
          </a:p>
        </p:txBody>
      </p:sp>
      <p:sp>
        <p:nvSpPr>
          <p:cNvPr id="60" name="Text 5"/>
          <p:cNvSpPr/>
          <p:nvPr/>
        </p:nvSpPr>
        <p:spPr>
          <a:xfrm>
            <a:off x="1143000" y="160020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Origins &amp; Birth of Rock</a:t>
            </a:r>
            <a:endParaRPr b="0" lang="en-HK" sz="1500" spc="-1" strike="noStrike">
              <a:latin typeface="Arial"/>
            </a:endParaRPr>
          </a:p>
        </p:txBody>
      </p:sp>
      <p:sp>
        <p:nvSpPr>
          <p:cNvPr id="61" name="Text 6"/>
          <p:cNvSpPr/>
          <p:nvPr/>
        </p:nvSpPr>
        <p:spPr>
          <a:xfrm>
            <a:off x="1143000" y="190512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1940s-1950s: The Musical Fusion That Changed Everything</a:t>
            </a:r>
            <a:endParaRPr b="0" lang="en-HK" sz="1200" spc="-1" strike="noStrike">
              <a:latin typeface="Arial"/>
            </a:endParaRPr>
          </a:p>
        </p:txBody>
      </p:sp>
      <p:sp>
        <p:nvSpPr>
          <p:cNvPr id="62" name="Shape 7"/>
          <p:cNvSpPr/>
          <p:nvPr/>
        </p:nvSpPr>
        <p:spPr>
          <a:xfrm>
            <a:off x="6324840" y="152388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3" name="Text 8"/>
          <p:cNvSpPr/>
          <p:nvPr/>
        </p:nvSpPr>
        <p:spPr>
          <a:xfrm>
            <a:off x="6455520" y="1657440"/>
            <a:ext cx="49428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02</a:t>
            </a:r>
            <a:endParaRPr b="0" lang="en-HK" sz="2250" spc="-1" strike="noStrike">
              <a:latin typeface="Arial"/>
            </a:endParaRPr>
          </a:p>
        </p:txBody>
      </p:sp>
      <p:sp>
        <p:nvSpPr>
          <p:cNvPr id="64" name="Text 9"/>
          <p:cNvSpPr/>
          <p:nvPr/>
        </p:nvSpPr>
        <p:spPr>
          <a:xfrm>
            <a:off x="7086960" y="160020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The British Invasion</a:t>
            </a:r>
            <a:endParaRPr b="0" lang="en-HK" sz="1500" spc="-1" strike="noStrike">
              <a:latin typeface="Arial"/>
            </a:endParaRPr>
          </a:p>
        </p:txBody>
      </p:sp>
      <p:sp>
        <p:nvSpPr>
          <p:cNvPr id="65" name="Text 10"/>
          <p:cNvSpPr/>
          <p:nvPr/>
        </p:nvSpPr>
        <p:spPr>
          <a:xfrm>
            <a:off x="7086960" y="190512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1960s: When Britain Took Back American Music</a:t>
            </a:r>
            <a:endParaRPr b="0" lang="en-HK" sz="1200" spc="-1" strike="noStrike">
              <a:latin typeface="Arial"/>
            </a:endParaRPr>
          </a:p>
        </p:txBody>
      </p:sp>
      <p:sp>
        <p:nvSpPr>
          <p:cNvPr id="66" name="Shape 11"/>
          <p:cNvSpPr/>
          <p:nvPr/>
        </p:nvSpPr>
        <p:spPr>
          <a:xfrm>
            <a:off x="380880" y="271476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7" name="Text 12"/>
          <p:cNvSpPr/>
          <p:nvPr/>
        </p:nvSpPr>
        <p:spPr>
          <a:xfrm>
            <a:off x="510480" y="2847960"/>
            <a:ext cx="49428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03</a:t>
            </a:r>
            <a:endParaRPr b="0" lang="en-HK" sz="2250" spc="-1" strike="noStrike">
              <a:latin typeface="Arial"/>
            </a:endParaRPr>
          </a:p>
        </p:txBody>
      </p:sp>
      <p:sp>
        <p:nvSpPr>
          <p:cNvPr id="68" name="Text 13"/>
          <p:cNvSpPr/>
          <p:nvPr/>
        </p:nvSpPr>
        <p:spPr>
          <a:xfrm>
            <a:off x="1143000" y="279072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Classic Rock &amp; Hard Rock</a:t>
            </a:r>
            <a:endParaRPr b="0" lang="en-HK" sz="1500" spc="-1" strike="noStrike">
              <a:latin typeface="Arial"/>
            </a:endParaRPr>
          </a:p>
        </p:txBody>
      </p:sp>
      <p:sp>
        <p:nvSpPr>
          <p:cNvPr id="69" name="Text 14"/>
          <p:cNvSpPr/>
          <p:nvPr/>
        </p:nvSpPr>
        <p:spPr>
          <a:xfrm>
            <a:off x="1143000" y="309564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Golden Age of Rock</a:t>
            </a:r>
            <a:endParaRPr b="0" lang="en-HK" sz="1200" spc="-1" strike="noStrike">
              <a:latin typeface="Arial"/>
            </a:endParaRPr>
          </a:p>
        </p:txBody>
      </p:sp>
      <p:sp>
        <p:nvSpPr>
          <p:cNvPr id="70" name="Shape 15"/>
          <p:cNvSpPr/>
          <p:nvPr/>
        </p:nvSpPr>
        <p:spPr>
          <a:xfrm>
            <a:off x="6324840" y="271476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1" name="Text 16"/>
          <p:cNvSpPr/>
          <p:nvPr/>
        </p:nvSpPr>
        <p:spPr>
          <a:xfrm>
            <a:off x="6454440" y="2847960"/>
            <a:ext cx="49428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04</a:t>
            </a:r>
            <a:endParaRPr b="0" lang="en-HK" sz="2250" spc="-1" strike="noStrike">
              <a:latin typeface="Arial"/>
            </a:endParaRPr>
          </a:p>
        </p:txBody>
      </p:sp>
      <p:sp>
        <p:nvSpPr>
          <p:cNvPr id="72" name="Text 17"/>
          <p:cNvSpPr/>
          <p:nvPr/>
        </p:nvSpPr>
        <p:spPr>
          <a:xfrm>
            <a:off x="7086960" y="279072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Birth of Heavy Metal</a:t>
            </a:r>
            <a:endParaRPr b="0" lang="en-HK" sz="1500" spc="-1" strike="noStrike">
              <a:latin typeface="Arial"/>
            </a:endParaRPr>
          </a:p>
        </p:txBody>
      </p:sp>
      <p:sp>
        <p:nvSpPr>
          <p:cNvPr id="73" name="Text 18"/>
          <p:cNvSpPr/>
          <p:nvPr/>
        </p:nvSpPr>
        <p:spPr>
          <a:xfrm>
            <a:off x="7086960" y="309564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Unholy Trinity</a:t>
            </a:r>
            <a:endParaRPr b="0" lang="en-HK" sz="1200" spc="-1" strike="noStrike">
              <a:latin typeface="Arial"/>
            </a:endParaRPr>
          </a:p>
        </p:txBody>
      </p:sp>
      <p:sp>
        <p:nvSpPr>
          <p:cNvPr id="74" name="Shape 19"/>
          <p:cNvSpPr/>
          <p:nvPr/>
        </p:nvSpPr>
        <p:spPr>
          <a:xfrm>
            <a:off x="380880" y="390528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5" name="Text 20"/>
          <p:cNvSpPr/>
          <p:nvPr/>
        </p:nvSpPr>
        <p:spPr>
          <a:xfrm>
            <a:off x="512280" y="4038480"/>
            <a:ext cx="48456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05</a:t>
            </a:r>
            <a:endParaRPr b="0" lang="en-HK" sz="2250" spc="-1" strike="noStrike">
              <a:latin typeface="Arial"/>
            </a:endParaRPr>
          </a:p>
        </p:txBody>
      </p:sp>
      <p:sp>
        <p:nvSpPr>
          <p:cNvPr id="76" name="Text 21"/>
          <p:cNvSpPr/>
          <p:nvPr/>
        </p:nvSpPr>
        <p:spPr>
          <a:xfrm>
            <a:off x="1143000" y="398160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Punk Rock &amp; New Wave</a:t>
            </a:r>
            <a:endParaRPr b="0" lang="en-HK" sz="1500" spc="-1" strike="noStrike">
              <a:latin typeface="Arial"/>
            </a:endParaRPr>
          </a:p>
        </p:txBody>
      </p:sp>
      <p:sp>
        <p:nvSpPr>
          <p:cNvPr id="77" name="Text 22"/>
          <p:cNvSpPr/>
          <p:nvPr/>
        </p:nvSpPr>
        <p:spPr>
          <a:xfrm>
            <a:off x="1143000" y="428616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1970s-1980s: Raw Energy &amp; Artistic Expression</a:t>
            </a:r>
            <a:endParaRPr b="0" lang="en-HK" sz="1200" spc="-1" strike="noStrike">
              <a:latin typeface="Arial"/>
            </a:endParaRPr>
          </a:p>
        </p:txBody>
      </p:sp>
      <p:sp>
        <p:nvSpPr>
          <p:cNvPr id="78" name="Shape 23"/>
          <p:cNvSpPr/>
          <p:nvPr/>
        </p:nvSpPr>
        <p:spPr>
          <a:xfrm>
            <a:off x="6324840" y="390528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9" name="Text 24"/>
          <p:cNvSpPr/>
          <p:nvPr/>
        </p:nvSpPr>
        <p:spPr>
          <a:xfrm>
            <a:off x="6453000" y="4038480"/>
            <a:ext cx="49428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06</a:t>
            </a:r>
            <a:endParaRPr b="0" lang="en-HK" sz="2250" spc="-1" strike="noStrike">
              <a:latin typeface="Arial"/>
            </a:endParaRPr>
          </a:p>
        </p:txBody>
      </p:sp>
      <p:sp>
        <p:nvSpPr>
          <p:cNvPr id="80" name="Text 25"/>
          <p:cNvSpPr/>
          <p:nvPr/>
        </p:nvSpPr>
        <p:spPr>
          <a:xfrm>
            <a:off x="7086960" y="398160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Alternative Rock &amp; Grunge</a:t>
            </a:r>
            <a:endParaRPr b="0" lang="en-HK" sz="1500" spc="-1" strike="noStrike">
              <a:latin typeface="Arial"/>
            </a:endParaRPr>
          </a:p>
        </p:txBody>
      </p:sp>
      <p:sp>
        <p:nvSpPr>
          <p:cNvPr id="81" name="Text 26"/>
          <p:cNvSpPr/>
          <p:nvPr/>
        </p:nvSpPr>
        <p:spPr>
          <a:xfrm>
            <a:off x="7086960" y="428616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1990s: The Seattle Sound Goes Global</a:t>
            </a:r>
            <a:endParaRPr b="0" lang="en-HK" sz="1200" spc="-1" strike="noStrike">
              <a:latin typeface="Arial"/>
            </a:endParaRPr>
          </a:p>
        </p:txBody>
      </p:sp>
      <p:sp>
        <p:nvSpPr>
          <p:cNvPr id="82" name="Shape 27"/>
          <p:cNvSpPr/>
          <p:nvPr/>
        </p:nvSpPr>
        <p:spPr>
          <a:xfrm>
            <a:off x="380880" y="509580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3" name="Text 28"/>
          <p:cNvSpPr/>
          <p:nvPr/>
        </p:nvSpPr>
        <p:spPr>
          <a:xfrm>
            <a:off x="521640" y="5229360"/>
            <a:ext cx="47520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07</a:t>
            </a:r>
            <a:endParaRPr b="0" lang="en-HK" sz="2250" spc="-1" strike="noStrike">
              <a:latin typeface="Arial"/>
            </a:endParaRPr>
          </a:p>
        </p:txBody>
      </p:sp>
      <p:sp>
        <p:nvSpPr>
          <p:cNvPr id="84" name="Text 29"/>
          <p:cNvSpPr/>
          <p:nvPr/>
        </p:nvSpPr>
        <p:spPr>
          <a:xfrm>
            <a:off x="1143000" y="517212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Indie Rock Revival</a:t>
            </a:r>
            <a:endParaRPr b="0" lang="en-HK" sz="1500" spc="-1" strike="noStrike">
              <a:latin typeface="Arial"/>
            </a:endParaRPr>
          </a:p>
        </p:txBody>
      </p:sp>
      <p:sp>
        <p:nvSpPr>
          <p:cNvPr id="85" name="Text 30"/>
          <p:cNvSpPr/>
          <p:nvPr/>
        </p:nvSpPr>
        <p:spPr>
          <a:xfrm>
            <a:off x="1143000" y="547704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2000s-2010s: Return to Raw, DIY Aesthetics</a:t>
            </a:r>
            <a:endParaRPr b="0" lang="en-HK" sz="1200" spc="-1" strike="noStrike">
              <a:latin typeface="Arial"/>
            </a:endParaRPr>
          </a:p>
        </p:txBody>
      </p:sp>
      <p:sp>
        <p:nvSpPr>
          <p:cNvPr id="86" name="Shape 31"/>
          <p:cNvSpPr/>
          <p:nvPr/>
        </p:nvSpPr>
        <p:spPr>
          <a:xfrm>
            <a:off x="6324840" y="5095800"/>
            <a:ext cx="608400" cy="6084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7" name="Text 32"/>
          <p:cNvSpPr/>
          <p:nvPr/>
        </p:nvSpPr>
        <p:spPr>
          <a:xfrm>
            <a:off x="6450840" y="5229360"/>
            <a:ext cx="503640" cy="3420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08</a:t>
            </a:r>
            <a:endParaRPr b="0" lang="en-HK" sz="2250" spc="-1" strike="noStrike">
              <a:latin typeface="Arial"/>
            </a:endParaRPr>
          </a:p>
        </p:txBody>
      </p:sp>
      <p:sp>
        <p:nvSpPr>
          <p:cNvPr id="88" name="Text 33"/>
          <p:cNvSpPr/>
          <p:nvPr/>
        </p:nvSpPr>
        <p:spPr>
          <a:xfrm>
            <a:off x="7086960" y="5172120"/>
            <a:ext cx="481896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Legacy &amp; Cultural Impact</a:t>
            </a:r>
            <a:endParaRPr b="0" lang="en-HK" sz="1500" spc="-1" strike="noStrike">
              <a:latin typeface="Arial"/>
            </a:endParaRPr>
          </a:p>
        </p:txBody>
      </p:sp>
      <p:sp>
        <p:nvSpPr>
          <p:cNvPr id="89" name="Text 34"/>
          <p:cNvSpPr/>
          <p:nvPr/>
        </p:nvSpPr>
        <p:spPr>
          <a:xfrm>
            <a:off x="7086960" y="5477040"/>
            <a:ext cx="47998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Rock's Enduring Influence on Music &amp; Culture</a:t>
            </a:r>
            <a:endParaRPr b="0" lang="en-HK" sz="1200" spc="-1" strike="noStrike">
              <a:latin typeface="Arial"/>
            </a:endParaRPr>
          </a:p>
        </p:txBody>
      </p:sp>
      <p:sp>
        <p:nvSpPr>
          <p:cNvPr id="90" name="Shape 35"/>
          <p:cNvSpPr/>
          <p:nvPr/>
        </p:nvSpPr>
        <p:spPr>
          <a:xfrm rot="2700000">
            <a:off x="11217240" y="6338520"/>
            <a:ext cx="113040" cy="11304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1" name="Shape 36"/>
          <p:cNvSpPr/>
          <p:nvPr/>
        </p:nvSpPr>
        <p:spPr>
          <a:xfrm rot="2700000">
            <a:off x="11445840" y="6338520"/>
            <a:ext cx="113040" cy="11304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2" name="Shape 37"/>
          <p:cNvSpPr/>
          <p:nvPr/>
        </p:nvSpPr>
        <p:spPr>
          <a:xfrm rot="2700000">
            <a:off x="11674440" y="6338520"/>
            <a:ext cx="113040" cy="11304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3"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94"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95" name="Shape 1"/>
          <p:cNvSpPr/>
          <p:nvPr/>
        </p:nvSpPr>
        <p:spPr>
          <a:xfrm rot="720600">
            <a:off x="10755000" y="5420160"/>
            <a:ext cx="875160" cy="8751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96" name="Shape 2"/>
          <p:cNvSpPr/>
          <p:nvPr/>
        </p:nvSpPr>
        <p:spPr>
          <a:xfrm rot="21240000">
            <a:off x="319680" y="1310400"/>
            <a:ext cx="1218240" cy="12182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97" name="Text 3"/>
          <p:cNvSpPr/>
          <p:nvPr/>
        </p:nvSpPr>
        <p:spPr>
          <a:xfrm>
            <a:off x="634680" y="1638360"/>
            <a:ext cx="1056240" cy="684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5400" spc="-1" strike="noStrike">
                <a:solidFill>
                  <a:srgbClr val="404040"/>
                </a:solidFill>
                <a:latin typeface="Liter"/>
                <a:ea typeface="Liter"/>
              </a:rPr>
              <a:t>01</a:t>
            </a:r>
            <a:endParaRPr b="0" lang="en-HK" sz="5400" spc="-1" strike="noStrike">
              <a:latin typeface="Arial"/>
            </a:endParaRPr>
          </a:p>
        </p:txBody>
      </p:sp>
      <p:sp>
        <p:nvSpPr>
          <p:cNvPr id="98" name="Shape 4"/>
          <p:cNvSpPr/>
          <p:nvPr/>
        </p:nvSpPr>
        <p:spPr>
          <a:xfrm>
            <a:off x="1828800" y="1752480"/>
            <a:ext cx="4504680" cy="37080"/>
          </a:xfrm>
          <a:custGeom>
            <a:avLst/>
            <a:gdLst/>
            <a:ahLst/>
            <a:rect l="l" t="t" r="r" b="b"/>
            <a:pathLst>
              <a:path w="4505325" h="38100">
                <a:moveTo>
                  <a:pt x="0" y="0"/>
                </a:moveTo>
                <a:lnTo>
                  <a:pt x="4505325" y="0"/>
                </a:lnTo>
                <a:lnTo>
                  <a:pt x="4505325" y="38100"/>
                </a:lnTo>
                <a:lnTo>
                  <a:pt x="0" y="38100"/>
                </a:lnTo>
                <a:lnTo>
                  <a:pt x="0" y="0"/>
                </a:lnTo>
                <a:close/>
              </a:path>
            </a:pathLst>
          </a:custGeom>
          <a:solidFill>
            <a:srgbClr val="ddff00"/>
          </a:solidFill>
          <a:ln w="0">
            <a:noFill/>
          </a:ln>
        </p:spPr>
        <p:style>
          <a:lnRef idx="0"/>
          <a:fillRef idx="0"/>
          <a:effectRef idx="0"/>
          <a:fontRef idx="minor"/>
        </p:style>
      </p:sp>
      <p:sp>
        <p:nvSpPr>
          <p:cNvPr id="99" name="Text 5"/>
          <p:cNvSpPr/>
          <p:nvPr/>
        </p:nvSpPr>
        <p:spPr>
          <a:xfrm>
            <a:off x="1828800" y="1943280"/>
            <a:ext cx="459036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350" spc="128" strike="noStrike">
                <a:solidFill>
                  <a:srgbClr val="404040"/>
                </a:solidFill>
                <a:latin typeface="Liter"/>
                <a:ea typeface="Liter"/>
              </a:rPr>
              <a:t>CHAPTER ONE</a:t>
            </a:r>
            <a:endParaRPr b="0" lang="en-HK" sz="1350" spc="-1" strike="noStrike">
              <a:latin typeface="Arial"/>
            </a:endParaRPr>
          </a:p>
        </p:txBody>
      </p:sp>
      <p:sp>
        <p:nvSpPr>
          <p:cNvPr id="100" name="Text 6"/>
          <p:cNvSpPr/>
          <p:nvPr/>
        </p:nvSpPr>
        <p:spPr>
          <a:xfrm>
            <a:off x="380880" y="2895480"/>
            <a:ext cx="6295680" cy="1713600"/>
          </a:xfrm>
          <a:prstGeom prst="rect">
            <a:avLst/>
          </a:prstGeom>
          <a:noFill/>
          <a:ln w="0">
            <a:noFill/>
          </a:ln>
        </p:spPr>
        <p:style>
          <a:lnRef idx="0"/>
          <a:fillRef idx="0"/>
          <a:effectRef idx="0"/>
          <a:fontRef idx="minor"/>
        </p:style>
        <p:txBody>
          <a:bodyPr lIns="0" rIns="0" tIns="0" bIns="0" anchor="ctr">
            <a:noAutofit/>
          </a:bodyPr>
          <a:p>
            <a:pPr algn="r">
              <a:lnSpc>
                <a:spcPct val="100000"/>
              </a:lnSpc>
              <a:buNone/>
            </a:pPr>
            <a:r>
              <a:rPr b="0" i="1" lang="en-US" sz="3600" spc="-1" strike="noStrike">
                <a:solidFill>
                  <a:srgbClr val="404040"/>
                </a:solidFill>
                <a:latin typeface="Liter"/>
                <a:ea typeface="Liter"/>
              </a:rPr>
              <a:t>ORIGINS &amp;</a:t>
            </a:r>
            <a:endParaRPr b="0" lang="en-HK" sz="3600" spc="-1" strike="noStrike">
              <a:latin typeface="Arial"/>
            </a:endParaRPr>
          </a:p>
          <a:p>
            <a:pPr algn="r">
              <a:lnSpc>
                <a:spcPct val="100000"/>
              </a:lnSpc>
              <a:buNone/>
            </a:pPr>
            <a:r>
              <a:rPr b="0" i="1" lang="en-US" sz="3600" spc="-1" strike="noStrike">
                <a:solidFill>
                  <a:srgbClr val="404040"/>
                </a:solidFill>
                <a:latin typeface="Liter"/>
                <a:ea typeface="Liter"/>
              </a:rPr>
              <a:t>BIRTH OF ROCK</a:t>
            </a:r>
            <a:endParaRPr b="0" lang="en-HK" sz="3600" spc="-1" strike="noStrike">
              <a:latin typeface="Arial"/>
            </a:endParaRPr>
          </a:p>
        </p:txBody>
      </p:sp>
      <p:sp>
        <p:nvSpPr>
          <p:cNvPr id="101" name="Text 7"/>
          <p:cNvSpPr/>
          <p:nvPr/>
        </p:nvSpPr>
        <p:spPr>
          <a:xfrm>
            <a:off x="380880" y="4838760"/>
            <a:ext cx="606672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i="1" lang="en-US" sz="1800" spc="-1" strike="noStrike">
                <a:solidFill>
                  <a:srgbClr val="1c1c1c"/>
                </a:solidFill>
                <a:latin typeface="Liter"/>
                <a:ea typeface="Liter"/>
              </a:rPr>
              <a:t>1940s-1950s: The Musical Fusion That Changed Everything</a:t>
            </a:r>
            <a:endParaRPr b="0" i="1" lang="en-HK" sz="1800" spc="-1" strike="noStrike">
              <a:solidFill>
                <a:srgbClr val="1c1c1c"/>
              </a:solidFill>
              <a:latin typeface="Arial"/>
            </a:endParaRPr>
          </a:p>
        </p:txBody>
      </p:sp>
      <p:sp>
        <p:nvSpPr>
          <p:cNvPr id="102" name="Shape 8"/>
          <p:cNvSpPr/>
          <p:nvPr/>
        </p:nvSpPr>
        <p:spPr>
          <a:xfrm>
            <a:off x="380880" y="5448240"/>
            <a:ext cx="761040" cy="370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03" name="Shape 9"/>
          <p:cNvSpPr/>
          <p:nvPr/>
        </p:nvSpPr>
        <p:spPr>
          <a:xfrm>
            <a:off x="1295280" y="5448240"/>
            <a:ext cx="379800" cy="370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04" name="Shape 10"/>
          <p:cNvSpPr/>
          <p:nvPr/>
        </p:nvSpPr>
        <p:spPr>
          <a:xfrm>
            <a:off x="1828800" y="5448240"/>
            <a:ext cx="189360" cy="370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5" name="Shape 0"/>
          <p:cNvSpPr/>
          <p:nvPr/>
        </p:nvSpPr>
        <p:spPr>
          <a:xfrm>
            <a:off x="380880" y="438120"/>
            <a:ext cx="75240" cy="456120"/>
          </a:xfrm>
          <a:custGeom>
            <a:avLst/>
            <a:gdLst/>
            <a:ahLst/>
            <a:rect l="l" t="t" r="r" b="b"/>
            <a:pathLst>
              <a:path w="76200" h="457200">
                <a:moveTo>
                  <a:pt x="0" y="0"/>
                </a:moveTo>
                <a:lnTo>
                  <a:pt x="76200" y="0"/>
                </a:lnTo>
                <a:lnTo>
                  <a:pt x="76200" y="457200"/>
                </a:lnTo>
                <a:lnTo>
                  <a:pt x="0" y="457200"/>
                </a:lnTo>
                <a:lnTo>
                  <a:pt x="0" y="0"/>
                </a:lnTo>
                <a:close/>
              </a:path>
            </a:pathLst>
          </a:custGeom>
          <a:solidFill>
            <a:srgbClr val="ddff00"/>
          </a:solidFill>
          <a:ln w="0">
            <a:noFill/>
          </a:ln>
        </p:spPr>
        <p:style>
          <a:lnRef idx="0"/>
          <a:fillRef idx="0"/>
          <a:effectRef idx="0"/>
          <a:fontRef idx="minor"/>
        </p:style>
      </p:sp>
      <p:sp>
        <p:nvSpPr>
          <p:cNvPr id="106" name="Text 1"/>
          <p:cNvSpPr/>
          <p:nvPr/>
        </p:nvSpPr>
        <p:spPr>
          <a:xfrm>
            <a:off x="609480" y="380880"/>
            <a:ext cx="659088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7" strike="noStrike">
                <a:solidFill>
                  <a:srgbClr val="ddff00"/>
                </a:solidFill>
                <a:latin typeface="Liter"/>
                <a:ea typeface="Liter"/>
              </a:rPr>
              <a:t>CHAPTER 01</a:t>
            </a:r>
            <a:endParaRPr b="0" lang="en-HK" sz="1050" spc="-1" strike="noStrike">
              <a:latin typeface="Arial"/>
            </a:endParaRPr>
          </a:p>
        </p:txBody>
      </p:sp>
      <p:sp>
        <p:nvSpPr>
          <p:cNvPr id="107" name="Text 2"/>
          <p:cNvSpPr/>
          <p:nvPr/>
        </p:nvSpPr>
        <p:spPr>
          <a:xfrm>
            <a:off x="609480" y="571680"/>
            <a:ext cx="6695640" cy="379800"/>
          </a:xfrm>
          <a:prstGeom prst="rect">
            <a:avLst/>
          </a:prstGeom>
          <a:noFill/>
          <a:ln w="0">
            <a:noFill/>
          </a:ln>
        </p:spPr>
        <p:style>
          <a:lnRef idx="0"/>
          <a:fillRef idx="0"/>
          <a:effectRef idx="0"/>
          <a:fontRef idx="minor"/>
        </p:style>
        <p:txBody>
          <a:bodyPr lIns="0" rIns="0" tIns="0" bIns="0" anchor="ctr">
            <a:noAutofit/>
          </a:bodyPr>
          <a:p>
            <a:pPr algn="just">
              <a:lnSpc>
                <a:spcPct val="90000"/>
              </a:lnSpc>
              <a:spcBef>
                <a:spcPts val="567"/>
              </a:spcBef>
              <a:buNone/>
            </a:pPr>
            <a:r>
              <a:rPr b="1" lang="en-US" sz="3600" spc="-1" strike="noStrike">
                <a:solidFill>
                  <a:srgbClr val="ff0000"/>
                </a:solidFill>
                <a:latin typeface="Liter"/>
                <a:ea typeface="Liter"/>
              </a:rPr>
              <a:t>The Roots of Rock: Blues, Gospel &amp; Country</a:t>
            </a:r>
            <a:endParaRPr b="1" lang="en-HK" sz="3600" spc="-1" strike="noStrike">
              <a:latin typeface="Arial"/>
            </a:endParaRPr>
          </a:p>
        </p:txBody>
      </p:sp>
      <p:sp>
        <p:nvSpPr>
          <p:cNvPr id="108" name="Shape 3"/>
          <p:cNvSpPr/>
          <p:nvPr/>
        </p:nvSpPr>
        <p:spPr>
          <a:xfrm>
            <a:off x="399960" y="1257480"/>
            <a:ext cx="37080" cy="177048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09" name="Shape 4"/>
          <p:cNvSpPr/>
          <p:nvPr/>
        </p:nvSpPr>
        <p:spPr>
          <a:xfrm>
            <a:off x="676440" y="1295280"/>
            <a:ext cx="227520" cy="22752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
        <p:nvSpPr>
          <p:cNvPr id="110" name="Text 5"/>
          <p:cNvSpPr/>
          <p:nvPr/>
        </p:nvSpPr>
        <p:spPr>
          <a:xfrm>
            <a:off x="933480" y="1257480"/>
            <a:ext cx="628632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African American Blues</a:t>
            </a:r>
            <a:endParaRPr b="0" lang="en-HK" sz="1800" spc="-1" strike="noStrike">
              <a:latin typeface="Arial"/>
            </a:endParaRPr>
          </a:p>
        </p:txBody>
      </p:sp>
      <p:sp>
        <p:nvSpPr>
          <p:cNvPr id="111" name="Text 6"/>
          <p:cNvSpPr/>
          <p:nvPr/>
        </p:nvSpPr>
        <p:spPr>
          <a:xfrm>
            <a:off x="647640" y="1676520"/>
            <a:ext cx="653364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The blues emerged in the late 19th century</a:t>
            </a:r>
            <a:r>
              <a:rPr b="0" lang="en-US" sz="1200" spc="-1" strike="noStrike">
                <a:solidFill>
                  <a:srgbClr val="ffffff"/>
                </a:solidFill>
                <a:latin typeface="Liter"/>
                <a:ea typeface="Liter"/>
              </a:rPr>
              <a:t> in the Mississippi Delta, rooted in African American experiences of struggle and resilience. Early blues was primarily call-and-response vocal music, evolving from field shouts and hollers into passionate solo songs.</a:t>
            </a:r>
            <a:endParaRPr b="0" lang="en-HK" sz="1200" spc="-1" strike="noStrike">
              <a:latin typeface="Arial"/>
            </a:endParaRPr>
          </a:p>
        </p:txBody>
      </p:sp>
      <p:sp>
        <p:nvSpPr>
          <p:cNvPr id="112" name="Text 7"/>
          <p:cNvSpPr/>
          <p:nvPr/>
        </p:nvSpPr>
        <p:spPr>
          <a:xfrm>
            <a:off x="647640" y="2533680"/>
            <a:ext cx="6533640" cy="494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Legendary artists like </a:t>
            </a:r>
            <a:r>
              <a:rPr b="1" lang="en-US" sz="1200" spc="-1" strike="noStrike">
                <a:solidFill>
                  <a:srgbClr val="ddff00"/>
                </a:solidFill>
                <a:latin typeface="Liter"/>
                <a:ea typeface="Liter"/>
              </a:rPr>
              <a:t>Robert Johnson</a:t>
            </a:r>
            <a:r>
              <a:rPr b="0" lang="en-US" sz="1200" spc="-1" strike="noStrike">
                <a:solidFill>
                  <a:srgbClr val="ffffff">
                    <a:alpha val="80000"/>
                  </a:srgbClr>
                </a:solidFill>
                <a:latin typeface="Liter"/>
                <a:ea typeface="Liter"/>
              </a:rPr>
              <a:t> , </a:t>
            </a:r>
            <a:r>
              <a:rPr b="1" lang="en-US" sz="1200" spc="-1" strike="noStrike">
                <a:solidFill>
                  <a:srgbClr val="ddff00"/>
                </a:solidFill>
                <a:latin typeface="Liter"/>
                <a:ea typeface="Liter"/>
              </a:rPr>
              <a:t>Muddy Waters</a:t>
            </a:r>
            <a:r>
              <a:rPr b="0" lang="en-US" sz="1200" spc="-1" strike="noStrike">
                <a:solidFill>
                  <a:srgbClr val="ffffff">
                    <a:alpha val="80000"/>
                  </a:srgbClr>
                </a:solidFill>
                <a:latin typeface="Liter"/>
                <a:ea typeface="Liter"/>
              </a:rPr>
              <a:t> , and </a:t>
            </a:r>
            <a:r>
              <a:rPr b="1" lang="en-US" sz="1200" spc="-1" strike="noStrike">
                <a:solidFill>
                  <a:srgbClr val="ddff00"/>
                </a:solidFill>
                <a:latin typeface="Liter"/>
                <a:ea typeface="Liter"/>
              </a:rPr>
              <a:t>B.B. King</a:t>
            </a:r>
            <a:r>
              <a:rPr b="0" lang="en-US" sz="1200" spc="-1" strike="noStrike">
                <a:solidFill>
                  <a:srgbClr val="ffffff">
                    <a:alpha val="80000"/>
                  </a:srgbClr>
                </a:solidFill>
                <a:latin typeface="Liter"/>
                <a:ea typeface="Liter"/>
              </a:rPr>
              <a:t> established the guitar as the dominant instrument, creating the foundation for rock's signature sound.</a:t>
            </a:r>
            <a:endParaRPr b="0" lang="en-HK" sz="1200" spc="-1" strike="noStrike">
              <a:latin typeface="Arial"/>
            </a:endParaRPr>
          </a:p>
        </p:txBody>
      </p:sp>
      <p:sp>
        <p:nvSpPr>
          <p:cNvPr id="113" name="Shape 8"/>
          <p:cNvSpPr/>
          <p:nvPr/>
        </p:nvSpPr>
        <p:spPr>
          <a:xfrm>
            <a:off x="399960" y="3286080"/>
            <a:ext cx="37080" cy="177048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14" name="Shape 9"/>
          <p:cNvSpPr/>
          <p:nvPr/>
        </p:nvSpPr>
        <p:spPr>
          <a:xfrm>
            <a:off x="676440" y="3324240"/>
            <a:ext cx="227520" cy="227520"/>
          </a:xfrm>
          <a:custGeom>
            <a:avLst/>
            <a:gdLst/>
            <a:ah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w="0">
            <a:noFill/>
          </a:ln>
        </p:spPr>
        <p:style>
          <a:lnRef idx="0"/>
          <a:fillRef idx="0"/>
          <a:effectRef idx="0"/>
          <a:fontRef idx="minor"/>
        </p:style>
      </p:sp>
      <p:sp>
        <p:nvSpPr>
          <p:cNvPr id="115" name="Text 10"/>
          <p:cNvSpPr/>
          <p:nvPr/>
        </p:nvSpPr>
        <p:spPr>
          <a:xfrm>
            <a:off x="933480" y="3286080"/>
            <a:ext cx="628632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Gospel Spirituals</a:t>
            </a:r>
            <a:endParaRPr b="0" lang="en-HK" sz="1800" spc="-1" strike="noStrike">
              <a:latin typeface="Arial"/>
            </a:endParaRPr>
          </a:p>
        </p:txBody>
      </p:sp>
      <p:sp>
        <p:nvSpPr>
          <p:cNvPr id="116" name="Text 11"/>
          <p:cNvSpPr/>
          <p:nvPr/>
        </p:nvSpPr>
        <p:spPr>
          <a:xfrm>
            <a:off x="647640" y="3705120"/>
            <a:ext cx="653364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Gospel music evolved from spirituals and blues</a:t>
            </a:r>
            <a:r>
              <a:rPr b="0" lang="en-US" sz="1200" spc="-1" strike="noStrike">
                <a:solidFill>
                  <a:srgbClr val="ffffff"/>
                </a:solidFill>
                <a:latin typeface="Liter"/>
                <a:ea typeface="Liter"/>
              </a:rPr>
              <a:t> , maintaining the call-and-response tradition rooted in African music. Modern gospel began in African American churches in the 1920s, with composers like </a:t>
            </a:r>
            <a:r>
              <a:rPr b="1" lang="en-US" sz="1200" spc="-1" strike="noStrike">
                <a:solidFill>
                  <a:srgbClr val="ddff00"/>
                </a:solidFill>
                <a:latin typeface="Liter"/>
                <a:ea typeface="Liter"/>
              </a:rPr>
              <a:t>Thomas A. Dorsey</a:t>
            </a:r>
            <a:r>
              <a:rPr b="0" lang="en-US" sz="1200" spc="-1" strike="noStrike">
                <a:solidFill>
                  <a:srgbClr val="ffffff"/>
                </a:solidFill>
                <a:latin typeface="Liter"/>
                <a:ea typeface="Liter"/>
              </a:rPr>
              <a:t> blending blues and jazz elements with traditional hymns.</a:t>
            </a:r>
            <a:endParaRPr b="0" lang="en-HK" sz="1200" spc="-1" strike="noStrike">
              <a:latin typeface="Arial"/>
            </a:endParaRPr>
          </a:p>
        </p:txBody>
      </p:sp>
      <p:sp>
        <p:nvSpPr>
          <p:cNvPr id="117" name="Text 12"/>
          <p:cNvSpPr/>
          <p:nvPr/>
        </p:nvSpPr>
        <p:spPr>
          <a:xfrm>
            <a:off x="647640" y="4562640"/>
            <a:ext cx="6533640" cy="494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The emotional intensity and vocal power of gospel would profoundly influence rock singers, from </a:t>
            </a:r>
            <a:r>
              <a:rPr b="1" lang="en-US" sz="1200" spc="-1" strike="noStrike">
                <a:solidFill>
                  <a:srgbClr val="ddff00"/>
                </a:solidFill>
                <a:latin typeface="Liter"/>
                <a:ea typeface="Liter"/>
              </a:rPr>
              <a:t>Little Richard</a:t>
            </a:r>
            <a:r>
              <a:rPr b="0" lang="en-US" sz="1200" spc="-1" strike="noStrike">
                <a:solidFill>
                  <a:srgbClr val="ffffff">
                    <a:alpha val="80000"/>
                  </a:srgbClr>
                </a:solidFill>
                <a:latin typeface="Liter"/>
                <a:ea typeface="Liter"/>
              </a:rPr>
              <a:t> 's ecstatic performances to </a:t>
            </a:r>
            <a:r>
              <a:rPr b="1" lang="en-US" sz="1200" spc="-1" strike="noStrike">
                <a:solidFill>
                  <a:srgbClr val="ddff00"/>
                </a:solidFill>
                <a:latin typeface="Liter"/>
                <a:ea typeface="Liter"/>
              </a:rPr>
              <a:t>Aretha Franklin</a:t>
            </a:r>
            <a:r>
              <a:rPr b="0" lang="en-US" sz="1200" spc="-1" strike="noStrike">
                <a:solidFill>
                  <a:srgbClr val="ffffff">
                    <a:alpha val="80000"/>
                  </a:srgbClr>
                </a:solidFill>
                <a:latin typeface="Liter"/>
                <a:ea typeface="Liter"/>
              </a:rPr>
              <a:t> 's soulful delivery.</a:t>
            </a:r>
            <a:endParaRPr b="0" lang="en-HK" sz="1200" spc="-1" strike="noStrike">
              <a:latin typeface="Arial"/>
            </a:endParaRPr>
          </a:p>
        </p:txBody>
      </p:sp>
      <p:sp>
        <p:nvSpPr>
          <p:cNvPr id="118" name="Shape 13"/>
          <p:cNvSpPr/>
          <p:nvPr/>
        </p:nvSpPr>
        <p:spPr>
          <a:xfrm>
            <a:off x="399960" y="5315040"/>
            <a:ext cx="37080" cy="1161000"/>
          </a:xfrm>
          <a:custGeom>
            <a:avLst/>
            <a:gdLst/>
            <a:ahLst/>
            <a:rect l="l" t="t" r="r" b="b"/>
            <a:pathLst>
              <a:path w="38100" h="1162050">
                <a:moveTo>
                  <a:pt x="0" y="0"/>
                </a:moveTo>
                <a:lnTo>
                  <a:pt x="38100" y="0"/>
                </a:lnTo>
                <a:lnTo>
                  <a:pt x="38100" y="1162050"/>
                </a:lnTo>
                <a:lnTo>
                  <a:pt x="0" y="1162050"/>
                </a:lnTo>
                <a:lnTo>
                  <a:pt x="0" y="0"/>
                </a:lnTo>
                <a:close/>
              </a:path>
            </a:pathLst>
          </a:custGeom>
          <a:solidFill>
            <a:srgbClr val="ddff00"/>
          </a:solidFill>
          <a:ln w="0">
            <a:noFill/>
          </a:ln>
        </p:spPr>
        <p:style>
          <a:lnRef idx="0"/>
          <a:fillRef idx="0"/>
          <a:effectRef idx="0"/>
          <a:fontRef idx="minor"/>
        </p:style>
      </p:sp>
      <p:sp>
        <p:nvSpPr>
          <p:cNvPr id="119" name="Shape 14"/>
          <p:cNvSpPr/>
          <p:nvPr/>
        </p:nvSpPr>
        <p:spPr>
          <a:xfrm>
            <a:off x="676440" y="5353200"/>
            <a:ext cx="227520" cy="227520"/>
          </a:xfrm>
          <a:custGeom>
            <a:avLst/>
            <a:gdLst/>
            <a:ah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w="0">
            <a:noFill/>
          </a:ln>
        </p:spPr>
        <p:style>
          <a:lnRef idx="0"/>
          <a:fillRef idx="0"/>
          <a:effectRef idx="0"/>
          <a:fontRef idx="minor"/>
        </p:style>
      </p:sp>
      <p:sp>
        <p:nvSpPr>
          <p:cNvPr id="120" name="Text 15"/>
          <p:cNvSpPr/>
          <p:nvPr/>
        </p:nvSpPr>
        <p:spPr>
          <a:xfrm>
            <a:off x="933480" y="5315040"/>
            <a:ext cx="628632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Country &amp; Folk Traditions</a:t>
            </a:r>
            <a:endParaRPr b="0" lang="en-HK" sz="1800" spc="-1" strike="noStrike">
              <a:latin typeface="Arial"/>
            </a:endParaRPr>
          </a:p>
        </p:txBody>
      </p:sp>
      <p:sp>
        <p:nvSpPr>
          <p:cNvPr id="121" name="Text 16"/>
          <p:cNvSpPr/>
          <p:nvPr/>
        </p:nvSpPr>
        <p:spPr>
          <a:xfrm>
            <a:off x="647640" y="5734080"/>
            <a:ext cx="653364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Country music, originating in the 1920s Southern U.S.</a:t>
            </a:r>
            <a:r>
              <a:rPr b="0" lang="en-US" sz="1200" spc="-1" strike="noStrike">
                <a:solidFill>
                  <a:srgbClr val="ffffff"/>
                </a:solidFill>
                <a:latin typeface="Liter"/>
                <a:ea typeface="Liter"/>
              </a:rPr>
              <a:t> , brought storytelling lyrics and simple melodies to the rock equation. The twang of the guitar and narrative songwriting style would merge with blues intensity to create rockabilly and early rock 'n' roll.</a:t>
            </a:r>
            <a:endParaRPr b="0" lang="en-HK" sz="1200" spc="-1" strike="noStrike">
              <a:latin typeface="Arial"/>
            </a:endParaRPr>
          </a:p>
        </p:txBody>
      </p:sp>
      <p:sp>
        <p:nvSpPr>
          <p:cNvPr id="122" name="Shape 17"/>
          <p:cNvSpPr/>
          <p:nvPr/>
        </p:nvSpPr>
        <p:spPr>
          <a:xfrm>
            <a:off x="7340400" y="1266840"/>
            <a:ext cx="4457160" cy="3542400"/>
          </a:xfrm>
          <a:custGeom>
            <a:avLst/>
            <a:gdLst/>
            <a:ahLst/>
            <a:rect l="l" t="t" r="r" b="b"/>
            <a:pathLst>
              <a:path w="4457700" h="3543300">
                <a:moveTo>
                  <a:pt x="0" y="0"/>
                </a:moveTo>
                <a:lnTo>
                  <a:pt x="4457700" y="0"/>
                </a:lnTo>
                <a:lnTo>
                  <a:pt x="4457700" y="3543300"/>
                </a:lnTo>
                <a:lnTo>
                  <a:pt x="0" y="3543300"/>
                </a:lnTo>
                <a:lnTo>
                  <a:pt x="0" y="0"/>
                </a:lnTo>
                <a:close/>
              </a:path>
            </a:pathLst>
          </a:custGeom>
          <a:noFill/>
          <a:ln w="25400">
            <a:solidFill>
              <a:srgbClr val="ddff00"/>
            </a:solidFill>
            <a:round/>
          </a:ln>
        </p:spPr>
        <p:style>
          <a:lnRef idx="0"/>
          <a:fillRef idx="0"/>
          <a:effectRef idx="0"/>
          <a:fontRef idx="minor"/>
        </p:style>
      </p:sp>
      <p:sp>
        <p:nvSpPr>
          <p:cNvPr id="123" name="Shape 18"/>
          <p:cNvSpPr/>
          <p:nvPr/>
        </p:nvSpPr>
        <p:spPr>
          <a:xfrm>
            <a:off x="9342720" y="1732320"/>
            <a:ext cx="456120" cy="456120"/>
          </a:xfrm>
          <a:custGeom>
            <a:avLst/>
            <a:gdLst/>
            <a:ah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w="0">
            <a:noFill/>
          </a:ln>
        </p:spPr>
        <p:style>
          <a:lnRef idx="0"/>
          <a:fillRef idx="0"/>
          <a:effectRef idx="0"/>
          <a:fontRef idx="minor"/>
        </p:style>
      </p:sp>
      <p:sp>
        <p:nvSpPr>
          <p:cNvPr id="124" name="Text 19"/>
          <p:cNvSpPr/>
          <p:nvPr/>
        </p:nvSpPr>
        <p:spPr>
          <a:xfrm>
            <a:off x="7521480" y="2341800"/>
            <a:ext cx="4095000" cy="3038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800" spc="-1" strike="noStrike">
                <a:solidFill>
                  <a:srgbClr val="ffffff"/>
                </a:solidFill>
                <a:latin typeface="Liter"/>
                <a:ea typeface="Liter"/>
              </a:rPr>
              <a:t>The Perfect Storm</a:t>
            </a:r>
            <a:endParaRPr b="0" lang="en-HK" sz="1800" spc="-1" strike="noStrike">
              <a:latin typeface="Arial"/>
            </a:endParaRPr>
          </a:p>
        </p:txBody>
      </p:sp>
      <p:sp>
        <p:nvSpPr>
          <p:cNvPr id="125" name="Text 20"/>
          <p:cNvSpPr/>
          <p:nvPr/>
        </p:nvSpPr>
        <p:spPr>
          <a:xfrm>
            <a:off x="7535520" y="2951640"/>
            <a:ext cx="4066560" cy="13896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50" spc="-1" strike="noStrike">
                <a:solidFill>
                  <a:srgbClr val="ffffff"/>
                </a:solidFill>
                <a:latin typeface="Liter"/>
                <a:ea typeface="Liter"/>
              </a:rPr>
              <a:t>Post-war America created the cultural conditions for these diverse musical traditions to merge. </a:t>
            </a:r>
            <a:r>
              <a:rPr b="1" lang="en-US" sz="1350" spc="-1" strike="noStrike">
                <a:solidFill>
                  <a:srgbClr val="ffffff"/>
                </a:solidFill>
                <a:latin typeface="Liter"/>
                <a:ea typeface="Liter"/>
              </a:rPr>
              <a:t>The migration of African Americans to Northern cities</a:t>
            </a:r>
            <a:r>
              <a:rPr b="0" lang="en-US" sz="1350" spc="-1" strike="noStrike">
                <a:solidFill>
                  <a:srgbClr val="ffffff"/>
                </a:solidFill>
                <a:latin typeface="Liter"/>
                <a:ea typeface="Liter"/>
              </a:rPr>
              <a:t> brought blues and gospel to new audiences, while radio and records allowed cross-cultural pollination.</a:t>
            </a:r>
            <a:endParaRPr b="0" lang="en-HK" sz="1350" spc="-1" strike="noStrike">
              <a:latin typeface="Arial"/>
            </a:endParaRPr>
          </a:p>
        </p:txBody>
      </p:sp>
      <p:sp>
        <p:nvSpPr>
          <p:cNvPr id="126" name="Shape 21"/>
          <p:cNvSpPr/>
          <p:nvPr/>
        </p:nvSpPr>
        <p:spPr>
          <a:xfrm>
            <a:off x="7330680" y="4971960"/>
            <a:ext cx="4475880" cy="1503720"/>
          </a:xfrm>
          <a:custGeom>
            <a:avLst/>
            <a:gdLst/>
            <a:ahLst/>
            <a:rect l="l" t="t" r="r" b="b"/>
            <a:pathLst>
              <a:path w="4476750" h="1504950">
                <a:moveTo>
                  <a:pt x="0" y="0"/>
                </a:moveTo>
                <a:lnTo>
                  <a:pt x="4476750" y="0"/>
                </a:lnTo>
                <a:lnTo>
                  <a:pt x="4476750" y="1504950"/>
                </a:lnTo>
                <a:lnTo>
                  <a:pt x="0" y="1504950"/>
                </a:lnTo>
                <a:lnTo>
                  <a:pt x="0" y="0"/>
                </a:lnTo>
                <a:close/>
              </a:path>
            </a:pathLst>
          </a:custGeom>
          <a:solidFill>
            <a:srgbClr val="ddff00"/>
          </a:solidFill>
          <a:ln w="0">
            <a:noFill/>
          </a:ln>
        </p:spPr>
        <p:style>
          <a:lnRef idx="0"/>
          <a:fillRef idx="0"/>
          <a:effectRef idx="0"/>
          <a:fontRef idx="minor"/>
        </p:style>
      </p:sp>
      <p:sp>
        <p:nvSpPr>
          <p:cNvPr id="127" name="Text 22"/>
          <p:cNvSpPr/>
          <p:nvPr/>
        </p:nvSpPr>
        <p:spPr>
          <a:xfrm>
            <a:off x="7521480" y="5162400"/>
            <a:ext cx="419040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000000"/>
                </a:solidFill>
                <a:latin typeface="Liter"/>
                <a:ea typeface="Liter"/>
              </a:rPr>
              <a:t>Key Innovation</a:t>
            </a:r>
            <a:endParaRPr b="0" lang="en-HK" sz="1500" spc="-1" strike="noStrike">
              <a:latin typeface="Arial"/>
            </a:endParaRPr>
          </a:p>
        </p:txBody>
      </p:sp>
      <p:sp>
        <p:nvSpPr>
          <p:cNvPr id="128" name="Text 23"/>
          <p:cNvSpPr/>
          <p:nvPr/>
        </p:nvSpPr>
        <p:spPr>
          <a:xfrm>
            <a:off x="7521480" y="5543640"/>
            <a:ext cx="417132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000000"/>
                </a:solidFill>
                <a:latin typeface="Liter"/>
                <a:ea typeface="Liter"/>
              </a:rPr>
              <a:t>The electric guitar</a:t>
            </a:r>
            <a:r>
              <a:rPr b="0" lang="en-US" sz="1200" spc="-1" strike="noStrike">
                <a:solidFill>
                  <a:srgbClr val="000000"/>
                </a:solidFill>
                <a:latin typeface="Liter"/>
                <a:ea typeface="Liter"/>
              </a:rPr>
              <a:t> replaced the saxophone as the central soloing instrument, thanks to pioneers like </a:t>
            </a:r>
            <a:r>
              <a:rPr b="1" lang="en-US" sz="1200" spc="-1" strike="noStrike">
                <a:solidFill>
                  <a:srgbClr val="000000"/>
                </a:solidFill>
                <a:latin typeface="Liter"/>
                <a:ea typeface="Liter"/>
              </a:rPr>
              <a:t>Chuck Berry</a:t>
            </a:r>
            <a:r>
              <a:rPr b="0" lang="en-US" sz="1200" spc="-1" strike="noStrike">
                <a:solidFill>
                  <a:srgbClr val="000000"/>
                </a:solidFill>
                <a:latin typeface="Liter"/>
                <a:ea typeface="Liter"/>
              </a:rPr>
              <a:t> and </a:t>
            </a:r>
            <a:r>
              <a:rPr b="1" lang="en-US" sz="1200" spc="-1" strike="noStrike">
                <a:solidFill>
                  <a:srgbClr val="000000"/>
                </a:solidFill>
                <a:latin typeface="Liter"/>
                <a:ea typeface="Liter"/>
              </a:rPr>
              <a:t>Bo Diddley</a:t>
            </a:r>
            <a:r>
              <a:rPr b="0" lang="en-US" sz="1200" spc="-1" strike="noStrike">
                <a:solidFill>
                  <a:srgbClr val="000000"/>
                </a:solidFill>
                <a:latin typeface="Liter"/>
                <a:ea typeface="Liter"/>
              </a:rPr>
              <a:t> in the mid-1950s.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9" name="Shape 0"/>
          <p:cNvSpPr/>
          <p:nvPr/>
        </p:nvSpPr>
        <p:spPr>
          <a:xfrm>
            <a:off x="317520" y="365040"/>
            <a:ext cx="62280" cy="3798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130" name="Text 1"/>
          <p:cNvSpPr/>
          <p:nvPr/>
        </p:nvSpPr>
        <p:spPr>
          <a:xfrm>
            <a:off x="507960" y="317520"/>
            <a:ext cx="52934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ddff00"/>
                </a:solidFill>
                <a:latin typeface="Liter"/>
                <a:ea typeface="Liter"/>
              </a:rPr>
              <a:t>CHAPTER 01</a:t>
            </a:r>
            <a:endParaRPr b="0" lang="en-HK" sz="880" spc="-1" strike="noStrike">
              <a:latin typeface="Arial"/>
            </a:endParaRPr>
          </a:p>
        </p:txBody>
      </p:sp>
      <p:sp>
        <p:nvSpPr>
          <p:cNvPr id="131" name="Text 2"/>
          <p:cNvSpPr/>
          <p:nvPr/>
        </p:nvSpPr>
        <p:spPr>
          <a:xfrm>
            <a:off x="507960" y="476280"/>
            <a:ext cx="538092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Rock 'n' Roll Is Born: The 1950s Revolution</a:t>
            </a:r>
            <a:endParaRPr b="0" lang="en-HK" sz="2250" spc="-1" strike="noStrike">
              <a:latin typeface="Arial"/>
            </a:endParaRPr>
          </a:p>
        </p:txBody>
      </p:sp>
      <p:sp>
        <p:nvSpPr>
          <p:cNvPr id="132" name="Shape 3"/>
          <p:cNvSpPr/>
          <p:nvPr/>
        </p:nvSpPr>
        <p:spPr>
          <a:xfrm>
            <a:off x="317520" y="1047600"/>
            <a:ext cx="4547520" cy="24753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133" name="Text 4"/>
          <p:cNvSpPr/>
          <p:nvPr/>
        </p:nvSpPr>
        <p:spPr>
          <a:xfrm>
            <a:off x="507960" y="1238400"/>
            <a:ext cx="426168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Birth of a Genre</a:t>
            </a:r>
            <a:endParaRPr b="0" lang="en-HK" sz="1500" spc="-1" strike="noStrike">
              <a:latin typeface="Arial"/>
            </a:endParaRPr>
          </a:p>
        </p:txBody>
      </p:sp>
      <p:sp>
        <p:nvSpPr>
          <p:cNvPr id="134" name="Text 5"/>
          <p:cNvSpPr/>
          <p:nvPr/>
        </p:nvSpPr>
        <p:spPr>
          <a:xfrm>
            <a:off x="507960" y="1587600"/>
            <a:ext cx="4230000" cy="1030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emerged in the mid-1950s</a:t>
            </a:r>
            <a:r>
              <a:rPr b="0" lang="en-US" sz="1000" spc="-1" strike="noStrike">
                <a:solidFill>
                  <a:srgbClr val="000000"/>
                </a:solidFill>
                <a:latin typeface="Liter"/>
                <a:ea typeface="Liter"/>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b="0" lang="en-HK" sz="1000" spc="-1" strike="noStrike">
              <a:latin typeface="Arial"/>
            </a:endParaRPr>
          </a:p>
        </p:txBody>
      </p:sp>
      <p:sp>
        <p:nvSpPr>
          <p:cNvPr id="135" name="Text 6"/>
          <p:cNvSpPr/>
          <p:nvPr/>
        </p:nvSpPr>
        <p:spPr>
          <a:xfrm>
            <a:off x="507960" y="2714760"/>
            <a:ext cx="423000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Unlike the safe pop music of the era, rock's raw energy and rebellious spirit captured the imagination of teenagers seeking something authentic and exciting.</a:t>
            </a:r>
            <a:endParaRPr b="0" lang="en-HK" sz="1000" spc="-1" strike="noStrike">
              <a:latin typeface="Arial"/>
            </a:endParaRPr>
          </a:p>
        </p:txBody>
      </p:sp>
      <p:sp>
        <p:nvSpPr>
          <p:cNvPr id="136" name="Shape 7"/>
          <p:cNvSpPr/>
          <p:nvPr/>
        </p:nvSpPr>
        <p:spPr>
          <a:xfrm>
            <a:off x="325440" y="3659040"/>
            <a:ext cx="4531680" cy="4197960"/>
          </a:xfrm>
          <a:custGeom>
            <a:avLst/>
            <a:gdLst/>
            <a:ahLst/>
            <a:rect l="l" t="t" r="r" b="b"/>
            <a:pathLst>
              <a:path w="4532313" h="4198938">
                <a:moveTo>
                  <a:pt x="0" y="0"/>
                </a:moveTo>
                <a:lnTo>
                  <a:pt x="4532313" y="0"/>
                </a:lnTo>
                <a:lnTo>
                  <a:pt x="4532313" y="4198938"/>
                </a:lnTo>
                <a:lnTo>
                  <a:pt x="0" y="4198938"/>
                </a:lnTo>
                <a:lnTo>
                  <a:pt x="0" y="0"/>
                </a:lnTo>
                <a:close/>
              </a:path>
            </a:pathLst>
          </a:custGeom>
          <a:noFill/>
          <a:ln w="25400">
            <a:solidFill>
              <a:srgbClr val="ddff00"/>
            </a:solidFill>
            <a:round/>
          </a:ln>
        </p:spPr>
        <p:style>
          <a:lnRef idx="0"/>
          <a:fillRef idx="0"/>
          <a:effectRef idx="0"/>
          <a:fontRef idx="minor"/>
        </p:style>
      </p:sp>
      <p:sp>
        <p:nvSpPr>
          <p:cNvPr id="137" name="Text 8"/>
          <p:cNvSpPr/>
          <p:nvPr/>
        </p:nvSpPr>
        <p:spPr>
          <a:xfrm>
            <a:off x="492120" y="3825720"/>
            <a:ext cx="42775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Pioneering Artists</a:t>
            </a:r>
            <a:endParaRPr b="0" lang="en-HK" sz="1250" spc="-1" strike="noStrike">
              <a:latin typeface="Arial"/>
            </a:endParaRPr>
          </a:p>
        </p:txBody>
      </p:sp>
      <p:sp>
        <p:nvSpPr>
          <p:cNvPr id="138" name="Shape 9"/>
          <p:cNvSpPr/>
          <p:nvPr/>
        </p:nvSpPr>
        <p:spPr>
          <a:xfrm>
            <a:off x="492120" y="417528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39" name="Shape 10"/>
          <p:cNvSpPr/>
          <p:nvPr/>
        </p:nvSpPr>
        <p:spPr>
          <a:xfrm>
            <a:off x="579600" y="4270320"/>
            <a:ext cx="141840" cy="1260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0" name="Text 11"/>
          <p:cNvSpPr/>
          <p:nvPr/>
        </p:nvSpPr>
        <p:spPr>
          <a:xfrm>
            <a:off x="905040" y="4175280"/>
            <a:ext cx="385704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a:t>
            </a:r>
            <a:endParaRPr b="0" lang="en-HK" sz="1130" spc="-1" strike="noStrike">
              <a:latin typeface="Arial"/>
            </a:endParaRPr>
          </a:p>
        </p:txBody>
      </p:sp>
      <p:sp>
        <p:nvSpPr>
          <p:cNvPr id="141" name="Text 12"/>
          <p:cNvSpPr/>
          <p:nvPr/>
        </p:nvSpPr>
        <p:spPr>
          <a:xfrm>
            <a:off x="905040" y="4397400"/>
            <a:ext cx="384912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The King of Rock 'n' Roll, blending country, blues, and gospel into an irresistible sound</a:t>
            </a:r>
            <a:endParaRPr b="0" lang="en-HK" sz="1000" spc="-1" strike="noStrike">
              <a:latin typeface="Arial"/>
            </a:endParaRPr>
          </a:p>
        </p:txBody>
      </p:sp>
      <p:sp>
        <p:nvSpPr>
          <p:cNvPr id="142" name="Shape 13"/>
          <p:cNvSpPr/>
          <p:nvPr/>
        </p:nvSpPr>
        <p:spPr>
          <a:xfrm>
            <a:off x="492120" y="487368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3" name="Shape 14"/>
          <p:cNvSpPr/>
          <p:nvPr/>
        </p:nvSpPr>
        <p:spPr>
          <a:xfrm>
            <a:off x="579600" y="4968720"/>
            <a:ext cx="141840" cy="1260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4" name="Text 15"/>
          <p:cNvSpPr/>
          <p:nvPr/>
        </p:nvSpPr>
        <p:spPr>
          <a:xfrm>
            <a:off x="905040" y="4873680"/>
            <a:ext cx="385704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Chuck Berry</a:t>
            </a:r>
            <a:endParaRPr b="0" lang="en-HK" sz="1130" spc="-1" strike="noStrike">
              <a:latin typeface="Arial"/>
            </a:endParaRPr>
          </a:p>
        </p:txBody>
      </p:sp>
      <p:sp>
        <p:nvSpPr>
          <p:cNvPr id="145" name="Text 16"/>
          <p:cNvSpPr/>
          <p:nvPr/>
        </p:nvSpPr>
        <p:spPr>
          <a:xfrm>
            <a:off x="905040" y="5095800"/>
            <a:ext cx="384912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Leaned heavily on classic blues structures while demonstrating natural-born showmanship</a:t>
            </a:r>
            <a:endParaRPr b="0" lang="en-HK" sz="1000" spc="-1" strike="noStrike">
              <a:latin typeface="Arial"/>
            </a:endParaRPr>
          </a:p>
        </p:txBody>
      </p:sp>
      <p:sp>
        <p:nvSpPr>
          <p:cNvPr id="146" name="Shape 17"/>
          <p:cNvSpPr/>
          <p:nvPr/>
        </p:nvSpPr>
        <p:spPr>
          <a:xfrm>
            <a:off x="492120" y="557208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7" name="Shape 18"/>
          <p:cNvSpPr/>
          <p:nvPr/>
        </p:nvSpPr>
        <p:spPr>
          <a:xfrm>
            <a:off x="579600" y="5667480"/>
            <a:ext cx="141840" cy="1260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8" name="Text 19"/>
          <p:cNvSpPr/>
          <p:nvPr/>
        </p:nvSpPr>
        <p:spPr>
          <a:xfrm>
            <a:off x="905040" y="5572080"/>
            <a:ext cx="38250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Little Richard</a:t>
            </a:r>
            <a:endParaRPr b="0" lang="en-HK" sz="1130" spc="-1" strike="noStrike">
              <a:latin typeface="Arial"/>
            </a:endParaRPr>
          </a:p>
        </p:txBody>
      </p:sp>
      <p:sp>
        <p:nvSpPr>
          <p:cNvPr id="149" name="Text 20"/>
          <p:cNvSpPr/>
          <p:nvPr/>
        </p:nvSpPr>
        <p:spPr>
          <a:xfrm>
            <a:off x="905040" y="5794200"/>
            <a:ext cx="38170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Brought ecstatic, gospel-influenced vocals and piano-driven energy</a:t>
            </a:r>
            <a:endParaRPr b="0" lang="en-HK" sz="1000" spc="-1" strike="noStrike">
              <a:latin typeface="Arial"/>
            </a:endParaRPr>
          </a:p>
        </p:txBody>
      </p:sp>
      <p:sp>
        <p:nvSpPr>
          <p:cNvPr id="150" name="Shape 21"/>
          <p:cNvSpPr/>
          <p:nvPr/>
        </p:nvSpPr>
        <p:spPr>
          <a:xfrm>
            <a:off x="492120" y="608004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51" name="Shape 22"/>
          <p:cNvSpPr/>
          <p:nvPr/>
        </p:nvSpPr>
        <p:spPr>
          <a:xfrm>
            <a:off x="579600" y="6175440"/>
            <a:ext cx="141840" cy="1260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52" name="Text 23"/>
          <p:cNvSpPr/>
          <p:nvPr/>
        </p:nvSpPr>
        <p:spPr>
          <a:xfrm>
            <a:off x="905040" y="6080040"/>
            <a:ext cx="385704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Buddy Holly</a:t>
            </a:r>
            <a:endParaRPr b="0" lang="en-HK" sz="1130" spc="-1" strike="noStrike">
              <a:latin typeface="Arial"/>
            </a:endParaRPr>
          </a:p>
        </p:txBody>
      </p:sp>
      <p:sp>
        <p:nvSpPr>
          <p:cNvPr id="153" name="Text 24"/>
          <p:cNvSpPr/>
          <p:nvPr/>
        </p:nvSpPr>
        <p:spPr>
          <a:xfrm>
            <a:off x="905040" y="6302520"/>
            <a:ext cx="384912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Pioneered the standard rock band lineup with guitar, bass, and drums</a:t>
            </a:r>
            <a:endParaRPr b="0" lang="en-HK" sz="1000" spc="-1" strike="noStrike">
              <a:latin typeface="Arial"/>
            </a:endParaRPr>
          </a:p>
        </p:txBody>
      </p:sp>
      <p:sp>
        <p:nvSpPr>
          <p:cNvPr id="154" name="Image 0"/>
          <p:cNvSpPr/>
          <p:nvPr/>
        </p:nvSpPr>
        <p:spPr>
          <a:xfrm>
            <a:off x="5054760" y="1047600"/>
            <a:ext cx="6818040" cy="4721760"/>
          </a:xfrm>
          <a:prstGeom prst="roundRect">
            <a:avLst>
              <a:gd name="adj" fmla="val 0"/>
            </a:avLst>
          </a:prstGeom>
          <a:blipFill rotWithShape="0">
            <a:blip r:embed="rId1"/>
            <a:srcRect/>
            <a:stretch/>
          </a:blipFill>
          <a:ln w="0">
            <a:noFill/>
          </a:ln>
        </p:spPr>
        <p:style>
          <a:lnRef idx="0"/>
          <a:fillRef idx="0"/>
          <a:effectRef idx="0"/>
          <a:fontRef idx="minor"/>
        </p:style>
      </p:sp>
      <p:sp>
        <p:nvSpPr>
          <p:cNvPr id="155" name="Shape 25"/>
          <p:cNvSpPr/>
          <p:nvPr/>
        </p:nvSpPr>
        <p:spPr>
          <a:xfrm>
            <a:off x="5054760" y="1047600"/>
            <a:ext cx="6818040" cy="4721760"/>
          </a:xfrm>
          <a:custGeom>
            <a:avLst/>
            <a:gdLst/>
            <a:ahLst/>
            <a:rect l="l" t="t" r="r" b="b"/>
            <a:pathLst>
              <a:path w="6818313" h="4722813">
                <a:moveTo>
                  <a:pt x="0" y="0"/>
                </a:moveTo>
                <a:lnTo>
                  <a:pt x="6818313" y="0"/>
                </a:lnTo>
                <a:lnTo>
                  <a:pt x="6818313" y="4722813"/>
                </a:lnTo>
                <a:lnTo>
                  <a:pt x="0" y="4722813"/>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156" name="Text 26"/>
          <p:cNvSpPr/>
          <p:nvPr/>
        </p:nvSpPr>
        <p:spPr>
          <a:xfrm>
            <a:off x="5181840" y="5228640"/>
            <a:ext cx="66196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1950s PERFORMANCE</a:t>
            </a:r>
            <a:endParaRPr b="0" lang="en-HK" sz="880" spc="-1" strike="noStrike">
              <a:latin typeface="Arial"/>
            </a:endParaRPr>
          </a:p>
        </p:txBody>
      </p:sp>
      <p:sp>
        <p:nvSpPr>
          <p:cNvPr id="157" name="Text 27"/>
          <p:cNvSpPr/>
          <p:nvPr/>
        </p:nvSpPr>
        <p:spPr>
          <a:xfrm>
            <a:off x="5181840" y="5419080"/>
            <a:ext cx="663552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 on Stage</a:t>
            </a:r>
            <a:endParaRPr b="0" lang="en-HK" sz="1130" spc="-1" strike="noStrike">
              <a:latin typeface="Arial"/>
            </a:endParaRPr>
          </a:p>
        </p:txBody>
      </p:sp>
      <p:sp>
        <p:nvSpPr>
          <p:cNvPr id="158" name="Shape 28"/>
          <p:cNvSpPr/>
          <p:nvPr/>
        </p:nvSpPr>
        <p:spPr>
          <a:xfrm>
            <a:off x="5059080" y="5899320"/>
            <a:ext cx="2197800" cy="92772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59" name="Text 29"/>
          <p:cNvSpPr/>
          <p:nvPr/>
        </p:nvSpPr>
        <p:spPr>
          <a:xfrm>
            <a:off x="5118480" y="6030360"/>
            <a:ext cx="2079000" cy="3164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1954</a:t>
            </a:r>
            <a:endParaRPr b="0" lang="en-HK" sz="2250" spc="-1" strike="noStrike">
              <a:latin typeface="Arial"/>
            </a:endParaRPr>
          </a:p>
        </p:txBody>
      </p:sp>
      <p:sp>
        <p:nvSpPr>
          <p:cNvPr id="160" name="Text 30"/>
          <p:cNvSpPr/>
          <p:nvPr/>
        </p:nvSpPr>
        <p:spPr>
          <a:xfrm>
            <a:off x="5162040" y="6379560"/>
            <a:ext cx="1991160" cy="316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"That's All Right"</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Elvis's debut</a:t>
            </a:r>
            <a:endParaRPr b="0" lang="en-HK" sz="880" spc="-1" strike="noStrike">
              <a:latin typeface="Arial"/>
            </a:endParaRPr>
          </a:p>
        </p:txBody>
      </p:sp>
      <p:sp>
        <p:nvSpPr>
          <p:cNvPr id="161" name="Shape 31"/>
          <p:cNvSpPr/>
          <p:nvPr/>
        </p:nvSpPr>
        <p:spPr>
          <a:xfrm>
            <a:off x="7363800" y="5899320"/>
            <a:ext cx="2197800" cy="92772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2" name="Text 32"/>
          <p:cNvSpPr/>
          <p:nvPr/>
        </p:nvSpPr>
        <p:spPr>
          <a:xfrm>
            <a:off x="7423560" y="6030360"/>
            <a:ext cx="2079000" cy="3164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3" name="Text 33"/>
          <p:cNvSpPr/>
          <p:nvPr/>
        </p:nvSpPr>
        <p:spPr>
          <a:xfrm>
            <a:off x="7467120" y="6379560"/>
            <a:ext cx="1991160" cy="316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"Maybellene"</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Chuck Berry</a:t>
            </a:r>
            <a:endParaRPr b="0" lang="en-HK" sz="880" spc="-1" strike="noStrike">
              <a:latin typeface="Arial"/>
            </a:endParaRPr>
          </a:p>
        </p:txBody>
      </p:sp>
      <p:sp>
        <p:nvSpPr>
          <p:cNvPr id="164" name="Shape 34"/>
          <p:cNvSpPr/>
          <p:nvPr/>
        </p:nvSpPr>
        <p:spPr>
          <a:xfrm>
            <a:off x="9669240" y="5899320"/>
            <a:ext cx="2197800" cy="92772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5" name="Text 35"/>
          <p:cNvSpPr/>
          <p:nvPr/>
        </p:nvSpPr>
        <p:spPr>
          <a:xfrm>
            <a:off x="9729000" y="6030360"/>
            <a:ext cx="2079000" cy="3164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6" name="Text 36"/>
          <p:cNvSpPr/>
          <p:nvPr/>
        </p:nvSpPr>
        <p:spPr>
          <a:xfrm>
            <a:off x="9772560" y="6379560"/>
            <a:ext cx="1991160" cy="3164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"Tutti Frutti"</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Little Richard</a:t>
            </a:r>
            <a:endParaRPr b="0" lang="en-HK" sz="880" spc="-1" strike="noStrike">
              <a:latin typeface="Arial"/>
            </a:endParaRPr>
          </a:p>
        </p:txBody>
      </p:sp>
      <p:sp>
        <p:nvSpPr>
          <p:cNvPr id="167" name="Shape 37"/>
          <p:cNvSpPr/>
          <p:nvPr/>
        </p:nvSpPr>
        <p:spPr>
          <a:xfrm>
            <a:off x="5070960" y="6959160"/>
            <a:ext cx="30600" cy="903960"/>
          </a:xfrm>
          <a:custGeom>
            <a:avLst/>
            <a:gdLst/>
            <a:ahLst/>
            <a:rect l="l" t="t" r="r" b="b"/>
            <a:pathLst>
              <a:path w="31750" h="904875">
                <a:moveTo>
                  <a:pt x="0" y="0"/>
                </a:moveTo>
                <a:lnTo>
                  <a:pt x="31750" y="0"/>
                </a:lnTo>
                <a:lnTo>
                  <a:pt x="31750" y="904875"/>
                </a:lnTo>
                <a:lnTo>
                  <a:pt x="0" y="904875"/>
                </a:lnTo>
                <a:lnTo>
                  <a:pt x="0" y="0"/>
                </a:lnTo>
                <a:close/>
              </a:path>
            </a:pathLst>
          </a:custGeom>
          <a:solidFill>
            <a:srgbClr val="ddff00"/>
          </a:solidFill>
          <a:ln w="0">
            <a:noFill/>
          </a:ln>
        </p:spPr>
        <p:style>
          <a:lnRef idx="0"/>
          <a:fillRef idx="0"/>
          <a:effectRef idx="0"/>
          <a:fontRef idx="minor"/>
        </p:style>
      </p:sp>
      <p:sp>
        <p:nvSpPr>
          <p:cNvPr id="168" name="Text 38"/>
          <p:cNvSpPr/>
          <p:nvPr/>
        </p:nvSpPr>
        <p:spPr>
          <a:xfrm>
            <a:off x="5213520" y="6959160"/>
            <a:ext cx="67305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Cultural Impact</a:t>
            </a:r>
            <a:endParaRPr b="0" lang="en-HK" sz="1130" spc="-1" strike="noStrike">
              <a:latin typeface="Arial"/>
            </a:endParaRPr>
          </a:p>
        </p:txBody>
      </p:sp>
      <p:sp>
        <p:nvSpPr>
          <p:cNvPr id="169" name="Text 39"/>
          <p:cNvSpPr/>
          <p:nvPr/>
        </p:nvSpPr>
        <p:spPr>
          <a:xfrm>
            <a:off x="5213520" y="7244640"/>
            <a:ext cx="672264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ffffff"/>
                </a:solidFill>
                <a:latin typeface="Liter"/>
                <a:ea typeface="Liter"/>
              </a:rPr>
              <a:t>Rock 'n' roll became the voice of youth rebellion</a:t>
            </a:r>
            <a:r>
              <a:rPr b="0" lang="en-US" sz="1000" spc="-1" strike="noStrike">
                <a:solidFill>
                  <a:srgbClr val="ffffff"/>
                </a:solidFill>
                <a:latin typeface="Liter"/>
                <a:ea typeface="Liter"/>
              </a:rPr>
              <a:t>, challenging racial segregation by bringing black and white audiences together. The music's energy and attitude would inspire generations of musicians in England and America to pick up guitars and form bands.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404040"/>
        </a:solidFill>
      </p:bgPr>
    </p:bg>
    <p:spTree>
      <p:nvGrpSpPr>
        <p:cNvPr id="1" name=""/>
        <p:cNvGrpSpPr/>
        <p:nvPr/>
      </p:nvGrpSpPr>
      <p:grpSpPr>
        <a:xfrm>
          <a:off x="0" y="0"/>
          <a:ext cx="0" cy="0"/>
          <a:chOff x="0" y="0"/>
          <a:chExt cx="0" cy="0"/>
        </a:xfrm>
      </p:grpSpPr>
      <p:sp>
        <p:nvSpPr>
          <p:cNvPr id="170"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171"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172" name="Shape 1"/>
          <p:cNvSpPr/>
          <p:nvPr/>
        </p:nvSpPr>
        <p:spPr>
          <a:xfrm rot="720600">
            <a:off x="10755000" y="5420160"/>
            <a:ext cx="875160" cy="8751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173" name="Shape 2"/>
          <p:cNvSpPr/>
          <p:nvPr/>
        </p:nvSpPr>
        <p:spPr>
          <a:xfrm rot="21240000">
            <a:off x="319680" y="1310400"/>
            <a:ext cx="1218240" cy="12182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174" name="Text 3"/>
          <p:cNvSpPr/>
          <p:nvPr/>
        </p:nvSpPr>
        <p:spPr>
          <a:xfrm>
            <a:off x="572400" y="1638360"/>
            <a:ext cx="1180080" cy="684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81d41a"/>
                </a:solidFill>
                <a:latin typeface="Liter"/>
                <a:ea typeface="Liter"/>
              </a:rPr>
              <a:t>02</a:t>
            </a:r>
            <a:endParaRPr b="0" lang="en-HK" sz="5400" spc="-1" strike="noStrike">
              <a:solidFill>
                <a:srgbClr val="81d41a"/>
              </a:solidFill>
              <a:latin typeface="Arial"/>
            </a:endParaRPr>
          </a:p>
        </p:txBody>
      </p:sp>
      <p:sp>
        <p:nvSpPr>
          <p:cNvPr id="175" name="Shape 4"/>
          <p:cNvSpPr/>
          <p:nvPr/>
        </p:nvSpPr>
        <p:spPr>
          <a:xfrm>
            <a:off x="1828800" y="1752480"/>
            <a:ext cx="3332880" cy="37080"/>
          </a:xfrm>
          <a:custGeom>
            <a:avLst/>
            <a:gdLst/>
            <a:ahLst/>
            <a:rect l="l" t="t" r="r" b="b"/>
            <a:pathLst>
              <a:path w="3333750" h="38100">
                <a:moveTo>
                  <a:pt x="0" y="0"/>
                </a:moveTo>
                <a:lnTo>
                  <a:pt x="3333750" y="0"/>
                </a:lnTo>
                <a:lnTo>
                  <a:pt x="3333750" y="38100"/>
                </a:lnTo>
                <a:lnTo>
                  <a:pt x="0" y="38100"/>
                </a:lnTo>
                <a:lnTo>
                  <a:pt x="0" y="0"/>
                </a:lnTo>
                <a:close/>
              </a:path>
            </a:pathLst>
          </a:custGeom>
          <a:solidFill>
            <a:srgbClr val="ddff00"/>
          </a:solidFill>
          <a:ln w="0">
            <a:noFill/>
          </a:ln>
        </p:spPr>
        <p:style>
          <a:lnRef idx="0"/>
          <a:fillRef idx="0"/>
          <a:effectRef idx="0"/>
          <a:fontRef idx="minor"/>
        </p:style>
      </p:sp>
      <p:sp>
        <p:nvSpPr>
          <p:cNvPr id="176" name="Text 5"/>
          <p:cNvSpPr/>
          <p:nvPr/>
        </p:nvSpPr>
        <p:spPr>
          <a:xfrm>
            <a:off x="1828800" y="1943280"/>
            <a:ext cx="341892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28" strike="noStrike">
                <a:solidFill>
                  <a:srgbClr val="000000"/>
                </a:solidFill>
                <a:latin typeface="Liter"/>
                <a:ea typeface="Liter"/>
              </a:rPr>
              <a:t>CHAPTER TWO</a:t>
            </a:r>
            <a:endParaRPr b="0" lang="en-HK" sz="1350" spc="-1" strike="noStrike">
              <a:latin typeface="Arial"/>
            </a:endParaRPr>
          </a:p>
        </p:txBody>
      </p:sp>
      <p:sp>
        <p:nvSpPr>
          <p:cNvPr id="177" name="Text 6"/>
          <p:cNvSpPr/>
          <p:nvPr/>
        </p:nvSpPr>
        <p:spPr>
          <a:xfrm>
            <a:off x="380880" y="2895480"/>
            <a:ext cx="5123880" cy="17136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000000"/>
                </a:solidFill>
                <a:latin typeface="Liter"/>
                <a:ea typeface="Liter"/>
              </a:rPr>
              <a:t>THE BRITISH</a:t>
            </a:r>
            <a:endParaRPr b="0" lang="en-HK" sz="5400" spc="-1" strike="noStrike">
              <a:latin typeface="Arial"/>
            </a:endParaRPr>
          </a:p>
          <a:p>
            <a:pPr>
              <a:lnSpc>
                <a:spcPct val="100000"/>
              </a:lnSpc>
              <a:buNone/>
            </a:pPr>
            <a:r>
              <a:rPr b="1" lang="en-US" sz="5400" spc="-1" strike="noStrike">
                <a:solidFill>
                  <a:srgbClr val="000000"/>
                </a:solidFill>
                <a:latin typeface="Liter"/>
                <a:ea typeface="Liter"/>
              </a:rPr>
              <a:t>INVASION</a:t>
            </a:r>
            <a:endParaRPr b="0" lang="en-HK" sz="5400" spc="-1" strike="noStrike">
              <a:latin typeface="Arial"/>
            </a:endParaRPr>
          </a:p>
        </p:txBody>
      </p:sp>
      <p:sp>
        <p:nvSpPr>
          <p:cNvPr id="178" name="Text 7"/>
          <p:cNvSpPr/>
          <p:nvPr/>
        </p:nvSpPr>
        <p:spPr>
          <a:xfrm>
            <a:off x="380880" y="4838760"/>
            <a:ext cx="489528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000000"/>
                </a:solidFill>
                <a:latin typeface="Liter"/>
                <a:ea typeface="Liter"/>
              </a:rPr>
              <a:t>1960s: When Britain Took Back American Music</a:t>
            </a:r>
            <a:endParaRPr b="0" lang="en-HK" sz="1800" spc="-1" strike="noStrike">
              <a:latin typeface="Arial"/>
            </a:endParaRPr>
          </a:p>
        </p:txBody>
      </p:sp>
      <p:sp>
        <p:nvSpPr>
          <p:cNvPr id="179" name="Shape 8"/>
          <p:cNvSpPr/>
          <p:nvPr/>
        </p:nvSpPr>
        <p:spPr>
          <a:xfrm>
            <a:off x="380880" y="5448240"/>
            <a:ext cx="761040" cy="370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80" name="Shape 9"/>
          <p:cNvSpPr/>
          <p:nvPr/>
        </p:nvSpPr>
        <p:spPr>
          <a:xfrm>
            <a:off x="1295280" y="5448240"/>
            <a:ext cx="379800" cy="370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81" name="Shape 10"/>
          <p:cNvSpPr/>
          <p:nvPr/>
        </p:nvSpPr>
        <p:spPr>
          <a:xfrm>
            <a:off x="1828800" y="5448240"/>
            <a:ext cx="189360" cy="370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2" name="Shape 0"/>
          <p:cNvSpPr/>
          <p:nvPr/>
        </p:nvSpPr>
        <p:spPr>
          <a:xfrm>
            <a:off x="329760" y="379080"/>
            <a:ext cx="64800" cy="394560"/>
          </a:xfrm>
          <a:custGeom>
            <a:avLst/>
            <a:gdLst/>
            <a:ahLst/>
            <a:rect l="l" t="t" r="r" b="b"/>
            <a:pathLst>
              <a:path w="65947" h="395684">
                <a:moveTo>
                  <a:pt x="0" y="0"/>
                </a:moveTo>
                <a:lnTo>
                  <a:pt x="65947" y="0"/>
                </a:lnTo>
                <a:lnTo>
                  <a:pt x="65947" y="395684"/>
                </a:lnTo>
                <a:lnTo>
                  <a:pt x="0" y="395684"/>
                </a:lnTo>
                <a:lnTo>
                  <a:pt x="0" y="0"/>
                </a:lnTo>
                <a:close/>
              </a:path>
            </a:pathLst>
          </a:custGeom>
          <a:solidFill>
            <a:srgbClr val="ddff00"/>
          </a:solidFill>
          <a:ln w="0">
            <a:noFill/>
          </a:ln>
        </p:spPr>
        <p:style>
          <a:lnRef idx="0"/>
          <a:fillRef idx="0"/>
          <a:effectRef idx="0"/>
          <a:fontRef idx="minor"/>
        </p:style>
      </p:sp>
      <p:sp>
        <p:nvSpPr>
          <p:cNvPr id="183" name="Text 1"/>
          <p:cNvSpPr/>
          <p:nvPr/>
        </p:nvSpPr>
        <p:spPr>
          <a:xfrm>
            <a:off x="527400" y="329760"/>
            <a:ext cx="454968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83" strike="noStrike">
                <a:solidFill>
                  <a:srgbClr val="ddff00"/>
                </a:solidFill>
                <a:latin typeface="Liter"/>
                <a:ea typeface="Liter"/>
              </a:rPr>
              <a:t>CHAPTER 02</a:t>
            </a:r>
            <a:endParaRPr b="0" lang="en-HK" sz="910" spc="-1" strike="noStrike">
              <a:latin typeface="Arial"/>
            </a:endParaRPr>
          </a:p>
        </p:txBody>
      </p:sp>
      <p:sp>
        <p:nvSpPr>
          <p:cNvPr id="184" name="Text 2"/>
          <p:cNvSpPr/>
          <p:nvPr/>
        </p:nvSpPr>
        <p:spPr>
          <a:xfrm>
            <a:off x="527400" y="494640"/>
            <a:ext cx="4640400" cy="3286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ffffff"/>
                </a:solidFill>
                <a:latin typeface="Liter"/>
                <a:ea typeface="Liter"/>
              </a:rPr>
              <a:t>Beatlemania &amp; The British Invasion</a:t>
            </a:r>
            <a:endParaRPr b="0" lang="en-HK" sz="2340" spc="-1" strike="noStrike">
              <a:latin typeface="Arial"/>
            </a:endParaRPr>
          </a:p>
        </p:txBody>
      </p:sp>
      <p:sp>
        <p:nvSpPr>
          <p:cNvPr id="185" name="Shape 3"/>
          <p:cNvSpPr/>
          <p:nvPr/>
        </p:nvSpPr>
        <p:spPr>
          <a:xfrm>
            <a:off x="329760" y="1088280"/>
            <a:ext cx="6800400" cy="2142360"/>
          </a:xfrm>
          <a:custGeom>
            <a:avLst/>
            <a:gdLst/>
            <a:ahLst/>
            <a:rect l="l" t="t" r="r" b="b"/>
            <a:pathLst>
              <a:path w="6800811" h="2143286">
                <a:moveTo>
                  <a:pt x="0" y="0"/>
                </a:moveTo>
                <a:lnTo>
                  <a:pt x="6800811" y="0"/>
                </a:lnTo>
                <a:lnTo>
                  <a:pt x="6800811" y="2143286"/>
                </a:lnTo>
                <a:lnTo>
                  <a:pt x="0" y="2143286"/>
                </a:lnTo>
                <a:lnTo>
                  <a:pt x="0" y="0"/>
                </a:lnTo>
                <a:close/>
              </a:path>
            </a:pathLst>
          </a:custGeom>
          <a:solidFill>
            <a:srgbClr val="ddff00"/>
          </a:solidFill>
          <a:ln w="0">
            <a:noFill/>
          </a:ln>
        </p:spPr>
        <p:style>
          <a:lnRef idx="0"/>
          <a:fillRef idx="0"/>
          <a:effectRef idx="0"/>
          <a:fontRef idx="minor"/>
        </p:style>
      </p:sp>
      <p:sp>
        <p:nvSpPr>
          <p:cNvPr id="186" name="Text 4"/>
          <p:cNvSpPr/>
          <p:nvPr/>
        </p:nvSpPr>
        <p:spPr>
          <a:xfrm>
            <a:off x="527400" y="1285920"/>
            <a:ext cx="6503760" cy="262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60" spc="-1" strike="noStrike">
                <a:solidFill>
                  <a:srgbClr val="000000"/>
                </a:solidFill>
                <a:latin typeface="Liter"/>
                <a:ea typeface="Liter"/>
              </a:rPr>
              <a:t>The Ed Sullivan Show: February 9, 1964</a:t>
            </a:r>
            <a:endParaRPr b="0" lang="en-HK" sz="1560" spc="-1" strike="noStrike">
              <a:latin typeface="Arial"/>
            </a:endParaRPr>
          </a:p>
        </p:txBody>
      </p:sp>
      <p:sp>
        <p:nvSpPr>
          <p:cNvPr id="187" name="Text 5"/>
          <p:cNvSpPr/>
          <p:nvPr/>
        </p:nvSpPr>
        <p:spPr>
          <a:xfrm>
            <a:off x="527400" y="1648800"/>
            <a:ext cx="6470640" cy="641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40" spc="-1" strike="noStrike">
                <a:solidFill>
                  <a:srgbClr val="000000"/>
                </a:solidFill>
                <a:latin typeface="Liter"/>
                <a:ea typeface="Liter"/>
              </a:rPr>
              <a:t>73 million Americans watched</a:t>
            </a:r>
            <a:r>
              <a:rPr b="0" lang="en-US" sz="1040" spc="-1" strike="noStrike">
                <a:solidFill>
                  <a:srgbClr val="000000"/>
                </a:solidFill>
                <a:latin typeface="Liter"/>
                <a:ea typeface="Liter"/>
              </a:rPr>
              <a:t> as The Beatles made their historic U.S. television debut. This moment marked the beginning of "Beatlemania" and the British Invasion—a cultural phenomenon that would transform American music forever.</a:t>
            </a:r>
            <a:endParaRPr b="0" lang="en-HK" sz="1040" spc="-1" strike="noStrike">
              <a:latin typeface="Arial"/>
            </a:endParaRPr>
          </a:p>
        </p:txBody>
      </p:sp>
      <p:sp>
        <p:nvSpPr>
          <p:cNvPr id="188" name="Text 6"/>
          <p:cNvSpPr/>
          <p:nvPr/>
        </p:nvSpPr>
        <p:spPr>
          <a:xfrm>
            <a:off x="527400" y="2390760"/>
            <a:ext cx="6470640" cy="641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000000">
                    <a:alpha val="80000"/>
                  </a:srgbClr>
                </a:solidFill>
                <a:latin typeface="Liter"/>
                <a:ea typeface="Liter"/>
              </a:rPr>
              <a:t>Ed Sullivan had witnessed the frenzy firsthand at London airport weeks earlier, where thousands of fans screamed for The Beatles. Realizing their potential impact, he invited them to his show, unknowingly igniting a musical revolution.</a:t>
            </a:r>
            <a:endParaRPr b="0" lang="en-HK" sz="1040" spc="-1" strike="noStrike">
              <a:latin typeface="Arial"/>
            </a:endParaRPr>
          </a:p>
        </p:txBody>
      </p:sp>
      <p:sp>
        <p:nvSpPr>
          <p:cNvPr id="189" name="Shape 7"/>
          <p:cNvSpPr/>
          <p:nvPr/>
        </p:nvSpPr>
        <p:spPr>
          <a:xfrm>
            <a:off x="338040" y="3371400"/>
            <a:ext cx="6783840" cy="2612160"/>
          </a:xfrm>
          <a:custGeom>
            <a:avLst/>
            <a:gdLst/>
            <a:ahLst/>
            <a:rect l="l" t="t" r="r" b="b"/>
            <a:pathLst>
              <a:path w="6784325" h="2613160">
                <a:moveTo>
                  <a:pt x="0" y="0"/>
                </a:moveTo>
                <a:lnTo>
                  <a:pt x="6784325" y="0"/>
                </a:lnTo>
                <a:lnTo>
                  <a:pt x="6784325" y="2613160"/>
                </a:lnTo>
                <a:lnTo>
                  <a:pt x="0" y="2613160"/>
                </a:lnTo>
                <a:lnTo>
                  <a:pt x="0" y="0"/>
                </a:lnTo>
                <a:close/>
              </a:path>
            </a:pathLst>
          </a:custGeom>
          <a:noFill/>
          <a:ln w="25400">
            <a:solidFill>
              <a:srgbClr val="ddff00"/>
            </a:solidFill>
            <a:round/>
          </a:ln>
        </p:spPr>
        <p:style>
          <a:lnRef idx="0"/>
          <a:fillRef idx="0"/>
          <a:effectRef idx="0"/>
          <a:fontRef idx="minor"/>
        </p:style>
      </p:sp>
      <p:sp>
        <p:nvSpPr>
          <p:cNvPr id="190" name="Text 8"/>
          <p:cNvSpPr/>
          <p:nvPr/>
        </p:nvSpPr>
        <p:spPr>
          <a:xfrm>
            <a:off x="511200" y="3544560"/>
            <a:ext cx="6520320" cy="229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ddff00"/>
                </a:solidFill>
                <a:latin typeface="Liter"/>
                <a:ea typeface="Liter"/>
              </a:rPr>
              <a:t>Two Cities, Two Sounds</a:t>
            </a:r>
            <a:endParaRPr b="0" lang="en-HK" sz="1300" spc="-1" strike="noStrike">
              <a:latin typeface="Arial"/>
            </a:endParaRPr>
          </a:p>
        </p:txBody>
      </p:sp>
      <p:sp>
        <p:nvSpPr>
          <p:cNvPr id="191" name="Shape 9"/>
          <p:cNvSpPr/>
          <p:nvPr/>
        </p:nvSpPr>
        <p:spPr>
          <a:xfrm>
            <a:off x="527400" y="3907440"/>
            <a:ext cx="32040" cy="158148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2" name="Shape 10"/>
          <p:cNvSpPr/>
          <p:nvPr/>
        </p:nvSpPr>
        <p:spPr>
          <a:xfrm>
            <a:off x="677880" y="3948480"/>
            <a:ext cx="184320" cy="147240"/>
          </a:xfrm>
          <a:custGeom>
            <a:avLst/>
            <a:gdLst/>
            <a:ah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w="0">
            <a:noFill/>
          </a:ln>
        </p:spPr>
        <p:style>
          <a:lnRef idx="0"/>
          <a:fillRef idx="0"/>
          <a:effectRef idx="0"/>
          <a:fontRef idx="minor"/>
        </p:style>
      </p:sp>
      <p:sp>
        <p:nvSpPr>
          <p:cNvPr id="193" name="Text 11"/>
          <p:cNvSpPr/>
          <p:nvPr/>
        </p:nvSpPr>
        <p:spPr>
          <a:xfrm>
            <a:off x="865440" y="3907440"/>
            <a:ext cx="287640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Liverpool</a:t>
            </a:r>
            <a:endParaRPr b="0" lang="en-HK" sz="1170" spc="-1" strike="noStrike">
              <a:latin typeface="Arial"/>
            </a:endParaRPr>
          </a:p>
        </p:txBody>
      </p:sp>
      <p:sp>
        <p:nvSpPr>
          <p:cNvPr id="194" name="Text 12"/>
          <p:cNvSpPr/>
          <p:nvPr/>
        </p:nvSpPr>
        <p:spPr>
          <a:xfrm>
            <a:off x="676080" y="4204080"/>
            <a:ext cx="3057480" cy="1284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The port city embraced American rock and roll from sailors bringing records. </a:t>
            </a:r>
            <a:r>
              <a:rPr b="1" lang="en-US" sz="1040" spc="-1" strike="noStrike">
                <a:solidFill>
                  <a:srgbClr val="ddff00"/>
                </a:solidFill>
                <a:latin typeface="Liter"/>
                <a:ea typeface="Liter"/>
              </a:rPr>
              <a:t>Skiffle music</a:t>
            </a:r>
            <a:r>
              <a:rPr b="0" lang="en-US" sz="1040" spc="-1" strike="noStrike">
                <a:solidFill>
                  <a:srgbClr val="ffffff">
                    <a:alpha val="80000"/>
                  </a:srgbClr>
                </a:solidFill>
                <a:latin typeface="Liter"/>
                <a:ea typeface="Liter"/>
              </a:rPr>
              <a:t>—combining folk, jazz, country and blues—provided the backdrop. This produced upbeat, melodic </a:t>
            </a:r>
            <a:r>
              <a:rPr b="1" lang="en-US" sz="1040" spc="-1" strike="noStrike">
                <a:solidFill>
                  <a:srgbClr val="ffffff">
                    <a:alpha val="80000"/>
                  </a:srgbClr>
                </a:solidFill>
                <a:latin typeface="Liter"/>
                <a:ea typeface="Liter"/>
              </a:rPr>
              <a:t>Merseybeat</a:t>
            </a:r>
            <a:r>
              <a:rPr b="0" lang="en-US" sz="1040" spc="-1" strike="noStrike">
                <a:solidFill>
                  <a:srgbClr val="ffffff">
                    <a:alpha val="80000"/>
                  </a:srgbClr>
                </a:solidFill>
                <a:latin typeface="Liter"/>
                <a:ea typeface="Liter"/>
              </a:rPr>
              <a:t> exemplified by The Beatles and Gerry &amp; the Pacemakers.</a:t>
            </a:r>
            <a:endParaRPr b="0" lang="en-HK" sz="1040" spc="-1" strike="noStrike">
              <a:latin typeface="Arial"/>
            </a:endParaRPr>
          </a:p>
        </p:txBody>
      </p:sp>
      <p:sp>
        <p:nvSpPr>
          <p:cNvPr id="195" name="Shape 13"/>
          <p:cNvSpPr/>
          <p:nvPr/>
        </p:nvSpPr>
        <p:spPr>
          <a:xfrm>
            <a:off x="3812760" y="3907440"/>
            <a:ext cx="32040" cy="158148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6" name="Shape 14"/>
          <p:cNvSpPr/>
          <p:nvPr/>
        </p:nvSpPr>
        <p:spPr>
          <a:xfrm>
            <a:off x="4000320" y="3948480"/>
            <a:ext cx="110160" cy="147240"/>
          </a:xfrm>
          <a:custGeom>
            <a:avLst/>
            <a:gdLst/>
            <a:ah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w="0">
            <a:noFill/>
          </a:ln>
        </p:spPr>
        <p:style>
          <a:lnRef idx="0"/>
          <a:fillRef idx="0"/>
          <a:effectRef idx="0"/>
          <a:fontRef idx="minor"/>
        </p:style>
      </p:sp>
      <p:sp>
        <p:nvSpPr>
          <p:cNvPr id="197" name="Text 15"/>
          <p:cNvSpPr/>
          <p:nvPr/>
        </p:nvSpPr>
        <p:spPr>
          <a:xfrm>
            <a:off x="4151160" y="3907440"/>
            <a:ext cx="287640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London</a:t>
            </a:r>
            <a:endParaRPr b="0" lang="en-HK" sz="1170" spc="-1" strike="noStrike">
              <a:latin typeface="Arial"/>
            </a:endParaRPr>
          </a:p>
        </p:txBody>
      </p:sp>
      <p:sp>
        <p:nvSpPr>
          <p:cNvPr id="198" name="Text 16"/>
          <p:cNvSpPr/>
          <p:nvPr/>
        </p:nvSpPr>
        <p:spPr>
          <a:xfrm>
            <a:off x="3961080" y="4204080"/>
            <a:ext cx="3057480" cy="107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College students and bohemians were drawn to raw American </a:t>
            </a:r>
            <a:r>
              <a:rPr b="1" lang="en-US" sz="1040" spc="-1" strike="noStrike">
                <a:solidFill>
                  <a:srgbClr val="ddff00"/>
                </a:solidFill>
                <a:latin typeface="Liter"/>
                <a:ea typeface="Liter"/>
              </a:rPr>
              <a:t>blues and R&amp;B</a:t>
            </a:r>
            <a:r>
              <a:rPr b="0" lang="en-US" sz="1040" spc="-1" strike="noStrike">
                <a:solidFill>
                  <a:srgbClr val="ffffff">
                    <a:alpha val="80000"/>
                  </a:srgbClr>
                </a:solidFill>
                <a:latin typeface="Liter"/>
                <a:ea typeface="Liter"/>
              </a:rPr>
              <a:t>. Artists like Muddy Waters and B.B. King inspired a grittier, blues-infused rock sound exemplified by </a:t>
            </a:r>
            <a:r>
              <a:rPr b="1" lang="en-US" sz="1040" spc="-1" strike="noStrike">
                <a:solidFill>
                  <a:srgbClr val="ffffff">
                    <a:alpha val="80000"/>
                  </a:srgbClr>
                </a:solidFill>
                <a:latin typeface="Liter"/>
                <a:ea typeface="Liter"/>
              </a:rPr>
              <a:t>The Rolling Stones</a:t>
            </a:r>
            <a:r>
              <a:rPr b="0" lang="en-US" sz="1040" spc="-1" strike="noStrike">
                <a:solidFill>
                  <a:srgbClr val="ffffff">
                    <a:alpha val="80000"/>
                  </a:srgbClr>
                </a:solidFill>
                <a:latin typeface="Liter"/>
                <a:ea typeface="Liter"/>
              </a:rPr>
              <a:t> and The Yardbirds.</a:t>
            </a:r>
            <a:endParaRPr b="0" lang="en-HK" sz="1040" spc="-1" strike="noStrike">
              <a:latin typeface="Arial"/>
            </a:endParaRPr>
          </a:p>
        </p:txBody>
      </p:sp>
      <p:sp>
        <p:nvSpPr>
          <p:cNvPr id="199" name="Shape 17"/>
          <p:cNvSpPr/>
          <p:nvPr/>
        </p:nvSpPr>
        <p:spPr>
          <a:xfrm>
            <a:off x="333720" y="6128640"/>
            <a:ext cx="2192040" cy="83160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0" name="Text 18"/>
          <p:cNvSpPr/>
          <p:nvPr/>
        </p:nvSpPr>
        <p:spPr>
          <a:xfrm>
            <a:off x="375120" y="6231600"/>
            <a:ext cx="2109600" cy="2955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14</a:t>
            </a:r>
            <a:endParaRPr b="0" lang="en-HK" sz="1940" spc="-1" strike="noStrike">
              <a:latin typeface="Arial"/>
            </a:endParaRPr>
          </a:p>
        </p:txBody>
      </p:sp>
      <p:sp>
        <p:nvSpPr>
          <p:cNvPr id="201" name="Text 19"/>
          <p:cNvSpPr/>
          <p:nvPr/>
        </p:nvSpPr>
        <p:spPr>
          <a:xfrm>
            <a:off x="407880" y="6528600"/>
            <a:ext cx="2043720" cy="328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British singles in</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U.S. Top 40 (1965)</a:t>
            </a:r>
            <a:endParaRPr b="0" lang="en-HK" sz="910" spc="-1" strike="noStrike">
              <a:latin typeface="Arial"/>
            </a:endParaRPr>
          </a:p>
        </p:txBody>
      </p:sp>
      <p:sp>
        <p:nvSpPr>
          <p:cNvPr id="202" name="Shape 20"/>
          <p:cNvSpPr/>
          <p:nvPr/>
        </p:nvSpPr>
        <p:spPr>
          <a:xfrm>
            <a:off x="2633760" y="6128640"/>
            <a:ext cx="2192040" cy="83160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3" name="Text 21"/>
          <p:cNvSpPr/>
          <p:nvPr/>
        </p:nvSpPr>
        <p:spPr>
          <a:xfrm>
            <a:off x="2675160" y="6231600"/>
            <a:ext cx="2109600" cy="2955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1.92M</a:t>
            </a:r>
            <a:endParaRPr b="0" lang="en-HK" sz="1940" spc="-1" strike="noStrike">
              <a:latin typeface="Arial"/>
            </a:endParaRPr>
          </a:p>
        </p:txBody>
      </p:sp>
      <p:sp>
        <p:nvSpPr>
          <p:cNvPr id="204" name="Text 22"/>
          <p:cNvSpPr/>
          <p:nvPr/>
        </p:nvSpPr>
        <p:spPr>
          <a:xfrm>
            <a:off x="2707920" y="6528600"/>
            <a:ext cx="2043720" cy="328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"She Loves You"</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UK sales</a:t>
            </a:r>
            <a:endParaRPr b="0" lang="en-HK" sz="910" spc="-1" strike="noStrike">
              <a:latin typeface="Arial"/>
            </a:endParaRPr>
          </a:p>
        </p:txBody>
      </p:sp>
      <p:sp>
        <p:nvSpPr>
          <p:cNvPr id="205" name="Shape 23"/>
          <p:cNvSpPr/>
          <p:nvPr/>
        </p:nvSpPr>
        <p:spPr>
          <a:xfrm>
            <a:off x="4934520" y="6128640"/>
            <a:ext cx="2192040" cy="83160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6" name="Text 24"/>
          <p:cNvSpPr/>
          <p:nvPr/>
        </p:nvSpPr>
        <p:spPr>
          <a:xfrm>
            <a:off x="4975560" y="6231600"/>
            <a:ext cx="2109600" cy="2955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73M</a:t>
            </a:r>
            <a:endParaRPr b="0" lang="en-HK" sz="1940" spc="-1" strike="noStrike">
              <a:latin typeface="Arial"/>
            </a:endParaRPr>
          </a:p>
        </p:txBody>
      </p:sp>
      <p:sp>
        <p:nvSpPr>
          <p:cNvPr id="207" name="Text 25"/>
          <p:cNvSpPr/>
          <p:nvPr/>
        </p:nvSpPr>
        <p:spPr>
          <a:xfrm>
            <a:off x="5008680" y="6528600"/>
            <a:ext cx="2043720" cy="328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TV viewers for</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Ed Sullivan debut</a:t>
            </a:r>
            <a:endParaRPr b="0" lang="en-HK" sz="910" spc="-1" strike="noStrike">
              <a:latin typeface="Arial"/>
            </a:endParaRPr>
          </a:p>
        </p:txBody>
      </p:sp>
      <p:sp>
        <p:nvSpPr>
          <p:cNvPr id="208" name="Image 0"/>
          <p:cNvSpPr/>
          <p:nvPr/>
        </p:nvSpPr>
        <p:spPr>
          <a:xfrm>
            <a:off x="7329240" y="1088280"/>
            <a:ext cx="4533120" cy="4062960"/>
          </a:xfrm>
          <a:prstGeom prst="roundRect">
            <a:avLst>
              <a:gd name="adj" fmla="val 0"/>
            </a:avLst>
          </a:prstGeom>
          <a:blipFill rotWithShape="0">
            <a:blip r:embed="rId1"/>
            <a:srcRect/>
            <a:stretch/>
          </a:blipFill>
          <a:ln w="0">
            <a:noFill/>
          </a:ln>
        </p:spPr>
        <p:style>
          <a:lnRef idx="0"/>
          <a:fillRef idx="0"/>
          <a:effectRef idx="0"/>
          <a:fontRef idx="minor"/>
        </p:style>
      </p:sp>
      <p:sp>
        <p:nvSpPr>
          <p:cNvPr id="209" name="Shape 26"/>
          <p:cNvSpPr/>
          <p:nvPr/>
        </p:nvSpPr>
        <p:spPr>
          <a:xfrm>
            <a:off x="7329240" y="1088280"/>
            <a:ext cx="4533120" cy="4062960"/>
          </a:xfrm>
          <a:custGeom>
            <a:avLst/>
            <a:gdLst/>
            <a:ahLst/>
            <a:rect l="l" t="t" r="r" b="b"/>
            <a:pathLst>
              <a:path w="4533874" h="4064000">
                <a:moveTo>
                  <a:pt x="0" y="0"/>
                </a:moveTo>
                <a:lnTo>
                  <a:pt x="4533874" y="0"/>
                </a:lnTo>
                <a:lnTo>
                  <a:pt x="4533874" y="4064000"/>
                </a:lnTo>
                <a:lnTo>
                  <a:pt x="0" y="4064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210" name="Text 27"/>
          <p:cNvSpPr/>
          <p:nvPr/>
        </p:nvSpPr>
        <p:spPr>
          <a:xfrm>
            <a:off x="7461000" y="4591440"/>
            <a:ext cx="432720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1" strike="noStrike">
                <a:solidFill>
                  <a:srgbClr val="ddff00"/>
                </a:solidFill>
                <a:latin typeface="Liter"/>
                <a:ea typeface="Liter"/>
              </a:rPr>
              <a:t>1964</a:t>
            </a:r>
            <a:endParaRPr b="0" lang="en-HK" sz="910" spc="-1" strike="noStrike">
              <a:latin typeface="Arial"/>
            </a:endParaRPr>
          </a:p>
        </p:txBody>
      </p:sp>
      <p:sp>
        <p:nvSpPr>
          <p:cNvPr id="211" name="Text 28"/>
          <p:cNvSpPr/>
          <p:nvPr/>
        </p:nvSpPr>
        <p:spPr>
          <a:xfrm>
            <a:off x="7461000" y="4789080"/>
            <a:ext cx="434340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The Beatles on Ed Sullivan</a:t>
            </a:r>
            <a:endParaRPr b="0" lang="en-HK" sz="1170" spc="-1" strike="noStrike">
              <a:latin typeface="Arial"/>
            </a:endParaRPr>
          </a:p>
        </p:txBody>
      </p:sp>
      <p:sp>
        <p:nvSpPr>
          <p:cNvPr id="212" name="Shape 29"/>
          <p:cNvSpPr/>
          <p:nvPr/>
        </p:nvSpPr>
        <p:spPr>
          <a:xfrm>
            <a:off x="7337520" y="5292000"/>
            <a:ext cx="4516560" cy="1663920"/>
          </a:xfrm>
          <a:custGeom>
            <a:avLst/>
            <a:gdLst/>
            <a:ahLst/>
            <a:rect l="l" t="t" r="r" b="b"/>
            <a:pathLst>
              <a:path w="4517387" h="1665168">
                <a:moveTo>
                  <a:pt x="0" y="0"/>
                </a:moveTo>
                <a:lnTo>
                  <a:pt x="4517387" y="0"/>
                </a:lnTo>
                <a:lnTo>
                  <a:pt x="4517387" y="1665168"/>
                </a:lnTo>
                <a:lnTo>
                  <a:pt x="0" y="1665168"/>
                </a:lnTo>
                <a:lnTo>
                  <a:pt x="0" y="0"/>
                </a:lnTo>
                <a:close/>
              </a:path>
            </a:pathLst>
          </a:custGeom>
          <a:noFill/>
          <a:ln w="25400">
            <a:solidFill>
              <a:srgbClr val="ddff00"/>
            </a:solidFill>
            <a:round/>
          </a:ln>
        </p:spPr>
        <p:style>
          <a:lnRef idx="0"/>
          <a:fillRef idx="0"/>
          <a:effectRef idx="0"/>
          <a:fontRef idx="minor"/>
        </p:style>
      </p:sp>
      <p:sp>
        <p:nvSpPr>
          <p:cNvPr id="213" name="Text 30"/>
          <p:cNvSpPr/>
          <p:nvPr/>
        </p:nvSpPr>
        <p:spPr>
          <a:xfrm>
            <a:off x="7510680" y="5465160"/>
            <a:ext cx="424476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ddff00"/>
                </a:solidFill>
                <a:latin typeface="Liter"/>
                <a:ea typeface="Liter"/>
              </a:rPr>
              <a:t>Cultural Revolution</a:t>
            </a:r>
            <a:endParaRPr b="0" lang="en-HK" sz="1170" spc="-1" strike="noStrike">
              <a:latin typeface="Arial"/>
            </a:endParaRPr>
          </a:p>
        </p:txBody>
      </p:sp>
      <p:sp>
        <p:nvSpPr>
          <p:cNvPr id="214" name="Shape 31"/>
          <p:cNvSpPr/>
          <p:nvPr/>
        </p:nvSpPr>
        <p:spPr>
          <a:xfrm>
            <a:off x="7510680" y="5860800"/>
            <a:ext cx="64800" cy="648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5" name="Text 32"/>
          <p:cNvSpPr/>
          <p:nvPr/>
        </p:nvSpPr>
        <p:spPr>
          <a:xfrm>
            <a:off x="7642440" y="5794920"/>
            <a:ext cx="30081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Fashion:</a:t>
            </a:r>
            <a:r>
              <a:rPr b="0" lang="en-US" sz="1040" spc="-1" strike="noStrike">
                <a:solidFill>
                  <a:srgbClr val="ffffff">
                    <a:alpha val="80000"/>
                  </a:srgbClr>
                </a:solidFill>
                <a:latin typeface="Liter"/>
                <a:ea typeface="Liter"/>
              </a:rPr>
              <a:t> Mod style, mop-top haircuts, tailored suits</a:t>
            </a:r>
            <a:endParaRPr b="0" lang="en-HK" sz="1040" spc="-1" strike="noStrike">
              <a:latin typeface="Arial"/>
            </a:endParaRPr>
          </a:p>
        </p:txBody>
      </p:sp>
      <p:sp>
        <p:nvSpPr>
          <p:cNvPr id="216" name="Shape 33"/>
          <p:cNvSpPr/>
          <p:nvPr/>
        </p:nvSpPr>
        <p:spPr>
          <a:xfrm>
            <a:off x="7510680" y="6124680"/>
            <a:ext cx="64800" cy="648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7" name="Text 34"/>
          <p:cNvSpPr/>
          <p:nvPr/>
        </p:nvSpPr>
        <p:spPr>
          <a:xfrm>
            <a:off x="7642440" y="6058800"/>
            <a:ext cx="323892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Youth Culture:</a:t>
            </a:r>
            <a:r>
              <a:rPr b="0" lang="en-US" sz="1040" spc="-1" strike="noStrike">
                <a:solidFill>
                  <a:srgbClr val="ffffff">
                    <a:alpha val="80000"/>
                  </a:srgbClr>
                </a:solidFill>
                <a:latin typeface="Liter"/>
                <a:ea typeface="Liter"/>
              </a:rPr>
              <a:t> Teenagers found their voice and identity</a:t>
            </a:r>
            <a:endParaRPr b="0" lang="en-HK" sz="1040" spc="-1" strike="noStrike">
              <a:latin typeface="Arial"/>
            </a:endParaRPr>
          </a:p>
        </p:txBody>
      </p:sp>
      <p:sp>
        <p:nvSpPr>
          <p:cNvPr id="218" name="Shape 35"/>
          <p:cNvSpPr/>
          <p:nvPr/>
        </p:nvSpPr>
        <p:spPr>
          <a:xfrm>
            <a:off x="7510680" y="6388560"/>
            <a:ext cx="64800" cy="648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9" name="Text 36"/>
          <p:cNvSpPr/>
          <p:nvPr/>
        </p:nvSpPr>
        <p:spPr>
          <a:xfrm>
            <a:off x="7642440" y="6322320"/>
            <a:ext cx="32637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Counterculture:</a:t>
            </a:r>
            <a:r>
              <a:rPr b="0" lang="en-US" sz="1040" spc="-1" strike="noStrike">
                <a:solidFill>
                  <a:srgbClr val="ffffff">
                    <a:alpha val="80000"/>
                  </a:srgbClr>
                </a:solidFill>
                <a:latin typeface="Liter"/>
                <a:ea typeface="Liter"/>
              </a:rPr>
              <a:t> Music touched on peace, love, freedom</a:t>
            </a:r>
            <a:endParaRPr b="0" lang="en-HK" sz="1040" spc="-1" strike="noStrike">
              <a:latin typeface="Arial"/>
            </a:endParaRPr>
          </a:p>
        </p:txBody>
      </p:sp>
      <p:sp>
        <p:nvSpPr>
          <p:cNvPr id="220" name="Shape 37"/>
          <p:cNvSpPr/>
          <p:nvPr/>
        </p:nvSpPr>
        <p:spPr>
          <a:xfrm>
            <a:off x="7510680" y="6652080"/>
            <a:ext cx="64800" cy="648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21" name="Text 38"/>
          <p:cNvSpPr/>
          <p:nvPr/>
        </p:nvSpPr>
        <p:spPr>
          <a:xfrm>
            <a:off x="7642440" y="6586200"/>
            <a:ext cx="403848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Global Impact:</a:t>
            </a:r>
            <a:r>
              <a:rPr b="0" lang="en-US" sz="1040" spc="-1" strike="noStrike">
                <a:solidFill>
                  <a:srgbClr val="ffffff">
                    <a:alpha val="80000"/>
                  </a:srgbClr>
                </a:solidFill>
                <a:latin typeface="Liter"/>
                <a:ea typeface="Liter"/>
              </a:rPr>
              <a:t> Proved non-American acts could dominate U.S. charts</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2" name="Shape 0"/>
          <p:cNvSpPr/>
          <p:nvPr/>
        </p:nvSpPr>
        <p:spPr>
          <a:xfrm>
            <a:off x="317520" y="365040"/>
            <a:ext cx="62280" cy="3798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223" name="Text 1"/>
          <p:cNvSpPr/>
          <p:nvPr/>
        </p:nvSpPr>
        <p:spPr>
          <a:xfrm>
            <a:off x="507960" y="317520"/>
            <a:ext cx="58096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ddff00"/>
                </a:solidFill>
                <a:latin typeface="Liter"/>
                <a:ea typeface="Liter"/>
              </a:rPr>
              <a:t>CHAPTER 02</a:t>
            </a:r>
            <a:endParaRPr b="0" lang="en-HK" sz="880" spc="-1" strike="noStrike">
              <a:latin typeface="Arial"/>
            </a:endParaRPr>
          </a:p>
        </p:txBody>
      </p:sp>
      <p:sp>
        <p:nvSpPr>
          <p:cNvPr id="224" name="Text 2"/>
          <p:cNvSpPr/>
          <p:nvPr/>
        </p:nvSpPr>
        <p:spPr>
          <a:xfrm>
            <a:off x="507960" y="476280"/>
            <a:ext cx="589680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The Rolling Stones &amp; The London Blues Scene</a:t>
            </a:r>
            <a:endParaRPr b="0" lang="en-HK" sz="2250" spc="-1" strike="noStrike">
              <a:latin typeface="Arial"/>
            </a:endParaRPr>
          </a:p>
        </p:txBody>
      </p:sp>
      <p:sp>
        <p:nvSpPr>
          <p:cNvPr id="225" name="Shape 3"/>
          <p:cNvSpPr/>
          <p:nvPr/>
        </p:nvSpPr>
        <p:spPr>
          <a:xfrm>
            <a:off x="317520" y="1047600"/>
            <a:ext cx="4547520" cy="24753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226" name="Text 4"/>
          <p:cNvSpPr/>
          <p:nvPr/>
        </p:nvSpPr>
        <p:spPr>
          <a:xfrm>
            <a:off x="507960" y="1238400"/>
            <a:ext cx="426168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Bad Boys of Rock</a:t>
            </a:r>
            <a:endParaRPr b="0" lang="en-HK" sz="1500" spc="-1" strike="noStrike">
              <a:latin typeface="Arial"/>
            </a:endParaRPr>
          </a:p>
        </p:txBody>
      </p:sp>
      <p:sp>
        <p:nvSpPr>
          <p:cNvPr id="227" name="Text 5"/>
          <p:cNvSpPr/>
          <p:nvPr/>
        </p:nvSpPr>
        <p:spPr>
          <a:xfrm>
            <a:off x="507960" y="1587600"/>
            <a:ext cx="423000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The Beatles represented wholesome charm,</a:t>
            </a:r>
            <a:r>
              <a:rPr b="0" lang="en-US" sz="1000" spc="-1" strike="noStrike">
                <a:solidFill>
                  <a:srgbClr val="000000"/>
                </a:solidFill>
                <a:latin typeface="Liter"/>
                <a:ea typeface="Liter"/>
              </a:rPr>
              <a:t> The Rolling Stones brought danger and sexuality to rock. Their scruffy appearance and blues-influenced sound offered a stark contrast to the clean-cut image of early British Invasion bands.</a:t>
            </a:r>
            <a:endParaRPr b="0" lang="en-HK" sz="1000" spc="-1" strike="noStrike">
              <a:latin typeface="Arial"/>
            </a:endParaRPr>
          </a:p>
        </p:txBody>
      </p:sp>
      <p:sp>
        <p:nvSpPr>
          <p:cNvPr id="228" name="Text 6"/>
          <p:cNvSpPr/>
          <p:nvPr/>
        </p:nvSpPr>
        <p:spPr>
          <a:xfrm>
            <a:off x="507960" y="2508120"/>
            <a:ext cx="423000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By embracing sex and youthful rebellion in their music, The Stones courted controversy but also elevated rock to new cultural heights. They expanded rock's scope by transitioning from singles artists into musicians capable of producing cohesive albums.</a:t>
            </a:r>
            <a:endParaRPr b="0" lang="en-HK" sz="1000" spc="-1" strike="noStrike">
              <a:latin typeface="Arial"/>
            </a:endParaRPr>
          </a:p>
        </p:txBody>
      </p:sp>
      <p:sp>
        <p:nvSpPr>
          <p:cNvPr id="229" name="Shape 7"/>
          <p:cNvSpPr/>
          <p:nvPr/>
        </p:nvSpPr>
        <p:spPr>
          <a:xfrm>
            <a:off x="325440" y="3659040"/>
            <a:ext cx="4531680" cy="287244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230" name="Text 8"/>
          <p:cNvSpPr/>
          <p:nvPr/>
        </p:nvSpPr>
        <p:spPr>
          <a:xfrm>
            <a:off x="492120" y="3825720"/>
            <a:ext cx="42775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British Invasion Bands</a:t>
            </a:r>
            <a:endParaRPr b="0" lang="en-HK" sz="1250" spc="-1" strike="noStrike">
              <a:latin typeface="Arial"/>
            </a:endParaRPr>
          </a:p>
        </p:txBody>
      </p:sp>
      <p:sp>
        <p:nvSpPr>
          <p:cNvPr id="231" name="Shape 9"/>
          <p:cNvSpPr/>
          <p:nvPr/>
        </p:nvSpPr>
        <p:spPr>
          <a:xfrm>
            <a:off x="507960" y="417528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2" name="Shape 10"/>
          <p:cNvSpPr/>
          <p:nvPr/>
        </p:nvSpPr>
        <p:spPr>
          <a:xfrm>
            <a:off x="619200" y="419112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3" name="Shape 11"/>
          <p:cNvSpPr/>
          <p:nvPr/>
        </p:nvSpPr>
        <p:spPr>
          <a:xfrm>
            <a:off x="730080" y="4302000"/>
            <a:ext cx="157680" cy="157680"/>
          </a:xfrm>
          <a:custGeom>
            <a:avLst/>
            <a:gdLst/>
            <a:ah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w="0">
            <a:noFill/>
          </a:ln>
        </p:spPr>
        <p:style>
          <a:lnRef idx="0"/>
          <a:fillRef idx="0"/>
          <a:effectRef idx="0"/>
          <a:fontRef idx="minor"/>
        </p:style>
      </p:sp>
      <p:sp>
        <p:nvSpPr>
          <p:cNvPr id="234" name="Text 12"/>
          <p:cNvSpPr/>
          <p:nvPr/>
        </p:nvSpPr>
        <p:spPr>
          <a:xfrm>
            <a:off x="1095480" y="4175280"/>
            <a:ext cx="336492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Who</a:t>
            </a:r>
            <a:endParaRPr b="0" lang="en-HK" sz="1130" spc="-1" strike="noStrike">
              <a:latin typeface="Arial"/>
            </a:endParaRPr>
          </a:p>
        </p:txBody>
      </p:sp>
      <p:sp>
        <p:nvSpPr>
          <p:cNvPr id="235" name="Text 13"/>
          <p:cNvSpPr/>
          <p:nvPr/>
        </p:nvSpPr>
        <p:spPr>
          <a:xfrm>
            <a:off x="1095480" y="4397400"/>
            <a:ext cx="335700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energy, power chords, destroyed instruments on stage</a:t>
            </a:r>
            <a:endParaRPr b="0" lang="en-HK" sz="1000" spc="-1" strike="noStrike">
              <a:latin typeface="Arial"/>
            </a:endParaRPr>
          </a:p>
        </p:txBody>
      </p:sp>
      <p:sp>
        <p:nvSpPr>
          <p:cNvPr id="236" name="Shape 14"/>
          <p:cNvSpPr/>
          <p:nvPr/>
        </p:nvSpPr>
        <p:spPr>
          <a:xfrm>
            <a:off x="507960" y="468324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7" name="Shape 15"/>
          <p:cNvSpPr/>
          <p:nvPr/>
        </p:nvSpPr>
        <p:spPr>
          <a:xfrm>
            <a:off x="619200" y="469908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8" name="Shape 16"/>
          <p:cNvSpPr/>
          <p:nvPr/>
        </p:nvSpPr>
        <p:spPr>
          <a:xfrm>
            <a:off x="740160" y="4809960"/>
            <a:ext cx="137880" cy="15768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239" name="Text 17"/>
          <p:cNvSpPr/>
          <p:nvPr/>
        </p:nvSpPr>
        <p:spPr>
          <a:xfrm>
            <a:off x="1095480" y="4683240"/>
            <a:ext cx="24994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Kinks</a:t>
            </a:r>
            <a:endParaRPr b="0" lang="en-HK" sz="1130" spc="-1" strike="noStrike">
              <a:latin typeface="Arial"/>
            </a:endParaRPr>
          </a:p>
        </p:txBody>
      </p:sp>
      <p:sp>
        <p:nvSpPr>
          <p:cNvPr id="240" name="Text 18"/>
          <p:cNvSpPr/>
          <p:nvPr/>
        </p:nvSpPr>
        <p:spPr>
          <a:xfrm>
            <a:off x="1095480" y="4905360"/>
            <a:ext cx="24915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Innovative songwriting, distorted guitar riffs</a:t>
            </a:r>
            <a:endParaRPr b="0" lang="en-HK" sz="1000" spc="-1" strike="noStrike">
              <a:latin typeface="Arial"/>
            </a:endParaRPr>
          </a:p>
        </p:txBody>
      </p:sp>
      <p:sp>
        <p:nvSpPr>
          <p:cNvPr id="241" name="Shape 19"/>
          <p:cNvSpPr/>
          <p:nvPr/>
        </p:nvSpPr>
        <p:spPr>
          <a:xfrm>
            <a:off x="507960" y="519120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2" name="Shape 20"/>
          <p:cNvSpPr/>
          <p:nvPr/>
        </p:nvSpPr>
        <p:spPr>
          <a:xfrm>
            <a:off x="619200" y="520704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3" name="Shape 21"/>
          <p:cNvSpPr/>
          <p:nvPr/>
        </p:nvSpPr>
        <p:spPr>
          <a:xfrm>
            <a:off x="740160" y="5318280"/>
            <a:ext cx="137880" cy="15768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244" name="Text 22"/>
          <p:cNvSpPr/>
          <p:nvPr/>
        </p:nvSpPr>
        <p:spPr>
          <a:xfrm>
            <a:off x="1095480" y="5191200"/>
            <a:ext cx="26982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Animals</a:t>
            </a:r>
            <a:endParaRPr b="0" lang="en-HK" sz="1130" spc="-1" strike="noStrike">
              <a:latin typeface="Arial"/>
            </a:endParaRPr>
          </a:p>
        </p:txBody>
      </p:sp>
      <p:sp>
        <p:nvSpPr>
          <p:cNvPr id="245" name="Text 23"/>
          <p:cNvSpPr/>
          <p:nvPr/>
        </p:nvSpPr>
        <p:spPr>
          <a:xfrm>
            <a:off x="1095480" y="5413320"/>
            <a:ext cx="26899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"House of the Rising Sun" - gritty R&amp;B influence</a:t>
            </a:r>
            <a:endParaRPr b="0" lang="en-HK" sz="1000" spc="-1" strike="noStrike">
              <a:latin typeface="Arial"/>
            </a:endParaRPr>
          </a:p>
        </p:txBody>
      </p:sp>
      <p:sp>
        <p:nvSpPr>
          <p:cNvPr id="246" name="Shape 24"/>
          <p:cNvSpPr/>
          <p:nvPr/>
        </p:nvSpPr>
        <p:spPr>
          <a:xfrm>
            <a:off x="507960" y="569916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7" name="Shape 25"/>
          <p:cNvSpPr/>
          <p:nvPr/>
        </p:nvSpPr>
        <p:spPr>
          <a:xfrm>
            <a:off x="619200" y="571500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8" name="Shape 26"/>
          <p:cNvSpPr/>
          <p:nvPr/>
        </p:nvSpPr>
        <p:spPr>
          <a:xfrm>
            <a:off x="720360" y="5826240"/>
            <a:ext cx="177480" cy="157680"/>
          </a:xfrm>
          <a:custGeom>
            <a:avLst/>
            <a:gdLst/>
            <a:ah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w="0">
            <a:noFill/>
          </a:ln>
        </p:spPr>
        <p:style>
          <a:lnRef idx="0"/>
          <a:fillRef idx="0"/>
          <a:effectRef idx="0"/>
          <a:fontRef idx="minor"/>
        </p:style>
      </p:sp>
      <p:sp>
        <p:nvSpPr>
          <p:cNvPr id="249" name="Text 27"/>
          <p:cNvSpPr/>
          <p:nvPr/>
        </p:nvSpPr>
        <p:spPr>
          <a:xfrm>
            <a:off x="1095480" y="5699160"/>
            <a:ext cx="29124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Yardbirds</a:t>
            </a:r>
            <a:endParaRPr b="0" lang="en-HK" sz="1130" spc="-1" strike="noStrike">
              <a:latin typeface="Arial"/>
            </a:endParaRPr>
          </a:p>
        </p:txBody>
      </p:sp>
      <p:sp>
        <p:nvSpPr>
          <p:cNvPr id="250" name="Text 28"/>
          <p:cNvSpPr/>
          <p:nvPr/>
        </p:nvSpPr>
        <p:spPr>
          <a:xfrm>
            <a:off x="1095480" y="5921280"/>
            <a:ext cx="29044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Guitar legends Eric Clapton, Jeff Beck, Jimmy Page</a:t>
            </a:r>
            <a:endParaRPr b="0" lang="en-HK" sz="1000" spc="-1" strike="noStrike">
              <a:latin typeface="Arial"/>
            </a:endParaRPr>
          </a:p>
        </p:txBody>
      </p:sp>
      <p:sp>
        <p:nvSpPr>
          <p:cNvPr id="251" name="Shape 29"/>
          <p:cNvSpPr/>
          <p:nvPr/>
        </p:nvSpPr>
        <p:spPr>
          <a:xfrm>
            <a:off x="5063040" y="1055520"/>
            <a:ext cx="6802200" cy="2745360"/>
          </a:xfrm>
          <a:custGeom>
            <a:avLst/>
            <a:gdLst/>
            <a:ahLst/>
            <a:rect l="l" t="t" r="r" b="b"/>
            <a:pathLst>
              <a:path w="6802438" h="2746375">
                <a:moveTo>
                  <a:pt x="0" y="0"/>
                </a:moveTo>
                <a:lnTo>
                  <a:pt x="6802438" y="0"/>
                </a:lnTo>
                <a:lnTo>
                  <a:pt x="6802438" y="2746375"/>
                </a:lnTo>
                <a:lnTo>
                  <a:pt x="0" y="2746375"/>
                </a:lnTo>
                <a:lnTo>
                  <a:pt x="0" y="0"/>
                </a:lnTo>
                <a:close/>
              </a:path>
            </a:pathLst>
          </a:custGeom>
          <a:noFill/>
          <a:ln w="25400">
            <a:solidFill>
              <a:srgbClr val="ddff00"/>
            </a:solidFill>
            <a:round/>
          </a:ln>
        </p:spPr>
        <p:style>
          <a:lnRef idx="0"/>
          <a:fillRef idx="0"/>
          <a:effectRef idx="0"/>
          <a:fontRef idx="minor"/>
        </p:style>
      </p:sp>
      <p:sp>
        <p:nvSpPr>
          <p:cNvPr id="252" name="Text 30"/>
          <p:cNvSpPr/>
          <p:nvPr/>
        </p:nvSpPr>
        <p:spPr>
          <a:xfrm>
            <a:off x="5261400" y="1254240"/>
            <a:ext cx="650052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The British Invasion Timeline</a:t>
            </a:r>
            <a:endParaRPr b="0" lang="en-HK" sz="1500" spc="-1" strike="noStrike">
              <a:latin typeface="Arial"/>
            </a:endParaRPr>
          </a:p>
        </p:txBody>
      </p:sp>
      <p:sp>
        <p:nvSpPr>
          <p:cNvPr id="253" name="Shape 31"/>
          <p:cNvSpPr/>
          <p:nvPr/>
        </p:nvSpPr>
        <p:spPr>
          <a:xfrm>
            <a:off x="5261400" y="1635120"/>
            <a:ext cx="761040" cy="3164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4" name="Text 32"/>
          <p:cNvSpPr/>
          <p:nvPr/>
        </p:nvSpPr>
        <p:spPr>
          <a:xfrm>
            <a:off x="5229720" y="1635120"/>
            <a:ext cx="824400" cy="3164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1963</a:t>
            </a:r>
            <a:endParaRPr b="0" lang="en-HK" sz="1000" spc="-1" strike="noStrike">
              <a:latin typeface="Arial"/>
            </a:endParaRPr>
          </a:p>
        </p:txBody>
      </p:sp>
      <p:sp>
        <p:nvSpPr>
          <p:cNvPr id="255" name="Shape 33"/>
          <p:cNvSpPr/>
          <p:nvPr/>
        </p:nvSpPr>
        <p:spPr>
          <a:xfrm>
            <a:off x="6166080" y="1635120"/>
            <a:ext cx="30600" cy="3164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56" name="Text 34"/>
          <p:cNvSpPr/>
          <p:nvPr/>
        </p:nvSpPr>
        <p:spPr>
          <a:xfrm>
            <a:off x="6309000" y="1635120"/>
            <a:ext cx="54205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The Beatles release "Please Please Me" and "From Me to You" - first UK #1 hits</a:t>
            </a:r>
            <a:endParaRPr b="0" lang="en-HK" sz="1000" spc="-1" strike="noStrike">
              <a:latin typeface="Arial"/>
            </a:endParaRPr>
          </a:p>
        </p:txBody>
      </p:sp>
      <p:sp>
        <p:nvSpPr>
          <p:cNvPr id="257" name="Shape 35"/>
          <p:cNvSpPr/>
          <p:nvPr/>
        </p:nvSpPr>
        <p:spPr>
          <a:xfrm>
            <a:off x="5261400" y="2048040"/>
            <a:ext cx="761040" cy="3164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8" name="Text 36"/>
          <p:cNvSpPr/>
          <p:nvPr/>
        </p:nvSpPr>
        <p:spPr>
          <a:xfrm>
            <a:off x="5229720" y="2048040"/>
            <a:ext cx="824400" cy="3164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59" name="Shape 37"/>
          <p:cNvSpPr/>
          <p:nvPr/>
        </p:nvSpPr>
        <p:spPr>
          <a:xfrm>
            <a:off x="6166080" y="2048040"/>
            <a:ext cx="30600" cy="3164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0" name="Text 38"/>
          <p:cNvSpPr/>
          <p:nvPr/>
        </p:nvSpPr>
        <p:spPr>
          <a:xfrm>
            <a:off x="6309000" y="2048040"/>
            <a:ext cx="54205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February: Beatles on Ed Sullivan. "I Want to Hold Your Hand" tops U.S. charts</a:t>
            </a:r>
            <a:endParaRPr b="0" lang="en-HK" sz="1000" spc="-1" strike="noStrike">
              <a:latin typeface="Arial"/>
            </a:endParaRPr>
          </a:p>
        </p:txBody>
      </p:sp>
      <p:sp>
        <p:nvSpPr>
          <p:cNvPr id="261" name="Shape 39"/>
          <p:cNvSpPr/>
          <p:nvPr/>
        </p:nvSpPr>
        <p:spPr>
          <a:xfrm>
            <a:off x="5261400" y="2460600"/>
            <a:ext cx="761040" cy="3164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2" name="Text 40"/>
          <p:cNvSpPr/>
          <p:nvPr/>
        </p:nvSpPr>
        <p:spPr>
          <a:xfrm>
            <a:off x="5229720" y="2460600"/>
            <a:ext cx="824400" cy="3164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63" name="Shape 41"/>
          <p:cNvSpPr/>
          <p:nvPr/>
        </p:nvSpPr>
        <p:spPr>
          <a:xfrm>
            <a:off x="6166080" y="2460600"/>
            <a:ext cx="30600" cy="3164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4" name="Text 42"/>
          <p:cNvSpPr/>
          <p:nvPr/>
        </p:nvSpPr>
        <p:spPr>
          <a:xfrm>
            <a:off x="6309000" y="2460600"/>
            <a:ext cx="54205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Rolling Stones release "(I Can't Get No) Satisfaction" - becomes anthem of rebellion</a:t>
            </a:r>
            <a:endParaRPr b="0" lang="en-HK" sz="1000" spc="-1" strike="noStrike">
              <a:latin typeface="Arial"/>
            </a:endParaRPr>
          </a:p>
        </p:txBody>
      </p:sp>
      <p:sp>
        <p:nvSpPr>
          <p:cNvPr id="265" name="Shape 43"/>
          <p:cNvSpPr/>
          <p:nvPr/>
        </p:nvSpPr>
        <p:spPr>
          <a:xfrm>
            <a:off x="5261400" y="2873520"/>
            <a:ext cx="761040" cy="3164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6" name="Text 44"/>
          <p:cNvSpPr/>
          <p:nvPr/>
        </p:nvSpPr>
        <p:spPr>
          <a:xfrm>
            <a:off x="5229720" y="2873520"/>
            <a:ext cx="824400" cy="3164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1965</a:t>
            </a:r>
            <a:endParaRPr b="0" lang="en-HK" sz="1000" spc="-1" strike="noStrike">
              <a:latin typeface="Arial"/>
            </a:endParaRPr>
          </a:p>
        </p:txBody>
      </p:sp>
      <p:sp>
        <p:nvSpPr>
          <p:cNvPr id="267" name="Shape 45"/>
          <p:cNvSpPr/>
          <p:nvPr/>
        </p:nvSpPr>
        <p:spPr>
          <a:xfrm>
            <a:off x="6166080" y="2873520"/>
            <a:ext cx="30600" cy="3164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8" name="Text 46"/>
          <p:cNvSpPr/>
          <p:nvPr/>
        </p:nvSpPr>
        <p:spPr>
          <a:xfrm>
            <a:off x="6309000" y="2873520"/>
            <a:ext cx="54205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June 18: 14 British records in U.S. Top 40 - the invasion's peak</a:t>
            </a:r>
            <a:endParaRPr b="0" lang="en-HK" sz="1000" spc="-1" strike="noStrike">
              <a:latin typeface="Arial"/>
            </a:endParaRPr>
          </a:p>
        </p:txBody>
      </p:sp>
      <p:sp>
        <p:nvSpPr>
          <p:cNvPr id="269" name="Shape 47"/>
          <p:cNvSpPr/>
          <p:nvPr/>
        </p:nvSpPr>
        <p:spPr>
          <a:xfrm>
            <a:off x="5261400" y="3286080"/>
            <a:ext cx="761040" cy="3164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70" name="Text 48"/>
          <p:cNvSpPr/>
          <p:nvPr/>
        </p:nvSpPr>
        <p:spPr>
          <a:xfrm>
            <a:off x="5229720" y="3286080"/>
            <a:ext cx="824400" cy="3164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1966</a:t>
            </a:r>
            <a:endParaRPr b="0" lang="en-HK" sz="1000" spc="-1" strike="noStrike">
              <a:latin typeface="Arial"/>
            </a:endParaRPr>
          </a:p>
        </p:txBody>
      </p:sp>
      <p:sp>
        <p:nvSpPr>
          <p:cNvPr id="271" name="Shape 49"/>
          <p:cNvSpPr/>
          <p:nvPr/>
        </p:nvSpPr>
        <p:spPr>
          <a:xfrm>
            <a:off x="6166080" y="3286080"/>
            <a:ext cx="30600" cy="3164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72" name="Text 50"/>
          <p:cNvSpPr/>
          <p:nvPr/>
        </p:nvSpPr>
        <p:spPr>
          <a:xfrm>
            <a:off x="6309000" y="3286080"/>
            <a:ext cx="54205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Time magazine cover: "London: The Swinging City" - America surrenders</a:t>
            </a:r>
            <a:endParaRPr b="0" lang="en-HK" sz="1000" spc="-1" strike="noStrike">
              <a:latin typeface="Arial"/>
            </a:endParaRPr>
          </a:p>
        </p:txBody>
      </p:sp>
      <p:sp>
        <p:nvSpPr>
          <p:cNvPr id="273" name="Shape 51"/>
          <p:cNvSpPr/>
          <p:nvPr/>
        </p:nvSpPr>
        <p:spPr>
          <a:xfrm>
            <a:off x="5054760" y="3936960"/>
            <a:ext cx="6818040" cy="1221120"/>
          </a:xfrm>
          <a:custGeom>
            <a:avLst/>
            <a:gdLst/>
            <a:ahLst/>
            <a:rect l="l" t="t" r="r" b="b"/>
            <a:pathLst>
              <a:path w="6818313" h="1222375">
                <a:moveTo>
                  <a:pt x="0" y="0"/>
                </a:moveTo>
                <a:lnTo>
                  <a:pt x="6818313" y="0"/>
                </a:lnTo>
                <a:lnTo>
                  <a:pt x="6818313" y="1222375"/>
                </a:lnTo>
                <a:lnTo>
                  <a:pt x="0" y="1222375"/>
                </a:lnTo>
                <a:lnTo>
                  <a:pt x="0" y="0"/>
                </a:lnTo>
                <a:close/>
              </a:path>
            </a:pathLst>
          </a:custGeom>
          <a:solidFill>
            <a:srgbClr val="ddff00"/>
          </a:solidFill>
          <a:ln w="0">
            <a:noFill/>
          </a:ln>
        </p:spPr>
        <p:style>
          <a:lnRef idx="0"/>
          <a:fillRef idx="0"/>
          <a:effectRef idx="0"/>
          <a:fontRef idx="minor"/>
        </p:style>
      </p:sp>
      <p:sp>
        <p:nvSpPr>
          <p:cNvPr id="274" name="Text 52"/>
          <p:cNvSpPr/>
          <p:nvPr/>
        </p:nvSpPr>
        <p:spPr>
          <a:xfrm>
            <a:off x="5213520" y="4095720"/>
            <a:ext cx="65797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The Invasion's Legacy</a:t>
            </a:r>
            <a:endParaRPr b="0" lang="en-HK" sz="1250" spc="-1" strike="noStrike">
              <a:latin typeface="Arial"/>
            </a:endParaRPr>
          </a:p>
        </p:txBody>
      </p:sp>
      <p:sp>
        <p:nvSpPr>
          <p:cNvPr id="275" name="Text 53"/>
          <p:cNvSpPr/>
          <p:nvPr/>
        </p:nvSpPr>
        <p:spPr>
          <a:xfrm>
            <a:off x="5213520" y="4381560"/>
            <a:ext cx="656388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British Invasion proved that British musicians could not only match American artists but surpass them.</a:t>
            </a:r>
            <a:r>
              <a:rPr b="0" lang="en-US" sz="1000" spc="-1" strike="noStrike">
                <a:solidFill>
                  <a:srgbClr val="000000"/>
                </a:solidFill>
                <a:latin typeface="Liter"/>
                <a:ea typeface="Liter"/>
              </a:rPr>
              <a:t> By 1967, English and American bands were equal partners in one international rock culture. The invasion opened doors for foreign acts and established rock as a global phenomenon.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6"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277"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278" name="Shape 1"/>
          <p:cNvSpPr/>
          <p:nvPr/>
        </p:nvSpPr>
        <p:spPr>
          <a:xfrm rot="720600">
            <a:off x="10755000" y="5420160"/>
            <a:ext cx="875160" cy="8751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279" name="Shape 2"/>
          <p:cNvSpPr/>
          <p:nvPr/>
        </p:nvSpPr>
        <p:spPr>
          <a:xfrm rot="21240000">
            <a:off x="319680" y="1310400"/>
            <a:ext cx="1218240" cy="12182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280" name="Text 3"/>
          <p:cNvSpPr/>
          <p:nvPr/>
        </p:nvSpPr>
        <p:spPr>
          <a:xfrm>
            <a:off x="569520" y="1638360"/>
            <a:ext cx="1180080" cy="684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03</a:t>
            </a:r>
            <a:endParaRPr b="0" lang="en-HK" sz="5400" spc="-1" strike="noStrike">
              <a:latin typeface="Arial"/>
            </a:endParaRPr>
          </a:p>
        </p:txBody>
      </p:sp>
      <p:sp>
        <p:nvSpPr>
          <p:cNvPr id="281" name="Shape 4"/>
          <p:cNvSpPr/>
          <p:nvPr/>
        </p:nvSpPr>
        <p:spPr>
          <a:xfrm>
            <a:off x="1828800" y="1752480"/>
            <a:ext cx="3314160" cy="37080"/>
          </a:xfrm>
          <a:custGeom>
            <a:avLst/>
            <a:gdLst/>
            <a:ahLst/>
            <a:rect l="l" t="t" r="r" b="b"/>
            <a:pathLst>
              <a:path w="3314700" h="38100">
                <a:moveTo>
                  <a:pt x="0" y="0"/>
                </a:moveTo>
                <a:lnTo>
                  <a:pt x="3314700" y="0"/>
                </a:lnTo>
                <a:lnTo>
                  <a:pt x="3314700" y="38100"/>
                </a:lnTo>
                <a:lnTo>
                  <a:pt x="0" y="38100"/>
                </a:lnTo>
                <a:lnTo>
                  <a:pt x="0" y="0"/>
                </a:lnTo>
                <a:close/>
              </a:path>
            </a:pathLst>
          </a:custGeom>
          <a:solidFill>
            <a:srgbClr val="ddff00"/>
          </a:solidFill>
          <a:ln w="0">
            <a:noFill/>
          </a:ln>
        </p:spPr>
        <p:style>
          <a:lnRef idx="0"/>
          <a:fillRef idx="0"/>
          <a:effectRef idx="0"/>
          <a:fontRef idx="minor"/>
        </p:style>
      </p:sp>
      <p:sp>
        <p:nvSpPr>
          <p:cNvPr id="282" name="Text 5"/>
          <p:cNvSpPr/>
          <p:nvPr/>
        </p:nvSpPr>
        <p:spPr>
          <a:xfrm>
            <a:off x="1828800" y="1943280"/>
            <a:ext cx="339984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28" strike="noStrike">
                <a:solidFill>
                  <a:srgbClr val="ddff00"/>
                </a:solidFill>
                <a:latin typeface="Liter"/>
                <a:ea typeface="Liter"/>
              </a:rPr>
              <a:t>CHAPTER THREE</a:t>
            </a:r>
            <a:endParaRPr b="0" lang="en-HK" sz="1350" spc="-1" strike="noStrike">
              <a:latin typeface="Arial"/>
            </a:endParaRPr>
          </a:p>
        </p:txBody>
      </p:sp>
      <p:sp>
        <p:nvSpPr>
          <p:cNvPr id="283" name="Text 6"/>
          <p:cNvSpPr/>
          <p:nvPr/>
        </p:nvSpPr>
        <p:spPr>
          <a:xfrm>
            <a:off x="380880" y="2895480"/>
            <a:ext cx="5104800" cy="17136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CLASSIC ROCK</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&amp; HARD ROCK</a:t>
            </a:r>
            <a:endParaRPr b="0" lang="en-HK" sz="5400" spc="-1" strike="noStrike">
              <a:latin typeface="Arial"/>
            </a:endParaRPr>
          </a:p>
        </p:txBody>
      </p:sp>
      <p:sp>
        <p:nvSpPr>
          <p:cNvPr id="284" name="Text 7"/>
          <p:cNvSpPr/>
          <p:nvPr/>
        </p:nvSpPr>
        <p:spPr>
          <a:xfrm>
            <a:off x="380880" y="4838760"/>
            <a:ext cx="487620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Golden Age of Rock</a:t>
            </a:r>
            <a:endParaRPr b="0" lang="en-HK" sz="1800" spc="-1" strike="noStrike">
              <a:latin typeface="Arial"/>
            </a:endParaRPr>
          </a:p>
        </p:txBody>
      </p:sp>
      <p:sp>
        <p:nvSpPr>
          <p:cNvPr id="285" name="Shape 8"/>
          <p:cNvSpPr/>
          <p:nvPr/>
        </p:nvSpPr>
        <p:spPr>
          <a:xfrm>
            <a:off x="380880" y="5448240"/>
            <a:ext cx="761040" cy="370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286" name="Shape 9"/>
          <p:cNvSpPr/>
          <p:nvPr/>
        </p:nvSpPr>
        <p:spPr>
          <a:xfrm>
            <a:off x="1295280" y="5448240"/>
            <a:ext cx="379800" cy="370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287" name="Shape 10"/>
          <p:cNvSpPr/>
          <p:nvPr/>
        </p:nvSpPr>
        <p:spPr>
          <a:xfrm>
            <a:off x="1828800" y="5448240"/>
            <a:ext cx="189360" cy="370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88" name="Shape 0"/>
          <p:cNvSpPr/>
          <p:nvPr/>
        </p:nvSpPr>
        <p:spPr>
          <a:xfrm>
            <a:off x="327240" y="376560"/>
            <a:ext cx="64440" cy="391680"/>
          </a:xfrm>
          <a:custGeom>
            <a:avLst/>
            <a:gdLst/>
            <a:ahLst/>
            <a:rect l="l" t="t" r="r" b="b"/>
            <a:pathLst>
              <a:path w="65460" h="392762">
                <a:moveTo>
                  <a:pt x="0" y="0"/>
                </a:moveTo>
                <a:lnTo>
                  <a:pt x="65460" y="0"/>
                </a:lnTo>
                <a:lnTo>
                  <a:pt x="65460" y="392762"/>
                </a:lnTo>
                <a:lnTo>
                  <a:pt x="0" y="392762"/>
                </a:lnTo>
                <a:lnTo>
                  <a:pt x="0" y="0"/>
                </a:lnTo>
                <a:close/>
              </a:path>
            </a:pathLst>
          </a:custGeom>
          <a:solidFill>
            <a:srgbClr val="ddff00"/>
          </a:solidFill>
          <a:ln w="0">
            <a:noFill/>
          </a:ln>
        </p:spPr>
        <p:style>
          <a:lnRef idx="0"/>
          <a:fillRef idx="0"/>
          <a:effectRef idx="0"/>
          <a:fontRef idx="minor"/>
        </p:style>
      </p:sp>
      <p:sp>
        <p:nvSpPr>
          <p:cNvPr id="289" name="Text 1"/>
          <p:cNvSpPr/>
          <p:nvPr/>
        </p:nvSpPr>
        <p:spPr>
          <a:xfrm>
            <a:off x="523800" y="327240"/>
            <a:ext cx="3198600" cy="162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83" strike="noStrike">
                <a:solidFill>
                  <a:srgbClr val="ddff00"/>
                </a:solidFill>
                <a:latin typeface="Liter"/>
                <a:ea typeface="Liter"/>
              </a:rPr>
              <a:t>CHAPTER 03</a:t>
            </a:r>
            <a:endParaRPr b="0" lang="en-HK" sz="900" spc="-1" strike="noStrike">
              <a:latin typeface="Arial"/>
            </a:endParaRPr>
          </a:p>
        </p:txBody>
      </p:sp>
      <p:sp>
        <p:nvSpPr>
          <p:cNvPr id="290" name="Text 2"/>
          <p:cNvSpPr/>
          <p:nvPr/>
        </p:nvSpPr>
        <p:spPr>
          <a:xfrm>
            <a:off x="523800" y="491040"/>
            <a:ext cx="3288600" cy="326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20" spc="-1" strike="noStrike">
                <a:solidFill>
                  <a:srgbClr val="ffffff"/>
                </a:solidFill>
                <a:latin typeface="Liter"/>
                <a:ea typeface="Liter"/>
              </a:rPr>
              <a:t>The Rise of Classic Rock</a:t>
            </a:r>
            <a:endParaRPr b="0" lang="en-HK" sz="2320" spc="-1" strike="noStrike">
              <a:latin typeface="Arial"/>
            </a:endParaRPr>
          </a:p>
        </p:txBody>
      </p:sp>
      <p:sp>
        <p:nvSpPr>
          <p:cNvPr id="291" name="Shape 3"/>
          <p:cNvSpPr/>
          <p:nvPr/>
        </p:nvSpPr>
        <p:spPr>
          <a:xfrm>
            <a:off x="327240" y="1080000"/>
            <a:ext cx="6799320" cy="2126520"/>
          </a:xfrm>
          <a:custGeom>
            <a:avLst/>
            <a:gdLst/>
            <a:ahLst/>
            <a:rect l="l" t="t" r="r" b="b"/>
            <a:pathLst>
              <a:path w="6799699" h="2127463">
                <a:moveTo>
                  <a:pt x="0" y="0"/>
                </a:moveTo>
                <a:lnTo>
                  <a:pt x="6799699" y="0"/>
                </a:lnTo>
                <a:lnTo>
                  <a:pt x="6799699" y="2127463"/>
                </a:lnTo>
                <a:lnTo>
                  <a:pt x="0" y="2127463"/>
                </a:lnTo>
                <a:lnTo>
                  <a:pt x="0" y="0"/>
                </a:lnTo>
                <a:close/>
              </a:path>
            </a:pathLst>
          </a:custGeom>
          <a:solidFill>
            <a:srgbClr val="ddff00"/>
          </a:solidFill>
          <a:ln w="0">
            <a:noFill/>
          </a:ln>
        </p:spPr>
        <p:style>
          <a:lnRef idx="0"/>
          <a:fillRef idx="0"/>
          <a:effectRef idx="0"/>
          <a:fontRef idx="minor"/>
        </p:style>
      </p:sp>
      <p:sp>
        <p:nvSpPr>
          <p:cNvPr id="292" name="Text 4"/>
          <p:cNvSpPr/>
          <p:nvPr/>
        </p:nvSpPr>
        <p:spPr>
          <a:xfrm>
            <a:off x="523800" y="1276560"/>
            <a:ext cx="6504840" cy="260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40" spc="-1" strike="noStrike">
                <a:solidFill>
                  <a:srgbClr val="000000"/>
                </a:solidFill>
                <a:latin typeface="Liter"/>
                <a:ea typeface="Liter"/>
              </a:rPr>
              <a:t>From Singles to Albums</a:t>
            </a:r>
            <a:endParaRPr b="0" lang="en-HK" sz="1540" spc="-1" strike="noStrike">
              <a:latin typeface="Arial"/>
            </a:endParaRPr>
          </a:p>
        </p:txBody>
      </p:sp>
      <p:sp>
        <p:nvSpPr>
          <p:cNvPr id="293" name="Text 5"/>
          <p:cNvSpPr/>
          <p:nvPr/>
        </p:nvSpPr>
        <p:spPr>
          <a:xfrm>
            <a:off x="523800" y="1636560"/>
            <a:ext cx="6472080" cy="637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30" spc="-1" strike="noStrike">
                <a:solidFill>
                  <a:srgbClr val="000000"/>
                </a:solidFill>
                <a:latin typeface="Liter"/>
                <a:ea typeface="Liter"/>
              </a:rPr>
              <a:t>Classic rock emerged in the late 1960s through the 1970s</a:t>
            </a:r>
            <a:r>
              <a:rPr b="0" lang="en-US" sz="1030" spc="-1" strike="noStrike">
                <a:solidFill>
                  <a:srgbClr val="000000"/>
                </a:solidFill>
                <a:latin typeface="Liter"/>
                <a:ea typeface="Liter"/>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b="0" lang="en-HK" sz="1030" spc="-1" strike="noStrike">
              <a:latin typeface="Arial"/>
            </a:endParaRPr>
          </a:p>
        </p:txBody>
      </p:sp>
      <p:sp>
        <p:nvSpPr>
          <p:cNvPr id="294" name="Text 6"/>
          <p:cNvSpPr/>
          <p:nvPr/>
        </p:nvSpPr>
        <p:spPr>
          <a:xfrm>
            <a:off x="523800" y="2373120"/>
            <a:ext cx="6472080" cy="637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30" spc="-1" strike="noStrike">
                <a:solidFill>
                  <a:srgbClr val="000000">
                    <a:alpha val="80000"/>
                  </a:srgbClr>
                </a:solidFill>
                <a:latin typeface="Liter"/>
                <a:ea typeface="Liter"/>
              </a:rPr>
              <a:t>Classic rock is characterized by its melodic, radio-friendly sound with well-structured songs, catchy hooks, and strong vocal harmonies. It features prominent guitar work and classic rock instrumentation including electric guitars, bass, drums, and keyboards.</a:t>
            </a:r>
            <a:endParaRPr b="0" lang="en-HK" sz="1030" spc="-1" strike="noStrike">
              <a:latin typeface="Arial"/>
            </a:endParaRPr>
          </a:p>
        </p:txBody>
      </p:sp>
      <p:sp>
        <p:nvSpPr>
          <p:cNvPr id="295" name="Shape 7"/>
          <p:cNvSpPr/>
          <p:nvPr/>
        </p:nvSpPr>
        <p:spPr>
          <a:xfrm>
            <a:off x="335520" y="3346560"/>
            <a:ext cx="6783120" cy="2404440"/>
          </a:xfrm>
          <a:custGeom>
            <a:avLst/>
            <a:gdLst/>
            <a:ahLst/>
            <a:rect l="l" t="t" r="r" b="b"/>
            <a:pathLst>
              <a:path w="6783334" h="2405670">
                <a:moveTo>
                  <a:pt x="0" y="0"/>
                </a:moveTo>
                <a:lnTo>
                  <a:pt x="6783334" y="0"/>
                </a:lnTo>
                <a:lnTo>
                  <a:pt x="6783334" y="2405670"/>
                </a:lnTo>
                <a:lnTo>
                  <a:pt x="0" y="2405670"/>
                </a:lnTo>
                <a:lnTo>
                  <a:pt x="0" y="0"/>
                </a:lnTo>
                <a:close/>
              </a:path>
            </a:pathLst>
          </a:custGeom>
          <a:noFill/>
          <a:ln w="25400">
            <a:solidFill>
              <a:srgbClr val="ddff00"/>
            </a:solidFill>
            <a:round/>
          </a:ln>
        </p:spPr>
        <p:style>
          <a:lnRef idx="0"/>
          <a:fillRef idx="0"/>
          <a:effectRef idx="0"/>
          <a:fontRef idx="minor"/>
        </p:style>
      </p:sp>
      <p:sp>
        <p:nvSpPr>
          <p:cNvPr id="296" name="Text 8"/>
          <p:cNvSpPr/>
          <p:nvPr/>
        </p:nvSpPr>
        <p:spPr>
          <a:xfrm>
            <a:off x="507240" y="3518640"/>
            <a:ext cx="6521040" cy="22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90" spc="-1" strike="noStrike">
                <a:solidFill>
                  <a:srgbClr val="ddff00"/>
                </a:solidFill>
                <a:latin typeface="Liter"/>
                <a:ea typeface="Liter"/>
              </a:rPr>
              <a:t>Iconic Classic Rock Albums</a:t>
            </a:r>
            <a:endParaRPr b="0" lang="en-HK" sz="1290" spc="-1" strike="noStrike">
              <a:latin typeface="Arial"/>
            </a:endParaRPr>
          </a:p>
        </p:txBody>
      </p:sp>
      <p:sp>
        <p:nvSpPr>
          <p:cNvPr id="297" name="Shape 9"/>
          <p:cNvSpPr/>
          <p:nvPr/>
        </p:nvSpPr>
        <p:spPr>
          <a:xfrm>
            <a:off x="511560" y="3882600"/>
            <a:ext cx="3165840" cy="7927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98" name="Text 10"/>
          <p:cNvSpPr/>
          <p:nvPr/>
        </p:nvSpPr>
        <p:spPr>
          <a:xfrm>
            <a:off x="613800" y="3984840"/>
            <a:ext cx="30351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Led Zeppelin IV</a:t>
            </a:r>
            <a:endParaRPr b="0" lang="en-HK" sz="1160" spc="-1" strike="noStrike">
              <a:latin typeface="Arial"/>
            </a:endParaRPr>
          </a:p>
        </p:txBody>
      </p:sp>
      <p:sp>
        <p:nvSpPr>
          <p:cNvPr id="299" name="Text 11"/>
          <p:cNvSpPr/>
          <p:nvPr/>
        </p:nvSpPr>
        <p:spPr>
          <a:xfrm>
            <a:off x="613800" y="4246920"/>
            <a:ext cx="3018600" cy="162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Led Zeppelin (1971)</a:t>
            </a:r>
            <a:endParaRPr b="0" lang="en-HK" sz="900" spc="-1" strike="noStrike">
              <a:latin typeface="Arial"/>
            </a:endParaRPr>
          </a:p>
        </p:txBody>
      </p:sp>
      <p:sp>
        <p:nvSpPr>
          <p:cNvPr id="300" name="Text 12"/>
          <p:cNvSpPr/>
          <p:nvPr/>
        </p:nvSpPr>
        <p:spPr>
          <a:xfrm>
            <a:off x="613800" y="4443120"/>
            <a:ext cx="301032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Features "Stairway to Heaven"</a:t>
            </a:r>
            <a:endParaRPr b="0" lang="en-HK" sz="770" spc="-1" strike="noStrike">
              <a:latin typeface="Arial"/>
            </a:endParaRPr>
          </a:p>
        </p:txBody>
      </p:sp>
      <p:sp>
        <p:nvSpPr>
          <p:cNvPr id="301" name="Shape 13"/>
          <p:cNvSpPr/>
          <p:nvPr/>
        </p:nvSpPr>
        <p:spPr>
          <a:xfrm>
            <a:off x="3782160" y="3882600"/>
            <a:ext cx="3165840" cy="7927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2" name="Text 14"/>
          <p:cNvSpPr/>
          <p:nvPr/>
        </p:nvSpPr>
        <p:spPr>
          <a:xfrm>
            <a:off x="3884400" y="3984840"/>
            <a:ext cx="30351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The Dark Side of the Moon</a:t>
            </a:r>
            <a:endParaRPr b="0" lang="en-HK" sz="1160" spc="-1" strike="noStrike">
              <a:latin typeface="Arial"/>
            </a:endParaRPr>
          </a:p>
        </p:txBody>
      </p:sp>
      <p:sp>
        <p:nvSpPr>
          <p:cNvPr id="303" name="Text 15"/>
          <p:cNvSpPr/>
          <p:nvPr/>
        </p:nvSpPr>
        <p:spPr>
          <a:xfrm>
            <a:off x="3884400" y="4246920"/>
            <a:ext cx="3018600" cy="162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Pink Floyd (1973)</a:t>
            </a:r>
            <a:endParaRPr b="0" lang="en-HK" sz="900" spc="-1" strike="noStrike">
              <a:latin typeface="Arial"/>
            </a:endParaRPr>
          </a:p>
        </p:txBody>
      </p:sp>
      <p:sp>
        <p:nvSpPr>
          <p:cNvPr id="304" name="Text 16"/>
          <p:cNvSpPr/>
          <p:nvPr/>
        </p:nvSpPr>
        <p:spPr>
          <a:xfrm>
            <a:off x="3884400" y="4443120"/>
            <a:ext cx="301032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Concept album masterpiece</a:t>
            </a:r>
            <a:endParaRPr b="0" lang="en-HK" sz="770" spc="-1" strike="noStrike">
              <a:latin typeface="Arial"/>
            </a:endParaRPr>
          </a:p>
        </p:txBody>
      </p:sp>
      <p:sp>
        <p:nvSpPr>
          <p:cNvPr id="305" name="Shape 17"/>
          <p:cNvSpPr/>
          <p:nvPr/>
        </p:nvSpPr>
        <p:spPr>
          <a:xfrm>
            <a:off x="511560" y="4782600"/>
            <a:ext cx="3165840" cy="7927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6" name="Text 18"/>
          <p:cNvSpPr/>
          <p:nvPr/>
        </p:nvSpPr>
        <p:spPr>
          <a:xfrm>
            <a:off x="613800" y="4884840"/>
            <a:ext cx="30351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Hotel California</a:t>
            </a:r>
            <a:endParaRPr b="0" lang="en-HK" sz="1160" spc="-1" strike="noStrike">
              <a:latin typeface="Arial"/>
            </a:endParaRPr>
          </a:p>
        </p:txBody>
      </p:sp>
      <p:sp>
        <p:nvSpPr>
          <p:cNvPr id="307" name="Text 19"/>
          <p:cNvSpPr/>
          <p:nvPr/>
        </p:nvSpPr>
        <p:spPr>
          <a:xfrm>
            <a:off x="613800" y="5146920"/>
            <a:ext cx="3018600" cy="162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Eagles (1976)</a:t>
            </a:r>
            <a:endParaRPr b="0" lang="en-HK" sz="900" spc="-1" strike="noStrike">
              <a:latin typeface="Arial"/>
            </a:endParaRPr>
          </a:p>
        </p:txBody>
      </p:sp>
      <p:sp>
        <p:nvSpPr>
          <p:cNvPr id="308" name="Text 20"/>
          <p:cNvSpPr/>
          <p:nvPr/>
        </p:nvSpPr>
        <p:spPr>
          <a:xfrm>
            <a:off x="613800" y="5343120"/>
            <a:ext cx="301032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Title track guitar solo legendary</a:t>
            </a:r>
            <a:endParaRPr b="0" lang="en-HK" sz="770" spc="-1" strike="noStrike">
              <a:latin typeface="Arial"/>
            </a:endParaRPr>
          </a:p>
        </p:txBody>
      </p:sp>
      <p:sp>
        <p:nvSpPr>
          <p:cNvPr id="309" name="Shape 21"/>
          <p:cNvSpPr/>
          <p:nvPr/>
        </p:nvSpPr>
        <p:spPr>
          <a:xfrm>
            <a:off x="3782160" y="4782600"/>
            <a:ext cx="3165840" cy="7927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10" name="Text 22"/>
          <p:cNvSpPr/>
          <p:nvPr/>
        </p:nvSpPr>
        <p:spPr>
          <a:xfrm>
            <a:off x="3884400" y="4884840"/>
            <a:ext cx="30351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Who's Next</a:t>
            </a:r>
            <a:endParaRPr b="0" lang="en-HK" sz="1160" spc="-1" strike="noStrike">
              <a:latin typeface="Arial"/>
            </a:endParaRPr>
          </a:p>
        </p:txBody>
      </p:sp>
      <p:sp>
        <p:nvSpPr>
          <p:cNvPr id="311" name="Text 23"/>
          <p:cNvSpPr/>
          <p:nvPr/>
        </p:nvSpPr>
        <p:spPr>
          <a:xfrm>
            <a:off x="3884400" y="5146920"/>
            <a:ext cx="3018600" cy="162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Who (1971)</a:t>
            </a:r>
            <a:endParaRPr b="0" lang="en-HK" sz="900" spc="-1" strike="noStrike">
              <a:latin typeface="Arial"/>
            </a:endParaRPr>
          </a:p>
        </p:txBody>
      </p:sp>
      <p:sp>
        <p:nvSpPr>
          <p:cNvPr id="312" name="Text 24"/>
          <p:cNvSpPr/>
          <p:nvPr/>
        </p:nvSpPr>
        <p:spPr>
          <a:xfrm>
            <a:off x="3884400" y="5343120"/>
            <a:ext cx="3010320" cy="1299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"Baba O'Riley" &amp; "Won't Get Fooled Again"</a:t>
            </a:r>
            <a:endParaRPr b="0" lang="en-HK" sz="770" spc="-1" strike="noStrike">
              <a:latin typeface="Arial"/>
            </a:endParaRPr>
          </a:p>
        </p:txBody>
      </p:sp>
      <p:sp>
        <p:nvSpPr>
          <p:cNvPr id="313" name="Shape 25"/>
          <p:cNvSpPr/>
          <p:nvPr/>
        </p:nvSpPr>
        <p:spPr>
          <a:xfrm>
            <a:off x="879120" y="5891400"/>
            <a:ext cx="522720" cy="5227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4" name="Shape 26"/>
          <p:cNvSpPr/>
          <p:nvPr/>
        </p:nvSpPr>
        <p:spPr>
          <a:xfrm>
            <a:off x="1030320" y="6055200"/>
            <a:ext cx="219960" cy="195480"/>
          </a:xfrm>
          <a:custGeom>
            <a:avLst/>
            <a:gdLst/>
            <a:ah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w="0">
            <a:noFill/>
          </a:ln>
        </p:spPr>
        <p:style>
          <a:lnRef idx="0"/>
          <a:fillRef idx="0"/>
          <a:effectRef idx="0"/>
          <a:fontRef idx="minor"/>
        </p:style>
      </p:sp>
      <p:sp>
        <p:nvSpPr>
          <p:cNvPr id="315" name="Text 27"/>
          <p:cNvSpPr/>
          <p:nvPr/>
        </p:nvSpPr>
        <p:spPr>
          <a:xfrm>
            <a:off x="298800" y="6480720"/>
            <a:ext cx="1684440" cy="16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Queen</a:t>
            </a:r>
            <a:endParaRPr b="0" lang="en-HK" sz="900" spc="-1" strike="noStrike">
              <a:latin typeface="Arial"/>
            </a:endParaRPr>
          </a:p>
        </p:txBody>
      </p:sp>
      <p:sp>
        <p:nvSpPr>
          <p:cNvPr id="316" name="Shape 28"/>
          <p:cNvSpPr/>
          <p:nvPr/>
        </p:nvSpPr>
        <p:spPr>
          <a:xfrm>
            <a:off x="2604240" y="5891400"/>
            <a:ext cx="522720" cy="5227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7" name="Shape 29"/>
          <p:cNvSpPr/>
          <p:nvPr/>
        </p:nvSpPr>
        <p:spPr>
          <a:xfrm>
            <a:off x="2768040" y="6055200"/>
            <a:ext cx="195480" cy="195480"/>
          </a:xfrm>
          <a:custGeom>
            <a:avLst/>
            <a:gdLst/>
            <a:ah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w="0">
            <a:noFill/>
          </a:ln>
        </p:spPr>
        <p:style>
          <a:lnRef idx="0"/>
          <a:fillRef idx="0"/>
          <a:effectRef idx="0"/>
          <a:fontRef idx="minor"/>
        </p:style>
      </p:sp>
      <p:sp>
        <p:nvSpPr>
          <p:cNvPr id="318" name="Text 30"/>
          <p:cNvSpPr/>
          <p:nvPr/>
        </p:nvSpPr>
        <p:spPr>
          <a:xfrm>
            <a:off x="2023920" y="6480720"/>
            <a:ext cx="1684440" cy="16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David Bowie</a:t>
            </a:r>
            <a:endParaRPr b="0" lang="en-HK" sz="900" spc="-1" strike="noStrike">
              <a:latin typeface="Arial"/>
            </a:endParaRPr>
          </a:p>
        </p:txBody>
      </p:sp>
      <p:sp>
        <p:nvSpPr>
          <p:cNvPr id="319" name="Shape 31"/>
          <p:cNvSpPr/>
          <p:nvPr/>
        </p:nvSpPr>
        <p:spPr>
          <a:xfrm>
            <a:off x="4330080" y="5891400"/>
            <a:ext cx="522720" cy="5227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0" name="Shape 32"/>
          <p:cNvSpPr/>
          <p:nvPr/>
        </p:nvSpPr>
        <p:spPr>
          <a:xfrm>
            <a:off x="4493880" y="6055200"/>
            <a:ext cx="195480" cy="195480"/>
          </a:xfrm>
          <a:custGeom>
            <a:avLst/>
            <a:gdLst/>
            <a:ah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w="0">
            <a:noFill/>
          </a:ln>
        </p:spPr>
        <p:style>
          <a:lnRef idx="0"/>
          <a:fillRef idx="0"/>
          <a:effectRef idx="0"/>
          <a:fontRef idx="minor"/>
        </p:style>
      </p:sp>
      <p:sp>
        <p:nvSpPr>
          <p:cNvPr id="321" name="Text 33"/>
          <p:cNvSpPr/>
          <p:nvPr/>
        </p:nvSpPr>
        <p:spPr>
          <a:xfrm>
            <a:off x="3749400" y="6480720"/>
            <a:ext cx="1684440" cy="16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Elton John</a:t>
            </a:r>
            <a:endParaRPr b="0" lang="en-HK" sz="900" spc="-1" strike="noStrike">
              <a:latin typeface="Arial"/>
            </a:endParaRPr>
          </a:p>
        </p:txBody>
      </p:sp>
      <p:sp>
        <p:nvSpPr>
          <p:cNvPr id="322" name="Shape 34"/>
          <p:cNvSpPr/>
          <p:nvPr/>
        </p:nvSpPr>
        <p:spPr>
          <a:xfrm>
            <a:off x="6055560" y="5891400"/>
            <a:ext cx="522720" cy="5227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3" name="Shape 35"/>
          <p:cNvSpPr/>
          <p:nvPr/>
        </p:nvSpPr>
        <p:spPr>
          <a:xfrm>
            <a:off x="6231600" y="6055200"/>
            <a:ext cx="170640" cy="195480"/>
          </a:xfrm>
          <a:custGeom>
            <a:avLst/>
            <a:gdLst/>
            <a:ah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w="0">
            <a:noFill/>
          </a:ln>
        </p:spPr>
        <p:style>
          <a:lnRef idx="0"/>
          <a:fillRef idx="0"/>
          <a:effectRef idx="0"/>
          <a:fontRef idx="minor"/>
        </p:style>
      </p:sp>
      <p:sp>
        <p:nvSpPr>
          <p:cNvPr id="324" name="Text 36"/>
          <p:cNvSpPr/>
          <p:nvPr/>
        </p:nvSpPr>
        <p:spPr>
          <a:xfrm>
            <a:off x="5475240" y="6480720"/>
            <a:ext cx="1684440" cy="162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Aerosmith</a:t>
            </a:r>
            <a:endParaRPr b="0" lang="en-HK" sz="900" spc="-1" strike="noStrike">
              <a:latin typeface="Arial"/>
            </a:endParaRPr>
          </a:p>
        </p:txBody>
      </p:sp>
      <p:sp>
        <p:nvSpPr>
          <p:cNvPr id="325" name="Image 0"/>
          <p:cNvSpPr/>
          <p:nvPr/>
        </p:nvSpPr>
        <p:spPr>
          <a:xfrm>
            <a:off x="7327440" y="1080000"/>
            <a:ext cx="4532400" cy="3501000"/>
          </a:xfrm>
          <a:prstGeom prst="roundRect">
            <a:avLst>
              <a:gd name="adj" fmla="val 0"/>
            </a:avLst>
          </a:prstGeom>
          <a:blipFill rotWithShape="0">
            <a:blip r:embed="rId1"/>
            <a:srcRect/>
            <a:stretch/>
          </a:blipFill>
          <a:ln w="0">
            <a:noFill/>
          </a:ln>
        </p:spPr>
        <p:style>
          <a:lnRef idx="0"/>
          <a:fillRef idx="0"/>
          <a:effectRef idx="0"/>
          <a:fontRef idx="minor"/>
        </p:style>
      </p:sp>
      <p:sp>
        <p:nvSpPr>
          <p:cNvPr id="326" name="Shape 37"/>
          <p:cNvSpPr/>
          <p:nvPr/>
        </p:nvSpPr>
        <p:spPr>
          <a:xfrm>
            <a:off x="7327440" y="1080000"/>
            <a:ext cx="4532400" cy="3501000"/>
          </a:xfrm>
          <a:custGeom>
            <a:avLst/>
            <a:gdLst/>
            <a:ahLst/>
            <a:rect l="l" t="t" r="r" b="b"/>
            <a:pathLst>
              <a:path w="4533133" h="3502132">
                <a:moveTo>
                  <a:pt x="0" y="0"/>
                </a:moveTo>
                <a:lnTo>
                  <a:pt x="4533133" y="0"/>
                </a:lnTo>
                <a:lnTo>
                  <a:pt x="4533133" y="3502132"/>
                </a:lnTo>
                <a:lnTo>
                  <a:pt x="0" y="3502132"/>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327" name="Text 38"/>
          <p:cNvSpPr/>
          <p:nvPr/>
        </p:nvSpPr>
        <p:spPr>
          <a:xfrm>
            <a:off x="7458480" y="4025880"/>
            <a:ext cx="4327920" cy="162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1970s ROCK</a:t>
            </a:r>
            <a:endParaRPr b="0" lang="en-HK" sz="900" spc="-1" strike="noStrike">
              <a:latin typeface="Arial"/>
            </a:endParaRPr>
          </a:p>
        </p:txBody>
      </p:sp>
      <p:sp>
        <p:nvSpPr>
          <p:cNvPr id="328" name="Text 39"/>
          <p:cNvSpPr/>
          <p:nvPr/>
        </p:nvSpPr>
        <p:spPr>
          <a:xfrm>
            <a:off x="7458480" y="4222080"/>
            <a:ext cx="434412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Stadium Rock Era</a:t>
            </a:r>
            <a:endParaRPr b="0" lang="en-HK" sz="1160" spc="-1" strike="noStrike">
              <a:latin typeface="Arial"/>
            </a:endParaRPr>
          </a:p>
        </p:txBody>
      </p:sp>
      <p:sp>
        <p:nvSpPr>
          <p:cNvPr id="329" name="Shape 40"/>
          <p:cNvSpPr/>
          <p:nvPr/>
        </p:nvSpPr>
        <p:spPr>
          <a:xfrm>
            <a:off x="7335720" y="4721400"/>
            <a:ext cx="4516200" cy="1913760"/>
          </a:xfrm>
          <a:custGeom>
            <a:avLst/>
            <a:gdLst/>
            <a:ahLst/>
            <a:rect l="l" t="t" r="r" b="b"/>
            <a:pathLst>
              <a:path w="4516768" h="1914717">
                <a:moveTo>
                  <a:pt x="0" y="0"/>
                </a:moveTo>
                <a:lnTo>
                  <a:pt x="4516768" y="0"/>
                </a:lnTo>
                <a:lnTo>
                  <a:pt x="4516768" y="1914717"/>
                </a:lnTo>
                <a:lnTo>
                  <a:pt x="0" y="1914717"/>
                </a:lnTo>
                <a:lnTo>
                  <a:pt x="0" y="0"/>
                </a:lnTo>
                <a:close/>
              </a:path>
            </a:pathLst>
          </a:custGeom>
          <a:noFill/>
          <a:ln w="25400">
            <a:solidFill>
              <a:srgbClr val="ddff00"/>
            </a:solidFill>
            <a:round/>
          </a:ln>
        </p:spPr>
        <p:style>
          <a:lnRef idx="0"/>
          <a:fillRef idx="0"/>
          <a:effectRef idx="0"/>
          <a:fontRef idx="minor"/>
        </p:style>
      </p:sp>
      <p:sp>
        <p:nvSpPr>
          <p:cNvPr id="330" name="Text 41"/>
          <p:cNvSpPr/>
          <p:nvPr/>
        </p:nvSpPr>
        <p:spPr>
          <a:xfrm>
            <a:off x="7507440" y="4893120"/>
            <a:ext cx="42462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ddff00"/>
                </a:solidFill>
                <a:latin typeface="Liter"/>
                <a:ea typeface="Liter"/>
              </a:rPr>
              <a:t>Musical Characteristics</a:t>
            </a:r>
            <a:endParaRPr b="0" lang="en-HK" sz="1160" spc="-1" strike="noStrike">
              <a:latin typeface="Arial"/>
            </a:endParaRPr>
          </a:p>
        </p:txBody>
      </p:sp>
      <p:sp>
        <p:nvSpPr>
          <p:cNvPr id="331" name="Shape 42"/>
          <p:cNvSpPr/>
          <p:nvPr/>
        </p:nvSpPr>
        <p:spPr>
          <a:xfrm>
            <a:off x="7507440" y="5285880"/>
            <a:ext cx="64440" cy="644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2" name="Text 43"/>
          <p:cNvSpPr/>
          <p:nvPr/>
        </p:nvSpPr>
        <p:spPr>
          <a:xfrm>
            <a:off x="7638480" y="5220360"/>
            <a:ext cx="238032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Melodic hooks</a:t>
            </a:r>
            <a:r>
              <a:rPr b="0" lang="en-US" sz="1030" spc="-1" strike="noStrike">
                <a:solidFill>
                  <a:srgbClr val="ffffff">
                    <a:alpha val="80000"/>
                  </a:srgbClr>
                </a:solidFill>
                <a:latin typeface="Liter"/>
                <a:ea typeface="Liter"/>
              </a:rPr>
              <a:t> and memorable choruses</a:t>
            </a:r>
            <a:endParaRPr b="0" lang="en-HK" sz="1030" spc="-1" strike="noStrike">
              <a:latin typeface="Arial"/>
            </a:endParaRPr>
          </a:p>
        </p:txBody>
      </p:sp>
      <p:sp>
        <p:nvSpPr>
          <p:cNvPr id="333" name="Shape 44"/>
          <p:cNvSpPr/>
          <p:nvPr/>
        </p:nvSpPr>
        <p:spPr>
          <a:xfrm>
            <a:off x="7507440" y="5547600"/>
            <a:ext cx="64440" cy="644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4" name="Text 45"/>
          <p:cNvSpPr/>
          <p:nvPr/>
        </p:nvSpPr>
        <p:spPr>
          <a:xfrm>
            <a:off x="7638480" y="5482440"/>
            <a:ext cx="243756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Prominent guitar work</a:t>
            </a:r>
            <a:r>
              <a:rPr b="0" lang="en-US" sz="1030" spc="-1" strike="noStrike">
                <a:solidFill>
                  <a:srgbClr val="ffffff">
                    <a:alpha val="80000"/>
                  </a:srgbClr>
                </a:solidFill>
                <a:latin typeface="Liter"/>
                <a:ea typeface="Liter"/>
              </a:rPr>
              <a:t> with solos and riffs</a:t>
            </a:r>
            <a:endParaRPr b="0" lang="en-HK" sz="1030" spc="-1" strike="noStrike">
              <a:latin typeface="Arial"/>
            </a:endParaRPr>
          </a:p>
        </p:txBody>
      </p:sp>
      <p:sp>
        <p:nvSpPr>
          <p:cNvPr id="335" name="Shape 46"/>
          <p:cNvSpPr/>
          <p:nvPr/>
        </p:nvSpPr>
        <p:spPr>
          <a:xfrm>
            <a:off x="7507440" y="5809680"/>
            <a:ext cx="64440" cy="644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6" name="Text 47"/>
          <p:cNvSpPr/>
          <p:nvPr/>
        </p:nvSpPr>
        <p:spPr>
          <a:xfrm>
            <a:off x="7638480" y="5748120"/>
            <a:ext cx="1418040" cy="187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Strong vocal harmonies</a:t>
            </a:r>
            <a:endParaRPr b="0" lang="en-HK" sz="1030" spc="-1" strike="noStrike">
              <a:latin typeface="Arial"/>
            </a:endParaRPr>
          </a:p>
        </p:txBody>
      </p:sp>
      <p:sp>
        <p:nvSpPr>
          <p:cNvPr id="337" name="Shape 48"/>
          <p:cNvSpPr/>
          <p:nvPr/>
        </p:nvSpPr>
        <p:spPr>
          <a:xfrm>
            <a:off x="7507440" y="6071400"/>
            <a:ext cx="64440" cy="644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8" name="Text 49"/>
          <p:cNvSpPr/>
          <p:nvPr/>
        </p:nvSpPr>
        <p:spPr>
          <a:xfrm>
            <a:off x="7638480" y="6005880"/>
            <a:ext cx="288756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Keyboard integration</a:t>
            </a:r>
            <a:r>
              <a:rPr b="0" lang="en-US" sz="1030" spc="-1" strike="noStrike">
                <a:solidFill>
                  <a:srgbClr val="ffffff">
                    <a:alpha val="80000"/>
                  </a:srgbClr>
                </a:solidFill>
                <a:latin typeface="Liter"/>
                <a:ea typeface="Liter"/>
              </a:rPr>
              <a:t> (piano, organ, synthesizers)</a:t>
            </a:r>
            <a:endParaRPr b="0" lang="en-HK" sz="1030" spc="-1" strike="noStrike">
              <a:latin typeface="Arial"/>
            </a:endParaRPr>
          </a:p>
        </p:txBody>
      </p:sp>
      <p:sp>
        <p:nvSpPr>
          <p:cNvPr id="339" name="Shape 50"/>
          <p:cNvSpPr/>
          <p:nvPr/>
        </p:nvSpPr>
        <p:spPr>
          <a:xfrm>
            <a:off x="7507440" y="6333120"/>
            <a:ext cx="64440" cy="644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40" name="Text 51"/>
          <p:cNvSpPr/>
          <p:nvPr/>
        </p:nvSpPr>
        <p:spPr>
          <a:xfrm>
            <a:off x="7638480" y="6271920"/>
            <a:ext cx="1538280" cy="187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Radio-friendly production</a:t>
            </a:r>
            <a:endParaRPr b="0" lang="en-HK" sz="103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41" name="Shape 0"/>
          <p:cNvSpPr/>
          <p:nvPr/>
        </p:nvSpPr>
        <p:spPr>
          <a:xfrm>
            <a:off x="317520" y="365040"/>
            <a:ext cx="62280" cy="3798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342" name="Text 1"/>
          <p:cNvSpPr/>
          <p:nvPr/>
        </p:nvSpPr>
        <p:spPr>
          <a:xfrm>
            <a:off x="507960" y="317520"/>
            <a:ext cx="438876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ddff00"/>
                </a:solidFill>
                <a:latin typeface="Liter"/>
                <a:ea typeface="Liter"/>
              </a:rPr>
              <a:t>CHAPTER 03</a:t>
            </a:r>
            <a:endParaRPr b="0" lang="en-HK" sz="880" spc="-1" strike="noStrike">
              <a:latin typeface="Arial"/>
            </a:endParaRPr>
          </a:p>
        </p:txBody>
      </p:sp>
      <p:sp>
        <p:nvSpPr>
          <p:cNvPr id="343" name="Text 2"/>
          <p:cNvSpPr/>
          <p:nvPr/>
        </p:nvSpPr>
        <p:spPr>
          <a:xfrm>
            <a:off x="507960" y="476280"/>
            <a:ext cx="447588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Hard Rock: Louder, Heavier, Faster</a:t>
            </a:r>
            <a:endParaRPr b="0" lang="en-HK" sz="2250" spc="-1" strike="noStrike">
              <a:latin typeface="Arial"/>
            </a:endParaRPr>
          </a:p>
        </p:txBody>
      </p:sp>
      <p:sp>
        <p:nvSpPr>
          <p:cNvPr id="344" name="Shape 3"/>
          <p:cNvSpPr/>
          <p:nvPr/>
        </p:nvSpPr>
        <p:spPr>
          <a:xfrm>
            <a:off x="317520" y="1047600"/>
            <a:ext cx="4547520" cy="24753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345" name="Text 4"/>
          <p:cNvSpPr/>
          <p:nvPr/>
        </p:nvSpPr>
        <p:spPr>
          <a:xfrm>
            <a:off x="507960" y="1238400"/>
            <a:ext cx="426168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Evolution of Power</a:t>
            </a:r>
            <a:endParaRPr b="0" lang="en-HK" sz="1500" spc="-1" strike="noStrike">
              <a:latin typeface="Arial"/>
            </a:endParaRPr>
          </a:p>
        </p:txBody>
      </p:sp>
      <p:sp>
        <p:nvSpPr>
          <p:cNvPr id="346" name="Text 5"/>
          <p:cNvSpPr/>
          <p:nvPr/>
        </p:nvSpPr>
        <p:spPr>
          <a:xfrm>
            <a:off x="507960" y="1587600"/>
            <a:ext cx="423000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Hard rock emerged as a subgenre that combined the sound and attitude of rock 'n' roll with a heavier, more aggressive approach.</a:t>
            </a:r>
            <a:r>
              <a:rPr b="0" lang="en-US" sz="1000" spc="-1" strike="noStrike">
                <a:solidFill>
                  <a:srgbClr val="000000"/>
                </a:solidFill>
                <a:latin typeface="Liter"/>
                <a:ea typeface="Liter"/>
              </a:rPr>
              <a:t> It grew out of the blues-based rock and psychedelic rock of the 1960s, pushing the boundaries of volume, distortion, and intensity.</a:t>
            </a:r>
            <a:endParaRPr b="0" lang="en-HK" sz="1000" spc="-1" strike="noStrike">
              <a:latin typeface="Arial"/>
            </a:endParaRPr>
          </a:p>
        </p:txBody>
      </p:sp>
      <p:sp>
        <p:nvSpPr>
          <p:cNvPr id="347" name="Text 6"/>
          <p:cNvSpPr/>
          <p:nvPr/>
        </p:nvSpPr>
        <p:spPr>
          <a:xfrm>
            <a:off x="507960" y="2508120"/>
            <a:ext cx="423000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Hard rock is characterized by powerful, distorted guitar riffs, strong rhythm sections, and often high-energy, driving tempos. Extended guitar solos became a signature element, showcasing technical virtuosity and emotional expression.</a:t>
            </a:r>
            <a:endParaRPr b="0" lang="en-HK" sz="1000" spc="-1" strike="noStrike">
              <a:latin typeface="Arial"/>
            </a:endParaRPr>
          </a:p>
        </p:txBody>
      </p:sp>
      <p:sp>
        <p:nvSpPr>
          <p:cNvPr id="348" name="Shape 7"/>
          <p:cNvSpPr/>
          <p:nvPr/>
        </p:nvSpPr>
        <p:spPr>
          <a:xfrm>
            <a:off x="325440" y="3659040"/>
            <a:ext cx="4531680" cy="287244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349" name="Text 8"/>
          <p:cNvSpPr/>
          <p:nvPr/>
        </p:nvSpPr>
        <p:spPr>
          <a:xfrm>
            <a:off x="492120" y="3825720"/>
            <a:ext cx="42775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Hard Rock Pioneers</a:t>
            </a:r>
            <a:endParaRPr b="0" lang="en-HK" sz="1250" spc="-1" strike="noStrike">
              <a:latin typeface="Arial"/>
            </a:endParaRPr>
          </a:p>
        </p:txBody>
      </p:sp>
      <p:sp>
        <p:nvSpPr>
          <p:cNvPr id="350" name="Shape 9"/>
          <p:cNvSpPr/>
          <p:nvPr/>
        </p:nvSpPr>
        <p:spPr>
          <a:xfrm>
            <a:off x="507960" y="4175280"/>
            <a:ext cx="30600" cy="602280"/>
          </a:xfrm>
          <a:custGeom>
            <a:avLst/>
            <a:gdLst/>
            <a:ahLst/>
            <a:rect l="l" t="t" r="r" b="b"/>
            <a:pathLst>
              <a:path w="31750" h="603250">
                <a:moveTo>
                  <a:pt x="0" y="0"/>
                </a:moveTo>
                <a:lnTo>
                  <a:pt x="31750" y="0"/>
                </a:lnTo>
                <a:lnTo>
                  <a:pt x="31750" y="603250"/>
                </a:lnTo>
                <a:lnTo>
                  <a:pt x="0" y="603250"/>
                </a:lnTo>
                <a:lnTo>
                  <a:pt x="0" y="0"/>
                </a:lnTo>
                <a:close/>
              </a:path>
            </a:pathLst>
          </a:custGeom>
          <a:solidFill>
            <a:srgbClr val="ddff00"/>
          </a:solidFill>
          <a:ln w="0">
            <a:noFill/>
          </a:ln>
        </p:spPr>
        <p:style>
          <a:lnRef idx="0"/>
          <a:fillRef idx="0"/>
          <a:effectRef idx="0"/>
          <a:fontRef idx="minor"/>
        </p:style>
      </p:sp>
      <p:sp>
        <p:nvSpPr>
          <p:cNvPr id="351" name="Shape 10"/>
          <p:cNvSpPr/>
          <p:nvPr/>
        </p:nvSpPr>
        <p:spPr>
          <a:xfrm>
            <a:off x="619200" y="417528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2" name="Shape 11"/>
          <p:cNvSpPr/>
          <p:nvPr/>
        </p:nvSpPr>
        <p:spPr>
          <a:xfrm>
            <a:off x="740160" y="4286160"/>
            <a:ext cx="137880" cy="15768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353" name="Text 12"/>
          <p:cNvSpPr/>
          <p:nvPr/>
        </p:nvSpPr>
        <p:spPr>
          <a:xfrm>
            <a:off x="1095480" y="4175280"/>
            <a:ext cx="366624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Led Zeppelin</a:t>
            </a:r>
            <a:endParaRPr b="0" lang="en-HK" sz="1130" spc="-1" strike="noStrike">
              <a:latin typeface="Arial"/>
            </a:endParaRPr>
          </a:p>
        </p:txBody>
      </p:sp>
      <p:sp>
        <p:nvSpPr>
          <p:cNvPr id="354" name="Text 13"/>
          <p:cNvSpPr/>
          <p:nvPr/>
        </p:nvSpPr>
        <p:spPr>
          <a:xfrm>
            <a:off x="1095480" y="4397400"/>
            <a:ext cx="365832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Jimmy Page's monster riffs and studio wizardry redefined rock guitar</a:t>
            </a:r>
            <a:endParaRPr b="0" lang="en-HK" sz="1000" spc="-1" strike="noStrike">
              <a:latin typeface="Arial"/>
            </a:endParaRPr>
          </a:p>
        </p:txBody>
      </p:sp>
      <p:sp>
        <p:nvSpPr>
          <p:cNvPr id="355" name="Shape 14"/>
          <p:cNvSpPr/>
          <p:nvPr/>
        </p:nvSpPr>
        <p:spPr>
          <a:xfrm>
            <a:off x="507960" y="487368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56" name="Shape 15"/>
          <p:cNvSpPr/>
          <p:nvPr/>
        </p:nvSpPr>
        <p:spPr>
          <a:xfrm>
            <a:off x="619200" y="487368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7" name="Shape 16"/>
          <p:cNvSpPr/>
          <p:nvPr/>
        </p:nvSpPr>
        <p:spPr>
          <a:xfrm>
            <a:off x="740160" y="4984920"/>
            <a:ext cx="137880" cy="15768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58" name="Text 17"/>
          <p:cNvSpPr/>
          <p:nvPr/>
        </p:nvSpPr>
        <p:spPr>
          <a:xfrm>
            <a:off x="1095480" y="4873680"/>
            <a:ext cx="314244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Deep Purple</a:t>
            </a:r>
            <a:endParaRPr b="0" lang="en-HK" sz="1130" spc="-1" strike="noStrike">
              <a:latin typeface="Arial"/>
            </a:endParaRPr>
          </a:p>
        </p:txBody>
      </p:sp>
      <p:sp>
        <p:nvSpPr>
          <p:cNvPr id="359" name="Text 18"/>
          <p:cNvSpPr/>
          <p:nvPr/>
        </p:nvSpPr>
        <p:spPr>
          <a:xfrm>
            <a:off x="1095480" y="5095800"/>
            <a:ext cx="31345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Ritchie Blackmore's classical-influenced guitar mastery</a:t>
            </a:r>
            <a:endParaRPr b="0" lang="en-HK" sz="1000" spc="-1" strike="noStrike">
              <a:latin typeface="Arial"/>
            </a:endParaRPr>
          </a:p>
        </p:txBody>
      </p:sp>
      <p:sp>
        <p:nvSpPr>
          <p:cNvPr id="360" name="Shape 19"/>
          <p:cNvSpPr/>
          <p:nvPr/>
        </p:nvSpPr>
        <p:spPr>
          <a:xfrm>
            <a:off x="507960" y="538164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1" name="Shape 20"/>
          <p:cNvSpPr/>
          <p:nvPr/>
        </p:nvSpPr>
        <p:spPr>
          <a:xfrm>
            <a:off x="619200" y="538164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2" name="Shape 21"/>
          <p:cNvSpPr/>
          <p:nvPr/>
        </p:nvSpPr>
        <p:spPr>
          <a:xfrm>
            <a:off x="730080" y="5492880"/>
            <a:ext cx="157680" cy="157680"/>
          </a:xfrm>
          <a:custGeom>
            <a:avLst/>
            <a:gdLst/>
            <a:ah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w="0">
            <a:noFill/>
          </a:ln>
        </p:spPr>
        <p:style>
          <a:lnRef idx="0"/>
          <a:fillRef idx="0"/>
          <a:effectRef idx="0"/>
          <a:fontRef idx="minor"/>
        </p:style>
      </p:sp>
      <p:sp>
        <p:nvSpPr>
          <p:cNvPr id="363" name="Text 22"/>
          <p:cNvSpPr/>
          <p:nvPr/>
        </p:nvSpPr>
        <p:spPr>
          <a:xfrm>
            <a:off x="1095480" y="5381640"/>
            <a:ext cx="30394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Black Sabbath</a:t>
            </a:r>
            <a:endParaRPr b="0" lang="en-HK" sz="1130" spc="-1" strike="noStrike">
              <a:latin typeface="Arial"/>
            </a:endParaRPr>
          </a:p>
        </p:txBody>
      </p:sp>
      <p:sp>
        <p:nvSpPr>
          <p:cNvPr id="364" name="Text 23"/>
          <p:cNvSpPr/>
          <p:nvPr/>
        </p:nvSpPr>
        <p:spPr>
          <a:xfrm>
            <a:off x="1095480" y="5603760"/>
            <a:ext cx="30315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Tony Iommi's downtuned, heavy riffs pioneered metal</a:t>
            </a:r>
            <a:endParaRPr b="0" lang="en-HK" sz="1000" spc="-1" strike="noStrike">
              <a:latin typeface="Arial"/>
            </a:endParaRPr>
          </a:p>
        </p:txBody>
      </p:sp>
      <p:sp>
        <p:nvSpPr>
          <p:cNvPr id="365" name="Shape 24"/>
          <p:cNvSpPr/>
          <p:nvPr/>
        </p:nvSpPr>
        <p:spPr>
          <a:xfrm>
            <a:off x="507960" y="588960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6" name="Shape 25"/>
          <p:cNvSpPr/>
          <p:nvPr/>
        </p:nvSpPr>
        <p:spPr>
          <a:xfrm>
            <a:off x="619200" y="5889600"/>
            <a:ext cx="379800" cy="3798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7" name="Shape 26"/>
          <p:cNvSpPr/>
          <p:nvPr/>
        </p:nvSpPr>
        <p:spPr>
          <a:xfrm>
            <a:off x="740160" y="6000840"/>
            <a:ext cx="137880" cy="15768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68" name="Text 27"/>
          <p:cNvSpPr/>
          <p:nvPr/>
        </p:nvSpPr>
        <p:spPr>
          <a:xfrm>
            <a:off x="1095480" y="5889600"/>
            <a:ext cx="28648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AC/DC</a:t>
            </a:r>
            <a:endParaRPr b="0" lang="en-HK" sz="1130" spc="-1" strike="noStrike">
              <a:latin typeface="Arial"/>
            </a:endParaRPr>
          </a:p>
        </p:txBody>
      </p:sp>
      <p:sp>
        <p:nvSpPr>
          <p:cNvPr id="369" name="Text 28"/>
          <p:cNvSpPr/>
          <p:nvPr/>
        </p:nvSpPr>
        <p:spPr>
          <a:xfrm>
            <a:off x="1095480" y="6111720"/>
            <a:ext cx="28569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blues-based hard rock with infectious energy</a:t>
            </a:r>
            <a:endParaRPr b="0" lang="en-HK" sz="1000" spc="-1" strike="noStrike">
              <a:latin typeface="Arial"/>
            </a:endParaRPr>
          </a:p>
        </p:txBody>
      </p:sp>
      <p:sp>
        <p:nvSpPr>
          <p:cNvPr id="370" name="Shape 29"/>
          <p:cNvSpPr/>
          <p:nvPr/>
        </p:nvSpPr>
        <p:spPr>
          <a:xfrm>
            <a:off x="5063040" y="1055520"/>
            <a:ext cx="6802200" cy="3602520"/>
          </a:xfrm>
          <a:custGeom>
            <a:avLst/>
            <a:gdLst/>
            <a:ahLst/>
            <a:rect l="l" t="t" r="r" b="b"/>
            <a:pathLst>
              <a:path w="6802438" h="3603625">
                <a:moveTo>
                  <a:pt x="0" y="0"/>
                </a:moveTo>
                <a:lnTo>
                  <a:pt x="6802438" y="0"/>
                </a:lnTo>
                <a:lnTo>
                  <a:pt x="6802438" y="3603625"/>
                </a:lnTo>
                <a:lnTo>
                  <a:pt x="0" y="3603625"/>
                </a:lnTo>
                <a:lnTo>
                  <a:pt x="0" y="0"/>
                </a:lnTo>
                <a:close/>
              </a:path>
            </a:pathLst>
          </a:custGeom>
          <a:noFill/>
          <a:ln w="25400">
            <a:solidFill>
              <a:srgbClr val="ddff00"/>
            </a:solidFill>
            <a:round/>
          </a:ln>
        </p:spPr>
        <p:style>
          <a:lnRef idx="0"/>
          <a:fillRef idx="0"/>
          <a:effectRef idx="0"/>
          <a:fontRef idx="minor"/>
        </p:style>
      </p:sp>
      <p:sp>
        <p:nvSpPr>
          <p:cNvPr id="371" name="Text 30"/>
          <p:cNvSpPr/>
          <p:nvPr/>
        </p:nvSpPr>
        <p:spPr>
          <a:xfrm>
            <a:off x="5261400" y="1254240"/>
            <a:ext cx="650052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Defining Hard Rock Albums</a:t>
            </a:r>
            <a:endParaRPr b="0" lang="en-HK" sz="1500" spc="-1" strike="noStrike">
              <a:latin typeface="Arial"/>
            </a:endParaRPr>
          </a:p>
        </p:txBody>
      </p:sp>
      <p:sp>
        <p:nvSpPr>
          <p:cNvPr id="372" name="Shape 31"/>
          <p:cNvSpPr/>
          <p:nvPr/>
        </p:nvSpPr>
        <p:spPr>
          <a:xfrm>
            <a:off x="5261400" y="1635120"/>
            <a:ext cx="633960" cy="6339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3" name="Text 32"/>
          <p:cNvSpPr/>
          <p:nvPr/>
        </p:nvSpPr>
        <p:spPr>
          <a:xfrm>
            <a:off x="5469840" y="1825560"/>
            <a:ext cx="30852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LZ</a:t>
            </a:r>
            <a:endParaRPr b="0" lang="en-HK" sz="1500" spc="-1" strike="noStrike">
              <a:latin typeface="Arial"/>
            </a:endParaRPr>
          </a:p>
        </p:txBody>
      </p:sp>
      <p:sp>
        <p:nvSpPr>
          <p:cNvPr id="374" name="Text 33"/>
          <p:cNvSpPr/>
          <p:nvPr/>
        </p:nvSpPr>
        <p:spPr>
          <a:xfrm>
            <a:off x="6023160" y="1762200"/>
            <a:ext cx="5714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Physical Graffiti</a:t>
            </a:r>
            <a:endParaRPr b="0" lang="en-HK" sz="1130" spc="-1" strike="noStrike">
              <a:latin typeface="Arial"/>
            </a:endParaRPr>
          </a:p>
        </p:txBody>
      </p:sp>
      <p:sp>
        <p:nvSpPr>
          <p:cNvPr id="375" name="Text 34"/>
          <p:cNvSpPr/>
          <p:nvPr/>
        </p:nvSpPr>
        <p:spPr>
          <a:xfrm>
            <a:off x="6023160" y="1984320"/>
            <a:ext cx="56984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Led Zeppelin (1975) - Double album masterpiece</a:t>
            </a:r>
            <a:endParaRPr b="0" lang="en-HK" sz="880" spc="-1" strike="noStrike">
              <a:latin typeface="Arial"/>
            </a:endParaRPr>
          </a:p>
        </p:txBody>
      </p:sp>
      <p:sp>
        <p:nvSpPr>
          <p:cNvPr id="376" name="Shape 35"/>
          <p:cNvSpPr/>
          <p:nvPr/>
        </p:nvSpPr>
        <p:spPr>
          <a:xfrm>
            <a:off x="5261400" y="2365200"/>
            <a:ext cx="633960" cy="6339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7" name="Text 36"/>
          <p:cNvSpPr/>
          <p:nvPr/>
        </p:nvSpPr>
        <p:spPr>
          <a:xfrm>
            <a:off x="5454360" y="2556000"/>
            <a:ext cx="34020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DP</a:t>
            </a:r>
            <a:endParaRPr b="0" lang="en-HK" sz="1500" spc="-1" strike="noStrike">
              <a:latin typeface="Arial"/>
            </a:endParaRPr>
          </a:p>
        </p:txBody>
      </p:sp>
      <p:sp>
        <p:nvSpPr>
          <p:cNvPr id="378" name="Text 37"/>
          <p:cNvSpPr/>
          <p:nvPr/>
        </p:nvSpPr>
        <p:spPr>
          <a:xfrm>
            <a:off x="6023160" y="2492280"/>
            <a:ext cx="5714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Machine Head</a:t>
            </a:r>
            <a:endParaRPr b="0" lang="en-HK" sz="1130" spc="-1" strike="noStrike">
              <a:latin typeface="Arial"/>
            </a:endParaRPr>
          </a:p>
        </p:txBody>
      </p:sp>
      <p:sp>
        <p:nvSpPr>
          <p:cNvPr id="379" name="Text 38"/>
          <p:cNvSpPr/>
          <p:nvPr/>
        </p:nvSpPr>
        <p:spPr>
          <a:xfrm>
            <a:off x="6023160" y="2714760"/>
            <a:ext cx="56984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Deep Purple (1972) - "Smoke on the Water"</a:t>
            </a:r>
            <a:endParaRPr b="0" lang="en-HK" sz="880" spc="-1" strike="noStrike">
              <a:latin typeface="Arial"/>
            </a:endParaRPr>
          </a:p>
        </p:txBody>
      </p:sp>
      <p:sp>
        <p:nvSpPr>
          <p:cNvPr id="380" name="Shape 39"/>
          <p:cNvSpPr/>
          <p:nvPr/>
        </p:nvSpPr>
        <p:spPr>
          <a:xfrm>
            <a:off x="5261400" y="3095640"/>
            <a:ext cx="633960" cy="6339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1" name="Text 40"/>
          <p:cNvSpPr/>
          <p:nvPr/>
        </p:nvSpPr>
        <p:spPr>
          <a:xfrm>
            <a:off x="5461200" y="3286080"/>
            <a:ext cx="33228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BS</a:t>
            </a:r>
            <a:endParaRPr b="0" lang="en-HK" sz="1500" spc="-1" strike="noStrike">
              <a:latin typeface="Arial"/>
            </a:endParaRPr>
          </a:p>
        </p:txBody>
      </p:sp>
      <p:sp>
        <p:nvSpPr>
          <p:cNvPr id="382" name="Text 41"/>
          <p:cNvSpPr/>
          <p:nvPr/>
        </p:nvSpPr>
        <p:spPr>
          <a:xfrm>
            <a:off x="6023160" y="3222720"/>
            <a:ext cx="5714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Paranoid</a:t>
            </a:r>
            <a:endParaRPr b="0" lang="en-HK" sz="1130" spc="-1" strike="noStrike">
              <a:latin typeface="Arial"/>
            </a:endParaRPr>
          </a:p>
        </p:txBody>
      </p:sp>
      <p:sp>
        <p:nvSpPr>
          <p:cNvPr id="383" name="Text 42"/>
          <p:cNvSpPr/>
          <p:nvPr/>
        </p:nvSpPr>
        <p:spPr>
          <a:xfrm>
            <a:off x="6023160" y="3444840"/>
            <a:ext cx="56984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Black Sabbath (1970) - "Iron Man" &amp; "War Pigs"</a:t>
            </a:r>
            <a:endParaRPr b="0" lang="en-HK" sz="880" spc="-1" strike="noStrike">
              <a:latin typeface="Arial"/>
            </a:endParaRPr>
          </a:p>
        </p:txBody>
      </p:sp>
      <p:sp>
        <p:nvSpPr>
          <p:cNvPr id="384" name="Shape 43"/>
          <p:cNvSpPr/>
          <p:nvPr/>
        </p:nvSpPr>
        <p:spPr>
          <a:xfrm>
            <a:off x="5261400" y="3825720"/>
            <a:ext cx="633960" cy="6339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5" name="Text 44"/>
          <p:cNvSpPr/>
          <p:nvPr/>
        </p:nvSpPr>
        <p:spPr>
          <a:xfrm>
            <a:off x="5448960" y="4016520"/>
            <a:ext cx="35604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AC</a:t>
            </a:r>
            <a:endParaRPr b="0" lang="en-HK" sz="1500" spc="-1" strike="noStrike">
              <a:latin typeface="Arial"/>
            </a:endParaRPr>
          </a:p>
        </p:txBody>
      </p:sp>
      <p:sp>
        <p:nvSpPr>
          <p:cNvPr id="386" name="Text 45"/>
          <p:cNvSpPr/>
          <p:nvPr/>
        </p:nvSpPr>
        <p:spPr>
          <a:xfrm>
            <a:off x="6023160" y="3952800"/>
            <a:ext cx="5714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Highway to Hell</a:t>
            </a:r>
            <a:endParaRPr b="0" lang="en-HK" sz="1130" spc="-1" strike="noStrike">
              <a:latin typeface="Arial"/>
            </a:endParaRPr>
          </a:p>
        </p:txBody>
      </p:sp>
      <p:sp>
        <p:nvSpPr>
          <p:cNvPr id="387" name="Text 46"/>
          <p:cNvSpPr/>
          <p:nvPr/>
        </p:nvSpPr>
        <p:spPr>
          <a:xfrm>
            <a:off x="6023160" y="4175280"/>
            <a:ext cx="56984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AC/DC (1979) - Breakthrough album</a:t>
            </a:r>
            <a:endParaRPr b="0" lang="en-HK" sz="880" spc="-1" strike="noStrike">
              <a:latin typeface="Arial"/>
            </a:endParaRPr>
          </a:p>
        </p:txBody>
      </p:sp>
      <p:sp>
        <p:nvSpPr>
          <p:cNvPr id="388" name="Shape 47"/>
          <p:cNvSpPr/>
          <p:nvPr/>
        </p:nvSpPr>
        <p:spPr>
          <a:xfrm>
            <a:off x="5054760" y="4794120"/>
            <a:ext cx="6818040" cy="1396080"/>
          </a:xfrm>
          <a:custGeom>
            <a:avLst/>
            <a:gdLst/>
            <a:ahLst/>
            <a:rect l="l" t="t" r="r" b="b"/>
            <a:pathLst>
              <a:path w="6818313" h="1397000">
                <a:moveTo>
                  <a:pt x="0" y="0"/>
                </a:moveTo>
                <a:lnTo>
                  <a:pt x="6818313" y="0"/>
                </a:lnTo>
                <a:lnTo>
                  <a:pt x="6818313" y="1397000"/>
                </a:lnTo>
                <a:lnTo>
                  <a:pt x="0" y="1397000"/>
                </a:lnTo>
                <a:lnTo>
                  <a:pt x="0" y="0"/>
                </a:lnTo>
                <a:close/>
              </a:path>
            </a:pathLst>
          </a:custGeom>
          <a:solidFill>
            <a:srgbClr val="ddff00"/>
          </a:solidFill>
          <a:ln w="0">
            <a:noFill/>
          </a:ln>
        </p:spPr>
        <p:style>
          <a:lnRef idx="0"/>
          <a:fillRef idx="0"/>
          <a:effectRef idx="0"/>
          <a:fontRef idx="minor"/>
        </p:style>
      </p:sp>
      <p:sp>
        <p:nvSpPr>
          <p:cNvPr id="389" name="Text 48"/>
          <p:cNvSpPr/>
          <p:nvPr/>
        </p:nvSpPr>
        <p:spPr>
          <a:xfrm>
            <a:off x="5213520" y="4952880"/>
            <a:ext cx="65797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Key Characteristics</a:t>
            </a:r>
            <a:endParaRPr b="0" lang="en-HK" sz="1250" spc="-1" strike="noStrike">
              <a:latin typeface="Arial"/>
            </a:endParaRPr>
          </a:p>
        </p:txBody>
      </p:sp>
      <p:sp>
        <p:nvSpPr>
          <p:cNvPr id="390" name="Shape 49"/>
          <p:cNvSpPr/>
          <p:nvPr/>
        </p:nvSpPr>
        <p:spPr>
          <a:xfrm>
            <a:off x="5237640" y="5302080"/>
            <a:ext cx="110160" cy="1260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1" name="Text 50"/>
          <p:cNvSpPr/>
          <p:nvPr/>
        </p:nvSpPr>
        <p:spPr>
          <a:xfrm>
            <a:off x="5436000" y="5270400"/>
            <a:ext cx="118944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Distorted guitar riffs</a:t>
            </a:r>
            <a:endParaRPr b="0" lang="en-HK" sz="1000" spc="-1" strike="noStrike">
              <a:latin typeface="Arial"/>
            </a:endParaRPr>
          </a:p>
        </p:txBody>
      </p:sp>
      <p:sp>
        <p:nvSpPr>
          <p:cNvPr id="392" name="Shape 51"/>
          <p:cNvSpPr/>
          <p:nvPr/>
        </p:nvSpPr>
        <p:spPr>
          <a:xfrm>
            <a:off x="8536680" y="5302080"/>
            <a:ext cx="110160" cy="1260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3" name="Text 52"/>
          <p:cNvSpPr/>
          <p:nvPr/>
        </p:nvSpPr>
        <p:spPr>
          <a:xfrm>
            <a:off x="8735040" y="5270400"/>
            <a:ext cx="14277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Powerful rhythm section</a:t>
            </a:r>
            <a:endParaRPr b="0" lang="en-HK" sz="1000" spc="-1" strike="noStrike">
              <a:latin typeface="Arial"/>
            </a:endParaRPr>
          </a:p>
        </p:txBody>
      </p:sp>
      <p:sp>
        <p:nvSpPr>
          <p:cNvPr id="394" name="Shape 53"/>
          <p:cNvSpPr/>
          <p:nvPr/>
        </p:nvSpPr>
        <p:spPr>
          <a:xfrm>
            <a:off x="5237640" y="5587920"/>
            <a:ext cx="110160" cy="1260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5" name="Text 54"/>
          <p:cNvSpPr/>
          <p:nvPr/>
        </p:nvSpPr>
        <p:spPr>
          <a:xfrm>
            <a:off x="5436000" y="5556240"/>
            <a:ext cx="126900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Extended guitar solos</a:t>
            </a:r>
            <a:endParaRPr b="0" lang="en-HK" sz="1000" spc="-1" strike="noStrike">
              <a:latin typeface="Arial"/>
            </a:endParaRPr>
          </a:p>
        </p:txBody>
      </p:sp>
      <p:sp>
        <p:nvSpPr>
          <p:cNvPr id="396" name="Shape 55"/>
          <p:cNvSpPr/>
          <p:nvPr/>
        </p:nvSpPr>
        <p:spPr>
          <a:xfrm>
            <a:off x="8536680" y="5587920"/>
            <a:ext cx="110160" cy="1260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7" name="Text 56"/>
          <p:cNvSpPr/>
          <p:nvPr/>
        </p:nvSpPr>
        <p:spPr>
          <a:xfrm>
            <a:off x="8735040" y="5556240"/>
            <a:ext cx="12211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High-energy tempos</a:t>
            </a:r>
            <a:endParaRPr b="0" lang="en-HK" sz="1000" spc="-1" strike="noStrike">
              <a:latin typeface="Arial"/>
            </a:endParaRPr>
          </a:p>
        </p:txBody>
      </p:sp>
      <p:sp>
        <p:nvSpPr>
          <p:cNvPr id="398" name="Shape 57"/>
          <p:cNvSpPr/>
          <p:nvPr/>
        </p:nvSpPr>
        <p:spPr>
          <a:xfrm>
            <a:off x="5237640" y="5873760"/>
            <a:ext cx="110160" cy="1260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9" name="Text 58"/>
          <p:cNvSpPr/>
          <p:nvPr/>
        </p:nvSpPr>
        <p:spPr>
          <a:xfrm>
            <a:off x="5436000" y="5842080"/>
            <a:ext cx="13402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Raw, aggressive sound</a:t>
            </a:r>
            <a:endParaRPr b="0" lang="en-HK" sz="1000" spc="-1" strike="noStrike">
              <a:latin typeface="Arial"/>
            </a:endParaRPr>
          </a:p>
        </p:txBody>
      </p:sp>
      <p:sp>
        <p:nvSpPr>
          <p:cNvPr id="400" name="Shape 59"/>
          <p:cNvSpPr/>
          <p:nvPr/>
        </p:nvSpPr>
        <p:spPr>
          <a:xfrm>
            <a:off x="8536680" y="5873760"/>
            <a:ext cx="110160" cy="1260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401" name="Text 60"/>
          <p:cNvSpPr/>
          <p:nvPr/>
        </p:nvSpPr>
        <p:spPr>
          <a:xfrm>
            <a:off x="8735040" y="5842080"/>
            <a:ext cx="13960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Blues-based foundation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02"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403"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04" name="Shape 1"/>
          <p:cNvSpPr/>
          <p:nvPr/>
        </p:nvSpPr>
        <p:spPr>
          <a:xfrm rot="720600">
            <a:off x="10755000" y="5420160"/>
            <a:ext cx="875160" cy="8751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05" name="Shape 2"/>
          <p:cNvSpPr/>
          <p:nvPr/>
        </p:nvSpPr>
        <p:spPr>
          <a:xfrm rot="21240000">
            <a:off x="319680" y="1310400"/>
            <a:ext cx="1218240" cy="12182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06" name="Text 3"/>
          <p:cNvSpPr/>
          <p:nvPr/>
        </p:nvSpPr>
        <p:spPr>
          <a:xfrm>
            <a:off x="569880" y="1638360"/>
            <a:ext cx="1180080" cy="684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04</a:t>
            </a:r>
            <a:endParaRPr b="0" lang="en-HK" sz="5400" spc="-1" strike="noStrike">
              <a:latin typeface="Arial"/>
            </a:endParaRPr>
          </a:p>
        </p:txBody>
      </p:sp>
      <p:sp>
        <p:nvSpPr>
          <p:cNvPr id="407" name="Shape 4"/>
          <p:cNvSpPr/>
          <p:nvPr/>
        </p:nvSpPr>
        <p:spPr>
          <a:xfrm>
            <a:off x="1828800" y="1752480"/>
            <a:ext cx="3209040" cy="37080"/>
          </a:xfrm>
          <a:custGeom>
            <a:avLst/>
            <a:gdLst/>
            <a:ahLst/>
            <a:rect l="l" t="t" r="r" b="b"/>
            <a:pathLst>
              <a:path w="3209925" h="38100">
                <a:moveTo>
                  <a:pt x="0" y="0"/>
                </a:moveTo>
                <a:lnTo>
                  <a:pt x="3209925" y="0"/>
                </a:lnTo>
                <a:lnTo>
                  <a:pt x="3209925" y="38100"/>
                </a:lnTo>
                <a:lnTo>
                  <a:pt x="0" y="38100"/>
                </a:lnTo>
                <a:lnTo>
                  <a:pt x="0" y="0"/>
                </a:lnTo>
                <a:close/>
              </a:path>
            </a:pathLst>
          </a:custGeom>
          <a:solidFill>
            <a:srgbClr val="ddff00"/>
          </a:solidFill>
          <a:ln w="0">
            <a:noFill/>
          </a:ln>
        </p:spPr>
        <p:style>
          <a:lnRef idx="0"/>
          <a:fillRef idx="0"/>
          <a:effectRef idx="0"/>
          <a:fontRef idx="minor"/>
        </p:style>
      </p:sp>
      <p:sp>
        <p:nvSpPr>
          <p:cNvPr id="408" name="Text 5"/>
          <p:cNvSpPr/>
          <p:nvPr/>
        </p:nvSpPr>
        <p:spPr>
          <a:xfrm>
            <a:off x="1828800" y="1943280"/>
            <a:ext cx="329508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28" strike="noStrike">
                <a:solidFill>
                  <a:srgbClr val="ddff00"/>
                </a:solidFill>
                <a:latin typeface="Liter"/>
                <a:ea typeface="Liter"/>
              </a:rPr>
              <a:t>CHAPTER FOUR</a:t>
            </a:r>
            <a:endParaRPr b="0" lang="en-HK" sz="1350" spc="-1" strike="noStrike">
              <a:latin typeface="Arial"/>
            </a:endParaRPr>
          </a:p>
        </p:txBody>
      </p:sp>
      <p:sp>
        <p:nvSpPr>
          <p:cNvPr id="409" name="Text 6"/>
          <p:cNvSpPr/>
          <p:nvPr/>
        </p:nvSpPr>
        <p:spPr>
          <a:xfrm>
            <a:off x="380880" y="2895480"/>
            <a:ext cx="5000040" cy="17136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BIRTH OF</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HEAVY METAL</a:t>
            </a:r>
            <a:endParaRPr b="0" lang="en-HK" sz="5400" spc="-1" strike="noStrike">
              <a:latin typeface="Arial"/>
            </a:endParaRPr>
          </a:p>
        </p:txBody>
      </p:sp>
      <p:sp>
        <p:nvSpPr>
          <p:cNvPr id="410" name="Text 7"/>
          <p:cNvSpPr/>
          <p:nvPr/>
        </p:nvSpPr>
        <p:spPr>
          <a:xfrm>
            <a:off x="380880" y="4838760"/>
            <a:ext cx="477144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Unholy Trinity</a:t>
            </a:r>
            <a:endParaRPr b="0" lang="en-HK" sz="1800" spc="-1" strike="noStrike">
              <a:latin typeface="Arial"/>
            </a:endParaRPr>
          </a:p>
        </p:txBody>
      </p:sp>
      <p:sp>
        <p:nvSpPr>
          <p:cNvPr id="411" name="Shape 8"/>
          <p:cNvSpPr/>
          <p:nvPr/>
        </p:nvSpPr>
        <p:spPr>
          <a:xfrm>
            <a:off x="380880" y="5448240"/>
            <a:ext cx="761040" cy="370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12" name="Shape 9"/>
          <p:cNvSpPr/>
          <p:nvPr/>
        </p:nvSpPr>
        <p:spPr>
          <a:xfrm>
            <a:off x="1295280" y="5448240"/>
            <a:ext cx="379800" cy="370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13" name="Shape 10"/>
          <p:cNvSpPr/>
          <p:nvPr/>
        </p:nvSpPr>
        <p:spPr>
          <a:xfrm>
            <a:off x="1828800" y="5448240"/>
            <a:ext cx="189360" cy="370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14" name="Shape 0"/>
          <p:cNvSpPr/>
          <p:nvPr/>
        </p:nvSpPr>
        <p:spPr>
          <a:xfrm>
            <a:off x="317520" y="365040"/>
            <a:ext cx="62280" cy="3798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415" name="Text 1"/>
          <p:cNvSpPr/>
          <p:nvPr/>
        </p:nvSpPr>
        <p:spPr>
          <a:xfrm>
            <a:off x="507960" y="317520"/>
            <a:ext cx="409500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ddff00"/>
                </a:solidFill>
                <a:latin typeface="Liter"/>
                <a:ea typeface="Liter"/>
              </a:rPr>
              <a:t>CHAPTER 04</a:t>
            </a:r>
            <a:endParaRPr b="0" lang="en-HK" sz="880" spc="-1" strike="noStrike">
              <a:latin typeface="Arial"/>
            </a:endParaRPr>
          </a:p>
        </p:txBody>
      </p:sp>
      <p:sp>
        <p:nvSpPr>
          <p:cNvPr id="416" name="Text 2"/>
          <p:cNvSpPr/>
          <p:nvPr/>
        </p:nvSpPr>
        <p:spPr>
          <a:xfrm>
            <a:off x="507960" y="476280"/>
            <a:ext cx="418248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The Three Pillars of Heavy Metal</a:t>
            </a:r>
            <a:endParaRPr b="0" lang="en-HK" sz="2250" spc="-1" strike="noStrike">
              <a:latin typeface="Arial"/>
            </a:endParaRPr>
          </a:p>
        </p:txBody>
      </p:sp>
      <p:sp>
        <p:nvSpPr>
          <p:cNvPr id="417" name="Shape 3"/>
          <p:cNvSpPr/>
          <p:nvPr/>
        </p:nvSpPr>
        <p:spPr>
          <a:xfrm>
            <a:off x="317520" y="1047600"/>
            <a:ext cx="6818040" cy="2062800"/>
          </a:xfrm>
          <a:custGeom>
            <a:avLst/>
            <a:gdLst/>
            <a:ahLst/>
            <a:rect l="l" t="t" r="r" b="b"/>
            <a:pathLst>
              <a:path w="6818313" h="2063750">
                <a:moveTo>
                  <a:pt x="0" y="0"/>
                </a:moveTo>
                <a:lnTo>
                  <a:pt x="6818313" y="0"/>
                </a:lnTo>
                <a:lnTo>
                  <a:pt x="6818313" y="2063750"/>
                </a:lnTo>
                <a:lnTo>
                  <a:pt x="0" y="2063750"/>
                </a:lnTo>
                <a:lnTo>
                  <a:pt x="0" y="0"/>
                </a:lnTo>
                <a:close/>
              </a:path>
            </a:pathLst>
          </a:custGeom>
          <a:solidFill>
            <a:srgbClr val="ddff00"/>
          </a:solidFill>
          <a:ln w="0">
            <a:noFill/>
          </a:ln>
        </p:spPr>
        <p:style>
          <a:lnRef idx="0"/>
          <a:fillRef idx="0"/>
          <a:effectRef idx="0"/>
          <a:fontRef idx="minor"/>
        </p:style>
      </p:sp>
      <p:sp>
        <p:nvSpPr>
          <p:cNvPr id="418" name="Text 4"/>
          <p:cNvSpPr/>
          <p:nvPr/>
        </p:nvSpPr>
        <p:spPr>
          <a:xfrm>
            <a:off x="507960" y="1238400"/>
            <a:ext cx="653220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Unholy Trinity</a:t>
            </a:r>
            <a:endParaRPr b="0" lang="en-HK" sz="1500" spc="-1" strike="noStrike">
              <a:latin typeface="Arial"/>
            </a:endParaRPr>
          </a:p>
        </p:txBody>
      </p:sp>
      <p:sp>
        <p:nvSpPr>
          <p:cNvPr id="419" name="Text 5"/>
          <p:cNvSpPr/>
          <p:nvPr/>
        </p:nvSpPr>
        <p:spPr>
          <a:xfrm>
            <a:off x="507960" y="1587600"/>
            <a:ext cx="650052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In the late 1960s, three British bands emerged that would forge heavy metal:</a:t>
            </a:r>
            <a:r>
              <a:rPr b="0" lang="en-US" sz="1000" spc="-1" strike="noStrike">
                <a:solidFill>
                  <a:srgbClr val="000000"/>
                </a:solidFill>
                <a:latin typeface="Liter"/>
                <a:ea typeface="Liter"/>
              </a:rPr>
              <a:t> Led Zeppelin, Black Sabbath, and Deep Purple. Often called the "unholy trinity," these pioneering groups crystallized the heavy metal sound and style that would dominate the 1970s and beyond.</a:t>
            </a:r>
            <a:endParaRPr b="0" lang="en-HK" sz="1000" spc="-1" strike="noStrike">
              <a:latin typeface="Arial"/>
            </a:endParaRPr>
          </a:p>
        </p:txBody>
      </p:sp>
      <p:sp>
        <p:nvSpPr>
          <p:cNvPr id="420" name="Text 6"/>
          <p:cNvSpPr/>
          <p:nvPr/>
        </p:nvSpPr>
        <p:spPr>
          <a:xfrm>
            <a:off x="507960" y="2301840"/>
            <a:ext cx="650052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Each band contributed unique elements—Led Zeppelin's riff-driven anthems, Black Sabbath's dark and heavy atmosphere, and Deep Purple's technical virtuosity. Together, they established the musical and visual style that would define the genre.</a:t>
            </a:r>
            <a:endParaRPr b="0" lang="en-HK" sz="1000" spc="-1" strike="noStrike">
              <a:latin typeface="Arial"/>
            </a:endParaRPr>
          </a:p>
        </p:txBody>
      </p:sp>
      <p:sp>
        <p:nvSpPr>
          <p:cNvPr id="421" name="Shape 7"/>
          <p:cNvSpPr/>
          <p:nvPr/>
        </p:nvSpPr>
        <p:spPr>
          <a:xfrm>
            <a:off x="325440" y="3246480"/>
            <a:ext cx="2174040" cy="328500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22" name="Shape 8"/>
          <p:cNvSpPr/>
          <p:nvPr/>
        </p:nvSpPr>
        <p:spPr>
          <a:xfrm>
            <a:off x="1157760" y="3381480"/>
            <a:ext cx="506880" cy="50688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23" name="Shape 9"/>
          <p:cNvSpPr/>
          <p:nvPr/>
        </p:nvSpPr>
        <p:spPr>
          <a:xfrm>
            <a:off x="1309680" y="3516480"/>
            <a:ext cx="207360" cy="236880"/>
          </a:xfrm>
          <a:custGeom>
            <a:avLst/>
            <a:gdLst/>
            <a:ah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w="0">
            <a:noFill/>
          </a:ln>
        </p:spPr>
        <p:style>
          <a:lnRef idx="0"/>
          <a:fillRef idx="0"/>
          <a:effectRef idx="0"/>
          <a:fontRef idx="minor"/>
        </p:style>
      </p:sp>
      <p:sp>
        <p:nvSpPr>
          <p:cNvPr id="424" name="Text 10"/>
          <p:cNvSpPr/>
          <p:nvPr/>
        </p:nvSpPr>
        <p:spPr>
          <a:xfrm>
            <a:off x="420840" y="3952800"/>
            <a:ext cx="1983240" cy="221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Led Zeppelin</a:t>
            </a:r>
            <a:endParaRPr b="0" lang="en-HK" sz="1250" spc="-1" strike="noStrike">
              <a:latin typeface="Arial"/>
            </a:endParaRPr>
          </a:p>
        </p:txBody>
      </p:sp>
      <p:sp>
        <p:nvSpPr>
          <p:cNvPr id="425" name="Text 11"/>
          <p:cNvSpPr/>
          <p:nvPr/>
        </p:nvSpPr>
        <p:spPr>
          <a:xfrm>
            <a:off x="432720" y="4175280"/>
            <a:ext cx="1959480" cy="157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Blueprint</a:t>
            </a:r>
            <a:endParaRPr b="0" lang="en-HK" sz="880" spc="-1" strike="noStrike">
              <a:latin typeface="Arial"/>
            </a:endParaRPr>
          </a:p>
        </p:txBody>
      </p:sp>
      <p:sp>
        <p:nvSpPr>
          <p:cNvPr id="426" name="Text 12"/>
          <p:cNvSpPr/>
          <p:nvPr/>
        </p:nvSpPr>
        <p:spPr>
          <a:xfrm>
            <a:off x="460440" y="4429080"/>
            <a:ext cx="19594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London</a:t>
            </a:r>
            <a:endParaRPr b="0" lang="en-HK" sz="880" spc="-1" strike="noStrike">
              <a:latin typeface="Arial"/>
            </a:endParaRPr>
          </a:p>
        </p:txBody>
      </p:sp>
      <p:sp>
        <p:nvSpPr>
          <p:cNvPr id="427" name="Text 13"/>
          <p:cNvSpPr/>
          <p:nvPr/>
        </p:nvSpPr>
        <p:spPr>
          <a:xfrm>
            <a:off x="460440" y="4651200"/>
            <a:ext cx="19594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Jimmy Page, Robert Plant, John Paul Jones, John Bonham</a:t>
            </a:r>
            <a:endParaRPr b="0" lang="en-HK" sz="880" spc="-1" strike="noStrike">
              <a:latin typeface="Arial"/>
            </a:endParaRPr>
          </a:p>
        </p:txBody>
      </p:sp>
      <p:sp>
        <p:nvSpPr>
          <p:cNvPr id="428" name="Text 14"/>
          <p:cNvSpPr/>
          <p:nvPr/>
        </p:nvSpPr>
        <p:spPr>
          <a:xfrm>
            <a:off x="460440" y="5032440"/>
            <a:ext cx="19594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Blues-rock fusion, monster riffs, mythological themes</a:t>
            </a:r>
            <a:endParaRPr b="0" lang="en-HK" sz="880" spc="-1" strike="noStrike">
              <a:latin typeface="Arial"/>
            </a:endParaRPr>
          </a:p>
        </p:txBody>
      </p:sp>
      <p:sp>
        <p:nvSpPr>
          <p:cNvPr id="429" name="Text 15"/>
          <p:cNvSpPr/>
          <p:nvPr/>
        </p:nvSpPr>
        <p:spPr>
          <a:xfrm>
            <a:off x="460440" y="5413320"/>
            <a:ext cx="1959480" cy="475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"Whole Lotta Love," "Stairway to Heaven," "Immigrant Song"</a:t>
            </a:r>
            <a:endParaRPr b="0" lang="en-HK" sz="880" spc="-1" strike="noStrike">
              <a:latin typeface="Arial"/>
            </a:endParaRPr>
          </a:p>
        </p:txBody>
      </p:sp>
      <p:sp>
        <p:nvSpPr>
          <p:cNvPr id="430" name="Shape 16"/>
          <p:cNvSpPr/>
          <p:nvPr/>
        </p:nvSpPr>
        <p:spPr>
          <a:xfrm>
            <a:off x="460440" y="6044400"/>
            <a:ext cx="1904040" cy="684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31" name="Text 17"/>
          <p:cNvSpPr/>
          <p:nvPr/>
        </p:nvSpPr>
        <p:spPr>
          <a:xfrm>
            <a:off x="460440" y="6143760"/>
            <a:ext cx="195156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stadium rock and album-oriented approach</a:t>
            </a:r>
            <a:endParaRPr b="0" lang="en-HK" sz="750" spc="-1" strike="noStrike">
              <a:latin typeface="Arial"/>
            </a:endParaRPr>
          </a:p>
        </p:txBody>
      </p:sp>
      <p:sp>
        <p:nvSpPr>
          <p:cNvPr id="432" name="Shape 18"/>
          <p:cNvSpPr/>
          <p:nvPr/>
        </p:nvSpPr>
        <p:spPr>
          <a:xfrm>
            <a:off x="2640960" y="3246480"/>
            <a:ext cx="2174040" cy="328500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33" name="Shape 19"/>
          <p:cNvSpPr/>
          <p:nvPr/>
        </p:nvSpPr>
        <p:spPr>
          <a:xfrm>
            <a:off x="3473640" y="3381480"/>
            <a:ext cx="506880" cy="50688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34" name="Shape 20"/>
          <p:cNvSpPr/>
          <p:nvPr/>
        </p:nvSpPr>
        <p:spPr>
          <a:xfrm>
            <a:off x="3610440" y="3516480"/>
            <a:ext cx="236880" cy="236880"/>
          </a:xfrm>
          <a:custGeom>
            <a:avLst/>
            <a:gdLst/>
            <a:ah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w="0">
            <a:noFill/>
          </a:ln>
        </p:spPr>
        <p:style>
          <a:lnRef idx="0"/>
          <a:fillRef idx="0"/>
          <a:effectRef idx="0"/>
          <a:fontRef idx="minor"/>
        </p:style>
      </p:sp>
      <p:sp>
        <p:nvSpPr>
          <p:cNvPr id="435" name="Text 21"/>
          <p:cNvSpPr/>
          <p:nvPr/>
        </p:nvSpPr>
        <p:spPr>
          <a:xfrm>
            <a:off x="2736360" y="3952800"/>
            <a:ext cx="1983240" cy="221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Black Sabbath</a:t>
            </a:r>
            <a:endParaRPr b="0" lang="en-HK" sz="1250" spc="-1" strike="noStrike">
              <a:latin typeface="Arial"/>
            </a:endParaRPr>
          </a:p>
        </p:txBody>
      </p:sp>
      <p:sp>
        <p:nvSpPr>
          <p:cNvPr id="436" name="Text 22"/>
          <p:cNvSpPr/>
          <p:nvPr/>
        </p:nvSpPr>
        <p:spPr>
          <a:xfrm>
            <a:off x="2748240" y="4175280"/>
            <a:ext cx="1959480" cy="157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Darkness</a:t>
            </a:r>
            <a:endParaRPr b="0" lang="en-HK" sz="880" spc="-1" strike="noStrike">
              <a:latin typeface="Arial"/>
            </a:endParaRPr>
          </a:p>
        </p:txBody>
      </p:sp>
      <p:sp>
        <p:nvSpPr>
          <p:cNvPr id="437" name="Text 23"/>
          <p:cNvSpPr/>
          <p:nvPr/>
        </p:nvSpPr>
        <p:spPr>
          <a:xfrm>
            <a:off x="2775960" y="4429080"/>
            <a:ext cx="19594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Birmingham</a:t>
            </a:r>
            <a:endParaRPr b="0" lang="en-HK" sz="880" spc="-1" strike="noStrike">
              <a:latin typeface="Arial"/>
            </a:endParaRPr>
          </a:p>
        </p:txBody>
      </p:sp>
      <p:sp>
        <p:nvSpPr>
          <p:cNvPr id="438" name="Text 24"/>
          <p:cNvSpPr/>
          <p:nvPr/>
        </p:nvSpPr>
        <p:spPr>
          <a:xfrm>
            <a:off x="2775960" y="4651200"/>
            <a:ext cx="19594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Tony Iommi, Ozzy Osbourne, Geezer Butler, Bill Ward</a:t>
            </a:r>
            <a:endParaRPr b="0" lang="en-HK" sz="880" spc="-1" strike="noStrike">
              <a:latin typeface="Arial"/>
            </a:endParaRPr>
          </a:p>
        </p:txBody>
      </p:sp>
      <p:sp>
        <p:nvSpPr>
          <p:cNvPr id="439" name="Text 25"/>
          <p:cNvSpPr/>
          <p:nvPr/>
        </p:nvSpPr>
        <p:spPr>
          <a:xfrm>
            <a:off x="2775960" y="5032440"/>
            <a:ext cx="19594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Downtuned guitars, occult themes, doom atmosphere</a:t>
            </a:r>
            <a:endParaRPr b="0" lang="en-HK" sz="880" spc="-1" strike="noStrike">
              <a:latin typeface="Arial"/>
            </a:endParaRPr>
          </a:p>
        </p:txBody>
      </p:sp>
      <p:sp>
        <p:nvSpPr>
          <p:cNvPr id="440" name="Text 26"/>
          <p:cNvSpPr/>
          <p:nvPr/>
        </p:nvSpPr>
        <p:spPr>
          <a:xfrm>
            <a:off x="2775960" y="5413320"/>
            <a:ext cx="19594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"Paranoid," "Iron Man," "War Pigs"</a:t>
            </a:r>
            <a:endParaRPr b="0" lang="en-HK" sz="880" spc="-1" strike="noStrike">
              <a:latin typeface="Arial"/>
            </a:endParaRPr>
          </a:p>
        </p:txBody>
      </p:sp>
      <p:sp>
        <p:nvSpPr>
          <p:cNvPr id="441" name="Shape 27"/>
          <p:cNvSpPr/>
          <p:nvPr/>
        </p:nvSpPr>
        <p:spPr>
          <a:xfrm>
            <a:off x="2775960" y="6044400"/>
            <a:ext cx="1904040" cy="684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42" name="Text 28"/>
          <p:cNvSpPr/>
          <p:nvPr/>
        </p:nvSpPr>
        <p:spPr>
          <a:xfrm>
            <a:off x="2775960" y="6143760"/>
            <a:ext cx="195156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doom, stoner, and sludge metal subgenres</a:t>
            </a:r>
            <a:endParaRPr b="0" lang="en-HK" sz="750" spc="-1" strike="noStrike">
              <a:latin typeface="Arial"/>
            </a:endParaRPr>
          </a:p>
        </p:txBody>
      </p:sp>
      <p:sp>
        <p:nvSpPr>
          <p:cNvPr id="443" name="Shape 29"/>
          <p:cNvSpPr/>
          <p:nvPr/>
        </p:nvSpPr>
        <p:spPr>
          <a:xfrm>
            <a:off x="4957200" y="3246480"/>
            <a:ext cx="2174040" cy="328500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44" name="Shape 30"/>
          <p:cNvSpPr/>
          <p:nvPr/>
        </p:nvSpPr>
        <p:spPr>
          <a:xfrm>
            <a:off x="5789520" y="3381480"/>
            <a:ext cx="506880" cy="50688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45" name="Shape 31"/>
          <p:cNvSpPr/>
          <p:nvPr/>
        </p:nvSpPr>
        <p:spPr>
          <a:xfrm>
            <a:off x="5911560" y="3516480"/>
            <a:ext cx="266760" cy="236880"/>
          </a:xfrm>
          <a:custGeom>
            <a:avLst/>
            <a:gdLst/>
            <a:ah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w="0">
            <a:noFill/>
          </a:ln>
        </p:spPr>
        <p:style>
          <a:lnRef idx="0"/>
          <a:fillRef idx="0"/>
          <a:effectRef idx="0"/>
          <a:fontRef idx="minor"/>
        </p:style>
      </p:sp>
      <p:sp>
        <p:nvSpPr>
          <p:cNvPr id="446" name="Text 32"/>
          <p:cNvSpPr/>
          <p:nvPr/>
        </p:nvSpPr>
        <p:spPr>
          <a:xfrm>
            <a:off x="5052240" y="3952800"/>
            <a:ext cx="1983240" cy="221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Deep Purple</a:t>
            </a:r>
            <a:endParaRPr b="0" lang="en-HK" sz="1250" spc="-1" strike="noStrike">
              <a:latin typeface="Arial"/>
            </a:endParaRPr>
          </a:p>
        </p:txBody>
      </p:sp>
      <p:sp>
        <p:nvSpPr>
          <p:cNvPr id="447" name="Text 33"/>
          <p:cNvSpPr/>
          <p:nvPr/>
        </p:nvSpPr>
        <p:spPr>
          <a:xfrm>
            <a:off x="5064120" y="4175280"/>
            <a:ext cx="1959480" cy="157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Virtuosos</a:t>
            </a:r>
            <a:endParaRPr b="0" lang="en-HK" sz="880" spc="-1" strike="noStrike">
              <a:latin typeface="Arial"/>
            </a:endParaRPr>
          </a:p>
        </p:txBody>
      </p:sp>
      <p:sp>
        <p:nvSpPr>
          <p:cNvPr id="448" name="Text 34"/>
          <p:cNvSpPr/>
          <p:nvPr/>
        </p:nvSpPr>
        <p:spPr>
          <a:xfrm>
            <a:off x="5091840" y="4429080"/>
            <a:ext cx="19594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Hertford</a:t>
            </a:r>
            <a:endParaRPr b="0" lang="en-HK" sz="880" spc="-1" strike="noStrike">
              <a:latin typeface="Arial"/>
            </a:endParaRPr>
          </a:p>
        </p:txBody>
      </p:sp>
      <p:sp>
        <p:nvSpPr>
          <p:cNvPr id="449" name="Text 35"/>
          <p:cNvSpPr/>
          <p:nvPr/>
        </p:nvSpPr>
        <p:spPr>
          <a:xfrm>
            <a:off x="5091840" y="4651200"/>
            <a:ext cx="1959480" cy="475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Ritchie Blackmore, Ian Gillan, Roger Glover, Jon Lord, Ian Paice</a:t>
            </a:r>
            <a:endParaRPr b="0" lang="en-HK" sz="880" spc="-1" strike="noStrike">
              <a:latin typeface="Arial"/>
            </a:endParaRPr>
          </a:p>
        </p:txBody>
      </p:sp>
      <p:sp>
        <p:nvSpPr>
          <p:cNvPr id="450" name="Text 36"/>
          <p:cNvSpPr/>
          <p:nvPr/>
        </p:nvSpPr>
        <p:spPr>
          <a:xfrm>
            <a:off x="5091840" y="5191200"/>
            <a:ext cx="1959480" cy="475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Classical influences, technical precision, keyboard-guitar interplay</a:t>
            </a:r>
            <a:endParaRPr b="0" lang="en-HK" sz="880" spc="-1" strike="noStrike">
              <a:latin typeface="Arial"/>
            </a:endParaRPr>
          </a:p>
        </p:txBody>
      </p:sp>
      <p:sp>
        <p:nvSpPr>
          <p:cNvPr id="451" name="Text 37"/>
          <p:cNvSpPr/>
          <p:nvPr/>
        </p:nvSpPr>
        <p:spPr>
          <a:xfrm>
            <a:off x="5091840" y="5730840"/>
            <a:ext cx="19594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"Smoke on the Water," "Highway Star," "Child in Time"</a:t>
            </a:r>
            <a:endParaRPr b="0" lang="en-HK" sz="880" spc="-1" strike="noStrike">
              <a:latin typeface="Arial"/>
            </a:endParaRPr>
          </a:p>
        </p:txBody>
      </p:sp>
      <p:sp>
        <p:nvSpPr>
          <p:cNvPr id="452" name="Shape 38"/>
          <p:cNvSpPr/>
          <p:nvPr/>
        </p:nvSpPr>
        <p:spPr>
          <a:xfrm>
            <a:off x="5091840" y="6171480"/>
            <a:ext cx="1904040" cy="684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53" name="Text 39"/>
          <p:cNvSpPr/>
          <p:nvPr/>
        </p:nvSpPr>
        <p:spPr>
          <a:xfrm>
            <a:off x="5091840" y="6270480"/>
            <a:ext cx="1951560" cy="126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Brought classical sophistication to heavy rock</a:t>
            </a:r>
            <a:endParaRPr b="0" lang="en-HK" sz="750" spc="-1" strike="noStrike">
              <a:latin typeface="Arial"/>
            </a:endParaRPr>
          </a:p>
        </p:txBody>
      </p:sp>
      <p:sp>
        <p:nvSpPr>
          <p:cNvPr id="454" name="Image 0"/>
          <p:cNvSpPr/>
          <p:nvPr/>
        </p:nvSpPr>
        <p:spPr>
          <a:xfrm>
            <a:off x="7328160" y="1047600"/>
            <a:ext cx="4547520" cy="3189960"/>
          </a:xfrm>
          <a:prstGeom prst="roundRect">
            <a:avLst>
              <a:gd name="adj" fmla="val 0"/>
            </a:avLst>
          </a:prstGeom>
          <a:blipFill rotWithShape="0">
            <a:blip r:embed="rId1"/>
            <a:srcRect/>
            <a:stretch/>
          </a:blipFill>
          <a:ln w="0">
            <a:noFill/>
          </a:ln>
        </p:spPr>
        <p:style>
          <a:lnRef idx="0"/>
          <a:fillRef idx="0"/>
          <a:effectRef idx="0"/>
          <a:fontRef idx="minor"/>
        </p:style>
      </p:sp>
      <p:sp>
        <p:nvSpPr>
          <p:cNvPr id="455" name="Shape 40"/>
          <p:cNvSpPr/>
          <p:nvPr/>
        </p:nvSpPr>
        <p:spPr>
          <a:xfrm>
            <a:off x="7328160" y="1047600"/>
            <a:ext cx="4547520" cy="3189960"/>
          </a:xfrm>
          <a:custGeom>
            <a:avLst/>
            <a:gdLst/>
            <a:ahLst/>
            <a:rect l="l" t="t" r="r" b="b"/>
            <a:pathLst>
              <a:path w="4548188" h="3190875">
                <a:moveTo>
                  <a:pt x="0" y="0"/>
                </a:moveTo>
                <a:lnTo>
                  <a:pt x="4548188" y="0"/>
                </a:lnTo>
                <a:lnTo>
                  <a:pt x="4548188" y="3190875"/>
                </a:lnTo>
                <a:lnTo>
                  <a:pt x="0" y="319087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456" name="Text 41"/>
          <p:cNvSpPr/>
          <p:nvPr/>
        </p:nvSpPr>
        <p:spPr>
          <a:xfrm>
            <a:off x="7455240" y="3699000"/>
            <a:ext cx="434916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HEAVY METAL</a:t>
            </a:r>
            <a:endParaRPr b="0" lang="en-HK" sz="880" spc="-1" strike="noStrike">
              <a:latin typeface="Arial"/>
            </a:endParaRPr>
          </a:p>
        </p:txBody>
      </p:sp>
      <p:sp>
        <p:nvSpPr>
          <p:cNvPr id="457" name="Text 42"/>
          <p:cNvSpPr/>
          <p:nvPr/>
        </p:nvSpPr>
        <p:spPr>
          <a:xfrm>
            <a:off x="7455240" y="3889440"/>
            <a:ext cx="43650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Birth of a Genre</a:t>
            </a:r>
            <a:endParaRPr b="0" lang="en-HK" sz="1130" spc="-1" strike="noStrike">
              <a:latin typeface="Arial"/>
            </a:endParaRPr>
          </a:p>
        </p:txBody>
      </p:sp>
      <p:sp>
        <p:nvSpPr>
          <p:cNvPr id="458" name="Shape 43"/>
          <p:cNvSpPr/>
          <p:nvPr/>
        </p:nvSpPr>
        <p:spPr>
          <a:xfrm>
            <a:off x="7328160" y="4365720"/>
            <a:ext cx="4547520" cy="2173680"/>
          </a:xfrm>
          <a:custGeom>
            <a:avLst/>
            <a:gdLst/>
            <a:ahLst/>
            <a:rect l="l" t="t" r="r" b="b"/>
            <a:pathLst>
              <a:path w="4548188" h="2174875">
                <a:moveTo>
                  <a:pt x="0" y="0"/>
                </a:moveTo>
                <a:lnTo>
                  <a:pt x="4548188" y="0"/>
                </a:lnTo>
                <a:lnTo>
                  <a:pt x="4548188" y="2174875"/>
                </a:lnTo>
                <a:lnTo>
                  <a:pt x="0" y="2174875"/>
                </a:lnTo>
                <a:lnTo>
                  <a:pt x="0" y="0"/>
                </a:lnTo>
                <a:close/>
              </a:path>
            </a:pathLst>
          </a:custGeom>
          <a:solidFill>
            <a:srgbClr val="ddff00"/>
          </a:solidFill>
          <a:ln w="0">
            <a:noFill/>
          </a:ln>
        </p:spPr>
        <p:style>
          <a:lnRef idx="0"/>
          <a:fillRef idx="0"/>
          <a:effectRef idx="0"/>
          <a:fontRef idx="minor"/>
        </p:style>
      </p:sp>
      <p:sp>
        <p:nvSpPr>
          <p:cNvPr id="459" name="Text 44"/>
          <p:cNvSpPr/>
          <p:nvPr/>
        </p:nvSpPr>
        <p:spPr>
          <a:xfrm>
            <a:off x="7486920" y="4524480"/>
            <a:ext cx="430920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Legacy &amp; Influence</a:t>
            </a:r>
            <a:endParaRPr b="0" lang="en-HK" sz="1250" spc="-1" strike="noStrike">
              <a:latin typeface="Arial"/>
            </a:endParaRPr>
          </a:p>
        </p:txBody>
      </p:sp>
      <p:sp>
        <p:nvSpPr>
          <p:cNvPr id="460" name="Text 45"/>
          <p:cNvSpPr/>
          <p:nvPr/>
        </p:nvSpPr>
        <p:spPr>
          <a:xfrm>
            <a:off x="7486920" y="4842000"/>
            <a:ext cx="429336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These three bands laid the foundation for all heavy metal that followed.</a:t>
            </a:r>
            <a:r>
              <a:rPr b="0" lang="en-US" sz="1000" spc="-1" strike="noStrike">
                <a:solidFill>
                  <a:srgbClr val="000000"/>
                </a:solidFill>
                <a:latin typeface="Liter"/>
                <a:ea typeface="Liter"/>
              </a:rPr>
              <a:t> Their influence can be heard in nearly every metal subgenre, from traditional heavy metal to thrash, death, and beyond.</a:t>
            </a:r>
            <a:endParaRPr b="0" lang="en-HK" sz="1000" spc="-1" strike="noStrike">
              <a:latin typeface="Arial"/>
            </a:endParaRPr>
          </a:p>
        </p:txBody>
      </p:sp>
      <p:sp>
        <p:nvSpPr>
          <p:cNvPr id="461" name="Text 46"/>
          <p:cNvSpPr/>
          <p:nvPr/>
        </p:nvSpPr>
        <p:spPr>
          <a:xfrm>
            <a:off x="7486920" y="5556240"/>
            <a:ext cx="429336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They established the visual aesthetic—leather, long hair, dark imagery—and the sonic template: distorted guitars, powerful vocals, and thunderous drums. Without them, the world of rock music would be a very different place.</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2"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463"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64" name="Shape 1"/>
          <p:cNvSpPr/>
          <p:nvPr/>
        </p:nvSpPr>
        <p:spPr>
          <a:xfrm rot="720600">
            <a:off x="10755000" y="5420160"/>
            <a:ext cx="875160" cy="8751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65" name="Shape 2"/>
          <p:cNvSpPr/>
          <p:nvPr/>
        </p:nvSpPr>
        <p:spPr>
          <a:xfrm rot="21240000">
            <a:off x="319680" y="1310400"/>
            <a:ext cx="1218240" cy="12182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66" name="Text 3"/>
          <p:cNvSpPr/>
          <p:nvPr/>
        </p:nvSpPr>
        <p:spPr>
          <a:xfrm>
            <a:off x="574200" y="1638360"/>
            <a:ext cx="1170360" cy="684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05</a:t>
            </a:r>
            <a:endParaRPr b="0" lang="en-HK" sz="5400" spc="-1" strike="noStrike">
              <a:latin typeface="Arial"/>
            </a:endParaRPr>
          </a:p>
        </p:txBody>
      </p:sp>
      <p:sp>
        <p:nvSpPr>
          <p:cNvPr id="467" name="Shape 4"/>
          <p:cNvSpPr/>
          <p:nvPr/>
        </p:nvSpPr>
        <p:spPr>
          <a:xfrm>
            <a:off x="1828800" y="1752480"/>
            <a:ext cx="3304440" cy="37080"/>
          </a:xfrm>
          <a:custGeom>
            <a:avLst/>
            <a:gdLst/>
            <a:ahLst/>
            <a:rect l="l" t="t" r="r" b="b"/>
            <a:pathLst>
              <a:path w="3305175" h="38100">
                <a:moveTo>
                  <a:pt x="0" y="0"/>
                </a:moveTo>
                <a:lnTo>
                  <a:pt x="3305175" y="0"/>
                </a:lnTo>
                <a:lnTo>
                  <a:pt x="3305175" y="38100"/>
                </a:lnTo>
                <a:lnTo>
                  <a:pt x="0" y="38100"/>
                </a:lnTo>
                <a:lnTo>
                  <a:pt x="0" y="0"/>
                </a:lnTo>
                <a:close/>
              </a:path>
            </a:pathLst>
          </a:custGeom>
          <a:solidFill>
            <a:srgbClr val="ddff00"/>
          </a:solidFill>
          <a:ln w="0">
            <a:noFill/>
          </a:ln>
        </p:spPr>
        <p:style>
          <a:lnRef idx="0"/>
          <a:fillRef idx="0"/>
          <a:effectRef idx="0"/>
          <a:fontRef idx="minor"/>
        </p:style>
      </p:sp>
      <p:sp>
        <p:nvSpPr>
          <p:cNvPr id="468" name="Text 5"/>
          <p:cNvSpPr/>
          <p:nvPr/>
        </p:nvSpPr>
        <p:spPr>
          <a:xfrm>
            <a:off x="1828800" y="1943280"/>
            <a:ext cx="339012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28" strike="noStrike">
                <a:solidFill>
                  <a:srgbClr val="ddff00"/>
                </a:solidFill>
                <a:latin typeface="Liter"/>
                <a:ea typeface="Liter"/>
              </a:rPr>
              <a:t>CHAPTER FIVE</a:t>
            </a:r>
            <a:endParaRPr b="0" lang="en-HK" sz="1350" spc="-1" strike="noStrike">
              <a:latin typeface="Arial"/>
            </a:endParaRPr>
          </a:p>
        </p:txBody>
      </p:sp>
      <p:sp>
        <p:nvSpPr>
          <p:cNvPr id="469" name="Text 6"/>
          <p:cNvSpPr/>
          <p:nvPr/>
        </p:nvSpPr>
        <p:spPr>
          <a:xfrm>
            <a:off x="380880" y="2895480"/>
            <a:ext cx="5095080" cy="17136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PUNK ROCK</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&amp; NEW WAVE</a:t>
            </a:r>
            <a:endParaRPr b="0" lang="en-HK" sz="5400" spc="-1" strike="noStrike">
              <a:latin typeface="Arial"/>
            </a:endParaRPr>
          </a:p>
        </p:txBody>
      </p:sp>
      <p:sp>
        <p:nvSpPr>
          <p:cNvPr id="470" name="Text 7"/>
          <p:cNvSpPr/>
          <p:nvPr/>
        </p:nvSpPr>
        <p:spPr>
          <a:xfrm>
            <a:off x="380880" y="4838760"/>
            <a:ext cx="4866480" cy="303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1970s-1980s: Raw Energy &amp; Artistic Expression</a:t>
            </a:r>
            <a:endParaRPr b="0" lang="en-HK" sz="1800" spc="-1" strike="noStrike">
              <a:latin typeface="Arial"/>
            </a:endParaRPr>
          </a:p>
        </p:txBody>
      </p:sp>
      <p:sp>
        <p:nvSpPr>
          <p:cNvPr id="471" name="Shape 8"/>
          <p:cNvSpPr/>
          <p:nvPr/>
        </p:nvSpPr>
        <p:spPr>
          <a:xfrm>
            <a:off x="380880" y="5448240"/>
            <a:ext cx="761040" cy="370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72" name="Shape 9"/>
          <p:cNvSpPr/>
          <p:nvPr/>
        </p:nvSpPr>
        <p:spPr>
          <a:xfrm>
            <a:off x="1295280" y="5448240"/>
            <a:ext cx="379800" cy="370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73" name="Shape 10"/>
          <p:cNvSpPr/>
          <p:nvPr/>
        </p:nvSpPr>
        <p:spPr>
          <a:xfrm>
            <a:off x="1828800" y="5448240"/>
            <a:ext cx="189360" cy="370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74" name="Shape 0"/>
          <p:cNvSpPr/>
          <p:nvPr/>
        </p:nvSpPr>
        <p:spPr>
          <a:xfrm>
            <a:off x="333720" y="383760"/>
            <a:ext cx="65520" cy="399600"/>
          </a:xfrm>
          <a:custGeom>
            <a:avLst/>
            <a:gdLst/>
            <a:ahLst/>
            <a:rect l="l" t="t" r="r" b="b"/>
            <a:pathLst>
              <a:path w="66760" h="400559">
                <a:moveTo>
                  <a:pt x="0" y="0"/>
                </a:moveTo>
                <a:lnTo>
                  <a:pt x="66760" y="0"/>
                </a:lnTo>
                <a:lnTo>
                  <a:pt x="66760" y="400559"/>
                </a:lnTo>
                <a:lnTo>
                  <a:pt x="0" y="400559"/>
                </a:lnTo>
                <a:lnTo>
                  <a:pt x="0" y="0"/>
                </a:lnTo>
                <a:close/>
              </a:path>
            </a:pathLst>
          </a:custGeom>
          <a:solidFill>
            <a:srgbClr val="ddff00"/>
          </a:solidFill>
          <a:ln w="0">
            <a:noFill/>
          </a:ln>
        </p:spPr>
        <p:style>
          <a:lnRef idx="0"/>
          <a:fillRef idx="0"/>
          <a:effectRef idx="0"/>
          <a:fontRef idx="minor"/>
        </p:style>
      </p:sp>
      <p:sp>
        <p:nvSpPr>
          <p:cNvPr id="475" name="Text 1"/>
          <p:cNvSpPr/>
          <p:nvPr/>
        </p:nvSpPr>
        <p:spPr>
          <a:xfrm>
            <a:off x="534240" y="333720"/>
            <a:ext cx="49896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3" strike="noStrike">
                <a:solidFill>
                  <a:srgbClr val="ddff00"/>
                </a:solidFill>
                <a:latin typeface="Liter"/>
                <a:ea typeface="Liter"/>
              </a:rPr>
              <a:t>CHAPTER 05</a:t>
            </a:r>
            <a:endParaRPr b="0" lang="en-HK" sz="920" spc="-1" strike="noStrike">
              <a:latin typeface="Arial"/>
            </a:endParaRPr>
          </a:p>
        </p:txBody>
      </p:sp>
      <p:sp>
        <p:nvSpPr>
          <p:cNvPr id="476" name="Text 2"/>
          <p:cNvSpPr/>
          <p:nvPr/>
        </p:nvSpPr>
        <p:spPr>
          <a:xfrm>
            <a:off x="534240" y="500760"/>
            <a:ext cx="5081400" cy="332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60" spc="-1" strike="noStrike">
                <a:solidFill>
                  <a:srgbClr val="ffffff"/>
                </a:solidFill>
                <a:latin typeface="Liter"/>
                <a:ea typeface="Liter"/>
              </a:rPr>
              <a:t>Punk Rock: Three Chords &amp; The Truth</a:t>
            </a:r>
            <a:endParaRPr b="0" lang="en-HK" sz="2360" spc="-1" strike="noStrike">
              <a:latin typeface="Arial"/>
            </a:endParaRPr>
          </a:p>
        </p:txBody>
      </p:sp>
      <p:sp>
        <p:nvSpPr>
          <p:cNvPr id="477" name="Shape 3"/>
          <p:cNvSpPr/>
          <p:nvPr/>
        </p:nvSpPr>
        <p:spPr>
          <a:xfrm>
            <a:off x="333720" y="1101600"/>
            <a:ext cx="6792480" cy="2168640"/>
          </a:xfrm>
          <a:custGeom>
            <a:avLst/>
            <a:gdLst/>
            <a:ahLst/>
            <a:rect l="l" t="t" r="r" b="b"/>
            <a:pathLst>
              <a:path w="6792805" h="2169692">
                <a:moveTo>
                  <a:pt x="0" y="0"/>
                </a:moveTo>
                <a:lnTo>
                  <a:pt x="6792805" y="0"/>
                </a:lnTo>
                <a:lnTo>
                  <a:pt x="6792805" y="2169692"/>
                </a:lnTo>
                <a:lnTo>
                  <a:pt x="0" y="2169692"/>
                </a:lnTo>
                <a:lnTo>
                  <a:pt x="0" y="0"/>
                </a:lnTo>
                <a:close/>
              </a:path>
            </a:pathLst>
          </a:custGeom>
          <a:solidFill>
            <a:srgbClr val="ddff00"/>
          </a:solidFill>
          <a:ln w="0">
            <a:noFill/>
          </a:ln>
        </p:spPr>
        <p:style>
          <a:lnRef idx="0"/>
          <a:fillRef idx="0"/>
          <a:effectRef idx="0"/>
          <a:fontRef idx="minor"/>
        </p:style>
      </p:sp>
      <p:sp>
        <p:nvSpPr>
          <p:cNvPr id="478" name="Text 4"/>
          <p:cNvSpPr/>
          <p:nvPr/>
        </p:nvSpPr>
        <p:spPr>
          <a:xfrm>
            <a:off x="534240" y="1301760"/>
            <a:ext cx="649188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80" spc="-1" strike="noStrike">
                <a:solidFill>
                  <a:srgbClr val="000000"/>
                </a:solidFill>
                <a:latin typeface="Liter"/>
                <a:ea typeface="Liter"/>
              </a:rPr>
              <a:t>The Revolution of Simplicity</a:t>
            </a:r>
            <a:endParaRPr b="0" lang="en-HK" sz="1580" spc="-1" strike="noStrike">
              <a:latin typeface="Arial"/>
            </a:endParaRPr>
          </a:p>
        </p:txBody>
      </p:sp>
      <p:sp>
        <p:nvSpPr>
          <p:cNvPr id="479" name="Text 5"/>
          <p:cNvSpPr/>
          <p:nvPr/>
        </p:nvSpPr>
        <p:spPr>
          <a:xfrm>
            <a:off x="534240" y="1668960"/>
            <a:ext cx="6458760" cy="64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50" spc="-1" strike="noStrike">
                <a:solidFill>
                  <a:srgbClr val="000000"/>
                </a:solidFill>
                <a:latin typeface="Liter"/>
                <a:ea typeface="Liter"/>
              </a:rPr>
              <a:t>Punk rock emerged in the mid-1970s as a direct reaction against the excesses of progressive rock and the polished production of mainstream music.</a:t>
            </a:r>
            <a:r>
              <a:rPr b="0" lang="en-US" sz="1050" spc="-1" strike="noStrike">
                <a:solidFill>
                  <a:srgbClr val="000000"/>
                </a:solidFill>
                <a:latin typeface="Liter"/>
                <a:ea typeface="Liter"/>
              </a:rPr>
              <a:t> Stripped down to its essentials, punk championed a DIY ethic—anyone could pick up a guitar, learn three chords, and start a band.</a:t>
            </a:r>
            <a:endParaRPr b="0" lang="en-HK" sz="1050" spc="-1" strike="noStrike">
              <a:latin typeface="Arial"/>
            </a:endParaRPr>
          </a:p>
        </p:txBody>
      </p:sp>
      <p:sp>
        <p:nvSpPr>
          <p:cNvPr id="480" name="Text 6"/>
          <p:cNvSpPr/>
          <p:nvPr/>
        </p:nvSpPr>
        <p:spPr>
          <a:xfrm>
            <a:off x="534240" y="2419920"/>
            <a:ext cx="6458760" cy="64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000000">
                    <a:alpha val="80000"/>
                  </a:srgbClr>
                </a:solidFill>
                <a:latin typeface="Liter"/>
                <a:ea typeface="Liter"/>
              </a:rPr>
              <a:t>Punk's raw, aggressive sound and anti-establishment lyrics gave voice to disenfranchised youth. It was fast, loud, and unapologetic—a musical revolution that proved you didn't need technical virtuosity to make powerful, meaningful music.</a:t>
            </a:r>
            <a:endParaRPr b="0" lang="en-HK" sz="1050" spc="-1" strike="noStrike">
              <a:latin typeface="Arial"/>
            </a:endParaRPr>
          </a:p>
        </p:txBody>
      </p:sp>
      <p:sp>
        <p:nvSpPr>
          <p:cNvPr id="481" name="Shape 7"/>
          <p:cNvSpPr/>
          <p:nvPr/>
        </p:nvSpPr>
        <p:spPr>
          <a:xfrm>
            <a:off x="342000" y="3413160"/>
            <a:ext cx="6775920" cy="2652480"/>
          </a:xfrm>
          <a:custGeom>
            <a:avLst/>
            <a:gdLst/>
            <a:ahLst/>
            <a:rect l="l" t="t" r="r" b="b"/>
            <a:pathLst>
              <a:path w="6776115" h="2653700">
                <a:moveTo>
                  <a:pt x="0" y="0"/>
                </a:moveTo>
                <a:lnTo>
                  <a:pt x="6776115" y="0"/>
                </a:lnTo>
                <a:lnTo>
                  <a:pt x="6776115" y="2653700"/>
                </a:lnTo>
                <a:lnTo>
                  <a:pt x="0" y="2653700"/>
                </a:lnTo>
                <a:lnTo>
                  <a:pt x="0" y="0"/>
                </a:lnTo>
                <a:close/>
              </a:path>
            </a:pathLst>
          </a:custGeom>
          <a:noFill/>
          <a:ln w="25400">
            <a:solidFill>
              <a:srgbClr val="ddff00"/>
            </a:solidFill>
            <a:round/>
          </a:ln>
        </p:spPr>
        <p:style>
          <a:lnRef idx="0"/>
          <a:fillRef idx="0"/>
          <a:effectRef idx="0"/>
          <a:fontRef idx="minor"/>
        </p:style>
      </p:sp>
      <p:sp>
        <p:nvSpPr>
          <p:cNvPr id="482" name="Text 8"/>
          <p:cNvSpPr/>
          <p:nvPr/>
        </p:nvSpPr>
        <p:spPr>
          <a:xfrm>
            <a:off x="517320" y="3588480"/>
            <a:ext cx="650880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ddff00"/>
                </a:solidFill>
                <a:latin typeface="Liter"/>
                <a:ea typeface="Liter"/>
              </a:rPr>
              <a:t>Punk Pioneers</a:t>
            </a:r>
            <a:endParaRPr b="0" lang="en-HK" sz="1320" spc="-1" strike="noStrike">
              <a:latin typeface="Arial"/>
            </a:endParaRPr>
          </a:p>
        </p:txBody>
      </p:sp>
      <p:sp>
        <p:nvSpPr>
          <p:cNvPr id="483" name="Shape 9"/>
          <p:cNvSpPr/>
          <p:nvPr/>
        </p:nvSpPr>
        <p:spPr>
          <a:xfrm>
            <a:off x="534240" y="3955680"/>
            <a:ext cx="32400" cy="9000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4" name="Text 10"/>
          <p:cNvSpPr/>
          <p:nvPr/>
        </p:nvSpPr>
        <p:spPr>
          <a:xfrm>
            <a:off x="684360" y="3955680"/>
            <a:ext cx="305352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Ramones</a:t>
            </a:r>
            <a:endParaRPr b="0" lang="en-HK" sz="1180" spc="-1" strike="noStrike">
              <a:latin typeface="Arial"/>
            </a:endParaRPr>
          </a:p>
        </p:txBody>
      </p:sp>
      <p:sp>
        <p:nvSpPr>
          <p:cNvPr id="485" name="Text 11"/>
          <p:cNvSpPr/>
          <p:nvPr/>
        </p:nvSpPr>
        <p:spPr>
          <a:xfrm>
            <a:off x="684360" y="4255920"/>
            <a:ext cx="30452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New York, 1974</a:t>
            </a:r>
            <a:endParaRPr b="0" lang="en-HK" sz="1050" spc="-1" strike="noStrike">
              <a:latin typeface="Arial"/>
            </a:endParaRPr>
          </a:p>
        </p:txBody>
      </p:sp>
      <p:sp>
        <p:nvSpPr>
          <p:cNvPr id="486" name="Text 12"/>
          <p:cNvSpPr/>
          <p:nvPr/>
        </p:nvSpPr>
        <p:spPr>
          <a:xfrm>
            <a:off x="684360" y="4523040"/>
            <a:ext cx="3036960" cy="332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"Blitzkrieg Bop," "I Wanna Be Sedated" - Fast, catchy, minimalist</a:t>
            </a:r>
            <a:endParaRPr b="0" lang="en-HK" sz="920" spc="-1" strike="noStrike">
              <a:latin typeface="Arial"/>
            </a:endParaRPr>
          </a:p>
        </p:txBody>
      </p:sp>
      <p:sp>
        <p:nvSpPr>
          <p:cNvPr id="487" name="Shape 13"/>
          <p:cNvSpPr/>
          <p:nvPr/>
        </p:nvSpPr>
        <p:spPr>
          <a:xfrm>
            <a:off x="3815280" y="3955680"/>
            <a:ext cx="32400" cy="9000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8" name="Text 14"/>
          <p:cNvSpPr/>
          <p:nvPr/>
        </p:nvSpPr>
        <p:spPr>
          <a:xfrm>
            <a:off x="3965400" y="3955680"/>
            <a:ext cx="305352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Sex Pistols</a:t>
            </a:r>
            <a:endParaRPr b="0" lang="en-HK" sz="1180" spc="-1" strike="noStrike">
              <a:latin typeface="Arial"/>
            </a:endParaRPr>
          </a:p>
        </p:txBody>
      </p:sp>
      <p:sp>
        <p:nvSpPr>
          <p:cNvPr id="489" name="Text 15"/>
          <p:cNvSpPr/>
          <p:nvPr/>
        </p:nvSpPr>
        <p:spPr>
          <a:xfrm>
            <a:off x="3965400" y="4255920"/>
            <a:ext cx="30452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1975</a:t>
            </a:r>
            <a:endParaRPr b="0" lang="en-HK" sz="1050" spc="-1" strike="noStrike">
              <a:latin typeface="Arial"/>
            </a:endParaRPr>
          </a:p>
        </p:txBody>
      </p:sp>
      <p:sp>
        <p:nvSpPr>
          <p:cNvPr id="490" name="Text 16"/>
          <p:cNvSpPr/>
          <p:nvPr/>
        </p:nvSpPr>
        <p:spPr>
          <a:xfrm>
            <a:off x="3965400" y="4523040"/>
            <a:ext cx="3036960" cy="332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"Anarchy in the U.K.," "God Save the Queen" - Provocation incarnate</a:t>
            </a:r>
            <a:endParaRPr b="0" lang="en-HK" sz="920" spc="-1" strike="noStrike">
              <a:latin typeface="Arial"/>
            </a:endParaRPr>
          </a:p>
        </p:txBody>
      </p:sp>
      <p:sp>
        <p:nvSpPr>
          <p:cNvPr id="491" name="Shape 17"/>
          <p:cNvSpPr/>
          <p:nvPr/>
        </p:nvSpPr>
        <p:spPr>
          <a:xfrm>
            <a:off x="534240" y="4990320"/>
            <a:ext cx="32400" cy="9000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2" name="Text 18"/>
          <p:cNvSpPr/>
          <p:nvPr/>
        </p:nvSpPr>
        <p:spPr>
          <a:xfrm>
            <a:off x="684360" y="4990320"/>
            <a:ext cx="305352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Clash</a:t>
            </a:r>
            <a:endParaRPr b="0" lang="en-HK" sz="1180" spc="-1" strike="noStrike">
              <a:latin typeface="Arial"/>
            </a:endParaRPr>
          </a:p>
        </p:txBody>
      </p:sp>
      <p:sp>
        <p:nvSpPr>
          <p:cNvPr id="493" name="Text 19"/>
          <p:cNvSpPr/>
          <p:nvPr/>
        </p:nvSpPr>
        <p:spPr>
          <a:xfrm>
            <a:off x="684360" y="5290560"/>
            <a:ext cx="30452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1976</a:t>
            </a:r>
            <a:endParaRPr b="0" lang="en-HK" sz="1050" spc="-1" strike="noStrike">
              <a:latin typeface="Arial"/>
            </a:endParaRPr>
          </a:p>
        </p:txBody>
      </p:sp>
      <p:sp>
        <p:nvSpPr>
          <p:cNvPr id="494" name="Text 20"/>
          <p:cNvSpPr/>
          <p:nvPr/>
        </p:nvSpPr>
        <p:spPr>
          <a:xfrm>
            <a:off x="684360" y="5557680"/>
            <a:ext cx="3036960" cy="332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"London Calling," "Should I Stay or Should I Go" - Punk with political depth</a:t>
            </a:r>
            <a:endParaRPr b="0" lang="en-HK" sz="920" spc="-1" strike="noStrike">
              <a:latin typeface="Arial"/>
            </a:endParaRPr>
          </a:p>
        </p:txBody>
      </p:sp>
      <p:sp>
        <p:nvSpPr>
          <p:cNvPr id="495" name="Shape 21"/>
          <p:cNvSpPr/>
          <p:nvPr/>
        </p:nvSpPr>
        <p:spPr>
          <a:xfrm>
            <a:off x="3815280" y="4990320"/>
            <a:ext cx="32400" cy="9000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6" name="Text 22"/>
          <p:cNvSpPr/>
          <p:nvPr/>
        </p:nvSpPr>
        <p:spPr>
          <a:xfrm>
            <a:off x="3965400" y="4990320"/>
            <a:ext cx="305352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Black Flag</a:t>
            </a:r>
            <a:endParaRPr b="0" lang="en-HK" sz="1180" spc="-1" strike="noStrike">
              <a:latin typeface="Arial"/>
            </a:endParaRPr>
          </a:p>
        </p:txBody>
      </p:sp>
      <p:sp>
        <p:nvSpPr>
          <p:cNvPr id="497" name="Text 23"/>
          <p:cNvSpPr/>
          <p:nvPr/>
        </p:nvSpPr>
        <p:spPr>
          <a:xfrm>
            <a:off x="3965400" y="5290560"/>
            <a:ext cx="30452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California, 1976</a:t>
            </a:r>
            <a:endParaRPr b="0" lang="en-HK" sz="1050" spc="-1" strike="noStrike">
              <a:latin typeface="Arial"/>
            </a:endParaRPr>
          </a:p>
        </p:txBody>
      </p:sp>
      <p:sp>
        <p:nvSpPr>
          <p:cNvPr id="498" name="Text 24"/>
          <p:cNvSpPr/>
          <p:nvPr/>
        </p:nvSpPr>
        <p:spPr>
          <a:xfrm>
            <a:off x="3965400" y="5557680"/>
            <a:ext cx="303696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"Rise Above," "TV Party" - Hardcore punk pioneers</a:t>
            </a:r>
            <a:endParaRPr b="0" lang="en-HK" sz="920" spc="-1" strike="noStrike">
              <a:latin typeface="Arial"/>
            </a:endParaRPr>
          </a:p>
        </p:txBody>
      </p:sp>
      <p:sp>
        <p:nvSpPr>
          <p:cNvPr id="499" name="Shape 25"/>
          <p:cNvSpPr/>
          <p:nvPr/>
        </p:nvSpPr>
        <p:spPr>
          <a:xfrm>
            <a:off x="338040" y="6212880"/>
            <a:ext cx="1617840" cy="6415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0" name="Shape 26"/>
          <p:cNvSpPr/>
          <p:nvPr/>
        </p:nvSpPr>
        <p:spPr>
          <a:xfrm>
            <a:off x="1058040" y="6317280"/>
            <a:ext cx="174240" cy="199080"/>
          </a:xfrm>
          <a:custGeom>
            <a:avLst/>
            <a:gdLst/>
            <a:ah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w="0">
            <a:noFill/>
          </a:ln>
        </p:spPr>
        <p:style>
          <a:lnRef idx="0"/>
          <a:fillRef idx="0"/>
          <a:effectRef idx="0"/>
          <a:fontRef idx="minor"/>
        </p:style>
      </p:sp>
      <p:sp>
        <p:nvSpPr>
          <p:cNvPr id="501" name="Text 27"/>
          <p:cNvSpPr/>
          <p:nvPr/>
        </p:nvSpPr>
        <p:spPr>
          <a:xfrm>
            <a:off x="412920" y="6584040"/>
            <a:ext cx="1467720" cy="165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Fast-paced</a:t>
            </a:r>
            <a:endParaRPr b="0" lang="en-HK" sz="920" spc="-1" strike="noStrike">
              <a:latin typeface="Arial"/>
            </a:endParaRPr>
          </a:p>
        </p:txBody>
      </p:sp>
      <p:sp>
        <p:nvSpPr>
          <p:cNvPr id="502" name="Shape 28"/>
          <p:cNvSpPr/>
          <p:nvPr/>
        </p:nvSpPr>
        <p:spPr>
          <a:xfrm>
            <a:off x="2062080" y="6212880"/>
            <a:ext cx="1617840" cy="6415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3" name="Shape 29"/>
          <p:cNvSpPr/>
          <p:nvPr/>
        </p:nvSpPr>
        <p:spPr>
          <a:xfrm>
            <a:off x="2794680" y="6317280"/>
            <a:ext cx="149040" cy="199080"/>
          </a:xfrm>
          <a:custGeom>
            <a:avLst/>
            <a:gdLst/>
            <a:ah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w="0">
            <a:noFill/>
          </a:ln>
        </p:spPr>
        <p:style>
          <a:lnRef idx="0"/>
          <a:fillRef idx="0"/>
          <a:effectRef idx="0"/>
          <a:fontRef idx="minor"/>
        </p:style>
      </p:sp>
      <p:sp>
        <p:nvSpPr>
          <p:cNvPr id="504" name="Text 30"/>
          <p:cNvSpPr/>
          <p:nvPr/>
        </p:nvSpPr>
        <p:spPr>
          <a:xfrm>
            <a:off x="2136960" y="6584040"/>
            <a:ext cx="1467720" cy="165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Anti-establishment</a:t>
            </a:r>
            <a:endParaRPr b="0" lang="en-HK" sz="920" spc="-1" strike="noStrike">
              <a:latin typeface="Arial"/>
            </a:endParaRPr>
          </a:p>
        </p:txBody>
      </p:sp>
      <p:sp>
        <p:nvSpPr>
          <p:cNvPr id="505" name="Shape 31"/>
          <p:cNvSpPr/>
          <p:nvPr/>
        </p:nvSpPr>
        <p:spPr>
          <a:xfrm>
            <a:off x="3786120" y="6212880"/>
            <a:ext cx="1617840" cy="6415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6" name="Shape 32"/>
          <p:cNvSpPr/>
          <p:nvPr/>
        </p:nvSpPr>
        <p:spPr>
          <a:xfrm>
            <a:off x="4481640" y="6317280"/>
            <a:ext cx="224280" cy="199080"/>
          </a:xfrm>
          <a:custGeom>
            <a:avLst/>
            <a:gdLst/>
            <a:ah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w="0">
            <a:noFill/>
          </a:ln>
        </p:spPr>
        <p:style>
          <a:lnRef idx="0"/>
          <a:fillRef idx="0"/>
          <a:effectRef idx="0"/>
          <a:fontRef idx="minor"/>
        </p:style>
      </p:sp>
      <p:sp>
        <p:nvSpPr>
          <p:cNvPr id="507" name="Text 33"/>
          <p:cNvSpPr/>
          <p:nvPr/>
        </p:nvSpPr>
        <p:spPr>
          <a:xfrm>
            <a:off x="3861000" y="6584040"/>
            <a:ext cx="1467720" cy="165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DIY Ethic</a:t>
            </a:r>
            <a:endParaRPr b="0" lang="en-HK" sz="920" spc="-1" strike="noStrike">
              <a:latin typeface="Arial"/>
            </a:endParaRPr>
          </a:p>
        </p:txBody>
      </p:sp>
      <p:sp>
        <p:nvSpPr>
          <p:cNvPr id="508" name="Shape 34"/>
          <p:cNvSpPr/>
          <p:nvPr/>
        </p:nvSpPr>
        <p:spPr>
          <a:xfrm>
            <a:off x="5510520" y="6212880"/>
            <a:ext cx="1617840" cy="6415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9" name="Shape 35"/>
          <p:cNvSpPr/>
          <p:nvPr/>
        </p:nvSpPr>
        <p:spPr>
          <a:xfrm>
            <a:off x="6230520" y="6317280"/>
            <a:ext cx="174240" cy="199080"/>
          </a:xfrm>
          <a:custGeom>
            <a:avLst/>
            <a:gdLst/>
            <a:ah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w="0">
            <a:noFill/>
          </a:ln>
        </p:spPr>
        <p:style>
          <a:lnRef idx="0"/>
          <a:fillRef idx="0"/>
          <a:effectRef idx="0"/>
          <a:fontRef idx="minor"/>
        </p:style>
      </p:sp>
      <p:sp>
        <p:nvSpPr>
          <p:cNvPr id="510" name="Text 36"/>
          <p:cNvSpPr/>
          <p:nvPr/>
        </p:nvSpPr>
        <p:spPr>
          <a:xfrm>
            <a:off x="5585760" y="6584040"/>
            <a:ext cx="1467720" cy="1659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Raw Energy</a:t>
            </a:r>
            <a:endParaRPr b="0" lang="en-HK" sz="920" spc="-1" strike="noStrike">
              <a:latin typeface="Arial"/>
            </a:endParaRPr>
          </a:p>
        </p:txBody>
      </p:sp>
      <p:sp>
        <p:nvSpPr>
          <p:cNvPr id="511" name="Image 0"/>
          <p:cNvSpPr/>
          <p:nvPr/>
        </p:nvSpPr>
        <p:spPr>
          <a:xfrm>
            <a:off x="7330680" y="1101600"/>
            <a:ext cx="4530600" cy="3119760"/>
          </a:xfrm>
          <a:prstGeom prst="roundRect">
            <a:avLst>
              <a:gd name="adj" fmla="val 0"/>
            </a:avLst>
          </a:prstGeom>
          <a:blipFill rotWithShape="0">
            <a:blip r:embed="rId1"/>
            <a:srcRect/>
            <a:stretch/>
          </a:blipFill>
          <a:ln w="0">
            <a:noFill/>
          </a:ln>
        </p:spPr>
        <p:style>
          <a:lnRef idx="0"/>
          <a:fillRef idx="0"/>
          <a:effectRef idx="0"/>
          <a:fontRef idx="minor"/>
        </p:style>
      </p:sp>
      <p:sp>
        <p:nvSpPr>
          <p:cNvPr id="512" name="Shape 37"/>
          <p:cNvSpPr/>
          <p:nvPr/>
        </p:nvSpPr>
        <p:spPr>
          <a:xfrm>
            <a:off x="7330680" y="1101600"/>
            <a:ext cx="4530600" cy="3119760"/>
          </a:xfrm>
          <a:custGeom>
            <a:avLst/>
            <a:gdLst/>
            <a:ahLst/>
            <a:rect l="l" t="t" r="r" b="b"/>
            <a:pathLst>
              <a:path w="4531318" h="3121018">
                <a:moveTo>
                  <a:pt x="0" y="0"/>
                </a:moveTo>
                <a:lnTo>
                  <a:pt x="4531318" y="0"/>
                </a:lnTo>
                <a:lnTo>
                  <a:pt x="4531318" y="3121018"/>
                </a:lnTo>
                <a:lnTo>
                  <a:pt x="0" y="312101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513" name="Text 38"/>
          <p:cNvSpPr/>
          <p:nvPr/>
        </p:nvSpPr>
        <p:spPr>
          <a:xfrm>
            <a:off x="7464240" y="3655080"/>
            <a:ext cx="4321800" cy="16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ddff00"/>
                </a:solidFill>
                <a:latin typeface="Liter"/>
                <a:ea typeface="Liter"/>
              </a:rPr>
              <a:t>PUNK ENERGY</a:t>
            </a:r>
            <a:endParaRPr b="0" lang="en-HK" sz="920" spc="-1" strike="noStrike">
              <a:latin typeface="Arial"/>
            </a:endParaRPr>
          </a:p>
        </p:txBody>
      </p:sp>
      <p:sp>
        <p:nvSpPr>
          <p:cNvPr id="514" name="Text 39"/>
          <p:cNvSpPr/>
          <p:nvPr/>
        </p:nvSpPr>
        <p:spPr>
          <a:xfrm>
            <a:off x="7464240" y="3855240"/>
            <a:ext cx="433872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Raw &amp; Unfiltered</a:t>
            </a:r>
            <a:endParaRPr b="0" lang="en-HK" sz="1180" spc="-1" strike="noStrike">
              <a:latin typeface="Arial"/>
            </a:endParaRPr>
          </a:p>
        </p:txBody>
      </p:sp>
      <p:sp>
        <p:nvSpPr>
          <p:cNvPr id="515" name="Shape 40"/>
          <p:cNvSpPr/>
          <p:nvPr/>
        </p:nvSpPr>
        <p:spPr>
          <a:xfrm>
            <a:off x="7338960" y="4364280"/>
            <a:ext cx="4514040" cy="1684440"/>
          </a:xfrm>
          <a:custGeom>
            <a:avLst/>
            <a:gdLst/>
            <a:ahLst/>
            <a:rect l="l" t="t" r="r" b="b"/>
            <a:pathLst>
              <a:path w="4514628" h="1685684">
                <a:moveTo>
                  <a:pt x="0" y="0"/>
                </a:moveTo>
                <a:lnTo>
                  <a:pt x="4514628" y="0"/>
                </a:lnTo>
                <a:lnTo>
                  <a:pt x="4514628" y="1685684"/>
                </a:lnTo>
                <a:lnTo>
                  <a:pt x="0" y="1685684"/>
                </a:lnTo>
                <a:lnTo>
                  <a:pt x="0" y="0"/>
                </a:lnTo>
                <a:close/>
              </a:path>
            </a:pathLst>
          </a:custGeom>
          <a:noFill/>
          <a:ln w="25400">
            <a:solidFill>
              <a:srgbClr val="ddff00"/>
            </a:solidFill>
            <a:round/>
          </a:ln>
        </p:spPr>
        <p:style>
          <a:lnRef idx="0"/>
          <a:fillRef idx="0"/>
          <a:effectRef idx="0"/>
          <a:fontRef idx="minor"/>
        </p:style>
      </p:sp>
      <p:sp>
        <p:nvSpPr>
          <p:cNvPr id="516" name="Text 41"/>
          <p:cNvSpPr/>
          <p:nvPr/>
        </p:nvSpPr>
        <p:spPr>
          <a:xfrm>
            <a:off x="7514280" y="4539600"/>
            <a:ext cx="423864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ddff00"/>
                </a:solidFill>
                <a:latin typeface="Liter"/>
                <a:ea typeface="Liter"/>
              </a:rPr>
              <a:t>Cultural Impact</a:t>
            </a:r>
            <a:endParaRPr b="0" lang="en-HK" sz="1180" spc="-1" strike="noStrike">
              <a:latin typeface="Arial"/>
            </a:endParaRPr>
          </a:p>
        </p:txBody>
      </p:sp>
      <p:sp>
        <p:nvSpPr>
          <p:cNvPr id="517" name="Shape 42"/>
          <p:cNvSpPr/>
          <p:nvPr/>
        </p:nvSpPr>
        <p:spPr>
          <a:xfrm>
            <a:off x="7514280" y="4940280"/>
            <a:ext cx="65520" cy="655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18" name="Text 43"/>
          <p:cNvSpPr/>
          <p:nvPr/>
        </p:nvSpPr>
        <p:spPr>
          <a:xfrm>
            <a:off x="7647840" y="4873320"/>
            <a:ext cx="290340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Fashion:</a:t>
            </a:r>
            <a:r>
              <a:rPr b="0" lang="en-US" sz="1050" spc="-1" strike="noStrike">
                <a:solidFill>
                  <a:srgbClr val="ffffff">
                    <a:alpha val="80000"/>
                  </a:srgbClr>
                </a:solidFill>
                <a:latin typeface="Liter"/>
                <a:ea typeface="Liter"/>
              </a:rPr>
              <a:t> Safety pins, leather jackets, torn clothes</a:t>
            </a:r>
            <a:endParaRPr b="0" lang="en-HK" sz="1050" spc="-1" strike="noStrike">
              <a:latin typeface="Arial"/>
            </a:endParaRPr>
          </a:p>
        </p:txBody>
      </p:sp>
      <p:sp>
        <p:nvSpPr>
          <p:cNvPr id="519" name="Shape 44"/>
          <p:cNvSpPr/>
          <p:nvPr/>
        </p:nvSpPr>
        <p:spPr>
          <a:xfrm>
            <a:off x="7514280" y="5207400"/>
            <a:ext cx="65520" cy="655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0" name="Text 45"/>
          <p:cNvSpPr/>
          <p:nvPr/>
        </p:nvSpPr>
        <p:spPr>
          <a:xfrm>
            <a:off x="7647840" y="5140440"/>
            <a:ext cx="2427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Attitude:</a:t>
            </a:r>
            <a:r>
              <a:rPr b="0" lang="en-US" sz="1050" spc="-1" strike="noStrike">
                <a:solidFill>
                  <a:srgbClr val="ffffff">
                    <a:alpha val="80000"/>
                  </a:srgbClr>
                </a:solidFill>
                <a:latin typeface="Liter"/>
                <a:ea typeface="Liter"/>
              </a:rPr>
              <a:t> Rebellion, anti-authoritarianism</a:t>
            </a:r>
            <a:endParaRPr b="0" lang="en-HK" sz="1050" spc="-1" strike="noStrike">
              <a:latin typeface="Arial"/>
            </a:endParaRPr>
          </a:p>
        </p:txBody>
      </p:sp>
      <p:sp>
        <p:nvSpPr>
          <p:cNvPr id="521" name="Shape 46"/>
          <p:cNvSpPr/>
          <p:nvPr/>
        </p:nvSpPr>
        <p:spPr>
          <a:xfrm>
            <a:off x="7514280" y="5474160"/>
            <a:ext cx="65520" cy="655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2" name="Text 47"/>
          <p:cNvSpPr/>
          <p:nvPr/>
        </p:nvSpPr>
        <p:spPr>
          <a:xfrm>
            <a:off x="7647840" y="5407560"/>
            <a:ext cx="246096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DIY Culture:</a:t>
            </a:r>
            <a:r>
              <a:rPr b="0" lang="en-US" sz="1050" spc="-1" strike="noStrike">
                <a:solidFill>
                  <a:srgbClr val="ffffff">
                    <a:alpha val="80000"/>
                  </a:srgbClr>
                </a:solidFill>
                <a:latin typeface="Liter"/>
                <a:ea typeface="Liter"/>
              </a:rPr>
              <a:t> Independent labels, fanzines</a:t>
            </a:r>
            <a:endParaRPr b="0" lang="en-HK" sz="1050" spc="-1" strike="noStrike">
              <a:latin typeface="Arial"/>
            </a:endParaRPr>
          </a:p>
        </p:txBody>
      </p:sp>
      <p:sp>
        <p:nvSpPr>
          <p:cNvPr id="523" name="Shape 48"/>
          <p:cNvSpPr/>
          <p:nvPr/>
        </p:nvSpPr>
        <p:spPr>
          <a:xfrm>
            <a:off x="7514280" y="5741280"/>
            <a:ext cx="65520" cy="655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4" name="Text 49"/>
          <p:cNvSpPr/>
          <p:nvPr/>
        </p:nvSpPr>
        <p:spPr>
          <a:xfrm>
            <a:off x="7647840" y="5674680"/>
            <a:ext cx="331236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Social Commentary:</a:t>
            </a:r>
            <a:r>
              <a:rPr b="0" lang="en-US" sz="1050" spc="-1" strike="noStrike">
                <a:solidFill>
                  <a:srgbClr val="ffffff">
                    <a:alpha val="80000"/>
                  </a:srgbClr>
                </a:solidFill>
                <a:latin typeface="Liter"/>
                <a:ea typeface="Liter"/>
              </a:rPr>
              <a:t> Political lyrics, working-class voice</a:t>
            </a:r>
            <a:endParaRPr b="0" lang="en-HK" sz="1050" spc="-1" strike="noStrike">
              <a:latin typeface="Arial"/>
            </a:endParaRPr>
          </a:p>
        </p:txBody>
      </p:sp>
      <p:sp>
        <p:nvSpPr>
          <p:cNvPr id="525" name="Shape 50"/>
          <p:cNvSpPr/>
          <p:nvPr/>
        </p:nvSpPr>
        <p:spPr>
          <a:xfrm>
            <a:off x="7330680" y="6192000"/>
            <a:ext cx="4530600" cy="666360"/>
          </a:xfrm>
          <a:custGeom>
            <a:avLst/>
            <a:gdLst/>
            <a:ahLst/>
            <a:rect l="l" t="t" r="r" b="b"/>
            <a:pathLst>
              <a:path w="4531318" h="667598">
                <a:moveTo>
                  <a:pt x="0" y="0"/>
                </a:moveTo>
                <a:lnTo>
                  <a:pt x="4531318" y="0"/>
                </a:lnTo>
                <a:lnTo>
                  <a:pt x="4531318" y="667598"/>
                </a:lnTo>
                <a:lnTo>
                  <a:pt x="0" y="667598"/>
                </a:lnTo>
                <a:lnTo>
                  <a:pt x="0" y="0"/>
                </a:lnTo>
                <a:close/>
              </a:path>
            </a:pathLst>
          </a:custGeom>
          <a:solidFill>
            <a:srgbClr val="ddff00"/>
          </a:solidFill>
          <a:ln w="0">
            <a:noFill/>
          </a:ln>
        </p:spPr>
        <p:style>
          <a:lnRef idx="0"/>
          <a:fillRef idx="0"/>
          <a:effectRef idx="0"/>
          <a:fontRef idx="minor"/>
        </p:style>
      </p:sp>
      <p:sp>
        <p:nvSpPr>
          <p:cNvPr id="526" name="Text 51"/>
          <p:cNvSpPr/>
          <p:nvPr/>
        </p:nvSpPr>
        <p:spPr>
          <a:xfrm>
            <a:off x="7430760" y="6325560"/>
            <a:ext cx="4330440" cy="399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000000"/>
                </a:solidFill>
                <a:latin typeface="Liter"/>
                <a:ea typeface="Liter"/>
              </a:rPr>
              <a:t>"Punk is musical freedom."</a:t>
            </a:r>
            <a:endParaRPr b="0" lang="en-HK" sz="1050" spc="-1" strike="noStrike">
              <a:latin typeface="Arial"/>
            </a:endParaRPr>
          </a:p>
          <a:p>
            <a:pPr algn="ctr">
              <a:lnSpc>
                <a:spcPct val="130000"/>
              </a:lnSpc>
              <a:buNone/>
            </a:pPr>
            <a:r>
              <a:rPr b="0" lang="en-US" sz="920" spc="-1" strike="noStrike">
                <a:solidFill>
                  <a:srgbClr val="000000"/>
                </a:solidFill>
                <a:latin typeface="Liter"/>
                <a:ea typeface="Liter"/>
              </a:rPr>
              <a:t>— </a:t>
            </a:r>
            <a:r>
              <a:rPr b="0" lang="en-US" sz="920" spc="-1" strike="noStrike">
                <a:solidFill>
                  <a:srgbClr val="000000"/>
                </a:solidFill>
                <a:latin typeface="Liter"/>
                <a:ea typeface="Liter"/>
              </a:rPr>
              <a:t>Kurt Cobain</a:t>
            </a:r>
            <a:endParaRPr b="0" lang="en-HK" sz="92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27" name="Shape 0"/>
          <p:cNvSpPr/>
          <p:nvPr/>
        </p:nvSpPr>
        <p:spPr>
          <a:xfrm>
            <a:off x="317520" y="365040"/>
            <a:ext cx="62280" cy="3798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528" name="Text 1"/>
          <p:cNvSpPr/>
          <p:nvPr/>
        </p:nvSpPr>
        <p:spPr>
          <a:xfrm>
            <a:off x="507960" y="317520"/>
            <a:ext cx="51508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ddff00"/>
                </a:solidFill>
                <a:latin typeface="Liter"/>
                <a:ea typeface="Liter"/>
              </a:rPr>
              <a:t>CHAPTER 05</a:t>
            </a:r>
            <a:endParaRPr b="0" lang="en-HK" sz="880" spc="-1" strike="noStrike">
              <a:latin typeface="Arial"/>
            </a:endParaRPr>
          </a:p>
        </p:txBody>
      </p:sp>
      <p:sp>
        <p:nvSpPr>
          <p:cNvPr id="529" name="Text 2"/>
          <p:cNvSpPr/>
          <p:nvPr/>
        </p:nvSpPr>
        <p:spPr>
          <a:xfrm>
            <a:off x="507960" y="476280"/>
            <a:ext cx="523800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New Wave: Creativity &amp; Experimentation</a:t>
            </a:r>
            <a:endParaRPr b="0" lang="en-HK" sz="2250" spc="-1" strike="noStrike">
              <a:latin typeface="Arial"/>
            </a:endParaRPr>
          </a:p>
        </p:txBody>
      </p:sp>
      <p:sp>
        <p:nvSpPr>
          <p:cNvPr id="530" name="Shape 3"/>
          <p:cNvSpPr/>
          <p:nvPr/>
        </p:nvSpPr>
        <p:spPr>
          <a:xfrm>
            <a:off x="317520" y="1047600"/>
            <a:ext cx="4547520" cy="2269080"/>
          </a:xfrm>
          <a:custGeom>
            <a:avLst/>
            <a:gdLst/>
            <a:ahLst/>
            <a:rect l="l" t="t" r="r" b="b"/>
            <a:pathLst>
              <a:path w="4548188" h="2270125">
                <a:moveTo>
                  <a:pt x="0" y="0"/>
                </a:moveTo>
                <a:lnTo>
                  <a:pt x="4548188" y="0"/>
                </a:lnTo>
                <a:lnTo>
                  <a:pt x="4548188" y="2270125"/>
                </a:lnTo>
                <a:lnTo>
                  <a:pt x="0" y="2270125"/>
                </a:lnTo>
                <a:lnTo>
                  <a:pt x="0" y="0"/>
                </a:lnTo>
                <a:close/>
              </a:path>
            </a:pathLst>
          </a:custGeom>
          <a:solidFill>
            <a:srgbClr val="ddff00"/>
          </a:solidFill>
          <a:ln w="0">
            <a:noFill/>
          </a:ln>
        </p:spPr>
        <p:style>
          <a:lnRef idx="0"/>
          <a:fillRef idx="0"/>
          <a:effectRef idx="0"/>
          <a:fontRef idx="minor"/>
        </p:style>
      </p:sp>
      <p:sp>
        <p:nvSpPr>
          <p:cNvPr id="531" name="Text 4"/>
          <p:cNvSpPr/>
          <p:nvPr/>
        </p:nvSpPr>
        <p:spPr>
          <a:xfrm>
            <a:off x="507960" y="1238400"/>
            <a:ext cx="426168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Artistic Evolution from Punk</a:t>
            </a:r>
            <a:endParaRPr b="0" lang="en-HK" sz="1500" spc="-1" strike="noStrike">
              <a:latin typeface="Arial"/>
            </a:endParaRPr>
          </a:p>
        </p:txBody>
      </p:sp>
      <p:sp>
        <p:nvSpPr>
          <p:cNvPr id="532" name="Text 5"/>
          <p:cNvSpPr/>
          <p:nvPr/>
        </p:nvSpPr>
        <p:spPr>
          <a:xfrm>
            <a:off x="507960" y="1587600"/>
            <a:ext cx="423000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New Wave emerged in the late 1970s as a departure from punk's rawness,</a:t>
            </a:r>
            <a:r>
              <a:rPr b="0" lang="en-US" sz="1000" spc="-1" strike="noStrike">
                <a:solidFill>
                  <a:srgbClr val="000000"/>
                </a:solidFill>
                <a:latin typeface="Liter"/>
                <a:ea typeface="Liter"/>
              </a:rPr>
              <a:t> incorporating a more diverse range of musical influences and a focus on creativity and experimentation. While punk stripped music down to its essentials, New Wave built it back up with artistic flair.</a:t>
            </a:r>
            <a:endParaRPr b="0" lang="en-HK" sz="1000" spc="-1" strike="noStrike">
              <a:latin typeface="Arial"/>
            </a:endParaRPr>
          </a:p>
        </p:txBody>
      </p:sp>
      <p:sp>
        <p:nvSpPr>
          <p:cNvPr id="533" name="Text 6"/>
          <p:cNvSpPr/>
          <p:nvPr/>
        </p:nvSpPr>
        <p:spPr>
          <a:xfrm>
            <a:off x="507960" y="2508120"/>
            <a:ext cx="423000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 was not limited to a single musical style but embraced variety—incorporating pop, rock, punk, electronic, disco, and reggae elements. This diversity allowed for innovation while maintaining accessibility.</a:t>
            </a:r>
            <a:endParaRPr b="0" lang="en-HK" sz="1000" spc="-1" strike="noStrike">
              <a:latin typeface="Arial"/>
            </a:endParaRPr>
          </a:p>
        </p:txBody>
      </p:sp>
      <p:sp>
        <p:nvSpPr>
          <p:cNvPr id="534" name="Shape 7"/>
          <p:cNvSpPr/>
          <p:nvPr/>
        </p:nvSpPr>
        <p:spPr>
          <a:xfrm>
            <a:off x="325440" y="3452760"/>
            <a:ext cx="4531680" cy="312624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535" name="Text 8"/>
          <p:cNvSpPr/>
          <p:nvPr/>
        </p:nvSpPr>
        <p:spPr>
          <a:xfrm>
            <a:off x="492120" y="3619440"/>
            <a:ext cx="42775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New Wave Artists</a:t>
            </a:r>
            <a:endParaRPr b="0" lang="en-HK" sz="1250" spc="-1" strike="noStrike">
              <a:latin typeface="Arial"/>
            </a:endParaRPr>
          </a:p>
        </p:txBody>
      </p:sp>
      <p:sp>
        <p:nvSpPr>
          <p:cNvPr id="536" name="Shape 9"/>
          <p:cNvSpPr/>
          <p:nvPr/>
        </p:nvSpPr>
        <p:spPr>
          <a:xfrm>
            <a:off x="507960" y="396864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37" name="Shape 10"/>
          <p:cNvSpPr/>
          <p:nvPr/>
        </p:nvSpPr>
        <p:spPr>
          <a:xfrm>
            <a:off x="619200" y="396864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38" name="Shape 11"/>
          <p:cNvSpPr/>
          <p:nvPr/>
        </p:nvSpPr>
        <p:spPr>
          <a:xfrm>
            <a:off x="714240" y="4064040"/>
            <a:ext cx="126000" cy="126000"/>
          </a:xfrm>
          <a:custGeom>
            <a:avLst/>
            <a:gdLst/>
            <a:ah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w="0">
            <a:noFill/>
          </a:ln>
        </p:spPr>
        <p:style>
          <a:lnRef idx="0"/>
          <a:fillRef idx="0"/>
          <a:effectRef idx="0"/>
          <a:fontRef idx="minor"/>
        </p:style>
      </p:sp>
      <p:sp>
        <p:nvSpPr>
          <p:cNvPr id="539" name="Text 12"/>
          <p:cNvSpPr/>
          <p:nvPr/>
        </p:nvSpPr>
        <p:spPr>
          <a:xfrm>
            <a:off x="1031760" y="3968640"/>
            <a:ext cx="20790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Talking Heads</a:t>
            </a:r>
            <a:endParaRPr b="0" lang="en-HK" sz="1130" spc="-1" strike="noStrike">
              <a:latin typeface="Arial"/>
            </a:endParaRPr>
          </a:p>
        </p:txBody>
      </p:sp>
      <p:sp>
        <p:nvSpPr>
          <p:cNvPr id="540" name="Text 13"/>
          <p:cNvSpPr/>
          <p:nvPr/>
        </p:nvSpPr>
        <p:spPr>
          <a:xfrm>
            <a:off x="1031760" y="4191120"/>
            <a:ext cx="20710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Art-rock sophistication, quirky lyrics</a:t>
            </a:r>
            <a:endParaRPr b="0" lang="en-HK" sz="1000" spc="-1" strike="noStrike">
              <a:latin typeface="Arial"/>
            </a:endParaRPr>
          </a:p>
        </p:txBody>
      </p:sp>
      <p:sp>
        <p:nvSpPr>
          <p:cNvPr id="541" name="Shape 14"/>
          <p:cNvSpPr/>
          <p:nvPr/>
        </p:nvSpPr>
        <p:spPr>
          <a:xfrm>
            <a:off x="507960" y="447660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2" name="Shape 15"/>
          <p:cNvSpPr/>
          <p:nvPr/>
        </p:nvSpPr>
        <p:spPr>
          <a:xfrm>
            <a:off x="619200" y="447660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3" name="Shape 16"/>
          <p:cNvSpPr/>
          <p:nvPr/>
        </p:nvSpPr>
        <p:spPr>
          <a:xfrm>
            <a:off x="730080" y="4572000"/>
            <a:ext cx="94320" cy="12600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544" name="Text 17"/>
          <p:cNvSpPr/>
          <p:nvPr/>
        </p:nvSpPr>
        <p:spPr>
          <a:xfrm>
            <a:off x="1031760" y="4476600"/>
            <a:ext cx="1745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Blondie</a:t>
            </a:r>
            <a:endParaRPr b="0" lang="en-HK" sz="1130" spc="-1" strike="noStrike">
              <a:latin typeface="Arial"/>
            </a:endParaRPr>
          </a:p>
        </p:txBody>
      </p:sp>
      <p:sp>
        <p:nvSpPr>
          <p:cNvPr id="545" name="Text 18"/>
          <p:cNvSpPr/>
          <p:nvPr/>
        </p:nvSpPr>
        <p:spPr>
          <a:xfrm>
            <a:off x="1031760" y="4699080"/>
            <a:ext cx="17373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Punk energy meets pop hooks</a:t>
            </a:r>
            <a:endParaRPr b="0" lang="en-HK" sz="1000" spc="-1" strike="noStrike">
              <a:latin typeface="Arial"/>
            </a:endParaRPr>
          </a:p>
        </p:txBody>
      </p:sp>
      <p:sp>
        <p:nvSpPr>
          <p:cNvPr id="546" name="Shape 19"/>
          <p:cNvSpPr/>
          <p:nvPr/>
        </p:nvSpPr>
        <p:spPr>
          <a:xfrm>
            <a:off x="507960" y="498492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7" name="Shape 20"/>
          <p:cNvSpPr/>
          <p:nvPr/>
        </p:nvSpPr>
        <p:spPr>
          <a:xfrm>
            <a:off x="619200" y="498492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8" name="Shape 21"/>
          <p:cNvSpPr/>
          <p:nvPr/>
        </p:nvSpPr>
        <p:spPr>
          <a:xfrm>
            <a:off x="714240" y="5079960"/>
            <a:ext cx="126000" cy="12600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w="0">
            <a:noFill/>
          </a:ln>
        </p:spPr>
        <p:style>
          <a:lnRef idx="0"/>
          <a:fillRef idx="0"/>
          <a:effectRef idx="0"/>
          <a:fontRef idx="minor"/>
        </p:style>
      </p:sp>
      <p:sp>
        <p:nvSpPr>
          <p:cNvPr id="549" name="Text 22"/>
          <p:cNvSpPr/>
          <p:nvPr/>
        </p:nvSpPr>
        <p:spPr>
          <a:xfrm>
            <a:off x="1031760" y="4984920"/>
            <a:ext cx="222192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Police</a:t>
            </a:r>
            <a:endParaRPr b="0" lang="en-HK" sz="1130" spc="-1" strike="noStrike">
              <a:latin typeface="Arial"/>
            </a:endParaRPr>
          </a:p>
        </p:txBody>
      </p:sp>
      <p:sp>
        <p:nvSpPr>
          <p:cNvPr id="550" name="Text 23"/>
          <p:cNvSpPr/>
          <p:nvPr/>
        </p:nvSpPr>
        <p:spPr>
          <a:xfrm>
            <a:off x="1031760" y="5207040"/>
            <a:ext cx="221400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Reggae-rock fusion, sophisticated pop</a:t>
            </a:r>
            <a:endParaRPr b="0" lang="en-HK" sz="1000" spc="-1" strike="noStrike">
              <a:latin typeface="Arial"/>
            </a:endParaRPr>
          </a:p>
        </p:txBody>
      </p:sp>
      <p:sp>
        <p:nvSpPr>
          <p:cNvPr id="551" name="Shape 24"/>
          <p:cNvSpPr/>
          <p:nvPr/>
        </p:nvSpPr>
        <p:spPr>
          <a:xfrm>
            <a:off x="507960" y="549288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2" name="Shape 25"/>
          <p:cNvSpPr/>
          <p:nvPr/>
        </p:nvSpPr>
        <p:spPr>
          <a:xfrm>
            <a:off x="619200" y="549288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3" name="Shape 26"/>
          <p:cNvSpPr/>
          <p:nvPr/>
        </p:nvSpPr>
        <p:spPr>
          <a:xfrm>
            <a:off x="698400" y="5587920"/>
            <a:ext cx="157680" cy="126000"/>
          </a:xfrm>
          <a:custGeom>
            <a:avLst/>
            <a:gdLst/>
            <a:ah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w="0">
            <a:noFill/>
          </a:ln>
        </p:spPr>
        <p:style>
          <a:lnRef idx="0"/>
          <a:fillRef idx="0"/>
          <a:effectRef idx="0"/>
          <a:fontRef idx="minor"/>
        </p:style>
      </p:sp>
      <p:sp>
        <p:nvSpPr>
          <p:cNvPr id="554" name="Text 27"/>
          <p:cNvSpPr/>
          <p:nvPr/>
        </p:nvSpPr>
        <p:spPr>
          <a:xfrm>
            <a:off x="1031760" y="5492880"/>
            <a:ext cx="14832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Devo</a:t>
            </a:r>
            <a:endParaRPr b="0" lang="en-HK" sz="1130" spc="-1" strike="noStrike">
              <a:latin typeface="Arial"/>
            </a:endParaRPr>
          </a:p>
        </p:txBody>
      </p:sp>
      <p:sp>
        <p:nvSpPr>
          <p:cNvPr id="555" name="Text 28"/>
          <p:cNvSpPr/>
          <p:nvPr/>
        </p:nvSpPr>
        <p:spPr>
          <a:xfrm>
            <a:off x="1031760" y="5715000"/>
            <a:ext cx="14752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Quirky, futuristic, satirical</a:t>
            </a:r>
            <a:endParaRPr b="0" lang="en-HK" sz="1000" spc="-1" strike="noStrike">
              <a:latin typeface="Arial"/>
            </a:endParaRPr>
          </a:p>
        </p:txBody>
      </p:sp>
      <p:sp>
        <p:nvSpPr>
          <p:cNvPr id="556" name="Shape 29"/>
          <p:cNvSpPr/>
          <p:nvPr/>
        </p:nvSpPr>
        <p:spPr>
          <a:xfrm>
            <a:off x="507960" y="6000840"/>
            <a:ext cx="30600" cy="4118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7" name="Shape 30"/>
          <p:cNvSpPr/>
          <p:nvPr/>
        </p:nvSpPr>
        <p:spPr>
          <a:xfrm>
            <a:off x="619200" y="6000840"/>
            <a:ext cx="316440" cy="3164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8" name="Shape 31"/>
          <p:cNvSpPr/>
          <p:nvPr/>
        </p:nvSpPr>
        <p:spPr>
          <a:xfrm>
            <a:off x="706320" y="6095880"/>
            <a:ext cx="141840" cy="126000"/>
          </a:xfrm>
          <a:custGeom>
            <a:avLst/>
            <a:gdLst/>
            <a:ah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w="0">
            <a:noFill/>
          </a:ln>
        </p:spPr>
        <p:style>
          <a:lnRef idx="0"/>
          <a:fillRef idx="0"/>
          <a:effectRef idx="0"/>
          <a:fontRef idx="minor"/>
        </p:style>
      </p:sp>
      <p:sp>
        <p:nvSpPr>
          <p:cNvPr id="559" name="Text 32"/>
          <p:cNvSpPr/>
          <p:nvPr/>
        </p:nvSpPr>
        <p:spPr>
          <a:xfrm>
            <a:off x="1031760" y="6000840"/>
            <a:ext cx="16894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Duran Duran</a:t>
            </a:r>
            <a:endParaRPr b="0" lang="en-HK" sz="1130" spc="-1" strike="noStrike">
              <a:latin typeface="Arial"/>
            </a:endParaRPr>
          </a:p>
        </p:txBody>
      </p:sp>
      <p:sp>
        <p:nvSpPr>
          <p:cNvPr id="560" name="Text 33"/>
          <p:cNvSpPr/>
          <p:nvPr/>
        </p:nvSpPr>
        <p:spPr>
          <a:xfrm>
            <a:off x="1031760" y="6222960"/>
            <a:ext cx="16815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MTV-era glamour, synth-pop</a:t>
            </a:r>
            <a:endParaRPr b="0" lang="en-HK" sz="1000" spc="-1" strike="noStrike">
              <a:latin typeface="Arial"/>
            </a:endParaRPr>
          </a:p>
        </p:txBody>
      </p:sp>
      <p:sp>
        <p:nvSpPr>
          <p:cNvPr id="561" name="Shape 34"/>
          <p:cNvSpPr/>
          <p:nvPr/>
        </p:nvSpPr>
        <p:spPr>
          <a:xfrm>
            <a:off x="5063040" y="1055520"/>
            <a:ext cx="6802200" cy="2777040"/>
          </a:xfrm>
          <a:custGeom>
            <a:avLst/>
            <a:gdLst/>
            <a:ahLst/>
            <a:rect l="l" t="t" r="r" b="b"/>
            <a:pathLst>
              <a:path w="6802438" h="2778125">
                <a:moveTo>
                  <a:pt x="0" y="0"/>
                </a:moveTo>
                <a:lnTo>
                  <a:pt x="6802438" y="0"/>
                </a:lnTo>
                <a:lnTo>
                  <a:pt x="6802438" y="2778125"/>
                </a:lnTo>
                <a:lnTo>
                  <a:pt x="0" y="2778125"/>
                </a:lnTo>
                <a:lnTo>
                  <a:pt x="0" y="0"/>
                </a:lnTo>
                <a:close/>
              </a:path>
            </a:pathLst>
          </a:custGeom>
          <a:noFill/>
          <a:ln w="25400">
            <a:solidFill>
              <a:srgbClr val="ddff00"/>
            </a:solidFill>
            <a:round/>
          </a:ln>
        </p:spPr>
        <p:style>
          <a:lnRef idx="0"/>
          <a:fillRef idx="0"/>
          <a:effectRef idx="0"/>
          <a:fontRef idx="minor"/>
        </p:style>
      </p:sp>
      <p:sp>
        <p:nvSpPr>
          <p:cNvPr id="562" name="Text 35"/>
          <p:cNvSpPr/>
          <p:nvPr/>
        </p:nvSpPr>
        <p:spPr>
          <a:xfrm>
            <a:off x="5261400" y="1254240"/>
            <a:ext cx="6500520" cy="253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New Wave Characteristics</a:t>
            </a:r>
            <a:endParaRPr b="0" lang="en-HK" sz="1500" spc="-1" strike="noStrike">
              <a:latin typeface="Arial"/>
            </a:endParaRPr>
          </a:p>
        </p:txBody>
      </p:sp>
      <p:sp>
        <p:nvSpPr>
          <p:cNvPr id="563" name="Shape 36"/>
          <p:cNvSpPr/>
          <p:nvPr/>
        </p:nvSpPr>
        <p:spPr>
          <a:xfrm>
            <a:off x="5265360" y="1639080"/>
            <a:ext cx="3134520" cy="9277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4" name="Shape 37"/>
          <p:cNvSpPr/>
          <p:nvPr/>
        </p:nvSpPr>
        <p:spPr>
          <a:xfrm>
            <a:off x="5416200" y="1809720"/>
            <a:ext cx="141840" cy="141840"/>
          </a:xfrm>
          <a:custGeom>
            <a:avLst/>
            <a:gdLst/>
            <a:ah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w="0">
            <a:noFill/>
          </a:ln>
        </p:spPr>
        <p:style>
          <a:lnRef idx="0"/>
          <a:fillRef idx="0"/>
          <a:effectRef idx="0"/>
          <a:fontRef idx="minor"/>
        </p:style>
      </p:sp>
      <p:sp>
        <p:nvSpPr>
          <p:cNvPr id="565" name="Text 38"/>
          <p:cNvSpPr/>
          <p:nvPr/>
        </p:nvSpPr>
        <p:spPr>
          <a:xfrm>
            <a:off x="5578920" y="1770120"/>
            <a:ext cx="27615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Synthesizers</a:t>
            </a:r>
            <a:endParaRPr b="0" lang="en-HK" sz="1130" spc="-1" strike="noStrike">
              <a:latin typeface="Arial"/>
            </a:endParaRPr>
          </a:p>
        </p:txBody>
      </p:sp>
      <p:sp>
        <p:nvSpPr>
          <p:cNvPr id="566" name="Text 39"/>
          <p:cNvSpPr/>
          <p:nvPr/>
        </p:nvSpPr>
        <p:spPr>
          <a:xfrm>
            <a:off x="5396400" y="2055960"/>
            <a:ext cx="293616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Electronic instruments played a significant role, contributing to futuristic and quirky sounds</a:t>
            </a:r>
            <a:endParaRPr b="0" lang="en-HK" sz="1000" spc="-1" strike="noStrike">
              <a:latin typeface="Arial"/>
            </a:endParaRPr>
          </a:p>
        </p:txBody>
      </p:sp>
      <p:sp>
        <p:nvSpPr>
          <p:cNvPr id="567" name="Shape 40"/>
          <p:cNvSpPr/>
          <p:nvPr/>
        </p:nvSpPr>
        <p:spPr>
          <a:xfrm>
            <a:off x="8532720" y="1639080"/>
            <a:ext cx="3134520" cy="9277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8" name="Shape 41"/>
          <p:cNvSpPr/>
          <p:nvPr/>
        </p:nvSpPr>
        <p:spPr>
          <a:xfrm>
            <a:off x="8683560" y="1809720"/>
            <a:ext cx="141840" cy="141840"/>
          </a:xfrm>
          <a:custGeom>
            <a:avLst/>
            <a:gdLst/>
            <a:ah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w="0">
            <a:noFill/>
          </a:ln>
        </p:spPr>
        <p:style>
          <a:lnRef idx="0"/>
          <a:fillRef idx="0"/>
          <a:effectRef idx="0"/>
          <a:fontRef idx="minor"/>
        </p:style>
      </p:sp>
      <p:sp>
        <p:nvSpPr>
          <p:cNvPr id="569" name="Text 42"/>
          <p:cNvSpPr/>
          <p:nvPr/>
        </p:nvSpPr>
        <p:spPr>
          <a:xfrm>
            <a:off x="8846280" y="1770120"/>
            <a:ext cx="27615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Catchy Melodies</a:t>
            </a:r>
            <a:endParaRPr b="0" lang="en-HK" sz="1130" spc="-1" strike="noStrike">
              <a:latin typeface="Arial"/>
            </a:endParaRPr>
          </a:p>
        </p:txBody>
      </p:sp>
      <p:sp>
        <p:nvSpPr>
          <p:cNvPr id="570" name="Text 43"/>
          <p:cNvSpPr/>
          <p:nvPr/>
        </p:nvSpPr>
        <p:spPr>
          <a:xfrm>
            <a:off x="8663760" y="2055960"/>
            <a:ext cx="293616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More accessible to mainstream audiences compared to punk's aggressive sound</a:t>
            </a:r>
            <a:endParaRPr b="0" lang="en-HK" sz="1000" spc="-1" strike="noStrike">
              <a:latin typeface="Arial"/>
            </a:endParaRPr>
          </a:p>
        </p:txBody>
      </p:sp>
      <p:sp>
        <p:nvSpPr>
          <p:cNvPr id="571" name="Shape 44"/>
          <p:cNvSpPr/>
          <p:nvPr/>
        </p:nvSpPr>
        <p:spPr>
          <a:xfrm>
            <a:off x="5265360" y="2702880"/>
            <a:ext cx="3134520" cy="9277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2" name="Shape 45"/>
          <p:cNvSpPr/>
          <p:nvPr/>
        </p:nvSpPr>
        <p:spPr>
          <a:xfrm>
            <a:off x="5416200" y="2873520"/>
            <a:ext cx="141840" cy="141840"/>
          </a:xfrm>
          <a:custGeom>
            <a:avLst/>
            <a:gdLst/>
            <a:ah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w="0">
            <a:noFill/>
          </a:ln>
        </p:spPr>
        <p:style>
          <a:lnRef idx="0"/>
          <a:fillRef idx="0"/>
          <a:effectRef idx="0"/>
          <a:fontRef idx="minor"/>
        </p:style>
      </p:sp>
      <p:sp>
        <p:nvSpPr>
          <p:cNvPr id="573" name="Text 46"/>
          <p:cNvSpPr/>
          <p:nvPr/>
        </p:nvSpPr>
        <p:spPr>
          <a:xfrm>
            <a:off x="5578920" y="2833560"/>
            <a:ext cx="27615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Artistic Expression</a:t>
            </a:r>
            <a:endParaRPr b="0" lang="en-HK" sz="1130" spc="-1" strike="noStrike">
              <a:latin typeface="Arial"/>
            </a:endParaRPr>
          </a:p>
        </p:txBody>
      </p:sp>
      <p:sp>
        <p:nvSpPr>
          <p:cNvPr id="574" name="Text 47"/>
          <p:cNvSpPr/>
          <p:nvPr/>
        </p:nvSpPr>
        <p:spPr>
          <a:xfrm>
            <a:off x="5396400" y="3119400"/>
            <a:ext cx="293616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Visual and theatrical elements in performances, fashion, and makeup</a:t>
            </a:r>
            <a:endParaRPr b="0" lang="en-HK" sz="1000" spc="-1" strike="noStrike">
              <a:latin typeface="Arial"/>
            </a:endParaRPr>
          </a:p>
        </p:txBody>
      </p:sp>
      <p:sp>
        <p:nvSpPr>
          <p:cNvPr id="575" name="Shape 48"/>
          <p:cNvSpPr/>
          <p:nvPr/>
        </p:nvSpPr>
        <p:spPr>
          <a:xfrm>
            <a:off x="8532720" y="2702880"/>
            <a:ext cx="3134520" cy="9277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6" name="Shape 49"/>
          <p:cNvSpPr/>
          <p:nvPr/>
        </p:nvSpPr>
        <p:spPr>
          <a:xfrm>
            <a:off x="8674560" y="2873520"/>
            <a:ext cx="159480" cy="141840"/>
          </a:xfrm>
          <a:custGeom>
            <a:avLst/>
            <a:gdLst/>
            <a:ah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w="0">
            <a:noFill/>
          </a:ln>
        </p:spPr>
        <p:style>
          <a:lnRef idx="0"/>
          <a:fillRef idx="0"/>
          <a:effectRef idx="0"/>
          <a:fontRef idx="minor"/>
        </p:style>
      </p:sp>
      <p:sp>
        <p:nvSpPr>
          <p:cNvPr id="577" name="Text 50"/>
          <p:cNvSpPr/>
          <p:nvPr/>
        </p:nvSpPr>
        <p:spPr>
          <a:xfrm>
            <a:off x="8846280" y="2833560"/>
            <a:ext cx="27615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Music Videos</a:t>
            </a:r>
            <a:endParaRPr b="0" lang="en-HK" sz="1130" spc="-1" strike="noStrike">
              <a:latin typeface="Arial"/>
            </a:endParaRPr>
          </a:p>
        </p:txBody>
      </p:sp>
      <p:sp>
        <p:nvSpPr>
          <p:cNvPr id="578" name="Text 51"/>
          <p:cNvSpPr/>
          <p:nvPr/>
        </p:nvSpPr>
        <p:spPr>
          <a:xfrm>
            <a:off x="8663760" y="3119400"/>
            <a:ext cx="293616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MTV's rise in the early 1980s played a significant role in New Wave's popularity</a:t>
            </a:r>
            <a:endParaRPr b="0" lang="en-HK" sz="1000" spc="-1" strike="noStrike">
              <a:latin typeface="Arial"/>
            </a:endParaRPr>
          </a:p>
        </p:txBody>
      </p:sp>
      <p:sp>
        <p:nvSpPr>
          <p:cNvPr id="579" name="Shape 52"/>
          <p:cNvSpPr/>
          <p:nvPr/>
        </p:nvSpPr>
        <p:spPr>
          <a:xfrm>
            <a:off x="5054760" y="3968640"/>
            <a:ext cx="6818040" cy="1761120"/>
          </a:xfrm>
          <a:custGeom>
            <a:avLst/>
            <a:gdLst/>
            <a:ahLst/>
            <a:rect l="l" t="t" r="r" b="b"/>
            <a:pathLst>
              <a:path w="6818313" h="1762125">
                <a:moveTo>
                  <a:pt x="0" y="0"/>
                </a:moveTo>
                <a:lnTo>
                  <a:pt x="6818313" y="0"/>
                </a:lnTo>
                <a:lnTo>
                  <a:pt x="6818313" y="1762125"/>
                </a:lnTo>
                <a:lnTo>
                  <a:pt x="0" y="1762125"/>
                </a:lnTo>
                <a:lnTo>
                  <a:pt x="0" y="0"/>
                </a:lnTo>
                <a:close/>
              </a:path>
            </a:pathLst>
          </a:custGeom>
          <a:solidFill>
            <a:srgbClr val="ddff00"/>
          </a:solidFill>
          <a:ln w="0">
            <a:noFill/>
          </a:ln>
        </p:spPr>
        <p:style>
          <a:lnRef idx="0"/>
          <a:fillRef idx="0"/>
          <a:effectRef idx="0"/>
          <a:fontRef idx="minor"/>
        </p:style>
      </p:sp>
      <p:sp>
        <p:nvSpPr>
          <p:cNvPr id="580" name="Text 53"/>
          <p:cNvSpPr/>
          <p:nvPr/>
        </p:nvSpPr>
        <p:spPr>
          <a:xfrm>
            <a:off x="5213520" y="4127400"/>
            <a:ext cx="657972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MTV &amp; The Visual Revolution</a:t>
            </a:r>
            <a:endParaRPr b="0" lang="en-HK" sz="1250" spc="-1" strike="noStrike">
              <a:latin typeface="Arial"/>
            </a:endParaRPr>
          </a:p>
        </p:txBody>
      </p:sp>
      <p:sp>
        <p:nvSpPr>
          <p:cNvPr id="581" name="Text 54"/>
          <p:cNvSpPr/>
          <p:nvPr/>
        </p:nvSpPr>
        <p:spPr>
          <a:xfrm>
            <a:off x="5213520" y="4444920"/>
            <a:ext cx="656388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launch of MTV in 1981 transformed New Wave into a dominant cultural force.</a:t>
            </a:r>
            <a:r>
              <a:rPr b="0" lang="en-US" sz="1000" spc="-1" strike="noStrike">
                <a:solidFill>
                  <a:srgbClr val="000000"/>
                </a:solidFill>
                <a:latin typeface="Liter"/>
                <a:ea typeface="Liter"/>
              </a:rPr>
              <a:t> Artists used music videos to express creativity, tell stories, and connect with fans visually. Bands like Duran Duran, The Cars, and A-ha became video stars.</a:t>
            </a:r>
            <a:endParaRPr b="0" lang="en-HK" sz="1000" spc="-1" strike="noStrike">
              <a:latin typeface="Arial"/>
            </a:endParaRPr>
          </a:p>
        </p:txBody>
      </p:sp>
      <p:sp>
        <p:nvSpPr>
          <p:cNvPr id="582" name="Text 55"/>
          <p:cNvSpPr/>
          <p:nvPr/>
        </p:nvSpPr>
        <p:spPr>
          <a:xfrm>
            <a:off x="5213520" y="5159520"/>
            <a:ext cx="6563880" cy="411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Wave's bold, colorful, and often eccentric styles became a defining part of 1980s pop culture, influencing fashion, art, and film far beyond music.</a:t>
            </a:r>
            <a:endParaRPr b="0" lang="en-HK" sz="1000" spc="-1" strike="noStrike">
              <a:latin typeface="Arial"/>
            </a:endParaRPr>
          </a:p>
        </p:txBody>
      </p:sp>
      <p:sp>
        <p:nvSpPr>
          <p:cNvPr id="583" name="Shape 56"/>
          <p:cNvSpPr/>
          <p:nvPr/>
        </p:nvSpPr>
        <p:spPr>
          <a:xfrm>
            <a:off x="5059080" y="5861880"/>
            <a:ext cx="2197800" cy="6418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4" name="Text 57"/>
          <p:cNvSpPr/>
          <p:nvPr/>
        </p:nvSpPr>
        <p:spPr>
          <a:xfrm>
            <a:off x="5110560" y="5961240"/>
            <a:ext cx="2094840" cy="2530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1981</a:t>
            </a:r>
            <a:endParaRPr b="0" lang="en-HK" sz="1500" spc="-1" strike="noStrike">
              <a:latin typeface="Arial"/>
            </a:endParaRPr>
          </a:p>
        </p:txBody>
      </p:sp>
      <p:sp>
        <p:nvSpPr>
          <p:cNvPr id="585" name="Text 58"/>
          <p:cNvSpPr/>
          <p:nvPr/>
        </p:nvSpPr>
        <p:spPr>
          <a:xfrm>
            <a:off x="5130360" y="6246720"/>
            <a:ext cx="2055240" cy="157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MTV launches</a:t>
            </a:r>
            <a:endParaRPr b="0" lang="en-HK" sz="880" spc="-1" strike="noStrike">
              <a:latin typeface="Arial"/>
            </a:endParaRPr>
          </a:p>
        </p:txBody>
      </p:sp>
      <p:sp>
        <p:nvSpPr>
          <p:cNvPr id="586" name="Shape 59"/>
          <p:cNvSpPr/>
          <p:nvPr/>
        </p:nvSpPr>
        <p:spPr>
          <a:xfrm>
            <a:off x="7363800" y="5861880"/>
            <a:ext cx="2197800" cy="6418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7" name="Text 60"/>
          <p:cNvSpPr/>
          <p:nvPr/>
        </p:nvSpPr>
        <p:spPr>
          <a:xfrm>
            <a:off x="7415640" y="5961240"/>
            <a:ext cx="2094840" cy="2530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18</a:t>
            </a:r>
            <a:endParaRPr b="0" lang="en-HK" sz="1500" spc="-1" strike="noStrike">
              <a:latin typeface="Arial"/>
            </a:endParaRPr>
          </a:p>
        </p:txBody>
      </p:sp>
      <p:sp>
        <p:nvSpPr>
          <p:cNvPr id="588" name="Text 61"/>
          <p:cNvSpPr/>
          <p:nvPr/>
        </p:nvSpPr>
        <p:spPr>
          <a:xfrm>
            <a:off x="7435440" y="6246720"/>
            <a:ext cx="2055240" cy="157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hits in Top 40 (1983)</a:t>
            </a:r>
            <a:endParaRPr b="0" lang="en-HK" sz="880" spc="-1" strike="noStrike">
              <a:latin typeface="Arial"/>
            </a:endParaRPr>
          </a:p>
        </p:txBody>
      </p:sp>
      <p:sp>
        <p:nvSpPr>
          <p:cNvPr id="589" name="Shape 62"/>
          <p:cNvSpPr/>
          <p:nvPr/>
        </p:nvSpPr>
        <p:spPr>
          <a:xfrm>
            <a:off x="9669240" y="5861880"/>
            <a:ext cx="2197800" cy="6418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90" name="Text 63"/>
          <p:cNvSpPr/>
          <p:nvPr/>
        </p:nvSpPr>
        <p:spPr>
          <a:xfrm>
            <a:off x="9721080" y="5961240"/>
            <a:ext cx="2094840" cy="2530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2nd</a:t>
            </a:r>
            <a:endParaRPr b="0" lang="en-HK" sz="1500" spc="-1" strike="noStrike">
              <a:latin typeface="Arial"/>
            </a:endParaRPr>
          </a:p>
        </p:txBody>
      </p:sp>
      <p:sp>
        <p:nvSpPr>
          <p:cNvPr id="591" name="Text 64"/>
          <p:cNvSpPr/>
          <p:nvPr/>
        </p:nvSpPr>
        <p:spPr>
          <a:xfrm>
            <a:off x="9740880" y="6246720"/>
            <a:ext cx="2055240" cy="157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Invasion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2026-03-18T08:15:32Z</dcterms:created>
  <dc:creator>Kimi</dc:creator>
  <dc:description/>
  <dc:language>en-HK</dc:language>
  <cp:lastModifiedBy/>
  <dcterms:modified xsi:type="dcterms:W3CDTF">2026-04-19T07:53:27Z</dcterms:modified>
  <cp:revision>4</cp:revision>
  <dc:subject>The Evolution of Rock Music</dc:subject>
  <dc:title>The Evolution of Rock Music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{"Label":"The Evolution of Rock Music","ContentProducer":"001191110108MACG2KBH8F10000","ProduceID":"19cfffb4-12a2-8b20-8000-0000a3d16f4b","ReservedCode1":"","ContentPropagator":"001191110108MACG2KBH8F20000","PropagateID":"19cfffb4-12a2-8b20-8000-0000a3d16f4b","ReservedCode2":""}</vt:lpwstr>
  </property>
  <property fmtid="{D5CDD505-2E9C-101B-9397-08002B2CF9AE}" pid="3" name="Notes">
    <vt:i4>24</vt:i4>
  </property>
  <property fmtid="{D5CDD505-2E9C-101B-9397-08002B2CF9AE}" pid="4" name="PresentationFormat">
    <vt:lpwstr>On-screen Show (16:9)</vt:lpwstr>
  </property>
  <property fmtid="{D5CDD505-2E9C-101B-9397-08002B2CF9AE}" pid="5" name="Slides">
    <vt:i4>24</vt:i4>
  </property>
</Properties>
</file>