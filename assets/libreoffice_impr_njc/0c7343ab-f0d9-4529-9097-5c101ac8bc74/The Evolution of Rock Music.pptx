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1.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7.xml" ContentType="application/vnd.openxmlformats-officedocument.presentationml.notesSlide+xml"/>
  <Override PartName="/ppt/notesSlides/notesSlide1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_rels/slide13.xml.rels" ContentType="application/vnd.openxmlformats-package.relationships+xml"/>
  <Override PartName="/ppt/slides/_rels/slide12.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3588"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021156A3-EFF0-4182-A5E9-3D206E3C47C0}"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685800" y="1143000"/>
            <a:ext cx="5484240" cy="3084120"/>
          </a:xfrm>
          <a:prstGeom prst="rect">
            <a:avLst/>
          </a:prstGeom>
          <a:ln w="0">
            <a:noFill/>
          </a:ln>
        </p:spPr>
      </p:sp>
      <p:sp>
        <p:nvSpPr>
          <p:cNvPr id="45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57" name="PlaceHolder 3"/>
          <p:cNvSpPr>
            <a:spLocks noGrp="1"/>
          </p:cNvSpPr>
          <p:nvPr>
            <p:ph type="sldNum" idx="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F61D66-DC03-4E7C-8009-E98964F9591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685800" y="1143000"/>
            <a:ext cx="5484240" cy="3084120"/>
          </a:xfrm>
          <a:prstGeom prst="rect">
            <a:avLst/>
          </a:prstGeom>
          <a:ln w="0">
            <a:noFill/>
          </a:ln>
        </p:spPr>
      </p:sp>
      <p:sp>
        <p:nvSpPr>
          <p:cNvPr id="45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60" name="PlaceHolder 3"/>
          <p:cNvSpPr>
            <a:spLocks noGrp="1"/>
          </p:cNvSpPr>
          <p:nvPr>
            <p:ph type="sldNum" idx="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DB2C70D-FF64-41CA-9336-B95B69C091C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685800" y="1143000"/>
            <a:ext cx="5484240" cy="3084120"/>
          </a:xfrm>
          <a:prstGeom prst="rect">
            <a:avLst/>
          </a:prstGeom>
          <a:ln w="0">
            <a:noFill/>
          </a:ln>
        </p:spPr>
      </p:sp>
      <p:sp>
        <p:nvSpPr>
          <p:cNvPr id="462"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63" name="PlaceHolder 3"/>
          <p:cNvSpPr>
            <a:spLocks noGrp="1"/>
          </p:cNvSpPr>
          <p:nvPr>
            <p:ph type="sldNum" idx="6"/>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2E1AE0C-EEB3-4F81-A6C2-3409B045199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4" name="PlaceHolder 1"/>
          <p:cNvSpPr>
            <a:spLocks noGrp="1"/>
          </p:cNvSpPr>
          <p:nvPr>
            <p:ph type="sldImg"/>
          </p:nvPr>
        </p:nvSpPr>
        <p:spPr>
          <a:xfrm>
            <a:off x="685800" y="1143000"/>
            <a:ext cx="5484240" cy="3084120"/>
          </a:xfrm>
          <a:prstGeom prst="rect">
            <a:avLst/>
          </a:prstGeom>
          <a:ln w="0">
            <a:noFill/>
          </a:ln>
        </p:spPr>
      </p:sp>
      <p:sp>
        <p:nvSpPr>
          <p:cNvPr id="465"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pPr marL="216000" indent="-216000">
              <a:lnSpc>
                <a:spcPct val="100000"/>
              </a:lnSpc>
              <a:buNone/>
              <a:tabLst>
                <a:tab algn="l" pos="0"/>
              </a:tabLst>
            </a:pPr>
            <a:r>
              <a:rPr b="0" lang="en-HK" sz="1800" spc="-1" strike="noStrike">
                <a:latin typeface="Arial"/>
              </a:rPr>
              <a:t>Legacy: Rock music’s influence extends beyond sound  it shaped fashion, politics, and social movements across multiple generations.</a:t>
            </a:r>
            <a:endParaRPr b="0" lang="en-HK" sz="1800" spc="-1" strike="noStrike">
              <a:latin typeface="Arial"/>
            </a:endParaRPr>
          </a:p>
        </p:txBody>
      </p:sp>
      <p:sp>
        <p:nvSpPr>
          <p:cNvPr id="466" name="PlaceHolder 3"/>
          <p:cNvSpPr>
            <a:spLocks noGrp="1"/>
          </p:cNvSpPr>
          <p:nvPr>
            <p:ph type="sldNum" idx="7"/>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9E0B417-9637-438B-850C-2CB9947F43F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7" name="PlaceHolder 1"/>
          <p:cNvSpPr>
            <a:spLocks noGrp="1"/>
          </p:cNvSpPr>
          <p:nvPr>
            <p:ph type="sldImg"/>
          </p:nvPr>
        </p:nvSpPr>
        <p:spPr>
          <a:xfrm>
            <a:off x="685800" y="1143000"/>
            <a:ext cx="5484240" cy="3084120"/>
          </a:xfrm>
          <a:prstGeom prst="rect">
            <a:avLst/>
          </a:prstGeom>
          <a:ln w="0">
            <a:noFill/>
          </a:ln>
        </p:spPr>
      </p:sp>
      <p:sp>
        <p:nvSpPr>
          <p:cNvPr id="468"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69" name="PlaceHolder 3"/>
          <p:cNvSpPr>
            <a:spLocks noGrp="1"/>
          </p:cNvSpPr>
          <p:nvPr>
            <p:ph type="sldNum" idx="8"/>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5291312-C93A-4756-B31B-F08EDA7C9D5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0" name="PlaceHolder 1"/>
          <p:cNvSpPr>
            <a:spLocks noGrp="1"/>
          </p:cNvSpPr>
          <p:nvPr>
            <p:ph type="sldImg"/>
          </p:nvPr>
        </p:nvSpPr>
        <p:spPr>
          <a:xfrm>
            <a:off x="685800" y="1143000"/>
            <a:ext cx="5484240" cy="3084120"/>
          </a:xfrm>
          <a:prstGeom prst="rect">
            <a:avLst/>
          </a:prstGeom>
          <a:ln w="0">
            <a:noFill/>
          </a:ln>
        </p:spPr>
      </p:sp>
      <p:sp>
        <p:nvSpPr>
          <p:cNvPr id="471"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72" name="PlaceHolder 3"/>
          <p:cNvSpPr>
            <a:spLocks noGrp="1"/>
          </p:cNvSpPr>
          <p:nvPr>
            <p:ph type="sldNum" idx="9"/>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1678240-7636-4C71-93C4-895276E07F2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3" name="PlaceHolder 1"/>
          <p:cNvSpPr>
            <a:spLocks noGrp="1"/>
          </p:cNvSpPr>
          <p:nvPr>
            <p:ph type="sldImg"/>
          </p:nvPr>
        </p:nvSpPr>
        <p:spPr>
          <a:xfrm>
            <a:off x="685800" y="1143000"/>
            <a:ext cx="5484240" cy="3084120"/>
          </a:xfrm>
          <a:prstGeom prst="rect">
            <a:avLst/>
          </a:prstGeom>
          <a:ln w="0">
            <a:noFill/>
          </a:ln>
        </p:spPr>
      </p:sp>
      <p:sp>
        <p:nvSpPr>
          <p:cNvPr id="474"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75" name="PlaceHolder 3"/>
          <p:cNvSpPr>
            <a:spLocks noGrp="1"/>
          </p:cNvSpPr>
          <p:nvPr>
            <p:ph type="sldNum" idx="10"/>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8DB345C-D64F-41CD-80BE-3BCDFF5D4EB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6" name="PlaceHolder 1"/>
          <p:cNvSpPr>
            <a:spLocks noGrp="1"/>
          </p:cNvSpPr>
          <p:nvPr>
            <p:ph type="sldImg"/>
          </p:nvPr>
        </p:nvSpPr>
        <p:spPr>
          <a:xfrm>
            <a:off x="685800" y="1143000"/>
            <a:ext cx="5484240" cy="3084120"/>
          </a:xfrm>
          <a:prstGeom prst="rect">
            <a:avLst/>
          </a:prstGeom>
          <a:ln w="0">
            <a:noFill/>
          </a:ln>
        </p:spPr>
      </p:sp>
      <p:sp>
        <p:nvSpPr>
          <p:cNvPr id="477"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78" name="PlaceHolder 3"/>
          <p:cNvSpPr>
            <a:spLocks noGrp="1"/>
          </p:cNvSpPr>
          <p:nvPr>
            <p:ph type="sldNum" idx="11"/>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AC1CB5E-5BE2-4B4A-84F5-C4E6C37EC5E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sldImg"/>
          </p:nvPr>
        </p:nvSpPr>
        <p:spPr>
          <a:xfrm>
            <a:off x="685800" y="1143000"/>
            <a:ext cx="5484240" cy="3084120"/>
          </a:xfrm>
          <a:prstGeom prst="rect">
            <a:avLst/>
          </a:prstGeom>
          <a:ln w="0">
            <a:noFill/>
          </a:ln>
        </p:spPr>
      </p:sp>
      <p:sp>
        <p:nvSpPr>
          <p:cNvPr id="480"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81" name="PlaceHolder 3"/>
          <p:cNvSpPr>
            <a:spLocks noGrp="1"/>
          </p:cNvSpPr>
          <p:nvPr>
            <p:ph type="sldNum" idx="12"/>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6948FF6-0CA1-47E8-A73D-204CA01456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sldImg"/>
          </p:nvPr>
        </p:nvSpPr>
        <p:spPr>
          <a:xfrm>
            <a:off x="685800" y="1143000"/>
            <a:ext cx="5484240" cy="3084120"/>
          </a:xfrm>
          <a:prstGeom prst="rect">
            <a:avLst/>
          </a:prstGeom>
          <a:ln w="0">
            <a:noFill/>
          </a:ln>
        </p:spPr>
      </p:sp>
      <p:sp>
        <p:nvSpPr>
          <p:cNvPr id="483"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84" name="PlaceHolder 3"/>
          <p:cNvSpPr>
            <a:spLocks noGrp="1"/>
          </p:cNvSpPr>
          <p:nvPr>
            <p:ph type="sldNum" idx="13"/>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E29B03E-EA03-42D0-9812-B6D9ACC45FC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5" name="PlaceHolder 1"/>
          <p:cNvSpPr>
            <a:spLocks noGrp="1"/>
          </p:cNvSpPr>
          <p:nvPr>
            <p:ph type="sldImg"/>
          </p:nvPr>
        </p:nvSpPr>
        <p:spPr>
          <a:xfrm>
            <a:off x="685800" y="1143000"/>
            <a:ext cx="5484240" cy="3084120"/>
          </a:xfrm>
          <a:prstGeom prst="rect">
            <a:avLst/>
          </a:prstGeom>
          <a:ln w="0">
            <a:noFill/>
          </a:ln>
        </p:spPr>
      </p:sp>
      <p:sp>
        <p:nvSpPr>
          <p:cNvPr id="486"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87" name="PlaceHolder 3"/>
          <p:cNvSpPr>
            <a:spLocks noGrp="1"/>
          </p:cNvSpPr>
          <p:nvPr>
            <p:ph type="sldNum" idx="14"/>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B2F153E-7980-4C56-873D-0733071588F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sldImg"/>
          </p:nvPr>
        </p:nvSpPr>
        <p:spPr>
          <a:xfrm>
            <a:off x="685800" y="1143000"/>
            <a:ext cx="5484240" cy="3084120"/>
          </a:xfrm>
          <a:prstGeom prst="rect">
            <a:avLst/>
          </a:prstGeom>
          <a:ln w="0">
            <a:noFill/>
          </a:ln>
        </p:spPr>
      </p:sp>
      <p:sp>
        <p:nvSpPr>
          <p:cNvPr id="489" name="PlaceHolder 2"/>
          <p:cNvSpPr>
            <a:spLocks noGrp="1"/>
          </p:cNvSpPr>
          <p:nvPr>
            <p:ph type="body"/>
          </p:nvPr>
        </p:nvSpPr>
        <p:spPr>
          <a:xfrm>
            <a:off x="685800" y="4400640"/>
            <a:ext cx="5484240" cy="3598200"/>
          </a:xfrm>
          <a:prstGeom prst="rect">
            <a:avLst/>
          </a:prstGeom>
          <a:noFill/>
          <a:ln w="0">
            <a:noFill/>
          </a:ln>
        </p:spPr>
        <p:txBody>
          <a:bodyPr lIns="0" rIns="0" tIns="0" bIns="0" anchor="t">
            <a:noAutofit/>
          </a:bodyPr>
          <a:p>
            <a:endParaRPr b="0" lang="en-HK" sz="2000" spc="-1" strike="noStrike">
              <a:latin typeface="Arial"/>
            </a:endParaRPr>
          </a:p>
        </p:txBody>
      </p:sp>
      <p:sp>
        <p:nvSpPr>
          <p:cNvPr id="490" name="PlaceHolder 3"/>
          <p:cNvSpPr>
            <a:spLocks noGrp="1"/>
          </p:cNvSpPr>
          <p:nvPr>
            <p:ph type="sldNum" idx="15"/>
          </p:nvPr>
        </p:nvSpPr>
        <p:spPr>
          <a:xfrm>
            <a:off x="3884760" y="8685360"/>
            <a:ext cx="2969640" cy="45648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11D3727-5A90-4893-A4FC-DD3F59B3121B}"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352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352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352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352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2000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3052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2000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3052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352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4" name="Image 0"/>
          <p:cNvSpPr/>
          <p:nvPr/>
        </p:nvSpPr>
        <p:spPr>
          <a:xfrm>
            <a:off x="0" y="0"/>
            <a:ext cx="1219104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1"/>
          <p:cNvSpPr/>
          <p:nvPr/>
        </p:nvSpPr>
        <p:spPr>
          <a:xfrm>
            <a:off x="336600" y="781200"/>
            <a:ext cx="2217600" cy="416880"/>
          </a:xfrm>
          <a:custGeom>
            <a:avLst/>
            <a:gdLst/>
            <a:ahLst/>
            <a:rect l="l" t="t" r="r" b="b"/>
            <a:pathLst>
              <a:path w="2219325" h="419100">
                <a:moveTo>
                  <a:pt x="0" y="0"/>
                </a:moveTo>
                <a:lnTo>
                  <a:pt x="2219325" y="0"/>
                </a:lnTo>
                <a:lnTo>
                  <a:pt x="2219325" y="419100"/>
                </a:lnTo>
                <a:lnTo>
                  <a:pt x="0" y="419100"/>
                </a:lnTo>
                <a:lnTo>
                  <a:pt x="0" y="0"/>
                </a:lnTo>
                <a:close/>
              </a:path>
            </a:pathLst>
          </a:custGeom>
          <a:solidFill>
            <a:srgbClr val="ddff00"/>
          </a:solidFill>
          <a:ln w="0">
            <a:noFill/>
          </a:ln>
        </p:spPr>
        <p:style>
          <a:lnRef idx="0"/>
          <a:fillRef idx="0"/>
          <a:effectRef idx="0"/>
          <a:fontRef idx="minor"/>
        </p:style>
      </p:sp>
      <p:sp>
        <p:nvSpPr>
          <p:cNvPr id="46" name="Text 2"/>
          <p:cNvSpPr/>
          <p:nvPr/>
        </p:nvSpPr>
        <p:spPr>
          <a:xfrm>
            <a:off x="609480" y="857160"/>
            <a:ext cx="18550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4400" spc="134" strike="noStrike">
                <a:solidFill>
                  <a:srgbClr val="ff0000"/>
                </a:solidFill>
                <a:latin typeface="Liter"/>
                <a:ea typeface="Liter"/>
              </a:rPr>
              <a:t>L</a:t>
            </a:r>
            <a:r>
              <a:rPr b="0" lang="en-US" sz="4400" spc="134" strike="noStrike">
                <a:solidFill>
                  <a:srgbClr val="ff0000"/>
                </a:solidFill>
                <a:latin typeface="Liter"/>
                <a:ea typeface="Liter"/>
              </a:rPr>
              <a:t>ECTURE SERIES</a:t>
            </a:r>
            <a:endParaRPr b="0" lang="en-HK" sz="4400" spc="-1" strike="noStrike">
              <a:latin typeface="Arial"/>
            </a:endParaRPr>
          </a:p>
        </p:txBody>
      </p:sp>
      <p:sp>
        <p:nvSpPr>
          <p:cNvPr id="47" name="Text 3"/>
          <p:cNvSpPr/>
          <p:nvPr/>
        </p:nvSpPr>
        <p:spPr>
          <a:xfrm>
            <a:off x="380880" y="1733400"/>
            <a:ext cx="12000600" cy="342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400" spc="-452" strike="noStrike">
                <a:solidFill>
                  <a:srgbClr val="ff0000"/>
                </a:solidFill>
                <a:latin typeface="Liter"/>
                <a:ea typeface="Liter"/>
              </a:rPr>
              <a:t>THE</a:t>
            </a:r>
            <a:endParaRPr b="0" lang="en-HK" sz="4400" spc="-1" strike="noStrike">
              <a:latin typeface="Arial"/>
            </a:endParaRPr>
          </a:p>
          <a:p>
            <a:pPr>
              <a:lnSpc>
                <a:spcPct val="80000"/>
              </a:lnSpc>
              <a:buNone/>
            </a:pPr>
            <a:r>
              <a:rPr b="1" lang="en-US" sz="4400" spc="-452" strike="noStrike">
                <a:solidFill>
                  <a:srgbClr val="ff0000"/>
                </a:solidFill>
                <a:latin typeface="Liter"/>
                <a:ea typeface="Liter"/>
              </a:rPr>
              <a:t>EVOLUTION</a:t>
            </a:r>
            <a:endParaRPr b="0" lang="en-HK" sz="4400" spc="-1" strike="noStrike">
              <a:latin typeface="Arial"/>
            </a:endParaRPr>
          </a:p>
          <a:p>
            <a:pPr>
              <a:lnSpc>
                <a:spcPct val="80000"/>
              </a:lnSpc>
              <a:buNone/>
            </a:pPr>
            <a:r>
              <a:rPr b="1" lang="en-US" sz="4400" spc="-452" strike="noStrike">
                <a:solidFill>
                  <a:srgbClr val="ff0000"/>
                </a:solidFill>
                <a:latin typeface="Liter"/>
                <a:ea typeface="Liter"/>
              </a:rPr>
              <a:t>OF ROCK</a:t>
            </a:r>
            <a:endParaRPr b="0" lang="en-HK" sz="4400" spc="-1" strike="noStrike">
              <a:latin typeface="Arial"/>
            </a:endParaRPr>
          </a:p>
        </p:txBody>
      </p:sp>
      <p:sp>
        <p:nvSpPr>
          <p:cNvPr id="48" name="Shape 4"/>
          <p:cNvSpPr/>
          <p:nvPr/>
        </p:nvSpPr>
        <p:spPr>
          <a:xfrm>
            <a:off x="380880" y="5391000"/>
            <a:ext cx="912240" cy="36000"/>
          </a:xfrm>
          <a:custGeom>
            <a:avLst/>
            <a:gdLst/>
            <a:ahLst/>
            <a:rect l="l" t="t" r="r" b="b"/>
            <a:pathLst>
              <a:path w="914400" h="38100">
                <a:moveTo>
                  <a:pt x="0" y="0"/>
                </a:moveTo>
                <a:lnTo>
                  <a:pt x="914400" y="0"/>
                </a:lnTo>
                <a:lnTo>
                  <a:pt x="914400" y="38100"/>
                </a:lnTo>
                <a:lnTo>
                  <a:pt x="0" y="38100"/>
                </a:lnTo>
                <a:lnTo>
                  <a:pt x="0" y="0"/>
                </a:lnTo>
                <a:close/>
              </a:path>
            </a:pathLst>
          </a:custGeom>
          <a:solidFill>
            <a:srgbClr val="ddff00"/>
          </a:solidFill>
          <a:ln w="0">
            <a:noFill/>
          </a:ln>
        </p:spPr>
        <p:style>
          <a:lnRef idx="0"/>
          <a:fillRef idx="0"/>
          <a:effectRef idx="0"/>
          <a:fontRef idx="minor"/>
        </p:style>
      </p:sp>
      <p:sp>
        <p:nvSpPr>
          <p:cNvPr id="49" name="Shape 5"/>
          <p:cNvSpPr/>
          <p:nvPr/>
        </p:nvSpPr>
        <p:spPr>
          <a:xfrm>
            <a:off x="1447920" y="5391000"/>
            <a:ext cx="455040" cy="36000"/>
          </a:xfrm>
          <a:custGeom>
            <a:avLst/>
            <a:gdLst/>
            <a:ahLst/>
            <a:rect l="l" t="t" r="r" b="b"/>
            <a:pathLst>
              <a:path w="457200" h="38100">
                <a:moveTo>
                  <a:pt x="0" y="0"/>
                </a:moveTo>
                <a:lnTo>
                  <a:pt x="457200" y="0"/>
                </a:lnTo>
                <a:lnTo>
                  <a:pt x="457200" y="38100"/>
                </a:lnTo>
                <a:lnTo>
                  <a:pt x="0" y="38100"/>
                </a:lnTo>
                <a:lnTo>
                  <a:pt x="0" y="0"/>
                </a:lnTo>
                <a:close/>
              </a:path>
            </a:pathLst>
          </a:custGeom>
          <a:solidFill>
            <a:srgbClr val="ddff00"/>
          </a:solidFill>
          <a:ln w="0">
            <a:noFill/>
          </a:ln>
        </p:spPr>
        <p:style>
          <a:lnRef idx="0"/>
          <a:fillRef idx="0"/>
          <a:effectRef idx="0"/>
          <a:fontRef idx="minor"/>
        </p:style>
      </p:sp>
      <p:sp>
        <p:nvSpPr>
          <p:cNvPr id="50" name="Shape 6"/>
          <p:cNvSpPr/>
          <p:nvPr/>
        </p:nvSpPr>
        <p:spPr>
          <a:xfrm>
            <a:off x="2057400" y="5391000"/>
            <a:ext cx="226440" cy="36000"/>
          </a:xfrm>
          <a:custGeom>
            <a:avLst/>
            <a:gdLst/>
            <a:ahLst/>
            <a:rect l="l" t="t" r="r" b="b"/>
            <a:pathLst>
              <a:path w="228600" h="38100">
                <a:moveTo>
                  <a:pt x="0" y="0"/>
                </a:moveTo>
                <a:lnTo>
                  <a:pt x="228600" y="0"/>
                </a:lnTo>
                <a:lnTo>
                  <a:pt x="228600" y="38100"/>
                </a:lnTo>
                <a:lnTo>
                  <a:pt x="0" y="38100"/>
                </a:lnTo>
                <a:lnTo>
                  <a:pt x="0" y="0"/>
                </a:lnTo>
                <a:close/>
              </a:path>
            </a:pathLst>
          </a:custGeom>
          <a:solidFill>
            <a:srgbClr val="ddff00"/>
          </a:solidFill>
          <a:ln w="0">
            <a:noFill/>
          </a:ln>
        </p:spPr>
        <p:style>
          <a:lnRef idx="0"/>
          <a:fillRef idx="0"/>
          <a:effectRef idx="0"/>
          <a:fontRef idx="minor"/>
        </p:style>
      </p:sp>
      <p:sp>
        <p:nvSpPr>
          <p:cNvPr id="51" name="Text 7"/>
          <p:cNvSpPr/>
          <p:nvPr/>
        </p:nvSpPr>
        <p:spPr>
          <a:xfrm>
            <a:off x="380880" y="5734080"/>
            <a:ext cx="654228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4400" spc="-1" strike="noStrike">
                <a:solidFill>
                  <a:srgbClr val="ff0000"/>
                </a:solidFill>
                <a:latin typeface="Liter"/>
                <a:ea typeface="Liter"/>
              </a:rPr>
              <a:t>A Journey Through the History of Rock 'n' Roll</a:t>
            </a:r>
            <a:endParaRPr b="0" lang="en-HK" sz="4400" spc="-1" strike="noStrike">
              <a:latin typeface="Arial"/>
            </a:endParaRPr>
          </a:p>
        </p:txBody>
      </p:sp>
      <p:sp>
        <p:nvSpPr>
          <p:cNvPr id="52" name="Shape 8"/>
          <p:cNvSpPr/>
          <p:nvPr/>
        </p:nvSpPr>
        <p:spPr>
          <a:xfrm rot="2700000">
            <a:off x="10638720" y="5301360"/>
            <a:ext cx="569160" cy="569160"/>
          </a:xfrm>
          <a:custGeom>
            <a:avLst/>
            <a:gdLst/>
            <a:ahLst/>
            <a:rect l="l" t="t" r="r" b="b"/>
            <a:pathLst>
              <a:path w="571500" h="571500">
                <a:moveTo>
                  <a:pt x="0" y="0"/>
                </a:moveTo>
                <a:lnTo>
                  <a:pt x="571500" y="0"/>
                </a:lnTo>
                <a:lnTo>
                  <a:pt x="571500" y="571500"/>
                </a:lnTo>
                <a:lnTo>
                  <a:pt x="0" y="571500"/>
                </a:lnTo>
                <a:lnTo>
                  <a:pt x="0" y="0"/>
                </a:lnTo>
                <a:close/>
              </a:path>
            </a:pathLst>
          </a:custGeom>
          <a:noFill/>
          <a:ln w="50800">
            <a:solidFill>
              <a:srgbClr val="ddff00"/>
            </a:solidFill>
            <a:round/>
          </a:ln>
          <a:effectLst>
            <a:outerShdw algn="bl" blurRad="285840" dir="2700000" dist="49893" kx="0" ky="0" rotWithShape="0" sx="100000" sy="100000">
              <a:srgbClr val="ddff00">
                <a:alpha val="30000"/>
              </a:srgbClr>
            </a:outerShdw>
          </a:effectLst>
        </p:spPr>
        <p:style>
          <a:lnRef idx="0"/>
          <a:fillRef idx="0"/>
          <a:effectRef idx="0"/>
          <a:fontRef idx="minor"/>
        </p:style>
      </p:sp>
      <p:sp>
        <p:nvSpPr>
          <p:cNvPr id="53" name="Shape 9"/>
          <p:cNvSpPr/>
          <p:nvPr/>
        </p:nvSpPr>
        <p:spPr>
          <a:xfrm>
            <a:off x="10935360" y="5600880"/>
            <a:ext cx="226440" cy="22644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54" name="Shape 0"/>
          <p:cNvSpPr/>
          <p:nvPr/>
        </p:nvSpPr>
        <p:spPr>
          <a:xfrm>
            <a:off x="0" y="0"/>
            <a:ext cx="1219104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0"/>
                </a:srgbClr>
              </a:gs>
            </a:gsLst>
            <a:lin ang="5400000"/>
          </a:gra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333333"/>
        </a:solidFill>
      </p:bgPr>
    </p:bg>
    <p:spTree>
      <p:nvGrpSpPr>
        <p:cNvPr id="1" name=""/>
        <p:cNvGrpSpPr/>
        <p:nvPr/>
      </p:nvGrpSpPr>
      <p:grpSpPr>
        <a:xfrm>
          <a:off x="0" y="0"/>
          <a:ext cx="0" cy="0"/>
          <a:chOff x="0" y="0"/>
          <a:chExt cx="0" cy="0"/>
        </a:xfrm>
      </p:grpSpPr>
      <p:sp>
        <p:nvSpPr>
          <p:cNvPr id="55" name="Shape 0"/>
          <p:cNvSpPr/>
          <p:nvPr/>
        </p:nvSpPr>
        <p:spPr>
          <a:xfrm>
            <a:off x="380880" y="419040"/>
            <a:ext cx="74160" cy="607320"/>
          </a:xfrm>
          <a:custGeom>
            <a:avLst/>
            <a:gdLst/>
            <a:ahLst/>
            <a:rect l="l" t="t" r="r" b="b"/>
            <a:pathLst>
              <a:path w="76200" h="609600">
                <a:moveTo>
                  <a:pt x="0" y="0"/>
                </a:moveTo>
                <a:lnTo>
                  <a:pt x="76200" y="0"/>
                </a:lnTo>
                <a:lnTo>
                  <a:pt x="76200" y="609600"/>
                </a:lnTo>
                <a:lnTo>
                  <a:pt x="0" y="609600"/>
                </a:lnTo>
                <a:lnTo>
                  <a:pt x="0" y="0"/>
                </a:lnTo>
                <a:close/>
              </a:path>
            </a:pathLst>
          </a:custGeom>
          <a:solidFill>
            <a:srgbClr val="ddff00"/>
          </a:solidFill>
          <a:ln w="0">
            <a:noFill/>
          </a:ln>
        </p:spPr>
        <p:style>
          <a:lnRef idx="0"/>
          <a:fillRef idx="0"/>
          <a:effectRef idx="0"/>
          <a:fontRef idx="minor"/>
        </p:style>
      </p:sp>
      <p:sp>
        <p:nvSpPr>
          <p:cNvPr id="56" name="Text 1"/>
          <p:cNvSpPr/>
          <p:nvPr/>
        </p:nvSpPr>
        <p:spPr>
          <a:xfrm>
            <a:off x="609480" y="380880"/>
            <a:ext cx="2484360" cy="188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9" strike="noStrike">
                <a:solidFill>
                  <a:srgbClr val="ddff00"/>
                </a:solidFill>
                <a:latin typeface="Liter"/>
                <a:ea typeface="Liter"/>
              </a:rPr>
              <a:t>NAVIGATION</a:t>
            </a:r>
            <a:endParaRPr b="0" lang="en-HK" sz="1050" spc="-1" strike="noStrike">
              <a:latin typeface="Arial"/>
            </a:endParaRPr>
          </a:p>
        </p:txBody>
      </p:sp>
      <p:sp>
        <p:nvSpPr>
          <p:cNvPr id="57" name="Text 2"/>
          <p:cNvSpPr/>
          <p:nvPr/>
        </p:nvSpPr>
        <p:spPr>
          <a:xfrm>
            <a:off x="609480" y="609480"/>
            <a:ext cx="2646000" cy="455040"/>
          </a:xfrm>
          <a:prstGeom prst="rect">
            <a:avLst/>
          </a:prstGeom>
          <a:noFill/>
          <a:ln w="0">
            <a:noFill/>
          </a:ln>
        </p:spPr>
        <p:style>
          <a:lnRef idx="0"/>
          <a:fillRef idx="0"/>
          <a:effectRef idx="0"/>
          <a:fontRef idx="minor"/>
        </p:style>
        <p:txBody>
          <a:bodyPr lIns="0" rIns="0" tIns="0" bIns="0" anchor="ctr">
            <a:noAutofit/>
          </a:bodyPr>
          <a:p>
            <a:pPr algn="r">
              <a:lnSpc>
                <a:spcPct val="80000"/>
              </a:lnSpc>
              <a:buNone/>
            </a:pPr>
            <a:r>
              <a:rPr b="0" lang="en-US" sz="4400" spc="-1" strike="noStrike">
                <a:solidFill>
                  <a:srgbClr val="ff0000"/>
                </a:solidFill>
                <a:latin typeface="Liter"/>
                <a:ea typeface="Liter"/>
              </a:rPr>
              <a:t>CONTENTS</a:t>
            </a:r>
            <a:endParaRPr b="0" lang="en-HK" sz="4400" spc="-1" strike="noStrike">
              <a:latin typeface="Arial"/>
            </a:endParaRPr>
          </a:p>
        </p:txBody>
      </p:sp>
      <p:sp>
        <p:nvSpPr>
          <p:cNvPr id="58" name="Shape 3"/>
          <p:cNvSpPr/>
          <p:nvPr/>
        </p:nvSpPr>
        <p:spPr>
          <a:xfrm>
            <a:off x="380880" y="15238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59" name="Text 4"/>
          <p:cNvSpPr/>
          <p:nvPr/>
        </p:nvSpPr>
        <p:spPr>
          <a:xfrm>
            <a:off x="537480" y="1657440"/>
            <a:ext cx="4359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01</a:t>
            </a:r>
            <a:endParaRPr b="0" lang="en-HK" sz="2250" spc="-1" strike="noStrike">
              <a:latin typeface="Arial"/>
            </a:endParaRPr>
          </a:p>
        </p:txBody>
      </p:sp>
      <p:sp>
        <p:nvSpPr>
          <p:cNvPr id="60" name="Text 5"/>
          <p:cNvSpPr/>
          <p:nvPr/>
        </p:nvSpPr>
        <p:spPr>
          <a:xfrm>
            <a:off x="1143000" y="160020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b2b2b2"/>
                </a:solidFill>
                <a:latin typeface="Liter"/>
                <a:ea typeface="Liter"/>
              </a:rPr>
              <a:t>Origins &amp; Birth of Rock</a:t>
            </a:r>
            <a:endParaRPr b="0" lang="en-HK" sz="1500" spc="-1" strike="noStrike">
              <a:latin typeface="Arial"/>
            </a:endParaRPr>
          </a:p>
        </p:txBody>
      </p:sp>
      <p:sp>
        <p:nvSpPr>
          <p:cNvPr id="61" name="Text 6"/>
          <p:cNvSpPr/>
          <p:nvPr/>
        </p:nvSpPr>
        <p:spPr>
          <a:xfrm>
            <a:off x="1143000" y="190512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200" spc="-1" strike="noStrike">
                <a:solidFill>
                  <a:srgbClr val="b2b2b2"/>
                </a:solidFill>
                <a:latin typeface="Liter"/>
                <a:ea typeface="Liter"/>
              </a:rPr>
              <a:t>1940s-1950s: The Musical Fusion That Changed Everything</a:t>
            </a:r>
            <a:endParaRPr b="0" lang="en-HK" sz="1200" spc="-1" strike="noStrike">
              <a:latin typeface="Arial"/>
            </a:endParaRPr>
          </a:p>
        </p:txBody>
      </p:sp>
      <p:sp>
        <p:nvSpPr>
          <p:cNvPr id="62" name="Shape 7"/>
          <p:cNvSpPr/>
          <p:nvPr/>
        </p:nvSpPr>
        <p:spPr>
          <a:xfrm>
            <a:off x="6324840" y="15238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3" name="Text 8"/>
          <p:cNvSpPr/>
          <p:nvPr/>
        </p:nvSpPr>
        <p:spPr>
          <a:xfrm>
            <a:off x="6455520" y="165744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2250" spc="-1" strike="noStrike">
                <a:solidFill>
                  <a:srgbClr val="b2b2b2"/>
                </a:solidFill>
                <a:latin typeface="Liter"/>
                <a:ea typeface="Liter"/>
              </a:rPr>
              <a:t>02</a:t>
            </a:r>
            <a:endParaRPr b="0" lang="en-HK" sz="2250" spc="-1" strike="noStrike">
              <a:latin typeface="Arial"/>
            </a:endParaRPr>
          </a:p>
        </p:txBody>
      </p:sp>
      <p:sp>
        <p:nvSpPr>
          <p:cNvPr id="64" name="Text 9"/>
          <p:cNvSpPr/>
          <p:nvPr/>
        </p:nvSpPr>
        <p:spPr>
          <a:xfrm>
            <a:off x="7086960" y="160020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The British Invasion</a:t>
            </a:r>
            <a:endParaRPr b="0" lang="en-HK" sz="1500" spc="-1" strike="noStrike">
              <a:latin typeface="Arial"/>
            </a:endParaRPr>
          </a:p>
        </p:txBody>
      </p:sp>
      <p:sp>
        <p:nvSpPr>
          <p:cNvPr id="65" name="Text 10"/>
          <p:cNvSpPr/>
          <p:nvPr/>
        </p:nvSpPr>
        <p:spPr>
          <a:xfrm>
            <a:off x="7086960" y="190512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1960s: When Britain Took Back American Music</a:t>
            </a:r>
            <a:endParaRPr b="0" lang="en-HK" sz="1200" spc="-1" strike="noStrike">
              <a:latin typeface="Arial"/>
            </a:endParaRPr>
          </a:p>
        </p:txBody>
      </p:sp>
      <p:sp>
        <p:nvSpPr>
          <p:cNvPr id="66" name="Shape 11"/>
          <p:cNvSpPr/>
          <p:nvPr/>
        </p:nvSpPr>
        <p:spPr>
          <a:xfrm>
            <a:off x="380880" y="271476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67" name="Text 12"/>
          <p:cNvSpPr/>
          <p:nvPr/>
        </p:nvSpPr>
        <p:spPr>
          <a:xfrm>
            <a:off x="510480" y="284796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03</a:t>
            </a:r>
            <a:endParaRPr b="0" lang="en-HK" sz="2250" spc="-1" strike="noStrike">
              <a:latin typeface="Arial"/>
            </a:endParaRPr>
          </a:p>
        </p:txBody>
      </p:sp>
      <p:sp>
        <p:nvSpPr>
          <p:cNvPr id="68" name="Text 13"/>
          <p:cNvSpPr/>
          <p:nvPr/>
        </p:nvSpPr>
        <p:spPr>
          <a:xfrm>
            <a:off x="1143000" y="279072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b2b2b2"/>
                </a:solidFill>
                <a:latin typeface="Liter"/>
                <a:ea typeface="Liter"/>
              </a:rPr>
              <a:t>Classic Rock &amp; Hard Rock</a:t>
            </a:r>
            <a:endParaRPr b="0" lang="en-HK" sz="1500" spc="-1" strike="noStrike">
              <a:latin typeface="Arial"/>
            </a:endParaRPr>
          </a:p>
        </p:txBody>
      </p:sp>
      <p:sp>
        <p:nvSpPr>
          <p:cNvPr id="69" name="Text 14"/>
          <p:cNvSpPr/>
          <p:nvPr/>
        </p:nvSpPr>
        <p:spPr>
          <a:xfrm>
            <a:off x="1143000" y="309564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200" spc="-1" strike="noStrike">
                <a:solidFill>
                  <a:srgbClr val="b2b2b2"/>
                </a:solidFill>
                <a:latin typeface="Liter"/>
                <a:ea typeface="Liter"/>
              </a:rPr>
              <a:t>Late 1960s-1970s: The Golden Age of Rock</a:t>
            </a:r>
            <a:endParaRPr b="0" lang="en-HK" sz="1200" spc="-1" strike="noStrike">
              <a:latin typeface="Arial"/>
            </a:endParaRPr>
          </a:p>
        </p:txBody>
      </p:sp>
      <p:sp>
        <p:nvSpPr>
          <p:cNvPr id="70" name="Shape 15"/>
          <p:cNvSpPr/>
          <p:nvPr/>
        </p:nvSpPr>
        <p:spPr>
          <a:xfrm>
            <a:off x="6324840" y="271476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1" name="Text 16"/>
          <p:cNvSpPr/>
          <p:nvPr/>
        </p:nvSpPr>
        <p:spPr>
          <a:xfrm>
            <a:off x="6454440" y="284796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2250" spc="-1" strike="noStrike">
                <a:solidFill>
                  <a:srgbClr val="b2b2b2"/>
                </a:solidFill>
                <a:latin typeface="Liter"/>
                <a:ea typeface="Liter"/>
              </a:rPr>
              <a:t>04</a:t>
            </a:r>
            <a:endParaRPr b="0" lang="en-HK" sz="2250" spc="-1" strike="noStrike">
              <a:latin typeface="Arial"/>
            </a:endParaRPr>
          </a:p>
        </p:txBody>
      </p:sp>
      <p:sp>
        <p:nvSpPr>
          <p:cNvPr id="72" name="Text 17"/>
          <p:cNvSpPr/>
          <p:nvPr/>
        </p:nvSpPr>
        <p:spPr>
          <a:xfrm>
            <a:off x="7086960" y="279072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Birth of Heavy Metal</a:t>
            </a:r>
            <a:endParaRPr b="0" lang="en-HK" sz="1500" spc="-1" strike="noStrike">
              <a:latin typeface="Arial"/>
            </a:endParaRPr>
          </a:p>
        </p:txBody>
      </p:sp>
      <p:sp>
        <p:nvSpPr>
          <p:cNvPr id="73" name="Text 18"/>
          <p:cNvSpPr/>
          <p:nvPr/>
        </p:nvSpPr>
        <p:spPr>
          <a:xfrm>
            <a:off x="7086960" y="309564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Late 1960s-1970s: The Unholy Trinity</a:t>
            </a:r>
            <a:endParaRPr b="0" lang="en-HK" sz="1200" spc="-1" strike="noStrike">
              <a:latin typeface="Arial"/>
            </a:endParaRPr>
          </a:p>
        </p:txBody>
      </p:sp>
      <p:sp>
        <p:nvSpPr>
          <p:cNvPr id="74" name="Shape 19"/>
          <p:cNvSpPr/>
          <p:nvPr/>
        </p:nvSpPr>
        <p:spPr>
          <a:xfrm>
            <a:off x="380880" y="39052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5" name="Text 20"/>
          <p:cNvSpPr/>
          <p:nvPr/>
        </p:nvSpPr>
        <p:spPr>
          <a:xfrm>
            <a:off x="512280" y="4038480"/>
            <a:ext cx="48348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05</a:t>
            </a:r>
            <a:endParaRPr b="0" lang="en-HK" sz="2250" spc="-1" strike="noStrike">
              <a:latin typeface="Arial"/>
            </a:endParaRPr>
          </a:p>
        </p:txBody>
      </p:sp>
      <p:sp>
        <p:nvSpPr>
          <p:cNvPr id="76" name="Text 21"/>
          <p:cNvSpPr/>
          <p:nvPr/>
        </p:nvSpPr>
        <p:spPr>
          <a:xfrm>
            <a:off x="1143000" y="398160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b2b2b2"/>
                </a:solidFill>
                <a:latin typeface="Liter"/>
                <a:ea typeface="Liter"/>
              </a:rPr>
              <a:t>Punk Rock &amp; New Wave</a:t>
            </a:r>
            <a:endParaRPr b="0" lang="en-HK" sz="1500" spc="-1" strike="noStrike">
              <a:latin typeface="Arial"/>
            </a:endParaRPr>
          </a:p>
        </p:txBody>
      </p:sp>
      <p:sp>
        <p:nvSpPr>
          <p:cNvPr id="77" name="Text 22"/>
          <p:cNvSpPr/>
          <p:nvPr/>
        </p:nvSpPr>
        <p:spPr>
          <a:xfrm>
            <a:off x="1143000" y="428616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200" spc="-1" strike="noStrike">
                <a:solidFill>
                  <a:srgbClr val="b2b2b2"/>
                </a:solidFill>
                <a:latin typeface="Liter"/>
                <a:ea typeface="Liter"/>
              </a:rPr>
              <a:t>1970s-1980s: Raw Energy &amp; Artistic Expression</a:t>
            </a:r>
            <a:endParaRPr b="0" lang="en-HK" sz="1200" spc="-1" strike="noStrike">
              <a:latin typeface="Arial"/>
            </a:endParaRPr>
          </a:p>
        </p:txBody>
      </p:sp>
      <p:sp>
        <p:nvSpPr>
          <p:cNvPr id="78" name="Shape 23"/>
          <p:cNvSpPr/>
          <p:nvPr/>
        </p:nvSpPr>
        <p:spPr>
          <a:xfrm>
            <a:off x="6324840" y="390528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79" name="Text 24"/>
          <p:cNvSpPr/>
          <p:nvPr/>
        </p:nvSpPr>
        <p:spPr>
          <a:xfrm>
            <a:off x="6453000" y="4038480"/>
            <a:ext cx="49320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2250" spc="-1" strike="noStrike">
                <a:solidFill>
                  <a:srgbClr val="b2b2b2"/>
                </a:solidFill>
                <a:latin typeface="Liter"/>
                <a:ea typeface="Liter"/>
              </a:rPr>
              <a:t>06</a:t>
            </a:r>
            <a:endParaRPr b="0" lang="en-HK" sz="2250" spc="-1" strike="noStrike">
              <a:latin typeface="Arial"/>
            </a:endParaRPr>
          </a:p>
        </p:txBody>
      </p:sp>
      <p:sp>
        <p:nvSpPr>
          <p:cNvPr id="80" name="Text 25"/>
          <p:cNvSpPr/>
          <p:nvPr/>
        </p:nvSpPr>
        <p:spPr>
          <a:xfrm>
            <a:off x="7086960" y="398160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Alternative Rock &amp; Grunge</a:t>
            </a:r>
            <a:endParaRPr b="0" lang="en-HK" sz="1500" spc="-1" strike="noStrike">
              <a:latin typeface="Arial"/>
            </a:endParaRPr>
          </a:p>
        </p:txBody>
      </p:sp>
      <p:sp>
        <p:nvSpPr>
          <p:cNvPr id="81" name="Text 26"/>
          <p:cNvSpPr/>
          <p:nvPr/>
        </p:nvSpPr>
        <p:spPr>
          <a:xfrm>
            <a:off x="7086960" y="428616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1990s: The Seattle Sound Goes Global</a:t>
            </a:r>
            <a:endParaRPr b="0" lang="en-HK" sz="1200" spc="-1" strike="noStrike">
              <a:latin typeface="Arial"/>
            </a:endParaRPr>
          </a:p>
        </p:txBody>
      </p:sp>
      <p:sp>
        <p:nvSpPr>
          <p:cNvPr id="82" name="Shape 27"/>
          <p:cNvSpPr/>
          <p:nvPr/>
        </p:nvSpPr>
        <p:spPr>
          <a:xfrm>
            <a:off x="380880" y="509580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3" name="Text 28"/>
          <p:cNvSpPr/>
          <p:nvPr/>
        </p:nvSpPr>
        <p:spPr>
          <a:xfrm>
            <a:off x="521640" y="5229360"/>
            <a:ext cx="47412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000000"/>
                </a:solidFill>
                <a:latin typeface="Liter"/>
                <a:ea typeface="Liter"/>
              </a:rPr>
              <a:t>07</a:t>
            </a:r>
            <a:endParaRPr b="0" lang="en-HK" sz="2250" spc="-1" strike="noStrike">
              <a:latin typeface="Arial"/>
            </a:endParaRPr>
          </a:p>
        </p:txBody>
      </p:sp>
      <p:sp>
        <p:nvSpPr>
          <p:cNvPr id="84" name="Text 29"/>
          <p:cNvSpPr/>
          <p:nvPr/>
        </p:nvSpPr>
        <p:spPr>
          <a:xfrm>
            <a:off x="1143000" y="517212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b2b2b2"/>
                </a:solidFill>
                <a:latin typeface="Liter"/>
                <a:ea typeface="Liter"/>
              </a:rPr>
              <a:t>Indie Rock Revival</a:t>
            </a:r>
            <a:endParaRPr b="0" lang="en-HK" sz="1500" spc="-1" strike="noStrike">
              <a:latin typeface="Arial"/>
            </a:endParaRPr>
          </a:p>
        </p:txBody>
      </p:sp>
      <p:sp>
        <p:nvSpPr>
          <p:cNvPr id="85" name="Text 30"/>
          <p:cNvSpPr/>
          <p:nvPr/>
        </p:nvSpPr>
        <p:spPr>
          <a:xfrm>
            <a:off x="1143000" y="547704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2000s-2010s: Return to Raw, DIY Aesthetics</a:t>
            </a:r>
            <a:endParaRPr b="0" lang="en-HK" sz="1200" spc="-1" strike="noStrike">
              <a:latin typeface="Arial"/>
            </a:endParaRPr>
          </a:p>
        </p:txBody>
      </p:sp>
      <p:sp>
        <p:nvSpPr>
          <p:cNvPr id="86" name="Shape 31"/>
          <p:cNvSpPr/>
          <p:nvPr/>
        </p:nvSpPr>
        <p:spPr>
          <a:xfrm>
            <a:off x="6324840" y="5095800"/>
            <a:ext cx="607320" cy="607320"/>
          </a:xfrm>
          <a:custGeom>
            <a:avLst/>
            <a:gdLst/>
            <a:ahLst/>
            <a:rect l="l" t="t" r="r" b="b"/>
            <a:pathLst>
              <a:path w="609600" h="609600">
                <a:moveTo>
                  <a:pt x="0" y="0"/>
                </a:moveTo>
                <a:lnTo>
                  <a:pt x="609600" y="0"/>
                </a:lnTo>
                <a:lnTo>
                  <a:pt x="609600" y="609600"/>
                </a:lnTo>
                <a:lnTo>
                  <a:pt x="0" y="609600"/>
                </a:lnTo>
                <a:lnTo>
                  <a:pt x="0" y="0"/>
                </a:lnTo>
                <a:close/>
              </a:path>
            </a:pathLst>
          </a:custGeom>
          <a:solidFill>
            <a:srgbClr val="ddff00"/>
          </a:solidFill>
          <a:ln w="0">
            <a:noFill/>
          </a:ln>
        </p:spPr>
        <p:style>
          <a:lnRef idx="0"/>
          <a:fillRef idx="0"/>
          <a:effectRef idx="0"/>
          <a:fontRef idx="minor"/>
        </p:style>
      </p:sp>
      <p:sp>
        <p:nvSpPr>
          <p:cNvPr id="87" name="Text 32"/>
          <p:cNvSpPr/>
          <p:nvPr/>
        </p:nvSpPr>
        <p:spPr>
          <a:xfrm>
            <a:off x="6450840" y="5229360"/>
            <a:ext cx="502560" cy="3409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2250" spc="-1" strike="noStrike">
                <a:solidFill>
                  <a:srgbClr val="b2b2b2"/>
                </a:solidFill>
                <a:latin typeface="Liter"/>
                <a:ea typeface="Liter"/>
              </a:rPr>
              <a:t>08</a:t>
            </a:r>
            <a:endParaRPr b="0" lang="en-HK" sz="2250" spc="-1" strike="noStrike">
              <a:latin typeface="Arial"/>
            </a:endParaRPr>
          </a:p>
        </p:txBody>
      </p:sp>
      <p:sp>
        <p:nvSpPr>
          <p:cNvPr id="88" name="Text 33"/>
          <p:cNvSpPr/>
          <p:nvPr/>
        </p:nvSpPr>
        <p:spPr>
          <a:xfrm>
            <a:off x="7086960" y="5172120"/>
            <a:ext cx="481788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ffffff"/>
                </a:solidFill>
                <a:latin typeface="Liter"/>
                <a:ea typeface="Liter"/>
              </a:rPr>
              <a:t>Legacy &amp; Cultural Impact</a:t>
            </a:r>
            <a:endParaRPr b="0" lang="en-HK" sz="1500" spc="-1" strike="noStrike">
              <a:latin typeface="Arial"/>
            </a:endParaRPr>
          </a:p>
        </p:txBody>
      </p:sp>
      <p:sp>
        <p:nvSpPr>
          <p:cNvPr id="89" name="Text 34"/>
          <p:cNvSpPr/>
          <p:nvPr/>
        </p:nvSpPr>
        <p:spPr>
          <a:xfrm>
            <a:off x="7086960" y="5477040"/>
            <a:ext cx="4798800" cy="226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60000"/>
                  </a:srgbClr>
                </a:solidFill>
                <a:latin typeface="Liter"/>
                <a:ea typeface="Liter"/>
              </a:rPr>
              <a:t>Rock's Enduring Influence on Music &amp; Culture</a:t>
            </a:r>
            <a:endParaRPr b="0" lang="en-HK" sz="1200" spc="-1" strike="noStrike">
              <a:latin typeface="Arial"/>
            </a:endParaRPr>
          </a:p>
        </p:txBody>
      </p:sp>
      <p:sp>
        <p:nvSpPr>
          <p:cNvPr id="90" name="Shape 35"/>
          <p:cNvSpPr/>
          <p:nvPr/>
        </p:nvSpPr>
        <p:spPr>
          <a:xfrm rot="2700000">
            <a:off x="11217600" y="6337440"/>
            <a:ext cx="111960" cy="1119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1" name="Shape 36"/>
          <p:cNvSpPr/>
          <p:nvPr/>
        </p:nvSpPr>
        <p:spPr>
          <a:xfrm rot="2700000">
            <a:off x="11446200" y="6337440"/>
            <a:ext cx="111960" cy="1119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
        <p:nvSpPr>
          <p:cNvPr id="92" name="Shape 37"/>
          <p:cNvSpPr/>
          <p:nvPr/>
        </p:nvSpPr>
        <p:spPr>
          <a:xfrm rot="2700000">
            <a:off x="11674800" y="6337440"/>
            <a:ext cx="111960" cy="111960"/>
          </a:xfrm>
          <a:custGeom>
            <a:avLst/>
            <a:gdLst/>
            <a:ahLst/>
            <a:rect l="l" t="t" r="r" b="b"/>
            <a:pathLst>
              <a:path w="114300" h="114300">
                <a:moveTo>
                  <a:pt x="0" y="0"/>
                </a:moveTo>
                <a:lnTo>
                  <a:pt x="114300" y="0"/>
                </a:lnTo>
                <a:lnTo>
                  <a:pt x="114300" y="114300"/>
                </a:lnTo>
                <a:lnTo>
                  <a:pt x="0" y="1143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93" name="Image 0"/>
          <p:cNvSpPr/>
          <p:nvPr/>
        </p:nvSpPr>
        <p:spPr>
          <a:xfrm>
            <a:off x="0" y="0"/>
            <a:ext cx="1219104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94" name="Shape 0"/>
          <p:cNvSpPr/>
          <p:nvPr/>
        </p:nvSpPr>
        <p:spPr>
          <a:xfrm>
            <a:off x="0" y="0"/>
            <a:ext cx="1219104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95" name="Shape 1"/>
          <p:cNvSpPr/>
          <p:nvPr/>
        </p:nvSpPr>
        <p:spPr>
          <a:xfrm rot="720600">
            <a:off x="10754280" y="542016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96"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97" name="Text 3"/>
          <p:cNvSpPr/>
          <p:nvPr/>
        </p:nvSpPr>
        <p:spPr>
          <a:xfrm>
            <a:off x="634680" y="1638360"/>
            <a:ext cx="105516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5400" spc="-1" strike="noStrike">
                <a:solidFill>
                  <a:srgbClr val="404040"/>
                </a:solidFill>
                <a:latin typeface="Liter"/>
                <a:ea typeface="Liter"/>
              </a:rPr>
              <a:t>01</a:t>
            </a:r>
            <a:endParaRPr b="0" lang="en-HK" sz="5400" spc="-1" strike="noStrike">
              <a:latin typeface="Arial"/>
            </a:endParaRPr>
          </a:p>
        </p:txBody>
      </p:sp>
      <p:sp>
        <p:nvSpPr>
          <p:cNvPr id="98" name="Shape 4"/>
          <p:cNvSpPr/>
          <p:nvPr/>
        </p:nvSpPr>
        <p:spPr>
          <a:xfrm>
            <a:off x="1828800" y="1752480"/>
            <a:ext cx="4503600" cy="36000"/>
          </a:xfrm>
          <a:custGeom>
            <a:avLst/>
            <a:gdLst/>
            <a:ahLst/>
            <a:rect l="l" t="t" r="r" b="b"/>
            <a:pathLst>
              <a:path w="4505325" h="38100">
                <a:moveTo>
                  <a:pt x="0" y="0"/>
                </a:moveTo>
                <a:lnTo>
                  <a:pt x="4505325" y="0"/>
                </a:lnTo>
                <a:lnTo>
                  <a:pt x="4505325" y="38100"/>
                </a:lnTo>
                <a:lnTo>
                  <a:pt x="0" y="38100"/>
                </a:lnTo>
                <a:lnTo>
                  <a:pt x="0" y="0"/>
                </a:lnTo>
                <a:close/>
              </a:path>
            </a:pathLst>
          </a:custGeom>
          <a:solidFill>
            <a:srgbClr val="ddff00"/>
          </a:solidFill>
          <a:ln w="0">
            <a:noFill/>
          </a:ln>
        </p:spPr>
        <p:style>
          <a:lnRef idx="0"/>
          <a:fillRef idx="0"/>
          <a:effectRef idx="0"/>
          <a:fontRef idx="minor"/>
        </p:style>
      </p:sp>
      <p:sp>
        <p:nvSpPr>
          <p:cNvPr id="99" name="Text 5"/>
          <p:cNvSpPr/>
          <p:nvPr/>
        </p:nvSpPr>
        <p:spPr>
          <a:xfrm>
            <a:off x="1828800" y="1943280"/>
            <a:ext cx="458928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350" spc="120" strike="noStrike">
                <a:solidFill>
                  <a:srgbClr val="404040"/>
                </a:solidFill>
                <a:latin typeface="Liter"/>
                <a:ea typeface="Liter"/>
              </a:rPr>
              <a:t>CHAPTER ONE</a:t>
            </a:r>
            <a:endParaRPr b="0" lang="en-HK" sz="1350" spc="-1" strike="noStrike">
              <a:latin typeface="Arial"/>
            </a:endParaRPr>
          </a:p>
        </p:txBody>
      </p:sp>
      <p:sp>
        <p:nvSpPr>
          <p:cNvPr id="100" name="Text 6"/>
          <p:cNvSpPr/>
          <p:nvPr/>
        </p:nvSpPr>
        <p:spPr>
          <a:xfrm>
            <a:off x="380880" y="2895480"/>
            <a:ext cx="629460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404040"/>
                </a:solidFill>
                <a:latin typeface="Liter"/>
                <a:ea typeface="Liter"/>
              </a:rPr>
              <a:t>ORIGINS &amp;</a:t>
            </a:r>
            <a:endParaRPr b="0" lang="en-HK" sz="5400" spc="-1" strike="noStrike">
              <a:latin typeface="Arial"/>
            </a:endParaRPr>
          </a:p>
          <a:p>
            <a:pPr>
              <a:lnSpc>
                <a:spcPct val="100000"/>
              </a:lnSpc>
              <a:buNone/>
            </a:pPr>
            <a:r>
              <a:rPr b="1" i="1" lang="en-US" sz="5400" spc="-1" strike="noStrike">
                <a:solidFill>
                  <a:srgbClr val="404040"/>
                </a:solidFill>
                <a:latin typeface="Liter"/>
                <a:ea typeface="Liter"/>
              </a:rPr>
              <a:t>BIRTH OF ROCK</a:t>
            </a:r>
            <a:endParaRPr b="0" lang="en-HK" sz="5400" spc="-1" strike="noStrike">
              <a:latin typeface="Arial"/>
            </a:endParaRPr>
          </a:p>
        </p:txBody>
      </p:sp>
      <p:sp>
        <p:nvSpPr>
          <p:cNvPr id="101" name="Text 7"/>
          <p:cNvSpPr/>
          <p:nvPr/>
        </p:nvSpPr>
        <p:spPr>
          <a:xfrm>
            <a:off x="380880" y="4838760"/>
            <a:ext cx="60656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404040">
                    <a:alpha val="80000"/>
                  </a:srgbClr>
                </a:solidFill>
                <a:latin typeface="Liter"/>
                <a:ea typeface="Liter"/>
              </a:rPr>
              <a:t>1940s-1950s: The </a:t>
            </a:r>
            <a:r>
              <a:rPr b="0" i="1" lang="en-US" sz="1800" spc="-1" strike="noStrike">
                <a:solidFill>
                  <a:srgbClr val="808080"/>
                </a:solidFill>
                <a:latin typeface="Liter"/>
                <a:ea typeface="Liter"/>
              </a:rPr>
              <a:t>Musical</a:t>
            </a:r>
            <a:r>
              <a:rPr b="0" lang="en-US" sz="1800" spc="-1" strike="noStrike">
                <a:solidFill>
                  <a:srgbClr val="404040">
                    <a:alpha val="80000"/>
                  </a:srgbClr>
                </a:solidFill>
                <a:latin typeface="Liter"/>
                <a:ea typeface="Liter"/>
              </a:rPr>
              <a:t> Fusion That Changed Everything</a:t>
            </a:r>
            <a:endParaRPr b="0" lang="en-HK" sz="1800" spc="-1" strike="noStrike">
              <a:latin typeface="Arial"/>
            </a:endParaRPr>
          </a:p>
        </p:txBody>
      </p:sp>
      <p:sp>
        <p:nvSpPr>
          <p:cNvPr id="102"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03"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04"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05" name="Shape 0"/>
          <p:cNvSpPr/>
          <p:nvPr/>
        </p:nvSpPr>
        <p:spPr>
          <a:xfrm>
            <a:off x="380880" y="438120"/>
            <a:ext cx="74160" cy="455040"/>
          </a:xfrm>
          <a:custGeom>
            <a:avLst/>
            <a:gdLst/>
            <a:ahLst/>
            <a:rect l="l" t="t" r="r" b="b"/>
            <a:pathLst>
              <a:path w="76200" h="457200">
                <a:moveTo>
                  <a:pt x="0" y="0"/>
                </a:moveTo>
                <a:lnTo>
                  <a:pt x="76200" y="0"/>
                </a:lnTo>
                <a:lnTo>
                  <a:pt x="76200" y="457200"/>
                </a:lnTo>
                <a:lnTo>
                  <a:pt x="0" y="457200"/>
                </a:lnTo>
                <a:lnTo>
                  <a:pt x="0" y="0"/>
                </a:lnTo>
                <a:close/>
              </a:path>
            </a:pathLst>
          </a:custGeom>
          <a:solidFill>
            <a:srgbClr val="ddff00"/>
          </a:solidFill>
          <a:ln w="0">
            <a:noFill/>
          </a:ln>
        </p:spPr>
        <p:style>
          <a:lnRef idx="0"/>
          <a:fillRef idx="0"/>
          <a:effectRef idx="0"/>
          <a:fontRef idx="minor"/>
        </p:style>
      </p:sp>
      <p:sp>
        <p:nvSpPr>
          <p:cNvPr id="106" name="Text 1"/>
          <p:cNvSpPr/>
          <p:nvPr/>
        </p:nvSpPr>
        <p:spPr>
          <a:xfrm>
            <a:off x="609480" y="380880"/>
            <a:ext cx="6589800" cy="188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89" strike="noStrike">
                <a:solidFill>
                  <a:srgbClr val="ddff00"/>
                </a:solidFill>
                <a:latin typeface="Liter"/>
                <a:ea typeface="Liter"/>
              </a:rPr>
              <a:t>CHAPTER 01</a:t>
            </a:r>
            <a:endParaRPr b="0" lang="en-HK" sz="1050" spc="-1" strike="noStrike">
              <a:latin typeface="Arial"/>
            </a:endParaRPr>
          </a:p>
        </p:txBody>
      </p:sp>
      <p:sp>
        <p:nvSpPr>
          <p:cNvPr id="107" name="Text 2"/>
          <p:cNvSpPr/>
          <p:nvPr/>
        </p:nvSpPr>
        <p:spPr>
          <a:xfrm>
            <a:off x="609480" y="571680"/>
            <a:ext cx="6694560" cy="378720"/>
          </a:xfrm>
          <a:prstGeom prst="rect">
            <a:avLst/>
          </a:prstGeom>
          <a:noFill/>
          <a:ln w="0">
            <a:noFill/>
          </a:ln>
        </p:spPr>
        <p:style>
          <a:lnRef idx="0"/>
          <a:fillRef idx="0"/>
          <a:effectRef idx="0"/>
          <a:fontRef idx="minor"/>
        </p:style>
        <p:txBody>
          <a:bodyPr lIns="0" rIns="0" tIns="0" bIns="0" anchor="ctr">
            <a:noAutofit/>
          </a:bodyPr>
          <a:p>
            <a:pPr algn="r">
              <a:lnSpc>
                <a:spcPct val="90000"/>
              </a:lnSpc>
              <a:buNone/>
            </a:pPr>
            <a:r>
              <a:rPr b="0" lang="en-US" sz="4400" spc="-1" strike="noStrike">
                <a:solidFill>
                  <a:srgbClr val="ff0000"/>
                </a:solidFill>
                <a:latin typeface="Liter"/>
                <a:ea typeface="Liter"/>
              </a:rPr>
              <a:t>The Roots of Rock: Blues, Gospel &amp; Country</a:t>
            </a:r>
            <a:endParaRPr b="0" lang="en-HK" sz="4400" spc="-1" strike="noStrike">
              <a:latin typeface="Arial"/>
            </a:endParaRPr>
          </a:p>
        </p:txBody>
      </p:sp>
      <p:sp>
        <p:nvSpPr>
          <p:cNvPr id="108" name="Shape 3"/>
          <p:cNvSpPr/>
          <p:nvPr/>
        </p:nvSpPr>
        <p:spPr>
          <a:xfrm>
            <a:off x="399960" y="1257480"/>
            <a:ext cx="36000" cy="176940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09" name="Shape 4"/>
          <p:cNvSpPr/>
          <p:nvPr/>
        </p:nvSpPr>
        <p:spPr>
          <a:xfrm>
            <a:off x="676440" y="1295280"/>
            <a:ext cx="226440" cy="226440"/>
          </a:xfrm>
          <a:custGeom>
            <a:avLst/>
            <a:gdLst/>
            <a:ahLst/>
            <a:rect l="l" t="t" r="r" b="b"/>
            <a:pathLst>
              <a:path w="228600" h="228600">
                <a:moveTo>
                  <a:pt x="208955" y="3125"/>
                </a:moveTo>
                <a:cubicBezTo>
                  <a:pt x="212348" y="5849"/>
                  <a:pt x="214313" y="9957"/>
                  <a:pt x="214313" y="14288"/>
                </a:cubicBezTo>
                <a:lnTo>
                  <a:pt x="214313" y="150019"/>
                </a:lnTo>
                <a:cubicBezTo>
                  <a:pt x="214313" y="169753"/>
                  <a:pt x="195114" y="185738"/>
                  <a:pt x="171450" y="185738"/>
                </a:cubicBezTo>
                <a:cubicBezTo>
                  <a:pt x="147786" y="185738"/>
                  <a:pt x="128588" y="169753"/>
                  <a:pt x="128588" y="150019"/>
                </a:cubicBezTo>
                <a:cubicBezTo>
                  <a:pt x="128588" y="130284"/>
                  <a:pt x="147786" y="114300"/>
                  <a:pt x="171450" y="114300"/>
                </a:cubicBezTo>
                <a:cubicBezTo>
                  <a:pt x="176451" y="114300"/>
                  <a:pt x="181273" y="115014"/>
                  <a:pt x="185738" y="116354"/>
                </a:cubicBezTo>
                <a:lnTo>
                  <a:pt x="185738" y="64249"/>
                </a:lnTo>
                <a:lnTo>
                  <a:pt x="85725" y="86484"/>
                </a:lnTo>
                <a:lnTo>
                  <a:pt x="85725" y="178594"/>
                </a:lnTo>
                <a:cubicBezTo>
                  <a:pt x="85725" y="198328"/>
                  <a:pt x="66526" y="214313"/>
                  <a:pt x="42863" y="214313"/>
                </a:cubicBezTo>
                <a:cubicBezTo>
                  <a:pt x="19199" y="214313"/>
                  <a:pt x="0" y="198328"/>
                  <a:pt x="0" y="178594"/>
                </a:cubicBezTo>
                <a:cubicBezTo>
                  <a:pt x="0" y="158859"/>
                  <a:pt x="19199" y="142875"/>
                  <a:pt x="42863" y="142875"/>
                </a:cubicBezTo>
                <a:cubicBezTo>
                  <a:pt x="47863" y="142875"/>
                  <a:pt x="52685" y="143589"/>
                  <a:pt x="57150" y="144929"/>
                </a:cubicBezTo>
                <a:lnTo>
                  <a:pt x="57150" y="42863"/>
                </a:lnTo>
                <a:cubicBezTo>
                  <a:pt x="57150" y="36165"/>
                  <a:pt x="61793" y="30361"/>
                  <a:pt x="68357" y="28932"/>
                </a:cubicBezTo>
                <a:lnTo>
                  <a:pt x="196944" y="357"/>
                </a:lnTo>
                <a:cubicBezTo>
                  <a:pt x="201186" y="-580"/>
                  <a:pt x="205606" y="446"/>
                  <a:pt x="208999" y="3170"/>
                </a:cubicBezTo>
                <a:close/>
              </a:path>
            </a:pathLst>
          </a:custGeom>
          <a:solidFill>
            <a:srgbClr val="ddff00"/>
          </a:solidFill>
          <a:ln w="0">
            <a:noFill/>
          </a:ln>
        </p:spPr>
        <p:style>
          <a:lnRef idx="0"/>
          <a:fillRef idx="0"/>
          <a:effectRef idx="0"/>
          <a:fontRef idx="minor"/>
        </p:style>
      </p:sp>
      <p:sp>
        <p:nvSpPr>
          <p:cNvPr id="110" name="Text 5"/>
          <p:cNvSpPr/>
          <p:nvPr/>
        </p:nvSpPr>
        <p:spPr>
          <a:xfrm>
            <a:off x="933480" y="1257480"/>
            <a:ext cx="62852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African American Blues</a:t>
            </a:r>
            <a:endParaRPr b="0" lang="en-HK" sz="1800" spc="-1" strike="noStrike">
              <a:latin typeface="Arial"/>
            </a:endParaRPr>
          </a:p>
        </p:txBody>
      </p:sp>
      <p:sp>
        <p:nvSpPr>
          <p:cNvPr id="111" name="Text 6"/>
          <p:cNvSpPr/>
          <p:nvPr/>
        </p:nvSpPr>
        <p:spPr>
          <a:xfrm>
            <a:off x="647640" y="1676520"/>
            <a:ext cx="653256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The blues emerged in the late 19th century</a:t>
            </a:r>
            <a:r>
              <a:rPr b="0" lang="en-US" sz="1200" spc="-1" strike="noStrike">
                <a:solidFill>
                  <a:srgbClr val="ffffff"/>
                </a:solidFill>
                <a:latin typeface="Liter"/>
                <a:ea typeface="Liter"/>
              </a:rPr>
              <a:t> in the Mississippi Delta, rooted in African American experiences of struggle and resilience. Early blues was primarily call-and-response vocal music, evolving from field shouts and hollers into passionate solo songs.</a:t>
            </a:r>
            <a:endParaRPr b="0" lang="en-HK" sz="1200" spc="-1" strike="noStrike">
              <a:latin typeface="Arial"/>
            </a:endParaRPr>
          </a:p>
        </p:txBody>
      </p:sp>
      <p:sp>
        <p:nvSpPr>
          <p:cNvPr id="112" name="Text 7"/>
          <p:cNvSpPr/>
          <p:nvPr/>
        </p:nvSpPr>
        <p:spPr>
          <a:xfrm>
            <a:off x="647640" y="2533680"/>
            <a:ext cx="6532560" cy="493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Legendary artists like </a:t>
            </a:r>
            <a:r>
              <a:rPr b="1" lang="en-US" sz="1200" spc="-1" strike="noStrike">
                <a:solidFill>
                  <a:srgbClr val="ddff00"/>
                </a:solidFill>
                <a:latin typeface="Liter"/>
                <a:ea typeface="Liter"/>
              </a:rPr>
              <a:t>Robert Johnson</a:t>
            </a:r>
            <a:r>
              <a:rPr b="0" lang="en-US" sz="1200" spc="-1" strike="noStrike">
                <a:solidFill>
                  <a:srgbClr val="ffffff">
                    <a:alpha val="80000"/>
                  </a:srgbClr>
                </a:solidFill>
                <a:latin typeface="Liter"/>
                <a:ea typeface="Liter"/>
              </a:rPr>
              <a:t> , </a:t>
            </a:r>
            <a:r>
              <a:rPr b="1" lang="en-US" sz="1200" spc="-1" strike="noStrike">
                <a:solidFill>
                  <a:srgbClr val="ddff00"/>
                </a:solidFill>
                <a:latin typeface="Liter"/>
                <a:ea typeface="Liter"/>
              </a:rPr>
              <a:t>Muddy Waters</a:t>
            </a:r>
            <a:r>
              <a:rPr b="0" lang="en-US" sz="1200" spc="-1" strike="noStrike">
                <a:solidFill>
                  <a:srgbClr val="ffffff">
                    <a:alpha val="80000"/>
                  </a:srgbClr>
                </a:solidFill>
                <a:latin typeface="Liter"/>
                <a:ea typeface="Liter"/>
              </a:rPr>
              <a:t> , and </a:t>
            </a:r>
            <a:r>
              <a:rPr b="1" lang="en-US" sz="1200" spc="-1" strike="noStrike">
                <a:solidFill>
                  <a:srgbClr val="ddff00"/>
                </a:solidFill>
                <a:latin typeface="Liter"/>
                <a:ea typeface="Liter"/>
              </a:rPr>
              <a:t>B.B. King</a:t>
            </a:r>
            <a:r>
              <a:rPr b="0" lang="en-US" sz="1200" spc="-1" strike="noStrike">
                <a:solidFill>
                  <a:srgbClr val="ffffff">
                    <a:alpha val="80000"/>
                  </a:srgbClr>
                </a:solidFill>
                <a:latin typeface="Liter"/>
                <a:ea typeface="Liter"/>
              </a:rPr>
              <a:t> established the guitar as the dominant instrument, creating the foundation for rock's signature sound.</a:t>
            </a:r>
            <a:endParaRPr b="0" lang="en-HK" sz="1200" spc="-1" strike="noStrike">
              <a:latin typeface="Arial"/>
            </a:endParaRPr>
          </a:p>
        </p:txBody>
      </p:sp>
      <p:sp>
        <p:nvSpPr>
          <p:cNvPr id="113" name="Shape 8"/>
          <p:cNvSpPr/>
          <p:nvPr/>
        </p:nvSpPr>
        <p:spPr>
          <a:xfrm>
            <a:off x="399960" y="3286080"/>
            <a:ext cx="36000" cy="1769400"/>
          </a:xfrm>
          <a:custGeom>
            <a:avLst/>
            <a:gdLst/>
            <a:ahLst/>
            <a:rect l="l" t="t" r="r" b="b"/>
            <a:pathLst>
              <a:path w="38100" h="1771650">
                <a:moveTo>
                  <a:pt x="0" y="0"/>
                </a:moveTo>
                <a:lnTo>
                  <a:pt x="38100" y="0"/>
                </a:lnTo>
                <a:lnTo>
                  <a:pt x="38100" y="1771650"/>
                </a:lnTo>
                <a:lnTo>
                  <a:pt x="0" y="1771650"/>
                </a:lnTo>
                <a:lnTo>
                  <a:pt x="0" y="0"/>
                </a:lnTo>
                <a:close/>
              </a:path>
            </a:pathLst>
          </a:custGeom>
          <a:solidFill>
            <a:srgbClr val="ddff00"/>
          </a:solidFill>
          <a:ln w="0">
            <a:noFill/>
          </a:ln>
        </p:spPr>
        <p:style>
          <a:lnRef idx="0"/>
          <a:fillRef idx="0"/>
          <a:effectRef idx="0"/>
          <a:fontRef idx="minor"/>
        </p:style>
      </p:sp>
      <p:sp>
        <p:nvSpPr>
          <p:cNvPr id="114" name="Shape 9"/>
          <p:cNvSpPr/>
          <p:nvPr/>
        </p:nvSpPr>
        <p:spPr>
          <a:xfrm>
            <a:off x="676440" y="3324240"/>
            <a:ext cx="226440" cy="226440"/>
          </a:xfrm>
          <a:custGeom>
            <a:avLst/>
            <a:gdLst/>
            <a:ahLst/>
            <a:rect l="l" t="t" r="r" b="b"/>
            <a:pathLst>
              <a:path w="228600" h="228600">
                <a:moveTo>
                  <a:pt x="125016" y="-3572"/>
                </a:moveTo>
                <a:cubicBezTo>
                  <a:pt x="125016" y="-9510"/>
                  <a:pt x="120238" y="-14287"/>
                  <a:pt x="114300" y="-14287"/>
                </a:cubicBezTo>
                <a:cubicBezTo>
                  <a:pt x="108362" y="-14287"/>
                  <a:pt x="103584" y="-9510"/>
                  <a:pt x="103584" y="-3572"/>
                </a:cubicBezTo>
                <a:lnTo>
                  <a:pt x="103584" y="7144"/>
                </a:lnTo>
                <a:lnTo>
                  <a:pt x="89297" y="7144"/>
                </a:lnTo>
                <a:cubicBezTo>
                  <a:pt x="83359" y="7144"/>
                  <a:pt x="78581" y="11921"/>
                  <a:pt x="78581" y="17859"/>
                </a:cubicBezTo>
                <a:cubicBezTo>
                  <a:pt x="78581" y="23798"/>
                  <a:pt x="83359" y="28575"/>
                  <a:pt x="89297" y="28575"/>
                </a:cubicBezTo>
                <a:lnTo>
                  <a:pt x="103584" y="28575"/>
                </a:lnTo>
                <a:lnTo>
                  <a:pt x="103584" y="50006"/>
                </a:lnTo>
                <a:lnTo>
                  <a:pt x="59561" y="79385"/>
                </a:lnTo>
                <a:cubicBezTo>
                  <a:pt x="53578" y="83359"/>
                  <a:pt x="50006" y="90011"/>
                  <a:pt x="50006" y="97200"/>
                </a:cubicBezTo>
                <a:lnTo>
                  <a:pt x="50006" y="114300"/>
                </a:lnTo>
                <a:lnTo>
                  <a:pt x="14377" y="134660"/>
                </a:lnTo>
                <a:cubicBezTo>
                  <a:pt x="5492" y="139750"/>
                  <a:pt x="0" y="149215"/>
                  <a:pt x="0" y="159440"/>
                </a:cubicBezTo>
                <a:lnTo>
                  <a:pt x="0" y="200025"/>
                </a:lnTo>
                <a:cubicBezTo>
                  <a:pt x="0" y="215786"/>
                  <a:pt x="12814" y="228600"/>
                  <a:pt x="28575" y="228600"/>
                </a:cubicBezTo>
                <a:cubicBezTo>
                  <a:pt x="61927" y="228600"/>
                  <a:pt x="66705" y="228600"/>
                  <a:pt x="171450" y="228600"/>
                </a:cubicBezTo>
                <a:lnTo>
                  <a:pt x="200025" y="228600"/>
                </a:lnTo>
                <a:cubicBezTo>
                  <a:pt x="215786" y="228600"/>
                  <a:pt x="228600" y="215786"/>
                  <a:pt x="228600" y="200025"/>
                </a:cubicBezTo>
                <a:lnTo>
                  <a:pt x="228600" y="159440"/>
                </a:lnTo>
                <a:cubicBezTo>
                  <a:pt x="228600" y="149170"/>
                  <a:pt x="223108" y="139705"/>
                  <a:pt x="214223" y="134615"/>
                </a:cubicBezTo>
                <a:lnTo>
                  <a:pt x="178594" y="114300"/>
                </a:lnTo>
                <a:lnTo>
                  <a:pt x="178594" y="97200"/>
                </a:lnTo>
                <a:cubicBezTo>
                  <a:pt x="178594" y="90056"/>
                  <a:pt x="175022" y="83359"/>
                  <a:pt x="169039" y="79385"/>
                </a:cubicBezTo>
                <a:lnTo>
                  <a:pt x="125016" y="50006"/>
                </a:lnTo>
                <a:lnTo>
                  <a:pt x="125016" y="28575"/>
                </a:lnTo>
                <a:lnTo>
                  <a:pt x="139303" y="28575"/>
                </a:lnTo>
                <a:cubicBezTo>
                  <a:pt x="145241" y="28575"/>
                  <a:pt x="150019" y="23798"/>
                  <a:pt x="150019" y="17859"/>
                </a:cubicBezTo>
                <a:cubicBezTo>
                  <a:pt x="150019" y="11921"/>
                  <a:pt x="145241" y="7144"/>
                  <a:pt x="139303" y="7144"/>
                </a:cubicBezTo>
                <a:lnTo>
                  <a:pt x="125016" y="7144"/>
                </a:lnTo>
                <a:lnTo>
                  <a:pt x="125016" y="-3572"/>
                </a:lnTo>
                <a:close/>
                <a:moveTo>
                  <a:pt x="114300" y="142875"/>
                </a:moveTo>
                <a:cubicBezTo>
                  <a:pt x="130061" y="142875"/>
                  <a:pt x="142875" y="155689"/>
                  <a:pt x="142875" y="171450"/>
                </a:cubicBezTo>
                <a:lnTo>
                  <a:pt x="142875" y="207169"/>
                </a:lnTo>
                <a:lnTo>
                  <a:pt x="85725" y="207169"/>
                </a:lnTo>
                <a:lnTo>
                  <a:pt x="85725" y="171450"/>
                </a:lnTo>
                <a:cubicBezTo>
                  <a:pt x="85725" y="155689"/>
                  <a:pt x="98539" y="142875"/>
                  <a:pt x="114300" y="142875"/>
                </a:cubicBezTo>
                <a:close/>
              </a:path>
            </a:pathLst>
          </a:custGeom>
          <a:solidFill>
            <a:srgbClr val="ddff00"/>
          </a:solidFill>
          <a:ln w="0">
            <a:noFill/>
          </a:ln>
        </p:spPr>
        <p:style>
          <a:lnRef idx="0"/>
          <a:fillRef idx="0"/>
          <a:effectRef idx="0"/>
          <a:fontRef idx="minor"/>
        </p:style>
      </p:sp>
      <p:sp>
        <p:nvSpPr>
          <p:cNvPr id="115" name="Text 10"/>
          <p:cNvSpPr/>
          <p:nvPr/>
        </p:nvSpPr>
        <p:spPr>
          <a:xfrm>
            <a:off x="933480" y="3286080"/>
            <a:ext cx="62852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Gospel Spirituals</a:t>
            </a:r>
            <a:endParaRPr b="0" lang="en-HK" sz="1800" spc="-1" strike="noStrike">
              <a:latin typeface="Arial"/>
            </a:endParaRPr>
          </a:p>
        </p:txBody>
      </p:sp>
      <p:sp>
        <p:nvSpPr>
          <p:cNvPr id="116" name="Text 11"/>
          <p:cNvSpPr/>
          <p:nvPr/>
        </p:nvSpPr>
        <p:spPr>
          <a:xfrm>
            <a:off x="647640" y="3705120"/>
            <a:ext cx="653256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Gospel music evolved from spirituals and blues</a:t>
            </a:r>
            <a:r>
              <a:rPr b="0" lang="en-US" sz="1200" spc="-1" strike="noStrike">
                <a:solidFill>
                  <a:srgbClr val="ffffff"/>
                </a:solidFill>
                <a:latin typeface="Liter"/>
                <a:ea typeface="Liter"/>
              </a:rPr>
              <a:t> , maintaining the call-and-response tradition rooted in African music. Modern gospel began in African American churches in the 1920s, with composers like </a:t>
            </a:r>
            <a:r>
              <a:rPr b="1" lang="en-US" sz="1200" spc="-1" strike="noStrike">
                <a:solidFill>
                  <a:srgbClr val="ddff00"/>
                </a:solidFill>
                <a:latin typeface="Liter"/>
                <a:ea typeface="Liter"/>
              </a:rPr>
              <a:t>Thomas A. Dorsey</a:t>
            </a:r>
            <a:r>
              <a:rPr b="0" lang="en-US" sz="1200" spc="-1" strike="noStrike">
                <a:solidFill>
                  <a:srgbClr val="ffffff"/>
                </a:solidFill>
                <a:latin typeface="Liter"/>
                <a:ea typeface="Liter"/>
              </a:rPr>
              <a:t> blending blues and jazz elements with traditional hymns.</a:t>
            </a:r>
            <a:endParaRPr b="0" lang="en-HK" sz="1200" spc="-1" strike="noStrike">
              <a:latin typeface="Arial"/>
            </a:endParaRPr>
          </a:p>
        </p:txBody>
      </p:sp>
      <p:sp>
        <p:nvSpPr>
          <p:cNvPr id="117" name="Text 12"/>
          <p:cNvSpPr/>
          <p:nvPr/>
        </p:nvSpPr>
        <p:spPr>
          <a:xfrm>
            <a:off x="647640" y="4562640"/>
            <a:ext cx="6532560" cy="493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ffffff">
                    <a:alpha val="80000"/>
                  </a:srgbClr>
                </a:solidFill>
                <a:latin typeface="Liter"/>
                <a:ea typeface="Liter"/>
              </a:rPr>
              <a:t>The emotional intensity and vocal power of gospel would profoundly influence rock singers, from </a:t>
            </a:r>
            <a:r>
              <a:rPr b="1" lang="en-US" sz="1200" spc="-1" strike="noStrike">
                <a:solidFill>
                  <a:srgbClr val="ddff00"/>
                </a:solidFill>
                <a:latin typeface="Liter"/>
                <a:ea typeface="Liter"/>
              </a:rPr>
              <a:t>Little Richard</a:t>
            </a:r>
            <a:r>
              <a:rPr b="0" lang="en-US" sz="1200" spc="-1" strike="noStrike">
                <a:solidFill>
                  <a:srgbClr val="ffffff">
                    <a:alpha val="80000"/>
                  </a:srgbClr>
                </a:solidFill>
                <a:latin typeface="Liter"/>
                <a:ea typeface="Liter"/>
              </a:rPr>
              <a:t> 's ecstatic performances to </a:t>
            </a:r>
            <a:r>
              <a:rPr b="1" lang="en-US" sz="1200" spc="-1" strike="noStrike">
                <a:solidFill>
                  <a:srgbClr val="ddff00"/>
                </a:solidFill>
                <a:latin typeface="Liter"/>
                <a:ea typeface="Liter"/>
              </a:rPr>
              <a:t>Aretha Franklin</a:t>
            </a:r>
            <a:r>
              <a:rPr b="0" lang="en-US" sz="1200" spc="-1" strike="noStrike">
                <a:solidFill>
                  <a:srgbClr val="ffffff">
                    <a:alpha val="80000"/>
                  </a:srgbClr>
                </a:solidFill>
                <a:latin typeface="Liter"/>
                <a:ea typeface="Liter"/>
              </a:rPr>
              <a:t> 's soulful delivery.</a:t>
            </a:r>
            <a:endParaRPr b="0" lang="en-HK" sz="1200" spc="-1" strike="noStrike">
              <a:latin typeface="Arial"/>
            </a:endParaRPr>
          </a:p>
        </p:txBody>
      </p:sp>
      <p:sp>
        <p:nvSpPr>
          <p:cNvPr id="118" name="Shape 13"/>
          <p:cNvSpPr/>
          <p:nvPr/>
        </p:nvSpPr>
        <p:spPr>
          <a:xfrm>
            <a:off x="399960" y="5315040"/>
            <a:ext cx="36000" cy="1159920"/>
          </a:xfrm>
          <a:custGeom>
            <a:avLst/>
            <a:gdLst/>
            <a:ahLst/>
            <a:rect l="l" t="t" r="r" b="b"/>
            <a:pathLst>
              <a:path w="38100" h="1162050">
                <a:moveTo>
                  <a:pt x="0" y="0"/>
                </a:moveTo>
                <a:lnTo>
                  <a:pt x="38100" y="0"/>
                </a:lnTo>
                <a:lnTo>
                  <a:pt x="38100" y="1162050"/>
                </a:lnTo>
                <a:lnTo>
                  <a:pt x="0" y="1162050"/>
                </a:lnTo>
                <a:lnTo>
                  <a:pt x="0" y="0"/>
                </a:lnTo>
                <a:close/>
              </a:path>
            </a:pathLst>
          </a:custGeom>
          <a:solidFill>
            <a:srgbClr val="ddff00"/>
          </a:solidFill>
          <a:ln w="0">
            <a:noFill/>
          </a:ln>
        </p:spPr>
        <p:style>
          <a:lnRef idx="0"/>
          <a:fillRef idx="0"/>
          <a:effectRef idx="0"/>
          <a:fontRef idx="minor"/>
        </p:style>
      </p:sp>
      <p:sp>
        <p:nvSpPr>
          <p:cNvPr id="119" name="Shape 14"/>
          <p:cNvSpPr/>
          <p:nvPr/>
        </p:nvSpPr>
        <p:spPr>
          <a:xfrm>
            <a:off x="676440" y="5353200"/>
            <a:ext cx="226440" cy="226440"/>
          </a:xfrm>
          <a:custGeom>
            <a:avLst/>
            <a:gdLst/>
            <a:ahLst/>
            <a:rect l="l" t="t" r="r" b="b"/>
            <a:pathLst>
              <a:path w="228600" h="228600">
                <a:moveTo>
                  <a:pt x="124033" y="3840"/>
                </a:moveTo>
                <a:cubicBezTo>
                  <a:pt x="118542" y="-1250"/>
                  <a:pt x="110058" y="-1250"/>
                  <a:pt x="104611" y="3840"/>
                </a:cubicBezTo>
                <a:lnTo>
                  <a:pt x="4599" y="96709"/>
                </a:lnTo>
                <a:cubicBezTo>
                  <a:pt x="313" y="100727"/>
                  <a:pt x="-1116" y="106933"/>
                  <a:pt x="1027" y="112380"/>
                </a:cubicBezTo>
                <a:cubicBezTo>
                  <a:pt x="3170" y="117827"/>
                  <a:pt x="8394" y="121444"/>
                  <a:pt x="14288" y="121444"/>
                </a:cubicBezTo>
                <a:lnTo>
                  <a:pt x="21431" y="121444"/>
                </a:lnTo>
                <a:lnTo>
                  <a:pt x="21431" y="200025"/>
                </a:lnTo>
                <a:cubicBezTo>
                  <a:pt x="21431" y="215786"/>
                  <a:pt x="34245" y="228600"/>
                  <a:pt x="50006" y="228600"/>
                </a:cubicBezTo>
                <a:lnTo>
                  <a:pt x="178594" y="228600"/>
                </a:lnTo>
                <a:cubicBezTo>
                  <a:pt x="194355" y="228600"/>
                  <a:pt x="207169" y="215786"/>
                  <a:pt x="207169" y="200025"/>
                </a:cubicBezTo>
                <a:lnTo>
                  <a:pt x="207169" y="121444"/>
                </a:lnTo>
                <a:lnTo>
                  <a:pt x="214313" y="121444"/>
                </a:lnTo>
                <a:cubicBezTo>
                  <a:pt x="220206" y="121444"/>
                  <a:pt x="225475" y="117827"/>
                  <a:pt x="227618" y="112380"/>
                </a:cubicBezTo>
                <a:cubicBezTo>
                  <a:pt x="229761" y="106933"/>
                  <a:pt x="228332" y="100682"/>
                  <a:pt x="224046" y="96709"/>
                </a:cubicBezTo>
                <a:lnTo>
                  <a:pt x="124033" y="3840"/>
                </a:lnTo>
                <a:close/>
                <a:moveTo>
                  <a:pt x="107156" y="142875"/>
                </a:moveTo>
                <a:lnTo>
                  <a:pt x="121444" y="142875"/>
                </a:lnTo>
                <a:cubicBezTo>
                  <a:pt x="133276" y="142875"/>
                  <a:pt x="142875" y="152474"/>
                  <a:pt x="142875" y="164306"/>
                </a:cubicBezTo>
                <a:lnTo>
                  <a:pt x="142875" y="207169"/>
                </a:lnTo>
                <a:lnTo>
                  <a:pt x="85725" y="207169"/>
                </a:lnTo>
                <a:lnTo>
                  <a:pt x="85725" y="164306"/>
                </a:lnTo>
                <a:cubicBezTo>
                  <a:pt x="85725" y="152474"/>
                  <a:pt x="95324" y="142875"/>
                  <a:pt x="107156" y="142875"/>
                </a:cubicBezTo>
                <a:close/>
              </a:path>
            </a:pathLst>
          </a:custGeom>
          <a:solidFill>
            <a:srgbClr val="ddff00"/>
          </a:solidFill>
          <a:ln w="0">
            <a:noFill/>
          </a:ln>
        </p:spPr>
        <p:style>
          <a:lnRef idx="0"/>
          <a:fillRef idx="0"/>
          <a:effectRef idx="0"/>
          <a:fontRef idx="minor"/>
        </p:style>
      </p:sp>
      <p:sp>
        <p:nvSpPr>
          <p:cNvPr id="120" name="Text 15"/>
          <p:cNvSpPr/>
          <p:nvPr/>
        </p:nvSpPr>
        <p:spPr>
          <a:xfrm>
            <a:off x="933480" y="5315040"/>
            <a:ext cx="628524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ddff00"/>
                </a:solidFill>
                <a:latin typeface="Liter"/>
                <a:ea typeface="Liter"/>
              </a:rPr>
              <a:t>Country &amp; Folk Traditions</a:t>
            </a:r>
            <a:endParaRPr b="0" lang="en-HK" sz="1800" spc="-1" strike="noStrike">
              <a:latin typeface="Arial"/>
            </a:endParaRPr>
          </a:p>
        </p:txBody>
      </p:sp>
      <p:sp>
        <p:nvSpPr>
          <p:cNvPr id="121" name="Text 16"/>
          <p:cNvSpPr/>
          <p:nvPr/>
        </p:nvSpPr>
        <p:spPr>
          <a:xfrm>
            <a:off x="647640" y="5734080"/>
            <a:ext cx="653256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ffffff"/>
                </a:solidFill>
                <a:latin typeface="Liter"/>
                <a:ea typeface="Liter"/>
              </a:rPr>
              <a:t>Country music, originating in the 1920s Southern U.S.</a:t>
            </a:r>
            <a:r>
              <a:rPr b="0" lang="en-US" sz="1200" spc="-1" strike="noStrike">
                <a:solidFill>
                  <a:srgbClr val="ffffff"/>
                </a:solidFill>
                <a:latin typeface="Liter"/>
                <a:ea typeface="Liter"/>
              </a:rPr>
              <a:t> , brought storytelling lyrics and simple melodies to the rock equation. The twang of the guitar and narrative songwriting style would merge with blues intensity to create rockabilly and early rock 'n' roll.</a:t>
            </a:r>
            <a:endParaRPr b="0" lang="en-HK" sz="1200" spc="-1" strike="noStrike">
              <a:latin typeface="Arial"/>
            </a:endParaRPr>
          </a:p>
        </p:txBody>
      </p:sp>
      <p:sp>
        <p:nvSpPr>
          <p:cNvPr id="122" name="Shape 17"/>
          <p:cNvSpPr/>
          <p:nvPr/>
        </p:nvSpPr>
        <p:spPr>
          <a:xfrm>
            <a:off x="7340400" y="1266840"/>
            <a:ext cx="4456080" cy="3541320"/>
          </a:xfrm>
          <a:custGeom>
            <a:avLst/>
            <a:gdLst/>
            <a:ahLst/>
            <a:rect l="l" t="t" r="r" b="b"/>
            <a:pathLst>
              <a:path w="4457700" h="3543300">
                <a:moveTo>
                  <a:pt x="0" y="0"/>
                </a:moveTo>
                <a:lnTo>
                  <a:pt x="4457700" y="0"/>
                </a:lnTo>
                <a:lnTo>
                  <a:pt x="4457700" y="3543300"/>
                </a:lnTo>
                <a:lnTo>
                  <a:pt x="0" y="3543300"/>
                </a:lnTo>
                <a:lnTo>
                  <a:pt x="0" y="0"/>
                </a:lnTo>
                <a:close/>
              </a:path>
            </a:pathLst>
          </a:custGeom>
          <a:noFill/>
          <a:ln w="25400">
            <a:solidFill>
              <a:srgbClr val="ddff00"/>
            </a:solidFill>
            <a:round/>
          </a:ln>
        </p:spPr>
        <p:style>
          <a:lnRef idx="0"/>
          <a:fillRef idx="0"/>
          <a:effectRef idx="0"/>
          <a:fontRef idx="minor"/>
        </p:style>
      </p:sp>
      <p:sp>
        <p:nvSpPr>
          <p:cNvPr id="123" name="Shape 18"/>
          <p:cNvSpPr/>
          <p:nvPr/>
        </p:nvSpPr>
        <p:spPr>
          <a:xfrm>
            <a:off x="9342720" y="1732320"/>
            <a:ext cx="455040" cy="455040"/>
          </a:xfrm>
          <a:custGeom>
            <a:avLst/>
            <a:gdLst/>
            <a:ahLst/>
            <a:rect l="l" t="t" r="r" b="b"/>
            <a:pathLst>
              <a:path w="457200" h="457200">
                <a:moveTo>
                  <a:pt x="58847" y="204043"/>
                </a:moveTo>
                <a:cubicBezTo>
                  <a:pt x="70723" y="120997"/>
                  <a:pt x="142250" y="57150"/>
                  <a:pt x="228600" y="57150"/>
                </a:cubicBezTo>
                <a:cubicBezTo>
                  <a:pt x="275927" y="57150"/>
                  <a:pt x="318790" y="76349"/>
                  <a:pt x="349865" y="107335"/>
                </a:cubicBezTo>
                <a:cubicBezTo>
                  <a:pt x="350044" y="107513"/>
                  <a:pt x="350222" y="107692"/>
                  <a:pt x="350401" y="107871"/>
                </a:cubicBezTo>
                <a:lnTo>
                  <a:pt x="357188" y="114300"/>
                </a:lnTo>
                <a:lnTo>
                  <a:pt x="314414" y="114300"/>
                </a:lnTo>
                <a:cubicBezTo>
                  <a:pt x="298609" y="114300"/>
                  <a:pt x="285839" y="127069"/>
                  <a:pt x="285839" y="142875"/>
                </a:cubicBezTo>
                <a:cubicBezTo>
                  <a:pt x="285839" y="158681"/>
                  <a:pt x="298609" y="171450"/>
                  <a:pt x="314414" y="171450"/>
                </a:cubicBezTo>
                <a:lnTo>
                  <a:pt x="428714" y="171450"/>
                </a:lnTo>
                <a:cubicBezTo>
                  <a:pt x="444520" y="171450"/>
                  <a:pt x="457289" y="158681"/>
                  <a:pt x="457289" y="142875"/>
                </a:cubicBezTo>
                <a:lnTo>
                  <a:pt x="457289" y="28575"/>
                </a:lnTo>
                <a:cubicBezTo>
                  <a:pt x="457289" y="12769"/>
                  <a:pt x="444520" y="0"/>
                  <a:pt x="428714" y="0"/>
                </a:cubicBezTo>
                <a:cubicBezTo>
                  <a:pt x="412909" y="0"/>
                  <a:pt x="400139" y="12769"/>
                  <a:pt x="400139" y="28575"/>
                </a:cubicBezTo>
                <a:lnTo>
                  <a:pt x="400139" y="76260"/>
                </a:lnTo>
                <a:lnTo>
                  <a:pt x="390049" y="66705"/>
                </a:lnTo>
                <a:cubicBezTo>
                  <a:pt x="348704" y="25539"/>
                  <a:pt x="291554" y="0"/>
                  <a:pt x="228600" y="0"/>
                </a:cubicBezTo>
                <a:cubicBezTo>
                  <a:pt x="113407" y="0"/>
                  <a:pt x="18127" y="85189"/>
                  <a:pt x="2322" y="196007"/>
                </a:cubicBezTo>
                <a:cubicBezTo>
                  <a:pt x="89" y="211634"/>
                  <a:pt x="10894" y="226100"/>
                  <a:pt x="26521" y="228332"/>
                </a:cubicBezTo>
                <a:cubicBezTo>
                  <a:pt x="42148" y="230565"/>
                  <a:pt x="56614" y="219670"/>
                  <a:pt x="58847" y="204133"/>
                </a:cubicBezTo>
                <a:close/>
                <a:moveTo>
                  <a:pt x="454878" y="261193"/>
                </a:moveTo>
                <a:cubicBezTo>
                  <a:pt x="457111" y="245566"/>
                  <a:pt x="446216" y="231100"/>
                  <a:pt x="430679" y="228868"/>
                </a:cubicBezTo>
                <a:cubicBezTo>
                  <a:pt x="415141" y="226635"/>
                  <a:pt x="400586" y="237530"/>
                  <a:pt x="398353" y="253067"/>
                </a:cubicBezTo>
                <a:cubicBezTo>
                  <a:pt x="386477" y="336113"/>
                  <a:pt x="314950" y="399961"/>
                  <a:pt x="228600" y="399961"/>
                </a:cubicBezTo>
                <a:cubicBezTo>
                  <a:pt x="181273" y="399961"/>
                  <a:pt x="138410" y="380762"/>
                  <a:pt x="107335" y="349776"/>
                </a:cubicBezTo>
                <a:cubicBezTo>
                  <a:pt x="107156" y="349597"/>
                  <a:pt x="106978" y="349419"/>
                  <a:pt x="106799" y="349240"/>
                </a:cubicBezTo>
                <a:lnTo>
                  <a:pt x="100012" y="342811"/>
                </a:lnTo>
                <a:lnTo>
                  <a:pt x="142786" y="342811"/>
                </a:lnTo>
                <a:cubicBezTo>
                  <a:pt x="158591" y="342811"/>
                  <a:pt x="171361" y="330041"/>
                  <a:pt x="171361" y="314236"/>
                </a:cubicBezTo>
                <a:cubicBezTo>
                  <a:pt x="171361" y="298430"/>
                  <a:pt x="158591" y="285661"/>
                  <a:pt x="142786" y="285661"/>
                </a:cubicBezTo>
                <a:lnTo>
                  <a:pt x="28575" y="285750"/>
                </a:lnTo>
                <a:cubicBezTo>
                  <a:pt x="20985" y="285750"/>
                  <a:pt x="13662" y="288786"/>
                  <a:pt x="8305" y="294233"/>
                </a:cubicBezTo>
                <a:cubicBezTo>
                  <a:pt x="2947" y="299680"/>
                  <a:pt x="-89" y="306913"/>
                  <a:pt x="0" y="314593"/>
                </a:cubicBezTo>
                <a:lnTo>
                  <a:pt x="893" y="428000"/>
                </a:lnTo>
                <a:cubicBezTo>
                  <a:pt x="982" y="443805"/>
                  <a:pt x="13930" y="456486"/>
                  <a:pt x="29736" y="456307"/>
                </a:cubicBezTo>
                <a:cubicBezTo>
                  <a:pt x="45541" y="456128"/>
                  <a:pt x="58222" y="443270"/>
                  <a:pt x="58043" y="427464"/>
                </a:cubicBezTo>
                <a:lnTo>
                  <a:pt x="57686" y="381476"/>
                </a:lnTo>
                <a:lnTo>
                  <a:pt x="67241" y="390495"/>
                </a:lnTo>
                <a:cubicBezTo>
                  <a:pt x="108585" y="431661"/>
                  <a:pt x="165646" y="457200"/>
                  <a:pt x="228600" y="457200"/>
                </a:cubicBezTo>
                <a:cubicBezTo>
                  <a:pt x="343793" y="457200"/>
                  <a:pt x="439073" y="372011"/>
                  <a:pt x="454878" y="261193"/>
                </a:cubicBezTo>
                <a:close/>
              </a:path>
            </a:pathLst>
          </a:custGeom>
          <a:solidFill>
            <a:srgbClr val="ddff00"/>
          </a:solidFill>
          <a:ln w="0">
            <a:noFill/>
          </a:ln>
        </p:spPr>
        <p:style>
          <a:lnRef idx="0"/>
          <a:fillRef idx="0"/>
          <a:effectRef idx="0"/>
          <a:fontRef idx="minor"/>
        </p:style>
      </p:sp>
      <p:sp>
        <p:nvSpPr>
          <p:cNvPr id="124" name="Text 19"/>
          <p:cNvSpPr/>
          <p:nvPr/>
        </p:nvSpPr>
        <p:spPr>
          <a:xfrm>
            <a:off x="7521480" y="2341800"/>
            <a:ext cx="4093920" cy="30276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800" spc="-1" strike="noStrike">
                <a:solidFill>
                  <a:srgbClr val="ffffff"/>
                </a:solidFill>
                <a:latin typeface="Liter"/>
                <a:ea typeface="Liter"/>
              </a:rPr>
              <a:t>The Perfect Storm</a:t>
            </a:r>
            <a:endParaRPr b="0" lang="en-HK" sz="1800" spc="-1" strike="noStrike">
              <a:latin typeface="Arial"/>
            </a:endParaRPr>
          </a:p>
        </p:txBody>
      </p:sp>
      <p:sp>
        <p:nvSpPr>
          <p:cNvPr id="125" name="Text 20"/>
          <p:cNvSpPr/>
          <p:nvPr/>
        </p:nvSpPr>
        <p:spPr>
          <a:xfrm>
            <a:off x="7535520" y="2951640"/>
            <a:ext cx="4065480" cy="13885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350" spc="-1" strike="noStrike">
                <a:solidFill>
                  <a:srgbClr val="ffffff"/>
                </a:solidFill>
                <a:latin typeface="Liter"/>
                <a:ea typeface="Liter"/>
              </a:rPr>
              <a:t>Post-war America created the cultural conditions for these diverse musical traditions to merge. </a:t>
            </a:r>
            <a:r>
              <a:rPr b="1" lang="en-US" sz="1350" spc="-1" strike="noStrike">
                <a:solidFill>
                  <a:srgbClr val="ffffff"/>
                </a:solidFill>
                <a:latin typeface="Liter"/>
                <a:ea typeface="Liter"/>
              </a:rPr>
              <a:t>The migration of African Americans to Northern cities</a:t>
            </a:r>
            <a:r>
              <a:rPr b="0" lang="en-US" sz="1350" spc="-1" strike="noStrike">
                <a:solidFill>
                  <a:srgbClr val="ffffff"/>
                </a:solidFill>
                <a:latin typeface="Liter"/>
                <a:ea typeface="Liter"/>
              </a:rPr>
              <a:t> brought blues and gospel to new audiences, while radio and records allowed cross-cultural pollination.</a:t>
            </a:r>
            <a:endParaRPr b="0" lang="en-HK" sz="1350" spc="-1" strike="noStrike">
              <a:latin typeface="Arial"/>
            </a:endParaRPr>
          </a:p>
        </p:txBody>
      </p:sp>
      <p:sp>
        <p:nvSpPr>
          <p:cNvPr id="126" name="Shape 21"/>
          <p:cNvSpPr/>
          <p:nvPr/>
        </p:nvSpPr>
        <p:spPr>
          <a:xfrm>
            <a:off x="7330680" y="4971960"/>
            <a:ext cx="4474800" cy="1502640"/>
          </a:xfrm>
          <a:custGeom>
            <a:avLst/>
            <a:gdLst/>
            <a:ahLst/>
            <a:rect l="l" t="t" r="r" b="b"/>
            <a:pathLst>
              <a:path w="4476750" h="1504950">
                <a:moveTo>
                  <a:pt x="0" y="0"/>
                </a:moveTo>
                <a:lnTo>
                  <a:pt x="4476750" y="0"/>
                </a:lnTo>
                <a:lnTo>
                  <a:pt x="4476750" y="1504950"/>
                </a:lnTo>
                <a:lnTo>
                  <a:pt x="0" y="1504950"/>
                </a:lnTo>
                <a:lnTo>
                  <a:pt x="0" y="0"/>
                </a:lnTo>
                <a:close/>
              </a:path>
            </a:pathLst>
          </a:custGeom>
          <a:solidFill>
            <a:srgbClr val="ddff00"/>
          </a:solidFill>
          <a:ln w="0">
            <a:noFill/>
          </a:ln>
        </p:spPr>
        <p:style>
          <a:lnRef idx="0"/>
          <a:fillRef idx="0"/>
          <a:effectRef idx="0"/>
          <a:fontRef idx="minor"/>
        </p:style>
      </p:sp>
      <p:sp>
        <p:nvSpPr>
          <p:cNvPr id="127" name="Text 22"/>
          <p:cNvSpPr/>
          <p:nvPr/>
        </p:nvSpPr>
        <p:spPr>
          <a:xfrm>
            <a:off x="7521480" y="5162400"/>
            <a:ext cx="4189320" cy="264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000000"/>
                </a:solidFill>
                <a:latin typeface="Liter"/>
                <a:ea typeface="Liter"/>
              </a:rPr>
              <a:t>Key Innovation</a:t>
            </a:r>
            <a:endParaRPr b="0" lang="en-HK" sz="1500" spc="-1" strike="noStrike">
              <a:latin typeface="Arial"/>
            </a:endParaRPr>
          </a:p>
        </p:txBody>
      </p:sp>
      <p:sp>
        <p:nvSpPr>
          <p:cNvPr id="128" name="Text 23"/>
          <p:cNvSpPr/>
          <p:nvPr/>
        </p:nvSpPr>
        <p:spPr>
          <a:xfrm>
            <a:off x="7521480" y="5543640"/>
            <a:ext cx="4170240" cy="740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200" spc="-1" strike="noStrike">
                <a:solidFill>
                  <a:srgbClr val="000000"/>
                </a:solidFill>
                <a:latin typeface="Liter"/>
                <a:ea typeface="Liter"/>
              </a:rPr>
              <a:t>The electric guitar</a:t>
            </a:r>
            <a:r>
              <a:rPr b="0" lang="en-US" sz="1200" spc="-1" strike="noStrike">
                <a:solidFill>
                  <a:srgbClr val="000000"/>
                </a:solidFill>
                <a:latin typeface="Liter"/>
                <a:ea typeface="Liter"/>
              </a:rPr>
              <a:t> replaced the saxophone as the central soloing instrument, thanks to pioneers like </a:t>
            </a:r>
            <a:r>
              <a:rPr b="1" lang="en-US" sz="1200" spc="-1" strike="noStrike">
                <a:solidFill>
                  <a:srgbClr val="000000"/>
                </a:solidFill>
                <a:latin typeface="Liter"/>
                <a:ea typeface="Liter"/>
              </a:rPr>
              <a:t>Chuck Berry</a:t>
            </a:r>
            <a:r>
              <a:rPr b="0" lang="en-US" sz="1200" spc="-1" strike="noStrike">
                <a:solidFill>
                  <a:srgbClr val="000000"/>
                </a:solidFill>
                <a:latin typeface="Liter"/>
                <a:ea typeface="Liter"/>
              </a:rPr>
              <a:t> and </a:t>
            </a:r>
            <a:r>
              <a:rPr b="1" lang="en-US" sz="1200" spc="-1" strike="noStrike">
                <a:solidFill>
                  <a:srgbClr val="000000"/>
                </a:solidFill>
                <a:latin typeface="Liter"/>
                <a:ea typeface="Liter"/>
              </a:rPr>
              <a:t>Bo Diddley</a:t>
            </a:r>
            <a:r>
              <a:rPr b="0" lang="en-US" sz="1200" spc="-1" strike="noStrike">
                <a:solidFill>
                  <a:srgbClr val="000000"/>
                </a:solidFill>
                <a:latin typeface="Liter"/>
                <a:ea typeface="Liter"/>
              </a:rPr>
              <a:t> in the mid-1950s.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808080"/>
        </a:solidFill>
      </p:bgPr>
    </p:bg>
    <p:spTree>
      <p:nvGrpSpPr>
        <p:cNvPr id="1" name=""/>
        <p:cNvGrpSpPr/>
        <p:nvPr/>
      </p:nvGrpSpPr>
      <p:grpSpPr>
        <a:xfrm>
          <a:off x="0" y="0"/>
          <a:ext cx="0" cy="0"/>
          <a:chOff x="0" y="0"/>
          <a:chExt cx="0" cy="0"/>
        </a:xfrm>
      </p:grpSpPr>
      <p:sp>
        <p:nvSpPr>
          <p:cNvPr id="129"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130" name="Text 1"/>
          <p:cNvSpPr/>
          <p:nvPr/>
        </p:nvSpPr>
        <p:spPr>
          <a:xfrm>
            <a:off x="507960" y="317520"/>
            <a:ext cx="5292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01</a:t>
            </a:r>
            <a:endParaRPr b="0" lang="en-HK" sz="880" spc="-1" strike="noStrike">
              <a:latin typeface="Arial"/>
            </a:endParaRPr>
          </a:p>
        </p:txBody>
      </p:sp>
      <p:sp>
        <p:nvSpPr>
          <p:cNvPr id="131" name="Text 2"/>
          <p:cNvSpPr/>
          <p:nvPr/>
        </p:nvSpPr>
        <p:spPr>
          <a:xfrm>
            <a:off x="507960" y="476280"/>
            <a:ext cx="537984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Rock 'n' Roll Is Born: The 1950s Revolution</a:t>
            </a:r>
            <a:endParaRPr b="0" lang="en-HK" sz="2250" spc="-1" strike="noStrike">
              <a:latin typeface="Arial"/>
            </a:endParaRPr>
          </a:p>
        </p:txBody>
      </p:sp>
      <p:sp>
        <p:nvSpPr>
          <p:cNvPr id="132" name="Shape 3"/>
          <p:cNvSpPr/>
          <p:nvPr/>
        </p:nvSpPr>
        <p:spPr>
          <a:xfrm>
            <a:off x="317520" y="1047600"/>
            <a:ext cx="454644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133" name="Text 4"/>
          <p:cNvSpPr/>
          <p:nvPr/>
        </p:nvSpPr>
        <p:spPr>
          <a:xfrm>
            <a:off x="507960" y="1238400"/>
            <a:ext cx="4260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Birth of a Genre</a:t>
            </a:r>
            <a:endParaRPr b="0" lang="en-HK" sz="1500" spc="-1" strike="noStrike">
              <a:latin typeface="Arial"/>
            </a:endParaRPr>
          </a:p>
        </p:txBody>
      </p:sp>
      <p:sp>
        <p:nvSpPr>
          <p:cNvPr id="134" name="Text 5"/>
          <p:cNvSpPr/>
          <p:nvPr/>
        </p:nvSpPr>
        <p:spPr>
          <a:xfrm>
            <a:off x="507960" y="1587600"/>
            <a:ext cx="4228920" cy="1029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Rock music emerged in the mid-1950s</a:t>
            </a:r>
            <a:r>
              <a:rPr b="0" lang="en-US" sz="1000" spc="-1" strike="noStrike">
                <a:solidFill>
                  <a:srgbClr val="000000"/>
                </a:solidFill>
                <a:latin typeface="Liter"/>
                <a:ea typeface="Liter"/>
              </a:rPr>
              <a:t>, characterized by hard-edged music performed with electric guitars, bass, and drums, accompanied by lyrics sung by a vocalist. This new sound was aided by electric guitars and a steady drumbeat, creating an aggressive attack that suggested sexual freedom in a conservative age.</a:t>
            </a:r>
            <a:endParaRPr b="0" lang="en-HK" sz="1000" spc="-1" strike="noStrike">
              <a:latin typeface="Arial"/>
            </a:endParaRPr>
          </a:p>
        </p:txBody>
      </p:sp>
      <p:sp>
        <p:nvSpPr>
          <p:cNvPr id="135" name="Text 6"/>
          <p:cNvSpPr/>
          <p:nvPr/>
        </p:nvSpPr>
        <p:spPr>
          <a:xfrm>
            <a:off x="507960" y="2714760"/>
            <a:ext cx="422892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Unlike the safe pop music of the era, rock's raw energy and rebellious spirit captured the imagination of teenagers seeking something authentic and exciting.</a:t>
            </a:r>
            <a:endParaRPr b="0" lang="en-HK" sz="1000" spc="-1" strike="noStrike">
              <a:latin typeface="Arial"/>
            </a:endParaRPr>
          </a:p>
        </p:txBody>
      </p:sp>
      <p:sp>
        <p:nvSpPr>
          <p:cNvPr id="136" name="Shape 7"/>
          <p:cNvSpPr/>
          <p:nvPr/>
        </p:nvSpPr>
        <p:spPr>
          <a:xfrm>
            <a:off x="325440" y="3659040"/>
            <a:ext cx="4530600" cy="4196880"/>
          </a:xfrm>
          <a:custGeom>
            <a:avLst/>
            <a:gdLst/>
            <a:ahLst/>
            <a:rect l="l" t="t" r="r" b="b"/>
            <a:pathLst>
              <a:path w="4532313" h="4198938">
                <a:moveTo>
                  <a:pt x="0" y="0"/>
                </a:moveTo>
                <a:lnTo>
                  <a:pt x="4532313" y="0"/>
                </a:lnTo>
                <a:lnTo>
                  <a:pt x="4532313" y="4198938"/>
                </a:lnTo>
                <a:lnTo>
                  <a:pt x="0" y="4198938"/>
                </a:lnTo>
                <a:lnTo>
                  <a:pt x="0" y="0"/>
                </a:lnTo>
                <a:close/>
              </a:path>
            </a:pathLst>
          </a:custGeom>
          <a:noFill/>
          <a:ln w="25400">
            <a:solidFill>
              <a:srgbClr val="ddff00"/>
            </a:solidFill>
            <a:round/>
          </a:ln>
        </p:spPr>
        <p:style>
          <a:lnRef idx="0"/>
          <a:fillRef idx="0"/>
          <a:effectRef idx="0"/>
          <a:fontRef idx="minor"/>
        </p:style>
      </p:sp>
      <p:sp>
        <p:nvSpPr>
          <p:cNvPr id="137" name="Text 8"/>
          <p:cNvSpPr/>
          <p:nvPr/>
        </p:nvSpPr>
        <p:spPr>
          <a:xfrm>
            <a:off x="492120" y="3825720"/>
            <a:ext cx="42764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Pioneering Artists</a:t>
            </a:r>
            <a:endParaRPr b="0" lang="en-HK" sz="1250" spc="-1" strike="noStrike">
              <a:latin typeface="Arial"/>
            </a:endParaRPr>
          </a:p>
        </p:txBody>
      </p:sp>
      <p:sp>
        <p:nvSpPr>
          <p:cNvPr id="138" name="Shape 9"/>
          <p:cNvSpPr/>
          <p:nvPr/>
        </p:nvSpPr>
        <p:spPr>
          <a:xfrm>
            <a:off x="492120" y="41752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39" name="Shape 10"/>
          <p:cNvSpPr/>
          <p:nvPr/>
        </p:nvSpPr>
        <p:spPr>
          <a:xfrm>
            <a:off x="579600" y="427032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0" name="Text 11"/>
          <p:cNvSpPr/>
          <p:nvPr/>
        </p:nvSpPr>
        <p:spPr>
          <a:xfrm>
            <a:off x="905040" y="4175280"/>
            <a:ext cx="38559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a:t>
            </a:r>
            <a:endParaRPr b="0" lang="en-HK" sz="1130" spc="-1" strike="noStrike">
              <a:latin typeface="Arial"/>
            </a:endParaRPr>
          </a:p>
        </p:txBody>
      </p:sp>
      <p:sp>
        <p:nvSpPr>
          <p:cNvPr id="141" name="Text 12"/>
          <p:cNvSpPr/>
          <p:nvPr/>
        </p:nvSpPr>
        <p:spPr>
          <a:xfrm>
            <a:off x="905040" y="4397400"/>
            <a:ext cx="384804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King of Rock 'n' Roll, blending country, blues, and gospel into an irresistible sound</a:t>
            </a:r>
            <a:endParaRPr b="0" lang="en-HK" sz="1000" spc="-1" strike="noStrike">
              <a:latin typeface="Arial"/>
            </a:endParaRPr>
          </a:p>
        </p:txBody>
      </p:sp>
      <p:sp>
        <p:nvSpPr>
          <p:cNvPr id="142" name="Shape 13"/>
          <p:cNvSpPr/>
          <p:nvPr/>
        </p:nvSpPr>
        <p:spPr>
          <a:xfrm>
            <a:off x="492120" y="48736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3" name="Shape 14"/>
          <p:cNvSpPr/>
          <p:nvPr/>
        </p:nvSpPr>
        <p:spPr>
          <a:xfrm>
            <a:off x="579600" y="496872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4" name="Text 15"/>
          <p:cNvSpPr/>
          <p:nvPr/>
        </p:nvSpPr>
        <p:spPr>
          <a:xfrm>
            <a:off x="905040" y="4873680"/>
            <a:ext cx="38559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Chuck Berry</a:t>
            </a:r>
            <a:endParaRPr b="0" lang="en-HK" sz="1130" spc="-1" strike="noStrike">
              <a:latin typeface="Arial"/>
            </a:endParaRPr>
          </a:p>
        </p:txBody>
      </p:sp>
      <p:sp>
        <p:nvSpPr>
          <p:cNvPr id="145" name="Text 16"/>
          <p:cNvSpPr/>
          <p:nvPr/>
        </p:nvSpPr>
        <p:spPr>
          <a:xfrm>
            <a:off x="905040" y="5095800"/>
            <a:ext cx="384804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Leaned heavily on classic blues structures while demonstrating natural-born showmanship</a:t>
            </a:r>
            <a:endParaRPr b="0" lang="en-HK" sz="1000" spc="-1" strike="noStrike">
              <a:latin typeface="Arial"/>
            </a:endParaRPr>
          </a:p>
        </p:txBody>
      </p:sp>
      <p:sp>
        <p:nvSpPr>
          <p:cNvPr id="146" name="Shape 17"/>
          <p:cNvSpPr/>
          <p:nvPr/>
        </p:nvSpPr>
        <p:spPr>
          <a:xfrm>
            <a:off x="492120" y="557208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47" name="Shape 18"/>
          <p:cNvSpPr/>
          <p:nvPr/>
        </p:nvSpPr>
        <p:spPr>
          <a:xfrm>
            <a:off x="579600" y="566748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48" name="Text 19"/>
          <p:cNvSpPr/>
          <p:nvPr/>
        </p:nvSpPr>
        <p:spPr>
          <a:xfrm>
            <a:off x="905040" y="5572080"/>
            <a:ext cx="38239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Little Richard</a:t>
            </a:r>
            <a:endParaRPr b="0" lang="en-HK" sz="1130" spc="-1" strike="noStrike">
              <a:latin typeface="Arial"/>
            </a:endParaRPr>
          </a:p>
        </p:txBody>
      </p:sp>
      <p:sp>
        <p:nvSpPr>
          <p:cNvPr id="149" name="Text 20"/>
          <p:cNvSpPr/>
          <p:nvPr/>
        </p:nvSpPr>
        <p:spPr>
          <a:xfrm>
            <a:off x="905040" y="5794200"/>
            <a:ext cx="38160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Brought ecstatic, gospel-influenced vocals and piano-driven energy</a:t>
            </a:r>
            <a:endParaRPr b="0" lang="en-HK" sz="1000" spc="-1" strike="noStrike">
              <a:latin typeface="Arial"/>
            </a:endParaRPr>
          </a:p>
        </p:txBody>
      </p:sp>
      <p:sp>
        <p:nvSpPr>
          <p:cNvPr id="150" name="Shape 21"/>
          <p:cNvSpPr/>
          <p:nvPr/>
        </p:nvSpPr>
        <p:spPr>
          <a:xfrm>
            <a:off x="492120" y="6080040"/>
            <a:ext cx="315360" cy="315360"/>
          </a:xfrm>
          <a:custGeom>
            <a:avLst/>
            <a:gdLst/>
            <a:ahLst/>
            <a:rect l="l" t="t" r="r" b="b"/>
            <a:pathLst>
              <a:path w="317500" h="317500">
                <a:moveTo>
                  <a:pt x="0" y="0"/>
                </a:moveTo>
                <a:lnTo>
                  <a:pt x="317500" y="0"/>
                </a:lnTo>
                <a:lnTo>
                  <a:pt x="317500" y="317500"/>
                </a:lnTo>
                <a:lnTo>
                  <a:pt x="0" y="317500"/>
                </a:lnTo>
                <a:lnTo>
                  <a:pt x="0" y="0"/>
                </a:lnTo>
                <a:close/>
              </a:path>
            </a:pathLst>
          </a:custGeom>
          <a:solidFill>
            <a:srgbClr val="ddff00"/>
          </a:solidFill>
          <a:ln w="0">
            <a:noFill/>
          </a:ln>
        </p:spPr>
        <p:style>
          <a:lnRef idx="0"/>
          <a:fillRef idx="0"/>
          <a:effectRef idx="0"/>
          <a:fontRef idx="minor"/>
        </p:style>
      </p:sp>
      <p:sp>
        <p:nvSpPr>
          <p:cNvPr id="151" name="Shape 22"/>
          <p:cNvSpPr/>
          <p:nvPr/>
        </p:nvSpPr>
        <p:spPr>
          <a:xfrm>
            <a:off x="579600" y="6175440"/>
            <a:ext cx="140760" cy="124920"/>
          </a:xfrm>
          <a:custGeom>
            <a:avLst/>
            <a:gdLst/>
            <a:ah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0000"/>
          </a:solidFill>
          <a:ln w="0">
            <a:noFill/>
          </a:ln>
        </p:spPr>
        <p:style>
          <a:lnRef idx="0"/>
          <a:fillRef idx="0"/>
          <a:effectRef idx="0"/>
          <a:fontRef idx="minor"/>
        </p:style>
      </p:sp>
      <p:sp>
        <p:nvSpPr>
          <p:cNvPr id="152" name="Text 23"/>
          <p:cNvSpPr/>
          <p:nvPr/>
        </p:nvSpPr>
        <p:spPr>
          <a:xfrm>
            <a:off x="905040" y="6080040"/>
            <a:ext cx="38559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Buddy Holly</a:t>
            </a:r>
            <a:endParaRPr b="0" lang="en-HK" sz="1130" spc="-1" strike="noStrike">
              <a:latin typeface="Arial"/>
            </a:endParaRPr>
          </a:p>
        </p:txBody>
      </p:sp>
      <p:sp>
        <p:nvSpPr>
          <p:cNvPr id="153" name="Text 24"/>
          <p:cNvSpPr/>
          <p:nvPr/>
        </p:nvSpPr>
        <p:spPr>
          <a:xfrm>
            <a:off x="905040" y="6302520"/>
            <a:ext cx="384804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Pioneered the standard rock band lineup with guitar, bass, and drums</a:t>
            </a:r>
            <a:endParaRPr b="0" lang="en-HK" sz="1000" spc="-1" strike="noStrike">
              <a:latin typeface="Arial"/>
            </a:endParaRPr>
          </a:p>
        </p:txBody>
      </p:sp>
      <p:sp>
        <p:nvSpPr>
          <p:cNvPr id="154" name="Image 0"/>
          <p:cNvSpPr/>
          <p:nvPr/>
        </p:nvSpPr>
        <p:spPr>
          <a:xfrm>
            <a:off x="5054760" y="1047600"/>
            <a:ext cx="6816960" cy="4720680"/>
          </a:xfrm>
          <a:prstGeom prst="roundRect">
            <a:avLst>
              <a:gd name="adj" fmla="val 0"/>
            </a:avLst>
          </a:prstGeom>
          <a:blipFill rotWithShape="0">
            <a:blip r:embed="rId1"/>
            <a:srcRect/>
            <a:stretch/>
          </a:blipFill>
          <a:ln w="0">
            <a:noFill/>
          </a:ln>
        </p:spPr>
        <p:style>
          <a:lnRef idx="0"/>
          <a:fillRef idx="0"/>
          <a:effectRef idx="0"/>
          <a:fontRef idx="minor"/>
        </p:style>
      </p:sp>
      <p:sp>
        <p:nvSpPr>
          <p:cNvPr id="155" name="Shape 25"/>
          <p:cNvSpPr/>
          <p:nvPr/>
        </p:nvSpPr>
        <p:spPr>
          <a:xfrm>
            <a:off x="5054760" y="1047600"/>
            <a:ext cx="6816960" cy="4720680"/>
          </a:xfrm>
          <a:custGeom>
            <a:avLst/>
            <a:gdLst/>
            <a:ahLst/>
            <a:rect l="l" t="t" r="r" b="b"/>
            <a:pathLst>
              <a:path w="6818313" h="4722813">
                <a:moveTo>
                  <a:pt x="0" y="0"/>
                </a:moveTo>
                <a:lnTo>
                  <a:pt x="6818313" y="0"/>
                </a:lnTo>
                <a:lnTo>
                  <a:pt x="6818313" y="4722813"/>
                </a:lnTo>
                <a:lnTo>
                  <a:pt x="0" y="4722813"/>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156" name="Text 26"/>
          <p:cNvSpPr/>
          <p:nvPr/>
        </p:nvSpPr>
        <p:spPr>
          <a:xfrm>
            <a:off x="5181840" y="5228640"/>
            <a:ext cx="6618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ddff00"/>
                </a:solidFill>
                <a:latin typeface="Liter"/>
                <a:ea typeface="Liter"/>
              </a:rPr>
              <a:t>1950s PERFORMANCE</a:t>
            </a:r>
            <a:endParaRPr b="0" lang="en-HK" sz="880" spc="-1" strike="noStrike">
              <a:latin typeface="Arial"/>
            </a:endParaRPr>
          </a:p>
        </p:txBody>
      </p:sp>
      <p:sp>
        <p:nvSpPr>
          <p:cNvPr id="157" name="Text 27"/>
          <p:cNvSpPr/>
          <p:nvPr/>
        </p:nvSpPr>
        <p:spPr>
          <a:xfrm>
            <a:off x="5181840" y="5419080"/>
            <a:ext cx="66344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Elvis Presley on Stage</a:t>
            </a:r>
            <a:endParaRPr b="0" lang="en-HK" sz="1130" spc="-1" strike="noStrike">
              <a:latin typeface="Arial"/>
            </a:endParaRPr>
          </a:p>
        </p:txBody>
      </p:sp>
      <p:sp>
        <p:nvSpPr>
          <p:cNvPr id="158" name="Shape 28"/>
          <p:cNvSpPr/>
          <p:nvPr/>
        </p:nvSpPr>
        <p:spPr>
          <a:xfrm>
            <a:off x="5059080" y="5899320"/>
            <a:ext cx="2196720" cy="9266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59" name="Text 29"/>
          <p:cNvSpPr/>
          <p:nvPr/>
        </p:nvSpPr>
        <p:spPr>
          <a:xfrm>
            <a:off x="5118480" y="6030360"/>
            <a:ext cx="2077920" cy="3153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1954</a:t>
            </a:r>
            <a:endParaRPr b="0" lang="en-HK" sz="2250" spc="-1" strike="noStrike">
              <a:latin typeface="Arial"/>
            </a:endParaRPr>
          </a:p>
        </p:txBody>
      </p:sp>
      <p:sp>
        <p:nvSpPr>
          <p:cNvPr id="160" name="Text 30"/>
          <p:cNvSpPr/>
          <p:nvPr/>
        </p:nvSpPr>
        <p:spPr>
          <a:xfrm>
            <a:off x="5162040" y="6379560"/>
            <a:ext cx="1990080" cy="315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"That's All Right"</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Elvis's debut</a:t>
            </a:r>
            <a:endParaRPr b="0" lang="en-HK" sz="880" spc="-1" strike="noStrike">
              <a:latin typeface="Arial"/>
            </a:endParaRPr>
          </a:p>
        </p:txBody>
      </p:sp>
      <p:sp>
        <p:nvSpPr>
          <p:cNvPr id="161" name="Shape 31"/>
          <p:cNvSpPr/>
          <p:nvPr/>
        </p:nvSpPr>
        <p:spPr>
          <a:xfrm>
            <a:off x="7363800" y="5899320"/>
            <a:ext cx="2196720" cy="9266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2" name="Text 32"/>
          <p:cNvSpPr/>
          <p:nvPr/>
        </p:nvSpPr>
        <p:spPr>
          <a:xfrm>
            <a:off x="7423560" y="6030360"/>
            <a:ext cx="2077920" cy="3153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3" name="Text 33"/>
          <p:cNvSpPr/>
          <p:nvPr/>
        </p:nvSpPr>
        <p:spPr>
          <a:xfrm>
            <a:off x="7467120" y="6379560"/>
            <a:ext cx="1990080" cy="315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"Maybellene"</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Chuck Berry</a:t>
            </a:r>
            <a:endParaRPr b="0" lang="en-HK" sz="880" spc="-1" strike="noStrike">
              <a:latin typeface="Arial"/>
            </a:endParaRPr>
          </a:p>
        </p:txBody>
      </p:sp>
      <p:sp>
        <p:nvSpPr>
          <p:cNvPr id="164" name="Shape 34"/>
          <p:cNvSpPr/>
          <p:nvPr/>
        </p:nvSpPr>
        <p:spPr>
          <a:xfrm>
            <a:off x="9669240" y="5899320"/>
            <a:ext cx="2196720" cy="926640"/>
          </a:xfrm>
          <a:custGeom>
            <a:avLst/>
            <a:gdLst/>
            <a:ahLst/>
            <a:rect l="l" t="t" r="r" b="b"/>
            <a:pathLst>
              <a:path w="2198688" h="928688">
                <a:moveTo>
                  <a:pt x="0" y="0"/>
                </a:moveTo>
                <a:lnTo>
                  <a:pt x="2198688" y="0"/>
                </a:lnTo>
                <a:lnTo>
                  <a:pt x="2198688" y="928688"/>
                </a:lnTo>
                <a:lnTo>
                  <a:pt x="0" y="928688"/>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165" name="Text 35"/>
          <p:cNvSpPr/>
          <p:nvPr/>
        </p:nvSpPr>
        <p:spPr>
          <a:xfrm>
            <a:off x="9729000" y="6030360"/>
            <a:ext cx="2077920" cy="3153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250" spc="-1" strike="noStrike">
                <a:solidFill>
                  <a:srgbClr val="ddff00"/>
                </a:solidFill>
                <a:latin typeface="Liter"/>
                <a:ea typeface="Liter"/>
              </a:rPr>
              <a:t>1955</a:t>
            </a:r>
            <a:endParaRPr b="0" lang="en-HK" sz="2250" spc="-1" strike="noStrike">
              <a:latin typeface="Arial"/>
            </a:endParaRPr>
          </a:p>
        </p:txBody>
      </p:sp>
      <p:sp>
        <p:nvSpPr>
          <p:cNvPr id="166" name="Text 36"/>
          <p:cNvSpPr/>
          <p:nvPr/>
        </p:nvSpPr>
        <p:spPr>
          <a:xfrm>
            <a:off x="9772560" y="6379560"/>
            <a:ext cx="1990080" cy="3153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880" spc="-1" strike="noStrike">
                <a:solidFill>
                  <a:srgbClr val="ffffff">
                    <a:alpha val="70000"/>
                  </a:srgbClr>
                </a:solidFill>
                <a:latin typeface="Liter"/>
                <a:ea typeface="Liter"/>
              </a:rPr>
              <a:t>"Tutti Frutti"</a:t>
            </a:r>
            <a:endParaRPr b="0" lang="en-HK" sz="880" spc="-1" strike="noStrike">
              <a:latin typeface="Arial"/>
            </a:endParaRPr>
          </a:p>
          <a:p>
            <a:pPr algn="ctr">
              <a:lnSpc>
                <a:spcPct val="120000"/>
              </a:lnSpc>
              <a:buNone/>
            </a:pPr>
            <a:r>
              <a:rPr b="0" lang="en-US" sz="880" spc="-1" strike="noStrike">
                <a:solidFill>
                  <a:srgbClr val="ffffff">
                    <a:alpha val="70000"/>
                  </a:srgbClr>
                </a:solidFill>
                <a:latin typeface="Liter"/>
                <a:ea typeface="Liter"/>
              </a:rPr>
              <a:t>Little Richard</a:t>
            </a:r>
            <a:endParaRPr b="0" lang="en-HK" sz="880" spc="-1" strike="noStrike">
              <a:latin typeface="Arial"/>
            </a:endParaRPr>
          </a:p>
        </p:txBody>
      </p:sp>
      <p:sp>
        <p:nvSpPr>
          <p:cNvPr id="167" name="Shape 37"/>
          <p:cNvSpPr/>
          <p:nvPr/>
        </p:nvSpPr>
        <p:spPr>
          <a:xfrm>
            <a:off x="5070960" y="6959160"/>
            <a:ext cx="29520" cy="902880"/>
          </a:xfrm>
          <a:custGeom>
            <a:avLst/>
            <a:gdLst/>
            <a:ahLst/>
            <a:rect l="l" t="t" r="r" b="b"/>
            <a:pathLst>
              <a:path w="31750" h="904875">
                <a:moveTo>
                  <a:pt x="0" y="0"/>
                </a:moveTo>
                <a:lnTo>
                  <a:pt x="31750" y="0"/>
                </a:lnTo>
                <a:lnTo>
                  <a:pt x="31750" y="904875"/>
                </a:lnTo>
                <a:lnTo>
                  <a:pt x="0" y="904875"/>
                </a:lnTo>
                <a:lnTo>
                  <a:pt x="0" y="0"/>
                </a:lnTo>
                <a:close/>
              </a:path>
            </a:pathLst>
          </a:custGeom>
          <a:solidFill>
            <a:srgbClr val="ddff00"/>
          </a:solidFill>
          <a:ln w="0">
            <a:noFill/>
          </a:ln>
        </p:spPr>
        <p:style>
          <a:lnRef idx="0"/>
          <a:fillRef idx="0"/>
          <a:effectRef idx="0"/>
          <a:fontRef idx="minor"/>
        </p:style>
      </p:sp>
      <p:sp>
        <p:nvSpPr>
          <p:cNvPr id="168" name="Text 38"/>
          <p:cNvSpPr/>
          <p:nvPr/>
        </p:nvSpPr>
        <p:spPr>
          <a:xfrm>
            <a:off x="5213520" y="6959160"/>
            <a:ext cx="672948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ddff00"/>
                </a:solidFill>
                <a:latin typeface="Liter"/>
                <a:ea typeface="Liter"/>
              </a:rPr>
              <a:t>Cultural Impact</a:t>
            </a:r>
            <a:endParaRPr b="0" lang="en-HK" sz="1130" spc="-1" strike="noStrike">
              <a:latin typeface="Arial"/>
            </a:endParaRPr>
          </a:p>
        </p:txBody>
      </p:sp>
      <p:sp>
        <p:nvSpPr>
          <p:cNvPr id="169" name="Text 39"/>
          <p:cNvSpPr/>
          <p:nvPr/>
        </p:nvSpPr>
        <p:spPr>
          <a:xfrm>
            <a:off x="5213520" y="7244640"/>
            <a:ext cx="672156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ffffff"/>
                </a:solidFill>
                <a:latin typeface="Liter"/>
                <a:ea typeface="Liter"/>
              </a:rPr>
              <a:t>Rock 'n' roll became the voice of youth rebellion</a:t>
            </a:r>
            <a:r>
              <a:rPr b="0" lang="en-US" sz="1000" spc="-1" strike="noStrike">
                <a:solidFill>
                  <a:srgbClr val="ffffff"/>
                </a:solidFill>
                <a:latin typeface="Liter"/>
                <a:ea typeface="Liter"/>
              </a:rPr>
              <a:t>, challenging racial segregation by bringing black and white audiences together. The music's energy and attitude would inspire generations of musicians in England and America to pick up guitars and form bands.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404040"/>
        </a:solidFill>
      </p:bgPr>
    </p:bg>
    <p:spTree>
      <p:nvGrpSpPr>
        <p:cNvPr id="1" name=""/>
        <p:cNvGrpSpPr/>
        <p:nvPr/>
      </p:nvGrpSpPr>
      <p:grpSpPr>
        <a:xfrm>
          <a:off x="0" y="0"/>
          <a:ext cx="0" cy="0"/>
          <a:chOff x="0" y="0"/>
          <a:chExt cx="0" cy="0"/>
        </a:xfrm>
      </p:grpSpPr>
      <p:sp>
        <p:nvSpPr>
          <p:cNvPr id="170" name="Image 0"/>
          <p:cNvSpPr/>
          <p:nvPr/>
        </p:nvSpPr>
        <p:spPr>
          <a:xfrm>
            <a:off x="0" y="0"/>
            <a:ext cx="1219104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171" name="Shape 0"/>
          <p:cNvSpPr/>
          <p:nvPr/>
        </p:nvSpPr>
        <p:spPr>
          <a:xfrm>
            <a:off x="0" y="0"/>
            <a:ext cx="1219104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172" name="Shape 1"/>
          <p:cNvSpPr/>
          <p:nvPr/>
        </p:nvSpPr>
        <p:spPr>
          <a:xfrm rot="720600">
            <a:off x="10754280" y="542016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173"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174" name="Text 3"/>
          <p:cNvSpPr/>
          <p:nvPr/>
        </p:nvSpPr>
        <p:spPr>
          <a:xfrm>
            <a:off x="572400" y="1638360"/>
            <a:ext cx="117900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02</a:t>
            </a:r>
            <a:endParaRPr b="0" lang="en-HK" sz="5400" spc="-1" strike="noStrike">
              <a:latin typeface="Arial"/>
            </a:endParaRPr>
          </a:p>
        </p:txBody>
      </p:sp>
      <p:sp>
        <p:nvSpPr>
          <p:cNvPr id="175" name="Shape 4"/>
          <p:cNvSpPr/>
          <p:nvPr/>
        </p:nvSpPr>
        <p:spPr>
          <a:xfrm>
            <a:off x="1828800" y="1752480"/>
            <a:ext cx="3331800" cy="36000"/>
          </a:xfrm>
          <a:custGeom>
            <a:avLst/>
            <a:gdLst/>
            <a:ahLst/>
            <a:rect l="l" t="t" r="r" b="b"/>
            <a:pathLst>
              <a:path w="3333750" h="38100">
                <a:moveTo>
                  <a:pt x="0" y="0"/>
                </a:moveTo>
                <a:lnTo>
                  <a:pt x="3333750" y="0"/>
                </a:lnTo>
                <a:lnTo>
                  <a:pt x="3333750" y="38100"/>
                </a:lnTo>
                <a:lnTo>
                  <a:pt x="0" y="38100"/>
                </a:lnTo>
                <a:lnTo>
                  <a:pt x="0" y="0"/>
                </a:lnTo>
                <a:close/>
              </a:path>
            </a:pathLst>
          </a:custGeom>
          <a:solidFill>
            <a:srgbClr val="ddff00"/>
          </a:solidFill>
          <a:ln w="0">
            <a:noFill/>
          </a:ln>
        </p:spPr>
        <p:style>
          <a:lnRef idx="0"/>
          <a:fillRef idx="0"/>
          <a:effectRef idx="0"/>
          <a:fontRef idx="minor"/>
        </p:style>
      </p:sp>
      <p:sp>
        <p:nvSpPr>
          <p:cNvPr id="176" name="Text 5"/>
          <p:cNvSpPr/>
          <p:nvPr/>
        </p:nvSpPr>
        <p:spPr>
          <a:xfrm>
            <a:off x="1828800" y="1943280"/>
            <a:ext cx="341784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000000"/>
                </a:solidFill>
                <a:latin typeface="Liter"/>
                <a:ea typeface="Liter"/>
              </a:rPr>
              <a:t>CHAPTER TWO</a:t>
            </a:r>
            <a:endParaRPr b="0" lang="en-HK" sz="1350" spc="-1" strike="noStrike">
              <a:latin typeface="Arial"/>
            </a:endParaRPr>
          </a:p>
        </p:txBody>
      </p:sp>
      <p:sp>
        <p:nvSpPr>
          <p:cNvPr id="177" name="Text 6"/>
          <p:cNvSpPr/>
          <p:nvPr/>
        </p:nvSpPr>
        <p:spPr>
          <a:xfrm>
            <a:off x="380880" y="2895480"/>
            <a:ext cx="512280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000000"/>
                </a:solidFill>
                <a:latin typeface="Liter"/>
                <a:ea typeface="Liter"/>
              </a:rPr>
              <a:t>THE BRITISH</a:t>
            </a:r>
            <a:endParaRPr b="0" lang="en-HK" sz="5400" spc="-1" strike="noStrike">
              <a:latin typeface="Arial"/>
            </a:endParaRPr>
          </a:p>
          <a:p>
            <a:pPr>
              <a:lnSpc>
                <a:spcPct val="100000"/>
              </a:lnSpc>
              <a:buNone/>
            </a:pPr>
            <a:r>
              <a:rPr b="1" lang="en-US" sz="5400" spc="-1" strike="noStrike">
                <a:solidFill>
                  <a:srgbClr val="000000"/>
                </a:solidFill>
                <a:latin typeface="Liter"/>
                <a:ea typeface="Liter"/>
              </a:rPr>
              <a:t>INVASION</a:t>
            </a:r>
            <a:endParaRPr b="0" lang="en-HK" sz="5400" spc="-1" strike="noStrike">
              <a:latin typeface="Arial"/>
            </a:endParaRPr>
          </a:p>
        </p:txBody>
      </p:sp>
      <p:sp>
        <p:nvSpPr>
          <p:cNvPr id="178" name="Text 7"/>
          <p:cNvSpPr/>
          <p:nvPr/>
        </p:nvSpPr>
        <p:spPr>
          <a:xfrm>
            <a:off x="380880" y="4838760"/>
            <a:ext cx="489420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000000"/>
                </a:solidFill>
                <a:latin typeface="Liter"/>
                <a:ea typeface="Liter"/>
              </a:rPr>
              <a:t>1960s: When Britain Took Back American Music</a:t>
            </a:r>
            <a:endParaRPr b="0" lang="en-HK" sz="1800" spc="-1" strike="noStrike">
              <a:latin typeface="Arial"/>
            </a:endParaRPr>
          </a:p>
        </p:txBody>
      </p:sp>
      <p:sp>
        <p:nvSpPr>
          <p:cNvPr id="179"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180"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181"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82" name="Shape 0"/>
          <p:cNvSpPr/>
          <p:nvPr/>
        </p:nvSpPr>
        <p:spPr>
          <a:xfrm>
            <a:off x="329760" y="379080"/>
            <a:ext cx="63720" cy="393480"/>
          </a:xfrm>
          <a:custGeom>
            <a:avLst/>
            <a:gdLst/>
            <a:ahLst/>
            <a:rect l="l" t="t" r="r" b="b"/>
            <a:pathLst>
              <a:path w="65947" h="395684">
                <a:moveTo>
                  <a:pt x="0" y="0"/>
                </a:moveTo>
                <a:lnTo>
                  <a:pt x="65947" y="0"/>
                </a:lnTo>
                <a:lnTo>
                  <a:pt x="65947" y="395684"/>
                </a:lnTo>
                <a:lnTo>
                  <a:pt x="0" y="395684"/>
                </a:lnTo>
                <a:lnTo>
                  <a:pt x="0" y="0"/>
                </a:lnTo>
                <a:close/>
              </a:path>
            </a:pathLst>
          </a:custGeom>
          <a:solidFill>
            <a:srgbClr val="ddff00"/>
          </a:solidFill>
          <a:ln w="0">
            <a:noFill/>
          </a:ln>
        </p:spPr>
        <p:style>
          <a:lnRef idx="0"/>
          <a:fillRef idx="0"/>
          <a:effectRef idx="0"/>
          <a:fontRef idx="minor"/>
        </p:style>
      </p:sp>
      <p:sp>
        <p:nvSpPr>
          <p:cNvPr id="183" name="Text 1"/>
          <p:cNvSpPr/>
          <p:nvPr/>
        </p:nvSpPr>
        <p:spPr>
          <a:xfrm>
            <a:off x="527400" y="329760"/>
            <a:ext cx="4548600" cy="162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75" strike="noStrike">
                <a:solidFill>
                  <a:srgbClr val="ddff00"/>
                </a:solidFill>
                <a:latin typeface="Liter"/>
                <a:ea typeface="Liter"/>
              </a:rPr>
              <a:t>CHAPTER 02</a:t>
            </a:r>
            <a:endParaRPr b="0" lang="en-HK" sz="910" spc="-1" strike="noStrike">
              <a:latin typeface="Arial"/>
            </a:endParaRPr>
          </a:p>
        </p:txBody>
      </p:sp>
      <p:sp>
        <p:nvSpPr>
          <p:cNvPr id="184" name="Text 2"/>
          <p:cNvSpPr/>
          <p:nvPr/>
        </p:nvSpPr>
        <p:spPr>
          <a:xfrm>
            <a:off x="527400" y="494640"/>
            <a:ext cx="4639320" cy="327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ffffff"/>
                </a:solidFill>
                <a:latin typeface="Liter"/>
                <a:ea typeface="Liter"/>
              </a:rPr>
              <a:t>Beatlemania &amp; The British Invasion</a:t>
            </a:r>
            <a:endParaRPr b="0" lang="en-HK" sz="2340" spc="-1" strike="noStrike">
              <a:latin typeface="Arial"/>
            </a:endParaRPr>
          </a:p>
        </p:txBody>
      </p:sp>
      <p:sp>
        <p:nvSpPr>
          <p:cNvPr id="185" name="Shape 3"/>
          <p:cNvSpPr/>
          <p:nvPr/>
        </p:nvSpPr>
        <p:spPr>
          <a:xfrm>
            <a:off x="329760" y="1088280"/>
            <a:ext cx="6799320" cy="2141280"/>
          </a:xfrm>
          <a:custGeom>
            <a:avLst/>
            <a:gdLst/>
            <a:ahLst/>
            <a:rect l="l" t="t" r="r" b="b"/>
            <a:pathLst>
              <a:path w="6800811" h="2143286">
                <a:moveTo>
                  <a:pt x="0" y="0"/>
                </a:moveTo>
                <a:lnTo>
                  <a:pt x="6800811" y="0"/>
                </a:lnTo>
                <a:lnTo>
                  <a:pt x="6800811" y="2143286"/>
                </a:lnTo>
                <a:lnTo>
                  <a:pt x="0" y="2143286"/>
                </a:lnTo>
                <a:lnTo>
                  <a:pt x="0" y="0"/>
                </a:lnTo>
                <a:close/>
              </a:path>
            </a:pathLst>
          </a:custGeom>
          <a:solidFill>
            <a:srgbClr val="ddff00"/>
          </a:solidFill>
          <a:ln w="0">
            <a:noFill/>
          </a:ln>
        </p:spPr>
        <p:style>
          <a:lnRef idx="0"/>
          <a:fillRef idx="0"/>
          <a:effectRef idx="0"/>
          <a:fontRef idx="minor"/>
        </p:style>
      </p:sp>
      <p:sp>
        <p:nvSpPr>
          <p:cNvPr id="186" name="Text 4"/>
          <p:cNvSpPr/>
          <p:nvPr/>
        </p:nvSpPr>
        <p:spPr>
          <a:xfrm>
            <a:off x="527400" y="1285920"/>
            <a:ext cx="6502680" cy="26172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60" spc="-1" strike="noStrike">
                <a:solidFill>
                  <a:srgbClr val="000000"/>
                </a:solidFill>
                <a:latin typeface="Liter"/>
                <a:ea typeface="Liter"/>
              </a:rPr>
              <a:t>The Ed Sullivan Show: February 9, 1964</a:t>
            </a:r>
            <a:endParaRPr b="0" lang="en-HK" sz="1560" spc="-1" strike="noStrike">
              <a:latin typeface="Arial"/>
            </a:endParaRPr>
          </a:p>
        </p:txBody>
      </p:sp>
      <p:sp>
        <p:nvSpPr>
          <p:cNvPr id="187" name="Text 5"/>
          <p:cNvSpPr/>
          <p:nvPr/>
        </p:nvSpPr>
        <p:spPr>
          <a:xfrm>
            <a:off x="527400" y="1648800"/>
            <a:ext cx="6469560" cy="64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40" spc="-1" strike="noStrike">
                <a:solidFill>
                  <a:srgbClr val="000000"/>
                </a:solidFill>
                <a:latin typeface="Liter"/>
                <a:ea typeface="Liter"/>
              </a:rPr>
              <a:t>73 million Americans watched</a:t>
            </a:r>
            <a:r>
              <a:rPr b="0" lang="en-US" sz="1040" spc="-1" strike="noStrike">
                <a:solidFill>
                  <a:srgbClr val="000000"/>
                </a:solidFill>
                <a:latin typeface="Liter"/>
                <a:ea typeface="Liter"/>
              </a:rPr>
              <a:t> as The Beatles made their historic U.S. television debut. This moment marked the beginning of "Beatlemania" and the British Invasion—a cultural phenomenon that would transform American music forever.</a:t>
            </a:r>
            <a:endParaRPr b="0" lang="en-HK" sz="1040" spc="-1" strike="noStrike">
              <a:latin typeface="Arial"/>
            </a:endParaRPr>
          </a:p>
        </p:txBody>
      </p:sp>
      <p:sp>
        <p:nvSpPr>
          <p:cNvPr id="188" name="Text 6"/>
          <p:cNvSpPr/>
          <p:nvPr/>
        </p:nvSpPr>
        <p:spPr>
          <a:xfrm>
            <a:off x="527400" y="2390760"/>
            <a:ext cx="6469560" cy="64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000000">
                    <a:alpha val="80000"/>
                  </a:srgbClr>
                </a:solidFill>
                <a:latin typeface="Liter"/>
                <a:ea typeface="Liter"/>
              </a:rPr>
              <a:t>Ed Sullivan had witnessed the frenzy firsthand at London airport weeks earlier, where thousands of fans screamed for The Beatles. Realizing their potential impact, he invited them to his show, unknowingly igniting a musical revolution.</a:t>
            </a:r>
            <a:endParaRPr b="0" lang="en-HK" sz="1040" spc="-1" strike="noStrike">
              <a:latin typeface="Arial"/>
            </a:endParaRPr>
          </a:p>
        </p:txBody>
      </p:sp>
      <p:sp>
        <p:nvSpPr>
          <p:cNvPr id="189" name="Shape 7"/>
          <p:cNvSpPr/>
          <p:nvPr/>
        </p:nvSpPr>
        <p:spPr>
          <a:xfrm>
            <a:off x="338040" y="3371400"/>
            <a:ext cx="6782760" cy="2611080"/>
          </a:xfrm>
          <a:custGeom>
            <a:avLst/>
            <a:gdLst/>
            <a:ahLst/>
            <a:rect l="l" t="t" r="r" b="b"/>
            <a:pathLst>
              <a:path w="6784325" h="2613160">
                <a:moveTo>
                  <a:pt x="0" y="0"/>
                </a:moveTo>
                <a:lnTo>
                  <a:pt x="6784325" y="0"/>
                </a:lnTo>
                <a:lnTo>
                  <a:pt x="6784325" y="2613160"/>
                </a:lnTo>
                <a:lnTo>
                  <a:pt x="0" y="2613160"/>
                </a:lnTo>
                <a:lnTo>
                  <a:pt x="0" y="0"/>
                </a:lnTo>
                <a:close/>
              </a:path>
            </a:pathLst>
          </a:custGeom>
          <a:noFill/>
          <a:ln w="25400">
            <a:solidFill>
              <a:srgbClr val="ddff00"/>
            </a:solidFill>
            <a:round/>
          </a:ln>
        </p:spPr>
        <p:style>
          <a:lnRef idx="0"/>
          <a:fillRef idx="0"/>
          <a:effectRef idx="0"/>
          <a:fontRef idx="minor"/>
        </p:style>
      </p:sp>
      <p:sp>
        <p:nvSpPr>
          <p:cNvPr id="190" name="Text 8"/>
          <p:cNvSpPr/>
          <p:nvPr/>
        </p:nvSpPr>
        <p:spPr>
          <a:xfrm>
            <a:off x="511200" y="3544560"/>
            <a:ext cx="6519240" cy="22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ddff00"/>
                </a:solidFill>
                <a:latin typeface="Liter"/>
                <a:ea typeface="Liter"/>
              </a:rPr>
              <a:t>Two Cities, Two Sounds</a:t>
            </a:r>
            <a:endParaRPr b="0" lang="en-HK" sz="1300" spc="-1" strike="noStrike">
              <a:latin typeface="Arial"/>
            </a:endParaRPr>
          </a:p>
        </p:txBody>
      </p:sp>
      <p:sp>
        <p:nvSpPr>
          <p:cNvPr id="191" name="Shape 9"/>
          <p:cNvSpPr/>
          <p:nvPr/>
        </p:nvSpPr>
        <p:spPr>
          <a:xfrm>
            <a:off x="527400" y="3907440"/>
            <a:ext cx="30960" cy="158040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2" name="Shape 10"/>
          <p:cNvSpPr/>
          <p:nvPr/>
        </p:nvSpPr>
        <p:spPr>
          <a:xfrm>
            <a:off x="677880" y="3948480"/>
            <a:ext cx="183240" cy="146160"/>
          </a:xfrm>
          <a:custGeom>
            <a:avLst/>
            <a:gdLst/>
            <a:ahLst/>
            <a:rect l="l" t="t" r="r" b="b"/>
            <a:pathLst>
              <a:path w="185477" h="148381">
                <a:moveTo>
                  <a:pt x="78828" y="0"/>
                </a:moveTo>
                <a:cubicBezTo>
                  <a:pt x="71148" y="0"/>
                  <a:pt x="64917" y="6231"/>
                  <a:pt x="64917" y="13911"/>
                </a:cubicBezTo>
                <a:lnTo>
                  <a:pt x="64917" y="18548"/>
                </a:lnTo>
                <a:lnTo>
                  <a:pt x="60280" y="18548"/>
                </a:lnTo>
                <a:cubicBezTo>
                  <a:pt x="47470" y="18548"/>
                  <a:pt x="37095" y="28923"/>
                  <a:pt x="37095" y="41732"/>
                </a:cubicBezTo>
                <a:lnTo>
                  <a:pt x="37095" y="73263"/>
                </a:lnTo>
                <a:lnTo>
                  <a:pt x="30835" y="75756"/>
                </a:lnTo>
                <a:cubicBezTo>
                  <a:pt x="26546" y="77465"/>
                  <a:pt x="24315" y="82247"/>
                  <a:pt x="25793" y="86623"/>
                </a:cubicBezTo>
                <a:cubicBezTo>
                  <a:pt x="28807" y="95694"/>
                  <a:pt x="33560" y="103809"/>
                  <a:pt x="39617" y="110706"/>
                </a:cubicBezTo>
                <a:cubicBezTo>
                  <a:pt x="45442" y="108040"/>
                  <a:pt x="51702" y="106678"/>
                  <a:pt x="57961" y="106649"/>
                </a:cubicBezTo>
                <a:cubicBezTo>
                  <a:pt x="67554" y="106591"/>
                  <a:pt x="77176" y="109605"/>
                  <a:pt x="85319" y="115749"/>
                </a:cubicBezTo>
                <a:lnTo>
                  <a:pt x="85783" y="116097"/>
                </a:lnTo>
                <a:lnTo>
                  <a:pt x="85783" y="53788"/>
                </a:lnTo>
                <a:lnTo>
                  <a:pt x="55643" y="65844"/>
                </a:lnTo>
                <a:lnTo>
                  <a:pt x="55643" y="41732"/>
                </a:lnTo>
                <a:cubicBezTo>
                  <a:pt x="55643" y="39182"/>
                  <a:pt x="57730" y="37095"/>
                  <a:pt x="60280" y="37095"/>
                </a:cubicBezTo>
                <a:lnTo>
                  <a:pt x="125197" y="37095"/>
                </a:lnTo>
                <a:cubicBezTo>
                  <a:pt x="127747" y="37095"/>
                  <a:pt x="129834" y="39182"/>
                  <a:pt x="129834" y="41732"/>
                </a:cubicBezTo>
                <a:lnTo>
                  <a:pt x="129834" y="65844"/>
                </a:lnTo>
                <a:lnTo>
                  <a:pt x="99694" y="53788"/>
                </a:lnTo>
                <a:lnTo>
                  <a:pt x="99694" y="116097"/>
                </a:lnTo>
                <a:lnTo>
                  <a:pt x="100157" y="115749"/>
                </a:lnTo>
                <a:cubicBezTo>
                  <a:pt x="108127" y="109750"/>
                  <a:pt x="117517" y="106707"/>
                  <a:pt x="126936" y="106649"/>
                </a:cubicBezTo>
                <a:cubicBezTo>
                  <a:pt x="133398" y="106620"/>
                  <a:pt x="139861" y="107953"/>
                  <a:pt x="145860" y="110706"/>
                </a:cubicBezTo>
                <a:cubicBezTo>
                  <a:pt x="151917" y="103838"/>
                  <a:pt x="156670" y="95694"/>
                  <a:pt x="159684" y="86623"/>
                </a:cubicBezTo>
                <a:cubicBezTo>
                  <a:pt x="161133" y="82218"/>
                  <a:pt x="158930" y="77465"/>
                  <a:pt x="154641" y="75756"/>
                </a:cubicBezTo>
                <a:lnTo>
                  <a:pt x="148381" y="73263"/>
                </a:lnTo>
                <a:lnTo>
                  <a:pt x="148381" y="41732"/>
                </a:lnTo>
                <a:cubicBezTo>
                  <a:pt x="148381" y="28923"/>
                  <a:pt x="138006" y="18548"/>
                  <a:pt x="125197" y="18548"/>
                </a:cubicBezTo>
                <a:lnTo>
                  <a:pt x="120560" y="18548"/>
                </a:lnTo>
                <a:lnTo>
                  <a:pt x="120560" y="13911"/>
                </a:lnTo>
                <a:cubicBezTo>
                  <a:pt x="120560" y="6231"/>
                  <a:pt x="114329" y="0"/>
                  <a:pt x="106649" y="0"/>
                </a:cubicBezTo>
                <a:lnTo>
                  <a:pt x="78828" y="0"/>
                </a:lnTo>
                <a:close/>
                <a:moveTo>
                  <a:pt x="116908" y="137977"/>
                </a:moveTo>
                <a:cubicBezTo>
                  <a:pt x="123081" y="133311"/>
                  <a:pt x="131370" y="133311"/>
                  <a:pt x="137543" y="137977"/>
                </a:cubicBezTo>
                <a:cubicBezTo>
                  <a:pt x="143049" y="142150"/>
                  <a:pt x="149685" y="146150"/>
                  <a:pt x="157018" y="147628"/>
                </a:cubicBezTo>
                <a:cubicBezTo>
                  <a:pt x="164697" y="149193"/>
                  <a:pt x="172754" y="147860"/>
                  <a:pt x="180405" y="142093"/>
                </a:cubicBezTo>
                <a:cubicBezTo>
                  <a:pt x="183477" y="139774"/>
                  <a:pt x="184086" y="135427"/>
                  <a:pt x="181767" y="132355"/>
                </a:cubicBezTo>
                <a:cubicBezTo>
                  <a:pt x="179449" y="129283"/>
                  <a:pt x="175102" y="128674"/>
                  <a:pt x="172030" y="130993"/>
                </a:cubicBezTo>
                <a:cubicBezTo>
                  <a:pt x="167711" y="134239"/>
                  <a:pt x="163741" y="134789"/>
                  <a:pt x="159771" y="133978"/>
                </a:cubicBezTo>
                <a:cubicBezTo>
                  <a:pt x="155453" y="133108"/>
                  <a:pt x="150816" y="130529"/>
                  <a:pt x="145918" y="126849"/>
                </a:cubicBezTo>
                <a:cubicBezTo>
                  <a:pt x="134789" y="118444"/>
                  <a:pt x="119690" y="118444"/>
                  <a:pt x="108533" y="126849"/>
                </a:cubicBezTo>
                <a:cubicBezTo>
                  <a:pt x="101577" y="132094"/>
                  <a:pt x="96738" y="134471"/>
                  <a:pt x="92738" y="134471"/>
                </a:cubicBezTo>
                <a:cubicBezTo>
                  <a:pt x="88739" y="134471"/>
                  <a:pt x="83899" y="132094"/>
                  <a:pt x="76944" y="126849"/>
                </a:cubicBezTo>
                <a:cubicBezTo>
                  <a:pt x="65815" y="118444"/>
                  <a:pt x="50716" y="118444"/>
                  <a:pt x="39559" y="126849"/>
                </a:cubicBezTo>
                <a:cubicBezTo>
                  <a:pt x="33299" y="131573"/>
                  <a:pt x="27590" y="134326"/>
                  <a:pt x="22489" y="134297"/>
                </a:cubicBezTo>
                <a:cubicBezTo>
                  <a:pt x="19707" y="134268"/>
                  <a:pt x="16722" y="133427"/>
                  <a:pt x="13447" y="130964"/>
                </a:cubicBezTo>
                <a:cubicBezTo>
                  <a:pt x="10375" y="128645"/>
                  <a:pt x="6028" y="129254"/>
                  <a:pt x="3710" y="132326"/>
                </a:cubicBezTo>
                <a:cubicBezTo>
                  <a:pt x="1391" y="135398"/>
                  <a:pt x="2029" y="139774"/>
                  <a:pt x="5101" y="142093"/>
                </a:cubicBezTo>
                <a:cubicBezTo>
                  <a:pt x="10636" y="146266"/>
                  <a:pt x="16519" y="148178"/>
                  <a:pt x="22431" y="148207"/>
                </a:cubicBezTo>
                <a:cubicBezTo>
                  <a:pt x="32256" y="148265"/>
                  <a:pt x="41066" y="143165"/>
                  <a:pt x="47963" y="137977"/>
                </a:cubicBezTo>
                <a:cubicBezTo>
                  <a:pt x="54136" y="133311"/>
                  <a:pt x="62424" y="133311"/>
                  <a:pt x="68597" y="137977"/>
                </a:cubicBezTo>
                <a:cubicBezTo>
                  <a:pt x="75611" y="143281"/>
                  <a:pt x="83754" y="148381"/>
                  <a:pt x="92767" y="148381"/>
                </a:cubicBezTo>
                <a:cubicBezTo>
                  <a:pt x="101780" y="148381"/>
                  <a:pt x="109895" y="143252"/>
                  <a:pt x="116937" y="137977"/>
                </a:cubicBezTo>
                <a:close/>
              </a:path>
            </a:pathLst>
          </a:custGeom>
          <a:solidFill>
            <a:srgbClr val="ddff00"/>
          </a:solidFill>
          <a:ln w="0">
            <a:noFill/>
          </a:ln>
        </p:spPr>
        <p:style>
          <a:lnRef idx="0"/>
          <a:fillRef idx="0"/>
          <a:effectRef idx="0"/>
          <a:fontRef idx="minor"/>
        </p:style>
      </p:sp>
      <p:sp>
        <p:nvSpPr>
          <p:cNvPr id="193" name="Text 11"/>
          <p:cNvSpPr/>
          <p:nvPr/>
        </p:nvSpPr>
        <p:spPr>
          <a:xfrm>
            <a:off x="865440" y="3907440"/>
            <a:ext cx="28753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Liverpool</a:t>
            </a:r>
            <a:endParaRPr b="0" lang="en-HK" sz="1170" spc="-1" strike="noStrike">
              <a:latin typeface="Arial"/>
            </a:endParaRPr>
          </a:p>
        </p:txBody>
      </p:sp>
      <p:sp>
        <p:nvSpPr>
          <p:cNvPr id="194" name="Text 12"/>
          <p:cNvSpPr/>
          <p:nvPr/>
        </p:nvSpPr>
        <p:spPr>
          <a:xfrm>
            <a:off x="676080" y="4204080"/>
            <a:ext cx="3056400" cy="128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The port city embraced American rock and roll from sailors bringing records. </a:t>
            </a:r>
            <a:r>
              <a:rPr b="1" lang="en-US" sz="1040" spc="-1" strike="noStrike">
                <a:solidFill>
                  <a:srgbClr val="ddff00"/>
                </a:solidFill>
                <a:latin typeface="Liter"/>
                <a:ea typeface="Liter"/>
              </a:rPr>
              <a:t>Skiffle music</a:t>
            </a:r>
            <a:r>
              <a:rPr b="0" lang="en-US" sz="1040" spc="-1" strike="noStrike">
                <a:solidFill>
                  <a:srgbClr val="ffffff">
                    <a:alpha val="80000"/>
                  </a:srgbClr>
                </a:solidFill>
                <a:latin typeface="Liter"/>
                <a:ea typeface="Liter"/>
              </a:rPr>
              <a:t>—combining folk, jazz, country and blues—provided the backdrop. This produced upbeat, melodic </a:t>
            </a:r>
            <a:r>
              <a:rPr b="1" lang="en-US" sz="1040" spc="-1" strike="noStrike">
                <a:solidFill>
                  <a:srgbClr val="ffffff">
                    <a:alpha val="80000"/>
                  </a:srgbClr>
                </a:solidFill>
                <a:latin typeface="Liter"/>
                <a:ea typeface="Liter"/>
              </a:rPr>
              <a:t>Merseybeat</a:t>
            </a:r>
            <a:r>
              <a:rPr b="0" lang="en-US" sz="1040" spc="-1" strike="noStrike">
                <a:solidFill>
                  <a:srgbClr val="ffffff">
                    <a:alpha val="80000"/>
                  </a:srgbClr>
                </a:solidFill>
                <a:latin typeface="Liter"/>
                <a:ea typeface="Liter"/>
              </a:rPr>
              <a:t> exemplified by The Beatles and Gerry &amp; the Pacemakers.</a:t>
            </a:r>
            <a:endParaRPr b="0" lang="en-HK" sz="1040" spc="-1" strike="noStrike">
              <a:latin typeface="Arial"/>
            </a:endParaRPr>
          </a:p>
        </p:txBody>
      </p:sp>
      <p:sp>
        <p:nvSpPr>
          <p:cNvPr id="195" name="Shape 13"/>
          <p:cNvSpPr/>
          <p:nvPr/>
        </p:nvSpPr>
        <p:spPr>
          <a:xfrm>
            <a:off x="3812760" y="3907440"/>
            <a:ext cx="30960" cy="1580400"/>
          </a:xfrm>
          <a:custGeom>
            <a:avLst/>
            <a:gdLst/>
            <a:ahLst/>
            <a:rect l="l" t="t" r="r" b="b"/>
            <a:pathLst>
              <a:path w="32974" h="1582734">
                <a:moveTo>
                  <a:pt x="0" y="0"/>
                </a:moveTo>
                <a:lnTo>
                  <a:pt x="32974" y="0"/>
                </a:lnTo>
                <a:lnTo>
                  <a:pt x="32974" y="1582734"/>
                </a:lnTo>
                <a:lnTo>
                  <a:pt x="0" y="1582734"/>
                </a:lnTo>
                <a:lnTo>
                  <a:pt x="0" y="0"/>
                </a:lnTo>
                <a:close/>
              </a:path>
            </a:pathLst>
          </a:custGeom>
          <a:solidFill>
            <a:srgbClr val="ddff00"/>
          </a:solidFill>
          <a:ln w="0">
            <a:noFill/>
          </a:ln>
        </p:spPr>
        <p:style>
          <a:lnRef idx="0"/>
          <a:fillRef idx="0"/>
          <a:effectRef idx="0"/>
          <a:fontRef idx="minor"/>
        </p:style>
      </p:sp>
      <p:sp>
        <p:nvSpPr>
          <p:cNvPr id="196" name="Shape 14"/>
          <p:cNvSpPr/>
          <p:nvPr/>
        </p:nvSpPr>
        <p:spPr>
          <a:xfrm>
            <a:off x="4000320" y="3948480"/>
            <a:ext cx="109080" cy="146160"/>
          </a:xfrm>
          <a:custGeom>
            <a:avLst/>
            <a:gdLst/>
            <a:ahLst/>
            <a:rect l="l" t="t" r="r" b="b"/>
            <a:pathLst>
              <a:path w="111286" h="148381">
                <a:moveTo>
                  <a:pt x="18548" y="0"/>
                </a:moveTo>
                <a:cubicBezTo>
                  <a:pt x="8317" y="0"/>
                  <a:pt x="0" y="8317"/>
                  <a:pt x="0" y="18548"/>
                </a:cubicBezTo>
                <a:lnTo>
                  <a:pt x="0" y="129834"/>
                </a:lnTo>
                <a:cubicBezTo>
                  <a:pt x="0" y="140064"/>
                  <a:pt x="8317" y="148381"/>
                  <a:pt x="18548" y="148381"/>
                </a:cubicBezTo>
                <a:lnTo>
                  <a:pt x="92738" y="148381"/>
                </a:lnTo>
                <a:cubicBezTo>
                  <a:pt x="102969" y="148381"/>
                  <a:pt x="111286" y="140064"/>
                  <a:pt x="111286" y="129834"/>
                </a:cubicBezTo>
                <a:lnTo>
                  <a:pt x="111286" y="18548"/>
                </a:lnTo>
                <a:cubicBezTo>
                  <a:pt x="111286" y="8317"/>
                  <a:pt x="102969" y="0"/>
                  <a:pt x="92738" y="0"/>
                </a:cubicBezTo>
                <a:lnTo>
                  <a:pt x="18548" y="0"/>
                </a:lnTo>
                <a:close/>
                <a:moveTo>
                  <a:pt x="51006" y="102012"/>
                </a:moveTo>
                <a:lnTo>
                  <a:pt x="60280" y="102012"/>
                </a:lnTo>
                <a:cubicBezTo>
                  <a:pt x="65410" y="102012"/>
                  <a:pt x="69554" y="106156"/>
                  <a:pt x="69554" y="111286"/>
                </a:cubicBezTo>
                <a:lnTo>
                  <a:pt x="69554" y="134471"/>
                </a:lnTo>
                <a:lnTo>
                  <a:pt x="41732" y="134471"/>
                </a:lnTo>
                <a:lnTo>
                  <a:pt x="41732" y="111286"/>
                </a:lnTo>
                <a:cubicBezTo>
                  <a:pt x="41732" y="106156"/>
                  <a:pt x="45876" y="102012"/>
                  <a:pt x="51006" y="102012"/>
                </a:cubicBezTo>
                <a:close/>
                <a:moveTo>
                  <a:pt x="27822" y="32458"/>
                </a:moveTo>
                <a:cubicBezTo>
                  <a:pt x="27822" y="29908"/>
                  <a:pt x="29908" y="27822"/>
                  <a:pt x="32458" y="27822"/>
                </a:cubicBezTo>
                <a:lnTo>
                  <a:pt x="41732" y="27822"/>
                </a:lnTo>
                <a:cubicBezTo>
                  <a:pt x="44283" y="27822"/>
                  <a:pt x="46369" y="29908"/>
                  <a:pt x="46369" y="32458"/>
                </a:cubicBezTo>
                <a:lnTo>
                  <a:pt x="46369" y="41732"/>
                </a:lnTo>
                <a:cubicBezTo>
                  <a:pt x="46369" y="44283"/>
                  <a:pt x="44283" y="46369"/>
                  <a:pt x="41732" y="46369"/>
                </a:cubicBezTo>
                <a:lnTo>
                  <a:pt x="32458" y="46369"/>
                </a:lnTo>
                <a:cubicBezTo>
                  <a:pt x="29908" y="46369"/>
                  <a:pt x="27822" y="44283"/>
                  <a:pt x="27822" y="41732"/>
                </a:cubicBezTo>
                <a:lnTo>
                  <a:pt x="27822" y="32458"/>
                </a:lnTo>
                <a:close/>
                <a:moveTo>
                  <a:pt x="69554" y="27822"/>
                </a:moveTo>
                <a:lnTo>
                  <a:pt x="78828" y="27822"/>
                </a:lnTo>
                <a:cubicBezTo>
                  <a:pt x="81378" y="27822"/>
                  <a:pt x="83465" y="29908"/>
                  <a:pt x="83465" y="32458"/>
                </a:cubicBezTo>
                <a:lnTo>
                  <a:pt x="83465" y="41732"/>
                </a:lnTo>
                <a:cubicBezTo>
                  <a:pt x="83465" y="44283"/>
                  <a:pt x="81378" y="46369"/>
                  <a:pt x="78828" y="46369"/>
                </a:cubicBezTo>
                <a:lnTo>
                  <a:pt x="69554" y="46369"/>
                </a:lnTo>
                <a:cubicBezTo>
                  <a:pt x="67003" y="46369"/>
                  <a:pt x="64917" y="44283"/>
                  <a:pt x="64917" y="41732"/>
                </a:cubicBezTo>
                <a:lnTo>
                  <a:pt x="64917" y="32458"/>
                </a:lnTo>
                <a:cubicBezTo>
                  <a:pt x="64917" y="29908"/>
                  <a:pt x="67003" y="27822"/>
                  <a:pt x="69554" y="27822"/>
                </a:cubicBezTo>
                <a:close/>
                <a:moveTo>
                  <a:pt x="27822" y="69554"/>
                </a:moveTo>
                <a:cubicBezTo>
                  <a:pt x="27822" y="67003"/>
                  <a:pt x="29908" y="64917"/>
                  <a:pt x="32458" y="64917"/>
                </a:cubicBezTo>
                <a:lnTo>
                  <a:pt x="41732" y="64917"/>
                </a:lnTo>
                <a:cubicBezTo>
                  <a:pt x="44283" y="64917"/>
                  <a:pt x="46369" y="67003"/>
                  <a:pt x="46369" y="69554"/>
                </a:cubicBezTo>
                <a:lnTo>
                  <a:pt x="46369" y="78828"/>
                </a:lnTo>
                <a:cubicBezTo>
                  <a:pt x="46369" y="81378"/>
                  <a:pt x="44283" y="83465"/>
                  <a:pt x="41732" y="83465"/>
                </a:cubicBezTo>
                <a:lnTo>
                  <a:pt x="32458" y="83465"/>
                </a:lnTo>
                <a:cubicBezTo>
                  <a:pt x="29908" y="83465"/>
                  <a:pt x="27822" y="81378"/>
                  <a:pt x="27822" y="78828"/>
                </a:cubicBezTo>
                <a:lnTo>
                  <a:pt x="27822" y="69554"/>
                </a:lnTo>
                <a:close/>
                <a:moveTo>
                  <a:pt x="69554" y="64917"/>
                </a:moveTo>
                <a:lnTo>
                  <a:pt x="78828" y="64917"/>
                </a:lnTo>
                <a:cubicBezTo>
                  <a:pt x="81378" y="64917"/>
                  <a:pt x="83465" y="67003"/>
                  <a:pt x="83465" y="69554"/>
                </a:cubicBezTo>
                <a:lnTo>
                  <a:pt x="83465" y="78828"/>
                </a:lnTo>
                <a:cubicBezTo>
                  <a:pt x="83465" y="81378"/>
                  <a:pt x="81378" y="83465"/>
                  <a:pt x="78828" y="83465"/>
                </a:cubicBezTo>
                <a:lnTo>
                  <a:pt x="69554" y="83465"/>
                </a:lnTo>
                <a:cubicBezTo>
                  <a:pt x="67003" y="83465"/>
                  <a:pt x="64917" y="81378"/>
                  <a:pt x="64917" y="78828"/>
                </a:cubicBezTo>
                <a:lnTo>
                  <a:pt x="64917" y="69554"/>
                </a:lnTo>
                <a:cubicBezTo>
                  <a:pt x="64917" y="67003"/>
                  <a:pt x="67003" y="64917"/>
                  <a:pt x="69554" y="64917"/>
                </a:cubicBezTo>
                <a:close/>
              </a:path>
            </a:pathLst>
          </a:custGeom>
          <a:solidFill>
            <a:srgbClr val="ddff00"/>
          </a:solidFill>
          <a:ln w="0">
            <a:noFill/>
          </a:ln>
        </p:spPr>
        <p:style>
          <a:lnRef idx="0"/>
          <a:fillRef idx="0"/>
          <a:effectRef idx="0"/>
          <a:fontRef idx="minor"/>
        </p:style>
      </p:sp>
      <p:sp>
        <p:nvSpPr>
          <p:cNvPr id="197" name="Text 15"/>
          <p:cNvSpPr/>
          <p:nvPr/>
        </p:nvSpPr>
        <p:spPr>
          <a:xfrm>
            <a:off x="4151160" y="3907440"/>
            <a:ext cx="28753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London</a:t>
            </a:r>
            <a:endParaRPr b="0" lang="en-HK" sz="1170" spc="-1" strike="noStrike">
              <a:latin typeface="Arial"/>
            </a:endParaRPr>
          </a:p>
        </p:txBody>
      </p:sp>
      <p:sp>
        <p:nvSpPr>
          <p:cNvPr id="198" name="Text 16"/>
          <p:cNvSpPr/>
          <p:nvPr/>
        </p:nvSpPr>
        <p:spPr>
          <a:xfrm>
            <a:off x="3961080" y="4204080"/>
            <a:ext cx="3056400" cy="1069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alpha val="80000"/>
                  </a:srgbClr>
                </a:solidFill>
                <a:latin typeface="Liter"/>
                <a:ea typeface="Liter"/>
              </a:rPr>
              <a:t>College students and bohemians were drawn to raw American </a:t>
            </a:r>
            <a:r>
              <a:rPr b="1" lang="en-US" sz="1040" spc="-1" strike="noStrike">
                <a:solidFill>
                  <a:srgbClr val="ddff00"/>
                </a:solidFill>
                <a:latin typeface="Liter"/>
                <a:ea typeface="Liter"/>
              </a:rPr>
              <a:t>blues and R&amp;B</a:t>
            </a:r>
            <a:r>
              <a:rPr b="0" lang="en-US" sz="1040" spc="-1" strike="noStrike">
                <a:solidFill>
                  <a:srgbClr val="ffffff">
                    <a:alpha val="80000"/>
                  </a:srgbClr>
                </a:solidFill>
                <a:latin typeface="Liter"/>
                <a:ea typeface="Liter"/>
              </a:rPr>
              <a:t>. Artists like Muddy Waters and B.B. King inspired a grittier, blues-infused rock sound exemplified by </a:t>
            </a:r>
            <a:r>
              <a:rPr b="1" lang="en-US" sz="1040" spc="-1" strike="noStrike">
                <a:solidFill>
                  <a:srgbClr val="ffffff">
                    <a:alpha val="80000"/>
                  </a:srgbClr>
                </a:solidFill>
                <a:latin typeface="Liter"/>
                <a:ea typeface="Liter"/>
              </a:rPr>
              <a:t>The Rolling Stones</a:t>
            </a:r>
            <a:r>
              <a:rPr b="0" lang="en-US" sz="1040" spc="-1" strike="noStrike">
                <a:solidFill>
                  <a:srgbClr val="ffffff">
                    <a:alpha val="80000"/>
                  </a:srgbClr>
                </a:solidFill>
                <a:latin typeface="Liter"/>
                <a:ea typeface="Liter"/>
              </a:rPr>
              <a:t> and The Yardbirds.</a:t>
            </a:r>
            <a:endParaRPr b="0" lang="en-HK" sz="1040" spc="-1" strike="noStrike">
              <a:latin typeface="Arial"/>
            </a:endParaRPr>
          </a:p>
        </p:txBody>
      </p:sp>
      <p:sp>
        <p:nvSpPr>
          <p:cNvPr id="199" name="Shape 17"/>
          <p:cNvSpPr/>
          <p:nvPr/>
        </p:nvSpPr>
        <p:spPr>
          <a:xfrm>
            <a:off x="333720" y="6128640"/>
            <a:ext cx="2190960" cy="8305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0" name="Text 18"/>
          <p:cNvSpPr/>
          <p:nvPr/>
        </p:nvSpPr>
        <p:spPr>
          <a:xfrm>
            <a:off x="375120" y="6231600"/>
            <a:ext cx="2108520" cy="29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14</a:t>
            </a:r>
            <a:endParaRPr b="0" lang="en-HK" sz="1940" spc="-1" strike="noStrike">
              <a:latin typeface="Arial"/>
            </a:endParaRPr>
          </a:p>
        </p:txBody>
      </p:sp>
      <p:sp>
        <p:nvSpPr>
          <p:cNvPr id="201" name="Text 19"/>
          <p:cNvSpPr/>
          <p:nvPr/>
        </p:nvSpPr>
        <p:spPr>
          <a:xfrm>
            <a:off x="407880" y="6528600"/>
            <a:ext cx="2042640" cy="327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British singles in</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U.S. Top 40 (1965)</a:t>
            </a:r>
            <a:endParaRPr b="0" lang="en-HK" sz="910" spc="-1" strike="noStrike">
              <a:latin typeface="Arial"/>
            </a:endParaRPr>
          </a:p>
        </p:txBody>
      </p:sp>
      <p:sp>
        <p:nvSpPr>
          <p:cNvPr id="202" name="Shape 20"/>
          <p:cNvSpPr/>
          <p:nvPr/>
        </p:nvSpPr>
        <p:spPr>
          <a:xfrm>
            <a:off x="2633760" y="6128640"/>
            <a:ext cx="2190960" cy="8305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3" name="Text 21"/>
          <p:cNvSpPr/>
          <p:nvPr/>
        </p:nvSpPr>
        <p:spPr>
          <a:xfrm>
            <a:off x="2675160" y="6231600"/>
            <a:ext cx="2108520" cy="29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1.92M</a:t>
            </a:r>
            <a:endParaRPr b="0" lang="en-HK" sz="1940" spc="-1" strike="noStrike">
              <a:latin typeface="Arial"/>
            </a:endParaRPr>
          </a:p>
        </p:txBody>
      </p:sp>
      <p:sp>
        <p:nvSpPr>
          <p:cNvPr id="204" name="Text 22"/>
          <p:cNvSpPr/>
          <p:nvPr/>
        </p:nvSpPr>
        <p:spPr>
          <a:xfrm>
            <a:off x="2707920" y="6528600"/>
            <a:ext cx="2042640" cy="327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"She Loves You"</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UK sales</a:t>
            </a:r>
            <a:endParaRPr b="0" lang="en-HK" sz="910" spc="-1" strike="noStrike">
              <a:latin typeface="Arial"/>
            </a:endParaRPr>
          </a:p>
        </p:txBody>
      </p:sp>
      <p:sp>
        <p:nvSpPr>
          <p:cNvPr id="205" name="Shape 23"/>
          <p:cNvSpPr/>
          <p:nvPr/>
        </p:nvSpPr>
        <p:spPr>
          <a:xfrm>
            <a:off x="4934520" y="6128640"/>
            <a:ext cx="2190960" cy="830520"/>
          </a:xfrm>
          <a:custGeom>
            <a:avLst/>
            <a:gdLst/>
            <a:ahLst/>
            <a:rect l="l" t="t" r="r" b="b"/>
            <a:pathLst>
              <a:path w="2192746" h="832584">
                <a:moveTo>
                  <a:pt x="0" y="0"/>
                </a:moveTo>
                <a:lnTo>
                  <a:pt x="2192746" y="0"/>
                </a:lnTo>
                <a:lnTo>
                  <a:pt x="2192746" y="832584"/>
                </a:lnTo>
                <a:lnTo>
                  <a:pt x="0" y="832584"/>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06" name="Text 24"/>
          <p:cNvSpPr/>
          <p:nvPr/>
        </p:nvSpPr>
        <p:spPr>
          <a:xfrm>
            <a:off x="4975560" y="6231600"/>
            <a:ext cx="2108520" cy="29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ddff00"/>
                </a:solidFill>
                <a:latin typeface="Liter"/>
                <a:ea typeface="Liter"/>
              </a:rPr>
              <a:t>73M</a:t>
            </a:r>
            <a:endParaRPr b="0" lang="en-HK" sz="1940" spc="-1" strike="noStrike">
              <a:latin typeface="Arial"/>
            </a:endParaRPr>
          </a:p>
        </p:txBody>
      </p:sp>
      <p:sp>
        <p:nvSpPr>
          <p:cNvPr id="207" name="Text 25"/>
          <p:cNvSpPr/>
          <p:nvPr/>
        </p:nvSpPr>
        <p:spPr>
          <a:xfrm>
            <a:off x="5008680" y="6528600"/>
            <a:ext cx="2042640" cy="3276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10" spc="-1" strike="noStrike">
                <a:solidFill>
                  <a:srgbClr val="ffffff">
                    <a:alpha val="70000"/>
                  </a:srgbClr>
                </a:solidFill>
                <a:latin typeface="Liter"/>
                <a:ea typeface="Liter"/>
              </a:rPr>
              <a:t>TV viewers for</a:t>
            </a:r>
            <a:endParaRPr b="0" lang="en-HK" sz="910" spc="-1" strike="noStrike">
              <a:latin typeface="Arial"/>
            </a:endParaRPr>
          </a:p>
          <a:p>
            <a:pPr algn="ctr">
              <a:lnSpc>
                <a:spcPct val="120000"/>
              </a:lnSpc>
              <a:buNone/>
            </a:pPr>
            <a:r>
              <a:rPr b="0" lang="en-US" sz="910" spc="-1" strike="noStrike">
                <a:solidFill>
                  <a:srgbClr val="ffffff">
                    <a:alpha val="70000"/>
                  </a:srgbClr>
                </a:solidFill>
                <a:latin typeface="Liter"/>
                <a:ea typeface="Liter"/>
              </a:rPr>
              <a:t>Ed Sullivan debut</a:t>
            </a:r>
            <a:endParaRPr b="0" lang="en-HK" sz="910" spc="-1" strike="noStrike">
              <a:latin typeface="Arial"/>
            </a:endParaRPr>
          </a:p>
        </p:txBody>
      </p:sp>
      <p:sp>
        <p:nvSpPr>
          <p:cNvPr id="208" name="Image 0"/>
          <p:cNvSpPr/>
          <p:nvPr/>
        </p:nvSpPr>
        <p:spPr>
          <a:xfrm>
            <a:off x="7329240" y="1088280"/>
            <a:ext cx="4532040" cy="4061880"/>
          </a:xfrm>
          <a:prstGeom prst="roundRect">
            <a:avLst>
              <a:gd name="adj" fmla="val 0"/>
            </a:avLst>
          </a:prstGeom>
          <a:blipFill rotWithShape="0">
            <a:blip r:embed="rId1"/>
            <a:srcRect/>
            <a:stretch/>
          </a:blipFill>
          <a:ln w="0">
            <a:noFill/>
          </a:ln>
        </p:spPr>
        <p:style>
          <a:lnRef idx="0"/>
          <a:fillRef idx="0"/>
          <a:effectRef idx="0"/>
          <a:fontRef idx="minor"/>
        </p:style>
      </p:sp>
      <p:sp>
        <p:nvSpPr>
          <p:cNvPr id="209" name="Shape 26"/>
          <p:cNvSpPr/>
          <p:nvPr/>
        </p:nvSpPr>
        <p:spPr>
          <a:xfrm>
            <a:off x="7329240" y="1088280"/>
            <a:ext cx="4532040" cy="4061880"/>
          </a:xfrm>
          <a:custGeom>
            <a:avLst/>
            <a:gdLst/>
            <a:ahLst/>
            <a:rect l="l" t="t" r="r" b="b"/>
            <a:pathLst>
              <a:path w="4533874" h="4064000">
                <a:moveTo>
                  <a:pt x="0" y="0"/>
                </a:moveTo>
                <a:lnTo>
                  <a:pt x="4533874" y="0"/>
                </a:lnTo>
                <a:lnTo>
                  <a:pt x="4533874" y="4064000"/>
                </a:lnTo>
                <a:lnTo>
                  <a:pt x="0" y="4064000"/>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210" name="Text 27"/>
          <p:cNvSpPr/>
          <p:nvPr/>
        </p:nvSpPr>
        <p:spPr>
          <a:xfrm>
            <a:off x="7461000" y="4591440"/>
            <a:ext cx="4326120" cy="162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1" strike="noStrike">
                <a:solidFill>
                  <a:srgbClr val="ddff00"/>
                </a:solidFill>
                <a:latin typeface="Liter"/>
                <a:ea typeface="Liter"/>
              </a:rPr>
              <a:t>1964</a:t>
            </a:r>
            <a:endParaRPr b="0" lang="en-HK" sz="910" spc="-1" strike="noStrike">
              <a:latin typeface="Arial"/>
            </a:endParaRPr>
          </a:p>
        </p:txBody>
      </p:sp>
      <p:sp>
        <p:nvSpPr>
          <p:cNvPr id="211" name="Text 28"/>
          <p:cNvSpPr/>
          <p:nvPr/>
        </p:nvSpPr>
        <p:spPr>
          <a:xfrm>
            <a:off x="7461000" y="4789080"/>
            <a:ext cx="434232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Liter"/>
                <a:ea typeface="Liter"/>
              </a:rPr>
              <a:t>The Beatles on Ed Sullivan</a:t>
            </a:r>
            <a:endParaRPr b="0" lang="en-HK" sz="1170" spc="-1" strike="noStrike">
              <a:latin typeface="Arial"/>
            </a:endParaRPr>
          </a:p>
        </p:txBody>
      </p:sp>
      <p:sp>
        <p:nvSpPr>
          <p:cNvPr id="212" name="Shape 29"/>
          <p:cNvSpPr/>
          <p:nvPr/>
        </p:nvSpPr>
        <p:spPr>
          <a:xfrm>
            <a:off x="7337520" y="5292000"/>
            <a:ext cx="4515480" cy="1662840"/>
          </a:xfrm>
          <a:custGeom>
            <a:avLst/>
            <a:gdLst/>
            <a:ahLst/>
            <a:rect l="l" t="t" r="r" b="b"/>
            <a:pathLst>
              <a:path w="4517387" h="1665168">
                <a:moveTo>
                  <a:pt x="0" y="0"/>
                </a:moveTo>
                <a:lnTo>
                  <a:pt x="4517387" y="0"/>
                </a:lnTo>
                <a:lnTo>
                  <a:pt x="4517387" y="1665168"/>
                </a:lnTo>
                <a:lnTo>
                  <a:pt x="0" y="1665168"/>
                </a:lnTo>
                <a:lnTo>
                  <a:pt x="0" y="0"/>
                </a:lnTo>
                <a:close/>
              </a:path>
            </a:pathLst>
          </a:custGeom>
          <a:noFill/>
          <a:ln w="25400">
            <a:solidFill>
              <a:srgbClr val="ddff00"/>
            </a:solidFill>
            <a:round/>
          </a:ln>
        </p:spPr>
        <p:style>
          <a:lnRef idx="0"/>
          <a:fillRef idx="0"/>
          <a:effectRef idx="0"/>
          <a:fontRef idx="minor"/>
        </p:style>
      </p:sp>
      <p:sp>
        <p:nvSpPr>
          <p:cNvPr id="213" name="Text 30"/>
          <p:cNvSpPr/>
          <p:nvPr/>
        </p:nvSpPr>
        <p:spPr>
          <a:xfrm>
            <a:off x="7510680" y="5465160"/>
            <a:ext cx="4243680" cy="228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ddff00"/>
                </a:solidFill>
                <a:latin typeface="Liter"/>
                <a:ea typeface="Liter"/>
              </a:rPr>
              <a:t>Cultural Revolution</a:t>
            </a:r>
            <a:endParaRPr b="0" lang="en-HK" sz="1170" spc="-1" strike="noStrike">
              <a:latin typeface="Arial"/>
            </a:endParaRPr>
          </a:p>
        </p:txBody>
      </p:sp>
      <p:sp>
        <p:nvSpPr>
          <p:cNvPr id="214" name="Shape 31"/>
          <p:cNvSpPr/>
          <p:nvPr/>
        </p:nvSpPr>
        <p:spPr>
          <a:xfrm>
            <a:off x="7510680" y="586080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5" name="Text 32"/>
          <p:cNvSpPr/>
          <p:nvPr/>
        </p:nvSpPr>
        <p:spPr>
          <a:xfrm>
            <a:off x="7642440" y="5794920"/>
            <a:ext cx="300708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Fashion:</a:t>
            </a:r>
            <a:r>
              <a:rPr b="0" lang="en-US" sz="1040" spc="-1" strike="noStrike">
                <a:solidFill>
                  <a:srgbClr val="ffffff">
                    <a:alpha val="80000"/>
                  </a:srgbClr>
                </a:solidFill>
                <a:latin typeface="Liter"/>
                <a:ea typeface="Liter"/>
              </a:rPr>
              <a:t> Mod style, mop-top haircuts, tailored suits</a:t>
            </a:r>
            <a:endParaRPr b="0" lang="en-HK" sz="1040" spc="-1" strike="noStrike">
              <a:latin typeface="Arial"/>
            </a:endParaRPr>
          </a:p>
        </p:txBody>
      </p:sp>
      <p:sp>
        <p:nvSpPr>
          <p:cNvPr id="216" name="Shape 33"/>
          <p:cNvSpPr/>
          <p:nvPr/>
        </p:nvSpPr>
        <p:spPr>
          <a:xfrm>
            <a:off x="7510680" y="612468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7" name="Text 34"/>
          <p:cNvSpPr/>
          <p:nvPr/>
        </p:nvSpPr>
        <p:spPr>
          <a:xfrm>
            <a:off x="7642440" y="6058800"/>
            <a:ext cx="323784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Youth Culture:</a:t>
            </a:r>
            <a:r>
              <a:rPr b="0" lang="en-US" sz="1040" spc="-1" strike="noStrike">
                <a:solidFill>
                  <a:srgbClr val="ffffff">
                    <a:alpha val="80000"/>
                  </a:srgbClr>
                </a:solidFill>
                <a:latin typeface="Liter"/>
                <a:ea typeface="Liter"/>
              </a:rPr>
              <a:t> Teenagers found their voice and identity</a:t>
            </a:r>
            <a:endParaRPr b="0" lang="en-HK" sz="1040" spc="-1" strike="noStrike">
              <a:latin typeface="Arial"/>
            </a:endParaRPr>
          </a:p>
        </p:txBody>
      </p:sp>
      <p:sp>
        <p:nvSpPr>
          <p:cNvPr id="218" name="Shape 35"/>
          <p:cNvSpPr/>
          <p:nvPr/>
        </p:nvSpPr>
        <p:spPr>
          <a:xfrm>
            <a:off x="7510680" y="638856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19" name="Text 36"/>
          <p:cNvSpPr/>
          <p:nvPr/>
        </p:nvSpPr>
        <p:spPr>
          <a:xfrm>
            <a:off x="7642440" y="6322320"/>
            <a:ext cx="326268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Counterculture:</a:t>
            </a:r>
            <a:r>
              <a:rPr b="0" lang="en-US" sz="1040" spc="-1" strike="noStrike">
                <a:solidFill>
                  <a:srgbClr val="ffffff">
                    <a:alpha val="80000"/>
                  </a:srgbClr>
                </a:solidFill>
                <a:latin typeface="Liter"/>
                <a:ea typeface="Liter"/>
              </a:rPr>
              <a:t> Music touched on peace, love, freedom</a:t>
            </a:r>
            <a:endParaRPr b="0" lang="en-HK" sz="1040" spc="-1" strike="noStrike">
              <a:latin typeface="Arial"/>
            </a:endParaRPr>
          </a:p>
        </p:txBody>
      </p:sp>
      <p:sp>
        <p:nvSpPr>
          <p:cNvPr id="220" name="Shape 37"/>
          <p:cNvSpPr/>
          <p:nvPr/>
        </p:nvSpPr>
        <p:spPr>
          <a:xfrm>
            <a:off x="7510680" y="6652080"/>
            <a:ext cx="63720" cy="63720"/>
          </a:xfrm>
          <a:custGeom>
            <a:avLst/>
            <a:gdLst/>
            <a:ahLst/>
            <a:rect l="l" t="t" r="r" b="b"/>
            <a:pathLst>
              <a:path w="65947" h="65947">
                <a:moveTo>
                  <a:pt x="0" y="0"/>
                </a:moveTo>
                <a:lnTo>
                  <a:pt x="65947" y="0"/>
                </a:lnTo>
                <a:lnTo>
                  <a:pt x="65947" y="65947"/>
                </a:lnTo>
                <a:lnTo>
                  <a:pt x="0" y="65947"/>
                </a:lnTo>
                <a:lnTo>
                  <a:pt x="0" y="0"/>
                </a:lnTo>
                <a:close/>
              </a:path>
            </a:pathLst>
          </a:custGeom>
          <a:solidFill>
            <a:srgbClr val="ddff00"/>
          </a:solidFill>
          <a:ln w="0">
            <a:noFill/>
          </a:ln>
        </p:spPr>
        <p:style>
          <a:lnRef idx="0"/>
          <a:fillRef idx="0"/>
          <a:effectRef idx="0"/>
          <a:fontRef idx="minor"/>
        </p:style>
      </p:sp>
      <p:sp>
        <p:nvSpPr>
          <p:cNvPr id="221" name="Text 38"/>
          <p:cNvSpPr/>
          <p:nvPr/>
        </p:nvSpPr>
        <p:spPr>
          <a:xfrm>
            <a:off x="7642440" y="6586200"/>
            <a:ext cx="4037400" cy="195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ffffff">
                    <a:alpha val="80000"/>
                  </a:srgbClr>
                </a:solidFill>
                <a:latin typeface="Liter"/>
                <a:ea typeface="Liter"/>
              </a:rPr>
              <a:t>Global Impact:</a:t>
            </a:r>
            <a:r>
              <a:rPr b="0" lang="en-US" sz="1040" spc="-1" strike="noStrike">
                <a:solidFill>
                  <a:srgbClr val="ffffff">
                    <a:alpha val="80000"/>
                  </a:srgbClr>
                </a:solidFill>
                <a:latin typeface="Liter"/>
                <a:ea typeface="Liter"/>
              </a:rPr>
              <a:t> Proved non-American acts could dominate U.S. charts</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22"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223" name="Text 1"/>
          <p:cNvSpPr/>
          <p:nvPr/>
        </p:nvSpPr>
        <p:spPr>
          <a:xfrm>
            <a:off x="507960" y="317520"/>
            <a:ext cx="580860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02</a:t>
            </a:r>
            <a:endParaRPr b="0" lang="en-HK" sz="880" spc="-1" strike="noStrike">
              <a:latin typeface="Arial"/>
            </a:endParaRPr>
          </a:p>
        </p:txBody>
      </p:sp>
      <p:sp>
        <p:nvSpPr>
          <p:cNvPr id="224" name="Text 2"/>
          <p:cNvSpPr/>
          <p:nvPr/>
        </p:nvSpPr>
        <p:spPr>
          <a:xfrm>
            <a:off x="507960" y="476280"/>
            <a:ext cx="589572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The Rolling Stones &amp; The London Blues Scene</a:t>
            </a:r>
            <a:endParaRPr b="0" lang="en-HK" sz="2250" spc="-1" strike="noStrike">
              <a:latin typeface="Arial"/>
            </a:endParaRPr>
          </a:p>
        </p:txBody>
      </p:sp>
      <p:sp>
        <p:nvSpPr>
          <p:cNvPr id="225" name="Shape 3"/>
          <p:cNvSpPr/>
          <p:nvPr/>
        </p:nvSpPr>
        <p:spPr>
          <a:xfrm>
            <a:off x="317520" y="1047600"/>
            <a:ext cx="454644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226" name="Text 4"/>
          <p:cNvSpPr/>
          <p:nvPr/>
        </p:nvSpPr>
        <p:spPr>
          <a:xfrm>
            <a:off x="507960" y="1238400"/>
            <a:ext cx="4260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Bad Boys of Rock</a:t>
            </a:r>
            <a:endParaRPr b="0" lang="en-HK" sz="1500" spc="-1" strike="noStrike">
              <a:latin typeface="Arial"/>
            </a:endParaRPr>
          </a:p>
        </p:txBody>
      </p:sp>
      <p:sp>
        <p:nvSpPr>
          <p:cNvPr id="227" name="Text 5"/>
          <p:cNvSpPr/>
          <p:nvPr/>
        </p:nvSpPr>
        <p:spPr>
          <a:xfrm>
            <a:off x="507960" y="1587600"/>
            <a:ext cx="422892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While The Beatles represented wholesome charm,</a:t>
            </a:r>
            <a:r>
              <a:rPr b="0" lang="en-US" sz="1000" spc="-1" strike="noStrike">
                <a:solidFill>
                  <a:srgbClr val="000000"/>
                </a:solidFill>
                <a:latin typeface="Liter"/>
                <a:ea typeface="Liter"/>
              </a:rPr>
              <a:t> The Rolling Stones brought danger and sexuality to rock. Their scruffy appearance and blues-influenced sound offered a stark contrast to the clean-cut image of early British Invasion bands.</a:t>
            </a:r>
            <a:endParaRPr b="0" lang="en-HK" sz="1000" spc="-1" strike="noStrike">
              <a:latin typeface="Arial"/>
            </a:endParaRPr>
          </a:p>
        </p:txBody>
      </p:sp>
      <p:sp>
        <p:nvSpPr>
          <p:cNvPr id="228" name="Text 6"/>
          <p:cNvSpPr/>
          <p:nvPr/>
        </p:nvSpPr>
        <p:spPr>
          <a:xfrm>
            <a:off x="507960" y="2508120"/>
            <a:ext cx="422892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By embracing sex and youthful rebellion in their music, The Stones courted controversy but also elevated rock to new cultural heights. They expanded rock's scope by transitioning from singles artists into musicians capable of producing cohesive albums.</a:t>
            </a:r>
            <a:endParaRPr b="0" lang="en-HK" sz="1000" spc="-1" strike="noStrike">
              <a:latin typeface="Arial"/>
            </a:endParaRPr>
          </a:p>
        </p:txBody>
      </p:sp>
      <p:sp>
        <p:nvSpPr>
          <p:cNvPr id="229" name="Shape 7"/>
          <p:cNvSpPr/>
          <p:nvPr/>
        </p:nvSpPr>
        <p:spPr>
          <a:xfrm>
            <a:off x="325440" y="3659040"/>
            <a:ext cx="4530600" cy="287136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230" name="Text 8"/>
          <p:cNvSpPr/>
          <p:nvPr/>
        </p:nvSpPr>
        <p:spPr>
          <a:xfrm>
            <a:off x="492120" y="3825720"/>
            <a:ext cx="42764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Key British Invasion Bands</a:t>
            </a:r>
            <a:endParaRPr b="0" lang="en-HK" sz="1250" spc="-1" strike="noStrike">
              <a:latin typeface="Arial"/>
            </a:endParaRPr>
          </a:p>
        </p:txBody>
      </p:sp>
      <p:sp>
        <p:nvSpPr>
          <p:cNvPr id="231" name="Shape 9"/>
          <p:cNvSpPr/>
          <p:nvPr/>
        </p:nvSpPr>
        <p:spPr>
          <a:xfrm>
            <a:off x="507960" y="417528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2" name="Shape 10"/>
          <p:cNvSpPr/>
          <p:nvPr/>
        </p:nvSpPr>
        <p:spPr>
          <a:xfrm>
            <a:off x="619200" y="419112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3" name="Shape 11"/>
          <p:cNvSpPr/>
          <p:nvPr/>
        </p:nvSpPr>
        <p:spPr>
          <a:xfrm>
            <a:off x="730080" y="4302000"/>
            <a:ext cx="156600" cy="156600"/>
          </a:xfrm>
          <a:custGeom>
            <a:avLst/>
            <a:gdLst/>
            <a:ahLst/>
            <a:rect l="l" t="t" r="r" b="b"/>
            <a:pathLst>
              <a:path w="158750" h="158750">
                <a:moveTo>
                  <a:pt x="144177" y="2170"/>
                </a:moveTo>
                <a:cubicBezTo>
                  <a:pt x="141263" y="-744"/>
                  <a:pt x="136550" y="-744"/>
                  <a:pt x="133666" y="2170"/>
                </a:cubicBezTo>
                <a:lnTo>
                  <a:pt x="118752" y="17053"/>
                </a:lnTo>
                <a:cubicBezTo>
                  <a:pt x="118008" y="17797"/>
                  <a:pt x="117419" y="18697"/>
                  <a:pt x="117047" y="19689"/>
                </a:cubicBezTo>
                <a:lnTo>
                  <a:pt x="112272" y="32401"/>
                </a:lnTo>
                <a:lnTo>
                  <a:pt x="88243" y="56462"/>
                </a:lnTo>
                <a:cubicBezTo>
                  <a:pt x="74259" y="47346"/>
                  <a:pt x="57454" y="47098"/>
                  <a:pt x="47625" y="56958"/>
                </a:cubicBezTo>
                <a:cubicBezTo>
                  <a:pt x="44214" y="60368"/>
                  <a:pt x="42044" y="64585"/>
                  <a:pt x="40990" y="69236"/>
                </a:cubicBezTo>
                <a:cubicBezTo>
                  <a:pt x="39843" y="74383"/>
                  <a:pt x="35068" y="78755"/>
                  <a:pt x="29797" y="79034"/>
                </a:cubicBezTo>
                <a:cubicBezTo>
                  <a:pt x="21859" y="79437"/>
                  <a:pt x="14511" y="82352"/>
                  <a:pt x="8930" y="87902"/>
                </a:cubicBezTo>
                <a:cubicBezTo>
                  <a:pt x="-4961" y="101792"/>
                  <a:pt x="-2356" y="126907"/>
                  <a:pt x="14728" y="143991"/>
                </a:cubicBezTo>
                <a:cubicBezTo>
                  <a:pt x="31812" y="161075"/>
                  <a:pt x="56927" y="163711"/>
                  <a:pt x="70817" y="149820"/>
                </a:cubicBezTo>
                <a:cubicBezTo>
                  <a:pt x="76367" y="144270"/>
                  <a:pt x="79313" y="136891"/>
                  <a:pt x="79685" y="128953"/>
                </a:cubicBezTo>
                <a:cubicBezTo>
                  <a:pt x="79964" y="123682"/>
                  <a:pt x="84336" y="118938"/>
                  <a:pt x="89483" y="117760"/>
                </a:cubicBezTo>
                <a:cubicBezTo>
                  <a:pt x="94134" y="116706"/>
                  <a:pt x="98351" y="114505"/>
                  <a:pt x="101761" y="111125"/>
                </a:cubicBezTo>
                <a:cubicBezTo>
                  <a:pt x="111621" y="101265"/>
                  <a:pt x="111373" y="84491"/>
                  <a:pt x="102257" y="70507"/>
                </a:cubicBezTo>
                <a:lnTo>
                  <a:pt x="126318" y="46447"/>
                </a:lnTo>
                <a:lnTo>
                  <a:pt x="139030" y="41672"/>
                </a:lnTo>
                <a:cubicBezTo>
                  <a:pt x="140022" y="41300"/>
                  <a:pt x="140922" y="40711"/>
                  <a:pt x="141666" y="39967"/>
                </a:cubicBezTo>
                <a:lnTo>
                  <a:pt x="156549" y="25084"/>
                </a:lnTo>
                <a:cubicBezTo>
                  <a:pt x="159463" y="22169"/>
                  <a:pt x="159463" y="17456"/>
                  <a:pt x="156549" y="14573"/>
                </a:cubicBezTo>
                <a:lnTo>
                  <a:pt x="144177" y="2170"/>
                </a:lnTo>
                <a:close/>
                <a:moveTo>
                  <a:pt x="64492" y="79375"/>
                </a:moveTo>
                <a:cubicBezTo>
                  <a:pt x="72706" y="79375"/>
                  <a:pt x="79375" y="86044"/>
                  <a:pt x="79375" y="94258"/>
                </a:cubicBezTo>
                <a:cubicBezTo>
                  <a:pt x="79375" y="102472"/>
                  <a:pt x="72706" y="109141"/>
                  <a:pt x="64492" y="109141"/>
                </a:cubicBezTo>
                <a:cubicBezTo>
                  <a:pt x="56278" y="109141"/>
                  <a:pt x="49609" y="102472"/>
                  <a:pt x="49609" y="94258"/>
                </a:cubicBezTo>
                <a:cubicBezTo>
                  <a:pt x="49609" y="86044"/>
                  <a:pt x="56278" y="79375"/>
                  <a:pt x="64492" y="79375"/>
                </a:cubicBezTo>
                <a:close/>
              </a:path>
            </a:pathLst>
          </a:custGeom>
          <a:solidFill>
            <a:srgbClr val="000000"/>
          </a:solidFill>
          <a:ln w="0">
            <a:noFill/>
          </a:ln>
        </p:spPr>
        <p:style>
          <a:lnRef idx="0"/>
          <a:fillRef idx="0"/>
          <a:effectRef idx="0"/>
          <a:fontRef idx="minor"/>
        </p:style>
      </p:sp>
      <p:sp>
        <p:nvSpPr>
          <p:cNvPr id="234" name="Text 12"/>
          <p:cNvSpPr/>
          <p:nvPr/>
        </p:nvSpPr>
        <p:spPr>
          <a:xfrm>
            <a:off x="1095480" y="4175280"/>
            <a:ext cx="336384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Who</a:t>
            </a:r>
            <a:endParaRPr b="0" lang="en-HK" sz="1130" spc="-1" strike="noStrike">
              <a:latin typeface="Arial"/>
            </a:endParaRPr>
          </a:p>
        </p:txBody>
      </p:sp>
      <p:sp>
        <p:nvSpPr>
          <p:cNvPr id="235" name="Text 13"/>
          <p:cNvSpPr/>
          <p:nvPr/>
        </p:nvSpPr>
        <p:spPr>
          <a:xfrm>
            <a:off x="1095480" y="4397400"/>
            <a:ext cx="33559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energy, power chords, destroyed instruments on stage</a:t>
            </a:r>
            <a:endParaRPr b="0" lang="en-HK" sz="1000" spc="-1" strike="noStrike">
              <a:latin typeface="Arial"/>
            </a:endParaRPr>
          </a:p>
        </p:txBody>
      </p:sp>
      <p:sp>
        <p:nvSpPr>
          <p:cNvPr id="236" name="Shape 14"/>
          <p:cNvSpPr/>
          <p:nvPr/>
        </p:nvSpPr>
        <p:spPr>
          <a:xfrm>
            <a:off x="507960" y="46832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37" name="Shape 15"/>
          <p:cNvSpPr/>
          <p:nvPr/>
        </p:nvSpPr>
        <p:spPr>
          <a:xfrm>
            <a:off x="619200" y="469908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38" name="Shape 16"/>
          <p:cNvSpPr/>
          <p:nvPr/>
        </p:nvSpPr>
        <p:spPr>
          <a:xfrm>
            <a:off x="740160" y="4809960"/>
            <a:ext cx="136800" cy="1566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239" name="Text 17"/>
          <p:cNvSpPr/>
          <p:nvPr/>
        </p:nvSpPr>
        <p:spPr>
          <a:xfrm>
            <a:off x="1095480" y="4683240"/>
            <a:ext cx="24984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Kinks</a:t>
            </a:r>
            <a:endParaRPr b="0" lang="en-HK" sz="1130" spc="-1" strike="noStrike">
              <a:latin typeface="Arial"/>
            </a:endParaRPr>
          </a:p>
        </p:txBody>
      </p:sp>
      <p:sp>
        <p:nvSpPr>
          <p:cNvPr id="240" name="Text 18"/>
          <p:cNvSpPr/>
          <p:nvPr/>
        </p:nvSpPr>
        <p:spPr>
          <a:xfrm>
            <a:off x="1095480" y="4905360"/>
            <a:ext cx="24904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Innovative songwriting, distorted guitar riffs</a:t>
            </a:r>
            <a:endParaRPr b="0" lang="en-HK" sz="1000" spc="-1" strike="noStrike">
              <a:latin typeface="Arial"/>
            </a:endParaRPr>
          </a:p>
        </p:txBody>
      </p:sp>
      <p:sp>
        <p:nvSpPr>
          <p:cNvPr id="241" name="Shape 19"/>
          <p:cNvSpPr/>
          <p:nvPr/>
        </p:nvSpPr>
        <p:spPr>
          <a:xfrm>
            <a:off x="507960" y="519120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2" name="Shape 20"/>
          <p:cNvSpPr/>
          <p:nvPr/>
        </p:nvSpPr>
        <p:spPr>
          <a:xfrm>
            <a:off x="619200" y="520704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3" name="Shape 21"/>
          <p:cNvSpPr/>
          <p:nvPr/>
        </p:nvSpPr>
        <p:spPr>
          <a:xfrm>
            <a:off x="740160" y="5318280"/>
            <a:ext cx="136800" cy="15660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244" name="Text 22"/>
          <p:cNvSpPr/>
          <p:nvPr/>
        </p:nvSpPr>
        <p:spPr>
          <a:xfrm>
            <a:off x="1095480" y="5191200"/>
            <a:ext cx="26971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Animals</a:t>
            </a:r>
            <a:endParaRPr b="0" lang="en-HK" sz="1130" spc="-1" strike="noStrike">
              <a:latin typeface="Arial"/>
            </a:endParaRPr>
          </a:p>
        </p:txBody>
      </p:sp>
      <p:sp>
        <p:nvSpPr>
          <p:cNvPr id="245" name="Text 23"/>
          <p:cNvSpPr/>
          <p:nvPr/>
        </p:nvSpPr>
        <p:spPr>
          <a:xfrm>
            <a:off x="1095480" y="5413320"/>
            <a:ext cx="26888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"House of the Rising Sun" - gritty R&amp;B influence</a:t>
            </a:r>
            <a:endParaRPr b="0" lang="en-HK" sz="1000" spc="-1" strike="noStrike">
              <a:latin typeface="Arial"/>
            </a:endParaRPr>
          </a:p>
        </p:txBody>
      </p:sp>
      <p:sp>
        <p:nvSpPr>
          <p:cNvPr id="246" name="Shape 24"/>
          <p:cNvSpPr/>
          <p:nvPr/>
        </p:nvSpPr>
        <p:spPr>
          <a:xfrm>
            <a:off x="507960" y="569916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247" name="Shape 25"/>
          <p:cNvSpPr/>
          <p:nvPr/>
        </p:nvSpPr>
        <p:spPr>
          <a:xfrm>
            <a:off x="619200" y="571500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248" name="Shape 26"/>
          <p:cNvSpPr/>
          <p:nvPr/>
        </p:nvSpPr>
        <p:spPr>
          <a:xfrm>
            <a:off x="720360" y="5826240"/>
            <a:ext cx="176400" cy="156600"/>
          </a:xfrm>
          <a:custGeom>
            <a:avLst/>
            <a:gdLst/>
            <a:ahLst/>
            <a:rect l="l" t="t" r="r" b="b"/>
            <a:pathLst>
              <a:path w="178594" h="158750">
                <a:moveTo>
                  <a:pt x="95963" y="-5860"/>
                </a:moveTo>
                <a:cubicBezTo>
                  <a:pt x="94692" y="-8341"/>
                  <a:pt x="92118" y="-9922"/>
                  <a:pt x="89328" y="-9922"/>
                </a:cubicBezTo>
                <a:cubicBezTo>
                  <a:pt x="86537" y="-9922"/>
                  <a:pt x="83964" y="-8341"/>
                  <a:pt x="82693" y="-5860"/>
                </a:cubicBezTo>
                <a:lnTo>
                  <a:pt x="59872" y="38850"/>
                </a:lnTo>
                <a:lnTo>
                  <a:pt x="10294" y="46726"/>
                </a:lnTo>
                <a:cubicBezTo>
                  <a:pt x="7534" y="47160"/>
                  <a:pt x="5240" y="49113"/>
                  <a:pt x="4372" y="51780"/>
                </a:cubicBezTo>
                <a:cubicBezTo>
                  <a:pt x="3504" y="54446"/>
                  <a:pt x="4217" y="57361"/>
                  <a:pt x="6170" y="59345"/>
                </a:cubicBezTo>
                <a:lnTo>
                  <a:pt x="41641" y="94847"/>
                </a:lnTo>
                <a:lnTo>
                  <a:pt x="33827" y="144425"/>
                </a:lnTo>
                <a:cubicBezTo>
                  <a:pt x="33393" y="147185"/>
                  <a:pt x="34541" y="149975"/>
                  <a:pt x="36804" y="151619"/>
                </a:cubicBezTo>
                <a:cubicBezTo>
                  <a:pt x="39067" y="153262"/>
                  <a:pt x="42044" y="153510"/>
                  <a:pt x="44555" y="152239"/>
                </a:cubicBezTo>
                <a:lnTo>
                  <a:pt x="89328" y="129480"/>
                </a:lnTo>
                <a:lnTo>
                  <a:pt x="134069" y="152239"/>
                </a:lnTo>
                <a:cubicBezTo>
                  <a:pt x="136550" y="153510"/>
                  <a:pt x="139557" y="153262"/>
                  <a:pt x="141821" y="151619"/>
                </a:cubicBezTo>
                <a:cubicBezTo>
                  <a:pt x="144084" y="149975"/>
                  <a:pt x="145231" y="147216"/>
                  <a:pt x="144797" y="144425"/>
                </a:cubicBezTo>
                <a:lnTo>
                  <a:pt x="136953" y="94847"/>
                </a:lnTo>
                <a:lnTo>
                  <a:pt x="172424" y="59345"/>
                </a:lnTo>
                <a:cubicBezTo>
                  <a:pt x="174408" y="57361"/>
                  <a:pt x="175090" y="54446"/>
                  <a:pt x="174222" y="51780"/>
                </a:cubicBezTo>
                <a:cubicBezTo>
                  <a:pt x="173354" y="49113"/>
                  <a:pt x="171090" y="47160"/>
                  <a:pt x="168300" y="46726"/>
                </a:cubicBezTo>
                <a:lnTo>
                  <a:pt x="118752" y="38850"/>
                </a:lnTo>
                <a:lnTo>
                  <a:pt x="95963" y="-5860"/>
                </a:lnTo>
                <a:close/>
              </a:path>
            </a:pathLst>
          </a:custGeom>
          <a:solidFill>
            <a:srgbClr val="000000"/>
          </a:solidFill>
          <a:ln w="0">
            <a:noFill/>
          </a:ln>
        </p:spPr>
        <p:style>
          <a:lnRef idx="0"/>
          <a:fillRef idx="0"/>
          <a:effectRef idx="0"/>
          <a:fontRef idx="minor"/>
        </p:style>
      </p:sp>
      <p:sp>
        <p:nvSpPr>
          <p:cNvPr id="249" name="Text 27"/>
          <p:cNvSpPr/>
          <p:nvPr/>
        </p:nvSpPr>
        <p:spPr>
          <a:xfrm>
            <a:off x="1095480" y="5699160"/>
            <a:ext cx="291132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The Yardbirds</a:t>
            </a:r>
            <a:endParaRPr b="0" lang="en-HK" sz="1130" spc="-1" strike="noStrike">
              <a:latin typeface="Arial"/>
            </a:endParaRPr>
          </a:p>
        </p:txBody>
      </p:sp>
      <p:sp>
        <p:nvSpPr>
          <p:cNvPr id="250" name="Text 28"/>
          <p:cNvSpPr/>
          <p:nvPr/>
        </p:nvSpPr>
        <p:spPr>
          <a:xfrm>
            <a:off x="1095480" y="5921280"/>
            <a:ext cx="29034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Guitar legends Eric Clapton, Jeff Beck, Jimmy Page</a:t>
            </a:r>
            <a:endParaRPr b="0" lang="en-HK" sz="1000" spc="-1" strike="noStrike">
              <a:latin typeface="Arial"/>
            </a:endParaRPr>
          </a:p>
        </p:txBody>
      </p:sp>
      <p:sp>
        <p:nvSpPr>
          <p:cNvPr id="251" name="Shape 29"/>
          <p:cNvSpPr/>
          <p:nvPr/>
        </p:nvSpPr>
        <p:spPr>
          <a:xfrm>
            <a:off x="5063040" y="1055520"/>
            <a:ext cx="6801120" cy="2744280"/>
          </a:xfrm>
          <a:custGeom>
            <a:avLst/>
            <a:gdLst/>
            <a:ahLst/>
            <a:rect l="l" t="t" r="r" b="b"/>
            <a:pathLst>
              <a:path w="6802438" h="2746375">
                <a:moveTo>
                  <a:pt x="0" y="0"/>
                </a:moveTo>
                <a:lnTo>
                  <a:pt x="6802438" y="0"/>
                </a:lnTo>
                <a:lnTo>
                  <a:pt x="6802438" y="2746375"/>
                </a:lnTo>
                <a:lnTo>
                  <a:pt x="0" y="2746375"/>
                </a:lnTo>
                <a:lnTo>
                  <a:pt x="0" y="0"/>
                </a:lnTo>
                <a:close/>
              </a:path>
            </a:pathLst>
          </a:custGeom>
          <a:noFill/>
          <a:ln w="25400">
            <a:solidFill>
              <a:srgbClr val="ddff00"/>
            </a:solidFill>
            <a:round/>
          </a:ln>
        </p:spPr>
        <p:style>
          <a:lnRef idx="0"/>
          <a:fillRef idx="0"/>
          <a:effectRef idx="0"/>
          <a:fontRef idx="minor"/>
        </p:style>
      </p:sp>
      <p:sp>
        <p:nvSpPr>
          <p:cNvPr id="252" name="Text 30"/>
          <p:cNvSpPr/>
          <p:nvPr/>
        </p:nvSpPr>
        <p:spPr>
          <a:xfrm>
            <a:off x="5261400" y="1254240"/>
            <a:ext cx="64994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The British Invasion Timeline</a:t>
            </a:r>
            <a:endParaRPr b="0" lang="en-HK" sz="1500" spc="-1" strike="noStrike">
              <a:latin typeface="Arial"/>
            </a:endParaRPr>
          </a:p>
        </p:txBody>
      </p:sp>
      <p:sp>
        <p:nvSpPr>
          <p:cNvPr id="253" name="Shape 31"/>
          <p:cNvSpPr/>
          <p:nvPr/>
        </p:nvSpPr>
        <p:spPr>
          <a:xfrm>
            <a:off x="5261400" y="163512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4" name="Text 32"/>
          <p:cNvSpPr/>
          <p:nvPr/>
        </p:nvSpPr>
        <p:spPr>
          <a:xfrm>
            <a:off x="5229720" y="163512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1963</a:t>
            </a:r>
            <a:endParaRPr b="0" lang="en-HK" sz="1000" spc="-1" strike="noStrike">
              <a:latin typeface="Arial"/>
            </a:endParaRPr>
          </a:p>
        </p:txBody>
      </p:sp>
      <p:sp>
        <p:nvSpPr>
          <p:cNvPr id="255" name="Shape 33"/>
          <p:cNvSpPr/>
          <p:nvPr/>
        </p:nvSpPr>
        <p:spPr>
          <a:xfrm>
            <a:off x="6166080" y="163512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56" name="Text 34"/>
          <p:cNvSpPr/>
          <p:nvPr/>
        </p:nvSpPr>
        <p:spPr>
          <a:xfrm>
            <a:off x="6309000" y="1635120"/>
            <a:ext cx="54194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The Beatles release "Please Please Me" and "From Me to You" - first UK #1 hits</a:t>
            </a:r>
            <a:endParaRPr b="0" lang="en-HK" sz="1000" spc="-1" strike="noStrike">
              <a:latin typeface="Arial"/>
            </a:endParaRPr>
          </a:p>
        </p:txBody>
      </p:sp>
      <p:sp>
        <p:nvSpPr>
          <p:cNvPr id="257" name="Shape 35"/>
          <p:cNvSpPr/>
          <p:nvPr/>
        </p:nvSpPr>
        <p:spPr>
          <a:xfrm>
            <a:off x="5261400" y="204804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58" name="Text 36"/>
          <p:cNvSpPr/>
          <p:nvPr/>
        </p:nvSpPr>
        <p:spPr>
          <a:xfrm>
            <a:off x="5229720" y="204804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59" name="Shape 37"/>
          <p:cNvSpPr/>
          <p:nvPr/>
        </p:nvSpPr>
        <p:spPr>
          <a:xfrm>
            <a:off x="6166080" y="204804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0" name="Text 38"/>
          <p:cNvSpPr/>
          <p:nvPr/>
        </p:nvSpPr>
        <p:spPr>
          <a:xfrm>
            <a:off x="6309000" y="2048040"/>
            <a:ext cx="54194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February: Beatles on Ed Sullivan. "I Want to Hold Your Hand" tops U.S. charts</a:t>
            </a:r>
            <a:endParaRPr b="0" lang="en-HK" sz="1000" spc="-1" strike="noStrike">
              <a:latin typeface="Arial"/>
            </a:endParaRPr>
          </a:p>
        </p:txBody>
      </p:sp>
      <p:sp>
        <p:nvSpPr>
          <p:cNvPr id="261" name="Shape 39"/>
          <p:cNvSpPr/>
          <p:nvPr/>
        </p:nvSpPr>
        <p:spPr>
          <a:xfrm>
            <a:off x="5261400" y="246060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2" name="Text 40"/>
          <p:cNvSpPr/>
          <p:nvPr/>
        </p:nvSpPr>
        <p:spPr>
          <a:xfrm>
            <a:off x="5229720" y="246060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1964</a:t>
            </a:r>
            <a:endParaRPr b="0" lang="en-HK" sz="1000" spc="-1" strike="noStrike">
              <a:latin typeface="Arial"/>
            </a:endParaRPr>
          </a:p>
        </p:txBody>
      </p:sp>
      <p:sp>
        <p:nvSpPr>
          <p:cNvPr id="263" name="Shape 41"/>
          <p:cNvSpPr/>
          <p:nvPr/>
        </p:nvSpPr>
        <p:spPr>
          <a:xfrm>
            <a:off x="6166080" y="246060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4" name="Text 42"/>
          <p:cNvSpPr/>
          <p:nvPr/>
        </p:nvSpPr>
        <p:spPr>
          <a:xfrm>
            <a:off x="6309000" y="2460600"/>
            <a:ext cx="54194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Rolling Stones release "(I Can't Get No) Satisfaction" - becomes anthem of rebellion</a:t>
            </a:r>
            <a:endParaRPr b="0" lang="en-HK" sz="1000" spc="-1" strike="noStrike">
              <a:latin typeface="Arial"/>
            </a:endParaRPr>
          </a:p>
        </p:txBody>
      </p:sp>
      <p:sp>
        <p:nvSpPr>
          <p:cNvPr id="265" name="Shape 43"/>
          <p:cNvSpPr/>
          <p:nvPr/>
        </p:nvSpPr>
        <p:spPr>
          <a:xfrm>
            <a:off x="5261400" y="287352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66" name="Text 44"/>
          <p:cNvSpPr/>
          <p:nvPr/>
        </p:nvSpPr>
        <p:spPr>
          <a:xfrm>
            <a:off x="5229720" y="287352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1965</a:t>
            </a:r>
            <a:endParaRPr b="0" lang="en-HK" sz="1000" spc="-1" strike="noStrike">
              <a:latin typeface="Arial"/>
            </a:endParaRPr>
          </a:p>
        </p:txBody>
      </p:sp>
      <p:sp>
        <p:nvSpPr>
          <p:cNvPr id="267" name="Shape 45"/>
          <p:cNvSpPr/>
          <p:nvPr/>
        </p:nvSpPr>
        <p:spPr>
          <a:xfrm>
            <a:off x="6166080" y="287352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68" name="Text 46"/>
          <p:cNvSpPr/>
          <p:nvPr/>
        </p:nvSpPr>
        <p:spPr>
          <a:xfrm>
            <a:off x="6309000" y="2873520"/>
            <a:ext cx="54194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June 18: 14 British records in U.S. Top 40 - the invasion's peak</a:t>
            </a:r>
            <a:endParaRPr b="0" lang="en-HK" sz="1000" spc="-1" strike="noStrike">
              <a:latin typeface="Arial"/>
            </a:endParaRPr>
          </a:p>
        </p:txBody>
      </p:sp>
      <p:sp>
        <p:nvSpPr>
          <p:cNvPr id="269" name="Shape 47"/>
          <p:cNvSpPr/>
          <p:nvPr/>
        </p:nvSpPr>
        <p:spPr>
          <a:xfrm>
            <a:off x="5261400" y="3286080"/>
            <a:ext cx="759960" cy="315360"/>
          </a:xfrm>
          <a:custGeom>
            <a:avLst/>
            <a:gdLst/>
            <a:ahLst/>
            <a:rect l="l" t="t" r="r" b="b"/>
            <a:pathLst>
              <a:path w="762000" h="317500">
                <a:moveTo>
                  <a:pt x="0" y="0"/>
                </a:moveTo>
                <a:lnTo>
                  <a:pt x="762000" y="0"/>
                </a:lnTo>
                <a:lnTo>
                  <a:pt x="762000" y="317500"/>
                </a:lnTo>
                <a:lnTo>
                  <a:pt x="0" y="317500"/>
                </a:lnTo>
                <a:lnTo>
                  <a:pt x="0" y="0"/>
                </a:lnTo>
                <a:close/>
              </a:path>
            </a:pathLst>
          </a:custGeom>
          <a:solidFill>
            <a:srgbClr val="ddff00"/>
          </a:solidFill>
          <a:ln w="0">
            <a:noFill/>
          </a:ln>
        </p:spPr>
        <p:style>
          <a:lnRef idx="0"/>
          <a:fillRef idx="0"/>
          <a:effectRef idx="0"/>
          <a:fontRef idx="minor"/>
        </p:style>
      </p:sp>
      <p:sp>
        <p:nvSpPr>
          <p:cNvPr id="270" name="Text 48"/>
          <p:cNvSpPr/>
          <p:nvPr/>
        </p:nvSpPr>
        <p:spPr>
          <a:xfrm>
            <a:off x="5229720" y="3286080"/>
            <a:ext cx="823320" cy="315360"/>
          </a:xfrm>
          <a:prstGeom prst="rect">
            <a:avLst/>
          </a:prstGeom>
          <a:noFill/>
          <a:ln w="0">
            <a:noFill/>
          </a:ln>
        </p:spPr>
        <p:style>
          <a:lnRef idx="0"/>
          <a:fillRef idx="0"/>
          <a:effectRef idx="0"/>
          <a:fontRef idx="minor"/>
        </p:style>
        <p:txBody>
          <a:bodyPr lIns="0" rIns="0" tIns="63360" bIns="63360" anchor="ctr">
            <a:noAutofit/>
          </a:bodyPr>
          <a:p>
            <a:pPr algn="ctr">
              <a:lnSpc>
                <a:spcPct val="130000"/>
              </a:lnSpc>
              <a:buNone/>
            </a:pPr>
            <a:r>
              <a:rPr b="1" lang="en-US" sz="1000" spc="-1" strike="noStrike">
                <a:solidFill>
                  <a:srgbClr val="000000"/>
                </a:solidFill>
                <a:latin typeface="Liter"/>
                <a:ea typeface="Liter"/>
              </a:rPr>
              <a:t>1966</a:t>
            </a:r>
            <a:endParaRPr b="0" lang="en-HK" sz="1000" spc="-1" strike="noStrike">
              <a:latin typeface="Arial"/>
            </a:endParaRPr>
          </a:p>
        </p:txBody>
      </p:sp>
      <p:sp>
        <p:nvSpPr>
          <p:cNvPr id="271" name="Shape 49"/>
          <p:cNvSpPr/>
          <p:nvPr/>
        </p:nvSpPr>
        <p:spPr>
          <a:xfrm>
            <a:off x="6166080" y="3286080"/>
            <a:ext cx="29520" cy="315360"/>
          </a:xfrm>
          <a:custGeom>
            <a:avLst/>
            <a:gdLst/>
            <a:ahLst/>
            <a:rect l="l" t="t" r="r" b="b"/>
            <a:pathLst>
              <a:path w="31750" h="317500">
                <a:moveTo>
                  <a:pt x="0" y="0"/>
                </a:moveTo>
                <a:lnTo>
                  <a:pt x="31750" y="0"/>
                </a:lnTo>
                <a:lnTo>
                  <a:pt x="31750" y="317500"/>
                </a:lnTo>
                <a:lnTo>
                  <a:pt x="0" y="317500"/>
                </a:lnTo>
                <a:lnTo>
                  <a:pt x="0" y="0"/>
                </a:lnTo>
                <a:close/>
              </a:path>
            </a:pathLst>
          </a:custGeom>
          <a:solidFill>
            <a:srgbClr val="ddff00"/>
          </a:solidFill>
          <a:ln w="0">
            <a:noFill/>
          </a:ln>
        </p:spPr>
        <p:style>
          <a:lnRef idx="0"/>
          <a:fillRef idx="0"/>
          <a:effectRef idx="0"/>
          <a:fontRef idx="minor"/>
        </p:style>
      </p:sp>
      <p:sp>
        <p:nvSpPr>
          <p:cNvPr id="272" name="Text 50"/>
          <p:cNvSpPr/>
          <p:nvPr/>
        </p:nvSpPr>
        <p:spPr>
          <a:xfrm>
            <a:off x="6309000" y="3286080"/>
            <a:ext cx="54194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solidFill>
                <a:latin typeface="Liter"/>
                <a:ea typeface="Liter"/>
              </a:rPr>
              <a:t>Time magazine cover: "London: The Swinging City" - America surrenders</a:t>
            </a:r>
            <a:endParaRPr b="0" lang="en-HK" sz="1000" spc="-1" strike="noStrike">
              <a:latin typeface="Arial"/>
            </a:endParaRPr>
          </a:p>
        </p:txBody>
      </p:sp>
      <p:sp>
        <p:nvSpPr>
          <p:cNvPr id="273" name="Shape 51"/>
          <p:cNvSpPr/>
          <p:nvPr/>
        </p:nvSpPr>
        <p:spPr>
          <a:xfrm>
            <a:off x="5054760" y="3936960"/>
            <a:ext cx="6816960" cy="1220040"/>
          </a:xfrm>
          <a:custGeom>
            <a:avLst/>
            <a:gdLst/>
            <a:ahLst/>
            <a:rect l="l" t="t" r="r" b="b"/>
            <a:pathLst>
              <a:path w="6818313" h="1222375">
                <a:moveTo>
                  <a:pt x="0" y="0"/>
                </a:moveTo>
                <a:lnTo>
                  <a:pt x="6818313" y="0"/>
                </a:lnTo>
                <a:lnTo>
                  <a:pt x="6818313" y="1222375"/>
                </a:lnTo>
                <a:lnTo>
                  <a:pt x="0" y="1222375"/>
                </a:lnTo>
                <a:lnTo>
                  <a:pt x="0" y="0"/>
                </a:lnTo>
                <a:close/>
              </a:path>
            </a:pathLst>
          </a:custGeom>
          <a:solidFill>
            <a:srgbClr val="ddff00"/>
          </a:solidFill>
          <a:ln w="0">
            <a:noFill/>
          </a:ln>
        </p:spPr>
        <p:style>
          <a:lnRef idx="0"/>
          <a:fillRef idx="0"/>
          <a:effectRef idx="0"/>
          <a:fontRef idx="minor"/>
        </p:style>
      </p:sp>
      <p:sp>
        <p:nvSpPr>
          <p:cNvPr id="274" name="Text 52"/>
          <p:cNvSpPr/>
          <p:nvPr/>
        </p:nvSpPr>
        <p:spPr>
          <a:xfrm>
            <a:off x="5213520" y="4095720"/>
            <a:ext cx="65786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The Invasion's Legacy</a:t>
            </a:r>
            <a:endParaRPr b="0" lang="en-HK" sz="1250" spc="-1" strike="noStrike">
              <a:latin typeface="Arial"/>
            </a:endParaRPr>
          </a:p>
        </p:txBody>
      </p:sp>
      <p:sp>
        <p:nvSpPr>
          <p:cNvPr id="275" name="Text 53"/>
          <p:cNvSpPr/>
          <p:nvPr/>
        </p:nvSpPr>
        <p:spPr>
          <a:xfrm>
            <a:off x="5213520" y="4381560"/>
            <a:ext cx="6562800" cy="617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The British Invasion proved that British musicians could not only match American artists but surpass them.</a:t>
            </a:r>
            <a:r>
              <a:rPr b="0" lang="en-US" sz="1000" spc="-1" strike="noStrike">
                <a:solidFill>
                  <a:srgbClr val="000000"/>
                </a:solidFill>
                <a:latin typeface="Liter"/>
                <a:ea typeface="Liter"/>
              </a:rPr>
              <a:t> By 1967, English and American bands were equal partners in one international rock culture. The invasion opened doors for foreign acts and established rock as a global phenomenon.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76" name="Image 0"/>
          <p:cNvSpPr/>
          <p:nvPr/>
        </p:nvSpPr>
        <p:spPr>
          <a:xfrm>
            <a:off x="0" y="0"/>
            <a:ext cx="12191040" cy="6855840"/>
          </a:xfrm>
          <a:prstGeom prst="roundRect">
            <a:avLst>
              <a:gd name="adj" fmla="val 0"/>
            </a:avLst>
          </a:prstGeom>
          <a:blipFill rotWithShape="0">
            <a:blip r:embed="rId1"/>
            <a:srcRect/>
            <a:stretch/>
          </a:blipFill>
          <a:ln w="0">
            <a:noFill/>
          </a:ln>
        </p:spPr>
        <p:style>
          <a:lnRef idx="0"/>
          <a:fillRef idx="0"/>
          <a:effectRef idx="0"/>
          <a:fontRef idx="minor"/>
        </p:style>
      </p:sp>
      <p:sp>
        <p:nvSpPr>
          <p:cNvPr id="277" name="Shape 0"/>
          <p:cNvSpPr/>
          <p:nvPr/>
        </p:nvSpPr>
        <p:spPr>
          <a:xfrm>
            <a:off x="0" y="0"/>
            <a:ext cx="12191040" cy="68558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000000"/>
              </a:gs>
              <a:gs pos="100000">
                <a:srgbClr val="000000">
                  <a:alpha val="60000"/>
                </a:srgbClr>
              </a:gs>
            </a:gsLst>
            <a:lin ang="0"/>
          </a:gradFill>
          <a:ln w="0">
            <a:noFill/>
          </a:ln>
        </p:spPr>
        <p:style>
          <a:lnRef idx="0"/>
          <a:fillRef idx="0"/>
          <a:effectRef idx="0"/>
          <a:fontRef idx="minor"/>
        </p:style>
      </p:sp>
      <p:sp>
        <p:nvSpPr>
          <p:cNvPr id="278" name="Shape 1"/>
          <p:cNvSpPr/>
          <p:nvPr/>
        </p:nvSpPr>
        <p:spPr>
          <a:xfrm rot="720600">
            <a:off x="10754280" y="5420160"/>
            <a:ext cx="874080" cy="874080"/>
          </a:xfrm>
          <a:custGeom>
            <a:avLst/>
            <a:gdLst/>
            <a:ahLst/>
            <a:rect l="l" t="t" r="r" b="b"/>
            <a:pathLst>
              <a:path w="876300" h="876300">
                <a:moveTo>
                  <a:pt x="0" y="0"/>
                </a:moveTo>
                <a:lnTo>
                  <a:pt x="876300" y="0"/>
                </a:lnTo>
                <a:lnTo>
                  <a:pt x="876300" y="876300"/>
                </a:lnTo>
                <a:lnTo>
                  <a:pt x="0" y="876300"/>
                </a:lnTo>
                <a:lnTo>
                  <a:pt x="0" y="0"/>
                </a:lnTo>
                <a:close/>
              </a:path>
            </a:pathLst>
          </a:custGeom>
          <a:noFill/>
          <a:ln w="50800">
            <a:solidFill>
              <a:srgbClr val="ddff00"/>
            </a:solidFill>
            <a:round/>
          </a:ln>
        </p:spPr>
        <p:style>
          <a:lnRef idx="0"/>
          <a:fillRef idx="0"/>
          <a:effectRef idx="0"/>
          <a:fontRef idx="minor"/>
        </p:style>
      </p:sp>
      <p:sp>
        <p:nvSpPr>
          <p:cNvPr id="279" name="Shape 2"/>
          <p:cNvSpPr/>
          <p:nvPr/>
        </p:nvSpPr>
        <p:spPr>
          <a:xfrm rot="21240000">
            <a:off x="318960" y="1309680"/>
            <a:ext cx="1217160" cy="1217160"/>
          </a:xfrm>
          <a:custGeom>
            <a:avLst/>
            <a:gdLst/>
            <a:ahLst/>
            <a:rect l="l" t="t" r="r" b="b"/>
            <a:pathLst>
              <a:path w="1219200" h="1219200">
                <a:moveTo>
                  <a:pt x="0" y="0"/>
                </a:moveTo>
                <a:lnTo>
                  <a:pt x="1219200" y="0"/>
                </a:lnTo>
                <a:lnTo>
                  <a:pt x="1219200" y="1219200"/>
                </a:lnTo>
                <a:lnTo>
                  <a:pt x="0" y="1219200"/>
                </a:lnTo>
                <a:lnTo>
                  <a:pt x="0" y="0"/>
                </a:lnTo>
                <a:close/>
              </a:path>
            </a:pathLst>
          </a:custGeom>
          <a:solidFill>
            <a:srgbClr val="ddff00"/>
          </a:solidFill>
          <a:ln w="0">
            <a:noFill/>
          </a:ln>
        </p:spPr>
        <p:style>
          <a:lnRef idx="0"/>
          <a:fillRef idx="0"/>
          <a:effectRef idx="0"/>
          <a:fontRef idx="minor"/>
        </p:style>
      </p:sp>
      <p:sp>
        <p:nvSpPr>
          <p:cNvPr id="280" name="Text 3"/>
          <p:cNvSpPr/>
          <p:nvPr/>
        </p:nvSpPr>
        <p:spPr>
          <a:xfrm>
            <a:off x="569520" y="1638360"/>
            <a:ext cx="1179000" cy="683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5400" spc="-1" strike="noStrike">
                <a:solidFill>
                  <a:srgbClr val="000000"/>
                </a:solidFill>
                <a:latin typeface="Liter"/>
                <a:ea typeface="Liter"/>
              </a:rPr>
              <a:t>03</a:t>
            </a:r>
            <a:endParaRPr b="0" lang="en-HK" sz="5400" spc="-1" strike="noStrike">
              <a:latin typeface="Arial"/>
            </a:endParaRPr>
          </a:p>
        </p:txBody>
      </p:sp>
      <p:sp>
        <p:nvSpPr>
          <p:cNvPr id="281" name="Shape 4"/>
          <p:cNvSpPr/>
          <p:nvPr/>
        </p:nvSpPr>
        <p:spPr>
          <a:xfrm>
            <a:off x="1828800" y="1752480"/>
            <a:ext cx="3313080" cy="36000"/>
          </a:xfrm>
          <a:custGeom>
            <a:avLst/>
            <a:gdLst/>
            <a:ahLst/>
            <a:rect l="l" t="t" r="r" b="b"/>
            <a:pathLst>
              <a:path w="3314700" h="38100">
                <a:moveTo>
                  <a:pt x="0" y="0"/>
                </a:moveTo>
                <a:lnTo>
                  <a:pt x="3314700" y="0"/>
                </a:lnTo>
                <a:lnTo>
                  <a:pt x="3314700" y="38100"/>
                </a:lnTo>
                <a:lnTo>
                  <a:pt x="0" y="38100"/>
                </a:lnTo>
                <a:lnTo>
                  <a:pt x="0" y="0"/>
                </a:lnTo>
                <a:close/>
              </a:path>
            </a:pathLst>
          </a:custGeom>
          <a:solidFill>
            <a:srgbClr val="ddff00"/>
          </a:solidFill>
          <a:ln w="0">
            <a:noFill/>
          </a:ln>
        </p:spPr>
        <p:style>
          <a:lnRef idx="0"/>
          <a:fillRef idx="0"/>
          <a:effectRef idx="0"/>
          <a:fontRef idx="minor"/>
        </p:style>
      </p:sp>
      <p:sp>
        <p:nvSpPr>
          <p:cNvPr id="282" name="Text 5"/>
          <p:cNvSpPr/>
          <p:nvPr/>
        </p:nvSpPr>
        <p:spPr>
          <a:xfrm>
            <a:off x="1828800" y="1943280"/>
            <a:ext cx="3398760" cy="264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20" strike="noStrike">
                <a:solidFill>
                  <a:srgbClr val="ddff00"/>
                </a:solidFill>
                <a:latin typeface="Liter"/>
                <a:ea typeface="Liter"/>
              </a:rPr>
              <a:t>CHAPTER THREE</a:t>
            </a:r>
            <a:endParaRPr b="0" lang="en-HK" sz="1350" spc="-1" strike="noStrike">
              <a:latin typeface="Arial"/>
            </a:endParaRPr>
          </a:p>
        </p:txBody>
      </p:sp>
      <p:sp>
        <p:nvSpPr>
          <p:cNvPr id="283" name="Text 6"/>
          <p:cNvSpPr/>
          <p:nvPr/>
        </p:nvSpPr>
        <p:spPr>
          <a:xfrm>
            <a:off x="380880" y="2895480"/>
            <a:ext cx="5103720" cy="171252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fffff"/>
                </a:solidFill>
                <a:latin typeface="Liter"/>
                <a:ea typeface="Liter"/>
              </a:rPr>
              <a:t>CLASSIC ROCK</a:t>
            </a:r>
            <a:endParaRPr b="0" lang="en-HK" sz="5400" spc="-1" strike="noStrike">
              <a:latin typeface="Arial"/>
            </a:endParaRPr>
          </a:p>
          <a:p>
            <a:pPr>
              <a:lnSpc>
                <a:spcPct val="100000"/>
              </a:lnSpc>
              <a:buNone/>
            </a:pPr>
            <a:r>
              <a:rPr b="1" lang="en-US" sz="5400" spc="-1" strike="noStrike">
                <a:solidFill>
                  <a:srgbClr val="ddff00"/>
                </a:solidFill>
                <a:latin typeface="Liter"/>
                <a:ea typeface="Liter"/>
              </a:rPr>
              <a:t>&amp; HARD ROCK</a:t>
            </a:r>
            <a:endParaRPr b="0" lang="en-HK" sz="5400" spc="-1" strike="noStrike">
              <a:latin typeface="Arial"/>
            </a:endParaRPr>
          </a:p>
        </p:txBody>
      </p:sp>
      <p:sp>
        <p:nvSpPr>
          <p:cNvPr id="284" name="Text 7"/>
          <p:cNvSpPr/>
          <p:nvPr/>
        </p:nvSpPr>
        <p:spPr>
          <a:xfrm>
            <a:off x="380880" y="4838760"/>
            <a:ext cx="4875120" cy="302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1800" spc="-1" strike="noStrike">
                <a:solidFill>
                  <a:srgbClr val="ffffff">
                    <a:alpha val="80000"/>
                  </a:srgbClr>
                </a:solidFill>
                <a:latin typeface="Liter"/>
                <a:ea typeface="Liter"/>
              </a:rPr>
              <a:t>Late 1960s-1970s: The Golden Age of Rock</a:t>
            </a:r>
            <a:endParaRPr b="0" lang="en-HK" sz="1800" spc="-1" strike="noStrike">
              <a:latin typeface="Arial"/>
            </a:endParaRPr>
          </a:p>
        </p:txBody>
      </p:sp>
      <p:sp>
        <p:nvSpPr>
          <p:cNvPr id="285" name="Shape 8"/>
          <p:cNvSpPr/>
          <p:nvPr/>
        </p:nvSpPr>
        <p:spPr>
          <a:xfrm>
            <a:off x="380880" y="5448240"/>
            <a:ext cx="759960" cy="36000"/>
          </a:xfrm>
          <a:custGeom>
            <a:avLst/>
            <a:gdLst/>
            <a:ahLst/>
            <a:rect l="l" t="t" r="r" b="b"/>
            <a:pathLst>
              <a:path w="762000" h="38100">
                <a:moveTo>
                  <a:pt x="0" y="0"/>
                </a:moveTo>
                <a:lnTo>
                  <a:pt x="762000" y="0"/>
                </a:lnTo>
                <a:lnTo>
                  <a:pt x="762000" y="38100"/>
                </a:lnTo>
                <a:lnTo>
                  <a:pt x="0" y="38100"/>
                </a:lnTo>
                <a:lnTo>
                  <a:pt x="0" y="0"/>
                </a:lnTo>
                <a:close/>
              </a:path>
            </a:pathLst>
          </a:custGeom>
          <a:solidFill>
            <a:srgbClr val="ddff00"/>
          </a:solidFill>
          <a:ln w="0">
            <a:noFill/>
          </a:ln>
        </p:spPr>
        <p:style>
          <a:lnRef idx="0"/>
          <a:fillRef idx="0"/>
          <a:effectRef idx="0"/>
          <a:fontRef idx="minor"/>
        </p:style>
      </p:sp>
      <p:sp>
        <p:nvSpPr>
          <p:cNvPr id="286" name="Shape 9"/>
          <p:cNvSpPr/>
          <p:nvPr/>
        </p:nvSpPr>
        <p:spPr>
          <a:xfrm>
            <a:off x="1295280" y="5448240"/>
            <a:ext cx="378720" cy="36000"/>
          </a:xfrm>
          <a:custGeom>
            <a:avLst/>
            <a:gdLst/>
            <a:ahLst/>
            <a:rect l="l" t="t" r="r" b="b"/>
            <a:pathLst>
              <a:path w="381000" h="38100">
                <a:moveTo>
                  <a:pt x="0" y="0"/>
                </a:moveTo>
                <a:lnTo>
                  <a:pt x="381000" y="0"/>
                </a:lnTo>
                <a:lnTo>
                  <a:pt x="381000" y="38100"/>
                </a:lnTo>
                <a:lnTo>
                  <a:pt x="0" y="38100"/>
                </a:lnTo>
                <a:lnTo>
                  <a:pt x="0" y="0"/>
                </a:lnTo>
                <a:close/>
              </a:path>
            </a:pathLst>
          </a:custGeom>
          <a:solidFill>
            <a:srgbClr val="ddff00"/>
          </a:solidFill>
          <a:ln w="0">
            <a:noFill/>
          </a:ln>
        </p:spPr>
        <p:style>
          <a:lnRef idx="0"/>
          <a:fillRef idx="0"/>
          <a:effectRef idx="0"/>
          <a:fontRef idx="minor"/>
        </p:style>
      </p:sp>
      <p:sp>
        <p:nvSpPr>
          <p:cNvPr id="287" name="Shape 10"/>
          <p:cNvSpPr/>
          <p:nvPr/>
        </p:nvSpPr>
        <p:spPr>
          <a:xfrm>
            <a:off x="1828800" y="5448240"/>
            <a:ext cx="188280" cy="36000"/>
          </a:xfrm>
          <a:custGeom>
            <a:avLst/>
            <a:gdLst/>
            <a:ahLst/>
            <a:rect l="l" t="t" r="r" b="b"/>
            <a:pathLst>
              <a:path w="190500" h="38100">
                <a:moveTo>
                  <a:pt x="0" y="0"/>
                </a:moveTo>
                <a:lnTo>
                  <a:pt x="190500" y="0"/>
                </a:lnTo>
                <a:lnTo>
                  <a:pt x="190500" y="38100"/>
                </a:lnTo>
                <a:lnTo>
                  <a:pt x="0" y="38100"/>
                </a:lnTo>
                <a:lnTo>
                  <a:pt x="0" y="0"/>
                </a:lnTo>
                <a:close/>
              </a:path>
            </a:pathLst>
          </a:custGeom>
          <a:solidFill>
            <a:srgbClr val="ddff00"/>
          </a:solidFill>
          <a:ln w="0">
            <a:no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288" name="Shape 0"/>
          <p:cNvSpPr/>
          <p:nvPr/>
        </p:nvSpPr>
        <p:spPr>
          <a:xfrm>
            <a:off x="327240" y="376560"/>
            <a:ext cx="63360" cy="390600"/>
          </a:xfrm>
          <a:custGeom>
            <a:avLst/>
            <a:gdLst/>
            <a:ahLst/>
            <a:rect l="l" t="t" r="r" b="b"/>
            <a:pathLst>
              <a:path w="65460" h="392762">
                <a:moveTo>
                  <a:pt x="0" y="0"/>
                </a:moveTo>
                <a:lnTo>
                  <a:pt x="65460" y="0"/>
                </a:lnTo>
                <a:lnTo>
                  <a:pt x="65460" y="392762"/>
                </a:lnTo>
                <a:lnTo>
                  <a:pt x="0" y="392762"/>
                </a:lnTo>
                <a:lnTo>
                  <a:pt x="0" y="0"/>
                </a:lnTo>
                <a:close/>
              </a:path>
            </a:pathLst>
          </a:custGeom>
          <a:solidFill>
            <a:srgbClr val="ddff00"/>
          </a:solidFill>
          <a:ln w="0">
            <a:noFill/>
          </a:ln>
        </p:spPr>
        <p:style>
          <a:lnRef idx="0"/>
          <a:fillRef idx="0"/>
          <a:effectRef idx="0"/>
          <a:fontRef idx="minor"/>
        </p:style>
      </p:sp>
      <p:sp>
        <p:nvSpPr>
          <p:cNvPr id="289" name="Text 1"/>
          <p:cNvSpPr/>
          <p:nvPr/>
        </p:nvSpPr>
        <p:spPr>
          <a:xfrm>
            <a:off x="523800" y="327240"/>
            <a:ext cx="31975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75" strike="noStrike">
                <a:solidFill>
                  <a:srgbClr val="ddff00"/>
                </a:solidFill>
                <a:latin typeface="Liter"/>
                <a:ea typeface="Liter"/>
              </a:rPr>
              <a:t>CHAPTER 03</a:t>
            </a:r>
            <a:endParaRPr b="0" lang="en-HK" sz="900" spc="-1" strike="noStrike">
              <a:latin typeface="Arial"/>
            </a:endParaRPr>
          </a:p>
        </p:txBody>
      </p:sp>
      <p:sp>
        <p:nvSpPr>
          <p:cNvPr id="290" name="Text 2"/>
          <p:cNvSpPr/>
          <p:nvPr/>
        </p:nvSpPr>
        <p:spPr>
          <a:xfrm>
            <a:off x="523800" y="491040"/>
            <a:ext cx="3287520" cy="325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20" spc="-1" strike="noStrike">
                <a:solidFill>
                  <a:srgbClr val="ffffff"/>
                </a:solidFill>
                <a:latin typeface="Liter"/>
                <a:ea typeface="Liter"/>
              </a:rPr>
              <a:t>The Rise of Classic Rock</a:t>
            </a:r>
            <a:endParaRPr b="0" lang="en-HK" sz="2320" spc="-1" strike="noStrike">
              <a:latin typeface="Arial"/>
            </a:endParaRPr>
          </a:p>
        </p:txBody>
      </p:sp>
      <p:sp>
        <p:nvSpPr>
          <p:cNvPr id="291" name="Shape 3"/>
          <p:cNvSpPr/>
          <p:nvPr/>
        </p:nvSpPr>
        <p:spPr>
          <a:xfrm>
            <a:off x="327240" y="1080000"/>
            <a:ext cx="6798240" cy="2125440"/>
          </a:xfrm>
          <a:custGeom>
            <a:avLst/>
            <a:gdLst/>
            <a:ahLst/>
            <a:rect l="l" t="t" r="r" b="b"/>
            <a:pathLst>
              <a:path w="6799699" h="2127463">
                <a:moveTo>
                  <a:pt x="0" y="0"/>
                </a:moveTo>
                <a:lnTo>
                  <a:pt x="6799699" y="0"/>
                </a:lnTo>
                <a:lnTo>
                  <a:pt x="6799699" y="2127463"/>
                </a:lnTo>
                <a:lnTo>
                  <a:pt x="0" y="2127463"/>
                </a:lnTo>
                <a:lnTo>
                  <a:pt x="0" y="0"/>
                </a:lnTo>
                <a:close/>
              </a:path>
            </a:pathLst>
          </a:custGeom>
          <a:solidFill>
            <a:srgbClr val="ddff00"/>
          </a:solidFill>
          <a:ln w="0">
            <a:noFill/>
          </a:ln>
        </p:spPr>
        <p:style>
          <a:lnRef idx="0"/>
          <a:fillRef idx="0"/>
          <a:effectRef idx="0"/>
          <a:fontRef idx="minor"/>
        </p:style>
      </p:sp>
      <p:sp>
        <p:nvSpPr>
          <p:cNvPr id="292" name="Text 4"/>
          <p:cNvSpPr/>
          <p:nvPr/>
        </p:nvSpPr>
        <p:spPr>
          <a:xfrm>
            <a:off x="523800" y="1276560"/>
            <a:ext cx="6503760" cy="259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40" spc="-1" strike="noStrike">
                <a:solidFill>
                  <a:srgbClr val="000000"/>
                </a:solidFill>
                <a:latin typeface="Liter"/>
                <a:ea typeface="Liter"/>
              </a:rPr>
              <a:t>From Singles to Albums</a:t>
            </a:r>
            <a:endParaRPr b="0" lang="en-HK" sz="1540" spc="-1" strike="noStrike">
              <a:latin typeface="Arial"/>
            </a:endParaRPr>
          </a:p>
        </p:txBody>
      </p:sp>
      <p:sp>
        <p:nvSpPr>
          <p:cNvPr id="293" name="Text 5"/>
          <p:cNvSpPr/>
          <p:nvPr/>
        </p:nvSpPr>
        <p:spPr>
          <a:xfrm>
            <a:off x="523800" y="1636560"/>
            <a:ext cx="6471000" cy="636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30" spc="-1" strike="noStrike">
                <a:solidFill>
                  <a:srgbClr val="000000"/>
                </a:solidFill>
                <a:latin typeface="Liter"/>
                <a:ea typeface="Liter"/>
              </a:rPr>
              <a:t>Classic rock emerged in the late 1960s through the 1970s</a:t>
            </a:r>
            <a:r>
              <a:rPr b="0" lang="en-US" sz="1030" spc="-1" strike="noStrike">
                <a:solidFill>
                  <a:srgbClr val="000000"/>
                </a:solidFill>
                <a:latin typeface="Liter"/>
                <a:ea typeface="Liter"/>
              </a:rPr>
              <a:t> as rock musicians transitioned from singles-oriented artists to album-focused creators. This era saw the birth of Album-Oriented Rock (AOR), where radio stations played not just hit singles but deeper album tracks, allowing for extensive exploration of an artist's catalog.</a:t>
            </a:r>
            <a:endParaRPr b="0" lang="en-HK" sz="1030" spc="-1" strike="noStrike">
              <a:latin typeface="Arial"/>
            </a:endParaRPr>
          </a:p>
        </p:txBody>
      </p:sp>
      <p:sp>
        <p:nvSpPr>
          <p:cNvPr id="294" name="Text 6"/>
          <p:cNvSpPr/>
          <p:nvPr/>
        </p:nvSpPr>
        <p:spPr>
          <a:xfrm>
            <a:off x="523800" y="2373120"/>
            <a:ext cx="6471000" cy="636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30" spc="-1" strike="noStrike">
                <a:solidFill>
                  <a:srgbClr val="000000">
                    <a:alpha val="80000"/>
                  </a:srgbClr>
                </a:solidFill>
                <a:latin typeface="Liter"/>
                <a:ea typeface="Liter"/>
              </a:rPr>
              <a:t>Classic rock is characterized by its melodic, radio-friendly sound with well-structured songs, catchy hooks, and strong vocal harmonies. It features prominent guitar work and classic rock instrumentation including electric guitars, bass, drums, and keyboards.</a:t>
            </a:r>
            <a:endParaRPr b="0" lang="en-HK" sz="1030" spc="-1" strike="noStrike">
              <a:latin typeface="Arial"/>
            </a:endParaRPr>
          </a:p>
        </p:txBody>
      </p:sp>
      <p:sp>
        <p:nvSpPr>
          <p:cNvPr id="295" name="Shape 7"/>
          <p:cNvSpPr/>
          <p:nvPr/>
        </p:nvSpPr>
        <p:spPr>
          <a:xfrm>
            <a:off x="335520" y="3346560"/>
            <a:ext cx="6782040" cy="2403360"/>
          </a:xfrm>
          <a:custGeom>
            <a:avLst/>
            <a:gdLst/>
            <a:ahLst/>
            <a:rect l="l" t="t" r="r" b="b"/>
            <a:pathLst>
              <a:path w="6783334" h="2405670">
                <a:moveTo>
                  <a:pt x="0" y="0"/>
                </a:moveTo>
                <a:lnTo>
                  <a:pt x="6783334" y="0"/>
                </a:lnTo>
                <a:lnTo>
                  <a:pt x="6783334" y="2405670"/>
                </a:lnTo>
                <a:lnTo>
                  <a:pt x="0" y="2405670"/>
                </a:lnTo>
                <a:lnTo>
                  <a:pt x="0" y="0"/>
                </a:lnTo>
                <a:close/>
              </a:path>
            </a:pathLst>
          </a:custGeom>
          <a:noFill/>
          <a:ln w="25400">
            <a:solidFill>
              <a:srgbClr val="ddff00"/>
            </a:solidFill>
            <a:round/>
          </a:ln>
        </p:spPr>
        <p:style>
          <a:lnRef idx="0"/>
          <a:fillRef idx="0"/>
          <a:effectRef idx="0"/>
          <a:fontRef idx="minor"/>
        </p:style>
      </p:sp>
      <p:sp>
        <p:nvSpPr>
          <p:cNvPr id="296" name="Text 8"/>
          <p:cNvSpPr/>
          <p:nvPr/>
        </p:nvSpPr>
        <p:spPr>
          <a:xfrm>
            <a:off x="507240" y="3518640"/>
            <a:ext cx="6519960" cy="22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90" spc="-1" strike="noStrike">
                <a:solidFill>
                  <a:srgbClr val="ddff00"/>
                </a:solidFill>
                <a:latin typeface="Liter"/>
                <a:ea typeface="Liter"/>
              </a:rPr>
              <a:t>Iconic Classic Rock Albums</a:t>
            </a:r>
            <a:endParaRPr b="0" lang="en-HK" sz="1290" spc="-1" strike="noStrike">
              <a:latin typeface="Arial"/>
            </a:endParaRPr>
          </a:p>
        </p:txBody>
      </p:sp>
      <p:sp>
        <p:nvSpPr>
          <p:cNvPr id="297" name="Shape 9"/>
          <p:cNvSpPr/>
          <p:nvPr/>
        </p:nvSpPr>
        <p:spPr>
          <a:xfrm>
            <a:off x="511560" y="3882600"/>
            <a:ext cx="316476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298" name="Text 10"/>
          <p:cNvSpPr/>
          <p:nvPr/>
        </p:nvSpPr>
        <p:spPr>
          <a:xfrm>
            <a:off x="613800" y="3984840"/>
            <a:ext cx="30340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Led Zeppelin IV</a:t>
            </a:r>
            <a:endParaRPr b="0" lang="en-HK" sz="1160" spc="-1" strike="noStrike">
              <a:latin typeface="Arial"/>
            </a:endParaRPr>
          </a:p>
        </p:txBody>
      </p:sp>
      <p:sp>
        <p:nvSpPr>
          <p:cNvPr id="299" name="Text 11"/>
          <p:cNvSpPr/>
          <p:nvPr/>
        </p:nvSpPr>
        <p:spPr>
          <a:xfrm>
            <a:off x="613800" y="4246920"/>
            <a:ext cx="30175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Led Zeppelin (1971)</a:t>
            </a:r>
            <a:endParaRPr b="0" lang="en-HK" sz="900" spc="-1" strike="noStrike">
              <a:latin typeface="Arial"/>
            </a:endParaRPr>
          </a:p>
        </p:txBody>
      </p:sp>
      <p:sp>
        <p:nvSpPr>
          <p:cNvPr id="300" name="Text 12"/>
          <p:cNvSpPr/>
          <p:nvPr/>
        </p:nvSpPr>
        <p:spPr>
          <a:xfrm>
            <a:off x="613800" y="4443120"/>
            <a:ext cx="300924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Features "Stairway to Heaven"</a:t>
            </a:r>
            <a:endParaRPr b="0" lang="en-HK" sz="770" spc="-1" strike="noStrike">
              <a:latin typeface="Arial"/>
            </a:endParaRPr>
          </a:p>
        </p:txBody>
      </p:sp>
      <p:sp>
        <p:nvSpPr>
          <p:cNvPr id="301" name="Shape 13"/>
          <p:cNvSpPr/>
          <p:nvPr/>
        </p:nvSpPr>
        <p:spPr>
          <a:xfrm>
            <a:off x="3782160" y="3882600"/>
            <a:ext cx="316476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2" name="Text 14"/>
          <p:cNvSpPr/>
          <p:nvPr/>
        </p:nvSpPr>
        <p:spPr>
          <a:xfrm>
            <a:off x="3884400" y="3984840"/>
            <a:ext cx="30340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The Dark Side of the Moon</a:t>
            </a:r>
            <a:endParaRPr b="0" lang="en-HK" sz="1160" spc="-1" strike="noStrike">
              <a:latin typeface="Arial"/>
            </a:endParaRPr>
          </a:p>
        </p:txBody>
      </p:sp>
      <p:sp>
        <p:nvSpPr>
          <p:cNvPr id="303" name="Text 15"/>
          <p:cNvSpPr/>
          <p:nvPr/>
        </p:nvSpPr>
        <p:spPr>
          <a:xfrm>
            <a:off x="3884400" y="4246920"/>
            <a:ext cx="30175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Pink Floyd (1973)</a:t>
            </a:r>
            <a:endParaRPr b="0" lang="en-HK" sz="900" spc="-1" strike="noStrike">
              <a:latin typeface="Arial"/>
            </a:endParaRPr>
          </a:p>
        </p:txBody>
      </p:sp>
      <p:sp>
        <p:nvSpPr>
          <p:cNvPr id="304" name="Text 16"/>
          <p:cNvSpPr/>
          <p:nvPr/>
        </p:nvSpPr>
        <p:spPr>
          <a:xfrm>
            <a:off x="3884400" y="4443120"/>
            <a:ext cx="300924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Concept album masterpiece</a:t>
            </a:r>
            <a:endParaRPr b="0" lang="en-HK" sz="770" spc="-1" strike="noStrike">
              <a:latin typeface="Arial"/>
            </a:endParaRPr>
          </a:p>
        </p:txBody>
      </p:sp>
      <p:sp>
        <p:nvSpPr>
          <p:cNvPr id="305" name="Shape 17"/>
          <p:cNvSpPr/>
          <p:nvPr/>
        </p:nvSpPr>
        <p:spPr>
          <a:xfrm>
            <a:off x="511560" y="4782600"/>
            <a:ext cx="316476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06" name="Text 18"/>
          <p:cNvSpPr/>
          <p:nvPr/>
        </p:nvSpPr>
        <p:spPr>
          <a:xfrm>
            <a:off x="613800" y="4884840"/>
            <a:ext cx="30340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Hotel California</a:t>
            </a:r>
            <a:endParaRPr b="0" lang="en-HK" sz="1160" spc="-1" strike="noStrike">
              <a:latin typeface="Arial"/>
            </a:endParaRPr>
          </a:p>
        </p:txBody>
      </p:sp>
      <p:sp>
        <p:nvSpPr>
          <p:cNvPr id="307" name="Text 19"/>
          <p:cNvSpPr/>
          <p:nvPr/>
        </p:nvSpPr>
        <p:spPr>
          <a:xfrm>
            <a:off x="613800" y="5146920"/>
            <a:ext cx="30175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Eagles (1976)</a:t>
            </a:r>
            <a:endParaRPr b="0" lang="en-HK" sz="900" spc="-1" strike="noStrike">
              <a:latin typeface="Arial"/>
            </a:endParaRPr>
          </a:p>
        </p:txBody>
      </p:sp>
      <p:sp>
        <p:nvSpPr>
          <p:cNvPr id="308" name="Text 20"/>
          <p:cNvSpPr/>
          <p:nvPr/>
        </p:nvSpPr>
        <p:spPr>
          <a:xfrm>
            <a:off x="613800" y="5343120"/>
            <a:ext cx="300924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Title track guitar solo legendary</a:t>
            </a:r>
            <a:endParaRPr b="0" lang="en-HK" sz="770" spc="-1" strike="noStrike">
              <a:latin typeface="Arial"/>
            </a:endParaRPr>
          </a:p>
        </p:txBody>
      </p:sp>
      <p:sp>
        <p:nvSpPr>
          <p:cNvPr id="309" name="Shape 21"/>
          <p:cNvSpPr/>
          <p:nvPr/>
        </p:nvSpPr>
        <p:spPr>
          <a:xfrm>
            <a:off x="3782160" y="4782600"/>
            <a:ext cx="3164760" cy="791640"/>
          </a:xfrm>
          <a:custGeom>
            <a:avLst/>
            <a:gdLst/>
            <a:ahLst/>
            <a:rect l="l" t="t" r="r" b="b"/>
            <a:pathLst>
              <a:path w="3166647" h="793707">
                <a:moveTo>
                  <a:pt x="0" y="0"/>
                </a:moveTo>
                <a:lnTo>
                  <a:pt x="3166647" y="0"/>
                </a:lnTo>
                <a:lnTo>
                  <a:pt x="3166647" y="793707"/>
                </a:lnTo>
                <a:lnTo>
                  <a:pt x="0" y="793707"/>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310" name="Text 22"/>
          <p:cNvSpPr/>
          <p:nvPr/>
        </p:nvSpPr>
        <p:spPr>
          <a:xfrm>
            <a:off x="3884400" y="4884840"/>
            <a:ext cx="303408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Who's Next</a:t>
            </a:r>
            <a:endParaRPr b="0" lang="en-HK" sz="1160" spc="-1" strike="noStrike">
              <a:latin typeface="Arial"/>
            </a:endParaRPr>
          </a:p>
        </p:txBody>
      </p:sp>
      <p:sp>
        <p:nvSpPr>
          <p:cNvPr id="311" name="Text 23"/>
          <p:cNvSpPr/>
          <p:nvPr/>
        </p:nvSpPr>
        <p:spPr>
          <a:xfrm>
            <a:off x="3884400" y="5146920"/>
            <a:ext cx="301752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00" spc="-1" strike="noStrike">
                <a:solidFill>
                  <a:srgbClr val="ffffff">
                    <a:alpha val="70000"/>
                  </a:srgbClr>
                </a:solidFill>
                <a:latin typeface="Liter"/>
                <a:ea typeface="Liter"/>
              </a:rPr>
              <a:t>The Who (1971)</a:t>
            </a:r>
            <a:endParaRPr b="0" lang="en-HK" sz="900" spc="-1" strike="noStrike">
              <a:latin typeface="Arial"/>
            </a:endParaRPr>
          </a:p>
        </p:txBody>
      </p:sp>
      <p:sp>
        <p:nvSpPr>
          <p:cNvPr id="312" name="Text 24"/>
          <p:cNvSpPr/>
          <p:nvPr/>
        </p:nvSpPr>
        <p:spPr>
          <a:xfrm>
            <a:off x="3884400" y="5343120"/>
            <a:ext cx="3009240" cy="128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70" spc="-1" strike="noStrike">
                <a:solidFill>
                  <a:srgbClr val="ffffff">
                    <a:alpha val="60000"/>
                  </a:srgbClr>
                </a:solidFill>
                <a:latin typeface="Liter"/>
                <a:ea typeface="Liter"/>
              </a:rPr>
              <a:t>"Baba O'Riley" &amp; "Won't Get Fooled Again"</a:t>
            </a:r>
            <a:endParaRPr b="0" lang="en-HK" sz="770" spc="-1" strike="noStrike">
              <a:latin typeface="Arial"/>
            </a:endParaRPr>
          </a:p>
        </p:txBody>
      </p:sp>
      <p:sp>
        <p:nvSpPr>
          <p:cNvPr id="313" name="Shape 25"/>
          <p:cNvSpPr/>
          <p:nvPr/>
        </p:nvSpPr>
        <p:spPr>
          <a:xfrm>
            <a:off x="87912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4" name="Shape 26"/>
          <p:cNvSpPr/>
          <p:nvPr/>
        </p:nvSpPr>
        <p:spPr>
          <a:xfrm>
            <a:off x="1030320" y="6055200"/>
            <a:ext cx="218880" cy="194400"/>
          </a:xfrm>
          <a:custGeom>
            <a:avLst/>
            <a:gdLst/>
            <a:ahLst/>
            <a:rect l="l" t="t" r="r" b="b"/>
            <a:pathLst>
              <a:path w="220929" h="196381">
                <a:moveTo>
                  <a:pt x="120053" y="33446"/>
                </a:moveTo>
                <a:cubicBezTo>
                  <a:pt x="123582" y="30646"/>
                  <a:pt x="125807" y="26312"/>
                  <a:pt x="125807" y="21479"/>
                </a:cubicBezTo>
                <a:cubicBezTo>
                  <a:pt x="125807" y="13003"/>
                  <a:pt x="118941" y="6137"/>
                  <a:pt x="110464" y="6137"/>
                </a:cubicBezTo>
                <a:cubicBezTo>
                  <a:pt x="101988" y="6137"/>
                  <a:pt x="95122" y="13003"/>
                  <a:pt x="95122" y="21479"/>
                </a:cubicBezTo>
                <a:cubicBezTo>
                  <a:pt x="95122" y="26312"/>
                  <a:pt x="97385" y="30646"/>
                  <a:pt x="100876" y="33446"/>
                </a:cubicBezTo>
                <a:lnTo>
                  <a:pt x="74640" y="74717"/>
                </a:lnTo>
                <a:cubicBezTo>
                  <a:pt x="70805" y="80739"/>
                  <a:pt x="62635" y="82235"/>
                  <a:pt x="56920" y="77939"/>
                </a:cubicBezTo>
                <a:lnTo>
                  <a:pt x="34098" y="60871"/>
                </a:lnTo>
                <a:cubicBezTo>
                  <a:pt x="35824" y="58416"/>
                  <a:pt x="36821" y="55386"/>
                  <a:pt x="36821" y="52164"/>
                </a:cubicBezTo>
                <a:cubicBezTo>
                  <a:pt x="36821" y="43687"/>
                  <a:pt x="29956" y="36821"/>
                  <a:pt x="21479" y="36821"/>
                </a:cubicBezTo>
                <a:cubicBezTo>
                  <a:pt x="13003" y="36821"/>
                  <a:pt x="6137" y="43687"/>
                  <a:pt x="6137" y="52164"/>
                </a:cubicBezTo>
                <a:cubicBezTo>
                  <a:pt x="6137" y="60525"/>
                  <a:pt x="12849" y="67353"/>
                  <a:pt x="21172" y="67506"/>
                </a:cubicBezTo>
                <a:lnTo>
                  <a:pt x="33676" y="150930"/>
                </a:lnTo>
                <a:cubicBezTo>
                  <a:pt x="35479" y="162935"/>
                  <a:pt x="45797" y="171834"/>
                  <a:pt x="57955" y="171834"/>
                </a:cubicBezTo>
                <a:lnTo>
                  <a:pt x="162973" y="171834"/>
                </a:lnTo>
                <a:cubicBezTo>
                  <a:pt x="175132" y="171834"/>
                  <a:pt x="185450" y="162935"/>
                  <a:pt x="187253" y="150930"/>
                </a:cubicBezTo>
                <a:lnTo>
                  <a:pt x="199757" y="67506"/>
                </a:lnTo>
                <a:cubicBezTo>
                  <a:pt x="208080" y="67353"/>
                  <a:pt x="214792" y="60525"/>
                  <a:pt x="214792" y="52164"/>
                </a:cubicBezTo>
                <a:cubicBezTo>
                  <a:pt x="214792" y="43687"/>
                  <a:pt x="207926" y="36821"/>
                  <a:pt x="199450" y="36821"/>
                </a:cubicBezTo>
                <a:cubicBezTo>
                  <a:pt x="190973" y="36821"/>
                  <a:pt x="184107" y="43687"/>
                  <a:pt x="184107" y="52164"/>
                </a:cubicBezTo>
                <a:cubicBezTo>
                  <a:pt x="184107" y="55386"/>
                  <a:pt x="185105" y="58416"/>
                  <a:pt x="186831" y="60871"/>
                </a:cubicBezTo>
                <a:lnTo>
                  <a:pt x="164047" y="77977"/>
                </a:lnTo>
                <a:cubicBezTo>
                  <a:pt x="158332" y="82273"/>
                  <a:pt x="150163" y="80777"/>
                  <a:pt x="146327" y="74755"/>
                </a:cubicBezTo>
                <a:lnTo>
                  <a:pt x="120053" y="33446"/>
                </a:lnTo>
                <a:close/>
              </a:path>
            </a:pathLst>
          </a:custGeom>
          <a:solidFill>
            <a:srgbClr val="000000"/>
          </a:solidFill>
          <a:ln w="0">
            <a:noFill/>
          </a:ln>
        </p:spPr>
        <p:style>
          <a:lnRef idx="0"/>
          <a:fillRef idx="0"/>
          <a:effectRef idx="0"/>
          <a:fontRef idx="minor"/>
        </p:style>
      </p:sp>
      <p:sp>
        <p:nvSpPr>
          <p:cNvPr id="315" name="Text 27"/>
          <p:cNvSpPr/>
          <p:nvPr/>
        </p:nvSpPr>
        <p:spPr>
          <a:xfrm>
            <a:off x="29880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Queen</a:t>
            </a:r>
            <a:endParaRPr b="0" lang="en-HK" sz="900" spc="-1" strike="noStrike">
              <a:latin typeface="Arial"/>
            </a:endParaRPr>
          </a:p>
        </p:txBody>
      </p:sp>
      <p:sp>
        <p:nvSpPr>
          <p:cNvPr id="316" name="Shape 28"/>
          <p:cNvSpPr/>
          <p:nvPr/>
        </p:nvSpPr>
        <p:spPr>
          <a:xfrm>
            <a:off x="260424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17" name="Shape 29"/>
          <p:cNvSpPr/>
          <p:nvPr/>
        </p:nvSpPr>
        <p:spPr>
          <a:xfrm>
            <a:off x="2768040" y="6055200"/>
            <a:ext cx="194400" cy="194400"/>
          </a:xfrm>
          <a:custGeom>
            <a:avLst/>
            <a:gdLst/>
            <a:ahLst/>
            <a:rect l="l" t="t" r="r" b="b"/>
            <a:pathLst>
              <a:path w="196381" h="196381">
                <a:moveTo>
                  <a:pt x="49095" y="122738"/>
                </a:moveTo>
                <a:lnTo>
                  <a:pt x="9397" y="122738"/>
                </a:lnTo>
                <a:cubicBezTo>
                  <a:pt x="-153" y="122738"/>
                  <a:pt x="-6022" y="112344"/>
                  <a:pt x="-1112" y="104136"/>
                </a:cubicBezTo>
                <a:lnTo>
                  <a:pt x="19178" y="70306"/>
                </a:lnTo>
                <a:cubicBezTo>
                  <a:pt x="22515" y="64744"/>
                  <a:pt x="28498" y="61369"/>
                  <a:pt x="34980" y="61369"/>
                </a:cubicBezTo>
                <a:lnTo>
                  <a:pt x="71418" y="61369"/>
                </a:lnTo>
                <a:cubicBezTo>
                  <a:pt x="100607" y="11929"/>
                  <a:pt x="144141" y="9436"/>
                  <a:pt x="173253" y="13693"/>
                </a:cubicBezTo>
                <a:cubicBezTo>
                  <a:pt x="178162" y="14422"/>
                  <a:pt x="181998" y="18257"/>
                  <a:pt x="182688" y="23128"/>
                </a:cubicBezTo>
                <a:cubicBezTo>
                  <a:pt x="186946" y="52240"/>
                  <a:pt x="184453" y="95774"/>
                  <a:pt x="135012" y="124963"/>
                </a:cubicBezTo>
                <a:lnTo>
                  <a:pt x="135012" y="161401"/>
                </a:lnTo>
                <a:cubicBezTo>
                  <a:pt x="135012" y="167883"/>
                  <a:pt x="131637" y="173866"/>
                  <a:pt x="126075" y="177203"/>
                </a:cubicBezTo>
                <a:lnTo>
                  <a:pt x="92245" y="197494"/>
                </a:lnTo>
                <a:cubicBezTo>
                  <a:pt x="84076" y="202403"/>
                  <a:pt x="73643" y="196496"/>
                  <a:pt x="73643" y="186984"/>
                </a:cubicBezTo>
                <a:lnTo>
                  <a:pt x="73643" y="147286"/>
                </a:lnTo>
                <a:cubicBezTo>
                  <a:pt x="73643" y="133746"/>
                  <a:pt x="62635" y="122738"/>
                  <a:pt x="49095" y="122738"/>
                </a:cubicBezTo>
                <a:lnTo>
                  <a:pt x="49057" y="122738"/>
                </a:lnTo>
                <a:close/>
                <a:moveTo>
                  <a:pt x="153423" y="61369"/>
                </a:moveTo>
                <a:cubicBezTo>
                  <a:pt x="153423" y="51208"/>
                  <a:pt x="145173" y="42958"/>
                  <a:pt x="135012" y="42958"/>
                </a:cubicBezTo>
                <a:cubicBezTo>
                  <a:pt x="124851" y="42958"/>
                  <a:pt x="116601" y="51208"/>
                  <a:pt x="116601" y="61369"/>
                </a:cubicBezTo>
                <a:cubicBezTo>
                  <a:pt x="116601" y="71530"/>
                  <a:pt x="124851" y="79780"/>
                  <a:pt x="135012" y="79780"/>
                </a:cubicBezTo>
                <a:cubicBezTo>
                  <a:pt x="145173" y="79780"/>
                  <a:pt x="153423" y="71530"/>
                  <a:pt x="153423" y="61369"/>
                </a:cubicBezTo>
                <a:close/>
              </a:path>
            </a:pathLst>
          </a:custGeom>
          <a:solidFill>
            <a:srgbClr val="000000"/>
          </a:solidFill>
          <a:ln w="0">
            <a:noFill/>
          </a:ln>
        </p:spPr>
        <p:style>
          <a:lnRef idx="0"/>
          <a:fillRef idx="0"/>
          <a:effectRef idx="0"/>
          <a:fontRef idx="minor"/>
        </p:style>
      </p:sp>
      <p:sp>
        <p:nvSpPr>
          <p:cNvPr id="318" name="Text 30"/>
          <p:cNvSpPr/>
          <p:nvPr/>
        </p:nvSpPr>
        <p:spPr>
          <a:xfrm>
            <a:off x="202392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David Bowie</a:t>
            </a:r>
            <a:endParaRPr b="0" lang="en-HK" sz="900" spc="-1" strike="noStrike">
              <a:latin typeface="Arial"/>
            </a:endParaRPr>
          </a:p>
        </p:txBody>
      </p:sp>
      <p:sp>
        <p:nvSpPr>
          <p:cNvPr id="319" name="Shape 31"/>
          <p:cNvSpPr/>
          <p:nvPr/>
        </p:nvSpPr>
        <p:spPr>
          <a:xfrm>
            <a:off x="433008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0" name="Shape 32"/>
          <p:cNvSpPr/>
          <p:nvPr/>
        </p:nvSpPr>
        <p:spPr>
          <a:xfrm>
            <a:off x="4493880" y="6055200"/>
            <a:ext cx="194400" cy="194400"/>
          </a:xfrm>
          <a:custGeom>
            <a:avLst/>
            <a:gdLst/>
            <a:ahLst/>
            <a:rect l="l" t="t" r="r" b="b"/>
            <a:pathLst>
              <a:path w="196381" h="196381">
                <a:moveTo>
                  <a:pt x="44761" y="12964"/>
                </a:moveTo>
                <a:cubicBezTo>
                  <a:pt x="46487" y="10625"/>
                  <a:pt x="49249" y="9205"/>
                  <a:pt x="52164" y="9205"/>
                </a:cubicBezTo>
                <a:lnTo>
                  <a:pt x="144217" y="9205"/>
                </a:lnTo>
                <a:cubicBezTo>
                  <a:pt x="147132" y="9205"/>
                  <a:pt x="149894" y="10586"/>
                  <a:pt x="151620" y="12964"/>
                </a:cubicBezTo>
                <a:lnTo>
                  <a:pt x="194578" y="71265"/>
                </a:lnTo>
                <a:cubicBezTo>
                  <a:pt x="197187" y="74794"/>
                  <a:pt x="196918" y="79665"/>
                  <a:pt x="194003" y="82925"/>
                </a:cubicBezTo>
                <a:lnTo>
                  <a:pt x="105018" y="181116"/>
                </a:lnTo>
                <a:cubicBezTo>
                  <a:pt x="103292" y="183033"/>
                  <a:pt x="100799" y="184146"/>
                  <a:pt x="98191" y="184146"/>
                </a:cubicBezTo>
                <a:cubicBezTo>
                  <a:pt x="95582" y="184146"/>
                  <a:pt x="93128" y="183033"/>
                  <a:pt x="91363" y="181116"/>
                </a:cubicBezTo>
                <a:lnTo>
                  <a:pt x="2378" y="82925"/>
                </a:lnTo>
                <a:cubicBezTo>
                  <a:pt x="-575" y="79665"/>
                  <a:pt x="-805" y="74794"/>
                  <a:pt x="1803" y="71265"/>
                </a:cubicBezTo>
                <a:lnTo>
                  <a:pt x="44761" y="12964"/>
                </a:lnTo>
                <a:close/>
                <a:moveTo>
                  <a:pt x="59528" y="28230"/>
                </a:moveTo>
                <a:cubicBezTo>
                  <a:pt x="58262" y="29189"/>
                  <a:pt x="57917" y="30915"/>
                  <a:pt x="58723" y="32257"/>
                </a:cubicBezTo>
                <a:lnTo>
                  <a:pt x="80739" y="68964"/>
                </a:lnTo>
                <a:lnTo>
                  <a:pt x="24279" y="73643"/>
                </a:lnTo>
                <a:cubicBezTo>
                  <a:pt x="22707" y="73758"/>
                  <a:pt x="21479" y="75100"/>
                  <a:pt x="21479" y="76711"/>
                </a:cubicBezTo>
                <a:cubicBezTo>
                  <a:pt x="21479" y="78322"/>
                  <a:pt x="22707" y="79626"/>
                  <a:pt x="24279" y="79780"/>
                </a:cubicBezTo>
                <a:lnTo>
                  <a:pt x="97922" y="85917"/>
                </a:lnTo>
                <a:cubicBezTo>
                  <a:pt x="98076" y="85917"/>
                  <a:pt x="98267" y="85917"/>
                  <a:pt x="98421" y="85917"/>
                </a:cubicBezTo>
                <a:lnTo>
                  <a:pt x="172064" y="79780"/>
                </a:lnTo>
                <a:cubicBezTo>
                  <a:pt x="173636" y="79665"/>
                  <a:pt x="174864" y="78322"/>
                  <a:pt x="174864" y="76711"/>
                </a:cubicBezTo>
                <a:cubicBezTo>
                  <a:pt x="174864" y="75100"/>
                  <a:pt x="173636" y="73796"/>
                  <a:pt x="172064" y="73643"/>
                </a:cubicBezTo>
                <a:lnTo>
                  <a:pt x="115604" y="68925"/>
                </a:lnTo>
                <a:lnTo>
                  <a:pt x="137620" y="32257"/>
                </a:lnTo>
                <a:cubicBezTo>
                  <a:pt x="138426" y="30915"/>
                  <a:pt x="138081" y="29150"/>
                  <a:pt x="136815" y="28230"/>
                </a:cubicBezTo>
                <a:cubicBezTo>
                  <a:pt x="135549" y="27309"/>
                  <a:pt x="133785" y="27463"/>
                  <a:pt x="132711" y="28613"/>
                </a:cubicBezTo>
                <a:lnTo>
                  <a:pt x="98191" y="66049"/>
                </a:lnTo>
                <a:lnTo>
                  <a:pt x="63632" y="28613"/>
                </a:lnTo>
                <a:cubicBezTo>
                  <a:pt x="62558" y="27463"/>
                  <a:pt x="60794" y="27309"/>
                  <a:pt x="59528" y="28230"/>
                </a:cubicBezTo>
                <a:close/>
              </a:path>
            </a:pathLst>
          </a:custGeom>
          <a:solidFill>
            <a:srgbClr val="000000"/>
          </a:solidFill>
          <a:ln w="0">
            <a:noFill/>
          </a:ln>
        </p:spPr>
        <p:style>
          <a:lnRef idx="0"/>
          <a:fillRef idx="0"/>
          <a:effectRef idx="0"/>
          <a:fontRef idx="minor"/>
        </p:style>
      </p:sp>
      <p:sp>
        <p:nvSpPr>
          <p:cNvPr id="321" name="Text 33"/>
          <p:cNvSpPr/>
          <p:nvPr/>
        </p:nvSpPr>
        <p:spPr>
          <a:xfrm>
            <a:off x="374940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Elton John</a:t>
            </a:r>
            <a:endParaRPr b="0" lang="en-HK" sz="900" spc="-1" strike="noStrike">
              <a:latin typeface="Arial"/>
            </a:endParaRPr>
          </a:p>
        </p:txBody>
      </p:sp>
      <p:sp>
        <p:nvSpPr>
          <p:cNvPr id="322" name="Shape 34"/>
          <p:cNvSpPr/>
          <p:nvPr/>
        </p:nvSpPr>
        <p:spPr>
          <a:xfrm>
            <a:off x="6055560" y="5891400"/>
            <a:ext cx="521640" cy="521640"/>
          </a:xfrm>
          <a:custGeom>
            <a:avLst/>
            <a:gdLst/>
            <a:ahLst/>
            <a:rect l="l" t="t" r="r" b="b"/>
            <a:pathLst>
              <a:path w="523683" h="523683">
                <a:moveTo>
                  <a:pt x="0" y="0"/>
                </a:moveTo>
                <a:lnTo>
                  <a:pt x="523683" y="0"/>
                </a:lnTo>
                <a:lnTo>
                  <a:pt x="523683" y="523683"/>
                </a:lnTo>
                <a:lnTo>
                  <a:pt x="0" y="523683"/>
                </a:lnTo>
                <a:lnTo>
                  <a:pt x="0" y="0"/>
                </a:lnTo>
                <a:close/>
              </a:path>
            </a:pathLst>
          </a:custGeom>
          <a:solidFill>
            <a:srgbClr val="ddff00"/>
          </a:solidFill>
          <a:ln w="0">
            <a:noFill/>
          </a:ln>
        </p:spPr>
        <p:style>
          <a:lnRef idx="0"/>
          <a:fillRef idx="0"/>
          <a:effectRef idx="0"/>
          <a:fontRef idx="minor"/>
        </p:style>
      </p:sp>
      <p:sp>
        <p:nvSpPr>
          <p:cNvPr id="323" name="Shape 35"/>
          <p:cNvSpPr/>
          <p:nvPr/>
        </p:nvSpPr>
        <p:spPr>
          <a:xfrm>
            <a:off x="6231600" y="6055200"/>
            <a:ext cx="169560" cy="194400"/>
          </a:xfrm>
          <a:custGeom>
            <a:avLst/>
            <a:gdLst/>
            <a:ahLst/>
            <a:rect l="l" t="t" r="r" b="b"/>
            <a:pathLst>
              <a:path w="171834" h="196381">
                <a:moveTo>
                  <a:pt x="129949" y="-3797"/>
                </a:moveTo>
                <a:cubicBezTo>
                  <a:pt x="134513" y="-499"/>
                  <a:pt x="136201" y="5485"/>
                  <a:pt x="134130" y="10701"/>
                </a:cubicBezTo>
                <a:lnTo>
                  <a:pt x="104059" y="85917"/>
                </a:lnTo>
                <a:lnTo>
                  <a:pt x="159560" y="85917"/>
                </a:lnTo>
                <a:cubicBezTo>
                  <a:pt x="164738" y="85917"/>
                  <a:pt x="169340" y="89139"/>
                  <a:pt x="171105" y="94010"/>
                </a:cubicBezTo>
                <a:cubicBezTo>
                  <a:pt x="172869" y="98881"/>
                  <a:pt x="171373" y="104328"/>
                  <a:pt x="167423" y="107626"/>
                </a:cubicBezTo>
                <a:lnTo>
                  <a:pt x="56958" y="199680"/>
                </a:lnTo>
                <a:cubicBezTo>
                  <a:pt x="52624" y="203285"/>
                  <a:pt x="46449" y="203477"/>
                  <a:pt x="41884" y="200178"/>
                </a:cubicBezTo>
                <a:cubicBezTo>
                  <a:pt x="37320" y="196880"/>
                  <a:pt x="35632" y="190896"/>
                  <a:pt x="37704" y="185680"/>
                </a:cubicBezTo>
                <a:lnTo>
                  <a:pt x="67775" y="110464"/>
                </a:lnTo>
                <a:lnTo>
                  <a:pt x="12274" y="110464"/>
                </a:lnTo>
                <a:cubicBezTo>
                  <a:pt x="7096" y="110464"/>
                  <a:pt x="2493" y="107243"/>
                  <a:pt x="729" y="102371"/>
                </a:cubicBezTo>
                <a:cubicBezTo>
                  <a:pt x="-1036" y="97500"/>
                  <a:pt x="460" y="92054"/>
                  <a:pt x="4411" y="88755"/>
                </a:cubicBezTo>
                <a:lnTo>
                  <a:pt x="114875" y="-3299"/>
                </a:lnTo>
                <a:cubicBezTo>
                  <a:pt x="119210" y="-6904"/>
                  <a:pt x="125385" y="-7096"/>
                  <a:pt x="129949" y="-3797"/>
                </a:cubicBezTo>
                <a:close/>
              </a:path>
            </a:pathLst>
          </a:custGeom>
          <a:solidFill>
            <a:srgbClr val="000000"/>
          </a:solidFill>
          <a:ln w="0">
            <a:noFill/>
          </a:ln>
        </p:spPr>
        <p:style>
          <a:lnRef idx="0"/>
          <a:fillRef idx="0"/>
          <a:effectRef idx="0"/>
          <a:fontRef idx="minor"/>
        </p:style>
      </p:sp>
      <p:sp>
        <p:nvSpPr>
          <p:cNvPr id="324" name="Text 36"/>
          <p:cNvSpPr/>
          <p:nvPr/>
        </p:nvSpPr>
        <p:spPr>
          <a:xfrm>
            <a:off x="5475240" y="6480720"/>
            <a:ext cx="1683360" cy="1616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00" spc="-1" strike="noStrike">
                <a:solidFill>
                  <a:srgbClr val="ffffff"/>
                </a:solidFill>
                <a:latin typeface="Liter"/>
                <a:ea typeface="Liter"/>
              </a:rPr>
              <a:t>Aerosmith</a:t>
            </a:r>
            <a:endParaRPr b="0" lang="en-HK" sz="900" spc="-1" strike="noStrike">
              <a:latin typeface="Arial"/>
            </a:endParaRPr>
          </a:p>
        </p:txBody>
      </p:sp>
      <p:sp>
        <p:nvSpPr>
          <p:cNvPr id="325" name="Image 0"/>
          <p:cNvSpPr/>
          <p:nvPr/>
        </p:nvSpPr>
        <p:spPr>
          <a:xfrm>
            <a:off x="7327440" y="1080000"/>
            <a:ext cx="4531320" cy="3499920"/>
          </a:xfrm>
          <a:prstGeom prst="roundRect">
            <a:avLst>
              <a:gd name="adj" fmla="val 0"/>
            </a:avLst>
          </a:prstGeom>
          <a:blipFill rotWithShape="0">
            <a:blip r:embed="rId1"/>
            <a:srcRect/>
            <a:stretch/>
          </a:blipFill>
          <a:ln w="0">
            <a:noFill/>
          </a:ln>
        </p:spPr>
        <p:style>
          <a:lnRef idx="0"/>
          <a:fillRef idx="0"/>
          <a:effectRef idx="0"/>
          <a:fontRef idx="minor"/>
        </p:style>
      </p:sp>
      <p:sp>
        <p:nvSpPr>
          <p:cNvPr id="326" name="Shape 37"/>
          <p:cNvSpPr/>
          <p:nvPr/>
        </p:nvSpPr>
        <p:spPr>
          <a:xfrm>
            <a:off x="7327440" y="1080000"/>
            <a:ext cx="4531320" cy="3499920"/>
          </a:xfrm>
          <a:custGeom>
            <a:avLst/>
            <a:gdLst/>
            <a:ahLst/>
            <a:rect l="l" t="t" r="r" b="b"/>
            <a:pathLst>
              <a:path w="4533133" h="3502132">
                <a:moveTo>
                  <a:pt x="0" y="0"/>
                </a:moveTo>
                <a:lnTo>
                  <a:pt x="4533133" y="0"/>
                </a:lnTo>
                <a:lnTo>
                  <a:pt x="4533133" y="3502132"/>
                </a:lnTo>
                <a:lnTo>
                  <a:pt x="0" y="3502132"/>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327" name="Text 38"/>
          <p:cNvSpPr/>
          <p:nvPr/>
        </p:nvSpPr>
        <p:spPr>
          <a:xfrm>
            <a:off x="7458480" y="4025880"/>
            <a:ext cx="4326840" cy="161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00" spc="-1" strike="noStrike">
                <a:solidFill>
                  <a:srgbClr val="ddff00"/>
                </a:solidFill>
                <a:latin typeface="Liter"/>
                <a:ea typeface="Liter"/>
              </a:rPr>
              <a:t>1970s ROCK</a:t>
            </a:r>
            <a:endParaRPr b="0" lang="en-HK" sz="900" spc="-1" strike="noStrike">
              <a:latin typeface="Arial"/>
            </a:endParaRPr>
          </a:p>
        </p:txBody>
      </p:sp>
      <p:sp>
        <p:nvSpPr>
          <p:cNvPr id="328" name="Text 39"/>
          <p:cNvSpPr/>
          <p:nvPr/>
        </p:nvSpPr>
        <p:spPr>
          <a:xfrm>
            <a:off x="7458480" y="4222080"/>
            <a:ext cx="434304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ffffff"/>
                </a:solidFill>
                <a:latin typeface="Liter"/>
                <a:ea typeface="Liter"/>
              </a:rPr>
              <a:t>Stadium Rock Era</a:t>
            </a:r>
            <a:endParaRPr b="0" lang="en-HK" sz="1160" spc="-1" strike="noStrike">
              <a:latin typeface="Arial"/>
            </a:endParaRPr>
          </a:p>
        </p:txBody>
      </p:sp>
      <p:sp>
        <p:nvSpPr>
          <p:cNvPr id="329" name="Shape 40"/>
          <p:cNvSpPr/>
          <p:nvPr/>
        </p:nvSpPr>
        <p:spPr>
          <a:xfrm>
            <a:off x="7335720" y="4721400"/>
            <a:ext cx="4515120" cy="1912680"/>
          </a:xfrm>
          <a:custGeom>
            <a:avLst/>
            <a:gdLst/>
            <a:ahLst/>
            <a:rect l="l" t="t" r="r" b="b"/>
            <a:pathLst>
              <a:path w="4516768" h="1914717">
                <a:moveTo>
                  <a:pt x="0" y="0"/>
                </a:moveTo>
                <a:lnTo>
                  <a:pt x="4516768" y="0"/>
                </a:lnTo>
                <a:lnTo>
                  <a:pt x="4516768" y="1914717"/>
                </a:lnTo>
                <a:lnTo>
                  <a:pt x="0" y="1914717"/>
                </a:lnTo>
                <a:lnTo>
                  <a:pt x="0" y="0"/>
                </a:lnTo>
                <a:close/>
              </a:path>
            </a:pathLst>
          </a:custGeom>
          <a:noFill/>
          <a:ln w="25400">
            <a:solidFill>
              <a:srgbClr val="ddff00"/>
            </a:solidFill>
            <a:round/>
          </a:ln>
        </p:spPr>
        <p:style>
          <a:lnRef idx="0"/>
          <a:fillRef idx="0"/>
          <a:effectRef idx="0"/>
          <a:fontRef idx="minor"/>
        </p:style>
      </p:sp>
      <p:sp>
        <p:nvSpPr>
          <p:cNvPr id="330" name="Text 41"/>
          <p:cNvSpPr/>
          <p:nvPr/>
        </p:nvSpPr>
        <p:spPr>
          <a:xfrm>
            <a:off x="7507440" y="4893120"/>
            <a:ext cx="4245120" cy="226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60" spc="-1" strike="noStrike">
                <a:solidFill>
                  <a:srgbClr val="ddff00"/>
                </a:solidFill>
                <a:latin typeface="Liter"/>
                <a:ea typeface="Liter"/>
              </a:rPr>
              <a:t>Musical Characteristics</a:t>
            </a:r>
            <a:endParaRPr b="0" lang="en-HK" sz="1160" spc="-1" strike="noStrike">
              <a:latin typeface="Arial"/>
            </a:endParaRPr>
          </a:p>
        </p:txBody>
      </p:sp>
      <p:sp>
        <p:nvSpPr>
          <p:cNvPr id="331" name="Shape 42"/>
          <p:cNvSpPr/>
          <p:nvPr/>
        </p:nvSpPr>
        <p:spPr>
          <a:xfrm>
            <a:off x="7507440" y="528588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2" name="Text 43"/>
          <p:cNvSpPr/>
          <p:nvPr/>
        </p:nvSpPr>
        <p:spPr>
          <a:xfrm>
            <a:off x="7638480" y="5220360"/>
            <a:ext cx="2379240" cy="194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Melodic hooks</a:t>
            </a:r>
            <a:r>
              <a:rPr b="0" lang="en-US" sz="1030" spc="-1" strike="noStrike">
                <a:solidFill>
                  <a:srgbClr val="ffffff">
                    <a:alpha val="80000"/>
                  </a:srgbClr>
                </a:solidFill>
                <a:latin typeface="Liter"/>
                <a:ea typeface="Liter"/>
              </a:rPr>
              <a:t> and memorable choruses</a:t>
            </a:r>
            <a:endParaRPr b="0" lang="en-HK" sz="1030" spc="-1" strike="noStrike">
              <a:latin typeface="Arial"/>
            </a:endParaRPr>
          </a:p>
        </p:txBody>
      </p:sp>
      <p:sp>
        <p:nvSpPr>
          <p:cNvPr id="333" name="Shape 44"/>
          <p:cNvSpPr/>
          <p:nvPr/>
        </p:nvSpPr>
        <p:spPr>
          <a:xfrm>
            <a:off x="7507440" y="554760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4" name="Text 45"/>
          <p:cNvSpPr/>
          <p:nvPr/>
        </p:nvSpPr>
        <p:spPr>
          <a:xfrm>
            <a:off x="7638480" y="5482440"/>
            <a:ext cx="2436480" cy="194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Prominent guitar work</a:t>
            </a:r>
            <a:r>
              <a:rPr b="0" lang="en-US" sz="1030" spc="-1" strike="noStrike">
                <a:solidFill>
                  <a:srgbClr val="ffffff">
                    <a:alpha val="80000"/>
                  </a:srgbClr>
                </a:solidFill>
                <a:latin typeface="Liter"/>
                <a:ea typeface="Liter"/>
              </a:rPr>
              <a:t> with solos and riffs</a:t>
            </a:r>
            <a:endParaRPr b="0" lang="en-HK" sz="1030" spc="-1" strike="noStrike">
              <a:latin typeface="Arial"/>
            </a:endParaRPr>
          </a:p>
        </p:txBody>
      </p:sp>
      <p:sp>
        <p:nvSpPr>
          <p:cNvPr id="335" name="Shape 46"/>
          <p:cNvSpPr/>
          <p:nvPr/>
        </p:nvSpPr>
        <p:spPr>
          <a:xfrm>
            <a:off x="7507440" y="580968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6" name="Text 47"/>
          <p:cNvSpPr/>
          <p:nvPr/>
        </p:nvSpPr>
        <p:spPr>
          <a:xfrm>
            <a:off x="7638480" y="5748120"/>
            <a:ext cx="1416960" cy="18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Strong vocal harmonies</a:t>
            </a:r>
            <a:endParaRPr b="0" lang="en-HK" sz="1030" spc="-1" strike="noStrike">
              <a:latin typeface="Arial"/>
            </a:endParaRPr>
          </a:p>
        </p:txBody>
      </p:sp>
      <p:sp>
        <p:nvSpPr>
          <p:cNvPr id="337" name="Shape 48"/>
          <p:cNvSpPr/>
          <p:nvPr/>
        </p:nvSpPr>
        <p:spPr>
          <a:xfrm>
            <a:off x="7507440" y="607140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38" name="Text 49"/>
          <p:cNvSpPr/>
          <p:nvPr/>
        </p:nvSpPr>
        <p:spPr>
          <a:xfrm>
            <a:off x="7638480" y="6005880"/>
            <a:ext cx="2886480" cy="194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Keyboard integration</a:t>
            </a:r>
            <a:r>
              <a:rPr b="0" lang="en-US" sz="1030" spc="-1" strike="noStrike">
                <a:solidFill>
                  <a:srgbClr val="ffffff">
                    <a:alpha val="80000"/>
                  </a:srgbClr>
                </a:solidFill>
                <a:latin typeface="Liter"/>
                <a:ea typeface="Liter"/>
              </a:rPr>
              <a:t> (piano, organ, synthesizers)</a:t>
            </a:r>
            <a:endParaRPr b="0" lang="en-HK" sz="1030" spc="-1" strike="noStrike">
              <a:latin typeface="Arial"/>
            </a:endParaRPr>
          </a:p>
        </p:txBody>
      </p:sp>
      <p:sp>
        <p:nvSpPr>
          <p:cNvPr id="339" name="Shape 50"/>
          <p:cNvSpPr/>
          <p:nvPr/>
        </p:nvSpPr>
        <p:spPr>
          <a:xfrm>
            <a:off x="7507440" y="6333120"/>
            <a:ext cx="63360" cy="63360"/>
          </a:xfrm>
          <a:custGeom>
            <a:avLst/>
            <a:gdLst/>
            <a:ahLst/>
            <a:rect l="l" t="t" r="r" b="b"/>
            <a:pathLst>
              <a:path w="65460" h="65460">
                <a:moveTo>
                  <a:pt x="0" y="0"/>
                </a:moveTo>
                <a:lnTo>
                  <a:pt x="65460" y="0"/>
                </a:lnTo>
                <a:lnTo>
                  <a:pt x="65460" y="65460"/>
                </a:lnTo>
                <a:lnTo>
                  <a:pt x="0" y="65460"/>
                </a:lnTo>
                <a:lnTo>
                  <a:pt x="0" y="0"/>
                </a:lnTo>
                <a:close/>
              </a:path>
            </a:pathLst>
          </a:custGeom>
          <a:solidFill>
            <a:srgbClr val="ddff00"/>
          </a:solidFill>
          <a:ln w="0">
            <a:noFill/>
          </a:ln>
        </p:spPr>
        <p:style>
          <a:lnRef idx="0"/>
          <a:fillRef idx="0"/>
          <a:effectRef idx="0"/>
          <a:fontRef idx="minor"/>
        </p:style>
      </p:sp>
      <p:sp>
        <p:nvSpPr>
          <p:cNvPr id="340" name="Text 51"/>
          <p:cNvSpPr/>
          <p:nvPr/>
        </p:nvSpPr>
        <p:spPr>
          <a:xfrm>
            <a:off x="7638480" y="6271920"/>
            <a:ext cx="1537200" cy="1861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30" spc="-1" strike="noStrike">
                <a:solidFill>
                  <a:srgbClr val="ffffff">
                    <a:alpha val="80000"/>
                  </a:srgbClr>
                </a:solidFill>
                <a:latin typeface="Liter"/>
                <a:ea typeface="Liter"/>
              </a:rPr>
              <a:t>Radio-friendly production</a:t>
            </a:r>
            <a:endParaRPr b="0" lang="en-HK" sz="103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341" name="Shape 0"/>
          <p:cNvSpPr/>
          <p:nvPr/>
        </p:nvSpPr>
        <p:spPr>
          <a:xfrm>
            <a:off x="317520" y="365040"/>
            <a:ext cx="61200" cy="378720"/>
          </a:xfrm>
          <a:custGeom>
            <a:avLst/>
            <a:gdLst/>
            <a:ahLst/>
            <a:rect l="l" t="t" r="r" b="b"/>
            <a:pathLst>
              <a:path w="63500" h="381000">
                <a:moveTo>
                  <a:pt x="0" y="0"/>
                </a:moveTo>
                <a:lnTo>
                  <a:pt x="63500" y="0"/>
                </a:lnTo>
                <a:lnTo>
                  <a:pt x="63500" y="381000"/>
                </a:lnTo>
                <a:lnTo>
                  <a:pt x="0" y="381000"/>
                </a:lnTo>
                <a:lnTo>
                  <a:pt x="0" y="0"/>
                </a:lnTo>
                <a:close/>
              </a:path>
            </a:pathLst>
          </a:custGeom>
          <a:solidFill>
            <a:srgbClr val="ddff00"/>
          </a:solidFill>
          <a:ln w="0">
            <a:noFill/>
          </a:ln>
        </p:spPr>
        <p:style>
          <a:lnRef idx="0"/>
          <a:fillRef idx="0"/>
          <a:effectRef idx="0"/>
          <a:fontRef idx="minor"/>
        </p:style>
      </p:sp>
      <p:sp>
        <p:nvSpPr>
          <p:cNvPr id="342" name="Text 1"/>
          <p:cNvSpPr/>
          <p:nvPr/>
        </p:nvSpPr>
        <p:spPr>
          <a:xfrm>
            <a:off x="507960" y="317520"/>
            <a:ext cx="438768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72" strike="noStrike">
                <a:solidFill>
                  <a:srgbClr val="ddff00"/>
                </a:solidFill>
                <a:latin typeface="Liter"/>
                <a:ea typeface="Liter"/>
              </a:rPr>
              <a:t>CHAPTER 03</a:t>
            </a:r>
            <a:endParaRPr b="0" lang="en-HK" sz="880" spc="-1" strike="noStrike">
              <a:latin typeface="Arial"/>
            </a:endParaRPr>
          </a:p>
        </p:txBody>
      </p:sp>
      <p:sp>
        <p:nvSpPr>
          <p:cNvPr id="343" name="Text 2"/>
          <p:cNvSpPr/>
          <p:nvPr/>
        </p:nvSpPr>
        <p:spPr>
          <a:xfrm>
            <a:off x="507960" y="476280"/>
            <a:ext cx="4474800" cy="3153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ffffff"/>
                </a:solidFill>
                <a:latin typeface="Liter"/>
                <a:ea typeface="Liter"/>
              </a:rPr>
              <a:t>Hard Rock: Louder, Heavier, Faster</a:t>
            </a:r>
            <a:endParaRPr b="0" lang="en-HK" sz="2250" spc="-1" strike="noStrike">
              <a:latin typeface="Arial"/>
            </a:endParaRPr>
          </a:p>
        </p:txBody>
      </p:sp>
      <p:sp>
        <p:nvSpPr>
          <p:cNvPr id="344" name="Shape 3"/>
          <p:cNvSpPr/>
          <p:nvPr/>
        </p:nvSpPr>
        <p:spPr>
          <a:xfrm>
            <a:off x="317520" y="1047600"/>
            <a:ext cx="4546440" cy="2474280"/>
          </a:xfrm>
          <a:custGeom>
            <a:avLst/>
            <a:gdLst/>
            <a:ahLst/>
            <a:rect l="l" t="t" r="r" b="b"/>
            <a:pathLst>
              <a:path w="4548188" h="2476500">
                <a:moveTo>
                  <a:pt x="0" y="0"/>
                </a:moveTo>
                <a:lnTo>
                  <a:pt x="4548188" y="0"/>
                </a:lnTo>
                <a:lnTo>
                  <a:pt x="4548188" y="2476500"/>
                </a:lnTo>
                <a:lnTo>
                  <a:pt x="0" y="2476500"/>
                </a:lnTo>
                <a:lnTo>
                  <a:pt x="0" y="0"/>
                </a:lnTo>
                <a:close/>
              </a:path>
            </a:pathLst>
          </a:custGeom>
          <a:solidFill>
            <a:srgbClr val="ddff00"/>
          </a:solidFill>
          <a:ln w="0">
            <a:noFill/>
          </a:ln>
        </p:spPr>
        <p:style>
          <a:lnRef idx="0"/>
          <a:fillRef idx="0"/>
          <a:effectRef idx="0"/>
          <a:fontRef idx="minor"/>
        </p:style>
      </p:sp>
      <p:sp>
        <p:nvSpPr>
          <p:cNvPr id="345" name="Text 4"/>
          <p:cNvSpPr/>
          <p:nvPr/>
        </p:nvSpPr>
        <p:spPr>
          <a:xfrm>
            <a:off x="507960" y="1238400"/>
            <a:ext cx="42606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The Evolution of Power</a:t>
            </a:r>
            <a:endParaRPr b="0" lang="en-HK" sz="1500" spc="-1" strike="noStrike">
              <a:latin typeface="Arial"/>
            </a:endParaRPr>
          </a:p>
        </p:txBody>
      </p:sp>
      <p:sp>
        <p:nvSpPr>
          <p:cNvPr id="346" name="Text 5"/>
          <p:cNvSpPr/>
          <p:nvPr/>
        </p:nvSpPr>
        <p:spPr>
          <a:xfrm>
            <a:off x="507960" y="1587600"/>
            <a:ext cx="422892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00" spc="-1" strike="noStrike">
                <a:solidFill>
                  <a:srgbClr val="000000"/>
                </a:solidFill>
                <a:latin typeface="Liter"/>
                <a:ea typeface="Liter"/>
              </a:rPr>
              <a:t>Hard rock emerged as a subgenre that combined the sound and attitude of rock 'n' roll with a heavier, more aggressive approach.</a:t>
            </a:r>
            <a:r>
              <a:rPr b="0" lang="en-US" sz="1000" spc="-1" strike="noStrike">
                <a:solidFill>
                  <a:srgbClr val="000000"/>
                </a:solidFill>
                <a:latin typeface="Liter"/>
                <a:ea typeface="Liter"/>
              </a:rPr>
              <a:t> It grew out of the blues-based rock and psychedelic rock of the 1960s, pushing the boundaries of volume, distortion, and intensity.</a:t>
            </a:r>
            <a:endParaRPr b="0" lang="en-HK" sz="1000" spc="-1" strike="noStrike">
              <a:latin typeface="Arial"/>
            </a:endParaRPr>
          </a:p>
        </p:txBody>
      </p:sp>
      <p:sp>
        <p:nvSpPr>
          <p:cNvPr id="347" name="Text 6"/>
          <p:cNvSpPr/>
          <p:nvPr/>
        </p:nvSpPr>
        <p:spPr>
          <a:xfrm>
            <a:off x="507960" y="2508120"/>
            <a:ext cx="4228920" cy="823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000000">
                    <a:alpha val="80000"/>
                  </a:srgbClr>
                </a:solidFill>
                <a:latin typeface="Liter"/>
                <a:ea typeface="Liter"/>
              </a:rPr>
              <a:t>Hard rock is characterized by powerful, distorted guitar riffs, strong rhythm sections, and often high-energy, driving tempos. Extended guitar solos became a signature element, showcasing technical virtuosity and emotional expression.</a:t>
            </a:r>
            <a:endParaRPr b="0" lang="en-HK" sz="1000" spc="-1" strike="noStrike">
              <a:latin typeface="Arial"/>
            </a:endParaRPr>
          </a:p>
        </p:txBody>
      </p:sp>
      <p:sp>
        <p:nvSpPr>
          <p:cNvPr id="348" name="Shape 7"/>
          <p:cNvSpPr/>
          <p:nvPr/>
        </p:nvSpPr>
        <p:spPr>
          <a:xfrm>
            <a:off x="325440" y="3659040"/>
            <a:ext cx="4530600" cy="2871360"/>
          </a:xfrm>
          <a:custGeom>
            <a:avLst/>
            <a:gdLst/>
            <a:ahLst/>
            <a:rect l="l" t="t" r="r" b="b"/>
            <a:pathLst>
              <a:path w="4532313" h="2873375">
                <a:moveTo>
                  <a:pt x="0" y="0"/>
                </a:moveTo>
                <a:lnTo>
                  <a:pt x="4532313" y="0"/>
                </a:lnTo>
                <a:lnTo>
                  <a:pt x="4532313" y="2873375"/>
                </a:lnTo>
                <a:lnTo>
                  <a:pt x="0" y="2873375"/>
                </a:lnTo>
                <a:lnTo>
                  <a:pt x="0" y="0"/>
                </a:lnTo>
                <a:close/>
              </a:path>
            </a:pathLst>
          </a:custGeom>
          <a:noFill/>
          <a:ln w="25400">
            <a:solidFill>
              <a:srgbClr val="ddff00"/>
            </a:solidFill>
            <a:round/>
          </a:ln>
        </p:spPr>
        <p:style>
          <a:lnRef idx="0"/>
          <a:fillRef idx="0"/>
          <a:effectRef idx="0"/>
          <a:fontRef idx="minor"/>
        </p:style>
      </p:sp>
      <p:sp>
        <p:nvSpPr>
          <p:cNvPr id="349" name="Text 8"/>
          <p:cNvSpPr/>
          <p:nvPr/>
        </p:nvSpPr>
        <p:spPr>
          <a:xfrm>
            <a:off x="492120" y="3825720"/>
            <a:ext cx="42764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ddff00"/>
                </a:solidFill>
                <a:latin typeface="Liter"/>
                <a:ea typeface="Liter"/>
              </a:rPr>
              <a:t>Hard Rock Pioneers</a:t>
            </a:r>
            <a:endParaRPr b="0" lang="en-HK" sz="1250" spc="-1" strike="noStrike">
              <a:latin typeface="Arial"/>
            </a:endParaRPr>
          </a:p>
        </p:txBody>
      </p:sp>
      <p:sp>
        <p:nvSpPr>
          <p:cNvPr id="350" name="Shape 9"/>
          <p:cNvSpPr/>
          <p:nvPr/>
        </p:nvSpPr>
        <p:spPr>
          <a:xfrm>
            <a:off x="507960" y="4175280"/>
            <a:ext cx="29520" cy="601200"/>
          </a:xfrm>
          <a:custGeom>
            <a:avLst/>
            <a:gdLst/>
            <a:ahLst/>
            <a:rect l="l" t="t" r="r" b="b"/>
            <a:pathLst>
              <a:path w="31750" h="603250">
                <a:moveTo>
                  <a:pt x="0" y="0"/>
                </a:moveTo>
                <a:lnTo>
                  <a:pt x="31750" y="0"/>
                </a:lnTo>
                <a:lnTo>
                  <a:pt x="31750" y="603250"/>
                </a:lnTo>
                <a:lnTo>
                  <a:pt x="0" y="603250"/>
                </a:lnTo>
                <a:lnTo>
                  <a:pt x="0" y="0"/>
                </a:lnTo>
                <a:close/>
              </a:path>
            </a:pathLst>
          </a:custGeom>
          <a:solidFill>
            <a:srgbClr val="ddff00"/>
          </a:solidFill>
          <a:ln w="0">
            <a:noFill/>
          </a:ln>
        </p:spPr>
        <p:style>
          <a:lnRef idx="0"/>
          <a:fillRef idx="0"/>
          <a:effectRef idx="0"/>
          <a:fontRef idx="minor"/>
        </p:style>
      </p:sp>
      <p:sp>
        <p:nvSpPr>
          <p:cNvPr id="351" name="Shape 10"/>
          <p:cNvSpPr/>
          <p:nvPr/>
        </p:nvSpPr>
        <p:spPr>
          <a:xfrm>
            <a:off x="619200" y="417528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2" name="Shape 11"/>
          <p:cNvSpPr/>
          <p:nvPr/>
        </p:nvSpPr>
        <p:spPr>
          <a:xfrm>
            <a:off x="740160" y="4286160"/>
            <a:ext cx="136800" cy="156600"/>
          </a:xfrm>
          <a:custGeom>
            <a:avLst/>
            <a:gdLst/>
            <a:ahLst/>
            <a:rect l="l" t="t" r="r" b="b"/>
            <a:pathLst>
              <a:path w="138906" h="158750">
                <a:moveTo>
                  <a:pt x="49764" y="-8186"/>
                </a:moveTo>
                <a:cubicBezTo>
                  <a:pt x="52648" y="-10604"/>
                  <a:pt x="56896" y="-10511"/>
                  <a:pt x="59655" y="-7906"/>
                </a:cubicBezTo>
                <a:cubicBezTo>
                  <a:pt x="63469" y="-4310"/>
                  <a:pt x="66880" y="-341"/>
                  <a:pt x="70166" y="3690"/>
                </a:cubicBezTo>
                <a:cubicBezTo>
                  <a:pt x="74352" y="8806"/>
                  <a:pt x="79375" y="15565"/>
                  <a:pt x="84212" y="23595"/>
                </a:cubicBezTo>
                <a:cubicBezTo>
                  <a:pt x="85824" y="21487"/>
                  <a:pt x="87313" y="19627"/>
                  <a:pt x="88615" y="18045"/>
                </a:cubicBezTo>
                <a:cubicBezTo>
                  <a:pt x="88956" y="17642"/>
                  <a:pt x="89297" y="17208"/>
                  <a:pt x="89638" y="16774"/>
                </a:cubicBezTo>
                <a:cubicBezTo>
                  <a:pt x="92087" y="13736"/>
                  <a:pt x="95126" y="9922"/>
                  <a:pt x="99188" y="9922"/>
                </a:cubicBezTo>
                <a:cubicBezTo>
                  <a:pt x="103343" y="9922"/>
                  <a:pt x="106257" y="13612"/>
                  <a:pt x="108738" y="16774"/>
                </a:cubicBezTo>
                <a:cubicBezTo>
                  <a:pt x="109141" y="17301"/>
                  <a:pt x="109544" y="17797"/>
                  <a:pt x="109947" y="18262"/>
                </a:cubicBezTo>
                <a:cubicBezTo>
                  <a:pt x="113140" y="22107"/>
                  <a:pt x="117388" y="27657"/>
                  <a:pt x="121636" y="34510"/>
                </a:cubicBezTo>
                <a:cubicBezTo>
                  <a:pt x="130070" y="48121"/>
                  <a:pt x="138875" y="67500"/>
                  <a:pt x="138875" y="89266"/>
                </a:cubicBezTo>
                <a:cubicBezTo>
                  <a:pt x="138875" y="127620"/>
                  <a:pt x="107776" y="158719"/>
                  <a:pt x="69422" y="158719"/>
                </a:cubicBezTo>
                <a:cubicBezTo>
                  <a:pt x="31068" y="158719"/>
                  <a:pt x="0" y="127651"/>
                  <a:pt x="0" y="89297"/>
                </a:cubicBezTo>
                <a:cubicBezTo>
                  <a:pt x="0" y="61051"/>
                  <a:pt x="12743" y="36587"/>
                  <a:pt x="24960" y="19534"/>
                </a:cubicBezTo>
                <a:cubicBezTo>
                  <a:pt x="31130" y="10945"/>
                  <a:pt x="37269" y="4062"/>
                  <a:pt x="41889" y="-651"/>
                </a:cubicBezTo>
                <a:cubicBezTo>
                  <a:pt x="44431" y="-3256"/>
                  <a:pt x="47005" y="-5829"/>
                  <a:pt x="49795" y="-8155"/>
                </a:cubicBezTo>
                <a:close/>
                <a:moveTo>
                  <a:pt x="69980" y="128984"/>
                </a:moveTo>
                <a:cubicBezTo>
                  <a:pt x="77825" y="128984"/>
                  <a:pt x="84770" y="126814"/>
                  <a:pt x="91312" y="122473"/>
                </a:cubicBezTo>
                <a:cubicBezTo>
                  <a:pt x="104366" y="113357"/>
                  <a:pt x="107869" y="95126"/>
                  <a:pt x="100025" y="80801"/>
                </a:cubicBezTo>
                <a:cubicBezTo>
                  <a:pt x="98630" y="78011"/>
                  <a:pt x="95064" y="77825"/>
                  <a:pt x="93049" y="80181"/>
                </a:cubicBezTo>
                <a:lnTo>
                  <a:pt x="85235" y="89266"/>
                </a:lnTo>
                <a:cubicBezTo>
                  <a:pt x="83189" y="91622"/>
                  <a:pt x="79499" y="91560"/>
                  <a:pt x="77577" y="89111"/>
                </a:cubicBezTo>
                <a:cubicBezTo>
                  <a:pt x="72213" y="82259"/>
                  <a:pt x="62353" y="69763"/>
                  <a:pt x="57330" y="63376"/>
                </a:cubicBezTo>
                <a:cubicBezTo>
                  <a:pt x="55656" y="61237"/>
                  <a:pt x="52617" y="60896"/>
                  <a:pt x="50664" y="62787"/>
                </a:cubicBezTo>
                <a:cubicBezTo>
                  <a:pt x="44990" y="68306"/>
                  <a:pt x="34696" y="80398"/>
                  <a:pt x="34696" y="95126"/>
                </a:cubicBezTo>
                <a:cubicBezTo>
                  <a:pt x="34696" y="116396"/>
                  <a:pt x="50385" y="128984"/>
                  <a:pt x="69949" y="128984"/>
                </a:cubicBezTo>
                <a:close/>
              </a:path>
            </a:pathLst>
          </a:custGeom>
          <a:solidFill>
            <a:srgbClr val="000000"/>
          </a:solidFill>
          <a:ln w="0">
            <a:noFill/>
          </a:ln>
        </p:spPr>
        <p:style>
          <a:lnRef idx="0"/>
          <a:fillRef idx="0"/>
          <a:effectRef idx="0"/>
          <a:fontRef idx="minor"/>
        </p:style>
      </p:sp>
      <p:sp>
        <p:nvSpPr>
          <p:cNvPr id="353" name="Text 12"/>
          <p:cNvSpPr/>
          <p:nvPr/>
        </p:nvSpPr>
        <p:spPr>
          <a:xfrm>
            <a:off x="1095480" y="4175280"/>
            <a:ext cx="36651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Led Zeppelin</a:t>
            </a:r>
            <a:endParaRPr b="0" lang="en-HK" sz="1130" spc="-1" strike="noStrike">
              <a:latin typeface="Arial"/>
            </a:endParaRPr>
          </a:p>
        </p:txBody>
      </p:sp>
      <p:sp>
        <p:nvSpPr>
          <p:cNvPr id="354" name="Text 13"/>
          <p:cNvSpPr/>
          <p:nvPr/>
        </p:nvSpPr>
        <p:spPr>
          <a:xfrm>
            <a:off x="1095480" y="4397400"/>
            <a:ext cx="3657240" cy="378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Jimmy Page's monster riffs and studio wizardry redefined rock guitar</a:t>
            </a:r>
            <a:endParaRPr b="0" lang="en-HK" sz="1000" spc="-1" strike="noStrike">
              <a:latin typeface="Arial"/>
            </a:endParaRPr>
          </a:p>
        </p:txBody>
      </p:sp>
      <p:sp>
        <p:nvSpPr>
          <p:cNvPr id="355" name="Shape 14"/>
          <p:cNvSpPr/>
          <p:nvPr/>
        </p:nvSpPr>
        <p:spPr>
          <a:xfrm>
            <a:off x="507960" y="487368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56" name="Shape 15"/>
          <p:cNvSpPr/>
          <p:nvPr/>
        </p:nvSpPr>
        <p:spPr>
          <a:xfrm>
            <a:off x="619200" y="487368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57" name="Shape 16"/>
          <p:cNvSpPr/>
          <p:nvPr/>
        </p:nvSpPr>
        <p:spPr>
          <a:xfrm>
            <a:off x="740160" y="4984920"/>
            <a:ext cx="136800" cy="1566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58" name="Text 17"/>
          <p:cNvSpPr/>
          <p:nvPr/>
        </p:nvSpPr>
        <p:spPr>
          <a:xfrm>
            <a:off x="1095480" y="4873680"/>
            <a:ext cx="314136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Deep Purple</a:t>
            </a:r>
            <a:endParaRPr b="0" lang="en-HK" sz="1130" spc="-1" strike="noStrike">
              <a:latin typeface="Arial"/>
            </a:endParaRPr>
          </a:p>
        </p:txBody>
      </p:sp>
      <p:sp>
        <p:nvSpPr>
          <p:cNvPr id="359" name="Text 18"/>
          <p:cNvSpPr/>
          <p:nvPr/>
        </p:nvSpPr>
        <p:spPr>
          <a:xfrm>
            <a:off x="1095480" y="5095800"/>
            <a:ext cx="31334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Ritchie Blackmore's classical-influenced guitar mastery</a:t>
            </a:r>
            <a:endParaRPr b="0" lang="en-HK" sz="1000" spc="-1" strike="noStrike">
              <a:latin typeface="Arial"/>
            </a:endParaRPr>
          </a:p>
        </p:txBody>
      </p:sp>
      <p:sp>
        <p:nvSpPr>
          <p:cNvPr id="360" name="Shape 19"/>
          <p:cNvSpPr/>
          <p:nvPr/>
        </p:nvSpPr>
        <p:spPr>
          <a:xfrm>
            <a:off x="507960" y="538164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1" name="Shape 20"/>
          <p:cNvSpPr/>
          <p:nvPr/>
        </p:nvSpPr>
        <p:spPr>
          <a:xfrm>
            <a:off x="619200" y="538164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2" name="Shape 21"/>
          <p:cNvSpPr/>
          <p:nvPr/>
        </p:nvSpPr>
        <p:spPr>
          <a:xfrm>
            <a:off x="730080" y="5492880"/>
            <a:ext cx="156600" cy="156600"/>
          </a:xfrm>
          <a:custGeom>
            <a:avLst/>
            <a:gdLst/>
            <a:ahLst/>
            <a:rect l="l" t="t" r="r" b="b"/>
            <a:pathLst>
              <a:path w="158750" h="158750">
                <a:moveTo>
                  <a:pt x="128984" y="132519"/>
                </a:moveTo>
                <a:cubicBezTo>
                  <a:pt x="147123" y="118876"/>
                  <a:pt x="158750" y="97917"/>
                  <a:pt x="158750" y="74414"/>
                </a:cubicBezTo>
                <a:cubicBezTo>
                  <a:pt x="158750" y="33331"/>
                  <a:pt x="123217" y="0"/>
                  <a:pt x="79375" y="0"/>
                </a:cubicBezTo>
                <a:cubicBezTo>
                  <a:pt x="35533" y="0"/>
                  <a:pt x="0" y="33331"/>
                  <a:pt x="0" y="74414"/>
                </a:cubicBezTo>
                <a:cubicBezTo>
                  <a:pt x="0" y="97917"/>
                  <a:pt x="11627" y="118876"/>
                  <a:pt x="29766" y="132519"/>
                </a:cubicBezTo>
                <a:lnTo>
                  <a:pt x="29766" y="143867"/>
                </a:lnTo>
                <a:cubicBezTo>
                  <a:pt x="29766" y="152084"/>
                  <a:pt x="36432" y="158750"/>
                  <a:pt x="44648" y="158750"/>
                </a:cubicBezTo>
                <a:lnTo>
                  <a:pt x="54570" y="158750"/>
                </a:lnTo>
                <a:lnTo>
                  <a:pt x="54570" y="146348"/>
                </a:lnTo>
                <a:cubicBezTo>
                  <a:pt x="54570" y="142224"/>
                  <a:pt x="57888" y="138906"/>
                  <a:pt x="62012" y="138906"/>
                </a:cubicBezTo>
                <a:cubicBezTo>
                  <a:pt x="66135" y="138906"/>
                  <a:pt x="69453" y="142224"/>
                  <a:pt x="69453" y="146348"/>
                </a:cubicBezTo>
                <a:lnTo>
                  <a:pt x="69453" y="158750"/>
                </a:lnTo>
                <a:lnTo>
                  <a:pt x="89297" y="158750"/>
                </a:lnTo>
                <a:lnTo>
                  <a:pt x="89297" y="146348"/>
                </a:lnTo>
                <a:cubicBezTo>
                  <a:pt x="89297" y="142224"/>
                  <a:pt x="92615" y="138906"/>
                  <a:pt x="96738" y="138906"/>
                </a:cubicBezTo>
                <a:cubicBezTo>
                  <a:pt x="100862" y="138906"/>
                  <a:pt x="104180" y="142224"/>
                  <a:pt x="104180" y="146348"/>
                </a:cubicBezTo>
                <a:lnTo>
                  <a:pt x="104180" y="158750"/>
                </a:lnTo>
                <a:lnTo>
                  <a:pt x="114102" y="158750"/>
                </a:lnTo>
                <a:cubicBezTo>
                  <a:pt x="122318" y="158750"/>
                  <a:pt x="128984" y="152084"/>
                  <a:pt x="128984" y="143867"/>
                </a:cubicBezTo>
                <a:lnTo>
                  <a:pt x="128984" y="132519"/>
                </a:lnTo>
                <a:close/>
                <a:moveTo>
                  <a:pt x="29766" y="79375"/>
                </a:moveTo>
                <a:cubicBezTo>
                  <a:pt x="29766" y="68423"/>
                  <a:pt x="38657" y="59531"/>
                  <a:pt x="49609" y="59531"/>
                </a:cubicBezTo>
                <a:cubicBezTo>
                  <a:pt x="60561" y="59531"/>
                  <a:pt x="69453" y="68423"/>
                  <a:pt x="69453" y="79375"/>
                </a:cubicBezTo>
                <a:cubicBezTo>
                  <a:pt x="69453" y="90327"/>
                  <a:pt x="60561" y="99219"/>
                  <a:pt x="49609" y="99219"/>
                </a:cubicBezTo>
                <a:cubicBezTo>
                  <a:pt x="38657" y="99219"/>
                  <a:pt x="29766" y="90327"/>
                  <a:pt x="29766" y="79375"/>
                </a:cubicBezTo>
                <a:close/>
                <a:moveTo>
                  <a:pt x="109141" y="59531"/>
                </a:moveTo>
                <a:cubicBezTo>
                  <a:pt x="120093" y="59531"/>
                  <a:pt x="128984" y="68423"/>
                  <a:pt x="128984" y="79375"/>
                </a:cubicBezTo>
                <a:cubicBezTo>
                  <a:pt x="128984" y="90327"/>
                  <a:pt x="120093" y="99219"/>
                  <a:pt x="109141" y="99219"/>
                </a:cubicBezTo>
                <a:cubicBezTo>
                  <a:pt x="98189" y="99219"/>
                  <a:pt x="89297" y="90327"/>
                  <a:pt x="89297" y="79375"/>
                </a:cubicBezTo>
                <a:cubicBezTo>
                  <a:pt x="89297" y="68423"/>
                  <a:pt x="98189" y="59531"/>
                  <a:pt x="109141" y="59531"/>
                </a:cubicBezTo>
                <a:close/>
              </a:path>
            </a:pathLst>
          </a:custGeom>
          <a:solidFill>
            <a:srgbClr val="000000"/>
          </a:solidFill>
          <a:ln w="0">
            <a:noFill/>
          </a:ln>
        </p:spPr>
        <p:style>
          <a:lnRef idx="0"/>
          <a:fillRef idx="0"/>
          <a:effectRef idx="0"/>
          <a:fontRef idx="minor"/>
        </p:style>
      </p:sp>
      <p:sp>
        <p:nvSpPr>
          <p:cNvPr id="363" name="Text 22"/>
          <p:cNvSpPr/>
          <p:nvPr/>
        </p:nvSpPr>
        <p:spPr>
          <a:xfrm>
            <a:off x="1095480" y="5381640"/>
            <a:ext cx="30384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Black Sabbath</a:t>
            </a:r>
            <a:endParaRPr b="0" lang="en-HK" sz="1130" spc="-1" strike="noStrike">
              <a:latin typeface="Arial"/>
            </a:endParaRPr>
          </a:p>
        </p:txBody>
      </p:sp>
      <p:sp>
        <p:nvSpPr>
          <p:cNvPr id="364" name="Text 23"/>
          <p:cNvSpPr/>
          <p:nvPr/>
        </p:nvSpPr>
        <p:spPr>
          <a:xfrm>
            <a:off x="1095480" y="5603760"/>
            <a:ext cx="30304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Tony Iommi's downtuned, heavy riffs pioneered metal</a:t>
            </a:r>
            <a:endParaRPr b="0" lang="en-HK" sz="1000" spc="-1" strike="noStrike">
              <a:latin typeface="Arial"/>
            </a:endParaRPr>
          </a:p>
        </p:txBody>
      </p:sp>
      <p:sp>
        <p:nvSpPr>
          <p:cNvPr id="365" name="Shape 24"/>
          <p:cNvSpPr/>
          <p:nvPr/>
        </p:nvSpPr>
        <p:spPr>
          <a:xfrm>
            <a:off x="507960" y="5889600"/>
            <a:ext cx="29520" cy="410760"/>
          </a:xfrm>
          <a:custGeom>
            <a:avLst/>
            <a:gdLst/>
            <a:ahLst/>
            <a:rect l="l" t="t" r="r" b="b"/>
            <a:pathLst>
              <a:path w="31750" h="412750">
                <a:moveTo>
                  <a:pt x="0" y="0"/>
                </a:moveTo>
                <a:lnTo>
                  <a:pt x="31750" y="0"/>
                </a:lnTo>
                <a:lnTo>
                  <a:pt x="31750" y="412750"/>
                </a:lnTo>
                <a:lnTo>
                  <a:pt x="0" y="412750"/>
                </a:lnTo>
                <a:lnTo>
                  <a:pt x="0" y="0"/>
                </a:lnTo>
                <a:close/>
              </a:path>
            </a:pathLst>
          </a:custGeom>
          <a:solidFill>
            <a:srgbClr val="ddff00"/>
          </a:solidFill>
          <a:ln w="0">
            <a:noFill/>
          </a:ln>
        </p:spPr>
        <p:style>
          <a:lnRef idx="0"/>
          <a:fillRef idx="0"/>
          <a:effectRef idx="0"/>
          <a:fontRef idx="minor"/>
        </p:style>
      </p:sp>
      <p:sp>
        <p:nvSpPr>
          <p:cNvPr id="366" name="Shape 25"/>
          <p:cNvSpPr/>
          <p:nvPr/>
        </p:nvSpPr>
        <p:spPr>
          <a:xfrm>
            <a:off x="619200" y="5889600"/>
            <a:ext cx="378720" cy="378720"/>
          </a:xfrm>
          <a:custGeom>
            <a:avLst/>
            <a:gdLst/>
            <a:ahLst/>
            <a:rect l="l" t="t" r="r" b="b"/>
            <a:pathLst>
              <a:path w="381000" h="381000">
                <a:moveTo>
                  <a:pt x="0" y="0"/>
                </a:moveTo>
                <a:lnTo>
                  <a:pt x="381000" y="0"/>
                </a:lnTo>
                <a:lnTo>
                  <a:pt x="381000" y="381000"/>
                </a:lnTo>
                <a:lnTo>
                  <a:pt x="0" y="381000"/>
                </a:lnTo>
                <a:lnTo>
                  <a:pt x="0" y="0"/>
                </a:lnTo>
                <a:close/>
              </a:path>
            </a:pathLst>
          </a:custGeom>
          <a:solidFill>
            <a:srgbClr val="ddff00"/>
          </a:solidFill>
          <a:ln w="0">
            <a:noFill/>
          </a:ln>
        </p:spPr>
        <p:style>
          <a:lnRef idx="0"/>
          <a:fillRef idx="0"/>
          <a:effectRef idx="0"/>
          <a:fontRef idx="minor"/>
        </p:style>
      </p:sp>
      <p:sp>
        <p:nvSpPr>
          <p:cNvPr id="367" name="Shape 26"/>
          <p:cNvSpPr/>
          <p:nvPr/>
        </p:nvSpPr>
        <p:spPr>
          <a:xfrm>
            <a:off x="740160" y="6000840"/>
            <a:ext cx="136800" cy="156600"/>
          </a:xfrm>
          <a:custGeom>
            <a:avLst/>
            <a:gdLst/>
            <a:ahLst/>
            <a:rect l="l" t="t" r="r" b="b"/>
            <a:pathLst>
              <a:path w="138906" h="158750">
                <a:moveTo>
                  <a:pt x="105048" y="-3070"/>
                </a:moveTo>
                <a:cubicBezTo>
                  <a:pt x="108738" y="-403"/>
                  <a:pt x="110102" y="4434"/>
                  <a:pt x="108427" y="8651"/>
                </a:cubicBezTo>
                <a:lnTo>
                  <a:pt x="84119" y="69453"/>
                </a:lnTo>
                <a:lnTo>
                  <a:pt x="128984" y="69453"/>
                </a:lnTo>
                <a:cubicBezTo>
                  <a:pt x="133170" y="69453"/>
                  <a:pt x="136891" y="72058"/>
                  <a:pt x="138317" y="75995"/>
                </a:cubicBezTo>
                <a:cubicBezTo>
                  <a:pt x="139743" y="79933"/>
                  <a:pt x="138534" y="84336"/>
                  <a:pt x="135341" y="87002"/>
                </a:cubicBezTo>
                <a:lnTo>
                  <a:pt x="46044" y="161417"/>
                </a:lnTo>
                <a:cubicBezTo>
                  <a:pt x="42540" y="164331"/>
                  <a:pt x="37548" y="164486"/>
                  <a:pt x="33858" y="161820"/>
                </a:cubicBezTo>
                <a:cubicBezTo>
                  <a:pt x="30169" y="159153"/>
                  <a:pt x="28804" y="154316"/>
                  <a:pt x="30479" y="150099"/>
                </a:cubicBezTo>
                <a:lnTo>
                  <a:pt x="54787" y="89297"/>
                </a:lnTo>
                <a:lnTo>
                  <a:pt x="9922" y="89297"/>
                </a:lnTo>
                <a:cubicBezTo>
                  <a:pt x="5736" y="89297"/>
                  <a:pt x="2015" y="86692"/>
                  <a:pt x="589" y="82755"/>
                </a:cubicBezTo>
                <a:cubicBezTo>
                  <a:pt x="-837" y="78817"/>
                  <a:pt x="372" y="74414"/>
                  <a:pt x="3566" y="71748"/>
                </a:cubicBezTo>
                <a:lnTo>
                  <a:pt x="92863" y="-2667"/>
                </a:lnTo>
                <a:cubicBezTo>
                  <a:pt x="96366" y="-5581"/>
                  <a:pt x="101358" y="-5736"/>
                  <a:pt x="105048" y="-3070"/>
                </a:cubicBezTo>
                <a:close/>
              </a:path>
            </a:pathLst>
          </a:custGeom>
          <a:solidFill>
            <a:srgbClr val="000000"/>
          </a:solidFill>
          <a:ln w="0">
            <a:noFill/>
          </a:ln>
        </p:spPr>
        <p:style>
          <a:lnRef idx="0"/>
          <a:fillRef idx="0"/>
          <a:effectRef idx="0"/>
          <a:fontRef idx="minor"/>
        </p:style>
      </p:sp>
      <p:sp>
        <p:nvSpPr>
          <p:cNvPr id="368" name="Text 27"/>
          <p:cNvSpPr/>
          <p:nvPr/>
        </p:nvSpPr>
        <p:spPr>
          <a:xfrm>
            <a:off x="1095480" y="5889600"/>
            <a:ext cx="28638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AC/DC</a:t>
            </a:r>
            <a:endParaRPr b="0" lang="en-HK" sz="1130" spc="-1" strike="noStrike">
              <a:latin typeface="Arial"/>
            </a:endParaRPr>
          </a:p>
        </p:txBody>
      </p:sp>
      <p:sp>
        <p:nvSpPr>
          <p:cNvPr id="369" name="Text 28"/>
          <p:cNvSpPr/>
          <p:nvPr/>
        </p:nvSpPr>
        <p:spPr>
          <a:xfrm>
            <a:off x="1095480" y="6111720"/>
            <a:ext cx="28558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ffffff">
                    <a:alpha val="70000"/>
                  </a:srgbClr>
                </a:solidFill>
                <a:latin typeface="Liter"/>
                <a:ea typeface="Liter"/>
              </a:rPr>
              <a:t>Raw, blues-based hard rock with infectious energy</a:t>
            </a:r>
            <a:endParaRPr b="0" lang="en-HK" sz="1000" spc="-1" strike="noStrike">
              <a:latin typeface="Arial"/>
            </a:endParaRPr>
          </a:p>
        </p:txBody>
      </p:sp>
      <p:sp>
        <p:nvSpPr>
          <p:cNvPr id="370" name="Shape 29"/>
          <p:cNvSpPr/>
          <p:nvPr/>
        </p:nvSpPr>
        <p:spPr>
          <a:xfrm>
            <a:off x="5063040" y="1055520"/>
            <a:ext cx="6801120" cy="3601440"/>
          </a:xfrm>
          <a:custGeom>
            <a:avLst/>
            <a:gdLst/>
            <a:ahLst/>
            <a:rect l="l" t="t" r="r" b="b"/>
            <a:pathLst>
              <a:path w="6802438" h="3603625">
                <a:moveTo>
                  <a:pt x="0" y="0"/>
                </a:moveTo>
                <a:lnTo>
                  <a:pt x="6802438" y="0"/>
                </a:lnTo>
                <a:lnTo>
                  <a:pt x="6802438" y="3603625"/>
                </a:lnTo>
                <a:lnTo>
                  <a:pt x="0" y="3603625"/>
                </a:lnTo>
                <a:lnTo>
                  <a:pt x="0" y="0"/>
                </a:lnTo>
                <a:close/>
              </a:path>
            </a:pathLst>
          </a:custGeom>
          <a:noFill/>
          <a:ln w="25400">
            <a:solidFill>
              <a:srgbClr val="ddff00"/>
            </a:solidFill>
            <a:round/>
          </a:ln>
        </p:spPr>
        <p:style>
          <a:lnRef idx="0"/>
          <a:fillRef idx="0"/>
          <a:effectRef idx="0"/>
          <a:fontRef idx="minor"/>
        </p:style>
      </p:sp>
      <p:sp>
        <p:nvSpPr>
          <p:cNvPr id="371" name="Text 30"/>
          <p:cNvSpPr/>
          <p:nvPr/>
        </p:nvSpPr>
        <p:spPr>
          <a:xfrm>
            <a:off x="5261400" y="1254240"/>
            <a:ext cx="64994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ddff00"/>
                </a:solidFill>
                <a:latin typeface="Liter"/>
                <a:ea typeface="Liter"/>
              </a:rPr>
              <a:t>Defining Hard Rock Albums</a:t>
            </a:r>
            <a:endParaRPr b="0" lang="en-HK" sz="1500" spc="-1" strike="noStrike">
              <a:latin typeface="Arial"/>
            </a:endParaRPr>
          </a:p>
        </p:txBody>
      </p:sp>
      <p:sp>
        <p:nvSpPr>
          <p:cNvPr id="372" name="Shape 31"/>
          <p:cNvSpPr/>
          <p:nvPr/>
        </p:nvSpPr>
        <p:spPr>
          <a:xfrm>
            <a:off x="5261400" y="163512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3" name="Text 32"/>
          <p:cNvSpPr/>
          <p:nvPr/>
        </p:nvSpPr>
        <p:spPr>
          <a:xfrm>
            <a:off x="5469840" y="1825560"/>
            <a:ext cx="30744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LZ</a:t>
            </a:r>
            <a:endParaRPr b="0" lang="en-HK" sz="1500" spc="-1" strike="noStrike">
              <a:latin typeface="Arial"/>
            </a:endParaRPr>
          </a:p>
        </p:txBody>
      </p:sp>
      <p:sp>
        <p:nvSpPr>
          <p:cNvPr id="374" name="Text 33"/>
          <p:cNvSpPr/>
          <p:nvPr/>
        </p:nvSpPr>
        <p:spPr>
          <a:xfrm>
            <a:off x="6023160" y="1762200"/>
            <a:ext cx="57132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Physical Graffiti</a:t>
            </a:r>
            <a:endParaRPr b="0" lang="en-HK" sz="1130" spc="-1" strike="noStrike">
              <a:latin typeface="Arial"/>
            </a:endParaRPr>
          </a:p>
        </p:txBody>
      </p:sp>
      <p:sp>
        <p:nvSpPr>
          <p:cNvPr id="375" name="Text 34"/>
          <p:cNvSpPr/>
          <p:nvPr/>
        </p:nvSpPr>
        <p:spPr>
          <a:xfrm>
            <a:off x="6023160" y="1984320"/>
            <a:ext cx="5697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Led Zeppelin (1975) - Double album masterpiece</a:t>
            </a:r>
            <a:endParaRPr b="0" lang="en-HK" sz="880" spc="-1" strike="noStrike">
              <a:latin typeface="Arial"/>
            </a:endParaRPr>
          </a:p>
        </p:txBody>
      </p:sp>
      <p:sp>
        <p:nvSpPr>
          <p:cNvPr id="376" name="Shape 35"/>
          <p:cNvSpPr/>
          <p:nvPr/>
        </p:nvSpPr>
        <p:spPr>
          <a:xfrm>
            <a:off x="5261400" y="236520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77" name="Text 36"/>
          <p:cNvSpPr/>
          <p:nvPr/>
        </p:nvSpPr>
        <p:spPr>
          <a:xfrm>
            <a:off x="5454360" y="2556000"/>
            <a:ext cx="33912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DP</a:t>
            </a:r>
            <a:endParaRPr b="0" lang="en-HK" sz="1500" spc="-1" strike="noStrike">
              <a:latin typeface="Arial"/>
            </a:endParaRPr>
          </a:p>
        </p:txBody>
      </p:sp>
      <p:sp>
        <p:nvSpPr>
          <p:cNvPr id="378" name="Text 37"/>
          <p:cNvSpPr/>
          <p:nvPr/>
        </p:nvSpPr>
        <p:spPr>
          <a:xfrm>
            <a:off x="6023160" y="2492280"/>
            <a:ext cx="57132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Machine Head</a:t>
            </a:r>
            <a:endParaRPr b="0" lang="en-HK" sz="1130" spc="-1" strike="noStrike">
              <a:latin typeface="Arial"/>
            </a:endParaRPr>
          </a:p>
        </p:txBody>
      </p:sp>
      <p:sp>
        <p:nvSpPr>
          <p:cNvPr id="379" name="Text 38"/>
          <p:cNvSpPr/>
          <p:nvPr/>
        </p:nvSpPr>
        <p:spPr>
          <a:xfrm>
            <a:off x="6023160" y="2714760"/>
            <a:ext cx="5697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Deep Purple (1972) - "Smoke on the Water"</a:t>
            </a:r>
            <a:endParaRPr b="0" lang="en-HK" sz="880" spc="-1" strike="noStrike">
              <a:latin typeface="Arial"/>
            </a:endParaRPr>
          </a:p>
        </p:txBody>
      </p:sp>
      <p:sp>
        <p:nvSpPr>
          <p:cNvPr id="380" name="Shape 39"/>
          <p:cNvSpPr/>
          <p:nvPr/>
        </p:nvSpPr>
        <p:spPr>
          <a:xfrm>
            <a:off x="5261400" y="309564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1" name="Text 40"/>
          <p:cNvSpPr/>
          <p:nvPr/>
        </p:nvSpPr>
        <p:spPr>
          <a:xfrm>
            <a:off x="5461200" y="3286080"/>
            <a:ext cx="33120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BS</a:t>
            </a:r>
            <a:endParaRPr b="0" lang="en-HK" sz="1500" spc="-1" strike="noStrike">
              <a:latin typeface="Arial"/>
            </a:endParaRPr>
          </a:p>
        </p:txBody>
      </p:sp>
      <p:sp>
        <p:nvSpPr>
          <p:cNvPr id="382" name="Text 41"/>
          <p:cNvSpPr/>
          <p:nvPr/>
        </p:nvSpPr>
        <p:spPr>
          <a:xfrm>
            <a:off x="6023160" y="3222720"/>
            <a:ext cx="57132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Paranoid</a:t>
            </a:r>
            <a:endParaRPr b="0" lang="en-HK" sz="1130" spc="-1" strike="noStrike">
              <a:latin typeface="Arial"/>
            </a:endParaRPr>
          </a:p>
        </p:txBody>
      </p:sp>
      <p:sp>
        <p:nvSpPr>
          <p:cNvPr id="383" name="Text 42"/>
          <p:cNvSpPr/>
          <p:nvPr/>
        </p:nvSpPr>
        <p:spPr>
          <a:xfrm>
            <a:off x="6023160" y="3444840"/>
            <a:ext cx="5697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Black Sabbath (1970) - "Iron Man" &amp; "War Pigs"</a:t>
            </a:r>
            <a:endParaRPr b="0" lang="en-HK" sz="880" spc="-1" strike="noStrike">
              <a:latin typeface="Arial"/>
            </a:endParaRPr>
          </a:p>
        </p:txBody>
      </p:sp>
      <p:sp>
        <p:nvSpPr>
          <p:cNvPr id="384" name="Shape 43"/>
          <p:cNvSpPr/>
          <p:nvPr/>
        </p:nvSpPr>
        <p:spPr>
          <a:xfrm>
            <a:off x="5261400" y="3825720"/>
            <a:ext cx="632880" cy="632880"/>
          </a:xfrm>
          <a:custGeom>
            <a:avLst/>
            <a:gdLst/>
            <a:ahLst/>
            <a:rect l="l" t="t" r="r" b="b"/>
            <a:pathLst>
              <a:path w="635000" h="635000">
                <a:moveTo>
                  <a:pt x="0" y="0"/>
                </a:moveTo>
                <a:lnTo>
                  <a:pt x="635000" y="0"/>
                </a:lnTo>
                <a:lnTo>
                  <a:pt x="635000" y="635000"/>
                </a:lnTo>
                <a:lnTo>
                  <a:pt x="0" y="635000"/>
                </a:lnTo>
                <a:lnTo>
                  <a:pt x="0" y="0"/>
                </a:lnTo>
                <a:close/>
              </a:path>
            </a:pathLst>
          </a:custGeom>
          <a:solidFill>
            <a:srgbClr val="ddff00"/>
          </a:solidFill>
          <a:ln w="0">
            <a:noFill/>
          </a:ln>
        </p:spPr>
        <p:style>
          <a:lnRef idx="0"/>
          <a:fillRef idx="0"/>
          <a:effectRef idx="0"/>
          <a:fontRef idx="minor"/>
        </p:style>
      </p:sp>
      <p:sp>
        <p:nvSpPr>
          <p:cNvPr id="385" name="Text 44"/>
          <p:cNvSpPr/>
          <p:nvPr/>
        </p:nvSpPr>
        <p:spPr>
          <a:xfrm>
            <a:off x="5448960" y="4016520"/>
            <a:ext cx="354960" cy="2520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000000"/>
                </a:solidFill>
                <a:latin typeface="Liter"/>
                <a:ea typeface="Liter"/>
              </a:rPr>
              <a:t>AC</a:t>
            </a:r>
            <a:endParaRPr b="0" lang="en-HK" sz="1500" spc="-1" strike="noStrike">
              <a:latin typeface="Arial"/>
            </a:endParaRPr>
          </a:p>
        </p:txBody>
      </p:sp>
      <p:sp>
        <p:nvSpPr>
          <p:cNvPr id="386" name="Text 45"/>
          <p:cNvSpPr/>
          <p:nvPr/>
        </p:nvSpPr>
        <p:spPr>
          <a:xfrm>
            <a:off x="6023160" y="3952800"/>
            <a:ext cx="5713200" cy="219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Liter"/>
                <a:ea typeface="Liter"/>
              </a:rPr>
              <a:t>Highway to Hell</a:t>
            </a:r>
            <a:endParaRPr b="0" lang="en-HK" sz="1130" spc="-1" strike="noStrike">
              <a:latin typeface="Arial"/>
            </a:endParaRPr>
          </a:p>
        </p:txBody>
      </p:sp>
      <p:sp>
        <p:nvSpPr>
          <p:cNvPr id="387" name="Text 46"/>
          <p:cNvSpPr/>
          <p:nvPr/>
        </p:nvSpPr>
        <p:spPr>
          <a:xfrm>
            <a:off x="6023160" y="4175280"/>
            <a:ext cx="5697360" cy="15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ffffff">
                    <a:alpha val="70000"/>
                  </a:srgbClr>
                </a:solidFill>
                <a:latin typeface="Liter"/>
                <a:ea typeface="Liter"/>
              </a:rPr>
              <a:t>AC/DC (1979) - Breakthrough album</a:t>
            </a:r>
            <a:endParaRPr b="0" lang="en-HK" sz="880" spc="-1" strike="noStrike">
              <a:latin typeface="Arial"/>
            </a:endParaRPr>
          </a:p>
        </p:txBody>
      </p:sp>
      <p:sp>
        <p:nvSpPr>
          <p:cNvPr id="388" name="Shape 47"/>
          <p:cNvSpPr/>
          <p:nvPr/>
        </p:nvSpPr>
        <p:spPr>
          <a:xfrm>
            <a:off x="5054760" y="4794120"/>
            <a:ext cx="6816960" cy="1395000"/>
          </a:xfrm>
          <a:custGeom>
            <a:avLst/>
            <a:gdLst/>
            <a:ahLst/>
            <a:rect l="l" t="t" r="r" b="b"/>
            <a:pathLst>
              <a:path w="6818313" h="1397000">
                <a:moveTo>
                  <a:pt x="0" y="0"/>
                </a:moveTo>
                <a:lnTo>
                  <a:pt x="6818313" y="0"/>
                </a:lnTo>
                <a:lnTo>
                  <a:pt x="6818313" y="1397000"/>
                </a:lnTo>
                <a:lnTo>
                  <a:pt x="0" y="1397000"/>
                </a:lnTo>
                <a:lnTo>
                  <a:pt x="0" y="0"/>
                </a:lnTo>
                <a:close/>
              </a:path>
            </a:pathLst>
          </a:custGeom>
          <a:solidFill>
            <a:srgbClr val="ddff00"/>
          </a:solidFill>
          <a:ln w="0">
            <a:noFill/>
          </a:ln>
        </p:spPr>
        <p:style>
          <a:lnRef idx="0"/>
          <a:fillRef idx="0"/>
          <a:effectRef idx="0"/>
          <a:fontRef idx="minor"/>
        </p:style>
      </p:sp>
      <p:sp>
        <p:nvSpPr>
          <p:cNvPr id="389" name="Text 48"/>
          <p:cNvSpPr/>
          <p:nvPr/>
        </p:nvSpPr>
        <p:spPr>
          <a:xfrm>
            <a:off x="5213520" y="4952880"/>
            <a:ext cx="657864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000000"/>
                </a:solidFill>
                <a:latin typeface="Liter"/>
                <a:ea typeface="Liter"/>
              </a:rPr>
              <a:t>Key Characteristics</a:t>
            </a:r>
            <a:endParaRPr b="0" lang="en-HK" sz="1250" spc="-1" strike="noStrike">
              <a:latin typeface="Arial"/>
            </a:endParaRPr>
          </a:p>
        </p:txBody>
      </p:sp>
      <p:sp>
        <p:nvSpPr>
          <p:cNvPr id="390" name="Shape 49"/>
          <p:cNvSpPr/>
          <p:nvPr/>
        </p:nvSpPr>
        <p:spPr>
          <a:xfrm>
            <a:off x="5237640" y="530208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1" name="Text 50"/>
          <p:cNvSpPr/>
          <p:nvPr/>
        </p:nvSpPr>
        <p:spPr>
          <a:xfrm>
            <a:off x="5436000" y="5270400"/>
            <a:ext cx="118836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Distorted guitar riffs</a:t>
            </a:r>
            <a:endParaRPr b="0" lang="en-HK" sz="1000" spc="-1" strike="noStrike">
              <a:latin typeface="Arial"/>
            </a:endParaRPr>
          </a:p>
        </p:txBody>
      </p:sp>
      <p:sp>
        <p:nvSpPr>
          <p:cNvPr id="392" name="Shape 51"/>
          <p:cNvSpPr/>
          <p:nvPr/>
        </p:nvSpPr>
        <p:spPr>
          <a:xfrm>
            <a:off x="8536680" y="530208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3" name="Text 52"/>
          <p:cNvSpPr/>
          <p:nvPr/>
        </p:nvSpPr>
        <p:spPr>
          <a:xfrm>
            <a:off x="8735040" y="5270400"/>
            <a:ext cx="142668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Powerful rhythm section</a:t>
            </a:r>
            <a:endParaRPr b="0" lang="en-HK" sz="1000" spc="-1" strike="noStrike">
              <a:latin typeface="Arial"/>
            </a:endParaRPr>
          </a:p>
        </p:txBody>
      </p:sp>
      <p:sp>
        <p:nvSpPr>
          <p:cNvPr id="394" name="Shape 53"/>
          <p:cNvSpPr/>
          <p:nvPr/>
        </p:nvSpPr>
        <p:spPr>
          <a:xfrm>
            <a:off x="5237640" y="558792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5" name="Text 54"/>
          <p:cNvSpPr/>
          <p:nvPr/>
        </p:nvSpPr>
        <p:spPr>
          <a:xfrm>
            <a:off x="5436000" y="5556240"/>
            <a:ext cx="126792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Extended guitar solos</a:t>
            </a:r>
            <a:endParaRPr b="0" lang="en-HK" sz="1000" spc="-1" strike="noStrike">
              <a:latin typeface="Arial"/>
            </a:endParaRPr>
          </a:p>
        </p:txBody>
      </p:sp>
      <p:sp>
        <p:nvSpPr>
          <p:cNvPr id="396" name="Shape 55"/>
          <p:cNvSpPr/>
          <p:nvPr/>
        </p:nvSpPr>
        <p:spPr>
          <a:xfrm>
            <a:off x="8536680" y="558792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7" name="Text 56"/>
          <p:cNvSpPr/>
          <p:nvPr/>
        </p:nvSpPr>
        <p:spPr>
          <a:xfrm>
            <a:off x="8735040" y="5556240"/>
            <a:ext cx="122004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High-energy tempos</a:t>
            </a:r>
            <a:endParaRPr b="0" lang="en-HK" sz="1000" spc="-1" strike="noStrike">
              <a:latin typeface="Arial"/>
            </a:endParaRPr>
          </a:p>
        </p:txBody>
      </p:sp>
      <p:sp>
        <p:nvSpPr>
          <p:cNvPr id="398" name="Shape 57"/>
          <p:cNvSpPr/>
          <p:nvPr/>
        </p:nvSpPr>
        <p:spPr>
          <a:xfrm>
            <a:off x="5237640" y="587376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399" name="Text 58"/>
          <p:cNvSpPr/>
          <p:nvPr/>
        </p:nvSpPr>
        <p:spPr>
          <a:xfrm>
            <a:off x="5436000" y="5842080"/>
            <a:ext cx="13392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Raw, aggressive sound</a:t>
            </a:r>
            <a:endParaRPr b="0" lang="en-HK" sz="1000" spc="-1" strike="noStrike">
              <a:latin typeface="Arial"/>
            </a:endParaRPr>
          </a:p>
        </p:txBody>
      </p:sp>
      <p:sp>
        <p:nvSpPr>
          <p:cNvPr id="400" name="Shape 59"/>
          <p:cNvSpPr/>
          <p:nvPr/>
        </p:nvSpPr>
        <p:spPr>
          <a:xfrm>
            <a:off x="8536680" y="5873760"/>
            <a:ext cx="109080" cy="124920"/>
          </a:xfrm>
          <a:custGeom>
            <a:avLst/>
            <a:gdLst/>
            <a:ahLst/>
            <a:rect l="l" t="t" r="r" b="b"/>
            <a:pathLst>
              <a:path w="111125" h="127000">
                <a:moveTo>
                  <a:pt x="107851" y="17388"/>
                </a:moveTo>
                <a:cubicBezTo>
                  <a:pt x="111398" y="19968"/>
                  <a:pt x="112192" y="24929"/>
                  <a:pt x="109612" y="28476"/>
                </a:cubicBezTo>
                <a:lnTo>
                  <a:pt x="46112" y="115788"/>
                </a:lnTo>
                <a:cubicBezTo>
                  <a:pt x="44748" y="117673"/>
                  <a:pt x="42639" y="118839"/>
                  <a:pt x="40308" y="119038"/>
                </a:cubicBezTo>
                <a:cubicBezTo>
                  <a:pt x="37976" y="119236"/>
                  <a:pt x="35719" y="118368"/>
                  <a:pt x="34082" y="116731"/>
                </a:cubicBezTo>
                <a:lnTo>
                  <a:pt x="2332" y="84981"/>
                </a:lnTo>
                <a:cubicBezTo>
                  <a:pt x="-769" y="81880"/>
                  <a:pt x="-769" y="76845"/>
                  <a:pt x="2332" y="73744"/>
                </a:cubicBezTo>
                <a:cubicBezTo>
                  <a:pt x="5432" y="70644"/>
                  <a:pt x="10468" y="70644"/>
                  <a:pt x="13568" y="73744"/>
                </a:cubicBezTo>
                <a:lnTo>
                  <a:pt x="38745" y="98921"/>
                </a:lnTo>
                <a:lnTo>
                  <a:pt x="96788" y="19124"/>
                </a:lnTo>
                <a:cubicBezTo>
                  <a:pt x="99368" y="15577"/>
                  <a:pt x="104329" y="14784"/>
                  <a:pt x="107876" y="17363"/>
                </a:cubicBezTo>
                <a:close/>
              </a:path>
            </a:pathLst>
          </a:custGeom>
          <a:solidFill>
            <a:srgbClr val="000000"/>
          </a:solidFill>
          <a:ln w="0">
            <a:noFill/>
          </a:ln>
        </p:spPr>
        <p:style>
          <a:lnRef idx="0"/>
          <a:fillRef idx="0"/>
          <a:effectRef idx="0"/>
          <a:fontRef idx="minor"/>
        </p:style>
      </p:sp>
      <p:sp>
        <p:nvSpPr>
          <p:cNvPr id="401" name="Text 60"/>
          <p:cNvSpPr/>
          <p:nvPr/>
        </p:nvSpPr>
        <p:spPr>
          <a:xfrm>
            <a:off x="8735040" y="5842080"/>
            <a:ext cx="1395000" cy="188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00" spc="-1" strike="noStrike">
                <a:solidFill>
                  <a:srgbClr val="000000"/>
                </a:solidFill>
                <a:latin typeface="Liter"/>
                <a:ea typeface="Liter"/>
              </a:rPr>
              <a:t>Blues-based foundation</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02" name="Shape 0"/>
          <p:cNvSpPr/>
          <p:nvPr/>
        </p:nvSpPr>
        <p:spPr>
          <a:xfrm>
            <a:off x="333720" y="383760"/>
            <a:ext cx="64440" cy="398520"/>
          </a:xfrm>
          <a:custGeom>
            <a:avLst/>
            <a:gdLst/>
            <a:ahLst/>
            <a:rect l="l" t="t" r="r" b="b"/>
            <a:pathLst>
              <a:path w="66760" h="400559">
                <a:moveTo>
                  <a:pt x="0" y="0"/>
                </a:moveTo>
                <a:lnTo>
                  <a:pt x="66760" y="0"/>
                </a:lnTo>
                <a:lnTo>
                  <a:pt x="66760" y="400559"/>
                </a:lnTo>
                <a:lnTo>
                  <a:pt x="0" y="400559"/>
                </a:lnTo>
                <a:lnTo>
                  <a:pt x="0" y="0"/>
                </a:lnTo>
                <a:close/>
              </a:path>
            </a:pathLst>
          </a:custGeom>
          <a:solidFill>
            <a:srgbClr val="ddff00"/>
          </a:solidFill>
          <a:ln w="0">
            <a:noFill/>
          </a:ln>
        </p:spPr>
        <p:style>
          <a:lnRef idx="0"/>
          <a:fillRef idx="0"/>
          <a:effectRef idx="0"/>
          <a:fontRef idx="minor"/>
        </p:style>
      </p:sp>
      <p:sp>
        <p:nvSpPr>
          <p:cNvPr id="403" name="Text 1"/>
          <p:cNvSpPr/>
          <p:nvPr/>
        </p:nvSpPr>
        <p:spPr>
          <a:xfrm>
            <a:off x="534240" y="333720"/>
            <a:ext cx="49885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75" strike="noStrike">
                <a:solidFill>
                  <a:srgbClr val="ddff00"/>
                </a:solidFill>
                <a:latin typeface="Liter"/>
                <a:ea typeface="Liter"/>
              </a:rPr>
              <a:t>CHAPTER 05</a:t>
            </a:r>
            <a:endParaRPr b="0" lang="en-HK" sz="920" spc="-1" strike="noStrike">
              <a:latin typeface="Arial"/>
            </a:endParaRPr>
          </a:p>
        </p:txBody>
      </p:sp>
      <p:sp>
        <p:nvSpPr>
          <p:cNvPr id="404" name="Text 2"/>
          <p:cNvSpPr/>
          <p:nvPr/>
        </p:nvSpPr>
        <p:spPr>
          <a:xfrm>
            <a:off x="534240" y="500760"/>
            <a:ext cx="5080320" cy="3315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60" spc="-1" strike="noStrike">
                <a:solidFill>
                  <a:srgbClr val="ffffff"/>
                </a:solidFill>
                <a:latin typeface="Liter"/>
                <a:ea typeface="Liter"/>
              </a:rPr>
              <a:t>Punk Rock: Three Chords &amp; The Truth</a:t>
            </a:r>
            <a:endParaRPr b="0" lang="en-HK" sz="2360" spc="-1" strike="noStrike">
              <a:latin typeface="Arial"/>
            </a:endParaRPr>
          </a:p>
        </p:txBody>
      </p:sp>
      <p:sp>
        <p:nvSpPr>
          <p:cNvPr id="405" name="Shape 3"/>
          <p:cNvSpPr/>
          <p:nvPr/>
        </p:nvSpPr>
        <p:spPr>
          <a:xfrm>
            <a:off x="333720" y="1101600"/>
            <a:ext cx="6791400" cy="2167560"/>
          </a:xfrm>
          <a:custGeom>
            <a:avLst/>
            <a:gdLst/>
            <a:ahLst/>
            <a:rect l="l" t="t" r="r" b="b"/>
            <a:pathLst>
              <a:path w="6792805" h="2169692">
                <a:moveTo>
                  <a:pt x="0" y="0"/>
                </a:moveTo>
                <a:lnTo>
                  <a:pt x="6792805" y="0"/>
                </a:lnTo>
                <a:lnTo>
                  <a:pt x="6792805" y="2169692"/>
                </a:lnTo>
                <a:lnTo>
                  <a:pt x="0" y="2169692"/>
                </a:lnTo>
                <a:lnTo>
                  <a:pt x="0" y="0"/>
                </a:lnTo>
                <a:close/>
              </a:path>
            </a:pathLst>
          </a:custGeom>
          <a:solidFill>
            <a:srgbClr val="ddff00"/>
          </a:solidFill>
          <a:ln w="0">
            <a:noFill/>
          </a:ln>
        </p:spPr>
        <p:style>
          <a:lnRef idx="0"/>
          <a:fillRef idx="0"/>
          <a:effectRef idx="0"/>
          <a:fontRef idx="minor"/>
        </p:style>
      </p:sp>
      <p:sp>
        <p:nvSpPr>
          <p:cNvPr id="406" name="Text 4"/>
          <p:cNvSpPr/>
          <p:nvPr/>
        </p:nvSpPr>
        <p:spPr>
          <a:xfrm>
            <a:off x="534240" y="1301760"/>
            <a:ext cx="6490800" cy="2649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80" spc="-1" strike="noStrike">
                <a:solidFill>
                  <a:srgbClr val="000000"/>
                </a:solidFill>
                <a:latin typeface="Liter"/>
                <a:ea typeface="Liter"/>
              </a:rPr>
              <a:t>The Revolution of Simplicity</a:t>
            </a:r>
            <a:endParaRPr b="0" lang="en-HK" sz="1580" spc="-1" strike="noStrike">
              <a:latin typeface="Arial"/>
            </a:endParaRPr>
          </a:p>
        </p:txBody>
      </p:sp>
      <p:sp>
        <p:nvSpPr>
          <p:cNvPr id="407" name="Text 5"/>
          <p:cNvSpPr/>
          <p:nvPr/>
        </p:nvSpPr>
        <p:spPr>
          <a:xfrm>
            <a:off x="534240" y="1668960"/>
            <a:ext cx="6457680" cy="64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50" spc="-1" strike="noStrike">
                <a:solidFill>
                  <a:srgbClr val="000000"/>
                </a:solidFill>
                <a:latin typeface="Liter"/>
                <a:ea typeface="Liter"/>
              </a:rPr>
              <a:t>Punk rock emerged in the mid-1970s as a direct reaction against the excesses of progressive rock and the polished production of mainstream music.</a:t>
            </a:r>
            <a:r>
              <a:rPr b="0" lang="en-US" sz="1050" spc="-1" strike="noStrike">
                <a:solidFill>
                  <a:srgbClr val="000000"/>
                </a:solidFill>
                <a:latin typeface="Liter"/>
                <a:ea typeface="Liter"/>
              </a:rPr>
              <a:t> Stripped down to its essentials, punk championed a DIY ethic—anyone could pick up a guitar, learn three chords, and start a band.</a:t>
            </a:r>
            <a:endParaRPr b="0" lang="en-HK" sz="1050" spc="-1" strike="noStrike">
              <a:latin typeface="Arial"/>
            </a:endParaRPr>
          </a:p>
        </p:txBody>
      </p:sp>
      <p:sp>
        <p:nvSpPr>
          <p:cNvPr id="408" name="Text 6"/>
          <p:cNvSpPr/>
          <p:nvPr/>
        </p:nvSpPr>
        <p:spPr>
          <a:xfrm>
            <a:off x="534240" y="2419920"/>
            <a:ext cx="6457680" cy="648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000000">
                    <a:alpha val="80000"/>
                  </a:srgbClr>
                </a:solidFill>
                <a:latin typeface="Liter"/>
                <a:ea typeface="Liter"/>
              </a:rPr>
              <a:t>Punk's raw, aggressive sound and anti-establishment lyrics gave voice to disenfranchised youth. It was fast, loud, and unapologetic—a musical revolution that proved you didn't need technical virtuosity to make powerful, meaningful music.</a:t>
            </a:r>
            <a:endParaRPr b="0" lang="en-HK" sz="1050" spc="-1" strike="noStrike">
              <a:latin typeface="Arial"/>
            </a:endParaRPr>
          </a:p>
        </p:txBody>
      </p:sp>
      <p:sp>
        <p:nvSpPr>
          <p:cNvPr id="409" name="Shape 7"/>
          <p:cNvSpPr/>
          <p:nvPr/>
        </p:nvSpPr>
        <p:spPr>
          <a:xfrm>
            <a:off x="342000" y="3413160"/>
            <a:ext cx="6774840" cy="2651400"/>
          </a:xfrm>
          <a:custGeom>
            <a:avLst/>
            <a:gdLst/>
            <a:ahLst/>
            <a:rect l="l" t="t" r="r" b="b"/>
            <a:pathLst>
              <a:path w="6776115" h="2653700">
                <a:moveTo>
                  <a:pt x="0" y="0"/>
                </a:moveTo>
                <a:lnTo>
                  <a:pt x="6776115" y="0"/>
                </a:lnTo>
                <a:lnTo>
                  <a:pt x="6776115" y="2653700"/>
                </a:lnTo>
                <a:lnTo>
                  <a:pt x="0" y="2653700"/>
                </a:lnTo>
                <a:lnTo>
                  <a:pt x="0" y="0"/>
                </a:lnTo>
                <a:close/>
              </a:path>
            </a:pathLst>
          </a:custGeom>
          <a:noFill/>
          <a:ln w="25400">
            <a:solidFill>
              <a:srgbClr val="ddff00"/>
            </a:solidFill>
            <a:round/>
          </a:ln>
        </p:spPr>
        <p:style>
          <a:lnRef idx="0"/>
          <a:fillRef idx="0"/>
          <a:effectRef idx="0"/>
          <a:fontRef idx="minor"/>
        </p:style>
      </p:sp>
      <p:sp>
        <p:nvSpPr>
          <p:cNvPr id="410" name="Text 8"/>
          <p:cNvSpPr/>
          <p:nvPr/>
        </p:nvSpPr>
        <p:spPr>
          <a:xfrm>
            <a:off x="517320" y="3588480"/>
            <a:ext cx="6507720" cy="231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ddff00"/>
                </a:solidFill>
                <a:latin typeface="Liter"/>
                <a:ea typeface="Liter"/>
              </a:rPr>
              <a:t>Punk Pioneers</a:t>
            </a:r>
            <a:endParaRPr b="0" lang="en-HK" sz="1320" spc="-1" strike="noStrike">
              <a:latin typeface="Arial"/>
            </a:endParaRPr>
          </a:p>
        </p:txBody>
      </p:sp>
      <p:sp>
        <p:nvSpPr>
          <p:cNvPr id="411" name="Shape 9"/>
          <p:cNvSpPr/>
          <p:nvPr/>
        </p:nvSpPr>
        <p:spPr>
          <a:xfrm>
            <a:off x="534240" y="395568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12" name="Text 10"/>
          <p:cNvSpPr/>
          <p:nvPr/>
        </p:nvSpPr>
        <p:spPr>
          <a:xfrm>
            <a:off x="684360" y="3955680"/>
            <a:ext cx="305244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Ramones</a:t>
            </a:r>
            <a:endParaRPr b="0" lang="en-HK" sz="1180" spc="-1" strike="noStrike">
              <a:latin typeface="Arial"/>
            </a:endParaRPr>
          </a:p>
        </p:txBody>
      </p:sp>
      <p:sp>
        <p:nvSpPr>
          <p:cNvPr id="413" name="Text 11"/>
          <p:cNvSpPr/>
          <p:nvPr/>
        </p:nvSpPr>
        <p:spPr>
          <a:xfrm>
            <a:off x="684360" y="4255920"/>
            <a:ext cx="30441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New York, 1974</a:t>
            </a:r>
            <a:endParaRPr b="0" lang="en-HK" sz="1050" spc="-1" strike="noStrike">
              <a:latin typeface="Arial"/>
            </a:endParaRPr>
          </a:p>
        </p:txBody>
      </p:sp>
      <p:sp>
        <p:nvSpPr>
          <p:cNvPr id="414" name="Text 12"/>
          <p:cNvSpPr/>
          <p:nvPr/>
        </p:nvSpPr>
        <p:spPr>
          <a:xfrm>
            <a:off x="684360" y="4523040"/>
            <a:ext cx="3035880" cy="33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"Blitzkrieg Bop," "I Wanna Be Sedated" - Fast, catchy, minimalist</a:t>
            </a:r>
            <a:endParaRPr b="0" lang="en-HK" sz="920" spc="-1" strike="noStrike">
              <a:latin typeface="Arial"/>
            </a:endParaRPr>
          </a:p>
        </p:txBody>
      </p:sp>
      <p:sp>
        <p:nvSpPr>
          <p:cNvPr id="415" name="Shape 13"/>
          <p:cNvSpPr/>
          <p:nvPr/>
        </p:nvSpPr>
        <p:spPr>
          <a:xfrm>
            <a:off x="3815280" y="395568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16" name="Text 14"/>
          <p:cNvSpPr/>
          <p:nvPr/>
        </p:nvSpPr>
        <p:spPr>
          <a:xfrm>
            <a:off x="3965400" y="3955680"/>
            <a:ext cx="305244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Sex Pistols</a:t>
            </a:r>
            <a:endParaRPr b="0" lang="en-HK" sz="1180" spc="-1" strike="noStrike">
              <a:latin typeface="Arial"/>
            </a:endParaRPr>
          </a:p>
        </p:txBody>
      </p:sp>
      <p:sp>
        <p:nvSpPr>
          <p:cNvPr id="417" name="Text 15"/>
          <p:cNvSpPr/>
          <p:nvPr/>
        </p:nvSpPr>
        <p:spPr>
          <a:xfrm>
            <a:off x="3965400" y="4255920"/>
            <a:ext cx="30441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1975</a:t>
            </a:r>
            <a:endParaRPr b="0" lang="en-HK" sz="1050" spc="-1" strike="noStrike">
              <a:latin typeface="Arial"/>
            </a:endParaRPr>
          </a:p>
        </p:txBody>
      </p:sp>
      <p:sp>
        <p:nvSpPr>
          <p:cNvPr id="418" name="Text 16"/>
          <p:cNvSpPr/>
          <p:nvPr/>
        </p:nvSpPr>
        <p:spPr>
          <a:xfrm>
            <a:off x="3965400" y="4523040"/>
            <a:ext cx="3035880" cy="33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"Anarchy in the U.K.," "God Save the Queen" - Provocation incarnate</a:t>
            </a:r>
            <a:endParaRPr b="0" lang="en-HK" sz="920" spc="-1" strike="noStrike">
              <a:latin typeface="Arial"/>
            </a:endParaRPr>
          </a:p>
        </p:txBody>
      </p:sp>
      <p:sp>
        <p:nvSpPr>
          <p:cNvPr id="419" name="Shape 17"/>
          <p:cNvSpPr/>
          <p:nvPr/>
        </p:nvSpPr>
        <p:spPr>
          <a:xfrm>
            <a:off x="534240" y="499032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20" name="Text 18"/>
          <p:cNvSpPr/>
          <p:nvPr/>
        </p:nvSpPr>
        <p:spPr>
          <a:xfrm>
            <a:off x="684360" y="4990320"/>
            <a:ext cx="305244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The Clash</a:t>
            </a:r>
            <a:endParaRPr b="0" lang="en-HK" sz="1180" spc="-1" strike="noStrike">
              <a:latin typeface="Arial"/>
            </a:endParaRPr>
          </a:p>
        </p:txBody>
      </p:sp>
      <p:sp>
        <p:nvSpPr>
          <p:cNvPr id="421" name="Text 19"/>
          <p:cNvSpPr/>
          <p:nvPr/>
        </p:nvSpPr>
        <p:spPr>
          <a:xfrm>
            <a:off x="684360" y="5290560"/>
            <a:ext cx="30441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London, 1976</a:t>
            </a:r>
            <a:endParaRPr b="0" lang="en-HK" sz="1050" spc="-1" strike="noStrike">
              <a:latin typeface="Arial"/>
            </a:endParaRPr>
          </a:p>
        </p:txBody>
      </p:sp>
      <p:sp>
        <p:nvSpPr>
          <p:cNvPr id="422" name="Text 20"/>
          <p:cNvSpPr/>
          <p:nvPr/>
        </p:nvSpPr>
        <p:spPr>
          <a:xfrm>
            <a:off x="684360" y="5557680"/>
            <a:ext cx="3035880" cy="33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"London Calling," "Should I Stay or Should I Go" - Punk with political depth</a:t>
            </a:r>
            <a:endParaRPr b="0" lang="en-HK" sz="920" spc="-1" strike="noStrike">
              <a:latin typeface="Arial"/>
            </a:endParaRPr>
          </a:p>
        </p:txBody>
      </p:sp>
      <p:sp>
        <p:nvSpPr>
          <p:cNvPr id="423" name="Shape 21"/>
          <p:cNvSpPr/>
          <p:nvPr/>
        </p:nvSpPr>
        <p:spPr>
          <a:xfrm>
            <a:off x="3815280" y="4990320"/>
            <a:ext cx="31320" cy="898920"/>
          </a:xfrm>
          <a:custGeom>
            <a:avLst/>
            <a:gdLst/>
            <a:ahLst/>
            <a:rect l="l" t="t" r="r" b="b"/>
            <a:pathLst>
              <a:path w="33380" h="901257">
                <a:moveTo>
                  <a:pt x="0" y="0"/>
                </a:moveTo>
                <a:lnTo>
                  <a:pt x="33380" y="0"/>
                </a:lnTo>
                <a:lnTo>
                  <a:pt x="33380" y="901257"/>
                </a:lnTo>
                <a:lnTo>
                  <a:pt x="0" y="901257"/>
                </a:lnTo>
                <a:lnTo>
                  <a:pt x="0" y="0"/>
                </a:lnTo>
                <a:close/>
              </a:path>
            </a:pathLst>
          </a:custGeom>
          <a:solidFill>
            <a:srgbClr val="ddff00"/>
          </a:solidFill>
          <a:ln w="0">
            <a:noFill/>
          </a:ln>
        </p:spPr>
        <p:style>
          <a:lnRef idx="0"/>
          <a:fillRef idx="0"/>
          <a:effectRef idx="0"/>
          <a:fontRef idx="minor"/>
        </p:style>
      </p:sp>
      <p:sp>
        <p:nvSpPr>
          <p:cNvPr id="424" name="Text 22"/>
          <p:cNvSpPr/>
          <p:nvPr/>
        </p:nvSpPr>
        <p:spPr>
          <a:xfrm>
            <a:off x="3965400" y="4990320"/>
            <a:ext cx="305244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Black Flag</a:t>
            </a:r>
            <a:endParaRPr b="0" lang="en-HK" sz="1180" spc="-1" strike="noStrike">
              <a:latin typeface="Arial"/>
            </a:endParaRPr>
          </a:p>
        </p:txBody>
      </p:sp>
      <p:sp>
        <p:nvSpPr>
          <p:cNvPr id="425" name="Text 23"/>
          <p:cNvSpPr/>
          <p:nvPr/>
        </p:nvSpPr>
        <p:spPr>
          <a:xfrm>
            <a:off x="3965400" y="5290560"/>
            <a:ext cx="30441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alpha val="70000"/>
                  </a:srgbClr>
                </a:solidFill>
                <a:latin typeface="Liter"/>
                <a:ea typeface="Liter"/>
              </a:rPr>
              <a:t>California, 1976</a:t>
            </a:r>
            <a:endParaRPr b="0" lang="en-HK" sz="1050" spc="-1" strike="noStrike">
              <a:latin typeface="Arial"/>
            </a:endParaRPr>
          </a:p>
        </p:txBody>
      </p:sp>
      <p:sp>
        <p:nvSpPr>
          <p:cNvPr id="426" name="Text 24"/>
          <p:cNvSpPr/>
          <p:nvPr/>
        </p:nvSpPr>
        <p:spPr>
          <a:xfrm>
            <a:off x="3965400" y="5557680"/>
            <a:ext cx="303588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ffffff">
                    <a:alpha val="60000"/>
                  </a:srgbClr>
                </a:solidFill>
                <a:latin typeface="Liter"/>
                <a:ea typeface="Liter"/>
              </a:rPr>
              <a:t>"Rise Above," "TV Party" - Hardcore punk pioneers</a:t>
            </a:r>
            <a:endParaRPr b="0" lang="en-HK" sz="920" spc="-1" strike="noStrike">
              <a:latin typeface="Arial"/>
            </a:endParaRPr>
          </a:p>
        </p:txBody>
      </p:sp>
      <p:sp>
        <p:nvSpPr>
          <p:cNvPr id="427" name="Shape 25"/>
          <p:cNvSpPr/>
          <p:nvPr/>
        </p:nvSpPr>
        <p:spPr>
          <a:xfrm>
            <a:off x="33804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428" name="Shape 26"/>
          <p:cNvSpPr/>
          <p:nvPr/>
        </p:nvSpPr>
        <p:spPr>
          <a:xfrm>
            <a:off x="1058040" y="6317280"/>
            <a:ext cx="173160" cy="198000"/>
          </a:xfrm>
          <a:custGeom>
            <a:avLst/>
            <a:gdLst/>
            <a:ahLst/>
            <a:rect l="l" t="t" r="r" b="b"/>
            <a:pathLst>
              <a:path w="175244" h="200279">
                <a:moveTo>
                  <a:pt x="132529" y="-3873"/>
                </a:moveTo>
                <a:cubicBezTo>
                  <a:pt x="137183" y="-509"/>
                  <a:pt x="138905" y="5594"/>
                  <a:pt x="136792" y="10914"/>
                </a:cubicBezTo>
                <a:lnTo>
                  <a:pt x="106125" y="87622"/>
                </a:lnTo>
                <a:lnTo>
                  <a:pt x="162727" y="87622"/>
                </a:lnTo>
                <a:cubicBezTo>
                  <a:pt x="168008" y="87622"/>
                  <a:pt x="172702" y="90908"/>
                  <a:pt x="174501" y="95876"/>
                </a:cubicBezTo>
                <a:cubicBezTo>
                  <a:pt x="176301" y="100844"/>
                  <a:pt x="174775" y="106398"/>
                  <a:pt x="170746" y="109762"/>
                </a:cubicBezTo>
                <a:lnTo>
                  <a:pt x="58089" y="203643"/>
                </a:lnTo>
                <a:cubicBezTo>
                  <a:pt x="53669" y="207320"/>
                  <a:pt x="47371" y="207516"/>
                  <a:pt x="42716" y="204152"/>
                </a:cubicBezTo>
                <a:cubicBezTo>
                  <a:pt x="38061" y="200788"/>
                  <a:pt x="36340" y="194686"/>
                  <a:pt x="38452" y="189366"/>
                </a:cubicBezTo>
                <a:lnTo>
                  <a:pt x="69120" y="112657"/>
                </a:lnTo>
                <a:lnTo>
                  <a:pt x="12517" y="112657"/>
                </a:lnTo>
                <a:cubicBezTo>
                  <a:pt x="7237" y="112657"/>
                  <a:pt x="2543" y="109371"/>
                  <a:pt x="743" y="104403"/>
                </a:cubicBezTo>
                <a:cubicBezTo>
                  <a:pt x="-1056" y="99436"/>
                  <a:pt x="469" y="93881"/>
                  <a:pt x="4498" y="90517"/>
                </a:cubicBezTo>
                <a:lnTo>
                  <a:pt x="117156" y="-3364"/>
                </a:lnTo>
                <a:cubicBezTo>
                  <a:pt x="121576" y="-7041"/>
                  <a:pt x="127874" y="-7237"/>
                  <a:pt x="132529" y="-3873"/>
                </a:cubicBezTo>
                <a:close/>
              </a:path>
            </a:pathLst>
          </a:custGeom>
          <a:solidFill>
            <a:srgbClr val="ddff00"/>
          </a:solidFill>
          <a:ln w="0">
            <a:noFill/>
          </a:ln>
        </p:spPr>
        <p:style>
          <a:lnRef idx="0"/>
          <a:fillRef idx="0"/>
          <a:effectRef idx="0"/>
          <a:fontRef idx="minor"/>
        </p:style>
      </p:sp>
      <p:sp>
        <p:nvSpPr>
          <p:cNvPr id="429" name="Text 27"/>
          <p:cNvSpPr/>
          <p:nvPr/>
        </p:nvSpPr>
        <p:spPr>
          <a:xfrm>
            <a:off x="41292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Fast-paced</a:t>
            </a:r>
            <a:endParaRPr b="0" lang="en-HK" sz="920" spc="-1" strike="noStrike">
              <a:latin typeface="Arial"/>
            </a:endParaRPr>
          </a:p>
        </p:txBody>
      </p:sp>
      <p:sp>
        <p:nvSpPr>
          <p:cNvPr id="430" name="Shape 28"/>
          <p:cNvSpPr/>
          <p:nvPr/>
        </p:nvSpPr>
        <p:spPr>
          <a:xfrm>
            <a:off x="206208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431" name="Shape 29"/>
          <p:cNvSpPr/>
          <p:nvPr/>
        </p:nvSpPr>
        <p:spPr>
          <a:xfrm>
            <a:off x="2794680" y="6317280"/>
            <a:ext cx="147960" cy="198000"/>
          </a:xfrm>
          <a:custGeom>
            <a:avLst/>
            <a:gdLst/>
            <a:ahLst/>
            <a:rect l="l" t="t" r="r" b="b"/>
            <a:pathLst>
              <a:path w="150209" h="200279">
                <a:moveTo>
                  <a:pt x="62587" y="0"/>
                </a:moveTo>
                <a:cubicBezTo>
                  <a:pt x="69511" y="0"/>
                  <a:pt x="75105" y="5594"/>
                  <a:pt x="75105" y="12517"/>
                </a:cubicBezTo>
                <a:lnTo>
                  <a:pt x="75105" y="56329"/>
                </a:lnTo>
                <a:lnTo>
                  <a:pt x="50070" y="56329"/>
                </a:lnTo>
                <a:lnTo>
                  <a:pt x="50070" y="12517"/>
                </a:lnTo>
                <a:cubicBezTo>
                  <a:pt x="50070" y="5594"/>
                  <a:pt x="55664" y="0"/>
                  <a:pt x="62587" y="0"/>
                </a:cubicBezTo>
                <a:close/>
                <a:moveTo>
                  <a:pt x="12517" y="25035"/>
                </a:moveTo>
                <a:cubicBezTo>
                  <a:pt x="12517" y="18111"/>
                  <a:pt x="18111" y="12517"/>
                  <a:pt x="25035" y="12517"/>
                </a:cubicBezTo>
                <a:cubicBezTo>
                  <a:pt x="31959" y="12517"/>
                  <a:pt x="37552" y="18111"/>
                  <a:pt x="37552" y="25035"/>
                </a:cubicBezTo>
                <a:lnTo>
                  <a:pt x="37552" y="56329"/>
                </a:lnTo>
                <a:lnTo>
                  <a:pt x="12517" y="56329"/>
                </a:lnTo>
                <a:lnTo>
                  <a:pt x="12517" y="25035"/>
                </a:lnTo>
                <a:close/>
                <a:moveTo>
                  <a:pt x="87622" y="25035"/>
                </a:moveTo>
                <a:cubicBezTo>
                  <a:pt x="87622" y="18111"/>
                  <a:pt x="93216" y="12517"/>
                  <a:pt x="100140" y="12517"/>
                </a:cubicBezTo>
                <a:cubicBezTo>
                  <a:pt x="107063" y="12517"/>
                  <a:pt x="112657" y="18111"/>
                  <a:pt x="112657" y="25035"/>
                </a:cubicBezTo>
                <a:lnTo>
                  <a:pt x="112657" y="62587"/>
                </a:lnTo>
                <a:cubicBezTo>
                  <a:pt x="112657" y="69511"/>
                  <a:pt x="107063" y="75105"/>
                  <a:pt x="100140" y="75105"/>
                </a:cubicBezTo>
                <a:cubicBezTo>
                  <a:pt x="93216" y="75105"/>
                  <a:pt x="87622" y="69511"/>
                  <a:pt x="87622" y="62587"/>
                </a:cubicBezTo>
                <a:lnTo>
                  <a:pt x="87622" y="25035"/>
                </a:lnTo>
                <a:close/>
                <a:moveTo>
                  <a:pt x="125175" y="50070"/>
                </a:moveTo>
                <a:cubicBezTo>
                  <a:pt x="125175" y="43146"/>
                  <a:pt x="130768" y="37552"/>
                  <a:pt x="137692" y="37552"/>
                </a:cubicBezTo>
                <a:cubicBezTo>
                  <a:pt x="144616" y="37552"/>
                  <a:pt x="150209" y="43146"/>
                  <a:pt x="150209" y="50070"/>
                </a:cubicBezTo>
                <a:lnTo>
                  <a:pt x="150209" y="75105"/>
                </a:lnTo>
                <a:cubicBezTo>
                  <a:pt x="150209" y="82028"/>
                  <a:pt x="144616" y="87622"/>
                  <a:pt x="137692" y="87622"/>
                </a:cubicBezTo>
                <a:cubicBezTo>
                  <a:pt x="130768" y="87622"/>
                  <a:pt x="125175" y="82028"/>
                  <a:pt x="125175" y="75105"/>
                </a:cubicBezTo>
                <a:lnTo>
                  <a:pt x="125175" y="50070"/>
                </a:lnTo>
                <a:close/>
                <a:moveTo>
                  <a:pt x="87622" y="84493"/>
                </a:moveTo>
                <a:lnTo>
                  <a:pt x="87622" y="84258"/>
                </a:lnTo>
                <a:cubicBezTo>
                  <a:pt x="91299" y="86370"/>
                  <a:pt x="95563" y="87622"/>
                  <a:pt x="100140" y="87622"/>
                </a:cubicBezTo>
                <a:cubicBezTo>
                  <a:pt x="105303" y="87622"/>
                  <a:pt x="110075" y="86057"/>
                  <a:pt x="114065" y="83398"/>
                </a:cubicBezTo>
                <a:cubicBezTo>
                  <a:pt x="117468" y="93138"/>
                  <a:pt x="126778" y="100140"/>
                  <a:pt x="137692" y="100140"/>
                </a:cubicBezTo>
                <a:cubicBezTo>
                  <a:pt x="142269" y="100140"/>
                  <a:pt x="146532" y="98927"/>
                  <a:pt x="150209" y="96776"/>
                </a:cubicBezTo>
                <a:lnTo>
                  <a:pt x="150209" y="100140"/>
                </a:lnTo>
                <a:cubicBezTo>
                  <a:pt x="150209" y="120598"/>
                  <a:pt x="140391" y="138787"/>
                  <a:pt x="125175" y="150209"/>
                </a:cubicBezTo>
                <a:lnTo>
                  <a:pt x="125175" y="187762"/>
                </a:lnTo>
                <a:cubicBezTo>
                  <a:pt x="125175" y="194686"/>
                  <a:pt x="119581" y="200279"/>
                  <a:pt x="112657" y="200279"/>
                </a:cubicBezTo>
                <a:lnTo>
                  <a:pt x="50070" y="200279"/>
                </a:lnTo>
                <a:cubicBezTo>
                  <a:pt x="43146" y="200279"/>
                  <a:pt x="37552" y="194686"/>
                  <a:pt x="37552" y="187762"/>
                </a:cubicBezTo>
                <a:lnTo>
                  <a:pt x="37552" y="157094"/>
                </a:lnTo>
                <a:cubicBezTo>
                  <a:pt x="30785" y="154004"/>
                  <a:pt x="24566" y="149740"/>
                  <a:pt x="19206" y="144381"/>
                </a:cubicBezTo>
                <a:lnTo>
                  <a:pt x="14669" y="139843"/>
                </a:lnTo>
                <a:cubicBezTo>
                  <a:pt x="5281" y="130455"/>
                  <a:pt x="0" y="117703"/>
                  <a:pt x="0" y="104443"/>
                </a:cubicBezTo>
                <a:lnTo>
                  <a:pt x="0" y="93881"/>
                </a:lnTo>
                <a:cubicBezTo>
                  <a:pt x="0" y="80073"/>
                  <a:pt x="11227" y="68846"/>
                  <a:pt x="25035" y="68846"/>
                </a:cubicBezTo>
                <a:lnTo>
                  <a:pt x="59458" y="68846"/>
                </a:lnTo>
                <a:cubicBezTo>
                  <a:pt x="68103" y="68846"/>
                  <a:pt x="75105" y="75848"/>
                  <a:pt x="75105" y="84493"/>
                </a:cubicBezTo>
                <a:cubicBezTo>
                  <a:pt x="75105" y="93138"/>
                  <a:pt x="68103" y="100140"/>
                  <a:pt x="59458" y="100140"/>
                </a:cubicBezTo>
                <a:lnTo>
                  <a:pt x="37552" y="100140"/>
                </a:lnTo>
                <a:cubicBezTo>
                  <a:pt x="34110" y="100140"/>
                  <a:pt x="31294" y="102956"/>
                  <a:pt x="31294" y="106398"/>
                </a:cubicBezTo>
                <a:cubicBezTo>
                  <a:pt x="31294" y="109841"/>
                  <a:pt x="34110" y="112657"/>
                  <a:pt x="37552" y="112657"/>
                </a:cubicBezTo>
                <a:lnTo>
                  <a:pt x="59458" y="112657"/>
                </a:lnTo>
                <a:cubicBezTo>
                  <a:pt x="75026" y="112657"/>
                  <a:pt x="87622" y="100061"/>
                  <a:pt x="87622" y="84493"/>
                </a:cubicBezTo>
                <a:close/>
              </a:path>
            </a:pathLst>
          </a:custGeom>
          <a:solidFill>
            <a:srgbClr val="ddff00"/>
          </a:solidFill>
          <a:ln w="0">
            <a:noFill/>
          </a:ln>
        </p:spPr>
        <p:style>
          <a:lnRef idx="0"/>
          <a:fillRef idx="0"/>
          <a:effectRef idx="0"/>
          <a:fontRef idx="minor"/>
        </p:style>
      </p:sp>
      <p:sp>
        <p:nvSpPr>
          <p:cNvPr id="432" name="Text 30"/>
          <p:cNvSpPr/>
          <p:nvPr/>
        </p:nvSpPr>
        <p:spPr>
          <a:xfrm>
            <a:off x="213696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Anti-establishment</a:t>
            </a:r>
            <a:endParaRPr b="0" lang="en-HK" sz="920" spc="-1" strike="noStrike">
              <a:latin typeface="Arial"/>
            </a:endParaRPr>
          </a:p>
        </p:txBody>
      </p:sp>
      <p:sp>
        <p:nvSpPr>
          <p:cNvPr id="433" name="Shape 31"/>
          <p:cNvSpPr/>
          <p:nvPr/>
        </p:nvSpPr>
        <p:spPr>
          <a:xfrm>
            <a:off x="378612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434" name="Shape 32"/>
          <p:cNvSpPr/>
          <p:nvPr/>
        </p:nvSpPr>
        <p:spPr>
          <a:xfrm>
            <a:off x="4481640" y="6317280"/>
            <a:ext cx="223200" cy="198000"/>
          </a:xfrm>
          <a:custGeom>
            <a:avLst/>
            <a:gdLst/>
            <a:ahLst/>
            <a:rect l="l" t="t" r="r" b="b"/>
            <a:pathLst>
              <a:path w="225314" h="200279">
                <a:moveTo>
                  <a:pt x="87661" y="37983"/>
                </a:moveTo>
                <a:lnTo>
                  <a:pt x="87661" y="57385"/>
                </a:lnTo>
                <a:lnTo>
                  <a:pt x="87857" y="57580"/>
                </a:lnTo>
                <a:cubicBezTo>
                  <a:pt x="90399" y="25348"/>
                  <a:pt x="117351" y="0"/>
                  <a:pt x="150249" y="0"/>
                </a:cubicBezTo>
                <a:cubicBezTo>
                  <a:pt x="158111" y="0"/>
                  <a:pt x="165661" y="1447"/>
                  <a:pt x="172584" y="4107"/>
                </a:cubicBezTo>
                <a:cubicBezTo>
                  <a:pt x="176496" y="5594"/>
                  <a:pt x="177200" y="10562"/>
                  <a:pt x="174266" y="13534"/>
                </a:cubicBezTo>
                <a:lnTo>
                  <a:pt x="139570" y="48231"/>
                </a:lnTo>
                <a:cubicBezTo>
                  <a:pt x="138396" y="49405"/>
                  <a:pt x="137731" y="51009"/>
                  <a:pt x="137731" y="52652"/>
                </a:cubicBezTo>
                <a:lnTo>
                  <a:pt x="137731" y="68846"/>
                </a:lnTo>
                <a:cubicBezTo>
                  <a:pt x="137731" y="72288"/>
                  <a:pt x="140548" y="75105"/>
                  <a:pt x="143990" y="75105"/>
                </a:cubicBezTo>
                <a:lnTo>
                  <a:pt x="160184" y="75105"/>
                </a:lnTo>
                <a:cubicBezTo>
                  <a:pt x="161827" y="75105"/>
                  <a:pt x="163431" y="74440"/>
                  <a:pt x="164605" y="73266"/>
                </a:cubicBezTo>
                <a:lnTo>
                  <a:pt x="199301" y="38569"/>
                </a:lnTo>
                <a:cubicBezTo>
                  <a:pt x="202274" y="35597"/>
                  <a:pt x="207242" y="36340"/>
                  <a:pt x="208729" y="40251"/>
                </a:cubicBezTo>
                <a:cubicBezTo>
                  <a:pt x="211389" y="47175"/>
                  <a:pt x="212836" y="54725"/>
                  <a:pt x="212836" y="62587"/>
                </a:cubicBezTo>
                <a:cubicBezTo>
                  <a:pt x="212836" y="86292"/>
                  <a:pt x="199653" y="106946"/>
                  <a:pt x="180173" y="117547"/>
                </a:cubicBezTo>
                <a:lnTo>
                  <a:pt x="212053" y="149427"/>
                </a:lnTo>
                <a:cubicBezTo>
                  <a:pt x="219368" y="156742"/>
                  <a:pt x="219368" y="168634"/>
                  <a:pt x="212053" y="175988"/>
                </a:cubicBezTo>
                <a:lnTo>
                  <a:pt x="188544" y="199497"/>
                </a:lnTo>
                <a:cubicBezTo>
                  <a:pt x="181229" y="206812"/>
                  <a:pt x="169338" y="206812"/>
                  <a:pt x="161984" y="199497"/>
                </a:cubicBezTo>
                <a:lnTo>
                  <a:pt x="112696" y="150209"/>
                </a:lnTo>
                <a:cubicBezTo>
                  <a:pt x="101978" y="139491"/>
                  <a:pt x="99553" y="123649"/>
                  <a:pt x="105460" y="110584"/>
                </a:cubicBezTo>
                <a:lnTo>
                  <a:pt x="69980" y="75105"/>
                </a:lnTo>
                <a:lnTo>
                  <a:pt x="50578" y="75105"/>
                </a:lnTo>
                <a:cubicBezTo>
                  <a:pt x="46393" y="75105"/>
                  <a:pt x="42481" y="73032"/>
                  <a:pt x="40173" y="69550"/>
                </a:cubicBezTo>
                <a:lnTo>
                  <a:pt x="9153" y="23040"/>
                </a:lnTo>
                <a:cubicBezTo>
                  <a:pt x="7510" y="20576"/>
                  <a:pt x="7823" y="17251"/>
                  <a:pt x="9936" y="15138"/>
                </a:cubicBezTo>
                <a:lnTo>
                  <a:pt x="27695" y="-2621"/>
                </a:lnTo>
                <a:cubicBezTo>
                  <a:pt x="29807" y="-4733"/>
                  <a:pt x="33093" y="-5046"/>
                  <a:pt x="35597" y="-3403"/>
                </a:cubicBezTo>
                <a:lnTo>
                  <a:pt x="82107" y="27578"/>
                </a:lnTo>
                <a:cubicBezTo>
                  <a:pt x="85588" y="29885"/>
                  <a:pt x="87661" y="33797"/>
                  <a:pt x="87661" y="37983"/>
                </a:cubicBezTo>
                <a:close/>
                <a:moveTo>
                  <a:pt x="84336" y="116021"/>
                </a:moveTo>
                <a:cubicBezTo>
                  <a:pt x="81872" y="130494"/>
                  <a:pt x="85275" y="145789"/>
                  <a:pt x="94663" y="158033"/>
                </a:cubicBezTo>
                <a:lnTo>
                  <a:pt x="57502" y="195155"/>
                </a:lnTo>
                <a:cubicBezTo>
                  <a:pt x="46510" y="206147"/>
                  <a:pt x="28673" y="206147"/>
                  <a:pt x="17681" y="195155"/>
                </a:cubicBezTo>
                <a:cubicBezTo>
                  <a:pt x="6689" y="184163"/>
                  <a:pt x="6689" y="166326"/>
                  <a:pt x="17681" y="155334"/>
                </a:cubicBezTo>
                <a:lnTo>
                  <a:pt x="70645" y="102369"/>
                </a:lnTo>
                <a:lnTo>
                  <a:pt x="84336" y="116060"/>
                </a:lnTo>
                <a:close/>
              </a:path>
            </a:pathLst>
          </a:custGeom>
          <a:solidFill>
            <a:srgbClr val="ddff00"/>
          </a:solidFill>
          <a:ln w="0">
            <a:noFill/>
          </a:ln>
        </p:spPr>
        <p:style>
          <a:lnRef idx="0"/>
          <a:fillRef idx="0"/>
          <a:effectRef idx="0"/>
          <a:fontRef idx="minor"/>
        </p:style>
      </p:sp>
      <p:sp>
        <p:nvSpPr>
          <p:cNvPr id="435" name="Text 33"/>
          <p:cNvSpPr/>
          <p:nvPr/>
        </p:nvSpPr>
        <p:spPr>
          <a:xfrm>
            <a:off x="386100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DIY Ethic</a:t>
            </a:r>
            <a:endParaRPr b="0" lang="en-HK" sz="920" spc="-1" strike="noStrike">
              <a:latin typeface="Arial"/>
            </a:endParaRPr>
          </a:p>
        </p:txBody>
      </p:sp>
      <p:sp>
        <p:nvSpPr>
          <p:cNvPr id="436" name="Shape 34"/>
          <p:cNvSpPr/>
          <p:nvPr/>
        </p:nvSpPr>
        <p:spPr>
          <a:xfrm>
            <a:off x="5510520" y="6212880"/>
            <a:ext cx="1616760" cy="640440"/>
          </a:xfrm>
          <a:custGeom>
            <a:avLst/>
            <a:gdLst/>
            <a:ahLst/>
            <a:rect l="l" t="t" r="r" b="b"/>
            <a:pathLst>
              <a:path w="1618924" h="642563">
                <a:moveTo>
                  <a:pt x="0" y="0"/>
                </a:moveTo>
                <a:lnTo>
                  <a:pt x="1618924" y="0"/>
                </a:lnTo>
                <a:lnTo>
                  <a:pt x="1618924" y="642563"/>
                </a:lnTo>
                <a:lnTo>
                  <a:pt x="0" y="642563"/>
                </a:lnTo>
                <a:lnTo>
                  <a:pt x="0" y="0"/>
                </a:lnTo>
                <a:close/>
              </a:path>
            </a:pathLst>
          </a:custGeom>
          <a:solidFill>
            <a:srgbClr val="ddff00">
              <a:alpha val="10000"/>
            </a:srgbClr>
          </a:solidFill>
          <a:ln w="12700">
            <a:solidFill>
              <a:srgbClr val="ddff00"/>
            </a:solidFill>
            <a:round/>
          </a:ln>
        </p:spPr>
        <p:style>
          <a:lnRef idx="0"/>
          <a:fillRef idx="0"/>
          <a:effectRef idx="0"/>
          <a:fontRef idx="minor"/>
        </p:style>
      </p:sp>
      <p:sp>
        <p:nvSpPr>
          <p:cNvPr id="437" name="Shape 35"/>
          <p:cNvSpPr/>
          <p:nvPr/>
        </p:nvSpPr>
        <p:spPr>
          <a:xfrm>
            <a:off x="6230520" y="6317280"/>
            <a:ext cx="173160" cy="198000"/>
          </a:xfrm>
          <a:custGeom>
            <a:avLst/>
            <a:gdLst/>
            <a:ahLst/>
            <a:rect l="l" t="t" r="r" b="b"/>
            <a:pathLst>
              <a:path w="175244" h="200279">
                <a:moveTo>
                  <a:pt x="62783" y="-10327"/>
                </a:moveTo>
                <a:cubicBezTo>
                  <a:pt x="66421" y="-13378"/>
                  <a:pt x="71780" y="-13261"/>
                  <a:pt x="75261" y="-9975"/>
                </a:cubicBezTo>
                <a:cubicBezTo>
                  <a:pt x="80073" y="-5437"/>
                  <a:pt x="84375" y="-430"/>
                  <a:pt x="88522" y="4655"/>
                </a:cubicBezTo>
                <a:cubicBezTo>
                  <a:pt x="93803" y="11109"/>
                  <a:pt x="100140" y="19637"/>
                  <a:pt x="106242" y="29768"/>
                </a:cubicBezTo>
                <a:cubicBezTo>
                  <a:pt x="108276" y="27108"/>
                  <a:pt x="110154" y="24761"/>
                  <a:pt x="111797" y="22766"/>
                </a:cubicBezTo>
                <a:cubicBezTo>
                  <a:pt x="112227" y="22258"/>
                  <a:pt x="112657" y="21710"/>
                  <a:pt x="113087" y="21162"/>
                </a:cubicBezTo>
                <a:cubicBezTo>
                  <a:pt x="116178" y="17329"/>
                  <a:pt x="120011" y="12517"/>
                  <a:pt x="125135" y="12517"/>
                </a:cubicBezTo>
                <a:cubicBezTo>
                  <a:pt x="130377" y="12517"/>
                  <a:pt x="134054" y="17172"/>
                  <a:pt x="137183" y="21162"/>
                </a:cubicBezTo>
                <a:cubicBezTo>
                  <a:pt x="137692" y="21827"/>
                  <a:pt x="138201" y="22453"/>
                  <a:pt x="138709" y="23040"/>
                </a:cubicBezTo>
                <a:cubicBezTo>
                  <a:pt x="142738" y="27890"/>
                  <a:pt x="148097" y="34892"/>
                  <a:pt x="153456" y="43537"/>
                </a:cubicBezTo>
                <a:cubicBezTo>
                  <a:pt x="164096" y="60710"/>
                  <a:pt x="175205" y="85158"/>
                  <a:pt x="175205" y="112618"/>
                </a:cubicBezTo>
                <a:cubicBezTo>
                  <a:pt x="175205" y="161006"/>
                  <a:pt x="135971" y="200240"/>
                  <a:pt x="87583" y="200240"/>
                </a:cubicBezTo>
                <a:cubicBezTo>
                  <a:pt x="39195" y="200240"/>
                  <a:pt x="0" y="161045"/>
                  <a:pt x="0" y="112657"/>
                </a:cubicBezTo>
                <a:cubicBezTo>
                  <a:pt x="0" y="77021"/>
                  <a:pt x="16077" y="46158"/>
                  <a:pt x="31489" y="24644"/>
                </a:cubicBezTo>
                <a:cubicBezTo>
                  <a:pt x="39274" y="13808"/>
                  <a:pt x="47019" y="5124"/>
                  <a:pt x="52847" y="-821"/>
                </a:cubicBezTo>
                <a:cubicBezTo>
                  <a:pt x="56055" y="-4107"/>
                  <a:pt x="59301" y="-7354"/>
                  <a:pt x="62822" y="-10288"/>
                </a:cubicBezTo>
                <a:close/>
                <a:moveTo>
                  <a:pt x="88287" y="162727"/>
                </a:moveTo>
                <a:cubicBezTo>
                  <a:pt x="98184" y="162727"/>
                  <a:pt x="106946" y="159989"/>
                  <a:pt x="115200" y="154512"/>
                </a:cubicBezTo>
                <a:cubicBezTo>
                  <a:pt x="131668" y="143012"/>
                  <a:pt x="136088" y="120011"/>
                  <a:pt x="126192" y="101939"/>
                </a:cubicBezTo>
                <a:cubicBezTo>
                  <a:pt x="124431" y="98418"/>
                  <a:pt x="119933" y="98184"/>
                  <a:pt x="117390" y="101157"/>
                </a:cubicBezTo>
                <a:lnTo>
                  <a:pt x="107533" y="112618"/>
                </a:lnTo>
                <a:cubicBezTo>
                  <a:pt x="104951" y="115591"/>
                  <a:pt x="100296" y="115513"/>
                  <a:pt x="97871" y="112422"/>
                </a:cubicBezTo>
                <a:cubicBezTo>
                  <a:pt x="91104" y="103778"/>
                  <a:pt x="78664" y="88013"/>
                  <a:pt x="72327" y="79955"/>
                </a:cubicBezTo>
                <a:cubicBezTo>
                  <a:pt x="70215" y="77256"/>
                  <a:pt x="66382" y="76826"/>
                  <a:pt x="63917" y="79212"/>
                </a:cubicBezTo>
                <a:cubicBezTo>
                  <a:pt x="56759" y="86175"/>
                  <a:pt x="43772" y="101430"/>
                  <a:pt x="43772" y="120011"/>
                </a:cubicBezTo>
                <a:cubicBezTo>
                  <a:pt x="43772" y="146845"/>
                  <a:pt x="63565" y="162727"/>
                  <a:pt x="88248" y="162727"/>
                </a:cubicBezTo>
                <a:close/>
              </a:path>
            </a:pathLst>
          </a:custGeom>
          <a:solidFill>
            <a:srgbClr val="ddff00"/>
          </a:solidFill>
          <a:ln w="0">
            <a:noFill/>
          </a:ln>
        </p:spPr>
        <p:style>
          <a:lnRef idx="0"/>
          <a:fillRef idx="0"/>
          <a:effectRef idx="0"/>
          <a:fontRef idx="minor"/>
        </p:style>
      </p:sp>
      <p:sp>
        <p:nvSpPr>
          <p:cNvPr id="438" name="Text 36"/>
          <p:cNvSpPr/>
          <p:nvPr/>
        </p:nvSpPr>
        <p:spPr>
          <a:xfrm>
            <a:off x="5585760" y="6584040"/>
            <a:ext cx="1466640" cy="164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20" spc="-1" strike="noStrike">
                <a:solidFill>
                  <a:srgbClr val="ffffff"/>
                </a:solidFill>
                <a:latin typeface="Liter"/>
                <a:ea typeface="Liter"/>
              </a:rPr>
              <a:t>Raw Energy</a:t>
            </a:r>
            <a:endParaRPr b="0" lang="en-HK" sz="920" spc="-1" strike="noStrike">
              <a:latin typeface="Arial"/>
            </a:endParaRPr>
          </a:p>
        </p:txBody>
      </p:sp>
      <p:sp>
        <p:nvSpPr>
          <p:cNvPr id="439" name="Image 0"/>
          <p:cNvSpPr/>
          <p:nvPr/>
        </p:nvSpPr>
        <p:spPr>
          <a:xfrm>
            <a:off x="7330680" y="1101600"/>
            <a:ext cx="4529520" cy="3118680"/>
          </a:xfrm>
          <a:prstGeom prst="roundRect">
            <a:avLst>
              <a:gd name="adj" fmla="val 0"/>
            </a:avLst>
          </a:prstGeom>
          <a:blipFill rotWithShape="0">
            <a:blip r:embed="rId1"/>
            <a:srcRect/>
            <a:stretch/>
          </a:blipFill>
          <a:ln w="0">
            <a:noFill/>
          </a:ln>
        </p:spPr>
        <p:style>
          <a:lnRef idx="0"/>
          <a:fillRef idx="0"/>
          <a:effectRef idx="0"/>
          <a:fontRef idx="minor"/>
        </p:style>
      </p:sp>
      <p:sp>
        <p:nvSpPr>
          <p:cNvPr id="440" name="Shape 37"/>
          <p:cNvSpPr/>
          <p:nvPr/>
        </p:nvSpPr>
        <p:spPr>
          <a:xfrm>
            <a:off x="7330680" y="1101600"/>
            <a:ext cx="4529520" cy="3118680"/>
          </a:xfrm>
          <a:custGeom>
            <a:avLst/>
            <a:gdLst/>
            <a:ahLst/>
            <a:rect l="l" t="t" r="r" b="b"/>
            <a:pathLst>
              <a:path w="4531318" h="3121018">
                <a:moveTo>
                  <a:pt x="0" y="0"/>
                </a:moveTo>
                <a:lnTo>
                  <a:pt x="4531318" y="0"/>
                </a:lnTo>
                <a:lnTo>
                  <a:pt x="4531318" y="3121018"/>
                </a:lnTo>
                <a:lnTo>
                  <a:pt x="0" y="3121018"/>
                </a:lnTo>
                <a:lnTo>
                  <a:pt x="0" y="0"/>
                </a:lnTo>
                <a:close/>
              </a:path>
            </a:pathLst>
          </a:custGeom>
          <a:gradFill rotWithShape="0">
            <a:gsLst>
              <a:gs pos="50000">
                <a:srgbClr val="000000">
                  <a:alpha val="0"/>
                </a:srgbClr>
              </a:gs>
              <a:gs pos="100000">
                <a:srgbClr val="000000"/>
              </a:gs>
            </a:gsLst>
            <a:lin ang="5400000"/>
          </a:gradFill>
          <a:ln w="0">
            <a:noFill/>
          </a:ln>
        </p:spPr>
        <p:style>
          <a:lnRef idx="0"/>
          <a:fillRef idx="0"/>
          <a:effectRef idx="0"/>
          <a:fontRef idx="minor"/>
        </p:style>
      </p:sp>
      <p:sp>
        <p:nvSpPr>
          <p:cNvPr id="441" name="Text 38"/>
          <p:cNvSpPr/>
          <p:nvPr/>
        </p:nvSpPr>
        <p:spPr>
          <a:xfrm>
            <a:off x="7464240" y="3655080"/>
            <a:ext cx="4320720" cy="164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ddff00"/>
                </a:solidFill>
                <a:latin typeface="Liter"/>
                <a:ea typeface="Liter"/>
              </a:rPr>
              <a:t>PUNK ENERGY</a:t>
            </a:r>
            <a:endParaRPr b="0" lang="en-HK" sz="920" spc="-1" strike="noStrike">
              <a:latin typeface="Arial"/>
            </a:endParaRPr>
          </a:p>
        </p:txBody>
      </p:sp>
      <p:sp>
        <p:nvSpPr>
          <p:cNvPr id="442" name="Text 39"/>
          <p:cNvSpPr/>
          <p:nvPr/>
        </p:nvSpPr>
        <p:spPr>
          <a:xfrm>
            <a:off x="7464240" y="3855240"/>
            <a:ext cx="433764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Liter"/>
                <a:ea typeface="Liter"/>
              </a:rPr>
              <a:t>Raw &amp; Unfiltered</a:t>
            </a:r>
            <a:endParaRPr b="0" lang="en-HK" sz="1180" spc="-1" strike="noStrike">
              <a:latin typeface="Arial"/>
            </a:endParaRPr>
          </a:p>
        </p:txBody>
      </p:sp>
      <p:sp>
        <p:nvSpPr>
          <p:cNvPr id="443" name="Shape 40"/>
          <p:cNvSpPr/>
          <p:nvPr/>
        </p:nvSpPr>
        <p:spPr>
          <a:xfrm>
            <a:off x="7338960" y="4364280"/>
            <a:ext cx="4512960" cy="1683360"/>
          </a:xfrm>
          <a:custGeom>
            <a:avLst/>
            <a:gdLst/>
            <a:ahLst/>
            <a:rect l="l" t="t" r="r" b="b"/>
            <a:pathLst>
              <a:path w="4514628" h="1685684">
                <a:moveTo>
                  <a:pt x="0" y="0"/>
                </a:moveTo>
                <a:lnTo>
                  <a:pt x="4514628" y="0"/>
                </a:lnTo>
                <a:lnTo>
                  <a:pt x="4514628" y="1685684"/>
                </a:lnTo>
                <a:lnTo>
                  <a:pt x="0" y="1685684"/>
                </a:lnTo>
                <a:lnTo>
                  <a:pt x="0" y="0"/>
                </a:lnTo>
                <a:close/>
              </a:path>
            </a:pathLst>
          </a:custGeom>
          <a:noFill/>
          <a:ln w="25400">
            <a:solidFill>
              <a:srgbClr val="ddff00"/>
            </a:solidFill>
            <a:round/>
          </a:ln>
        </p:spPr>
        <p:style>
          <a:lnRef idx="0"/>
          <a:fillRef idx="0"/>
          <a:effectRef idx="0"/>
          <a:fontRef idx="minor"/>
        </p:style>
      </p:sp>
      <p:sp>
        <p:nvSpPr>
          <p:cNvPr id="444" name="Text 41"/>
          <p:cNvSpPr/>
          <p:nvPr/>
        </p:nvSpPr>
        <p:spPr>
          <a:xfrm>
            <a:off x="7514280" y="4539600"/>
            <a:ext cx="4237560" cy="231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ddff00"/>
                </a:solidFill>
                <a:latin typeface="Liter"/>
                <a:ea typeface="Liter"/>
              </a:rPr>
              <a:t>Cultural Impact</a:t>
            </a:r>
            <a:endParaRPr b="0" lang="en-HK" sz="1180" spc="-1" strike="noStrike">
              <a:latin typeface="Arial"/>
            </a:endParaRPr>
          </a:p>
        </p:txBody>
      </p:sp>
      <p:sp>
        <p:nvSpPr>
          <p:cNvPr id="445" name="Shape 42"/>
          <p:cNvSpPr/>
          <p:nvPr/>
        </p:nvSpPr>
        <p:spPr>
          <a:xfrm>
            <a:off x="7514280" y="494028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446" name="Text 43"/>
          <p:cNvSpPr/>
          <p:nvPr/>
        </p:nvSpPr>
        <p:spPr>
          <a:xfrm>
            <a:off x="7647840" y="4873320"/>
            <a:ext cx="290232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Fashion:</a:t>
            </a:r>
            <a:r>
              <a:rPr b="0" lang="en-US" sz="1050" spc="-1" strike="noStrike">
                <a:solidFill>
                  <a:srgbClr val="ffffff">
                    <a:alpha val="80000"/>
                  </a:srgbClr>
                </a:solidFill>
                <a:latin typeface="Liter"/>
                <a:ea typeface="Liter"/>
              </a:rPr>
              <a:t> Safety pins, leather jackets, torn clothes</a:t>
            </a:r>
            <a:endParaRPr b="0" lang="en-HK" sz="1050" spc="-1" strike="noStrike">
              <a:latin typeface="Arial"/>
            </a:endParaRPr>
          </a:p>
        </p:txBody>
      </p:sp>
      <p:sp>
        <p:nvSpPr>
          <p:cNvPr id="447" name="Shape 44"/>
          <p:cNvSpPr/>
          <p:nvPr/>
        </p:nvSpPr>
        <p:spPr>
          <a:xfrm>
            <a:off x="7514280" y="520740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448" name="Text 45"/>
          <p:cNvSpPr/>
          <p:nvPr/>
        </p:nvSpPr>
        <p:spPr>
          <a:xfrm>
            <a:off x="7647840" y="5140440"/>
            <a:ext cx="242676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Attitude:</a:t>
            </a:r>
            <a:r>
              <a:rPr b="0" lang="en-US" sz="1050" spc="-1" strike="noStrike">
                <a:solidFill>
                  <a:srgbClr val="ffffff">
                    <a:alpha val="80000"/>
                  </a:srgbClr>
                </a:solidFill>
                <a:latin typeface="Liter"/>
                <a:ea typeface="Liter"/>
              </a:rPr>
              <a:t> Rebellion, anti-authoritarianism</a:t>
            </a:r>
            <a:endParaRPr b="0" lang="en-HK" sz="1050" spc="-1" strike="noStrike">
              <a:latin typeface="Arial"/>
            </a:endParaRPr>
          </a:p>
        </p:txBody>
      </p:sp>
      <p:sp>
        <p:nvSpPr>
          <p:cNvPr id="449" name="Shape 46"/>
          <p:cNvSpPr/>
          <p:nvPr/>
        </p:nvSpPr>
        <p:spPr>
          <a:xfrm>
            <a:off x="7514280" y="547416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450" name="Text 47"/>
          <p:cNvSpPr/>
          <p:nvPr/>
        </p:nvSpPr>
        <p:spPr>
          <a:xfrm>
            <a:off x="7647840" y="5407560"/>
            <a:ext cx="24598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DIY Culture:</a:t>
            </a:r>
            <a:r>
              <a:rPr b="0" lang="en-US" sz="1050" spc="-1" strike="noStrike">
                <a:solidFill>
                  <a:srgbClr val="ffffff">
                    <a:alpha val="80000"/>
                  </a:srgbClr>
                </a:solidFill>
                <a:latin typeface="Liter"/>
                <a:ea typeface="Liter"/>
              </a:rPr>
              <a:t> Independent labels, fanzines</a:t>
            </a:r>
            <a:endParaRPr b="0" lang="en-HK" sz="1050" spc="-1" strike="noStrike">
              <a:latin typeface="Arial"/>
            </a:endParaRPr>
          </a:p>
        </p:txBody>
      </p:sp>
      <p:sp>
        <p:nvSpPr>
          <p:cNvPr id="451" name="Shape 48"/>
          <p:cNvSpPr/>
          <p:nvPr/>
        </p:nvSpPr>
        <p:spPr>
          <a:xfrm>
            <a:off x="7514280" y="5741280"/>
            <a:ext cx="64440" cy="64440"/>
          </a:xfrm>
          <a:custGeom>
            <a:avLst/>
            <a:gdLst/>
            <a:ahLst/>
            <a:rect l="l" t="t" r="r" b="b"/>
            <a:pathLst>
              <a:path w="66760" h="66760">
                <a:moveTo>
                  <a:pt x="0" y="0"/>
                </a:moveTo>
                <a:lnTo>
                  <a:pt x="66760" y="0"/>
                </a:lnTo>
                <a:lnTo>
                  <a:pt x="66760" y="66760"/>
                </a:lnTo>
                <a:lnTo>
                  <a:pt x="0" y="66760"/>
                </a:lnTo>
                <a:lnTo>
                  <a:pt x="0" y="0"/>
                </a:lnTo>
                <a:close/>
              </a:path>
            </a:pathLst>
          </a:custGeom>
          <a:solidFill>
            <a:srgbClr val="ddff00"/>
          </a:solidFill>
          <a:ln w="0">
            <a:noFill/>
          </a:ln>
        </p:spPr>
        <p:style>
          <a:lnRef idx="0"/>
          <a:fillRef idx="0"/>
          <a:effectRef idx="0"/>
          <a:fontRef idx="minor"/>
        </p:style>
      </p:sp>
      <p:sp>
        <p:nvSpPr>
          <p:cNvPr id="452" name="Text 49"/>
          <p:cNvSpPr/>
          <p:nvPr/>
        </p:nvSpPr>
        <p:spPr>
          <a:xfrm>
            <a:off x="7647840" y="5674680"/>
            <a:ext cx="3311280" cy="198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ffffff">
                    <a:alpha val="80000"/>
                  </a:srgbClr>
                </a:solidFill>
                <a:latin typeface="Liter"/>
                <a:ea typeface="Liter"/>
              </a:rPr>
              <a:t>Social Commentary:</a:t>
            </a:r>
            <a:r>
              <a:rPr b="0" lang="en-US" sz="1050" spc="-1" strike="noStrike">
                <a:solidFill>
                  <a:srgbClr val="ffffff">
                    <a:alpha val="80000"/>
                  </a:srgbClr>
                </a:solidFill>
                <a:latin typeface="Liter"/>
                <a:ea typeface="Liter"/>
              </a:rPr>
              <a:t> Political lyrics, working-class voice</a:t>
            </a:r>
            <a:endParaRPr b="0" lang="en-HK" sz="1050" spc="-1" strike="noStrike">
              <a:latin typeface="Arial"/>
            </a:endParaRPr>
          </a:p>
        </p:txBody>
      </p:sp>
      <p:sp>
        <p:nvSpPr>
          <p:cNvPr id="453" name="Shape 50"/>
          <p:cNvSpPr/>
          <p:nvPr/>
        </p:nvSpPr>
        <p:spPr>
          <a:xfrm>
            <a:off x="7330680" y="6192000"/>
            <a:ext cx="4529520" cy="665280"/>
          </a:xfrm>
          <a:custGeom>
            <a:avLst/>
            <a:gdLst/>
            <a:ahLst/>
            <a:rect l="l" t="t" r="r" b="b"/>
            <a:pathLst>
              <a:path w="4531318" h="667598">
                <a:moveTo>
                  <a:pt x="0" y="0"/>
                </a:moveTo>
                <a:lnTo>
                  <a:pt x="4531318" y="0"/>
                </a:lnTo>
                <a:lnTo>
                  <a:pt x="4531318" y="667598"/>
                </a:lnTo>
                <a:lnTo>
                  <a:pt x="0" y="667598"/>
                </a:lnTo>
                <a:lnTo>
                  <a:pt x="0" y="0"/>
                </a:lnTo>
                <a:close/>
              </a:path>
            </a:pathLst>
          </a:custGeom>
          <a:solidFill>
            <a:srgbClr val="ddff00"/>
          </a:solidFill>
          <a:ln w="0">
            <a:noFill/>
          </a:ln>
        </p:spPr>
        <p:style>
          <a:lnRef idx="0"/>
          <a:fillRef idx="0"/>
          <a:effectRef idx="0"/>
          <a:fontRef idx="minor"/>
        </p:style>
      </p:sp>
      <p:sp>
        <p:nvSpPr>
          <p:cNvPr id="454" name="Text 51"/>
          <p:cNvSpPr/>
          <p:nvPr/>
        </p:nvSpPr>
        <p:spPr>
          <a:xfrm>
            <a:off x="7430760" y="6325560"/>
            <a:ext cx="4329360" cy="3985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000000"/>
                </a:solidFill>
                <a:latin typeface="Liter"/>
                <a:ea typeface="Liter"/>
              </a:rPr>
              <a:t>"Punk is musical freedom."</a:t>
            </a:r>
            <a:endParaRPr b="0" lang="en-HK" sz="1050" spc="-1" strike="noStrike">
              <a:latin typeface="Arial"/>
            </a:endParaRPr>
          </a:p>
          <a:p>
            <a:pPr algn="ctr">
              <a:lnSpc>
                <a:spcPct val="130000"/>
              </a:lnSpc>
              <a:buNone/>
            </a:pPr>
            <a:r>
              <a:rPr b="0" lang="en-US" sz="920" spc="-1" strike="noStrike">
                <a:solidFill>
                  <a:srgbClr val="000000"/>
                </a:solidFill>
                <a:latin typeface="Liter"/>
                <a:ea typeface="Liter"/>
              </a:rPr>
              <a:t>— </a:t>
            </a:r>
            <a:r>
              <a:rPr b="0" lang="en-US" sz="920" spc="-1" strike="noStrike">
                <a:solidFill>
                  <a:srgbClr val="000000"/>
                </a:solidFill>
                <a:latin typeface="Liter"/>
                <a:ea typeface="Liter"/>
              </a:rPr>
              <a:t>Kurt Cobain</a:t>
            </a:r>
            <a:endParaRPr b="0" lang="en-HK" sz="92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32</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2026-03-18T08:15:32Z</dcterms:created>
  <dc:creator>Kimi</dc:creator>
  <dc:description/>
  <dc:language>en-HK</dc:language>
  <cp:lastModifiedBy/>
  <dcterms:modified xsi:type="dcterms:W3CDTF">2026-04-27T01:01:14Z</dcterms:modified>
  <cp:revision>7</cp:revision>
  <dc:subject>The Evolution of Rock Music</dc:subject>
  <dc:title>The Evolution of Rock Music</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{"Label":"The Evolution of Rock Music","ContentProducer":"001191110108MACG2KBH8F10000","ProduceID":"19cfffb4-12a2-8b20-8000-0000a3d16f4b","ReservedCode1":"","ContentPropagator":"001191110108MACG2KBH8F20000","PropagateID":"19cfffb4-12a2-8b20-8000-0000a3d16f4b","ReservedCode2":""}</vt:lpwstr>
  </property>
  <property fmtid="{D5CDD505-2E9C-101B-9397-08002B2CF9AE}" pid="3" name="Notes">
    <vt:i4>24</vt:i4>
  </property>
  <property fmtid="{D5CDD505-2E9C-101B-9397-08002B2CF9AE}" pid="4" name="PresentationFormat">
    <vt:lpwstr>On-screen Show (16:9)</vt:lpwstr>
  </property>
  <property fmtid="{D5CDD505-2E9C-101B-9397-08002B2CF9AE}" pid="5" name="Slides">
    <vt:i4>24</vt:i4>
  </property>
</Properties>
</file>