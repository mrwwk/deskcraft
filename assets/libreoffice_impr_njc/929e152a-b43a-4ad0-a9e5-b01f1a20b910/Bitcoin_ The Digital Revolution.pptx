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2.xml.rels" ContentType="application/vnd.openxmlformats-package.relationships+xml"/>
  <Override PartName="/ppt/notesSlides/_rels/notesSlide26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25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23.xml.rels" ContentType="application/vnd.openxmlformats-package.relationships+xml"/>
  <Override PartName="/ppt/notesSlides/_rels/notesSlide2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20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4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3.xml.rels" ContentType="application/vnd.openxmlformats-package.relationships+xml"/>
  <Override PartName="/ppt/notesSlides/_rels/notesSlide27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7.png" ContentType="image/png"/>
  <Override PartName="/ppt/media/image8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s/slide14.xml" ContentType="application/vnd.openxmlformats-officedocument.presentationml.slide+xml"/>
  <Override PartName="/ppt/slides/slide27.xml" ContentType="application/vnd.openxmlformats-officedocument.presentationml.slide+xml"/>
  <Override PartName="/ppt/slides/slide15.xml" ContentType="application/vnd.openxmlformats-officedocument.presentationml.slide+xml"/>
  <Override PartName="/ppt/slides/slide26.xml" ContentType="application/vnd.openxmlformats-officedocument.presentationml.slide+xml"/>
  <Override PartName="/ppt/slides/slide25.xml" ContentType="application/vnd.openxmlformats-officedocument.presentationml.slide+xml"/>
  <Override PartName="/ppt/slides/slide24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21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7.xml" ContentType="application/vnd.openxmlformats-officedocument.presentationml.slide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20.xml.rels" ContentType="application/vnd.openxmlformats-package.relationships+xml"/>
  <Override PartName="/ppt/slides/_rels/slide2.xml.rels" ContentType="application/vnd.openxmlformats-package.relationships+xml"/>
  <Override PartName="/ppt/slides/_rels/slide19.xml.rels" ContentType="application/vnd.openxmlformats-package.relationships+xml"/>
  <Override PartName="/ppt/slides/_rels/slide21.xml.rels" ContentType="application/vnd.openxmlformats-package.relationships+xml"/>
  <Override PartName="/ppt/slides/_rels/slide3.xml.rels" ContentType="application/vnd.openxmlformats-package.relationships+xml"/>
  <Override PartName="/ppt/slides/_rels/slide22.xml.rels" ContentType="application/vnd.openxmlformats-package.relationships+xml"/>
  <Override PartName="/ppt/slides/_rels/slide23.xml.rels" ContentType="application/vnd.openxmlformats-package.relationships+xml"/>
  <Override PartName="/ppt/slides/_rels/slide15.xml.rels" ContentType="application/vnd.openxmlformats-package.relationships+xml"/>
  <Override PartName="/ppt/slides/_rels/slide25.xml.rels" ContentType="application/vnd.openxmlformats-package.relationships+xml"/>
  <Override PartName="/ppt/slides/_rels/slide10.xml.rels" ContentType="application/vnd.openxmlformats-package.relationships+xml"/>
  <Override PartName="/ppt/slides/_rels/slide16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4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27.xml.rels" ContentType="application/vnd.openxmlformats-package.relationships+xml"/>
  <Override PartName="/ppt/slides/_rels/slide9.xml.rels" ContentType="application/vnd.openxmlformats-package.relationships+xml"/>
  <Override PartName="/ppt/slides/slide16.xml" ContentType="application/vnd.openxmlformats-officedocument.presentationml.slide+xml"/>
  <Override PartName="/ppt/comments/comment4.xml" ContentType="application/vnd.openxmlformats-officedocument.presentationml.comments+xml"/>
  <Override PartName="/ppt/commentAuthors.xml" ContentType="application/vnd.openxmlformats-officedocument.presentationml.commentAuthor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</p:sldIdLst>
  <p:sldSz cx="12192000" cy="6858000"/>
  <p:notesSz cx="6858000" cy="12192000"/>
</p:presentation>
</file>

<file path=ppt/commentAuthors.xml><?xml version="1.0" encoding="utf-8"?>
<p:cmAuthorLst xmlns:p="http://schemas.openxmlformats.org/presentationml/2006/main">
  <p:cmAuthor id="0" name="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presProps" Target="presProps.xml"/><Relationship Id="rId32" Type="http://schemas.openxmlformats.org/officeDocument/2006/relationships/commentAuthors" Target="commentAuthors.xml"/>
</Relationships>
</file>

<file path=ppt/comments/comment4.xml><?xml version="1.0" encoding="utf-8"?>
<p:cmLst xmlns:p="http://schemas.openxmlformats.org/presentationml/2006/main">
  <p:cm authorId="0" dt="2026-04-20T00:22:17.000000000" idx="1">
    <p:pos x="0" y="0"/>
    <p:text>Key talking point: The Genesis Block was mined on January 3rd, 2009, embedding a headline about bank bailouts as a political statement by Satoshi Nakamoto.</p:text>
  </p:cm>
</p:cmLst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</a:t>
            </a:r>
            <a:r>
              <a:rPr b="0" lang="en-HK" sz="4400" spc="-1" strike="noStrike">
                <a:latin typeface="Arial"/>
              </a:rPr>
              <a:t>move </a:t>
            </a:r>
            <a:r>
              <a:rPr b="0" lang="en-HK" sz="4400" spc="-1" strike="noStrike">
                <a:latin typeface="Arial"/>
              </a:rPr>
              <a:t>the </a:t>
            </a:r>
            <a:r>
              <a:rPr b="0" lang="en-HK" sz="4400" spc="-1" strike="noStrike">
                <a:latin typeface="Arial"/>
              </a:rPr>
              <a:t>slide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2000" spc="-1" strike="noStrike">
                <a:latin typeface="Arial"/>
              </a:rPr>
              <a:t>Click to edit the notes </a:t>
            </a:r>
            <a:r>
              <a:rPr b="0" lang="en-HK" sz="2000" spc="-1" strike="noStrike">
                <a:latin typeface="Arial"/>
              </a:rPr>
              <a:t>format</a:t>
            </a:r>
            <a:endParaRPr b="0" lang="en-HK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HK" sz="1400" spc="-1" strike="noStrike">
                <a:latin typeface="Times New Roman"/>
              </a:rPr>
              <a:t>&lt;header&gt;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HK" sz="1400" spc="-1" strike="noStrike">
                <a:latin typeface="Times New Roman"/>
              </a:rPr>
              <a:t>&lt;date/time&gt;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HK" sz="1400" spc="-1" strike="noStrike">
                <a:latin typeface="Times New Roman"/>
              </a:defRPr>
            </a:lvl1pPr>
          </a:lstStyle>
          <a:p>
            <a:r>
              <a:rPr b="0" lang="en-HK" sz="1400" spc="-1" strike="noStrike">
                <a:latin typeface="Times New Roman"/>
              </a:rPr>
              <a:t>&lt;footer&gt;</a:t>
            </a:r>
            <a:endParaRPr b="0" lang="en-HK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HK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16558D0F-BF15-4D22-9133-936400E852F7}" type="slidenum">
              <a:rPr b="0" lang="en-HK" sz="1400" spc="-1" strike="noStrike">
                <a:latin typeface="Times New Roman"/>
              </a:rPr>
              <a:t>&lt;number&gt;</a:t>
            </a:fld>
            <a:endParaRPr b="0" lang="en-HK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5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5B4C406-204C-4751-9D82-4C60554C97D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58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26C1F9-75F3-4360-B2D6-D1342ABABCE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1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F42E0EE-38DC-494F-85CE-A3D61361278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3" name="PlaceHolder 2"/>
          <p:cNvSpPr>
            <a:spLocks noGrp="1"/>
          </p:cNvSpPr>
          <p:nvPr>
            <p:ph type="body"/>
          </p:nvPr>
        </p:nvSpPr>
        <p:spPr>
          <a:xfrm>
            <a:off x="1980000" y="540000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HK" sz="1800" spc="-1" strike="noStrike">
                <a:latin typeface="Arial"/>
              </a:rPr>
              <a:t>Key talking point: The Genesis Block was mined on January 3</a:t>
            </a:r>
            <a:r>
              <a:rPr b="0" lang="en-HK" sz="1800" spc="-1" strike="noStrike" baseline="33000">
                <a:latin typeface="Arial"/>
              </a:rPr>
              <a:t>rd</a:t>
            </a:r>
            <a:r>
              <a:rPr b="0" lang="en-HK" sz="1800" spc="-1" strike="noStrike">
                <a:latin typeface="Arial"/>
              </a:rPr>
              <a:t>, 2009, </a:t>
            </a:r>
            <a:r>
              <a:rPr b="0" lang="en-HK" sz="1800" spc="-1" strike="noStrike">
                <a:latin typeface="Arial"/>
              </a:rPr>
              <a:t>embedding a headline about bank bailouts as a political statement by </a:t>
            </a:r>
            <a:r>
              <a:rPr b="0" lang="en-HK" sz="1800" spc="-1" strike="noStrike">
                <a:latin typeface="Arial"/>
              </a:rPr>
              <a:t>Satoshi Nakamoto.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64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8ECEA29-3FD0-41CC-A4A8-C4907286499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67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D7E6D2-0354-4F97-94AF-BA1F5305657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0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7C3932A-777F-4480-8E52-A9A1CF47C6F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3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22614D8-6111-4363-9101-27357D792264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6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E2AE5BA-1BC8-4B73-925D-4FB41D38F83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79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50012815-F5A3-4D6D-95A7-F57AC511293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2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9097929F-605C-4B63-B44D-29D0F22093B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5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97BC000-CBD6-46F0-80DE-E7C3B8795CD1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88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AC6FC5E-0A9A-4257-9226-A5F66179BB8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1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ABCA601-C771-4BAC-9643-1295043745D0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4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31455F3-EC12-4D35-8D20-A9B6612A091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097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D82AF725-B4D0-4DC3-B3A3-F843DF7DED7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0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0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F384FAE-1206-424D-A7E8-8E16D696D04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3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8ACD2AE-9F2B-48CD-B190-743F2C27E482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6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265CC9C3-A454-47B4-9B4A-020807E6FECB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09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4F0887B9-7490-4BCB-BFCA-1F7C5CACB3E9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2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FCC87C82-10CA-4B69-840E-C43EBD548B8D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5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E22CE89-566B-4C33-8062-6425506CDCE3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18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0CFE3511-CB80-4465-A160-1C4709C55FCF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1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CC44D96D-4723-4D16-B4E0-A888C771E1F6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4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82C274BF-BAB5-410D-B326-86229A974117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27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EACE7726-C84F-451A-8A87-17F4F775339A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0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79C9918B-8869-4879-8909-6A387FD2294C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1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endParaRPr b="0" lang="en-HK" sz="2000" spc="-1" strike="noStrike">
              <a:latin typeface="Arial"/>
            </a:endParaRPr>
          </a:p>
        </p:txBody>
      </p:sp>
      <p:sp>
        <p:nvSpPr>
          <p:cNvPr id="1133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lnSpc>
                <a:spcPct val="100000"/>
              </a:lnSpc>
              <a:buNone/>
              <a:defRPr b="0" lang="en-US" sz="1200" spc="-1" strike="noStrike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6B17DDA8-649E-4EBB-A680-34356FB3C6FE}" type="slidenum">
              <a:rPr b="0" lang="en-US" sz="1200" spc="-1" strike="noStrike">
                <a:latin typeface="Times New Roman"/>
              </a:rPr>
              <a:t>&lt;number&gt;</a:t>
            </a:fld>
            <a:endParaRPr b="0" lang="en-HK" sz="12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HK" sz="4400" spc="-1" strike="noStrike"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HK" sz="3200" spc="-1" strike="noStrike"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r>
              <a:rPr b="0" lang="en-HK" sz="4400" spc="-1" strike="noStrike">
                <a:latin typeface="Arial"/>
              </a:rPr>
              <a:t>Click to </a:t>
            </a:r>
            <a:r>
              <a:rPr b="0" lang="en-HK" sz="4400" spc="-1" strike="noStrike">
                <a:latin typeface="Arial"/>
              </a:rPr>
              <a:t>edit the </a:t>
            </a:r>
            <a:r>
              <a:rPr b="0" lang="en-HK" sz="4400" spc="-1" strike="noStrike">
                <a:latin typeface="Arial"/>
              </a:rPr>
              <a:t>title text </a:t>
            </a:r>
            <a:r>
              <a:rPr b="0" lang="en-HK" sz="4400" spc="-1" strike="noStrike">
                <a:latin typeface="Arial"/>
              </a:rPr>
              <a:t>format</a:t>
            </a:r>
            <a:endParaRPr b="0" lang="en-HK" sz="4400" spc="-1" strike="noStrike">
              <a:latin typeface="Arial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3200" spc="-1" strike="noStrike">
                <a:latin typeface="Arial"/>
              </a:rPr>
              <a:t>Click to edit the outline text format</a:t>
            </a:r>
            <a:endParaRPr b="0" lang="en-HK" sz="3200" spc="-1" strike="noStrike"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800" spc="-1" strike="noStrike">
                <a:latin typeface="Arial"/>
              </a:rPr>
              <a:t>Second Outline Level</a:t>
            </a:r>
            <a:endParaRPr b="0" lang="en-HK" sz="2800" spc="-1" strike="noStrike"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400" spc="-1" strike="noStrike">
                <a:latin typeface="Arial"/>
              </a:rPr>
              <a:t>Third Outline Level</a:t>
            </a:r>
            <a:endParaRPr b="0" lang="en-HK" sz="2400" spc="-1" strike="noStrike"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HK" sz="2000" spc="-1" strike="noStrike">
                <a:latin typeface="Arial"/>
              </a:rPr>
              <a:t>Fourth Outline Level</a:t>
            </a:r>
            <a:endParaRPr b="0" lang="en-HK" sz="2000" spc="-1" strike="noStrike"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Fifth Outline Level</a:t>
            </a:r>
            <a:endParaRPr b="0" lang="en-HK" sz="2000" spc="-1" strike="noStrike"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Sixth Outline Level</a:t>
            </a:r>
            <a:endParaRPr b="0" lang="en-HK" sz="2000" spc="-1" strike="noStrike"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HK" sz="2000" spc="-1" strike="noStrike">
                <a:latin typeface="Arial"/>
              </a:rPr>
              <a:t>Seventh Outline Level</a:t>
            </a:r>
            <a:endParaRPr b="0" lang="en-HK" sz="2000" spc="-1" strike="noStrike"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omments" Target="../comments/comment4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800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5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8b">
              <a:alpha val="8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6" name="Shape 1"/>
          <p:cNvSpPr/>
          <p:nvPr/>
        </p:nvSpPr>
        <p:spPr>
          <a:xfrm>
            <a:off x="409680" y="714240"/>
            <a:ext cx="3701880" cy="777960"/>
          </a:xfrm>
          <a:custGeom>
            <a:avLst/>
            <a:gdLst/>
            <a:ahLst/>
            <a:rect l="l" t="t" r="r" b="b"/>
            <a:pathLst>
              <a:path w="3705225" h="781050">
                <a:moveTo>
                  <a:pt x="0" y="0"/>
                </a:moveTo>
                <a:lnTo>
                  <a:pt x="3705225" y="0"/>
                </a:lnTo>
                <a:lnTo>
                  <a:pt x="3705225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7" name="Text 2"/>
          <p:cNvSpPr/>
          <p:nvPr/>
        </p:nvSpPr>
        <p:spPr>
          <a:xfrm>
            <a:off x="666720" y="971640"/>
            <a:ext cx="3282840" cy="263520"/>
          </a:xfrm>
          <a:prstGeom prst="rect">
            <a:avLst/>
          </a:prstGeom>
          <a:gradFill rotWithShape="0">
            <a:gsLst>
              <a:gs pos="0">
                <a:srgbClr val="009fcf">
                  <a:alpha val="0"/>
                </a:srgbClr>
              </a:gs>
              <a:gs pos="50000">
                <a:srgbClr val="009fcf"/>
              </a:gs>
              <a:gs pos="100000">
                <a:srgbClr val="009fcf">
                  <a:alpha val="0"/>
                </a:srgbClr>
              </a:gs>
            </a:gsLst>
            <a:lin ang="5400000"/>
          </a:gra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126" strike="noStrike">
                <a:solidFill>
                  <a:srgbClr val="eeeeee"/>
                </a:solidFill>
                <a:latin typeface="Noto Sans SC"/>
                <a:ea typeface="Noto Sans SC"/>
              </a:rPr>
              <a:t>FINANCIAL LECTURE SERIES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" name="Shape 3"/>
          <p:cNvSpPr/>
          <p:nvPr/>
        </p:nvSpPr>
        <p:spPr>
          <a:xfrm>
            <a:off x="409680" y="1876320"/>
            <a:ext cx="11369520" cy="3254400"/>
          </a:xfrm>
          <a:custGeom>
            <a:avLst/>
            <a:gdLst/>
            <a:ahLst/>
            <a:rect l="l" t="t" r="r" b="b"/>
            <a:pathLst>
              <a:path w="11372850" h="3257550">
                <a:moveTo>
                  <a:pt x="0" y="0"/>
                </a:moveTo>
                <a:lnTo>
                  <a:pt x="11372850" y="0"/>
                </a:lnTo>
                <a:lnTo>
                  <a:pt x="11372850" y="3257550"/>
                </a:lnTo>
                <a:lnTo>
                  <a:pt x="0" y="32575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9" name="Text 4"/>
          <p:cNvSpPr/>
          <p:nvPr/>
        </p:nvSpPr>
        <p:spPr>
          <a:xfrm>
            <a:off x="895320" y="2362320"/>
            <a:ext cx="1085544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7200" spc="-1" strike="noStrike">
                <a:solidFill>
                  <a:srgbClr val="eeeeee"/>
                </a:solidFill>
                <a:latin typeface="Noto Sans SC"/>
                <a:ea typeface="Noto Sans SC"/>
              </a:rPr>
              <a:t>BITCOIN</a:t>
            </a:r>
            <a:endParaRPr b="0" lang="en-HK" sz="7200" spc="-1" strike="noStrike">
              <a:latin typeface="Arial"/>
            </a:endParaRPr>
          </a:p>
        </p:txBody>
      </p:sp>
      <p:sp>
        <p:nvSpPr>
          <p:cNvPr id="50" name="Shape 5"/>
          <p:cNvSpPr/>
          <p:nvPr/>
        </p:nvSpPr>
        <p:spPr>
          <a:xfrm>
            <a:off x="895320" y="3505320"/>
            <a:ext cx="1216080" cy="73080"/>
          </a:xfrm>
          <a:custGeom>
            <a:avLst/>
            <a:gdLst/>
            <a:ahLst/>
            <a:rect l="l" t="t" r="r" b="b"/>
            <a:pathLst>
              <a:path w="1219200" h="76200">
                <a:moveTo>
                  <a:pt x="0" y="0"/>
                </a:moveTo>
                <a:lnTo>
                  <a:pt x="1219200" y="0"/>
                </a:lnTo>
                <a:lnTo>
                  <a:pt x="12192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" name="Text 6"/>
          <p:cNvSpPr/>
          <p:nvPr/>
        </p:nvSpPr>
        <p:spPr>
          <a:xfrm>
            <a:off x="895320" y="3809880"/>
            <a:ext cx="105696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eeeeee"/>
                </a:solidFill>
                <a:latin typeface="Noto Sans SC"/>
                <a:ea typeface="Noto Sans SC"/>
              </a:rPr>
              <a:t>THE DIGITAL REVOLUTION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2" name="Text 7"/>
          <p:cNvSpPr/>
          <p:nvPr/>
        </p:nvSpPr>
        <p:spPr>
          <a:xfrm>
            <a:off x="895320" y="4343400"/>
            <a:ext cx="105123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1800" spc="-1" strike="noStrike">
                <a:solidFill>
                  <a:srgbClr val="eeeeee"/>
                </a:solidFill>
                <a:latin typeface="Noto Sans SC"/>
                <a:ea typeface="Noto Sans SC"/>
              </a:rPr>
              <a:t>A Comprehensive Analysis of History, Present &amp; Future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53" name="Shape 8"/>
          <p:cNvSpPr/>
          <p:nvPr/>
        </p:nvSpPr>
        <p:spPr>
          <a:xfrm>
            <a:off x="409680" y="5514840"/>
            <a:ext cx="1292040" cy="625320"/>
          </a:xfrm>
          <a:custGeom>
            <a:avLst/>
            <a:gdLst/>
            <a:ahLst/>
            <a:rect l="l" t="t" r="r" b="b"/>
            <a:pathLst>
              <a:path w="1295400" h="628650">
                <a:moveTo>
                  <a:pt x="0" y="0"/>
                </a:moveTo>
                <a:lnTo>
                  <a:pt x="1295400" y="0"/>
                </a:lnTo>
                <a:lnTo>
                  <a:pt x="1295400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" name="Text 9"/>
          <p:cNvSpPr/>
          <p:nvPr/>
        </p:nvSpPr>
        <p:spPr>
          <a:xfrm>
            <a:off x="590400" y="5695920"/>
            <a:ext cx="10159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eeeee"/>
                </a:solidFill>
                <a:latin typeface="MiSans"/>
                <a:ea typeface="MiSans"/>
              </a:rPr>
              <a:t>March 2026</a:t>
            </a:r>
            <a:endParaRPr b="0" lang="en-HK" sz="1350" spc="-1" strike="noStrike">
              <a:latin typeface="Arial"/>
            </a:endParaRPr>
          </a:p>
        </p:txBody>
      </p:sp>
      <p:sp>
        <p:nvSpPr>
          <p:cNvPr id="55" name="Shape 10"/>
          <p:cNvSpPr/>
          <p:nvPr/>
        </p:nvSpPr>
        <p:spPr>
          <a:xfrm>
            <a:off x="10364400" y="5514840"/>
            <a:ext cx="1415880" cy="625320"/>
          </a:xfrm>
          <a:custGeom>
            <a:avLst/>
            <a:gdLst/>
            <a:ahLst/>
            <a:rect l="l" t="t" r="r" b="b"/>
            <a:pathLst>
              <a:path w="1419225" h="628650">
                <a:moveTo>
                  <a:pt x="0" y="0"/>
                </a:moveTo>
                <a:lnTo>
                  <a:pt x="1419225" y="0"/>
                </a:lnTo>
                <a:lnTo>
                  <a:pt x="1419225" y="628650"/>
                </a:lnTo>
                <a:lnTo>
                  <a:pt x="0" y="628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" name="Text 11"/>
          <p:cNvSpPr/>
          <p:nvPr/>
        </p:nvSpPr>
        <p:spPr>
          <a:xfrm>
            <a:off x="10545480" y="5695920"/>
            <a:ext cx="113976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350" spc="-1" strike="noStrike">
                <a:solidFill>
                  <a:srgbClr val="eeeeee"/>
                </a:solidFill>
                <a:latin typeface="MiSans"/>
                <a:ea typeface="MiSans"/>
              </a:rPr>
              <a:t>▶ </a:t>
            </a:r>
            <a:r>
              <a:rPr b="1" lang="en-US" sz="1350" spc="-1" strike="noStrike">
                <a:solidFill>
                  <a:srgbClr val="eeeeee"/>
                </a:solidFill>
                <a:latin typeface="MiSans"/>
                <a:ea typeface="MiSans"/>
              </a:rPr>
              <a:t>27 SLIDES</a:t>
            </a:r>
            <a:endParaRPr b="0" lang="en-HK" sz="13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Shape 0"/>
          <p:cNvSpPr/>
          <p:nvPr/>
        </p:nvSpPr>
        <p:spPr>
          <a:xfrm>
            <a:off x="341280" y="341280"/>
            <a:ext cx="11505960" cy="1092240"/>
          </a:xfrm>
          <a:custGeom>
            <a:avLst/>
            <a:gdLst/>
            <a:ahLst/>
            <a:rect l="l" t="t" r="r" b="b"/>
            <a:pathLst>
              <a:path w="11509375" h="1095375">
                <a:moveTo>
                  <a:pt x="0" y="0"/>
                </a:moveTo>
                <a:lnTo>
                  <a:pt x="11509375" y="0"/>
                </a:lnTo>
                <a:lnTo>
                  <a:pt x="11509375" y="1095375"/>
                </a:lnTo>
                <a:lnTo>
                  <a:pt x="0" y="1095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" name="Text 1"/>
          <p:cNvSpPr/>
          <p:nvPr/>
        </p:nvSpPr>
        <p:spPr>
          <a:xfrm>
            <a:off x="555480" y="555480"/>
            <a:ext cx="1131552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7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CONTENTS</a:t>
            </a:r>
            <a:endParaRPr b="0" lang="en-HK" sz="3750" spc="-1" strike="noStrike">
              <a:latin typeface="Arial"/>
            </a:endParaRPr>
          </a:p>
        </p:txBody>
      </p:sp>
      <p:sp>
        <p:nvSpPr>
          <p:cNvPr id="59" name="Shape 2"/>
          <p:cNvSpPr/>
          <p:nvPr/>
        </p:nvSpPr>
        <p:spPr>
          <a:xfrm>
            <a:off x="555480" y="115884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0" name="Shape 3"/>
          <p:cNvSpPr/>
          <p:nvPr/>
        </p:nvSpPr>
        <p:spPr>
          <a:xfrm>
            <a:off x="341280" y="16747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" name="Shape 4"/>
          <p:cNvSpPr/>
          <p:nvPr/>
        </p:nvSpPr>
        <p:spPr>
          <a:xfrm>
            <a:off x="547560" y="18813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" name="Text 5"/>
          <p:cNvSpPr/>
          <p:nvPr/>
        </p:nvSpPr>
        <p:spPr>
          <a:xfrm>
            <a:off x="464400" y="18572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1158840" y="1857240"/>
            <a:ext cx="1409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58840" y="2143080"/>
            <a:ext cx="138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Bitcoin's Origin Story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5" name="Shape 8"/>
          <p:cNvSpPr/>
          <p:nvPr/>
        </p:nvSpPr>
        <p:spPr>
          <a:xfrm>
            <a:off x="6199200" y="16747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" name="Shape 9"/>
          <p:cNvSpPr/>
          <p:nvPr/>
        </p:nvSpPr>
        <p:spPr>
          <a:xfrm>
            <a:off x="6405480" y="18813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" name="Text 10"/>
          <p:cNvSpPr/>
          <p:nvPr/>
        </p:nvSpPr>
        <p:spPr>
          <a:xfrm>
            <a:off x="6322320" y="18572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8" name="Text 11"/>
          <p:cNvSpPr/>
          <p:nvPr/>
        </p:nvSpPr>
        <p:spPr>
          <a:xfrm>
            <a:off x="7016760" y="1857240"/>
            <a:ext cx="2512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9" name="Text 12"/>
          <p:cNvSpPr/>
          <p:nvPr/>
        </p:nvSpPr>
        <p:spPr>
          <a:xfrm>
            <a:off x="7016760" y="2143080"/>
            <a:ext cx="2489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How Bitcoin Works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0" name="Shape 13"/>
          <p:cNvSpPr/>
          <p:nvPr/>
        </p:nvSpPr>
        <p:spPr>
          <a:xfrm>
            <a:off x="341280" y="275436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" name="Shape 14"/>
          <p:cNvSpPr/>
          <p:nvPr/>
        </p:nvSpPr>
        <p:spPr>
          <a:xfrm>
            <a:off x="547560" y="29606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" name="Text 15"/>
          <p:cNvSpPr/>
          <p:nvPr/>
        </p:nvSpPr>
        <p:spPr>
          <a:xfrm>
            <a:off x="464400" y="293688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3" name="Text 16"/>
          <p:cNvSpPr/>
          <p:nvPr/>
        </p:nvSpPr>
        <p:spPr>
          <a:xfrm>
            <a:off x="1158840" y="2936880"/>
            <a:ext cx="27115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4" name="Text 17"/>
          <p:cNvSpPr/>
          <p:nvPr/>
        </p:nvSpPr>
        <p:spPr>
          <a:xfrm>
            <a:off x="1158840" y="3222720"/>
            <a:ext cx="2687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From Cypherpunk Dream to Global Asset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5" name="Shape 18"/>
          <p:cNvSpPr/>
          <p:nvPr/>
        </p:nvSpPr>
        <p:spPr>
          <a:xfrm>
            <a:off x="6199200" y="275436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" name="Shape 19"/>
          <p:cNvSpPr/>
          <p:nvPr/>
        </p:nvSpPr>
        <p:spPr>
          <a:xfrm>
            <a:off x="6405480" y="29606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" name="Text 20"/>
          <p:cNvSpPr/>
          <p:nvPr/>
        </p:nvSpPr>
        <p:spPr>
          <a:xfrm>
            <a:off x="6322320" y="293688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8" name="Text 21"/>
          <p:cNvSpPr/>
          <p:nvPr/>
        </p:nvSpPr>
        <p:spPr>
          <a:xfrm>
            <a:off x="7016760" y="2936880"/>
            <a:ext cx="21081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" name="Text 22"/>
          <p:cNvSpPr/>
          <p:nvPr/>
        </p:nvSpPr>
        <p:spPr>
          <a:xfrm>
            <a:off x="7016760" y="3222720"/>
            <a:ext cx="2084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Halving Cycles &amp; Price Patterns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0" name="Shape 23"/>
          <p:cNvSpPr/>
          <p:nvPr/>
        </p:nvSpPr>
        <p:spPr>
          <a:xfrm>
            <a:off x="341280" y="383364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" name="Shape 24"/>
          <p:cNvSpPr/>
          <p:nvPr/>
        </p:nvSpPr>
        <p:spPr>
          <a:xfrm>
            <a:off x="547560" y="404028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" name="Text 25"/>
          <p:cNvSpPr/>
          <p:nvPr/>
        </p:nvSpPr>
        <p:spPr>
          <a:xfrm>
            <a:off x="464400" y="40165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3" name="Text 26"/>
          <p:cNvSpPr/>
          <p:nvPr/>
        </p:nvSpPr>
        <p:spPr>
          <a:xfrm>
            <a:off x="1158840" y="4016520"/>
            <a:ext cx="2259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4" name="Text 27"/>
          <p:cNvSpPr/>
          <p:nvPr/>
        </p:nvSpPr>
        <p:spPr>
          <a:xfrm>
            <a:off x="1158840" y="4302000"/>
            <a:ext cx="22352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2024-2025 Market Status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85" name="Shape 28"/>
          <p:cNvSpPr/>
          <p:nvPr/>
        </p:nvSpPr>
        <p:spPr>
          <a:xfrm>
            <a:off x="6199200" y="383364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" name="Shape 29"/>
          <p:cNvSpPr/>
          <p:nvPr/>
        </p:nvSpPr>
        <p:spPr>
          <a:xfrm>
            <a:off x="6405480" y="404028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" name="Text 30"/>
          <p:cNvSpPr/>
          <p:nvPr/>
        </p:nvSpPr>
        <p:spPr>
          <a:xfrm>
            <a:off x="6322320" y="40165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8" name="Text 31"/>
          <p:cNvSpPr/>
          <p:nvPr/>
        </p:nvSpPr>
        <p:spPr>
          <a:xfrm>
            <a:off x="7016760" y="4016520"/>
            <a:ext cx="2600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9" name="Text 32"/>
          <p:cNvSpPr/>
          <p:nvPr/>
        </p:nvSpPr>
        <p:spPr>
          <a:xfrm>
            <a:off x="7016760" y="4302000"/>
            <a:ext cx="25765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Wall Street Embraces Bitcoin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0" name="Shape 33"/>
          <p:cNvSpPr/>
          <p:nvPr/>
        </p:nvSpPr>
        <p:spPr>
          <a:xfrm>
            <a:off x="341280" y="491328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1" name="Shape 34"/>
          <p:cNvSpPr/>
          <p:nvPr/>
        </p:nvSpPr>
        <p:spPr>
          <a:xfrm>
            <a:off x="547560" y="51195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" name="Text 35"/>
          <p:cNvSpPr/>
          <p:nvPr/>
        </p:nvSpPr>
        <p:spPr>
          <a:xfrm>
            <a:off x="464400" y="509580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3" name="Text 36"/>
          <p:cNvSpPr/>
          <p:nvPr/>
        </p:nvSpPr>
        <p:spPr>
          <a:xfrm>
            <a:off x="1158840" y="5095800"/>
            <a:ext cx="20048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" name="Text 37"/>
          <p:cNvSpPr/>
          <p:nvPr/>
        </p:nvSpPr>
        <p:spPr>
          <a:xfrm>
            <a:off x="1158840" y="5381640"/>
            <a:ext cx="1981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Backbone of Security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5" name="Shape 38"/>
          <p:cNvSpPr/>
          <p:nvPr/>
        </p:nvSpPr>
        <p:spPr>
          <a:xfrm>
            <a:off x="6199200" y="491328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6" name="Shape 39"/>
          <p:cNvSpPr/>
          <p:nvPr/>
        </p:nvSpPr>
        <p:spPr>
          <a:xfrm>
            <a:off x="6405480" y="511956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" name="Text 40"/>
          <p:cNvSpPr/>
          <p:nvPr/>
        </p:nvSpPr>
        <p:spPr>
          <a:xfrm>
            <a:off x="6322320" y="509580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" name="Text 41"/>
          <p:cNvSpPr/>
          <p:nvPr/>
        </p:nvSpPr>
        <p:spPr>
          <a:xfrm>
            <a:off x="7016760" y="5095800"/>
            <a:ext cx="2195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9" name="Text 42"/>
          <p:cNvSpPr/>
          <p:nvPr/>
        </p:nvSpPr>
        <p:spPr>
          <a:xfrm>
            <a:off x="7016760" y="5381640"/>
            <a:ext cx="21715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Store of Value Debate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0" name="Shape 43"/>
          <p:cNvSpPr/>
          <p:nvPr/>
        </p:nvSpPr>
        <p:spPr>
          <a:xfrm>
            <a:off x="341280" y="59929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" name="Shape 44"/>
          <p:cNvSpPr/>
          <p:nvPr/>
        </p:nvSpPr>
        <p:spPr>
          <a:xfrm>
            <a:off x="547560" y="619920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" name="Text 45"/>
          <p:cNvSpPr/>
          <p:nvPr/>
        </p:nvSpPr>
        <p:spPr>
          <a:xfrm>
            <a:off x="464400" y="61754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3" name="Text 46"/>
          <p:cNvSpPr/>
          <p:nvPr/>
        </p:nvSpPr>
        <p:spPr>
          <a:xfrm>
            <a:off x="1158840" y="6175440"/>
            <a:ext cx="2116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" name="Text 47"/>
          <p:cNvSpPr/>
          <p:nvPr/>
        </p:nvSpPr>
        <p:spPr>
          <a:xfrm>
            <a:off x="1158840" y="6461280"/>
            <a:ext cx="20923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&amp; Layer 2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5" name="Shape 48"/>
          <p:cNvSpPr/>
          <p:nvPr/>
        </p:nvSpPr>
        <p:spPr>
          <a:xfrm>
            <a:off x="6199200" y="599292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6" name="Shape 49"/>
          <p:cNvSpPr/>
          <p:nvPr/>
        </p:nvSpPr>
        <p:spPr>
          <a:xfrm>
            <a:off x="6405480" y="619920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Text 50"/>
          <p:cNvSpPr/>
          <p:nvPr/>
        </p:nvSpPr>
        <p:spPr>
          <a:xfrm>
            <a:off x="6322320" y="617544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08" name="Text 51"/>
          <p:cNvSpPr/>
          <p:nvPr/>
        </p:nvSpPr>
        <p:spPr>
          <a:xfrm>
            <a:off x="7016760" y="6175440"/>
            <a:ext cx="22273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9" name="Text 52"/>
          <p:cNvSpPr/>
          <p:nvPr/>
        </p:nvSpPr>
        <p:spPr>
          <a:xfrm>
            <a:off x="7016760" y="6461280"/>
            <a:ext cx="22035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Road Ahead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0" name="Shape 53"/>
          <p:cNvSpPr/>
          <p:nvPr/>
        </p:nvSpPr>
        <p:spPr>
          <a:xfrm>
            <a:off x="341280" y="707220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1" name="Shape 54"/>
          <p:cNvSpPr/>
          <p:nvPr/>
        </p:nvSpPr>
        <p:spPr>
          <a:xfrm>
            <a:off x="547560" y="72788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Text 55"/>
          <p:cNvSpPr/>
          <p:nvPr/>
        </p:nvSpPr>
        <p:spPr>
          <a:xfrm>
            <a:off x="464400" y="72547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3" name="Text 56"/>
          <p:cNvSpPr/>
          <p:nvPr/>
        </p:nvSpPr>
        <p:spPr>
          <a:xfrm>
            <a:off x="1158840" y="7254720"/>
            <a:ext cx="18698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4" name="Text 57"/>
          <p:cNvSpPr/>
          <p:nvPr/>
        </p:nvSpPr>
        <p:spPr>
          <a:xfrm>
            <a:off x="1158840" y="7540560"/>
            <a:ext cx="1846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Predictions &amp; Scenarios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15" name="Shape 58"/>
          <p:cNvSpPr/>
          <p:nvPr/>
        </p:nvSpPr>
        <p:spPr>
          <a:xfrm>
            <a:off x="6199200" y="7072200"/>
            <a:ext cx="5648400" cy="869760"/>
          </a:xfrm>
          <a:custGeom>
            <a:avLst/>
            <a:gdLst/>
            <a:ahLst/>
            <a:rect l="l" t="t" r="r" b="b"/>
            <a:pathLst>
              <a:path w="5651500" h="873125">
                <a:moveTo>
                  <a:pt x="0" y="0"/>
                </a:moveTo>
                <a:lnTo>
                  <a:pt x="5651500" y="0"/>
                </a:lnTo>
                <a:lnTo>
                  <a:pt x="5651500" y="873125"/>
                </a:lnTo>
                <a:lnTo>
                  <a:pt x="0" y="87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16" name="Shape 59"/>
          <p:cNvSpPr/>
          <p:nvPr/>
        </p:nvSpPr>
        <p:spPr>
          <a:xfrm>
            <a:off x="6405480" y="7278840"/>
            <a:ext cx="457200" cy="457200"/>
          </a:xfrm>
          <a:custGeom>
            <a:avLst/>
            <a:gdLst/>
            <a:ahLst/>
            <a:rect l="l" t="t" r="r" b="b"/>
            <a:pathLst>
              <a:path w="460375" h="460375">
                <a:moveTo>
                  <a:pt x="0" y="0"/>
                </a:moveTo>
                <a:lnTo>
                  <a:pt x="460375" y="0"/>
                </a:lnTo>
                <a:lnTo>
                  <a:pt x="460375" y="460375"/>
                </a:lnTo>
                <a:lnTo>
                  <a:pt x="0" y="460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Text 60"/>
          <p:cNvSpPr/>
          <p:nvPr/>
        </p:nvSpPr>
        <p:spPr>
          <a:xfrm>
            <a:off x="6322320" y="7254720"/>
            <a:ext cx="5284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118" name="Text 61"/>
          <p:cNvSpPr/>
          <p:nvPr/>
        </p:nvSpPr>
        <p:spPr>
          <a:xfrm>
            <a:off x="7016760" y="7254720"/>
            <a:ext cx="1369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19" name="Text 62"/>
          <p:cNvSpPr/>
          <p:nvPr/>
        </p:nvSpPr>
        <p:spPr>
          <a:xfrm>
            <a:off x="7016760" y="7540560"/>
            <a:ext cx="13460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Path Forward</a:t>
            </a:r>
            <a:endParaRPr b="0" lang="en-HK" sz="113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1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2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23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4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6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GENESIS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28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Origin Story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0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Vision to Financial Revolution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8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Shape 0"/>
          <p:cNvSpPr/>
          <p:nvPr/>
        </p:nvSpPr>
        <p:spPr>
          <a:xfrm>
            <a:off x="341280" y="341280"/>
            <a:ext cx="11505960" cy="99684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2" name="Text 1"/>
          <p:cNvSpPr/>
          <p:nvPr/>
        </p:nvSpPr>
        <p:spPr>
          <a:xfrm>
            <a:off x="555480" y="555480"/>
            <a:ext cx="112680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BIRTH OF BITCOIN: 2008-2009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33" name="Shape 2"/>
          <p:cNvSpPr/>
          <p:nvPr/>
        </p:nvSpPr>
        <p:spPr>
          <a:xfrm>
            <a:off x="555480" y="106380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34" name="Shape 3"/>
          <p:cNvSpPr/>
          <p:nvPr/>
        </p:nvSpPr>
        <p:spPr>
          <a:xfrm>
            <a:off x="341280" y="1547640"/>
            <a:ext cx="8267760" cy="1846080"/>
          </a:xfrm>
          <a:custGeom>
            <a:avLst/>
            <a:gdLst/>
            <a:ahLst/>
            <a:rect l="l" t="t" r="r" b="b"/>
            <a:pathLst>
              <a:path w="8270875" h="1849438">
                <a:moveTo>
                  <a:pt x="0" y="0"/>
                </a:moveTo>
                <a:lnTo>
                  <a:pt x="8270875" y="0"/>
                </a:lnTo>
                <a:lnTo>
                  <a:pt x="8270875" y="1849438"/>
                </a:lnTo>
                <a:lnTo>
                  <a:pt x="0" y="1849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35" name="Shape 4"/>
          <p:cNvSpPr/>
          <p:nvPr/>
        </p:nvSpPr>
        <p:spPr>
          <a:xfrm>
            <a:off x="547560" y="175428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36" name="Text 5"/>
          <p:cNvSpPr/>
          <p:nvPr/>
        </p:nvSpPr>
        <p:spPr>
          <a:xfrm>
            <a:off x="484200" y="17305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37" name="Text 6"/>
          <p:cNvSpPr/>
          <p:nvPr/>
        </p:nvSpPr>
        <p:spPr>
          <a:xfrm>
            <a:off x="1031760" y="1730520"/>
            <a:ext cx="16160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October 31, 2008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38" name="Text 7"/>
          <p:cNvSpPr/>
          <p:nvPr/>
        </p:nvSpPr>
        <p:spPr>
          <a:xfrm>
            <a:off x="523800" y="220680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Satoshi Nakamoto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publishes the Bitcoin whitepaper: "Bitcoin: A Peer-to-Peer Electronic Cash System" to the cypherpunk mailing list.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39" name="Shape 8"/>
          <p:cNvSpPr/>
          <p:nvPr/>
        </p:nvSpPr>
        <p:spPr>
          <a:xfrm>
            <a:off x="539640" y="2782080"/>
            <a:ext cx="7870680" cy="40968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0" name="Text 9"/>
          <p:cNvSpPr/>
          <p:nvPr/>
        </p:nvSpPr>
        <p:spPr>
          <a:xfrm>
            <a:off x="650880" y="2893320"/>
            <a:ext cx="7711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Core Innovation: Decentralized digital currency without trusted third parties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1" name="Shape 10"/>
          <p:cNvSpPr/>
          <p:nvPr/>
        </p:nvSpPr>
        <p:spPr>
          <a:xfrm>
            <a:off x="341280" y="3567960"/>
            <a:ext cx="8267760" cy="1608120"/>
          </a:xfrm>
          <a:custGeom>
            <a:avLst/>
            <a:gdLst/>
            <a:ahLst/>
            <a:rect l="l" t="t" r="r" b="b"/>
            <a:pathLst>
              <a:path w="8270875" h="1611313">
                <a:moveTo>
                  <a:pt x="0" y="0"/>
                </a:moveTo>
                <a:lnTo>
                  <a:pt x="8270875" y="0"/>
                </a:lnTo>
                <a:lnTo>
                  <a:pt x="8270875" y="1611313"/>
                </a:lnTo>
                <a:lnTo>
                  <a:pt x="0" y="161131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2" name="Shape 11"/>
          <p:cNvSpPr/>
          <p:nvPr/>
        </p:nvSpPr>
        <p:spPr>
          <a:xfrm>
            <a:off x="547560" y="37742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3" name="Text 12"/>
          <p:cNvSpPr/>
          <p:nvPr/>
        </p:nvSpPr>
        <p:spPr>
          <a:xfrm>
            <a:off x="484200" y="375048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44" name="Text 13"/>
          <p:cNvSpPr/>
          <p:nvPr/>
        </p:nvSpPr>
        <p:spPr>
          <a:xfrm>
            <a:off x="1031760" y="3750480"/>
            <a:ext cx="1512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3,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45" name="Text 14"/>
          <p:cNvSpPr/>
          <p:nvPr/>
        </p:nvSpPr>
        <p:spPr>
          <a:xfrm>
            <a:off x="523800" y="4226760"/>
            <a:ext cx="797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The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Genesis Block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is mined, marking Bitcoin network's official launch. Embedded message references bank bailouts.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46" name="Shape 15"/>
          <p:cNvSpPr/>
          <p:nvPr/>
        </p:nvSpPr>
        <p:spPr>
          <a:xfrm>
            <a:off x="539640" y="4569840"/>
            <a:ext cx="7870680" cy="409680"/>
          </a:xfrm>
          <a:custGeom>
            <a:avLst/>
            <a:gdLst/>
            <a:ahLst/>
            <a:rect l="l" t="t" r="r" b="b"/>
            <a:pathLst>
              <a:path w="7874000" h="412750">
                <a:moveTo>
                  <a:pt x="0" y="0"/>
                </a:moveTo>
                <a:lnTo>
                  <a:pt x="7874000" y="0"/>
                </a:lnTo>
                <a:lnTo>
                  <a:pt x="7874000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47" name="Text 16"/>
          <p:cNvSpPr/>
          <p:nvPr/>
        </p:nvSpPr>
        <p:spPr>
          <a:xfrm>
            <a:off x="650880" y="4681080"/>
            <a:ext cx="7711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"The Times 03/Jan/2009 Chancellor on brink of second bailout for banks"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48" name="Shape 17"/>
          <p:cNvSpPr/>
          <p:nvPr/>
        </p:nvSpPr>
        <p:spPr>
          <a:xfrm>
            <a:off x="341280" y="5355720"/>
            <a:ext cx="8267760" cy="1068480"/>
          </a:xfrm>
          <a:custGeom>
            <a:avLst/>
            <a:gdLst/>
            <a:ahLst/>
            <a:rect l="l" t="t" r="r" b="b"/>
            <a:pathLst>
              <a:path w="8270875" h="1071563">
                <a:moveTo>
                  <a:pt x="0" y="0"/>
                </a:moveTo>
                <a:lnTo>
                  <a:pt x="8270875" y="0"/>
                </a:lnTo>
                <a:lnTo>
                  <a:pt x="8270875" y="1071563"/>
                </a:lnTo>
                <a:lnTo>
                  <a:pt x="0" y="1071563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49" name="Shape 18"/>
          <p:cNvSpPr/>
          <p:nvPr/>
        </p:nvSpPr>
        <p:spPr>
          <a:xfrm>
            <a:off x="547560" y="556236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0" name="Text 19"/>
          <p:cNvSpPr/>
          <p:nvPr/>
        </p:nvSpPr>
        <p:spPr>
          <a:xfrm>
            <a:off x="484200" y="553824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151" name="Text 20"/>
          <p:cNvSpPr/>
          <p:nvPr/>
        </p:nvSpPr>
        <p:spPr>
          <a:xfrm>
            <a:off x="1031760" y="5538240"/>
            <a:ext cx="16160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12, 2009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2" name="Text 21"/>
          <p:cNvSpPr/>
          <p:nvPr/>
        </p:nvSpPr>
        <p:spPr>
          <a:xfrm>
            <a:off x="523800" y="6014520"/>
            <a:ext cx="797400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First Bitcoin transaction: Satoshi sends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10 BTC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to computer scientist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Hal Finney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, validating the system works.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53" name="Shape 22"/>
          <p:cNvSpPr/>
          <p:nvPr/>
        </p:nvSpPr>
        <p:spPr>
          <a:xfrm>
            <a:off x="8850240" y="1547640"/>
            <a:ext cx="2997000" cy="3504960"/>
          </a:xfrm>
          <a:custGeom>
            <a:avLst/>
            <a:gdLst/>
            <a:ahLst/>
            <a:rect l="l" t="t" r="r" b="b"/>
            <a:pathLst>
              <a:path w="3000375" h="3508375">
                <a:moveTo>
                  <a:pt x="0" y="0"/>
                </a:moveTo>
                <a:lnTo>
                  <a:pt x="3000375" y="0"/>
                </a:lnTo>
                <a:lnTo>
                  <a:pt x="3000375" y="3508375"/>
                </a:lnTo>
                <a:lnTo>
                  <a:pt x="0" y="3508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54" name="Text 23"/>
          <p:cNvSpPr/>
          <p:nvPr/>
        </p:nvSpPr>
        <p:spPr>
          <a:xfrm>
            <a:off x="9032760" y="17305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MOTIVATION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55" name="Shape 24"/>
          <p:cNvSpPr/>
          <p:nvPr/>
        </p:nvSpPr>
        <p:spPr>
          <a:xfrm>
            <a:off x="9048600" y="212724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6" name="Text 25"/>
          <p:cNvSpPr/>
          <p:nvPr/>
        </p:nvSpPr>
        <p:spPr>
          <a:xfrm>
            <a:off x="9159840" y="223848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2008 Financial Crisis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7" name="Text 26"/>
          <p:cNvSpPr/>
          <p:nvPr/>
        </p:nvSpPr>
        <p:spPr>
          <a:xfrm>
            <a:off x="9159840" y="246060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Bank failures, government bailouts, currency devaluation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58" name="Shape 27"/>
          <p:cNvSpPr/>
          <p:nvPr/>
        </p:nvSpPr>
        <p:spPr>
          <a:xfrm>
            <a:off x="9048600" y="307980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59" name="Text 28"/>
          <p:cNvSpPr/>
          <p:nvPr/>
        </p:nvSpPr>
        <p:spPr>
          <a:xfrm>
            <a:off x="9159840" y="319104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Cypherpunk Philosophy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0" name="Text 29"/>
          <p:cNvSpPr/>
          <p:nvPr/>
        </p:nvSpPr>
        <p:spPr>
          <a:xfrm>
            <a:off x="9159840" y="341316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Privacy, decentralization, mathematical trust over institutional trust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1" name="Shape 30"/>
          <p:cNvSpPr/>
          <p:nvPr/>
        </p:nvSpPr>
        <p:spPr>
          <a:xfrm>
            <a:off x="9048600" y="4032360"/>
            <a:ext cx="2600280" cy="822240"/>
          </a:xfrm>
          <a:custGeom>
            <a:avLst/>
            <a:gdLst/>
            <a:ahLst/>
            <a:rect l="l" t="t" r="r" b="b"/>
            <a:pathLst>
              <a:path w="2603500" h="825500">
                <a:moveTo>
                  <a:pt x="0" y="0"/>
                </a:moveTo>
                <a:lnTo>
                  <a:pt x="2603500" y="0"/>
                </a:lnTo>
                <a:lnTo>
                  <a:pt x="2603500" y="825500"/>
                </a:lnTo>
                <a:lnTo>
                  <a:pt x="0" y="825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2" name="Text 31"/>
          <p:cNvSpPr/>
          <p:nvPr/>
        </p:nvSpPr>
        <p:spPr>
          <a:xfrm>
            <a:off x="9159840" y="414324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Double-Spending Problem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3" name="Text 32"/>
          <p:cNvSpPr/>
          <p:nvPr/>
        </p:nvSpPr>
        <p:spPr>
          <a:xfrm>
            <a:off x="9159840" y="4365720"/>
            <a:ext cx="2441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digital currency to solve this without central authority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4" name="Shape 33"/>
          <p:cNvSpPr/>
          <p:nvPr/>
        </p:nvSpPr>
        <p:spPr>
          <a:xfrm>
            <a:off x="8850240" y="5230800"/>
            <a:ext cx="2997000" cy="3473280"/>
          </a:xfrm>
          <a:custGeom>
            <a:avLst/>
            <a:gdLst/>
            <a:ahLst/>
            <a:rect l="l" t="t" r="r" b="b"/>
            <a:pathLst>
              <a:path w="3000375" h="3476625">
                <a:moveTo>
                  <a:pt x="0" y="0"/>
                </a:moveTo>
                <a:lnTo>
                  <a:pt x="3000375" y="0"/>
                </a:lnTo>
                <a:lnTo>
                  <a:pt x="3000375" y="3476625"/>
                </a:lnTo>
                <a:lnTo>
                  <a:pt x="0" y="3476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65" name="Text 34"/>
          <p:cNvSpPr/>
          <p:nvPr/>
        </p:nvSpPr>
        <p:spPr>
          <a:xfrm>
            <a:off x="9032760" y="54133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CORE PRINCIPLES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66" name="Shape 35"/>
          <p:cNvSpPr/>
          <p:nvPr/>
        </p:nvSpPr>
        <p:spPr>
          <a:xfrm>
            <a:off x="9048600" y="5810400"/>
            <a:ext cx="2600280" cy="34596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67" name="Shape 36"/>
          <p:cNvSpPr/>
          <p:nvPr/>
        </p:nvSpPr>
        <p:spPr>
          <a:xfrm>
            <a:off x="9128160" y="59371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68" name="Text 37"/>
          <p:cNvSpPr/>
          <p:nvPr/>
        </p:nvSpPr>
        <p:spPr>
          <a:xfrm>
            <a:off x="9318600" y="5889600"/>
            <a:ext cx="1893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Supply: 21 Million Coins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69" name="Shape 38"/>
          <p:cNvSpPr/>
          <p:nvPr/>
        </p:nvSpPr>
        <p:spPr>
          <a:xfrm>
            <a:off x="9048600" y="625464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0" name="Shape 39"/>
          <p:cNvSpPr/>
          <p:nvPr/>
        </p:nvSpPr>
        <p:spPr>
          <a:xfrm>
            <a:off x="9128160" y="6477120"/>
            <a:ext cx="84240" cy="9216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1" name="Text 40"/>
          <p:cNvSpPr/>
          <p:nvPr/>
        </p:nvSpPr>
        <p:spPr>
          <a:xfrm>
            <a:off x="9309960" y="6334200"/>
            <a:ext cx="23223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Decentralized: No Single Point of Control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2" name="Shape 41"/>
          <p:cNvSpPr/>
          <p:nvPr/>
        </p:nvSpPr>
        <p:spPr>
          <a:xfrm>
            <a:off x="9048600" y="6889680"/>
            <a:ext cx="2600280" cy="345960"/>
          </a:xfrm>
          <a:custGeom>
            <a:avLst/>
            <a:gdLst/>
            <a:ahLst/>
            <a:rect l="l" t="t" r="r" b="b"/>
            <a:pathLst>
              <a:path w="2603500" h="349250">
                <a:moveTo>
                  <a:pt x="0" y="0"/>
                </a:moveTo>
                <a:lnTo>
                  <a:pt x="2603500" y="0"/>
                </a:lnTo>
                <a:lnTo>
                  <a:pt x="2603500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3" name="Shape 42"/>
          <p:cNvSpPr/>
          <p:nvPr/>
        </p:nvSpPr>
        <p:spPr>
          <a:xfrm>
            <a:off x="9128160" y="701676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4" name="Text 43"/>
          <p:cNvSpPr/>
          <p:nvPr/>
        </p:nvSpPr>
        <p:spPr>
          <a:xfrm>
            <a:off x="9318600" y="6969240"/>
            <a:ext cx="2298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Trustless: Cryptographic Verification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5" name="Shape 44"/>
          <p:cNvSpPr/>
          <p:nvPr/>
        </p:nvSpPr>
        <p:spPr>
          <a:xfrm>
            <a:off x="9048600" y="733428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6" name="Shape 45"/>
          <p:cNvSpPr/>
          <p:nvPr/>
        </p:nvSpPr>
        <p:spPr>
          <a:xfrm>
            <a:off x="9128160" y="7556400"/>
            <a:ext cx="84240" cy="92160"/>
          </a:xfrm>
          <a:custGeom>
            <a:avLst/>
            <a:gdLst/>
            <a:ahLst/>
            <a:rect l="l" t="t" r="r" b="b"/>
            <a:pathLst>
              <a:path w="87313" h="95250">
                <a:moveTo>
                  <a:pt x="0" y="0"/>
                </a:moveTo>
                <a:lnTo>
                  <a:pt x="87313" y="0"/>
                </a:lnTo>
                <a:lnTo>
                  <a:pt x="873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77" name="Text 46"/>
          <p:cNvSpPr/>
          <p:nvPr/>
        </p:nvSpPr>
        <p:spPr>
          <a:xfrm>
            <a:off x="9314280" y="7413480"/>
            <a:ext cx="23223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Transparent: Public Blockchain Ledger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78" name="Shape 47"/>
          <p:cNvSpPr/>
          <p:nvPr/>
        </p:nvSpPr>
        <p:spPr>
          <a:xfrm>
            <a:off x="9048600" y="7969320"/>
            <a:ext cx="2600280" cy="536400"/>
          </a:xfrm>
          <a:custGeom>
            <a:avLst/>
            <a:gdLst/>
            <a:ahLst/>
            <a:rect l="l" t="t" r="r" b="b"/>
            <a:pathLst>
              <a:path w="2603500" h="539750">
                <a:moveTo>
                  <a:pt x="0" y="0"/>
                </a:moveTo>
                <a:lnTo>
                  <a:pt x="2603500" y="0"/>
                </a:lnTo>
                <a:lnTo>
                  <a:pt x="2603500" y="539750"/>
                </a:lnTo>
                <a:lnTo>
                  <a:pt x="0" y="5397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79" name="Shape 48"/>
          <p:cNvSpPr/>
          <p:nvPr/>
        </p:nvSpPr>
        <p:spPr>
          <a:xfrm>
            <a:off x="9128160" y="8191440"/>
            <a:ext cx="75960" cy="92160"/>
          </a:xfrm>
          <a:custGeom>
            <a:avLst/>
            <a:gdLst/>
            <a:ahLst/>
            <a:rect l="l" t="t" r="r" b="b"/>
            <a:pathLst>
              <a:path w="79375" h="95250">
                <a:moveTo>
                  <a:pt x="0" y="0"/>
                </a:moveTo>
                <a:lnTo>
                  <a:pt x="79375" y="0"/>
                </a:lnTo>
                <a:lnTo>
                  <a:pt x="793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0" name="Text 49"/>
          <p:cNvSpPr/>
          <p:nvPr/>
        </p:nvSpPr>
        <p:spPr>
          <a:xfrm>
            <a:off x="9301320" y="8048520"/>
            <a:ext cx="233028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Immutable: Transactions Cannot Be Reversed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3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84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5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86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87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FOUNDATION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88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89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Bitcoin Works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90" name="Shape 8"/>
          <p:cNvSpPr/>
          <p:nvPr/>
        </p:nvSpPr>
        <p:spPr>
          <a:xfrm>
            <a:off x="5071320" y="5686560"/>
            <a:ext cx="6711840" cy="815760"/>
          </a:xfrm>
          <a:custGeom>
            <a:avLst/>
            <a:gdLst/>
            <a:ahLst/>
            <a:rect l="l" t="t" r="r" b="b"/>
            <a:pathLst>
              <a:path w="6715125" h="819150">
                <a:moveTo>
                  <a:pt x="0" y="0"/>
                </a:moveTo>
                <a:lnTo>
                  <a:pt x="6715125" y="0"/>
                </a:lnTo>
                <a:lnTo>
                  <a:pt x="671512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1" name="Text 9"/>
          <p:cNvSpPr/>
          <p:nvPr/>
        </p:nvSpPr>
        <p:spPr>
          <a:xfrm>
            <a:off x="5328720" y="5943600"/>
            <a:ext cx="631188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Work, Blockchain &amp; Decentralized Consensus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Shape 0"/>
          <p:cNvSpPr/>
          <p:nvPr/>
        </p:nvSpPr>
        <p:spPr>
          <a:xfrm>
            <a:off x="341280" y="341280"/>
            <a:ext cx="11505960" cy="996840"/>
          </a:xfrm>
          <a:custGeom>
            <a:avLst/>
            <a:gdLst/>
            <a:ahLst/>
            <a:rect l="l" t="t" r="r" b="b"/>
            <a:pathLst>
              <a:path w="11509375" h="1000125">
                <a:moveTo>
                  <a:pt x="0" y="0"/>
                </a:moveTo>
                <a:lnTo>
                  <a:pt x="11509375" y="0"/>
                </a:lnTo>
                <a:lnTo>
                  <a:pt x="11509375" y="1000125"/>
                </a:lnTo>
                <a:lnTo>
                  <a:pt x="0" y="100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3" name="Text 1"/>
          <p:cNvSpPr/>
          <p:nvPr/>
        </p:nvSpPr>
        <p:spPr>
          <a:xfrm>
            <a:off x="555480" y="555480"/>
            <a:ext cx="1126800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80000"/>
              </a:lnSpc>
              <a:buNone/>
            </a:pPr>
            <a:r>
              <a:rPr b="1" lang="en-US" sz="3000" spc="-1" strike="noStrike">
                <a:solidFill>
                  <a:srgbClr val="000000"/>
                </a:solidFill>
                <a:latin typeface="Noto Sans SC"/>
                <a:ea typeface="Noto Sans SC"/>
              </a:rPr>
              <a:t>BLOCKCHAIN &amp; PROOF OF WORK: THE SECURITY MODEL</a:t>
            </a:r>
            <a:endParaRPr b="0" lang="en-HK" sz="3000" spc="-1" strike="noStrike">
              <a:latin typeface="Arial"/>
            </a:endParaRPr>
          </a:p>
        </p:txBody>
      </p:sp>
      <p:sp>
        <p:nvSpPr>
          <p:cNvPr id="194" name="Shape 2"/>
          <p:cNvSpPr/>
          <p:nvPr/>
        </p:nvSpPr>
        <p:spPr>
          <a:xfrm>
            <a:off x="555480" y="106380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95" name="Shape 3"/>
          <p:cNvSpPr/>
          <p:nvPr/>
        </p:nvSpPr>
        <p:spPr>
          <a:xfrm>
            <a:off x="341280" y="1547640"/>
            <a:ext cx="8267760" cy="2068560"/>
          </a:xfrm>
          <a:custGeom>
            <a:avLst/>
            <a:gdLst/>
            <a:ahLst/>
            <a:rect l="l" t="t" r="r" b="b"/>
            <a:pathLst>
              <a:path w="8270875" h="2071688">
                <a:moveTo>
                  <a:pt x="0" y="0"/>
                </a:moveTo>
                <a:lnTo>
                  <a:pt x="8270875" y="0"/>
                </a:lnTo>
                <a:lnTo>
                  <a:pt x="8270875" y="2071688"/>
                </a:lnTo>
                <a:lnTo>
                  <a:pt x="0" y="207168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96" name="Text 4"/>
          <p:cNvSpPr/>
          <p:nvPr/>
        </p:nvSpPr>
        <p:spPr>
          <a:xfrm>
            <a:off x="523800" y="1730520"/>
            <a:ext cx="7997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BLOCKCHAIN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97" name="Text 5"/>
          <p:cNvSpPr/>
          <p:nvPr/>
        </p:nvSpPr>
        <p:spPr>
          <a:xfrm>
            <a:off x="523800" y="211140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A </a:t>
            </a: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distributed ledger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recording all transactions across a network of computers. Each block contains a cryptographic hash of the previous block, creating an immutable chain.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98" name="Shape 6"/>
          <p:cNvSpPr/>
          <p:nvPr/>
        </p:nvSpPr>
        <p:spPr>
          <a:xfrm>
            <a:off x="53964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99" name="Text 7"/>
          <p:cNvSpPr/>
          <p:nvPr/>
        </p:nvSpPr>
        <p:spPr>
          <a:xfrm>
            <a:off x="59148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0" name="Text 8"/>
          <p:cNvSpPr/>
          <p:nvPr/>
        </p:nvSpPr>
        <p:spPr>
          <a:xfrm>
            <a:off x="62316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Blocks Mined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1" name="Shape 9"/>
          <p:cNvSpPr/>
          <p:nvPr/>
        </p:nvSpPr>
        <p:spPr>
          <a:xfrm>
            <a:off x="320688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2" name="Text 10"/>
          <p:cNvSpPr/>
          <p:nvPr/>
        </p:nvSpPr>
        <p:spPr>
          <a:xfrm>
            <a:off x="325836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~10min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3" name="Text 11"/>
          <p:cNvSpPr/>
          <p:nvPr/>
        </p:nvSpPr>
        <p:spPr>
          <a:xfrm>
            <a:off x="329004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4" name="Shape 12"/>
          <p:cNvSpPr/>
          <p:nvPr/>
        </p:nvSpPr>
        <p:spPr>
          <a:xfrm>
            <a:off x="5873760" y="2718720"/>
            <a:ext cx="2536920" cy="695160"/>
          </a:xfrm>
          <a:custGeom>
            <a:avLst/>
            <a:gdLst/>
            <a:ahLst/>
            <a:rect l="l" t="t" r="r" b="b"/>
            <a:pathLst>
              <a:path w="2540000" h="698500">
                <a:moveTo>
                  <a:pt x="0" y="0"/>
                </a:moveTo>
                <a:lnTo>
                  <a:pt x="2540000" y="0"/>
                </a:lnTo>
                <a:lnTo>
                  <a:pt x="2540000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05" name="Text 13"/>
          <p:cNvSpPr/>
          <p:nvPr/>
        </p:nvSpPr>
        <p:spPr>
          <a:xfrm>
            <a:off x="5925240" y="2829600"/>
            <a:ext cx="2433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1.2B+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06" name="Text 14"/>
          <p:cNvSpPr/>
          <p:nvPr/>
        </p:nvSpPr>
        <p:spPr>
          <a:xfrm>
            <a:off x="5956920" y="3147120"/>
            <a:ext cx="23702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07" name="Shape 15"/>
          <p:cNvSpPr/>
          <p:nvPr/>
        </p:nvSpPr>
        <p:spPr>
          <a:xfrm>
            <a:off x="341280" y="3790080"/>
            <a:ext cx="8267760" cy="2862360"/>
          </a:xfrm>
          <a:custGeom>
            <a:avLst/>
            <a:gdLst/>
            <a:ahLst/>
            <a:rect l="l" t="t" r="r" b="b"/>
            <a:pathLst>
              <a:path w="8270875" h="2865438">
                <a:moveTo>
                  <a:pt x="0" y="0"/>
                </a:moveTo>
                <a:lnTo>
                  <a:pt x="8270875" y="0"/>
                </a:lnTo>
                <a:lnTo>
                  <a:pt x="8270875" y="2865438"/>
                </a:lnTo>
                <a:lnTo>
                  <a:pt x="0" y="286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08" name="Text 16"/>
          <p:cNvSpPr/>
          <p:nvPr/>
        </p:nvSpPr>
        <p:spPr>
          <a:xfrm>
            <a:off x="523800" y="3972600"/>
            <a:ext cx="7997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PROOF OF WORK MECHANISM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09" name="Text 17"/>
          <p:cNvSpPr/>
          <p:nvPr/>
        </p:nvSpPr>
        <p:spPr>
          <a:xfrm>
            <a:off x="523800" y="4353840"/>
            <a:ext cx="7974000" cy="46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Miners</a:t>
            </a:r>
            <a:r>
              <a:rPr b="0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 compete to solve cryptographic puzzles using SHA-256 hashing. The winner adds the next block and earns the block reward.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210" name="Shape 18"/>
          <p:cNvSpPr/>
          <p:nvPr/>
        </p:nvSpPr>
        <p:spPr>
          <a:xfrm>
            <a:off x="539640" y="4960800"/>
            <a:ext cx="7870680" cy="1488960"/>
          </a:xfrm>
          <a:custGeom>
            <a:avLst/>
            <a:gdLst/>
            <a:ahLst/>
            <a:rect l="l" t="t" r="r" b="b"/>
            <a:pathLst>
              <a:path w="7874000" h="1492250">
                <a:moveTo>
                  <a:pt x="0" y="0"/>
                </a:moveTo>
                <a:lnTo>
                  <a:pt x="7874000" y="0"/>
                </a:lnTo>
                <a:lnTo>
                  <a:pt x="7874000" y="1492250"/>
                </a:lnTo>
                <a:lnTo>
                  <a:pt x="0" y="1492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1" name="Text 19"/>
          <p:cNvSpPr/>
          <p:nvPr/>
        </p:nvSpPr>
        <p:spPr>
          <a:xfrm>
            <a:off x="682560" y="510372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Mining Process: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2" name="Text 20"/>
          <p:cNvSpPr/>
          <p:nvPr/>
        </p:nvSpPr>
        <p:spPr>
          <a:xfrm>
            <a:off x="682560" y="535788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Bundle transactions into a block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3" name="Text 21"/>
          <p:cNvSpPr/>
          <p:nvPr/>
        </p:nvSpPr>
        <p:spPr>
          <a:xfrm>
            <a:off x="682560" y="561168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Find nonce making block hash &lt; target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4" name="Text 22"/>
          <p:cNvSpPr/>
          <p:nvPr/>
        </p:nvSpPr>
        <p:spPr>
          <a:xfrm>
            <a:off x="682560" y="586584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First to solve broadcasts to network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5" name="Text 23"/>
          <p:cNvSpPr/>
          <p:nvPr/>
        </p:nvSpPr>
        <p:spPr>
          <a:xfrm>
            <a:off x="682560" y="6119640"/>
            <a:ext cx="7648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4. Other nodes verify and add to chain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16" name="Shape 24"/>
          <p:cNvSpPr/>
          <p:nvPr/>
        </p:nvSpPr>
        <p:spPr>
          <a:xfrm>
            <a:off x="8850240" y="1547640"/>
            <a:ext cx="2997000" cy="3695760"/>
          </a:xfrm>
          <a:custGeom>
            <a:avLst/>
            <a:gdLst/>
            <a:ahLst/>
            <a:rect l="l" t="t" r="r" b="b"/>
            <a:pathLst>
              <a:path w="3000375" h="3698875">
                <a:moveTo>
                  <a:pt x="0" y="0"/>
                </a:moveTo>
                <a:lnTo>
                  <a:pt x="3000375" y="0"/>
                </a:lnTo>
                <a:lnTo>
                  <a:pt x="3000375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17" name="Text 25"/>
          <p:cNvSpPr/>
          <p:nvPr/>
        </p:nvSpPr>
        <p:spPr>
          <a:xfrm>
            <a:off x="9032760" y="173052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NETWORK SECURITY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18" name="Shape 26"/>
          <p:cNvSpPr/>
          <p:nvPr/>
        </p:nvSpPr>
        <p:spPr>
          <a:xfrm>
            <a:off x="9048600" y="212724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19" name="Text 27"/>
          <p:cNvSpPr/>
          <p:nvPr/>
        </p:nvSpPr>
        <p:spPr>
          <a:xfrm>
            <a:off x="9159840" y="223848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0" name="Text 28"/>
          <p:cNvSpPr/>
          <p:nvPr/>
        </p:nvSpPr>
        <p:spPr>
          <a:xfrm>
            <a:off x="9159840" y="246060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400M+ TH/s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1" name="Text 29"/>
          <p:cNvSpPr/>
          <p:nvPr/>
        </p:nvSpPr>
        <p:spPr>
          <a:xfrm>
            <a:off x="9159840" y="274644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computing power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2" name="Shape 30"/>
          <p:cNvSpPr/>
          <p:nvPr/>
        </p:nvSpPr>
        <p:spPr>
          <a:xfrm>
            <a:off x="9048600" y="314316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3" name="Text 31"/>
          <p:cNvSpPr/>
          <p:nvPr/>
        </p:nvSpPr>
        <p:spPr>
          <a:xfrm>
            <a:off x="9159840" y="325440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Attack Cost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4" name="Text 32"/>
          <p:cNvSpPr/>
          <p:nvPr/>
        </p:nvSpPr>
        <p:spPr>
          <a:xfrm>
            <a:off x="9159840" y="347652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$10B+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5" name="Text 33"/>
          <p:cNvSpPr/>
          <p:nvPr/>
        </p:nvSpPr>
        <p:spPr>
          <a:xfrm>
            <a:off x="9159840" y="376236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1 hour 51% attack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26" name="Shape 34"/>
          <p:cNvSpPr/>
          <p:nvPr/>
        </p:nvSpPr>
        <p:spPr>
          <a:xfrm>
            <a:off x="9048600" y="4159080"/>
            <a:ext cx="2600280" cy="885600"/>
          </a:xfrm>
          <a:custGeom>
            <a:avLst/>
            <a:gdLst/>
            <a:ahLst/>
            <a:rect l="l" t="t" r="r" b="b"/>
            <a:pathLst>
              <a:path w="2603500" h="889000">
                <a:moveTo>
                  <a:pt x="0" y="0"/>
                </a:moveTo>
                <a:lnTo>
                  <a:pt x="2603500" y="0"/>
                </a:lnTo>
                <a:lnTo>
                  <a:pt x="2603500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27" name="Text 35"/>
          <p:cNvSpPr/>
          <p:nvPr/>
        </p:nvSpPr>
        <p:spPr>
          <a:xfrm>
            <a:off x="9159840" y="4270320"/>
            <a:ext cx="2441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Difficulty Adjustment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28" name="Text 36"/>
          <p:cNvSpPr/>
          <p:nvPr/>
        </p:nvSpPr>
        <p:spPr>
          <a:xfrm>
            <a:off x="9159840" y="4492800"/>
            <a:ext cx="24969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Every 2,016 Blocks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229" name="Text 37"/>
          <p:cNvSpPr/>
          <p:nvPr/>
        </p:nvSpPr>
        <p:spPr>
          <a:xfrm>
            <a:off x="9159840" y="4778280"/>
            <a:ext cx="2433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Maintains 10-min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30" name="Shape 38"/>
          <p:cNvSpPr/>
          <p:nvPr/>
        </p:nvSpPr>
        <p:spPr>
          <a:xfrm>
            <a:off x="8850240" y="5421240"/>
            <a:ext cx="2997000" cy="2552760"/>
          </a:xfrm>
          <a:custGeom>
            <a:avLst/>
            <a:gdLst/>
            <a:ahLst/>
            <a:rect l="l" t="t" r="r" b="b"/>
            <a:pathLst>
              <a:path w="3000375" h="2555875">
                <a:moveTo>
                  <a:pt x="0" y="0"/>
                </a:moveTo>
                <a:lnTo>
                  <a:pt x="3000375" y="0"/>
                </a:lnTo>
                <a:lnTo>
                  <a:pt x="3000375" y="2555875"/>
                </a:lnTo>
                <a:lnTo>
                  <a:pt x="0" y="255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31" name="Text 39"/>
          <p:cNvSpPr/>
          <p:nvPr/>
        </p:nvSpPr>
        <p:spPr>
          <a:xfrm>
            <a:off x="9032760" y="5603760"/>
            <a:ext cx="2727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WHY IT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232" name="Shape 40"/>
          <p:cNvSpPr/>
          <p:nvPr/>
        </p:nvSpPr>
        <p:spPr>
          <a:xfrm>
            <a:off x="9032760" y="604836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3" name="Text 41"/>
          <p:cNvSpPr/>
          <p:nvPr/>
        </p:nvSpPr>
        <p:spPr>
          <a:xfrm>
            <a:off x="9191520" y="598500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as Security: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Massive electricity cost makes attacks economically irrational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4" name="Shape 42"/>
          <p:cNvSpPr/>
          <p:nvPr/>
        </p:nvSpPr>
        <p:spPr>
          <a:xfrm>
            <a:off x="9032760" y="652464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5" name="Text 43"/>
          <p:cNvSpPr/>
          <p:nvPr/>
        </p:nvSpPr>
        <p:spPr>
          <a:xfrm>
            <a:off x="9191520" y="646128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Game Theory: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Miners earn more by following rules than attacking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6" name="Shape 44"/>
          <p:cNvSpPr/>
          <p:nvPr/>
        </p:nvSpPr>
        <p:spPr>
          <a:xfrm>
            <a:off x="9032760" y="700092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7" name="Text 45"/>
          <p:cNvSpPr/>
          <p:nvPr/>
        </p:nvSpPr>
        <p:spPr>
          <a:xfrm>
            <a:off x="9191520" y="693720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Decentralization: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Thousands of independent miners globally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38" name="Shape 46"/>
          <p:cNvSpPr/>
          <p:nvPr/>
        </p:nvSpPr>
        <p:spPr>
          <a:xfrm>
            <a:off x="9032760" y="747720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39" name="Text 47"/>
          <p:cNvSpPr/>
          <p:nvPr/>
        </p:nvSpPr>
        <p:spPr>
          <a:xfrm>
            <a:off x="9191520" y="7413480"/>
            <a:ext cx="25369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Immutability: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Changing history requires redoing all subsequent work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1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2" name="Shape 1"/>
          <p:cNvSpPr/>
          <p:nvPr/>
        </p:nvSpPr>
        <p:spPr>
          <a:xfrm>
            <a:off x="40968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43" name="Shape 2"/>
          <p:cNvSpPr/>
          <p:nvPr/>
        </p:nvSpPr>
        <p:spPr>
          <a:xfrm>
            <a:off x="92376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44" name="Text 3"/>
          <p:cNvSpPr/>
          <p:nvPr/>
        </p:nvSpPr>
        <p:spPr>
          <a:xfrm>
            <a:off x="78120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03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245" name="Shape 4"/>
          <p:cNvSpPr/>
          <p:nvPr/>
        </p:nvSpPr>
        <p:spPr>
          <a:xfrm>
            <a:off x="203832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6" name="Text 5"/>
          <p:cNvSpPr/>
          <p:nvPr/>
        </p:nvSpPr>
        <p:spPr>
          <a:xfrm>
            <a:off x="89532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HISTORICAL EVOLUTION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247" name="Shape 6"/>
          <p:cNvSpPr/>
          <p:nvPr/>
        </p:nvSpPr>
        <p:spPr>
          <a:xfrm>
            <a:off x="89532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48" name="Text 7"/>
          <p:cNvSpPr/>
          <p:nvPr/>
        </p:nvSpPr>
        <p:spPr>
          <a:xfrm>
            <a:off x="89532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Cypherpunk Dream to Global Asset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249" name="Shape 8"/>
          <p:cNvSpPr/>
          <p:nvPr/>
        </p:nvSpPr>
        <p:spPr>
          <a:xfrm>
            <a:off x="409680" y="568656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0" name="Text 9"/>
          <p:cNvSpPr/>
          <p:nvPr/>
        </p:nvSpPr>
        <p:spPr>
          <a:xfrm>
            <a:off x="666720" y="594360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15 Years of Price Discovery, Crashes &amp; Resilience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2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JOURNEY: KEY MILESTONES 2009-2024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254" name="Shape 3"/>
          <p:cNvSpPr/>
          <p:nvPr/>
        </p:nvSpPr>
        <p:spPr>
          <a:xfrm>
            <a:off x="34128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55" name="Shape 4"/>
          <p:cNvSpPr/>
          <p:nvPr/>
        </p:nvSpPr>
        <p:spPr>
          <a:xfrm>
            <a:off x="47628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56" name="Text 5"/>
          <p:cNvSpPr/>
          <p:nvPr/>
        </p:nvSpPr>
        <p:spPr>
          <a:xfrm>
            <a:off x="55548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2009-2010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57" name="Text 6"/>
          <p:cNvSpPr/>
          <p:nvPr/>
        </p:nvSpPr>
        <p:spPr>
          <a:xfrm>
            <a:off x="46044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BEGINNING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58" name="Text 7"/>
          <p:cNvSpPr/>
          <p:nvPr/>
        </p:nvSpPr>
        <p:spPr>
          <a:xfrm>
            <a:off x="46044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real-world transaction: 10,000 BTC for two pizzas at $0.003/BTC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7628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0" name="Text 9"/>
          <p:cNvSpPr/>
          <p:nvPr/>
        </p:nvSpPr>
        <p:spPr>
          <a:xfrm>
            <a:off x="55548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$0.003 → $0.30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325440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2" name="Shape 11"/>
          <p:cNvSpPr/>
          <p:nvPr/>
        </p:nvSpPr>
        <p:spPr>
          <a:xfrm>
            <a:off x="338940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3" name="Text 12"/>
          <p:cNvSpPr/>
          <p:nvPr/>
        </p:nvSpPr>
        <p:spPr>
          <a:xfrm>
            <a:off x="346860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64" name="Text 13"/>
          <p:cNvSpPr/>
          <p:nvPr/>
        </p:nvSpPr>
        <p:spPr>
          <a:xfrm>
            <a:off x="337356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BUBBLE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65" name="Text 14"/>
          <p:cNvSpPr/>
          <p:nvPr/>
        </p:nvSpPr>
        <p:spPr>
          <a:xfrm>
            <a:off x="337356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Price spikes to $31, then crashes to $2. Media declares Bitcoin dead.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338940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67" name="Text 16"/>
          <p:cNvSpPr/>
          <p:nvPr/>
        </p:nvSpPr>
        <p:spPr>
          <a:xfrm>
            <a:off x="346860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$31 | Crash: -94%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616752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69" name="Shape 18"/>
          <p:cNvSpPr/>
          <p:nvPr/>
        </p:nvSpPr>
        <p:spPr>
          <a:xfrm>
            <a:off x="630252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0" name="Text 19"/>
          <p:cNvSpPr/>
          <p:nvPr/>
        </p:nvSpPr>
        <p:spPr>
          <a:xfrm>
            <a:off x="638172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1" name="Text 20"/>
          <p:cNvSpPr/>
          <p:nvPr/>
        </p:nvSpPr>
        <p:spPr>
          <a:xfrm>
            <a:off x="628668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FIRST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2" name="Text 21"/>
          <p:cNvSpPr/>
          <p:nvPr/>
        </p:nvSpPr>
        <p:spPr>
          <a:xfrm>
            <a:off x="628668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from 50 to 25 BTC. Sets stage for next bull run.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630252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4" name="Text 23"/>
          <p:cNvSpPr/>
          <p:nvPr/>
        </p:nvSpPr>
        <p:spPr>
          <a:xfrm>
            <a:off x="638172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$12 → $13.50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9080640" y="135720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76" name="Shape 25"/>
          <p:cNvSpPr/>
          <p:nvPr/>
        </p:nvSpPr>
        <p:spPr>
          <a:xfrm>
            <a:off x="9215280" y="149220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77" name="Text 26"/>
          <p:cNvSpPr/>
          <p:nvPr/>
        </p:nvSpPr>
        <p:spPr>
          <a:xfrm>
            <a:off x="9294840" y="157176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2013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78" name="Text 27"/>
          <p:cNvSpPr/>
          <p:nvPr/>
        </p:nvSpPr>
        <p:spPr>
          <a:xfrm>
            <a:off x="9199440" y="195264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$1,000 MILESTONE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79" name="Text 28"/>
          <p:cNvSpPr/>
          <p:nvPr/>
        </p:nvSpPr>
        <p:spPr>
          <a:xfrm>
            <a:off x="9199440" y="217476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major bull run to $1,200. Mt. Gox becomes dominant exchange.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9215280" y="253224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1" name="Text 30"/>
          <p:cNvSpPr/>
          <p:nvPr/>
        </p:nvSpPr>
        <p:spPr>
          <a:xfrm>
            <a:off x="9294840" y="261144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$1,242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34128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83" name="Shape 32"/>
          <p:cNvSpPr/>
          <p:nvPr/>
        </p:nvSpPr>
        <p:spPr>
          <a:xfrm>
            <a:off x="47628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4" name="Text 33"/>
          <p:cNvSpPr/>
          <p:nvPr/>
        </p:nvSpPr>
        <p:spPr>
          <a:xfrm>
            <a:off x="55548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2014-2015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85" name="Text 34"/>
          <p:cNvSpPr/>
          <p:nvPr/>
        </p:nvSpPr>
        <p:spPr>
          <a:xfrm>
            <a:off x="46044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MT. GOX COLLAPSE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86" name="Text 35"/>
          <p:cNvSpPr/>
          <p:nvPr/>
        </p:nvSpPr>
        <p:spPr>
          <a:xfrm>
            <a:off x="46044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Exchange hack wipes out 850K BTC. Price falls below $200. Bear market.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87" name="Shape 36"/>
          <p:cNvSpPr/>
          <p:nvPr/>
        </p:nvSpPr>
        <p:spPr>
          <a:xfrm>
            <a:off x="47628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88" name="Text 37"/>
          <p:cNvSpPr/>
          <p:nvPr/>
        </p:nvSpPr>
        <p:spPr>
          <a:xfrm>
            <a:off x="55548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$152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89" name="Shape 38"/>
          <p:cNvSpPr/>
          <p:nvPr/>
        </p:nvSpPr>
        <p:spPr>
          <a:xfrm>
            <a:off x="325440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0" name="Shape 39"/>
          <p:cNvSpPr/>
          <p:nvPr/>
        </p:nvSpPr>
        <p:spPr>
          <a:xfrm>
            <a:off x="338940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1" name="Text 40"/>
          <p:cNvSpPr/>
          <p:nvPr/>
        </p:nvSpPr>
        <p:spPr>
          <a:xfrm>
            <a:off x="346860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2016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337356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SECOND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337356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12.5 BTC. Ethereum launches, ICO era begins.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338940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5" name="Text 44"/>
          <p:cNvSpPr/>
          <p:nvPr/>
        </p:nvSpPr>
        <p:spPr>
          <a:xfrm>
            <a:off x="346860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$650 → $960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296" name="Shape 45"/>
          <p:cNvSpPr/>
          <p:nvPr/>
        </p:nvSpPr>
        <p:spPr>
          <a:xfrm>
            <a:off x="616752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297" name="Shape 46"/>
          <p:cNvSpPr/>
          <p:nvPr/>
        </p:nvSpPr>
        <p:spPr>
          <a:xfrm>
            <a:off x="630252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298" name="Text 47"/>
          <p:cNvSpPr/>
          <p:nvPr/>
        </p:nvSpPr>
        <p:spPr>
          <a:xfrm>
            <a:off x="638172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628668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$20,000 PEAK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0" name="Text 49"/>
          <p:cNvSpPr/>
          <p:nvPr/>
        </p:nvSpPr>
        <p:spPr>
          <a:xfrm>
            <a:off x="628668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ICO mania drives parabolic rise. CME/CBOE futures launch. Mainstream FOMO.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1" name="Shape 50"/>
          <p:cNvSpPr/>
          <p:nvPr/>
        </p:nvSpPr>
        <p:spPr>
          <a:xfrm>
            <a:off x="630252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2" name="Text 51"/>
          <p:cNvSpPr/>
          <p:nvPr/>
        </p:nvSpPr>
        <p:spPr>
          <a:xfrm>
            <a:off x="638172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03" name="Shape 52"/>
          <p:cNvSpPr/>
          <p:nvPr/>
        </p:nvSpPr>
        <p:spPr>
          <a:xfrm>
            <a:off x="9080640" y="309564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04" name="Shape 53"/>
          <p:cNvSpPr/>
          <p:nvPr/>
        </p:nvSpPr>
        <p:spPr>
          <a:xfrm>
            <a:off x="9215280" y="323064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5" name="Text 54"/>
          <p:cNvSpPr/>
          <p:nvPr/>
        </p:nvSpPr>
        <p:spPr>
          <a:xfrm>
            <a:off x="9294840" y="330984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2018-2019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06" name="Text 55"/>
          <p:cNvSpPr/>
          <p:nvPr/>
        </p:nvSpPr>
        <p:spPr>
          <a:xfrm>
            <a:off x="9199440" y="369108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CRYPTO WINTER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07" name="Text 56"/>
          <p:cNvSpPr/>
          <p:nvPr/>
        </p:nvSpPr>
        <p:spPr>
          <a:xfrm>
            <a:off x="9199440" y="391320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80%+ crash from peak. Regulatory crackdowns. Institutional interest quietly builds.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08" name="Shape 57"/>
          <p:cNvSpPr/>
          <p:nvPr/>
        </p:nvSpPr>
        <p:spPr>
          <a:xfrm>
            <a:off x="9215280" y="427032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09" name="Text 58"/>
          <p:cNvSpPr/>
          <p:nvPr/>
        </p:nvSpPr>
        <p:spPr>
          <a:xfrm>
            <a:off x="9294840" y="434988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$3,200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0" name="Shape 59"/>
          <p:cNvSpPr/>
          <p:nvPr/>
        </p:nvSpPr>
        <p:spPr>
          <a:xfrm>
            <a:off x="34128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1" name="Shape 60"/>
          <p:cNvSpPr/>
          <p:nvPr/>
        </p:nvSpPr>
        <p:spPr>
          <a:xfrm>
            <a:off x="47628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2" name="Text 61"/>
          <p:cNvSpPr/>
          <p:nvPr/>
        </p:nvSpPr>
        <p:spPr>
          <a:xfrm>
            <a:off x="55548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13" name="Text 62"/>
          <p:cNvSpPr/>
          <p:nvPr/>
        </p:nvSpPr>
        <p:spPr>
          <a:xfrm>
            <a:off x="46044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THIRD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14" name="Text 63"/>
          <p:cNvSpPr/>
          <p:nvPr/>
        </p:nvSpPr>
        <p:spPr>
          <a:xfrm>
            <a:off x="46044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Block reward drops to 6.25 BTC. COVID-19 triggers institutional adoption wave.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15" name="Shape 64"/>
          <p:cNvSpPr/>
          <p:nvPr/>
        </p:nvSpPr>
        <p:spPr>
          <a:xfrm>
            <a:off x="47628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6" name="Text 65"/>
          <p:cNvSpPr/>
          <p:nvPr/>
        </p:nvSpPr>
        <p:spPr>
          <a:xfrm>
            <a:off x="55548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Price: $8,000 → $29,000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17" name="Shape 66"/>
          <p:cNvSpPr/>
          <p:nvPr/>
        </p:nvSpPr>
        <p:spPr>
          <a:xfrm>
            <a:off x="325440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18" name="Shape 67"/>
          <p:cNvSpPr/>
          <p:nvPr/>
        </p:nvSpPr>
        <p:spPr>
          <a:xfrm>
            <a:off x="338940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19" name="Text 68"/>
          <p:cNvSpPr/>
          <p:nvPr/>
        </p:nvSpPr>
        <p:spPr>
          <a:xfrm>
            <a:off x="346860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2021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0" name="Text 69"/>
          <p:cNvSpPr/>
          <p:nvPr/>
        </p:nvSpPr>
        <p:spPr>
          <a:xfrm>
            <a:off x="337356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$69,000 ATH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1" name="Text 70"/>
          <p:cNvSpPr/>
          <p:nvPr/>
        </p:nvSpPr>
        <p:spPr>
          <a:xfrm>
            <a:off x="337356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MicroStrategy, Tesla add BTC to treasury. First Bitcoin futures ETF. NFT boom.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2" name="Shape 71"/>
          <p:cNvSpPr/>
          <p:nvPr/>
        </p:nvSpPr>
        <p:spPr>
          <a:xfrm>
            <a:off x="338940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3" name="Text 72"/>
          <p:cNvSpPr/>
          <p:nvPr/>
        </p:nvSpPr>
        <p:spPr>
          <a:xfrm>
            <a:off x="346860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24" name="Shape 73"/>
          <p:cNvSpPr/>
          <p:nvPr/>
        </p:nvSpPr>
        <p:spPr>
          <a:xfrm>
            <a:off x="616752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25" name="Shape 74"/>
          <p:cNvSpPr/>
          <p:nvPr/>
        </p:nvSpPr>
        <p:spPr>
          <a:xfrm>
            <a:off x="630252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26" name="Text 75"/>
          <p:cNvSpPr/>
          <p:nvPr/>
        </p:nvSpPr>
        <p:spPr>
          <a:xfrm>
            <a:off x="638172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27" name="Text 76"/>
          <p:cNvSpPr/>
          <p:nvPr/>
        </p:nvSpPr>
        <p:spPr>
          <a:xfrm>
            <a:off x="628668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BEAR MARKET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28" name="Text 77"/>
          <p:cNvSpPr/>
          <p:nvPr/>
        </p:nvSpPr>
        <p:spPr>
          <a:xfrm>
            <a:off x="628668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Fed rate hikes, Terra/LUNA collapse, FTX bankruptcy. Price falls to $16K.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29" name="Shape 78"/>
          <p:cNvSpPr/>
          <p:nvPr/>
        </p:nvSpPr>
        <p:spPr>
          <a:xfrm>
            <a:off x="630252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0" name="Text 79"/>
          <p:cNvSpPr/>
          <p:nvPr/>
        </p:nvSpPr>
        <p:spPr>
          <a:xfrm>
            <a:off x="638172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Low: $15,600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1" name="Shape 80"/>
          <p:cNvSpPr/>
          <p:nvPr/>
        </p:nvSpPr>
        <p:spPr>
          <a:xfrm>
            <a:off x="9080640" y="4834080"/>
            <a:ext cx="2766960" cy="1592280"/>
          </a:xfrm>
          <a:custGeom>
            <a:avLst/>
            <a:gdLst/>
            <a:ahLst/>
            <a:rect l="l" t="t" r="r" b="b"/>
            <a:pathLst>
              <a:path w="2770188" h="1595438">
                <a:moveTo>
                  <a:pt x="0" y="0"/>
                </a:moveTo>
                <a:lnTo>
                  <a:pt x="2770188" y="0"/>
                </a:lnTo>
                <a:lnTo>
                  <a:pt x="2770188" y="1595438"/>
                </a:lnTo>
                <a:lnTo>
                  <a:pt x="0" y="1595438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1565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32" name="Shape 81"/>
          <p:cNvSpPr/>
          <p:nvPr/>
        </p:nvSpPr>
        <p:spPr>
          <a:xfrm>
            <a:off x="9215280" y="4968720"/>
            <a:ext cx="2496960" cy="377640"/>
          </a:xfrm>
          <a:custGeom>
            <a:avLst/>
            <a:gdLst/>
            <a:ahLst/>
            <a:rect l="l" t="t" r="r" b="b"/>
            <a:pathLst>
              <a:path w="2500313" h="381000">
                <a:moveTo>
                  <a:pt x="0" y="0"/>
                </a:moveTo>
                <a:lnTo>
                  <a:pt x="2500313" y="0"/>
                </a:lnTo>
                <a:lnTo>
                  <a:pt x="2500313" y="381000"/>
                </a:lnTo>
                <a:lnTo>
                  <a:pt x="0" y="381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3" name="Text 82"/>
          <p:cNvSpPr/>
          <p:nvPr/>
        </p:nvSpPr>
        <p:spPr>
          <a:xfrm>
            <a:off x="9294840" y="5048280"/>
            <a:ext cx="241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34" name="Text 83"/>
          <p:cNvSpPr/>
          <p:nvPr/>
        </p:nvSpPr>
        <p:spPr>
          <a:xfrm>
            <a:off x="9199440" y="5429160"/>
            <a:ext cx="259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$100K+ BREAKTHROUGH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35" name="Text 84"/>
          <p:cNvSpPr/>
          <p:nvPr/>
        </p:nvSpPr>
        <p:spPr>
          <a:xfrm>
            <a:off x="9199440" y="5651640"/>
            <a:ext cx="2584440" cy="27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Fourth halving. SEC approves spot ETFs. Price breaks $100K milestone.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36" name="Shape 85"/>
          <p:cNvSpPr/>
          <p:nvPr/>
        </p:nvSpPr>
        <p:spPr>
          <a:xfrm>
            <a:off x="9215280" y="6008760"/>
            <a:ext cx="2496960" cy="282600"/>
          </a:xfrm>
          <a:custGeom>
            <a:avLst/>
            <a:gdLst/>
            <a:ahLst/>
            <a:rect l="l" t="t" r="r" b="b"/>
            <a:pathLst>
              <a:path w="2500313" h="285750">
                <a:moveTo>
                  <a:pt x="0" y="0"/>
                </a:moveTo>
                <a:lnTo>
                  <a:pt x="2500313" y="0"/>
                </a:lnTo>
                <a:lnTo>
                  <a:pt x="2500313" y="285750"/>
                </a:lnTo>
                <a:lnTo>
                  <a:pt x="0" y="28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7" name="Text 86"/>
          <p:cNvSpPr/>
          <p:nvPr/>
        </p:nvSpPr>
        <p:spPr>
          <a:xfrm>
            <a:off x="9294840" y="6087960"/>
            <a:ext cx="238608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Peak: $126,173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38" name="Shape 87"/>
          <p:cNvSpPr/>
          <p:nvPr/>
        </p:nvSpPr>
        <p:spPr>
          <a:xfrm>
            <a:off x="341280" y="6572160"/>
            <a:ext cx="11505960" cy="520560"/>
          </a:xfrm>
          <a:custGeom>
            <a:avLst/>
            <a:gdLst/>
            <a:ahLst/>
            <a:rect l="l" t="t" r="r" b="b"/>
            <a:pathLst>
              <a:path w="11509375" h="523875">
                <a:moveTo>
                  <a:pt x="0" y="0"/>
                </a:moveTo>
                <a:lnTo>
                  <a:pt x="11509375" y="0"/>
                </a:lnTo>
                <a:lnTo>
                  <a:pt x="11509375" y="523875"/>
                </a:lnTo>
                <a:lnTo>
                  <a:pt x="0" y="523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39" name="Text 88"/>
          <p:cNvSpPr/>
          <p:nvPr/>
        </p:nvSpPr>
        <p:spPr>
          <a:xfrm>
            <a:off x="492120" y="6723000"/>
            <a:ext cx="3298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FOUR HALVINGS: 2012 | 2016 | 2020 | 2024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40" name="Text 89"/>
          <p:cNvSpPr/>
          <p:nvPr/>
        </p:nvSpPr>
        <p:spPr>
          <a:xfrm>
            <a:off x="8992080" y="6723000"/>
            <a:ext cx="27828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→ </a:t>
            </a: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Each Followed by Major Bull Run</a:t>
            </a:r>
            <a:endParaRPr b="0" lang="en-HK" sz="125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3" name="Shape 1"/>
          <p:cNvSpPr/>
          <p:nvPr/>
        </p:nvSpPr>
        <p:spPr>
          <a:xfrm>
            <a:off x="4029120" y="781200"/>
            <a:ext cx="7750080" cy="3959280"/>
          </a:xfrm>
          <a:custGeom>
            <a:avLst/>
            <a:gdLst/>
            <a:ahLst/>
            <a:rect l="l" t="t" r="r" b="b"/>
            <a:pathLst>
              <a:path w="7753350" h="3962400">
                <a:moveTo>
                  <a:pt x="0" y="0"/>
                </a:moveTo>
                <a:lnTo>
                  <a:pt x="7753350" y="0"/>
                </a:lnTo>
                <a:lnTo>
                  <a:pt x="77533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44" name="Shape 2"/>
          <p:cNvSpPr/>
          <p:nvPr/>
        </p:nvSpPr>
        <p:spPr>
          <a:xfrm>
            <a:off x="1007748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5" name="Shape 3"/>
          <p:cNvSpPr/>
          <p:nvPr/>
        </p:nvSpPr>
        <p:spPr>
          <a:xfrm>
            <a:off x="1041084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46" name="Text 4"/>
          <p:cNvSpPr/>
          <p:nvPr/>
        </p:nvSpPr>
        <p:spPr>
          <a:xfrm>
            <a:off x="1026792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04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347" name="Text 5"/>
          <p:cNvSpPr/>
          <p:nvPr/>
        </p:nvSpPr>
        <p:spPr>
          <a:xfrm>
            <a:off x="4172040" y="2486160"/>
            <a:ext cx="712152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MARKET DYNAMICS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348" name="Shape 6"/>
          <p:cNvSpPr/>
          <p:nvPr/>
        </p:nvSpPr>
        <p:spPr>
          <a:xfrm>
            <a:off x="946800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49" name="Text 7"/>
          <p:cNvSpPr/>
          <p:nvPr/>
        </p:nvSpPr>
        <p:spPr>
          <a:xfrm>
            <a:off x="4343400" y="3876840"/>
            <a:ext cx="69501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&amp; Price Patterns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350" name="Shape 8"/>
          <p:cNvSpPr/>
          <p:nvPr/>
        </p:nvSpPr>
        <p:spPr>
          <a:xfrm>
            <a:off x="6188040" y="5257800"/>
            <a:ext cx="5587920" cy="815760"/>
          </a:xfrm>
          <a:custGeom>
            <a:avLst/>
            <a:gdLst/>
            <a:ahLst/>
            <a:rect l="l" t="t" r="r" b="b"/>
            <a:pathLst>
              <a:path w="5591175" h="819150">
                <a:moveTo>
                  <a:pt x="0" y="0"/>
                </a:moveTo>
                <a:lnTo>
                  <a:pt x="5591175" y="0"/>
                </a:lnTo>
                <a:lnTo>
                  <a:pt x="55911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1" name="Text 9"/>
          <p:cNvSpPr/>
          <p:nvPr/>
        </p:nvSpPr>
        <p:spPr>
          <a:xfrm>
            <a:off x="6445080" y="5514840"/>
            <a:ext cx="51879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Programmed Scarcity Driving Market Cycles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3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HALVING EFFECT: PROGRAMMED SCARCITY IN ACTION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55" name="Shape 3"/>
          <p:cNvSpPr/>
          <p:nvPr/>
        </p:nvSpPr>
        <p:spPr>
          <a:xfrm>
            <a:off x="341280" y="1357200"/>
            <a:ext cx="6219720" cy="6076800"/>
          </a:xfrm>
          <a:custGeom>
            <a:avLst/>
            <a:gdLst/>
            <a:ahLst/>
            <a:rect l="l" t="t" r="r" b="b"/>
            <a:pathLst>
              <a:path w="6223000" h="6080125">
                <a:moveTo>
                  <a:pt x="0" y="0"/>
                </a:moveTo>
                <a:lnTo>
                  <a:pt x="6223000" y="0"/>
                </a:lnTo>
                <a:lnTo>
                  <a:pt x="6223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56" name="Text 4"/>
          <p:cNvSpPr/>
          <p:nvPr/>
        </p:nvSpPr>
        <p:spPr>
          <a:xfrm>
            <a:off x="523800" y="153972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WHAT IS THE HALVING?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57" name="Text 5"/>
          <p:cNvSpPr/>
          <p:nvPr/>
        </p:nvSpPr>
        <p:spPr>
          <a:xfrm>
            <a:off x="523800" y="1889280"/>
            <a:ext cx="591804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Every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210,000 blocks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(~4 years), Bitcoin's block reward is cut in half. This pre-programmed monetary policy reduces new supply issuance, creating supply shocks that have historically preceded major bull runs.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539640" y="2651040"/>
            <a:ext cx="5823000" cy="2314440"/>
          </a:xfrm>
          <a:custGeom>
            <a:avLst/>
            <a:gdLst/>
            <a:ahLst/>
            <a:rect l="l" t="t" r="r" b="b"/>
            <a:pathLst>
              <a:path w="5826125" h="2317750">
                <a:moveTo>
                  <a:pt x="0" y="0"/>
                </a:moveTo>
                <a:lnTo>
                  <a:pt x="5826125" y="0"/>
                </a:lnTo>
                <a:lnTo>
                  <a:pt x="5826125" y="2317750"/>
                </a:lnTo>
                <a:lnTo>
                  <a:pt x="0" y="2317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59" name="Text 7"/>
          <p:cNvSpPr/>
          <p:nvPr/>
        </p:nvSpPr>
        <p:spPr>
          <a:xfrm>
            <a:off x="682560" y="2793960"/>
            <a:ext cx="5600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Halving Schedule &amp; Price Performance: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698400" y="309564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1" name="Text 9"/>
          <p:cNvSpPr/>
          <p:nvPr/>
        </p:nvSpPr>
        <p:spPr>
          <a:xfrm>
            <a:off x="809640" y="320688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2012: 50 → 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2" name="Text 10"/>
          <p:cNvSpPr/>
          <p:nvPr/>
        </p:nvSpPr>
        <p:spPr>
          <a:xfrm>
            <a:off x="809640" y="339732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+9,300%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3" name="Text 11"/>
          <p:cNvSpPr/>
          <p:nvPr/>
        </p:nvSpPr>
        <p:spPr>
          <a:xfrm>
            <a:off x="809640" y="365112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$12 → $1,100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3515400" y="309564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5" name="Text 13"/>
          <p:cNvSpPr/>
          <p:nvPr/>
        </p:nvSpPr>
        <p:spPr>
          <a:xfrm>
            <a:off x="3626640" y="320688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2016: 25 → 12.5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66" name="Text 14"/>
          <p:cNvSpPr/>
          <p:nvPr/>
        </p:nvSpPr>
        <p:spPr>
          <a:xfrm>
            <a:off x="3626640" y="339732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+3,200%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67" name="Text 15"/>
          <p:cNvSpPr/>
          <p:nvPr/>
        </p:nvSpPr>
        <p:spPr>
          <a:xfrm>
            <a:off x="3626640" y="365112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$650 → $19,800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698400" y="401652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69" name="Text 17"/>
          <p:cNvSpPr/>
          <p:nvPr/>
        </p:nvSpPr>
        <p:spPr>
          <a:xfrm>
            <a:off x="809640" y="412740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2020: 12.5 → 6.25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0" name="Text 18"/>
          <p:cNvSpPr/>
          <p:nvPr/>
        </p:nvSpPr>
        <p:spPr>
          <a:xfrm>
            <a:off x="809640" y="431784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+700%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1" name="Text 19"/>
          <p:cNvSpPr/>
          <p:nvPr/>
        </p:nvSpPr>
        <p:spPr>
          <a:xfrm>
            <a:off x="809640" y="457200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$8,800 → $69,000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3515400" y="4016520"/>
            <a:ext cx="2687400" cy="790560"/>
          </a:xfrm>
          <a:custGeom>
            <a:avLst/>
            <a:gdLst/>
            <a:ahLst/>
            <a:rect l="l" t="t" r="r" b="b"/>
            <a:pathLst>
              <a:path w="2690813" h="793750">
                <a:moveTo>
                  <a:pt x="0" y="0"/>
                </a:moveTo>
                <a:lnTo>
                  <a:pt x="2690813" y="0"/>
                </a:lnTo>
                <a:lnTo>
                  <a:pt x="2690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3" name="Text 21"/>
          <p:cNvSpPr/>
          <p:nvPr/>
        </p:nvSpPr>
        <p:spPr>
          <a:xfrm>
            <a:off x="3626640" y="4127400"/>
            <a:ext cx="252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2024: 6.25 → 3.125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74" name="Text 22"/>
          <p:cNvSpPr/>
          <p:nvPr/>
        </p:nvSpPr>
        <p:spPr>
          <a:xfrm>
            <a:off x="3626640" y="4317840"/>
            <a:ext cx="2560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155dfc"/>
                </a:solidFill>
                <a:latin typeface="Noto Sans SC"/>
                <a:ea typeface="Noto Sans SC"/>
              </a:rPr>
              <a:t>IN PROGRESS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75" name="Text 23"/>
          <p:cNvSpPr/>
          <p:nvPr/>
        </p:nvSpPr>
        <p:spPr>
          <a:xfrm>
            <a:off x="3626640" y="4572000"/>
            <a:ext cx="25128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0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$43,000 → $126K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341280" y="7612200"/>
            <a:ext cx="6219720" cy="1568520"/>
          </a:xfrm>
          <a:custGeom>
            <a:avLst/>
            <a:gdLst/>
            <a:ahLst/>
            <a:rect l="l" t="t" r="r" b="b"/>
            <a:pathLst>
              <a:path w="6223000" h="1571625">
                <a:moveTo>
                  <a:pt x="0" y="0"/>
                </a:moveTo>
                <a:lnTo>
                  <a:pt x="6223000" y="0"/>
                </a:lnTo>
                <a:lnTo>
                  <a:pt x="6223000" y="1571625"/>
                </a:lnTo>
                <a:lnTo>
                  <a:pt x="0" y="1571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77" name="Text 25"/>
          <p:cNvSpPr/>
          <p:nvPr/>
        </p:nvSpPr>
        <p:spPr>
          <a:xfrm>
            <a:off x="492120" y="7763040"/>
            <a:ext cx="5997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2024 CYCLE: WHAT'S DIFFERENT?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50796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79" name="Text 27"/>
          <p:cNvSpPr/>
          <p:nvPr/>
        </p:nvSpPr>
        <p:spPr>
          <a:xfrm>
            <a:off x="61920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Approval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0" name="Text 28"/>
          <p:cNvSpPr/>
          <p:nvPr/>
        </p:nvSpPr>
        <p:spPr>
          <a:xfrm>
            <a:off x="619200" y="8429760"/>
            <a:ext cx="1711440" cy="47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spot ETFs create institutional demand never seen before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251280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2" name="Text 30"/>
          <p:cNvSpPr/>
          <p:nvPr/>
        </p:nvSpPr>
        <p:spPr>
          <a:xfrm>
            <a:off x="262404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3" name="Text 31"/>
          <p:cNvSpPr/>
          <p:nvPr/>
        </p:nvSpPr>
        <p:spPr>
          <a:xfrm>
            <a:off x="2624040" y="8429760"/>
            <a:ext cx="17114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holds 714K BTC worth $54B+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4518000" y="8096400"/>
            <a:ext cx="1878120" cy="917640"/>
          </a:xfrm>
          <a:custGeom>
            <a:avLst/>
            <a:gdLst/>
            <a:ahLst/>
            <a:rect l="l" t="t" r="r" b="b"/>
            <a:pathLst>
              <a:path w="1881187" h="920750">
                <a:moveTo>
                  <a:pt x="0" y="0"/>
                </a:moveTo>
                <a:lnTo>
                  <a:pt x="1881187" y="0"/>
                </a:lnTo>
                <a:lnTo>
                  <a:pt x="1881187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85" name="Text 33"/>
          <p:cNvSpPr/>
          <p:nvPr/>
        </p:nvSpPr>
        <p:spPr>
          <a:xfrm>
            <a:off x="4629240" y="8207280"/>
            <a:ext cx="1719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86" name="Text 34"/>
          <p:cNvSpPr/>
          <p:nvPr/>
        </p:nvSpPr>
        <p:spPr>
          <a:xfrm>
            <a:off x="4629240" y="8429760"/>
            <a:ext cx="17114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El Salvador makes BTC legal tender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6769080" y="1357200"/>
            <a:ext cx="5076720" cy="3949560"/>
          </a:xfrm>
          <a:custGeom>
            <a:avLst/>
            <a:gdLst/>
            <a:ahLst/>
            <a:rect l="l" t="t" r="r" b="b"/>
            <a:pathLst>
              <a:path w="5080000" h="3952875">
                <a:moveTo>
                  <a:pt x="0" y="0"/>
                </a:moveTo>
                <a:lnTo>
                  <a:pt x="5080000" y="0"/>
                </a:lnTo>
                <a:lnTo>
                  <a:pt x="5080000" y="3952875"/>
                </a:lnTo>
                <a:lnTo>
                  <a:pt x="0" y="395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388" name="Text 36"/>
          <p:cNvSpPr/>
          <p:nvPr/>
        </p:nvSpPr>
        <p:spPr>
          <a:xfrm>
            <a:off x="695160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STOCK-TO-FLOW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6951600" y="1920960"/>
            <a:ext cx="47750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scarcity can be measured by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stock-to-flow ratio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(existing supply / annual production). Higher ratios indicate greater scarcity.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0" name="Shape 38"/>
          <p:cNvSpPr/>
          <p:nvPr/>
        </p:nvSpPr>
        <p:spPr>
          <a:xfrm>
            <a:off x="6967440" y="247644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1" name="Text 39"/>
          <p:cNvSpPr/>
          <p:nvPr/>
        </p:nvSpPr>
        <p:spPr>
          <a:xfrm>
            <a:off x="7078680" y="2619360"/>
            <a:ext cx="615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2" name="Text 40"/>
          <p:cNvSpPr/>
          <p:nvPr/>
        </p:nvSpPr>
        <p:spPr>
          <a:xfrm>
            <a:off x="11329200" y="2587680"/>
            <a:ext cx="306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62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3" name="Shape 41"/>
          <p:cNvSpPr/>
          <p:nvPr/>
        </p:nvSpPr>
        <p:spPr>
          <a:xfrm>
            <a:off x="7094520" y="288936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4" name="Shape 42"/>
          <p:cNvSpPr/>
          <p:nvPr/>
        </p:nvSpPr>
        <p:spPr>
          <a:xfrm>
            <a:off x="7110360" y="2905200"/>
            <a:ext cx="2195280" cy="28440"/>
          </a:xfrm>
          <a:custGeom>
            <a:avLst/>
            <a:gdLst/>
            <a:ahLst/>
            <a:rect l="l" t="t" r="r" b="b"/>
            <a:pathLst>
              <a:path w="2198688" h="31750">
                <a:moveTo>
                  <a:pt x="0" y="0"/>
                </a:moveTo>
                <a:lnTo>
                  <a:pt x="2198688" y="0"/>
                </a:lnTo>
                <a:lnTo>
                  <a:pt x="2198688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0b1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395" name="Shape 43"/>
          <p:cNvSpPr/>
          <p:nvPr/>
        </p:nvSpPr>
        <p:spPr>
          <a:xfrm>
            <a:off x="6967440" y="320688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6" name="Text 44"/>
          <p:cNvSpPr/>
          <p:nvPr/>
        </p:nvSpPr>
        <p:spPr>
          <a:xfrm>
            <a:off x="7078680" y="3349800"/>
            <a:ext cx="14810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S2F (Post-2024)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11223360" y="3317760"/>
            <a:ext cx="409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120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398" name="Shape 46"/>
          <p:cNvSpPr/>
          <p:nvPr/>
        </p:nvSpPr>
        <p:spPr>
          <a:xfrm>
            <a:off x="7094520" y="361944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399" name="Shape 47"/>
          <p:cNvSpPr/>
          <p:nvPr/>
        </p:nvSpPr>
        <p:spPr>
          <a:xfrm>
            <a:off x="7110360" y="3635280"/>
            <a:ext cx="4394160" cy="28440"/>
          </a:xfrm>
          <a:custGeom>
            <a:avLst/>
            <a:gdLst/>
            <a:ahLst/>
            <a:rect l="l" t="t" r="r" b="b"/>
            <a:pathLst>
              <a:path w="4397375" h="31750">
                <a:moveTo>
                  <a:pt x="0" y="0"/>
                </a:moveTo>
                <a:lnTo>
                  <a:pt x="4397375" y="0"/>
                </a:lnTo>
                <a:lnTo>
                  <a:pt x="4397375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ff69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0" name="Shape 48"/>
          <p:cNvSpPr/>
          <p:nvPr/>
        </p:nvSpPr>
        <p:spPr>
          <a:xfrm>
            <a:off x="6967440" y="3936960"/>
            <a:ext cx="4680000" cy="600120"/>
          </a:xfrm>
          <a:custGeom>
            <a:avLst/>
            <a:gdLst/>
            <a:ahLst/>
            <a:rect l="l" t="t" r="r" b="b"/>
            <a:pathLst>
              <a:path w="4683125" h="603250">
                <a:moveTo>
                  <a:pt x="0" y="0"/>
                </a:moveTo>
                <a:lnTo>
                  <a:pt x="4683125" y="0"/>
                </a:lnTo>
                <a:lnTo>
                  <a:pt x="46831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1" name="Text 49"/>
          <p:cNvSpPr/>
          <p:nvPr/>
        </p:nvSpPr>
        <p:spPr>
          <a:xfrm>
            <a:off x="7078680" y="4079880"/>
            <a:ext cx="671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Silver S2F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2" name="Text 50"/>
          <p:cNvSpPr/>
          <p:nvPr/>
        </p:nvSpPr>
        <p:spPr>
          <a:xfrm>
            <a:off x="11329200" y="4048200"/>
            <a:ext cx="3063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3" name="Shape 51"/>
          <p:cNvSpPr/>
          <p:nvPr/>
        </p:nvSpPr>
        <p:spPr>
          <a:xfrm>
            <a:off x="7094520" y="4349880"/>
            <a:ext cx="4425840" cy="60120"/>
          </a:xfrm>
          <a:custGeom>
            <a:avLst/>
            <a:gdLst/>
            <a:ahLst/>
            <a:rect l="l" t="t" r="r" b="b"/>
            <a:pathLst>
              <a:path w="4429125" h="63500">
                <a:moveTo>
                  <a:pt x="0" y="0"/>
                </a:moveTo>
                <a:lnTo>
                  <a:pt x="4429125" y="0"/>
                </a:lnTo>
                <a:lnTo>
                  <a:pt x="4429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4" name="Shape 52"/>
          <p:cNvSpPr/>
          <p:nvPr/>
        </p:nvSpPr>
        <p:spPr>
          <a:xfrm>
            <a:off x="7110360" y="4365720"/>
            <a:ext cx="790560" cy="28440"/>
          </a:xfrm>
          <a:custGeom>
            <a:avLst/>
            <a:gdLst/>
            <a:ahLst/>
            <a:rect l="l" t="t" r="r" b="b"/>
            <a:pathLst>
              <a:path w="793750" h="31750">
                <a:moveTo>
                  <a:pt x="0" y="0"/>
                </a:moveTo>
                <a:lnTo>
                  <a:pt x="793750" y="0"/>
                </a:lnTo>
                <a:lnTo>
                  <a:pt x="793750" y="31750"/>
                </a:lnTo>
                <a:lnTo>
                  <a:pt x="0" y="3175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05" name="Shape 53"/>
          <p:cNvSpPr/>
          <p:nvPr/>
        </p:nvSpPr>
        <p:spPr>
          <a:xfrm>
            <a:off x="6967440" y="4699080"/>
            <a:ext cx="4680000" cy="409680"/>
          </a:xfrm>
          <a:custGeom>
            <a:avLst/>
            <a:gdLst/>
            <a:ahLst/>
            <a:rect l="l" t="t" r="r" b="b"/>
            <a:pathLst>
              <a:path w="4683125" h="412750">
                <a:moveTo>
                  <a:pt x="0" y="0"/>
                </a:moveTo>
                <a:lnTo>
                  <a:pt x="4683125" y="0"/>
                </a:lnTo>
                <a:lnTo>
                  <a:pt x="46831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06" name="Text 54"/>
          <p:cNvSpPr/>
          <p:nvPr/>
        </p:nvSpPr>
        <p:spPr>
          <a:xfrm>
            <a:off x="7047000" y="480996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is now scarcer than 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07" name="Shape 55"/>
          <p:cNvSpPr/>
          <p:nvPr/>
        </p:nvSpPr>
        <p:spPr>
          <a:xfrm>
            <a:off x="6769080" y="5484960"/>
            <a:ext cx="5076720" cy="3695760"/>
          </a:xfrm>
          <a:custGeom>
            <a:avLst/>
            <a:gdLst/>
            <a:ahLst/>
            <a:rect l="l" t="t" r="r" b="b"/>
            <a:pathLst>
              <a:path w="5080000" h="3698875">
                <a:moveTo>
                  <a:pt x="0" y="0"/>
                </a:moveTo>
                <a:lnTo>
                  <a:pt x="5080000" y="0"/>
                </a:lnTo>
                <a:lnTo>
                  <a:pt x="5080000" y="3698875"/>
                </a:lnTo>
                <a:lnTo>
                  <a:pt x="0" y="3698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08" name="Text 56"/>
          <p:cNvSpPr/>
          <p:nvPr/>
        </p:nvSpPr>
        <p:spPr>
          <a:xfrm>
            <a:off x="6951600" y="566748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SUPPLY IMPACT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09" name="Shape 57"/>
          <p:cNvSpPr/>
          <p:nvPr/>
        </p:nvSpPr>
        <p:spPr>
          <a:xfrm>
            <a:off x="6967440" y="606420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0" name="Text 58"/>
          <p:cNvSpPr/>
          <p:nvPr/>
        </p:nvSpPr>
        <p:spPr>
          <a:xfrm>
            <a:off x="7078680" y="617544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Daily New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1" name="Text 59"/>
          <p:cNvSpPr/>
          <p:nvPr/>
        </p:nvSpPr>
        <p:spPr>
          <a:xfrm>
            <a:off x="7078680" y="639756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2" name="Text 60"/>
          <p:cNvSpPr/>
          <p:nvPr/>
        </p:nvSpPr>
        <p:spPr>
          <a:xfrm>
            <a:off x="7078680" y="668340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3" name="Shape 61"/>
          <p:cNvSpPr/>
          <p:nvPr/>
        </p:nvSpPr>
        <p:spPr>
          <a:xfrm>
            <a:off x="6967440" y="708012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4" name="Text 62"/>
          <p:cNvSpPr/>
          <p:nvPr/>
        </p:nvSpPr>
        <p:spPr>
          <a:xfrm>
            <a:off x="7078680" y="719136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Inflation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5" name="Text 63"/>
          <p:cNvSpPr/>
          <p:nvPr/>
        </p:nvSpPr>
        <p:spPr>
          <a:xfrm>
            <a:off x="7078680" y="741348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0.85%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16" name="Text 64"/>
          <p:cNvSpPr/>
          <p:nvPr/>
        </p:nvSpPr>
        <p:spPr>
          <a:xfrm>
            <a:off x="7078680" y="769932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1.75% pre-halving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17" name="Shape 65"/>
          <p:cNvSpPr/>
          <p:nvPr/>
        </p:nvSpPr>
        <p:spPr>
          <a:xfrm>
            <a:off x="6967440" y="8096400"/>
            <a:ext cx="4680000" cy="885600"/>
          </a:xfrm>
          <a:custGeom>
            <a:avLst/>
            <a:gdLst/>
            <a:ahLst/>
            <a:rect l="l" t="t" r="r" b="b"/>
            <a:pathLst>
              <a:path w="4683125" h="889000">
                <a:moveTo>
                  <a:pt x="0" y="0"/>
                </a:moveTo>
                <a:lnTo>
                  <a:pt x="4683125" y="0"/>
                </a:lnTo>
                <a:lnTo>
                  <a:pt x="4683125" y="889000"/>
                </a:lnTo>
                <a:lnTo>
                  <a:pt x="0" y="889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18" name="Text 66"/>
          <p:cNvSpPr/>
          <p:nvPr/>
        </p:nvSpPr>
        <p:spPr>
          <a:xfrm>
            <a:off x="7078680" y="8207280"/>
            <a:ext cx="4521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Supply Mined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19" name="Text 67"/>
          <p:cNvSpPr/>
          <p:nvPr/>
        </p:nvSpPr>
        <p:spPr>
          <a:xfrm>
            <a:off x="7078680" y="8429760"/>
            <a:ext cx="457668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93.75%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20" name="Text 68"/>
          <p:cNvSpPr/>
          <p:nvPr/>
        </p:nvSpPr>
        <p:spPr>
          <a:xfrm>
            <a:off x="7078680" y="8715240"/>
            <a:ext cx="4513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~19.7M of 21M BTC in circulation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2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3" name="Shape 1"/>
          <p:cNvSpPr/>
          <p:nvPr/>
        </p:nvSpPr>
        <p:spPr>
          <a:xfrm>
            <a:off x="40968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24" name="Shape 2"/>
          <p:cNvSpPr/>
          <p:nvPr/>
        </p:nvSpPr>
        <p:spPr>
          <a:xfrm>
            <a:off x="92376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25" name="Text 3"/>
          <p:cNvSpPr/>
          <p:nvPr/>
        </p:nvSpPr>
        <p:spPr>
          <a:xfrm>
            <a:off x="78120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05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426" name="Shape 4"/>
          <p:cNvSpPr/>
          <p:nvPr/>
        </p:nvSpPr>
        <p:spPr>
          <a:xfrm>
            <a:off x="203832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7" name="Text 5"/>
          <p:cNvSpPr/>
          <p:nvPr/>
        </p:nvSpPr>
        <p:spPr>
          <a:xfrm>
            <a:off x="89532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CURRENT LANDSCAPE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428" name="Shape 6"/>
          <p:cNvSpPr/>
          <p:nvPr/>
        </p:nvSpPr>
        <p:spPr>
          <a:xfrm>
            <a:off x="89532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29" name="Text 7"/>
          <p:cNvSpPr/>
          <p:nvPr/>
        </p:nvSpPr>
        <p:spPr>
          <a:xfrm>
            <a:off x="89532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2024-2025 Market Status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430" name="Shape 8"/>
          <p:cNvSpPr/>
          <p:nvPr/>
        </p:nvSpPr>
        <p:spPr>
          <a:xfrm>
            <a:off x="409680" y="568656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1" name="Text 9"/>
          <p:cNvSpPr/>
          <p:nvPr/>
        </p:nvSpPr>
        <p:spPr>
          <a:xfrm>
            <a:off x="666720" y="594360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Adoption, ETF Success &amp; Price Discovery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3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TODAY: MARKET METRICS &amp; ADOPTION DATA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34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35" name="Shape 3"/>
          <p:cNvSpPr/>
          <p:nvPr/>
        </p:nvSpPr>
        <p:spPr>
          <a:xfrm>
            <a:off x="341280" y="1357200"/>
            <a:ext cx="5648400" cy="2806560"/>
          </a:xfrm>
          <a:custGeom>
            <a:avLst/>
            <a:gdLst/>
            <a:ahLst/>
            <a:rect l="l" t="t" r="r" b="b"/>
            <a:pathLst>
              <a:path w="5651500" h="2809875">
                <a:moveTo>
                  <a:pt x="0" y="0"/>
                </a:moveTo>
                <a:lnTo>
                  <a:pt x="5651500" y="0"/>
                </a:lnTo>
                <a:lnTo>
                  <a:pt x="5651500" y="2809875"/>
                </a:lnTo>
                <a:lnTo>
                  <a:pt x="0" y="2809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36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PRICE PERFORMANCE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37" name="Shape 5"/>
          <p:cNvSpPr/>
          <p:nvPr/>
        </p:nvSpPr>
        <p:spPr>
          <a:xfrm>
            <a:off x="539640" y="1936800"/>
            <a:ext cx="2544840" cy="101268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38" name="Text 6"/>
          <p:cNvSpPr/>
          <p:nvPr/>
        </p:nvSpPr>
        <p:spPr>
          <a:xfrm>
            <a:off x="682560" y="207972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Current Price (Mar 2026)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39" name="Text 7"/>
          <p:cNvSpPr/>
          <p:nvPr/>
        </p:nvSpPr>
        <p:spPr>
          <a:xfrm>
            <a:off x="682560" y="233352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$74,532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0" name="Shape 8"/>
          <p:cNvSpPr/>
          <p:nvPr/>
        </p:nvSpPr>
        <p:spPr>
          <a:xfrm>
            <a:off x="3246480" y="1936800"/>
            <a:ext cx="2544840" cy="1012680"/>
          </a:xfrm>
          <a:custGeom>
            <a:avLst/>
            <a:gdLst/>
            <a:ahLst/>
            <a:rect l="l" t="t" r="r" b="b"/>
            <a:pathLst>
              <a:path w="2547938" h="1016000">
                <a:moveTo>
                  <a:pt x="0" y="0"/>
                </a:moveTo>
                <a:lnTo>
                  <a:pt x="2547938" y="0"/>
                </a:lnTo>
                <a:lnTo>
                  <a:pt x="2547938" y="1016000"/>
                </a:lnTo>
                <a:lnTo>
                  <a:pt x="0" y="1016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1" name="Text 9"/>
          <p:cNvSpPr/>
          <p:nvPr/>
        </p:nvSpPr>
        <p:spPr>
          <a:xfrm>
            <a:off x="3389400" y="207972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All-Time High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2" name="Text 10"/>
          <p:cNvSpPr/>
          <p:nvPr/>
        </p:nvSpPr>
        <p:spPr>
          <a:xfrm>
            <a:off x="3389400" y="233352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$126,173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3" name="Text 11"/>
          <p:cNvSpPr/>
          <p:nvPr/>
        </p:nvSpPr>
        <p:spPr>
          <a:xfrm>
            <a:off x="3389400" y="2651040"/>
            <a:ext cx="23144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October 6, 2025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44" name="Shape 12"/>
          <p:cNvSpPr/>
          <p:nvPr/>
        </p:nvSpPr>
        <p:spPr>
          <a:xfrm>
            <a:off x="539640" y="3111480"/>
            <a:ext cx="2544840" cy="85392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5" name="Text 13"/>
          <p:cNvSpPr/>
          <p:nvPr/>
        </p:nvSpPr>
        <p:spPr>
          <a:xfrm>
            <a:off x="682560" y="325440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Market Cap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6" name="Text 14"/>
          <p:cNvSpPr/>
          <p:nvPr/>
        </p:nvSpPr>
        <p:spPr>
          <a:xfrm>
            <a:off x="682560" y="350820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$1.47T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47" name="Shape 15"/>
          <p:cNvSpPr/>
          <p:nvPr/>
        </p:nvSpPr>
        <p:spPr>
          <a:xfrm>
            <a:off x="3246480" y="3111480"/>
            <a:ext cx="2544840" cy="853920"/>
          </a:xfrm>
          <a:custGeom>
            <a:avLst/>
            <a:gdLst/>
            <a:ahLst/>
            <a:rect l="l" t="t" r="r" b="b"/>
            <a:pathLst>
              <a:path w="2547938" h="857250">
                <a:moveTo>
                  <a:pt x="0" y="0"/>
                </a:moveTo>
                <a:lnTo>
                  <a:pt x="2547938" y="0"/>
                </a:lnTo>
                <a:lnTo>
                  <a:pt x="2547938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48" name="Text 16"/>
          <p:cNvSpPr/>
          <p:nvPr/>
        </p:nvSpPr>
        <p:spPr>
          <a:xfrm>
            <a:off x="3389400" y="3254400"/>
            <a:ext cx="2322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24h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49" name="Text 17"/>
          <p:cNvSpPr/>
          <p:nvPr/>
        </p:nvSpPr>
        <p:spPr>
          <a:xfrm>
            <a:off x="3389400" y="3508200"/>
            <a:ext cx="24019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$28.5B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450" name="Shape 18"/>
          <p:cNvSpPr/>
          <p:nvPr/>
        </p:nvSpPr>
        <p:spPr>
          <a:xfrm>
            <a:off x="341280" y="4341960"/>
            <a:ext cx="5648400" cy="2997000"/>
          </a:xfrm>
          <a:custGeom>
            <a:avLst/>
            <a:gdLst/>
            <a:ahLst/>
            <a:rect l="l" t="t" r="r" b="b"/>
            <a:pathLst>
              <a:path w="5651500" h="3000375">
                <a:moveTo>
                  <a:pt x="0" y="0"/>
                </a:moveTo>
                <a:lnTo>
                  <a:pt x="5651500" y="0"/>
                </a:lnTo>
                <a:lnTo>
                  <a:pt x="5651500" y="3000375"/>
                </a:lnTo>
                <a:lnTo>
                  <a:pt x="0" y="3000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51" name="Text 19"/>
          <p:cNvSpPr/>
          <p:nvPr/>
        </p:nvSpPr>
        <p:spPr>
          <a:xfrm>
            <a:off x="523800" y="45244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HOLDINGS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2" name="Shape 20"/>
          <p:cNvSpPr/>
          <p:nvPr/>
        </p:nvSpPr>
        <p:spPr>
          <a:xfrm>
            <a:off x="539640" y="492120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3" name="Text 21"/>
          <p:cNvSpPr/>
          <p:nvPr/>
        </p:nvSpPr>
        <p:spPr>
          <a:xfrm>
            <a:off x="650880" y="5064120"/>
            <a:ext cx="1417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Total Institutional BTC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4" name="Text 22"/>
          <p:cNvSpPr/>
          <p:nvPr/>
        </p:nvSpPr>
        <p:spPr>
          <a:xfrm>
            <a:off x="4704120" y="5032440"/>
            <a:ext cx="10684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1.4M+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5" name="Text 23"/>
          <p:cNvSpPr/>
          <p:nvPr/>
        </p:nvSpPr>
        <p:spPr>
          <a:xfrm>
            <a:off x="650880" y="52862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~7% of circulating supply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56" name="Shape 24"/>
          <p:cNvSpPr/>
          <p:nvPr/>
        </p:nvSpPr>
        <p:spPr>
          <a:xfrm>
            <a:off x="539640" y="568332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57" name="Text 25"/>
          <p:cNvSpPr/>
          <p:nvPr/>
        </p:nvSpPr>
        <p:spPr>
          <a:xfrm>
            <a:off x="650880" y="5826240"/>
            <a:ext cx="1965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Assets Under Management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58" name="Text 26"/>
          <p:cNvSpPr/>
          <p:nvPr/>
        </p:nvSpPr>
        <p:spPr>
          <a:xfrm>
            <a:off x="5116680" y="5794200"/>
            <a:ext cx="6555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59" name="Text 27"/>
          <p:cNvSpPr/>
          <p:nvPr/>
        </p:nvSpPr>
        <p:spPr>
          <a:xfrm>
            <a:off x="650880" y="60483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leads with $52B+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0" name="Shape 28"/>
          <p:cNvSpPr/>
          <p:nvPr/>
        </p:nvSpPr>
        <p:spPr>
          <a:xfrm>
            <a:off x="539640" y="644508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1" name="Text 29"/>
          <p:cNvSpPr/>
          <p:nvPr/>
        </p:nvSpPr>
        <p:spPr>
          <a:xfrm>
            <a:off x="650880" y="6588000"/>
            <a:ext cx="1488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MicroStrategy Holdings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2" name="Text 30"/>
          <p:cNvSpPr/>
          <p:nvPr/>
        </p:nvSpPr>
        <p:spPr>
          <a:xfrm>
            <a:off x="4550040" y="6556320"/>
            <a:ext cx="1227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3" name="Text 31"/>
          <p:cNvSpPr/>
          <p:nvPr/>
        </p:nvSpPr>
        <p:spPr>
          <a:xfrm>
            <a:off x="650880" y="68104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Cost basis: $54.4B ($76,056/BTC)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64" name="Shape 32"/>
          <p:cNvSpPr/>
          <p:nvPr/>
        </p:nvSpPr>
        <p:spPr>
          <a:xfrm>
            <a:off x="6199200" y="1357200"/>
            <a:ext cx="5648400" cy="3822480"/>
          </a:xfrm>
          <a:custGeom>
            <a:avLst/>
            <a:gdLst/>
            <a:ahLst/>
            <a:rect l="l" t="t" r="r" b="b"/>
            <a:pathLst>
              <a:path w="5651500" h="3825875">
                <a:moveTo>
                  <a:pt x="0" y="0"/>
                </a:moveTo>
                <a:lnTo>
                  <a:pt x="5651500" y="0"/>
                </a:lnTo>
                <a:lnTo>
                  <a:pt x="5651500" y="3825875"/>
                </a:lnTo>
                <a:lnTo>
                  <a:pt x="0" y="3825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65" name="Text 33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ON-CHAIN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66" name="Shape 34"/>
          <p:cNvSpPr/>
          <p:nvPr/>
        </p:nvSpPr>
        <p:spPr>
          <a:xfrm>
            <a:off x="6397560" y="1936800"/>
            <a:ext cx="5251320" cy="949320"/>
          </a:xfrm>
          <a:custGeom>
            <a:avLst/>
            <a:gdLst/>
            <a:ahLst/>
            <a:rect l="l" t="t" r="r" b="b"/>
            <a:pathLst>
              <a:path w="5254625" h="952500">
                <a:moveTo>
                  <a:pt x="0" y="0"/>
                </a:moveTo>
                <a:lnTo>
                  <a:pt x="5254625" y="0"/>
                </a:lnTo>
                <a:lnTo>
                  <a:pt x="5254625" y="952500"/>
                </a:lnTo>
                <a:lnTo>
                  <a:pt x="0" y="952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67" name="Text 35"/>
          <p:cNvSpPr/>
          <p:nvPr/>
        </p:nvSpPr>
        <p:spPr>
          <a:xfrm>
            <a:off x="6508800" y="2048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Long-Term Holder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68" name="Text 36"/>
          <p:cNvSpPr/>
          <p:nvPr/>
        </p:nvSpPr>
        <p:spPr>
          <a:xfrm>
            <a:off x="6508800" y="2301840"/>
            <a:ext cx="5922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62%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69" name="Text 37"/>
          <p:cNvSpPr/>
          <p:nvPr/>
        </p:nvSpPr>
        <p:spPr>
          <a:xfrm>
            <a:off x="7080480" y="2365200"/>
            <a:ext cx="14493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BTC unmoved for 1+ year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0" name="Shape 38"/>
          <p:cNvSpPr/>
          <p:nvPr/>
        </p:nvSpPr>
        <p:spPr>
          <a:xfrm>
            <a:off x="6524640" y="266688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1" name="Shape 39"/>
          <p:cNvSpPr/>
          <p:nvPr/>
        </p:nvSpPr>
        <p:spPr>
          <a:xfrm>
            <a:off x="6540480" y="2682720"/>
            <a:ext cx="3076560" cy="60120"/>
          </a:xfrm>
          <a:custGeom>
            <a:avLst/>
            <a:gdLst/>
            <a:ahLst/>
            <a:rect l="l" t="t" r="r" b="b"/>
            <a:pathLst>
              <a:path w="3079750" h="63500">
                <a:moveTo>
                  <a:pt x="0" y="0"/>
                </a:moveTo>
                <a:lnTo>
                  <a:pt x="3079750" y="0"/>
                </a:lnTo>
                <a:lnTo>
                  <a:pt x="307975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72" name="Shape 40"/>
          <p:cNvSpPr/>
          <p:nvPr/>
        </p:nvSpPr>
        <p:spPr>
          <a:xfrm>
            <a:off x="6397560" y="3016080"/>
            <a:ext cx="5251320" cy="91764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3" name="Text 41"/>
          <p:cNvSpPr/>
          <p:nvPr/>
        </p:nvSpPr>
        <p:spPr>
          <a:xfrm>
            <a:off x="6508800" y="3127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4" name="Text 42"/>
          <p:cNvSpPr/>
          <p:nvPr/>
        </p:nvSpPr>
        <p:spPr>
          <a:xfrm>
            <a:off x="6508800" y="3381480"/>
            <a:ext cx="5148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5" name="Text 43"/>
          <p:cNvSpPr/>
          <p:nvPr/>
        </p:nvSpPr>
        <p:spPr>
          <a:xfrm>
            <a:off x="6508800" y="36669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 volume (Nov 2025)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76" name="Shape 44"/>
          <p:cNvSpPr/>
          <p:nvPr/>
        </p:nvSpPr>
        <p:spPr>
          <a:xfrm>
            <a:off x="6397560" y="4064040"/>
            <a:ext cx="5251320" cy="917640"/>
          </a:xfrm>
          <a:custGeom>
            <a:avLst/>
            <a:gdLst/>
            <a:ahLst/>
            <a:rect l="l" t="t" r="r" b="b"/>
            <a:pathLst>
              <a:path w="5254625" h="920750">
                <a:moveTo>
                  <a:pt x="0" y="0"/>
                </a:moveTo>
                <a:lnTo>
                  <a:pt x="5254625" y="0"/>
                </a:lnTo>
                <a:lnTo>
                  <a:pt x="52546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77" name="Text 45"/>
          <p:cNvSpPr/>
          <p:nvPr/>
        </p:nvSpPr>
        <p:spPr>
          <a:xfrm>
            <a:off x="6508800" y="41752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Hash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78" name="Text 46"/>
          <p:cNvSpPr/>
          <p:nvPr/>
        </p:nvSpPr>
        <p:spPr>
          <a:xfrm>
            <a:off x="6508800" y="4429080"/>
            <a:ext cx="51483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880 EH/s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479" name="Text 47"/>
          <p:cNvSpPr/>
          <p:nvPr/>
        </p:nvSpPr>
        <p:spPr>
          <a:xfrm>
            <a:off x="6508800" y="47149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All-time high network security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6199200" y="5357880"/>
            <a:ext cx="5648400" cy="1981080"/>
          </a:xfrm>
          <a:custGeom>
            <a:avLst/>
            <a:gdLst/>
            <a:ahLst/>
            <a:rect l="l" t="t" r="r" b="b"/>
            <a:pathLst>
              <a:path w="5651500" h="1984375">
                <a:moveTo>
                  <a:pt x="0" y="0"/>
                </a:moveTo>
                <a:lnTo>
                  <a:pt x="5651500" y="0"/>
                </a:lnTo>
                <a:lnTo>
                  <a:pt x="5651500" y="1984375"/>
                </a:lnTo>
                <a:lnTo>
                  <a:pt x="0" y="1984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481" name="Text 49"/>
          <p:cNvSpPr/>
          <p:nvPr/>
        </p:nvSpPr>
        <p:spPr>
          <a:xfrm>
            <a:off x="6381720" y="554040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VS TRADITIONAL ASSETS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482" name="Text 50"/>
          <p:cNvSpPr/>
          <p:nvPr/>
        </p:nvSpPr>
        <p:spPr>
          <a:xfrm>
            <a:off x="6381720" y="5921280"/>
            <a:ext cx="53467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3" name="Text 51"/>
          <p:cNvSpPr/>
          <p:nvPr/>
        </p:nvSpPr>
        <p:spPr>
          <a:xfrm>
            <a:off x="6381720" y="620712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4" name="Shape 52"/>
          <p:cNvSpPr/>
          <p:nvPr/>
        </p:nvSpPr>
        <p:spPr>
          <a:xfrm>
            <a:off x="7254720" y="622296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5" name="Shape 53"/>
          <p:cNvSpPr/>
          <p:nvPr/>
        </p:nvSpPr>
        <p:spPr>
          <a:xfrm>
            <a:off x="7270920" y="6238800"/>
            <a:ext cx="4362480" cy="123840"/>
          </a:xfrm>
          <a:custGeom>
            <a:avLst/>
            <a:gdLst/>
            <a:ahLst/>
            <a:rect l="l" t="t" r="r" b="b"/>
            <a:pathLst>
              <a:path w="4365625" h="127000">
                <a:moveTo>
                  <a:pt x="0" y="0"/>
                </a:moveTo>
                <a:lnTo>
                  <a:pt x="4365625" y="0"/>
                </a:lnTo>
                <a:lnTo>
                  <a:pt x="4365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86" name="Text 54"/>
          <p:cNvSpPr/>
          <p:nvPr/>
        </p:nvSpPr>
        <p:spPr>
          <a:xfrm>
            <a:off x="11223720" y="6222960"/>
            <a:ext cx="401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+940%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87" name="Text 55"/>
          <p:cNvSpPr/>
          <p:nvPr/>
        </p:nvSpPr>
        <p:spPr>
          <a:xfrm>
            <a:off x="6381720" y="646128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Nasdaq 100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88" name="Shape 56"/>
          <p:cNvSpPr/>
          <p:nvPr/>
        </p:nvSpPr>
        <p:spPr>
          <a:xfrm>
            <a:off x="7254720" y="647712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89" name="Shape 57"/>
          <p:cNvSpPr/>
          <p:nvPr/>
        </p:nvSpPr>
        <p:spPr>
          <a:xfrm>
            <a:off x="7270920" y="6492960"/>
            <a:ext cx="520560" cy="123840"/>
          </a:xfrm>
          <a:custGeom>
            <a:avLst/>
            <a:gdLst/>
            <a:ahLst/>
            <a:rect l="l" t="t" r="r" b="b"/>
            <a:pathLst>
              <a:path w="523875" h="127000">
                <a:moveTo>
                  <a:pt x="0" y="0"/>
                </a:moveTo>
                <a:lnTo>
                  <a:pt x="523875" y="0"/>
                </a:lnTo>
                <a:lnTo>
                  <a:pt x="523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0" name="Text 58"/>
          <p:cNvSpPr/>
          <p:nvPr/>
        </p:nvSpPr>
        <p:spPr>
          <a:xfrm>
            <a:off x="7382160" y="6477120"/>
            <a:ext cx="401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+110%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1" name="Text 59"/>
          <p:cNvSpPr/>
          <p:nvPr/>
        </p:nvSpPr>
        <p:spPr>
          <a:xfrm>
            <a:off x="6381720" y="671508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S&amp;P 500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2" name="Shape 60"/>
          <p:cNvSpPr/>
          <p:nvPr/>
        </p:nvSpPr>
        <p:spPr>
          <a:xfrm>
            <a:off x="7254720" y="673092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3" name="Shape 61"/>
          <p:cNvSpPr/>
          <p:nvPr/>
        </p:nvSpPr>
        <p:spPr>
          <a:xfrm>
            <a:off x="7270920" y="6746760"/>
            <a:ext cx="393480" cy="123840"/>
          </a:xfrm>
          <a:custGeom>
            <a:avLst/>
            <a:gdLst/>
            <a:ahLst/>
            <a:rect l="l" t="t" r="r" b="b"/>
            <a:pathLst>
              <a:path w="396875" h="127000">
                <a:moveTo>
                  <a:pt x="0" y="0"/>
                </a:moveTo>
                <a:lnTo>
                  <a:pt x="396875" y="0"/>
                </a:lnTo>
                <a:lnTo>
                  <a:pt x="39687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4" name="Text 62"/>
          <p:cNvSpPr/>
          <p:nvPr/>
        </p:nvSpPr>
        <p:spPr>
          <a:xfrm>
            <a:off x="7312680" y="6730920"/>
            <a:ext cx="3380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495" name="Text 63"/>
          <p:cNvSpPr/>
          <p:nvPr/>
        </p:nvSpPr>
        <p:spPr>
          <a:xfrm>
            <a:off x="6381720" y="6969240"/>
            <a:ext cx="8222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496" name="Shape 64"/>
          <p:cNvSpPr/>
          <p:nvPr/>
        </p:nvSpPr>
        <p:spPr>
          <a:xfrm>
            <a:off x="7254720" y="6985080"/>
            <a:ext cx="4394160" cy="155520"/>
          </a:xfrm>
          <a:custGeom>
            <a:avLst/>
            <a:gdLst/>
            <a:ahLst/>
            <a:rect l="l" t="t" r="r" b="b"/>
            <a:pathLst>
              <a:path w="4397375" h="158750">
                <a:moveTo>
                  <a:pt x="0" y="0"/>
                </a:moveTo>
                <a:lnTo>
                  <a:pt x="4397375" y="0"/>
                </a:lnTo>
                <a:lnTo>
                  <a:pt x="4397375" y="158750"/>
                </a:lnTo>
                <a:lnTo>
                  <a:pt x="0" y="1587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497" name="Shape 65"/>
          <p:cNvSpPr/>
          <p:nvPr/>
        </p:nvSpPr>
        <p:spPr>
          <a:xfrm>
            <a:off x="7270920" y="7000920"/>
            <a:ext cx="171360" cy="123840"/>
          </a:xfrm>
          <a:custGeom>
            <a:avLst/>
            <a:gdLst/>
            <a:ahLst/>
            <a:rect l="l" t="t" r="r" b="b"/>
            <a:pathLst>
              <a:path w="174625" h="127000">
                <a:moveTo>
                  <a:pt x="0" y="0"/>
                </a:moveTo>
                <a:lnTo>
                  <a:pt x="174625" y="0"/>
                </a:lnTo>
                <a:lnTo>
                  <a:pt x="174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498" name="Text 66"/>
          <p:cNvSpPr/>
          <p:nvPr/>
        </p:nvSpPr>
        <p:spPr>
          <a:xfrm>
            <a:off x="7094520" y="6985080"/>
            <a:ext cx="3380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ffffff"/>
                </a:solidFill>
                <a:latin typeface="MiSans"/>
                <a:ea typeface="MiSans"/>
              </a:rPr>
              <a:t>+25%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0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1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02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3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4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06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05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06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07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Wall Street Embraces Bitcoin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08" name="Shape 8"/>
          <p:cNvSpPr/>
          <p:nvPr/>
        </p:nvSpPr>
        <p:spPr>
          <a:xfrm>
            <a:off x="5198760" y="5686560"/>
            <a:ext cx="6578640" cy="815760"/>
          </a:xfrm>
          <a:custGeom>
            <a:avLst/>
            <a:gdLst/>
            <a:ahLst/>
            <a:rect l="l" t="t" r="r" b="b"/>
            <a:pathLst>
              <a:path w="6581775" h="819150">
                <a:moveTo>
                  <a:pt x="0" y="0"/>
                </a:moveTo>
                <a:lnTo>
                  <a:pt x="6581775" y="0"/>
                </a:lnTo>
                <a:lnTo>
                  <a:pt x="65817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09" name="Text 9"/>
          <p:cNvSpPr/>
          <p:nvPr/>
        </p:nvSpPr>
        <p:spPr>
          <a:xfrm>
            <a:off x="5456160" y="5943600"/>
            <a:ext cx="61783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Asset to Mainstream Portfolio Allocation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1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FRINGE TO MAINSTREAM: INSTITUTIONAL ENTRY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12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13" name="Shape 3"/>
          <p:cNvSpPr/>
          <p:nvPr/>
        </p:nvSpPr>
        <p:spPr>
          <a:xfrm>
            <a:off x="341280" y="1357200"/>
            <a:ext cx="5648400" cy="1949400"/>
          </a:xfrm>
          <a:custGeom>
            <a:avLst/>
            <a:gdLst/>
            <a:ahLst/>
            <a:rect l="l" t="t" r="r" b="b"/>
            <a:pathLst>
              <a:path w="5651500" h="1952625">
                <a:moveTo>
                  <a:pt x="0" y="0"/>
                </a:moveTo>
                <a:lnTo>
                  <a:pt x="5651500" y="0"/>
                </a:lnTo>
                <a:lnTo>
                  <a:pt x="5651500" y="1952625"/>
                </a:lnTo>
                <a:lnTo>
                  <a:pt x="0" y="1952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14" name="Shape 4"/>
          <p:cNvSpPr/>
          <p:nvPr/>
        </p:nvSpPr>
        <p:spPr>
          <a:xfrm>
            <a:off x="54756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5" name="Text 5"/>
          <p:cNvSpPr/>
          <p:nvPr/>
        </p:nvSpPr>
        <p:spPr>
          <a:xfrm>
            <a:off x="47628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6" name="Text 6"/>
          <p:cNvSpPr/>
          <p:nvPr/>
        </p:nvSpPr>
        <p:spPr>
          <a:xfrm>
            <a:off x="109548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JANUARY 2024: THE TURNING POINT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17" name="Text 7"/>
          <p:cNvSpPr/>
          <p:nvPr/>
        </p:nvSpPr>
        <p:spPr>
          <a:xfrm>
            <a:off x="1095480" y="1857240"/>
            <a:ext cx="477504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SEC approves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11 spot Bitcoin ETFs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, marking the most successful ETF launch in history. This removed the final barrier for institutional capital.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18" name="Shape 8"/>
          <p:cNvSpPr/>
          <p:nvPr/>
        </p:nvSpPr>
        <p:spPr>
          <a:xfrm>
            <a:off x="53964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19" name="Text 9"/>
          <p:cNvSpPr/>
          <p:nvPr/>
        </p:nvSpPr>
        <p:spPr>
          <a:xfrm>
            <a:off x="59148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$52B+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0" name="Text 10"/>
          <p:cNvSpPr/>
          <p:nvPr/>
        </p:nvSpPr>
        <p:spPr>
          <a:xfrm>
            <a:off x="62316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BlackRock IBIT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1" name="Shape 11"/>
          <p:cNvSpPr/>
          <p:nvPr/>
        </p:nvSpPr>
        <p:spPr>
          <a:xfrm>
            <a:off x="233352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2" name="Text 12"/>
          <p:cNvSpPr/>
          <p:nvPr/>
        </p:nvSpPr>
        <p:spPr>
          <a:xfrm>
            <a:off x="238536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$85B+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3" name="Text 13"/>
          <p:cNvSpPr/>
          <p:nvPr/>
        </p:nvSpPr>
        <p:spPr>
          <a:xfrm>
            <a:off x="241704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ETF AUM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4" name="Shape 14"/>
          <p:cNvSpPr/>
          <p:nvPr/>
        </p:nvSpPr>
        <p:spPr>
          <a:xfrm>
            <a:off x="4127400" y="2413080"/>
            <a:ext cx="1663560" cy="695160"/>
          </a:xfrm>
          <a:custGeom>
            <a:avLst/>
            <a:gdLst/>
            <a:ahLst/>
            <a:rect l="l" t="t" r="r" b="b"/>
            <a:pathLst>
              <a:path w="1666875" h="698500">
                <a:moveTo>
                  <a:pt x="0" y="0"/>
                </a:moveTo>
                <a:lnTo>
                  <a:pt x="1666875" y="0"/>
                </a:lnTo>
                <a:lnTo>
                  <a:pt x="166687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25" name="Text 15"/>
          <p:cNvSpPr/>
          <p:nvPr/>
        </p:nvSpPr>
        <p:spPr>
          <a:xfrm>
            <a:off x="4179240" y="2523960"/>
            <a:ext cx="1560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 Year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526" name="Text 16"/>
          <p:cNvSpPr/>
          <p:nvPr/>
        </p:nvSpPr>
        <p:spPr>
          <a:xfrm>
            <a:off x="4210920" y="2841480"/>
            <a:ext cx="14968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 Reach $50B+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27" name="Shape 17"/>
          <p:cNvSpPr/>
          <p:nvPr/>
        </p:nvSpPr>
        <p:spPr>
          <a:xfrm>
            <a:off x="341280" y="3484440"/>
            <a:ext cx="5648400" cy="5219640"/>
          </a:xfrm>
          <a:custGeom>
            <a:avLst/>
            <a:gdLst/>
            <a:ahLst/>
            <a:rect l="l" t="t" r="r" b="b"/>
            <a:pathLst>
              <a:path w="5651500" h="5222875">
                <a:moveTo>
                  <a:pt x="0" y="0"/>
                </a:moveTo>
                <a:lnTo>
                  <a:pt x="5651500" y="0"/>
                </a:lnTo>
                <a:lnTo>
                  <a:pt x="5651500" y="5222875"/>
                </a:lnTo>
                <a:lnTo>
                  <a:pt x="0" y="5222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28" name="Text 18"/>
          <p:cNvSpPr/>
          <p:nvPr/>
        </p:nvSpPr>
        <p:spPr>
          <a:xfrm>
            <a:off x="523800" y="366696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INSTITUTIONAL PLAYERS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29" name="Shape 19"/>
          <p:cNvSpPr/>
          <p:nvPr/>
        </p:nvSpPr>
        <p:spPr>
          <a:xfrm>
            <a:off x="539640" y="40640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0" name="Text 20"/>
          <p:cNvSpPr/>
          <p:nvPr/>
        </p:nvSpPr>
        <p:spPr>
          <a:xfrm>
            <a:off x="650880" y="4175280"/>
            <a:ext cx="2616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MicroStrategy (Strategy)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1" name="Text 21"/>
          <p:cNvSpPr/>
          <p:nvPr/>
        </p:nvSpPr>
        <p:spPr>
          <a:xfrm>
            <a:off x="650880" y="4429080"/>
            <a:ext cx="2608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Pioneered corporate treasury Bitcoin strategy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2" name="Text 22"/>
          <p:cNvSpPr/>
          <p:nvPr/>
        </p:nvSpPr>
        <p:spPr>
          <a:xfrm>
            <a:off x="4455000" y="4175280"/>
            <a:ext cx="1227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714,644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3" name="Text 23"/>
          <p:cNvSpPr/>
          <p:nvPr/>
        </p:nvSpPr>
        <p:spPr>
          <a:xfrm>
            <a:off x="4494600" y="4429080"/>
            <a:ext cx="1187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$54.4B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4" name="Shape 24"/>
          <p:cNvSpPr/>
          <p:nvPr/>
        </p:nvSpPr>
        <p:spPr>
          <a:xfrm>
            <a:off x="539640" y="48578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35" name="Text 25"/>
          <p:cNvSpPr/>
          <p:nvPr/>
        </p:nvSpPr>
        <p:spPr>
          <a:xfrm>
            <a:off x="650880" y="4968720"/>
            <a:ext cx="2147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Tesla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36" name="Text 26"/>
          <p:cNvSpPr/>
          <p:nvPr/>
        </p:nvSpPr>
        <p:spPr>
          <a:xfrm>
            <a:off x="650880" y="5222880"/>
            <a:ext cx="21398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Added BTC to balance sheet in 2021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37" name="Text 27"/>
          <p:cNvSpPr/>
          <p:nvPr/>
        </p:nvSpPr>
        <p:spPr>
          <a:xfrm>
            <a:off x="4560840" y="4968720"/>
            <a:ext cx="1116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11,509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38" name="Text 28"/>
          <p:cNvSpPr/>
          <p:nvPr/>
        </p:nvSpPr>
        <p:spPr>
          <a:xfrm>
            <a:off x="4600440" y="5222880"/>
            <a:ext cx="1076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~$850M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39" name="Shape 29"/>
          <p:cNvSpPr/>
          <p:nvPr/>
        </p:nvSpPr>
        <p:spPr>
          <a:xfrm>
            <a:off x="539640" y="5651640"/>
            <a:ext cx="5251320" cy="663480"/>
          </a:xfrm>
          <a:custGeom>
            <a:avLst/>
            <a:gdLst/>
            <a:ahLst/>
            <a:rect l="l" t="t" r="r" b="b"/>
            <a:pathLst>
              <a:path w="5254625" h="666750">
                <a:moveTo>
                  <a:pt x="0" y="0"/>
                </a:moveTo>
                <a:lnTo>
                  <a:pt x="5254625" y="0"/>
                </a:lnTo>
                <a:lnTo>
                  <a:pt x="5254625" y="666750"/>
                </a:lnTo>
                <a:lnTo>
                  <a:pt x="0" y="666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0" name="Text 30"/>
          <p:cNvSpPr/>
          <p:nvPr/>
        </p:nvSpPr>
        <p:spPr>
          <a:xfrm>
            <a:off x="650880" y="5762520"/>
            <a:ext cx="2124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(Square)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541" name="Text 31"/>
          <p:cNvSpPr/>
          <p:nvPr/>
        </p:nvSpPr>
        <p:spPr>
          <a:xfrm>
            <a:off x="650880" y="6016680"/>
            <a:ext cx="21160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Financial services embracing 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2" name="Text 32"/>
          <p:cNvSpPr/>
          <p:nvPr/>
        </p:nvSpPr>
        <p:spPr>
          <a:xfrm>
            <a:off x="4666680" y="5762520"/>
            <a:ext cx="1012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8,027 BTC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3" name="Text 33"/>
          <p:cNvSpPr/>
          <p:nvPr/>
        </p:nvSpPr>
        <p:spPr>
          <a:xfrm>
            <a:off x="4706640" y="6016680"/>
            <a:ext cx="973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~$600M value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44" name="Shape 34"/>
          <p:cNvSpPr/>
          <p:nvPr/>
        </p:nvSpPr>
        <p:spPr>
          <a:xfrm>
            <a:off x="6199200" y="1357200"/>
            <a:ext cx="5648400" cy="4711680"/>
          </a:xfrm>
          <a:custGeom>
            <a:avLst/>
            <a:gdLst/>
            <a:ahLst/>
            <a:rect l="l" t="t" r="r" b="b"/>
            <a:pathLst>
              <a:path w="5651500" h="4714875">
                <a:moveTo>
                  <a:pt x="0" y="0"/>
                </a:moveTo>
                <a:lnTo>
                  <a:pt x="5651500" y="0"/>
                </a:lnTo>
                <a:lnTo>
                  <a:pt x="5651500" y="4714875"/>
                </a:lnTo>
                <a:lnTo>
                  <a:pt x="0" y="4714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45" name="Text 35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THREE-PHASE ADOPTION TIMELINE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46" name="Shape 36"/>
          <p:cNvSpPr/>
          <p:nvPr/>
        </p:nvSpPr>
        <p:spPr>
          <a:xfrm>
            <a:off x="6397560" y="193680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7" name="Shape 37"/>
          <p:cNvSpPr/>
          <p:nvPr/>
        </p:nvSpPr>
        <p:spPr>
          <a:xfrm>
            <a:off x="6564240" y="21034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48" name="Text 38"/>
          <p:cNvSpPr/>
          <p:nvPr/>
        </p:nvSpPr>
        <p:spPr>
          <a:xfrm>
            <a:off x="6508800" y="207972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1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49" name="Text 39"/>
          <p:cNvSpPr/>
          <p:nvPr/>
        </p:nvSpPr>
        <p:spPr>
          <a:xfrm>
            <a:off x="6953400" y="212724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2025-2027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0" name="Text 40"/>
          <p:cNvSpPr/>
          <p:nvPr/>
        </p:nvSpPr>
        <p:spPr>
          <a:xfrm>
            <a:off x="6540480" y="246060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Pension &amp; 401(k) Integration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1" name="Text 41"/>
          <p:cNvSpPr/>
          <p:nvPr/>
        </p:nvSpPr>
        <p:spPr>
          <a:xfrm>
            <a:off x="6540480" y="268272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Early pension fund allocations, 401(k) plans add Bitcoin ETF options, 2-5% standard allocation models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2" name="Shape 42"/>
          <p:cNvSpPr/>
          <p:nvPr/>
        </p:nvSpPr>
        <p:spPr>
          <a:xfrm>
            <a:off x="6397560" y="330192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3" name="Shape 43"/>
          <p:cNvSpPr/>
          <p:nvPr/>
        </p:nvSpPr>
        <p:spPr>
          <a:xfrm>
            <a:off x="6564240" y="346860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4" name="Text 44"/>
          <p:cNvSpPr/>
          <p:nvPr/>
        </p:nvSpPr>
        <p:spPr>
          <a:xfrm>
            <a:off x="6508800" y="344484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2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5" name="Text 45"/>
          <p:cNvSpPr/>
          <p:nvPr/>
        </p:nvSpPr>
        <p:spPr>
          <a:xfrm>
            <a:off x="6953400" y="349236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2028-2030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56" name="Text 46"/>
          <p:cNvSpPr/>
          <p:nvPr/>
        </p:nvSpPr>
        <p:spPr>
          <a:xfrm>
            <a:off x="6540480" y="382572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 Expansion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57" name="Text 47"/>
          <p:cNvSpPr/>
          <p:nvPr/>
        </p:nvSpPr>
        <p:spPr>
          <a:xfrm>
            <a:off x="6540480" y="404820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European/Asian ETFs launch, 2028 halving cuts supply, corporate treasuries follow MicroStrategy model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58" name="Shape 48"/>
          <p:cNvSpPr/>
          <p:nvPr/>
        </p:nvSpPr>
        <p:spPr>
          <a:xfrm>
            <a:off x="6397560" y="4667400"/>
            <a:ext cx="5251320" cy="1203120"/>
          </a:xfrm>
          <a:custGeom>
            <a:avLst/>
            <a:gdLst/>
            <a:ahLst/>
            <a:rect l="l" t="t" r="r" b="b"/>
            <a:pathLst>
              <a:path w="5254625" h="1206500">
                <a:moveTo>
                  <a:pt x="0" y="0"/>
                </a:moveTo>
                <a:lnTo>
                  <a:pt x="5254625" y="0"/>
                </a:lnTo>
                <a:lnTo>
                  <a:pt x="5254625" y="1206500"/>
                </a:lnTo>
                <a:lnTo>
                  <a:pt x="0" y="1206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59" name="Shape 49"/>
          <p:cNvSpPr/>
          <p:nvPr/>
        </p:nvSpPr>
        <p:spPr>
          <a:xfrm>
            <a:off x="6564240" y="48340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0" name="Text 50"/>
          <p:cNvSpPr/>
          <p:nvPr/>
        </p:nvSpPr>
        <p:spPr>
          <a:xfrm>
            <a:off x="6508800" y="480996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3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1" name="Text 51"/>
          <p:cNvSpPr/>
          <p:nvPr/>
        </p:nvSpPr>
        <p:spPr>
          <a:xfrm>
            <a:off x="6953400" y="4857840"/>
            <a:ext cx="838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2030-2032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562" name="Text 52"/>
          <p:cNvSpPr/>
          <p:nvPr/>
        </p:nvSpPr>
        <p:spPr>
          <a:xfrm>
            <a:off x="6540480" y="519120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Infrastructure Embedding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3" name="Text 53"/>
          <p:cNvSpPr/>
          <p:nvPr/>
        </p:nvSpPr>
        <p:spPr>
          <a:xfrm>
            <a:off x="6540480" y="5413320"/>
            <a:ext cx="50212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operational infrastructure for custody, lending, trading services. Switching costs make removal prohibitively expensive.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64" name="Shape 54"/>
          <p:cNvSpPr/>
          <p:nvPr/>
        </p:nvSpPr>
        <p:spPr>
          <a:xfrm>
            <a:off x="6199200" y="6246720"/>
            <a:ext cx="5648400" cy="2457360"/>
          </a:xfrm>
          <a:custGeom>
            <a:avLst/>
            <a:gdLst/>
            <a:ahLst/>
            <a:rect l="l" t="t" r="r" b="b"/>
            <a:pathLst>
              <a:path w="5651500" h="2460625">
                <a:moveTo>
                  <a:pt x="0" y="0"/>
                </a:moveTo>
                <a:lnTo>
                  <a:pt x="5651500" y="0"/>
                </a:lnTo>
                <a:lnTo>
                  <a:pt x="5651500" y="2460625"/>
                </a:lnTo>
                <a:lnTo>
                  <a:pt x="0" y="246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65" name="Text 55"/>
          <p:cNvSpPr/>
          <p:nvPr/>
        </p:nvSpPr>
        <p:spPr>
          <a:xfrm>
            <a:off x="6381720" y="642924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MAJOR BANKS ENTERING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66" name="Shape 56"/>
          <p:cNvSpPr/>
          <p:nvPr/>
        </p:nvSpPr>
        <p:spPr>
          <a:xfrm>
            <a:off x="6397560" y="682632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67" name="Shape 57"/>
          <p:cNvSpPr/>
          <p:nvPr/>
        </p:nvSpPr>
        <p:spPr>
          <a:xfrm>
            <a:off x="6477120" y="696924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68" name="Text 58"/>
          <p:cNvSpPr/>
          <p:nvPr/>
        </p:nvSpPr>
        <p:spPr>
          <a:xfrm>
            <a:off x="6635880" y="6905520"/>
            <a:ext cx="671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JPMorgan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69" name="Text 59"/>
          <p:cNvSpPr/>
          <p:nvPr/>
        </p:nvSpPr>
        <p:spPr>
          <a:xfrm>
            <a:off x="7345080" y="6921360"/>
            <a:ext cx="14176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Accepting BTC as collateral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0" name="Shape 60"/>
          <p:cNvSpPr/>
          <p:nvPr/>
        </p:nvSpPr>
        <p:spPr>
          <a:xfrm>
            <a:off x="6397560" y="727092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1" name="Shape 61"/>
          <p:cNvSpPr/>
          <p:nvPr/>
        </p:nvSpPr>
        <p:spPr>
          <a:xfrm>
            <a:off x="6477120" y="74134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2" name="Text 62"/>
          <p:cNvSpPr/>
          <p:nvPr/>
        </p:nvSpPr>
        <p:spPr>
          <a:xfrm>
            <a:off x="6635880" y="7350120"/>
            <a:ext cx="1020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Goldman Sachs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3" name="Text 63"/>
          <p:cNvSpPr/>
          <p:nvPr/>
        </p:nvSpPr>
        <p:spPr>
          <a:xfrm>
            <a:off x="7690680" y="7365960"/>
            <a:ext cx="13381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 trading desk active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4" name="Shape 64"/>
          <p:cNvSpPr/>
          <p:nvPr/>
        </p:nvSpPr>
        <p:spPr>
          <a:xfrm>
            <a:off x="6397560" y="771516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5" name="Shape 65"/>
          <p:cNvSpPr/>
          <p:nvPr/>
        </p:nvSpPr>
        <p:spPr>
          <a:xfrm>
            <a:off x="6477120" y="78580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76" name="Text 66"/>
          <p:cNvSpPr/>
          <p:nvPr/>
        </p:nvSpPr>
        <p:spPr>
          <a:xfrm>
            <a:off x="6635880" y="7794720"/>
            <a:ext cx="10047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Morgan Stanley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77" name="Text 67"/>
          <p:cNvSpPr/>
          <p:nvPr/>
        </p:nvSpPr>
        <p:spPr>
          <a:xfrm>
            <a:off x="7676640" y="7810560"/>
            <a:ext cx="14731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Offering BTC funds to clients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578" name="Shape 68"/>
          <p:cNvSpPr/>
          <p:nvPr/>
        </p:nvSpPr>
        <p:spPr>
          <a:xfrm>
            <a:off x="6397560" y="8159760"/>
            <a:ext cx="5251320" cy="345960"/>
          </a:xfrm>
          <a:custGeom>
            <a:avLst/>
            <a:gdLst/>
            <a:ahLst/>
            <a:rect l="l" t="t" r="r" b="b"/>
            <a:pathLst>
              <a:path w="5254625" h="349250">
                <a:moveTo>
                  <a:pt x="0" y="0"/>
                </a:moveTo>
                <a:lnTo>
                  <a:pt x="5254625" y="0"/>
                </a:lnTo>
                <a:lnTo>
                  <a:pt x="5254625" y="349250"/>
                </a:lnTo>
                <a:lnTo>
                  <a:pt x="0" y="34925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79" name="Shape 69"/>
          <p:cNvSpPr/>
          <p:nvPr/>
        </p:nvSpPr>
        <p:spPr>
          <a:xfrm>
            <a:off x="6477120" y="8302680"/>
            <a:ext cx="60120" cy="60120"/>
          </a:xfrm>
          <a:custGeom>
            <a:avLst/>
            <a:gdLst/>
            <a:ahLst/>
            <a:rect l="l" t="t" r="r" b="b"/>
            <a:pathLst>
              <a:path w="63500" h="63500">
                <a:moveTo>
                  <a:pt x="0" y="0"/>
                </a:moveTo>
                <a:lnTo>
                  <a:pt x="63500" y="0"/>
                </a:lnTo>
                <a:lnTo>
                  <a:pt x="635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0" name="Text 70"/>
          <p:cNvSpPr/>
          <p:nvPr/>
        </p:nvSpPr>
        <p:spPr>
          <a:xfrm>
            <a:off x="6635880" y="8238960"/>
            <a:ext cx="3380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SoFi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581" name="Text 71"/>
          <p:cNvSpPr/>
          <p:nvPr/>
        </p:nvSpPr>
        <p:spPr>
          <a:xfrm>
            <a:off x="7006320" y="8255160"/>
            <a:ext cx="1957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First US bank with direct crypto trading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3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4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85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86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07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587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88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ECONOMICS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589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0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Backbone of Security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591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2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Profitability &amp; Industry Consolidation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4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MINING INDUSTRY: POST-HALVING ECONOMICS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595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596" name="Shape 3"/>
          <p:cNvSpPr/>
          <p:nvPr/>
        </p:nvSpPr>
        <p:spPr>
          <a:xfrm>
            <a:off x="341280" y="1357200"/>
            <a:ext cx="5648400" cy="3409920"/>
          </a:xfrm>
          <a:custGeom>
            <a:avLst/>
            <a:gdLst/>
            <a:ahLst/>
            <a:rect l="l" t="t" r="r" b="b"/>
            <a:pathLst>
              <a:path w="5651500" h="3413125">
                <a:moveTo>
                  <a:pt x="0" y="0"/>
                </a:moveTo>
                <a:lnTo>
                  <a:pt x="5651500" y="0"/>
                </a:lnTo>
                <a:lnTo>
                  <a:pt x="5651500" y="3413125"/>
                </a:lnTo>
                <a:lnTo>
                  <a:pt x="0" y="3413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597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REVENUE MODEL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598" name="Shape 5"/>
          <p:cNvSpPr/>
          <p:nvPr/>
        </p:nvSpPr>
        <p:spPr>
          <a:xfrm>
            <a:off x="53964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599" name="Text 6"/>
          <p:cNvSpPr/>
          <p:nvPr/>
        </p:nvSpPr>
        <p:spPr>
          <a:xfrm>
            <a:off x="682560" y="2111400"/>
            <a:ext cx="1052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Block Subsidy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0" name="Text 7"/>
          <p:cNvSpPr/>
          <p:nvPr/>
        </p:nvSpPr>
        <p:spPr>
          <a:xfrm>
            <a:off x="4500000" y="2079720"/>
            <a:ext cx="12668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3.125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1" name="Text 8"/>
          <p:cNvSpPr/>
          <p:nvPr/>
        </p:nvSpPr>
        <p:spPr>
          <a:xfrm>
            <a:off x="68256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6.25 BTC pre-2024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2" name="Shape 9"/>
          <p:cNvSpPr/>
          <p:nvPr/>
        </p:nvSpPr>
        <p:spPr>
          <a:xfrm>
            <a:off x="53964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3" name="Text 10"/>
          <p:cNvSpPr/>
          <p:nvPr/>
        </p:nvSpPr>
        <p:spPr>
          <a:xfrm>
            <a:off x="682560" y="3032280"/>
            <a:ext cx="12430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4" name="Text 11"/>
          <p:cNvSpPr/>
          <p:nvPr/>
        </p:nvSpPr>
        <p:spPr>
          <a:xfrm>
            <a:off x="4626000" y="3000240"/>
            <a:ext cx="1139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~0.5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5" name="Text 12"/>
          <p:cNvSpPr/>
          <p:nvPr/>
        </p:nvSpPr>
        <p:spPr>
          <a:xfrm>
            <a:off x="68256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Variable based on network congestion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06" name="Shape 13"/>
          <p:cNvSpPr/>
          <p:nvPr/>
        </p:nvSpPr>
        <p:spPr>
          <a:xfrm>
            <a:off x="539640" y="37782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07" name="Text 14"/>
          <p:cNvSpPr/>
          <p:nvPr/>
        </p:nvSpPr>
        <p:spPr>
          <a:xfrm>
            <a:off x="682560" y="3952800"/>
            <a:ext cx="16477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Daily Network Revenue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608" name="Text 15"/>
          <p:cNvSpPr/>
          <p:nvPr/>
        </p:nvSpPr>
        <p:spPr>
          <a:xfrm>
            <a:off x="4559400" y="3921120"/>
            <a:ext cx="12110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~450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09" name="Text 16"/>
          <p:cNvSpPr/>
          <p:nvPr/>
        </p:nvSpPr>
        <p:spPr>
          <a:xfrm>
            <a:off x="682560" y="42703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Down from 900 BTC pre-halving (~$33M/day)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10" name="Shape 17"/>
          <p:cNvSpPr/>
          <p:nvPr/>
        </p:nvSpPr>
        <p:spPr>
          <a:xfrm>
            <a:off x="341280" y="4944960"/>
            <a:ext cx="5648400" cy="4235400"/>
          </a:xfrm>
          <a:custGeom>
            <a:avLst/>
            <a:gdLst/>
            <a:ahLst/>
            <a:rect l="l" t="t" r="r" b="b"/>
            <a:pathLst>
              <a:path w="5651500" h="4238625">
                <a:moveTo>
                  <a:pt x="0" y="0"/>
                </a:moveTo>
                <a:lnTo>
                  <a:pt x="5651500" y="0"/>
                </a:lnTo>
                <a:lnTo>
                  <a:pt x="5651500" y="4238625"/>
                </a:lnTo>
                <a:lnTo>
                  <a:pt x="0" y="4238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11" name="Text 18"/>
          <p:cNvSpPr/>
          <p:nvPr/>
        </p:nvSpPr>
        <p:spPr>
          <a:xfrm>
            <a:off x="523800" y="51274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COST STRUCTURE BREAKDOWN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12" name="Shape 19"/>
          <p:cNvSpPr/>
          <p:nvPr/>
        </p:nvSpPr>
        <p:spPr>
          <a:xfrm>
            <a:off x="539640" y="55245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3" name="Text 20"/>
          <p:cNvSpPr/>
          <p:nvPr/>
        </p:nvSpPr>
        <p:spPr>
          <a:xfrm>
            <a:off x="650880" y="5651640"/>
            <a:ext cx="6634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Electricity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4" name="Text 21"/>
          <p:cNvSpPr/>
          <p:nvPr/>
        </p:nvSpPr>
        <p:spPr>
          <a:xfrm>
            <a:off x="5136120" y="5635800"/>
            <a:ext cx="62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60-80%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15" name="Shape 22"/>
          <p:cNvSpPr/>
          <p:nvPr/>
        </p:nvSpPr>
        <p:spPr>
          <a:xfrm>
            <a:off x="666720" y="590544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6" name="Shape 23"/>
          <p:cNvSpPr/>
          <p:nvPr/>
        </p:nvSpPr>
        <p:spPr>
          <a:xfrm>
            <a:off x="682560" y="5921280"/>
            <a:ext cx="3473280" cy="60120"/>
          </a:xfrm>
          <a:custGeom>
            <a:avLst/>
            <a:gdLst/>
            <a:ahLst/>
            <a:rect l="l" t="t" r="r" b="b"/>
            <a:pathLst>
              <a:path w="3476625" h="63500">
                <a:moveTo>
                  <a:pt x="0" y="0"/>
                </a:moveTo>
                <a:lnTo>
                  <a:pt x="3476625" y="0"/>
                </a:lnTo>
                <a:lnTo>
                  <a:pt x="34766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17" name="Shape 24"/>
          <p:cNvSpPr/>
          <p:nvPr/>
        </p:nvSpPr>
        <p:spPr>
          <a:xfrm>
            <a:off x="539640" y="62546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18" name="Text 25"/>
          <p:cNvSpPr/>
          <p:nvPr/>
        </p:nvSpPr>
        <p:spPr>
          <a:xfrm>
            <a:off x="650880" y="6381720"/>
            <a:ext cx="14414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Hardware Depreciation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19" name="Text 26"/>
          <p:cNvSpPr/>
          <p:nvPr/>
        </p:nvSpPr>
        <p:spPr>
          <a:xfrm>
            <a:off x="5136120" y="6365880"/>
            <a:ext cx="6238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10-20%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0" name="Shape 27"/>
          <p:cNvSpPr/>
          <p:nvPr/>
        </p:nvSpPr>
        <p:spPr>
          <a:xfrm>
            <a:off x="666720" y="663588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1" name="Shape 28"/>
          <p:cNvSpPr/>
          <p:nvPr/>
        </p:nvSpPr>
        <p:spPr>
          <a:xfrm>
            <a:off x="682560" y="6651720"/>
            <a:ext cx="743040" cy="60120"/>
          </a:xfrm>
          <a:custGeom>
            <a:avLst/>
            <a:gdLst/>
            <a:ahLst/>
            <a:rect l="l" t="t" r="r" b="b"/>
            <a:pathLst>
              <a:path w="746125" h="63500">
                <a:moveTo>
                  <a:pt x="0" y="0"/>
                </a:moveTo>
                <a:lnTo>
                  <a:pt x="746125" y="0"/>
                </a:lnTo>
                <a:lnTo>
                  <a:pt x="74612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4a5565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2" name="Shape 29"/>
          <p:cNvSpPr/>
          <p:nvPr/>
        </p:nvSpPr>
        <p:spPr>
          <a:xfrm>
            <a:off x="539640" y="69850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3" name="Text 30"/>
          <p:cNvSpPr/>
          <p:nvPr/>
        </p:nvSpPr>
        <p:spPr>
          <a:xfrm>
            <a:off x="650880" y="7112160"/>
            <a:ext cx="12351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Facilities &amp; Cooling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4" name="Text 31"/>
          <p:cNvSpPr/>
          <p:nvPr/>
        </p:nvSpPr>
        <p:spPr>
          <a:xfrm>
            <a:off x="5224320" y="7095960"/>
            <a:ext cx="536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5-10%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25" name="Shape 32"/>
          <p:cNvSpPr/>
          <p:nvPr/>
        </p:nvSpPr>
        <p:spPr>
          <a:xfrm>
            <a:off x="666720" y="736596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6" name="Shape 33"/>
          <p:cNvSpPr/>
          <p:nvPr/>
        </p:nvSpPr>
        <p:spPr>
          <a:xfrm>
            <a:off x="682560" y="7381800"/>
            <a:ext cx="393480" cy="60120"/>
          </a:xfrm>
          <a:custGeom>
            <a:avLst/>
            <a:gdLst/>
            <a:ahLst/>
            <a:rect l="l" t="t" r="r" b="b"/>
            <a:pathLst>
              <a:path w="396875" h="63500">
                <a:moveTo>
                  <a:pt x="0" y="0"/>
                </a:moveTo>
                <a:lnTo>
                  <a:pt x="396875" y="0"/>
                </a:lnTo>
                <a:lnTo>
                  <a:pt x="396875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6a72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27" name="Shape 34"/>
          <p:cNvSpPr/>
          <p:nvPr/>
        </p:nvSpPr>
        <p:spPr>
          <a:xfrm>
            <a:off x="539640" y="77151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28" name="Text 35"/>
          <p:cNvSpPr/>
          <p:nvPr/>
        </p:nvSpPr>
        <p:spPr>
          <a:xfrm>
            <a:off x="650880" y="7842240"/>
            <a:ext cx="14256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Personnel &amp; Overhead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29" name="Text 36"/>
          <p:cNvSpPr/>
          <p:nvPr/>
        </p:nvSpPr>
        <p:spPr>
          <a:xfrm>
            <a:off x="5312520" y="7826400"/>
            <a:ext cx="449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3-5%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630" name="Shape 37"/>
          <p:cNvSpPr/>
          <p:nvPr/>
        </p:nvSpPr>
        <p:spPr>
          <a:xfrm>
            <a:off x="666720" y="8096400"/>
            <a:ext cx="4997520" cy="92160"/>
          </a:xfrm>
          <a:custGeom>
            <a:avLst/>
            <a:gdLst/>
            <a:ahLst/>
            <a:rect l="l" t="t" r="r" b="b"/>
            <a:pathLst>
              <a:path w="5000625" h="95250">
                <a:moveTo>
                  <a:pt x="0" y="0"/>
                </a:moveTo>
                <a:lnTo>
                  <a:pt x="5000625" y="0"/>
                </a:lnTo>
                <a:lnTo>
                  <a:pt x="500062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1" name="Shape 38"/>
          <p:cNvSpPr/>
          <p:nvPr/>
        </p:nvSpPr>
        <p:spPr>
          <a:xfrm>
            <a:off x="682560" y="8112240"/>
            <a:ext cx="195120" cy="60120"/>
          </a:xfrm>
          <a:custGeom>
            <a:avLst/>
            <a:gdLst/>
            <a:ahLst/>
            <a:rect l="l" t="t" r="r" b="b"/>
            <a:pathLst>
              <a:path w="198438" h="63500">
                <a:moveTo>
                  <a:pt x="0" y="0"/>
                </a:moveTo>
                <a:lnTo>
                  <a:pt x="198438" y="0"/>
                </a:lnTo>
                <a:lnTo>
                  <a:pt x="198438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99a1a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32" name="Shape 39"/>
          <p:cNvSpPr/>
          <p:nvPr/>
        </p:nvSpPr>
        <p:spPr>
          <a:xfrm>
            <a:off x="6199200" y="1357200"/>
            <a:ext cx="5648400" cy="3727440"/>
          </a:xfrm>
          <a:custGeom>
            <a:avLst/>
            <a:gdLst/>
            <a:ahLst/>
            <a:rect l="l" t="t" r="r" b="b"/>
            <a:pathLst>
              <a:path w="5651500" h="3730625">
                <a:moveTo>
                  <a:pt x="0" y="0"/>
                </a:moveTo>
                <a:lnTo>
                  <a:pt x="5651500" y="0"/>
                </a:lnTo>
                <a:lnTo>
                  <a:pt x="5651500" y="3730625"/>
                </a:lnTo>
                <a:lnTo>
                  <a:pt x="0" y="3730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33" name="Text 40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HASH RATE CONCENTRATION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34" name="Shape 41"/>
          <p:cNvSpPr/>
          <p:nvPr/>
        </p:nvSpPr>
        <p:spPr>
          <a:xfrm>
            <a:off x="6397560" y="1936800"/>
            <a:ext cx="5251320" cy="981000"/>
          </a:xfrm>
          <a:custGeom>
            <a:avLst/>
            <a:gdLst/>
            <a:ahLst/>
            <a:rect l="l" t="t" r="r" b="b"/>
            <a:pathLst>
              <a:path w="5254625" h="984250">
                <a:moveTo>
                  <a:pt x="0" y="0"/>
                </a:moveTo>
                <a:lnTo>
                  <a:pt x="5254625" y="0"/>
                </a:lnTo>
                <a:lnTo>
                  <a:pt x="5254625" y="984250"/>
                </a:lnTo>
                <a:lnTo>
                  <a:pt x="0" y="984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5" name="Text 42"/>
          <p:cNvSpPr/>
          <p:nvPr/>
        </p:nvSpPr>
        <p:spPr>
          <a:xfrm>
            <a:off x="6508800" y="2048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Top 5 Mining Pools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36" name="Text 43"/>
          <p:cNvSpPr/>
          <p:nvPr/>
        </p:nvSpPr>
        <p:spPr>
          <a:xfrm>
            <a:off x="6508800" y="2301840"/>
            <a:ext cx="735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~55%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637" name="Text 44"/>
          <p:cNvSpPr/>
          <p:nvPr/>
        </p:nvSpPr>
        <p:spPr>
          <a:xfrm>
            <a:off x="7188120" y="2365200"/>
            <a:ext cx="12668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of total network hashrate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38" name="Shape 45"/>
          <p:cNvSpPr/>
          <p:nvPr/>
        </p:nvSpPr>
        <p:spPr>
          <a:xfrm>
            <a:off x="6524640" y="266688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39" name="Shape 46"/>
          <p:cNvSpPr/>
          <p:nvPr/>
        </p:nvSpPr>
        <p:spPr>
          <a:xfrm>
            <a:off x="6540480" y="2682720"/>
            <a:ext cx="2727360" cy="92160"/>
          </a:xfrm>
          <a:custGeom>
            <a:avLst/>
            <a:gdLst/>
            <a:ahLst/>
            <a:rect l="l" t="t" r="r" b="b"/>
            <a:pathLst>
              <a:path w="2730500" h="95250">
                <a:moveTo>
                  <a:pt x="0" y="0"/>
                </a:moveTo>
                <a:lnTo>
                  <a:pt x="2730500" y="0"/>
                </a:lnTo>
                <a:lnTo>
                  <a:pt x="273050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40" name="Shape 47"/>
          <p:cNvSpPr/>
          <p:nvPr/>
        </p:nvSpPr>
        <p:spPr>
          <a:xfrm>
            <a:off x="6397560" y="304812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1" name="Text 48"/>
          <p:cNvSpPr/>
          <p:nvPr/>
        </p:nvSpPr>
        <p:spPr>
          <a:xfrm>
            <a:off x="6508800" y="31590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Foundry USA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2" name="Text 49"/>
          <p:cNvSpPr/>
          <p:nvPr/>
        </p:nvSpPr>
        <p:spPr>
          <a:xfrm>
            <a:off x="6508800" y="338148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~35%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3" name="Text 50"/>
          <p:cNvSpPr/>
          <p:nvPr/>
        </p:nvSpPr>
        <p:spPr>
          <a:xfrm>
            <a:off x="6508800" y="36352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Largest mining pool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4" name="Shape 51"/>
          <p:cNvSpPr/>
          <p:nvPr/>
        </p:nvSpPr>
        <p:spPr>
          <a:xfrm>
            <a:off x="6397560" y="403236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45" name="Text 52"/>
          <p:cNvSpPr/>
          <p:nvPr/>
        </p:nvSpPr>
        <p:spPr>
          <a:xfrm>
            <a:off x="6508800" y="41432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Publicly Traded Miners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46" name="Text 53"/>
          <p:cNvSpPr/>
          <p:nvPr/>
        </p:nvSpPr>
        <p:spPr>
          <a:xfrm>
            <a:off x="6508800" y="436572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~25%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47" name="Text 54"/>
          <p:cNvSpPr/>
          <p:nvPr/>
        </p:nvSpPr>
        <p:spPr>
          <a:xfrm>
            <a:off x="6508800" y="46195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Marathon, Riot, CleanSpark, etc.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48" name="Shape 55"/>
          <p:cNvSpPr/>
          <p:nvPr/>
        </p:nvSpPr>
        <p:spPr>
          <a:xfrm>
            <a:off x="6199200" y="5262480"/>
            <a:ext cx="5648400" cy="3917880"/>
          </a:xfrm>
          <a:custGeom>
            <a:avLst/>
            <a:gdLst/>
            <a:ahLst/>
            <a:rect l="l" t="t" r="r" b="b"/>
            <a:pathLst>
              <a:path w="5651500" h="3921125">
                <a:moveTo>
                  <a:pt x="0" y="0"/>
                </a:moveTo>
                <a:lnTo>
                  <a:pt x="5651500" y="0"/>
                </a:lnTo>
                <a:lnTo>
                  <a:pt x="5651500" y="3921125"/>
                </a:lnTo>
                <a:lnTo>
                  <a:pt x="0" y="3921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49" name="Text 56"/>
          <p:cNvSpPr/>
          <p:nvPr/>
        </p:nvSpPr>
        <p:spPr>
          <a:xfrm>
            <a:off x="6381720" y="544500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POST-HALVING REALITY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0" name="Shape 57"/>
          <p:cNvSpPr/>
          <p:nvPr/>
        </p:nvSpPr>
        <p:spPr>
          <a:xfrm>
            <a:off x="6397560" y="5842080"/>
            <a:ext cx="5251320" cy="853920"/>
          </a:xfrm>
          <a:custGeom>
            <a:avLst/>
            <a:gdLst/>
            <a:ahLst/>
            <a:rect l="l" t="t" r="r" b="b"/>
            <a:pathLst>
              <a:path w="5254625" h="857250">
                <a:moveTo>
                  <a:pt x="0" y="0"/>
                </a:moveTo>
                <a:lnTo>
                  <a:pt x="5254625" y="0"/>
                </a:lnTo>
                <a:lnTo>
                  <a:pt x="5254625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1" name="Text 58"/>
          <p:cNvSpPr/>
          <p:nvPr/>
        </p:nvSpPr>
        <p:spPr>
          <a:xfrm>
            <a:off x="6508800" y="59529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Breakeven Electricity Rate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2" name="Text 59"/>
          <p:cNvSpPr/>
          <p:nvPr/>
        </p:nvSpPr>
        <p:spPr>
          <a:xfrm>
            <a:off x="6508800" y="6175440"/>
            <a:ext cx="512424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$0.05-0.08/kWh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53" name="Text 60"/>
          <p:cNvSpPr/>
          <p:nvPr/>
        </p:nvSpPr>
        <p:spPr>
          <a:xfrm>
            <a:off x="6508800" y="64292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For efficient ASIC miners at $75K BTC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54" name="Shape 61"/>
          <p:cNvSpPr/>
          <p:nvPr/>
        </p:nvSpPr>
        <p:spPr>
          <a:xfrm>
            <a:off x="6397560" y="682632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5" name="Text 62"/>
          <p:cNvSpPr/>
          <p:nvPr/>
        </p:nvSpPr>
        <p:spPr>
          <a:xfrm>
            <a:off x="6508800" y="69372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Industry Consolidation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6" name="Text 63"/>
          <p:cNvSpPr/>
          <p:nvPr/>
        </p:nvSpPr>
        <p:spPr>
          <a:xfrm>
            <a:off x="6508800" y="71596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Small miners shut down, large operations with cheap electricity dominate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7" name="Shape 64"/>
          <p:cNvSpPr/>
          <p:nvPr/>
        </p:nvSpPr>
        <p:spPr>
          <a:xfrm>
            <a:off x="6397560" y="758808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58" name="Text 65"/>
          <p:cNvSpPr/>
          <p:nvPr/>
        </p:nvSpPr>
        <p:spPr>
          <a:xfrm>
            <a:off x="6508800" y="7699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Shift to Fee Revenue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59" name="Text 66"/>
          <p:cNvSpPr/>
          <p:nvPr/>
        </p:nvSpPr>
        <p:spPr>
          <a:xfrm>
            <a:off x="6508800" y="79218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Miners increasingly dependent on transaction fees as subsidy declines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0" name="Shape 67"/>
          <p:cNvSpPr/>
          <p:nvPr/>
        </p:nvSpPr>
        <p:spPr>
          <a:xfrm>
            <a:off x="6397560" y="8350200"/>
            <a:ext cx="5251320" cy="631800"/>
          </a:xfrm>
          <a:custGeom>
            <a:avLst/>
            <a:gdLst/>
            <a:ahLst/>
            <a:rect l="l" t="t" r="r" b="b"/>
            <a:pathLst>
              <a:path w="5254625" h="635000">
                <a:moveTo>
                  <a:pt x="0" y="0"/>
                </a:moveTo>
                <a:lnTo>
                  <a:pt x="5254625" y="0"/>
                </a:lnTo>
                <a:lnTo>
                  <a:pt x="5254625" y="635000"/>
                </a:lnTo>
                <a:lnTo>
                  <a:pt x="0" y="635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1" name="Text 68"/>
          <p:cNvSpPr/>
          <p:nvPr/>
        </p:nvSpPr>
        <p:spPr>
          <a:xfrm>
            <a:off x="6508800" y="84614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Renewable Energy Trend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62" name="Text 69"/>
          <p:cNvSpPr/>
          <p:nvPr/>
        </p:nvSpPr>
        <p:spPr>
          <a:xfrm>
            <a:off x="6508800" y="86835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 (hydro, wind, solar)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5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66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67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68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08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DIGITAL GOLD THESIS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670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1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Store of Value Debate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672" name="Shape 8"/>
          <p:cNvSpPr/>
          <p:nvPr/>
        </p:nvSpPr>
        <p:spPr>
          <a:xfrm>
            <a:off x="4779000" y="5686560"/>
            <a:ext cx="6997680" cy="815760"/>
          </a:xfrm>
          <a:custGeom>
            <a:avLst/>
            <a:gdLst/>
            <a:ahLst/>
            <a:rect l="l" t="t" r="r" b="b"/>
            <a:pathLst>
              <a:path w="7000875" h="819150">
                <a:moveTo>
                  <a:pt x="0" y="0"/>
                </a:moveTo>
                <a:lnTo>
                  <a:pt x="7000875" y="0"/>
                </a:lnTo>
                <a:lnTo>
                  <a:pt x="70008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3" name="Text 9"/>
          <p:cNvSpPr/>
          <p:nvPr/>
        </p:nvSpPr>
        <p:spPr>
          <a:xfrm>
            <a:off x="5036400" y="5943600"/>
            <a:ext cx="65977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Can Bitcoin Replace Gold as the Ultimate Store of Value?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4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75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VS GOLD: THE NEW STORE OF VALUE?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676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77" name="Shape 3"/>
          <p:cNvSpPr/>
          <p:nvPr/>
        </p:nvSpPr>
        <p:spPr>
          <a:xfrm>
            <a:off x="341280" y="1357200"/>
            <a:ext cx="5648400" cy="429876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678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679" name="Shape 5"/>
          <p:cNvSpPr/>
          <p:nvPr/>
        </p:nvSpPr>
        <p:spPr>
          <a:xfrm>
            <a:off x="539640" y="19368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0" name="Shape 6"/>
          <p:cNvSpPr/>
          <p:nvPr/>
        </p:nvSpPr>
        <p:spPr>
          <a:xfrm>
            <a:off x="650880" y="21114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1" name="Text 7"/>
          <p:cNvSpPr/>
          <p:nvPr/>
        </p:nvSpPr>
        <p:spPr>
          <a:xfrm>
            <a:off x="841320" y="2048040"/>
            <a:ext cx="32194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Portability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2" name="Text 8"/>
          <p:cNvSpPr/>
          <p:nvPr/>
        </p:nvSpPr>
        <p:spPr>
          <a:xfrm>
            <a:off x="841320" y="2270160"/>
            <a:ext cx="32115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Transfer $1B across borders in minutes vs. tons of physical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3" name="Shape 9"/>
          <p:cNvSpPr/>
          <p:nvPr/>
        </p:nvSpPr>
        <p:spPr>
          <a:xfrm>
            <a:off x="539640" y="26668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4" name="Shape 10"/>
          <p:cNvSpPr/>
          <p:nvPr/>
        </p:nvSpPr>
        <p:spPr>
          <a:xfrm>
            <a:off x="650880" y="284148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5" name="Text 11"/>
          <p:cNvSpPr/>
          <p:nvPr/>
        </p:nvSpPr>
        <p:spPr>
          <a:xfrm>
            <a:off x="841320" y="2778120"/>
            <a:ext cx="3449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Divisibility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86" name="Text 12"/>
          <p:cNvSpPr/>
          <p:nvPr/>
        </p:nvSpPr>
        <p:spPr>
          <a:xfrm>
            <a:off x="841320" y="3000240"/>
            <a:ext cx="3441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Divisible to 8 decimal places (0.00000001 BTC) vs. gold bars/ounces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87" name="Shape 13"/>
          <p:cNvSpPr/>
          <p:nvPr/>
        </p:nvSpPr>
        <p:spPr>
          <a:xfrm>
            <a:off x="539640" y="33973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88" name="Shape 14"/>
          <p:cNvSpPr/>
          <p:nvPr/>
        </p:nvSpPr>
        <p:spPr>
          <a:xfrm>
            <a:off x="650880" y="35719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89" name="Text 15"/>
          <p:cNvSpPr/>
          <p:nvPr/>
        </p:nvSpPr>
        <p:spPr>
          <a:xfrm>
            <a:off x="841320" y="3508200"/>
            <a:ext cx="2806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Verifiability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0" name="Text 16"/>
          <p:cNvSpPr/>
          <p:nvPr/>
        </p:nvSpPr>
        <p:spPr>
          <a:xfrm>
            <a:off x="841320" y="3730680"/>
            <a:ext cx="2798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Cryptographic proof vs. expensive purity testing for gold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1" name="Shape 17"/>
          <p:cNvSpPr/>
          <p:nvPr/>
        </p:nvSpPr>
        <p:spPr>
          <a:xfrm>
            <a:off x="539640" y="41274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2" name="Shape 18"/>
          <p:cNvSpPr/>
          <p:nvPr/>
        </p:nvSpPr>
        <p:spPr>
          <a:xfrm>
            <a:off x="650880" y="43020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3" name="Text 19"/>
          <p:cNvSpPr/>
          <p:nvPr/>
        </p:nvSpPr>
        <p:spPr>
          <a:xfrm>
            <a:off x="841320" y="4238640"/>
            <a:ext cx="32353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Fixed Supply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4" name="Text 20"/>
          <p:cNvSpPr/>
          <p:nvPr/>
        </p:nvSpPr>
        <p:spPr>
          <a:xfrm>
            <a:off x="841320" y="4460760"/>
            <a:ext cx="3227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21M BTC hard cap vs. unknown total gold supply in Earth's crust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5" name="Shape 21"/>
          <p:cNvSpPr/>
          <p:nvPr/>
        </p:nvSpPr>
        <p:spPr>
          <a:xfrm>
            <a:off x="539640" y="4857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696" name="Shape 22"/>
          <p:cNvSpPr/>
          <p:nvPr/>
        </p:nvSpPr>
        <p:spPr>
          <a:xfrm>
            <a:off x="650880" y="503244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697" name="Text 23"/>
          <p:cNvSpPr/>
          <p:nvPr/>
        </p:nvSpPr>
        <p:spPr>
          <a:xfrm>
            <a:off x="841320" y="4968720"/>
            <a:ext cx="29970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Programmable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698" name="Text 24"/>
          <p:cNvSpPr/>
          <p:nvPr/>
        </p:nvSpPr>
        <p:spPr>
          <a:xfrm>
            <a:off x="841320" y="5191200"/>
            <a:ext cx="2989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Smart contracts, multisig, time-locks vs. inert physical metal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699" name="Shape 25"/>
          <p:cNvSpPr/>
          <p:nvPr/>
        </p:nvSpPr>
        <p:spPr>
          <a:xfrm>
            <a:off x="341280" y="5834160"/>
            <a:ext cx="5648400" cy="385452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00" name="Text 26"/>
          <p:cNvSpPr/>
          <p:nvPr/>
        </p:nvSpPr>
        <p:spPr>
          <a:xfrm>
            <a:off x="523800" y="60166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PERFORMANCE COMPARISON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01" name="Text 27"/>
          <p:cNvSpPr/>
          <p:nvPr/>
        </p:nvSpPr>
        <p:spPr>
          <a:xfrm>
            <a:off x="523800" y="6397560"/>
            <a:ext cx="53467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5-Year Returns (2020-2025):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2" name="Shape 28"/>
          <p:cNvSpPr/>
          <p:nvPr/>
        </p:nvSpPr>
        <p:spPr>
          <a:xfrm>
            <a:off x="539640" y="669924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3" name="Text 29"/>
          <p:cNvSpPr/>
          <p:nvPr/>
        </p:nvSpPr>
        <p:spPr>
          <a:xfrm>
            <a:off x="650880" y="6858000"/>
            <a:ext cx="4888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4" name="Text 30"/>
          <p:cNvSpPr/>
          <p:nvPr/>
        </p:nvSpPr>
        <p:spPr>
          <a:xfrm>
            <a:off x="4935240" y="6810480"/>
            <a:ext cx="8618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+940%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05" name="Shape 31"/>
          <p:cNvSpPr/>
          <p:nvPr/>
        </p:nvSpPr>
        <p:spPr>
          <a:xfrm>
            <a:off x="666720" y="717552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6" name="Shape 32"/>
          <p:cNvSpPr/>
          <p:nvPr/>
        </p:nvSpPr>
        <p:spPr>
          <a:xfrm>
            <a:off x="682560" y="7191360"/>
            <a:ext cx="4965480" cy="92160"/>
          </a:xfrm>
          <a:custGeom>
            <a:avLst/>
            <a:gdLst/>
            <a:ahLst/>
            <a:rect l="l" t="t" r="r" b="b"/>
            <a:pathLst>
              <a:path w="4968875" h="95250">
                <a:moveTo>
                  <a:pt x="0" y="0"/>
                </a:moveTo>
                <a:lnTo>
                  <a:pt x="4968875" y="0"/>
                </a:lnTo>
                <a:lnTo>
                  <a:pt x="4968875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07" name="Shape 33"/>
          <p:cNvSpPr/>
          <p:nvPr/>
        </p:nvSpPr>
        <p:spPr>
          <a:xfrm>
            <a:off x="539640" y="755640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08" name="Text 34"/>
          <p:cNvSpPr/>
          <p:nvPr/>
        </p:nvSpPr>
        <p:spPr>
          <a:xfrm>
            <a:off x="650880" y="7715160"/>
            <a:ext cx="3459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09" name="Text 35"/>
          <p:cNvSpPr/>
          <p:nvPr/>
        </p:nvSpPr>
        <p:spPr>
          <a:xfrm>
            <a:off x="5067360" y="7667640"/>
            <a:ext cx="7351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+25%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10" name="Shape 36"/>
          <p:cNvSpPr/>
          <p:nvPr/>
        </p:nvSpPr>
        <p:spPr>
          <a:xfrm>
            <a:off x="666720" y="8032680"/>
            <a:ext cx="4997520" cy="123840"/>
          </a:xfrm>
          <a:custGeom>
            <a:avLst/>
            <a:gdLst/>
            <a:ahLst/>
            <a:rect l="l" t="t" r="r" b="b"/>
            <a:pathLst>
              <a:path w="5000625" h="127000">
                <a:moveTo>
                  <a:pt x="0" y="0"/>
                </a:moveTo>
                <a:lnTo>
                  <a:pt x="5000625" y="0"/>
                </a:lnTo>
                <a:lnTo>
                  <a:pt x="5000625" y="127000"/>
                </a:lnTo>
                <a:lnTo>
                  <a:pt x="0" y="127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1" name="Shape 37"/>
          <p:cNvSpPr/>
          <p:nvPr/>
        </p:nvSpPr>
        <p:spPr>
          <a:xfrm>
            <a:off x="682560" y="8048520"/>
            <a:ext cx="147600" cy="92160"/>
          </a:xfrm>
          <a:custGeom>
            <a:avLst/>
            <a:gdLst/>
            <a:ahLst/>
            <a:rect l="l" t="t" r="r" b="b"/>
            <a:pathLst>
              <a:path w="150813" h="95250">
                <a:moveTo>
                  <a:pt x="0" y="0"/>
                </a:moveTo>
                <a:lnTo>
                  <a:pt x="150813" y="0"/>
                </a:lnTo>
                <a:lnTo>
                  <a:pt x="150813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2" name="Shape 38"/>
          <p:cNvSpPr/>
          <p:nvPr/>
        </p:nvSpPr>
        <p:spPr>
          <a:xfrm>
            <a:off x="539640" y="8445600"/>
            <a:ext cx="5251320" cy="40968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3" name="Text 39"/>
          <p:cNvSpPr/>
          <p:nvPr/>
        </p:nvSpPr>
        <p:spPr>
          <a:xfrm>
            <a:off x="619200" y="85564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Bitcoin has outperformed gold by 37x over 5 years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4" name="Shape 40"/>
          <p:cNvSpPr/>
          <p:nvPr/>
        </p:nvSpPr>
        <p:spPr>
          <a:xfrm>
            <a:off x="6199200" y="1357200"/>
            <a:ext cx="5648400" cy="4298760"/>
          </a:xfrm>
          <a:custGeom>
            <a:avLst/>
            <a:gdLst/>
            <a:ahLst/>
            <a:rect l="l" t="t" r="r" b="b"/>
            <a:pathLst>
              <a:path w="5651500" h="4302125">
                <a:moveTo>
                  <a:pt x="0" y="0"/>
                </a:moveTo>
                <a:lnTo>
                  <a:pt x="5651500" y="0"/>
                </a:lnTo>
                <a:lnTo>
                  <a:pt x="5651500" y="4302125"/>
                </a:lnTo>
                <a:lnTo>
                  <a:pt x="0" y="4302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15" name="Text 41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GOLD'S ADVANTAGES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16" name="Shape 42"/>
          <p:cNvSpPr/>
          <p:nvPr/>
        </p:nvSpPr>
        <p:spPr>
          <a:xfrm>
            <a:off x="6397560" y="19368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17" name="Shape 43"/>
          <p:cNvSpPr/>
          <p:nvPr/>
        </p:nvSpPr>
        <p:spPr>
          <a:xfrm>
            <a:off x="6508800" y="21114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18" name="Text 44"/>
          <p:cNvSpPr/>
          <p:nvPr/>
        </p:nvSpPr>
        <p:spPr>
          <a:xfrm>
            <a:off x="6699240" y="2048040"/>
            <a:ext cx="31320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3,000+ Year Track Record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19" name="Text 45"/>
          <p:cNvSpPr/>
          <p:nvPr/>
        </p:nvSpPr>
        <p:spPr>
          <a:xfrm>
            <a:off x="6699240" y="2270160"/>
            <a:ext cx="31240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Proven store of value across civilizations vs. Bitcoin's 16 years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0" name="Shape 46"/>
          <p:cNvSpPr/>
          <p:nvPr/>
        </p:nvSpPr>
        <p:spPr>
          <a:xfrm>
            <a:off x="6397560" y="26668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1" name="Shape 47"/>
          <p:cNvSpPr/>
          <p:nvPr/>
        </p:nvSpPr>
        <p:spPr>
          <a:xfrm>
            <a:off x="6508800" y="284148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2" name="Text 48"/>
          <p:cNvSpPr/>
          <p:nvPr/>
        </p:nvSpPr>
        <p:spPr>
          <a:xfrm>
            <a:off x="6699240" y="2778120"/>
            <a:ext cx="27986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Physical Tangibility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3" name="Text 49"/>
          <p:cNvSpPr/>
          <p:nvPr/>
        </p:nvSpPr>
        <p:spPr>
          <a:xfrm>
            <a:off x="6699240" y="3000240"/>
            <a:ext cx="27907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Can hold in your hand, no internet or electricity required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4" name="Shape 50"/>
          <p:cNvSpPr/>
          <p:nvPr/>
        </p:nvSpPr>
        <p:spPr>
          <a:xfrm>
            <a:off x="6397560" y="33973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5" name="Shape 51"/>
          <p:cNvSpPr/>
          <p:nvPr/>
        </p:nvSpPr>
        <p:spPr>
          <a:xfrm>
            <a:off x="6508800" y="357192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26" name="Text 52"/>
          <p:cNvSpPr/>
          <p:nvPr/>
        </p:nvSpPr>
        <p:spPr>
          <a:xfrm>
            <a:off x="6699240" y="3508200"/>
            <a:ext cx="28544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Central Bank Demand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27" name="Text 53"/>
          <p:cNvSpPr/>
          <p:nvPr/>
        </p:nvSpPr>
        <p:spPr>
          <a:xfrm>
            <a:off x="6699240" y="3730680"/>
            <a:ext cx="284616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Record-high official gold purchases (1,000+ tonnes/year)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28" name="Shape 54"/>
          <p:cNvSpPr/>
          <p:nvPr/>
        </p:nvSpPr>
        <p:spPr>
          <a:xfrm>
            <a:off x="6397560" y="41274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29" name="Shape 55"/>
          <p:cNvSpPr/>
          <p:nvPr/>
        </p:nvSpPr>
        <p:spPr>
          <a:xfrm>
            <a:off x="6508800" y="430200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0" name="Text 56"/>
          <p:cNvSpPr/>
          <p:nvPr/>
        </p:nvSpPr>
        <p:spPr>
          <a:xfrm>
            <a:off x="6699240" y="4238640"/>
            <a:ext cx="25765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Lower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1" name="Text 57"/>
          <p:cNvSpPr/>
          <p:nvPr/>
        </p:nvSpPr>
        <p:spPr>
          <a:xfrm>
            <a:off x="6699240" y="4460760"/>
            <a:ext cx="2568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Gold's annual volatility ~15% vs. Bitcoin's ~60-80%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2" name="Shape 58"/>
          <p:cNvSpPr/>
          <p:nvPr/>
        </p:nvSpPr>
        <p:spPr>
          <a:xfrm>
            <a:off x="6397560" y="4857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3" name="Shape 59"/>
          <p:cNvSpPr/>
          <p:nvPr/>
        </p:nvSpPr>
        <p:spPr>
          <a:xfrm>
            <a:off x="6508800" y="5032440"/>
            <a:ext cx="92160" cy="92160"/>
          </a:xfrm>
          <a:custGeom>
            <a:avLst/>
            <a:gdLst/>
            <a:ahLst/>
            <a:rect l="l" t="t" r="r" b="b"/>
            <a:pathLst>
              <a:path w="95250" h="95250">
                <a:moveTo>
                  <a:pt x="0" y="0"/>
                </a:moveTo>
                <a:lnTo>
                  <a:pt x="95250" y="0"/>
                </a:lnTo>
                <a:lnTo>
                  <a:pt x="95250" y="95250"/>
                </a:lnTo>
                <a:lnTo>
                  <a:pt x="0" y="95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34" name="Text 60"/>
          <p:cNvSpPr/>
          <p:nvPr/>
        </p:nvSpPr>
        <p:spPr>
          <a:xfrm>
            <a:off x="6699240" y="4968720"/>
            <a:ext cx="3211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Industrial &amp; Jewelry Use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35" name="Text 61"/>
          <p:cNvSpPr/>
          <p:nvPr/>
        </p:nvSpPr>
        <p:spPr>
          <a:xfrm>
            <a:off x="6699240" y="5191200"/>
            <a:ext cx="3203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Real utility beyond speculation (electronics, dentistry, ornament)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36" name="Shape 62"/>
          <p:cNvSpPr/>
          <p:nvPr/>
        </p:nvSpPr>
        <p:spPr>
          <a:xfrm>
            <a:off x="6199200" y="5834160"/>
            <a:ext cx="5648400" cy="3854520"/>
          </a:xfrm>
          <a:custGeom>
            <a:avLst/>
            <a:gdLst/>
            <a:ahLst/>
            <a:rect l="l" t="t" r="r" b="b"/>
            <a:pathLst>
              <a:path w="5651500" h="3857625">
                <a:moveTo>
                  <a:pt x="0" y="0"/>
                </a:moveTo>
                <a:lnTo>
                  <a:pt x="5651500" y="0"/>
                </a:lnTo>
                <a:lnTo>
                  <a:pt x="5651500" y="3857625"/>
                </a:lnTo>
                <a:lnTo>
                  <a:pt x="0" y="3857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37" name="Text 63"/>
          <p:cNvSpPr/>
          <p:nvPr/>
        </p:nvSpPr>
        <p:spPr>
          <a:xfrm>
            <a:off x="6381720" y="601668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INFLATION HEDGE DEBATE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38" name="Shape 64"/>
          <p:cNvSpPr/>
          <p:nvPr/>
        </p:nvSpPr>
        <p:spPr>
          <a:xfrm>
            <a:off x="6397560" y="6413400"/>
            <a:ext cx="5251320" cy="1235160"/>
          </a:xfrm>
          <a:custGeom>
            <a:avLst/>
            <a:gdLst/>
            <a:ahLst/>
            <a:rect l="l" t="t" r="r" b="b"/>
            <a:pathLst>
              <a:path w="5254625" h="1238250">
                <a:moveTo>
                  <a:pt x="0" y="0"/>
                </a:moveTo>
                <a:lnTo>
                  <a:pt x="5254625" y="0"/>
                </a:lnTo>
                <a:lnTo>
                  <a:pt x="5254625" y="1238250"/>
                </a:lnTo>
                <a:lnTo>
                  <a:pt x="0" y="1238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39" name="Text 65"/>
          <p:cNvSpPr/>
          <p:nvPr/>
        </p:nvSpPr>
        <p:spPr>
          <a:xfrm>
            <a:off x="6508800" y="65246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2022 Inflation Test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0" name="Text 66"/>
          <p:cNvSpPr/>
          <p:nvPr/>
        </p:nvSpPr>
        <p:spPr>
          <a:xfrm>
            <a:off x="6508800" y="67788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U.S. inflation hit 9% (40-year high). How did assets perform?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41" name="Shape 67"/>
          <p:cNvSpPr/>
          <p:nvPr/>
        </p:nvSpPr>
        <p:spPr>
          <a:xfrm>
            <a:off x="6524640" y="7016760"/>
            <a:ext cx="2449440" cy="50472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2" name="Text 68"/>
          <p:cNvSpPr/>
          <p:nvPr/>
        </p:nvSpPr>
        <p:spPr>
          <a:xfrm>
            <a:off x="6568200" y="7095960"/>
            <a:ext cx="2361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e7000b"/>
                </a:solidFill>
                <a:latin typeface="MiSans"/>
                <a:ea typeface="MiSans"/>
              </a:rPr>
              <a:t>-60%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3" name="Text 69"/>
          <p:cNvSpPr/>
          <p:nvPr/>
        </p:nvSpPr>
        <p:spPr>
          <a:xfrm>
            <a:off x="6580080" y="7318440"/>
            <a:ext cx="23382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Bitcoin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4" name="Shape 70"/>
          <p:cNvSpPr/>
          <p:nvPr/>
        </p:nvSpPr>
        <p:spPr>
          <a:xfrm>
            <a:off x="9072720" y="7016760"/>
            <a:ext cx="2449440" cy="504720"/>
          </a:xfrm>
          <a:custGeom>
            <a:avLst/>
            <a:gdLst/>
            <a:ahLst/>
            <a:rect l="l" t="t" r="r" b="b"/>
            <a:pathLst>
              <a:path w="2452688" h="508000">
                <a:moveTo>
                  <a:pt x="0" y="0"/>
                </a:moveTo>
                <a:lnTo>
                  <a:pt x="2452688" y="0"/>
                </a:lnTo>
                <a:lnTo>
                  <a:pt x="2452688" y="508000"/>
                </a:lnTo>
                <a:lnTo>
                  <a:pt x="0" y="50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5" name="Text 71"/>
          <p:cNvSpPr/>
          <p:nvPr/>
        </p:nvSpPr>
        <p:spPr>
          <a:xfrm>
            <a:off x="9116280" y="7095960"/>
            <a:ext cx="2361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a63e"/>
                </a:solidFill>
                <a:latin typeface="MiSans"/>
                <a:ea typeface="MiSans"/>
              </a:rPr>
              <a:t>+0.5%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46" name="Text 72"/>
          <p:cNvSpPr/>
          <p:nvPr/>
        </p:nvSpPr>
        <p:spPr>
          <a:xfrm>
            <a:off x="9128160" y="7318440"/>
            <a:ext cx="2338200" cy="123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750" spc="-1" strike="noStrike">
                <a:solidFill>
                  <a:srgbClr val="000000"/>
                </a:solidFill>
                <a:latin typeface="MiSans"/>
                <a:ea typeface="MiSans"/>
              </a:rPr>
              <a:t>Gold</a:t>
            </a:r>
            <a:endParaRPr b="0" lang="en-HK" sz="750" spc="-1" strike="noStrike">
              <a:latin typeface="Arial"/>
            </a:endParaRPr>
          </a:p>
        </p:txBody>
      </p:sp>
      <p:sp>
        <p:nvSpPr>
          <p:cNvPr id="747" name="Shape 73"/>
          <p:cNvSpPr/>
          <p:nvPr/>
        </p:nvSpPr>
        <p:spPr>
          <a:xfrm>
            <a:off x="6397560" y="77788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48" name="Text 74"/>
          <p:cNvSpPr/>
          <p:nvPr/>
        </p:nvSpPr>
        <p:spPr>
          <a:xfrm>
            <a:off x="6508800" y="78897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Key Insight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49" name="Text 75"/>
          <p:cNvSpPr/>
          <p:nvPr/>
        </p:nvSpPr>
        <p:spPr>
          <a:xfrm>
            <a:off x="6508800" y="8143920"/>
            <a:ext cx="50846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has shown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high correlation with risk assets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(tech stocks) rather than acting as a crisis hedge like gold. During the 2022 bear market, BTC crashed alongside equities while gold held steady.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50" name="Shape 76"/>
          <p:cNvSpPr/>
          <p:nvPr/>
        </p:nvSpPr>
        <p:spPr>
          <a:xfrm>
            <a:off x="6397560" y="86994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1" name="Text 77"/>
          <p:cNvSpPr/>
          <p:nvPr/>
        </p:nvSpPr>
        <p:spPr>
          <a:xfrm>
            <a:off x="6508800" y="88106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Verdict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52" name="Text 78"/>
          <p:cNvSpPr/>
          <p:nvPr/>
        </p:nvSpPr>
        <p:spPr>
          <a:xfrm>
            <a:off x="6508800" y="9064800"/>
            <a:ext cx="50846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may become "digital gold" as it matures and volatility decreases, but </a:t>
            </a: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it hasn't consistently fulfilled that role yet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. Gold remains the proven safe haven.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5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56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57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09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758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59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SCALING SOLUTIONS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760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1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 &amp; Layer 2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762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3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Solving Bitcoin's Throughput Limitations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4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5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LIGHTNING NETWORK: BITCOIN'S PAYMENT LAYER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766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767" name="Shape 3"/>
          <p:cNvSpPr/>
          <p:nvPr/>
        </p:nvSpPr>
        <p:spPr>
          <a:xfrm>
            <a:off x="341280" y="1357200"/>
            <a:ext cx="5648400" cy="3346560"/>
          </a:xfrm>
          <a:custGeom>
            <a:avLst/>
            <a:gdLst/>
            <a:ahLst/>
            <a:rect l="l" t="t" r="r" b="b"/>
            <a:pathLst>
              <a:path w="5651500" h="3349625">
                <a:moveTo>
                  <a:pt x="0" y="0"/>
                </a:moveTo>
                <a:lnTo>
                  <a:pt x="5651500" y="0"/>
                </a:lnTo>
                <a:lnTo>
                  <a:pt x="5651500" y="3349625"/>
                </a:lnTo>
                <a:lnTo>
                  <a:pt x="0" y="33496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68" name="Text 4"/>
          <p:cNvSpPr/>
          <p:nvPr/>
        </p:nvSpPr>
        <p:spPr>
          <a:xfrm>
            <a:off x="52380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PROBLEM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69" name="Shape 5"/>
          <p:cNvSpPr/>
          <p:nvPr/>
        </p:nvSpPr>
        <p:spPr>
          <a:xfrm>
            <a:off x="53964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0" name="Text 6"/>
          <p:cNvSpPr/>
          <p:nvPr/>
        </p:nvSpPr>
        <p:spPr>
          <a:xfrm>
            <a:off x="682560" y="2111400"/>
            <a:ext cx="13539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Bitcoin Base Layer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1" name="Text 7"/>
          <p:cNvSpPr/>
          <p:nvPr/>
        </p:nvSpPr>
        <p:spPr>
          <a:xfrm>
            <a:off x="4850640" y="2079720"/>
            <a:ext cx="91764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~7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2" name="Text 8"/>
          <p:cNvSpPr/>
          <p:nvPr/>
        </p:nvSpPr>
        <p:spPr>
          <a:xfrm>
            <a:off x="68256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Transactions per second limited by block size and block time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3" name="Shape 9"/>
          <p:cNvSpPr/>
          <p:nvPr/>
        </p:nvSpPr>
        <p:spPr>
          <a:xfrm>
            <a:off x="53964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4" name="Text 10"/>
          <p:cNvSpPr/>
          <p:nvPr/>
        </p:nvSpPr>
        <p:spPr>
          <a:xfrm>
            <a:off x="682560" y="3032280"/>
            <a:ext cx="9651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Visa Network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775" name="Text 11"/>
          <p:cNvSpPr/>
          <p:nvPr/>
        </p:nvSpPr>
        <p:spPr>
          <a:xfrm>
            <a:off x="4393800" y="3000240"/>
            <a:ext cx="1369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65,000 TPS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76" name="Text 12"/>
          <p:cNvSpPr/>
          <p:nvPr/>
        </p:nvSpPr>
        <p:spPr>
          <a:xfrm>
            <a:off x="68256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Global payment network capacity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77" name="Shape 13"/>
          <p:cNvSpPr/>
          <p:nvPr/>
        </p:nvSpPr>
        <p:spPr>
          <a:xfrm>
            <a:off x="539640" y="3778200"/>
            <a:ext cx="5251320" cy="726840"/>
          </a:xfrm>
          <a:custGeom>
            <a:avLst/>
            <a:gdLst/>
            <a:ahLst/>
            <a:rect l="l" t="t" r="r" b="b"/>
            <a:pathLst>
              <a:path w="5254625" h="730250">
                <a:moveTo>
                  <a:pt x="0" y="0"/>
                </a:moveTo>
                <a:lnTo>
                  <a:pt x="5254625" y="0"/>
                </a:lnTo>
                <a:lnTo>
                  <a:pt x="5254625" y="730250"/>
                </a:lnTo>
                <a:lnTo>
                  <a:pt x="0" y="730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78" name="Text 14"/>
          <p:cNvSpPr/>
          <p:nvPr/>
        </p:nvSpPr>
        <p:spPr>
          <a:xfrm>
            <a:off x="682560" y="392112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Transaction Fees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79" name="Text 15"/>
          <p:cNvSpPr/>
          <p:nvPr/>
        </p:nvSpPr>
        <p:spPr>
          <a:xfrm>
            <a:off x="682560" y="4175280"/>
            <a:ext cx="50292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fees spike during congestion ($5-50+), making micropayments impractical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0" name="Shape 16"/>
          <p:cNvSpPr/>
          <p:nvPr/>
        </p:nvSpPr>
        <p:spPr>
          <a:xfrm>
            <a:off x="341280" y="4881600"/>
            <a:ext cx="5648400" cy="4552920"/>
          </a:xfrm>
          <a:custGeom>
            <a:avLst/>
            <a:gdLst/>
            <a:ahLst/>
            <a:rect l="l" t="t" r="r" b="b"/>
            <a:pathLst>
              <a:path w="5651500" h="4556125">
                <a:moveTo>
                  <a:pt x="0" y="0"/>
                </a:moveTo>
                <a:lnTo>
                  <a:pt x="5651500" y="0"/>
                </a:lnTo>
                <a:lnTo>
                  <a:pt x="5651500" y="4556125"/>
                </a:lnTo>
                <a:lnTo>
                  <a:pt x="0" y="4556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81" name="Text 17"/>
          <p:cNvSpPr/>
          <p:nvPr/>
        </p:nvSpPr>
        <p:spPr>
          <a:xfrm>
            <a:off x="523800" y="50641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HOW LIGHTNING WORKS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82" name="Shape 18"/>
          <p:cNvSpPr/>
          <p:nvPr/>
        </p:nvSpPr>
        <p:spPr>
          <a:xfrm>
            <a:off x="539640" y="54608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3" name="Text 19"/>
          <p:cNvSpPr/>
          <p:nvPr/>
        </p:nvSpPr>
        <p:spPr>
          <a:xfrm>
            <a:off x="650880" y="55720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1. Payment Channels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4" name="Text 20"/>
          <p:cNvSpPr/>
          <p:nvPr/>
        </p:nvSpPr>
        <p:spPr>
          <a:xfrm>
            <a:off x="650880" y="57942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Users lock BTC in multi-signature channels, enabling unlimited off-chain transactions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5" name="Shape 21"/>
          <p:cNvSpPr/>
          <p:nvPr/>
        </p:nvSpPr>
        <p:spPr>
          <a:xfrm>
            <a:off x="539640" y="61912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6" name="Text 22"/>
          <p:cNvSpPr/>
          <p:nvPr/>
        </p:nvSpPr>
        <p:spPr>
          <a:xfrm>
            <a:off x="650880" y="63025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2. Off-Chain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87" name="Text 23"/>
          <p:cNvSpPr/>
          <p:nvPr/>
        </p:nvSpPr>
        <p:spPr>
          <a:xfrm>
            <a:off x="650880" y="652464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Payments routed through network of channels without touching base layer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88" name="Shape 24"/>
          <p:cNvSpPr/>
          <p:nvPr/>
        </p:nvSpPr>
        <p:spPr>
          <a:xfrm>
            <a:off x="539640" y="692136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89" name="Text 25"/>
          <p:cNvSpPr/>
          <p:nvPr/>
        </p:nvSpPr>
        <p:spPr>
          <a:xfrm>
            <a:off x="650880" y="703260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3. Settlement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0" name="Text 26"/>
          <p:cNvSpPr/>
          <p:nvPr/>
        </p:nvSpPr>
        <p:spPr>
          <a:xfrm>
            <a:off x="650880" y="725472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Channel closes broadcast final balance to Bitcoin blockchain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1" name="Shape 27"/>
          <p:cNvSpPr/>
          <p:nvPr/>
        </p:nvSpPr>
        <p:spPr>
          <a:xfrm>
            <a:off x="539640" y="7651800"/>
            <a:ext cx="5251320" cy="409680"/>
          </a:xfrm>
          <a:custGeom>
            <a:avLst/>
            <a:gdLst/>
            <a:ahLst/>
            <a:rect l="l" t="t" r="r" b="b"/>
            <a:pathLst>
              <a:path w="5254625" h="412750">
                <a:moveTo>
                  <a:pt x="0" y="0"/>
                </a:moveTo>
                <a:lnTo>
                  <a:pt x="5254625" y="0"/>
                </a:lnTo>
                <a:lnTo>
                  <a:pt x="5254625" y="412750"/>
                </a:lnTo>
                <a:lnTo>
                  <a:pt x="0" y="412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2" name="Text 28"/>
          <p:cNvSpPr/>
          <p:nvPr/>
        </p:nvSpPr>
        <p:spPr>
          <a:xfrm>
            <a:off x="619200" y="77630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Result: Near-instant, sub-cent fees, millions of TPS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3" name="Shape 29"/>
          <p:cNvSpPr/>
          <p:nvPr/>
        </p:nvSpPr>
        <p:spPr>
          <a:xfrm>
            <a:off x="6199200" y="1357200"/>
            <a:ext cx="5648400" cy="4330800"/>
          </a:xfrm>
          <a:custGeom>
            <a:avLst/>
            <a:gdLst/>
            <a:ahLst/>
            <a:rect l="l" t="t" r="r" b="b"/>
            <a:pathLst>
              <a:path w="5651500" h="4333875">
                <a:moveTo>
                  <a:pt x="0" y="0"/>
                </a:moveTo>
                <a:lnTo>
                  <a:pt x="5651500" y="0"/>
                </a:lnTo>
                <a:lnTo>
                  <a:pt x="5651500" y="4333875"/>
                </a:lnTo>
                <a:lnTo>
                  <a:pt x="0" y="4333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794" name="Text 30"/>
          <p:cNvSpPr/>
          <p:nvPr/>
        </p:nvSpPr>
        <p:spPr>
          <a:xfrm>
            <a:off x="6381720" y="153972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ADOPTION METRICS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795" name="Shape 31"/>
          <p:cNvSpPr/>
          <p:nvPr/>
        </p:nvSpPr>
        <p:spPr>
          <a:xfrm>
            <a:off x="6397560" y="19368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96" name="Text 32"/>
          <p:cNvSpPr/>
          <p:nvPr/>
        </p:nvSpPr>
        <p:spPr>
          <a:xfrm>
            <a:off x="6540480" y="2127240"/>
            <a:ext cx="10443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Volume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797" name="Text 33"/>
          <p:cNvSpPr/>
          <p:nvPr/>
        </p:nvSpPr>
        <p:spPr>
          <a:xfrm>
            <a:off x="10741320" y="2079720"/>
            <a:ext cx="8856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$1.17B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798" name="Text 34"/>
          <p:cNvSpPr/>
          <p:nvPr/>
        </p:nvSpPr>
        <p:spPr>
          <a:xfrm>
            <a:off x="6540480" y="24289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November 2025 (River data)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799" name="Shape 35"/>
          <p:cNvSpPr/>
          <p:nvPr/>
        </p:nvSpPr>
        <p:spPr>
          <a:xfrm>
            <a:off x="6397560" y="28576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0" name="Text 36"/>
          <p:cNvSpPr/>
          <p:nvPr/>
        </p:nvSpPr>
        <p:spPr>
          <a:xfrm>
            <a:off x="6540480" y="3048120"/>
            <a:ext cx="13698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Monthly Transactions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1" name="Text 37"/>
          <p:cNvSpPr/>
          <p:nvPr/>
        </p:nvSpPr>
        <p:spPr>
          <a:xfrm>
            <a:off x="10847520" y="3000240"/>
            <a:ext cx="7747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5.22M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2" name="Text 38"/>
          <p:cNvSpPr/>
          <p:nvPr/>
        </p:nvSpPr>
        <p:spPr>
          <a:xfrm>
            <a:off x="6540480" y="33498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Average transaction size: ~$224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3" name="Shape 39"/>
          <p:cNvSpPr/>
          <p:nvPr/>
        </p:nvSpPr>
        <p:spPr>
          <a:xfrm>
            <a:off x="6397560" y="377820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4" name="Text 40"/>
          <p:cNvSpPr/>
          <p:nvPr/>
        </p:nvSpPr>
        <p:spPr>
          <a:xfrm>
            <a:off x="6540480" y="3968640"/>
            <a:ext cx="112392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Network Capacity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5" name="Text 41"/>
          <p:cNvSpPr/>
          <p:nvPr/>
        </p:nvSpPr>
        <p:spPr>
          <a:xfrm>
            <a:off x="10218960" y="3921120"/>
            <a:ext cx="140976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5,500+ BTC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06" name="Text 42"/>
          <p:cNvSpPr/>
          <p:nvPr/>
        </p:nvSpPr>
        <p:spPr>
          <a:xfrm>
            <a:off x="6540480" y="427032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Total BTC locked in channels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07" name="Shape 43"/>
          <p:cNvSpPr/>
          <p:nvPr/>
        </p:nvSpPr>
        <p:spPr>
          <a:xfrm>
            <a:off x="6397560" y="4699080"/>
            <a:ext cx="5251320" cy="790560"/>
          </a:xfrm>
          <a:custGeom>
            <a:avLst/>
            <a:gdLst/>
            <a:ahLst/>
            <a:rect l="l" t="t" r="r" b="b"/>
            <a:pathLst>
              <a:path w="5254625" h="793750">
                <a:moveTo>
                  <a:pt x="0" y="0"/>
                </a:moveTo>
                <a:lnTo>
                  <a:pt x="5254625" y="0"/>
                </a:lnTo>
                <a:lnTo>
                  <a:pt x="5254625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8" name="Text 44"/>
          <p:cNvSpPr/>
          <p:nvPr/>
        </p:nvSpPr>
        <p:spPr>
          <a:xfrm>
            <a:off x="6540480" y="4889520"/>
            <a:ext cx="86184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Active Nodes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09" name="Text 45"/>
          <p:cNvSpPr/>
          <p:nvPr/>
        </p:nvSpPr>
        <p:spPr>
          <a:xfrm>
            <a:off x="10641960" y="4842000"/>
            <a:ext cx="9810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0000"/>
                </a:solidFill>
                <a:latin typeface="Noto Sans SC"/>
                <a:ea typeface="Noto Sans SC"/>
              </a:rPr>
              <a:t>18,000+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810" name="Text 46"/>
          <p:cNvSpPr/>
          <p:nvPr/>
        </p:nvSpPr>
        <p:spPr>
          <a:xfrm>
            <a:off x="6540480" y="5191200"/>
            <a:ext cx="50212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Decentralized network participants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1" name="Shape 47"/>
          <p:cNvSpPr/>
          <p:nvPr/>
        </p:nvSpPr>
        <p:spPr>
          <a:xfrm>
            <a:off x="6199200" y="5865840"/>
            <a:ext cx="5648400" cy="3568680"/>
          </a:xfrm>
          <a:custGeom>
            <a:avLst/>
            <a:gdLst/>
            <a:ahLst/>
            <a:rect l="l" t="t" r="r" b="b"/>
            <a:pathLst>
              <a:path w="5651500" h="3571875">
                <a:moveTo>
                  <a:pt x="0" y="0"/>
                </a:moveTo>
                <a:lnTo>
                  <a:pt x="5651500" y="0"/>
                </a:lnTo>
                <a:lnTo>
                  <a:pt x="56515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12" name="Text 48"/>
          <p:cNvSpPr/>
          <p:nvPr/>
        </p:nvSpPr>
        <p:spPr>
          <a:xfrm>
            <a:off x="6381720" y="6048360"/>
            <a:ext cx="53784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●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REAL-WORLD USE CASES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813" name="Shape 49"/>
          <p:cNvSpPr/>
          <p:nvPr/>
        </p:nvSpPr>
        <p:spPr>
          <a:xfrm>
            <a:off x="6397560" y="644508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4" name="Text 50"/>
          <p:cNvSpPr/>
          <p:nvPr/>
        </p:nvSpPr>
        <p:spPr>
          <a:xfrm>
            <a:off x="6508800" y="655632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El Salvador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5" name="Text 51"/>
          <p:cNvSpPr/>
          <p:nvPr/>
        </p:nvSpPr>
        <p:spPr>
          <a:xfrm>
            <a:off x="6508800" y="67788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legal tender using Lightning for everyday payments (coffee, groceries)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6" name="Shape 52"/>
          <p:cNvSpPr/>
          <p:nvPr/>
        </p:nvSpPr>
        <p:spPr>
          <a:xfrm>
            <a:off x="6397560" y="717552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17" name="Text 53"/>
          <p:cNvSpPr/>
          <p:nvPr/>
        </p:nvSpPr>
        <p:spPr>
          <a:xfrm>
            <a:off x="6508800" y="728676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Strike App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18" name="Text 54"/>
          <p:cNvSpPr/>
          <p:nvPr/>
        </p:nvSpPr>
        <p:spPr>
          <a:xfrm>
            <a:off x="6508800" y="750888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Cross-border remittances: Send USD → Receiver gets local currency, sub-cent fees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19" name="Shape 55"/>
          <p:cNvSpPr/>
          <p:nvPr/>
        </p:nvSpPr>
        <p:spPr>
          <a:xfrm>
            <a:off x="6397560" y="790560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0" name="Text 56"/>
          <p:cNvSpPr/>
          <p:nvPr/>
        </p:nvSpPr>
        <p:spPr>
          <a:xfrm>
            <a:off x="6508800" y="801684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Streaming &amp; Gaming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1" name="Text 57"/>
          <p:cNvSpPr/>
          <p:nvPr/>
        </p:nvSpPr>
        <p:spPr>
          <a:xfrm>
            <a:off x="6508800" y="823896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Micropayments for content (pay-per-minute video, in-game purchases)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22" name="Shape 58"/>
          <p:cNvSpPr/>
          <p:nvPr/>
        </p:nvSpPr>
        <p:spPr>
          <a:xfrm>
            <a:off x="6397560" y="8636040"/>
            <a:ext cx="5251320" cy="600120"/>
          </a:xfrm>
          <a:custGeom>
            <a:avLst/>
            <a:gdLst/>
            <a:ahLst/>
            <a:rect l="l" t="t" r="r" b="b"/>
            <a:pathLst>
              <a:path w="5254625" h="603250">
                <a:moveTo>
                  <a:pt x="0" y="0"/>
                </a:moveTo>
                <a:lnTo>
                  <a:pt x="5254625" y="0"/>
                </a:lnTo>
                <a:lnTo>
                  <a:pt x="5254625" y="603250"/>
                </a:lnTo>
                <a:lnTo>
                  <a:pt x="0" y="6032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23" name="Text 59"/>
          <p:cNvSpPr/>
          <p:nvPr/>
        </p:nvSpPr>
        <p:spPr>
          <a:xfrm>
            <a:off x="6508800" y="8747280"/>
            <a:ext cx="509256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AI Agent Payments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24" name="Text 60"/>
          <p:cNvSpPr/>
          <p:nvPr/>
        </p:nvSpPr>
        <p:spPr>
          <a:xfrm>
            <a:off x="6508800" y="8969400"/>
            <a:ext cx="508464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Labs toolkit enables autonomous machine-to-machine transactions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5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6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7" name="Shape 1"/>
          <p:cNvSpPr/>
          <p:nvPr/>
        </p:nvSpPr>
        <p:spPr>
          <a:xfrm>
            <a:off x="3305160" y="352440"/>
            <a:ext cx="8474040" cy="4816440"/>
          </a:xfrm>
          <a:custGeom>
            <a:avLst/>
            <a:gdLst/>
            <a:ahLst/>
            <a:rect l="l" t="t" r="r" b="b"/>
            <a:pathLst>
              <a:path w="8477250" h="4819650">
                <a:moveTo>
                  <a:pt x="0" y="0"/>
                </a:moveTo>
                <a:lnTo>
                  <a:pt x="8477250" y="0"/>
                </a:lnTo>
                <a:lnTo>
                  <a:pt x="8477250" y="4819650"/>
                </a:lnTo>
                <a:lnTo>
                  <a:pt x="0" y="48196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28" name="Shape 2"/>
          <p:cNvSpPr/>
          <p:nvPr/>
        </p:nvSpPr>
        <p:spPr>
          <a:xfrm>
            <a:off x="10077480" y="83808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29" name="Shape 3"/>
          <p:cNvSpPr/>
          <p:nvPr/>
        </p:nvSpPr>
        <p:spPr>
          <a:xfrm>
            <a:off x="10410840" y="8668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0" name="Text 4"/>
          <p:cNvSpPr/>
          <p:nvPr/>
        </p:nvSpPr>
        <p:spPr>
          <a:xfrm>
            <a:off x="10267920" y="83808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10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831" name="Text 5"/>
          <p:cNvSpPr/>
          <p:nvPr/>
        </p:nvSpPr>
        <p:spPr>
          <a:xfrm>
            <a:off x="3448080" y="2057400"/>
            <a:ext cx="7845480" cy="171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&amp; RISKS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832" name="Shape 6"/>
          <p:cNvSpPr/>
          <p:nvPr/>
        </p:nvSpPr>
        <p:spPr>
          <a:xfrm>
            <a:off x="9468000" y="40006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3" name="Text 7"/>
          <p:cNvSpPr/>
          <p:nvPr/>
        </p:nvSpPr>
        <p:spPr>
          <a:xfrm>
            <a:off x="3619440" y="43052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Road Ahead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834" name="Shape 8"/>
          <p:cNvSpPr/>
          <p:nvPr/>
        </p:nvSpPr>
        <p:spPr>
          <a:xfrm>
            <a:off x="7293960" y="5686560"/>
            <a:ext cx="4483080" cy="815760"/>
          </a:xfrm>
          <a:custGeom>
            <a:avLst/>
            <a:gdLst/>
            <a:ahLst/>
            <a:rect l="l" t="t" r="r" b="b"/>
            <a:pathLst>
              <a:path w="4486275" h="819150">
                <a:moveTo>
                  <a:pt x="0" y="0"/>
                </a:moveTo>
                <a:lnTo>
                  <a:pt x="4486275" y="0"/>
                </a:lnTo>
                <a:lnTo>
                  <a:pt x="4486275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5" name="Text 9"/>
          <p:cNvSpPr/>
          <p:nvPr/>
        </p:nvSpPr>
        <p:spPr>
          <a:xfrm>
            <a:off x="7551000" y="5943600"/>
            <a:ext cx="408312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Obstacles Bitcoin Must Overcome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37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CRITICAL CHALLENGES: WHAT COULD GO WRONG?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838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839" name="Shape 3"/>
          <p:cNvSpPr/>
          <p:nvPr/>
        </p:nvSpPr>
        <p:spPr>
          <a:xfrm>
            <a:off x="34128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40" name="Shape 4"/>
          <p:cNvSpPr/>
          <p:nvPr/>
        </p:nvSpPr>
        <p:spPr>
          <a:xfrm>
            <a:off x="54756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1" name="Text 5"/>
          <p:cNvSpPr/>
          <p:nvPr/>
        </p:nvSpPr>
        <p:spPr>
          <a:xfrm>
            <a:off x="48420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2" name="Text 6"/>
          <p:cNvSpPr/>
          <p:nvPr/>
        </p:nvSpPr>
        <p:spPr>
          <a:xfrm>
            <a:off x="1000080" y="1619280"/>
            <a:ext cx="11239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SCALABILITY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43" name="Shape 7"/>
          <p:cNvSpPr/>
          <p:nvPr/>
        </p:nvSpPr>
        <p:spPr>
          <a:xfrm>
            <a:off x="53964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4" name="Text 8"/>
          <p:cNvSpPr/>
          <p:nvPr/>
        </p:nvSpPr>
        <p:spPr>
          <a:xfrm>
            <a:off x="65088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Base Layer Limitations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5" name="Text 9"/>
          <p:cNvSpPr/>
          <p:nvPr/>
        </p:nvSpPr>
        <p:spPr>
          <a:xfrm>
            <a:off x="65088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~7 TPS is insufficient for global payment network. Block size debates led to Bitcoin Cash fork in 2017.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6" name="Shape 10"/>
          <p:cNvSpPr/>
          <p:nvPr/>
        </p:nvSpPr>
        <p:spPr>
          <a:xfrm>
            <a:off x="53964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7" name="Text 11"/>
          <p:cNvSpPr/>
          <p:nvPr/>
        </p:nvSpPr>
        <p:spPr>
          <a:xfrm>
            <a:off x="65088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Fee Volatility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48" name="Text 12"/>
          <p:cNvSpPr/>
          <p:nvPr/>
        </p:nvSpPr>
        <p:spPr>
          <a:xfrm>
            <a:off x="65088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During congestion, fees spike to $5-50+, making small transactions uneconomical.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49" name="Shape 13"/>
          <p:cNvSpPr/>
          <p:nvPr/>
        </p:nvSpPr>
        <p:spPr>
          <a:xfrm>
            <a:off x="53964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0" name="Text 14"/>
          <p:cNvSpPr/>
          <p:nvPr/>
        </p:nvSpPr>
        <p:spPr>
          <a:xfrm>
            <a:off x="65088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1" name="Text 15"/>
          <p:cNvSpPr/>
          <p:nvPr/>
        </p:nvSpPr>
        <p:spPr>
          <a:xfrm>
            <a:off x="65088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 (Lightning, sidechains) process transactions off-chain, settling on base layer.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2" name="Shape 16"/>
          <p:cNvSpPr/>
          <p:nvPr/>
        </p:nvSpPr>
        <p:spPr>
          <a:xfrm>
            <a:off x="423612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53" name="Shape 17"/>
          <p:cNvSpPr/>
          <p:nvPr/>
        </p:nvSpPr>
        <p:spPr>
          <a:xfrm>
            <a:off x="444240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4" name="Text 18"/>
          <p:cNvSpPr/>
          <p:nvPr/>
        </p:nvSpPr>
        <p:spPr>
          <a:xfrm>
            <a:off x="437868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5" name="Text 19"/>
          <p:cNvSpPr/>
          <p:nvPr/>
        </p:nvSpPr>
        <p:spPr>
          <a:xfrm>
            <a:off x="4894920" y="1619280"/>
            <a:ext cx="1457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ENVIRONMENTAL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56" name="Shape 20"/>
          <p:cNvSpPr/>
          <p:nvPr/>
        </p:nvSpPr>
        <p:spPr>
          <a:xfrm>
            <a:off x="443448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57" name="Text 21"/>
          <p:cNvSpPr/>
          <p:nvPr/>
        </p:nvSpPr>
        <p:spPr>
          <a:xfrm>
            <a:off x="454536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Energy Consumption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58" name="Text 22"/>
          <p:cNvSpPr/>
          <p:nvPr/>
        </p:nvSpPr>
        <p:spPr>
          <a:xfrm>
            <a:off x="454536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uses ~150 TWh/year, comparable to Argentina or Poland. Critics argue this is wasteful.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59" name="Shape 23"/>
          <p:cNvSpPr/>
          <p:nvPr/>
        </p:nvSpPr>
        <p:spPr>
          <a:xfrm>
            <a:off x="443448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0" name="Text 24"/>
          <p:cNvSpPr/>
          <p:nvPr/>
        </p:nvSpPr>
        <p:spPr>
          <a:xfrm>
            <a:off x="454536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Carbon Footprint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1" name="Text 25"/>
          <p:cNvSpPr/>
          <p:nvPr/>
        </p:nvSpPr>
        <p:spPr>
          <a:xfrm>
            <a:off x="454536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Estimated 65-70 Mt CO2/year. Coal-powered mining in some regions contributes to climate change.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2" name="Shape 26"/>
          <p:cNvSpPr/>
          <p:nvPr/>
        </p:nvSpPr>
        <p:spPr>
          <a:xfrm>
            <a:off x="443448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3" name="Text 27"/>
          <p:cNvSpPr/>
          <p:nvPr/>
        </p:nvSpPr>
        <p:spPr>
          <a:xfrm>
            <a:off x="454536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64" name="Text 28"/>
          <p:cNvSpPr/>
          <p:nvPr/>
        </p:nvSpPr>
        <p:spPr>
          <a:xfrm>
            <a:off x="454536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~55% of mining uses renewable energy. Stranded energy (flared gas, hydro surplus) increasingly utilized.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65" name="Shape 29"/>
          <p:cNvSpPr/>
          <p:nvPr/>
        </p:nvSpPr>
        <p:spPr>
          <a:xfrm>
            <a:off x="8130600" y="135720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66" name="Shape 30"/>
          <p:cNvSpPr/>
          <p:nvPr/>
        </p:nvSpPr>
        <p:spPr>
          <a:xfrm>
            <a:off x="8336880" y="156384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67" name="Text 31"/>
          <p:cNvSpPr/>
          <p:nvPr/>
        </p:nvSpPr>
        <p:spPr>
          <a:xfrm>
            <a:off x="8273520" y="153972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8" name="Text 32"/>
          <p:cNvSpPr/>
          <p:nvPr/>
        </p:nvSpPr>
        <p:spPr>
          <a:xfrm>
            <a:off x="8789400" y="1619280"/>
            <a:ext cx="11872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REGULATORY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69" name="Shape 33"/>
          <p:cNvSpPr/>
          <p:nvPr/>
        </p:nvSpPr>
        <p:spPr>
          <a:xfrm>
            <a:off x="8328960" y="20638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0" name="Text 34"/>
          <p:cNvSpPr/>
          <p:nvPr/>
        </p:nvSpPr>
        <p:spPr>
          <a:xfrm>
            <a:off x="8440200" y="217476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Government Bans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1" name="Text 35"/>
          <p:cNvSpPr/>
          <p:nvPr/>
        </p:nvSpPr>
        <p:spPr>
          <a:xfrm>
            <a:off x="8440200" y="24289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China banned mining and trading in 2021. Other countries could follow, restricting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2" name="Shape 36"/>
          <p:cNvSpPr/>
          <p:nvPr/>
        </p:nvSpPr>
        <p:spPr>
          <a:xfrm>
            <a:off x="8328960" y="298440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3" name="Text 37"/>
          <p:cNvSpPr/>
          <p:nvPr/>
        </p:nvSpPr>
        <p:spPr>
          <a:xfrm>
            <a:off x="8440200" y="309564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Taxation &amp; Reporting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4" name="Text 38"/>
          <p:cNvSpPr/>
          <p:nvPr/>
        </p:nvSpPr>
        <p:spPr>
          <a:xfrm>
            <a:off x="8440200" y="334980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Complex tax treatment. Heavy reporting requirements could deter mainstream adoption.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5" name="Shape 39"/>
          <p:cNvSpPr/>
          <p:nvPr/>
        </p:nvSpPr>
        <p:spPr>
          <a:xfrm>
            <a:off x="8328960" y="390528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76" name="Text 40"/>
          <p:cNvSpPr/>
          <p:nvPr/>
        </p:nvSpPr>
        <p:spPr>
          <a:xfrm>
            <a:off x="8440200" y="401652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77" name="Text 41"/>
          <p:cNvSpPr/>
          <p:nvPr/>
        </p:nvSpPr>
        <p:spPr>
          <a:xfrm>
            <a:off x="8440200" y="427032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Regulatory clarity emerging (US ETF approval, EU MiCA). Compliance infrastructure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78" name="Shape 42"/>
          <p:cNvSpPr/>
          <p:nvPr/>
        </p:nvSpPr>
        <p:spPr>
          <a:xfrm>
            <a:off x="34128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79" name="Shape 43"/>
          <p:cNvSpPr/>
          <p:nvPr/>
        </p:nvSpPr>
        <p:spPr>
          <a:xfrm>
            <a:off x="54756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0" name="Text 44"/>
          <p:cNvSpPr/>
          <p:nvPr/>
        </p:nvSpPr>
        <p:spPr>
          <a:xfrm>
            <a:off x="48420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1" name="Text 45"/>
          <p:cNvSpPr/>
          <p:nvPr/>
        </p:nvSpPr>
        <p:spPr>
          <a:xfrm>
            <a:off x="1000080" y="5334120"/>
            <a:ext cx="11793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COMPETITION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82" name="Shape 46"/>
          <p:cNvSpPr/>
          <p:nvPr/>
        </p:nvSpPr>
        <p:spPr>
          <a:xfrm>
            <a:off x="53964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3" name="Text 47"/>
          <p:cNvSpPr/>
          <p:nvPr/>
        </p:nvSpPr>
        <p:spPr>
          <a:xfrm>
            <a:off x="65088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Ethereum &amp; Smart Contracts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4" name="Text 48"/>
          <p:cNvSpPr/>
          <p:nvPr/>
        </p:nvSpPr>
        <p:spPr>
          <a:xfrm>
            <a:off x="65088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Superior programmability, DeFi ecosystem, NFTs. ETH market cap ~$300B+.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5" name="Shape 49"/>
          <p:cNvSpPr/>
          <p:nvPr/>
        </p:nvSpPr>
        <p:spPr>
          <a:xfrm>
            <a:off x="53964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6" name="Text 50"/>
          <p:cNvSpPr/>
          <p:nvPr/>
        </p:nvSpPr>
        <p:spPr>
          <a:xfrm>
            <a:off x="65088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Solana &amp; High-Speed Chains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87" name="Text 51"/>
          <p:cNvSpPr/>
          <p:nvPr/>
        </p:nvSpPr>
        <p:spPr>
          <a:xfrm>
            <a:off x="65088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65,000 TPS, sub-cent fees, growing ecosystem. Could capture payment use cases.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88" name="Shape 52"/>
          <p:cNvSpPr/>
          <p:nvPr/>
        </p:nvSpPr>
        <p:spPr>
          <a:xfrm>
            <a:off x="53964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89" name="Text 53"/>
          <p:cNvSpPr/>
          <p:nvPr/>
        </p:nvSpPr>
        <p:spPr>
          <a:xfrm>
            <a:off x="65088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CBDCs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0" name="Text 54"/>
          <p:cNvSpPr/>
          <p:nvPr/>
        </p:nvSpPr>
        <p:spPr>
          <a:xfrm>
            <a:off x="65088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Central bank digital currencies (China's e-yuan) could compete for digital payments.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1" name="Shape 55"/>
          <p:cNvSpPr/>
          <p:nvPr/>
        </p:nvSpPr>
        <p:spPr>
          <a:xfrm>
            <a:off x="423612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892" name="Shape 56"/>
          <p:cNvSpPr/>
          <p:nvPr/>
        </p:nvSpPr>
        <p:spPr>
          <a:xfrm>
            <a:off x="444240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3" name="Text 57"/>
          <p:cNvSpPr/>
          <p:nvPr/>
        </p:nvSpPr>
        <p:spPr>
          <a:xfrm>
            <a:off x="437868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4" name="Text 58"/>
          <p:cNvSpPr/>
          <p:nvPr/>
        </p:nvSpPr>
        <p:spPr>
          <a:xfrm>
            <a:off x="4894920" y="5334120"/>
            <a:ext cx="147312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CENTRALIZATION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895" name="Shape 59"/>
          <p:cNvSpPr/>
          <p:nvPr/>
        </p:nvSpPr>
        <p:spPr>
          <a:xfrm>
            <a:off x="443448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6" name="Text 60"/>
          <p:cNvSpPr/>
          <p:nvPr/>
        </p:nvSpPr>
        <p:spPr>
          <a:xfrm>
            <a:off x="454536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Mining Pool Concentration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897" name="Text 61"/>
          <p:cNvSpPr/>
          <p:nvPr/>
        </p:nvSpPr>
        <p:spPr>
          <a:xfrm>
            <a:off x="454536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Top 5 pools control ~55% of hashrate. Foundry USA alone has ~35%.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898" name="Shape 62"/>
          <p:cNvSpPr/>
          <p:nvPr/>
        </p:nvSpPr>
        <p:spPr>
          <a:xfrm>
            <a:off x="443448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99" name="Text 63"/>
          <p:cNvSpPr/>
          <p:nvPr/>
        </p:nvSpPr>
        <p:spPr>
          <a:xfrm>
            <a:off x="454536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Large Holder Influence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0" name="Text 64"/>
          <p:cNvSpPr/>
          <p:nvPr/>
        </p:nvSpPr>
        <p:spPr>
          <a:xfrm>
            <a:off x="454536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"Whales" with 1,000+ BTC can move markets. Satoshi's 1M BTC remains untouched.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1" name="Shape 65"/>
          <p:cNvSpPr/>
          <p:nvPr/>
        </p:nvSpPr>
        <p:spPr>
          <a:xfrm>
            <a:off x="443448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2" name="Text 66"/>
          <p:cNvSpPr/>
          <p:nvPr/>
        </p:nvSpPr>
        <p:spPr>
          <a:xfrm>
            <a:off x="454536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03" name="Text 67"/>
          <p:cNvSpPr/>
          <p:nvPr/>
        </p:nvSpPr>
        <p:spPr>
          <a:xfrm>
            <a:off x="454536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Stratum V2 protocol gives miners more control. Geographic distribution improving.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04" name="Shape 68"/>
          <p:cNvSpPr/>
          <p:nvPr/>
        </p:nvSpPr>
        <p:spPr>
          <a:xfrm>
            <a:off x="8130600" y="5072040"/>
            <a:ext cx="3719520" cy="3537000"/>
          </a:xfrm>
          <a:custGeom>
            <a:avLst/>
            <a:gdLst/>
            <a:ahLst/>
            <a:rect l="l" t="t" r="r" b="b"/>
            <a:pathLst>
              <a:path w="3722688" h="3540125">
                <a:moveTo>
                  <a:pt x="0" y="0"/>
                </a:moveTo>
                <a:lnTo>
                  <a:pt x="3722688" y="0"/>
                </a:lnTo>
                <a:lnTo>
                  <a:pt x="3722688" y="3540125"/>
                </a:lnTo>
                <a:lnTo>
                  <a:pt x="0" y="354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05" name="Shape 69"/>
          <p:cNvSpPr/>
          <p:nvPr/>
        </p:nvSpPr>
        <p:spPr>
          <a:xfrm>
            <a:off x="8336880" y="5278320"/>
            <a:ext cx="330120" cy="330120"/>
          </a:xfrm>
          <a:custGeom>
            <a:avLst/>
            <a:gdLst/>
            <a:ahLst/>
            <a:rect l="l" t="t" r="r" b="b"/>
            <a:pathLst>
              <a:path w="333375" h="333375">
                <a:moveTo>
                  <a:pt x="0" y="0"/>
                </a:moveTo>
                <a:lnTo>
                  <a:pt x="333375" y="0"/>
                </a:lnTo>
                <a:lnTo>
                  <a:pt x="333375" y="333375"/>
                </a:lnTo>
                <a:lnTo>
                  <a:pt x="0" y="3333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6" name="Text 70"/>
          <p:cNvSpPr/>
          <p:nvPr/>
        </p:nvSpPr>
        <p:spPr>
          <a:xfrm>
            <a:off x="8273520" y="5254560"/>
            <a:ext cx="36180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ffffff"/>
                </a:solidFill>
                <a:latin typeface="Noto Sans SC"/>
                <a:ea typeface="Noto Sans SC"/>
              </a:rPr>
              <a:t>▶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7" name="Text 71"/>
          <p:cNvSpPr/>
          <p:nvPr/>
        </p:nvSpPr>
        <p:spPr>
          <a:xfrm>
            <a:off x="8789400" y="5334120"/>
            <a:ext cx="15206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TECHNICAL RISKS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08" name="Shape 72"/>
          <p:cNvSpPr/>
          <p:nvPr/>
        </p:nvSpPr>
        <p:spPr>
          <a:xfrm>
            <a:off x="8328960" y="577836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09" name="Text 73"/>
          <p:cNvSpPr/>
          <p:nvPr/>
        </p:nvSpPr>
        <p:spPr>
          <a:xfrm>
            <a:off x="8440200" y="58896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Quantum Computing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0" name="Text 74"/>
          <p:cNvSpPr/>
          <p:nvPr/>
        </p:nvSpPr>
        <p:spPr>
          <a:xfrm>
            <a:off x="8440200" y="61437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Future quantum computers could break SHA-256. Bitcoin would need to upgrade cryptography.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1" name="Shape 75"/>
          <p:cNvSpPr/>
          <p:nvPr/>
        </p:nvSpPr>
        <p:spPr>
          <a:xfrm>
            <a:off x="8328960" y="669924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2" name="Text 76"/>
          <p:cNvSpPr/>
          <p:nvPr/>
        </p:nvSpPr>
        <p:spPr>
          <a:xfrm>
            <a:off x="8440200" y="681048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Protocol Bugs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3" name="Text 77"/>
          <p:cNvSpPr/>
          <p:nvPr/>
        </p:nvSpPr>
        <p:spPr>
          <a:xfrm>
            <a:off x="8440200" y="706428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Critical vulnerability could be exploited. 2010 inflation bug created 184 billion BTC (quickly fixed).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14" name="Shape 78"/>
          <p:cNvSpPr/>
          <p:nvPr/>
        </p:nvSpPr>
        <p:spPr>
          <a:xfrm>
            <a:off x="8328960" y="7620120"/>
            <a:ext cx="3322440" cy="790560"/>
          </a:xfrm>
          <a:custGeom>
            <a:avLst/>
            <a:gdLst/>
            <a:ahLst/>
            <a:rect l="l" t="t" r="r" b="b"/>
            <a:pathLst>
              <a:path w="3325813" h="793750">
                <a:moveTo>
                  <a:pt x="0" y="0"/>
                </a:moveTo>
                <a:lnTo>
                  <a:pt x="3325813" y="0"/>
                </a:lnTo>
                <a:lnTo>
                  <a:pt x="3325813" y="793750"/>
                </a:lnTo>
                <a:lnTo>
                  <a:pt x="0" y="793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15" name="Text 79"/>
          <p:cNvSpPr/>
          <p:nvPr/>
        </p:nvSpPr>
        <p:spPr>
          <a:xfrm>
            <a:off x="8440200" y="7731000"/>
            <a:ext cx="316368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Mitigation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16" name="Text 80"/>
          <p:cNvSpPr/>
          <p:nvPr/>
        </p:nvSpPr>
        <p:spPr>
          <a:xfrm>
            <a:off x="8440200" y="7985160"/>
            <a:ext cx="315576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 development, extensive testing, slow upgrade process minimizes risk.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7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blipFill rotWithShape="0">
            <a:blip r:embed="rId1"/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8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19" name="Shape 1"/>
          <p:cNvSpPr/>
          <p:nvPr/>
        </p:nvSpPr>
        <p:spPr>
          <a:xfrm>
            <a:off x="409680" y="781200"/>
            <a:ext cx="8474040" cy="3959280"/>
          </a:xfrm>
          <a:custGeom>
            <a:avLst/>
            <a:gdLst/>
            <a:ahLst/>
            <a:rect l="l" t="t" r="r" b="b"/>
            <a:pathLst>
              <a:path w="8477250" h="3962400">
                <a:moveTo>
                  <a:pt x="0" y="0"/>
                </a:moveTo>
                <a:lnTo>
                  <a:pt x="8477250" y="0"/>
                </a:lnTo>
                <a:lnTo>
                  <a:pt x="84772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20" name="Shape 2"/>
          <p:cNvSpPr/>
          <p:nvPr/>
        </p:nvSpPr>
        <p:spPr>
          <a:xfrm>
            <a:off x="92376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1" name="Text 3"/>
          <p:cNvSpPr/>
          <p:nvPr/>
        </p:nvSpPr>
        <p:spPr>
          <a:xfrm>
            <a:off x="78120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11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922" name="Shape 4"/>
          <p:cNvSpPr/>
          <p:nvPr/>
        </p:nvSpPr>
        <p:spPr>
          <a:xfrm>
            <a:off x="203832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3" name="Text 5"/>
          <p:cNvSpPr/>
          <p:nvPr/>
        </p:nvSpPr>
        <p:spPr>
          <a:xfrm>
            <a:off x="895320" y="2486160"/>
            <a:ext cx="784548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FUTURE OUTLOOK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924" name="Shape 6"/>
          <p:cNvSpPr/>
          <p:nvPr/>
        </p:nvSpPr>
        <p:spPr>
          <a:xfrm>
            <a:off x="89532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25" name="Text 7"/>
          <p:cNvSpPr/>
          <p:nvPr/>
        </p:nvSpPr>
        <p:spPr>
          <a:xfrm>
            <a:off x="895320" y="3876840"/>
            <a:ext cx="767376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Predictions &amp; Scenarios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926" name="Shape 8"/>
          <p:cNvSpPr/>
          <p:nvPr/>
        </p:nvSpPr>
        <p:spPr>
          <a:xfrm>
            <a:off x="409680" y="5257800"/>
            <a:ext cx="11369520" cy="815760"/>
          </a:xfrm>
          <a:custGeom>
            <a:avLst/>
            <a:gdLst/>
            <a:ahLst/>
            <a:rect l="l" t="t" r="r" b="b"/>
            <a:pathLst>
              <a:path w="11372850" h="819150">
                <a:moveTo>
                  <a:pt x="0" y="0"/>
                </a:moveTo>
                <a:lnTo>
                  <a:pt x="11372850" y="0"/>
                </a:lnTo>
                <a:lnTo>
                  <a:pt x="113728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7" name="Text 9"/>
          <p:cNvSpPr/>
          <p:nvPr/>
        </p:nvSpPr>
        <p:spPr>
          <a:xfrm>
            <a:off x="666720" y="5514840"/>
            <a:ext cx="1096956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Expert Forecasts &amp; Price Targets for 2025-2030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8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29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 2025-2030: EXPERT PREDICTIONS &amp; SCENARIOS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930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31" name="Shape 3"/>
          <p:cNvSpPr/>
          <p:nvPr/>
        </p:nvSpPr>
        <p:spPr>
          <a:xfrm>
            <a:off x="341280" y="1357200"/>
            <a:ext cx="6219720" cy="3568680"/>
          </a:xfrm>
          <a:custGeom>
            <a:avLst/>
            <a:gdLst/>
            <a:ahLst/>
            <a:rect l="l" t="t" r="r" b="b"/>
            <a:pathLst>
              <a:path w="6223000" h="3571875">
                <a:moveTo>
                  <a:pt x="0" y="0"/>
                </a:moveTo>
                <a:lnTo>
                  <a:pt x="6223000" y="0"/>
                </a:lnTo>
                <a:lnTo>
                  <a:pt x="6223000" y="3571875"/>
                </a:lnTo>
                <a:lnTo>
                  <a:pt x="0" y="3571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32" name="Text 4"/>
          <p:cNvSpPr/>
          <p:nvPr/>
        </p:nvSpPr>
        <p:spPr>
          <a:xfrm>
            <a:off x="523800" y="153972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■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PRICE TARGETS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3" name="Shape 5"/>
          <p:cNvSpPr/>
          <p:nvPr/>
        </p:nvSpPr>
        <p:spPr>
          <a:xfrm>
            <a:off x="539640" y="1936800"/>
            <a:ext cx="5823000" cy="91764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34" name="Text 6"/>
          <p:cNvSpPr/>
          <p:nvPr/>
        </p:nvSpPr>
        <p:spPr>
          <a:xfrm>
            <a:off x="650880" y="206388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2025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35" name="Text 7"/>
          <p:cNvSpPr/>
          <p:nvPr/>
        </p:nvSpPr>
        <p:spPr>
          <a:xfrm>
            <a:off x="4961160" y="2048040"/>
            <a:ext cx="13860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$120K - $285K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36" name="Text 8"/>
          <p:cNvSpPr/>
          <p:nvPr/>
        </p:nvSpPr>
        <p:spPr>
          <a:xfrm>
            <a:off x="650880" y="236520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Standard Chartered: $200K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7" name="Text 9"/>
          <p:cNvSpPr/>
          <p:nvPr/>
        </p:nvSpPr>
        <p:spPr>
          <a:xfrm>
            <a:off x="3483720" y="236520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Fundstrat: $250K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8" name="Text 10"/>
          <p:cNvSpPr/>
          <p:nvPr/>
        </p:nvSpPr>
        <p:spPr>
          <a:xfrm>
            <a:off x="650880" y="258768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H.C. Wainwright: $225K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39" name="Text 11"/>
          <p:cNvSpPr/>
          <p:nvPr/>
        </p:nvSpPr>
        <p:spPr>
          <a:xfrm>
            <a:off x="3483720" y="258768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21st Capital: $285K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0" name="Shape 12"/>
          <p:cNvSpPr/>
          <p:nvPr/>
        </p:nvSpPr>
        <p:spPr>
          <a:xfrm>
            <a:off x="539640" y="2984400"/>
            <a:ext cx="5823000" cy="695160"/>
          </a:xfrm>
          <a:custGeom>
            <a:avLst/>
            <a:gdLst/>
            <a:ahLst/>
            <a:rect l="l" t="t" r="r" b="b"/>
            <a:pathLst>
              <a:path w="5826125" h="698500">
                <a:moveTo>
                  <a:pt x="0" y="0"/>
                </a:moveTo>
                <a:lnTo>
                  <a:pt x="5826125" y="0"/>
                </a:lnTo>
                <a:lnTo>
                  <a:pt x="5826125" y="698500"/>
                </a:lnTo>
                <a:lnTo>
                  <a:pt x="0" y="698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1" name="Text 13"/>
          <p:cNvSpPr/>
          <p:nvPr/>
        </p:nvSpPr>
        <p:spPr>
          <a:xfrm>
            <a:off x="650880" y="311148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2026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2" name="Text 14"/>
          <p:cNvSpPr/>
          <p:nvPr/>
        </p:nvSpPr>
        <p:spPr>
          <a:xfrm>
            <a:off x="5067000" y="3095640"/>
            <a:ext cx="1274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$78K - $142K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3" name="Text 15"/>
          <p:cNvSpPr/>
          <p:nvPr/>
        </p:nvSpPr>
        <p:spPr>
          <a:xfrm>
            <a:off x="650880" y="3413160"/>
            <a:ext cx="565632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Consolidation after 2025 peak, continued ETF inflows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4" name="Shape 16"/>
          <p:cNvSpPr/>
          <p:nvPr/>
        </p:nvSpPr>
        <p:spPr>
          <a:xfrm>
            <a:off x="539640" y="3809880"/>
            <a:ext cx="5823000" cy="917640"/>
          </a:xfrm>
          <a:custGeom>
            <a:avLst/>
            <a:gdLst/>
            <a:ahLst/>
            <a:rect l="l" t="t" r="r" b="b"/>
            <a:pathLst>
              <a:path w="5826125" h="920750">
                <a:moveTo>
                  <a:pt x="0" y="0"/>
                </a:moveTo>
                <a:lnTo>
                  <a:pt x="5826125" y="0"/>
                </a:lnTo>
                <a:lnTo>
                  <a:pt x="5826125" y="920750"/>
                </a:lnTo>
                <a:lnTo>
                  <a:pt x="0" y="920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45" name="Text 17"/>
          <p:cNvSpPr/>
          <p:nvPr/>
        </p:nvSpPr>
        <p:spPr>
          <a:xfrm>
            <a:off x="650880" y="3936960"/>
            <a:ext cx="9414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130" spc="-1" strike="noStrike">
                <a:solidFill>
                  <a:srgbClr val="000000"/>
                </a:solidFill>
                <a:latin typeface="MiSans"/>
                <a:ea typeface="MiSans"/>
              </a:rPr>
              <a:t>2030 Targets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946" name="Text 18"/>
          <p:cNvSpPr/>
          <p:nvPr/>
        </p:nvSpPr>
        <p:spPr>
          <a:xfrm>
            <a:off x="4992840" y="3921120"/>
            <a:ext cx="13539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a63e"/>
                </a:solidFill>
                <a:latin typeface="Noto Sans SC"/>
                <a:ea typeface="Noto Sans SC"/>
              </a:rPr>
              <a:t>$109K - $1.5M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47" name="Text 19"/>
          <p:cNvSpPr/>
          <p:nvPr/>
        </p:nvSpPr>
        <p:spPr>
          <a:xfrm>
            <a:off x="650880" y="423864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Jack Dorsey: $1M+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8" name="Text 20"/>
          <p:cNvSpPr/>
          <p:nvPr/>
        </p:nvSpPr>
        <p:spPr>
          <a:xfrm>
            <a:off x="3483720" y="423864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Cathie Wood: $1.5M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49" name="Text 21"/>
          <p:cNvSpPr/>
          <p:nvPr/>
        </p:nvSpPr>
        <p:spPr>
          <a:xfrm>
            <a:off x="650880" y="446076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JPMorgan: $170K-266K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0" name="Text 22"/>
          <p:cNvSpPr/>
          <p:nvPr/>
        </p:nvSpPr>
        <p:spPr>
          <a:xfrm>
            <a:off x="3483720" y="4460760"/>
            <a:ext cx="28224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Conservative: $109K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1" name="Shape 23"/>
          <p:cNvSpPr/>
          <p:nvPr/>
        </p:nvSpPr>
        <p:spPr>
          <a:xfrm>
            <a:off x="341280" y="5103720"/>
            <a:ext cx="6219720" cy="3314520"/>
          </a:xfrm>
          <a:custGeom>
            <a:avLst/>
            <a:gdLst/>
            <a:ahLst/>
            <a:rect l="l" t="t" r="r" b="b"/>
            <a:pathLst>
              <a:path w="6223000" h="3317875">
                <a:moveTo>
                  <a:pt x="0" y="0"/>
                </a:moveTo>
                <a:lnTo>
                  <a:pt x="6223000" y="0"/>
                </a:lnTo>
                <a:lnTo>
                  <a:pt x="6223000" y="3317875"/>
                </a:lnTo>
                <a:lnTo>
                  <a:pt x="0" y="33178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52" name="Text 24"/>
          <p:cNvSpPr/>
          <p:nvPr/>
        </p:nvSpPr>
        <p:spPr>
          <a:xfrm>
            <a:off x="523800" y="5286240"/>
            <a:ext cx="5949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CATALYSTS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53" name="Shape 25"/>
          <p:cNvSpPr/>
          <p:nvPr/>
        </p:nvSpPr>
        <p:spPr>
          <a:xfrm>
            <a:off x="539640" y="568332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4" name="Text 26"/>
          <p:cNvSpPr/>
          <p:nvPr/>
        </p:nvSpPr>
        <p:spPr>
          <a:xfrm>
            <a:off x="650880" y="57942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Inflows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5" name="Text 27"/>
          <p:cNvSpPr/>
          <p:nvPr/>
        </p:nvSpPr>
        <p:spPr>
          <a:xfrm>
            <a:off x="650880" y="601668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Continued institutional buying through regulated vehicles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6" name="Shape 28"/>
          <p:cNvSpPr/>
          <p:nvPr/>
        </p:nvSpPr>
        <p:spPr>
          <a:xfrm>
            <a:off x="3515400" y="568332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57" name="Text 29"/>
          <p:cNvSpPr/>
          <p:nvPr/>
        </p:nvSpPr>
        <p:spPr>
          <a:xfrm>
            <a:off x="3626640" y="57942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Corporate Treasury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58" name="Text 30"/>
          <p:cNvSpPr/>
          <p:nvPr/>
        </p:nvSpPr>
        <p:spPr>
          <a:xfrm>
            <a:off x="3626640" y="601668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companies following MicroStrategy's Bitcoin strategy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59" name="Shape 31"/>
          <p:cNvSpPr/>
          <p:nvPr/>
        </p:nvSpPr>
        <p:spPr>
          <a:xfrm>
            <a:off x="539640" y="65721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0" name="Text 32"/>
          <p:cNvSpPr/>
          <p:nvPr/>
        </p:nvSpPr>
        <p:spPr>
          <a:xfrm>
            <a:off x="650880" y="66834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Nation-State Adoption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1" name="Text 33"/>
          <p:cNvSpPr/>
          <p:nvPr/>
        </p:nvSpPr>
        <p:spPr>
          <a:xfrm>
            <a:off x="650880" y="69055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More countries making Bitcoin legal tender or reserve asset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2" name="Shape 34"/>
          <p:cNvSpPr/>
          <p:nvPr/>
        </p:nvSpPr>
        <p:spPr>
          <a:xfrm>
            <a:off x="3515400" y="65721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3" name="Text 35"/>
          <p:cNvSpPr/>
          <p:nvPr/>
        </p:nvSpPr>
        <p:spPr>
          <a:xfrm>
            <a:off x="3626640" y="668340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2028 Halving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4" name="Text 36"/>
          <p:cNvSpPr/>
          <p:nvPr/>
        </p:nvSpPr>
        <p:spPr>
          <a:xfrm>
            <a:off x="3626640" y="69055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Next supply shock reduces new issuance to 1.5625 BTC/block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5" name="Shape 37"/>
          <p:cNvSpPr/>
          <p:nvPr/>
        </p:nvSpPr>
        <p:spPr>
          <a:xfrm>
            <a:off x="539640" y="74613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6" name="Text 38"/>
          <p:cNvSpPr/>
          <p:nvPr/>
        </p:nvSpPr>
        <p:spPr>
          <a:xfrm>
            <a:off x="650880" y="757224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Favorable Regulation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67" name="Text 39"/>
          <p:cNvSpPr/>
          <p:nvPr/>
        </p:nvSpPr>
        <p:spPr>
          <a:xfrm>
            <a:off x="650880" y="7794720"/>
            <a:ext cx="267948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Pro-crypto US administration, global regulatory clarity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68" name="Shape 40"/>
          <p:cNvSpPr/>
          <p:nvPr/>
        </p:nvSpPr>
        <p:spPr>
          <a:xfrm>
            <a:off x="3515400" y="7461360"/>
            <a:ext cx="2846160" cy="758880"/>
          </a:xfrm>
          <a:custGeom>
            <a:avLst/>
            <a:gdLst/>
            <a:ahLst/>
            <a:rect l="l" t="t" r="r" b="b"/>
            <a:pathLst>
              <a:path w="2849563" h="762000">
                <a:moveTo>
                  <a:pt x="0" y="0"/>
                </a:moveTo>
                <a:lnTo>
                  <a:pt x="2849563" y="0"/>
                </a:lnTo>
                <a:lnTo>
                  <a:pt x="2849563" y="762000"/>
                </a:lnTo>
                <a:lnTo>
                  <a:pt x="0" y="7620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69" name="Text 41"/>
          <p:cNvSpPr/>
          <p:nvPr/>
        </p:nvSpPr>
        <p:spPr>
          <a:xfrm>
            <a:off x="3626640" y="7572240"/>
            <a:ext cx="2687400" cy="18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★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Growth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0" name="Text 42"/>
          <p:cNvSpPr/>
          <p:nvPr/>
        </p:nvSpPr>
        <p:spPr>
          <a:xfrm>
            <a:off x="3626640" y="7794720"/>
            <a:ext cx="267948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Lightning Network enables everyday payments at scale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1" name="Shape 43"/>
          <p:cNvSpPr/>
          <p:nvPr/>
        </p:nvSpPr>
        <p:spPr>
          <a:xfrm>
            <a:off x="6769080" y="1357200"/>
            <a:ext cx="5076720" cy="6076800"/>
          </a:xfrm>
          <a:custGeom>
            <a:avLst/>
            <a:gdLst/>
            <a:ahLst/>
            <a:rect l="l" t="t" r="r" b="b"/>
            <a:pathLst>
              <a:path w="5080000" h="6080125">
                <a:moveTo>
                  <a:pt x="0" y="0"/>
                </a:moveTo>
                <a:lnTo>
                  <a:pt x="5080000" y="0"/>
                </a:lnTo>
                <a:lnTo>
                  <a:pt x="5080000" y="6080125"/>
                </a:lnTo>
                <a:lnTo>
                  <a:pt x="0" y="6080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72" name="Text 44"/>
          <p:cNvSpPr/>
          <p:nvPr/>
        </p:nvSpPr>
        <p:spPr>
          <a:xfrm>
            <a:off x="6951600" y="1539720"/>
            <a:ext cx="480672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★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THREE SCENARIOS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973" name="Shape 45"/>
          <p:cNvSpPr/>
          <p:nvPr/>
        </p:nvSpPr>
        <p:spPr>
          <a:xfrm>
            <a:off x="6967440" y="1936800"/>
            <a:ext cx="4680000" cy="171144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4" name="Shape 46"/>
          <p:cNvSpPr/>
          <p:nvPr/>
        </p:nvSpPr>
        <p:spPr>
          <a:xfrm>
            <a:off x="7134120" y="210348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e7000b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75" name="Text 47"/>
          <p:cNvSpPr/>
          <p:nvPr/>
        </p:nvSpPr>
        <p:spPr>
          <a:xfrm>
            <a:off x="7078680" y="207972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76" name="Text 48"/>
          <p:cNvSpPr/>
          <p:nvPr/>
        </p:nvSpPr>
        <p:spPr>
          <a:xfrm>
            <a:off x="7523280" y="2127240"/>
            <a:ext cx="101268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BEAR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77" name="Text 49"/>
          <p:cNvSpPr/>
          <p:nvPr/>
        </p:nvSpPr>
        <p:spPr>
          <a:xfrm>
            <a:off x="7110360" y="246060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e7000b"/>
                </a:solidFill>
                <a:latin typeface="Noto Sans SC"/>
                <a:ea typeface="Noto Sans SC"/>
              </a:rPr>
              <a:t>$50K - $75K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78" name="Text 50"/>
          <p:cNvSpPr/>
          <p:nvPr/>
        </p:nvSpPr>
        <p:spPr>
          <a:xfrm>
            <a:off x="7110360" y="280980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Regulatory crackdowns, major exchange failure, prolonged recession, quantum computing breakthrough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79" name="Text 51"/>
          <p:cNvSpPr/>
          <p:nvPr/>
        </p:nvSpPr>
        <p:spPr>
          <a:xfrm>
            <a:off x="7110360" y="319104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survives but struggles to gain mainstream traction. Volatility remains high, institutional interest wanes.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0" name="Shape 52"/>
          <p:cNvSpPr/>
          <p:nvPr/>
        </p:nvSpPr>
        <p:spPr>
          <a:xfrm>
            <a:off x="6967440" y="3809880"/>
            <a:ext cx="4680000" cy="1552680"/>
          </a:xfrm>
          <a:custGeom>
            <a:avLst/>
            <a:gdLst/>
            <a:ahLst/>
            <a:rect l="l" t="t" r="r" b="b"/>
            <a:pathLst>
              <a:path w="4683125" h="1555750">
                <a:moveTo>
                  <a:pt x="0" y="0"/>
                </a:moveTo>
                <a:lnTo>
                  <a:pt x="4683125" y="0"/>
                </a:lnTo>
                <a:lnTo>
                  <a:pt x="4683125" y="1555750"/>
                </a:lnTo>
                <a:lnTo>
                  <a:pt x="0" y="155575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1" name="Shape 53"/>
          <p:cNvSpPr/>
          <p:nvPr/>
        </p:nvSpPr>
        <p:spPr>
          <a:xfrm>
            <a:off x="7134120" y="397656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d087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2" name="Text 54"/>
          <p:cNvSpPr/>
          <p:nvPr/>
        </p:nvSpPr>
        <p:spPr>
          <a:xfrm>
            <a:off x="7078680" y="395280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83" name="Text 55"/>
          <p:cNvSpPr/>
          <p:nvPr/>
        </p:nvSpPr>
        <p:spPr>
          <a:xfrm>
            <a:off x="7523280" y="4000680"/>
            <a:ext cx="100476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BASE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84" name="Text 56"/>
          <p:cNvSpPr/>
          <p:nvPr/>
        </p:nvSpPr>
        <p:spPr>
          <a:xfrm>
            <a:off x="7110360" y="433404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d08700"/>
                </a:solidFill>
                <a:latin typeface="Noto Sans SC"/>
                <a:ea typeface="Noto Sans SC"/>
              </a:rPr>
              <a:t>$150K - $250K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85" name="Text 57"/>
          <p:cNvSpPr/>
          <p:nvPr/>
        </p:nvSpPr>
        <p:spPr>
          <a:xfrm>
            <a:off x="7110360" y="4683240"/>
            <a:ext cx="4449600" cy="15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Steady ETF inflows, corporate adoption, favorable regulation, 2028 halving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6" name="Text 58"/>
          <p:cNvSpPr/>
          <p:nvPr/>
        </p:nvSpPr>
        <p:spPr>
          <a:xfrm>
            <a:off x="7110360" y="490536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established store of value, "digital gold" thesis validated. Volatility decreases as market matures.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87" name="Shape 59"/>
          <p:cNvSpPr/>
          <p:nvPr/>
        </p:nvSpPr>
        <p:spPr>
          <a:xfrm>
            <a:off x="6967440" y="5524560"/>
            <a:ext cx="4680000" cy="1711440"/>
          </a:xfrm>
          <a:custGeom>
            <a:avLst/>
            <a:gdLst/>
            <a:ahLst/>
            <a:rect l="l" t="t" r="r" b="b"/>
            <a:pathLst>
              <a:path w="4683125" h="1714500">
                <a:moveTo>
                  <a:pt x="0" y="0"/>
                </a:moveTo>
                <a:lnTo>
                  <a:pt x="4683125" y="0"/>
                </a:lnTo>
                <a:lnTo>
                  <a:pt x="4683125" y="1714500"/>
                </a:lnTo>
                <a:lnTo>
                  <a:pt x="0" y="1714500"/>
                </a:lnTo>
                <a:lnTo>
                  <a:pt x="0" y="0"/>
                </a:lnTo>
                <a:close/>
              </a:path>
            </a:pathLst>
          </a:custGeom>
          <a:solidFill>
            <a:srgbClr val="f9fafb"/>
          </a:solidFill>
          <a:ln w="508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8" name="Shape 60"/>
          <p:cNvSpPr/>
          <p:nvPr/>
        </p:nvSpPr>
        <p:spPr>
          <a:xfrm>
            <a:off x="7134120" y="5691240"/>
            <a:ext cx="266760" cy="266760"/>
          </a:xfrm>
          <a:custGeom>
            <a:avLst/>
            <a:gdLst/>
            <a:ahLst/>
            <a:rect l="l" t="t" r="r" b="b"/>
            <a:pathLst>
              <a:path w="269875" h="269875">
                <a:moveTo>
                  <a:pt x="0" y="0"/>
                </a:moveTo>
                <a:lnTo>
                  <a:pt x="269875" y="0"/>
                </a:lnTo>
                <a:lnTo>
                  <a:pt x="269875" y="269875"/>
                </a:lnTo>
                <a:lnTo>
                  <a:pt x="0" y="269875"/>
                </a:lnTo>
                <a:lnTo>
                  <a:pt x="0" y="0"/>
                </a:lnTo>
                <a:close/>
              </a:path>
            </a:pathLst>
          </a:custGeom>
          <a:solidFill>
            <a:srgbClr val="00a63e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89" name="Text 61"/>
          <p:cNvSpPr/>
          <p:nvPr/>
        </p:nvSpPr>
        <p:spPr>
          <a:xfrm>
            <a:off x="7078680" y="5667480"/>
            <a:ext cx="2826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ffffff"/>
                </a:solidFill>
                <a:latin typeface="MiSans"/>
                <a:ea typeface="MiSans"/>
              </a:rPr>
              <a:t>B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990" name="Text 62"/>
          <p:cNvSpPr/>
          <p:nvPr/>
        </p:nvSpPr>
        <p:spPr>
          <a:xfrm>
            <a:off x="7523280" y="5715000"/>
            <a:ext cx="981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BULL CASE</a:t>
            </a:r>
            <a:endParaRPr b="0" lang="en-HK" sz="1250" spc="-1" strike="noStrike">
              <a:latin typeface="Arial"/>
            </a:endParaRPr>
          </a:p>
        </p:txBody>
      </p:sp>
      <p:sp>
        <p:nvSpPr>
          <p:cNvPr id="991" name="Text 63"/>
          <p:cNvSpPr/>
          <p:nvPr/>
        </p:nvSpPr>
        <p:spPr>
          <a:xfrm>
            <a:off x="7110360" y="6048360"/>
            <a:ext cx="4513320" cy="28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70" spc="-1" strike="noStrike">
                <a:solidFill>
                  <a:srgbClr val="00a63e"/>
                </a:solidFill>
                <a:latin typeface="Noto Sans SC"/>
                <a:ea typeface="Noto Sans SC"/>
              </a:rPr>
              <a:t>$500K+</a:t>
            </a:r>
            <a:endParaRPr b="0" lang="en-HK" sz="1870" spc="-1" strike="noStrike">
              <a:latin typeface="Arial"/>
            </a:endParaRPr>
          </a:p>
        </p:txBody>
      </p:sp>
      <p:sp>
        <p:nvSpPr>
          <p:cNvPr id="992" name="Text 64"/>
          <p:cNvSpPr/>
          <p:nvPr/>
        </p:nvSpPr>
        <p:spPr>
          <a:xfrm>
            <a:off x="7110360" y="639756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Triggers:</a:t>
            </a: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 US strategic Bitcoin reserve, mass corporate adoption, nation-state FOMO, dollar crisis</a:t>
            </a:r>
            <a:endParaRPr b="0" lang="en-HK" sz="880" spc="-1" strike="noStrike">
              <a:latin typeface="Arial"/>
            </a:endParaRPr>
          </a:p>
        </p:txBody>
      </p:sp>
      <p:sp>
        <p:nvSpPr>
          <p:cNvPr id="993" name="Text 65"/>
          <p:cNvSpPr/>
          <p:nvPr/>
        </p:nvSpPr>
        <p:spPr>
          <a:xfrm>
            <a:off x="7110360" y="6778800"/>
            <a:ext cx="444960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0" lang="en-US" sz="880" spc="-1" strike="noStrike">
                <a:solidFill>
                  <a:srgbClr val="000000"/>
                </a:solidFill>
                <a:latin typeface="MiSans"/>
                <a:ea typeface="MiSans"/>
              </a:rPr>
              <a:t>Bitcoin becomes global reserve asset, challenges gold's $16T market cap. Widespread use as savings technology.</a:t>
            </a:r>
            <a:endParaRPr b="0" lang="en-HK" sz="88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4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5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6" name="Shape 1"/>
          <p:cNvSpPr/>
          <p:nvPr/>
        </p:nvSpPr>
        <p:spPr>
          <a:xfrm>
            <a:off x="6200640" y="781200"/>
            <a:ext cx="5578560" cy="3959280"/>
          </a:xfrm>
          <a:custGeom>
            <a:avLst/>
            <a:gdLst/>
            <a:ahLst/>
            <a:rect l="l" t="t" r="r" b="b"/>
            <a:pathLst>
              <a:path w="5581650" h="3962400">
                <a:moveTo>
                  <a:pt x="0" y="0"/>
                </a:moveTo>
                <a:lnTo>
                  <a:pt x="5581650" y="0"/>
                </a:lnTo>
                <a:lnTo>
                  <a:pt x="5581650" y="3962400"/>
                </a:lnTo>
                <a:lnTo>
                  <a:pt x="0" y="39624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997" name="Shape 2"/>
          <p:cNvSpPr/>
          <p:nvPr/>
        </p:nvSpPr>
        <p:spPr>
          <a:xfrm>
            <a:off x="10077480" y="1266840"/>
            <a:ext cx="73080" cy="911160"/>
          </a:xfrm>
          <a:custGeom>
            <a:avLst/>
            <a:gdLst/>
            <a:ahLst/>
            <a:rect l="l" t="t" r="r" b="b"/>
            <a:pathLst>
              <a:path w="76200" h="914400">
                <a:moveTo>
                  <a:pt x="0" y="0"/>
                </a:moveTo>
                <a:lnTo>
                  <a:pt x="76200" y="0"/>
                </a:lnTo>
                <a:lnTo>
                  <a:pt x="76200" y="914400"/>
                </a:lnTo>
                <a:lnTo>
                  <a:pt x="0" y="9144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998" name="Shape 3"/>
          <p:cNvSpPr/>
          <p:nvPr/>
        </p:nvSpPr>
        <p:spPr>
          <a:xfrm>
            <a:off x="10410840" y="1295280"/>
            <a:ext cx="853920" cy="853920"/>
          </a:xfrm>
          <a:custGeom>
            <a:avLst/>
            <a:gdLst/>
            <a:ahLst/>
            <a:rect l="l" t="t" r="r" b="b"/>
            <a:pathLst>
              <a:path w="857250" h="857250">
                <a:moveTo>
                  <a:pt x="0" y="0"/>
                </a:moveTo>
                <a:lnTo>
                  <a:pt x="857250" y="0"/>
                </a:lnTo>
                <a:lnTo>
                  <a:pt x="857250" y="857250"/>
                </a:lnTo>
                <a:lnTo>
                  <a:pt x="0" y="8572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999" name="Text 4"/>
          <p:cNvSpPr/>
          <p:nvPr/>
        </p:nvSpPr>
        <p:spPr>
          <a:xfrm>
            <a:off x="10267920" y="1266840"/>
            <a:ext cx="1025640" cy="79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3600" spc="-1" strike="noStrike">
                <a:solidFill>
                  <a:srgbClr val="ffffff"/>
                </a:solidFill>
                <a:latin typeface="Noto Sans SC"/>
                <a:ea typeface="Noto Sans SC"/>
              </a:rPr>
              <a:t>12</a:t>
            </a:r>
            <a:endParaRPr b="0" lang="en-HK" sz="3600" spc="-1" strike="noStrike">
              <a:latin typeface="Arial"/>
            </a:endParaRPr>
          </a:p>
        </p:txBody>
      </p:sp>
      <p:sp>
        <p:nvSpPr>
          <p:cNvPr id="1000" name="Text 5"/>
          <p:cNvSpPr/>
          <p:nvPr/>
        </p:nvSpPr>
        <p:spPr>
          <a:xfrm>
            <a:off x="6343560" y="2486160"/>
            <a:ext cx="4949640" cy="85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10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CONCLUSION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01" name="Shape 6"/>
          <p:cNvSpPr/>
          <p:nvPr/>
        </p:nvSpPr>
        <p:spPr>
          <a:xfrm>
            <a:off x="9468000" y="357192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2" name="Text 7"/>
          <p:cNvSpPr/>
          <p:nvPr/>
        </p:nvSpPr>
        <p:spPr>
          <a:xfrm>
            <a:off x="6515280" y="3876840"/>
            <a:ext cx="477828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The Path Forward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03" name="Shape 8"/>
          <p:cNvSpPr/>
          <p:nvPr/>
        </p:nvSpPr>
        <p:spPr>
          <a:xfrm>
            <a:off x="7382880" y="5257800"/>
            <a:ext cx="4397400" cy="815760"/>
          </a:xfrm>
          <a:custGeom>
            <a:avLst/>
            <a:gdLst/>
            <a:ahLst/>
            <a:rect l="l" t="t" r="r" b="b"/>
            <a:pathLst>
              <a:path w="4400550" h="819150">
                <a:moveTo>
                  <a:pt x="0" y="0"/>
                </a:moveTo>
                <a:lnTo>
                  <a:pt x="4400550" y="0"/>
                </a:lnTo>
                <a:lnTo>
                  <a:pt x="4400550" y="819150"/>
                </a:lnTo>
                <a:lnTo>
                  <a:pt x="0" y="8191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4" name="Text 9"/>
          <p:cNvSpPr/>
          <p:nvPr/>
        </p:nvSpPr>
        <p:spPr>
          <a:xfrm>
            <a:off x="7640280" y="5514840"/>
            <a:ext cx="3997440" cy="30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800" spc="-1" strike="noStrike">
                <a:solidFill>
                  <a:srgbClr val="000000"/>
                </a:solidFill>
                <a:latin typeface="Noto Sans SC"/>
                <a:ea typeface="Noto Sans SC"/>
              </a:rPr>
              <a:t>Key Takeaways &amp; Final Thoughts</a:t>
            </a:r>
            <a:endParaRPr b="0" lang="en-HK" sz="18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341280" y="341280"/>
            <a:ext cx="11505960" cy="838080"/>
          </a:xfrm>
          <a:custGeom>
            <a:avLst/>
            <a:gdLst/>
            <a:ahLst/>
            <a:rect l="l" t="t" r="r" b="b"/>
            <a:pathLst>
              <a:path w="11509375" h="841375">
                <a:moveTo>
                  <a:pt x="0" y="0"/>
                </a:moveTo>
                <a:lnTo>
                  <a:pt x="11509375" y="0"/>
                </a:lnTo>
                <a:lnTo>
                  <a:pt x="11509375" y="841375"/>
                </a:lnTo>
                <a:lnTo>
                  <a:pt x="0" y="84137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06" name="Text 1"/>
          <p:cNvSpPr/>
          <p:nvPr/>
        </p:nvSpPr>
        <p:spPr>
          <a:xfrm>
            <a:off x="523800" y="523800"/>
            <a:ext cx="1128384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90000"/>
              </a:lnSpc>
              <a:buNone/>
            </a:pPr>
            <a:r>
              <a:rPr b="1" lang="en-US" sz="225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BITCOIN'S TRAJECTORY: KEY TAKEAWAYS</a:t>
            </a:r>
            <a:endParaRPr b="0" lang="en-HK" sz="2250" spc="-1" strike="noStrike">
              <a:latin typeface="Arial"/>
            </a:endParaRPr>
          </a:p>
        </p:txBody>
      </p:sp>
      <p:sp>
        <p:nvSpPr>
          <p:cNvPr id="1007" name="Shape 2"/>
          <p:cNvSpPr/>
          <p:nvPr/>
        </p:nvSpPr>
        <p:spPr>
          <a:xfrm>
            <a:off x="523800" y="936720"/>
            <a:ext cx="758880" cy="60120"/>
          </a:xfrm>
          <a:custGeom>
            <a:avLst/>
            <a:gdLst/>
            <a:ahLst/>
            <a:rect l="l" t="t" r="r" b="b"/>
            <a:pathLst>
              <a:path w="762000" h="63500">
                <a:moveTo>
                  <a:pt x="0" y="0"/>
                </a:moveTo>
                <a:lnTo>
                  <a:pt x="762000" y="0"/>
                </a:lnTo>
                <a:lnTo>
                  <a:pt x="762000" y="63500"/>
                </a:lnTo>
                <a:lnTo>
                  <a:pt x="0" y="635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08" name="Shape 3"/>
          <p:cNvSpPr/>
          <p:nvPr/>
        </p:nvSpPr>
        <p:spPr>
          <a:xfrm>
            <a:off x="341280" y="13572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09" name="Shape 4"/>
          <p:cNvSpPr/>
          <p:nvPr/>
        </p:nvSpPr>
        <p:spPr>
          <a:xfrm>
            <a:off x="54756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0" name="Text 5"/>
          <p:cNvSpPr/>
          <p:nvPr/>
        </p:nvSpPr>
        <p:spPr>
          <a:xfrm>
            <a:off x="47628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1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1095480" y="1539720"/>
            <a:ext cx="36478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FROM EXPERIMENT TO ASSET CLASS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523800" y="207972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 has evolved from a cypherpunk experiment to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globally recognized financial asset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with $1.47 trillion market cap. What started as an idea in a whitepaper is now held by institutions, corporations, and nation-states.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3" name="Shape 8"/>
          <p:cNvSpPr/>
          <p:nvPr/>
        </p:nvSpPr>
        <p:spPr>
          <a:xfrm>
            <a:off x="6183360" y="13572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4" name="Shape 9"/>
          <p:cNvSpPr/>
          <p:nvPr/>
        </p:nvSpPr>
        <p:spPr>
          <a:xfrm>
            <a:off x="6389640" y="156384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15" name="Text 10"/>
          <p:cNvSpPr/>
          <p:nvPr/>
        </p:nvSpPr>
        <p:spPr>
          <a:xfrm>
            <a:off x="6318360" y="15397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2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6" name="Text 11"/>
          <p:cNvSpPr/>
          <p:nvPr/>
        </p:nvSpPr>
        <p:spPr>
          <a:xfrm>
            <a:off x="6937200" y="1539720"/>
            <a:ext cx="4822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INSTITUTIONAL ADOPTION CROSSED THE RUBICON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17" name="Text 12"/>
          <p:cNvSpPr/>
          <p:nvPr/>
        </p:nvSpPr>
        <p:spPr>
          <a:xfrm>
            <a:off x="6365880" y="214308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January 2024 ETF approval was a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watershed moment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Wall Street has embraced Bitcoin, with $85B+ in ETF AUM, corporate treasury strategies, and major banks offering crypto services. This genie cannot be put back in the bottle.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18" name="Shape 13"/>
          <p:cNvSpPr/>
          <p:nvPr/>
        </p:nvSpPr>
        <p:spPr>
          <a:xfrm>
            <a:off x="341280" y="31194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19" name="Shape 14"/>
          <p:cNvSpPr/>
          <p:nvPr/>
        </p:nvSpPr>
        <p:spPr>
          <a:xfrm>
            <a:off x="547560" y="33256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0" name="Text 15"/>
          <p:cNvSpPr/>
          <p:nvPr/>
        </p:nvSpPr>
        <p:spPr>
          <a:xfrm>
            <a:off x="476280" y="33019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3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1" name="Text 16"/>
          <p:cNvSpPr/>
          <p:nvPr/>
        </p:nvSpPr>
        <p:spPr>
          <a:xfrm>
            <a:off x="1095480" y="3301920"/>
            <a:ext cx="4822920" cy="50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HALVING CYCLES CREATE PREDICTABLE PATTERNS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2" name="Text 17"/>
          <p:cNvSpPr/>
          <p:nvPr/>
        </p:nvSpPr>
        <p:spPr>
          <a:xfrm>
            <a:off x="523800" y="390528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programmed scarcity mechanism has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historically preceded major bull runs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. The 2024 halving reduced daily new supply to 450 BTC (0.85% inflation), setting the stage for the next supply-demand imbalance.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3" name="Shape 18"/>
          <p:cNvSpPr/>
          <p:nvPr/>
        </p:nvSpPr>
        <p:spPr>
          <a:xfrm>
            <a:off x="6183360" y="3119400"/>
            <a:ext cx="5664240" cy="1584360"/>
          </a:xfrm>
          <a:custGeom>
            <a:avLst/>
            <a:gdLst/>
            <a:ahLst/>
            <a:rect l="l" t="t" r="r" b="b"/>
            <a:pathLst>
              <a:path w="5667375" h="1587500">
                <a:moveTo>
                  <a:pt x="0" y="0"/>
                </a:moveTo>
                <a:lnTo>
                  <a:pt x="5667375" y="0"/>
                </a:lnTo>
                <a:lnTo>
                  <a:pt x="5667375" y="1587500"/>
                </a:lnTo>
                <a:lnTo>
                  <a:pt x="0" y="15875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4" name="Shape 19"/>
          <p:cNvSpPr/>
          <p:nvPr/>
        </p:nvSpPr>
        <p:spPr>
          <a:xfrm>
            <a:off x="6389640" y="33256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25" name="Text 20"/>
          <p:cNvSpPr/>
          <p:nvPr/>
        </p:nvSpPr>
        <p:spPr>
          <a:xfrm>
            <a:off x="6318360" y="33019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4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6" name="Text 21"/>
          <p:cNvSpPr/>
          <p:nvPr/>
        </p:nvSpPr>
        <p:spPr>
          <a:xfrm>
            <a:off x="6937200" y="3301920"/>
            <a:ext cx="47512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CHALLENGES REMAIN, BUT SOLUTIONS EMERGE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27" name="Text 22"/>
          <p:cNvSpPr/>
          <p:nvPr/>
        </p:nvSpPr>
        <p:spPr>
          <a:xfrm>
            <a:off x="6365880" y="384192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Scalability, energy consumption, and regulation are real challenges. However,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Layer 2 solutions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(Lightning Network), renewable energy adoption (~55% of mining), and regulatory clarity are addressing these issues.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28" name="Shape 23"/>
          <p:cNvSpPr/>
          <p:nvPr/>
        </p:nvSpPr>
        <p:spPr>
          <a:xfrm>
            <a:off x="341280" y="4881600"/>
            <a:ext cx="5664240" cy="152064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29" name="Shape 24"/>
          <p:cNvSpPr/>
          <p:nvPr/>
        </p:nvSpPr>
        <p:spPr>
          <a:xfrm>
            <a:off x="547560" y="50878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0" name="Text 25"/>
          <p:cNvSpPr/>
          <p:nvPr/>
        </p:nvSpPr>
        <p:spPr>
          <a:xfrm>
            <a:off x="476280" y="50641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5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1" name="Text 26"/>
          <p:cNvSpPr/>
          <p:nvPr/>
        </p:nvSpPr>
        <p:spPr>
          <a:xfrm>
            <a:off x="1095480" y="5064120"/>
            <a:ext cx="3259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"DIGITAL GOLD" STILL EVOLVING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2" name="Text 27"/>
          <p:cNvSpPr/>
          <p:nvPr/>
        </p:nvSpPr>
        <p:spPr>
          <a:xfrm>
            <a:off x="523800" y="560376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Bitcoin's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scarcity and decentralization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provide unique value, but it hasn't consistently acted as a crisis hedge like gold. As the asset matures and volatility decreases, the digital gold thesis may be validated—or Bitcoin may carve out a different role.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3" name="Shape 28"/>
          <p:cNvSpPr/>
          <p:nvPr/>
        </p:nvSpPr>
        <p:spPr>
          <a:xfrm>
            <a:off x="6183360" y="4881600"/>
            <a:ext cx="5664240" cy="1520640"/>
          </a:xfrm>
          <a:custGeom>
            <a:avLst/>
            <a:gdLst/>
            <a:ahLst/>
            <a:rect l="l" t="t" r="r" b="b"/>
            <a:pathLst>
              <a:path w="5667375" h="1524000">
                <a:moveTo>
                  <a:pt x="0" y="0"/>
                </a:moveTo>
                <a:lnTo>
                  <a:pt x="5667375" y="0"/>
                </a:lnTo>
                <a:lnTo>
                  <a:pt x="5667375" y="1524000"/>
                </a:lnTo>
                <a:lnTo>
                  <a:pt x="0" y="152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62621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34" name="Shape 29"/>
          <p:cNvSpPr/>
          <p:nvPr/>
        </p:nvSpPr>
        <p:spPr>
          <a:xfrm>
            <a:off x="6389640" y="5087880"/>
            <a:ext cx="393480" cy="393480"/>
          </a:xfrm>
          <a:custGeom>
            <a:avLst/>
            <a:gdLst/>
            <a:ahLst/>
            <a:rect l="l" t="t" r="r" b="b"/>
            <a:pathLst>
              <a:path w="396875" h="396875">
                <a:moveTo>
                  <a:pt x="0" y="0"/>
                </a:moveTo>
                <a:lnTo>
                  <a:pt x="396875" y="0"/>
                </a:lnTo>
                <a:lnTo>
                  <a:pt x="396875" y="396875"/>
                </a:lnTo>
                <a:lnTo>
                  <a:pt x="0" y="39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5" name="Text 30"/>
          <p:cNvSpPr/>
          <p:nvPr/>
        </p:nvSpPr>
        <p:spPr>
          <a:xfrm>
            <a:off x="6318360" y="5064120"/>
            <a:ext cx="44136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6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6" name="Text 31"/>
          <p:cNvSpPr/>
          <p:nvPr/>
        </p:nvSpPr>
        <p:spPr>
          <a:xfrm>
            <a:off x="6937200" y="5064120"/>
            <a:ext cx="32986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2024-2030: THE CRITICAL DECADE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37" name="Text 32"/>
          <p:cNvSpPr/>
          <p:nvPr/>
        </p:nvSpPr>
        <p:spPr>
          <a:xfrm>
            <a:off x="6365880" y="5603760"/>
            <a:ext cx="5362560" cy="61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40000"/>
              </a:lnSpc>
              <a:buNone/>
            </a:pP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next 6 years will determine Bitcoin's long-term trajectory. </a:t>
            </a: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ETF adoption, corporate treasuries, nation-state accumulation, and the 2028 halving</a:t>
            </a:r>
            <a:r>
              <a:rPr b="0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 could propel Bitcoin to $150K-$500K+ or higher. The foundation is being laid for mainstream integration.</a:t>
            </a:r>
            <a:endParaRPr b="0" lang="en-HK" sz="1000" spc="-1" strike="noStrike">
              <a:latin typeface="Arial"/>
            </a:endParaRPr>
          </a:p>
        </p:txBody>
      </p:sp>
      <p:sp>
        <p:nvSpPr>
          <p:cNvPr id="1038" name="Shape 33"/>
          <p:cNvSpPr/>
          <p:nvPr/>
        </p:nvSpPr>
        <p:spPr>
          <a:xfrm>
            <a:off x="341280" y="6580080"/>
            <a:ext cx="11505960" cy="1663560"/>
          </a:xfrm>
          <a:custGeom>
            <a:avLst/>
            <a:gdLst/>
            <a:ahLst/>
            <a:rect l="l" t="t" r="r" b="b"/>
            <a:pathLst>
              <a:path w="11509375" h="1666875">
                <a:moveTo>
                  <a:pt x="0" y="0"/>
                </a:moveTo>
                <a:lnTo>
                  <a:pt x="11509375" y="0"/>
                </a:lnTo>
                <a:lnTo>
                  <a:pt x="11509375" y="1666875"/>
                </a:lnTo>
                <a:lnTo>
                  <a:pt x="0" y="1666875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39" name="Text 34"/>
          <p:cNvSpPr/>
          <p:nvPr/>
        </p:nvSpPr>
        <p:spPr>
          <a:xfrm>
            <a:off x="523800" y="7032600"/>
            <a:ext cx="1001376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10000"/>
              </a:lnSpc>
              <a:buNone/>
            </a:pPr>
            <a:r>
              <a:rPr b="1" lang="en-US" sz="1500" spc="-1" strike="noStrike">
                <a:solidFill>
                  <a:srgbClr val="ffffff"/>
                </a:solidFill>
                <a:latin typeface="Noto Sans SC"/>
                <a:ea typeface="Noto Sans SC"/>
              </a:rPr>
              <a:t>THE BOTTOM LINE</a:t>
            </a:r>
            <a:endParaRPr b="0" lang="en-HK" sz="1500" spc="-1" strike="noStrike">
              <a:latin typeface="Arial"/>
            </a:endParaRPr>
          </a:p>
        </p:txBody>
      </p:sp>
      <p:sp>
        <p:nvSpPr>
          <p:cNvPr id="1040" name="Text 35"/>
          <p:cNvSpPr/>
          <p:nvPr/>
        </p:nvSpPr>
        <p:spPr>
          <a:xfrm>
            <a:off x="523800" y="7350120"/>
            <a:ext cx="9990000" cy="44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30000"/>
              </a:lnSpc>
              <a:buNone/>
            </a:pP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Bitcoin represents both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transformative potential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(decentralized, scarce, borderless money) and </a:t>
            </a:r>
            <a:r>
              <a:rPr b="1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significant risks</a:t>
            </a:r>
            <a:r>
              <a:rPr b="0" lang="en-US" sz="1130" spc="-1" strike="noStrike">
                <a:solidFill>
                  <a:srgbClr val="ffffff"/>
                </a:solidFill>
                <a:latin typeface="MiSans"/>
                <a:ea typeface="MiSans"/>
              </a:rPr>
              <a:t> (volatility, regulation, competition). Approach with understanding of both.</a:t>
            </a:r>
            <a:endParaRPr b="0" lang="en-HK" sz="1130" spc="-1" strike="noStrike">
              <a:latin typeface="Arial"/>
            </a:endParaRPr>
          </a:p>
        </p:txBody>
      </p:sp>
      <p:sp>
        <p:nvSpPr>
          <p:cNvPr id="1041" name="Shape 36"/>
          <p:cNvSpPr/>
          <p:nvPr/>
        </p:nvSpPr>
        <p:spPr>
          <a:xfrm>
            <a:off x="10662840" y="6786720"/>
            <a:ext cx="981000" cy="1251000"/>
          </a:xfrm>
          <a:custGeom>
            <a:avLst/>
            <a:gdLst/>
            <a:ahLst/>
            <a:rect l="l" t="t" r="r" b="b"/>
            <a:pathLst>
              <a:path w="984250" h="1254125">
                <a:moveTo>
                  <a:pt x="0" y="0"/>
                </a:moveTo>
                <a:lnTo>
                  <a:pt x="984250" y="0"/>
                </a:lnTo>
                <a:lnTo>
                  <a:pt x="984250" y="1254125"/>
                </a:lnTo>
                <a:lnTo>
                  <a:pt x="0" y="1254125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2" name="Text 37"/>
          <p:cNvSpPr/>
          <p:nvPr/>
        </p:nvSpPr>
        <p:spPr>
          <a:xfrm>
            <a:off x="10781640" y="6937200"/>
            <a:ext cx="743040" cy="94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2026-2030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WILL DEFINE</a:t>
            </a:r>
            <a:endParaRPr b="0" lang="en-HK" sz="1000" spc="-1" strike="noStrike">
              <a:latin typeface="Arial"/>
            </a:endParaRPr>
          </a:p>
          <a:p>
            <a:pPr algn="ctr">
              <a:lnSpc>
                <a:spcPct val="130000"/>
              </a:lnSpc>
              <a:buNone/>
            </a:pPr>
            <a:r>
              <a:rPr b="1" lang="en-US" sz="1000" spc="-1" strike="noStrike">
                <a:solidFill>
                  <a:srgbClr val="000000"/>
                </a:solidFill>
                <a:latin typeface="MiSans"/>
                <a:ea typeface="MiSans"/>
              </a:rPr>
              <a:t>THE FUTURE</a:t>
            </a:r>
            <a:endParaRPr b="0" lang="en-HK" sz="1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3" name="Image 0"/>
          <p:cNvSpPr/>
          <p:nvPr/>
        </p:nvSpPr>
        <p:spPr>
          <a:xfrm>
            <a:off x="0" y="0"/>
            <a:ext cx="12188880" cy="6854760"/>
          </a:xfrm>
          <a:prstGeom prst="roundRect">
            <a:avLst>
              <a:gd name="adj" fmla="val 0"/>
            </a:avLst>
          </a:prstGeom>
          <a:solidFill>
            <a:srgbClr val="729fc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4" name="Shape 0"/>
          <p:cNvSpPr/>
          <p:nvPr/>
        </p:nvSpPr>
        <p:spPr>
          <a:xfrm>
            <a:off x="0" y="0"/>
            <a:ext cx="12188880" cy="6854760"/>
          </a:xfrm>
          <a:custGeom>
            <a:avLst/>
            <a:gdLst/>
            <a:ahLst/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>
              <a:alpha val="90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5" name="Shape 1"/>
          <p:cNvSpPr/>
          <p:nvPr/>
        </p:nvSpPr>
        <p:spPr>
          <a:xfrm>
            <a:off x="3355920" y="676440"/>
            <a:ext cx="5473800" cy="4359240"/>
          </a:xfrm>
          <a:custGeom>
            <a:avLst/>
            <a:gdLst/>
            <a:ahLst/>
            <a:rect l="l" t="t" r="r" b="b"/>
            <a:pathLst>
              <a:path w="5476875" h="4362450">
                <a:moveTo>
                  <a:pt x="0" y="0"/>
                </a:moveTo>
                <a:lnTo>
                  <a:pt x="5476875" y="0"/>
                </a:lnTo>
                <a:lnTo>
                  <a:pt x="5476875" y="4362450"/>
                </a:lnTo>
                <a:lnTo>
                  <a:pt x="0" y="43624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75858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46" name="Text 2"/>
          <p:cNvSpPr/>
          <p:nvPr/>
        </p:nvSpPr>
        <p:spPr>
          <a:xfrm>
            <a:off x="3670200" y="1162080"/>
            <a:ext cx="484488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80000"/>
              </a:lnSpc>
              <a:buNone/>
            </a:pPr>
            <a:r>
              <a:rPr b="1" lang="en-US" sz="5400" spc="-1" strike="noStrike">
                <a:solidFill>
                  <a:srgbClr val="000000"/>
                </a:solidFill>
                <a:latin typeface="Noto Sans SC"/>
                <a:ea typeface="Noto Sans SC"/>
              </a:rPr>
              <a:t>THANK YOU</a:t>
            </a:r>
            <a:endParaRPr b="0" lang="en-HK" sz="5400" spc="-1" strike="noStrike">
              <a:latin typeface="Arial"/>
            </a:endParaRPr>
          </a:p>
        </p:txBody>
      </p:sp>
      <p:sp>
        <p:nvSpPr>
          <p:cNvPr id="1047" name="Shape 3"/>
          <p:cNvSpPr/>
          <p:nvPr/>
        </p:nvSpPr>
        <p:spPr>
          <a:xfrm>
            <a:off x="5181480" y="2076480"/>
            <a:ext cx="1825560" cy="73080"/>
          </a:xfrm>
          <a:custGeom>
            <a:avLst/>
            <a:gdLst/>
            <a:ahLst/>
            <a:rect l="l" t="t" r="r" b="b"/>
            <a:pathLst>
              <a:path w="1828800" h="76200">
                <a:moveTo>
                  <a:pt x="0" y="0"/>
                </a:moveTo>
                <a:lnTo>
                  <a:pt x="1828800" y="0"/>
                </a:lnTo>
                <a:lnTo>
                  <a:pt x="1828800" y="76200"/>
                </a:lnTo>
                <a:lnTo>
                  <a:pt x="0" y="762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</p:sp>
      <p:sp>
        <p:nvSpPr>
          <p:cNvPr id="1048" name="Text 4"/>
          <p:cNvSpPr/>
          <p:nvPr/>
        </p:nvSpPr>
        <p:spPr>
          <a:xfrm>
            <a:off x="3755880" y="2381400"/>
            <a:ext cx="4673520" cy="3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90000"/>
              </a:lnSpc>
              <a:buNone/>
            </a:pPr>
            <a:r>
              <a:rPr b="1" lang="en-US" sz="2700" spc="-1" strike="noStrike">
                <a:solidFill>
                  <a:srgbClr val="000000"/>
                </a:solidFill>
                <a:latin typeface="Noto Sans SC"/>
                <a:ea typeface="Noto Sans SC"/>
              </a:rPr>
              <a:t>Questions &amp; Discussion</a:t>
            </a:r>
            <a:endParaRPr b="0" lang="en-HK" sz="2700" spc="-1" strike="noStrike">
              <a:latin typeface="Arial"/>
            </a:endParaRPr>
          </a:p>
        </p:txBody>
      </p:sp>
      <p:sp>
        <p:nvSpPr>
          <p:cNvPr id="1049" name="Shape 5"/>
          <p:cNvSpPr/>
          <p:nvPr/>
        </p:nvSpPr>
        <p:spPr>
          <a:xfrm>
            <a:off x="3870360" y="3095640"/>
            <a:ext cx="4444920" cy="1425600"/>
          </a:xfrm>
          <a:custGeom>
            <a:avLst/>
            <a:gdLst/>
            <a:ahLst/>
            <a:rect l="l" t="t" r="r" b="b"/>
            <a:pathLst>
              <a:path w="4448175" h="1428750">
                <a:moveTo>
                  <a:pt x="0" y="0"/>
                </a:moveTo>
                <a:lnTo>
                  <a:pt x="4448175" y="0"/>
                </a:lnTo>
                <a:lnTo>
                  <a:pt x="4448175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solidFill>
            <a:srgbClr val="000000"/>
          </a:solidFill>
          <a:ln w="7620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50" name="Text 6"/>
          <p:cNvSpPr/>
          <p:nvPr/>
        </p:nvSpPr>
        <p:spPr>
          <a:xfrm>
            <a:off x="4070520" y="3352680"/>
            <a:ext cx="4044960" cy="91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In a world of infinite money printing,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can a fixed-supply digital asset</a:t>
            </a:r>
            <a:endParaRPr b="0" lang="en-HK" sz="1800" spc="-1" strike="noStrike">
              <a:latin typeface="Arial"/>
            </a:endParaRPr>
          </a:p>
          <a:p>
            <a:pPr algn="ctr">
              <a:lnSpc>
                <a:spcPct val="11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Noto Sans SC"/>
                <a:ea typeface="Noto Sans SC"/>
              </a:rPr>
              <a:t>become the ultimate store of value?</a:t>
            </a:r>
            <a:endParaRPr b="0" lang="en-HK" sz="1800" spc="-1" strike="noStrike">
              <a:latin typeface="Arial"/>
            </a:endParaRPr>
          </a:p>
        </p:txBody>
      </p:sp>
      <p:sp>
        <p:nvSpPr>
          <p:cNvPr id="1051" name="Shape 7"/>
          <p:cNvSpPr/>
          <p:nvPr/>
        </p:nvSpPr>
        <p:spPr>
          <a:xfrm>
            <a:off x="3743640" y="5400720"/>
            <a:ext cx="4701960" cy="777960"/>
          </a:xfrm>
          <a:custGeom>
            <a:avLst/>
            <a:gdLst/>
            <a:ahLst/>
            <a:rect l="l" t="t" r="r" b="b"/>
            <a:pathLst>
              <a:path w="4705350" h="781050">
                <a:moveTo>
                  <a:pt x="0" y="0"/>
                </a:moveTo>
                <a:lnTo>
                  <a:pt x="4705350" y="0"/>
                </a:lnTo>
                <a:lnTo>
                  <a:pt x="4705350" y="781050"/>
                </a:lnTo>
                <a:lnTo>
                  <a:pt x="0" y="781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76200">
            <a:solidFill>
              <a:srgbClr val="000000"/>
            </a:solidFill>
            <a:round/>
          </a:ln>
          <a:effectLst>
            <a:outerShdw algn="bl" blurRad="101520" dir="2700000" dist="37674" kx="0" ky="0" rotWithShape="0" sx="100000" sy="100000">
              <a:srgbClr val="000000"/>
            </a:outerShdw>
          </a:effectLst>
        </p:spPr>
        <p:style>
          <a:lnRef idx="0"/>
          <a:fillRef idx="0"/>
          <a:effectRef idx="0"/>
          <a:fontRef idx="minor"/>
        </p:style>
      </p:sp>
      <p:sp>
        <p:nvSpPr>
          <p:cNvPr id="1052" name="Text 8"/>
          <p:cNvSpPr/>
          <p:nvPr/>
        </p:nvSpPr>
        <p:spPr>
          <a:xfrm>
            <a:off x="4001040" y="5657760"/>
            <a:ext cx="4282920" cy="26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20000"/>
              </a:lnSpc>
              <a:buNone/>
            </a:pP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▶ </a:t>
            </a:r>
            <a:r>
              <a:rPr b="1" lang="en-US" sz="1500" spc="-1" strike="noStrike">
                <a:solidFill>
                  <a:srgbClr val="000000"/>
                </a:solidFill>
                <a:latin typeface="Noto Sans SC"/>
                <a:ea typeface="Noto Sans SC"/>
              </a:rPr>
              <a:t>Bitcoin: The Digital Revolution | March 2026</a:t>
            </a:r>
            <a:endParaRPr b="0" lang="en-HK" sz="15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333333"/>
      </a:dk2>
      <a:lt2>
        <a:srgbClr val="eeeeee"/>
      </a:lt2>
      <a:accent1>
        <a:srgbClr val="8daac2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Application>LibreOffice/7.3.7.2$Linux_X86_64 LibreOffice_project/30$Build-2</Application>
  <AppVersion>15.0000</AppVersion>
  <Words>0</Words>
  <Paragraphs>0</Paragraphs>
  <Company>Moonshot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2026-03-18T08:32:36Z</dcterms:created>
  <dc:creator>Kimi</dc:creator>
  <dc:description/>
  <dc:language>en-HK</dc:language>
  <cp:lastModifiedBy/>
  <dcterms:modified xsi:type="dcterms:W3CDTF">2026-04-27T00:34:18Z</dcterms:modified>
  <cp:revision>9</cp:revision>
  <dc:subject>Bitcoin: The Digital Revolution</dc:subject>
  <dc:title>Bitcoin: The Digital Revolution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{"Label":"Bitcoin: The Digital Revolution","ContentProducer":"001191110108MACG2KBH8F10000","ProduceID":"19d000e5-9a32-8b0f-8000-00005ec375b0","ReservedCode1":"","ContentPropagator":"001191110108MACG2KBH8F20000","PropagateID":"19d000e5-9a32-8b0f-8000-00005ec375b0","ReservedCode2":""}</vt:lpwstr>
  </property>
  <property fmtid="{D5CDD505-2E9C-101B-9397-08002B2CF9AE}" pid="3" name="Notes">
    <vt:i4>27</vt:i4>
  </property>
  <property fmtid="{D5CDD505-2E9C-101B-9397-08002B2CF9AE}" pid="4" name="PresentationFormat">
    <vt:lpwstr>On-screen Show (16:9)</vt:lpwstr>
  </property>
  <property fmtid="{D5CDD505-2E9C-101B-9397-08002B2CF9AE}" pid="5" name="Slides">
    <vt:i4>27</vt:i4>
  </property>
</Properties>
</file>