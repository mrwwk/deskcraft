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notesSlides/_rels/notesSlide2.xml.rels" ContentType="application/vnd.openxmlformats-package.relationships+xml"/>
  <Override PartName="/ppt/notesSlides/_rels/notesSlide26.xml.rels" ContentType="application/vnd.openxmlformats-package.relationships+xml"/>
  <Override PartName="/ppt/notesSlides/_rels/notesSlide11.xml.rels" ContentType="application/vnd.openxmlformats-package.relationships+xml"/>
  <Override PartName="/ppt/notesSlides/_rels/notesSlide14.xml.rels" ContentType="application/vnd.openxmlformats-package.relationships+xml"/>
  <Override PartName="/ppt/notesSlides/_rels/notesSlide1.xml.rels" ContentType="application/vnd.openxmlformats-package.relationships+xml"/>
  <Override PartName="/ppt/notesSlides/_rels/notesSlide10.xml.rels" ContentType="application/vnd.openxmlformats-package.relationships+xml"/>
  <Override PartName="/ppt/notesSlides/_rels/notesSlide25.xml.rels" ContentType="application/vnd.openxmlformats-package.relationships+xml"/>
  <Override PartName="/ppt/notesSlides/_rels/notesSlide22.xml.rels" ContentType="application/vnd.openxmlformats-package.relationships+xml"/>
  <Override PartName="/ppt/notesSlides/_rels/notesSlide23.xml.rels" ContentType="application/vnd.openxmlformats-package.relationships+xml"/>
  <Override PartName="/ppt/notesSlides/_rels/notesSlide24.xml.rels" ContentType="application/vnd.openxmlformats-package.relationships+xml"/>
  <Override PartName="/ppt/notesSlides/_rels/notesSlide5.xml.rels" ContentType="application/vnd.openxmlformats-package.relationships+xml"/>
  <Override PartName="/ppt/notesSlides/_rels/notesSlide19.xml.rels" ContentType="application/vnd.openxmlformats-package.relationships+xml"/>
  <Override PartName="/ppt/notesSlides/_rels/notesSlide20.xml.rels" ContentType="application/vnd.openxmlformats-package.relationships+xml"/>
  <Override PartName="/ppt/notesSlides/_rels/notesSlide21.xml.rels" ContentType="application/vnd.openxmlformats-package.relationships+xml"/>
  <Override PartName="/ppt/notesSlides/_rels/notesSlide9.xml.rels" ContentType="application/vnd.openxmlformats-package.relationships+xml"/>
  <Override PartName="/ppt/notesSlides/_rels/notesSlide13.xml.rels" ContentType="application/vnd.openxmlformats-package.relationships+xml"/>
  <Override PartName="/ppt/notesSlides/_rels/notesSlide18.xml.rels" ContentType="application/vnd.openxmlformats-package.relationships+xml"/>
  <Override PartName="/ppt/notesSlides/_rels/notesSlide12.xml.rels" ContentType="application/vnd.openxmlformats-package.relationships+xml"/>
  <Override PartName="/ppt/notesSlides/_rels/notesSlide8.xml.rels" ContentType="application/vnd.openxmlformats-package.relationships+xml"/>
  <Override PartName="/ppt/notesSlides/_rels/notesSlide17.xml.rels" ContentType="application/vnd.openxmlformats-package.relationships+xml"/>
  <Override PartName="/ppt/notesSlides/_rels/notesSlide4.xml.rels" ContentType="application/vnd.openxmlformats-package.relationships+xml"/>
  <Override PartName="/ppt/notesSlides/_rels/notesSlide7.xml.rels" ContentType="application/vnd.openxmlformats-package.relationships+xml"/>
  <Override PartName="/ppt/notesSlides/_rels/notesSlide16.xml.rels" ContentType="application/vnd.openxmlformats-package.relationships+xml"/>
  <Override PartName="/ppt/notesSlides/_rels/notesSlide6.xml.rels" ContentType="application/vnd.openxmlformats-package.relationships+xml"/>
  <Override PartName="/ppt/notesSlides/_rels/notesSlide15.xml.rels" ContentType="application/vnd.openxmlformats-package.relationships+xml"/>
  <Override PartName="/ppt/notesSlides/_rels/notesSlide3.xml.rels" ContentType="application/vnd.openxmlformats-package.relationships+xml"/>
  <Override PartName="/ppt/notesSlides/_rels/notesSlide27.xml.rels" ContentType="application/vnd.openxmlformats-package.relationships+xml"/>
  <Override PartName="/ppt/notesSlides/notesSlide9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10.png" ContentType="image/png"/>
  <Override PartName="/ppt/media/image6.png" ContentType="image/png"/>
  <Override PartName="/ppt/media/image7.png" ContentType="image/png"/>
  <Override PartName="/ppt/media/image8.png" ContentType="image/png"/>
  <Override PartName="/ppt/media/image9.png" ContentType="image/png"/>
  <Override PartName="/ppt/presProps.xml" ContentType="application/vnd.openxmlformats-officedocument.presentationml.presPro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5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Override PartName="/ppt/slides/slide2.xml" ContentType="application/vnd.openxmlformats-officedocument.presentationml.slide+xml"/>
  <Override PartName="/ppt/slides/slide1.xml" ContentType="application/vnd.openxmlformats-officedocument.presentationml.slide+xml"/>
  <Override PartName="/ppt/slides/slide14.xml" ContentType="application/vnd.openxmlformats-officedocument.presentationml.slide+xml"/>
  <Override PartName="/ppt/slides/slide27.xml" ContentType="application/vnd.openxmlformats-officedocument.presentationml.slide+xml"/>
  <Override PartName="/ppt/slides/slide15.xml" ContentType="application/vnd.openxmlformats-officedocument.presentationml.slide+xml"/>
  <Override PartName="/ppt/slides/slide26.xml" ContentType="application/vnd.openxmlformats-officedocument.presentationml.slide+xml"/>
  <Override PartName="/ppt/slides/slide25.xml" ContentType="application/vnd.openxmlformats-officedocument.presentationml.slide+xml"/>
  <Override PartName="/ppt/slides/slide24.xml" ContentType="application/vnd.openxmlformats-officedocument.presentationml.slide+xml"/>
  <Override PartName="/ppt/slides/slide23.xml" ContentType="application/vnd.openxmlformats-officedocument.presentationml.slide+xml"/>
  <Override PartName="/ppt/slides/slide22.xml" ContentType="application/vnd.openxmlformats-officedocument.presentationml.slide+xml"/>
  <Override PartName="/ppt/slides/slide21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18.xml" ContentType="application/vnd.openxmlformats-officedocument.presentationml.slide+xml"/>
  <Override PartName="/ppt/slides/slide17.xml" ContentType="application/vnd.openxmlformats-officedocument.presentationml.slide+xml"/>
  <Override PartName="/ppt/slides/_rels/slide17.xml.rels" ContentType="application/vnd.openxmlformats-package.relationships+xml"/>
  <Override PartName="/ppt/slides/_rels/slide18.xml.rels" ContentType="application/vnd.openxmlformats-package.relationships+xml"/>
  <Override PartName="/ppt/slides/_rels/slide20.xml.rels" ContentType="application/vnd.openxmlformats-package.relationships+xml"/>
  <Override PartName="/ppt/slides/_rels/slide2.xml.rels" ContentType="application/vnd.openxmlformats-package.relationships+xml"/>
  <Override PartName="/ppt/slides/_rels/slide19.xml.rels" ContentType="application/vnd.openxmlformats-package.relationships+xml"/>
  <Override PartName="/ppt/slides/_rels/slide21.xml.rels" ContentType="application/vnd.openxmlformats-package.relationships+xml"/>
  <Override PartName="/ppt/slides/_rels/slide3.xml.rels" ContentType="application/vnd.openxmlformats-package.relationships+xml"/>
  <Override PartName="/ppt/slides/_rels/slide22.xml.rels" ContentType="application/vnd.openxmlformats-package.relationships+xml"/>
  <Override PartName="/ppt/slides/_rels/slide23.xml.rels" ContentType="application/vnd.openxmlformats-package.relationships+xml"/>
  <Override PartName="/ppt/slides/_rels/slide15.xml.rels" ContentType="application/vnd.openxmlformats-package.relationships+xml"/>
  <Override PartName="/ppt/slides/_rels/slide25.xml.rels" ContentType="application/vnd.openxmlformats-package.relationships+xml"/>
  <Override PartName="/ppt/slides/_rels/slide10.xml.rels" ContentType="application/vnd.openxmlformats-package.relationships+xml"/>
  <Override PartName="/ppt/slides/_rels/slide16.xml.rels" ContentType="application/vnd.openxmlformats-package.relationshi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_rels/slide14.xml.rels" ContentType="application/vnd.openxmlformats-package.relationships+xml"/>
  <Override PartName="/ppt/slides/_rels/slide24.xml.rels" ContentType="application/vnd.openxmlformats-package.relationships+xml"/>
  <Override PartName="/ppt/slides/_rels/slide26.xml.rels" ContentType="application/vnd.openxmlformats-package.relationships+xml"/>
  <Override PartName="/ppt/slides/_rels/slide11.xml.rels" ContentType="application/vnd.openxmlformats-package.relationships+xml"/>
  <Override PartName="/ppt/slides/_rels/slide27.xml.rels" ContentType="application/vnd.openxmlformats-package.relationships+xml"/>
  <Override PartName="/ppt/slides/_rels/slide9.xml.rels" ContentType="application/vnd.openxmlformats-package.relationships+xml"/>
  <Override PartName="/ppt/slides/slide16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HK" sz="4400" spc="-1" strike="noStrike">
                <a:latin typeface="Arial"/>
              </a:rPr>
              <a:t>Click to move the slide</a:t>
            </a:r>
            <a:endParaRPr b="0" lang="en-HK" sz="4400" spc="-1" strike="noStrike">
              <a:latin typeface="Arial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HK" sz="2000" spc="-1" strike="noStrike">
                <a:latin typeface="Arial"/>
              </a:rPr>
              <a:t>Click to edit the notes format</a:t>
            </a:r>
            <a:endParaRPr b="0" lang="en-HK" sz="2000" spc="-1" strike="noStrike">
              <a:latin typeface="Arial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HK" sz="1400" spc="-1" strike="noStrike">
                <a:latin typeface="Times New Roman"/>
              </a:rPr>
              <a:t>&lt;header&gt;</a:t>
            </a:r>
            <a:endParaRPr b="0" lang="en-HK" sz="1400" spc="-1" strike="noStrike">
              <a:latin typeface="Times New Roman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r">
              <a:buNone/>
              <a:defRPr b="0" lang="en-HK" sz="1400" spc="-1" strike="noStrike">
                <a:latin typeface="Times New Roman"/>
              </a:defRPr>
            </a:lvl1pPr>
          </a:lstStyle>
          <a:p>
            <a:pPr algn="r">
              <a:buNone/>
            </a:pPr>
            <a:r>
              <a:rPr b="0" lang="en-HK" sz="1400" spc="-1" strike="noStrike">
                <a:latin typeface="Times New Roman"/>
              </a:rPr>
              <a:t>&lt;date/time&gt;</a:t>
            </a:r>
            <a:endParaRPr b="0" lang="en-HK" sz="1400" spc="-1" strike="noStrike">
              <a:latin typeface="Times New Roman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>
              <a:defRPr b="0" lang="en-HK" sz="1400" spc="-1" strike="noStrike">
                <a:latin typeface="Times New Roman"/>
              </a:defRPr>
            </a:lvl1pPr>
          </a:lstStyle>
          <a:p>
            <a:r>
              <a:rPr b="0" lang="en-HK" sz="1400" spc="-1" strike="noStrike">
                <a:latin typeface="Times New Roman"/>
              </a:rPr>
              <a:t>&lt;footer&gt;</a:t>
            </a:r>
            <a:endParaRPr b="0" lang="en-HK" sz="1400" spc="-1" strike="noStrike">
              <a:latin typeface="Times New Roman"/>
            </a:endParaRPr>
          </a:p>
        </p:txBody>
      </p:sp>
      <p:sp>
        <p:nvSpPr>
          <p:cNvPr id="43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buNone/>
              <a:defRPr b="0" lang="en-HK" sz="1400" spc="-1" strike="noStrike">
                <a:latin typeface="Times New Roman"/>
              </a:defRPr>
            </a:lvl1pPr>
          </a:lstStyle>
          <a:p>
            <a:pPr algn="r">
              <a:buNone/>
            </a:pPr>
            <a:fld id="{31870502-57F9-4344-8903-7AEBA305CC68}" type="slidenum">
              <a:rPr b="0" lang="en-HK" sz="1400" spc="-1" strike="noStrike">
                <a:latin typeface="Times New Roman"/>
              </a:rPr>
              <a:t>&lt;number&gt;</a:t>
            </a:fld>
            <a:endParaRPr b="0" lang="en-HK" sz="14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4.xml.rels><?xml version="1.0" encoding="UTF-8"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
</Relationships>
</file>

<file path=ppt/notesSlides/_rels/notesSlide25.xml.rels><?xml version="1.0" encoding="UTF-8"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
</Relationships>
</file>

<file path=ppt/notesSlides/_rels/notesSlide26.xml.rels><?xml version="1.0" encoding="UTF-8"?>
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
</Relationships>
</file>

<file path=ppt/notesSlides/_rels/notesSlide27.xml.rels><?xml version="1.0" encoding="UTF-8"?>
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05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055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72309EBA-1C61-4856-B626-8510624D68F8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05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058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5AC2CD26-6837-4910-88AB-86D08502906E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06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061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D58C6B8A-807E-4007-9E5C-43AD57481F16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06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HK" sz="1800" spc="-1" strike="noStrike">
                <a:latin typeface="Arial"/>
              </a:rPr>
              <a:t>Key talking point: The Genesis Block was mined on January 3</a:t>
            </a:r>
            <a:r>
              <a:rPr b="0" lang="en-HK" sz="1800" spc="-1" strike="noStrike" baseline="33000">
                <a:latin typeface="Arial"/>
              </a:rPr>
              <a:t>rd</a:t>
            </a:r>
            <a:r>
              <a:rPr b="0" lang="en-HK" sz="1800" spc="-1" strike="noStrike">
                <a:latin typeface="Arial"/>
              </a:rPr>
              <a:t>, 2009, embedding a headline about bank bailouts as a political statement by Satoshi Nakamoto.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1064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4CBA7B93-2093-45F1-9B4C-E9EF6046A66F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06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067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26364644-A0FD-4F24-9BFC-9D2A5EBDFF8E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06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070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0AA2353A-21E2-47E3-BEB7-C51598999052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07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073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EDB18389-45A8-43B9-BDE0-005B637A9B45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07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076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3E9BF71D-C79F-49A3-8E5F-84957E89AACA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07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079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E04F317E-B8F5-4307-9125-47A8E06C6957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08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082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E9A049CB-EFB6-4A6D-992F-4F2AB7255255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08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085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AD3E47EE-97BE-4351-A09C-A4B9A10084DD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08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088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A2D227B1-F093-4B79-AA10-0318383A87AA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09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091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883A21F4-DB5A-46E3-B0C1-172E6DA3531B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09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094" name="PlaceHolder 3"/>
          <p:cNvSpPr>
            <a:spLocks noGrp="1"/>
          </p:cNvSpPr>
          <p:nvPr>
            <p:ph type="sldNum" idx="17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5072D9BF-0CDA-45B6-931A-2DD9326BE70D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09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097" name="PlaceHolder 3"/>
          <p:cNvSpPr>
            <a:spLocks noGrp="1"/>
          </p:cNvSpPr>
          <p:nvPr>
            <p:ph type="sldNum" idx="18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9B0FEEEE-CC3F-4504-AA77-2C26440A7E75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09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100" name="PlaceHolder 3"/>
          <p:cNvSpPr>
            <a:spLocks noGrp="1"/>
          </p:cNvSpPr>
          <p:nvPr>
            <p:ph type="sldNum" idx="19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489644F1-56FC-48F7-9B20-FAC14C1409DB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10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103" name="PlaceHolder 3"/>
          <p:cNvSpPr>
            <a:spLocks noGrp="1"/>
          </p:cNvSpPr>
          <p:nvPr>
            <p:ph type="sldNum" idx="20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4DD50E90-6B17-4B9E-BA5C-FE25CF041448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10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106" name="PlaceHolder 3"/>
          <p:cNvSpPr>
            <a:spLocks noGrp="1"/>
          </p:cNvSpPr>
          <p:nvPr>
            <p:ph type="sldNum" idx="21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A5E347D8-E07B-4C87-BA50-D518212E94D0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10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109" name="PlaceHolder 3"/>
          <p:cNvSpPr>
            <a:spLocks noGrp="1"/>
          </p:cNvSpPr>
          <p:nvPr>
            <p:ph type="sldNum" idx="22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BC2634BD-7C52-4345-8BA8-27BB94DF7F0D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11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112" name="PlaceHolder 3"/>
          <p:cNvSpPr>
            <a:spLocks noGrp="1"/>
          </p:cNvSpPr>
          <p:nvPr>
            <p:ph type="sldNum" idx="23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2DAE1147-D8CF-46D4-B244-CE49258ACC67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11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115" name="PlaceHolder 3"/>
          <p:cNvSpPr>
            <a:spLocks noGrp="1"/>
          </p:cNvSpPr>
          <p:nvPr>
            <p:ph type="sldNum" idx="24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B4A5E9B2-6E33-45BF-B5D1-817435C7CD58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11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118" name="PlaceHolder 3"/>
          <p:cNvSpPr>
            <a:spLocks noGrp="1"/>
          </p:cNvSpPr>
          <p:nvPr>
            <p:ph type="sldNum" idx="25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AA2A2B63-2337-4732-BC87-FB728A83A9A6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12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121" name="PlaceHolder 3"/>
          <p:cNvSpPr>
            <a:spLocks noGrp="1"/>
          </p:cNvSpPr>
          <p:nvPr>
            <p:ph type="sldNum" idx="26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EFFD770E-8870-4158-969C-04AE682EFC5A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12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124" name="PlaceHolder 3"/>
          <p:cNvSpPr>
            <a:spLocks noGrp="1"/>
          </p:cNvSpPr>
          <p:nvPr>
            <p:ph type="sldNum" idx="27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7711DAF8-CA5C-4EE9-9099-1740A55089E3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12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127" name="PlaceHolder 3"/>
          <p:cNvSpPr>
            <a:spLocks noGrp="1"/>
          </p:cNvSpPr>
          <p:nvPr>
            <p:ph type="sldNum" idx="28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0397EF3F-9653-4E0B-906B-C7EB10711E3D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12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130" name="PlaceHolder 3"/>
          <p:cNvSpPr>
            <a:spLocks noGrp="1"/>
          </p:cNvSpPr>
          <p:nvPr>
            <p:ph type="sldNum" idx="29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5E7EB12A-7FC4-4276-B6EB-11AE709850A8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13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133" name="PlaceHolder 3"/>
          <p:cNvSpPr>
            <a:spLocks noGrp="1"/>
          </p:cNvSpPr>
          <p:nvPr>
            <p:ph type="sldNum" idx="30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C5DD6490-8BB0-4521-83B7-437B0ACA5F9D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HK" sz="4400" spc="-1" strike="noStrike">
                <a:latin typeface="Arial"/>
              </a:rPr>
              <a:t>Click to edit the title text format</a:t>
            </a:r>
            <a:endParaRPr b="0" lang="en-HK" sz="4400" spc="-1" strike="noStrike"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3200" spc="-1" strike="noStrike">
                <a:latin typeface="Arial"/>
              </a:rPr>
              <a:t>Click to edit the outline text format</a:t>
            </a:r>
            <a:endParaRPr b="0" lang="en-HK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HK" sz="2800" spc="-1" strike="noStrike">
                <a:latin typeface="Arial"/>
              </a:rPr>
              <a:t>Second Outline Level</a:t>
            </a:r>
            <a:endParaRPr b="0" lang="en-HK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400" spc="-1" strike="noStrike">
                <a:latin typeface="Arial"/>
              </a:rPr>
              <a:t>Third Outline Level</a:t>
            </a:r>
            <a:endParaRPr b="0" lang="en-HK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HK" sz="2000" spc="-1" strike="noStrike">
                <a:latin typeface="Arial"/>
              </a:rPr>
              <a:t>Fourth Outline Level</a:t>
            </a:r>
            <a:endParaRPr b="0" lang="en-HK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000" spc="-1" strike="noStrike">
                <a:latin typeface="Arial"/>
              </a:rPr>
              <a:t>Fifth Outline Level</a:t>
            </a:r>
            <a:endParaRPr b="0" lang="en-HK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000" spc="-1" strike="noStrike">
                <a:latin typeface="Arial"/>
              </a:rPr>
              <a:t>Sixth Outline Level</a:t>
            </a:r>
            <a:endParaRPr b="0" lang="en-HK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000" spc="-1" strike="noStrike">
                <a:latin typeface="Arial"/>
              </a:rPr>
              <a:t>Seventh Outline Level</a:t>
            </a:r>
            <a:endParaRPr b="0" lang="en-HK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8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Image 0"/>
          <p:cNvSpPr/>
          <p:nvPr/>
        </p:nvSpPr>
        <p:spPr>
          <a:xfrm>
            <a:off x="0" y="0"/>
            <a:ext cx="12191040" cy="6856920"/>
          </a:xfrm>
          <a:prstGeom prst="roundRect">
            <a:avLst>
              <a:gd name="adj" fmla="val 0"/>
            </a:avLst>
          </a:prstGeom>
          <a:solidFill>
            <a:srgbClr val="729fc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5" name="Shape 0"/>
          <p:cNvSpPr/>
          <p:nvPr/>
        </p:nvSpPr>
        <p:spPr>
          <a:xfrm>
            <a:off x="0" y="0"/>
            <a:ext cx="12191040" cy="6856920"/>
          </a:xfrm>
          <a:custGeom>
            <a:avLst/>
            <a:gdLst/>
            <a:ah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00008b">
              <a:alpha val="8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6" name="Shape 1"/>
          <p:cNvSpPr/>
          <p:nvPr/>
        </p:nvSpPr>
        <p:spPr>
          <a:xfrm>
            <a:off x="409680" y="714240"/>
            <a:ext cx="3704040" cy="780120"/>
          </a:xfrm>
          <a:custGeom>
            <a:avLst/>
            <a:gdLst/>
            <a:ahLst/>
            <a:rect l="l" t="t" r="r" b="b"/>
            <a:pathLst>
              <a:path w="3705225" h="781050">
                <a:moveTo>
                  <a:pt x="0" y="0"/>
                </a:moveTo>
                <a:lnTo>
                  <a:pt x="3705225" y="0"/>
                </a:lnTo>
                <a:lnTo>
                  <a:pt x="3705225" y="781050"/>
                </a:lnTo>
                <a:lnTo>
                  <a:pt x="0" y="781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75858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47" name="Text 2"/>
          <p:cNvSpPr/>
          <p:nvPr/>
        </p:nvSpPr>
        <p:spPr>
          <a:xfrm>
            <a:off x="666720" y="971640"/>
            <a:ext cx="3285000" cy="26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500" spc="143" strike="noStrike">
                <a:solidFill>
                  <a:srgbClr val="000000"/>
                </a:solidFill>
                <a:latin typeface="Noto Sans SC"/>
                <a:ea typeface="Noto Sans SC"/>
              </a:rPr>
              <a:t>FINANCIAL LECTURE SERIES</a:t>
            </a:r>
            <a:endParaRPr b="0" lang="en-HK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" name="Shape 3"/>
          <p:cNvSpPr/>
          <p:nvPr/>
        </p:nvSpPr>
        <p:spPr>
          <a:xfrm>
            <a:off x="409680" y="1876320"/>
            <a:ext cx="11371680" cy="3256560"/>
          </a:xfrm>
          <a:custGeom>
            <a:avLst/>
            <a:gdLst/>
            <a:ahLst/>
            <a:rect l="l" t="t" r="r" b="b"/>
            <a:pathLst>
              <a:path w="11372850" h="3257550">
                <a:moveTo>
                  <a:pt x="0" y="0"/>
                </a:moveTo>
                <a:lnTo>
                  <a:pt x="11372850" y="0"/>
                </a:lnTo>
                <a:lnTo>
                  <a:pt x="11372850" y="3257550"/>
                </a:lnTo>
                <a:lnTo>
                  <a:pt x="0" y="32575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75858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49" name="Text 4"/>
          <p:cNvSpPr/>
          <p:nvPr/>
        </p:nvSpPr>
        <p:spPr>
          <a:xfrm>
            <a:off x="895320" y="2362320"/>
            <a:ext cx="10857600" cy="91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80000"/>
              </a:lnSpc>
              <a:buNone/>
            </a:pPr>
            <a:r>
              <a:rPr b="1" lang="en-US" sz="7200" spc="-1" strike="noStrike">
                <a:solidFill>
                  <a:srgbClr val="ffffff"/>
                </a:solidFill>
                <a:latin typeface="Noto Sans SC"/>
                <a:ea typeface="Noto Sans SC"/>
              </a:rPr>
              <a:t>BITCOIN</a:t>
            </a:r>
            <a:endParaRPr b="0" lang="en-HK" sz="7200" spc="-1" strike="noStrike">
              <a:latin typeface="Arial"/>
            </a:endParaRPr>
          </a:p>
        </p:txBody>
      </p:sp>
      <p:sp>
        <p:nvSpPr>
          <p:cNvPr id="50" name="Shape 5"/>
          <p:cNvSpPr/>
          <p:nvPr/>
        </p:nvSpPr>
        <p:spPr>
          <a:xfrm>
            <a:off x="895320" y="3505320"/>
            <a:ext cx="1218240" cy="75240"/>
          </a:xfrm>
          <a:custGeom>
            <a:avLst/>
            <a:gdLst/>
            <a:ahLst/>
            <a:rect l="l" t="t" r="r" b="b"/>
            <a:pathLst>
              <a:path w="1219200" h="76200">
                <a:moveTo>
                  <a:pt x="0" y="0"/>
                </a:moveTo>
                <a:lnTo>
                  <a:pt x="1219200" y="0"/>
                </a:lnTo>
                <a:lnTo>
                  <a:pt x="12192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1" name="Text 6"/>
          <p:cNvSpPr/>
          <p:nvPr/>
        </p:nvSpPr>
        <p:spPr>
          <a:xfrm>
            <a:off x="895320" y="3809880"/>
            <a:ext cx="10571760" cy="3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700" spc="-1" strike="noStrike">
                <a:solidFill>
                  <a:srgbClr val="ffffff"/>
                </a:solidFill>
                <a:latin typeface="Noto Sans SC"/>
                <a:ea typeface="Noto Sans SC"/>
              </a:rPr>
              <a:t>THE DIGITAL REVOLUTION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52" name="Text 7"/>
          <p:cNvSpPr/>
          <p:nvPr/>
        </p:nvSpPr>
        <p:spPr>
          <a:xfrm>
            <a:off x="895320" y="4343400"/>
            <a:ext cx="10514520" cy="30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Noto Sans SC"/>
                <a:ea typeface="Noto Sans SC"/>
              </a:rPr>
              <a:t>A Comprehensive Analysis of History, Present &amp; Future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53" name="Shape 8"/>
          <p:cNvSpPr/>
          <p:nvPr/>
        </p:nvSpPr>
        <p:spPr>
          <a:xfrm>
            <a:off x="409680" y="5514840"/>
            <a:ext cx="1294200" cy="627480"/>
          </a:xfrm>
          <a:custGeom>
            <a:avLst/>
            <a:gdLst/>
            <a:ahLst/>
            <a:rect l="l" t="t" r="r" b="b"/>
            <a:pathLst>
              <a:path w="1295400" h="628650">
                <a:moveTo>
                  <a:pt x="0" y="0"/>
                </a:moveTo>
                <a:lnTo>
                  <a:pt x="1295400" y="0"/>
                </a:lnTo>
                <a:lnTo>
                  <a:pt x="1295400" y="628650"/>
                </a:lnTo>
                <a:lnTo>
                  <a:pt x="0" y="6286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7674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54" name="Text 9"/>
          <p:cNvSpPr/>
          <p:nvPr/>
        </p:nvSpPr>
        <p:spPr>
          <a:xfrm>
            <a:off x="590400" y="5695920"/>
            <a:ext cx="1018080" cy="26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350" spc="-1" strike="noStrike">
                <a:solidFill>
                  <a:srgbClr val="000000"/>
                </a:solidFill>
                <a:latin typeface="MiSans"/>
                <a:ea typeface="MiSans"/>
              </a:rPr>
              <a:t>March 2026</a:t>
            </a:r>
            <a:endParaRPr b="0" lang="en-HK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" name="Shape 10"/>
          <p:cNvSpPr/>
          <p:nvPr/>
        </p:nvSpPr>
        <p:spPr>
          <a:xfrm>
            <a:off x="10364400" y="5514840"/>
            <a:ext cx="1418040" cy="627480"/>
          </a:xfrm>
          <a:custGeom>
            <a:avLst/>
            <a:gdLst/>
            <a:ahLst/>
            <a:rect l="l" t="t" r="r" b="b"/>
            <a:pathLst>
              <a:path w="1419225" h="628650">
                <a:moveTo>
                  <a:pt x="0" y="0"/>
                </a:moveTo>
                <a:lnTo>
                  <a:pt x="1419225" y="0"/>
                </a:lnTo>
                <a:lnTo>
                  <a:pt x="1419225" y="628650"/>
                </a:lnTo>
                <a:lnTo>
                  <a:pt x="0" y="6286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7674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56" name="Text 11"/>
          <p:cNvSpPr/>
          <p:nvPr/>
        </p:nvSpPr>
        <p:spPr>
          <a:xfrm>
            <a:off x="10545480" y="5695920"/>
            <a:ext cx="1141920" cy="26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350" spc="-1" strike="noStrike">
                <a:solidFill>
                  <a:srgbClr val="ffffff"/>
                </a:solidFill>
                <a:latin typeface="MiSans"/>
                <a:ea typeface="MiSans"/>
              </a:rPr>
              <a:t>▶ </a:t>
            </a:r>
            <a:r>
              <a:rPr b="1" lang="en-US" sz="1350" spc="-1" strike="noStrike">
                <a:solidFill>
                  <a:srgbClr val="ffffff"/>
                </a:solidFill>
                <a:latin typeface="MiSans"/>
                <a:ea typeface="MiSans"/>
              </a:rPr>
              <a:t>27 SLIDES</a:t>
            </a:r>
            <a:endParaRPr b="0" lang="en-HK" sz="135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Shape 0"/>
          <p:cNvSpPr/>
          <p:nvPr/>
        </p:nvSpPr>
        <p:spPr>
          <a:xfrm>
            <a:off x="341280" y="341280"/>
            <a:ext cx="11508120" cy="1094400"/>
          </a:xfrm>
          <a:custGeom>
            <a:avLst/>
            <a:gdLst/>
            <a:ahLst/>
            <a:rect l="l" t="t" r="r" b="b"/>
            <a:pathLst>
              <a:path w="11509375" h="1095375">
                <a:moveTo>
                  <a:pt x="0" y="0"/>
                </a:moveTo>
                <a:lnTo>
                  <a:pt x="11509375" y="0"/>
                </a:lnTo>
                <a:lnTo>
                  <a:pt x="11509375" y="1095375"/>
                </a:lnTo>
                <a:lnTo>
                  <a:pt x="0" y="10953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8" name="Text 1"/>
          <p:cNvSpPr/>
          <p:nvPr/>
        </p:nvSpPr>
        <p:spPr>
          <a:xfrm>
            <a:off x="555480" y="555480"/>
            <a:ext cx="1131768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80000"/>
              </a:lnSpc>
              <a:buNone/>
            </a:pPr>
            <a:r>
              <a:rPr b="1" lang="en-US" sz="3750" spc="-1" strike="noStrike">
                <a:solidFill>
                  <a:srgbClr val="000000"/>
                </a:solidFill>
                <a:latin typeface="Noto Sans SC"/>
                <a:ea typeface="Noto Sans SC"/>
              </a:rPr>
              <a:t>CONTENTS</a:t>
            </a:r>
            <a:endParaRPr b="0" lang="en-HK" sz="3750" spc="-1" strike="noStrike">
              <a:latin typeface="Arial"/>
            </a:endParaRPr>
          </a:p>
        </p:txBody>
      </p:sp>
      <p:sp>
        <p:nvSpPr>
          <p:cNvPr id="59" name="Shape 2"/>
          <p:cNvSpPr/>
          <p:nvPr/>
        </p:nvSpPr>
        <p:spPr>
          <a:xfrm>
            <a:off x="555480" y="1158840"/>
            <a:ext cx="761040" cy="62280"/>
          </a:xfrm>
          <a:custGeom>
            <a:avLst/>
            <a:gdLst/>
            <a:ahLst/>
            <a:rect l="l" t="t" r="r" b="b"/>
            <a:pathLst>
              <a:path w="762000" h="63500">
                <a:moveTo>
                  <a:pt x="0" y="0"/>
                </a:moveTo>
                <a:lnTo>
                  <a:pt x="762000" y="0"/>
                </a:lnTo>
                <a:lnTo>
                  <a:pt x="7620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0" name="Shape 3"/>
          <p:cNvSpPr/>
          <p:nvPr/>
        </p:nvSpPr>
        <p:spPr>
          <a:xfrm>
            <a:off x="341280" y="1674720"/>
            <a:ext cx="5650560" cy="871920"/>
          </a:xfrm>
          <a:custGeom>
            <a:avLst/>
            <a:gdLst/>
            <a:ahLst/>
            <a:rect l="l" t="t" r="r" b="b"/>
            <a:pathLst>
              <a:path w="5651500" h="873125">
                <a:moveTo>
                  <a:pt x="0" y="0"/>
                </a:moveTo>
                <a:lnTo>
                  <a:pt x="5651500" y="0"/>
                </a:lnTo>
                <a:lnTo>
                  <a:pt x="5651500" y="873125"/>
                </a:lnTo>
                <a:lnTo>
                  <a:pt x="0" y="873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61" name="Shape 4"/>
          <p:cNvSpPr/>
          <p:nvPr/>
        </p:nvSpPr>
        <p:spPr>
          <a:xfrm>
            <a:off x="547560" y="1881360"/>
            <a:ext cx="459360" cy="459360"/>
          </a:xfrm>
          <a:custGeom>
            <a:avLst/>
            <a:gdLst/>
            <a:ahLst/>
            <a:rect l="l" t="t" r="r" b="b"/>
            <a:pathLst>
              <a:path w="460375" h="460375">
                <a:moveTo>
                  <a:pt x="0" y="0"/>
                </a:moveTo>
                <a:lnTo>
                  <a:pt x="460375" y="0"/>
                </a:lnTo>
                <a:lnTo>
                  <a:pt x="460375" y="460375"/>
                </a:lnTo>
                <a:lnTo>
                  <a:pt x="0" y="460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2" name="Text 5"/>
          <p:cNvSpPr/>
          <p:nvPr/>
        </p:nvSpPr>
        <p:spPr>
          <a:xfrm>
            <a:off x="464400" y="1857240"/>
            <a:ext cx="530640" cy="41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ffffff"/>
                </a:solidFill>
                <a:latin typeface="Noto Sans SC"/>
                <a:ea typeface="Noto Sans SC"/>
              </a:rPr>
              <a:t>01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63" name="Text 6"/>
          <p:cNvSpPr/>
          <p:nvPr/>
        </p:nvSpPr>
        <p:spPr>
          <a:xfrm>
            <a:off x="1158840" y="1857240"/>
            <a:ext cx="1411920" cy="25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THE GENESIS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64" name="Text 7"/>
          <p:cNvSpPr/>
          <p:nvPr/>
        </p:nvSpPr>
        <p:spPr>
          <a:xfrm>
            <a:off x="1158840" y="2143080"/>
            <a:ext cx="1388160" cy="22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Bitcoin's Origin Story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65" name="Shape 8"/>
          <p:cNvSpPr/>
          <p:nvPr/>
        </p:nvSpPr>
        <p:spPr>
          <a:xfrm>
            <a:off x="6199200" y="1674720"/>
            <a:ext cx="5650560" cy="871920"/>
          </a:xfrm>
          <a:custGeom>
            <a:avLst/>
            <a:gdLst/>
            <a:ahLst/>
            <a:rect l="l" t="t" r="r" b="b"/>
            <a:pathLst>
              <a:path w="5651500" h="873125">
                <a:moveTo>
                  <a:pt x="0" y="0"/>
                </a:moveTo>
                <a:lnTo>
                  <a:pt x="5651500" y="0"/>
                </a:lnTo>
                <a:lnTo>
                  <a:pt x="5651500" y="873125"/>
                </a:lnTo>
                <a:lnTo>
                  <a:pt x="0" y="873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66" name="Shape 9"/>
          <p:cNvSpPr/>
          <p:nvPr/>
        </p:nvSpPr>
        <p:spPr>
          <a:xfrm>
            <a:off x="6405480" y="1881360"/>
            <a:ext cx="459360" cy="459360"/>
          </a:xfrm>
          <a:custGeom>
            <a:avLst/>
            <a:gdLst/>
            <a:ahLst/>
            <a:rect l="l" t="t" r="r" b="b"/>
            <a:pathLst>
              <a:path w="460375" h="460375">
                <a:moveTo>
                  <a:pt x="0" y="0"/>
                </a:moveTo>
                <a:lnTo>
                  <a:pt x="460375" y="0"/>
                </a:lnTo>
                <a:lnTo>
                  <a:pt x="460375" y="460375"/>
                </a:lnTo>
                <a:lnTo>
                  <a:pt x="0" y="460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7" name="Text 10"/>
          <p:cNvSpPr/>
          <p:nvPr/>
        </p:nvSpPr>
        <p:spPr>
          <a:xfrm>
            <a:off x="6322320" y="1857240"/>
            <a:ext cx="530640" cy="41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ffffff"/>
                </a:solidFill>
                <a:latin typeface="Noto Sans SC"/>
                <a:ea typeface="Noto Sans SC"/>
              </a:rPr>
              <a:t>02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68" name="Text 11"/>
          <p:cNvSpPr/>
          <p:nvPr/>
        </p:nvSpPr>
        <p:spPr>
          <a:xfrm>
            <a:off x="7016760" y="1857240"/>
            <a:ext cx="2514960" cy="25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TECHNICAL FOUNDATION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69" name="Text 12"/>
          <p:cNvSpPr/>
          <p:nvPr/>
        </p:nvSpPr>
        <p:spPr>
          <a:xfrm>
            <a:off x="7016760" y="2143080"/>
            <a:ext cx="2491200" cy="22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How Bitcoin Works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70" name="Shape 13"/>
          <p:cNvSpPr/>
          <p:nvPr/>
        </p:nvSpPr>
        <p:spPr>
          <a:xfrm>
            <a:off x="341280" y="2754360"/>
            <a:ext cx="5650560" cy="871920"/>
          </a:xfrm>
          <a:custGeom>
            <a:avLst/>
            <a:gdLst/>
            <a:ahLst/>
            <a:rect l="l" t="t" r="r" b="b"/>
            <a:pathLst>
              <a:path w="5651500" h="873125">
                <a:moveTo>
                  <a:pt x="0" y="0"/>
                </a:moveTo>
                <a:lnTo>
                  <a:pt x="5651500" y="0"/>
                </a:lnTo>
                <a:lnTo>
                  <a:pt x="5651500" y="873125"/>
                </a:lnTo>
                <a:lnTo>
                  <a:pt x="0" y="873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71" name="Shape 14"/>
          <p:cNvSpPr/>
          <p:nvPr/>
        </p:nvSpPr>
        <p:spPr>
          <a:xfrm>
            <a:off x="547560" y="2960640"/>
            <a:ext cx="459360" cy="459360"/>
          </a:xfrm>
          <a:custGeom>
            <a:avLst/>
            <a:gdLst/>
            <a:ahLst/>
            <a:rect l="l" t="t" r="r" b="b"/>
            <a:pathLst>
              <a:path w="460375" h="460375">
                <a:moveTo>
                  <a:pt x="0" y="0"/>
                </a:moveTo>
                <a:lnTo>
                  <a:pt x="460375" y="0"/>
                </a:lnTo>
                <a:lnTo>
                  <a:pt x="460375" y="460375"/>
                </a:lnTo>
                <a:lnTo>
                  <a:pt x="0" y="460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2" name="Text 15"/>
          <p:cNvSpPr/>
          <p:nvPr/>
        </p:nvSpPr>
        <p:spPr>
          <a:xfrm>
            <a:off x="464400" y="2936880"/>
            <a:ext cx="530640" cy="41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ffffff"/>
                </a:solidFill>
                <a:latin typeface="Noto Sans SC"/>
                <a:ea typeface="Noto Sans SC"/>
              </a:rPr>
              <a:t>03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73" name="Text 16"/>
          <p:cNvSpPr/>
          <p:nvPr/>
        </p:nvSpPr>
        <p:spPr>
          <a:xfrm>
            <a:off x="1158840" y="2936880"/>
            <a:ext cx="2713680" cy="25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HISTORICAL EVOLUTION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74" name="Text 17"/>
          <p:cNvSpPr/>
          <p:nvPr/>
        </p:nvSpPr>
        <p:spPr>
          <a:xfrm>
            <a:off x="1158840" y="3222720"/>
            <a:ext cx="2689560" cy="22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From Cypherpunk Dream to Global Asset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75" name="Shape 18"/>
          <p:cNvSpPr/>
          <p:nvPr/>
        </p:nvSpPr>
        <p:spPr>
          <a:xfrm>
            <a:off x="6199200" y="2754360"/>
            <a:ext cx="5650560" cy="871920"/>
          </a:xfrm>
          <a:custGeom>
            <a:avLst/>
            <a:gdLst/>
            <a:ahLst/>
            <a:rect l="l" t="t" r="r" b="b"/>
            <a:pathLst>
              <a:path w="5651500" h="873125">
                <a:moveTo>
                  <a:pt x="0" y="0"/>
                </a:moveTo>
                <a:lnTo>
                  <a:pt x="5651500" y="0"/>
                </a:lnTo>
                <a:lnTo>
                  <a:pt x="5651500" y="873125"/>
                </a:lnTo>
                <a:lnTo>
                  <a:pt x="0" y="873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76" name="Shape 19"/>
          <p:cNvSpPr/>
          <p:nvPr/>
        </p:nvSpPr>
        <p:spPr>
          <a:xfrm>
            <a:off x="6405480" y="2960640"/>
            <a:ext cx="459360" cy="459360"/>
          </a:xfrm>
          <a:custGeom>
            <a:avLst/>
            <a:gdLst/>
            <a:ahLst/>
            <a:rect l="l" t="t" r="r" b="b"/>
            <a:pathLst>
              <a:path w="460375" h="460375">
                <a:moveTo>
                  <a:pt x="0" y="0"/>
                </a:moveTo>
                <a:lnTo>
                  <a:pt x="460375" y="0"/>
                </a:lnTo>
                <a:lnTo>
                  <a:pt x="460375" y="460375"/>
                </a:lnTo>
                <a:lnTo>
                  <a:pt x="0" y="460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7" name="Text 20"/>
          <p:cNvSpPr/>
          <p:nvPr/>
        </p:nvSpPr>
        <p:spPr>
          <a:xfrm>
            <a:off x="6322320" y="2936880"/>
            <a:ext cx="530640" cy="41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ffffff"/>
                </a:solidFill>
                <a:latin typeface="Noto Sans SC"/>
                <a:ea typeface="Noto Sans SC"/>
              </a:rPr>
              <a:t>04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78" name="Text 21"/>
          <p:cNvSpPr/>
          <p:nvPr/>
        </p:nvSpPr>
        <p:spPr>
          <a:xfrm>
            <a:off x="7016760" y="2936880"/>
            <a:ext cx="2110320" cy="25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MARKET DYNAMICS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79" name="Text 22"/>
          <p:cNvSpPr/>
          <p:nvPr/>
        </p:nvSpPr>
        <p:spPr>
          <a:xfrm>
            <a:off x="7016760" y="3222720"/>
            <a:ext cx="2086560" cy="22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Halving Cycles &amp; Price Patterns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80" name="Shape 23"/>
          <p:cNvSpPr/>
          <p:nvPr/>
        </p:nvSpPr>
        <p:spPr>
          <a:xfrm>
            <a:off x="341280" y="3833640"/>
            <a:ext cx="5650560" cy="871920"/>
          </a:xfrm>
          <a:custGeom>
            <a:avLst/>
            <a:gdLst/>
            <a:ahLst/>
            <a:rect l="l" t="t" r="r" b="b"/>
            <a:pathLst>
              <a:path w="5651500" h="873125">
                <a:moveTo>
                  <a:pt x="0" y="0"/>
                </a:moveTo>
                <a:lnTo>
                  <a:pt x="5651500" y="0"/>
                </a:lnTo>
                <a:lnTo>
                  <a:pt x="5651500" y="873125"/>
                </a:lnTo>
                <a:lnTo>
                  <a:pt x="0" y="873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81" name="Shape 24"/>
          <p:cNvSpPr/>
          <p:nvPr/>
        </p:nvSpPr>
        <p:spPr>
          <a:xfrm>
            <a:off x="547560" y="4040280"/>
            <a:ext cx="459360" cy="459360"/>
          </a:xfrm>
          <a:custGeom>
            <a:avLst/>
            <a:gdLst/>
            <a:ahLst/>
            <a:rect l="l" t="t" r="r" b="b"/>
            <a:pathLst>
              <a:path w="460375" h="460375">
                <a:moveTo>
                  <a:pt x="0" y="0"/>
                </a:moveTo>
                <a:lnTo>
                  <a:pt x="460375" y="0"/>
                </a:lnTo>
                <a:lnTo>
                  <a:pt x="460375" y="460375"/>
                </a:lnTo>
                <a:lnTo>
                  <a:pt x="0" y="460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2" name="Text 25"/>
          <p:cNvSpPr/>
          <p:nvPr/>
        </p:nvSpPr>
        <p:spPr>
          <a:xfrm>
            <a:off x="464400" y="4016520"/>
            <a:ext cx="530640" cy="41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ffffff"/>
                </a:solidFill>
                <a:latin typeface="Noto Sans SC"/>
                <a:ea typeface="Noto Sans SC"/>
              </a:rPr>
              <a:t>05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83" name="Text 26"/>
          <p:cNvSpPr/>
          <p:nvPr/>
        </p:nvSpPr>
        <p:spPr>
          <a:xfrm>
            <a:off x="1158840" y="4016520"/>
            <a:ext cx="2261160" cy="25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CURRENT LANDSCAPE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84" name="Text 27"/>
          <p:cNvSpPr/>
          <p:nvPr/>
        </p:nvSpPr>
        <p:spPr>
          <a:xfrm>
            <a:off x="1158840" y="4302000"/>
            <a:ext cx="2237400" cy="22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2024-2025 Market Status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85" name="Shape 28"/>
          <p:cNvSpPr/>
          <p:nvPr/>
        </p:nvSpPr>
        <p:spPr>
          <a:xfrm>
            <a:off x="6199200" y="3833640"/>
            <a:ext cx="5650560" cy="871920"/>
          </a:xfrm>
          <a:custGeom>
            <a:avLst/>
            <a:gdLst/>
            <a:ahLst/>
            <a:rect l="l" t="t" r="r" b="b"/>
            <a:pathLst>
              <a:path w="5651500" h="873125">
                <a:moveTo>
                  <a:pt x="0" y="0"/>
                </a:moveTo>
                <a:lnTo>
                  <a:pt x="5651500" y="0"/>
                </a:lnTo>
                <a:lnTo>
                  <a:pt x="5651500" y="873125"/>
                </a:lnTo>
                <a:lnTo>
                  <a:pt x="0" y="873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86" name="Shape 29"/>
          <p:cNvSpPr/>
          <p:nvPr/>
        </p:nvSpPr>
        <p:spPr>
          <a:xfrm>
            <a:off x="6405480" y="4040280"/>
            <a:ext cx="459360" cy="459360"/>
          </a:xfrm>
          <a:custGeom>
            <a:avLst/>
            <a:gdLst/>
            <a:ahLst/>
            <a:rect l="l" t="t" r="r" b="b"/>
            <a:pathLst>
              <a:path w="460375" h="460375">
                <a:moveTo>
                  <a:pt x="0" y="0"/>
                </a:moveTo>
                <a:lnTo>
                  <a:pt x="460375" y="0"/>
                </a:lnTo>
                <a:lnTo>
                  <a:pt x="460375" y="460375"/>
                </a:lnTo>
                <a:lnTo>
                  <a:pt x="0" y="460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7" name="Text 30"/>
          <p:cNvSpPr/>
          <p:nvPr/>
        </p:nvSpPr>
        <p:spPr>
          <a:xfrm>
            <a:off x="6322320" y="4016520"/>
            <a:ext cx="530640" cy="41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ffffff"/>
                </a:solidFill>
                <a:latin typeface="Noto Sans SC"/>
                <a:ea typeface="Noto Sans SC"/>
              </a:rPr>
              <a:t>06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88" name="Text 31"/>
          <p:cNvSpPr/>
          <p:nvPr/>
        </p:nvSpPr>
        <p:spPr>
          <a:xfrm>
            <a:off x="7016760" y="4016520"/>
            <a:ext cx="2602440" cy="25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INSTITUTIONAL ADOPTION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89" name="Text 32"/>
          <p:cNvSpPr/>
          <p:nvPr/>
        </p:nvSpPr>
        <p:spPr>
          <a:xfrm>
            <a:off x="7016760" y="4302000"/>
            <a:ext cx="2578680" cy="22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Wall Street Embraces Bitcoin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90" name="Shape 33"/>
          <p:cNvSpPr/>
          <p:nvPr/>
        </p:nvSpPr>
        <p:spPr>
          <a:xfrm>
            <a:off x="341280" y="4913280"/>
            <a:ext cx="5650560" cy="871920"/>
          </a:xfrm>
          <a:custGeom>
            <a:avLst/>
            <a:gdLst/>
            <a:ahLst/>
            <a:rect l="l" t="t" r="r" b="b"/>
            <a:pathLst>
              <a:path w="5651500" h="873125">
                <a:moveTo>
                  <a:pt x="0" y="0"/>
                </a:moveTo>
                <a:lnTo>
                  <a:pt x="5651500" y="0"/>
                </a:lnTo>
                <a:lnTo>
                  <a:pt x="5651500" y="873125"/>
                </a:lnTo>
                <a:lnTo>
                  <a:pt x="0" y="873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91" name="Shape 34"/>
          <p:cNvSpPr/>
          <p:nvPr/>
        </p:nvSpPr>
        <p:spPr>
          <a:xfrm>
            <a:off x="547560" y="5119560"/>
            <a:ext cx="459360" cy="459360"/>
          </a:xfrm>
          <a:custGeom>
            <a:avLst/>
            <a:gdLst/>
            <a:ahLst/>
            <a:rect l="l" t="t" r="r" b="b"/>
            <a:pathLst>
              <a:path w="460375" h="460375">
                <a:moveTo>
                  <a:pt x="0" y="0"/>
                </a:moveTo>
                <a:lnTo>
                  <a:pt x="460375" y="0"/>
                </a:lnTo>
                <a:lnTo>
                  <a:pt x="460375" y="460375"/>
                </a:lnTo>
                <a:lnTo>
                  <a:pt x="0" y="460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2" name="Text 35"/>
          <p:cNvSpPr/>
          <p:nvPr/>
        </p:nvSpPr>
        <p:spPr>
          <a:xfrm>
            <a:off x="464400" y="5095800"/>
            <a:ext cx="530640" cy="41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ffffff"/>
                </a:solidFill>
                <a:latin typeface="Noto Sans SC"/>
                <a:ea typeface="Noto Sans SC"/>
              </a:rPr>
              <a:t>07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93" name="Text 36"/>
          <p:cNvSpPr/>
          <p:nvPr/>
        </p:nvSpPr>
        <p:spPr>
          <a:xfrm>
            <a:off x="1158840" y="5095800"/>
            <a:ext cx="2007000" cy="25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MINING ECONOMICS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94" name="Text 37"/>
          <p:cNvSpPr/>
          <p:nvPr/>
        </p:nvSpPr>
        <p:spPr>
          <a:xfrm>
            <a:off x="1158840" y="5381640"/>
            <a:ext cx="1983240" cy="22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The Backbone of Security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95" name="Shape 38"/>
          <p:cNvSpPr/>
          <p:nvPr/>
        </p:nvSpPr>
        <p:spPr>
          <a:xfrm>
            <a:off x="6199200" y="4913280"/>
            <a:ext cx="5650560" cy="871920"/>
          </a:xfrm>
          <a:custGeom>
            <a:avLst/>
            <a:gdLst/>
            <a:ahLst/>
            <a:rect l="l" t="t" r="r" b="b"/>
            <a:pathLst>
              <a:path w="5651500" h="873125">
                <a:moveTo>
                  <a:pt x="0" y="0"/>
                </a:moveTo>
                <a:lnTo>
                  <a:pt x="5651500" y="0"/>
                </a:lnTo>
                <a:lnTo>
                  <a:pt x="5651500" y="873125"/>
                </a:lnTo>
                <a:lnTo>
                  <a:pt x="0" y="873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96" name="Shape 39"/>
          <p:cNvSpPr/>
          <p:nvPr/>
        </p:nvSpPr>
        <p:spPr>
          <a:xfrm>
            <a:off x="6405480" y="5119560"/>
            <a:ext cx="459360" cy="459360"/>
          </a:xfrm>
          <a:custGeom>
            <a:avLst/>
            <a:gdLst/>
            <a:ahLst/>
            <a:rect l="l" t="t" r="r" b="b"/>
            <a:pathLst>
              <a:path w="460375" h="460375">
                <a:moveTo>
                  <a:pt x="0" y="0"/>
                </a:moveTo>
                <a:lnTo>
                  <a:pt x="460375" y="0"/>
                </a:lnTo>
                <a:lnTo>
                  <a:pt x="460375" y="460375"/>
                </a:lnTo>
                <a:lnTo>
                  <a:pt x="0" y="460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7" name="Text 40"/>
          <p:cNvSpPr/>
          <p:nvPr/>
        </p:nvSpPr>
        <p:spPr>
          <a:xfrm>
            <a:off x="6322320" y="5095800"/>
            <a:ext cx="530640" cy="41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ffffff"/>
                </a:solidFill>
                <a:latin typeface="Noto Sans SC"/>
                <a:ea typeface="Noto Sans SC"/>
              </a:rPr>
              <a:t>08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98" name="Text 41"/>
          <p:cNvSpPr/>
          <p:nvPr/>
        </p:nvSpPr>
        <p:spPr>
          <a:xfrm>
            <a:off x="7016760" y="5095800"/>
            <a:ext cx="2197440" cy="25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DIGITAL GOLD THESIS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99" name="Text 42"/>
          <p:cNvSpPr/>
          <p:nvPr/>
        </p:nvSpPr>
        <p:spPr>
          <a:xfrm>
            <a:off x="7016760" y="5381640"/>
            <a:ext cx="2173680" cy="22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Store of Value Debate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100" name="Shape 43"/>
          <p:cNvSpPr/>
          <p:nvPr/>
        </p:nvSpPr>
        <p:spPr>
          <a:xfrm>
            <a:off x="341280" y="5992920"/>
            <a:ext cx="5650560" cy="871920"/>
          </a:xfrm>
          <a:custGeom>
            <a:avLst/>
            <a:gdLst/>
            <a:ahLst/>
            <a:rect l="l" t="t" r="r" b="b"/>
            <a:pathLst>
              <a:path w="5651500" h="873125">
                <a:moveTo>
                  <a:pt x="0" y="0"/>
                </a:moveTo>
                <a:lnTo>
                  <a:pt x="5651500" y="0"/>
                </a:lnTo>
                <a:lnTo>
                  <a:pt x="5651500" y="873125"/>
                </a:lnTo>
                <a:lnTo>
                  <a:pt x="0" y="873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01" name="Shape 44"/>
          <p:cNvSpPr/>
          <p:nvPr/>
        </p:nvSpPr>
        <p:spPr>
          <a:xfrm>
            <a:off x="547560" y="6199200"/>
            <a:ext cx="459360" cy="459360"/>
          </a:xfrm>
          <a:custGeom>
            <a:avLst/>
            <a:gdLst/>
            <a:ahLst/>
            <a:rect l="l" t="t" r="r" b="b"/>
            <a:pathLst>
              <a:path w="460375" h="460375">
                <a:moveTo>
                  <a:pt x="0" y="0"/>
                </a:moveTo>
                <a:lnTo>
                  <a:pt x="460375" y="0"/>
                </a:lnTo>
                <a:lnTo>
                  <a:pt x="460375" y="460375"/>
                </a:lnTo>
                <a:lnTo>
                  <a:pt x="0" y="460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02" name="Text 45"/>
          <p:cNvSpPr/>
          <p:nvPr/>
        </p:nvSpPr>
        <p:spPr>
          <a:xfrm>
            <a:off x="464400" y="6175440"/>
            <a:ext cx="530640" cy="41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ffffff"/>
                </a:solidFill>
                <a:latin typeface="Noto Sans SC"/>
                <a:ea typeface="Noto Sans SC"/>
              </a:rPr>
              <a:t>09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103" name="Text 46"/>
          <p:cNvSpPr/>
          <p:nvPr/>
        </p:nvSpPr>
        <p:spPr>
          <a:xfrm>
            <a:off x="1158840" y="6175440"/>
            <a:ext cx="2118240" cy="25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SCALING SOLUTIONS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04" name="Text 47"/>
          <p:cNvSpPr/>
          <p:nvPr/>
        </p:nvSpPr>
        <p:spPr>
          <a:xfrm>
            <a:off x="1158840" y="6461280"/>
            <a:ext cx="2094480" cy="22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Lightning Network &amp; Layer 2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105" name="Shape 48"/>
          <p:cNvSpPr/>
          <p:nvPr/>
        </p:nvSpPr>
        <p:spPr>
          <a:xfrm>
            <a:off x="6199200" y="5992920"/>
            <a:ext cx="5650560" cy="871920"/>
          </a:xfrm>
          <a:custGeom>
            <a:avLst/>
            <a:gdLst/>
            <a:ahLst/>
            <a:rect l="l" t="t" r="r" b="b"/>
            <a:pathLst>
              <a:path w="5651500" h="873125">
                <a:moveTo>
                  <a:pt x="0" y="0"/>
                </a:moveTo>
                <a:lnTo>
                  <a:pt x="5651500" y="0"/>
                </a:lnTo>
                <a:lnTo>
                  <a:pt x="5651500" y="873125"/>
                </a:lnTo>
                <a:lnTo>
                  <a:pt x="0" y="873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06" name="Shape 49"/>
          <p:cNvSpPr/>
          <p:nvPr/>
        </p:nvSpPr>
        <p:spPr>
          <a:xfrm>
            <a:off x="6405480" y="6199200"/>
            <a:ext cx="459360" cy="459360"/>
          </a:xfrm>
          <a:custGeom>
            <a:avLst/>
            <a:gdLst/>
            <a:ahLst/>
            <a:rect l="l" t="t" r="r" b="b"/>
            <a:pathLst>
              <a:path w="460375" h="460375">
                <a:moveTo>
                  <a:pt x="0" y="0"/>
                </a:moveTo>
                <a:lnTo>
                  <a:pt x="460375" y="0"/>
                </a:lnTo>
                <a:lnTo>
                  <a:pt x="460375" y="460375"/>
                </a:lnTo>
                <a:lnTo>
                  <a:pt x="0" y="460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07" name="Text 50"/>
          <p:cNvSpPr/>
          <p:nvPr/>
        </p:nvSpPr>
        <p:spPr>
          <a:xfrm>
            <a:off x="6322320" y="6175440"/>
            <a:ext cx="530640" cy="41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ffffff"/>
                </a:solidFill>
                <a:latin typeface="Noto Sans SC"/>
                <a:ea typeface="Noto Sans SC"/>
              </a:rPr>
              <a:t>10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108" name="Text 51"/>
          <p:cNvSpPr/>
          <p:nvPr/>
        </p:nvSpPr>
        <p:spPr>
          <a:xfrm>
            <a:off x="7016760" y="6175440"/>
            <a:ext cx="2229480" cy="25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CHALLENGES &amp; RISKS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09" name="Text 52"/>
          <p:cNvSpPr/>
          <p:nvPr/>
        </p:nvSpPr>
        <p:spPr>
          <a:xfrm>
            <a:off x="7016760" y="6461280"/>
            <a:ext cx="2205720" cy="22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The Road Ahead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110" name="Shape 53"/>
          <p:cNvSpPr/>
          <p:nvPr/>
        </p:nvSpPr>
        <p:spPr>
          <a:xfrm>
            <a:off x="341280" y="7072200"/>
            <a:ext cx="5650560" cy="871920"/>
          </a:xfrm>
          <a:custGeom>
            <a:avLst/>
            <a:gdLst/>
            <a:ahLst/>
            <a:rect l="l" t="t" r="r" b="b"/>
            <a:pathLst>
              <a:path w="5651500" h="873125">
                <a:moveTo>
                  <a:pt x="0" y="0"/>
                </a:moveTo>
                <a:lnTo>
                  <a:pt x="5651500" y="0"/>
                </a:lnTo>
                <a:lnTo>
                  <a:pt x="5651500" y="873125"/>
                </a:lnTo>
                <a:lnTo>
                  <a:pt x="0" y="873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11" name="Shape 54"/>
          <p:cNvSpPr/>
          <p:nvPr/>
        </p:nvSpPr>
        <p:spPr>
          <a:xfrm>
            <a:off x="547560" y="7278840"/>
            <a:ext cx="459360" cy="459360"/>
          </a:xfrm>
          <a:custGeom>
            <a:avLst/>
            <a:gdLst/>
            <a:ahLst/>
            <a:rect l="l" t="t" r="r" b="b"/>
            <a:pathLst>
              <a:path w="460375" h="460375">
                <a:moveTo>
                  <a:pt x="0" y="0"/>
                </a:moveTo>
                <a:lnTo>
                  <a:pt x="460375" y="0"/>
                </a:lnTo>
                <a:lnTo>
                  <a:pt x="460375" y="460375"/>
                </a:lnTo>
                <a:lnTo>
                  <a:pt x="0" y="460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12" name="Text 55"/>
          <p:cNvSpPr/>
          <p:nvPr/>
        </p:nvSpPr>
        <p:spPr>
          <a:xfrm>
            <a:off x="464400" y="7254720"/>
            <a:ext cx="530640" cy="41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ffffff"/>
                </a:solidFill>
                <a:latin typeface="Noto Sans SC"/>
                <a:ea typeface="Noto Sans SC"/>
              </a:rPr>
              <a:t>11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113" name="Text 56"/>
          <p:cNvSpPr/>
          <p:nvPr/>
        </p:nvSpPr>
        <p:spPr>
          <a:xfrm>
            <a:off x="1158840" y="7254720"/>
            <a:ext cx="1872000" cy="25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FUTURE OUTLOOK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14" name="Text 57"/>
          <p:cNvSpPr/>
          <p:nvPr/>
        </p:nvSpPr>
        <p:spPr>
          <a:xfrm>
            <a:off x="1158840" y="7540560"/>
            <a:ext cx="1848240" cy="22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Predictions &amp; Scenarios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115" name="Shape 58"/>
          <p:cNvSpPr/>
          <p:nvPr/>
        </p:nvSpPr>
        <p:spPr>
          <a:xfrm>
            <a:off x="6199200" y="7072200"/>
            <a:ext cx="5650560" cy="871920"/>
          </a:xfrm>
          <a:custGeom>
            <a:avLst/>
            <a:gdLst/>
            <a:ahLst/>
            <a:rect l="l" t="t" r="r" b="b"/>
            <a:pathLst>
              <a:path w="5651500" h="873125">
                <a:moveTo>
                  <a:pt x="0" y="0"/>
                </a:moveTo>
                <a:lnTo>
                  <a:pt x="5651500" y="0"/>
                </a:lnTo>
                <a:lnTo>
                  <a:pt x="5651500" y="873125"/>
                </a:lnTo>
                <a:lnTo>
                  <a:pt x="0" y="873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16" name="Shape 59"/>
          <p:cNvSpPr/>
          <p:nvPr/>
        </p:nvSpPr>
        <p:spPr>
          <a:xfrm>
            <a:off x="6405480" y="7278840"/>
            <a:ext cx="459360" cy="459360"/>
          </a:xfrm>
          <a:custGeom>
            <a:avLst/>
            <a:gdLst/>
            <a:ahLst/>
            <a:rect l="l" t="t" r="r" b="b"/>
            <a:pathLst>
              <a:path w="460375" h="460375">
                <a:moveTo>
                  <a:pt x="0" y="0"/>
                </a:moveTo>
                <a:lnTo>
                  <a:pt x="460375" y="0"/>
                </a:lnTo>
                <a:lnTo>
                  <a:pt x="460375" y="460375"/>
                </a:lnTo>
                <a:lnTo>
                  <a:pt x="0" y="460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17" name="Text 60"/>
          <p:cNvSpPr/>
          <p:nvPr/>
        </p:nvSpPr>
        <p:spPr>
          <a:xfrm>
            <a:off x="6322320" y="7254720"/>
            <a:ext cx="530640" cy="41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ffffff"/>
                </a:solidFill>
                <a:latin typeface="Noto Sans SC"/>
                <a:ea typeface="Noto Sans SC"/>
              </a:rPr>
              <a:t>12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118" name="Text 61"/>
          <p:cNvSpPr/>
          <p:nvPr/>
        </p:nvSpPr>
        <p:spPr>
          <a:xfrm>
            <a:off x="7016760" y="7254720"/>
            <a:ext cx="1371960" cy="25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CONCLUSION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19" name="Text 62"/>
          <p:cNvSpPr/>
          <p:nvPr/>
        </p:nvSpPr>
        <p:spPr>
          <a:xfrm>
            <a:off x="7016760" y="7540560"/>
            <a:ext cx="1348200" cy="22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The Path Forward</a:t>
            </a:r>
            <a:endParaRPr b="0" lang="en-HK" sz="113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Image 0"/>
          <p:cNvSpPr/>
          <p:nvPr/>
        </p:nvSpPr>
        <p:spPr>
          <a:xfrm>
            <a:off x="0" y="0"/>
            <a:ext cx="12191040" cy="6856920"/>
          </a:xfrm>
          <a:prstGeom prst="roundRect">
            <a:avLst>
              <a:gd name="adj" fmla="val 0"/>
            </a:avLst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21" name="Shape 0"/>
          <p:cNvSpPr/>
          <p:nvPr/>
        </p:nvSpPr>
        <p:spPr>
          <a:xfrm>
            <a:off x="0" y="0"/>
            <a:ext cx="12191040" cy="6856920"/>
          </a:xfrm>
          <a:custGeom>
            <a:avLst/>
            <a:gdLst/>
            <a:ah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9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22" name="Shape 1"/>
          <p:cNvSpPr/>
          <p:nvPr/>
        </p:nvSpPr>
        <p:spPr>
          <a:xfrm>
            <a:off x="409680" y="781200"/>
            <a:ext cx="8476200" cy="3961440"/>
          </a:xfrm>
          <a:custGeom>
            <a:avLst/>
            <a:gdLst/>
            <a:ahLst/>
            <a:rect l="l" t="t" r="r" b="b"/>
            <a:pathLst>
              <a:path w="8477250" h="3962400">
                <a:moveTo>
                  <a:pt x="0" y="0"/>
                </a:moveTo>
                <a:lnTo>
                  <a:pt x="8477250" y="0"/>
                </a:lnTo>
                <a:lnTo>
                  <a:pt x="8477250" y="3962400"/>
                </a:lnTo>
                <a:lnTo>
                  <a:pt x="0" y="39624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75858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23" name="Shape 2"/>
          <p:cNvSpPr/>
          <p:nvPr/>
        </p:nvSpPr>
        <p:spPr>
          <a:xfrm>
            <a:off x="923760" y="1295280"/>
            <a:ext cx="856080" cy="856080"/>
          </a:xfrm>
          <a:custGeom>
            <a:avLst/>
            <a:gdLst/>
            <a:ahLst/>
            <a:rect l="l" t="t" r="r" b="b"/>
            <a:pathLst>
              <a:path w="857250" h="857250">
                <a:moveTo>
                  <a:pt x="0" y="0"/>
                </a:moveTo>
                <a:lnTo>
                  <a:pt x="857250" y="0"/>
                </a:lnTo>
                <a:lnTo>
                  <a:pt x="857250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24" name="Text 3"/>
          <p:cNvSpPr/>
          <p:nvPr/>
        </p:nvSpPr>
        <p:spPr>
          <a:xfrm>
            <a:off x="781200" y="1266840"/>
            <a:ext cx="1027800" cy="79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80000"/>
              </a:lnSpc>
              <a:buNone/>
            </a:pPr>
            <a:r>
              <a:rPr b="1" lang="en-US" sz="3600" spc="-1" strike="noStrike">
                <a:solidFill>
                  <a:srgbClr val="ffffff"/>
                </a:solidFill>
                <a:latin typeface="Noto Sans SC"/>
                <a:ea typeface="Noto Sans SC"/>
              </a:rPr>
              <a:t>01</a:t>
            </a:r>
            <a:endParaRPr b="0" lang="en-HK" sz="3600" spc="-1" strike="noStrike">
              <a:latin typeface="Arial"/>
            </a:endParaRPr>
          </a:p>
        </p:txBody>
      </p:sp>
      <p:sp>
        <p:nvSpPr>
          <p:cNvPr id="125" name="Shape 4"/>
          <p:cNvSpPr/>
          <p:nvPr/>
        </p:nvSpPr>
        <p:spPr>
          <a:xfrm>
            <a:off x="2038320" y="1266840"/>
            <a:ext cx="75240" cy="913320"/>
          </a:xfrm>
          <a:custGeom>
            <a:avLst/>
            <a:gdLst/>
            <a:ahLst/>
            <a:rect l="l" t="t" r="r" b="b"/>
            <a:pathLst>
              <a:path w="76200" h="914400">
                <a:moveTo>
                  <a:pt x="0" y="0"/>
                </a:moveTo>
                <a:lnTo>
                  <a:pt x="76200" y="0"/>
                </a:lnTo>
                <a:lnTo>
                  <a:pt x="76200" y="914400"/>
                </a:lnTo>
                <a:lnTo>
                  <a:pt x="0" y="9144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26" name="Text 5"/>
          <p:cNvSpPr/>
          <p:nvPr/>
        </p:nvSpPr>
        <p:spPr>
          <a:xfrm>
            <a:off x="895320" y="2486160"/>
            <a:ext cx="7847640" cy="85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5400" spc="-1" strike="noStrike">
                <a:solidFill>
                  <a:srgbClr val="000000"/>
                </a:solidFill>
                <a:latin typeface="Noto Sans SC"/>
                <a:ea typeface="Noto Sans SC"/>
              </a:rPr>
              <a:t>THE GENESIS</a:t>
            </a:r>
            <a:endParaRPr b="0" lang="en-HK" sz="5400" spc="-1" strike="noStrike">
              <a:latin typeface="Arial"/>
            </a:endParaRPr>
          </a:p>
        </p:txBody>
      </p:sp>
      <p:sp>
        <p:nvSpPr>
          <p:cNvPr id="127" name="Shape 6"/>
          <p:cNvSpPr/>
          <p:nvPr/>
        </p:nvSpPr>
        <p:spPr>
          <a:xfrm>
            <a:off x="895320" y="3571920"/>
            <a:ext cx="1827720" cy="75240"/>
          </a:xfrm>
          <a:custGeom>
            <a:avLst/>
            <a:gdLst/>
            <a:ahLst/>
            <a:rect l="l" t="t" r="r" b="b"/>
            <a:pathLst>
              <a:path w="1828800" h="76200">
                <a:moveTo>
                  <a:pt x="0" y="0"/>
                </a:moveTo>
                <a:lnTo>
                  <a:pt x="1828800" y="0"/>
                </a:lnTo>
                <a:lnTo>
                  <a:pt x="18288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28" name="Text 7"/>
          <p:cNvSpPr/>
          <p:nvPr/>
        </p:nvSpPr>
        <p:spPr>
          <a:xfrm>
            <a:off x="895320" y="3876840"/>
            <a:ext cx="7675920" cy="3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700" spc="-1" strike="noStrike">
                <a:solidFill>
                  <a:srgbClr val="000000"/>
                </a:solidFill>
                <a:latin typeface="Noto Sans SC"/>
                <a:ea typeface="Noto Sans SC"/>
              </a:rPr>
              <a:t>Bitcoin's Origin Story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129" name="Shape 8"/>
          <p:cNvSpPr/>
          <p:nvPr/>
        </p:nvSpPr>
        <p:spPr>
          <a:xfrm>
            <a:off x="409680" y="5257800"/>
            <a:ext cx="11371680" cy="817920"/>
          </a:xfrm>
          <a:custGeom>
            <a:avLst/>
            <a:gdLst/>
            <a:ahLst/>
            <a:rect l="l" t="t" r="r" b="b"/>
            <a:pathLst>
              <a:path w="11372850" h="819150">
                <a:moveTo>
                  <a:pt x="0" y="0"/>
                </a:moveTo>
                <a:lnTo>
                  <a:pt x="11372850" y="0"/>
                </a:lnTo>
                <a:lnTo>
                  <a:pt x="11372850" y="819150"/>
                </a:lnTo>
                <a:lnTo>
                  <a:pt x="0" y="8191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30" name="Text 9"/>
          <p:cNvSpPr/>
          <p:nvPr/>
        </p:nvSpPr>
        <p:spPr>
          <a:xfrm>
            <a:off x="666720" y="5514840"/>
            <a:ext cx="10971720" cy="30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8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▶ </a:t>
            </a:r>
            <a:r>
              <a:rPr b="1" lang="en-US" sz="1800" spc="-1" strike="noStrike">
                <a:solidFill>
                  <a:srgbClr val="000000"/>
                </a:solidFill>
                <a:latin typeface="Noto Sans SC"/>
                <a:ea typeface="Noto Sans SC"/>
              </a:rPr>
              <a:t>From Cypherpunk Vision to Financial Revolution</a:t>
            </a:r>
            <a:endParaRPr b="0" lang="en-HK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Shape 0"/>
          <p:cNvSpPr/>
          <p:nvPr/>
        </p:nvSpPr>
        <p:spPr>
          <a:xfrm>
            <a:off x="341280" y="341280"/>
            <a:ext cx="11508120" cy="999000"/>
          </a:xfrm>
          <a:custGeom>
            <a:avLst/>
            <a:gdLst/>
            <a:ahLst/>
            <a:rect l="l" t="t" r="r" b="b"/>
            <a:pathLst>
              <a:path w="11509375" h="1000125">
                <a:moveTo>
                  <a:pt x="0" y="0"/>
                </a:moveTo>
                <a:lnTo>
                  <a:pt x="11509375" y="0"/>
                </a:lnTo>
                <a:lnTo>
                  <a:pt x="11509375" y="1000125"/>
                </a:lnTo>
                <a:lnTo>
                  <a:pt x="0" y="1000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32" name="Text 1"/>
          <p:cNvSpPr/>
          <p:nvPr/>
        </p:nvSpPr>
        <p:spPr>
          <a:xfrm>
            <a:off x="555480" y="555480"/>
            <a:ext cx="11270160" cy="3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80000"/>
              </a:lnSpc>
              <a:buNone/>
            </a:pPr>
            <a:r>
              <a:rPr b="1" lang="en-US" sz="3000" spc="-1" strike="noStrike">
                <a:solidFill>
                  <a:srgbClr val="000000"/>
                </a:solidFill>
                <a:latin typeface="Noto Sans SC"/>
                <a:ea typeface="Noto Sans SC"/>
              </a:rPr>
              <a:t>THE BIRTH OF BITCOIN: 2008-2009</a:t>
            </a:r>
            <a:endParaRPr b="0" lang="en-HK" sz="3000" spc="-1" strike="noStrike">
              <a:latin typeface="Arial"/>
            </a:endParaRPr>
          </a:p>
        </p:txBody>
      </p:sp>
      <p:sp>
        <p:nvSpPr>
          <p:cNvPr id="133" name="Shape 2"/>
          <p:cNvSpPr/>
          <p:nvPr/>
        </p:nvSpPr>
        <p:spPr>
          <a:xfrm>
            <a:off x="555480" y="1063800"/>
            <a:ext cx="761040" cy="62280"/>
          </a:xfrm>
          <a:custGeom>
            <a:avLst/>
            <a:gdLst/>
            <a:ahLst/>
            <a:rect l="l" t="t" r="r" b="b"/>
            <a:pathLst>
              <a:path w="762000" h="63500">
                <a:moveTo>
                  <a:pt x="0" y="0"/>
                </a:moveTo>
                <a:lnTo>
                  <a:pt x="762000" y="0"/>
                </a:lnTo>
                <a:lnTo>
                  <a:pt x="7620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34" name="Shape 3"/>
          <p:cNvSpPr/>
          <p:nvPr/>
        </p:nvSpPr>
        <p:spPr>
          <a:xfrm>
            <a:off x="341280" y="1547640"/>
            <a:ext cx="8269920" cy="1848240"/>
          </a:xfrm>
          <a:custGeom>
            <a:avLst/>
            <a:gdLst/>
            <a:ahLst/>
            <a:rect l="l" t="t" r="r" b="b"/>
            <a:pathLst>
              <a:path w="8270875" h="1849438">
                <a:moveTo>
                  <a:pt x="0" y="0"/>
                </a:moveTo>
                <a:lnTo>
                  <a:pt x="8270875" y="0"/>
                </a:lnTo>
                <a:lnTo>
                  <a:pt x="8270875" y="1849438"/>
                </a:lnTo>
                <a:lnTo>
                  <a:pt x="0" y="184943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35" name="Shape 4"/>
          <p:cNvSpPr/>
          <p:nvPr/>
        </p:nvSpPr>
        <p:spPr>
          <a:xfrm>
            <a:off x="547560" y="1754280"/>
            <a:ext cx="332280" cy="332280"/>
          </a:xfrm>
          <a:custGeom>
            <a:avLst/>
            <a:gdLst/>
            <a:ahLst/>
            <a:rect l="l" t="t" r="r" b="b"/>
            <a:pathLst>
              <a:path w="333375" h="333375">
                <a:moveTo>
                  <a:pt x="0" y="0"/>
                </a:moveTo>
                <a:lnTo>
                  <a:pt x="333375" y="0"/>
                </a:lnTo>
                <a:lnTo>
                  <a:pt x="333375" y="333375"/>
                </a:lnTo>
                <a:lnTo>
                  <a:pt x="0" y="333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36" name="Text 5"/>
          <p:cNvSpPr/>
          <p:nvPr/>
        </p:nvSpPr>
        <p:spPr>
          <a:xfrm>
            <a:off x="484200" y="1730520"/>
            <a:ext cx="363960" cy="28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▶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137" name="Text 6"/>
          <p:cNvSpPr/>
          <p:nvPr/>
        </p:nvSpPr>
        <p:spPr>
          <a:xfrm>
            <a:off x="1031760" y="1730520"/>
            <a:ext cx="1618200" cy="25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October 31, 2008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38" name="Text 7"/>
          <p:cNvSpPr/>
          <p:nvPr/>
        </p:nvSpPr>
        <p:spPr>
          <a:xfrm>
            <a:off x="523800" y="2206800"/>
            <a:ext cx="7976160" cy="46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1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Satoshi Nakamoto</a:t>
            </a:r>
            <a:r>
              <a:rPr b="0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 publishes the Bitcoin whitepaper: "Bitcoin: A Peer-to-Peer Electronic Cash System" to the cypherpunk mailing list.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139" name="Shape 8"/>
          <p:cNvSpPr/>
          <p:nvPr/>
        </p:nvSpPr>
        <p:spPr>
          <a:xfrm>
            <a:off x="539640" y="2782080"/>
            <a:ext cx="7872840" cy="411840"/>
          </a:xfrm>
          <a:custGeom>
            <a:avLst/>
            <a:gdLst/>
            <a:ahLst/>
            <a:rect l="l" t="t" r="r" b="b"/>
            <a:pathLst>
              <a:path w="7874000" h="412750">
                <a:moveTo>
                  <a:pt x="0" y="0"/>
                </a:moveTo>
                <a:lnTo>
                  <a:pt x="7874000" y="0"/>
                </a:lnTo>
                <a:lnTo>
                  <a:pt x="7874000" y="412750"/>
                </a:lnTo>
                <a:lnTo>
                  <a:pt x="0" y="412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40" name="Text 9"/>
          <p:cNvSpPr/>
          <p:nvPr/>
        </p:nvSpPr>
        <p:spPr>
          <a:xfrm>
            <a:off x="650880" y="2893320"/>
            <a:ext cx="771408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Core Innovation: Decentralized digital currency without trusted third parties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141" name="Shape 10"/>
          <p:cNvSpPr/>
          <p:nvPr/>
        </p:nvSpPr>
        <p:spPr>
          <a:xfrm>
            <a:off x="341280" y="3567960"/>
            <a:ext cx="8269920" cy="1610280"/>
          </a:xfrm>
          <a:custGeom>
            <a:avLst/>
            <a:gdLst/>
            <a:ahLst/>
            <a:rect l="l" t="t" r="r" b="b"/>
            <a:pathLst>
              <a:path w="8270875" h="1611313">
                <a:moveTo>
                  <a:pt x="0" y="0"/>
                </a:moveTo>
                <a:lnTo>
                  <a:pt x="8270875" y="0"/>
                </a:lnTo>
                <a:lnTo>
                  <a:pt x="8270875" y="1611313"/>
                </a:lnTo>
                <a:lnTo>
                  <a:pt x="0" y="161131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42" name="Shape 11"/>
          <p:cNvSpPr/>
          <p:nvPr/>
        </p:nvSpPr>
        <p:spPr>
          <a:xfrm>
            <a:off x="547560" y="3774240"/>
            <a:ext cx="332280" cy="332280"/>
          </a:xfrm>
          <a:custGeom>
            <a:avLst/>
            <a:gdLst/>
            <a:ahLst/>
            <a:rect l="l" t="t" r="r" b="b"/>
            <a:pathLst>
              <a:path w="333375" h="333375">
                <a:moveTo>
                  <a:pt x="0" y="0"/>
                </a:moveTo>
                <a:lnTo>
                  <a:pt x="333375" y="0"/>
                </a:lnTo>
                <a:lnTo>
                  <a:pt x="333375" y="333375"/>
                </a:lnTo>
                <a:lnTo>
                  <a:pt x="0" y="333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43" name="Text 12"/>
          <p:cNvSpPr/>
          <p:nvPr/>
        </p:nvSpPr>
        <p:spPr>
          <a:xfrm>
            <a:off x="484200" y="3750480"/>
            <a:ext cx="363960" cy="28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▶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144" name="Text 13"/>
          <p:cNvSpPr/>
          <p:nvPr/>
        </p:nvSpPr>
        <p:spPr>
          <a:xfrm>
            <a:off x="1031760" y="3750480"/>
            <a:ext cx="1514880" cy="25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January 3, 2009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45" name="Text 14"/>
          <p:cNvSpPr/>
          <p:nvPr/>
        </p:nvSpPr>
        <p:spPr>
          <a:xfrm>
            <a:off x="523800" y="4226760"/>
            <a:ext cx="7976160" cy="22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The </a:t>
            </a:r>
            <a:r>
              <a:rPr b="1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Genesis Block</a:t>
            </a:r>
            <a:r>
              <a:rPr b="0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 is mined, marking Bitcoin network's official launch. Embedded message references bank bailouts.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146" name="Shape 15"/>
          <p:cNvSpPr/>
          <p:nvPr/>
        </p:nvSpPr>
        <p:spPr>
          <a:xfrm>
            <a:off x="539640" y="4569840"/>
            <a:ext cx="7872840" cy="411840"/>
          </a:xfrm>
          <a:custGeom>
            <a:avLst/>
            <a:gdLst/>
            <a:ahLst/>
            <a:rect l="l" t="t" r="r" b="b"/>
            <a:pathLst>
              <a:path w="7874000" h="412750">
                <a:moveTo>
                  <a:pt x="0" y="0"/>
                </a:moveTo>
                <a:lnTo>
                  <a:pt x="7874000" y="0"/>
                </a:lnTo>
                <a:lnTo>
                  <a:pt x="7874000" y="412750"/>
                </a:lnTo>
                <a:lnTo>
                  <a:pt x="0" y="412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47" name="Text 16"/>
          <p:cNvSpPr/>
          <p:nvPr/>
        </p:nvSpPr>
        <p:spPr>
          <a:xfrm>
            <a:off x="650880" y="4681080"/>
            <a:ext cx="771408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"The Times 03/Jan/2009 Chancellor on brink of second bailout for banks"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148" name="Shape 17"/>
          <p:cNvSpPr/>
          <p:nvPr/>
        </p:nvSpPr>
        <p:spPr>
          <a:xfrm>
            <a:off x="341280" y="5355720"/>
            <a:ext cx="8269920" cy="1070640"/>
          </a:xfrm>
          <a:custGeom>
            <a:avLst/>
            <a:gdLst/>
            <a:ahLst/>
            <a:rect l="l" t="t" r="r" b="b"/>
            <a:pathLst>
              <a:path w="8270875" h="1071563">
                <a:moveTo>
                  <a:pt x="0" y="0"/>
                </a:moveTo>
                <a:lnTo>
                  <a:pt x="8270875" y="0"/>
                </a:lnTo>
                <a:lnTo>
                  <a:pt x="8270875" y="1071563"/>
                </a:lnTo>
                <a:lnTo>
                  <a:pt x="0" y="107156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49" name="Shape 18"/>
          <p:cNvSpPr/>
          <p:nvPr/>
        </p:nvSpPr>
        <p:spPr>
          <a:xfrm>
            <a:off x="547560" y="5562360"/>
            <a:ext cx="332280" cy="332280"/>
          </a:xfrm>
          <a:custGeom>
            <a:avLst/>
            <a:gdLst/>
            <a:ahLst/>
            <a:rect l="l" t="t" r="r" b="b"/>
            <a:pathLst>
              <a:path w="333375" h="333375">
                <a:moveTo>
                  <a:pt x="0" y="0"/>
                </a:moveTo>
                <a:lnTo>
                  <a:pt x="333375" y="0"/>
                </a:lnTo>
                <a:lnTo>
                  <a:pt x="333375" y="333375"/>
                </a:lnTo>
                <a:lnTo>
                  <a:pt x="0" y="333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50" name="Text 19"/>
          <p:cNvSpPr/>
          <p:nvPr/>
        </p:nvSpPr>
        <p:spPr>
          <a:xfrm>
            <a:off x="484200" y="5538240"/>
            <a:ext cx="363960" cy="28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▶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151" name="Text 20"/>
          <p:cNvSpPr/>
          <p:nvPr/>
        </p:nvSpPr>
        <p:spPr>
          <a:xfrm>
            <a:off x="1031760" y="5538240"/>
            <a:ext cx="1618200" cy="25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January 12, 2009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52" name="Text 21"/>
          <p:cNvSpPr/>
          <p:nvPr/>
        </p:nvSpPr>
        <p:spPr>
          <a:xfrm>
            <a:off x="523800" y="6014520"/>
            <a:ext cx="7976160" cy="22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First Bitcoin transaction: Satoshi sends </a:t>
            </a:r>
            <a:r>
              <a:rPr b="1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10 BTC</a:t>
            </a:r>
            <a:r>
              <a:rPr b="0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 to computer scientist </a:t>
            </a:r>
            <a:r>
              <a:rPr b="1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Hal Finney</a:t>
            </a:r>
            <a:r>
              <a:rPr b="0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, validating the system works.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153" name="Shape 22"/>
          <p:cNvSpPr/>
          <p:nvPr/>
        </p:nvSpPr>
        <p:spPr>
          <a:xfrm>
            <a:off x="8850240" y="1547640"/>
            <a:ext cx="2999160" cy="3507120"/>
          </a:xfrm>
          <a:custGeom>
            <a:avLst/>
            <a:gdLst/>
            <a:ahLst/>
            <a:rect l="l" t="t" r="r" b="b"/>
            <a:pathLst>
              <a:path w="3000375" h="3508375">
                <a:moveTo>
                  <a:pt x="0" y="0"/>
                </a:moveTo>
                <a:lnTo>
                  <a:pt x="3000375" y="0"/>
                </a:lnTo>
                <a:lnTo>
                  <a:pt x="3000375" y="3508375"/>
                </a:lnTo>
                <a:lnTo>
                  <a:pt x="0" y="35083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54" name="Text 23"/>
          <p:cNvSpPr/>
          <p:nvPr/>
        </p:nvSpPr>
        <p:spPr>
          <a:xfrm>
            <a:off x="9032760" y="1730520"/>
            <a:ext cx="2729520" cy="25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★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THE MOTIVATION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55" name="Shape 24"/>
          <p:cNvSpPr/>
          <p:nvPr/>
        </p:nvSpPr>
        <p:spPr>
          <a:xfrm>
            <a:off x="9048600" y="2127240"/>
            <a:ext cx="2602440" cy="824400"/>
          </a:xfrm>
          <a:custGeom>
            <a:avLst/>
            <a:gdLst/>
            <a:ahLst/>
            <a:rect l="l" t="t" r="r" b="b"/>
            <a:pathLst>
              <a:path w="2603500" h="825500">
                <a:moveTo>
                  <a:pt x="0" y="0"/>
                </a:moveTo>
                <a:lnTo>
                  <a:pt x="2603500" y="0"/>
                </a:lnTo>
                <a:lnTo>
                  <a:pt x="2603500" y="825500"/>
                </a:lnTo>
                <a:lnTo>
                  <a:pt x="0" y="8255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56" name="Text 25"/>
          <p:cNvSpPr/>
          <p:nvPr/>
        </p:nvSpPr>
        <p:spPr>
          <a:xfrm>
            <a:off x="9159840" y="2238480"/>
            <a:ext cx="244368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2008 Financial Crisis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157" name="Text 26"/>
          <p:cNvSpPr/>
          <p:nvPr/>
        </p:nvSpPr>
        <p:spPr>
          <a:xfrm>
            <a:off x="9159840" y="2460600"/>
            <a:ext cx="2443680" cy="3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Bank failures, government bailouts, currency devaluation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158" name="Shape 27"/>
          <p:cNvSpPr/>
          <p:nvPr/>
        </p:nvSpPr>
        <p:spPr>
          <a:xfrm>
            <a:off x="9048600" y="3079800"/>
            <a:ext cx="2602440" cy="824400"/>
          </a:xfrm>
          <a:custGeom>
            <a:avLst/>
            <a:gdLst/>
            <a:ahLst/>
            <a:rect l="l" t="t" r="r" b="b"/>
            <a:pathLst>
              <a:path w="2603500" h="825500">
                <a:moveTo>
                  <a:pt x="0" y="0"/>
                </a:moveTo>
                <a:lnTo>
                  <a:pt x="2603500" y="0"/>
                </a:lnTo>
                <a:lnTo>
                  <a:pt x="2603500" y="825500"/>
                </a:lnTo>
                <a:lnTo>
                  <a:pt x="0" y="8255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59" name="Text 28"/>
          <p:cNvSpPr/>
          <p:nvPr/>
        </p:nvSpPr>
        <p:spPr>
          <a:xfrm>
            <a:off x="9159840" y="3191040"/>
            <a:ext cx="244368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Cypherpunk Philosophy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160" name="Text 29"/>
          <p:cNvSpPr/>
          <p:nvPr/>
        </p:nvSpPr>
        <p:spPr>
          <a:xfrm>
            <a:off x="9159840" y="3413160"/>
            <a:ext cx="2443680" cy="3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Privacy, decentralization, mathematical trust over institutional trust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161" name="Shape 30"/>
          <p:cNvSpPr/>
          <p:nvPr/>
        </p:nvSpPr>
        <p:spPr>
          <a:xfrm>
            <a:off x="9048600" y="4032360"/>
            <a:ext cx="2602440" cy="824400"/>
          </a:xfrm>
          <a:custGeom>
            <a:avLst/>
            <a:gdLst/>
            <a:ahLst/>
            <a:rect l="l" t="t" r="r" b="b"/>
            <a:pathLst>
              <a:path w="2603500" h="825500">
                <a:moveTo>
                  <a:pt x="0" y="0"/>
                </a:moveTo>
                <a:lnTo>
                  <a:pt x="2603500" y="0"/>
                </a:lnTo>
                <a:lnTo>
                  <a:pt x="2603500" y="825500"/>
                </a:lnTo>
                <a:lnTo>
                  <a:pt x="0" y="8255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62" name="Text 31"/>
          <p:cNvSpPr/>
          <p:nvPr/>
        </p:nvSpPr>
        <p:spPr>
          <a:xfrm>
            <a:off x="9159840" y="4143240"/>
            <a:ext cx="244368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Double-Spending Problem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163" name="Text 32"/>
          <p:cNvSpPr/>
          <p:nvPr/>
        </p:nvSpPr>
        <p:spPr>
          <a:xfrm>
            <a:off x="9159840" y="4365720"/>
            <a:ext cx="2443680" cy="3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First digital currency to solve this without central authority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164" name="Shape 33"/>
          <p:cNvSpPr/>
          <p:nvPr/>
        </p:nvSpPr>
        <p:spPr>
          <a:xfrm>
            <a:off x="8850240" y="5230800"/>
            <a:ext cx="2999160" cy="3475440"/>
          </a:xfrm>
          <a:custGeom>
            <a:avLst/>
            <a:gdLst/>
            <a:ahLst/>
            <a:rect l="l" t="t" r="r" b="b"/>
            <a:pathLst>
              <a:path w="3000375" h="3476625">
                <a:moveTo>
                  <a:pt x="0" y="0"/>
                </a:moveTo>
                <a:lnTo>
                  <a:pt x="3000375" y="0"/>
                </a:lnTo>
                <a:lnTo>
                  <a:pt x="3000375" y="3476625"/>
                </a:lnTo>
                <a:lnTo>
                  <a:pt x="0" y="34766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65" name="Text 34"/>
          <p:cNvSpPr/>
          <p:nvPr/>
        </p:nvSpPr>
        <p:spPr>
          <a:xfrm>
            <a:off x="9032760" y="5413320"/>
            <a:ext cx="2729520" cy="25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■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CORE PRINCIPLES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66" name="Shape 35"/>
          <p:cNvSpPr/>
          <p:nvPr/>
        </p:nvSpPr>
        <p:spPr>
          <a:xfrm>
            <a:off x="9048600" y="5810400"/>
            <a:ext cx="2602440" cy="348120"/>
          </a:xfrm>
          <a:custGeom>
            <a:avLst/>
            <a:gdLst/>
            <a:ahLst/>
            <a:rect l="l" t="t" r="r" b="b"/>
            <a:pathLst>
              <a:path w="2603500" h="349250">
                <a:moveTo>
                  <a:pt x="0" y="0"/>
                </a:moveTo>
                <a:lnTo>
                  <a:pt x="2603500" y="0"/>
                </a:lnTo>
                <a:lnTo>
                  <a:pt x="2603500" y="349250"/>
                </a:lnTo>
                <a:lnTo>
                  <a:pt x="0" y="349250"/>
                </a:lnTo>
                <a:lnTo>
                  <a:pt x="0" y="0"/>
                </a:lnTo>
                <a:close/>
              </a:path>
            </a:pathLst>
          </a:custGeom>
          <a:noFill/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67" name="Shape 36"/>
          <p:cNvSpPr/>
          <p:nvPr/>
        </p:nvSpPr>
        <p:spPr>
          <a:xfrm>
            <a:off x="9128160" y="5937120"/>
            <a:ext cx="94320" cy="94320"/>
          </a:xfrm>
          <a:custGeom>
            <a:avLst/>
            <a:gdLst/>
            <a:ahLst/>
            <a:rect l="l" t="t" r="r" b="b"/>
            <a:pathLst>
              <a:path w="95250" h="95250">
                <a:moveTo>
                  <a:pt x="0" y="0"/>
                </a:moveTo>
                <a:lnTo>
                  <a:pt x="95250" y="0"/>
                </a:lnTo>
                <a:lnTo>
                  <a:pt x="95250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68" name="Text 37"/>
          <p:cNvSpPr/>
          <p:nvPr/>
        </p:nvSpPr>
        <p:spPr>
          <a:xfrm>
            <a:off x="9318600" y="5889600"/>
            <a:ext cx="189612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Fixed Supply: 21 Million Coins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169" name="Shape 38"/>
          <p:cNvSpPr/>
          <p:nvPr/>
        </p:nvSpPr>
        <p:spPr>
          <a:xfrm>
            <a:off x="9048600" y="6254640"/>
            <a:ext cx="2602440" cy="538560"/>
          </a:xfrm>
          <a:custGeom>
            <a:avLst/>
            <a:gdLst/>
            <a:ahLst/>
            <a:rect l="l" t="t" r="r" b="b"/>
            <a:pathLst>
              <a:path w="2603500" h="539750">
                <a:moveTo>
                  <a:pt x="0" y="0"/>
                </a:moveTo>
                <a:lnTo>
                  <a:pt x="2603500" y="0"/>
                </a:lnTo>
                <a:lnTo>
                  <a:pt x="2603500" y="539750"/>
                </a:lnTo>
                <a:lnTo>
                  <a:pt x="0" y="539750"/>
                </a:lnTo>
                <a:lnTo>
                  <a:pt x="0" y="0"/>
                </a:lnTo>
                <a:close/>
              </a:path>
            </a:pathLst>
          </a:custGeom>
          <a:noFill/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70" name="Shape 39"/>
          <p:cNvSpPr/>
          <p:nvPr/>
        </p:nvSpPr>
        <p:spPr>
          <a:xfrm>
            <a:off x="9128160" y="6477120"/>
            <a:ext cx="86400" cy="94320"/>
          </a:xfrm>
          <a:custGeom>
            <a:avLst/>
            <a:gdLst/>
            <a:ahLst/>
            <a:rect l="l" t="t" r="r" b="b"/>
            <a:pathLst>
              <a:path w="87313" h="95250">
                <a:moveTo>
                  <a:pt x="0" y="0"/>
                </a:moveTo>
                <a:lnTo>
                  <a:pt x="87313" y="0"/>
                </a:lnTo>
                <a:lnTo>
                  <a:pt x="87313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71" name="Text 40"/>
          <p:cNvSpPr/>
          <p:nvPr/>
        </p:nvSpPr>
        <p:spPr>
          <a:xfrm>
            <a:off x="9309960" y="6334200"/>
            <a:ext cx="2324520" cy="3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Decentralized: No Single Point of Control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172" name="Shape 41"/>
          <p:cNvSpPr/>
          <p:nvPr/>
        </p:nvSpPr>
        <p:spPr>
          <a:xfrm>
            <a:off x="9048600" y="6889680"/>
            <a:ext cx="2602440" cy="348120"/>
          </a:xfrm>
          <a:custGeom>
            <a:avLst/>
            <a:gdLst/>
            <a:ahLst/>
            <a:rect l="l" t="t" r="r" b="b"/>
            <a:pathLst>
              <a:path w="2603500" h="349250">
                <a:moveTo>
                  <a:pt x="0" y="0"/>
                </a:moveTo>
                <a:lnTo>
                  <a:pt x="2603500" y="0"/>
                </a:lnTo>
                <a:lnTo>
                  <a:pt x="2603500" y="349250"/>
                </a:lnTo>
                <a:lnTo>
                  <a:pt x="0" y="349250"/>
                </a:lnTo>
                <a:lnTo>
                  <a:pt x="0" y="0"/>
                </a:lnTo>
                <a:close/>
              </a:path>
            </a:pathLst>
          </a:custGeom>
          <a:noFill/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73" name="Shape 42"/>
          <p:cNvSpPr/>
          <p:nvPr/>
        </p:nvSpPr>
        <p:spPr>
          <a:xfrm>
            <a:off x="9128160" y="7016760"/>
            <a:ext cx="94320" cy="94320"/>
          </a:xfrm>
          <a:custGeom>
            <a:avLst/>
            <a:gdLst/>
            <a:ahLst/>
            <a:rect l="l" t="t" r="r" b="b"/>
            <a:pathLst>
              <a:path w="95250" h="95250">
                <a:moveTo>
                  <a:pt x="0" y="0"/>
                </a:moveTo>
                <a:lnTo>
                  <a:pt x="95250" y="0"/>
                </a:lnTo>
                <a:lnTo>
                  <a:pt x="95250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74" name="Text 43"/>
          <p:cNvSpPr/>
          <p:nvPr/>
        </p:nvSpPr>
        <p:spPr>
          <a:xfrm>
            <a:off x="9318600" y="6969240"/>
            <a:ext cx="230076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Trustless: Cryptographic Verification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175" name="Shape 44"/>
          <p:cNvSpPr/>
          <p:nvPr/>
        </p:nvSpPr>
        <p:spPr>
          <a:xfrm>
            <a:off x="9048600" y="7334280"/>
            <a:ext cx="2602440" cy="538560"/>
          </a:xfrm>
          <a:custGeom>
            <a:avLst/>
            <a:gdLst/>
            <a:ahLst/>
            <a:rect l="l" t="t" r="r" b="b"/>
            <a:pathLst>
              <a:path w="2603500" h="539750">
                <a:moveTo>
                  <a:pt x="0" y="0"/>
                </a:moveTo>
                <a:lnTo>
                  <a:pt x="2603500" y="0"/>
                </a:lnTo>
                <a:lnTo>
                  <a:pt x="2603500" y="539750"/>
                </a:lnTo>
                <a:lnTo>
                  <a:pt x="0" y="539750"/>
                </a:lnTo>
                <a:lnTo>
                  <a:pt x="0" y="0"/>
                </a:lnTo>
                <a:close/>
              </a:path>
            </a:pathLst>
          </a:custGeom>
          <a:noFill/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76" name="Shape 45"/>
          <p:cNvSpPr/>
          <p:nvPr/>
        </p:nvSpPr>
        <p:spPr>
          <a:xfrm>
            <a:off x="9128160" y="7556400"/>
            <a:ext cx="86400" cy="94320"/>
          </a:xfrm>
          <a:custGeom>
            <a:avLst/>
            <a:gdLst/>
            <a:ahLst/>
            <a:rect l="l" t="t" r="r" b="b"/>
            <a:pathLst>
              <a:path w="87313" h="95250">
                <a:moveTo>
                  <a:pt x="0" y="0"/>
                </a:moveTo>
                <a:lnTo>
                  <a:pt x="87313" y="0"/>
                </a:lnTo>
                <a:lnTo>
                  <a:pt x="87313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77" name="Text 46"/>
          <p:cNvSpPr/>
          <p:nvPr/>
        </p:nvSpPr>
        <p:spPr>
          <a:xfrm>
            <a:off x="9314280" y="7413480"/>
            <a:ext cx="2324520" cy="3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Transparent: Public Blockchain Ledger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178" name="Shape 47"/>
          <p:cNvSpPr/>
          <p:nvPr/>
        </p:nvSpPr>
        <p:spPr>
          <a:xfrm>
            <a:off x="9048600" y="7969320"/>
            <a:ext cx="2602440" cy="538560"/>
          </a:xfrm>
          <a:custGeom>
            <a:avLst/>
            <a:gdLst/>
            <a:ahLst/>
            <a:rect l="l" t="t" r="r" b="b"/>
            <a:pathLst>
              <a:path w="2603500" h="539750">
                <a:moveTo>
                  <a:pt x="0" y="0"/>
                </a:moveTo>
                <a:lnTo>
                  <a:pt x="2603500" y="0"/>
                </a:lnTo>
                <a:lnTo>
                  <a:pt x="2603500" y="539750"/>
                </a:lnTo>
                <a:lnTo>
                  <a:pt x="0" y="539750"/>
                </a:lnTo>
                <a:lnTo>
                  <a:pt x="0" y="0"/>
                </a:lnTo>
                <a:close/>
              </a:path>
            </a:pathLst>
          </a:custGeom>
          <a:noFill/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79" name="Shape 48"/>
          <p:cNvSpPr/>
          <p:nvPr/>
        </p:nvSpPr>
        <p:spPr>
          <a:xfrm>
            <a:off x="9128160" y="8191440"/>
            <a:ext cx="78120" cy="94320"/>
          </a:xfrm>
          <a:custGeom>
            <a:avLst/>
            <a:gdLst/>
            <a:ahLst/>
            <a:rect l="l" t="t" r="r" b="b"/>
            <a:pathLst>
              <a:path w="79375" h="95250">
                <a:moveTo>
                  <a:pt x="0" y="0"/>
                </a:moveTo>
                <a:lnTo>
                  <a:pt x="79375" y="0"/>
                </a:lnTo>
                <a:lnTo>
                  <a:pt x="79375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80" name="Text 49"/>
          <p:cNvSpPr/>
          <p:nvPr/>
        </p:nvSpPr>
        <p:spPr>
          <a:xfrm>
            <a:off x="9301320" y="8048520"/>
            <a:ext cx="2332440" cy="3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Immutable: Transactions Cannot Be Reversed</a:t>
            </a:r>
            <a:endParaRPr b="0" lang="en-HK" sz="1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Image 0"/>
          <p:cNvSpPr/>
          <p:nvPr/>
        </p:nvSpPr>
        <p:spPr>
          <a:xfrm>
            <a:off x="0" y="0"/>
            <a:ext cx="12191040" cy="6856920"/>
          </a:xfrm>
          <a:prstGeom prst="roundRect">
            <a:avLst>
              <a:gd name="adj" fmla="val 0"/>
            </a:avLst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82" name="Shape 0"/>
          <p:cNvSpPr/>
          <p:nvPr/>
        </p:nvSpPr>
        <p:spPr>
          <a:xfrm>
            <a:off x="0" y="0"/>
            <a:ext cx="12191040" cy="6856920"/>
          </a:xfrm>
          <a:custGeom>
            <a:avLst/>
            <a:gdLst/>
            <a:ah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9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83" name="Shape 1"/>
          <p:cNvSpPr/>
          <p:nvPr/>
        </p:nvSpPr>
        <p:spPr>
          <a:xfrm>
            <a:off x="3305160" y="352440"/>
            <a:ext cx="8476200" cy="4818600"/>
          </a:xfrm>
          <a:custGeom>
            <a:avLst/>
            <a:gdLst/>
            <a:ahLst/>
            <a:rect l="l" t="t" r="r" b="b"/>
            <a:pathLst>
              <a:path w="8477250" h="4819650">
                <a:moveTo>
                  <a:pt x="0" y="0"/>
                </a:moveTo>
                <a:lnTo>
                  <a:pt x="8477250" y="0"/>
                </a:lnTo>
                <a:lnTo>
                  <a:pt x="8477250" y="4819650"/>
                </a:lnTo>
                <a:lnTo>
                  <a:pt x="0" y="48196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75858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84" name="Shape 2"/>
          <p:cNvSpPr/>
          <p:nvPr/>
        </p:nvSpPr>
        <p:spPr>
          <a:xfrm>
            <a:off x="10077480" y="838080"/>
            <a:ext cx="75240" cy="913320"/>
          </a:xfrm>
          <a:custGeom>
            <a:avLst/>
            <a:gdLst/>
            <a:ahLst/>
            <a:rect l="l" t="t" r="r" b="b"/>
            <a:pathLst>
              <a:path w="76200" h="914400">
                <a:moveTo>
                  <a:pt x="0" y="0"/>
                </a:moveTo>
                <a:lnTo>
                  <a:pt x="76200" y="0"/>
                </a:lnTo>
                <a:lnTo>
                  <a:pt x="76200" y="914400"/>
                </a:lnTo>
                <a:lnTo>
                  <a:pt x="0" y="9144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85" name="Shape 3"/>
          <p:cNvSpPr/>
          <p:nvPr/>
        </p:nvSpPr>
        <p:spPr>
          <a:xfrm>
            <a:off x="10410840" y="866880"/>
            <a:ext cx="856080" cy="856080"/>
          </a:xfrm>
          <a:custGeom>
            <a:avLst/>
            <a:gdLst/>
            <a:ahLst/>
            <a:rect l="l" t="t" r="r" b="b"/>
            <a:pathLst>
              <a:path w="857250" h="857250">
                <a:moveTo>
                  <a:pt x="0" y="0"/>
                </a:moveTo>
                <a:lnTo>
                  <a:pt x="857250" y="0"/>
                </a:lnTo>
                <a:lnTo>
                  <a:pt x="857250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86" name="Text 4"/>
          <p:cNvSpPr/>
          <p:nvPr/>
        </p:nvSpPr>
        <p:spPr>
          <a:xfrm>
            <a:off x="10267920" y="838080"/>
            <a:ext cx="1027800" cy="79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80000"/>
              </a:lnSpc>
              <a:buNone/>
            </a:pPr>
            <a:r>
              <a:rPr b="1" lang="en-US" sz="3600" spc="-1" strike="noStrike">
                <a:solidFill>
                  <a:srgbClr val="ffffff"/>
                </a:solidFill>
                <a:latin typeface="Noto Sans SC"/>
                <a:ea typeface="Noto Sans SC"/>
              </a:rPr>
              <a:t>02</a:t>
            </a:r>
            <a:endParaRPr b="0" lang="en-HK" sz="3600" spc="-1" strike="noStrike">
              <a:latin typeface="Arial"/>
            </a:endParaRPr>
          </a:p>
        </p:txBody>
      </p:sp>
      <p:sp>
        <p:nvSpPr>
          <p:cNvPr id="187" name="Text 5"/>
          <p:cNvSpPr/>
          <p:nvPr/>
        </p:nvSpPr>
        <p:spPr>
          <a:xfrm>
            <a:off x="3448080" y="2057400"/>
            <a:ext cx="7847640" cy="171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00000"/>
              </a:lnSpc>
              <a:buNone/>
            </a:pPr>
            <a:r>
              <a:rPr b="1" lang="en-US" sz="5400" spc="-1" strike="noStrike">
                <a:solidFill>
                  <a:srgbClr val="000000"/>
                </a:solidFill>
                <a:latin typeface="Noto Sans SC"/>
                <a:ea typeface="Noto Sans SC"/>
              </a:rPr>
              <a:t>TECHNICAL FOUNDATION</a:t>
            </a:r>
            <a:endParaRPr b="0" lang="en-HK" sz="5400" spc="-1" strike="noStrike">
              <a:latin typeface="Arial"/>
            </a:endParaRPr>
          </a:p>
        </p:txBody>
      </p:sp>
      <p:sp>
        <p:nvSpPr>
          <p:cNvPr id="188" name="Shape 6"/>
          <p:cNvSpPr/>
          <p:nvPr/>
        </p:nvSpPr>
        <p:spPr>
          <a:xfrm>
            <a:off x="9468000" y="4000680"/>
            <a:ext cx="1827720" cy="75240"/>
          </a:xfrm>
          <a:custGeom>
            <a:avLst/>
            <a:gdLst/>
            <a:ahLst/>
            <a:rect l="l" t="t" r="r" b="b"/>
            <a:pathLst>
              <a:path w="1828800" h="76200">
                <a:moveTo>
                  <a:pt x="0" y="0"/>
                </a:moveTo>
                <a:lnTo>
                  <a:pt x="1828800" y="0"/>
                </a:lnTo>
                <a:lnTo>
                  <a:pt x="18288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89" name="Text 7"/>
          <p:cNvSpPr/>
          <p:nvPr/>
        </p:nvSpPr>
        <p:spPr>
          <a:xfrm>
            <a:off x="3619440" y="4305240"/>
            <a:ext cx="7675920" cy="3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90000"/>
              </a:lnSpc>
              <a:buNone/>
            </a:pPr>
            <a:r>
              <a:rPr b="1" lang="en-US" sz="2700" spc="-1" strike="noStrike">
                <a:solidFill>
                  <a:srgbClr val="000000"/>
                </a:solidFill>
                <a:latin typeface="Noto Sans SC"/>
                <a:ea typeface="Noto Sans SC"/>
              </a:rPr>
              <a:t>How Bitcoin Works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190" name="Shape 8"/>
          <p:cNvSpPr/>
          <p:nvPr/>
        </p:nvSpPr>
        <p:spPr>
          <a:xfrm>
            <a:off x="5071320" y="5686560"/>
            <a:ext cx="6714000" cy="817920"/>
          </a:xfrm>
          <a:custGeom>
            <a:avLst/>
            <a:gdLst/>
            <a:ahLst/>
            <a:rect l="l" t="t" r="r" b="b"/>
            <a:pathLst>
              <a:path w="6715125" h="819150">
                <a:moveTo>
                  <a:pt x="0" y="0"/>
                </a:moveTo>
                <a:lnTo>
                  <a:pt x="6715125" y="0"/>
                </a:lnTo>
                <a:lnTo>
                  <a:pt x="6715125" y="819150"/>
                </a:lnTo>
                <a:lnTo>
                  <a:pt x="0" y="8191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91" name="Text 9"/>
          <p:cNvSpPr/>
          <p:nvPr/>
        </p:nvSpPr>
        <p:spPr>
          <a:xfrm>
            <a:off x="5328720" y="5943600"/>
            <a:ext cx="6314040" cy="30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8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▶ </a:t>
            </a:r>
            <a:r>
              <a:rPr b="1" lang="en-US" sz="1800" spc="-1" strike="noStrike">
                <a:solidFill>
                  <a:srgbClr val="000000"/>
                </a:solidFill>
                <a:latin typeface="Noto Sans SC"/>
                <a:ea typeface="Noto Sans SC"/>
              </a:rPr>
              <a:t>Proof of Work, Blockchain &amp; Decentralized Consensus</a:t>
            </a:r>
            <a:endParaRPr b="0" lang="en-HK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Shape 0"/>
          <p:cNvSpPr/>
          <p:nvPr/>
        </p:nvSpPr>
        <p:spPr>
          <a:xfrm>
            <a:off x="341280" y="341280"/>
            <a:ext cx="11508120" cy="999000"/>
          </a:xfrm>
          <a:custGeom>
            <a:avLst/>
            <a:gdLst/>
            <a:ahLst/>
            <a:rect l="l" t="t" r="r" b="b"/>
            <a:pathLst>
              <a:path w="11509375" h="1000125">
                <a:moveTo>
                  <a:pt x="0" y="0"/>
                </a:moveTo>
                <a:lnTo>
                  <a:pt x="11509375" y="0"/>
                </a:lnTo>
                <a:lnTo>
                  <a:pt x="11509375" y="1000125"/>
                </a:lnTo>
                <a:lnTo>
                  <a:pt x="0" y="1000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93" name="Text 1"/>
          <p:cNvSpPr/>
          <p:nvPr/>
        </p:nvSpPr>
        <p:spPr>
          <a:xfrm>
            <a:off x="555480" y="555480"/>
            <a:ext cx="11270160" cy="3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80000"/>
              </a:lnSpc>
              <a:buNone/>
            </a:pPr>
            <a:r>
              <a:rPr b="1" lang="en-US" sz="3000" spc="-1" strike="noStrike">
                <a:solidFill>
                  <a:srgbClr val="000000"/>
                </a:solidFill>
                <a:latin typeface="Noto Sans SC"/>
                <a:ea typeface="Noto Sans SC"/>
              </a:rPr>
              <a:t>BLOCKCHAIN &amp; PROOF OF WORK: THE SECURITY MODEL</a:t>
            </a:r>
            <a:endParaRPr b="0" lang="en-HK" sz="3000" spc="-1" strike="noStrike">
              <a:latin typeface="Arial"/>
            </a:endParaRPr>
          </a:p>
        </p:txBody>
      </p:sp>
      <p:sp>
        <p:nvSpPr>
          <p:cNvPr id="194" name="Shape 2"/>
          <p:cNvSpPr/>
          <p:nvPr/>
        </p:nvSpPr>
        <p:spPr>
          <a:xfrm>
            <a:off x="555480" y="1063800"/>
            <a:ext cx="761040" cy="62280"/>
          </a:xfrm>
          <a:custGeom>
            <a:avLst/>
            <a:gdLst/>
            <a:ahLst/>
            <a:rect l="l" t="t" r="r" b="b"/>
            <a:pathLst>
              <a:path w="762000" h="63500">
                <a:moveTo>
                  <a:pt x="0" y="0"/>
                </a:moveTo>
                <a:lnTo>
                  <a:pt x="762000" y="0"/>
                </a:lnTo>
                <a:lnTo>
                  <a:pt x="7620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95" name="Shape 3"/>
          <p:cNvSpPr/>
          <p:nvPr/>
        </p:nvSpPr>
        <p:spPr>
          <a:xfrm>
            <a:off x="341280" y="1547640"/>
            <a:ext cx="8269920" cy="2070720"/>
          </a:xfrm>
          <a:custGeom>
            <a:avLst/>
            <a:gdLst/>
            <a:ahLst/>
            <a:rect l="l" t="t" r="r" b="b"/>
            <a:pathLst>
              <a:path w="8270875" h="2071688">
                <a:moveTo>
                  <a:pt x="0" y="0"/>
                </a:moveTo>
                <a:lnTo>
                  <a:pt x="8270875" y="0"/>
                </a:lnTo>
                <a:lnTo>
                  <a:pt x="8270875" y="2071688"/>
                </a:lnTo>
                <a:lnTo>
                  <a:pt x="0" y="207168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96" name="Text 4"/>
          <p:cNvSpPr/>
          <p:nvPr/>
        </p:nvSpPr>
        <p:spPr>
          <a:xfrm>
            <a:off x="523800" y="1730520"/>
            <a:ext cx="7999920" cy="25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■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THE BLOCKCHAIN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97" name="Text 5"/>
          <p:cNvSpPr/>
          <p:nvPr/>
        </p:nvSpPr>
        <p:spPr>
          <a:xfrm>
            <a:off x="523800" y="2111400"/>
            <a:ext cx="7976160" cy="46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A </a:t>
            </a:r>
            <a:r>
              <a:rPr b="1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distributed ledger</a:t>
            </a:r>
            <a:r>
              <a:rPr b="0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 recording all transactions across a network of computers. Each block contains a cryptographic hash of the previous block, creating an immutable chain.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198" name="Shape 6"/>
          <p:cNvSpPr/>
          <p:nvPr/>
        </p:nvSpPr>
        <p:spPr>
          <a:xfrm>
            <a:off x="539640" y="2718720"/>
            <a:ext cx="2539080" cy="697320"/>
          </a:xfrm>
          <a:custGeom>
            <a:avLst/>
            <a:gdLst/>
            <a:ahLst/>
            <a:rect l="l" t="t" r="r" b="b"/>
            <a:pathLst>
              <a:path w="2540000" h="698500">
                <a:moveTo>
                  <a:pt x="0" y="0"/>
                </a:moveTo>
                <a:lnTo>
                  <a:pt x="2540000" y="0"/>
                </a:lnTo>
                <a:lnTo>
                  <a:pt x="2540000" y="698500"/>
                </a:lnTo>
                <a:lnTo>
                  <a:pt x="0" y="6985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99" name="Text 7"/>
          <p:cNvSpPr/>
          <p:nvPr/>
        </p:nvSpPr>
        <p:spPr>
          <a:xfrm>
            <a:off x="591480" y="2829600"/>
            <a:ext cx="2435760" cy="28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880K+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200" name="Text 8"/>
          <p:cNvSpPr/>
          <p:nvPr/>
        </p:nvSpPr>
        <p:spPr>
          <a:xfrm>
            <a:off x="623160" y="3147120"/>
            <a:ext cx="2372400" cy="15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1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Blocks Mined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201" name="Shape 9"/>
          <p:cNvSpPr/>
          <p:nvPr/>
        </p:nvSpPr>
        <p:spPr>
          <a:xfrm>
            <a:off x="3206880" y="2718720"/>
            <a:ext cx="2539080" cy="697320"/>
          </a:xfrm>
          <a:custGeom>
            <a:avLst/>
            <a:gdLst/>
            <a:ahLst/>
            <a:rect l="l" t="t" r="r" b="b"/>
            <a:pathLst>
              <a:path w="2540000" h="698500">
                <a:moveTo>
                  <a:pt x="0" y="0"/>
                </a:moveTo>
                <a:lnTo>
                  <a:pt x="2540000" y="0"/>
                </a:lnTo>
                <a:lnTo>
                  <a:pt x="2540000" y="698500"/>
                </a:lnTo>
                <a:lnTo>
                  <a:pt x="0" y="6985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02" name="Text 10"/>
          <p:cNvSpPr/>
          <p:nvPr/>
        </p:nvSpPr>
        <p:spPr>
          <a:xfrm>
            <a:off x="3258360" y="2829600"/>
            <a:ext cx="2435760" cy="28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~10min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203" name="Text 11"/>
          <p:cNvSpPr/>
          <p:nvPr/>
        </p:nvSpPr>
        <p:spPr>
          <a:xfrm>
            <a:off x="3290040" y="3147120"/>
            <a:ext cx="2372400" cy="15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1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Block Time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204" name="Shape 12"/>
          <p:cNvSpPr/>
          <p:nvPr/>
        </p:nvSpPr>
        <p:spPr>
          <a:xfrm>
            <a:off x="5873760" y="2718720"/>
            <a:ext cx="2539080" cy="697320"/>
          </a:xfrm>
          <a:custGeom>
            <a:avLst/>
            <a:gdLst/>
            <a:ahLst/>
            <a:rect l="l" t="t" r="r" b="b"/>
            <a:pathLst>
              <a:path w="2540000" h="698500">
                <a:moveTo>
                  <a:pt x="0" y="0"/>
                </a:moveTo>
                <a:lnTo>
                  <a:pt x="2540000" y="0"/>
                </a:lnTo>
                <a:lnTo>
                  <a:pt x="2540000" y="698500"/>
                </a:lnTo>
                <a:lnTo>
                  <a:pt x="0" y="6985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05" name="Text 13"/>
          <p:cNvSpPr/>
          <p:nvPr/>
        </p:nvSpPr>
        <p:spPr>
          <a:xfrm>
            <a:off x="5925240" y="2829600"/>
            <a:ext cx="2435760" cy="28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1.2B+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206" name="Text 14"/>
          <p:cNvSpPr/>
          <p:nvPr/>
        </p:nvSpPr>
        <p:spPr>
          <a:xfrm>
            <a:off x="5956920" y="3147120"/>
            <a:ext cx="2372400" cy="15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1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Transactions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207" name="Shape 15"/>
          <p:cNvSpPr/>
          <p:nvPr/>
        </p:nvSpPr>
        <p:spPr>
          <a:xfrm>
            <a:off x="341280" y="3790080"/>
            <a:ext cx="8269920" cy="2864520"/>
          </a:xfrm>
          <a:custGeom>
            <a:avLst/>
            <a:gdLst/>
            <a:ahLst/>
            <a:rect l="l" t="t" r="r" b="b"/>
            <a:pathLst>
              <a:path w="8270875" h="2865438">
                <a:moveTo>
                  <a:pt x="0" y="0"/>
                </a:moveTo>
                <a:lnTo>
                  <a:pt x="8270875" y="0"/>
                </a:lnTo>
                <a:lnTo>
                  <a:pt x="8270875" y="2865438"/>
                </a:lnTo>
                <a:lnTo>
                  <a:pt x="0" y="286543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08" name="Text 16"/>
          <p:cNvSpPr/>
          <p:nvPr/>
        </p:nvSpPr>
        <p:spPr>
          <a:xfrm>
            <a:off x="523800" y="3972600"/>
            <a:ext cx="7999920" cy="25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▶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PROOF OF WORK MECHANISM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209" name="Text 17"/>
          <p:cNvSpPr/>
          <p:nvPr/>
        </p:nvSpPr>
        <p:spPr>
          <a:xfrm>
            <a:off x="523800" y="4353840"/>
            <a:ext cx="7976160" cy="46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1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Miners</a:t>
            </a:r>
            <a:r>
              <a:rPr b="0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 compete to solve cryptographic puzzles using SHA-256 hashing. The winner adds the next block and earns the block reward.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210" name="Shape 18"/>
          <p:cNvSpPr/>
          <p:nvPr/>
        </p:nvSpPr>
        <p:spPr>
          <a:xfrm>
            <a:off x="539640" y="4960800"/>
            <a:ext cx="7872840" cy="1491120"/>
          </a:xfrm>
          <a:custGeom>
            <a:avLst/>
            <a:gdLst/>
            <a:ahLst/>
            <a:rect l="l" t="t" r="r" b="b"/>
            <a:pathLst>
              <a:path w="7874000" h="1492250">
                <a:moveTo>
                  <a:pt x="0" y="0"/>
                </a:moveTo>
                <a:lnTo>
                  <a:pt x="7874000" y="0"/>
                </a:lnTo>
                <a:lnTo>
                  <a:pt x="7874000" y="1492250"/>
                </a:lnTo>
                <a:lnTo>
                  <a:pt x="0" y="1492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11" name="Text 19"/>
          <p:cNvSpPr/>
          <p:nvPr/>
        </p:nvSpPr>
        <p:spPr>
          <a:xfrm>
            <a:off x="682560" y="5103720"/>
            <a:ext cx="765072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The Mining Process: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212" name="Text 20"/>
          <p:cNvSpPr/>
          <p:nvPr/>
        </p:nvSpPr>
        <p:spPr>
          <a:xfrm>
            <a:off x="682560" y="5357880"/>
            <a:ext cx="765072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1. Bundle transactions into a block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213" name="Text 21"/>
          <p:cNvSpPr/>
          <p:nvPr/>
        </p:nvSpPr>
        <p:spPr>
          <a:xfrm>
            <a:off x="682560" y="5611680"/>
            <a:ext cx="765072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2. Find nonce making block hash &lt; target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214" name="Text 22"/>
          <p:cNvSpPr/>
          <p:nvPr/>
        </p:nvSpPr>
        <p:spPr>
          <a:xfrm>
            <a:off x="682560" y="5865840"/>
            <a:ext cx="765072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3. First to solve broadcasts to network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215" name="Text 23"/>
          <p:cNvSpPr/>
          <p:nvPr/>
        </p:nvSpPr>
        <p:spPr>
          <a:xfrm>
            <a:off x="682560" y="6119640"/>
            <a:ext cx="765072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4. Other nodes verify and add to chain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216" name="Shape 24"/>
          <p:cNvSpPr/>
          <p:nvPr/>
        </p:nvSpPr>
        <p:spPr>
          <a:xfrm>
            <a:off x="8850240" y="1547640"/>
            <a:ext cx="2999160" cy="3697920"/>
          </a:xfrm>
          <a:custGeom>
            <a:avLst/>
            <a:gdLst/>
            <a:ahLst/>
            <a:rect l="l" t="t" r="r" b="b"/>
            <a:pathLst>
              <a:path w="3000375" h="3698875">
                <a:moveTo>
                  <a:pt x="0" y="0"/>
                </a:moveTo>
                <a:lnTo>
                  <a:pt x="3000375" y="0"/>
                </a:lnTo>
                <a:lnTo>
                  <a:pt x="3000375" y="3698875"/>
                </a:lnTo>
                <a:lnTo>
                  <a:pt x="0" y="36988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17" name="Text 25"/>
          <p:cNvSpPr/>
          <p:nvPr/>
        </p:nvSpPr>
        <p:spPr>
          <a:xfrm>
            <a:off x="9032760" y="1730520"/>
            <a:ext cx="2729520" cy="25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★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NETWORK SECURITY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218" name="Shape 26"/>
          <p:cNvSpPr/>
          <p:nvPr/>
        </p:nvSpPr>
        <p:spPr>
          <a:xfrm>
            <a:off x="9048600" y="2127240"/>
            <a:ext cx="2602440" cy="887760"/>
          </a:xfrm>
          <a:custGeom>
            <a:avLst/>
            <a:gdLst/>
            <a:ahLst/>
            <a:rect l="l" t="t" r="r" b="b"/>
            <a:pathLst>
              <a:path w="2603500" h="889000">
                <a:moveTo>
                  <a:pt x="0" y="0"/>
                </a:moveTo>
                <a:lnTo>
                  <a:pt x="2603500" y="0"/>
                </a:lnTo>
                <a:lnTo>
                  <a:pt x="2603500" y="889000"/>
                </a:lnTo>
                <a:lnTo>
                  <a:pt x="0" y="889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19" name="Text 27"/>
          <p:cNvSpPr/>
          <p:nvPr/>
        </p:nvSpPr>
        <p:spPr>
          <a:xfrm>
            <a:off x="9159840" y="2238480"/>
            <a:ext cx="244368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Hash Rate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220" name="Text 28"/>
          <p:cNvSpPr/>
          <p:nvPr/>
        </p:nvSpPr>
        <p:spPr>
          <a:xfrm>
            <a:off x="9159840" y="2460600"/>
            <a:ext cx="2499120" cy="28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400M+ TH/s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221" name="Text 29"/>
          <p:cNvSpPr/>
          <p:nvPr/>
        </p:nvSpPr>
        <p:spPr>
          <a:xfrm>
            <a:off x="9159840" y="2746440"/>
            <a:ext cx="2435760" cy="15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Global computing power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222" name="Shape 30"/>
          <p:cNvSpPr/>
          <p:nvPr/>
        </p:nvSpPr>
        <p:spPr>
          <a:xfrm>
            <a:off x="9048600" y="3143160"/>
            <a:ext cx="2602440" cy="887760"/>
          </a:xfrm>
          <a:custGeom>
            <a:avLst/>
            <a:gdLst/>
            <a:ahLst/>
            <a:rect l="l" t="t" r="r" b="b"/>
            <a:pathLst>
              <a:path w="2603500" h="889000">
                <a:moveTo>
                  <a:pt x="0" y="0"/>
                </a:moveTo>
                <a:lnTo>
                  <a:pt x="2603500" y="0"/>
                </a:lnTo>
                <a:lnTo>
                  <a:pt x="2603500" y="889000"/>
                </a:lnTo>
                <a:lnTo>
                  <a:pt x="0" y="889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23" name="Text 31"/>
          <p:cNvSpPr/>
          <p:nvPr/>
        </p:nvSpPr>
        <p:spPr>
          <a:xfrm>
            <a:off x="9159840" y="3254400"/>
            <a:ext cx="244368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Attack Cost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224" name="Text 32"/>
          <p:cNvSpPr/>
          <p:nvPr/>
        </p:nvSpPr>
        <p:spPr>
          <a:xfrm>
            <a:off x="9159840" y="3476520"/>
            <a:ext cx="2499120" cy="28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$10B+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225" name="Text 33"/>
          <p:cNvSpPr/>
          <p:nvPr/>
        </p:nvSpPr>
        <p:spPr>
          <a:xfrm>
            <a:off x="9159840" y="3762360"/>
            <a:ext cx="2435760" cy="15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For 1 hour 51% attack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226" name="Shape 34"/>
          <p:cNvSpPr/>
          <p:nvPr/>
        </p:nvSpPr>
        <p:spPr>
          <a:xfrm>
            <a:off x="9048600" y="4159080"/>
            <a:ext cx="2602440" cy="887760"/>
          </a:xfrm>
          <a:custGeom>
            <a:avLst/>
            <a:gdLst/>
            <a:ahLst/>
            <a:rect l="l" t="t" r="r" b="b"/>
            <a:pathLst>
              <a:path w="2603500" h="889000">
                <a:moveTo>
                  <a:pt x="0" y="0"/>
                </a:moveTo>
                <a:lnTo>
                  <a:pt x="2603500" y="0"/>
                </a:lnTo>
                <a:lnTo>
                  <a:pt x="2603500" y="889000"/>
                </a:lnTo>
                <a:lnTo>
                  <a:pt x="0" y="889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27" name="Text 35"/>
          <p:cNvSpPr/>
          <p:nvPr/>
        </p:nvSpPr>
        <p:spPr>
          <a:xfrm>
            <a:off x="9159840" y="4270320"/>
            <a:ext cx="244368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Difficulty Adjustment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228" name="Text 36"/>
          <p:cNvSpPr/>
          <p:nvPr/>
        </p:nvSpPr>
        <p:spPr>
          <a:xfrm>
            <a:off x="9159840" y="4492800"/>
            <a:ext cx="2499120" cy="28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Every 2,016 Blocks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229" name="Text 37"/>
          <p:cNvSpPr/>
          <p:nvPr/>
        </p:nvSpPr>
        <p:spPr>
          <a:xfrm>
            <a:off x="9159840" y="4778280"/>
            <a:ext cx="2435760" cy="15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Maintains 10-min block time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230" name="Shape 38"/>
          <p:cNvSpPr/>
          <p:nvPr/>
        </p:nvSpPr>
        <p:spPr>
          <a:xfrm>
            <a:off x="8850240" y="5421240"/>
            <a:ext cx="2999160" cy="2554920"/>
          </a:xfrm>
          <a:custGeom>
            <a:avLst/>
            <a:gdLst/>
            <a:ahLst/>
            <a:rect l="l" t="t" r="r" b="b"/>
            <a:pathLst>
              <a:path w="3000375" h="2555875">
                <a:moveTo>
                  <a:pt x="0" y="0"/>
                </a:moveTo>
                <a:lnTo>
                  <a:pt x="3000375" y="0"/>
                </a:lnTo>
                <a:lnTo>
                  <a:pt x="3000375" y="2555875"/>
                </a:lnTo>
                <a:lnTo>
                  <a:pt x="0" y="25558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31" name="Text 39"/>
          <p:cNvSpPr/>
          <p:nvPr/>
        </p:nvSpPr>
        <p:spPr>
          <a:xfrm>
            <a:off x="9032760" y="5603760"/>
            <a:ext cx="2729520" cy="25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●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WHY IT WORKS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232" name="Shape 40"/>
          <p:cNvSpPr/>
          <p:nvPr/>
        </p:nvSpPr>
        <p:spPr>
          <a:xfrm>
            <a:off x="9032760" y="6048360"/>
            <a:ext cx="62280" cy="62280"/>
          </a:xfrm>
          <a:custGeom>
            <a:avLst/>
            <a:gdLst/>
            <a:ahLst/>
            <a:rect l="l" t="t" r="r" b="b"/>
            <a:pathLst>
              <a:path w="63500" h="63500">
                <a:moveTo>
                  <a:pt x="0" y="0"/>
                </a:moveTo>
                <a:lnTo>
                  <a:pt x="63500" y="0"/>
                </a:lnTo>
                <a:lnTo>
                  <a:pt x="635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33" name="Text 41"/>
          <p:cNvSpPr/>
          <p:nvPr/>
        </p:nvSpPr>
        <p:spPr>
          <a:xfrm>
            <a:off x="9191520" y="5985000"/>
            <a:ext cx="2539080" cy="3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Energy as Security:</a:t>
            </a: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 Massive electricity cost makes attacks economically irrational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234" name="Shape 42"/>
          <p:cNvSpPr/>
          <p:nvPr/>
        </p:nvSpPr>
        <p:spPr>
          <a:xfrm>
            <a:off x="9032760" y="6524640"/>
            <a:ext cx="62280" cy="62280"/>
          </a:xfrm>
          <a:custGeom>
            <a:avLst/>
            <a:gdLst/>
            <a:ahLst/>
            <a:rect l="l" t="t" r="r" b="b"/>
            <a:pathLst>
              <a:path w="63500" h="63500">
                <a:moveTo>
                  <a:pt x="0" y="0"/>
                </a:moveTo>
                <a:lnTo>
                  <a:pt x="63500" y="0"/>
                </a:lnTo>
                <a:lnTo>
                  <a:pt x="635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35" name="Text 43"/>
          <p:cNvSpPr/>
          <p:nvPr/>
        </p:nvSpPr>
        <p:spPr>
          <a:xfrm>
            <a:off x="9191520" y="6461280"/>
            <a:ext cx="2539080" cy="3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Game Theory:</a:t>
            </a: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 Miners earn more by following rules than attacking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236" name="Shape 44"/>
          <p:cNvSpPr/>
          <p:nvPr/>
        </p:nvSpPr>
        <p:spPr>
          <a:xfrm>
            <a:off x="9032760" y="7000920"/>
            <a:ext cx="62280" cy="62280"/>
          </a:xfrm>
          <a:custGeom>
            <a:avLst/>
            <a:gdLst/>
            <a:ahLst/>
            <a:rect l="l" t="t" r="r" b="b"/>
            <a:pathLst>
              <a:path w="63500" h="63500">
                <a:moveTo>
                  <a:pt x="0" y="0"/>
                </a:moveTo>
                <a:lnTo>
                  <a:pt x="63500" y="0"/>
                </a:lnTo>
                <a:lnTo>
                  <a:pt x="635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37" name="Text 45"/>
          <p:cNvSpPr/>
          <p:nvPr/>
        </p:nvSpPr>
        <p:spPr>
          <a:xfrm>
            <a:off x="9191520" y="6937200"/>
            <a:ext cx="2539080" cy="3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Decentralization:</a:t>
            </a: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 Thousands of independent miners globally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238" name="Shape 46"/>
          <p:cNvSpPr/>
          <p:nvPr/>
        </p:nvSpPr>
        <p:spPr>
          <a:xfrm>
            <a:off x="9032760" y="7477200"/>
            <a:ext cx="62280" cy="62280"/>
          </a:xfrm>
          <a:custGeom>
            <a:avLst/>
            <a:gdLst/>
            <a:ahLst/>
            <a:rect l="l" t="t" r="r" b="b"/>
            <a:pathLst>
              <a:path w="63500" h="63500">
                <a:moveTo>
                  <a:pt x="0" y="0"/>
                </a:moveTo>
                <a:lnTo>
                  <a:pt x="63500" y="0"/>
                </a:lnTo>
                <a:lnTo>
                  <a:pt x="635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39" name="Text 47"/>
          <p:cNvSpPr/>
          <p:nvPr/>
        </p:nvSpPr>
        <p:spPr>
          <a:xfrm>
            <a:off x="9191520" y="7413480"/>
            <a:ext cx="2539080" cy="3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Immutability:</a:t>
            </a: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 Changing history requires redoing all subsequent work</a:t>
            </a:r>
            <a:endParaRPr b="0" lang="en-HK" sz="1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Image 0"/>
          <p:cNvSpPr/>
          <p:nvPr/>
        </p:nvSpPr>
        <p:spPr>
          <a:xfrm>
            <a:off x="0" y="0"/>
            <a:ext cx="12191040" cy="6856920"/>
          </a:xfrm>
          <a:prstGeom prst="roundRect">
            <a:avLst>
              <a:gd name="adj" fmla="val 0"/>
            </a:avLst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41" name="Shape 0"/>
          <p:cNvSpPr/>
          <p:nvPr/>
        </p:nvSpPr>
        <p:spPr>
          <a:xfrm>
            <a:off x="0" y="0"/>
            <a:ext cx="12191040" cy="6856920"/>
          </a:xfrm>
          <a:custGeom>
            <a:avLst/>
            <a:gdLst/>
            <a:ah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9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42" name="Shape 1"/>
          <p:cNvSpPr/>
          <p:nvPr/>
        </p:nvSpPr>
        <p:spPr>
          <a:xfrm>
            <a:off x="409680" y="352440"/>
            <a:ext cx="8476200" cy="4818600"/>
          </a:xfrm>
          <a:custGeom>
            <a:avLst/>
            <a:gdLst/>
            <a:ahLst/>
            <a:rect l="l" t="t" r="r" b="b"/>
            <a:pathLst>
              <a:path w="8477250" h="4819650">
                <a:moveTo>
                  <a:pt x="0" y="0"/>
                </a:moveTo>
                <a:lnTo>
                  <a:pt x="8477250" y="0"/>
                </a:lnTo>
                <a:lnTo>
                  <a:pt x="8477250" y="4819650"/>
                </a:lnTo>
                <a:lnTo>
                  <a:pt x="0" y="48196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75858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43" name="Shape 2"/>
          <p:cNvSpPr/>
          <p:nvPr/>
        </p:nvSpPr>
        <p:spPr>
          <a:xfrm>
            <a:off x="923760" y="866880"/>
            <a:ext cx="856080" cy="856080"/>
          </a:xfrm>
          <a:custGeom>
            <a:avLst/>
            <a:gdLst/>
            <a:ahLst/>
            <a:rect l="l" t="t" r="r" b="b"/>
            <a:pathLst>
              <a:path w="857250" h="857250">
                <a:moveTo>
                  <a:pt x="0" y="0"/>
                </a:moveTo>
                <a:lnTo>
                  <a:pt x="857250" y="0"/>
                </a:lnTo>
                <a:lnTo>
                  <a:pt x="857250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44" name="Text 3"/>
          <p:cNvSpPr/>
          <p:nvPr/>
        </p:nvSpPr>
        <p:spPr>
          <a:xfrm>
            <a:off x="781200" y="838080"/>
            <a:ext cx="1027800" cy="79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80000"/>
              </a:lnSpc>
              <a:buNone/>
            </a:pPr>
            <a:r>
              <a:rPr b="1" lang="en-US" sz="3600" spc="-1" strike="noStrike">
                <a:solidFill>
                  <a:srgbClr val="ffffff"/>
                </a:solidFill>
                <a:latin typeface="Noto Sans SC"/>
                <a:ea typeface="Noto Sans SC"/>
              </a:rPr>
              <a:t>03</a:t>
            </a:r>
            <a:endParaRPr b="0" lang="en-HK" sz="3600" spc="-1" strike="noStrike">
              <a:latin typeface="Arial"/>
            </a:endParaRPr>
          </a:p>
        </p:txBody>
      </p:sp>
      <p:sp>
        <p:nvSpPr>
          <p:cNvPr id="245" name="Shape 4"/>
          <p:cNvSpPr/>
          <p:nvPr/>
        </p:nvSpPr>
        <p:spPr>
          <a:xfrm>
            <a:off x="2038320" y="838080"/>
            <a:ext cx="75240" cy="913320"/>
          </a:xfrm>
          <a:custGeom>
            <a:avLst/>
            <a:gdLst/>
            <a:ahLst/>
            <a:rect l="l" t="t" r="r" b="b"/>
            <a:pathLst>
              <a:path w="76200" h="914400">
                <a:moveTo>
                  <a:pt x="0" y="0"/>
                </a:moveTo>
                <a:lnTo>
                  <a:pt x="76200" y="0"/>
                </a:lnTo>
                <a:lnTo>
                  <a:pt x="76200" y="914400"/>
                </a:lnTo>
                <a:lnTo>
                  <a:pt x="0" y="9144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46" name="Text 5"/>
          <p:cNvSpPr/>
          <p:nvPr/>
        </p:nvSpPr>
        <p:spPr>
          <a:xfrm>
            <a:off x="895320" y="2057400"/>
            <a:ext cx="7847640" cy="171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5400" spc="-1" strike="noStrike">
                <a:solidFill>
                  <a:srgbClr val="000000"/>
                </a:solidFill>
                <a:latin typeface="Noto Sans SC"/>
                <a:ea typeface="Noto Sans SC"/>
              </a:rPr>
              <a:t>HISTORICAL EVOLUTION</a:t>
            </a:r>
            <a:endParaRPr b="0" lang="en-HK" sz="5400" spc="-1" strike="noStrike">
              <a:latin typeface="Arial"/>
            </a:endParaRPr>
          </a:p>
        </p:txBody>
      </p:sp>
      <p:sp>
        <p:nvSpPr>
          <p:cNvPr id="247" name="Shape 6"/>
          <p:cNvSpPr/>
          <p:nvPr/>
        </p:nvSpPr>
        <p:spPr>
          <a:xfrm>
            <a:off x="895320" y="4000680"/>
            <a:ext cx="1827720" cy="75240"/>
          </a:xfrm>
          <a:custGeom>
            <a:avLst/>
            <a:gdLst/>
            <a:ahLst/>
            <a:rect l="l" t="t" r="r" b="b"/>
            <a:pathLst>
              <a:path w="1828800" h="76200">
                <a:moveTo>
                  <a:pt x="0" y="0"/>
                </a:moveTo>
                <a:lnTo>
                  <a:pt x="1828800" y="0"/>
                </a:lnTo>
                <a:lnTo>
                  <a:pt x="18288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48" name="Text 7"/>
          <p:cNvSpPr/>
          <p:nvPr/>
        </p:nvSpPr>
        <p:spPr>
          <a:xfrm>
            <a:off x="895320" y="4305240"/>
            <a:ext cx="7675920" cy="3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700" spc="-1" strike="noStrike">
                <a:solidFill>
                  <a:srgbClr val="000000"/>
                </a:solidFill>
                <a:latin typeface="Noto Sans SC"/>
                <a:ea typeface="Noto Sans SC"/>
              </a:rPr>
              <a:t>From Cypherpunk Dream to Global Asset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249" name="Shape 8"/>
          <p:cNvSpPr/>
          <p:nvPr/>
        </p:nvSpPr>
        <p:spPr>
          <a:xfrm>
            <a:off x="409680" y="5686560"/>
            <a:ext cx="11371680" cy="817920"/>
          </a:xfrm>
          <a:custGeom>
            <a:avLst/>
            <a:gdLst/>
            <a:ahLst/>
            <a:rect l="l" t="t" r="r" b="b"/>
            <a:pathLst>
              <a:path w="11372850" h="819150">
                <a:moveTo>
                  <a:pt x="0" y="0"/>
                </a:moveTo>
                <a:lnTo>
                  <a:pt x="11372850" y="0"/>
                </a:lnTo>
                <a:lnTo>
                  <a:pt x="11372850" y="819150"/>
                </a:lnTo>
                <a:lnTo>
                  <a:pt x="0" y="8191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50" name="Text 9"/>
          <p:cNvSpPr/>
          <p:nvPr/>
        </p:nvSpPr>
        <p:spPr>
          <a:xfrm>
            <a:off x="666720" y="5943600"/>
            <a:ext cx="10971720" cy="30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8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▶ </a:t>
            </a:r>
            <a:r>
              <a:rPr b="1" lang="en-US" sz="1800" spc="-1" strike="noStrike">
                <a:solidFill>
                  <a:srgbClr val="000000"/>
                </a:solidFill>
                <a:latin typeface="Noto Sans SC"/>
                <a:ea typeface="Noto Sans SC"/>
              </a:rPr>
              <a:t>15 Years of Price Discovery, Crashes &amp; Resilience</a:t>
            </a:r>
            <a:endParaRPr b="0" lang="en-HK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Shape 0"/>
          <p:cNvSpPr/>
          <p:nvPr/>
        </p:nvSpPr>
        <p:spPr>
          <a:xfrm>
            <a:off x="341280" y="341280"/>
            <a:ext cx="11508120" cy="840240"/>
          </a:xfrm>
          <a:custGeom>
            <a:avLst/>
            <a:gdLst/>
            <a:ahLst/>
            <a:rect l="l" t="t" r="r" b="b"/>
            <a:pathLst>
              <a:path w="11509375" h="841375">
                <a:moveTo>
                  <a:pt x="0" y="0"/>
                </a:moveTo>
                <a:lnTo>
                  <a:pt x="11509375" y="0"/>
                </a:lnTo>
                <a:lnTo>
                  <a:pt x="11509375" y="841375"/>
                </a:lnTo>
                <a:lnTo>
                  <a:pt x="0" y="8413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52" name="Text 1"/>
          <p:cNvSpPr/>
          <p:nvPr/>
        </p:nvSpPr>
        <p:spPr>
          <a:xfrm>
            <a:off x="523800" y="523800"/>
            <a:ext cx="1128600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250" spc="-1" strike="noStrike">
                <a:solidFill>
                  <a:srgbClr val="000000"/>
                </a:solidFill>
                <a:latin typeface="Noto Sans SC"/>
                <a:ea typeface="Noto Sans SC"/>
              </a:rPr>
              <a:t>BITCOIN'S JOURNEY: KEY MILESTONES 2009-2024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253" name="Shape 2"/>
          <p:cNvSpPr/>
          <p:nvPr/>
        </p:nvSpPr>
        <p:spPr>
          <a:xfrm>
            <a:off x="523800" y="936720"/>
            <a:ext cx="761040" cy="62280"/>
          </a:xfrm>
          <a:custGeom>
            <a:avLst/>
            <a:gdLst/>
            <a:ahLst/>
            <a:rect l="l" t="t" r="r" b="b"/>
            <a:pathLst>
              <a:path w="762000" h="63500">
                <a:moveTo>
                  <a:pt x="0" y="0"/>
                </a:moveTo>
                <a:lnTo>
                  <a:pt x="762000" y="0"/>
                </a:lnTo>
                <a:lnTo>
                  <a:pt x="7620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54" name="Shape 3"/>
          <p:cNvSpPr/>
          <p:nvPr/>
        </p:nvSpPr>
        <p:spPr>
          <a:xfrm>
            <a:off x="341280" y="1357200"/>
            <a:ext cx="2769120" cy="1594440"/>
          </a:xfrm>
          <a:custGeom>
            <a:avLst/>
            <a:gdLst/>
            <a:ahLst/>
            <a:rect l="l" t="t" r="r" b="b"/>
            <a:pathLst>
              <a:path w="2770188" h="1595438">
                <a:moveTo>
                  <a:pt x="0" y="0"/>
                </a:moveTo>
                <a:lnTo>
                  <a:pt x="2770188" y="0"/>
                </a:lnTo>
                <a:lnTo>
                  <a:pt x="2770188" y="1595438"/>
                </a:lnTo>
                <a:lnTo>
                  <a:pt x="0" y="159543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55" name="Shape 4"/>
          <p:cNvSpPr/>
          <p:nvPr/>
        </p:nvSpPr>
        <p:spPr>
          <a:xfrm>
            <a:off x="476280" y="1492200"/>
            <a:ext cx="2499120" cy="379800"/>
          </a:xfrm>
          <a:custGeom>
            <a:avLst/>
            <a:gdLst/>
            <a:ahLst/>
            <a:rect l="l" t="t" r="r" b="b"/>
            <a:pathLst>
              <a:path w="2500313" h="381000">
                <a:moveTo>
                  <a:pt x="0" y="0"/>
                </a:moveTo>
                <a:lnTo>
                  <a:pt x="2500313" y="0"/>
                </a:lnTo>
                <a:lnTo>
                  <a:pt x="2500313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56" name="Text 5"/>
          <p:cNvSpPr/>
          <p:nvPr/>
        </p:nvSpPr>
        <p:spPr>
          <a:xfrm>
            <a:off x="555480" y="1571760"/>
            <a:ext cx="2419920" cy="22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2009-2010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257" name="Text 6"/>
          <p:cNvSpPr/>
          <p:nvPr/>
        </p:nvSpPr>
        <p:spPr>
          <a:xfrm>
            <a:off x="460440" y="1952640"/>
            <a:ext cx="259452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THE BEGINNING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258" name="Text 7"/>
          <p:cNvSpPr/>
          <p:nvPr/>
        </p:nvSpPr>
        <p:spPr>
          <a:xfrm>
            <a:off x="460440" y="2174760"/>
            <a:ext cx="2586600" cy="27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First real-world transaction: 10,000 BTC for two pizzas at $0.003/BTC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259" name="Shape 8"/>
          <p:cNvSpPr/>
          <p:nvPr/>
        </p:nvSpPr>
        <p:spPr>
          <a:xfrm>
            <a:off x="476280" y="2532240"/>
            <a:ext cx="2499120" cy="284760"/>
          </a:xfrm>
          <a:custGeom>
            <a:avLst/>
            <a:gdLst/>
            <a:ahLst/>
            <a:rect l="l" t="t" r="r" b="b"/>
            <a:pathLst>
              <a:path w="2500313" h="285750">
                <a:moveTo>
                  <a:pt x="0" y="0"/>
                </a:moveTo>
                <a:lnTo>
                  <a:pt x="2500313" y="0"/>
                </a:lnTo>
                <a:lnTo>
                  <a:pt x="2500313" y="285750"/>
                </a:lnTo>
                <a:lnTo>
                  <a:pt x="0" y="285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60" name="Text 9"/>
          <p:cNvSpPr/>
          <p:nvPr/>
        </p:nvSpPr>
        <p:spPr>
          <a:xfrm>
            <a:off x="555480" y="2611440"/>
            <a:ext cx="2388240" cy="12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750" spc="-1" strike="noStrike">
                <a:solidFill>
                  <a:srgbClr val="000000"/>
                </a:solidFill>
                <a:latin typeface="MiSans"/>
                <a:ea typeface="MiSans"/>
              </a:rPr>
              <a:t>Price: $0.003 → $0.30</a:t>
            </a:r>
            <a:endParaRPr b="0" lang="en-HK" sz="750" spc="-1" strike="noStrike">
              <a:latin typeface="Arial"/>
            </a:endParaRPr>
          </a:p>
        </p:txBody>
      </p:sp>
      <p:sp>
        <p:nvSpPr>
          <p:cNvPr id="261" name="Shape 10"/>
          <p:cNvSpPr/>
          <p:nvPr/>
        </p:nvSpPr>
        <p:spPr>
          <a:xfrm>
            <a:off x="3254400" y="1357200"/>
            <a:ext cx="2769120" cy="1594440"/>
          </a:xfrm>
          <a:custGeom>
            <a:avLst/>
            <a:gdLst/>
            <a:ahLst/>
            <a:rect l="l" t="t" r="r" b="b"/>
            <a:pathLst>
              <a:path w="2770188" h="1595438">
                <a:moveTo>
                  <a:pt x="0" y="0"/>
                </a:moveTo>
                <a:lnTo>
                  <a:pt x="2770188" y="0"/>
                </a:lnTo>
                <a:lnTo>
                  <a:pt x="2770188" y="1595438"/>
                </a:lnTo>
                <a:lnTo>
                  <a:pt x="0" y="159543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62" name="Shape 11"/>
          <p:cNvSpPr/>
          <p:nvPr/>
        </p:nvSpPr>
        <p:spPr>
          <a:xfrm>
            <a:off x="3389400" y="1492200"/>
            <a:ext cx="2499120" cy="379800"/>
          </a:xfrm>
          <a:custGeom>
            <a:avLst/>
            <a:gdLst/>
            <a:ahLst/>
            <a:rect l="l" t="t" r="r" b="b"/>
            <a:pathLst>
              <a:path w="2500313" h="381000">
                <a:moveTo>
                  <a:pt x="0" y="0"/>
                </a:moveTo>
                <a:lnTo>
                  <a:pt x="2500313" y="0"/>
                </a:lnTo>
                <a:lnTo>
                  <a:pt x="2500313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63" name="Text 12"/>
          <p:cNvSpPr/>
          <p:nvPr/>
        </p:nvSpPr>
        <p:spPr>
          <a:xfrm>
            <a:off x="3468600" y="1571760"/>
            <a:ext cx="2419920" cy="22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2011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264" name="Text 13"/>
          <p:cNvSpPr/>
          <p:nvPr/>
        </p:nvSpPr>
        <p:spPr>
          <a:xfrm>
            <a:off x="3373560" y="1952640"/>
            <a:ext cx="259452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FIRST BUBBLE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265" name="Text 14"/>
          <p:cNvSpPr/>
          <p:nvPr/>
        </p:nvSpPr>
        <p:spPr>
          <a:xfrm>
            <a:off x="3373560" y="2174760"/>
            <a:ext cx="2586600" cy="27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Price spikes to $31, then crashes to $2. Media declares Bitcoin dead.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266" name="Shape 15"/>
          <p:cNvSpPr/>
          <p:nvPr/>
        </p:nvSpPr>
        <p:spPr>
          <a:xfrm>
            <a:off x="3389400" y="2532240"/>
            <a:ext cx="2499120" cy="284760"/>
          </a:xfrm>
          <a:custGeom>
            <a:avLst/>
            <a:gdLst/>
            <a:ahLst/>
            <a:rect l="l" t="t" r="r" b="b"/>
            <a:pathLst>
              <a:path w="2500313" h="285750">
                <a:moveTo>
                  <a:pt x="0" y="0"/>
                </a:moveTo>
                <a:lnTo>
                  <a:pt x="2500313" y="0"/>
                </a:lnTo>
                <a:lnTo>
                  <a:pt x="2500313" y="285750"/>
                </a:lnTo>
                <a:lnTo>
                  <a:pt x="0" y="285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67" name="Text 16"/>
          <p:cNvSpPr/>
          <p:nvPr/>
        </p:nvSpPr>
        <p:spPr>
          <a:xfrm>
            <a:off x="3468600" y="2611440"/>
            <a:ext cx="2388240" cy="12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750" spc="-1" strike="noStrike">
                <a:solidFill>
                  <a:srgbClr val="000000"/>
                </a:solidFill>
                <a:latin typeface="MiSans"/>
                <a:ea typeface="MiSans"/>
              </a:rPr>
              <a:t>Peak: $31 | Crash: -94%</a:t>
            </a:r>
            <a:endParaRPr b="0" lang="en-HK" sz="750" spc="-1" strike="noStrike">
              <a:latin typeface="Arial"/>
            </a:endParaRPr>
          </a:p>
        </p:txBody>
      </p:sp>
      <p:sp>
        <p:nvSpPr>
          <p:cNvPr id="268" name="Shape 17"/>
          <p:cNvSpPr/>
          <p:nvPr/>
        </p:nvSpPr>
        <p:spPr>
          <a:xfrm>
            <a:off x="6167520" y="1357200"/>
            <a:ext cx="2769120" cy="1594440"/>
          </a:xfrm>
          <a:custGeom>
            <a:avLst/>
            <a:gdLst/>
            <a:ahLst/>
            <a:rect l="l" t="t" r="r" b="b"/>
            <a:pathLst>
              <a:path w="2770188" h="1595438">
                <a:moveTo>
                  <a:pt x="0" y="0"/>
                </a:moveTo>
                <a:lnTo>
                  <a:pt x="2770188" y="0"/>
                </a:lnTo>
                <a:lnTo>
                  <a:pt x="2770188" y="1595438"/>
                </a:lnTo>
                <a:lnTo>
                  <a:pt x="0" y="159543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69" name="Shape 18"/>
          <p:cNvSpPr/>
          <p:nvPr/>
        </p:nvSpPr>
        <p:spPr>
          <a:xfrm>
            <a:off x="6302520" y="1492200"/>
            <a:ext cx="2499120" cy="379800"/>
          </a:xfrm>
          <a:custGeom>
            <a:avLst/>
            <a:gdLst/>
            <a:ahLst/>
            <a:rect l="l" t="t" r="r" b="b"/>
            <a:pathLst>
              <a:path w="2500313" h="381000">
                <a:moveTo>
                  <a:pt x="0" y="0"/>
                </a:moveTo>
                <a:lnTo>
                  <a:pt x="2500313" y="0"/>
                </a:lnTo>
                <a:lnTo>
                  <a:pt x="2500313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70" name="Text 19"/>
          <p:cNvSpPr/>
          <p:nvPr/>
        </p:nvSpPr>
        <p:spPr>
          <a:xfrm>
            <a:off x="6381720" y="1571760"/>
            <a:ext cx="2419920" cy="22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2012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271" name="Text 20"/>
          <p:cNvSpPr/>
          <p:nvPr/>
        </p:nvSpPr>
        <p:spPr>
          <a:xfrm>
            <a:off x="6286680" y="1952640"/>
            <a:ext cx="259452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FIRST HALVING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272" name="Text 21"/>
          <p:cNvSpPr/>
          <p:nvPr/>
        </p:nvSpPr>
        <p:spPr>
          <a:xfrm>
            <a:off x="6286680" y="2174760"/>
            <a:ext cx="2586600" cy="27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Block reward drops from 50 to 25 BTC. Sets stage for next bull run.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273" name="Shape 22"/>
          <p:cNvSpPr/>
          <p:nvPr/>
        </p:nvSpPr>
        <p:spPr>
          <a:xfrm>
            <a:off x="6302520" y="2532240"/>
            <a:ext cx="2499120" cy="284760"/>
          </a:xfrm>
          <a:custGeom>
            <a:avLst/>
            <a:gdLst/>
            <a:ahLst/>
            <a:rect l="l" t="t" r="r" b="b"/>
            <a:pathLst>
              <a:path w="2500313" h="285750">
                <a:moveTo>
                  <a:pt x="0" y="0"/>
                </a:moveTo>
                <a:lnTo>
                  <a:pt x="2500313" y="0"/>
                </a:lnTo>
                <a:lnTo>
                  <a:pt x="2500313" y="285750"/>
                </a:lnTo>
                <a:lnTo>
                  <a:pt x="0" y="285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74" name="Text 23"/>
          <p:cNvSpPr/>
          <p:nvPr/>
        </p:nvSpPr>
        <p:spPr>
          <a:xfrm>
            <a:off x="6381720" y="2611440"/>
            <a:ext cx="2388240" cy="12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750" spc="-1" strike="noStrike">
                <a:solidFill>
                  <a:srgbClr val="000000"/>
                </a:solidFill>
                <a:latin typeface="MiSans"/>
                <a:ea typeface="MiSans"/>
              </a:rPr>
              <a:t>Price: $12 → $13.50</a:t>
            </a:r>
            <a:endParaRPr b="0" lang="en-HK" sz="750" spc="-1" strike="noStrike">
              <a:latin typeface="Arial"/>
            </a:endParaRPr>
          </a:p>
        </p:txBody>
      </p:sp>
      <p:sp>
        <p:nvSpPr>
          <p:cNvPr id="275" name="Shape 24"/>
          <p:cNvSpPr/>
          <p:nvPr/>
        </p:nvSpPr>
        <p:spPr>
          <a:xfrm>
            <a:off x="9080640" y="1357200"/>
            <a:ext cx="2769120" cy="1594440"/>
          </a:xfrm>
          <a:custGeom>
            <a:avLst/>
            <a:gdLst/>
            <a:ahLst/>
            <a:rect l="l" t="t" r="r" b="b"/>
            <a:pathLst>
              <a:path w="2770188" h="1595438">
                <a:moveTo>
                  <a:pt x="0" y="0"/>
                </a:moveTo>
                <a:lnTo>
                  <a:pt x="2770188" y="0"/>
                </a:lnTo>
                <a:lnTo>
                  <a:pt x="2770188" y="1595438"/>
                </a:lnTo>
                <a:lnTo>
                  <a:pt x="0" y="159543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76" name="Shape 25"/>
          <p:cNvSpPr/>
          <p:nvPr/>
        </p:nvSpPr>
        <p:spPr>
          <a:xfrm>
            <a:off x="9215280" y="1492200"/>
            <a:ext cx="2499120" cy="379800"/>
          </a:xfrm>
          <a:custGeom>
            <a:avLst/>
            <a:gdLst/>
            <a:ahLst/>
            <a:rect l="l" t="t" r="r" b="b"/>
            <a:pathLst>
              <a:path w="2500313" h="381000">
                <a:moveTo>
                  <a:pt x="0" y="0"/>
                </a:moveTo>
                <a:lnTo>
                  <a:pt x="2500313" y="0"/>
                </a:lnTo>
                <a:lnTo>
                  <a:pt x="2500313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77" name="Text 26"/>
          <p:cNvSpPr/>
          <p:nvPr/>
        </p:nvSpPr>
        <p:spPr>
          <a:xfrm>
            <a:off x="9294840" y="1571760"/>
            <a:ext cx="2419920" cy="22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2013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278" name="Text 27"/>
          <p:cNvSpPr/>
          <p:nvPr/>
        </p:nvSpPr>
        <p:spPr>
          <a:xfrm>
            <a:off x="9199440" y="1952640"/>
            <a:ext cx="259452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$1,000 MILESTONE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279" name="Text 28"/>
          <p:cNvSpPr/>
          <p:nvPr/>
        </p:nvSpPr>
        <p:spPr>
          <a:xfrm>
            <a:off x="9199440" y="2174760"/>
            <a:ext cx="2586600" cy="27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First major bull run to $1,200. Mt. Gox becomes dominant exchange.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280" name="Shape 29"/>
          <p:cNvSpPr/>
          <p:nvPr/>
        </p:nvSpPr>
        <p:spPr>
          <a:xfrm>
            <a:off x="9215280" y="2532240"/>
            <a:ext cx="2499120" cy="284760"/>
          </a:xfrm>
          <a:custGeom>
            <a:avLst/>
            <a:gdLst/>
            <a:ahLst/>
            <a:rect l="l" t="t" r="r" b="b"/>
            <a:pathLst>
              <a:path w="2500313" h="285750">
                <a:moveTo>
                  <a:pt x="0" y="0"/>
                </a:moveTo>
                <a:lnTo>
                  <a:pt x="2500313" y="0"/>
                </a:lnTo>
                <a:lnTo>
                  <a:pt x="2500313" y="285750"/>
                </a:lnTo>
                <a:lnTo>
                  <a:pt x="0" y="285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81" name="Text 30"/>
          <p:cNvSpPr/>
          <p:nvPr/>
        </p:nvSpPr>
        <p:spPr>
          <a:xfrm>
            <a:off x="9294840" y="2611440"/>
            <a:ext cx="2388240" cy="12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750" spc="-1" strike="noStrike">
                <a:solidFill>
                  <a:srgbClr val="000000"/>
                </a:solidFill>
                <a:latin typeface="MiSans"/>
                <a:ea typeface="MiSans"/>
              </a:rPr>
              <a:t>Peak: $1,242</a:t>
            </a:r>
            <a:endParaRPr b="0" lang="en-HK" sz="750" spc="-1" strike="noStrike">
              <a:latin typeface="Arial"/>
            </a:endParaRPr>
          </a:p>
        </p:txBody>
      </p:sp>
      <p:sp>
        <p:nvSpPr>
          <p:cNvPr id="282" name="Shape 31"/>
          <p:cNvSpPr/>
          <p:nvPr/>
        </p:nvSpPr>
        <p:spPr>
          <a:xfrm>
            <a:off x="341280" y="3095640"/>
            <a:ext cx="2769120" cy="1594440"/>
          </a:xfrm>
          <a:custGeom>
            <a:avLst/>
            <a:gdLst/>
            <a:ahLst/>
            <a:rect l="l" t="t" r="r" b="b"/>
            <a:pathLst>
              <a:path w="2770188" h="1595438">
                <a:moveTo>
                  <a:pt x="0" y="0"/>
                </a:moveTo>
                <a:lnTo>
                  <a:pt x="2770188" y="0"/>
                </a:lnTo>
                <a:lnTo>
                  <a:pt x="2770188" y="1595438"/>
                </a:lnTo>
                <a:lnTo>
                  <a:pt x="0" y="159543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83" name="Shape 32"/>
          <p:cNvSpPr/>
          <p:nvPr/>
        </p:nvSpPr>
        <p:spPr>
          <a:xfrm>
            <a:off x="476280" y="3230640"/>
            <a:ext cx="2499120" cy="379800"/>
          </a:xfrm>
          <a:custGeom>
            <a:avLst/>
            <a:gdLst/>
            <a:ahLst/>
            <a:rect l="l" t="t" r="r" b="b"/>
            <a:pathLst>
              <a:path w="2500313" h="381000">
                <a:moveTo>
                  <a:pt x="0" y="0"/>
                </a:moveTo>
                <a:lnTo>
                  <a:pt x="2500313" y="0"/>
                </a:lnTo>
                <a:lnTo>
                  <a:pt x="2500313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84" name="Text 33"/>
          <p:cNvSpPr/>
          <p:nvPr/>
        </p:nvSpPr>
        <p:spPr>
          <a:xfrm>
            <a:off x="555480" y="3309840"/>
            <a:ext cx="2419920" cy="22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2014-2015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285" name="Text 34"/>
          <p:cNvSpPr/>
          <p:nvPr/>
        </p:nvSpPr>
        <p:spPr>
          <a:xfrm>
            <a:off x="460440" y="3691080"/>
            <a:ext cx="259452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MT. GOX COLLAPSE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286" name="Text 35"/>
          <p:cNvSpPr/>
          <p:nvPr/>
        </p:nvSpPr>
        <p:spPr>
          <a:xfrm>
            <a:off x="460440" y="3913200"/>
            <a:ext cx="2586600" cy="27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Exchange hack wipes out 850K BTC. Price falls below $200. Bear market.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287" name="Shape 36"/>
          <p:cNvSpPr/>
          <p:nvPr/>
        </p:nvSpPr>
        <p:spPr>
          <a:xfrm>
            <a:off x="476280" y="4270320"/>
            <a:ext cx="2499120" cy="284760"/>
          </a:xfrm>
          <a:custGeom>
            <a:avLst/>
            <a:gdLst/>
            <a:ahLst/>
            <a:rect l="l" t="t" r="r" b="b"/>
            <a:pathLst>
              <a:path w="2500313" h="285750">
                <a:moveTo>
                  <a:pt x="0" y="0"/>
                </a:moveTo>
                <a:lnTo>
                  <a:pt x="2500313" y="0"/>
                </a:lnTo>
                <a:lnTo>
                  <a:pt x="2500313" y="285750"/>
                </a:lnTo>
                <a:lnTo>
                  <a:pt x="0" y="285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88" name="Text 37"/>
          <p:cNvSpPr/>
          <p:nvPr/>
        </p:nvSpPr>
        <p:spPr>
          <a:xfrm>
            <a:off x="555480" y="4349880"/>
            <a:ext cx="2388240" cy="12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750" spc="-1" strike="noStrike">
                <a:solidFill>
                  <a:srgbClr val="000000"/>
                </a:solidFill>
                <a:latin typeface="MiSans"/>
                <a:ea typeface="MiSans"/>
              </a:rPr>
              <a:t>Low: $152</a:t>
            </a:r>
            <a:endParaRPr b="0" lang="en-HK" sz="750" spc="-1" strike="noStrike">
              <a:latin typeface="Arial"/>
            </a:endParaRPr>
          </a:p>
        </p:txBody>
      </p:sp>
      <p:sp>
        <p:nvSpPr>
          <p:cNvPr id="289" name="Shape 38"/>
          <p:cNvSpPr/>
          <p:nvPr/>
        </p:nvSpPr>
        <p:spPr>
          <a:xfrm>
            <a:off x="3254400" y="3095640"/>
            <a:ext cx="2769120" cy="1594440"/>
          </a:xfrm>
          <a:custGeom>
            <a:avLst/>
            <a:gdLst/>
            <a:ahLst/>
            <a:rect l="l" t="t" r="r" b="b"/>
            <a:pathLst>
              <a:path w="2770188" h="1595438">
                <a:moveTo>
                  <a:pt x="0" y="0"/>
                </a:moveTo>
                <a:lnTo>
                  <a:pt x="2770188" y="0"/>
                </a:lnTo>
                <a:lnTo>
                  <a:pt x="2770188" y="1595438"/>
                </a:lnTo>
                <a:lnTo>
                  <a:pt x="0" y="159543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90" name="Shape 39"/>
          <p:cNvSpPr/>
          <p:nvPr/>
        </p:nvSpPr>
        <p:spPr>
          <a:xfrm>
            <a:off x="3389400" y="3230640"/>
            <a:ext cx="2499120" cy="379800"/>
          </a:xfrm>
          <a:custGeom>
            <a:avLst/>
            <a:gdLst/>
            <a:ahLst/>
            <a:rect l="l" t="t" r="r" b="b"/>
            <a:pathLst>
              <a:path w="2500313" h="381000">
                <a:moveTo>
                  <a:pt x="0" y="0"/>
                </a:moveTo>
                <a:lnTo>
                  <a:pt x="2500313" y="0"/>
                </a:lnTo>
                <a:lnTo>
                  <a:pt x="2500313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91" name="Text 40"/>
          <p:cNvSpPr/>
          <p:nvPr/>
        </p:nvSpPr>
        <p:spPr>
          <a:xfrm>
            <a:off x="3468600" y="3309840"/>
            <a:ext cx="2419920" cy="22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2016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292" name="Text 41"/>
          <p:cNvSpPr/>
          <p:nvPr/>
        </p:nvSpPr>
        <p:spPr>
          <a:xfrm>
            <a:off x="3373560" y="3691080"/>
            <a:ext cx="259452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SECOND HALVING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293" name="Text 42"/>
          <p:cNvSpPr/>
          <p:nvPr/>
        </p:nvSpPr>
        <p:spPr>
          <a:xfrm>
            <a:off x="3373560" y="3913200"/>
            <a:ext cx="2586600" cy="27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Block reward drops to 12.5 BTC. Ethereum launches, ICO era begins.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294" name="Shape 43"/>
          <p:cNvSpPr/>
          <p:nvPr/>
        </p:nvSpPr>
        <p:spPr>
          <a:xfrm>
            <a:off x="3389400" y="4270320"/>
            <a:ext cx="2499120" cy="284760"/>
          </a:xfrm>
          <a:custGeom>
            <a:avLst/>
            <a:gdLst/>
            <a:ahLst/>
            <a:rect l="l" t="t" r="r" b="b"/>
            <a:pathLst>
              <a:path w="2500313" h="285750">
                <a:moveTo>
                  <a:pt x="0" y="0"/>
                </a:moveTo>
                <a:lnTo>
                  <a:pt x="2500313" y="0"/>
                </a:lnTo>
                <a:lnTo>
                  <a:pt x="2500313" y="285750"/>
                </a:lnTo>
                <a:lnTo>
                  <a:pt x="0" y="285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95" name="Text 44"/>
          <p:cNvSpPr/>
          <p:nvPr/>
        </p:nvSpPr>
        <p:spPr>
          <a:xfrm>
            <a:off x="3468600" y="4349880"/>
            <a:ext cx="2388240" cy="12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750" spc="-1" strike="noStrike">
                <a:solidFill>
                  <a:srgbClr val="000000"/>
                </a:solidFill>
                <a:latin typeface="MiSans"/>
                <a:ea typeface="MiSans"/>
              </a:rPr>
              <a:t>Price: $650 → $960</a:t>
            </a:r>
            <a:endParaRPr b="0" lang="en-HK" sz="750" spc="-1" strike="noStrike">
              <a:latin typeface="Arial"/>
            </a:endParaRPr>
          </a:p>
        </p:txBody>
      </p:sp>
      <p:sp>
        <p:nvSpPr>
          <p:cNvPr id="296" name="Shape 45"/>
          <p:cNvSpPr/>
          <p:nvPr/>
        </p:nvSpPr>
        <p:spPr>
          <a:xfrm>
            <a:off x="6167520" y="3095640"/>
            <a:ext cx="2769120" cy="1594440"/>
          </a:xfrm>
          <a:custGeom>
            <a:avLst/>
            <a:gdLst/>
            <a:ahLst/>
            <a:rect l="l" t="t" r="r" b="b"/>
            <a:pathLst>
              <a:path w="2770188" h="1595438">
                <a:moveTo>
                  <a:pt x="0" y="0"/>
                </a:moveTo>
                <a:lnTo>
                  <a:pt x="2770188" y="0"/>
                </a:lnTo>
                <a:lnTo>
                  <a:pt x="2770188" y="1595438"/>
                </a:lnTo>
                <a:lnTo>
                  <a:pt x="0" y="159543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97" name="Shape 46"/>
          <p:cNvSpPr/>
          <p:nvPr/>
        </p:nvSpPr>
        <p:spPr>
          <a:xfrm>
            <a:off x="6302520" y="3230640"/>
            <a:ext cx="2499120" cy="379800"/>
          </a:xfrm>
          <a:custGeom>
            <a:avLst/>
            <a:gdLst/>
            <a:ahLst/>
            <a:rect l="l" t="t" r="r" b="b"/>
            <a:pathLst>
              <a:path w="2500313" h="381000">
                <a:moveTo>
                  <a:pt x="0" y="0"/>
                </a:moveTo>
                <a:lnTo>
                  <a:pt x="2500313" y="0"/>
                </a:lnTo>
                <a:lnTo>
                  <a:pt x="2500313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98" name="Text 47"/>
          <p:cNvSpPr/>
          <p:nvPr/>
        </p:nvSpPr>
        <p:spPr>
          <a:xfrm>
            <a:off x="6381720" y="3309840"/>
            <a:ext cx="2419920" cy="22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2017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299" name="Text 48"/>
          <p:cNvSpPr/>
          <p:nvPr/>
        </p:nvSpPr>
        <p:spPr>
          <a:xfrm>
            <a:off x="6286680" y="3691080"/>
            <a:ext cx="259452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$20,000 PEAK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300" name="Text 49"/>
          <p:cNvSpPr/>
          <p:nvPr/>
        </p:nvSpPr>
        <p:spPr>
          <a:xfrm>
            <a:off x="6286680" y="3913200"/>
            <a:ext cx="2586600" cy="27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ICO mania drives parabolic rise. CME/CBOE futures launch. Mainstream FOMO.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301" name="Shape 50"/>
          <p:cNvSpPr/>
          <p:nvPr/>
        </p:nvSpPr>
        <p:spPr>
          <a:xfrm>
            <a:off x="6302520" y="4270320"/>
            <a:ext cx="2499120" cy="284760"/>
          </a:xfrm>
          <a:custGeom>
            <a:avLst/>
            <a:gdLst/>
            <a:ahLst/>
            <a:rect l="l" t="t" r="r" b="b"/>
            <a:pathLst>
              <a:path w="2500313" h="285750">
                <a:moveTo>
                  <a:pt x="0" y="0"/>
                </a:moveTo>
                <a:lnTo>
                  <a:pt x="2500313" y="0"/>
                </a:lnTo>
                <a:lnTo>
                  <a:pt x="2500313" y="285750"/>
                </a:lnTo>
                <a:lnTo>
                  <a:pt x="0" y="285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02" name="Text 51"/>
          <p:cNvSpPr/>
          <p:nvPr/>
        </p:nvSpPr>
        <p:spPr>
          <a:xfrm>
            <a:off x="6381720" y="4349880"/>
            <a:ext cx="2388240" cy="12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750" spc="-1" strike="noStrike">
                <a:solidFill>
                  <a:srgbClr val="000000"/>
                </a:solidFill>
                <a:latin typeface="MiSans"/>
                <a:ea typeface="MiSans"/>
              </a:rPr>
              <a:t>Peak: $19,800</a:t>
            </a:r>
            <a:endParaRPr b="0" lang="en-HK" sz="750" spc="-1" strike="noStrike">
              <a:latin typeface="Arial"/>
            </a:endParaRPr>
          </a:p>
        </p:txBody>
      </p:sp>
      <p:sp>
        <p:nvSpPr>
          <p:cNvPr id="303" name="Shape 52"/>
          <p:cNvSpPr/>
          <p:nvPr/>
        </p:nvSpPr>
        <p:spPr>
          <a:xfrm>
            <a:off x="9080640" y="3095640"/>
            <a:ext cx="2769120" cy="1594440"/>
          </a:xfrm>
          <a:custGeom>
            <a:avLst/>
            <a:gdLst/>
            <a:ahLst/>
            <a:rect l="l" t="t" r="r" b="b"/>
            <a:pathLst>
              <a:path w="2770188" h="1595438">
                <a:moveTo>
                  <a:pt x="0" y="0"/>
                </a:moveTo>
                <a:lnTo>
                  <a:pt x="2770188" y="0"/>
                </a:lnTo>
                <a:lnTo>
                  <a:pt x="2770188" y="1595438"/>
                </a:lnTo>
                <a:lnTo>
                  <a:pt x="0" y="159543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304" name="Shape 53"/>
          <p:cNvSpPr/>
          <p:nvPr/>
        </p:nvSpPr>
        <p:spPr>
          <a:xfrm>
            <a:off x="9215280" y="3230640"/>
            <a:ext cx="2499120" cy="379800"/>
          </a:xfrm>
          <a:custGeom>
            <a:avLst/>
            <a:gdLst/>
            <a:ahLst/>
            <a:rect l="l" t="t" r="r" b="b"/>
            <a:pathLst>
              <a:path w="2500313" h="381000">
                <a:moveTo>
                  <a:pt x="0" y="0"/>
                </a:moveTo>
                <a:lnTo>
                  <a:pt x="2500313" y="0"/>
                </a:lnTo>
                <a:lnTo>
                  <a:pt x="2500313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05" name="Text 54"/>
          <p:cNvSpPr/>
          <p:nvPr/>
        </p:nvSpPr>
        <p:spPr>
          <a:xfrm>
            <a:off x="9294840" y="3309840"/>
            <a:ext cx="2419920" cy="22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2018-2019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306" name="Text 55"/>
          <p:cNvSpPr/>
          <p:nvPr/>
        </p:nvSpPr>
        <p:spPr>
          <a:xfrm>
            <a:off x="9199440" y="3691080"/>
            <a:ext cx="259452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CRYPTO WINTER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307" name="Text 56"/>
          <p:cNvSpPr/>
          <p:nvPr/>
        </p:nvSpPr>
        <p:spPr>
          <a:xfrm>
            <a:off x="9199440" y="3913200"/>
            <a:ext cx="2586600" cy="27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80%+ crash from peak. Regulatory crackdowns. Institutional interest quietly builds.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308" name="Shape 57"/>
          <p:cNvSpPr/>
          <p:nvPr/>
        </p:nvSpPr>
        <p:spPr>
          <a:xfrm>
            <a:off x="9215280" y="4270320"/>
            <a:ext cx="2499120" cy="284760"/>
          </a:xfrm>
          <a:custGeom>
            <a:avLst/>
            <a:gdLst/>
            <a:ahLst/>
            <a:rect l="l" t="t" r="r" b="b"/>
            <a:pathLst>
              <a:path w="2500313" h="285750">
                <a:moveTo>
                  <a:pt x="0" y="0"/>
                </a:moveTo>
                <a:lnTo>
                  <a:pt x="2500313" y="0"/>
                </a:lnTo>
                <a:lnTo>
                  <a:pt x="2500313" y="285750"/>
                </a:lnTo>
                <a:lnTo>
                  <a:pt x="0" y="285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09" name="Text 58"/>
          <p:cNvSpPr/>
          <p:nvPr/>
        </p:nvSpPr>
        <p:spPr>
          <a:xfrm>
            <a:off x="9294840" y="4349880"/>
            <a:ext cx="2388240" cy="12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750" spc="-1" strike="noStrike">
                <a:solidFill>
                  <a:srgbClr val="000000"/>
                </a:solidFill>
                <a:latin typeface="MiSans"/>
                <a:ea typeface="MiSans"/>
              </a:rPr>
              <a:t>Low: $3,200</a:t>
            </a:r>
            <a:endParaRPr b="0" lang="en-HK" sz="750" spc="-1" strike="noStrike">
              <a:latin typeface="Arial"/>
            </a:endParaRPr>
          </a:p>
        </p:txBody>
      </p:sp>
      <p:sp>
        <p:nvSpPr>
          <p:cNvPr id="310" name="Shape 59"/>
          <p:cNvSpPr/>
          <p:nvPr/>
        </p:nvSpPr>
        <p:spPr>
          <a:xfrm>
            <a:off x="341280" y="4834080"/>
            <a:ext cx="2769120" cy="1594440"/>
          </a:xfrm>
          <a:custGeom>
            <a:avLst/>
            <a:gdLst/>
            <a:ahLst/>
            <a:rect l="l" t="t" r="r" b="b"/>
            <a:pathLst>
              <a:path w="2770188" h="1595438">
                <a:moveTo>
                  <a:pt x="0" y="0"/>
                </a:moveTo>
                <a:lnTo>
                  <a:pt x="2770188" y="0"/>
                </a:lnTo>
                <a:lnTo>
                  <a:pt x="2770188" y="1595438"/>
                </a:lnTo>
                <a:lnTo>
                  <a:pt x="0" y="159543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311" name="Shape 60"/>
          <p:cNvSpPr/>
          <p:nvPr/>
        </p:nvSpPr>
        <p:spPr>
          <a:xfrm>
            <a:off x="476280" y="4968720"/>
            <a:ext cx="2499120" cy="379800"/>
          </a:xfrm>
          <a:custGeom>
            <a:avLst/>
            <a:gdLst/>
            <a:ahLst/>
            <a:rect l="l" t="t" r="r" b="b"/>
            <a:pathLst>
              <a:path w="2500313" h="381000">
                <a:moveTo>
                  <a:pt x="0" y="0"/>
                </a:moveTo>
                <a:lnTo>
                  <a:pt x="2500313" y="0"/>
                </a:lnTo>
                <a:lnTo>
                  <a:pt x="2500313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12" name="Text 61"/>
          <p:cNvSpPr/>
          <p:nvPr/>
        </p:nvSpPr>
        <p:spPr>
          <a:xfrm>
            <a:off x="555480" y="5048280"/>
            <a:ext cx="2419920" cy="22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2020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313" name="Text 62"/>
          <p:cNvSpPr/>
          <p:nvPr/>
        </p:nvSpPr>
        <p:spPr>
          <a:xfrm>
            <a:off x="460440" y="5429160"/>
            <a:ext cx="259452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THIRD HALVING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314" name="Text 63"/>
          <p:cNvSpPr/>
          <p:nvPr/>
        </p:nvSpPr>
        <p:spPr>
          <a:xfrm>
            <a:off x="460440" y="5651640"/>
            <a:ext cx="2586600" cy="27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Block reward drops to 6.25 BTC. COVID-19 triggers institutional adoption wave.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315" name="Shape 64"/>
          <p:cNvSpPr/>
          <p:nvPr/>
        </p:nvSpPr>
        <p:spPr>
          <a:xfrm>
            <a:off x="476280" y="6008760"/>
            <a:ext cx="2499120" cy="284760"/>
          </a:xfrm>
          <a:custGeom>
            <a:avLst/>
            <a:gdLst/>
            <a:ahLst/>
            <a:rect l="l" t="t" r="r" b="b"/>
            <a:pathLst>
              <a:path w="2500313" h="285750">
                <a:moveTo>
                  <a:pt x="0" y="0"/>
                </a:moveTo>
                <a:lnTo>
                  <a:pt x="2500313" y="0"/>
                </a:lnTo>
                <a:lnTo>
                  <a:pt x="2500313" y="285750"/>
                </a:lnTo>
                <a:lnTo>
                  <a:pt x="0" y="285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16" name="Text 65"/>
          <p:cNvSpPr/>
          <p:nvPr/>
        </p:nvSpPr>
        <p:spPr>
          <a:xfrm>
            <a:off x="555480" y="6087960"/>
            <a:ext cx="2388240" cy="12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750" spc="-1" strike="noStrike">
                <a:solidFill>
                  <a:srgbClr val="000000"/>
                </a:solidFill>
                <a:latin typeface="MiSans"/>
                <a:ea typeface="MiSans"/>
              </a:rPr>
              <a:t>Price: $8,000 → $29,000</a:t>
            </a:r>
            <a:endParaRPr b="0" lang="en-HK" sz="750" spc="-1" strike="noStrike">
              <a:latin typeface="Arial"/>
            </a:endParaRPr>
          </a:p>
        </p:txBody>
      </p:sp>
      <p:sp>
        <p:nvSpPr>
          <p:cNvPr id="317" name="Shape 66"/>
          <p:cNvSpPr/>
          <p:nvPr/>
        </p:nvSpPr>
        <p:spPr>
          <a:xfrm>
            <a:off x="3254400" y="4834080"/>
            <a:ext cx="2769120" cy="1594440"/>
          </a:xfrm>
          <a:custGeom>
            <a:avLst/>
            <a:gdLst/>
            <a:ahLst/>
            <a:rect l="l" t="t" r="r" b="b"/>
            <a:pathLst>
              <a:path w="2770188" h="1595438">
                <a:moveTo>
                  <a:pt x="0" y="0"/>
                </a:moveTo>
                <a:lnTo>
                  <a:pt x="2770188" y="0"/>
                </a:lnTo>
                <a:lnTo>
                  <a:pt x="2770188" y="1595438"/>
                </a:lnTo>
                <a:lnTo>
                  <a:pt x="0" y="159543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318" name="Shape 67"/>
          <p:cNvSpPr/>
          <p:nvPr/>
        </p:nvSpPr>
        <p:spPr>
          <a:xfrm>
            <a:off x="3389400" y="4968720"/>
            <a:ext cx="2499120" cy="379800"/>
          </a:xfrm>
          <a:custGeom>
            <a:avLst/>
            <a:gdLst/>
            <a:ahLst/>
            <a:rect l="l" t="t" r="r" b="b"/>
            <a:pathLst>
              <a:path w="2500313" h="381000">
                <a:moveTo>
                  <a:pt x="0" y="0"/>
                </a:moveTo>
                <a:lnTo>
                  <a:pt x="2500313" y="0"/>
                </a:lnTo>
                <a:lnTo>
                  <a:pt x="2500313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19" name="Text 68"/>
          <p:cNvSpPr/>
          <p:nvPr/>
        </p:nvSpPr>
        <p:spPr>
          <a:xfrm>
            <a:off x="3468600" y="5048280"/>
            <a:ext cx="2419920" cy="22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2021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320" name="Text 69"/>
          <p:cNvSpPr/>
          <p:nvPr/>
        </p:nvSpPr>
        <p:spPr>
          <a:xfrm>
            <a:off x="3373560" y="5429160"/>
            <a:ext cx="259452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$69,000 ATH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321" name="Text 70"/>
          <p:cNvSpPr/>
          <p:nvPr/>
        </p:nvSpPr>
        <p:spPr>
          <a:xfrm>
            <a:off x="3373560" y="5651640"/>
            <a:ext cx="2586600" cy="27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MicroStrategy, Tesla add BTC to treasury. First Bitcoin futures ETF. NFT boom.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322" name="Shape 71"/>
          <p:cNvSpPr/>
          <p:nvPr/>
        </p:nvSpPr>
        <p:spPr>
          <a:xfrm>
            <a:off x="3389400" y="6008760"/>
            <a:ext cx="2499120" cy="284760"/>
          </a:xfrm>
          <a:custGeom>
            <a:avLst/>
            <a:gdLst/>
            <a:ahLst/>
            <a:rect l="l" t="t" r="r" b="b"/>
            <a:pathLst>
              <a:path w="2500313" h="285750">
                <a:moveTo>
                  <a:pt x="0" y="0"/>
                </a:moveTo>
                <a:lnTo>
                  <a:pt x="2500313" y="0"/>
                </a:lnTo>
                <a:lnTo>
                  <a:pt x="2500313" y="285750"/>
                </a:lnTo>
                <a:lnTo>
                  <a:pt x="0" y="285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23" name="Text 72"/>
          <p:cNvSpPr/>
          <p:nvPr/>
        </p:nvSpPr>
        <p:spPr>
          <a:xfrm>
            <a:off x="3468600" y="6087960"/>
            <a:ext cx="2388240" cy="12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750" spc="-1" strike="noStrike">
                <a:solidFill>
                  <a:srgbClr val="000000"/>
                </a:solidFill>
                <a:latin typeface="MiSans"/>
                <a:ea typeface="MiSans"/>
              </a:rPr>
              <a:t>Peak: $69,000</a:t>
            </a:r>
            <a:endParaRPr b="0" lang="en-HK" sz="750" spc="-1" strike="noStrike">
              <a:latin typeface="Arial"/>
            </a:endParaRPr>
          </a:p>
        </p:txBody>
      </p:sp>
      <p:sp>
        <p:nvSpPr>
          <p:cNvPr id="324" name="Shape 73"/>
          <p:cNvSpPr/>
          <p:nvPr/>
        </p:nvSpPr>
        <p:spPr>
          <a:xfrm>
            <a:off x="6167520" y="4834080"/>
            <a:ext cx="2769120" cy="1594440"/>
          </a:xfrm>
          <a:custGeom>
            <a:avLst/>
            <a:gdLst/>
            <a:ahLst/>
            <a:rect l="l" t="t" r="r" b="b"/>
            <a:pathLst>
              <a:path w="2770188" h="1595438">
                <a:moveTo>
                  <a:pt x="0" y="0"/>
                </a:moveTo>
                <a:lnTo>
                  <a:pt x="2770188" y="0"/>
                </a:lnTo>
                <a:lnTo>
                  <a:pt x="2770188" y="1595438"/>
                </a:lnTo>
                <a:lnTo>
                  <a:pt x="0" y="159543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325" name="Shape 74"/>
          <p:cNvSpPr/>
          <p:nvPr/>
        </p:nvSpPr>
        <p:spPr>
          <a:xfrm>
            <a:off x="6302520" y="4968720"/>
            <a:ext cx="2499120" cy="379800"/>
          </a:xfrm>
          <a:custGeom>
            <a:avLst/>
            <a:gdLst/>
            <a:ahLst/>
            <a:rect l="l" t="t" r="r" b="b"/>
            <a:pathLst>
              <a:path w="2500313" h="381000">
                <a:moveTo>
                  <a:pt x="0" y="0"/>
                </a:moveTo>
                <a:lnTo>
                  <a:pt x="2500313" y="0"/>
                </a:lnTo>
                <a:lnTo>
                  <a:pt x="2500313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26" name="Text 75"/>
          <p:cNvSpPr/>
          <p:nvPr/>
        </p:nvSpPr>
        <p:spPr>
          <a:xfrm>
            <a:off x="6381720" y="5048280"/>
            <a:ext cx="2419920" cy="22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2022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327" name="Text 76"/>
          <p:cNvSpPr/>
          <p:nvPr/>
        </p:nvSpPr>
        <p:spPr>
          <a:xfrm>
            <a:off x="6286680" y="5429160"/>
            <a:ext cx="259452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BEAR MARKET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328" name="Text 77"/>
          <p:cNvSpPr/>
          <p:nvPr/>
        </p:nvSpPr>
        <p:spPr>
          <a:xfrm>
            <a:off x="6286680" y="5651640"/>
            <a:ext cx="2586600" cy="27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Fed rate hikes, Terra/LUNA collapse, FTX bankruptcy. Price falls to $16K.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329" name="Shape 78"/>
          <p:cNvSpPr/>
          <p:nvPr/>
        </p:nvSpPr>
        <p:spPr>
          <a:xfrm>
            <a:off x="6302520" y="6008760"/>
            <a:ext cx="2499120" cy="284760"/>
          </a:xfrm>
          <a:custGeom>
            <a:avLst/>
            <a:gdLst/>
            <a:ahLst/>
            <a:rect l="l" t="t" r="r" b="b"/>
            <a:pathLst>
              <a:path w="2500313" h="285750">
                <a:moveTo>
                  <a:pt x="0" y="0"/>
                </a:moveTo>
                <a:lnTo>
                  <a:pt x="2500313" y="0"/>
                </a:lnTo>
                <a:lnTo>
                  <a:pt x="2500313" y="285750"/>
                </a:lnTo>
                <a:lnTo>
                  <a:pt x="0" y="285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30" name="Text 79"/>
          <p:cNvSpPr/>
          <p:nvPr/>
        </p:nvSpPr>
        <p:spPr>
          <a:xfrm>
            <a:off x="6381720" y="6087960"/>
            <a:ext cx="2388240" cy="12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750" spc="-1" strike="noStrike">
                <a:solidFill>
                  <a:srgbClr val="000000"/>
                </a:solidFill>
                <a:latin typeface="MiSans"/>
                <a:ea typeface="MiSans"/>
              </a:rPr>
              <a:t>Low: $15,600</a:t>
            </a:r>
            <a:endParaRPr b="0" lang="en-HK" sz="750" spc="-1" strike="noStrike">
              <a:latin typeface="Arial"/>
            </a:endParaRPr>
          </a:p>
        </p:txBody>
      </p:sp>
      <p:sp>
        <p:nvSpPr>
          <p:cNvPr id="331" name="Shape 80"/>
          <p:cNvSpPr/>
          <p:nvPr/>
        </p:nvSpPr>
        <p:spPr>
          <a:xfrm>
            <a:off x="9080640" y="4834080"/>
            <a:ext cx="2769120" cy="1594440"/>
          </a:xfrm>
          <a:custGeom>
            <a:avLst/>
            <a:gdLst/>
            <a:ahLst/>
            <a:rect l="l" t="t" r="r" b="b"/>
            <a:pathLst>
              <a:path w="2770188" h="1595438">
                <a:moveTo>
                  <a:pt x="0" y="0"/>
                </a:moveTo>
                <a:lnTo>
                  <a:pt x="2770188" y="0"/>
                </a:lnTo>
                <a:lnTo>
                  <a:pt x="2770188" y="1595438"/>
                </a:lnTo>
                <a:lnTo>
                  <a:pt x="0" y="159543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332" name="Shape 81"/>
          <p:cNvSpPr/>
          <p:nvPr/>
        </p:nvSpPr>
        <p:spPr>
          <a:xfrm>
            <a:off x="9215280" y="4968720"/>
            <a:ext cx="2499120" cy="379800"/>
          </a:xfrm>
          <a:custGeom>
            <a:avLst/>
            <a:gdLst/>
            <a:ahLst/>
            <a:rect l="l" t="t" r="r" b="b"/>
            <a:pathLst>
              <a:path w="2500313" h="381000">
                <a:moveTo>
                  <a:pt x="0" y="0"/>
                </a:moveTo>
                <a:lnTo>
                  <a:pt x="2500313" y="0"/>
                </a:lnTo>
                <a:lnTo>
                  <a:pt x="2500313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33" name="Text 82"/>
          <p:cNvSpPr/>
          <p:nvPr/>
        </p:nvSpPr>
        <p:spPr>
          <a:xfrm>
            <a:off x="9294840" y="5048280"/>
            <a:ext cx="2419920" cy="22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2024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334" name="Text 83"/>
          <p:cNvSpPr/>
          <p:nvPr/>
        </p:nvSpPr>
        <p:spPr>
          <a:xfrm>
            <a:off x="9199440" y="5429160"/>
            <a:ext cx="259452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$100K+ BREAKTHROUGH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335" name="Text 84"/>
          <p:cNvSpPr/>
          <p:nvPr/>
        </p:nvSpPr>
        <p:spPr>
          <a:xfrm>
            <a:off x="9199440" y="5651640"/>
            <a:ext cx="2586600" cy="27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Fourth halving. SEC approves spot ETFs. Price breaks $100K milestone.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336" name="Shape 85"/>
          <p:cNvSpPr/>
          <p:nvPr/>
        </p:nvSpPr>
        <p:spPr>
          <a:xfrm>
            <a:off x="9215280" y="6008760"/>
            <a:ext cx="2499120" cy="284760"/>
          </a:xfrm>
          <a:custGeom>
            <a:avLst/>
            <a:gdLst/>
            <a:ahLst/>
            <a:rect l="l" t="t" r="r" b="b"/>
            <a:pathLst>
              <a:path w="2500313" h="285750">
                <a:moveTo>
                  <a:pt x="0" y="0"/>
                </a:moveTo>
                <a:lnTo>
                  <a:pt x="2500313" y="0"/>
                </a:lnTo>
                <a:lnTo>
                  <a:pt x="2500313" y="285750"/>
                </a:lnTo>
                <a:lnTo>
                  <a:pt x="0" y="285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37" name="Text 86"/>
          <p:cNvSpPr/>
          <p:nvPr/>
        </p:nvSpPr>
        <p:spPr>
          <a:xfrm>
            <a:off x="9294840" y="6087960"/>
            <a:ext cx="2388240" cy="12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750" spc="-1" strike="noStrike">
                <a:solidFill>
                  <a:srgbClr val="000000"/>
                </a:solidFill>
                <a:latin typeface="MiSans"/>
                <a:ea typeface="MiSans"/>
              </a:rPr>
              <a:t>Peak: $126,173</a:t>
            </a:r>
            <a:endParaRPr b="0" lang="en-HK" sz="750" spc="-1" strike="noStrike">
              <a:latin typeface="Arial"/>
            </a:endParaRPr>
          </a:p>
        </p:txBody>
      </p:sp>
      <p:sp>
        <p:nvSpPr>
          <p:cNvPr id="338" name="Shape 87"/>
          <p:cNvSpPr/>
          <p:nvPr/>
        </p:nvSpPr>
        <p:spPr>
          <a:xfrm>
            <a:off x="341280" y="6572160"/>
            <a:ext cx="11508120" cy="522720"/>
          </a:xfrm>
          <a:custGeom>
            <a:avLst/>
            <a:gdLst/>
            <a:ahLst/>
            <a:rect l="l" t="t" r="r" b="b"/>
            <a:pathLst>
              <a:path w="11509375" h="523875">
                <a:moveTo>
                  <a:pt x="0" y="0"/>
                </a:moveTo>
                <a:lnTo>
                  <a:pt x="11509375" y="0"/>
                </a:lnTo>
                <a:lnTo>
                  <a:pt x="11509375" y="523875"/>
                </a:lnTo>
                <a:lnTo>
                  <a:pt x="0" y="5238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39" name="Text 88"/>
          <p:cNvSpPr/>
          <p:nvPr/>
        </p:nvSpPr>
        <p:spPr>
          <a:xfrm>
            <a:off x="492120" y="6723000"/>
            <a:ext cx="3300840" cy="22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FOUR HALVINGS: 2012 | 2016 | 2020 | 2024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340" name="Text 89"/>
          <p:cNvSpPr/>
          <p:nvPr/>
        </p:nvSpPr>
        <p:spPr>
          <a:xfrm>
            <a:off x="8992080" y="6723000"/>
            <a:ext cx="2784960" cy="22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→ </a:t>
            </a: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Each Followed by Major Bull Run</a:t>
            </a:r>
            <a:endParaRPr b="0" lang="en-HK" sz="125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Image 0"/>
          <p:cNvSpPr/>
          <p:nvPr/>
        </p:nvSpPr>
        <p:spPr>
          <a:xfrm>
            <a:off x="0" y="0"/>
            <a:ext cx="12191040" cy="6856920"/>
          </a:xfrm>
          <a:prstGeom prst="roundRect">
            <a:avLst>
              <a:gd name="adj" fmla="val 0"/>
            </a:avLst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42" name="Shape 0"/>
          <p:cNvSpPr/>
          <p:nvPr/>
        </p:nvSpPr>
        <p:spPr>
          <a:xfrm>
            <a:off x="0" y="0"/>
            <a:ext cx="12191040" cy="6856920"/>
          </a:xfrm>
          <a:custGeom>
            <a:avLst/>
            <a:gdLst/>
            <a:ah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9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43" name="Shape 1"/>
          <p:cNvSpPr/>
          <p:nvPr/>
        </p:nvSpPr>
        <p:spPr>
          <a:xfrm>
            <a:off x="4029120" y="781200"/>
            <a:ext cx="7752240" cy="3961440"/>
          </a:xfrm>
          <a:custGeom>
            <a:avLst/>
            <a:gdLst/>
            <a:ahLst/>
            <a:rect l="l" t="t" r="r" b="b"/>
            <a:pathLst>
              <a:path w="7753350" h="3962400">
                <a:moveTo>
                  <a:pt x="0" y="0"/>
                </a:moveTo>
                <a:lnTo>
                  <a:pt x="7753350" y="0"/>
                </a:lnTo>
                <a:lnTo>
                  <a:pt x="7753350" y="3962400"/>
                </a:lnTo>
                <a:lnTo>
                  <a:pt x="0" y="39624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75858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344" name="Shape 2"/>
          <p:cNvSpPr/>
          <p:nvPr/>
        </p:nvSpPr>
        <p:spPr>
          <a:xfrm>
            <a:off x="10077480" y="1266840"/>
            <a:ext cx="75240" cy="913320"/>
          </a:xfrm>
          <a:custGeom>
            <a:avLst/>
            <a:gdLst/>
            <a:ahLst/>
            <a:rect l="l" t="t" r="r" b="b"/>
            <a:pathLst>
              <a:path w="76200" h="914400">
                <a:moveTo>
                  <a:pt x="0" y="0"/>
                </a:moveTo>
                <a:lnTo>
                  <a:pt x="76200" y="0"/>
                </a:lnTo>
                <a:lnTo>
                  <a:pt x="76200" y="914400"/>
                </a:lnTo>
                <a:lnTo>
                  <a:pt x="0" y="9144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45" name="Shape 3"/>
          <p:cNvSpPr/>
          <p:nvPr/>
        </p:nvSpPr>
        <p:spPr>
          <a:xfrm>
            <a:off x="10410840" y="1295280"/>
            <a:ext cx="856080" cy="856080"/>
          </a:xfrm>
          <a:custGeom>
            <a:avLst/>
            <a:gdLst/>
            <a:ahLst/>
            <a:rect l="l" t="t" r="r" b="b"/>
            <a:pathLst>
              <a:path w="857250" h="857250">
                <a:moveTo>
                  <a:pt x="0" y="0"/>
                </a:moveTo>
                <a:lnTo>
                  <a:pt x="857250" y="0"/>
                </a:lnTo>
                <a:lnTo>
                  <a:pt x="857250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46" name="Text 4"/>
          <p:cNvSpPr/>
          <p:nvPr/>
        </p:nvSpPr>
        <p:spPr>
          <a:xfrm>
            <a:off x="10267920" y="1266840"/>
            <a:ext cx="1027800" cy="79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80000"/>
              </a:lnSpc>
              <a:buNone/>
            </a:pPr>
            <a:r>
              <a:rPr b="1" lang="en-US" sz="3600" spc="-1" strike="noStrike">
                <a:solidFill>
                  <a:srgbClr val="ffffff"/>
                </a:solidFill>
                <a:latin typeface="Noto Sans SC"/>
                <a:ea typeface="Noto Sans SC"/>
              </a:rPr>
              <a:t>04</a:t>
            </a:r>
            <a:endParaRPr b="0" lang="en-HK" sz="3600" spc="-1" strike="noStrike">
              <a:latin typeface="Arial"/>
            </a:endParaRPr>
          </a:p>
        </p:txBody>
      </p:sp>
      <p:sp>
        <p:nvSpPr>
          <p:cNvPr id="347" name="Text 5"/>
          <p:cNvSpPr/>
          <p:nvPr/>
        </p:nvSpPr>
        <p:spPr>
          <a:xfrm>
            <a:off x="4172040" y="2486160"/>
            <a:ext cx="7123680" cy="85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00000"/>
              </a:lnSpc>
              <a:buNone/>
            </a:pPr>
            <a:r>
              <a:rPr b="1" lang="en-US" sz="5400" spc="-1" strike="noStrike">
                <a:solidFill>
                  <a:srgbClr val="000000"/>
                </a:solidFill>
                <a:latin typeface="Noto Sans SC"/>
                <a:ea typeface="Noto Sans SC"/>
              </a:rPr>
              <a:t>MARKET DYNAMICS</a:t>
            </a:r>
            <a:endParaRPr b="0" lang="en-HK" sz="5400" spc="-1" strike="noStrike">
              <a:latin typeface="Arial"/>
            </a:endParaRPr>
          </a:p>
        </p:txBody>
      </p:sp>
      <p:sp>
        <p:nvSpPr>
          <p:cNvPr id="348" name="Shape 6"/>
          <p:cNvSpPr/>
          <p:nvPr/>
        </p:nvSpPr>
        <p:spPr>
          <a:xfrm>
            <a:off x="9468000" y="3571920"/>
            <a:ext cx="1827720" cy="75240"/>
          </a:xfrm>
          <a:custGeom>
            <a:avLst/>
            <a:gdLst/>
            <a:ahLst/>
            <a:rect l="l" t="t" r="r" b="b"/>
            <a:pathLst>
              <a:path w="1828800" h="76200">
                <a:moveTo>
                  <a:pt x="0" y="0"/>
                </a:moveTo>
                <a:lnTo>
                  <a:pt x="1828800" y="0"/>
                </a:lnTo>
                <a:lnTo>
                  <a:pt x="18288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49" name="Text 7"/>
          <p:cNvSpPr/>
          <p:nvPr/>
        </p:nvSpPr>
        <p:spPr>
          <a:xfrm>
            <a:off x="4343400" y="3876840"/>
            <a:ext cx="6952320" cy="3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90000"/>
              </a:lnSpc>
              <a:buNone/>
            </a:pPr>
            <a:r>
              <a:rPr b="1" lang="en-US" sz="2700" spc="-1" strike="noStrike">
                <a:solidFill>
                  <a:srgbClr val="000000"/>
                </a:solidFill>
                <a:latin typeface="Noto Sans SC"/>
                <a:ea typeface="Noto Sans SC"/>
              </a:rPr>
              <a:t>Halving Cycles &amp; Price Patterns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350" name="Shape 8"/>
          <p:cNvSpPr/>
          <p:nvPr/>
        </p:nvSpPr>
        <p:spPr>
          <a:xfrm>
            <a:off x="6188040" y="5257800"/>
            <a:ext cx="5590080" cy="817920"/>
          </a:xfrm>
          <a:custGeom>
            <a:avLst/>
            <a:gdLst/>
            <a:ahLst/>
            <a:rect l="l" t="t" r="r" b="b"/>
            <a:pathLst>
              <a:path w="5591175" h="819150">
                <a:moveTo>
                  <a:pt x="0" y="0"/>
                </a:moveTo>
                <a:lnTo>
                  <a:pt x="5591175" y="0"/>
                </a:lnTo>
                <a:lnTo>
                  <a:pt x="5591175" y="819150"/>
                </a:lnTo>
                <a:lnTo>
                  <a:pt x="0" y="8191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51" name="Text 9"/>
          <p:cNvSpPr/>
          <p:nvPr/>
        </p:nvSpPr>
        <p:spPr>
          <a:xfrm>
            <a:off x="6445080" y="5514840"/>
            <a:ext cx="5190120" cy="30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8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▶ </a:t>
            </a:r>
            <a:r>
              <a:rPr b="1" lang="en-US" sz="1800" spc="-1" strike="noStrike">
                <a:solidFill>
                  <a:srgbClr val="000000"/>
                </a:solidFill>
                <a:latin typeface="Noto Sans SC"/>
                <a:ea typeface="Noto Sans SC"/>
              </a:rPr>
              <a:t>Programmed Scarcity Driving Market Cycles</a:t>
            </a:r>
            <a:endParaRPr b="0" lang="en-HK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Shape 0"/>
          <p:cNvSpPr/>
          <p:nvPr/>
        </p:nvSpPr>
        <p:spPr>
          <a:xfrm>
            <a:off x="341280" y="341280"/>
            <a:ext cx="11508120" cy="840240"/>
          </a:xfrm>
          <a:custGeom>
            <a:avLst/>
            <a:gdLst/>
            <a:ahLst/>
            <a:rect l="l" t="t" r="r" b="b"/>
            <a:pathLst>
              <a:path w="11509375" h="841375">
                <a:moveTo>
                  <a:pt x="0" y="0"/>
                </a:moveTo>
                <a:lnTo>
                  <a:pt x="11509375" y="0"/>
                </a:lnTo>
                <a:lnTo>
                  <a:pt x="11509375" y="841375"/>
                </a:lnTo>
                <a:lnTo>
                  <a:pt x="0" y="8413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53" name="Text 1"/>
          <p:cNvSpPr/>
          <p:nvPr/>
        </p:nvSpPr>
        <p:spPr>
          <a:xfrm>
            <a:off x="523800" y="523800"/>
            <a:ext cx="1128600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250" spc="-1" strike="noStrike">
                <a:solidFill>
                  <a:srgbClr val="000000"/>
                </a:solidFill>
                <a:latin typeface="Noto Sans SC"/>
                <a:ea typeface="Noto Sans SC"/>
              </a:rPr>
              <a:t>THE HALVING EFFECT: PROGRAMMED SCARCITY IN ACTION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354" name="Shape 2"/>
          <p:cNvSpPr/>
          <p:nvPr/>
        </p:nvSpPr>
        <p:spPr>
          <a:xfrm>
            <a:off x="523800" y="936720"/>
            <a:ext cx="761040" cy="62280"/>
          </a:xfrm>
          <a:custGeom>
            <a:avLst/>
            <a:gdLst/>
            <a:ahLst/>
            <a:rect l="l" t="t" r="r" b="b"/>
            <a:pathLst>
              <a:path w="762000" h="63500">
                <a:moveTo>
                  <a:pt x="0" y="0"/>
                </a:moveTo>
                <a:lnTo>
                  <a:pt x="762000" y="0"/>
                </a:lnTo>
                <a:lnTo>
                  <a:pt x="7620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55" name="Shape 3"/>
          <p:cNvSpPr/>
          <p:nvPr/>
        </p:nvSpPr>
        <p:spPr>
          <a:xfrm>
            <a:off x="341280" y="1357200"/>
            <a:ext cx="6221880" cy="6078960"/>
          </a:xfrm>
          <a:custGeom>
            <a:avLst/>
            <a:gdLst/>
            <a:ahLst/>
            <a:rect l="l" t="t" r="r" b="b"/>
            <a:pathLst>
              <a:path w="6223000" h="6080125">
                <a:moveTo>
                  <a:pt x="0" y="0"/>
                </a:moveTo>
                <a:lnTo>
                  <a:pt x="6223000" y="0"/>
                </a:lnTo>
                <a:lnTo>
                  <a:pt x="6223000" y="6080125"/>
                </a:lnTo>
                <a:lnTo>
                  <a:pt x="0" y="6080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356" name="Text 4"/>
          <p:cNvSpPr/>
          <p:nvPr/>
        </p:nvSpPr>
        <p:spPr>
          <a:xfrm>
            <a:off x="523800" y="1539720"/>
            <a:ext cx="5951880" cy="25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■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WHAT IS THE HALVING?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357" name="Text 5"/>
          <p:cNvSpPr/>
          <p:nvPr/>
        </p:nvSpPr>
        <p:spPr>
          <a:xfrm>
            <a:off x="523800" y="1889280"/>
            <a:ext cx="5920200" cy="61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Every </a:t>
            </a: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210,000 blocks</a:t>
            </a: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 (~4 years), Bitcoin's block reward is cut in half. This pre-programmed monetary policy reduces new supply issuance, creating supply shocks that have historically preceded major bull runs.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358" name="Shape 6"/>
          <p:cNvSpPr/>
          <p:nvPr/>
        </p:nvSpPr>
        <p:spPr>
          <a:xfrm>
            <a:off x="539640" y="2651040"/>
            <a:ext cx="5825160" cy="2316600"/>
          </a:xfrm>
          <a:custGeom>
            <a:avLst/>
            <a:gdLst/>
            <a:ahLst/>
            <a:rect l="l" t="t" r="r" b="b"/>
            <a:pathLst>
              <a:path w="5826125" h="2317750">
                <a:moveTo>
                  <a:pt x="0" y="0"/>
                </a:moveTo>
                <a:lnTo>
                  <a:pt x="5826125" y="0"/>
                </a:lnTo>
                <a:lnTo>
                  <a:pt x="5826125" y="2317750"/>
                </a:lnTo>
                <a:lnTo>
                  <a:pt x="0" y="2317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59" name="Text 7"/>
          <p:cNvSpPr/>
          <p:nvPr/>
        </p:nvSpPr>
        <p:spPr>
          <a:xfrm>
            <a:off x="682560" y="2793960"/>
            <a:ext cx="560268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Halving Schedule &amp; Price Performance: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360" name="Shape 8"/>
          <p:cNvSpPr/>
          <p:nvPr/>
        </p:nvSpPr>
        <p:spPr>
          <a:xfrm>
            <a:off x="698400" y="3095640"/>
            <a:ext cx="2689560" cy="792720"/>
          </a:xfrm>
          <a:custGeom>
            <a:avLst/>
            <a:gdLst/>
            <a:ahLst/>
            <a:rect l="l" t="t" r="r" b="b"/>
            <a:pathLst>
              <a:path w="2690813" h="793750">
                <a:moveTo>
                  <a:pt x="0" y="0"/>
                </a:moveTo>
                <a:lnTo>
                  <a:pt x="2690813" y="0"/>
                </a:lnTo>
                <a:lnTo>
                  <a:pt x="2690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61" name="Text 9"/>
          <p:cNvSpPr/>
          <p:nvPr/>
        </p:nvSpPr>
        <p:spPr>
          <a:xfrm>
            <a:off x="809640" y="3206880"/>
            <a:ext cx="2522880" cy="15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2012: 50 → 25 BTC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362" name="Text 10"/>
          <p:cNvSpPr/>
          <p:nvPr/>
        </p:nvSpPr>
        <p:spPr>
          <a:xfrm>
            <a:off x="809640" y="3397320"/>
            <a:ext cx="2562840" cy="25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a63e"/>
                </a:solidFill>
                <a:latin typeface="Noto Sans SC"/>
                <a:ea typeface="Noto Sans SC"/>
              </a:rPr>
              <a:t>+9,300%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363" name="Text 11"/>
          <p:cNvSpPr/>
          <p:nvPr/>
        </p:nvSpPr>
        <p:spPr>
          <a:xfrm>
            <a:off x="809640" y="3651120"/>
            <a:ext cx="2514960" cy="12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750" spc="-1" strike="noStrike">
                <a:solidFill>
                  <a:srgbClr val="000000"/>
                </a:solidFill>
                <a:latin typeface="MiSans"/>
                <a:ea typeface="MiSans"/>
              </a:rPr>
              <a:t>$12 → $1,100</a:t>
            </a:r>
            <a:endParaRPr b="0" lang="en-HK" sz="750" spc="-1" strike="noStrike">
              <a:latin typeface="Arial"/>
            </a:endParaRPr>
          </a:p>
        </p:txBody>
      </p:sp>
      <p:sp>
        <p:nvSpPr>
          <p:cNvPr id="364" name="Shape 12"/>
          <p:cNvSpPr/>
          <p:nvPr/>
        </p:nvSpPr>
        <p:spPr>
          <a:xfrm>
            <a:off x="3515400" y="3095640"/>
            <a:ext cx="2689560" cy="792720"/>
          </a:xfrm>
          <a:custGeom>
            <a:avLst/>
            <a:gdLst/>
            <a:ahLst/>
            <a:rect l="l" t="t" r="r" b="b"/>
            <a:pathLst>
              <a:path w="2690813" h="793750">
                <a:moveTo>
                  <a:pt x="0" y="0"/>
                </a:moveTo>
                <a:lnTo>
                  <a:pt x="2690813" y="0"/>
                </a:lnTo>
                <a:lnTo>
                  <a:pt x="2690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65" name="Text 13"/>
          <p:cNvSpPr/>
          <p:nvPr/>
        </p:nvSpPr>
        <p:spPr>
          <a:xfrm>
            <a:off x="3626640" y="3206880"/>
            <a:ext cx="2522880" cy="15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2016: 25 → 12.5 BTC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366" name="Text 14"/>
          <p:cNvSpPr/>
          <p:nvPr/>
        </p:nvSpPr>
        <p:spPr>
          <a:xfrm>
            <a:off x="3626640" y="3397320"/>
            <a:ext cx="2562840" cy="25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a63e"/>
                </a:solidFill>
                <a:latin typeface="Noto Sans SC"/>
                <a:ea typeface="Noto Sans SC"/>
              </a:rPr>
              <a:t>+3,200%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367" name="Text 15"/>
          <p:cNvSpPr/>
          <p:nvPr/>
        </p:nvSpPr>
        <p:spPr>
          <a:xfrm>
            <a:off x="3626640" y="3651120"/>
            <a:ext cx="2514960" cy="12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750" spc="-1" strike="noStrike">
                <a:solidFill>
                  <a:srgbClr val="000000"/>
                </a:solidFill>
                <a:latin typeface="MiSans"/>
                <a:ea typeface="MiSans"/>
              </a:rPr>
              <a:t>$650 → $19,800</a:t>
            </a:r>
            <a:endParaRPr b="0" lang="en-HK" sz="750" spc="-1" strike="noStrike">
              <a:latin typeface="Arial"/>
            </a:endParaRPr>
          </a:p>
        </p:txBody>
      </p:sp>
      <p:sp>
        <p:nvSpPr>
          <p:cNvPr id="368" name="Shape 16"/>
          <p:cNvSpPr/>
          <p:nvPr/>
        </p:nvSpPr>
        <p:spPr>
          <a:xfrm>
            <a:off x="698400" y="4016520"/>
            <a:ext cx="2689560" cy="792720"/>
          </a:xfrm>
          <a:custGeom>
            <a:avLst/>
            <a:gdLst/>
            <a:ahLst/>
            <a:rect l="l" t="t" r="r" b="b"/>
            <a:pathLst>
              <a:path w="2690813" h="793750">
                <a:moveTo>
                  <a:pt x="0" y="0"/>
                </a:moveTo>
                <a:lnTo>
                  <a:pt x="2690813" y="0"/>
                </a:lnTo>
                <a:lnTo>
                  <a:pt x="2690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69" name="Text 17"/>
          <p:cNvSpPr/>
          <p:nvPr/>
        </p:nvSpPr>
        <p:spPr>
          <a:xfrm>
            <a:off x="809640" y="4127400"/>
            <a:ext cx="2522880" cy="15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2020: 12.5 → 6.25 BTC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370" name="Text 18"/>
          <p:cNvSpPr/>
          <p:nvPr/>
        </p:nvSpPr>
        <p:spPr>
          <a:xfrm>
            <a:off x="809640" y="4317840"/>
            <a:ext cx="2562840" cy="25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a63e"/>
                </a:solidFill>
                <a:latin typeface="Noto Sans SC"/>
                <a:ea typeface="Noto Sans SC"/>
              </a:rPr>
              <a:t>+700%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371" name="Text 19"/>
          <p:cNvSpPr/>
          <p:nvPr/>
        </p:nvSpPr>
        <p:spPr>
          <a:xfrm>
            <a:off x="809640" y="4572000"/>
            <a:ext cx="2514960" cy="12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750" spc="-1" strike="noStrike">
                <a:solidFill>
                  <a:srgbClr val="000000"/>
                </a:solidFill>
                <a:latin typeface="MiSans"/>
                <a:ea typeface="MiSans"/>
              </a:rPr>
              <a:t>$8,800 → $69,000</a:t>
            </a:r>
            <a:endParaRPr b="0" lang="en-HK" sz="750" spc="-1" strike="noStrike">
              <a:latin typeface="Arial"/>
            </a:endParaRPr>
          </a:p>
        </p:txBody>
      </p:sp>
      <p:sp>
        <p:nvSpPr>
          <p:cNvPr id="372" name="Shape 20"/>
          <p:cNvSpPr/>
          <p:nvPr/>
        </p:nvSpPr>
        <p:spPr>
          <a:xfrm>
            <a:off x="3515400" y="4016520"/>
            <a:ext cx="2689560" cy="792720"/>
          </a:xfrm>
          <a:custGeom>
            <a:avLst/>
            <a:gdLst/>
            <a:ahLst/>
            <a:rect l="l" t="t" r="r" b="b"/>
            <a:pathLst>
              <a:path w="2690813" h="793750">
                <a:moveTo>
                  <a:pt x="0" y="0"/>
                </a:moveTo>
                <a:lnTo>
                  <a:pt x="2690813" y="0"/>
                </a:lnTo>
                <a:lnTo>
                  <a:pt x="2690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73" name="Text 21"/>
          <p:cNvSpPr/>
          <p:nvPr/>
        </p:nvSpPr>
        <p:spPr>
          <a:xfrm>
            <a:off x="3626640" y="4127400"/>
            <a:ext cx="2522880" cy="15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2024: 6.25 → 3.125 BTC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374" name="Text 22"/>
          <p:cNvSpPr/>
          <p:nvPr/>
        </p:nvSpPr>
        <p:spPr>
          <a:xfrm>
            <a:off x="3626640" y="4317840"/>
            <a:ext cx="2562840" cy="25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155dfc"/>
                </a:solidFill>
                <a:latin typeface="Noto Sans SC"/>
                <a:ea typeface="Noto Sans SC"/>
              </a:rPr>
              <a:t>IN PROGRESS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375" name="Text 23"/>
          <p:cNvSpPr/>
          <p:nvPr/>
        </p:nvSpPr>
        <p:spPr>
          <a:xfrm>
            <a:off x="3626640" y="4572000"/>
            <a:ext cx="2514960" cy="12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750" spc="-1" strike="noStrike">
                <a:solidFill>
                  <a:srgbClr val="000000"/>
                </a:solidFill>
                <a:latin typeface="MiSans"/>
                <a:ea typeface="MiSans"/>
              </a:rPr>
              <a:t>$43,000 → $126K</a:t>
            </a:r>
            <a:endParaRPr b="0" lang="en-HK" sz="750" spc="-1" strike="noStrike">
              <a:latin typeface="Arial"/>
            </a:endParaRPr>
          </a:p>
        </p:txBody>
      </p:sp>
      <p:sp>
        <p:nvSpPr>
          <p:cNvPr id="376" name="Shape 24"/>
          <p:cNvSpPr/>
          <p:nvPr/>
        </p:nvSpPr>
        <p:spPr>
          <a:xfrm>
            <a:off x="341280" y="7612200"/>
            <a:ext cx="6221880" cy="1570680"/>
          </a:xfrm>
          <a:custGeom>
            <a:avLst/>
            <a:gdLst/>
            <a:ahLst/>
            <a:rect l="l" t="t" r="r" b="b"/>
            <a:pathLst>
              <a:path w="6223000" h="1571625">
                <a:moveTo>
                  <a:pt x="0" y="0"/>
                </a:moveTo>
                <a:lnTo>
                  <a:pt x="6223000" y="0"/>
                </a:lnTo>
                <a:lnTo>
                  <a:pt x="6223000" y="1571625"/>
                </a:lnTo>
                <a:lnTo>
                  <a:pt x="0" y="15716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377" name="Text 25"/>
          <p:cNvSpPr/>
          <p:nvPr/>
        </p:nvSpPr>
        <p:spPr>
          <a:xfrm>
            <a:off x="492120" y="7763040"/>
            <a:ext cx="5999760" cy="22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000000"/>
                </a:solidFill>
                <a:latin typeface="Noto Sans SC"/>
                <a:ea typeface="Noto Sans SC"/>
              </a:rPr>
              <a:t>● </a:t>
            </a:r>
            <a:r>
              <a:rPr b="1" lang="en-US" sz="1250" spc="-1" strike="noStrike">
                <a:solidFill>
                  <a:srgbClr val="000000"/>
                </a:solidFill>
                <a:latin typeface="Noto Sans SC"/>
                <a:ea typeface="Noto Sans SC"/>
              </a:rPr>
              <a:t>THE 2024 CYCLE: WHAT'S DIFFERENT?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378" name="Shape 26"/>
          <p:cNvSpPr/>
          <p:nvPr/>
        </p:nvSpPr>
        <p:spPr>
          <a:xfrm>
            <a:off x="507960" y="8096400"/>
            <a:ext cx="1880280" cy="919800"/>
          </a:xfrm>
          <a:custGeom>
            <a:avLst/>
            <a:gdLst/>
            <a:ahLst/>
            <a:rect l="l" t="t" r="r" b="b"/>
            <a:pathLst>
              <a:path w="1881187" h="920750">
                <a:moveTo>
                  <a:pt x="0" y="0"/>
                </a:moveTo>
                <a:lnTo>
                  <a:pt x="1881187" y="0"/>
                </a:lnTo>
                <a:lnTo>
                  <a:pt x="1881187" y="920750"/>
                </a:lnTo>
                <a:lnTo>
                  <a:pt x="0" y="920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79" name="Text 27"/>
          <p:cNvSpPr/>
          <p:nvPr/>
        </p:nvSpPr>
        <p:spPr>
          <a:xfrm>
            <a:off x="619200" y="8207280"/>
            <a:ext cx="172152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ETF Approval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380" name="Text 28"/>
          <p:cNvSpPr/>
          <p:nvPr/>
        </p:nvSpPr>
        <p:spPr>
          <a:xfrm>
            <a:off x="619200" y="8429760"/>
            <a:ext cx="17136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First spot ETFs create institutional demand never seen before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381" name="Shape 29"/>
          <p:cNvSpPr/>
          <p:nvPr/>
        </p:nvSpPr>
        <p:spPr>
          <a:xfrm>
            <a:off x="2512800" y="8096400"/>
            <a:ext cx="1880280" cy="919800"/>
          </a:xfrm>
          <a:custGeom>
            <a:avLst/>
            <a:gdLst/>
            <a:ahLst/>
            <a:rect l="l" t="t" r="r" b="b"/>
            <a:pathLst>
              <a:path w="1881187" h="920750">
                <a:moveTo>
                  <a:pt x="0" y="0"/>
                </a:moveTo>
                <a:lnTo>
                  <a:pt x="1881187" y="0"/>
                </a:lnTo>
                <a:lnTo>
                  <a:pt x="1881187" y="920750"/>
                </a:lnTo>
                <a:lnTo>
                  <a:pt x="0" y="920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82" name="Text 30"/>
          <p:cNvSpPr/>
          <p:nvPr/>
        </p:nvSpPr>
        <p:spPr>
          <a:xfrm>
            <a:off x="2624040" y="8207280"/>
            <a:ext cx="172152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Corporate Treasury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383" name="Text 31"/>
          <p:cNvSpPr/>
          <p:nvPr/>
        </p:nvSpPr>
        <p:spPr>
          <a:xfrm>
            <a:off x="2624040" y="8429760"/>
            <a:ext cx="171360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MicroStrategy holds 714K BTC worth $54B+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384" name="Shape 32"/>
          <p:cNvSpPr/>
          <p:nvPr/>
        </p:nvSpPr>
        <p:spPr>
          <a:xfrm>
            <a:off x="4518000" y="8096400"/>
            <a:ext cx="1880280" cy="919800"/>
          </a:xfrm>
          <a:custGeom>
            <a:avLst/>
            <a:gdLst/>
            <a:ahLst/>
            <a:rect l="l" t="t" r="r" b="b"/>
            <a:pathLst>
              <a:path w="1881187" h="920750">
                <a:moveTo>
                  <a:pt x="0" y="0"/>
                </a:moveTo>
                <a:lnTo>
                  <a:pt x="1881187" y="0"/>
                </a:lnTo>
                <a:lnTo>
                  <a:pt x="1881187" y="920750"/>
                </a:lnTo>
                <a:lnTo>
                  <a:pt x="0" y="920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85" name="Text 33"/>
          <p:cNvSpPr/>
          <p:nvPr/>
        </p:nvSpPr>
        <p:spPr>
          <a:xfrm>
            <a:off x="4629240" y="8207280"/>
            <a:ext cx="172152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Nation-State Adoption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386" name="Text 34"/>
          <p:cNvSpPr/>
          <p:nvPr/>
        </p:nvSpPr>
        <p:spPr>
          <a:xfrm>
            <a:off x="4629240" y="8429760"/>
            <a:ext cx="171360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El Salvador makes BTC legal tender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387" name="Shape 35"/>
          <p:cNvSpPr/>
          <p:nvPr/>
        </p:nvSpPr>
        <p:spPr>
          <a:xfrm>
            <a:off x="6769080" y="1357200"/>
            <a:ext cx="5078880" cy="3951720"/>
          </a:xfrm>
          <a:custGeom>
            <a:avLst/>
            <a:gdLst/>
            <a:ahLst/>
            <a:rect l="l" t="t" r="r" b="b"/>
            <a:pathLst>
              <a:path w="5080000" h="3952875">
                <a:moveTo>
                  <a:pt x="0" y="0"/>
                </a:moveTo>
                <a:lnTo>
                  <a:pt x="5080000" y="0"/>
                </a:lnTo>
                <a:lnTo>
                  <a:pt x="5080000" y="3952875"/>
                </a:lnTo>
                <a:lnTo>
                  <a:pt x="0" y="39528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388" name="Text 36"/>
          <p:cNvSpPr/>
          <p:nvPr/>
        </p:nvSpPr>
        <p:spPr>
          <a:xfrm>
            <a:off x="6951600" y="1539720"/>
            <a:ext cx="4808880" cy="25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★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STOCK-TO-FLOW MODEL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389" name="Text 37"/>
          <p:cNvSpPr/>
          <p:nvPr/>
        </p:nvSpPr>
        <p:spPr>
          <a:xfrm>
            <a:off x="6951600" y="1920960"/>
            <a:ext cx="4777200" cy="41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Bitcoin's scarcity can be measured by </a:t>
            </a: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stock-to-flow ratio</a:t>
            </a: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 (existing supply / annual production). Higher ratios indicate greater scarcity.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390" name="Shape 38"/>
          <p:cNvSpPr/>
          <p:nvPr/>
        </p:nvSpPr>
        <p:spPr>
          <a:xfrm>
            <a:off x="6967440" y="2476440"/>
            <a:ext cx="4682160" cy="602280"/>
          </a:xfrm>
          <a:custGeom>
            <a:avLst/>
            <a:gdLst/>
            <a:ahLst/>
            <a:rect l="l" t="t" r="r" b="b"/>
            <a:pathLst>
              <a:path w="4683125" h="603250">
                <a:moveTo>
                  <a:pt x="0" y="0"/>
                </a:moveTo>
                <a:lnTo>
                  <a:pt x="4683125" y="0"/>
                </a:lnTo>
                <a:lnTo>
                  <a:pt x="46831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91" name="Text 39"/>
          <p:cNvSpPr/>
          <p:nvPr/>
        </p:nvSpPr>
        <p:spPr>
          <a:xfrm>
            <a:off x="7078680" y="2619360"/>
            <a:ext cx="61812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Gold S2F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392" name="Text 40"/>
          <p:cNvSpPr/>
          <p:nvPr/>
        </p:nvSpPr>
        <p:spPr>
          <a:xfrm>
            <a:off x="11329200" y="2587680"/>
            <a:ext cx="308520" cy="25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62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393" name="Shape 41"/>
          <p:cNvSpPr/>
          <p:nvPr/>
        </p:nvSpPr>
        <p:spPr>
          <a:xfrm>
            <a:off x="7094520" y="2889360"/>
            <a:ext cx="4428000" cy="62280"/>
          </a:xfrm>
          <a:custGeom>
            <a:avLst/>
            <a:gdLst/>
            <a:ahLst/>
            <a:rect l="l" t="t" r="r" b="b"/>
            <a:pathLst>
              <a:path w="4429125" h="63500">
                <a:moveTo>
                  <a:pt x="0" y="0"/>
                </a:moveTo>
                <a:lnTo>
                  <a:pt x="4429125" y="0"/>
                </a:lnTo>
                <a:lnTo>
                  <a:pt x="4429125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94" name="Shape 42"/>
          <p:cNvSpPr/>
          <p:nvPr/>
        </p:nvSpPr>
        <p:spPr>
          <a:xfrm>
            <a:off x="7110360" y="2905200"/>
            <a:ext cx="2197440" cy="30600"/>
          </a:xfrm>
          <a:custGeom>
            <a:avLst/>
            <a:gdLst/>
            <a:ahLst/>
            <a:rect l="l" t="t" r="r" b="b"/>
            <a:pathLst>
              <a:path w="2198688" h="31750">
                <a:moveTo>
                  <a:pt x="0" y="0"/>
                </a:moveTo>
                <a:lnTo>
                  <a:pt x="2198688" y="0"/>
                </a:lnTo>
                <a:lnTo>
                  <a:pt x="2198688" y="31750"/>
                </a:lnTo>
                <a:lnTo>
                  <a:pt x="0" y="31750"/>
                </a:lnTo>
                <a:lnTo>
                  <a:pt x="0" y="0"/>
                </a:lnTo>
                <a:close/>
              </a:path>
            </a:pathLst>
          </a:custGeom>
          <a:solidFill>
            <a:srgbClr val="f0b1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95" name="Shape 43"/>
          <p:cNvSpPr/>
          <p:nvPr/>
        </p:nvSpPr>
        <p:spPr>
          <a:xfrm>
            <a:off x="6967440" y="3206880"/>
            <a:ext cx="4682160" cy="602280"/>
          </a:xfrm>
          <a:custGeom>
            <a:avLst/>
            <a:gdLst/>
            <a:ahLst/>
            <a:rect l="l" t="t" r="r" b="b"/>
            <a:pathLst>
              <a:path w="4683125" h="603250">
                <a:moveTo>
                  <a:pt x="0" y="0"/>
                </a:moveTo>
                <a:lnTo>
                  <a:pt x="4683125" y="0"/>
                </a:lnTo>
                <a:lnTo>
                  <a:pt x="46831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96" name="Text 44"/>
          <p:cNvSpPr/>
          <p:nvPr/>
        </p:nvSpPr>
        <p:spPr>
          <a:xfrm>
            <a:off x="7078680" y="3349800"/>
            <a:ext cx="148320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Bitcoin S2F (Post-2024)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397" name="Text 45"/>
          <p:cNvSpPr/>
          <p:nvPr/>
        </p:nvSpPr>
        <p:spPr>
          <a:xfrm>
            <a:off x="11223360" y="3317760"/>
            <a:ext cx="411840" cy="25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120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398" name="Shape 46"/>
          <p:cNvSpPr/>
          <p:nvPr/>
        </p:nvSpPr>
        <p:spPr>
          <a:xfrm>
            <a:off x="7094520" y="3619440"/>
            <a:ext cx="4428000" cy="62280"/>
          </a:xfrm>
          <a:custGeom>
            <a:avLst/>
            <a:gdLst/>
            <a:ahLst/>
            <a:rect l="l" t="t" r="r" b="b"/>
            <a:pathLst>
              <a:path w="4429125" h="63500">
                <a:moveTo>
                  <a:pt x="0" y="0"/>
                </a:moveTo>
                <a:lnTo>
                  <a:pt x="4429125" y="0"/>
                </a:lnTo>
                <a:lnTo>
                  <a:pt x="4429125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99" name="Shape 47"/>
          <p:cNvSpPr/>
          <p:nvPr/>
        </p:nvSpPr>
        <p:spPr>
          <a:xfrm>
            <a:off x="7110360" y="3635280"/>
            <a:ext cx="4396320" cy="30600"/>
          </a:xfrm>
          <a:custGeom>
            <a:avLst/>
            <a:gdLst/>
            <a:ahLst/>
            <a:rect l="l" t="t" r="r" b="b"/>
            <a:pathLst>
              <a:path w="4397375" h="31750">
                <a:moveTo>
                  <a:pt x="0" y="0"/>
                </a:moveTo>
                <a:lnTo>
                  <a:pt x="4397375" y="0"/>
                </a:lnTo>
                <a:lnTo>
                  <a:pt x="4397375" y="31750"/>
                </a:lnTo>
                <a:lnTo>
                  <a:pt x="0" y="31750"/>
                </a:lnTo>
                <a:lnTo>
                  <a:pt x="0" y="0"/>
                </a:lnTo>
                <a:close/>
              </a:path>
            </a:pathLst>
          </a:custGeom>
          <a:solidFill>
            <a:srgbClr val="ff69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00" name="Shape 48"/>
          <p:cNvSpPr/>
          <p:nvPr/>
        </p:nvSpPr>
        <p:spPr>
          <a:xfrm>
            <a:off x="6967440" y="3936960"/>
            <a:ext cx="4682160" cy="602280"/>
          </a:xfrm>
          <a:custGeom>
            <a:avLst/>
            <a:gdLst/>
            <a:ahLst/>
            <a:rect l="l" t="t" r="r" b="b"/>
            <a:pathLst>
              <a:path w="4683125" h="603250">
                <a:moveTo>
                  <a:pt x="0" y="0"/>
                </a:moveTo>
                <a:lnTo>
                  <a:pt x="4683125" y="0"/>
                </a:lnTo>
                <a:lnTo>
                  <a:pt x="46831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01" name="Text 49"/>
          <p:cNvSpPr/>
          <p:nvPr/>
        </p:nvSpPr>
        <p:spPr>
          <a:xfrm>
            <a:off x="7078680" y="4079880"/>
            <a:ext cx="67356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Silver S2F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402" name="Text 50"/>
          <p:cNvSpPr/>
          <p:nvPr/>
        </p:nvSpPr>
        <p:spPr>
          <a:xfrm>
            <a:off x="11329200" y="4048200"/>
            <a:ext cx="308520" cy="25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22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403" name="Shape 51"/>
          <p:cNvSpPr/>
          <p:nvPr/>
        </p:nvSpPr>
        <p:spPr>
          <a:xfrm>
            <a:off x="7094520" y="4349880"/>
            <a:ext cx="4428000" cy="62280"/>
          </a:xfrm>
          <a:custGeom>
            <a:avLst/>
            <a:gdLst/>
            <a:ahLst/>
            <a:rect l="l" t="t" r="r" b="b"/>
            <a:pathLst>
              <a:path w="4429125" h="63500">
                <a:moveTo>
                  <a:pt x="0" y="0"/>
                </a:moveTo>
                <a:lnTo>
                  <a:pt x="4429125" y="0"/>
                </a:lnTo>
                <a:lnTo>
                  <a:pt x="4429125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04" name="Shape 52"/>
          <p:cNvSpPr/>
          <p:nvPr/>
        </p:nvSpPr>
        <p:spPr>
          <a:xfrm>
            <a:off x="7110360" y="4365720"/>
            <a:ext cx="792720" cy="30600"/>
          </a:xfrm>
          <a:custGeom>
            <a:avLst/>
            <a:gdLst/>
            <a:ahLst/>
            <a:rect l="l" t="t" r="r" b="b"/>
            <a:pathLst>
              <a:path w="793750" h="31750">
                <a:moveTo>
                  <a:pt x="0" y="0"/>
                </a:moveTo>
                <a:lnTo>
                  <a:pt x="793750" y="0"/>
                </a:lnTo>
                <a:lnTo>
                  <a:pt x="793750" y="31750"/>
                </a:lnTo>
                <a:lnTo>
                  <a:pt x="0" y="31750"/>
                </a:lnTo>
                <a:lnTo>
                  <a:pt x="0" y="0"/>
                </a:lnTo>
                <a:close/>
              </a:path>
            </a:pathLst>
          </a:custGeom>
          <a:solidFill>
            <a:srgbClr val="99a1a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05" name="Shape 53"/>
          <p:cNvSpPr/>
          <p:nvPr/>
        </p:nvSpPr>
        <p:spPr>
          <a:xfrm>
            <a:off x="6967440" y="4699080"/>
            <a:ext cx="4682160" cy="411840"/>
          </a:xfrm>
          <a:custGeom>
            <a:avLst/>
            <a:gdLst/>
            <a:ahLst/>
            <a:rect l="l" t="t" r="r" b="b"/>
            <a:pathLst>
              <a:path w="4683125" h="412750">
                <a:moveTo>
                  <a:pt x="0" y="0"/>
                </a:moveTo>
                <a:lnTo>
                  <a:pt x="4683125" y="0"/>
                </a:lnTo>
                <a:lnTo>
                  <a:pt x="4683125" y="412750"/>
                </a:lnTo>
                <a:lnTo>
                  <a:pt x="0" y="4127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06" name="Text 54"/>
          <p:cNvSpPr/>
          <p:nvPr/>
        </p:nvSpPr>
        <p:spPr>
          <a:xfrm>
            <a:off x="7047000" y="4809960"/>
            <a:ext cx="452340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ffffff"/>
                </a:solidFill>
                <a:latin typeface="MiSans"/>
                <a:ea typeface="MiSans"/>
              </a:rPr>
              <a:t>Bitcoin is now scarcer than gold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407" name="Shape 55"/>
          <p:cNvSpPr/>
          <p:nvPr/>
        </p:nvSpPr>
        <p:spPr>
          <a:xfrm>
            <a:off x="6769080" y="5484960"/>
            <a:ext cx="5078880" cy="3697920"/>
          </a:xfrm>
          <a:custGeom>
            <a:avLst/>
            <a:gdLst/>
            <a:ahLst/>
            <a:rect l="l" t="t" r="r" b="b"/>
            <a:pathLst>
              <a:path w="5080000" h="3698875">
                <a:moveTo>
                  <a:pt x="0" y="0"/>
                </a:moveTo>
                <a:lnTo>
                  <a:pt x="5080000" y="0"/>
                </a:lnTo>
                <a:lnTo>
                  <a:pt x="5080000" y="3698875"/>
                </a:lnTo>
                <a:lnTo>
                  <a:pt x="0" y="36988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408" name="Text 56"/>
          <p:cNvSpPr/>
          <p:nvPr/>
        </p:nvSpPr>
        <p:spPr>
          <a:xfrm>
            <a:off x="6951600" y="5667480"/>
            <a:ext cx="4808880" cy="25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▶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SUPPLY IMPACT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409" name="Shape 57"/>
          <p:cNvSpPr/>
          <p:nvPr/>
        </p:nvSpPr>
        <p:spPr>
          <a:xfrm>
            <a:off x="6967440" y="6064200"/>
            <a:ext cx="4682160" cy="887760"/>
          </a:xfrm>
          <a:custGeom>
            <a:avLst/>
            <a:gdLst/>
            <a:ahLst/>
            <a:rect l="l" t="t" r="r" b="b"/>
            <a:pathLst>
              <a:path w="4683125" h="889000">
                <a:moveTo>
                  <a:pt x="0" y="0"/>
                </a:moveTo>
                <a:lnTo>
                  <a:pt x="4683125" y="0"/>
                </a:lnTo>
                <a:lnTo>
                  <a:pt x="4683125" y="889000"/>
                </a:lnTo>
                <a:lnTo>
                  <a:pt x="0" y="889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10" name="Text 58"/>
          <p:cNvSpPr/>
          <p:nvPr/>
        </p:nvSpPr>
        <p:spPr>
          <a:xfrm>
            <a:off x="7078680" y="6175440"/>
            <a:ext cx="452340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Daily New Supply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411" name="Text 59"/>
          <p:cNvSpPr/>
          <p:nvPr/>
        </p:nvSpPr>
        <p:spPr>
          <a:xfrm>
            <a:off x="7078680" y="6397560"/>
            <a:ext cx="4578840" cy="28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450 BTC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412" name="Text 60"/>
          <p:cNvSpPr/>
          <p:nvPr/>
        </p:nvSpPr>
        <p:spPr>
          <a:xfrm>
            <a:off x="7078680" y="6683400"/>
            <a:ext cx="4515480" cy="15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Down from 900 BTC pre-halving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413" name="Shape 61"/>
          <p:cNvSpPr/>
          <p:nvPr/>
        </p:nvSpPr>
        <p:spPr>
          <a:xfrm>
            <a:off x="6967440" y="7080120"/>
            <a:ext cx="4682160" cy="887760"/>
          </a:xfrm>
          <a:custGeom>
            <a:avLst/>
            <a:gdLst/>
            <a:ahLst/>
            <a:rect l="l" t="t" r="r" b="b"/>
            <a:pathLst>
              <a:path w="4683125" h="889000">
                <a:moveTo>
                  <a:pt x="0" y="0"/>
                </a:moveTo>
                <a:lnTo>
                  <a:pt x="4683125" y="0"/>
                </a:lnTo>
                <a:lnTo>
                  <a:pt x="4683125" y="889000"/>
                </a:lnTo>
                <a:lnTo>
                  <a:pt x="0" y="889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14" name="Text 62"/>
          <p:cNvSpPr/>
          <p:nvPr/>
        </p:nvSpPr>
        <p:spPr>
          <a:xfrm>
            <a:off x="7078680" y="7191360"/>
            <a:ext cx="452340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Inflation Rate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415" name="Text 63"/>
          <p:cNvSpPr/>
          <p:nvPr/>
        </p:nvSpPr>
        <p:spPr>
          <a:xfrm>
            <a:off x="7078680" y="7413480"/>
            <a:ext cx="4578840" cy="28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0.85%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416" name="Text 64"/>
          <p:cNvSpPr/>
          <p:nvPr/>
        </p:nvSpPr>
        <p:spPr>
          <a:xfrm>
            <a:off x="7078680" y="7699320"/>
            <a:ext cx="4515480" cy="15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Down from 1.75% pre-halving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417" name="Shape 65"/>
          <p:cNvSpPr/>
          <p:nvPr/>
        </p:nvSpPr>
        <p:spPr>
          <a:xfrm>
            <a:off x="6967440" y="8096400"/>
            <a:ext cx="4682160" cy="887760"/>
          </a:xfrm>
          <a:custGeom>
            <a:avLst/>
            <a:gdLst/>
            <a:ahLst/>
            <a:rect l="l" t="t" r="r" b="b"/>
            <a:pathLst>
              <a:path w="4683125" h="889000">
                <a:moveTo>
                  <a:pt x="0" y="0"/>
                </a:moveTo>
                <a:lnTo>
                  <a:pt x="4683125" y="0"/>
                </a:lnTo>
                <a:lnTo>
                  <a:pt x="4683125" y="889000"/>
                </a:lnTo>
                <a:lnTo>
                  <a:pt x="0" y="889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18" name="Text 66"/>
          <p:cNvSpPr/>
          <p:nvPr/>
        </p:nvSpPr>
        <p:spPr>
          <a:xfrm>
            <a:off x="7078680" y="8207280"/>
            <a:ext cx="452340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Total Supply Mined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419" name="Text 67"/>
          <p:cNvSpPr/>
          <p:nvPr/>
        </p:nvSpPr>
        <p:spPr>
          <a:xfrm>
            <a:off x="7078680" y="8429760"/>
            <a:ext cx="4578840" cy="28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93.75%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420" name="Text 68"/>
          <p:cNvSpPr/>
          <p:nvPr/>
        </p:nvSpPr>
        <p:spPr>
          <a:xfrm>
            <a:off x="7078680" y="8715240"/>
            <a:ext cx="4515480" cy="15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~19.7M of 21M BTC in circulation</a:t>
            </a:r>
            <a:endParaRPr b="0" lang="en-HK" sz="88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Image 0"/>
          <p:cNvSpPr/>
          <p:nvPr/>
        </p:nvSpPr>
        <p:spPr>
          <a:xfrm>
            <a:off x="0" y="0"/>
            <a:ext cx="12191040" cy="6856920"/>
          </a:xfrm>
          <a:prstGeom prst="roundRect">
            <a:avLst>
              <a:gd name="adj" fmla="val 0"/>
            </a:avLst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22" name="Shape 0"/>
          <p:cNvSpPr/>
          <p:nvPr/>
        </p:nvSpPr>
        <p:spPr>
          <a:xfrm>
            <a:off x="0" y="0"/>
            <a:ext cx="12191040" cy="6856920"/>
          </a:xfrm>
          <a:custGeom>
            <a:avLst/>
            <a:gdLst/>
            <a:ah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9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23" name="Shape 1"/>
          <p:cNvSpPr/>
          <p:nvPr/>
        </p:nvSpPr>
        <p:spPr>
          <a:xfrm>
            <a:off x="409680" y="352440"/>
            <a:ext cx="8476200" cy="4818600"/>
          </a:xfrm>
          <a:custGeom>
            <a:avLst/>
            <a:gdLst/>
            <a:ahLst/>
            <a:rect l="l" t="t" r="r" b="b"/>
            <a:pathLst>
              <a:path w="8477250" h="4819650">
                <a:moveTo>
                  <a:pt x="0" y="0"/>
                </a:moveTo>
                <a:lnTo>
                  <a:pt x="8477250" y="0"/>
                </a:lnTo>
                <a:lnTo>
                  <a:pt x="8477250" y="4819650"/>
                </a:lnTo>
                <a:lnTo>
                  <a:pt x="0" y="48196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75858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424" name="Shape 2"/>
          <p:cNvSpPr/>
          <p:nvPr/>
        </p:nvSpPr>
        <p:spPr>
          <a:xfrm>
            <a:off x="923760" y="866880"/>
            <a:ext cx="856080" cy="856080"/>
          </a:xfrm>
          <a:custGeom>
            <a:avLst/>
            <a:gdLst/>
            <a:ahLst/>
            <a:rect l="l" t="t" r="r" b="b"/>
            <a:pathLst>
              <a:path w="857250" h="857250">
                <a:moveTo>
                  <a:pt x="0" y="0"/>
                </a:moveTo>
                <a:lnTo>
                  <a:pt x="857250" y="0"/>
                </a:lnTo>
                <a:lnTo>
                  <a:pt x="857250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25" name="Text 3"/>
          <p:cNvSpPr/>
          <p:nvPr/>
        </p:nvSpPr>
        <p:spPr>
          <a:xfrm>
            <a:off x="781200" y="838080"/>
            <a:ext cx="1027800" cy="79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80000"/>
              </a:lnSpc>
              <a:buNone/>
            </a:pPr>
            <a:r>
              <a:rPr b="1" lang="en-US" sz="3600" spc="-1" strike="noStrike">
                <a:solidFill>
                  <a:srgbClr val="ffffff"/>
                </a:solidFill>
                <a:latin typeface="Noto Sans SC"/>
                <a:ea typeface="Noto Sans SC"/>
              </a:rPr>
              <a:t>05</a:t>
            </a:r>
            <a:endParaRPr b="0" lang="en-HK" sz="3600" spc="-1" strike="noStrike">
              <a:latin typeface="Arial"/>
            </a:endParaRPr>
          </a:p>
        </p:txBody>
      </p:sp>
      <p:sp>
        <p:nvSpPr>
          <p:cNvPr id="426" name="Shape 4"/>
          <p:cNvSpPr/>
          <p:nvPr/>
        </p:nvSpPr>
        <p:spPr>
          <a:xfrm>
            <a:off x="2038320" y="838080"/>
            <a:ext cx="75240" cy="913320"/>
          </a:xfrm>
          <a:custGeom>
            <a:avLst/>
            <a:gdLst/>
            <a:ahLst/>
            <a:rect l="l" t="t" r="r" b="b"/>
            <a:pathLst>
              <a:path w="76200" h="914400">
                <a:moveTo>
                  <a:pt x="0" y="0"/>
                </a:moveTo>
                <a:lnTo>
                  <a:pt x="76200" y="0"/>
                </a:lnTo>
                <a:lnTo>
                  <a:pt x="76200" y="914400"/>
                </a:lnTo>
                <a:lnTo>
                  <a:pt x="0" y="9144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27" name="Text 5"/>
          <p:cNvSpPr/>
          <p:nvPr/>
        </p:nvSpPr>
        <p:spPr>
          <a:xfrm>
            <a:off x="895320" y="2057400"/>
            <a:ext cx="7847640" cy="171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5400" spc="-1" strike="noStrike">
                <a:solidFill>
                  <a:srgbClr val="000000"/>
                </a:solidFill>
                <a:latin typeface="Noto Sans SC"/>
                <a:ea typeface="Noto Sans SC"/>
              </a:rPr>
              <a:t>CURRENT LANDSCAPE</a:t>
            </a:r>
            <a:endParaRPr b="0" lang="en-HK" sz="5400" spc="-1" strike="noStrike">
              <a:latin typeface="Arial"/>
            </a:endParaRPr>
          </a:p>
        </p:txBody>
      </p:sp>
      <p:sp>
        <p:nvSpPr>
          <p:cNvPr id="428" name="Shape 6"/>
          <p:cNvSpPr/>
          <p:nvPr/>
        </p:nvSpPr>
        <p:spPr>
          <a:xfrm>
            <a:off x="895320" y="4000680"/>
            <a:ext cx="1827720" cy="75240"/>
          </a:xfrm>
          <a:custGeom>
            <a:avLst/>
            <a:gdLst/>
            <a:ahLst/>
            <a:rect l="l" t="t" r="r" b="b"/>
            <a:pathLst>
              <a:path w="1828800" h="76200">
                <a:moveTo>
                  <a:pt x="0" y="0"/>
                </a:moveTo>
                <a:lnTo>
                  <a:pt x="1828800" y="0"/>
                </a:lnTo>
                <a:lnTo>
                  <a:pt x="18288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29" name="Text 7"/>
          <p:cNvSpPr/>
          <p:nvPr/>
        </p:nvSpPr>
        <p:spPr>
          <a:xfrm>
            <a:off x="895320" y="4305240"/>
            <a:ext cx="7675920" cy="3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700" spc="-1" strike="noStrike">
                <a:solidFill>
                  <a:srgbClr val="000000"/>
                </a:solidFill>
                <a:latin typeface="Noto Sans SC"/>
                <a:ea typeface="Noto Sans SC"/>
              </a:rPr>
              <a:t>2024-2025 Market Status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430" name="Shape 8"/>
          <p:cNvSpPr/>
          <p:nvPr/>
        </p:nvSpPr>
        <p:spPr>
          <a:xfrm>
            <a:off x="409680" y="5686560"/>
            <a:ext cx="11371680" cy="817920"/>
          </a:xfrm>
          <a:custGeom>
            <a:avLst/>
            <a:gdLst/>
            <a:ahLst/>
            <a:rect l="l" t="t" r="r" b="b"/>
            <a:pathLst>
              <a:path w="11372850" h="819150">
                <a:moveTo>
                  <a:pt x="0" y="0"/>
                </a:moveTo>
                <a:lnTo>
                  <a:pt x="11372850" y="0"/>
                </a:lnTo>
                <a:lnTo>
                  <a:pt x="11372850" y="819150"/>
                </a:lnTo>
                <a:lnTo>
                  <a:pt x="0" y="8191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31" name="Text 9"/>
          <p:cNvSpPr/>
          <p:nvPr/>
        </p:nvSpPr>
        <p:spPr>
          <a:xfrm>
            <a:off x="666720" y="5943600"/>
            <a:ext cx="10971720" cy="30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8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▶ </a:t>
            </a:r>
            <a:r>
              <a:rPr b="1" lang="en-US" sz="1800" spc="-1" strike="noStrike">
                <a:solidFill>
                  <a:srgbClr val="000000"/>
                </a:solidFill>
                <a:latin typeface="Noto Sans SC"/>
                <a:ea typeface="Noto Sans SC"/>
              </a:rPr>
              <a:t>Institutional Adoption, ETF Success &amp; Price Discovery</a:t>
            </a:r>
            <a:endParaRPr b="0" lang="en-HK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Shape 0"/>
          <p:cNvSpPr/>
          <p:nvPr/>
        </p:nvSpPr>
        <p:spPr>
          <a:xfrm>
            <a:off x="341280" y="341280"/>
            <a:ext cx="11508120" cy="840240"/>
          </a:xfrm>
          <a:custGeom>
            <a:avLst/>
            <a:gdLst/>
            <a:ahLst/>
            <a:rect l="l" t="t" r="r" b="b"/>
            <a:pathLst>
              <a:path w="11509375" h="841375">
                <a:moveTo>
                  <a:pt x="0" y="0"/>
                </a:moveTo>
                <a:lnTo>
                  <a:pt x="11509375" y="0"/>
                </a:lnTo>
                <a:lnTo>
                  <a:pt x="11509375" y="841375"/>
                </a:lnTo>
                <a:lnTo>
                  <a:pt x="0" y="8413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33" name="Text 1"/>
          <p:cNvSpPr/>
          <p:nvPr/>
        </p:nvSpPr>
        <p:spPr>
          <a:xfrm>
            <a:off x="523800" y="523800"/>
            <a:ext cx="1128600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250" spc="-1" strike="noStrike">
                <a:solidFill>
                  <a:srgbClr val="000000"/>
                </a:solidFill>
                <a:latin typeface="Noto Sans SC"/>
                <a:ea typeface="Noto Sans SC"/>
              </a:rPr>
              <a:t>BITCOIN TODAY: MARKET METRICS &amp; ADOPTION DATA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434" name="Shape 2"/>
          <p:cNvSpPr/>
          <p:nvPr/>
        </p:nvSpPr>
        <p:spPr>
          <a:xfrm>
            <a:off x="523800" y="936720"/>
            <a:ext cx="761040" cy="62280"/>
          </a:xfrm>
          <a:custGeom>
            <a:avLst/>
            <a:gdLst/>
            <a:ahLst/>
            <a:rect l="l" t="t" r="r" b="b"/>
            <a:pathLst>
              <a:path w="762000" h="63500">
                <a:moveTo>
                  <a:pt x="0" y="0"/>
                </a:moveTo>
                <a:lnTo>
                  <a:pt x="762000" y="0"/>
                </a:lnTo>
                <a:lnTo>
                  <a:pt x="7620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35" name="Shape 3"/>
          <p:cNvSpPr/>
          <p:nvPr/>
        </p:nvSpPr>
        <p:spPr>
          <a:xfrm>
            <a:off x="341280" y="1357200"/>
            <a:ext cx="5650560" cy="2808720"/>
          </a:xfrm>
          <a:custGeom>
            <a:avLst/>
            <a:gdLst/>
            <a:ahLst/>
            <a:rect l="l" t="t" r="r" b="b"/>
            <a:pathLst>
              <a:path w="5651500" h="2809875">
                <a:moveTo>
                  <a:pt x="0" y="0"/>
                </a:moveTo>
                <a:lnTo>
                  <a:pt x="5651500" y="0"/>
                </a:lnTo>
                <a:lnTo>
                  <a:pt x="5651500" y="2809875"/>
                </a:lnTo>
                <a:lnTo>
                  <a:pt x="0" y="28098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436" name="Text 4"/>
          <p:cNvSpPr/>
          <p:nvPr/>
        </p:nvSpPr>
        <p:spPr>
          <a:xfrm>
            <a:off x="523800" y="1539720"/>
            <a:ext cx="5380560" cy="25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■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PRICE PERFORMANCE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437" name="Shape 5"/>
          <p:cNvSpPr/>
          <p:nvPr/>
        </p:nvSpPr>
        <p:spPr>
          <a:xfrm>
            <a:off x="539640" y="1936800"/>
            <a:ext cx="2547000" cy="1014840"/>
          </a:xfrm>
          <a:custGeom>
            <a:avLst/>
            <a:gdLst/>
            <a:ahLst/>
            <a:rect l="l" t="t" r="r" b="b"/>
            <a:pathLst>
              <a:path w="2547938" h="1016000">
                <a:moveTo>
                  <a:pt x="0" y="0"/>
                </a:moveTo>
                <a:lnTo>
                  <a:pt x="2547938" y="0"/>
                </a:lnTo>
                <a:lnTo>
                  <a:pt x="2547938" y="1016000"/>
                </a:lnTo>
                <a:lnTo>
                  <a:pt x="0" y="1016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38" name="Text 6"/>
          <p:cNvSpPr/>
          <p:nvPr/>
        </p:nvSpPr>
        <p:spPr>
          <a:xfrm>
            <a:off x="682560" y="2079720"/>
            <a:ext cx="232452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Current Price (Mar 2026)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439" name="Text 7"/>
          <p:cNvSpPr/>
          <p:nvPr/>
        </p:nvSpPr>
        <p:spPr>
          <a:xfrm>
            <a:off x="682560" y="2333520"/>
            <a:ext cx="240408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250" spc="-1" strike="noStrike">
                <a:solidFill>
                  <a:srgbClr val="000000"/>
                </a:solidFill>
                <a:latin typeface="Noto Sans SC"/>
                <a:ea typeface="Noto Sans SC"/>
              </a:rPr>
              <a:t>$74,532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440" name="Shape 8"/>
          <p:cNvSpPr/>
          <p:nvPr/>
        </p:nvSpPr>
        <p:spPr>
          <a:xfrm>
            <a:off x="3246480" y="1936800"/>
            <a:ext cx="2547000" cy="1014840"/>
          </a:xfrm>
          <a:custGeom>
            <a:avLst/>
            <a:gdLst/>
            <a:ahLst/>
            <a:rect l="l" t="t" r="r" b="b"/>
            <a:pathLst>
              <a:path w="2547938" h="1016000">
                <a:moveTo>
                  <a:pt x="0" y="0"/>
                </a:moveTo>
                <a:lnTo>
                  <a:pt x="2547938" y="0"/>
                </a:lnTo>
                <a:lnTo>
                  <a:pt x="2547938" y="1016000"/>
                </a:lnTo>
                <a:lnTo>
                  <a:pt x="0" y="1016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41" name="Text 9"/>
          <p:cNvSpPr/>
          <p:nvPr/>
        </p:nvSpPr>
        <p:spPr>
          <a:xfrm>
            <a:off x="3389400" y="2079720"/>
            <a:ext cx="232452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All-Time High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442" name="Text 10"/>
          <p:cNvSpPr/>
          <p:nvPr/>
        </p:nvSpPr>
        <p:spPr>
          <a:xfrm>
            <a:off x="3389400" y="2333520"/>
            <a:ext cx="240408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250" spc="-1" strike="noStrike">
                <a:solidFill>
                  <a:srgbClr val="000000"/>
                </a:solidFill>
                <a:latin typeface="Noto Sans SC"/>
                <a:ea typeface="Noto Sans SC"/>
              </a:rPr>
              <a:t>$126,173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443" name="Text 11"/>
          <p:cNvSpPr/>
          <p:nvPr/>
        </p:nvSpPr>
        <p:spPr>
          <a:xfrm>
            <a:off x="3389400" y="2651040"/>
            <a:ext cx="2316600" cy="15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October 6, 2025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444" name="Shape 12"/>
          <p:cNvSpPr/>
          <p:nvPr/>
        </p:nvSpPr>
        <p:spPr>
          <a:xfrm>
            <a:off x="539640" y="3111480"/>
            <a:ext cx="2547000" cy="856080"/>
          </a:xfrm>
          <a:custGeom>
            <a:avLst/>
            <a:gdLst/>
            <a:ahLst/>
            <a:rect l="l" t="t" r="r" b="b"/>
            <a:pathLst>
              <a:path w="2547938" h="857250">
                <a:moveTo>
                  <a:pt x="0" y="0"/>
                </a:moveTo>
                <a:lnTo>
                  <a:pt x="2547938" y="0"/>
                </a:lnTo>
                <a:lnTo>
                  <a:pt x="2547938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45" name="Text 13"/>
          <p:cNvSpPr/>
          <p:nvPr/>
        </p:nvSpPr>
        <p:spPr>
          <a:xfrm>
            <a:off x="682560" y="3254400"/>
            <a:ext cx="232452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Market Cap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446" name="Text 14"/>
          <p:cNvSpPr/>
          <p:nvPr/>
        </p:nvSpPr>
        <p:spPr>
          <a:xfrm>
            <a:off x="682560" y="3508200"/>
            <a:ext cx="240408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250" spc="-1" strike="noStrike">
                <a:solidFill>
                  <a:srgbClr val="000000"/>
                </a:solidFill>
                <a:latin typeface="Noto Sans SC"/>
                <a:ea typeface="Noto Sans SC"/>
              </a:rPr>
              <a:t>$1.47T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447" name="Shape 15"/>
          <p:cNvSpPr/>
          <p:nvPr/>
        </p:nvSpPr>
        <p:spPr>
          <a:xfrm>
            <a:off x="3246480" y="3111480"/>
            <a:ext cx="2547000" cy="856080"/>
          </a:xfrm>
          <a:custGeom>
            <a:avLst/>
            <a:gdLst/>
            <a:ahLst/>
            <a:rect l="l" t="t" r="r" b="b"/>
            <a:pathLst>
              <a:path w="2547938" h="857250">
                <a:moveTo>
                  <a:pt x="0" y="0"/>
                </a:moveTo>
                <a:lnTo>
                  <a:pt x="2547938" y="0"/>
                </a:lnTo>
                <a:lnTo>
                  <a:pt x="2547938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48" name="Text 16"/>
          <p:cNvSpPr/>
          <p:nvPr/>
        </p:nvSpPr>
        <p:spPr>
          <a:xfrm>
            <a:off x="3389400" y="3254400"/>
            <a:ext cx="232452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24h Volume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449" name="Text 17"/>
          <p:cNvSpPr/>
          <p:nvPr/>
        </p:nvSpPr>
        <p:spPr>
          <a:xfrm>
            <a:off x="3389400" y="3508200"/>
            <a:ext cx="240408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250" spc="-1" strike="noStrike">
                <a:solidFill>
                  <a:srgbClr val="000000"/>
                </a:solidFill>
                <a:latin typeface="Noto Sans SC"/>
                <a:ea typeface="Noto Sans SC"/>
              </a:rPr>
              <a:t>$28.5B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450" name="Shape 18"/>
          <p:cNvSpPr/>
          <p:nvPr/>
        </p:nvSpPr>
        <p:spPr>
          <a:xfrm>
            <a:off x="341280" y="4341960"/>
            <a:ext cx="5650560" cy="2999160"/>
          </a:xfrm>
          <a:custGeom>
            <a:avLst/>
            <a:gdLst/>
            <a:ahLst/>
            <a:rect l="l" t="t" r="r" b="b"/>
            <a:pathLst>
              <a:path w="5651500" h="3000375">
                <a:moveTo>
                  <a:pt x="0" y="0"/>
                </a:moveTo>
                <a:lnTo>
                  <a:pt x="5651500" y="0"/>
                </a:lnTo>
                <a:lnTo>
                  <a:pt x="5651500" y="3000375"/>
                </a:lnTo>
                <a:lnTo>
                  <a:pt x="0" y="30003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451" name="Text 19"/>
          <p:cNvSpPr/>
          <p:nvPr/>
        </p:nvSpPr>
        <p:spPr>
          <a:xfrm>
            <a:off x="523800" y="4524480"/>
            <a:ext cx="5380560" cy="25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▶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INSTITUTIONAL HOLDINGS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452" name="Shape 20"/>
          <p:cNvSpPr/>
          <p:nvPr/>
        </p:nvSpPr>
        <p:spPr>
          <a:xfrm>
            <a:off x="539640" y="4921200"/>
            <a:ext cx="5253480" cy="633960"/>
          </a:xfrm>
          <a:custGeom>
            <a:avLst/>
            <a:gdLst/>
            <a:ahLst/>
            <a:rect l="l" t="t" r="r" b="b"/>
            <a:pathLst>
              <a:path w="5254625" h="635000">
                <a:moveTo>
                  <a:pt x="0" y="0"/>
                </a:moveTo>
                <a:lnTo>
                  <a:pt x="5254625" y="0"/>
                </a:lnTo>
                <a:lnTo>
                  <a:pt x="5254625" y="635000"/>
                </a:lnTo>
                <a:lnTo>
                  <a:pt x="0" y="635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53" name="Text 21"/>
          <p:cNvSpPr/>
          <p:nvPr/>
        </p:nvSpPr>
        <p:spPr>
          <a:xfrm>
            <a:off x="650880" y="5064120"/>
            <a:ext cx="141984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Total Institutional BTC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454" name="Text 22"/>
          <p:cNvSpPr/>
          <p:nvPr/>
        </p:nvSpPr>
        <p:spPr>
          <a:xfrm>
            <a:off x="4704120" y="5032440"/>
            <a:ext cx="1070640" cy="25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1.4M+ BTC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455" name="Text 23"/>
          <p:cNvSpPr/>
          <p:nvPr/>
        </p:nvSpPr>
        <p:spPr>
          <a:xfrm>
            <a:off x="650880" y="5286240"/>
            <a:ext cx="5086800" cy="15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~7% of circulating supply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456" name="Shape 24"/>
          <p:cNvSpPr/>
          <p:nvPr/>
        </p:nvSpPr>
        <p:spPr>
          <a:xfrm>
            <a:off x="539640" y="5683320"/>
            <a:ext cx="5253480" cy="633960"/>
          </a:xfrm>
          <a:custGeom>
            <a:avLst/>
            <a:gdLst/>
            <a:ahLst/>
            <a:rect l="l" t="t" r="r" b="b"/>
            <a:pathLst>
              <a:path w="5254625" h="635000">
                <a:moveTo>
                  <a:pt x="0" y="0"/>
                </a:moveTo>
                <a:lnTo>
                  <a:pt x="5254625" y="0"/>
                </a:lnTo>
                <a:lnTo>
                  <a:pt x="5254625" y="635000"/>
                </a:lnTo>
                <a:lnTo>
                  <a:pt x="0" y="635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57" name="Text 25"/>
          <p:cNvSpPr/>
          <p:nvPr/>
        </p:nvSpPr>
        <p:spPr>
          <a:xfrm>
            <a:off x="650880" y="5826240"/>
            <a:ext cx="196740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ETF Assets Under Management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458" name="Text 26"/>
          <p:cNvSpPr/>
          <p:nvPr/>
        </p:nvSpPr>
        <p:spPr>
          <a:xfrm>
            <a:off x="5116680" y="5794200"/>
            <a:ext cx="657720" cy="25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$85B+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459" name="Text 27"/>
          <p:cNvSpPr/>
          <p:nvPr/>
        </p:nvSpPr>
        <p:spPr>
          <a:xfrm>
            <a:off x="650880" y="6048360"/>
            <a:ext cx="5086800" cy="15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BlackRock IBIT leads with $52B+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460" name="Shape 28"/>
          <p:cNvSpPr/>
          <p:nvPr/>
        </p:nvSpPr>
        <p:spPr>
          <a:xfrm>
            <a:off x="539640" y="6445080"/>
            <a:ext cx="5253480" cy="633960"/>
          </a:xfrm>
          <a:custGeom>
            <a:avLst/>
            <a:gdLst/>
            <a:ahLst/>
            <a:rect l="l" t="t" r="r" b="b"/>
            <a:pathLst>
              <a:path w="5254625" h="635000">
                <a:moveTo>
                  <a:pt x="0" y="0"/>
                </a:moveTo>
                <a:lnTo>
                  <a:pt x="5254625" y="0"/>
                </a:lnTo>
                <a:lnTo>
                  <a:pt x="5254625" y="635000"/>
                </a:lnTo>
                <a:lnTo>
                  <a:pt x="0" y="635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61" name="Text 29"/>
          <p:cNvSpPr/>
          <p:nvPr/>
        </p:nvSpPr>
        <p:spPr>
          <a:xfrm>
            <a:off x="650880" y="6588000"/>
            <a:ext cx="149112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MicroStrategy Holdings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462" name="Text 30"/>
          <p:cNvSpPr/>
          <p:nvPr/>
        </p:nvSpPr>
        <p:spPr>
          <a:xfrm>
            <a:off x="4550040" y="6556320"/>
            <a:ext cx="1229400" cy="25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714,644 BTC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463" name="Text 31"/>
          <p:cNvSpPr/>
          <p:nvPr/>
        </p:nvSpPr>
        <p:spPr>
          <a:xfrm>
            <a:off x="650880" y="6810480"/>
            <a:ext cx="5086800" cy="15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Cost basis: $54.4B ($76,056/BTC)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464" name="Shape 32"/>
          <p:cNvSpPr/>
          <p:nvPr/>
        </p:nvSpPr>
        <p:spPr>
          <a:xfrm>
            <a:off x="6199200" y="1357200"/>
            <a:ext cx="5650560" cy="3824640"/>
          </a:xfrm>
          <a:custGeom>
            <a:avLst/>
            <a:gdLst/>
            <a:ahLst/>
            <a:rect l="l" t="t" r="r" b="b"/>
            <a:pathLst>
              <a:path w="5651500" h="3825875">
                <a:moveTo>
                  <a:pt x="0" y="0"/>
                </a:moveTo>
                <a:lnTo>
                  <a:pt x="5651500" y="0"/>
                </a:lnTo>
                <a:lnTo>
                  <a:pt x="5651500" y="3825875"/>
                </a:lnTo>
                <a:lnTo>
                  <a:pt x="0" y="38258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465" name="Text 33"/>
          <p:cNvSpPr/>
          <p:nvPr/>
        </p:nvSpPr>
        <p:spPr>
          <a:xfrm>
            <a:off x="6381720" y="1539720"/>
            <a:ext cx="5380560" cy="25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★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ON-CHAIN METRICS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466" name="Shape 34"/>
          <p:cNvSpPr/>
          <p:nvPr/>
        </p:nvSpPr>
        <p:spPr>
          <a:xfrm>
            <a:off x="6397560" y="1936800"/>
            <a:ext cx="5253480" cy="951480"/>
          </a:xfrm>
          <a:custGeom>
            <a:avLst/>
            <a:gdLst/>
            <a:ahLst/>
            <a:rect l="l" t="t" r="r" b="b"/>
            <a:pathLst>
              <a:path w="5254625" h="952500">
                <a:moveTo>
                  <a:pt x="0" y="0"/>
                </a:moveTo>
                <a:lnTo>
                  <a:pt x="5254625" y="0"/>
                </a:lnTo>
                <a:lnTo>
                  <a:pt x="5254625" y="952500"/>
                </a:lnTo>
                <a:lnTo>
                  <a:pt x="0" y="9525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67" name="Text 35"/>
          <p:cNvSpPr/>
          <p:nvPr/>
        </p:nvSpPr>
        <p:spPr>
          <a:xfrm>
            <a:off x="6508800" y="2048040"/>
            <a:ext cx="509472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Long-Term Holder Supply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468" name="Text 36"/>
          <p:cNvSpPr/>
          <p:nvPr/>
        </p:nvSpPr>
        <p:spPr>
          <a:xfrm>
            <a:off x="6508800" y="2301840"/>
            <a:ext cx="594360" cy="28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62%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469" name="Text 37"/>
          <p:cNvSpPr/>
          <p:nvPr/>
        </p:nvSpPr>
        <p:spPr>
          <a:xfrm>
            <a:off x="7080480" y="2365200"/>
            <a:ext cx="1451520" cy="15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of BTC unmoved for 1+ year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470" name="Shape 38"/>
          <p:cNvSpPr/>
          <p:nvPr/>
        </p:nvSpPr>
        <p:spPr>
          <a:xfrm>
            <a:off x="6524640" y="2666880"/>
            <a:ext cx="4999680" cy="94320"/>
          </a:xfrm>
          <a:custGeom>
            <a:avLst/>
            <a:gdLst/>
            <a:ahLst/>
            <a:rect l="l" t="t" r="r" b="b"/>
            <a:pathLst>
              <a:path w="5000625" h="95250">
                <a:moveTo>
                  <a:pt x="0" y="0"/>
                </a:moveTo>
                <a:lnTo>
                  <a:pt x="5000625" y="0"/>
                </a:lnTo>
                <a:lnTo>
                  <a:pt x="5000625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71" name="Shape 39"/>
          <p:cNvSpPr/>
          <p:nvPr/>
        </p:nvSpPr>
        <p:spPr>
          <a:xfrm>
            <a:off x="6540480" y="2682720"/>
            <a:ext cx="3078720" cy="62280"/>
          </a:xfrm>
          <a:custGeom>
            <a:avLst/>
            <a:gdLst/>
            <a:ahLst/>
            <a:rect l="l" t="t" r="r" b="b"/>
            <a:pathLst>
              <a:path w="3079750" h="63500">
                <a:moveTo>
                  <a:pt x="0" y="0"/>
                </a:moveTo>
                <a:lnTo>
                  <a:pt x="3079750" y="0"/>
                </a:lnTo>
                <a:lnTo>
                  <a:pt x="307975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72" name="Shape 40"/>
          <p:cNvSpPr/>
          <p:nvPr/>
        </p:nvSpPr>
        <p:spPr>
          <a:xfrm>
            <a:off x="6397560" y="3016080"/>
            <a:ext cx="5253480" cy="919800"/>
          </a:xfrm>
          <a:custGeom>
            <a:avLst/>
            <a:gdLst/>
            <a:ahLst/>
            <a:rect l="l" t="t" r="r" b="b"/>
            <a:pathLst>
              <a:path w="5254625" h="920750">
                <a:moveTo>
                  <a:pt x="0" y="0"/>
                </a:moveTo>
                <a:lnTo>
                  <a:pt x="5254625" y="0"/>
                </a:lnTo>
                <a:lnTo>
                  <a:pt x="5254625" y="920750"/>
                </a:lnTo>
                <a:lnTo>
                  <a:pt x="0" y="920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73" name="Text 41"/>
          <p:cNvSpPr/>
          <p:nvPr/>
        </p:nvSpPr>
        <p:spPr>
          <a:xfrm>
            <a:off x="6508800" y="3127320"/>
            <a:ext cx="509472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Lightning Network Volume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474" name="Text 42"/>
          <p:cNvSpPr/>
          <p:nvPr/>
        </p:nvSpPr>
        <p:spPr>
          <a:xfrm>
            <a:off x="6508800" y="3381480"/>
            <a:ext cx="5150520" cy="28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$1.17B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475" name="Text 43"/>
          <p:cNvSpPr/>
          <p:nvPr/>
        </p:nvSpPr>
        <p:spPr>
          <a:xfrm>
            <a:off x="6508800" y="3666960"/>
            <a:ext cx="5086800" cy="15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Monthly transaction volume (Nov 2025)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476" name="Shape 44"/>
          <p:cNvSpPr/>
          <p:nvPr/>
        </p:nvSpPr>
        <p:spPr>
          <a:xfrm>
            <a:off x="6397560" y="4064040"/>
            <a:ext cx="5253480" cy="919800"/>
          </a:xfrm>
          <a:custGeom>
            <a:avLst/>
            <a:gdLst/>
            <a:ahLst/>
            <a:rect l="l" t="t" r="r" b="b"/>
            <a:pathLst>
              <a:path w="5254625" h="920750">
                <a:moveTo>
                  <a:pt x="0" y="0"/>
                </a:moveTo>
                <a:lnTo>
                  <a:pt x="5254625" y="0"/>
                </a:lnTo>
                <a:lnTo>
                  <a:pt x="5254625" y="920750"/>
                </a:lnTo>
                <a:lnTo>
                  <a:pt x="0" y="920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77" name="Text 45"/>
          <p:cNvSpPr/>
          <p:nvPr/>
        </p:nvSpPr>
        <p:spPr>
          <a:xfrm>
            <a:off x="6508800" y="4175280"/>
            <a:ext cx="509472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Network Hash Rate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478" name="Text 46"/>
          <p:cNvSpPr/>
          <p:nvPr/>
        </p:nvSpPr>
        <p:spPr>
          <a:xfrm>
            <a:off x="6508800" y="4429080"/>
            <a:ext cx="5150520" cy="28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880 EH/s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479" name="Text 47"/>
          <p:cNvSpPr/>
          <p:nvPr/>
        </p:nvSpPr>
        <p:spPr>
          <a:xfrm>
            <a:off x="6508800" y="4714920"/>
            <a:ext cx="5086800" cy="15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All-time high network security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480" name="Shape 48"/>
          <p:cNvSpPr/>
          <p:nvPr/>
        </p:nvSpPr>
        <p:spPr>
          <a:xfrm>
            <a:off x="6199200" y="5357880"/>
            <a:ext cx="5650560" cy="1983240"/>
          </a:xfrm>
          <a:custGeom>
            <a:avLst/>
            <a:gdLst/>
            <a:ahLst/>
            <a:rect l="l" t="t" r="r" b="b"/>
            <a:pathLst>
              <a:path w="5651500" h="1984375">
                <a:moveTo>
                  <a:pt x="0" y="0"/>
                </a:moveTo>
                <a:lnTo>
                  <a:pt x="5651500" y="0"/>
                </a:lnTo>
                <a:lnTo>
                  <a:pt x="5651500" y="1984375"/>
                </a:lnTo>
                <a:lnTo>
                  <a:pt x="0" y="19843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481" name="Text 49"/>
          <p:cNvSpPr/>
          <p:nvPr/>
        </p:nvSpPr>
        <p:spPr>
          <a:xfrm>
            <a:off x="6381720" y="5540400"/>
            <a:ext cx="5380560" cy="25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●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PERFORMANCE VS TRADITIONAL ASSETS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482" name="Text 50"/>
          <p:cNvSpPr/>
          <p:nvPr/>
        </p:nvSpPr>
        <p:spPr>
          <a:xfrm>
            <a:off x="6381720" y="5921280"/>
            <a:ext cx="534888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5-Year Returns (2020-2025):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483" name="Text 51"/>
          <p:cNvSpPr/>
          <p:nvPr/>
        </p:nvSpPr>
        <p:spPr>
          <a:xfrm>
            <a:off x="6381720" y="6207120"/>
            <a:ext cx="82440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Bitcoin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484" name="Shape 52"/>
          <p:cNvSpPr/>
          <p:nvPr/>
        </p:nvSpPr>
        <p:spPr>
          <a:xfrm>
            <a:off x="7254720" y="6222960"/>
            <a:ext cx="4396320" cy="157680"/>
          </a:xfrm>
          <a:custGeom>
            <a:avLst/>
            <a:gdLst/>
            <a:ahLst/>
            <a:rect l="l" t="t" r="r" b="b"/>
            <a:pathLst>
              <a:path w="4397375" h="158750">
                <a:moveTo>
                  <a:pt x="0" y="0"/>
                </a:moveTo>
                <a:lnTo>
                  <a:pt x="4397375" y="0"/>
                </a:lnTo>
                <a:lnTo>
                  <a:pt x="4397375" y="158750"/>
                </a:lnTo>
                <a:lnTo>
                  <a:pt x="0" y="1587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85" name="Shape 53"/>
          <p:cNvSpPr/>
          <p:nvPr/>
        </p:nvSpPr>
        <p:spPr>
          <a:xfrm>
            <a:off x="7270920" y="6238800"/>
            <a:ext cx="4364640" cy="126000"/>
          </a:xfrm>
          <a:custGeom>
            <a:avLst/>
            <a:gdLst/>
            <a:ahLst/>
            <a:rect l="l" t="t" r="r" b="b"/>
            <a:pathLst>
              <a:path w="4365625" h="127000">
                <a:moveTo>
                  <a:pt x="0" y="0"/>
                </a:moveTo>
                <a:lnTo>
                  <a:pt x="4365625" y="0"/>
                </a:lnTo>
                <a:lnTo>
                  <a:pt x="4365625" y="127000"/>
                </a:lnTo>
                <a:lnTo>
                  <a:pt x="0" y="1270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86" name="Text 54"/>
          <p:cNvSpPr/>
          <p:nvPr/>
        </p:nvSpPr>
        <p:spPr>
          <a:xfrm>
            <a:off x="11223720" y="6222960"/>
            <a:ext cx="403560" cy="15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880" spc="-1" strike="noStrike">
                <a:solidFill>
                  <a:srgbClr val="ffffff"/>
                </a:solidFill>
                <a:latin typeface="MiSans"/>
                <a:ea typeface="MiSans"/>
              </a:rPr>
              <a:t>+940%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487" name="Text 55"/>
          <p:cNvSpPr/>
          <p:nvPr/>
        </p:nvSpPr>
        <p:spPr>
          <a:xfrm>
            <a:off x="6381720" y="6461280"/>
            <a:ext cx="82440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Nasdaq 100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488" name="Shape 56"/>
          <p:cNvSpPr/>
          <p:nvPr/>
        </p:nvSpPr>
        <p:spPr>
          <a:xfrm>
            <a:off x="7254720" y="6477120"/>
            <a:ext cx="4396320" cy="157680"/>
          </a:xfrm>
          <a:custGeom>
            <a:avLst/>
            <a:gdLst/>
            <a:ahLst/>
            <a:rect l="l" t="t" r="r" b="b"/>
            <a:pathLst>
              <a:path w="4397375" h="158750">
                <a:moveTo>
                  <a:pt x="0" y="0"/>
                </a:moveTo>
                <a:lnTo>
                  <a:pt x="4397375" y="0"/>
                </a:lnTo>
                <a:lnTo>
                  <a:pt x="4397375" y="158750"/>
                </a:lnTo>
                <a:lnTo>
                  <a:pt x="0" y="1587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89" name="Shape 57"/>
          <p:cNvSpPr/>
          <p:nvPr/>
        </p:nvSpPr>
        <p:spPr>
          <a:xfrm>
            <a:off x="7270920" y="6492960"/>
            <a:ext cx="522720" cy="126000"/>
          </a:xfrm>
          <a:custGeom>
            <a:avLst/>
            <a:gdLst/>
            <a:ahLst/>
            <a:rect l="l" t="t" r="r" b="b"/>
            <a:pathLst>
              <a:path w="523875" h="127000">
                <a:moveTo>
                  <a:pt x="0" y="0"/>
                </a:moveTo>
                <a:lnTo>
                  <a:pt x="523875" y="0"/>
                </a:lnTo>
                <a:lnTo>
                  <a:pt x="523875" y="127000"/>
                </a:lnTo>
                <a:lnTo>
                  <a:pt x="0" y="127000"/>
                </a:lnTo>
                <a:lnTo>
                  <a:pt x="0" y="0"/>
                </a:lnTo>
                <a:close/>
              </a:path>
            </a:pathLst>
          </a:custGeom>
          <a:solidFill>
            <a:srgbClr val="4a556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90" name="Text 58"/>
          <p:cNvSpPr/>
          <p:nvPr/>
        </p:nvSpPr>
        <p:spPr>
          <a:xfrm>
            <a:off x="7382160" y="6477120"/>
            <a:ext cx="403560" cy="15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880" spc="-1" strike="noStrike">
                <a:solidFill>
                  <a:srgbClr val="ffffff"/>
                </a:solidFill>
                <a:latin typeface="MiSans"/>
                <a:ea typeface="MiSans"/>
              </a:rPr>
              <a:t>+110%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491" name="Text 59"/>
          <p:cNvSpPr/>
          <p:nvPr/>
        </p:nvSpPr>
        <p:spPr>
          <a:xfrm>
            <a:off x="6381720" y="6715080"/>
            <a:ext cx="82440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S&amp;P 500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492" name="Shape 60"/>
          <p:cNvSpPr/>
          <p:nvPr/>
        </p:nvSpPr>
        <p:spPr>
          <a:xfrm>
            <a:off x="7254720" y="6730920"/>
            <a:ext cx="4396320" cy="157680"/>
          </a:xfrm>
          <a:custGeom>
            <a:avLst/>
            <a:gdLst/>
            <a:ahLst/>
            <a:rect l="l" t="t" r="r" b="b"/>
            <a:pathLst>
              <a:path w="4397375" h="158750">
                <a:moveTo>
                  <a:pt x="0" y="0"/>
                </a:moveTo>
                <a:lnTo>
                  <a:pt x="4397375" y="0"/>
                </a:lnTo>
                <a:lnTo>
                  <a:pt x="4397375" y="158750"/>
                </a:lnTo>
                <a:lnTo>
                  <a:pt x="0" y="1587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93" name="Shape 61"/>
          <p:cNvSpPr/>
          <p:nvPr/>
        </p:nvSpPr>
        <p:spPr>
          <a:xfrm>
            <a:off x="7270920" y="6746760"/>
            <a:ext cx="395640" cy="126000"/>
          </a:xfrm>
          <a:custGeom>
            <a:avLst/>
            <a:gdLst/>
            <a:ahLst/>
            <a:rect l="l" t="t" r="r" b="b"/>
            <a:pathLst>
              <a:path w="396875" h="127000">
                <a:moveTo>
                  <a:pt x="0" y="0"/>
                </a:moveTo>
                <a:lnTo>
                  <a:pt x="396875" y="0"/>
                </a:lnTo>
                <a:lnTo>
                  <a:pt x="396875" y="127000"/>
                </a:lnTo>
                <a:lnTo>
                  <a:pt x="0" y="127000"/>
                </a:lnTo>
                <a:lnTo>
                  <a:pt x="0" y="0"/>
                </a:lnTo>
                <a:close/>
              </a:path>
            </a:pathLst>
          </a:custGeom>
          <a:solidFill>
            <a:srgbClr val="6a728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94" name="Text 62"/>
          <p:cNvSpPr/>
          <p:nvPr/>
        </p:nvSpPr>
        <p:spPr>
          <a:xfrm>
            <a:off x="7312680" y="6730920"/>
            <a:ext cx="340200" cy="15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880" spc="-1" strike="noStrike">
                <a:solidFill>
                  <a:srgbClr val="ffffff"/>
                </a:solidFill>
                <a:latin typeface="MiSans"/>
                <a:ea typeface="MiSans"/>
              </a:rPr>
              <a:t>+80%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495" name="Text 63"/>
          <p:cNvSpPr/>
          <p:nvPr/>
        </p:nvSpPr>
        <p:spPr>
          <a:xfrm>
            <a:off x="6381720" y="6969240"/>
            <a:ext cx="82440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Gold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496" name="Shape 64"/>
          <p:cNvSpPr/>
          <p:nvPr/>
        </p:nvSpPr>
        <p:spPr>
          <a:xfrm>
            <a:off x="7254720" y="6985080"/>
            <a:ext cx="4396320" cy="157680"/>
          </a:xfrm>
          <a:custGeom>
            <a:avLst/>
            <a:gdLst/>
            <a:ahLst/>
            <a:rect l="l" t="t" r="r" b="b"/>
            <a:pathLst>
              <a:path w="4397375" h="158750">
                <a:moveTo>
                  <a:pt x="0" y="0"/>
                </a:moveTo>
                <a:lnTo>
                  <a:pt x="4397375" y="0"/>
                </a:lnTo>
                <a:lnTo>
                  <a:pt x="4397375" y="158750"/>
                </a:lnTo>
                <a:lnTo>
                  <a:pt x="0" y="1587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97" name="Shape 65"/>
          <p:cNvSpPr/>
          <p:nvPr/>
        </p:nvSpPr>
        <p:spPr>
          <a:xfrm>
            <a:off x="7270920" y="7000920"/>
            <a:ext cx="173520" cy="126000"/>
          </a:xfrm>
          <a:custGeom>
            <a:avLst/>
            <a:gdLst/>
            <a:ahLst/>
            <a:rect l="l" t="t" r="r" b="b"/>
            <a:pathLst>
              <a:path w="174625" h="127000">
                <a:moveTo>
                  <a:pt x="0" y="0"/>
                </a:moveTo>
                <a:lnTo>
                  <a:pt x="174625" y="0"/>
                </a:lnTo>
                <a:lnTo>
                  <a:pt x="174625" y="127000"/>
                </a:lnTo>
                <a:lnTo>
                  <a:pt x="0" y="127000"/>
                </a:lnTo>
                <a:lnTo>
                  <a:pt x="0" y="0"/>
                </a:lnTo>
                <a:close/>
              </a:path>
            </a:pathLst>
          </a:custGeom>
          <a:solidFill>
            <a:srgbClr val="d087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98" name="Text 66"/>
          <p:cNvSpPr/>
          <p:nvPr/>
        </p:nvSpPr>
        <p:spPr>
          <a:xfrm>
            <a:off x="7094520" y="6985080"/>
            <a:ext cx="340200" cy="15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880" spc="-1" strike="noStrike">
                <a:solidFill>
                  <a:srgbClr val="ffffff"/>
                </a:solidFill>
                <a:latin typeface="MiSans"/>
                <a:ea typeface="MiSans"/>
              </a:rPr>
              <a:t>+25%</a:t>
            </a:r>
            <a:endParaRPr b="0" lang="en-HK" sz="88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Image 0"/>
          <p:cNvSpPr/>
          <p:nvPr/>
        </p:nvSpPr>
        <p:spPr>
          <a:xfrm>
            <a:off x="0" y="0"/>
            <a:ext cx="12191040" cy="6856920"/>
          </a:xfrm>
          <a:prstGeom prst="roundRect">
            <a:avLst>
              <a:gd name="adj" fmla="val 0"/>
            </a:avLst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00" name="Shape 0"/>
          <p:cNvSpPr/>
          <p:nvPr/>
        </p:nvSpPr>
        <p:spPr>
          <a:xfrm>
            <a:off x="0" y="0"/>
            <a:ext cx="12191040" cy="6856920"/>
          </a:xfrm>
          <a:custGeom>
            <a:avLst/>
            <a:gdLst/>
            <a:ah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9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01" name="Shape 1"/>
          <p:cNvSpPr/>
          <p:nvPr/>
        </p:nvSpPr>
        <p:spPr>
          <a:xfrm>
            <a:off x="3305160" y="352440"/>
            <a:ext cx="8476200" cy="4818600"/>
          </a:xfrm>
          <a:custGeom>
            <a:avLst/>
            <a:gdLst/>
            <a:ahLst/>
            <a:rect l="l" t="t" r="r" b="b"/>
            <a:pathLst>
              <a:path w="8477250" h="4819650">
                <a:moveTo>
                  <a:pt x="0" y="0"/>
                </a:moveTo>
                <a:lnTo>
                  <a:pt x="8477250" y="0"/>
                </a:lnTo>
                <a:lnTo>
                  <a:pt x="8477250" y="4819650"/>
                </a:lnTo>
                <a:lnTo>
                  <a:pt x="0" y="48196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75858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502" name="Shape 2"/>
          <p:cNvSpPr/>
          <p:nvPr/>
        </p:nvSpPr>
        <p:spPr>
          <a:xfrm>
            <a:off x="10077480" y="838080"/>
            <a:ext cx="75240" cy="913320"/>
          </a:xfrm>
          <a:custGeom>
            <a:avLst/>
            <a:gdLst/>
            <a:ahLst/>
            <a:rect l="l" t="t" r="r" b="b"/>
            <a:pathLst>
              <a:path w="76200" h="914400">
                <a:moveTo>
                  <a:pt x="0" y="0"/>
                </a:moveTo>
                <a:lnTo>
                  <a:pt x="76200" y="0"/>
                </a:lnTo>
                <a:lnTo>
                  <a:pt x="76200" y="914400"/>
                </a:lnTo>
                <a:lnTo>
                  <a:pt x="0" y="9144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03" name="Shape 3"/>
          <p:cNvSpPr/>
          <p:nvPr/>
        </p:nvSpPr>
        <p:spPr>
          <a:xfrm>
            <a:off x="10410840" y="866880"/>
            <a:ext cx="856080" cy="856080"/>
          </a:xfrm>
          <a:custGeom>
            <a:avLst/>
            <a:gdLst/>
            <a:ahLst/>
            <a:rect l="l" t="t" r="r" b="b"/>
            <a:pathLst>
              <a:path w="857250" h="857250">
                <a:moveTo>
                  <a:pt x="0" y="0"/>
                </a:moveTo>
                <a:lnTo>
                  <a:pt x="857250" y="0"/>
                </a:lnTo>
                <a:lnTo>
                  <a:pt x="857250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04" name="Text 4"/>
          <p:cNvSpPr/>
          <p:nvPr/>
        </p:nvSpPr>
        <p:spPr>
          <a:xfrm>
            <a:off x="10267920" y="838080"/>
            <a:ext cx="1027800" cy="79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80000"/>
              </a:lnSpc>
              <a:buNone/>
            </a:pPr>
            <a:r>
              <a:rPr b="1" lang="en-US" sz="3600" spc="-1" strike="noStrike">
                <a:solidFill>
                  <a:srgbClr val="ffffff"/>
                </a:solidFill>
                <a:latin typeface="Noto Sans SC"/>
                <a:ea typeface="Noto Sans SC"/>
              </a:rPr>
              <a:t>06</a:t>
            </a:r>
            <a:endParaRPr b="0" lang="en-HK" sz="3600" spc="-1" strike="noStrike">
              <a:latin typeface="Arial"/>
            </a:endParaRPr>
          </a:p>
        </p:txBody>
      </p:sp>
      <p:sp>
        <p:nvSpPr>
          <p:cNvPr id="505" name="Text 5"/>
          <p:cNvSpPr/>
          <p:nvPr/>
        </p:nvSpPr>
        <p:spPr>
          <a:xfrm>
            <a:off x="3448080" y="2057400"/>
            <a:ext cx="7847640" cy="171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00000"/>
              </a:lnSpc>
              <a:buNone/>
            </a:pPr>
            <a:r>
              <a:rPr b="1" lang="en-US" sz="5400" spc="-1" strike="noStrike">
                <a:solidFill>
                  <a:srgbClr val="000000"/>
                </a:solidFill>
                <a:latin typeface="Noto Sans SC"/>
                <a:ea typeface="Noto Sans SC"/>
              </a:rPr>
              <a:t>INSTITUTIONAL ADOPTION</a:t>
            </a:r>
            <a:endParaRPr b="0" lang="en-HK" sz="5400" spc="-1" strike="noStrike">
              <a:latin typeface="Arial"/>
            </a:endParaRPr>
          </a:p>
        </p:txBody>
      </p:sp>
      <p:sp>
        <p:nvSpPr>
          <p:cNvPr id="506" name="Shape 6"/>
          <p:cNvSpPr/>
          <p:nvPr/>
        </p:nvSpPr>
        <p:spPr>
          <a:xfrm>
            <a:off x="9468000" y="4000680"/>
            <a:ext cx="1827720" cy="75240"/>
          </a:xfrm>
          <a:custGeom>
            <a:avLst/>
            <a:gdLst/>
            <a:ahLst/>
            <a:rect l="l" t="t" r="r" b="b"/>
            <a:pathLst>
              <a:path w="1828800" h="76200">
                <a:moveTo>
                  <a:pt x="0" y="0"/>
                </a:moveTo>
                <a:lnTo>
                  <a:pt x="1828800" y="0"/>
                </a:lnTo>
                <a:lnTo>
                  <a:pt x="18288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07" name="Text 7"/>
          <p:cNvSpPr/>
          <p:nvPr/>
        </p:nvSpPr>
        <p:spPr>
          <a:xfrm>
            <a:off x="3619440" y="4305240"/>
            <a:ext cx="7675920" cy="3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90000"/>
              </a:lnSpc>
              <a:buNone/>
            </a:pPr>
            <a:r>
              <a:rPr b="1" lang="en-US" sz="2700" spc="-1" strike="noStrike">
                <a:solidFill>
                  <a:srgbClr val="000000"/>
                </a:solidFill>
                <a:latin typeface="Noto Sans SC"/>
                <a:ea typeface="Noto Sans SC"/>
              </a:rPr>
              <a:t>Wall Street Embraces Bitcoin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508" name="Shape 8"/>
          <p:cNvSpPr/>
          <p:nvPr/>
        </p:nvSpPr>
        <p:spPr>
          <a:xfrm>
            <a:off x="5198760" y="5686560"/>
            <a:ext cx="6580800" cy="817920"/>
          </a:xfrm>
          <a:custGeom>
            <a:avLst/>
            <a:gdLst/>
            <a:ahLst/>
            <a:rect l="l" t="t" r="r" b="b"/>
            <a:pathLst>
              <a:path w="6581775" h="819150">
                <a:moveTo>
                  <a:pt x="0" y="0"/>
                </a:moveTo>
                <a:lnTo>
                  <a:pt x="6581775" y="0"/>
                </a:lnTo>
                <a:lnTo>
                  <a:pt x="6581775" y="819150"/>
                </a:lnTo>
                <a:lnTo>
                  <a:pt x="0" y="8191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09" name="Text 9"/>
          <p:cNvSpPr/>
          <p:nvPr/>
        </p:nvSpPr>
        <p:spPr>
          <a:xfrm>
            <a:off x="5456160" y="5943600"/>
            <a:ext cx="6180480" cy="30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8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▶ </a:t>
            </a:r>
            <a:r>
              <a:rPr b="1" lang="en-US" sz="1800" spc="-1" strike="noStrike">
                <a:solidFill>
                  <a:srgbClr val="000000"/>
                </a:solidFill>
                <a:latin typeface="Noto Sans SC"/>
                <a:ea typeface="Noto Sans SC"/>
              </a:rPr>
              <a:t>From Fringe Asset to Mainstream Portfolio Allocation</a:t>
            </a:r>
            <a:endParaRPr b="0" lang="en-HK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0" name="Shape 0"/>
          <p:cNvSpPr/>
          <p:nvPr/>
        </p:nvSpPr>
        <p:spPr>
          <a:xfrm>
            <a:off x="341280" y="341280"/>
            <a:ext cx="11508120" cy="840240"/>
          </a:xfrm>
          <a:custGeom>
            <a:avLst/>
            <a:gdLst/>
            <a:ahLst/>
            <a:rect l="l" t="t" r="r" b="b"/>
            <a:pathLst>
              <a:path w="11509375" h="841375">
                <a:moveTo>
                  <a:pt x="0" y="0"/>
                </a:moveTo>
                <a:lnTo>
                  <a:pt x="11509375" y="0"/>
                </a:lnTo>
                <a:lnTo>
                  <a:pt x="11509375" y="841375"/>
                </a:lnTo>
                <a:lnTo>
                  <a:pt x="0" y="8413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11" name="Text 1"/>
          <p:cNvSpPr/>
          <p:nvPr/>
        </p:nvSpPr>
        <p:spPr>
          <a:xfrm>
            <a:off x="523800" y="523800"/>
            <a:ext cx="1128600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250" spc="-1" strike="noStrike">
                <a:solidFill>
                  <a:srgbClr val="000000"/>
                </a:solidFill>
                <a:latin typeface="Noto Sans SC"/>
                <a:ea typeface="Noto Sans SC"/>
              </a:rPr>
              <a:t>FROM FRINGE TO MAINSTREAM: INSTITUTIONAL ENTRY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512" name="Shape 2"/>
          <p:cNvSpPr/>
          <p:nvPr/>
        </p:nvSpPr>
        <p:spPr>
          <a:xfrm>
            <a:off x="523800" y="936720"/>
            <a:ext cx="761040" cy="62280"/>
          </a:xfrm>
          <a:custGeom>
            <a:avLst/>
            <a:gdLst/>
            <a:ahLst/>
            <a:rect l="l" t="t" r="r" b="b"/>
            <a:pathLst>
              <a:path w="762000" h="63500">
                <a:moveTo>
                  <a:pt x="0" y="0"/>
                </a:moveTo>
                <a:lnTo>
                  <a:pt x="762000" y="0"/>
                </a:lnTo>
                <a:lnTo>
                  <a:pt x="7620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13" name="Shape 3"/>
          <p:cNvSpPr/>
          <p:nvPr/>
        </p:nvSpPr>
        <p:spPr>
          <a:xfrm>
            <a:off x="341280" y="1357200"/>
            <a:ext cx="5650560" cy="1951560"/>
          </a:xfrm>
          <a:custGeom>
            <a:avLst/>
            <a:gdLst/>
            <a:ahLst/>
            <a:rect l="l" t="t" r="r" b="b"/>
            <a:pathLst>
              <a:path w="5651500" h="1952625">
                <a:moveTo>
                  <a:pt x="0" y="0"/>
                </a:moveTo>
                <a:lnTo>
                  <a:pt x="5651500" y="0"/>
                </a:lnTo>
                <a:lnTo>
                  <a:pt x="5651500" y="1952625"/>
                </a:lnTo>
                <a:lnTo>
                  <a:pt x="0" y="19526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514" name="Shape 4"/>
          <p:cNvSpPr/>
          <p:nvPr/>
        </p:nvSpPr>
        <p:spPr>
          <a:xfrm>
            <a:off x="547560" y="1563840"/>
            <a:ext cx="395640" cy="395640"/>
          </a:xfrm>
          <a:custGeom>
            <a:avLst/>
            <a:gdLst/>
            <a:ahLst/>
            <a:rect l="l" t="t" r="r" b="b"/>
            <a:pathLst>
              <a:path w="396875" h="396875">
                <a:moveTo>
                  <a:pt x="0" y="0"/>
                </a:moveTo>
                <a:lnTo>
                  <a:pt x="396875" y="0"/>
                </a:lnTo>
                <a:lnTo>
                  <a:pt x="396875" y="396875"/>
                </a:lnTo>
                <a:lnTo>
                  <a:pt x="0" y="3968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15" name="Text 5"/>
          <p:cNvSpPr/>
          <p:nvPr/>
        </p:nvSpPr>
        <p:spPr>
          <a:xfrm>
            <a:off x="476280" y="1539720"/>
            <a:ext cx="443520" cy="34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ffffff"/>
                </a:solidFill>
                <a:latin typeface="Noto Sans SC"/>
                <a:ea typeface="Noto Sans SC"/>
              </a:rPr>
              <a:t>▶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516" name="Text 6"/>
          <p:cNvSpPr/>
          <p:nvPr/>
        </p:nvSpPr>
        <p:spPr>
          <a:xfrm>
            <a:off x="1095480" y="1539720"/>
            <a:ext cx="4808880" cy="25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JANUARY 2024: THE TURNING POINT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517" name="Text 7"/>
          <p:cNvSpPr/>
          <p:nvPr/>
        </p:nvSpPr>
        <p:spPr>
          <a:xfrm>
            <a:off x="1095480" y="1857240"/>
            <a:ext cx="4777200" cy="41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SEC approves </a:t>
            </a: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11 spot Bitcoin ETFs</a:t>
            </a: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, marking the most successful ETF launch in history. This removed the final barrier for institutional capital.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518" name="Shape 8"/>
          <p:cNvSpPr/>
          <p:nvPr/>
        </p:nvSpPr>
        <p:spPr>
          <a:xfrm>
            <a:off x="539640" y="2413080"/>
            <a:ext cx="1665720" cy="697320"/>
          </a:xfrm>
          <a:custGeom>
            <a:avLst/>
            <a:gdLst/>
            <a:ahLst/>
            <a:rect l="l" t="t" r="r" b="b"/>
            <a:pathLst>
              <a:path w="1666875" h="698500">
                <a:moveTo>
                  <a:pt x="0" y="0"/>
                </a:moveTo>
                <a:lnTo>
                  <a:pt x="1666875" y="0"/>
                </a:lnTo>
                <a:lnTo>
                  <a:pt x="1666875" y="698500"/>
                </a:lnTo>
                <a:lnTo>
                  <a:pt x="0" y="6985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19" name="Text 9"/>
          <p:cNvSpPr/>
          <p:nvPr/>
        </p:nvSpPr>
        <p:spPr>
          <a:xfrm>
            <a:off x="591480" y="2523960"/>
            <a:ext cx="1562760" cy="28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$52B+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520" name="Text 10"/>
          <p:cNvSpPr/>
          <p:nvPr/>
        </p:nvSpPr>
        <p:spPr>
          <a:xfrm>
            <a:off x="623160" y="2841480"/>
            <a:ext cx="1499040" cy="15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1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BlackRock IBIT AUM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521" name="Shape 11"/>
          <p:cNvSpPr/>
          <p:nvPr/>
        </p:nvSpPr>
        <p:spPr>
          <a:xfrm>
            <a:off x="2333520" y="2413080"/>
            <a:ext cx="1665720" cy="697320"/>
          </a:xfrm>
          <a:custGeom>
            <a:avLst/>
            <a:gdLst/>
            <a:ahLst/>
            <a:rect l="l" t="t" r="r" b="b"/>
            <a:pathLst>
              <a:path w="1666875" h="698500">
                <a:moveTo>
                  <a:pt x="0" y="0"/>
                </a:moveTo>
                <a:lnTo>
                  <a:pt x="1666875" y="0"/>
                </a:lnTo>
                <a:lnTo>
                  <a:pt x="1666875" y="698500"/>
                </a:lnTo>
                <a:lnTo>
                  <a:pt x="0" y="6985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22" name="Text 12"/>
          <p:cNvSpPr/>
          <p:nvPr/>
        </p:nvSpPr>
        <p:spPr>
          <a:xfrm>
            <a:off x="2385360" y="2523960"/>
            <a:ext cx="1562760" cy="28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$85B+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523" name="Text 13"/>
          <p:cNvSpPr/>
          <p:nvPr/>
        </p:nvSpPr>
        <p:spPr>
          <a:xfrm>
            <a:off x="2417040" y="2841480"/>
            <a:ext cx="1499040" cy="15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1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Total ETF AUM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524" name="Shape 14"/>
          <p:cNvSpPr/>
          <p:nvPr/>
        </p:nvSpPr>
        <p:spPr>
          <a:xfrm>
            <a:off x="4127400" y="2413080"/>
            <a:ext cx="1665720" cy="697320"/>
          </a:xfrm>
          <a:custGeom>
            <a:avLst/>
            <a:gdLst/>
            <a:ahLst/>
            <a:rect l="l" t="t" r="r" b="b"/>
            <a:pathLst>
              <a:path w="1666875" h="698500">
                <a:moveTo>
                  <a:pt x="0" y="0"/>
                </a:moveTo>
                <a:lnTo>
                  <a:pt x="1666875" y="0"/>
                </a:lnTo>
                <a:lnTo>
                  <a:pt x="1666875" y="698500"/>
                </a:lnTo>
                <a:lnTo>
                  <a:pt x="0" y="6985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25" name="Text 15"/>
          <p:cNvSpPr/>
          <p:nvPr/>
        </p:nvSpPr>
        <p:spPr>
          <a:xfrm>
            <a:off x="4179240" y="2523960"/>
            <a:ext cx="1562760" cy="28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1 Year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526" name="Text 16"/>
          <p:cNvSpPr/>
          <p:nvPr/>
        </p:nvSpPr>
        <p:spPr>
          <a:xfrm>
            <a:off x="4210920" y="2841480"/>
            <a:ext cx="1499040" cy="15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1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To Reach $50B+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527" name="Shape 17"/>
          <p:cNvSpPr/>
          <p:nvPr/>
        </p:nvSpPr>
        <p:spPr>
          <a:xfrm>
            <a:off x="341280" y="3484440"/>
            <a:ext cx="5650560" cy="5221800"/>
          </a:xfrm>
          <a:custGeom>
            <a:avLst/>
            <a:gdLst/>
            <a:ahLst/>
            <a:rect l="l" t="t" r="r" b="b"/>
            <a:pathLst>
              <a:path w="5651500" h="5222875">
                <a:moveTo>
                  <a:pt x="0" y="0"/>
                </a:moveTo>
                <a:lnTo>
                  <a:pt x="5651500" y="0"/>
                </a:lnTo>
                <a:lnTo>
                  <a:pt x="5651500" y="5222875"/>
                </a:lnTo>
                <a:lnTo>
                  <a:pt x="0" y="52228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528" name="Text 18"/>
          <p:cNvSpPr/>
          <p:nvPr/>
        </p:nvSpPr>
        <p:spPr>
          <a:xfrm>
            <a:off x="523800" y="3666960"/>
            <a:ext cx="5380560" cy="25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■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KEY INSTITUTIONAL PLAYERS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529" name="Shape 19"/>
          <p:cNvSpPr/>
          <p:nvPr/>
        </p:nvSpPr>
        <p:spPr>
          <a:xfrm>
            <a:off x="539640" y="4064040"/>
            <a:ext cx="5253480" cy="665640"/>
          </a:xfrm>
          <a:custGeom>
            <a:avLst/>
            <a:gdLst/>
            <a:ahLst/>
            <a:rect l="l" t="t" r="r" b="b"/>
            <a:pathLst>
              <a:path w="5254625" h="666750">
                <a:moveTo>
                  <a:pt x="0" y="0"/>
                </a:moveTo>
                <a:lnTo>
                  <a:pt x="5254625" y="0"/>
                </a:lnTo>
                <a:lnTo>
                  <a:pt x="5254625" y="666750"/>
                </a:lnTo>
                <a:lnTo>
                  <a:pt x="0" y="666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30" name="Text 20"/>
          <p:cNvSpPr/>
          <p:nvPr/>
        </p:nvSpPr>
        <p:spPr>
          <a:xfrm>
            <a:off x="650880" y="4175280"/>
            <a:ext cx="2618280" cy="22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MicroStrategy (Strategy)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531" name="Text 21"/>
          <p:cNvSpPr/>
          <p:nvPr/>
        </p:nvSpPr>
        <p:spPr>
          <a:xfrm>
            <a:off x="650880" y="4429080"/>
            <a:ext cx="261036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Pioneered corporate treasury Bitcoin strategy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532" name="Text 22"/>
          <p:cNvSpPr/>
          <p:nvPr/>
        </p:nvSpPr>
        <p:spPr>
          <a:xfrm>
            <a:off x="4455000" y="4175280"/>
            <a:ext cx="1229400" cy="25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714,644 BTC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533" name="Text 23"/>
          <p:cNvSpPr/>
          <p:nvPr/>
        </p:nvSpPr>
        <p:spPr>
          <a:xfrm>
            <a:off x="4494600" y="4429080"/>
            <a:ext cx="1189440" cy="15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$54.4B value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534" name="Shape 24"/>
          <p:cNvSpPr/>
          <p:nvPr/>
        </p:nvSpPr>
        <p:spPr>
          <a:xfrm>
            <a:off x="539640" y="4857840"/>
            <a:ext cx="5253480" cy="665640"/>
          </a:xfrm>
          <a:custGeom>
            <a:avLst/>
            <a:gdLst/>
            <a:ahLst/>
            <a:rect l="l" t="t" r="r" b="b"/>
            <a:pathLst>
              <a:path w="5254625" h="666750">
                <a:moveTo>
                  <a:pt x="0" y="0"/>
                </a:moveTo>
                <a:lnTo>
                  <a:pt x="5254625" y="0"/>
                </a:lnTo>
                <a:lnTo>
                  <a:pt x="5254625" y="666750"/>
                </a:lnTo>
                <a:lnTo>
                  <a:pt x="0" y="666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35" name="Text 25"/>
          <p:cNvSpPr/>
          <p:nvPr/>
        </p:nvSpPr>
        <p:spPr>
          <a:xfrm>
            <a:off x="650880" y="4968720"/>
            <a:ext cx="2149920" cy="22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Tesla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536" name="Text 26"/>
          <p:cNvSpPr/>
          <p:nvPr/>
        </p:nvSpPr>
        <p:spPr>
          <a:xfrm>
            <a:off x="650880" y="5222880"/>
            <a:ext cx="214200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Added BTC to balance sheet in 2021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537" name="Text 27"/>
          <p:cNvSpPr/>
          <p:nvPr/>
        </p:nvSpPr>
        <p:spPr>
          <a:xfrm>
            <a:off x="4560840" y="4968720"/>
            <a:ext cx="1118160" cy="25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11,509 BTC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538" name="Text 28"/>
          <p:cNvSpPr/>
          <p:nvPr/>
        </p:nvSpPr>
        <p:spPr>
          <a:xfrm>
            <a:off x="4600440" y="5222880"/>
            <a:ext cx="1078560" cy="15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~$850M value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539" name="Shape 29"/>
          <p:cNvSpPr/>
          <p:nvPr/>
        </p:nvSpPr>
        <p:spPr>
          <a:xfrm>
            <a:off x="539640" y="5651640"/>
            <a:ext cx="5253480" cy="665640"/>
          </a:xfrm>
          <a:custGeom>
            <a:avLst/>
            <a:gdLst/>
            <a:ahLst/>
            <a:rect l="l" t="t" r="r" b="b"/>
            <a:pathLst>
              <a:path w="5254625" h="666750">
                <a:moveTo>
                  <a:pt x="0" y="0"/>
                </a:moveTo>
                <a:lnTo>
                  <a:pt x="5254625" y="0"/>
                </a:lnTo>
                <a:lnTo>
                  <a:pt x="5254625" y="666750"/>
                </a:lnTo>
                <a:lnTo>
                  <a:pt x="0" y="666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40" name="Text 30"/>
          <p:cNvSpPr/>
          <p:nvPr/>
        </p:nvSpPr>
        <p:spPr>
          <a:xfrm>
            <a:off x="650880" y="5762520"/>
            <a:ext cx="2126160" cy="22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Block (Square)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541" name="Text 31"/>
          <p:cNvSpPr/>
          <p:nvPr/>
        </p:nvSpPr>
        <p:spPr>
          <a:xfrm>
            <a:off x="650880" y="6016680"/>
            <a:ext cx="211824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Financial services embracing Bitcoin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542" name="Text 32"/>
          <p:cNvSpPr/>
          <p:nvPr/>
        </p:nvSpPr>
        <p:spPr>
          <a:xfrm>
            <a:off x="4666680" y="5762520"/>
            <a:ext cx="1014840" cy="25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8,027 BTC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543" name="Text 33"/>
          <p:cNvSpPr/>
          <p:nvPr/>
        </p:nvSpPr>
        <p:spPr>
          <a:xfrm>
            <a:off x="4706640" y="6016680"/>
            <a:ext cx="975240" cy="15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~$600M value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544" name="Shape 34"/>
          <p:cNvSpPr/>
          <p:nvPr/>
        </p:nvSpPr>
        <p:spPr>
          <a:xfrm>
            <a:off x="6199200" y="1357200"/>
            <a:ext cx="5650560" cy="4713840"/>
          </a:xfrm>
          <a:custGeom>
            <a:avLst/>
            <a:gdLst/>
            <a:ahLst/>
            <a:rect l="l" t="t" r="r" b="b"/>
            <a:pathLst>
              <a:path w="5651500" h="4714875">
                <a:moveTo>
                  <a:pt x="0" y="0"/>
                </a:moveTo>
                <a:lnTo>
                  <a:pt x="5651500" y="0"/>
                </a:lnTo>
                <a:lnTo>
                  <a:pt x="5651500" y="4714875"/>
                </a:lnTo>
                <a:lnTo>
                  <a:pt x="0" y="47148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545" name="Text 35"/>
          <p:cNvSpPr/>
          <p:nvPr/>
        </p:nvSpPr>
        <p:spPr>
          <a:xfrm>
            <a:off x="6381720" y="1539720"/>
            <a:ext cx="5380560" cy="25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★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THREE-PHASE ADOPTION TIMELINE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546" name="Shape 36"/>
          <p:cNvSpPr/>
          <p:nvPr/>
        </p:nvSpPr>
        <p:spPr>
          <a:xfrm>
            <a:off x="6397560" y="1936800"/>
            <a:ext cx="5253480" cy="1205280"/>
          </a:xfrm>
          <a:custGeom>
            <a:avLst/>
            <a:gdLst/>
            <a:ahLst/>
            <a:rect l="l" t="t" r="r" b="b"/>
            <a:pathLst>
              <a:path w="5254625" h="1206500">
                <a:moveTo>
                  <a:pt x="0" y="0"/>
                </a:moveTo>
                <a:lnTo>
                  <a:pt x="5254625" y="0"/>
                </a:lnTo>
                <a:lnTo>
                  <a:pt x="5254625" y="1206500"/>
                </a:lnTo>
                <a:lnTo>
                  <a:pt x="0" y="12065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47" name="Shape 37"/>
          <p:cNvSpPr/>
          <p:nvPr/>
        </p:nvSpPr>
        <p:spPr>
          <a:xfrm>
            <a:off x="6564240" y="2103480"/>
            <a:ext cx="268920" cy="268920"/>
          </a:xfrm>
          <a:custGeom>
            <a:avLst/>
            <a:gdLst/>
            <a:ahLst/>
            <a:rect l="l" t="t" r="r" b="b"/>
            <a:pathLst>
              <a:path w="269875" h="269875">
                <a:moveTo>
                  <a:pt x="0" y="0"/>
                </a:moveTo>
                <a:lnTo>
                  <a:pt x="269875" y="0"/>
                </a:lnTo>
                <a:lnTo>
                  <a:pt x="269875" y="269875"/>
                </a:lnTo>
                <a:lnTo>
                  <a:pt x="0" y="2698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48" name="Text 38"/>
          <p:cNvSpPr/>
          <p:nvPr/>
        </p:nvSpPr>
        <p:spPr>
          <a:xfrm>
            <a:off x="6508800" y="2079720"/>
            <a:ext cx="284760" cy="22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ffffff"/>
                </a:solidFill>
                <a:latin typeface="MiSans"/>
                <a:ea typeface="MiSans"/>
              </a:rPr>
              <a:t>1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549" name="Text 39"/>
          <p:cNvSpPr/>
          <p:nvPr/>
        </p:nvSpPr>
        <p:spPr>
          <a:xfrm>
            <a:off x="6953400" y="2127240"/>
            <a:ext cx="840240" cy="22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000000"/>
                </a:solidFill>
                <a:latin typeface="Noto Sans SC"/>
                <a:ea typeface="Noto Sans SC"/>
              </a:rPr>
              <a:t>2025-2027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550" name="Text 40"/>
          <p:cNvSpPr/>
          <p:nvPr/>
        </p:nvSpPr>
        <p:spPr>
          <a:xfrm>
            <a:off x="6540480" y="2460600"/>
            <a:ext cx="503136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Pension &amp; 401(k) Integration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551" name="Text 41"/>
          <p:cNvSpPr/>
          <p:nvPr/>
        </p:nvSpPr>
        <p:spPr>
          <a:xfrm>
            <a:off x="6540480" y="2682720"/>
            <a:ext cx="502344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Early pension fund allocations, 401(k) plans add Bitcoin ETF options, 2-5% standard allocation models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552" name="Shape 42"/>
          <p:cNvSpPr/>
          <p:nvPr/>
        </p:nvSpPr>
        <p:spPr>
          <a:xfrm>
            <a:off x="6397560" y="3301920"/>
            <a:ext cx="5253480" cy="1205280"/>
          </a:xfrm>
          <a:custGeom>
            <a:avLst/>
            <a:gdLst/>
            <a:ahLst/>
            <a:rect l="l" t="t" r="r" b="b"/>
            <a:pathLst>
              <a:path w="5254625" h="1206500">
                <a:moveTo>
                  <a:pt x="0" y="0"/>
                </a:moveTo>
                <a:lnTo>
                  <a:pt x="5254625" y="0"/>
                </a:lnTo>
                <a:lnTo>
                  <a:pt x="5254625" y="1206500"/>
                </a:lnTo>
                <a:lnTo>
                  <a:pt x="0" y="12065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53" name="Shape 43"/>
          <p:cNvSpPr/>
          <p:nvPr/>
        </p:nvSpPr>
        <p:spPr>
          <a:xfrm>
            <a:off x="6564240" y="3468600"/>
            <a:ext cx="268920" cy="268920"/>
          </a:xfrm>
          <a:custGeom>
            <a:avLst/>
            <a:gdLst/>
            <a:ahLst/>
            <a:rect l="l" t="t" r="r" b="b"/>
            <a:pathLst>
              <a:path w="269875" h="269875">
                <a:moveTo>
                  <a:pt x="0" y="0"/>
                </a:moveTo>
                <a:lnTo>
                  <a:pt x="269875" y="0"/>
                </a:lnTo>
                <a:lnTo>
                  <a:pt x="269875" y="269875"/>
                </a:lnTo>
                <a:lnTo>
                  <a:pt x="0" y="2698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54" name="Text 44"/>
          <p:cNvSpPr/>
          <p:nvPr/>
        </p:nvSpPr>
        <p:spPr>
          <a:xfrm>
            <a:off x="6508800" y="3444840"/>
            <a:ext cx="284760" cy="22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ffffff"/>
                </a:solidFill>
                <a:latin typeface="MiSans"/>
                <a:ea typeface="MiSans"/>
              </a:rPr>
              <a:t>2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555" name="Text 45"/>
          <p:cNvSpPr/>
          <p:nvPr/>
        </p:nvSpPr>
        <p:spPr>
          <a:xfrm>
            <a:off x="6953400" y="3492360"/>
            <a:ext cx="840240" cy="22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000000"/>
                </a:solidFill>
                <a:latin typeface="Noto Sans SC"/>
                <a:ea typeface="Noto Sans SC"/>
              </a:rPr>
              <a:t>2028-2030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556" name="Text 46"/>
          <p:cNvSpPr/>
          <p:nvPr/>
        </p:nvSpPr>
        <p:spPr>
          <a:xfrm>
            <a:off x="6540480" y="3825720"/>
            <a:ext cx="503136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Corporate Treasury Expansion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557" name="Text 47"/>
          <p:cNvSpPr/>
          <p:nvPr/>
        </p:nvSpPr>
        <p:spPr>
          <a:xfrm>
            <a:off x="6540480" y="4048200"/>
            <a:ext cx="502344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European/Asian ETFs launch, 2028 halving cuts supply, corporate treasuries follow MicroStrategy model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558" name="Shape 48"/>
          <p:cNvSpPr/>
          <p:nvPr/>
        </p:nvSpPr>
        <p:spPr>
          <a:xfrm>
            <a:off x="6397560" y="4667400"/>
            <a:ext cx="5253480" cy="1205280"/>
          </a:xfrm>
          <a:custGeom>
            <a:avLst/>
            <a:gdLst/>
            <a:ahLst/>
            <a:rect l="l" t="t" r="r" b="b"/>
            <a:pathLst>
              <a:path w="5254625" h="1206500">
                <a:moveTo>
                  <a:pt x="0" y="0"/>
                </a:moveTo>
                <a:lnTo>
                  <a:pt x="5254625" y="0"/>
                </a:lnTo>
                <a:lnTo>
                  <a:pt x="5254625" y="1206500"/>
                </a:lnTo>
                <a:lnTo>
                  <a:pt x="0" y="12065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59" name="Shape 49"/>
          <p:cNvSpPr/>
          <p:nvPr/>
        </p:nvSpPr>
        <p:spPr>
          <a:xfrm>
            <a:off x="6564240" y="4834080"/>
            <a:ext cx="268920" cy="268920"/>
          </a:xfrm>
          <a:custGeom>
            <a:avLst/>
            <a:gdLst/>
            <a:ahLst/>
            <a:rect l="l" t="t" r="r" b="b"/>
            <a:pathLst>
              <a:path w="269875" h="269875">
                <a:moveTo>
                  <a:pt x="0" y="0"/>
                </a:moveTo>
                <a:lnTo>
                  <a:pt x="269875" y="0"/>
                </a:lnTo>
                <a:lnTo>
                  <a:pt x="269875" y="269875"/>
                </a:lnTo>
                <a:lnTo>
                  <a:pt x="0" y="2698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60" name="Text 50"/>
          <p:cNvSpPr/>
          <p:nvPr/>
        </p:nvSpPr>
        <p:spPr>
          <a:xfrm>
            <a:off x="6508800" y="4809960"/>
            <a:ext cx="284760" cy="22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ffffff"/>
                </a:solidFill>
                <a:latin typeface="MiSans"/>
                <a:ea typeface="MiSans"/>
              </a:rPr>
              <a:t>3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561" name="Text 51"/>
          <p:cNvSpPr/>
          <p:nvPr/>
        </p:nvSpPr>
        <p:spPr>
          <a:xfrm>
            <a:off x="6953400" y="4857840"/>
            <a:ext cx="840240" cy="22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000000"/>
                </a:solidFill>
                <a:latin typeface="Noto Sans SC"/>
                <a:ea typeface="Noto Sans SC"/>
              </a:rPr>
              <a:t>2030-2032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562" name="Text 52"/>
          <p:cNvSpPr/>
          <p:nvPr/>
        </p:nvSpPr>
        <p:spPr>
          <a:xfrm>
            <a:off x="6540480" y="5191200"/>
            <a:ext cx="503136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Infrastructure Embedding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563" name="Text 53"/>
          <p:cNvSpPr/>
          <p:nvPr/>
        </p:nvSpPr>
        <p:spPr>
          <a:xfrm>
            <a:off x="6540480" y="5413320"/>
            <a:ext cx="502344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Bitcoin becomes operational infrastructure for custody, lending, trading services. Switching costs make removal prohibitively expensive.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564" name="Shape 54"/>
          <p:cNvSpPr/>
          <p:nvPr/>
        </p:nvSpPr>
        <p:spPr>
          <a:xfrm>
            <a:off x="6199200" y="6246720"/>
            <a:ext cx="5650560" cy="2459520"/>
          </a:xfrm>
          <a:custGeom>
            <a:avLst/>
            <a:gdLst/>
            <a:ahLst/>
            <a:rect l="l" t="t" r="r" b="b"/>
            <a:pathLst>
              <a:path w="5651500" h="2460625">
                <a:moveTo>
                  <a:pt x="0" y="0"/>
                </a:moveTo>
                <a:lnTo>
                  <a:pt x="5651500" y="0"/>
                </a:lnTo>
                <a:lnTo>
                  <a:pt x="5651500" y="2460625"/>
                </a:lnTo>
                <a:lnTo>
                  <a:pt x="0" y="24606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565" name="Text 55"/>
          <p:cNvSpPr/>
          <p:nvPr/>
        </p:nvSpPr>
        <p:spPr>
          <a:xfrm>
            <a:off x="6381720" y="6429240"/>
            <a:ext cx="5380560" cy="25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●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MAJOR BANKS ENTERING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566" name="Shape 56"/>
          <p:cNvSpPr/>
          <p:nvPr/>
        </p:nvSpPr>
        <p:spPr>
          <a:xfrm>
            <a:off x="6397560" y="6826320"/>
            <a:ext cx="5253480" cy="348120"/>
          </a:xfrm>
          <a:custGeom>
            <a:avLst/>
            <a:gdLst/>
            <a:ahLst/>
            <a:rect l="l" t="t" r="r" b="b"/>
            <a:pathLst>
              <a:path w="5254625" h="349250">
                <a:moveTo>
                  <a:pt x="0" y="0"/>
                </a:moveTo>
                <a:lnTo>
                  <a:pt x="5254625" y="0"/>
                </a:lnTo>
                <a:lnTo>
                  <a:pt x="5254625" y="349250"/>
                </a:lnTo>
                <a:lnTo>
                  <a:pt x="0" y="349250"/>
                </a:lnTo>
                <a:lnTo>
                  <a:pt x="0" y="0"/>
                </a:lnTo>
                <a:close/>
              </a:path>
            </a:pathLst>
          </a:custGeom>
          <a:noFill/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67" name="Shape 57"/>
          <p:cNvSpPr/>
          <p:nvPr/>
        </p:nvSpPr>
        <p:spPr>
          <a:xfrm>
            <a:off x="6477120" y="6969240"/>
            <a:ext cx="62280" cy="62280"/>
          </a:xfrm>
          <a:custGeom>
            <a:avLst/>
            <a:gdLst/>
            <a:ahLst/>
            <a:rect l="l" t="t" r="r" b="b"/>
            <a:pathLst>
              <a:path w="63500" h="63500">
                <a:moveTo>
                  <a:pt x="0" y="0"/>
                </a:moveTo>
                <a:lnTo>
                  <a:pt x="63500" y="0"/>
                </a:lnTo>
                <a:lnTo>
                  <a:pt x="635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68" name="Text 58"/>
          <p:cNvSpPr/>
          <p:nvPr/>
        </p:nvSpPr>
        <p:spPr>
          <a:xfrm>
            <a:off x="6635880" y="6905520"/>
            <a:ext cx="67356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JPMorgan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569" name="Text 59"/>
          <p:cNvSpPr/>
          <p:nvPr/>
        </p:nvSpPr>
        <p:spPr>
          <a:xfrm>
            <a:off x="7345080" y="6921360"/>
            <a:ext cx="1419840" cy="15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Accepting BTC as collateral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570" name="Shape 60"/>
          <p:cNvSpPr/>
          <p:nvPr/>
        </p:nvSpPr>
        <p:spPr>
          <a:xfrm>
            <a:off x="6397560" y="7270920"/>
            <a:ext cx="5253480" cy="348120"/>
          </a:xfrm>
          <a:custGeom>
            <a:avLst/>
            <a:gdLst/>
            <a:ahLst/>
            <a:rect l="l" t="t" r="r" b="b"/>
            <a:pathLst>
              <a:path w="5254625" h="349250">
                <a:moveTo>
                  <a:pt x="0" y="0"/>
                </a:moveTo>
                <a:lnTo>
                  <a:pt x="5254625" y="0"/>
                </a:lnTo>
                <a:lnTo>
                  <a:pt x="5254625" y="349250"/>
                </a:lnTo>
                <a:lnTo>
                  <a:pt x="0" y="349250"/>
                </a:lnTo>
                <a:lnTo>
                  <a:pt x="0" y="0"/>
                </a:lnTo>
                <a:close/>
              </a:path>
            </a:pathLst>
          </a:custGeom>
          <a:noFill/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71" name="Shape 61"/>
          <p:cNvSpPr/>
          <p:nvPr/>
        </p:nvSpPr>
        <p:spPr>
          <a:xfrm>
            <a:off x="6477120" y="7413480"/>
            <a:ext cx="62280" cy="62280"/>
          </a:xfrm>
          <a:custGeom>
            <a:avLst/>
            <a:gdLst/>
            <a:ahLst/>
            <a:rect l="l" t="t" r="r" b="b"/>
            <a:pathLst>
              <a:path w="63500" h="63500">
                <a:moveTo>
                  <a:pt x="0" y="0"/>
                </a:moveTo>
                <a:lnTo>
                  <a:pt x="63500" y="0"/>
                </a:lnTo>
                <a:lnTo>
                  <a:pt x="635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72" name="Text 62"/>
          <p:cNvSpPr/>
          <p:nvPr/>
        </p:nvSpPr>
        <p:spPr>
          <a:xfrm>
            <a:off x="6635880" y="7350120"/>
            <a:ext cx="102276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Goldman Sachs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573" name="Text 63"/>
          <p:cNvSpPr/>
          <p:nvPr/>
        </p:nvSpPr>
        <p:spPr>
          <a:xfrm>
            <a:off x="7690680" y="7365960"/>
            <a:ext cx="1340280" cy="15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Crypto trading desk active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574" name="Shape 64"/>
          <p:cNvSpPr/>
          <p:nvPr/>
        </p:nvSpPr>
        <p:spPr>
          <a:xfrm>
            <a:off x="6397560" y="7715160"/>
            <a:ext cx="5253480" cy="348120"/>
          </a:xfrm>
          <a:custGeom>
            <a:avLst/>
            <a:gdLst/>
            <a:ahLst/>
            <a:rect l="l" t="t" r="r" b="b"/>
            <a:pathLst>
              <a:path w="5254625" h="349250">
                <a:moveTo>
                  <a:pt x="0" y="0"/>
                </a:moveTo>
                <a:lnTo>
                  <a:pt x="5254625" y="0"/>
                </a:lnTo>
                <a:lnTo>
                  <a:pt x="5254625" y="349250"/>
                </a:lnTo>
                <a:lnTo>
                  <a:pt x="0" y="349250"/>
                </a:lnTo>
                <a:lnTo>
                  <a:pt x="0" y="0"/>
                </a:lnTo>
                <a:close/>
              </a:path>
            </a:pathLst>
          </a:custGeom>
          <a:noFill/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75" name="Shape 65"/>
          <p:cNvSpPr/>
          <p:nvPr/>
        </p:nvSpPr>
        <p:spPr>
          <a:xfrm>
            <a:off x="6477120" y="7858080"/>
            <a:ext cx="62280" cy="62280"/>
          </a:xfrm>
          <a:custGeom>
            <a:avLst/>
            <a:gdLst/>
            <a:ahLst/>
            <a:rect l="l" t="t" r="r" b="b"/>
            <a:pathLst>
              <a:path w="63500" h="63500">
                <a:moveTo>
                  <a:pt x="0" y="0"/>
                </a:moveTo>
                <a:lnTo>
                  <a:pt x="63500" y="0"/>
                </a:lnTo>
                <a:lnTo>
                  <a:pt x="635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76" name="Text 66"/>
          <p:cNvSpPr/>
          <p:nvPr/>
        </p:nvSpPr>
        <p:spPr>
          <a:xfrm>
            <a:off x="6635880" y="7794720"/>
            <a:ext cx="100692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Morgan Stanley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577" name="Text 67"/>
          <p:cNvSpPr/>
          <p:nvPr/>
        </p:nvSpPr>
        <p:spPr>
          <a:xfrm>
            <a:off x="7676640" y="7810560"/>
            <a:ext cx="1475280" cy="15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Offering BTC funds to clients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578" name="Shape 68"/>
          <p:cNvSpPr/>
          <p:nvPr/>
        </p:nvSpPr>
        <p:spPr>
          <a:xfrm>
            <a:off x="6397560" y="8159760"/>
            <a:ext cx="5253480" cy="348120"/>
          </a:xfrm>
          <a:custGeom>
            <a:avLst/>
            <a:gdLst/>
            <a:ahLst/>
            <a:rect l="l" t="t" r="r" b="b"/>
            <a:pathLst>
              <a:path w="5254625" h="349250">
                <a:moveTo>
                  <a:pt x="0" y="0"/>
                </a:moveTo>
                <a:lnTo>
                  <a:pt x="5254625" y="0"/>
                </a:lnTo>
                <a:lnTo>
                  <a:pt x="5254625" y="349250"/>
                </a:lnTo>
                <a:lnTo>
                  <a:pt x="0" y="349250"/>
                </a:lnTo>
                <a:lnTo>
                  <a:pt x="0" y="0"/>
                </a:lnTo>
                <a:close/>
              </a:path>
            </a:pathLst>
          </a:custGeom>
          <a:noFill/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79" name="Shape 69"/>
          <p:cNvSpPr/>
          <p:nvPr/>
        </p:nvSpPr>
        <p:spPr>
          <a:xfrm>
            <a:off x="6477120" y="8302680"/>
            <a:ext cx="62280" cy="62280"/>
          </a:xfrm>
          <a:custGeom>
            <a:avLst/>
            <a:gdLst/>
            <a:ahLst/>
            <a:rect l="l" t="t" r="r" b="b"/>
            <a:pathLst>
              <a:path w="63500" h="63500">
                <a:moveTo>
                  <a:pt x="0" y="0"/>
                </a:moveTo>
                <a:lnTo>
                  <a:pt x="63500" y="0"/>
                </a:lnTo>
                <a:lnTo>
                  <a:pt x="635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80" name="Text 70"/>
          <p:cNvSpPr/>
          <p:nvPr/>
        </p:nvSpPr>
        <p:spPr>
          <a:xfrm>
            <a:off x="6635880" y="8238960"/>
            <a:ext cx="34020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SoFi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581" name="Text 71"/>
          <p:cNvSpPr/>
          <p:nvPr/>
        </p:nvSpPr>
        <p:spPr>
          <a:xfrm>
            <a:off x="7006320" y="8255160"/>
            <a:ext cx="1959480" cy="15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First US bank with direct crypto trading</a:t>
            </a:r>
            <a:endParaRPr b="0" lang="en-HK" sz="88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Image 0"/>
          <p:cNvSpPr/>
          <p:nvPr/>
        </p:nvSpPr>
        <p:spPr>
          <a:xfrm>
            <a:off x="0" y="0"/>
            <a:ext cx="12191040" cy="6856920"/>
          </a:xfrm>
          <a:prstGeom prst="roundRect">
            <a:avLst>
              <a:gd name="adj" fmla="val 0"/>
            </a:avLst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83" name="Shape 0"/>
          <p:cNvSpPr/>
          <p:nvPr/>
        </p:nvSpPr>
        <p:spPr>
          <a:xfrm>
            <a:off x="0" y="0"/>
            <a:ext cx="12191040" cy="6856920"/>
          </a:xfrm>
          <a:custGeom>
            <a:avLst/>
            <a:gdLst/>
            <a:ah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9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84" name="Shape 1"/>
          <p:cNvSpPr/>
          <p:nvPr/>
        </p:nvSpPr>
        <p:spPr>
          <a:xfrm>
            <a:off x="409680" y="781200"/>
            <a:ext cx="8476200" cy="3961440"/>
          </a:xfrm>
          <a:custGeom>
            <a:avLst/>
            <a:gdLst/>
            <a:ahLst/>
            <a:rect l="l" t="t" r="r" b="b"/>
            <a:pathLst>
              <a:path w="8477250" h="3962400">
                <a:moveTo>
                  <a:pt x="0" y="0"/>
                </a:moveTo>
                <a:lnTo>
                  <a:pt x="8477250" y="0"/>
                </a:lnTo>
                <a:lnTo>
                  <a:pt x="8477250" y="3962400"/>
                </a:lnTo>
                <a:lnTo>
                  <a:pt x="0" y="39624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75858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585" name="Shape 2"/>
          <p:cNvSpPr/>
          <p:nvPr/>
        </p:nvSpPr>
        <p:spPr>
          <a:xfrm>
            <a:off x="923760" y="1295280"/>
            <a:ext cx="856080" cy="856080"/>
          </a:xfrm>
          <a:custGeom>
            <a:avLst/>
            <a:gdLst/>
            <a:ahLst/>
            <a:rect l="l" t="t" r="r" b="b"/>
            <a:pathLst>
              <a:path w="857250" h="857250">
                <a:moveTo>
                  <a:pt x="0" y="0"/>
                </a:moveTo>
                <a:lnTo>
                  <a:pt x="857250" y="0"/>
                </a:lnTo>
                <a:lnTo>
                  <a:pt x="857250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86" name="Text 3"/>
          <p:cNvSpPr/>
          <p:nvPr/>
        </p:nvSpPr>
        <p:spPr>
          <a:xfrm>
            <a:off x="781200" y="1266840"/>
            <a:ext cx="1027800" cy="79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80000"/>
              </a:lnSpc>
              <a:buNone/>
            </a:pPr>
            <a:r>
              <a:rPr b="1" lang="en-US" sz="3600" spc="-1" strike="noStrike">
                <a:solidFill>
                  <a:srgbClr val="ffffff"/>
                </a:solidFill>
                <a:latin typeface="Noto Sans SC"/>
                <a:ea typeface="Noto Sans SC"/>
              </a:rPr>
              <a:t>07</a:t>
            </a:r>
            <a:endParaRPr b="0" lang="en-HK" sz="3600" spc="-1" strike="noStrike">
              <a:latin typeface="Arial"/>
            </a:endParaRPr>
          </a:p>
        </p:txBody>
      </p:sp>
      <p:sp>
        <p:nvSpPr>
          <p:cNvPr id="587" name="Shape 4"/>
          <p:cNvSpPr/>
          <p:nvPr/>
        </p:nvSpPr>
        <p:spPr>
          <a:xfrm>
            <a:off x="2038320" y="1266840"/>
            <a:ext cx="75240" cy="913320"/>
          </a:xfrm>
          <a:custGeom>
            <a:avLst/>
            <a:gdLst/>
            <a:ahLst/>
            <a:rect l="l" t="t" r="r" b="b"/>
            <a:pathLst>
              <a:path w="76200" h="914400">
                <a:moveTo>
                  <a:pt x="0" y="0"/>
                </a:moveTo>
                <a:lnTo>
                  <a:pt x="76200" y="0"/>
                </a:lnTo>
                <a:lnTo>
                  <a:pt x="76200" y="914400"/>
                </a:lnTo>
                <a:lnTo>
                  <a:pt x="0" y="9144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88" name="Text 5"/>
          <p:cNvSpPr/>
          <p:nvPr/>
        </p:nvSpPr>
        <p:spPr>
          <a:xfrm>
            <a:off x="895320" y="2486160"/>
            <a:ext cx="7847640" cy="85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5400" spc="-1" strike="noStrike">
                <a:solidFill>
                  <a:srgbClr val="000000"/>
                </a:solidFill>
                <a:latin typeface="Noto Sans SC"/>
                <a:ea typeface="Noto Sans SC"/>
              </a:rPr>
              <a:t>MINING ECONOMICS</a:t>
            </a:r>
            <a:endParaRPr b="0" lang="en-HK" sz="5400" spc="-1" strike="noStrike">
              <a:latin typeface="Arial"/>
            </a:endParaRPr>
          </a:p>
        </p:txBody>
      </p:sp>
      <p:sp>
        <p:nvSpPr>
          <p:cNvPr id="589" name="Shape 6"/>
          <p:cNvSpPr/>
          <p:nvPr/>
        </p:nvSpPr>
        <p:spPr>
          <a:xfrm>
            <a:off x="895320" y="3571920"/>
            <a:ext cx="1827720" cy="75240"/>
          </a:xfrm>
          <a:custGeom>
            <a:avLst/>
            <a:gdLst/>
            <a:ahLst/>
            <a:rect l="l" t="t" r="r" b="b"/>
            <a:pathLst>
              <a:path w="1828800" h="76200">
                <a:moveTo>
                  <a:pt x="0" y="0"/>
                </a:moveTo>
                <a:lnTo>
                  <a:pt x="1828800" y="0"/>
                </a:lnTo>
                <a:lnTo>
                  <a:pt x="18288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90" name="Text 7"/>
          <p:cNvSpPr/>
          <p:nvPr/>
        </p:nvSpPr>
        <p:spPr>
          <a:xfrm>
            <a:off x="895320" y="3876840"/>
            <a:ext cx="7675920" cy="3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700" spc="-1" strike="noStrike">
                <a:solidFill>
                  <a:srgbClr val="000000"/>
                </a:solidFill>
                <a:latin typeface="Noto Sans SC"/>
                <a:ea typeface="Noto Sans SC"/>
              </a:rPr>
              <a:t>The Backbone of Security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591" name="Shape 8"/>
          <p:cNvSpPr/>
          <p:nvPr/>
        </p:nvSpPr>
        <p:spPr>
          <a:xfrm>
            <a:off x="409680" y="5257800"/>
            <a:ext cx="11371680" cy="817920"/>
          </a:xfrm>
          <a:custGeom>
            <a:avLst/>
            <a:gdLst/>
            <a:ahLst/>
            <a:rect l="l" t="t" r="r" b="b"/>
            <a:pathLst>
              <a:path w="11372850" h="819150">
                <a:moveTo>
                  <a:pt x="0" y="0"/>
                </a:moveTo>
                <a:lnTo>
                  <a:pt x="11372850" y="0"/>
                </a:lnTo>
                <a:lnTo>
                  <a:pt x="11372850" y="819150"/>
                </a:lnTo>
                <a:lnTo>
                  <a:pt x="0" y="8191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92" name="Text 9"/>
          <p:cNvSpPr/>
          <p:nvPr/>
        </p:nvSpPr>
        <p:spPr>
          <a:xfrm>
            <a:off x="666720" y="5514840"/>
            <a:ext cx="10971720" cy="30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8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▶ </a:t>
            </a:r>
            <a:r>
              <a:rPr b="1" lang="en-US" sz="1800" spc="-1" strike="noStrike">
                <a:solidFill>
                  <a:srgbClr val="000000"/>
                </a:solidFill>
                <a:latin typeface="Noto Sans SC"/>
                <a:ea typeface="Noto Sans SC"/>
              </a:rPr>
              <a:t>Post-Halving Profitability &amp; Industry Consolidation</a:t>
            </a:r>
            <a:endParaRPr b="0" lang="en-HK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" name="Shape 0"/>
          <p:cNvSpPr/>
          <p:nvPr/>
        </p:nvSpPr>
        <p:spPr>
          <a:xfrm>
            <a:off x="341280" y="341280"/>
            <a:ext cx="11508120" cy="840240"/>
          </a:xfrm>
          <a:custGeom>
            <a:avLst/>
            <a:gdLst/>
            <a:ahLst/>
            <a:rect l="l" t="t" r="r" b="b"/>
            <a:pathLst>
              <a:path w="11509375" h="841375">
                <a:moveTo>
                  <a:pt x="0" y="0"/>
                </a:moveTo>
                <a:lnTo>
                  <a:pt x="11509375" y="0"/>
                </a:lnTo>
                <a:lnTo>
                  <a:pt x="11509375" y="841375"/>
                </a:lnTo>
                <a:lnTo>
                  <a:pt x="0" y="8413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94" name="Text 1"/>
          <p:cNvSpPr/>
          <p:nvPr/>
        </p:nvSpPr>
        <p:spPr>
          <a:xfrm>
            <a:off x="523800" y="523800"/>
            <a:ext cx="1128600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250" spc="-1" strike="noStrike">
                <a:solidFill>
                  <a:srgbClr val="000000"/>
                </a:solidFill>
                <a:latin typeface="Noto Sans SC"/>
                <a:ea typeface="Noto Sans SC"/>
              </a:rPr>
              <a:t>MINING INDUSTRY: POST-HALVING ECONOMICS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595" name="Shape 2"/>
          <p:cNvSpPr/>
          <p:nvPr/>
        </p:nvSpPr>
        <p:spPr>
          <a:xfrm>
            <a:off x="523800" y="936720"/>
            <a:ext cx="761040" cy="62280"/>
          </a:xfrm>
          <a:custGeom>
            <a:avLst/>
            <a:gdLst/>
            <a:ahLst/>
            <a:rect l="l" t="t" r="r" b="b"/>
            <a:pathLst>
              <a:path w="762000" h="63500">
                <a:moveTo>
                  <a:pt x="0" y="0"/>
                </a:moveTo>
                <a:lnTo>
                  <a:pt x="762000" y="0"/>
                </a:lnTo>
                <a:lnTo>
                  <a:pt x="7620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96" name="Shape 3"/>
          <p:cNvSpPr/>
          <p:nvPr/>
        </p:nvSpPr>
        <p:spPr>
          <a:xfrm>
            <a:off x="341280" y="1357200"/>
            <a:ext cx="5650560" cy="3412080"/>
          </a:xfrm>
          <a:custGeom>
            <a:avLst/>
            <a:gdLst/>
            <a:ahLst/>
            <a:rect l="l" t="t" r="r" b="b"/>
            <a:pathLst>
              <a:path w="5651500" h="3413125">
                <a:moveTo>
                  <a:pt x="0" y="0"/>
                </a:moveTo>
                <a:lnTo>
                  <a:pt x="5651500" y="0"/>
                </a:lnTo>
                <a:lnTo>
                  <a:pt x="5651500" y="3413125"/>
                </a:lnTo>
                <a:lnTo>
                  <a:pt x="0" y="3413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597" name="Text 4"/>
          <p:cNvSpPr/>
          <p:nvPr/>
        </p:nvSpPr>
        <p:spPr>
          <a:xfrm>
            <a:off x="523800" y="1539720"/>
            <a:ext cx="5380560" cy="25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■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REVENUE MODEL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598" name="Shape 5"/>
          <p:cNvSpPr/>
          <p:nvPr/>
        </p:nvSpPr>
        <p:spPr>
          <a:xfrm>
            <a:off x="539640" y="1936800"/>
            <a:ext cx="5253480" cy="792720"/>
          </a:xfrm>
          <a:custGeom>
            <a:avLst/>
            <a:gdLst/>
            <a:ahLst/>
            <a:rect l="l" t="t" r="r" b="b"/>
            <a:pathLst>
              <a:path w="5254625" h="793750">
                <a:moveTo>
                  <a:pt x="0" y="0"/>
                </a:moveTo>
                <a:lnTo>
                  <a:pt x="5254625" y="0"/>
                </a:lnTo>
                <a:lnTo>
                  <a:pt x="5254625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99" name="Text 6"/>
          <p:cNvSpPr/>
          <p:nvPr/>
        </p:nvSpPr>
        <p:spPr>
          <a:xfrm>
            <a:off x="682560" y="2111400"/>
            <a:ext cx="1054440" cy="22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Block Subsidy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600" name="Text 7"/>
          <p:cNvSpPr/>
          <p:nvPr/>
        </p:nvSpPr>
        <p:spPr>
          <a:xfrm>
            <a:off x="4500000" y="2079720"/>
            <a:ext cx="1269000" cy="28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3.125 BTC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601" name="Text 8"/>
          <p:cNvSpPr/>
          <p:nvPr/>
        </p:nvSpPr>
        <p:spPr>
          <a:xfrm>
            <a:off x="682560" y="2428920"/>
            <a:ext cx="5023440" cy="15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Down from 6.25 BTC pre-2024 halving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602" name="Shape 9"/>
          <p:cNvSpPr/>
          <p:nvPr/>
        </p:nvSpPr>
        <p:spPr>
          <a:xfrm>
            <a:off x="539640" y="2857680"/>
            <a:ext cx="5253480" cy="792720"/>
          </a:xfrm>
          <a:custGeom>
            <a:avLst/>
            <a:gdLst/>
            <a:ahLst/>
            <a:rect l="l" t="t" r="r" b="b"/>
            <a:pathLst>
              <a:path w="5254625" h="793750">
                <a:moveTo>
                  <a:pt x="0" y="0"/>
                </a:moveTo>
                <a:lnTo>
                  <a:pt x="5254625" y="0"/>
                </a:lnTo>
                <a:lnTo>
                  <a:pt x="5254625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03" name="Text 10"/>
          <p:cNvSpPr/>
          <p:nvPr/>
        </p:nvSpPr>
        <p:spPr>
          <a:xfrm>
            <a:off x="682560" y="3032280"/>
            <a:ext cx="1245240" cy="22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Transaction Fees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604" name="Text 11"/>
          <p:cNvSpPr/>
          <p:nvPr/>
        </p:nvSpPr>
        <p:spPr>
          <a:xfrm>
            <a:off x="4626000" y="3000240"/>
            <a:ext cx="1141920" cy="28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~0.5 BTC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605" name="Text 12"/>
          <p:cNvSpPr/>
          <p:nvPr/>
        </p:nvSpPr>
        <p:spPr>
          <a:xfrm>
            <a:off x="682560" y="3349800"/>
            <a:ext cx="5023440" cy="15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Variable based on network congestion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606" name="Shape 13"/>
          <p:cNvSpPr/>
          <p:nvPr/>
        </p:nvSpPr>
        <p:spPr>
          <a:xfrm>
            <a:off x="539640" y="3778200"/>
            <a:ext cx="5253480" cy="792720"/>
          </a:xfrm>
          <a:custGeom>
            <a:avLst/>
            <a:gdLst/>
            <a:ahLst/>
            <a:rect l="l" t="t" r="r" b="b"/>
            <a:pathLst>
              <a:path w="5254625" h="793750">
                <a:moveTo>
                  <a:pt x="0" y="0"/>
                </a:moveTo>
                <a:lnTo>
                  <a:pt x="5254625" y="0"/>
                </a:lnTo>
                <a:lnTo>
                  <a:pt x="5254625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07" name="Text 14"/>
          <p:cNvSpPr/>
          <p:nvPr/>
        </p:nvSpPr>
        <p:spPr>
          <a:xfrm>
            <a:off x="682560" y="3952800"/>
            <a:ext cx="1649880" cy="22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Daily Network Revenue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608" name="Text 15"/>
          <p:cNvSpPr/>
          <p:nvPr/>
        </p:nvSpPr>
        <p:spPr>
          <a:xfrm>
            <a:off x="4559400" y="3921120"/>
            <a:ext cx="1213200" cy="28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~450 BTC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609" name="Text 16"/>
          <p:cNvSpPr/>
          <p:nvPr/>
        </p:nvSpPr>
        <p:spPr>
          <a:xfrm>
            <a:off x="682560" y="4270320"/>
            <a:ext cx="5023440" cy="15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Down from 900 BTC pre-halving (~$33M/day)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610" name="Shape 17"/>
          <p:cNvSpPr/>
          <p:nvPr/>
        </p:nvSpPr>
        <p:spPr>
          <a:xfrm>
            <a:off x="341280" y="4944960"/>
            <a:ext cx="5650560" cy="4237560"/>
          </a:xfrm>
          <a:custGeom>
            <a:avLst/>
            <a:gdLst/>
            <a:ahLst/>
            <a:rect l="l" t="t" r="r" b="b"/>
            <a:pathLst>
              <a:path w="5651500" h="4238625">
                <a:moveTo>
                  <a:pt x="0" y="0"/>
                </a:moveTo>
                <a:lnTo>
                  <a:pt x="5651500" y="0"/>
                </a:lnTo>
                <a:lnTo>
                  <a:pt x="5651500" y="4238625"/>
                </a:lnTo>
                <a:lnTo>
                  <a:pt x="0" y="42386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611" name="Text 18"/>
          <p:cNvSpPr/>
          <p:nvPr/>
        </p:nvSpPr>
        <p:spPr>
          <a:xfrm>
            <a:off x="523800" y="5127480"/>
            <a:ext cx="5380560" cy="25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▶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COST STRUCTURE BREAKDOWN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612" name="Shape 19"/>
          <p:cNvSpPr/>
          <p:nvPr/>
        </p:nvSpPr>
        <p:spPr>
          <a:xfrm>
            <a:off x="539640" y="5524560"/>
            <a:ext cx="5253480" cy="602280"/>
          </a:xfrm>
          <a:custGeom>
            <a:avLst/>
            <a:gdLst/>
            <a:ah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13" name="Text 20"/>
          <p:cNvSpPr/>
          <p:nvPr/>
        </p:nvSpPr>
        <p:spPr>
          <a:xfrm>
            <a:off x="650880" y="5651640"/>
            <a:ext cx="66564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Electricity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614" name="Text 21"/>
          <p:cNvSpPr/>
          <p:nvPr/>
        </p:nvSpPr>
        <p:spPr>
          <a:xfrm>
            <a:off x="5136120" y="5635800"/>
            <a:ext cx="626040" cy="22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000000"/>
                </a:solidFill>
                <a:latin typeface="Noto Sans SC"/>
                <a:ea typeface="Noto Sans SC"/>
              </a:rPr>
              <a:t>60-80%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615" name="Shape 22"/>
          <p:cNvSpPr/>
          <p:nvPr/>
        </p:nvSpPr>
        <p:spPr>
          <a:xfrm>
            <a:off x="666720" y="5905440"/>
            <a:ext cx="4999680" cy="94320"/>
          </a:xfrm>
          <a:custGeom>
            <a:avLst/>
            <a:gdLst/>
            <a:ahLst/>
            <a:rect l="l" t="t" r="r" b="b"/>
            <a:pathLst>
              <a:path w="5000625" h="95250">
                <a:moveTo>
                  <a:pt x="0" y="0"/>
                </a:moveTo>
                <a:lnTo>
                  <a:pt x="5000625" y="0"/>
                </a:lnTo>
                <a:lnTo>
                  <a:pt x="5000625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16" name="Shape 23"/>
          <p:cNvSpPr/>
          <p:nvPr/>
        </p:nvSpPr>
        <p:spPr>
          <a:xfrm>
            <a:off x="682560" y="5921280"/>
            <a:ext cx="3475440" cy="62280"/>
          </a:xfrm>
          <a:custGeom>
            <a:avLst/>
            <a:gdLst/>
            <a:ahLst/>
            <a:rect l="l" t="t" r="r" b="b"/>
            <a:pathLst>
              <a:path w="3476625" h="63500">
                <a:moveTo>
                  <a:pt x="0" y="0"/>
                </a:moveTo>
                <a:lnTo>
                  <a:pt x="3476625" y="0"/>
                </a:lnTo>
                <a:lnTo>
                  <a:pt x="3476625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17" name="Shape 24"/>
          <p:cNvSpPr/>
          <p:nvPr/>
        </p:nvSpPr>
        <p:spPr>
          <a:xfrm>
            <a:off x="539640" y="6254640"/>
            <a:ext cx="5253480" cy="602280"/>
          </a:xfrm>
          <a:custGeom>
            <a:avLst/>
            <a:gdLst/>
            <a:ah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18" name="Text 25"/>
          <p:cNvSpPr/>
          <p:nvPr/>
        </p:nvSpPr>
        <p:spPr>
          <a:xfrm>
            <a:off x="650880" y="6381720"/>
            <a:ext cx="144360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Hardware Depreciation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619" name="Text 26"/>
          <p:cNvSpPr/>
          <p:nvPr/>
        </p:nvSpPr>
        <p:spPr>
          <a:xfrm>
            <a:off x="5136120" y="6365880"/>
            <a:ext cx="626040" cy="22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000000"/>
                </a:solidFill>
                <a:latin typeface="Noto Sans SC"/>
                <a:ea typeface="Noto Sans SC"/>
              </a:rPr>
              <a:t>10-20%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620" name="Shape 27"/>
          <p:cNvSpPr/>
          <p:nvPr/>
        </p:nvSpPr>
        <p:spPr>
          <a:xfrm>
            <a:off x="666720" y="6635880"/>
            <a:ext cx="4999680" cy="94320"/>
          </a:xfrm>
          <a:custGeom>
            <a:avLst/>
            <a:gdLst/>
            <a:ahLst/>
            <a:rect l="l" t="t" r="r" b="b"/>
            <a:pathLst>
              <a:path w="5000625" h="95250">
                <a:moveTo>
                  <a:pt x="0" y="0"/>
                </a:moveTo>
                <a:lnTo>
                  <a:pt x="5000625" y="0"/>
                </a:lnTo>
                <a:lnTo>
                  <a:pt x="5000625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21" name="Shape 28"/>
          <p:cNvSpPr/>
          <p:nvPr/>
        </p:nvSpPr>
        <p:spPr>
          <a:xfrm>
            <a:off x="682560" y="6651720"/>
            <a:ext cx="745200" cy="62280"/>
          </a:xfrm>
          <a:custGeom>
            <a:avLst/>
            <a:gdLst/>
            <a:ahLst/>
            <a:rect l="l" t="t" r="r" b="b"/>
            <a:pathLst>
              <a:path w="746125" h="63500">
                <a:moveTo>
                  <a:pt x="0" y="0"/>
                </a:moveTo>
                <a:lnTo>
                  <a:pt x="746125" y="0"/>
                </a:lnTo>
                <a:lnTo>
                  <a:pt x="746125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4a556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22" name="Shape 29"/>
          <p:cNvSpPr/>
          <p:nvPr/>
        </p:nvSpPr>
        <p:spPr>
          <a:xfrm>
            <a:off x="539640" y="6985080"/>
            <a:ext cx="5253480" cy="602280"/>
          </a:xfrm>
          <a:custGeom>
            <a:avLst/>
            <a:gdLst/>
            <a:ah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23" name="Text 30"/>
          <p:cNvSpPr/>
          <p:nvPr/>
        </p:nvSpPr>
        <p:spPr>
          <a:xfrm>
            <a:off x="650880" y="7112160"/>
            <a:ext cx="123732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Facilities &amp; Cooling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624" name="Text 31"/>
          <p:cNvSpPr/>
          <p:nvPr/>
        </p:nvSpPr>
        <p:spPr>
          <a:xfrm>
            <a:off x="5224320" y="7095960"/>
            <a:ext cx="538560" cy="22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000000"/>
                </a:solidFill>
                <a:latin typeface="Noto Sans SC"/>
                <a:ea typeface="Noto Sans SC"/>
              </a:rPr>
              <a:t>5-10%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625" name="Shape 32"/>
          <p:cNvSpPr/>
          <p:nvPr/>
        </p:nvSpPr>
        <p:spPr>
          <a:xfrm>
            <a:off x="666720" y="7365960"/>
            <a:ext cx="4999680" cy="94320"/>
          </a:xfrm>
          <a:custGeom>
            <a:avLst/>
            <a:gdLst/>
            <a:ahLst/>
            <a:rect l="l" t="t" r="r" b="b"/>
            <a:pathLst>
              <a:path w="5000625" h="95250">
                <a:moveTo>
                  <a:pt x="0" y="0"/>
                </a:moveTo>
                <a:lnTo>
                  <a:pt x="5000625" y="0"/>
                </a:lnTo>
                <a:lnTo>
                  <a:pt x="5000625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26" name="Shape 33"/>
          <p:cNvSpPr/>
          <p:nvPr/>
        </p:nvSpPr>
        <p:spPr>
          <a:xfrm>
            <a:off x="682560" y="7381800"/>
            <a:ext cx="395640" cy="62280"/>
          </a:xfrm>
          <a:custGeom>
            <a:avLst/>
            <a:gdLst/>
            <a:ahLst/>
            <a:rect l="l" t="t" r="r" b="b"/>
            <a:pathLst>
              <a:path w="396875" h="63500">
                <a:moveTo>
                  <a:pt x="0" y="0"/>
                </a:moveTo>
                <a:lnTo>
                  <a:pt x="396875" y="0"/>
                </a:lnTo>
                <a:lnTo>
                  <a:pt x="396875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6a728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27" name="Shape 34"/>
          <p:cNvSpPr/>
          <p:nvPr/>
        </p:nvSpPr>
        <p:spPr>
          <a:xfrm>
            <a:off x="539640" y="7715160"/>
            <a:ext cx="5253480" cy="602280"/>
          </a:xfrm>
          <a:custGeom>
            <a:avLst/>
            <a:gdLst/>
            <a:ah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28" name="Text 35"/>
          <p:cNvSpPr/>
          <p:nvPr/>
        </p:nvSpPr>
        <p:spPr>
          <a:xfrm>
            <a:off x="650880" y="7842240"/>
            <a:ext cx="142776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Personnel &amp; Overhead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629" name="Text 36"/>
          <p:cNvSpPr/>
          <p:nvPr/>
        </p:nvSpPr>
        <p:spPr>
          <a:xfrm>
            <a:off x="5312520" y="7826400"/>
            <a:ext cx="451440" cy="22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000000"/>
                </a:solidFill>
                <a:latin typeface="Noto Sans SC"/>
                <a:ea typeface="Noto Sans SC"/>
              </a:rPr>
              <a:t>3-5%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630" name="Shape 37"/>
          <p:cNvSpPr/>
          <p:nvPr/>
        </p:nvSpPr>
        <p:spPr>
          <a:xfrm>
            <a:off x="666720" y="8096400"/>
            <a:ext cx="4999680" cy="94320"/>
          </a:xfrm>
          <a:custGeom>
            <a:avLst/>
            <a:gdLst/>
            <a:ahLst/>
            <a:rect l="l" t="t" r="r" b="b"/>
            <a:pathLst>
              <a:path w="5000625" h="95250">
                <a:moveTo>
                  <a:pt x="0" y="0"/>
                </a:moveTo>
                <a:lnTo>
                  <a:pt x="5000625" y="0"/>
                </a:lnTo>
                <a:lnTo>
                  <a:pt x="5000625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31" name="Shape 38"/>
          <p:cNvSpPr/>
          <p:nvPr/>
        </p:nvSpPr>
        <p:spPr>
          <a:xfrm>
            <a:off x="682560" y="8112240"/>
            <a:ext cx="197280" cy="62280"/>
          </a:xfrm>
          <a:custGeom>
            <a:avLst/>
            <a:gdLst/>
            <a:ahLst/>
            <a:rect l="l" t="t" r="r" b="b"/>
            <a:pathLst>
              <a:path w="198438" h="63500">
                <a:moveTo>
                  <a:pt x="0" y="0"/>
                </a:moveTo>
                <a:lnTo>
                  <a:pt x="198438" y="0"/>
                </a:lnTo>
                <a:lnTo>
                  <a:pt x="198438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99a1a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32" name="Shape 39"/>
          <p:cNvSpPr/>
          <p:nvPr/>
        </p:nvSpPr>
        <p:spPr>
          <a:xfrm>
            <a:off x="6199200" y="1357200"/>
            <a:ext cx="5650560" cy="3729600"/>
          </a:xfrm>
          <a:custGeom>
            <a:avLst/>
            <a:gdLst/>
            <a:ahLst/>
            <a:rect l="l" t="t" r="r" b="b"/>
            <a:pathLst>
              <a:path w="5651500" h="3730625">
                <a:moveTo>
                  <a:pt x="0" y="0"/>
                </a:moveTo>
                <a:lnTo>
                  <a:pt x="5651500" y="0"/>
                </a:lnTo>
                <a:lnTo>
                  <a:pt x="5651500" y="3730625"/>
                </a:lnTo>
                <a:lnTo>
                  <a:pt x="0" y="37306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633" name="Text 40"/>
          <p:cNvSpPr/>
          <p:nvPr/>
        </p:nvSpPr>
        <p:spPr>
          <a:xfrm>
            <a:off x="6381720" y="1539720"/>
            <a:ext cx="5380560" cy="25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★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HASH RATE CONCENTRATION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634" name="Shape 41"/>
          <p:cNvSpPr/>
          <p:nvPr/>
        </p:nvSpPr>
        <p:spPr>
          <a:xfrm>
            <a:off x="6397560" y="1936800"/>
            <a:ext cx="5253480" cy="983160"/>
          </a:xfrm>
          <a:custGeom>
            <a:avLst/>
            <a:gdLst/>
            <a:ahLst/>
            <a:rect l="l" t="t" r="r" b="b"/>
            <a:pathLst>
              <a:path w="5254625" h="984250">
                <a:moveTo>
                  <a:pt x="0" y="0"/>
                </a:moveTo>
                <a:lnTo>
                  <a:pt x="5254625" y="0"/>
                </a:lnTo>
                <a:lnTo>
                  <a:pt x="5254625" y="984250"/>
                </a:lnTo>
                <a:lnTo>
                  <a:pt x="0" y="984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35" name="Text 42"/>
          <p:cNvSpPr/>
          <p:nvPr/>
        </p:nvSpPr>
        <p:spPr>
          <a:xfrm>
            <a:off x="6508800" y="2048040"/>
            <a:ext cx="509472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Top 5 Mining Pools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636" name="Text 43"/>
          <p:cNvSpPr/>
          <p:nvPr/>
        </p:nvSpPr>
        <p:spPr>
          <a:xfrm>
            <a:off x="6508800" y="2301840"/>
            <a:ext cx="737280" cy="28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~55%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637" name="Text 44"/>
          <p:cNvSpPr/>
          <p:nvPr/>
        </p:nvSpPr>
        <p:spPr>
          <a:xfrm>
            <a:off x="7188120" y="2365200"/>
            <a:ext cx="1269000" cy="15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of total network hashrate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638" name="Shape 45"/>
          <p:cNvSpPr/>
          <p:nvPr/>
        </p:nvSpPr>
        <p:spPr>
          <a:xfrm>
            <a:off x="6524640" y="2666880"/>
            <a:ext cx="4999680" cy="126000"/>
          </a:xfrm>
          <a:custGeom>
            <a:avLst/>
            <a:gdLst/>
            <a:ahLst/>
            <a:rect l="l" t="t" r="r" b="b"/>
            <a:pathLst>
              <a:path w="5000625" h="127000">
                <a:moveTo>
                  <a:pt x="0" y="0"/>
                </a:moveTo>
                <a:lnTo>
                  <a:pt x="5000625" y="0"/>
                </a:lnTo>
                <a:lnTo>
                  <a:pt x="5000625" y="127000"/>
                </a:lnTo>
                <a:lnTo>
                  <a:pt x="0" y="127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39" name="Shape 46"/>
          <p:cNvSpPr/>
          <p:nvPr/>
        </p:nvSpPr>
        <p:spPr>
          <a:xfrm>
            <a:off x="6540480" y="2682720"/>
            <a:ext cx="2729520" cy="94320"/>
          </a:xfrm>
          <a:custGeom>
            <a:avLst/>
            <a:gdLst/>
            <a:ahLst/>
            <a:rect l="l" t="t" r="r" b="b"/>
            <a:pathLst>
              <a:path w="2730500" h="95250">
                <a:moveTo>
                  <a:pt x="0" y="0"/>
                </a:moveTo>
                <a:lnTo>
                  <a:pt x="2730500" y="0"/>
                </a:lnTo>
                <a:lnTo>
                  <a:pt x="2730500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40" name="Shape 47"/>
          <p:cNvSpPr/>
          <p:nvPr/>
        </p:nvSpPr>
        <p:spPr>
          <a:xfrm>
            <a:off x="6397560" y="3048120"/>
            <a:ext cx="5253480" cy="856080"/>
          </a:xfrm>
          <a:custGeom>
            <a:avLst/>
            <a:gdLst/>
            <a:ahLst/>
            <a:rect l="l" t="t" r="r" b="b"/>
            <a:pathLst>
              <a:path w="5254625" h="857250">
                <a:moveTo>
                  <a:pt x="0" y="0"/>
                </a:moveTo>
                <a:lnTo>
                  <a:pt x="5254625" y="0"/>
                </a:lnTo>
                <a:lnTo>
                  <a:pt x="5254625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41" name="Text 48"/>
          <p:cNvSpPr/>
          <p:nvPr/>
        </p:nvSpPr>
        <p:spPr>
          <a:xfrm>
            <a:off x="6508800" y="3159000"/>
            <a:ext cx="509472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Foundry USA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642" name="Text 49"/>
          <p:cNvSpPr/>
          <p:nvPr/>
        </p:nvSpPr>
        <p:spPr>
          <a:xfrm>
            <a:off x="6508800" y="3381480"/>
            <a:ext cx="5126400" cy="25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~35%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643" name="Text 50"/>
          <p:cNvSpPr/>
          <p:nvPr/>
        </p:nvSpPr>
        <p:spPr>
          <a:xfrm>
            <a:off x="6508800" y="3635280"/>
            <a:ext cx="5086800" cy="15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Largest mining pool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644" name="Shape 51"/>
          <p:cNvSpPr/>
          <p:nvPr/>
        </p:nvSpPr>
        <p:spPr>
          <a:xfrm>
            <a:off x="6397560" y="4032360"/>
            <a:ext cx="5253480" cy="856080"/>
          </a:xfrm>
          <a:custGeom>
            <a:avLst/>
            <a:gdLst/>
            <a:ahLst/>
            <a:rect l="l" t="t" r="r" b="b"/>
            <a:pathLst>
              <a:path w="5254625" h="857250">
                <a:moveTo>
                  <a:pt x="0" y="0"/>
                </a:moveTo>
                <a:lnTo>
                  <a:pt x="5254625" y="0"/>
                </a:lnTo>
                <a:lnTo>
                  <a:pt x="5254625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45" name="Text 52"/>
          <p:cNvSpPr/>
          <p:nvPr/>
        </p:nvSpPr>
        <p:spPr>
          <a:xfrm>
            <a:off x="6508800" y="4143240"/>
            <a:ext cx="509472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Publicly Traded Miners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646" name="Text 53"/>
          <p:cNvSpPr/>
          <p:nvPr/>
        </p:nvSpPr>
        <p:spPr>
          <a:xfrm>
            <a:off x="6508800" y="4365720"/>
            <a:ext cx="5126400" cy="25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~25%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647" name="Text 54"/>
          <p:cNvSpPr/>
          <p:nvPr/>
        </p:nvSpPr>
        <p:spPr>
          <a:xfrm>
            <a:off x="6508800" y="4619520"/>
            <a:ext cx="5086800" cy="15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Marathon, Riot, CleanSpark, etc.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648" name="Shape 55"/>
          <p:cNvSpPr/>
          <p:nvPr/>
        </p:nvSpPr>
        <p:spPr>
          <a:xfrm>
            <a:off x="6199200" y="5262480"/>
            <a:ext cx="5650560" cy="3920040"/>
          </a:xfrm>
          <a:custGeom>
            <a:avLst/>
            <a:gdLst/>
            <a:ahLst/>
            <a:rect l="l" t="t" r="r" b="b"/>
            <a:pathLst>
              <a:path w="5651500" h="3921125">
                <a:moveTo>
                  <a:pt x="0" y="0"/>
                </a:moveTo>
                <a:lnTo>
                  <a:pt x="5651500" y="0"/>
                </a:lnTo>
                <a:lnTo>
                  <a:pt x="5651500" y="3921125"/>
                </a:lnTo>
                <a:lnTo>
                  <a:pt x="0" y="3921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649" name="Text 56"/>
          <p:cNvSpPr/>
          <p:nvPr/>
        </p:nvSpPr>
        <p:spPr>
          <a:xfrm>
            <a:off x="6381720" y="5445000"/>
            <a:ext cx="5380560" cy="25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●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POST-HALVING REALITY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650" name="Shape 57"/>
          <p:cNvSpPr/>
          <p:nvPr/>
        </p:nvSpPr>
        <p:spPr>
          <a:xfrm>
            <a:off x="6397560" y="5842080"/>
            <a:ext cx="5253480" cy="856080"/>
          </a:xfrm>
          <a:custGeom>
            <a:avLst/>
            <a:gdLst/>
            <a:ahLst/>
            <a:rect l="l" t="t" r="r" b="b"/>
            <a:pathLst>
              <a:path w="5254625" h="857250">
                <a:moveTo>
                  <a:pt x="0" y="0"/>
                </a:moveTo>
                <a:lnTo>
                  <a:pt x="5254625" y="0"/>
                </a:lnTo>
                <a:lnTo>
                  <a:pt x="5254625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51" name="Text 58"/>
          <p:cNvSpPr/>
          <p:nvPr/>
        </p:nvSpPr>
        <p:spPr>
          <a:xfrm>
            <a:off x="6508800" y="5952960"/>
            <a:ext cx="509472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Breakeven Electricity Rate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652" name="Text 59"/>
          <p:cNvSpPr/>
          <p:nvPr/>
        </p:nvSpPr>
        <p:spPr>
          <a:xfrm>
            <a:off x="6508800" y="6175440"/>
            <a:ext cx="5126400" cy="25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$0.05-0.08/kWh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653" name="Text 60"/>
          <p:cNvSpPr/>
          <p:nvPr/>
        </p:nvSpPr>
        <p:spPr>
          <a:xfrm>
            <a:off x="6508800" y="6429240"/>
            <a:ext cx="5086800" cy="15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For efficient ASIC miners at $75K BTC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654" name="Shape 61"/>
          <p:cNvSpPr/>
          <p:nvPr/>
        </p:nvSpPr>
        <p:spPr>
          <a:xfrm>
            <a:off x="6397560" y="6826320"/>
            <a:ext cx="5253480" cy="633960"/>
          </a:xfrm>
          <a:custGeom>
            <a:avLst/>
            <a:gdLst/>
            <a:ahLst/>
            <a:rect l="l" t="t" r="r" b="b"/>
            <a:pathLst>
              <a:path w="5254625" h="635000">
                <a:moveTo>
                  <a:pt x="0" y="0"/>
                </a:moveTo>
                <a:lnTo>
                  <a:pt x="5254625" y="0"/>
                </a:lnTo>
                <a:lnTo>
                  <a:pt x="5254625" y="635000"/>
                </a:lnTo>
                <a:lnTo>
                  <a:pt x="0" y="635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55" name="Text 62"/>
          <p:cNvSpPr/>
          <p:nvPr/>
        </p:nvSpPr>
        <p:spPr>
          <a:xfrm>
            <a:off x="6508800" y="6937200"/>
            <a:ext cx="509472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Industry Consolidation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656" name="Text 63"/>
          <p:cNvSpPr/>
          <p:nvPr/>
        </p:nvSpPr>
        <p:spPr>
          <a:xfrm>
            <a:off x="6508800" y="7159680"/>
            <a:ext cx="509472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Small miners shut down, large operations with cheap electricity dominate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657" name="Shape 64"/>
          <p:cNvSpPr/>
          <p:nvPr/>
        </p:nvSpPr>
        <p:spPr>
          <a:xfrm>
            <a:off x="6397560" y="7588080"/>
            <a:ext cx="5253480" cy="633960"/>
          </a:xfrm>
          <a:custGeom>
            <a:avLst/>
            <a:gdLst/>
            <a:ahLst/>
            <a:rect l="l" t="t" r="r" b="b"/>
            <a:pathLst>
              <a:path w="5254625" h="635000">
                <a:moveTo>
                  <a:pt x="0" y="0"/>
                </a:moveTo>
                <a:lnTo>
                  <a:pt x="5254625" y="0"/>
                </a:lnTo>
                <a:lnTo>
                  <a:pt x="5254625" y="635000"/>
                </a:lnTo>
                <a:lnTo>
                  <a:pt x="0" y="635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58" name="Text 65"/>
          <p:cNvSpPr/>
          <p:nvPr/>
        </p:nvSpPr>
        <p:spPr>
          <a:xfrm>
            <a:off x="6508800" y="7699320"/>
            <a:ext cx="509472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Shift to Fee Revenue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659" name="Text 66"/>
          <p:cNvSpPr/>
          <p:nvPr/>
        </p:nvSpPr>
        <p:spPr>
          <a:xfrm>
            <a:off x="6508800" y="7921800"/>
            <a:ext cx="509472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Miners increasingly dependent on transaction fees as subsidy declines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660" name="Shape 67"/>
          <p:cNvSpPr/>
          <p:nvPr/>
        </p:nvSpPr>
        <p:spPr>
          <a:xfrm>
            <a:off x="6397560" y="8350200"/>
            <a:ext cx="5253480" cy="633960"/>
          </a:xfrm>
          <a:custGeom>
            <a:avLst/>
            <a:gdLst/>
            <a:ahLst/>
            <a:rect l="l" t="t" r="r" b="b"/>
            <a:pathLst>
              <a:path w="5254625" h="635000">
                <a:moveTo>
                  <a:pt x="0" y="0"/>
                </a:moveTo>
                <a:lnTo>
                  <a:pt x="5254625" y="0"/>
                </a:lnTo>
                <a:lnTo>
                  <a:pt x="5254625" y="635000"/>
                </a:lnTo>
                <a:lnTo>
                  <a:pt x="0" y="635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61" name="Text 68"/>
          <p:cNvSpPr/>
          <p:nvPr/>
        </p:nvSpPr>
        <p:spPr>
          <a:xfrm>
            <a:off x="6508800" y="8461440"/>
            <a:ext cx="509472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Renewable Energy Trend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662" name="Text 69"/>
          <p:cNvSpPr/>
          <p:nvPr/>
        </p:nvSpPr>
        <p:spPr>
          <a:xfrm>
            <a:off x="6508800" y="8683560"/>
            <a:ext cx="509472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~55% of mining uses renewable energy (hydro, wind, solar)</a:t>
            </a:r>
            <a:endParaRPr b="0" lang="en-HK" sz="1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3" name="Image 0"/>
          <p:cNvSpPr/>
          <p:nvPr/>
        </p:nvSpPr>
        <p:spPr>
          <a:xfrm>
            <a:off x="0" y="0"/>
            <a:ext cx="12191040" cy="6856920"/>
          </a:xfrm>
          <a:prstGeom prst="roundRect">
            <a:avLst>
              <a:gd name="adj" fmla="val 0"/>
            </a:avLst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64" name="Shape 0"/>
          <p:cNvSpPr/>
          <p:nvPr/>
        </p:nvSpPr>
        <p:spPr>
          <a:xfrm>
            <a:off x="0" y="0"/>
            <a:ext cx="12191040" cy="6856920"/>
          </a:xfrm>
          <a:custGeom>
            <a:avLst/>
            <a:gdLst/>
            <a:ah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9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65" name="Shape 1"/>
          <p:cNvSpPr/>
          <p:nvPr/>
        </p:nvSpPr>
        <p:spPr>
          <a:xfrm>
            <a:off x="3305160" y="352440"/>
            <a:ext cx="8476200" cy="4818600"/>
          </a:xfrm>
          <a:custGeom>
            <a:avLst/>
            <a:gdLst/>
            <a:ahLst/>
            <a:rect l="l" t="t" r="r" b="b"/>
            <a:pathLst>
              <a:path w="8477250" h="4819650">
                <a:moveTo>
                  <a:pt x="0" y="0"/>
                </a:moveTo>
                <a:lnTo>
                  <a:pt x="8477250" y="0"/>
                </a:lnTo>
                <a:lnTo>
                  <a:pt x="8477250" y="4819650"/>
                </a:lnTo>
                <a:lnTo>
                  <a:pt x="0" y="48196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75858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666" name="Shape 2"/>
          <p:cNvSpPr/>
          <p:nvPr/>
        </p:nvSpPr>
        <p:spPr>
          <a:xfrm>
            <a:off x="10077480" y="838080"/>
            <a:ext cx="75240" cy="913320"/>
          </a:xfrm>
          <a:custGeom>
            <a:avLst/>
            <a:gdLst/>
            <a:ahLst/>
            <a:rect l="l" t="t" r="r" b="b"/>
            <a:pathLst>
              <a:path w="76200" h="914400">
                <a:moveTo>
                  <a:pt x="0" y="0"/>
                </a:moveTo>
                <a:lnTo>
                  <a:pt x="76200" y="0"/>
                </a:lnTo>
                <a:lnTo>
                  <a:pt x="76200" y="914400"/>
                </a:lnTo>
                <a:lnTo>
                  <a:pt x="0" y="9144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67" name="Shape 3"/>
          <p:cNvSpPr/>
          <p:nvPr/>
        </p:nvSpPr>
        <p:spPr>
          <a:xfrm>
            <a:off x="10410840" y="866880"/>
            <a:ext cx="856080" cy="856080"/>
          </a:xfrm>
          <a:custGeom>
            <a:avLst/>
            <a:gdLst/>
            <a:ahLst/>
            <a:rect l="l" t="t" r="r" b="b"/>
            <a:pathLst>
              <a:path w="857250" h="857250">
                <a:moveTo>
                  <a:pt x="0" y="0"/>
                </a:moveTo>
                <a:lnTo>
                  <a:pt x="857250" y="0"/>
                </a:lnTo>
                <a:lnTo>
                  <a:pt x="857250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68" name="Text 4"/>
          <p:cNvSpPr/>
          <p:nvPr/>
        </p:nvSpPr>
        <p:spPr>
          <a:xfrm>
            <a:off x="10267920" y="838080"/>
            <a:ext cx="1027800" cy="79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80000"/>
              </a:lnSpc>
              <a:buNone/>
            </a:pPr>
            <a:r>
              <a:rPr b="1" lang="en-US" sz="3600" spc="-1" strike="noStrike">
                <a:solidFill>
                  <a:srgbClr val="ffffff"/>
                </a:solidFill>
                <a:latin typeface="Noto Sans SC"/>
                <a:ea typeface="Noto Sans SC"/>
              </a:rPr>
              <a:t>08</a:t>
            </a:r>
            <a:endParaRPr b="0" lang="en-HK" sz="3600" spc="-1" strike="noStrike">
              <a:latin typeface="Arial"/>
            </a:endParaRPr>
          </a:p>
        </p:txBody>
      </p:sp>
      <p:sp>
        <p:nvSpPr>
          <p:cNvPr id="669" name="Text 5"/>
          <p:cNvSpPr/>
          <p:nvPr/>
        </p:nvSpPr>
        <p:spPr>
          <a:xfrm>
            <a:off x="3448080" y="2057400"/>
            <a:ext cx="7847640" cy="171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00000"/>
              </a:lnSpc>
              <a:buNone/>
            </a:pPr>
            <a:r>
              <a:rPr b="1" lang="en-US" sz="5400" spc="-1" strike="noStrike">
                <a:solidFill>
                  <a:srgbClr val="000000"/>
                </a:solidFill>
                <a:latin typeface="Noto Sans SC"/>
                <a:ea typeface="Noto Sans SC"/>
              </a:rPr>
              <a:t>DIGITAL GOLD THESIS</a:t>
            </a:r>
            <a:endParaRPr b="0" lang="en-HK" sz="5400" spc="-1" strike="noStrike">
              <a:latin typeface="Arial"/>
            </a:endParaRPr>
          </a:p>
        </p:txBody>
      </p:sp>
      <p:sp>
        <p:nvSpPr>
          <p:cNvPr id="670" name="Shape 6"/>
          <p:cNvSpPr/>
          <p:nvPr/>
        </p:nvSpPr>
        <p:spPr>
          <a:xfrm>
            <a:off x="9468000" y="4000680"/>
            <a:ext cx="1827720" cy="75240"/>
          </a:xfrm>
          <a:custGeom>
            <a:avLst/>
            <a:gdLst/>
            <a:ahLst/>
            <a:rect l="l" t="t" r="r" b="b"/>
            <a:pathLst>
              <a:path w="1828800" h="76200">
                <a:moveTo>
                  <a:pt x="0" y="0"/>
                </a:moveTo>
                <a:lnTo>
                  <a:pt x="1828800" y="0"/>
                </a:lnTo>
                <a:lnTo>
                  <a:pt x="18288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71" name="Text 7"/>
          <p:cNvSpPr/>
          <p:nvPr/>
        </p:nvSpPr>
        <p:spPr>
          <a:xfrm>
            <a:off x="3619440" y="4305240"/>
            <a:ext cx="7675920" cy="3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90000"/>
              </a:lnSpc>
              <a:buNone/>
            </a:pPr>
            <a:r>
              <a:rPr b="1" lang="en-US" sz="2700" spc="-1" strike="noStrike">
                <a:solidFill>
                  <a:srgbClr val="000000"/>
                </a:solidFill>
                <a:latin typeface="Noto Sans SC"/>
                <a:ea typeface="Noto Sans SC"/>
              </a:rPr>
              <a:t>Store of Value Debate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672" name="Shape 8"/>
          <p:cNvSpPr/>
          <p:nvPr/>
        </p:nvSpPr>
        <p:spPr>
          <a:xfrm>
            <a:off x="4779000" y="5686560"/>
            <a:ext cx="6999840" cy="817920"/>
          </a:xfrm>
          <a:custGeom>
            <a:avLst/>
            <a:gdLst/>
            <a:ahLst/>
            <a:rect l="l" t="t" r="r" b="b"/>
            <a:pathLst>
              <a:path w="7000875" h="819150">
                <a:moveTo>
                  <a:pt x="0" y="0"/>
                </a:moveTo>
                <a:lnTo>
                  <a:pt x="7000875" y="0"/>
                </a:lnTo>
                <a:lnTo>
                  <a:pt x="7000875" y="819150"/>
                </a:lnTo>
                <a:lnTo>
                  <a:pt x="0" y="8191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73" name="Text 9"/>
          <p:cNvSpPr/>
          <p:nvPr/>
        </p:nvSpPr>
        <p:spPr>
          <a:xfrm>
            <a:off x="5036400" y="5943600"/>
            <a:ext cx="6599880" cy="30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8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▶ </a:t>
            </a:r>
            <a:r>
              <a:rPr b="1" lang="en-US" sz="1800" spc="-1" strike="noStrike">
                <a:solidFill>
                  <a:srgbClr val="000000"/>
                </a:solidFill>
                <a:latin typeface="Noto Sans SC"/>
                <a:ea typeface="Noto Sans SC"/>
              </a:rPr>
              <a:t>Can Bitcoin Replace Gold as the Ultimate Store of Value?</a:t>
            </a:r>
            <a:endParaRPr b="0" lang="en-HK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4" name="Shape 0"/>
          <p:cNvSpPr/>
          <p:nvPr/>
        </p:nvSpPr>
        <p:spPr>
          <a:xfrm>
            <a:off x="341280" y="341280"/>
            <a:ext cx="11508120" cy="840240"/>
          </a:xfrm>
          <a:custGeom>
            <a:avLst/>
            <a:gdLst/>
            <a:ahLst/>
            <a:rect l="l" t="t" r="r" b="b"/>
            <a:pathLst>
              <a:path w="11509375" h="841375">
                <a:moveTo>
                  <a:pt x="0" y="0"/>
                </a:moveTo>
                <a:lnTo>
                  <a:pt x="11509375" y="0"/>
                </a:lnTo>
                <a:lnTo>
                  <a:pt x="11509375" y="841375"/>
                </a:lnTo>
                <a:lnTo>
                  <a:pt x="0" y="8413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75" name="Text 1"/>
          <p:cNvSpPr/>
          <p:nvPr/>
        </p:nvSpPr>
        <p:spPr>
          <a:xfrm>
            <a:off x="523800" y="523800"/>
            <a:ext cx="1128600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250" spc="-1" strike="noStrike">
                <a:solidFill>
                  <a:srgbClr val="000000"/>
                </a:solidFill>
                <a:latin typeface="Noto Sans SC"/>
                <a:ea typeface="Noto Sans SC"/>
              </a:rPr>
              <a:t>BITCOIN VS GOLD: THE NEW STORE OF VALUE?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676" name="Shape 2"/>
          <p:cNvSpPr/>
          <p:nvPr/>
        </p:nvSpPr>
        <p:spPr>
          <a:xfrm>
            <a:off x="523800" y="936720"/>
            <a:ext cx="761040" cy="62280"/>
          </a:xfrm>
          <a:custGeom>
            <a:avLst/>
            <a:gdLst/>
            <a:ahLst/>
            <a:rect l="l" t="t" r="r" b="b"/>
            <a:pathLst>
              <a:path w="762000" h="63500">
                <a:moveTo>
                  <a:pt x="0" y="0"/>
                </a:moveTo>
                <a:lnTo>
                  <a:pt x="762000" y="0"/>
                </a:lnTo>
                <a:lnTo>
                  <a:pt x="7620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77" name="Shape 3"/>
          <p:cNvSpPr/>
          <p:nvPr/>
        </p:nvSpPr>
        <p:spPr>
          <a:xfrm>
            <a:off x="341280" y="1357200"/>
            <a:ext cx="5650560" cy="4300920"/>
          </a:xfrm>
          <a:custGeom>
            <a:avLst/>
            <a:gdLst/>
            <a:ahLst/>
            <a:rect l="l" t="t" r="r" b="b"/>
            <a:pathLst>
              <a:path w="5651500" h="4302125">
                <a:moveTo>
                  <a:pt x="0" y="0"/>
                </a:moveTo>
                <a:lnTo>
                  <a:pt x="5651500" y="0"/>
                </a:lnTo>
                <a:lnTo>
                  <a:pt x="5651500" y="4302125"/>
                </a:lnTo>
                <a:lnTo>
                  <a:pt x="0" y="4302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678" name="Text 4"/>
          <p:cNvSpPr/>
          <p:nvPr/>
        </p:nvSpPr>
        <p:spPr>
          <a:xfrm>
            <a:off x="523800" y="1539720"/>
            <a:ext cx="5380560" cy="25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■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BITCOIN'S ADVANTAGES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679" name="Shape 5"/>
          <p:cNvSpPr/>
          <p:nvPr/>
        </p:nvSpPr>
        <p:spPr>
          <a:xfrm>
            <a:off x="539640" y="1936800"/>
            <a:ext cx="5253480" cy="602280"/>
          </a:xfrm>
          <a:custGeom>
            <a:avLst/>
            <a:gdLst/>
            <a:ah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80" name="Shape 6"/>
          <p:cNvSpPr/>
          <p:nvPr/>
        </p:nvSpPr>
        <p:spPr>
          <a:xfrm>
            <a:off x="650880" y="2111400"/>
            <a:ext cx="94320" cy="94320"/>
          </a:xfrm>
          <a:custGeom>
            <a:avLst/>
            <a:gdLst/>
            <a:ahLst/>
            <a:rect l="l" t="t" r="r" b="b"/>
            <a:pathLst>
              <a:path w="95250" h="95250">
                <a:moveTo>
                  <a:pt x="0" y="0"/>
                </a:moveTo>
                <a:lnTo>
                  <a:pt x="95250" y="0"/>
                </a:lnTo>
                <a:lnTo>
                  <a:pt x="95250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81" name="Text 7"/>
          <p:cNvSpPr/>
          <p:nvPr/>
        </p:nvSpPr>
        <p:spPr>
          <a:xfrm>
            <a:off x="841320" y="2048040"/>
            <a:ext cx="322164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Portability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682" name="Text 8"/>
          <p:cNvSpPr/>
          <p:nvPr/>
        </p:nvSpPr>
        <p:spPr>
          <a:xfrm>
            <a:off x="841320" y="2270160"/>
            <a:ext cx="3213720" cy="15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Transfer $1B across borders in minutes vs. tons of physical gold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683" name="Shape 9"/>
          <p:cNvSpPr/>
          <p:nvPr/>
        </p:nvSpPr>
        <p:spPr>
          <a:xfrm>
            <a:off x="539640" y="2666880"/>
            <a:ext cx="5253480" cy="602280"/>
          </a:xfrm>
          <a:custGeom>
            <a:avLst/>
            <a:gdLst/>
            <a:ah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84" name="Shape 10"/>
          <p:cNvSpPr/>
          <p:nvPr/>
        </p:nvSpPr>
        <p:spPr>
          <a:xfrm>
            <a:off x="650880" y="2841480"/>
            <a:ext cx="94320" cy="94320"/>
          </a:xfrm>
          <a:custGeom>
            <a:avLst/>
            <a:gdLst/>
            <a:ahLst/>
            <a:rect l="l" t="t" r="r" b="b"/>
            <a:pathLst>
              <a:path w="95250" h="95250">
                <a:moveTo>
                  <a:pt x="0" y="0"/>
                </a:moveTo>
                <a:lnTo>
                  <a:pt x="95250" y="0"/>
                </a:lnTo>
                <a:lnTo>
                  <a:pt x="95250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85" name="Text 11"/>
          <p:cNvSpPr/>
          <p:nvPr/>
        </p:nvSpPr>
        <p:spPr>
          <a:xfrm>
            <a:off x="841320" y="2778120"/>
            <a:ext cx="345168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Divisibility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686" name="Text 12"/>
          <p:cNvSpPr/>
          <p:nvPr/>
        </p:nvSpPr>
        <p:spPr>
          <a:xfrm>
            <a:off x="841320" y="3000240"/>
            <a:ext cx="3443760" cy="15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Divisible to 8 decimal places (0.00000001 BTC) vs. gold bars/ounces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687" name="Shape 13"/>
          <p:cNvSpPr/>
          <p:nvPr/>
        </p:nvSpPr>
        <p:spPr>
          <a:xfrm>
            <a:off x="539640" y="3397320"/>
            <a:ext cx="5253480" cy="602280"/>
          </a:xfrm>
          <a:custGeom>
            <a:avLst/>
            <a:gdLst/>
            <a:ah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88" name="Shape 14"/>
          <p:cNvSpPr/>
          <p:nvPr/>
        </p:nvSpPr>
        <p:spPr>
          <a:xfrm>
            <a:off x="650880" y="3571920"/>
            <a:ext cx="94320" cy="94320"/>
          </a:xfrm>
          <a:custGeom>
            <a:avLst/>
            <a:gdLst/>
            <a:ahLst/>
            <a:rect l="l" t="t" r="r" b="b"/>
            <a:pathLst>
              <a:path w="95250" h="95250">
                <a:moveTo>
                  <a:pt x="0" y="0"/>
                </a:moveTo>
                <a:lnTo>
                  <a:pt x="95250" y="0"/>
                </a:lnTo>
                <a:lnTo>
                  <a:pt x="95250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89" name="Text 15"/>
          <p:cNvSpPr/>
          <p:nvPr/>
        </p:nvSpPr>
        <p:spPr>
          <a:xfrm>
            <a:off x="841320" y="3508200"/>
            <a:ext cx="280872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Verifiability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690" name="Text 16"/>
          <p:cNvSpPr/>
          <p:nvPr/>
        </p:nvSpPr>
        <p:spPr>
          <a:xfrm>
            <a:off x="841320" y="3730680"/>
            <a:ext cx="2800800" cy="15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Cryptographic proof vs. expensive purity testing for gold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691" name="Shape 17"/>
          <p:cNvSpPr/>
          <p:nvPr/>
        </p:nvSpPr>
        <p:spPr>
          <a:xfrm>
            <a:off x="539640" y="4127400"/>
            <a:ext cx="5253480" cy="602280"/>
          </a:xfrm>
          <a:custGeom>
            <a:avLst/>
            <a:gdLst/>
            <a:ah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92" name="Shape 18"/>
          <p:cNvSpPr/>
          <p:nvPr/>
        </p:nvSpPr>
        <p:spPr>
          <a:xfrm>
            <a:off x="650880" y="4302000"/>
            <a:ext cx="94320" cy="94320"/>
          </a:xfrm>
          <a:custGeom>
            <a:avLst/>
            <a:gdLst/>
            <a:ahLst/>
            <a:rect l="l" t="t" r="r" b="b"/>
            <a:pathLst>
              <a:path w="95250" h="95250">
                <a:moveTo>
                  <a:pt x="0" y="0"/>
                </a:moveTo>
                <a:lnTo>
                  <a:pt x="95250" y="0"/>
                </a:lnTo>
                <a:lnTo>
                  <a:pt x="95250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93" name="Text 19"/>
          <p:cNvSpPr/>
          <p:nvPr/>
        </p:nvSpPr>
        <p:spPr>
          <a:xfrm>
            <a:off x="841320" y="4238640"/>
            <a:ext cx="323748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Fixed Supply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694" name="Text 20"/>
          <p:cNvSpPr/>
          <p:nvPr/>
        </p:nvSpPr>
        <p:spPr>
          <a:xfrm>
            <a:off x="841320" y="4460760"/>
            <a:ext cx="3229560" cy="15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21M BTC hard cap vs. unknown total gold supply in Earth's crust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695" name="Shape 21"/>
          <p:cNvSpPr/>
          <p:nvPr/>
        </p:nvSpPr>
        <p:spPr>
          <a:xfrm>
            <a:off x="539640" y="4857840"/>
            <a:ext cx="5253480" cy="602280"/>
          </a:xfrm>
          <a:custGeom>
            <a:avLst/>
            <a:gdLst/>
            <a:ah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96" name="Shape 22"/>
          <p:cNvSpPr/>
          <p:nvPr/>
        </p:nvSpPr>
        <p:spPr>
          <a:xfrm>
            <a:off x="650880" y="5032440"/>
            <a:ext cx="94320" cy="94320"/>
          </a:xfrm>
          <a:custGeom>
            <a:avLst/>
            <a:gdLst/>
            <a:ahLst/>
            <a:rect l="l" t="t" r="r" b="b"/>
            <a:pathLst>
              <a:path w="95250" h="95250">
                <a:moveTo>
                  <a:pt x="0" y="0"/>
                </a:moveTo>
                <a:lnTo>
                  <a:pt x="95250" y="0"/>
                </a:lnTo>
                <a:lnTo>
                  <a:pt x="95250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97" name="Text 23"/>
          <p:cNvSpPr/>
          <p:nvPr/>
        </p:nvSpPr>
        <p:spPr>
          <a:xfrm>
            <a:off x="841320" y="4968720"/>
            <a:ext cx="299916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Programmable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698" name="Text 24"/>
          <p:cNvSpPr/>
          <p:nvPr/>
        </p:nvSpPr>
        <p:spPr>
          <a:xfrm>
            <a:off x="841320" y="5191200"/>
            <a:ext cx="2991240" cy="15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Smart contracts, multisig, time-locks vs. inert physical metal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699" name="Shape 25"/>
          <p:cNvSpPr/>
          <p:nvPr/>
        </p:nvSpPr>
        <p:spPr>
          <a:xfrm>
            <a:off x="341280" y="5834160"/>
            <a:ext cx="5650560" cy="3856680"/>
          </a:xfrm>
          <a:custGeom>
            <a:avLst/>
            <a:gdLst/>
            <a:ahLst/>
            <a:rect l="l" t="t" r="r" b="b"/>
            <a:pathLst>
              <a:path w="5651500" h="3857625">
                <a:moveTo>
                  <a:pt x="0" y="0"/>
                </a:moveTo>
                <a:lnTo>
                  <a:pt x="5651500" y="0"/>
                </a:lnTo>
                <a:lnTo>
                  <a:pt x="5651500" y="3857625"/>
                </a:lnTo>
                <a:lnTo>
                  <a:pt x="0" y="38576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700" name="Text 26"/>
          <p:cNvSpPr/>
          <p:nvPr/>
        </p:nvSpPr>
        <p:spPr>
          <a:xfrm>
            <a:off x="523800" y="6016680"/>
            <a:ext cx="5380560" cy="25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▶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PERFORMANCE COMPARISON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701" name="Text 27"/>
          <p:cNvSpPr/>
          <p:nvPr/>
        </p:nvSpPr>
        <p:spPr>
          <a:xfrm>
            <a:off x="523800" y="6397560"/>
            <a:ext cx="534888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5-Year Returns (2020-2025):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702" name="Shape 28"/>
          <p:cNvSpPr/>
          <p:nvPr/>
        </p:nvSpPr>
        <p:spPr>
          <a:xfrm>
            <a:off x="539640" y="6699240"/>
            <a:ext cx="5253480" cy="729000"/>
          </a:xfrm>
          <a:custGeom>
            <a:avLst/>
            <a:gdLst/>
            <a:ahLst/>
            <a:rect l="l" t="t" r="r" b="b"/>
            <a:pathLst>
              <a:path w="5254625" h="730250">
                <a:moveTo>
                  <a:pt x="0" y="0"/>
                </a:moveTo>
                <a:lnTo>
                  <a:pt x="5254625" y="0"/>
                </a:lnTo>
                <a:lnTo>
                  <a:pt x="5254625" y="730250"/>
                </a:lnTo>
                <a:lnTo>
                  <a:pt x="0" y="730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03" name="Text 29"/>
          <p:cNvSpPr/>
          <p:nvPr/>
        </p:nvSpPr>
        <p:spPr>
          <a:xfrm>
            <a:off x="650880" y="6858000"/>
            <a:ext cx="49104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Bitcoin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704" name="Text 30"/>
          <p:cNvSpPr/>
          <p:nvPr/>
        </p:nvSpPr>
        <p:spPr>
          <a:xfrm>
            <a:off x="4935240" y="6810480"/>
            <a:ext cx="864000" cy="28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a63e"/>
                </a:solidFill>
                <a:latin typeface="Noto Sans SC"/>
                <a:ea typeface="Noto Sans SC"/>
              </a:rPr>
              <a:t>+940%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705" name="Shape 31"/>
          <p:cNvSpPr/>
          <p:nvPr/>
        </p:nvSpPr>
        <p:spPr>
          <a:xfrm>
            <a:off x="666720" y="7175520"/>
            <a:ext cx="4999680" cy="126000"/>
          </a:xfrm>
          <a:custGeom>
            <a:avLst/>
            <a:gdLst/>
            <a:ahLst/>
            <a:rect l="l" t="t" r="r" b="b"/>
            <a:pathLst>
              <a:path w="5000625" h="127000">
                <a:moveTo>
                  <a:pt x="0" y="0"/>
                </a:moveTo>
                <a:lnTo>
                  <a:pt x="5000625" y="0"/>
                </a:lnTo>
                <a:lnTo>
                  <a:pt x="5000625" y="127000"/>
                </a:lnTo>
                <a:lnTo>
                  <a:pt x="0" y="127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06" name="Shape 32"/>
          <p:cNvSpPr/>
          <p:nvPr/>
        </p:nvSpPr>
        <p:spPr>
          <a:xfrm>
            <a:off x="682560" y="7191360"/>
            <a:ext cx="4967640" cy="94320"/>
          </a:xfrm>
          <a:custGeom>
            <a:avLst/>
            <a:gdLst/>
            <a:ahLst/>
            <a:rect l="l" t="t" r="r" b="b"/>
            <a:pathLst>
              <a:path w="4968875" h="95250">
                <a:moveTo>
                  <a:pt x="0" y="0"/>
                </a:moveTo>
                <a:lnTo>
                  <a:pt x="4968875" y="0"/>
                </a:lnTo>
                <a:lnTo>
                  <a:pt x="4968875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07" name="Shape 33"/>
          <p:cNvSpPr/>
          <p:nvPr/>
        </p:nvSpPr>
        <p:spPr>
          <a:xfrm>
            <a:off x="539640" y="7556400"/>
            <a:ext cx="5253480" cy="729000"/>
          </a:xfrm>
          <a:custGeom>
            <a:avLst/>
            <a:gdLst/>
            <a:ahLst/>
            <a:rect l="l" t="t" r="r" b="b"/>
            <a:pathLst>
              <a:path w="5254625" h="730250">
                <a:moveTo>
                  <a:pt x="0" y="0"/>
                </a:moveTo>
                <a:lnTo>
                  <a:pt x="5254625" y="0"/>
                </a:lnTo>
                <a:lnTo>
                  <a:pt x="5254625" y="730250"/>
                </a:lnTo>
                <a:lnTo>
                  <a:pt x="0" y="730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08" name="Text 34"/>
          <p:cNvSpPr/>
          <p:nvPr/>
        </p:nvSpPr>
        <p:spPr>
          <a:xfrm>
            <a:off x="650880" y="7715160"/>
            <a:ext cx="34812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Gold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709" name="Text 35"/>
          <p:cNvSpPr/>
          <p:nvPr/>
        </p:nvSpPr>
        <p:spPr>
          <a:xfrm>
            <a:off x="5067360" y="7667640"/>
            <a:ext cx="737280" cy="28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d08700"/>
                </a:solidFill>
                <a:latin typeface="Noto Sans SC"/>
                <a:ea typeface="Noto Sans SC"/>
              </a:rPr>
              <a:t>+25%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710" name="Shape 36"/>
          <p:cNvSpPr/>
          <p:nvPr/>
        </p:nvSpPr>
        <p:spPr>
          <a:xfrm>
            <a:off x="666720" y="8032680"/>
            <a:ext cx="4999680" cy="126000"/>
          </a:xfrm>
          <a:custGeom>
            <a:avLst/>
            <a:gdLst/>
            <a:ahLst/>
            <a:rect l="l" t="t" r="r" b="b"/>
            <a:pathLst>
              <a:path w="5000625" h="127000">
                <a:moveTo>
                  <a:pt x="0" y="0"/>
                </a:moveTo>
                <a:lnTo>
                  <a:pt x="5000625" y="0"/>
                </a:lnTo>
                <a:lnTo>
                  <a:pt x="5000625" y="127000"/>
                </a:lnTo>
                <a:lnTo>
                  <a:pt x="0" y="127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11" name="Shape 37"/>
          <p:cNvSpPr/>
          <p:nvPr/>
        </p:nvSpPr>
        <p:spPr>
          <a:xfrm>
            <a:off x="682560" y="8048520"/>
            <a:ext cx="149760" cy="94320"/>
          </a:xfrm>
          <a:custGeom>
            <a:avLst/>
            <a:gdLst/>
            <a:ahLst/>
            <a:rect l="l" t="t" r="r" b="b"/>
            <a:pathLst>
              <a:path w="150813" h="95250">
                <a:moveTo>
                  <a:pt x="0" y="0"/>
                </a:moveTo>
                <a:lnTo>
                  <a:pt x="150813" y="0"/>
                </a:lnTo>
                <a:lnTo>
                  <a:pt x="150813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d087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12" name="Shape 38"/>
          <p:cNvSpPr/>
          <p:nvPr/>
        </p:nvSpPr>
        <p:spPr>
          <a:xfrm>
            <a:off x="539640" y="8445600"/>
            <a:ext cx="5253480" cy="411840"/>
          </a:xfrm>
          <a:custGeom>
            <a:avLst/>
            <a:gdLst/>
            <a:ahLst/>
            <a:rect l="l" t="t" r="r" b="b"/>
            <a:pathLst>
              <a:path w="5254625" h="412750">
                <a:moveTo>
                  <a:pt x="0" y="0"/>
                </a:moveTo>
                <a:lnTo>
                  <a:pt x="5254625" y="0"/>
                </a:lnTo>
                <a:lnTo>
                  <a:pt x="5254625" y="412750"/>
                </a:lnTo>
                <a:lnTo>
                  <a:pt x="0" y="4127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13" name="Text 39"/>
          <p:cNvSpPr/>
          <p:nvPr/>
        </p:nvSpPr>
        <p:spPr>
          <a:xfrm>
            <a:off x="619200" y="8556480"/>
            <a:ext cx="509472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ffffff"/>
                </a:solidFill>
                <a:latin typeface="MiSans"/>
                <a:ea typeface="MiSans"/>
              </a:rPr>
              <a:t>Bitcoin has outperformed gold by 37x over 5 years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714" name="Shape 40"/>
          <p:cNvSpPr/>
          <p:nvPr/>
        </p:nvSpPr>
        <p:spPr>
          <a:xfrm>
            <a:off x="6199200" y="1357200"/>
            <a:ext cx="5650560" cy="4300920"/>
          </a:xfrm>
          <a:custGeom>
            <a:avLst/>
            <a:gdLst/>
            <a:ahLst/>
            <a:rect l="l" t="t" r="r" b="b"/>
            <a:pathLst>
              <a:path w="5651500" h="4302125">
                <a:moveTo>
                  <a:pt x="0" y="0"/>
                </a:moveTo>
                <a:lnTo>
                  <a:pt x="5651500" y="0"/>
                </a:lnTo>
                <a:lnTo>
                  <a:pt x="5651500" y="4302125"/>
                </a:lnTo>
                <a:lnTo>
                  <a:pt x="0" y="4302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715" name="Text 41"/>
          <p:cNvSpPr/>
          <p:nvPr/>
        </p:nvSpPr>
        <p:spPr>
          <a:xfrm>
            <a:off x="6381720" y="1539720"/>
            <a:ext cx="5380560" cy="25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★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GOLD'S ADVANTAGES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716" name="Shape 42"/>
          <p:cNvSpPr/>
          <p:nvPr/>
        </p:nvSpPr>
        <p:spPr>
          <a:xfrm>
            <a:off x="6397560" y="1936800"/>
            <a:ext cx="5253480" cy="602280"/>
          </a:xfrm>
          <a:custGeom>
            <a:avLst/>
            <a:gdLst/>
            <a:ah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17" name="Shape 43"/>
          <p:cNvSpPr/>
          <p:nvPr/>
        </p:nvSpPr>
        <p:spPr>
          <a:xfrm>
            <a:off x="6508800" y="2111400"/>
            <a:ext cx="94320" cy="94320"/>
          </a:xfrm>
          <a:custGeom>
            <a:avLst/>
            <a:gdLst/>
            <a:ahLst/>
            <a:rect l="l" t="t" r="r" b="b"/>
            <a:pathLst>
              <a:path w="95250" h="95250">
                <a:moveTo>
                  <a:pt x="0" y="0"/>
                </a:moveTo>
                <a:lnTo>
                  <a:pt x="95250" y="0"/>
                </a:lnTo>
                <a:lnTo>
                  <a:pt x="95250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18" name="Text 44"/>
          <p:cNvSpPr/>
          <p:nvPr/>
        </p:nvSpPr>
        <p:spPr>
          <a:xfrm>
            <a:off x="6699240" y="2048040"/>
            <a:ext cx="313416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3,000+ Year Track Record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719" name="Text 45"/>
          <p:cNvSpPr/>
          <p:nvPr/>
        </p:nvSpPr>
        <p:spPr>
          <a:xfrm>
            <a:off x="6699240" y="2270160"/>
            <a:ext cx="3126240" cy="15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Proven store of value across civilizations vs. Bitcoin's 16 years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720" name="Shape 46"/>
          <p:cNvSpPr/>
          <p:nvPr/>
        </p:nvSpPr>
        <p:spPr>
          <a:xfrm>
            <a:off x="6397560" y="2666880"/>
            <a:ext cx="5253480" cy="602280"/>
          </a:xfrm>
          <a:custGeom>
            <a:avLst/>
            <a:gdLst/>
            <a:ah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21" name="Shape 47"/>
          <p:cNvSpPr/>
          <p:nvPr/>
        </p:nvSpPr>
        <p:spPr>
          <a:xfrm>
            <a:off x="6508800" y="2841480"/>
            <a:ext cx="94320" cy="94320"/>
          </a:xfrm>
          <a:custGeom>
            <a:avLst/>
            <a:gdLst/>
            <a:ahLst/>
            <a:rect l="l" t="t" r="r" b="b"/>
            <a:pathLst>
              <a:path w="95250" h="95250">
                <a:moveTo>
                  <a:pt x="0" y="0"/>
                </a:moveTo>
                <a:lnTo>
                  <a:pt x="95250" y="0"/>
                </a:lnTo>
                <a:lnTo>
                  <a:pt x="95250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22" name="Text 48"/>
          <p:cNvSpPr/>
          <p:nvPr/>
        </p:nvSpPr>
        <p:spPr>
          <a:xfrm>
            <a:off x="6699240" y="2778120"/>
            <a:ext cx="280080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Physical Tangibility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723" name="Text 49"/>
          <p:cNvSpPr/>
          <p:nvPr/>
        </p:nvSpPr>
        <p:spPr>
          <a:xfrm>
            <a:off x="6699240" y="3000240"/>
            <a:ext cx="2792880" cy="15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Can hold in your hand, no internet or electricity required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724" name="Shape 50"/>
          <p:cNvSpPr/>
          <p:nvPr/>
        </p:nvSpPr>
        <p:spPr>
          <a:xfrm>
            <a:off x="6397560" y="3397320"/>
            <a:ext cx="5253480" cy="602280"/>
          </a:xfrm>
          <a:custGeom>
            <a:avLst/>
            <a:gdLst/>
            <a:ah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25" name="Shape 51"/>
          <p:cNvSpPr/>
          <p:nvPr/>
        </p:nvSpPr>
        <p:spPr>
          <a:xfrm>
            <a:off x="6508800" y="3571920"/>
            <a:ext cx="94320" cy="94320"/>
          </a:xfrm>
          <a:custGeom>
            <a:avLst/>
            <a:gdLst/>
            <a:ahLst/>
            <a:rect l="l" t="t" r="r" b="b"/>
            <a:pathLst>
              <a:path w="95250" h="95250">
                <a:moveTo>
                  <a:pt x="0" y="0"/>
                </a:moveTo>
                <a:lnTo>
                  <a:pt x="95250" y="0"/>
                </a:lnTo>
                <a:lnTo>
                  <a:pt x="95250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26" name="Text 52"/>
          <p:cNvSpPr/>
          <p:nvPr/>
        </p:nvSpPr>
        <p:spPr>
          <a:xfrm>
            <a:off x="6699240" y="3508200"/>
            <a:ext cx="285660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Central Bank Demand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727" name="Text 53"/>
          <p:cNvSpPr/>
          <p:nvPr/>
        </p:nvSpPr>
        <p:spPr>
          <a:xfrm>
            <a:off x="6699240" y="3730680"/>
            <a:ext cx="2848320" cy="15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Record-high official gold purchases (1,000+ tonnes/year)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728" name="Shape 54"/>
          <p:cNvSpPr/>
          <p:nvPr/>
        </p:nvSpPr>
        <p:spPr>
          <a:xfrm>
            <a:off x="6397560" y="4127400"/>
            <a:ext cx="5253480" cy="602280"/>
          </a:xfrm>
          <a:custGeom>
            <a:avLst/>
            <a:gdLst/>
            <a:ah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29" name="Shape 55"/>
          <p:cNvSpPr/>
          <p:nvPr/>
        </p:nvSpPr>
        <p:spPr>
          <a:xfrm>
            <a:off x="6508800" y="4302000"/>
            <a:ext cx="94320" cy="94320"/>
          </a:xfrm>
          <a:custGeom>
            <a:avLst/>
            <a:gdLst/>
            <a:ahLst/>
            <a:rect l="l" t="t" r="r" b="b"/>
            <a:pathLst>
              <a:path w="95250" h="95250">
                <a:moveTo>
                  <a:pt x="0" y="0"/>
                </a:moveTo>
                <a:lnTo>
                  <a:pt x="95250" y="0"/>
                </a:lnTo>
                <a:lnTo>
                  <a:pt x="95250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30" name="Text 56"/>
          <p:cNvSpPr/>
          <p:nvPr/>
        </p:nvSpPr>
        <p:spPr>
          <a:xfrm>
            <a:off x="6699240" y="4238640"/>
            <a:ext cx="257868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Lower Volatility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731" name="Text 57"/>
          <p:cNvSpPr/>
          <p:nvPr/>
        </p:nvSpPr>
        <p:spPr>
          <a:xfrm>
            <a:off x="6699240" y="4460760"/>
            <a:ext cx="2570760" cy="15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Gold's annual volatility ~15% vs. Bitcoin's ~60-80%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732" name="Shape 58"/>
          <p:cNvSpPr/>
          <p:nvPr/>
        </p:nvSpPr>
        <p:spPr>
          <a:xfrm>
            <a:off x="6397560" y="4857840"/>
            <a:ext cx="5253480" cy="602280"/>
          </a:xfrm>
          <a:custGeom>
            <a:avLst/>
            <a:gdLst/>
            <a:ah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33" name="Shape 59"/>
          <p:cNvSpPr/>
          <p:nvPr/>
        </p:nvSpPr>
        <p:spPr>
          <a:xfrm>
            <a:off x="6508800" y="5032440"/>
            <a:ext cx="94320" cy="94320"/>
          </a:xfrm>
          <a:custGeom>
            <a:avLst/>
            <a:gdLst/>
            <a:ahLst/>
            <a:rect l="l" t="t" r="r" b="b"/>
            <a:pathLst>
              <a:path w="95250" h="95250">
                <a:moveTo>
                  <a:pt x="0" y="0"/>
                </a:moveTo>
                <a:lnTo>
                  <a:pt x="95250" y="0"/>
                </a:lnTo>
                <a:lnTo>
                  <a:pt x="95250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34" name="Text 60"/>
          <p:cNvSpPr/>
          <p:nvPr/>
        </p:nvSpPr>
        <p:spPr>
          <a:xfrm>
            <a:off x="6699240" y="4968720"/>
            <a:ext cx="321372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Industrial &amp; Jewelry Use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735" name="Text 61"/>
          <p:cNvSpPr/>
          <p:nvPr/>
        </p:nvSpPr>
        <p:spPr>
          <a:xfrm>
            <a:off x="6699240" y="5191200"/>
            <a:ext cx="3205800" cy="15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Real utility beyond speculation (electronics, dentistry, ornament)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736" name="Shape 62"/>
          <p:cNvSpPr/>
          <p:nvPr/>
        </p:nvSpPr>
        <p:spPr>
          <a:xfrm>
            <a:off x="6199200" y="5834160"/>
            <a:ext cx="5650560" cy="3856680"/>
          </a:xfrm>
          <a:custGeom>
            <a:avLst/>
            <a:gdLst/>
            <a:ahLst/>
            <a:rect l="l" t="t" r="r" b="b"/>
            <a:pathLst>
              <a:path w="5651500" h="3857625">
                <a:moveTo>
                  <a:pt x="0" y="0"/>
                </a:moveTo>
                <a:lnTo>
                  <a:pt x="5651500" y="0"/>
                </a:lnTo>
                <a:lnTo>
                  <a:pt x="5651500" y="3857625"/>
                </a:lnTo>
                <a:lnTo>
                  <a:pt x="0" y="38576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737" name="Text 63"/>
          <p:cNvSpPr/>
          <p:nvPr/>
        </p:nvSpPr>
        <p:spPr>
          <a:xfrm>
            <a:off x="6381720" y="6016680"/>
            <a:ext cx="5380560" cy="25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●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THE INFLATION HEDGE DEBATE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738" name="Shape 64"/>
          <p:cNvSpPr/>
          <p:nvPr/>
        </p:nvSpPr>
        <p:spPr>
          <a:xfrm>
            <a:off x="6397560" y="6413400"/>
            <a:ext cx="5253480" cy="1237320"/>
          </a:xfrm>
          <a:custGeom>
            <a:avLst/>
            <a:gdLst/>
            <a:ahLst/>
            <a:rect l="l" t="t" r="r" b="b"/>
            <a:pathLst>
              <a:path w="5254625" h="1238250">
                <a:moveTo>
                  <a:pt x="0" y="0"/>
                </a:moveTo>
                <a:lnTo>
                  <a:pt x="5254625" y="0"/>
                </a:lnTo>
                <a:lnTo>
                  <a:pt x="5254625" y="1238250"/>
                </a:lnTo>
                <a:lnTo>
                  <a:pt x="0" y="1238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39" name="Text 65"/>
          <p:cNvSpPr/>
          <p:nvPr/>
        </p:nvSpPr>
        <p:spPr>
          <a:xfrm>
            <a:off x="6508800" y="6524640"/>
            <a:ext cx="509472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2022 Inflation Test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740" name="Text 66"/>
          <p:cNvSpPr/>
          <p:nvPr/>
        </p:nvSpPr>
        <p:spPr>
          <a:xfrm>
            <a:off x="6508800" y="6778800"/>
            <a:ext cx="5086800" cy="15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U.S. inflation hit 9% (40-year high). How did assets perform?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741" name="Shape 67"/>
          <p:cNvSpPr/>
          <p:nvPr/>
        </p:nvSpPr>
        <p:spPr>
          <a:xfrm>
            <a:off x="6524640" y="7016760"/>
            <a:ext cx="2451600" cy="506880"/>
          </a:xfrm>
          <a:custGeom>
            <a:avLst/>
            <a:gdLst/>
            <a:ahLst/>
            <a:rect l="l" t="t" r="r" b="b"/>
            <a:pathLst>
              <a:path w="2452688" h="508000">
                <a:moveTo>
                  <a:pt x="0" y="0"/>
                </a:moveTo>
                <a:lnTo>
                  <a:pt x="2452688" y="0"/>
                </a:lnTo>
                <a:lnTo>
                  <a:pt x="2452688" y="508000"/>
                </a:lnTo>
                <a:lnTo>
                  <a:pt x="0" y="508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42" name="Text 68"/>
          <p:cNvSpPr/>
          <p:nvPr/>
        </p:nvSpPr>
        <p:spPr>
          <a:xfrm>
            <a:off x="6568200" y="7095960"/>
            <a:ext cx="2364120" cy="22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1" lang="en-US" sz="1130" spc="-1" strike="noStrike">
                <a:solidFill>
                  <a:srgbClr val="e7000b"/>
                </a:solidFill>
                <a:latin typeface="MiSans"/>
                <a:ea typeface="MiSans"/>
              </a:rPr>
              <a:t>-60%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743" name="Text 69"/>
          <p:cNvSpPr/>
          <p:nvPr/>
        </p:nvSpPr>
        <p:spPr>
          <a:xfrm>
            <a:off x="6580080" y="7318440"/>
            <a:ext cx="2340360" cy="12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10000"/>
              </a:lnSpc>
              <a:buNone/>
            </a:pPr>
            <a:r>
              <a:rPr b="1" lang="en-US" sz="750" spc="-1" strike="noStrike">
                <a:solidFill>
                  <a:srgbClr val="000000"/>
                </a:solidFill>
                <a:latin typeface="MiSans"/>
                <a:ea typeface="MiSans"/>
              </a:rPr>
              <a:t>Bitcoin</a:t>
            </a:r>
            <a:endParaRPr b="0" lang="en-HK" sz="750" spc="-1" strike="noStrike">
              <a:latin typeface="Arial"/>
            </a:endParaRPr>
          </a:p>
        </p:txBody>
      </p:sp>
      <p:sp>
        <p:nvSpPr>
          <p:cNvPr id="744" name="Shape 70"/>
          <p:cNvSpPr/>
          <p:nvPr/>
        </p:nvSpPr>
        <p:spPr>
          <a:xfrm>
            <a:off x="9072720" y="7016760"/>
            <a:ext cx="2451600" cy="506880"/>
          </a:xfrm>
          <a:custGeom>
            <a:avLst/>
            <a:gdLst/>
            <a:ahLst/>
            <a:rect l="l" t="t" r="r" b="b"/>
            <a:pathLst>
              <a:path w="2452688" h="508000">
                <a:moveTo>
                  <a:pt x="0" y="0"/>
                </a:moveTo>
                <a:lnTo>
                  <a:pt x="2452688" y="0"/>
                </a:lnTo>
                <a:lnTo>
                  <a:pt x="2452688" y="508000"/>
                </a:lnTo>
                <a:lnTo>
                  <a:pt x="0" y="508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45" name="Text 71"/>
          <p:cNvSpPr/>
          <p:nvPr/>
        </p:nvSpPr>
        <p:spPr>
          <a:xfrm>
            <a:off x="9116280" y="7095960"/>
            <a:ext cx="2364120" cy="22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1" lang="en-US" sz="1130" spc="-1" strike="noStrike">
                <a:solidFill>
                  <a:srgbClr val="00a63e"/>
                </a:solidFill>
                <a:latin typeface="MiSans"/>
                <a:ea typeface="MiSans"/>
              </a:rPr>
              <a:t>+0.5%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746" name="Text 72"/>
          <p:cNvSpPr/>
          <p:nvPr/>
        </p:nvSpPr>
        <p:spPr>
          <a:xfrm>
            <a:off x="9128160" y="7318440"/>
            <a:ext cx="2340360" cy="12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10000"/>
              </a:lnSpc>
              <a:buNone/>
            </a:pPr>
            <a:r>
              <a:rPr b="1" lang="en-US" sz="750" spc="-1" strike="noStrike">
                <a:solidFill>
                  <a:srgbClr val="000000"/>
                </a:solidFill>
                <a:latin typeface="MiSans"/>
                <a:ea typeface="MiSans"/>
              </a:rPr>
              <a:t>Gold</a:t>
            </a:r>
            <a:endParaRPr b="0" lang="en-HK" sz="750" spc="-1" strike="noStrike">
              <a:latin typeface="Arial"/>
            </a:endParaRPr>
          </a:p>
        </p:txBody>
      </p:sp>
      <p:sp>
        <p:nvSpPr>
          <p:cNvPr id="747" name="Shape 73"/>
          <p:cNvSpPr/>
          <p:nvPr/>
        </p:nvSpPr>
        <p:spPr>
          <a:xfrm>
            <a:off x="6397560" y="7778880"/>
            <a:ext cx="5253480" cy="792720"/>
          </a:xfrm>
          <a:custGeom>
            <a:avLst/>
            <a:gdLst/>
            <a:ahLst/>
            <a:rect l="l" t="t" r="r" b="b"/>
            <a:pathLst>
              <a:path w="5254625" h="793750">
                <a:moveTo>
                  <a:pt x="0" y="0"/>
                </a:moveTo>
                <a:lnTo>
                  <a:pt x="5254625" y="0"/>
                </a:lnTo>
                <a:lnTo>
                  <a:pt x="5254625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48" name="Text 74"/>
          <p:cNvSpPr/>
          <p:nvPr/>
        </p:nvSpPr>
        <p:spPr>
          <a:xfrm>
            <a:off x="6508800" y="7889760"/>
            <a:ext cx="509472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Key Insight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749" name="Text 75"/>
          <p:cNvSpPr/>
          <p:nvPr/>
        </p:nvSpPr>
        <p:spPr>
          <a:xfrm>
            <a:off x="6508800" y="8143920"/>
            <a:ext cx="508680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Bitcoin has shown </a:t>
            </a:r>
            <a:r>
              <a:rPr b="1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high correlation with risk assets</a:t>
            </a: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 (tech stocks) rather than acting as a crisis hedge like gold. During the 2022 bear market, BTC crashed alongside equities while gold held steady.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750" name="Shape 76"/>
          <p:cNvSpPr/>
          <p:nvPr/>
        </p:nvSpPr>
        <p:spPr>
          <a:xfrm>
            <a:off x="6397560" y="8699400"/>
            <a:ext cx="5253480" cy="792720"/>
          </a:xfrm>
          <a:custGeom>
            <a:avLst/>
            <a:gdLst/>
            <a:ahLst/>
            <a:rect l="l" t="t" r="r" b="b"/>
            <a:pathLst>
              <a:path w="5254625" h="793750">
                <a:moveTo>
                  <a:pt x="0" y="0"/>
                </a:moveTo>
                <a:lnTo>
                  <a:pt x="5254625" y="0"/>
                </a:lnTo>
                <a:lnTo>
                  <a:pt x="5254625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51" name="Text 77"/>
          <p:cNvSpPr/>
          <p:nvPr/>
        </p:nvSpPr>
        <p:spPr>
          <a:xfrm>
            <a:off x="6508800" y="8810640"/>
            <a:ext cx="509472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The Verdict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752" name="Text 78"/>
          <p:cNvSpPr/>
          <p:nvPr/>
        </p:nvSpPr>
        <p:spPr>
          <a:xfrm>
            <a:off x="6508800" y="9064800"/>
            <a:ext cx="508680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Bitcoin may become "digital gold" as it matures and volatility decreases, but </a:t>
            </a:r>
            <a:r>
              <a:rPr b="1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it hasn't consistently fulfilled that role yet</a:t>
            </a: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. Gold remains the proven safe haven.</a:t>
            </a:r>
            <a:endParaRPr b="0" lang="en-HK" sz="88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3" name="Image 0"/>
          <p:cNvSpPr/>
          <p:nvPr/>
        </p:nvSpPr>
        <p:spPr>
          <a:xfrm>
            <a:off x="0" y="0"/>
            <a:ext cx="12191040" cy="6856920"/>
          </a:xfrm>
          <a:prstGeom prst="roundRect">
            <a:avLst>
              <a:gd name="adj" fmla="val 0"/>
            </a:avLst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54" name="Shape 0"/>
          <p:cNvSpPr/>
          <p:nvPr/>
        </p:nvSpPr>
        <p:spPr>
          <a:xfrm>
            <a:off x="0" y="0"/>
            <a:ext cx="12191040" cy="6856920"/>
          </a:xfrm>
          <a:custGeom>
            <a:avLst/>
            <a:gdLst/>
            <a:ah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9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55" name="Shape 1"/>
          <p:cNvSpPr/>
          <p:nvPr/>
        </p:nvSpPr>
        <p:spPr>
          <a:xfrm>
            <a:off x="409680" y="781200"/>
            <a:ext cx="8476200" cy="3961440"/>
          </a:xfrm>
          <a:custGeom>
            <a:avLst/>
            <a:gdLst/>
            <a:ahLst/>
            <a:rect l="l" t="t" r="r" b="b"/>
            <a:pathLst>
              <a:path w="8477250" h="3962400">
                <a:moveTo>
                  <a:pt x="0" y="0"/>
                </a:moveTo>
                <a:lnTo>
                  <a:pt x="8477250" y="0"/>
                </a:lnTo>
                <a:lnTo>
                  <a:pt x="8477250" y="3962400"/>
                </a:lnTo>
                <a:lnTo>
                  <a:pt x="0" y="39624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75858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756" name="Shape 2"/>
          <p:cNvSpPr/>
          <p:nvPr/>
        </p:nvSpPr>
        <p:spPr>
          <a:xfrm>
            <a:off x="923760" y="1295280"/>
            <a:ext cx="856080" cy="856080"/>
          </a:xfrm>
          <a:custGeom>
            <a:avLst/>
            <a:gdLst/>
            <a:ahLst/>
            <a:rect l="l" t="t" r="r" b="b"/>
            <a:pathLst>
              <a:path w="857250" h="857250">
                <a:moveTo>
                  <a:pt x="0" y="0"/>
                </a:moveTo>
                <a:lnTo>
                  <a:pt x="857250" y="0"/>
                </a:lnTo>
                <a:lnTo>
                  <a:pt x="857250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57" name="Text 3"/>
          <p:cNvSpPr/>
          <p:nvPr/>
        </p:nvSpPr>
        <p:spPr>
          <a:xfrm>
            <a:off x="781200" y="1266840"/>
            <a:ext cx="1027800" cy="79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80000"/>
              </a:lnSpc>
              <a:buNone/>
            </a:pPr>
            <a:r>
              <a:rPr b="1" lang="en-US" sz="3600" spc="-1" strike="noStrike">
                <a:solidFill>
                  <a:srgbClr val="ffffff"/>
                </a:solidFill>
                <a:latin typeface="Noto Sans SC"/>
                <a:ea typeface="Noto Sans SC"/>
              </a:rPr>
              <a:t>09</a:t>
            </a:r>
            <a:endParaRPr b="0" lang="en-HK" sz="3600" spc="-1" strike="noStrike">
              <a:latin typeface="Arial"/>
            </a:endParaRPr>
          </a:p>
        </p:txBody>
      </p:sp>
      <p:sp>
        <p:nvSpPr>
          <p:cNvPr id="758" name="Shape 4"/>
          <p:cNvSpPr/>
          <p:nvPr/>
        </p:nvSpPr>
        <p:spPr>
          <a:xfrm>
            <a:off x="2038320" y="1266840"/>
            <a:ext cx="75240" cy="913320"/>
          </a:xfrm>
          <a:custGeom>
            <a:avLst/>
            <a:gdLst/>
            <a:ahLst/>
            <a:rect l="l" t="t" r="r" b="b"/>
            <a:pathLst>
              <a:path w="76200" h="914400">
                <a:moveTo>
                  <a:pt x="0" y="0"/>
                </a:moveTo>
                <a:lnTo>
                  <a:pt x="76200" y="0"/>
                </a:lnTo>
                <a:lnTo>
                  <a:pt x="76200" y="914400"/>
                </a:lnTo>
                <a:lnTo>
                  <a:pt x="0" y="9144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59" name="Text 5"/>
          <p:cNvSpPr/>
          <p:nvPr/>
        </p:nvSpPr>
        <p:spPr>
          <a:xfrm>
            <a:off x="895320" y="2486160"/>
            <a:ext cx="7847640" cy="85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5400" spc="-1" strike="noStrike">
                <a:solidFill>
                  <a:srgbClr val="000000"/>
                </a:solidFill>
                <a:latin typeface="Noto Sans SC"/>
                <a:ea typeface="Noto Sans SC"/>
              </a:rPr>
              <a:t>SCALING SOLUTIONS</a:t>
            </a:r>
            <a:endParaRPr b="0" lang="en-HK" sz="5400" spc="-1" strike="noStrike">
              <a:latin typeface="Arial"/>
            </a:endParaRPr>
          </a:p>
        </p:txBody>
      </p:sp>
      <p:sp>
        <p:nvSpPr>
          <p:cNvPr id="760" name="Shape 6"/>
          <p:cNvSpPr/>
          <p:nvPr/>
        </p:nvSpPr>
        <p:spPr>
          <a:xfrm>
            <a:off x="895320" y="3571920"/>
            <a:ext cx="1827720" cy="75240"/>
          </a:xfrm>
          <a:custGeom>
            <a:avLst/>
            <a:gdLst/>
            <a:ahLst/>
            <a:rect l="l" t="t" r="r" b="b"/>
            <a:pathLst>
              <a:path w="1828800" h="76200">
                <a:moveTo>
                  <a:pt x="0" y="0"/>
                </a:moveTo>
                <a:lnTo>
                  <a:pt x="1828800" y="0"/>
                </a:lnTo>
                <a:lnTo>
                  <a:pt x="18288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61" name="Text 7"/>
          <p:cNvSpPr/>
          <p:nvPr/>
        </p:nvSpPr>
        <p:spPr>
          <a:xfrm>
            <a:off x="895320" y="3876840"/>
            <a:ext cx="7675920" cy="3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700" spc="-1" strike="noStrike">
                <a:solidFill>
                  <a:srgbClr val="000000"/>
                </a:solidFill>
                <a:latin typeface="Noto Sans SC"/>
                <a:ea typeface="Noto Sans SC"/>
              </a:rPr>
              <a:t>Lightning Network &amp; Layer 2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762" name="Shape 8"/>
          <p:cNvSpPr/>
          <p:nvPr/>
        </p:nvSpPr>
        <p:spPr>
          <a:xfrm>
            <a:off x="409680" y="5257800"/>
            <a:ext cx="11371680" cy="817920"/>
          </a:xfrm>
          <a:custGeom>
            <a:avLst/>
            <a:gdLst/>
            <a:ahLst/>
            <a:rect l="l" t="t" r="r" b="b"/>
            <a:pathLst>
              <a:path w="11372850" h="819150">
                <a:moveTo>
                  <a:pt x="0" y="0"/>
                </a:moveTo>
                <a:lnTo>
                  <a:pt x="11372850" y="0"/>
                </a:lnTo>
                <a:lnTo>
                  <a:pt x="11372850" y="819150"/>
                </a:lnTo>
                <a:lnTo>
                  <a:pt x="0" y="8191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63" name="Text 9"/>
          <p:cNvSpPr/>
          <p:nvPr/>
        </p:nvSpPr>
        <p:spPr>
          <a:xfrm>
            <a:off x="666720" y="5514840"/>
            <a:ext cx="10971720" cy="30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8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▶ </a:t>
            </a:r>
            <a:r>
              <a:rPr b="1" lang="en-US" sz="1800" spc="-1" strike="noStrike">
                <a:solidFill>
                  <a:srgbClr val="000000"/>
                </a:solidFill>
                <a:latin typeface="Noto Sans SC"/>
                <a:ea typeface="Noto Sans SC"/>
              </a:rPr>
              <a:t>Solving Bitcoin's Throughput Limitations</a:t>
            </a:r>
            <a:endParaRPr b="0" lang="en-HK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4" name="Shape 0"/>
          <p:cNvSpPr/>
          <p:nvPr/>
        </p:nvSpPr>
        <p:spPr>
          <a:xfrm>
            <a:off x="341280" y="341280"/>
            <a:ext cx="11508120" cy="840240"/>
          </a:xfrm>
          <a:custGeom>
            <a:avLst/>
            <a:gdLst/>
            <a:ahLst/>
            <a:rect l="l" t="t" r="r" b="b"/>
            <a:pathLst>
              <a:path w="11509375" h="841375">
                <a:moveTo>
                  <a:pt x="0" y="0"/>
                </a:moveTo>
                <a:lnTo>
                  <a:pt x="11509375" y="0"/>
                </a:lnTo>
                <a:lnTo>
                  <a:pt x="11509375" y="841375"/>
                </a:lnTo>
                <a:lnTo>
                  <a:pt x="0" y="8413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65" name="Text 1"/>
          <p:cNvSpPr/>
          <p:nvPr/>
        </p:nvSpPr>
        <p:spPr>
          <a:xfrm>
            <a:off x="523800" y="523800"/>
            <a:ext cx="1128600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250" spc="-1" strike="noStrike">
                <a:solidFill>
                  <a:srgbClr val="000000"/>
                </a:solidFill>
                <a:latin typeface="Noto Sans SC"/>
                <a:ea typeface="Noto Sans SC"/>
              </a:rPr>
              <a:t>LIGHTNING NETWORK: BITCOIN'S PAYMENT LAYER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766" name="Shape 2"/>
          <p:cNvSpPr/>
          <p:nvPr/>
        </p:nvSpPr>
        <p:spPr>
          <a:xfrm>
            <a:off x="523800" y="936720"/>
            <a:ext cx="761040" cy="62280"/>
          </a:xfrm>
          <a:custGeom>
            <a:avLst/>
            <a:gdLst/>
            <a:ahLst/>
            <a:rect l="l" t="t" r="r" b="b"/>
            <a:pathLst>
              <a:path w="762000" h="63500">
                <a:moveTo>
                  <a:pt x="0" y="0"/>
                </a:moveTo>
                <a:lnTo>
                  <a:pt x="762000" y="0"/>
                </a:lnTo>
                <a:lnTo>
                  <a:pt x="7620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67" name="Shape 3"/>
          <p:cNvSpPr/>
          <p:nvPr/>
        </p:nvSpPr>
        <p:spPr>
          <a:xfrm>
            <a:off x="341280" y="1357200"/>
            <a:ext cx="5650560" cy="3348720"/>
          </a:xfrm>
          <a:custGeom>
            <a:avLst/>
            <a:gdLst/>
            <a:ahLst/>
            <a:rect l="l" t="t" r="r" b="b"/>
            <a:pathLst>
              <a:path w="5651500" h="3349625">
                <a:moveTo>
                  <a:pt x="0" y="0"/>
                </a:moveTo>
                <a:lnTo>
                  <a:pt x="5651500" y="0"/>
                </a:lnTo>
                <a:lnTo>
                  <a:pt x="5651500" y="3349625"/>
                </a:lnTo>
                <a:lnTo>
                  <a:pt x="0" y="33496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768" name="Text 4"/>
          <p:cNvSpPr/>
          <p:nvPr/>
        </p:nvSpPr>
        <p:spPr>
          <a:xfrm>
            <a:off x="523800" y="1539720"/>
            <a:ext cx="5380560" cy="25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■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THE PROBLEM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769" name="Shape 5"/>
          <p:cNvSpPr/>
          <p:nvPr/>
        </p:nvSpPr>
        <p:spPr>
          <a:xfrm>
            <a:off x="539640" y="1936800"/>
            <a:ext cx="5253480" cy="792720"/>
          </a:xfrm>
          <a:custGeom>
            <a:avLst/>
            <a:gdLst/>
            <a:ahLst/>
            <a:rect l="l" t="t" r="r" b="b"/>
            <a:pathLst>
              <a:path w="5254625" h="793750">
                <a:moveTo>
                  <a:pt x="0" y="0"/>
                </a:moveTo>
                <a:lnTo>
                  <a:pt x="5254625" y="0"/>
                </a:lnTo>
                <a:lnTo>
                  <a:pt x="5254625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70" name="Text 6"/>
          <p:cNvSpPr/>
          <p:nvPr/>
        </p:nvSpPr>
        <p:spPr>
          <a:xfrm>
            <a:off x="682560" y="2111400"/>
            <a:ext cx="1356120" cy="22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Bitcoin Base Layer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771" name="Text 7"/>
          <p:cNvSpPr/>
          <p:nvPr/>
        </p:nvSpPr>
        <p:spPr>
          <a:xfrm>
            <a:off x="4850640" y="2079720"/>
            <a:ext cx="919800" cy="28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~7 TPS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772" name="Text 8"/>
          <p:cNvSpPr/>
          <p:nvPr/>
        </p:nvSpPr>
        <p:spPr>
          <a:xfrm>
            <a:off x="682560" y="2428920"/>
            <a:ext cx="5023440" cy="15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Transactions per second limited by block size and block time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773" name="Shape 9"/>
          <p:cNvSpPr/>
          <p:nvPr/>
        </p:nvSpPr>
        <p:spPr>
          <a:xfrm>
            <a:off x="539640" y="2857680"/>
            <a:ext cx="5253480" cy="792720"/>
          </a:xfrm>
          <a:custGeom>
            <a:avLst/>
            <a:gdLst/>
            <a:ahLst/>
            <a:rect l="l" t="t" r="r" b="b"/>
            <a:pathLst>
              <a:path w="5254625" h="793750">
                <a:moveTo>
                  <a:pt x="0" y="0"/>
                </a:moveTo>
                <a:lnTo>
                  <a:pt x="5254625" y="0"/>
                </a:lnTo>
                <a:lnTo>
                  <a:pt x="5254625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74" name="Text 10"/>
          <p:cNvSpPr/>
          <p:nvPr/>
        </p:nvSpPr>
        <p:spPr>
          <a:xfrm>
            <a:off x="682560" y="3032280"/>
            <a:ext cx="967320" cy="22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Visa Network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775" name="Text 11"/>
          <p:cNvSpPr/>
          <p:nvPr/>
        </p:nvSpPr>
        <p:spPr>
          <a:xfrm>
            <a:off x="4393800" y="3000240"/>
            <a:ext cx="1371960" cy="28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65,000 TPS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776" name="Text 12"/>
          <p:cNvSpPr/>
          <p:nvPr/>
        </p:nvSpPr>
        <p:spPr>
          <a:xfrm>
            <a:off x="682560" y="3349800"/>
            <a:ext cx="5023440" cy="15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Global payment network capacity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777" name="Shape 13"/>
          <p:cNvSpPr/>
          <p:nvPr/>
        </p:nvSpPr>
        <p:spPr>
          <a:xfrm>
            <a:off x="539640" y="3778200"/>
            <a:ext cx="5253480" cy="729000"/>
          </a:xfrm>
          <a:custGeom>
            <a:avLst/>
            <a:gdLst/>
            <a:ahLst/>
            <a:rect l="l" t="t" r="r" b="b"/>
            <a:pathLst>
              <a:path w="5254625" h="730250">
                <a:moveTo>
                  <a:pt x="0" y="0"/>
                </a:moveTo>
                <a:lnTo>
                  <a:pt x="5254625" y="0"/>
                </a:lnTo>
                <a:lnTo>
                  <a:pt x="5254625" y="730250"/>
                </a:lnTo>
                <a:lnTo>
                  <a:pt x="0" y="730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78" name="Text 14"/>
          <p:cNvSpPr/>
          <p:nvPr/>
        </p:nvSpPr>
        <p:spPr>
          <a:xfrm>
            <a:off x="682560" y="3921120"/>
            <a:ext cx="503136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Transaction Fees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779" name="Text 15"/>
          <p:cNvSpPr/>
          <p:nvPr/>
        </p:nvSpPr>
        <p:spPr>
          <a:xfrm>
            <a:off x="682560" y="4175280"/>
            <a:ext cx="503136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Base layer fees spike during congestion ($5-50+), making micropayments impractical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780" name="Shape 16"/>
          <p:cNvSpPr/>
          <p:nvPr/>
        </p:nvSpPr>
        <p:spPr>
          <a:xfrm>
            <a:off x="341280" y="4881600"/>
            <a:ext cx="5650560" cy="4555080"/>
          </a:xfrm>
          <a:custGeom>
            <a:avLst/>
            <a:gdLst/>
            <a:ahLst/>
            <a:rect l="l" t="t" r="r" b="b"/>
            <a:pathLst>
              <a:path w="5651500" h="4556125">
                <a:moveTo>
                  <a:pt x="0" y="0"/>
                </a:moveTo>
                <a:lnTo>
                  <a:pt x="5651500" y="0"/>
                </a:lnTo>
                <a:lnTo>
                  <a:pt x="5651500" y="4556125"/>
                </a:lnTo>
                <a:lnTo>
                  <a:pt x="0" y="4556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781" name="Text 17"/>
          <p:cNvSpPr/>
          <p:nvPr/>
        </p:nvSpPr>
        <p:spPr>
          <a:xfrm>
            <a:off x="523800" y="5064120"/>
            <a:ext cx="5380560" cy="25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▶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HOW LIGHTNING WORKS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782" name="Shape 18"/>
          <p:cNvSpPr/>
          <p:nvPr/>
        </p:nvSpPr>
        <p:spPr>
          <a:xfrm>
            <a:off x="539640" y="5460840"/>
            <a:ext cx="5253480" cy="602280"/>
          </a:xfrm>
          <a:custGeom>
            <a:avLst/>
            <a:gdLst/>
            <a:ah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83" name="Text 19"/>
          <p:cNvSpPr/>
          <p:nvPr/>
        </p:nvSpPr>
        <p:spPr>
          <a:xfrm>
            <a:off x="650880" y="5572080"/>
            <a:ext cx="509472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1. Payment Channels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784" name="Text 20"/>
          <p:cNvSpPr/>
          <p:nvPr/>
        </p:nvSpPr>
        <p:spPr>
          <a:xfrm>
            <a:off x="650880" y="5794200"/>
            <a:ext cx="5086800" cy="15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Users lock BTC in multi-signature channels, enabling unlimited off-chain transactions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785" name="Shape 21"/>
          <p:cNvSpPr/>
          <p:nvPr/>
        </p:nvSpPr>
        <p:spPr>
          <a:xfrm>
            <a:off x="539640" y="6191280"/>
            <a:ext cx="5253480" cy="602280"/>
          </a:xfrm>
          <a:custGeom>
            <a:avLst/>
            <a:gdLst/>
            <a:ah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86" name="Text 22"/>
          <p:cNvSpPr/>
          <p:nvPr/>
        </p:nvSpPr>
        <p:spPr>
          <a:xfrm>
            <a:off x="650880" y="6302520"/>
            <a:ext cx="509472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2. Off-Chain Transactions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787" name="Text 23"/>
          <p:cNvSpPr/>
          <p:nvPr/>
        </p:nvSpPr>
        <p:spPr>
          <a:xfrm>
            <a:off x="650880" y="6524640"/>
            <a:ext cx="5086800" cy="15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Payments routed through network of channels without touching base layer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788" name="Shape 24"/>
          <p:cNvSpPr/>
          <p:nvPr/>
        </p:nvSpPr>
        <p:spPr>
          <a:xfrm>
            <a:off x="539640" y="6921360"/>
            <a:ext cx="5253480" cy="602280"/>
          </a:xfrm>
          <a:custGeom>
            <a:avLst/>
            <a:gdLst/>
            <a:ah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89" name="Text 25"/>
          <p:cNvSpPr/>
          <p:nvPr/>
        </p:nvSpPr>
        <p:spPr>
          <a:xfrm>
            <a:off x="650880" y="7032600"/>
            <a:ext cx="509472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3. Settlement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790" name="Text 26"/>
          <p:cNvSpPr/>
          <p:nvPr/>
        </p:nvSpPr>
        <p:spPr>
          <a:xfrm>
            <a:off x="650880" y="7254720"/>
            <a:ext cx="5086800" cy="15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Channel closes broadcast final balance to Bitcoin blockchain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791" name="Shape 27"/>
          <p:cNvSpPr/>
          <p:nvPr/>
        </p:nvSpPr>
        <p:spPr>
          <a:xfrm>
            <a:off x="539640" y="7651800"/>
            <a:ext cx="5253480" cy="411840"/>
          </a:xfrm>
          <a:custGeom>
            <a:avLst/>
            <a:gdLst/>
            <a:ahLst/>
            <a:rect l="l" t="t" r="r" b="b"/>
            <a:pathLst>
              <a:path w="5254625" h="412750">
                <a:moveTo>
                  <a:pt x="0" y="0"/>
                </a:moveTo>
                <a:lnTo>
                  <a:pt x="5254625" y="0"/>
                </a:lnTo>
                <a:lnTo>
                  <a:pt x="5254625" y="412750"/>
                </a:lnTo>
                <a:lnTo>
                  <a:pt x="0" y="4127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92" name="Text 28"/>
          <p:cNvSpPr/>
          <p:nvPr/>
        </p:nvSpPr>
        <p:spPr>
          <a:xfrm>
            <a:off x="619200" y="7763040"/>
            <a:ext cx="509472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ffffff"/>
                </a:solidFill>
                <a:latin typeface="MiSans"/>
                <a:ea typeface="MiSans"/>
              </a:rPr>
              <a:t>Result: Near-instant, sub-cent fees, millions of TPS capacity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793" name="Shape 29"/>
          <p:cNvSpPr/>
          <p:nvPr/>
        </p:nvSpPr>
        <p:spPr>
          <a:xfrm>
            <a:off x="6199200" y="1357200"/>
            <a:ext cx="5650560" cy="4332960"/>
          </a:xfrm>
          <a:custGeom>
            <a:avLst/>
            <a:gdLst/>
            <a:ahLst/>
            <a:rect l="l" t="t" r="r" b="b"/>
            <a:pathLst>
              <a:path w="5651500" h="4333875">
                <a:moveTo>
                  <a:pt x="0" y="0"/>
                </a:moveTo>
                <a:lnTo>
                  <a:pt x="5651500" y="0"/>
                </a:lnTo>
                <a:lnTo>
                  <a:pt x="5651500" y="4333875"/>
                </a:lnTo>
                <a:lnTo>
                  <a:pt x="0" y="43338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794" name="Text 30"/>
          <p:cNvSpPr/>
          <p:nvPr/>
        </p:nvSpPr>
        <p:spPr>
          <a:xfrm>
            <a:off x="6381720" y="1539720"/>
            <a:ext cx="5380560" cy="25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★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ADOPTION METRICS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795" name="Shape 31"/>
          <p:cNvSpPr/>
          <p:nvPr/>
        </p:nvSpPr>
        <p:spPr>
          <a:xfrm>
            <a:off x="6397560" y="1936800"/>
            <a:ext cx="5253480" cy="792720"/>
          </a:xfrm>
          <a:custGeom>
            <a:avLst/>
            <a:gdLst/>
            <a:ahLst/>
            <a:rect l="l" t="t" r="r" b="b"/>
            <a:pathLst>
              <a:path w="5254625" h="793750">
                <a:moveTo>
                  <a:pt x="0" y="0"/>
                </a:moveTo>
                <a:lnTo>
                  <a:pt x="5254625" y="0"/>
                </a:lnTo>
                <a:lnTo>
                  <a:pt x="5254625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96" name="Text 32"/>
          <p:cNvSpPr/>
          <p:nvPr/>
        </p:nvSpPr>
        <p:spPr>
          <a:xfrm>
            <a:off x="6540480" y="2127240"/>
            <a:ext cx="104652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Monthly Volume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797" name="Text 33"/>
          <p:cNvSpPr/>
          <p:nvPr/>
        </p:nvSpPr>
        <p:spPr>
          <a:xfrm>
            <a:off x="10741320" y="2079720"/>
            <a:ext cx="887760" cy="28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$1.17B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798" name="Text 34"/>
          <p:cNvSpPr/>
          <p:nvPr/>
        </p:nvSpPr>
        <p:spPr>
          <a:xfrm>
            <a:off x="6540480" y="2428920"/>
            <a:ext cx="5023440" cy="15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November 2025 (River data)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799" name="Shape 35"/>
          <p:cNvSpPr/>
          <p:nvPr/>
        </p:nvSpPr>
        <p:spPr>
          <a:xfrm>
            <a:off x="6397560" y="2857680"/>
            <a:ext cx="5253480" cy="792720"/>
          </a:xfrm>
          <a:custGeom>
            <a:avLst/>
            <a:gdLst/>
            <a:ahLst/>
            <a:rect l="l" t="t" r="r" b="b"/>
            <a:pathLst>
              <a:path w="5254625" h="793750">
                <a:moveTo>
                  <a:pt x="0" y="0"/>
                </a:moveTo>
                <a:lnTo>
                  <a:pt x="5254625" y="0"/>
                </a:lnTo>
                <a:lnTo>
                  <a:pt x="5254625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00" name="Text 36"/>
          <p:cNvSpPr/>
          <p:nvPr/>
        </p:nvSpPr>
        <p:spPr>
          <a:xfrm>
            <a:off x="6540480" y="3048120"/>
            <a:ext cx="137196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Monthly Transactions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801" name="Text 37"/>
          <p:cNvSpPr/>
          <p:nvPr/>
        </p:nvSpPr>
        <p:spPr>
          <a:xfrm>
            <a:off x="10847520" y="3000240"/>
            <a:ext cx="776880" cy="28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5.22M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802" name="Text 38"/>
          <p:cNvSpPr/>
          <p:nvPr/>
        </p:nvSpPr>
        <p:spPr>
          <a:xfrm>
            <a:off x="6540480" y="3349800"/>
            <a:ext cx="5023440" cy="15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Average transaction size: ~$224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803" name="Shape 39"/>
          <p:cNvSpPr/>
          <p:nvPr/>
        </p:nvSpPr>
        <p:spPr>
          <a:xfrm>
            <a:off x="6397560" y="3778200"/>
            <a:ext cx="5253480" cy="792720"/>
          </a:xfrm>
          <a:custGeom>
            <a:avLst/>
            <a:gdLst/>
            <a:ahLst/>
            <a:rect l="l" t="t" r="r" b="b"/>
            <a:pathLst>
              <a:path w="5254625" h="793750">
                <a:moveTo>
                  <a:pt x="0" y="0"/>
                </a:moveTo>
                <a:lnTo>
                  <a:pt x="5254625" y="0"/>
                </a:lnTo>
                <a:lnTo>
                  <a:pt x="5254625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04" name="Text 40"/>
          <p:cNvSpPr/>
          <p:nvPr/>
        </p:nvSpPr>
        <p:spPr>
          <a:xfrm>
            <a:off x="6540480" y="3968640"/>
            <a:ext cx="112608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Network Capacity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805" name="Text 41"/>
          <p:cNvSpPr/>
          <p:nvPr/>
        </p:nvSpPr>
        <p:spPr>
          <a:xfrm>
            <a:off x="10218960" y="3921120"/>
            <a:ext cx="1411920" cy="28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5,500+ BTC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806" name="Text 42"/>
          <p:cNvSpPr/>
          <p:nvPr/>
        </p:nvSpPr>
        <p:spPr>
          <a:xfrm>
            <a:off x="6540480" y="4270320"/>
            <a:ext cx="5023440" cy="15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Total BTC locked in channels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807" name="Shape 43"/>
          <p:cNvSpPr/>
          <p:nvPr/>
        </p:nvSpPr>
        <p:spPr>
          <a:xfrm>
            <a:off x="6397560" y="4699080"/>
            <a:ext cx="5253480" cy="792720"/>
          </a:xfrm>
          <a:custGeom>
            <a:avLst/>
            <a:gdLst/>
            <a:ahLst/>
            <a:rect l="l" t="t" r="r" b="b"/>
            <a:pathLst>
              <a:path w="5254625" h="793750">
                <a:moveTo>
                  <a:pt x="0" y="0"/>
                </a:moveTo>
                <a:lnTo>
                  <a:pt x="5254625" y="0"/>
                </a:lnTo>
                <a:lnTo>
                  <a:pt x="5254625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08" name="Text 44"/>
          <p:cNvSpPr/>
          <p:nvPr/>
        </p:nvSpPr>
        <p:spPr>
          <a:xfrm>
            <a:off x="6540480" y="4889520"/>
            <a:ext cx="86400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Active Nodes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809" name="Text 45"/>
          <p:cNvSpPr/>
          <p:nvPr/>
        </p:nvSpPr>
        <p:spPr>
          <a:xfrm>
            <a:off x="10641960" y="4842000"/>
            <a:ext cx="983160" cy="28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18,000+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810" name="Text 46"/>
          <p:cNvSpPr/>
          <p:nvPr/>
        </p:nvSpPr>
        <p:spPr>
          <a:xfrm>
            <a:off x="6540480" y="5191200"/>
            <a:ext cx="5023440" cy="15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Decentralized network participants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811" name="Shape 47"/>
          <p:cNvSpPr/>
          <p:nvPr/>
        </p:nvSpPr>
        <p:spPr>
          <a:xfrm>
            <a:off x="6199200" y="5865840"/>
            <a:ext cx="5650560" cy="3570840"/>
          </a:xfrm>
          <a:custGeom>
            <a:avLst/>
            <a:gdLst/>
            <a:ahLst/>
            <a:rect l="l" t="t" r="r" b="b"/>
            <a:pathLst>
              <a:path w="5651500" h="3571875">
                <a:moveTo>
                  <a:pt x="0" y="0"/>
                </a:moveTo>
                <a:lnTo>
                  <a:pt x="5651500" y="0"/>
                </a:lnTo>
                <a:lnTo>
                  <a:pt x="5651500" y="3571875"/>
                </a:lnTo>
                <a:lnTo>
                  <a:pt x="0" y="35718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812" name="Text 48"/>
          <p:cNvSpPr/>
          <p:nvPr/>
        </p:nvSpPr>
        <p:spPr>
          <a:xfrm>
            <a:off x="6381720" y="6048360"/>
            <a:ext cx="5380560" cy="25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●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REAL-WORLD USE CASES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813" name="Shape 49"/>
          <p:cNvSpPr/>
          <p:nvPr/>
        </p:nvSpPr>
        <p:spPr>
          <a:xfrm>
            <a:off x="6397560" y="6445080"/>
            <a:ext cx="5253480" cy="602280"/>
          </a:xfrm>
          <a:custGeom>
            <a:avLst/>
            <a:gdLst/>
            <a:ah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14" name="Text 50"/>
          <p:cNvSpPr/>
          <p:nvPr/>
        </p:nvSpPr>
        <p:spPr>
          <a:xfrm>
            <a:off x="6508800" y="6556320"/>
            <a:ext cx="509472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El Salvador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815" name="Text 51"/>
          <p:cNvSpPr/>
          <p:nvPr/>
        </p:nvSpPr>
        <p:spPr>
          <a:xfrm>
            <a:off x="6508800" y="6778800"/>
            <a:ext cx="5086800" cy="15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Bitcoin legal tender using Lightning for everyday payments (coffee, groceries)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816" name="Shape 52"/>
          <p:cNvSpPr/>
          <p:nvPr/>
        </p:nvSpPr>
        <p:spPr>
          <a:xfrm>
            <a:off x="6397560" y="7175520"/>
            <a:ext cx="5253480" cy="602280"/>
          </a:xfrm>
          <a:custGeom>
            <a:avLst/>
            <a:gdLst/>
            <a:ah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17" name="Text 53"/>
          <p:cNvSpPr/>
          <p:nvPr/>
        </p:nvSpPr>
        <p:spPr>
          <a:xfrm>
            <a:off x="6508800" y="7286760"/>
            <a:ext cx="509472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Strike App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818" name="Text 54"/>
          <p:cNvSpPr/>
          <p:nvPr/>
        </p:nvSpPr>
        <p:spPr>
          <a:xfrm>
            <a:off x="6508800" y="7508880"/>
            <a:ext cx="5086800" cy="15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Cross-border remittances: Send USD → Receiver gets local currency, sub-cent fees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819" name="Shape 55"/>
          <p:cNvSpPr/>
          <p:nvPr/>
        </p:nvSpPr>
        <p:spPr>
          <a:xfrm>
            <a:off x="6397560" y="7905600"/>
            <a:ext cx="5253480" cy="602280"/>
          </a:xfrm>
          <a:custGeom>
            <a:avLst/>
            <a:gdLst/>
            <a:ah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20" name="Text 56"/>
          <p:cNvSpPr/>
          <p:nvPr/>
        </p:nvSpPr>
        <p:spPr>
          <a:xfrm>
            <a:off x="6508800" y="8016840"/>
            <a:ext cx="509472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Streaming &amp; Gaming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821" name="Text 57"/>
          <p:cNvSpPr/>
          <p:nvPr/>
        </p:nvSpPr>
        <p:spPr>
          <a:xfrm>
            <a:off x="6508800" y="8238960"/>
            <a:ext cx="5086800" cy="15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Micropayments for content (pay-per-minute video, in-game purchases)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822" name="Shape 58"/>
          <p:cNvSpPr/>
          <p:nvPr/>
        </p:nvSpPr>
        <p:spPr>
          <a:xfrm>
            <a:off x="6397560" y="8636040"/>
            <a:ext cx="5253480" cy="602280"/>
          </a:xfrm>
          <a:custGeom>
            <a:avLst/>
            <a:gdLst/>
            <a:ah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23" name="Text 59"/>
          <p:cNvSpPr/>
          <p:nvPr/>
        </p:nvSpPr>
        <p:spPr>
          <a:xfrm>
            <a:off x="6508800" y="8747280"/>
            <a:ext cx="509472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AI Agent Payments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824" name="Text 60"/>
          <p:cNvSpPr/>
          <p:nvPr/>
        </p:nvSpPr>
        <p:spPr>
          <a:xfrm>
            <a:off x="6508800" y="8969400"/>
            <a:ext cx="5086800" cy="15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Lightning Labs toolkit enables autonomous machine-to-machine transactions</a:t>
            </a:r>
            <a:endParaRPr b="0" lang="en-HK" sz="88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5" name="Image 0"/>
          <p:cNvSpPr/>
          <p:nvPr/>
        </p:nvSpPr>
        <p:spPr>
          <a:xfrm>
            <a:off x="0" y="0"/>
            <a:ext cx="12191040" cy="6856920"/>
          </a:xfrm>
          <a:prstGeom prst="roundRect">
            <a:avLst>
              <a:gd name="adj" fmla="val 0"/>
            </a:avLst>
          </a:prstGeom>
          <a:solidFill>
            <a:srgbClr val="729fc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826" name="Shape 0"/>
          <p:cNvSpPr/>
          <p:nvPr/>
        </p:nvSpPr>
        <p:spPr>
          <a:xfrm>
            <a:off x="0" y="0"/>
            <a:ext cx="12191040" cy="6856920"/>
          </a:xfrm>
          <a:custGeom>
            <a:avLst/>
            <a:gdLst/>
            <a:ah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9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827" name="Shape 1"/>
          <p:cNvSpPr/>
          <p:nvPr/>
        </p:nvSpPr>
        <p:spPr>
          <a:xfrm>
            <a:off x="3305160" y="352440"/>
            <a:ext cx="8476200" cy="4818600"/>
          </a:xfrm>
          <a:custGeom>
            <a:avLst/>
            <a:gdLst/>
            <a:ahLst/>
            <a:rect l="l" t="t" r="r" b="b"/>
            <a:pathLst>
              <a:path w="8477250" h="4819650">
                <a:moveTo>
                  <a:pt x="0" y="0"/>
                </a:moveTo>
                <a:lnTo>
                  <a:pt x="8477250" y="0"/>
                </a:lnTo>
                <a:lnTo>
                  <a:pt x="8477250" y="4819650"/>
                </a:lnTo>
                <a:lnTo>
                  <a:pt x="0" y="48196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75858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828" name="Shape 2"/>
          <p:cNvSpPr/>
          <p:nvPr/>
        </p:nvSpPr>
        <p:spPr>
          <a:xfrm>
            <a:off x="10077480" y="838080"/>
            <a:ext cx="75240" cy="913320"/>
          </a:xfrm>
          <a:custGeom>
            <a:avLst/>
            <a:gdLst/>
            <a:ahLst/>
            <a:rect l="l" t="t" r="r" b="b"/>
            <a:pathLst>
              <a:path w="76200" h="914400">
                <a:moveTo>
                  <a:pt x="0" y="0"/>
                </a:moveTo>
                <a:lnTo>
                  <a:pt x="76200" y="0"/>
                </a:lnTo>
                <a:lnTo>
                  <a:pt x="76200" y="914400"/>
                </a:lnTo>
                <a:lnTo>
                  <a:pt x="0" y="9144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829" name="Shape 3"/>
          <p:cNvSpPr/>
          <p:nvPr/>
        </p:nvSpPr>
        <p:spPr>
          <a:xfrm>
            <a:off x="10410840" y="866880"/>
            <a:ext cx="856080" cy="856080"/>
          </a:xfrm>
          <a:custGeom>
            <a:avLst/>
            <a:gdLst/>
            <a:ahLst/>
            <a:rect l="l" t="t" r="r" b="b"/>
            <a:pathLst>
              <a:path w="857250" h="857250">
                <a:moveTo>
                  <a:pt x="0" y="0"/>
                </a:moveTo>
                <a:lnTo>
                  <a:pt x="857250" y="0"/>
                </a:lnTo>
                <a:lnTo>
                  <a:pt x="857250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30" name="Text 4"/>
          <p:cNvSpPr/>
          <p:nvPr/>
        </p:nvSpPr>
        <p:spPr>
          <a:xfrm>
            <a:off x="10267920" y="838080"/>
            <a:ext cx="1027800" cy="79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80000"/>
              </a:lnSpc>
              <a:buNone/>
            </a:pPr>
            <a:r>
              <a:rPr b="1" lang="en-US" sz="3600" spc="-1" strike="noStrike">
                <a:solidFill>
                  <a:srgbClr val="ffffff"/>
                </a:solidFill>
                <a:latin typeface="Noto Sans SC"/>
                <a:ea typeface="Noto Sans SC"/>
              </a:rPr>
              <a:t>10</a:t>
            </a:r>
            <a:endParaRPr b="0" lang="en-HK" sz="3600" spc="-1" strike="noStrike">
              <a:latin typeface="Arial"/>
            </a:endParaRPr>
          </a:p>
        </p:txBody>
      </p:sp>
      <p:sp>
        <p:nvSpPr>
          <p:cNvPr id="831" name="Text 5"/>
          <p:cNvSpPr/>
          <p:nvPr/>
        </p:nvSpPr>
        <p:spPr>
          <a:xfrm>
            <a:off x="3448080" y="2057400"/>
            <a:ext cx="7847640" cy="171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00000"/>
              </a:lnSpc>
              <a:buNone/>
            </a:pPr>
            <a:r>
              <a:rPr b="1" lang="en-US" sz="5400" spc="-1" strike="noStrike">
                <a:solidFill>
                  <a:srgbClr val="000000"/>
                </a:solidFill>
                <a:latin typeface="Noto Sans SC"/>
                <a:ea typeface="Noto Sans SC"/>
              </a:rPr>
              <a:t>CHALLENGES &amp; RISKS</a:t>
            </a:r>
            <a:endParaRPr b="0" lang="en-HK" sz="5400" spc="-1" strike="noStrike">
              <a:latin typeface="Arial"/>
            </a:endParaRPr>
          </a:p>
        </p:txBody>
      </p:sp>
      <p:sp>
        <p:nvSpPr>
          <p:cNvPr id="832" name="Shape 6"/>
          <p:cNvSpPr/>
          <p:nvPr/>
        </p:nvSpPr>
        <p:spPr>
          <a:xfrm>
            <a:off x="9468000" y="4000680"/>
            <a:ext cx="1827720" cy="75240"/>
          </a:xfrm>
          <a:custGeom>
            <a:avLst/>
            <a:gdLst/>
            <a:ahLst/>
            <a:rect l="l" t="t" r="r" b="b"/>
            <a:pathLst>
              <a:path w="1828800" h="76200">
                <a:moveTo>
                  <a:pt x="0" y="0"/>
                </a:moveTo>
                <a:lnTo>
                  <a:pt x="1828800" y="0"/>
                </a:lnTo>
                <a:lnTo>
                  <a:pt x="18288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833" name="Text 7"/>
          <p:cNvSpPr/>
          <p:nvPr/>
        </p:nvSpPr>
        <p:spPr>
          <a:xfrm>
            <a:off x="3619440" y="4305240"/>
            <a:ext cx="7675920" cy="3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90000"/>
              </a:lnSpc>
              <a:buNone/>
            </a:pPr>
            <a:r>
              <a:rPr b="1" lang="en-US" sz="2700" spc="-1" strike="noStrike">
                <a:solidFill>
                  <a:srgbClr val="000000"/>
                </a:solidFill>
                <a:latin typeface="Noto Sans SC"/>
                <a:ea typeface="Noto Sans SC"/>
              </a:rPr>
              <a:t>The Road Ahead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834" name="Shape 8"/>
          <p:cNvSpPr/>
          <p:nvPr/>
        </p:nvSpPr>
        <p:spPr>
          <a:xfrm>
            <a:off x="7293960" y="5686560"/>
            <a:ext cx="4485240" cy="817920"/>
          </a:xfrm>
          <a:custGeom>
            <a:avLst/>
            <a:gdLst/>
            <a:ahLst/>
            <a:rect l="l" t="t" r="r" b="b"/>
            <a:pathLst>
              <a:path w="4486275" h="819150">
                <a:moveTo>
                  <a:pt x="0" y="0"/>
                </a:moveTo>
                <a:lnTo>
                  <a:pt x="4486275" y="0"/>
                </a:lnTo>
                <a:lnTo>
                  <a:pt x="4486275" y="819150"/>
                </a:lnTo>
                <a:lnTo>
                  <a:pt x="0" y="8191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35" name="Text 9"/>
          <p:cNvSpPr/>
          <p:nvPr/>
        </p:nvSpPr>
        <p:spPr>
          <a:xfrm>
            <a:off x="7551000" y="5943600"/>
            <a:ext cx="4085280" cy="30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8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▶ </a:t>
            </a:r>
            <a:r>
              <a:rPr b="1" lang="en-US" sz="1800" spc="-1" strike="noStrike">
                <a:solidFill>
                  <a:srgbClr val="000000"/>
                </a:solidFill>
                <a:latin typeface="Noto Sans SC"/>
                <a:ea typeface="Noto Sans SC"/>
              </a:rPr>
              <a:t>Obstacles Bitcoin Must Overcome</a:t>
            </a:r>
            <a:endParaRPr b="0" lang="en-HK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6" name="Shape 0"/>
          <p:cNvSpPr/>
          <p:nvPr/>
        </p:nvSpPr>
        <p:spPr>
          <a:xfrm>
            <a:off x="341280" y="341280"/>
            <a:ext cx="11508120" cy="840240"/>
          </a:xfrm>
          <a:custGeom>
            <a:avLst/>
            <a:gdLst/>
            <a:ahLst/>
            <a:rect l="l" t="t" r="r" b="b"/>
            <a:pathLst>
              <a:path w="11509375" h="841375">
                <a:moveTo>
                  <a:pt x="0" y="0"/>
                </a:moveTo>
                <a:lnTo>
                  <a:pt x="11509375" y="0"/>
                </a:lnTo>
                <a:lnTo>
                  <a:pt x="11509375" y="841375"/>
                </a:lnTo>
                <a:lnTo>
                  <a:pt x="0" y="8413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37" name="Text 1"/>
          <p:cNvSpPr/>
          <p:nvPr/>
        </p:nvSpPr>
        <p:spPr>
          <a:xfrm>
            <a:off x="523800" y="523800"/>
            <a:ext cx="1128600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250" spc="-1" strike="noStrike">
                <a:solidFill>
                  <a:srgbClr val="000000"/>
                </a:solidFill>
                <a:latin typeface="Noto Sans SC"/>
                <a:ea typeface="Noto Sans SC"/>
              </a:rPr>
              <a:t>CRITICAL CHALLENGES: WHAT COULD GO WRONG?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838" name="Shape 2"/>
          <p:cNvSpPr/>
          <p:nvPr/>
        </p:nvSpPr>
        <p:spPr>
          <a:xfrm>
            <a:off x="523800" y="936720"/>
            <a:ext cx="761040" cy="62280"/>
          </a:xfrm>
          <a:custGeom>
            <a:avLst/>
            <a:gdLst/>
            <a:ahLst/>
            <a:rect l="l" t="t" r="r" b="b"/>
            <a:pathLst>
              <a:path w="762000" h="63500">
                <a:moveTo>
                  <a:pt x="0" y="0"/>
                </a:moveTo>
                <a:lnTo>
                  <a:pt x="762000" y="0"/>
                </a:lnTo>
                <a:lnTo>
                  <a:pt x="7620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839" name="Shape 3"/>
          <p:cNvSpPr/>
          <p:nvPr/>
        </p:nvSpPr>
        <p:spPr>
          <a:xfrm>
            <a:off x="341280" y="1357200"/>
            <a:ext cx="3721680" cy="3539160"/>
          </a:xfrm>
          <a:custGeom>
            <a:avLst/>
            <a:gdLst/>
            <a:ahLst/>
            <a:rect l="l" t="t" r="r" b="b"/>
            <a:pathLst>
              <a:path w="3722688" h="3540125">
                <a:moveTo>
                  <a:pt x="0" y="0"/>
                </a:moveTo>
                <a:lnTo>
                  <a:pt x="3722688" y="0"/>
                </a:lnTo>
                <a:lnTo>
                  <a:pt x="3722688" y="3540125"/>
                </a:lnTo>
                <a:lnTo>
                  <a:pt x="0" y="3540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840" name="Shape 4"/>
          <p:cNvSpPr/>
          <p:nvPr/>
        </p:nvSpPr>
        <p:spPr>
          <a:xfrm>
            <a:off x="547560" y="1563840"/>
            <a:ext cx="332280" cy="332280"/>
          </a:xfrm>
          <a:custGeom>
            <a:avLst/>
            <a:gdLst/>
            <a:ahLst/>
            <a:rect l="l" t="t" r="r" b="b"/>
            <a:pathLst>
              <a:path w="333375" h="333375">
                <a:moveTo>
                  <a:pt x="0" y="0"/>
                </a:moveTo>
                <a:lnTo>
                  <a:pt x="333375" y="0"/>
                </a:lnTo>
                <a:lnTo>
                  <a:pt x="333375" y="333375"/>
                </a:lnTo>
                <a:lnTo>
                  <a:pt x="0" y="333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41" name="Text 5"/>
          <p:cNvSpPr/>
          <p:nvPr/>
        </p:nvSpPr>
        <p:spPr>
          <a:xfrm>
            <a:off x="484200" y="1539720"/>
            <a:ext cx="363960" cy="28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▶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842" name="Text 6"/>
          <p:cNvSpPr/>
          <p:nvPr/>
        </p:nvSpPr>
        <p:spPr>
          <a:xfrm>
            <a:off x="1000080" y="1619280"/>
            <a:ext cx="1126080" cy="22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000000"/>
                </a:solidFill>
                <a:latin typeface="Noto Sans SC"/>
                <a:ea typeface="Noto Sans SC"/>
              </a:rPr>
              <a:t>SCALABILITY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843" name="Shape 7"/>
          <p:cNvSpPr/>
          <p:nvPr/>
        </p:nvSpPr>
        <p:spPr>
          <a:xfrm>
            <a:off x="539640" y="2063880"/>
            <a:ext cx="3324600" cy="792720"/>
          </a:xfrm>
          <a:custGeom>
            <a:avLst/>
            <a:gdLst/>
            <a:ahLst/>
            <a:rect l="l" t="t" r="r" b="b"/>
            <a:pathLst>
              <a:path w="3325813" h="793750">
                <a:moveTo>
                  <a:pt x="0" y="0"/>
                </a:moveTo>
                <a:lnTo>
                  <a:pt x="3325813" y="0"/>
                </a:lnTo>
                <a:lnTo>
                  <a:pt x="3325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44" name="Text 8"/>
          <p:cNvSpPr/>
          <p:nvPr/>
        </p:nvSpPr>
        <p:spPr>
          <a:xfrm>
            <a:off x="650880" y="2174760"/>
            <a:ext cx="316584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Base Layer Limitations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845" name="Text 9"/>
          <p:cNvSpPr/>
          <p:nvPr/>
        </p:nvSpPr>
        <p:spPr>
          <a:xfrm>
            <a:off x="650880" y="2428920"/>
            <a:ext cx="315792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~7 TPS is insufficient for global payment network. Block size debates led to Bitcoin Cash fork in 2017.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846" name="Shape 10"/>
          <p:cNvSpPr/>
          <p:nvPr/>
        </p:nvSpPr>
        <p:spPr>
          <a:xfrm>
            <a:off x="539640" y="2984400"/>
            <a:ext cx="3324600" cy="792720"/>
          </a:xfrm>
          <a:custGeom>
            <a:avLst/>
            <a:gdLst/>
            <a:ahLst/>
            <a:rect l="l" t="t" r="r" b="b"/>
            <a:pathLst>
              <a:path w="3325813" h="793750">
                <a:moveTo>
                  <a:pt x="0" y="0"/>
                </a:moveTo>
                <a:lnTo>
                  <a:pt x="3325813" y="0"/>
                </a:lnTo>
                <a:lnTo>
                  <a:pt x="3325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47" name="Text 11"/>
          <p:cNvSpPr/>
          <p:nvPr/>
        </p:nvSpPr>
        <p:spPr>
          <a:xfrm>
            <a:off x="650880" y="3095640"/>
            <a:ext cx="316584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Fee Volatility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848" name="Text 12"/>
          <p:cNvSpPr/>
          <p:nvPr/>
        </p:nvSpPr>
        <p:spPr>
          <a:xfrm>
            <a:off x="650880" y="3349800"/>
            <a:ext cx="315792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During congestion, fees spike to $5-50+, making small transactions uneconomical.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849" name="Shape 13"/>
          <p:cNvSpPr/>
          <p:nvPr/>
        </p:nvSpPr>
        <p:spPr>
          <a:xfrm>
            <a:off x="539640" y="3905280"/>
            <a:ext cx="3324600" cy="792720"/>
          </a:xfrm>
          <a:custGeom>
            <a:avLst/>
            <a:gdLst/>
            <a:ahLst/>
            <a:rect l="l" t="t" r="r" b="b"/>
            <a:pathLst>
              <a:path w="3325813" h="793750">
                <a:moveTo>
                  <a:pt x="0" y="0"/>
                </a:moveTo>
                <a:lnTo>
                  <a:pt x="3325813" y="0"/>
                </a:lnTo>
                <a:lnTo>
                  <a:pt x="3325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50" name="Text 14"/>
          <p:cNvSpPr/>
          <p:nvPr/>
        </p:nvSpPr>
        <p:spPr>
          <a:xfrm>
            <a:off x="650880" y="4016520"/>
            <a:ext cx="316584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Mitigation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851" name="Text 15"/>
          <p:cNvSpPr/>
          <p:nvPr/>
        </p:nvSpPr>
        <p:spPr>
          <a:xfrm>
            <a:off x="650880" y="4270320"/>
            <a:ext cx="315792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Layer 2 solutions (Lightning, sidechains) process transactions off-chain, settling on base layer.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852" name="Shape 16"/>
          <p:cNvSpPr/>
          <p:nvPr/>
        </p:nvSpPr>
        <p:spPr>
          <a:xfrm>
            <a:off x="4236120" y="1357200"/>
            <a:ext cx="3721680" cy="3539160"/>
          </a:xfrm>
          <a:custGeom>
            <a:avLst/>
            <a:gdLst/>
            <a:ahLst/>
            <a:rect l="l" t="t" r="r" b="b"/>
            <a:pathLst>
              <a:path w="3722688" h="3540125">
                <a:moveTo>
                  <a:pt x="0" y="0"/>
                </a:moveTo>
                <a:lnTo>
                  <a:pt x="3722688" y="0"/>
                </a:lnTo>
                <a:lnTo>
                  <a:pt x="3722688" y="3540125"/>
                </a:lnTo>
                <a:lnTo>
                  <a:pt x="0" y="3540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853" name="Shape 17"/>
          <p:cNvSpPr/>
          <p:nvPr/>
        </p:nvSpPr>
        <p:spPr>
          <a:xfrm>
            <a:off x="4442400" y="1563840"/>
            <a:ext cx="332280" cy="332280"/>
          </a:xfrm>
          <a:custGeom>
            <a:avLst/>
            <a:gdLst/>
            <a:ahLst/>
            <a:rect l="l" t="t" r="r" b="b"/>
            <a:pathLst>
              <a:path w="333375" h="333375">
                <a:moveTo>
                  <a:pt x="0" y="0"/>
                </a:moveTo>
                <a:lnTo>
                  <a:pt x="333375" y="0"/>
                </a:lnTo>
                <a:lnTo>
                  <a:pt x="333375" y="333375"/>
                </a:lnTo>
                <a:lnTo>
                  <a:pt x="0" y="333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54" name="Text 18"/>
          <p:cNvSpPr/>
          <p:nvPr/>
        </p:nvSpPr>
        <p:spPr>
          <a:xfrm>
            <a:off x="4378680" y="1539720"/>
            <a:ext cx="363960" cy="28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▶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855" name="Text 19"/>
          <p:cNvSpPr/>
          <p:nvPr/>
        </p:nvSpPr>
        <p:spPr>
          <a:xfrm>
            <a:off x="4894920" y="1619280"/>
            <a:ext cx="1459440" cy="22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000000"/>
                </a:solidFill>
                <a:latin typeface="Noto Sans SC"/>
                <a:ea typeface="Noto Sans SC"/>
              </a:rPr>
              <a:t>ENVIRONMENTAL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856" name="Shape 20"/>
          <p:cNvSpPr/>
          <p:nvPr/>
        </p:nvSpPr>
        <p:spPr>
          <a:xfrm>
            <a:off x="4434480" y="2063880"/>
            <a:ext cx="3324600" cy="792720"/>
          </a:xfrm>
          <a:custGeom>
            <a:avLst/>
            <a:gdLst/>
            <a:ahLst/>
            <a:rect l="l" t="t" r="r" b="b"/>
            <a:pathLst>
              <a:path w="3325813" h="793750">
                <a:moveTo>
                  <a:pt x="0" y="0"/>
                </a:moveTo>
                <a:lnTo>
                  <a:pt x="3325813" y="0"/>
                </a:lnTo>
                <a:lnTo>
                  <a:pt x="3325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57" name="Text 21"/>
          <p:cNvSpPr/>
          <p:nvPr/>
        </p:nvSpPr>
        <p:spPr>
          <a:xfrm>
            <a:off x="4545360" y="2174760"/>
            <a:ext cx="316584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Energy Consumption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858" name="Text 22"/>
          <p:cNvSpPr/>
          <p:nvPr/>
        </p:nvSpPr>
        <p:spPr>
          <a:xfrm>
            <a:off x="4545360" y="2428920"/>
            <a:ext cx="315792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Bitcoin uses ~150 TWh/year, comparable to Argentina or Poland. Critics argue this is wasteful.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859" name="Shape 23"/>
          <p:cNvSpPr/>
          <p:nvPr/>
        </p:nvSpPr>
        <p:spPr>
          <a:xfrm>
            <a:off x="4434480" y="2984400"/>
            <a:ext cx="3324600" cy="792720"/>
          </a:xfrm>
          <a:custGeom>
            <a:avLst/>
            <a:gdLst/>
            <a:ahLst/>
            <a:rect l="l" t="t" r="r" b="b"/>
            <a:pathLst>
              <a:path w="3325813" h="793750">
                <a:moveTo>
                  <a:pt x="0" y="0"/>
                </a:moveTo>
                <a:lnTo>
                  <a:pt x="3325813" y="0"/>
                </a:lnTo>
                <a:lnTo>
                  <a:pt x="3325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60" name="Text 24"/>
          <p:cNvSpPr/>
          <p:nvPr/>
        </p:nvSpPr>
        <p:spPr>
          <a:xfrm>
            <a:off x="4545360" y="3095640"/>
            <a:ext cx="316584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Carbon Footprint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861" name="Text 25"/>
          <p:cNvSpPr/>
          <p:nvPr/>
        </p:nvSpPr>
        <p:spPr>
          <a:xfrm>
            <a:off x="4545360" y="3349800"/>
            <a:ext cx="315792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Estimated 65-70 Mt CO2/year. Coal-powered mining in some regions contributes to climate change.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862" name="Shape 26"/>
          <p:cNvSpPr/>
          <p:nvPr/>
        </p:nvSpPr>
        <p:spPr>
          <a:xfrm>
            <a:off x="4434480" y="3905280"/>
            <a:ext cx="3324600" cy="792720"/>
          </a:xfrm>
          <a:custGeom>
            <a:avLst/>
            <a:gdLst/>
            <a:ahLst/>
            <a:rect l="l" t="t" r="r" b="b"/>
            <a:pathLst>
              <a:path w="3325813" h="793750">
                <a:moveTo>
                  <a:pt x="0" y="0"/>
                </a:moveTo>
                <a:lnTo>
                  <a:pt x="3325813" y="0"/>
                </a:lnTo>
                <a:lnTo>
                  <a:pt x="3325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63" name="Text 27"/>
          <p:cNvSpPr/>
          <p:nvPr/>
        </p:nvSpPr>
        <p:spPr>
          <a:xfrm>
            <a:off x="4545360" y="4016520"/>
            <a:ext cx="316584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Mitigation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864" name="Text 28"/>
          <p:cNvSpPr/>
          <p:nvPr/>
        </p:nvSpPr>
        <p:spPr>
          <a:xfrm>
            <a:off x="4545360" y="4270320"/>
            <a:ext cx="315792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~55% of mining uses renewable energy. Stranded energy (flared gas, hydro surplus) increasingly utilized.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865" name="Shape 29"/>
          <p:cNvSpPr/>
          <p:nvPr/>
        </p:nvSpPr>
        <p:spPr>
          <a:xfrm>
            <a:off x="8130600" y="1357200"/>
            <a:ext cx="3721680" cy="3539160"/>
          </a:xfrm>
          <a:custGeom>
            <a:avLst/>
            <a:gdLst/>
            <a:ahLst/>
            <a:rect l="l" t="t" r="r" b="b"/>
            <a:pathLst>
              <a:path w="3722688" h="3540125">
                <a:moveTo>
                  <a:pt x="0" y="0"/>
                </a:moveTo>
                <a:lnTo>
                  <a:pt x="3722688" y="0"/>
                </a:lnTo>
                <a:lnTo>
                  <a:pt x="3722688" y="3540125"/>
                </a:lnTo>
                <a:lnTo>
                  <a:pt x="0" y="3540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866" name="Shape 30"/>
          <p:cNvSpPr/>
          <p:nvPr/>
        </p:nvSpPr>
        <p:spPr>
          <a:xfrm>
            <a:off x="8336880" y="1563840"/>
            <a:ext cx="332280" cy="332280"/>
          </a:xfrm>
          <a:custGeom>
            <a:avLst/>
            <a:gdLst/>
            <a:ahLst/>
            <a:rect l="l" t="t" r="r" b="b"/>
            <a:pathLst>
              <a:path w="333375" h="333375">
                <a:moveTo>
                  <a:pt x="0" y="0"/>
                </a:moveTo>
                <a:lnTo>
                  <a:pt x="333375" y="0"/>
                </a:lnTo>
                <a:lnTo>
                  <a:pt x="333375" y="333375"/>
                </a:lnTo>
                <a:lnTo>
                  <a:pt x="0" y="333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67" name="Text 31"/>
          <p:cNvSpPr/>
          <p:nvPr/>
        </p:nvSpPr>
        <p:spPr>
          <a:xfrm>
            <a:off x="8273520" y="1539720"/>
            <a:ext cx="363960" cy="28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▶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868" name="Text 32"/>
          <p:cNvSpPr/>
          <p:nvPr/>
        </p:nvSpPr>
        <p:spPr>
          <a:xfrm>
            <a:off x="8789400" y="1619280"/>
            <a:ext cx="1189440" cy="22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000000"/>
                </a:solidFill>
                <a:latin typeface="Noto Sans SC"/>
                <a:ea typeface="Noto Sans SC"/>
              </a:rPr>
              <a:t>REGULATORY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869" name="Shape 33"/>
          <p:cNvSpPr/>
          <p:nvPr/>
        </p:nvSpPr>
        <p:spPr>
          <a:xfrm>
            <a:off x="8328960" y="2063880"/>
            <a:ext cx="3324600" cy="792720"/>
          </a:xfrm>
          <a:custGeom>
            <a:avLst/>
            <a:gdLst/>
            <a:ahLst/>
            <a:rect l="l" t="t" r="r" b="b"/>
            <a:pathLst>
              <a:path w="3325813" h="793750">
                <a:moveTo>
                  <a:pt x="0" y="0"/>
                </a:moveTo>
                <a:lnTo>
                  <a:pt x="3325813" y="0"/>
                </a:lnTo>
                <a:lnTo>
                  <a:pt x="3325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70" name="Text 34"/>
          <p:cNvSpPr/>
          <p:nvPr/>
        </p:nvSpPr>
        <p:spPr>
          <a:xfrm>
            <a:off x="8440200" y="2174760"/>
            <a:ext cx="316584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Government Bans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871" name="Text 35"/>
          <p:cNvSpPr/>
          <p:nvPr/>
        </p:nvSpPr>
        <p:spPr>
          <a:xfrm>
            <a:off x="8440200" y="2428920"/>
            <a:ext cx="315792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China banned mining and trading in 2021. Other countries could follow, restricting adoption.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872" name="Shape 36"/>
          <p:cNvSpPr/>
          <p:nvPr/>
        </p:nvSpPr>
        <p:spPr>
          <a:xfrm>
            <a:off x="8328960" y="2984400"/>
            <a:ext cx="3324600" cy="792720"/>
          </a:xfrm>
          <a:custGeom>
            <a:avLst/>
            <a:gdLst/>
            <a:ahLst/>
            <a:rect l="l" t="t" r="r" b="b"/>
            <a:pathLst>
              <a:path w="3325813" h="793750">
                <a:moveTo>
                  <a:pt x="0" y="0"/>
                </a:moveTo>
                <a:lnTo>
                  <a:pt x="3325813" y="0"/>
                </a:lnTo>
                <a:lnTo>
                  <a:pt x="3325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73" name="Text 37"/>
          <p:cNvSpPr/>
          <p:nvPr/>
        </p:nvSpPr>
        <p:spPr>
          <a:xfrm>
            <a:off x="8440200" y="3095640"/>
            <a:ext cx="316584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Taxation &amp; Reporting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874" name="Text 38"/>
          <p:cNvSpPr/>
          <p:nvPr/>
        </p:nvSpPr>
        <p:spPr>
          <a:xfrm>
            <a:off x="8440200" y="3349800"/>
            <a:ext cx="315792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Complex tax treatment. Heavy reporting requirements could deter mainstream adoption.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875" name="Shape 39"/>
          <p:cNvSpPr/>
          <p:nvPr/>
        </p:nvSpPr>
        <p:spPr>
          <a:xfrm>
            <a:off x="8328960" y="3905280"/>
            <a:ext cx="3324600" cy="792720"/>
          </a:xfrm>
          <a:custGeom>
            <a:avLst/>
            <a:gdLst/>
            <a:ahLst/>
            <a:rect l="l" t="t" r="r" b="b"/>
            <a:pathLst>
              <a:path w="3325813" h="793750">
                <a:moveTo>
                  <a:pt x="0" y="0"/>
                </a:moveTo>
                <a:lnTo>
                  <a:pt x="3325813" y="0"/>
                </a:lnTo>
                <a:lnTo>
                  <a:pt x="3325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76" name="Text 40"/>
          <p:cNvSpPr/>
          <p:nvPr/>
        </p:nvSpPr>
        <p:spPr>
          <a:xfrm>
            <a:off x="8440200" y="4016520"/>
            <a:ext cx="316584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Mitigation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877" name="Text 41"/>
          <p:cNvSpPr/>
          <p:nvPr/>
        </p:nvSpPr>
        <p:spPr>
          <a:xfrm>
            <a:off x="8440200" y="4270320"/>
            <a:ext cx="315792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Regulatory clarity emerging (US ETF approval, EU MiCA). Compliance infrastructure improving.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878" name="Shape 42"/>
          <p:cNvSpPr/>
          <p:nvPr/>
        </p:nvSpPr>
        <p:spPr>
          <a:xfrm>
            <a:off x="341280" y="5072040"/>
            <a:ext cx="3721680" cy="3539160"/>
          </a:xfrm>
          <a:custGeom>
            <a:avLst/>
            <a:gdLst/>
            <a:ahLst/>
            <a:rect l="l" t="t" r="r" b="b"/>
            <a:pathLst>
              <a:path w="3722688" h="3540125">
                <a:moveTo>
                  <a:pt x="0" y="0"/>
                </a:moveTo>
                <a:lnTo>
                  <a:pt x="3722688" y="0"/>
                </a:lnTo>
                <a:lnTo>
                  <a:pt x="3722688" y="3540125"/>
                </a:lnTo>
                <a:lnTo>
                  <a:pt x="0" y="3540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879" name="Shape 43"/>
          <p:cNvSpPr/>
          <p:nvPr/>
        </p:nvSpPr>
        <p:spPr>
          <a:xfrm>
            <a:off x="547560" y="5278320"/>
            <a:ext cx="332280" cy="332280"/>
          </a:xfrm>
          <a:custGeom>
            <a:avLst/>
            <a:gdLst/>
            <a:ahLst/>
            <a:rect l="l" t="t" r="r" b="b"/>
            <a:pathLst>
              <a:path w="333375" h="333375">
                <a:moveTo>
                  <a:pt x="0" y="0"/>
                </a:moveTo>
                <a:lnTo>
                  <a:pt x="333375" y="0"/>
                </a:lnTo>
                <a:lnTo>
                  <a:pt x="333375" y="333375"/>
                </a:lnTo>
                <a:lnTo>
                  <a:pt x="0" y="333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80" name="Text 44"/>
          <p:cNvSpPr/>
          <p:nvPr/>
        </p:nvSpPr>
        <p:spPr>
          <a:xfrm>
            <a:off x="484200" y="5254560"/>
            <a:ext cx="363960" cy="28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▶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881" name="Text 45"/>
          <p:cNvSpPr/>
          <p:nvPr/>
        </p:nvSpPr>
        <p:spPr>
          <a:xfrm>
            <a:off x="1000080" y="5334120"/>
            <a:ext cx="1181520" cy="22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000000"/>
                </a:solidFill>
                <a:latin typeface="Noto Sans SC"/>
                <a:ea typeface="Noto Sans SC"/>
              </a:rPr>
              <a:t>COMPETITION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882" name="Shape 46"/>
          <p:cNvSpPr/>
          <p:nvPr/>
        </p:nvSpPr>
        <p:spPr>
          <a:xfrm>
            <a:off x="539640" y="5778360"/>
            <a:ext cx="3324600" cy="792720"/>
          </a:xfrm>
          <a:custGeom>
            <a:avLst/>
            <a:gdLst/>
            <a:ahLst/>
            <a:rect l="l" t="t" r="r" b="b"/>
            <a:pathLst>
              <a:path w="3325813" h="793750">
                <a:moveTo>
                  <a:pt x="0" y="0"/>
                </a:moveTo>
                <a:lnTo>
                  <a:pt x="3325813" y="0"/>
                </a:lnTo>
                <a:lnTo>
                  <a:pt x="3325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83" name="Text 47"/>
          <p:cNvSpPr/>
          <p:nvPr/>
        </p:nvSpPr>
        <p:spPr>
          <a:xfrm>
            <a:off x="650880" y="5889600"/>
            <a:ext cx="316584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Ethereum &amp; Smart Contracts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884" name="Text 48"/>
          <p:cNvSpPr/>
          <p:nvPr/>
        </p:nvSpPr>
        <p:spPr>
          <a:xfrm>
            <a:off x="650880" y="6143760"/>
            <a:ext cx="315792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Superior programmability, DeFi ecosystem, NFTs. ETH market cap ~$300B+.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885" name="Shape 49"/>
          <p:cNvSpPr/>
          <p:nvPr/>
        </p:nvSpPr>
        <p:spPr>
          <a:xfrm>
            <a:off x="539640" y="6699240"/>
            <a:ext cx="3324600" cy="792720"/>
          </a:xfrm>
          <a:custGeom>
            <a:avLst/>
            <a:gdLst/>
            <a:ahLst/>
            <a:rect l="l" t="t" r="r" b="b"/>
            <a:pathLst>
              <a:path w="3325813" h="793750">
                <a:moveTo>
                  <a:pt x="0" y="0"/>
                </a:moveTo>
                <a:lnTo>
                  <a:pt x="3325813" y="0"/>
                </a:lnTo>
                <a:lnTo>
                  <a:pt x="3325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86" name="Text 50"/>
          <p:cNvSpPr/>
          <p:nvPr/>
        </p:nvSpPr>
        <p:spPr>
          <a:xfrm>
            <a:off x="650880" y="6810480"/>
            <a:ext cx="316584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Solana &amp; High-Speed Chains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887" name="Text 51"/>
          <p:cNvSpPr/>
          <p:nvPr/>
        </p:nvSpPr>
        <p:spPr>
          <a:xfrm>
            <a:off x="650880" y="7064280"/>
            <a:ext cx="315792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65,000 TPS, sub-cent fees, growing ecosystem. Could capture payment use cases.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888" name="Shape 52"/>
          <p:cNvSpPr/>
          <p:nvPr/>
        </p:nvSpPr>
        <p:spPr>
          <a:xfrm>
            <a:off x="539640" y="7620120"/>
            <a:ext cx="3324600" cy="792720"/>
          </a:xfrm>
          <a:custGeom>
            <a:avLst/>
            <a:gdLst/>
            <a:ahLst/>
            <a:rect l="l" t="t" r="r" b="b"/>
            <a:pathLst>
              <a:path w="3325813" h="793750">
                <a:moveTo>
                  <a:pt x="0" y="0"/>
                </a:moveTo>
                <a:lnTo>
                  <a:pt x="3325813" y="0"/>
                </a:lnTo>
                <a:lnTo>
                  <a:pt x="3325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89" name="Text 53"/>
          <p:cNvSpPr/>
          <p:nvPr/>
        </p:nvSpPr>
        <p:spPr>
          <a:xfrm>
            <a:off x="650880" y="7731000"/>
            <a:ext cx="316584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CBDCs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890" name="Text 54"/>
          <p:cNvSpPr/>
          <p:nvPr/>
        </p:nvSpPr>
        <p:spPr>
          <a:xfrm>
            <a:off x="650880" y="7985160"/>
            <a:ext cx="315792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Central bank digital currencies (China's e-yuan) could compete for digital payments.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891" name="Shape 55"/>
          <p:cNvSpPr/>
          <p:nvPr/>
        </p:nvSpPr>
        <p:spPr>
          <a:xfrm>
            <a:off x="4236120" y="5072040"/>
            <a:ext cx="3721680" cy="3539160"/>
          </a:xfrm>
          <a:custGeom>
            <a:avLst/>
            <a:gdLst/>
            <a:ahLst/>
            <a:rect l="l" t="t" r="r" b="b"/>
            <a:pathLst>
              <a:path w="3722688" h="3540125">
                <a:moveTo>
                  <a:pt x="0" y="0"/>
                </a:moveTo>
                <a:lnTo>
                  <a:pt x="3722688" y="0"/>
                </a:lnTo>
                <a:lnTo>
                  <a:pt x="3722688" y="3540125"/>
                </a:lnTo>
                <a:lnTo>
                  <a:pt x="0" y="3540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892" name="Shape 56"/>
          <p:cNvSpPr/>
          <p:nvPr/>
        </p:nvSpPr>
        <p:spPr>
          <a:xfrm>
            <a:off x="4442400" y="5278320"/>
            <a:ext cx="332280" cy="332280"/>
          </a:xfrm>
          <a:custGeom>
            <a:avLst/>
            <a:gdLst/>
            <a:ahLst/>
            <a:rect l="l" t="t" r="r" b="b"/>
            <a:pathLst>
              <a:path w="333375" h="333375">
                <a:moveTo>
                  <a:pt x="0" y="0"/>
                </a:moveTo>
                <a:lnTo>
                  <a:pt x="333375" y="0"/>
                </a:lnTo>
                <a:lnTo>
                  <a:pt x="333375" y="333375"/>
                </a:lnTo>
                <a:lnTo>
                  <a:pt x="0" y="333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93" name="Text 57"/>
          <p:cNvSpPr/>
          <p:nvPr/>
        </p:nvSpPr>
        <p:spPr>
          <a:xfrm>
            <a:off x="4378680" y="5254560"/>
            <a:ext cx="363960" cy="28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▶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894" name="Text 58"/>
          <p:cNvSpPr/>
          <p:nvPr/>
        </p:nvSpPr>
        <p:spPr>
          <a:xfrm>
            <a:off x="4894920" y="5334120"/>
            <a:ext cx="1475280" cy="22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000000"/>
                </a:solidFill>
                <a:latin typeface="Noto Sans SC"/>
                <a:ea typeface="Noto Sans SC"/>
              </a:rPr>
              <a:t>CENTRALIZATION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895" name="Shape 59"/>
          <p:cNvSpPr/>
          <p:nvPr/>
        </p:nvSpPr>
        <p:spPr>
          <a:xfrm>
            <a:off x="4434480" y="5778360"/>
            <a:ext cx="3324600" cy="792720"/>
          </a:xfrm>
          <a:custGeom>
            <a:avLst/>
            <a:gdLst/>
            <a:ahLst/>
            <a:rect l="l" t="t" r="r" b="b"/>
            <a:pathLst>
              <a:path w="3325813" h="793750">
                <a:moveTo>
                  <a:pt x="0" y="0"/>
                </a:moveTo>
                <a:lnTo>
                  <a:pt x="3325813" y="0"/>
                </a:lnTo>
                <a:lnTo>
                  <a:pt x="3325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96" name="Text 60"/>
          <p:cNvSpPr/>
          <p:nvPr/>
        </p:nvSpPr>
        <p:spPr>
          <a:xfrm>
            <a:off x="4545360" y="5889600"/>
            <a:ext cx="316584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Mining Pool Concentration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897" name="Text 61"/>
          <p:cNvSpPr/>
          <p:nvPr/>
        </p:nvSpPr>
        <p:spPr>
          <a:xfrm>
            <a:off x="4545360" y="6143760"/>
            <a:ext cx="315792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Top 5 pools control ~55% of hashrate. Foundry USA alone has ~35%.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898" name="Shape 62"/>
          <p:cNvSpPr/>
          <p:nvPr/>
        </p:nvSpPr>
        <p:spPr>
          <a:xfrm>
            <a:off x="4434480" y="6699240"/>
            <a:ext cx="3324600" cy="792720"/>
          </a:xfrm>
          <a:custGeom>
            <a:avLst/>
            <a:gdLst/>
            <a:ahLst/>
            <a:rect l="l" t="t" r="r" b="b"/>
            <a:pathLst>
              <a:path w="3325813" h="793750">
                <a:moveTo>
                  <a:pt x="0" y="0"/>
                </a:moveTo>
                <a:lnTo>
                  <a:pt x="3325813" y="0"/>
                </a:lnTo>
                <a:lnTo>
                  <a:pt x="3325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99" name="Text 63"/>
          <p:cNvSpPr/>
          <p:nvPr/>
        </p:nvSpPr>
        <p:spPr>
          <a:xfrm>
            <a:off x="4545360" y="6810480"/>
            <a:ext cx="316584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Large Holder Influence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900" name="Text 64"/>
          <p:cNvSpPr/>
          <p:nvPr/>
        </p:nvSpPr>
        <p:spPr>
          <a:xfrm>
            <a:off x="4545360" y="7064280"/>
            <a:ext cx="315792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"Whales" with 1,000+ BTC can move markets. Satoshi's 1M BTC remains untouched.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901" name="Shape 65"/>
          <p:cNvSpPr/>
          <p:nvPr/>
        </p:nvSpPr>
        <p:spPr>
          <a:xfrm>
            <a:off x="4434480" y="7620120"/>
            <a:ext cx="3324600" cy="792720"/>
          </a:xfrm>
          <a:custGeom>
            <a:avLst/>
            <a:gdLst/>
            <a:ahLst/>
            <a:rect l="l" t="t" r="r" b="b"/>
            <a:pathLst>
              <a:path w="3325813" h="793750">
                <a:moveTo>
                  <a:pt x="0" y="0"/>
                </a:moveTo>
                <a:lnTo>
                  <a:pt x="3325813" y="0"/>
                </a:lnTo>
                <a:lnTo>
                  <a:pt x="3325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02" name="Text 66"/>
          <p:cNvSpPr/>
          <p:nvPr/>
        </p:nvSpPr>
        <p:spPr>
          <a:xfrm>
            <a:off x="4545360" y="7731000"/>
            <a:ext cx="316584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Mitigation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903" name="Text 67"/>
          <p:cNvSpPr/>
          <p:nvPr/>
        </p:nvSpPr>
        <p:spPr>
          <a:xfrm>
            <a:off x="4545360" y="7985160"/>
            <a:ext cx="315792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Stratum V2 protocol gives miners more control. Geographic distribution improving.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904" name="Shape 68"/>
          <p:cNvSpPr/>
          <p:nvPr/>
        </p:nvSpPr>
        <p:spPr>
          <a:xfrm>
            <a:off x="8130600" y="5072040"/>
            <a:ext cx="3721680" cy="3539160"/>
          </a:xfrm>
          <a:custGeom>
            <a:avLst/>
            <a:gdLst/>
            <a:ahLst/>
            <a:rect l="l" t="t" r="r" b="b"/>
            <a:pathLst>
              <a:path w="3722688" h="3540125">
                <a:moveTo>
                  <a:pt x="0" y="0"/>
                </a:moveTo>
                <a:lnTo>
                  <a:pt x="3722688" y="0"/>
                </a:lnTo>
                <a:lnTo>
                  <a:pt x="3722688" y="3540125"/>
                </a:lnTo>
                <a:lnTo>
                  <a:pt x="0" y="3540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905" name="Shape 69"/>
          <p:cNvSpPr/>
          <p:nvPr/>
        </p:nvSpPr>
        <p:spPr>
          <a:xfrm>
            <a:off x="8336880" y="5278320"/>
            <a:ext cx="332280" cy="332280"/>
          </a:xfrm>
          <a:custGeom>
            <a:avLst/>
            <a:gdLst/>
            <a:ahLst/>
            <a:rect l="l" t="t" r="r" b="b"/>
            <a:pathLst>
              <a:path w="333375" h="333375">
                <a:moveTo>
                  <a:pt x="0" y="0"/>
                </a:moveTo>
                <a:lnTo>
                  <a:pt x="333375" y="0"/>
                </a:lnTo>
                <a:lnTo>
                  <a:pt x="333375" y="333375"/>
                </a:lnTo>
                <a:lnTo>
                  <a:pt x="0" y="333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06" name="Text 70"/>
          <p:cNvSpPr/>
          <p:nvPr/>
        </p:nvSpPr>
        <p:spPr>
          <a:xfrm>
            <a:off x="8273520" y="5254560"/>
            <a:ext cx="363960" cy="28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▶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907" name="Text 71"/>
          <p:cNvSpPr/>
          <p:nvPr/>
        </p:nvSpPr>
        <p:spPr>
          <a:xfrm>
            <a:off x="8789400" y="5334120"/>
            <a:ext cx="1522800" cy="22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000000"/>
                </a:solidFill>
                <a:latin typeface="Noto Sans SC"/>
                <a:ea typeface="Noto Sans SC"/>
              </a:rPr>
              <a:t>TECHNICAL RISKS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908" name="Shape 72"/>
          <p:cNvSpPr/>
          <p:nvPr/>
        </p:nvSpPr>
        <p:spPr>
          <a:xfrm>
            <a:off x="8328960" y="5778360"/>
            <a:ext cx="3324600" cy="792720"/>
          </a:xfrm>
          <a:custGeom>
            <a:avLst/>
            <a:gdLst/>
            <a:ahLst/>
            <a:rect l="l" t="t" r="r" b="b"/>
            <a:pathLst>
              <a:path w="3325813" h="793750">
                <a:moveTo>
                  <a:pt x="0" y="0"/>
                </a:moveTo>
                <a:lnTo>
                  <a:pt x="3325813" y="0"/>
                </a:lnTo>
                <a:lnTo>
                  <a:pt x="3325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09" name="Text 73"/>
          <p:cNvSpPr/>
          <p:nvPr/>
        </p:nvSpPr>
        <p:spPr>
          <a:xfrm>
            <a:off x="8440200" y="5889600"/>
            <a:ext cx="316584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Quantum Computing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910" name="Text 74"/>
          <p:cNvSpPr/>
          <p:nvPr/>
        </p:nvSpPr>
        <p:spPr>
          <a:xfrm>
            <a:off x="8440200" y="6143760"/>
            <a:ext cx="315792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Future quantum computers could break SHA-256. Bitcoin would need to upgrade cryptography.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911" name="Shape 75"/>
          <p:cNvSpPr/>
          <p:nvPr/>
        </p:nvSpPr>
        <p:spPr>
          <a:xfrm>
            <a:off x="8328960" y="6699240"/>
            <a:ext cx="3324600" cy="792720"/>
          </a:xfrm>
          <a:custGeom>
            <a:avLst/>
            <a:gdLst/>
            <a:ahLst/>
            <a:rect l="l" t="t" r="r" b="b"/>
            <a:pathLst>
              <a:path w="3325813" h="793750">
                <a:moveTo>
                  <a:pt x="0" y="0"/>
                </a:moveTo>
                <a:lnTo>
                  <a:pt x="3325813" y="0"/>
                </a:lnTo>
                <a:lnTo>
                  <a:pt x="3325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12" name="Text 76"/>
          <p:cNvSpPr/>
          <p:nvPr/>
        </p:nvSpPr>
        <p:spPr>
          <a:xfrm>
            <a:off x="8440200" y="6810480"/>
            <a:ext cx="316584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Protocol Bugs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913" name="Text 77"/>
          <p:cNvSpPr/>
          <p:nvPr/>
        </p:nvSpPr>
        <p:spPr>
          <a:xfrm>
            <a:off x="8440200" y="7064280"/>
            <a:ext cx="315792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Critical vulnerability could be exploited. 2010 inflation bug created 184 billion BTC (quickly fixed).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914" name="Shape 78"/>
          <p:cNvSpPr/>
          <p:nvPr/>
        </p:nvSpPr>
        <p:spPr>
          <a:xfrm>
            <a:off x="8328960" y="7620120"/>
            <a:ext cx="3324600" cy="792720"/>
          </a:xfrm>
          <a:custGeom>
            <a:avLst/>
            <a:gdLst/>
            <a:ahLst/>
            <a:rect l="l" t="t" r="r" b="b"/>
            <a:pathLst>
              <a:path w="3325813" h="793750">
                <a:moveTo>
                  <a:pt x="0" y="0"/>
                </a:moveTo>
                <a:lnTo>
                  <a:pt x="3325813" y="0"/>
                </a:lnTo>
                <a:lnTo>
                  <a:pt x="3325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15" name="Text 79"/>
          <p:cNvSpPr/>
          <p:nvPr/>
        </p:nvSpPr>
        <p:spPr>
          <a:xfrm>
            <a:off x="8440200" y="7731000"/>
            <a:ext cx="316584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Mitigation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916" name="Text 80"/>
          <p:cNvSpPr/>
          <p:nvPr/>
        </p:nvSpPr>
        <p:spPr>
          <a:xfrm>
            <a:off x="8440200" y="7985160"/>
            <a:ext cx="315792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Conservative development, extensive testing, slow upgrade process minimizes risk.</a:t>
            </a:r>
            <a:endParaRPr b="0" lang="en-HK" sz="88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7" name="Image 0"/>
          <p:cNvSpPr/>
          <p:nvPr/>
        </p:nvSpPr>
        <p:spPr>
          <a:xfrm>
            <a:off x="0" y="0"/>
            <a:ext cx="12191040" cy="6856920"/>
          </a:xfrm>
          <a:prstGeom prst="roundRect">
            <a:avLst>
              <a:gd name="adj" fmla="val 0"/>
            </a:avLst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918" name="Shape 0"/>
          <p:cNvSpPr/>
          <p:nvPr/>
        </p:nvSpPr>
        <p:spPr>
          <a:xfrm>
            <a:off x="0" y="0"/>
            <a:ext cx="12191040" cy="6856920"/>
          </a:xfrm>
          <a:custGeom>
            <a:avLst/>
            <a:gdLst/>
            <a:ah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9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919" name="Shape 1"/>
          <p:cNvSpPr/>
          <p:nvPr/>
        </p:nvSpPr>
        <p:spPr>
          <a:xfrm>
            <a:off x="409680" y="781200"/>
            <a:ext cx="8476200" cy="3961440"/>
          </a:xfrm>
          <a:custGeom>
            <a:avLst/>
            <a:gdLst/>
            <a:ahLst/>
            <a:rect l="l" t="t" r="r" b="b"/>
            <a:pathLst>
              <a:path w="8477250" h="3962400">
                <a:moveTo>
                  <a:pt x="0" y="0"/>
                </a:moveTo>
                <a:lnTo>
                  <a:pt x="8477250" y="0"/>
                </a:lnTo>
                <a:lnTo>
                  <a:pt x="8477250" y="3962400"/>
                </a:lnTo>
                <a:lnTo>
                  <a:pt x="0" y="39624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75858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920" name="Shape 2"/>
          <p:cNvSpPr/>
          <p:nvPr/>
        </p:nvSpPr>
        <p:spPr>
          <a:xfrm>
            <a:off x="923760" y="1295280"/>
            <a:ext cx="856080" cy="856080"/>
          </a:xfrm>
          <a:custGeom>
            <a:avLst/>
            <a:gdLst/>
            <a:ahLst/>
            <a:rect l="l" t="t" r="r" b="b"/>
            <a:pathLst>
              <a:path w="857250" h="857250">
                <a:moveTo>
                  <a:pt x="0" y="0"/>
                </a:moveTo>
                <a:lnTo>
                  <a:pt x="857250" y="0"/>
                </a:lnTo>
                <a:lnTo>
                  <a:pt x="857250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21" name="Text 3"/>
          <p:cNvSpPr/>
          <p:nvPr/>
        </p:nvSpPr>
        <p:spPr>
          <a:xfrm>
            <a:off x="781200" y="1266840"/>
            <a:ext cx="1027800" cy="79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80000"/>
              </a:lnSpc>
              <a:buNone/>
            </a:pPr>
            <a:r>
              <a:rPr b="1" lang="en-US" sz="3600" spc="-1" strike="noStrike">
                <a:solidFill>
                  <a:srgbClr val="ffffff"/>
                </a:solidFill>
                <a:latin typeface="Noto Sans SC"/>
                <a:ea typeface="Noto Sans SC"/>
              </a:rPr>
              <a:t>11</a:t>
            </a:r>
            <a:endParaRPr b="0" lang="en-HK" sz="3600" spc="-1" strike="noStrike">
              <a:latin typeface="Arial"/>
            </a:endParaRPr>
          </a:p>
        </p:txBody>
      </p:sp>
      <p:sp>
        <p:nvSpPr>
          <p:cNvPr id="922" name="Shape 4"/>
          <p:cNvSpPr/>
          <p:nvPr/>
        </p:nvSpPr>
        <p:spPr>
          <a:xfrm>
            <a:off x="2038320" y="1266840"/>
            <a:ext cx="75240" cy="913320"/>
          </a:xfrm>
          <a:custGeom>
            <a:avLst/>
            <a:gdLst/>
            <a:ahLst/>
            <a:rect l="l" t="t" r="r" b="b"/>
            <a:pathLst>
              <a:path w="76200" h="914400">
                <a:moveTo>
                  <a:pt x="0" y="0"/>
                </a:moveTo>
                <a:lnTo>
                  <a:pt x="76200" y="0"/>
                </a:lnTo>
                <a:lnTo>
                  <a:pt x="76200" y="914400"/>
                </a:lnTo>
                <a:lnTo>
                  <a:pt x="0" y="9144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923" name="Text 5"/>
          <p:cNvSpPr/>
          <p:nvPr/>
        </p:nvSpPr>
        <p:spPr>
          <a:xfrm>
            <a:off x="895320" y="2486160"/>
            <a:ext cx="7847640" cy="85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5400" spc="-1" strike="noStrike">
                <a:solidFill>
                  <a:srgbClr val="000000"/>
                </a:solidFill>
                <a:latin typeface="Noto Sans SC"/>
                <a:ea typeface="Noto Sans SC"/>
              </a:rPr>
              <a:t>FUTURE OUTLOOK</a:t>
            </a:r>
            <a:endParaRPr b="0" lang="en-HK" sz="5400" spc="-1" strike="noStrike">
              <a:latin typeface="Arial"/>
            </a:endParaRPr>
          </a:p>
        </p:txBody>
      </p:sp>
      <p:sp>
        <p:nvSpPr>
          <p:cNvPr id="924" name="Shape 6"/>
          <p:cNvSpPr/>
          <p:nvPr/>
        </p:nvSpPr>
        <p:spPr>
          <a:xfrm>
            <a:off x="895320" y="3571920"/>
            <a:ext cx="1827720" cy="75240"/>
          </a:xfrm>
          <a:custGeom>
            <a:avLst/>
            <a:gdLst/>
            <a:ahLst/>
            <a:rect l="l" t="t" r="r" b="b"/>
            <a:pathLst>
              <a:path w="1828800" h="76200">
                <a:moveTo>
                  <a:pt x="0" y="0"/>
                </a:moveTo>
                <a:lnTo>
                  <a:pt x="1828800" y="0"/>
                </a:lnTo>
                <a:lnTo>
                  <a:pt x="18288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925" name="Text 7"/>
          <p:cNvSpPr/>
          <p:nvPr/>
        </p:nvSpPr>
        <p:spPr>
          <a:xfrm>
            <a:off x="895320" y="3876840"/>
            <a:ext cx="7675920" cy="3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700" spc="-1" strike="noStrike">
                <a:solidFill>
                  <a:srgbClr val="000000"/>
                </a:solidFill>
                <a:latin typeface="Noto Sans SC"/>
                <a:ea typeface="Noto Sans SC"/>
              </a:rPr>
              <a:t>Predictions &amp; Scenarios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926" name="Shape 8"/>
          <p:cNvSpPr/>
          <p:nvPr/>
        </p:nvSpPr>
        <p:spPr>
          <a:xfrm>
            <a:off x="409680" y="5257800"/>
            <a:ext cx="11371680" cy="817920"/>
          </a:xfrm>
          <a:custGeom>
            <a:avLst/>
            <a:gdLst/>
            <a:ahLst/>
            <a:rect l="l" t="t" r="r" b="b"/>
            <a:pathLst>
              <a:path w="11372850" h="819150">
                <a:moveTo>
                  <a:pt x="0" y="0"/>
                </a:moveTo>
                <a:lnTo>
                  <a:pt x="11372850" y="0"/>
                </a:lnTo>
                <a:lnTo>
                  <a:pt x="11372850" y="819150"/>
                </a:lnTo>
                <a:lnTo>
                  <a:pt x="0" y="8191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27" name="Text 9"/>
          <p:cNvSpPr/>
          <p:nvPr/>
        </p:nvSpPr>
        <p:spPr>
          <a:xfrm>
            <a:off x="666720" y="5514840"/>
            <a:ext cx="10971720" cy="30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8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▶ </a:t>
            </a:r>
            <a:r>
              <a:rPr b="1" lang="en-US" sz="1800" spc="-1" strike="noStrike">
                <a:solidFill>
                  <a:srgbClr val="000000"/>
                </a:solidFill>
                <a:latin typeface="Noto Sans SC"/>
                <a:ea typeface="Noto Sans SC"/>
              </a:rPr>
              <a:t>Expert Forecasts &amp; Price Targets for 2025-2030</a:t>
            </a:r>
            <a:endParaRPr b="0" lang="en-HK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8" name="Shape 0"/>
          <p:cNvSpPr/>
          <p:nvPr/>
        </p:nvSpPr>
        <p:spPr>
          <a:xfrm>
            <a:off x="341280" y="341280"/>
            <a:ext cx="11508120" cy="840240"/>
          </a:xfrm>
          <a:custGeom>
            <a:avLst/>
            <a:gdLst/>
            <a:ahLst/>
            <a:rect l="l" t="t" r="r" b="b"/>
            <a:pathLst>
              <a:path w="11509375" h="841375">
                <a:moveTo>
                  <a:pt x="0" y="0"/>
                </a:moveTo>
                <a:lnTo>
                  <a:pt x="11509375" y="0"/>
                </a:lnTo>
                <a:lnTo>
                  <a:pt x="11509375" y="841375"/>
                </a:lnTo>
                <a:lnTo>
                  <a:pt x="0" y="8413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29" name="Text 1"/>
          <p:cNvSpPr/>
          <p:nvPr/>
        </p:nvSpPr>
        <p:spPr>
          <a:xfrm>
            <a:off x="523800" y="523800"/>
            <a:ext cx="1128600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250" spc="-1" strike="noStrike">
                <a:solidFill>
                  <a:srgbClr val="000000"/>
                </a:solidFill>
                <a:latin typeface="Noto Sans SC"/>
                <a:ea typeface="Noto Sans SC"/>
              </a:rPr>
              <a:t>BITCOIN 2025-2030: EXPERT PREDICTIONS &amp; SCENARIOS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930" name="Shape 2"/>
          <p:cNvSpPr/>
          <p:nvPr/>
        </p:nvSpPr>
        <p:spPr>
          <a:xfrm>
            <a:off x="523800" y="936720"/>
            <a:ext cx="761040" cy="62280"/>
          </a:xfrm>
          <a:custGeom>
            <a:avLst/>
            <a:gdLst/>
            <a:ahLst/>
            <a:rect l="l" t="t" r="r" b="b"/>
            <a:pathLst>
              <a:path w="762000" h="63500">
                <a:moveTo>
                  <a:pt x="0" y="0"/>
                </a:moveTo>
                <a:lnTo>
                  <a:pt x="762000" y="0"/>
                </a:lnTo>
                <a:lnTo>
                  <a:pt x="7620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931" name="Shape 3"/>
          <p:cNvSpPr/>
          <p:nvPr/>
        </p:nvSpPr>
        <p:spPr>
          <a:xfrm>
            <a:off x="341280" y="1357200"/>
            <a:ext cx="6221880" cy="3570840"/>
          </a:xfrm>
          <a:custGeom>
            <a:avLst/>
            <a:gdLst/>
            <a:ahLst/>
            <a:rect l="l" t="t" r="r" b="b"/>
            <a:pathLst>
              <a:path w="6223000" h="3571875">
                <a:moveTo>
                  <a:pt x="0" y="0"/>
                </a:moveTo>
                <a:lnTo>
                  <a:pt x="6223000" y="0"/>
                </a:lnTo>
                <a:lnTo>
                  <a:pt x="6223000" y="3571875"/>
                </a:lnTo>
                <a:lnTo>
                  <a:pt x="0" y="35718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932" name="Text 4"/>
          <p:cNvSpPr/>
          <p:nvPr/>
        </p:nvSpPr>
        <p:spPr>
          <a:xfrm>
            <a:off x="523800" y="1539720"/>
            <a:ext cx="5951880" cy="25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■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INSTITUTIONAL PRICE TARGETS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933" name="Shape 5"/>
          <p:cNvSpPr/>
          <p:nvPr/>
        </p:nvSpPr>
        <p:spPr>
          <a:xfrm>
            <a:off x="539640" y="1936800"/>
            <a:ext cx="5825160" cy="919800"/>
          </a:xfrm>
          <a:custGeom>
            <a:avLst/>
            <a:gdLst/>
            <a:ahLst/>
            <a:rect l="l" t="t" r="r" b="b"/>
            <a:pathLst>
              <a:path w="5826125" h="920750">
                <a:moveTo>
                  <a:pt x="0" y="0"/>
                </a:moveTo>
                <a:lnTo>
                  <a:pt x="5826125" y="0"/>
                </a:lnTo>
                <a:lnTo>
                  <a:pt x="5826125" y="920750"/>
                </a:lnTo>
                <a:lnTo>
                  <a:pt x="0" y="920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34" name="Text 6"/>
          <p:cNvSpPr/>
          <p:nvPr/>
        </p:nvSpPr>
        <p:spPr>
          <a:xfrm>
            <a:off x="650880" y="2063880"/>
            <a:ext cx="943560" cy="22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2025 Targets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935" name="Text 7"/>
          <p:cNvSpPr/>
          <p:nvPr/>
        </p:nvSpPr>
        <p:spPr>
          <a:xfrm>
            <a:off x="4961160" y="2048040"/>
            <a:ext cx="1388160" cy="25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a63e"/>
                </a:solidFill>
                <a:latin typeface="Noto Sans SC"/>
                <a:ea typeface="Noto Sans SC"/>
              </a:rPr>
              <a:t>$120K - $285K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936" name="Text 8"/>
          <p:cNvSpPr/>
          <p:nvPr/>
        </p:nvSpPr>
        <p:spPr>
          <a:xfrm>
            <a:off x="650880" y="2365200"/>
            <a:ext cx="2824560" cy="15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Standard Chartered: $200K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937" name="Text 9"/>
          <p:cNvSpPr/>
          <p:nvPr/>
        </p:nvSpPr>
        <p:spPr>
          <a:xfrm>
            <a:off x="3483720" y="2365200"/>
            <a:ext cx="2824560" cy="15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Fundstrat: $250K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938" name="Text 10"/>
          <p:cNvSpPr/>
          <p:nvPr/>
        </p:nvSpPr>
        <p:spPr>
          <a:xfrm>
            <a:off x="650880" y="2587680"/>
            <a:ext cx="2824560" cy="15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H.C. Wainwright: $225K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939" name="Text 11"/>
          <p:cNvSpPr/>
          <p:nvPr/>
        </p:nvSpPr>
        <p:spPr>
          <a:xfrm>
            <a:off x="3483720" y="2587680"/>
            <a:ext cx="2824560" cy="15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21st Capital: $285K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940" name="Shape 12"/>
          <p:cNvSpPr/>
          <p:nvPr/>
        </p:nvSpPr>
        <p:spPr>
          <a:xfrm>
            <a:off x="539640" y="2984400"/>
            <a:ext cx="5825160" cy="697320"/>
          </a:xfrm>
          <a:custGeom>
            <a:avLst/>
            <a:gdLst/>
            <a:ahLst/>
            <a:rect l="l" t="t" r="r" b="b"/>
            <a:pathLst>
              <a:path w="5826125" h="698500">
                <a:moveTo>
                  <a:pt x="0" y="0"/>
                </a:moveTo>
                <a:lnTo>
                  <a:pt x="5826125" y="0"/>
                </a:lnTo>
                <a:lnTo>
                  <a:pt x="5826125" y="698500"/>
                </a:lnTo>
                <a:lnTo>
                  <a:pt x="0" y="6985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41" name="Text 13"/>
          <p:cNvSpPr/>
          <p:nvPr/>
        </p:nvSpPr>
        <p:spPr>
          <a:xfrm>
            <a:off x="650880" y="3111480"/>
            <a:ext cx="943560" cy="22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2026 Targets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942" name="Text 14"/>
          <p:cNvSpPr/>
          <p:nvPr/>
        </p:nvSpPr>
        <p:spPr>
          <a:xfrm>
            <a:off x="5067000" y="3095640"/>
            <a:ext cx="1276920" cy="25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a63e"/>
                </a:solidFill>
                <a:latin typeface="Noto Sans SC"/>
                <a:ea typeface="Noto Sans SC"/>
              </a:rPr>
              <a:t>$78K - $142K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943" name="Text 15"/>
          <p:cNvSpPr/>
          <p:nvPr/>
        </p:nvSpPr>
        <p:spPr>
          <a:xfrm>
            <a:off x="650880" y="3413160"/>
            <a:ext cx="5658480" cy="15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Consolidation after 2025 peak, continued ETF inflows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944" name="Shape 16"/>
          <p:cNvSpPr/>
          <p:nvPr/>
        </p:nvSpPr>
        <p:spPr>
          <a:xfrm>
            <a:off x="539640" y="3809880"/>
            <a:ext cx="5825160" cy="919800"/>
          </a:xfrm>
          <a:custGeom>
            <a:avLst/>
            <a:gdLst/>
            <a:ahLst/>
            <a:rect l="l" t="t" r="r" b="b"/>
            <a:pathLst>
              <a:path w="5826125" h="920750">
                <a:moveTo>
                  <a:pt x="0" y="0"/>
                </a:moveTo>
                <a:lnTo>
                  <a:pt x="5826125" y="0"/>
                </a:lnTo>
                <a:lnTo>
                  <a:pt x="5826125" y="920750"/>
                </a:lnTo>
                <a:lnTo>
                  <a:pt x="0" y="920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45" name="Text 17"/>
          <p:cNvSpPr/>
          <p:nvPr/>
        </p:nvSpPr>
        <p:spPr>
          <a:xfrm>
            <a:off x="650880" y="3936960"/>
            <a:ext cx="943560" cy="22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2030 Targets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946" name="Text 18"/>
          <p:cNvSpPr/>
          <p:nvPr/>
        </p:nvSpPr>
        <p:spPr>
          <a:xfrm>
            <a:off x="4992840" y="3921120"/>
            <a:ext cx="1356120" cy="25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a63e"/>
                </a:solidFill>
                <a:latin typeface="Noto Sans SC"/>
                <a:ea typeface="Noto Sans SC"/>
              </a:rPr>
              <a:t>$109K - $1.5M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947" name="Text 19"/>
          <p:cNvSpPr/>
          <p:nvPr/>
        </p:nvSpPr>
        <p:spPr>
          <a:xfrm>
            <a:off x="650880" y="4238640"/>
            <a:ext cx="2824560" cy="15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Jack Dorsey: $1M+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948" name="Text 20"/>
          <p:cNvSpPr/>
          <p:nvPr/>
        </p:nvSpPr>
        <p:spPr>
          <a:xfrm>
            <a:off x="3483720" y="4238640"/>
            <a:ext cx="2824560" cy="15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Cathie Wood: $1.5M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949" name="Text 21"/>
          <p:cNvSpPr/>
          <p:nvPr/>
        </p:nvSpPr>
        <p:spPr>
          <a:xfrm>
            <a:off x="650880" y="4460760"/>
            <a:ext cx="2824560" cy="15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JPMorgan: $170K-266K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950" name="Text 22"/>
          <p:cNvSpPr/>
          <p:nvPr/>
        </p:nvSpPr>
        <p:spPr>
          <a:xfrm>
            <a:off x="3483720" y="4460760"/>
            <a:ext cx="2824560" cy="15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Conservative: $109K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951" name="Shape 23"/>
          <p:cNvSpPr/>
          <p:nvPr/>
        </p:nvSpPr>
        <p:spPr>
          <a:xfrm>
            <a:off x="341280" y="5103720"/>
            <a:ext cx="6221880" cy="3316680"/>
          </a:xfrm>
          <a:custGeom>
            <a:avLst/>
            <a:gdLst/>
            <a:ahLst/>
            <a:rect l="l" t="t" r="r" b="b"/>
            <a:pathLst>
              <a:path w="6223000" h="3317875">
                <a:moveTo>
                  <a:pt x="0" y="0"/>
                </a:moveTo>
                <a:lnTo>
                  <a:pt x="6223000" y="0"/>
                </a:lnTo>
                <a:lnTo>
                  <a:pt x="6223000" y="3317875"/>
                </a:lnTo>
                <a:lnTo>
                  <a:pt x="0" y="33178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952" name="Text 24"/>
          <p:cNvSpPr/>
          <p:nvPr/>
        </p:nvSpPr>
        <p:spPr>
          <a:xfrm>
            <a:off x="523800" y="5286240"/>
            <a:ext cx="5951880" cy="25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▶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KEY CATALYSTS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953" name="Shape 25"/>
          <p:cNvSpPr/>
          <p:nvPr/>
        </p:nvSpPr>
        <p:spPr>
          <a:xfrm>
            <a:off x="539640" y="5683320"/>
            <a:ext cx="2848320" cy="761040"/>
          </a:xfrm>
          <a:custGeom>
            <a:avLst/>
            <a:gdLst/>
            <a:ahLst/>
            <a:rect l="l" t="t" r="r" b="b"/>
            <a:pathLst>
              <a:path w="2849563" h="762000">
                <a:moveTo>
                  <a:pt x="0" y="0"/>
                </a:moveTo>
                <a:lnTo>
                  <a:pt x="2849563" y="0"/>
                </a:lnTo>
                <a:lnTo>
                  <a:pt x="2849563" y="762000"/>
                </a:lnTo>
                <a:lnTo>
                  <a:pt x="0" y="762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54" name="Text 26"/>
          <p:cNvSpPr/>
          <p:nvPr/>
        </p:nvSpPr>
        <p:spPr>
          <a:xfrm>
            <a:off x="650880" y="5794200"/>
            <a:ext cx="268956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★ </a:t>
            </a: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ETF Inflows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955" name="Text 27"/>
          <p:cNvSpPr/>
          <p:nvPr/>
        </p:nvSpPr>
        <p:spPr>
          <a:xfrm>
            <a:off x="650880" y="6016680"/>
            <a:ext cx="268164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Continued institutional buying through regulated vehicles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956" name="Shape 28"/>
          <p:cNvSpPr/>
          <p:nvPr/>
        </p:nvSpPr>
        <p:spPr>
          <a:xfrm>
            <a:off x="3515400" y="5683320"/>
            <a:ext cx="2848320" cy="761040"/>
          </a:xfrm>
          <a:custGeom>
            <a:avLst/>
            <a:gdLst/>
            <a:ahLst/>
            <a:rect l="l" t="t" r="r" b="b"/>
            <a:pathLst>
              <a:path w="2849563" h="762000">
                <a:moveTo>
                  <a:pt x="0" y="0"/>
                </a:moveTo>
                <a:lnTo>
                  <a:pt x="2849563" y="0"/>
                </a:lnTo>
                <a:lnTo>
                  <a:pt x="2849563" y="762000"/>
                </a:lnTo>
                <a:lnTo>
                  <a:pt x="0" y="762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57" name="Text 29"/>
          <p:cNvSpPr/>
          <p:nvPr/>
        </p:nvSpPr>
        <p:spPr>
          <a:xfrm>
            <a:off x="3626640" y="5794200"/>
            <a:ext cx="268956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★ </a:t>
            </a: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Corporate Treasury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958" name="Text 30"/>
          <p:cNvSpPr/>
          <p:nvPr/>
        </p:nvSpPr>
        <p:spPr>
          <a:xfrm>
            <a:off x="3626640" y="6016680"/>
            <a:ext cx="268164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More companies following MicroStrategy's Bitcoin strategy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959" name="Shape 31"/>
          <p:cNvSpPr/>
          <p:nvPr/>
        </p:nvSpPr>
        <p:spPr>
          <a:xfrm>
            <a:off x="539640" y="6572160"/>
            <a:ext cx="2848320" cy="761040"/>
          </a:xfrm>
          <a:custGeom>
            <a:avLst/>
            <a:gdLst/>
            <a:ahLst/>
            <a:rect l="l" t="t" r="r" b="b"/>
            <a:pathLst>
              <a:path w="2849563" h="762000">
                <a:moveTo>
                  <a:pt x="0" y="0"/>
                </a:moveTo>
                <a:lnTo>
                  <a:pt x="2849563" y="0"/>
                </a:lnTo>
                <a:lnTo>
                  <a:pt x="2849563" y="762000"/>
                </a:lnTo>
                <a:lnTo>
                  <a:pt x="0" y="762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60" name="Text 32"/>
          <p:cNvSpPr/>
          <p:nvPr/>
        </p:nvSpPr>
        <p:spPr>
          <a:xfrm>
            <a:off x="650880" y="6683400"/>
            <a:ext cx="268956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★ </a:t>
            </a: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Nation-State Adoption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961" name="Text 33"/>
          <p:cNvSpPr/>
          <p:nvPr/>
        </p:nvSpPr>
        <p:spPr>
          <a:xfrm>
            <a:off x="650880" y="6905520"/>
            <a:ext cx="268164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More countries making Bitcoin legal tender or reserve asset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962" name="Shape 34"/>
          <p:cNvSpPr/>
          <p:nvPr/>
        </p:nvSpPr>
        <p:spPr>
          <a:xfrm>
            <a:off x="3515400" y="6572160"/>
            <a:ext cx="2848320" cy="761040"/>
          </a:xfrm>
          <a:custGeom>
            <a:avLst/>
            <a:gdLst/>
            <a:ahLst/>
            <a:rect l="l" t="t" r="r" b="b"/>
            <a:pathLst>
              <a:path w="2849563" h="762000">
                <a:moveTo>
                  <a:pt x="0" y="0"/>
                </a:moveTo>
                <a:lnTo>
                  <a:pt x="2849563" y="0"/>
                </a:lnTo>
                <a:lnTo>
                  <a:pt x="2849563" y="762000"/>
                </a:lnTo>
                <a:lnTo>
                  <a:pt x="0" y="762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63" name="Text 35"/>
          <p:cNvSpPr/>
          <p:nvPr/>
        </p:nvSpPr>
        <p:spPr>
          <a:xfrm>
            <a:off x="3626640" y="6683400"/>
            <a:ext cx="268956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★ </a:t>
            </a: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2028 Halving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964" name="Text 36"/>
          <p:cNvSpPr/>
          <p:nvPr/>
        </p:nvSpPr>
        <p:spPr>
          <a:xfrm>
            <a:off x="3626640" y="6905520"/>
            <a:ext cx="268164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Next supply shock reduces new issuance to 1.5625 BTC/block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965" name="Shape 37"/>
          <p:cNvSpPr/>
          <p:nvPr/>
        </p:nvSpPr>
        <p:spPr>
          <a:xfrm>
            <a:off x="539640" y="7461360"/>
            <a:ext cx="2848320" cy="761040"/>
          </a:xfrm>
          <a:custGeom>
            <a:avLst/>
            <a:gdLst/>
            <a:ahLst/>
            <a:rect l="l" t="t" r="r" b="b"/>
            <a:pathLst>
              <a:path w="2849563" h="762000">
                <a:moveTo>
                  <a:pt x="0" y="0"/>
                </a:moveTo>
                <a:lnTo>
                  <a:pt x="2849563" y="0"/>
                </a:lnTo>
                <a:lnTo>
                  <a:pt x="2849563" y="762000"/>
                </a:lnTo>
                <a:lnTo>
                  <a:pt x="0" y="762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66" name="Text 38"/>
          <p:cNvSpPr/>
          <p:nvPr/>
        </p:nvSpPr>
        <p:spPr>
          <a:xfrm>
            <a:off x="650880" y="7572240"/>
            <a:ext cx="268956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★ </a:t>
            </a: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Favorable Regulation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967" name="Text 39"/>
          <p:cNvSpPr/>
          <p:nvPr/>
        </p:nvSpPr>
        <p:spPr>
          <a:xfrm>
            <a:off x="650880" y="7794720"/>
            <a:ext cx="2681640" cy="15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Pro-crypto US administration, global regulatory clarity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968" name="Shape 40"/>
          <p:cNvSpPr/>
          <p:nvPr/>
        </p:nvSpPr>
        <p:spPr>
          <a:xfrm>
            <a:off x="3515400" y="7461360"/>
            <a:ext cx="2848320" cy="761040"/>
          </a:xfrm>
          <a:custGeom>
            <a:avLst/>
            <a:gdLst/>
            <a:ahLst/>
            <a:rect l="l" t="t" r="r" b="b"/>
            <a:pathLst>
              <a:path w="2849563" h="762000">
                <a:moveTo>
                  <a:pt x="0" y="0"/>
                </a:moveTo>
                <a:lnTo>
                  <a:pt x="2849563" y="0"/>
                </a:lnTo>
                <a:lnTo>
                  <a:pt x="2849563" y="762000"/>
                </a:lnTo>
                <a:lnTo>
                  <a:pt x="0" y="762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69" name="Text 41"/>
          <p:cNvSpPr/>
          <p:nvPr/>
        </p:nvSpPr>
        <p:spPr>
          <a:xfrm>
            <a:off x="3626640" y="7572240"/>
            <a:ext cx="268956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★ </a:t>
            </a: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Layer 2 Growth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970" name="Text 42"/>
          <p:cNvSpPr/>
          <p:nvPr/>
        </p:nvSpPr>
        <p:spPr>
          <a:xfrm>
            <a:off x="3626640" y="7794720"/>
            <a:ext cx="268164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Lightning Network enables everyday payments at scale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971" name="Shape 43"/>
          <p:cNvSpPr/>
          <p:nvPr/>
        </p:nvSpPr>
        <p:spPr>
          <a:xfrm>
            <a:off x="6769080" y="1357200"/>
            <a:ext cx="5078880" cy="6078960"/>
          </a:xfrm>
          <a:custGeom>
            <a:avLst/>
            <a:gdLst/>
            <a:ahLst/>
            <a:rect l="l" t="t" r="r" b="b"/>
            <a:pathLst>
              <a:path w="5080000" h="6080125">
                <a:moveTo>
                  <a:pt x="0" y="0"/>
                </a:moveTo>
                <a:lnTo>
                  <a:pt x="5080000" y="0"/>
                </a:lnTo>
                <a:lnTo>
                  <a:pt x="5080000" y="6080125"/>
                </a:lnTo>
                <a:lnTo>
                  <a:pt x="0" y="6080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972" name="Text 44"/>
          <p:cNvSpPr/>
          <p:nvPr/>
        </p:nvSpPr>
        <p:spPr>
          <a:xfrm>
            <a:off x="6951600" y="1539720"/>
            <a:ext cx="4808880" cy="25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★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THREE SCENARIOS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973" name="Shape 45"/>
          <p:cNvSpPr/>
          <p:nvPr/>
        </p:nvSpPr>
        <p:spPr>
          <a:xfrm>
            <a:off x="6967440" y="1936800"/>
            <a:ext cx="4682160" cy="1713600"/>
          </a:xfrm>
          <a:custGeom>
            <a:avLst/>
            <a:gdLst/>
            <a:ahLst/>
            <a:rect l="l" t="t" r="r" b="b"/>
            <a:pathLst>
              <a:path w="4683125" h="1714500">
                <a:moveTo>
                  <a:pt x="0" y="0"/>
                </a:moveTo>
                <a:lnTo>
                  <a:pt x="4683125" y="0"/>
                </a:lnTo>
                <a:lnTo>
                  <a:pt x="4683125" y="1714500"/>
                </a:lnTo>
                <a:lnTo>
                  <a:pt x="0" y="17145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74" name="Shape 46"/>
          <p:cNvSpPr/>
          <p:nvPr/>
        </p:nvSpPr>
        <p:spPr>
          <a:xfrm>
            <a:off x="7134120" y="2103480"/>
            <a:ext cx="268920" cy="268920"/>
          </a:xfrm>
          <a:custGeom>
            <a:avLst/>
            <a:gdLst/>
            <a:ahLst/>
            <a:rect l="l" t="t" r="r" b="b"/>
            <a:pathLst>
              <a:path w="269875" h="269875">
                <a:moveTo>
                  <a:pt x="0" y="0"/>
                </a:moveTo>
                <a:lnTo>
                  <a:pt x="269875" y="0"/>
                </a:lnTo>
                <a:lnTo>
                  <a:pt x="269875" y="269875"/>
                </a:lnTo>
                <a:lnTo>
                  <a:pt x="0" y="269875"/>
                </a:lnTo>
                <a:lnTo>
                  <a:pt x="0" y="0"/>
                </a:lnTo>
                <a:close/>
              </a:path>
            </a:pathLst>
          </a:custGeom>
          <a:solidFill>
            <a:srgbClr val="e7000b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75" name="Text 47"/>
          <p:cNvSpPr/>
          <p:nvPr/>
        </p:nvSpPr>
        <p:spPr>
          <a:xfrm>
            <a:off x="7078680" y="2079720"/>
            <a:ext cx="284760" cy="22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ffffff"/>
                </a:solidFill>
                <a:latin typeface="MiSans"/>
                <a:ea typeface="MiSans"/>
              </a:rPr>
              <a:t>B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976" name="Text 48"/>
          <p:cNvSpPr/>
          <p:nvPr/>
        </p:nvSpPr>
        <p:spPr>
          <a:xfrm>
            <a:off x="7523280" y="2127240"/>
            <a:ext cx="1014840" cy="22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000000"/>
                </a:solidFill>
                <a:latin typeface="Noto Sans SC"/>
                <a:ea typeface="Noto Sans SC"/>
              </a:rPr>
              <a:t>BEAR CASE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977" name="Text 49"/>
          <p:cNvSpPr/>
          <p:nvPr/>
        </p:nvSpPr>
        <p:spPr>
          <a:xfrm>
            <a:off x="7110360" y="2460600"/>
            <a:ext cx="4515480" cy="28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e7000b"/>
                </a:solidFill>
                <a:latin typeface="Noto Sans SC"/>
                <a:ea typeface="Noto Sans SC"/>
              </a:rPr>
              <a:t>$50K - $75K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978" name="Text 50"/>
          <p:cNvSpPr/>
          <p:nvPr/>
        </p:nvSpPr>
        <p:spPr>
          <a:xfrm>
            <a:off x="7110360" y="2809800"/>
            <a:ext cx="445176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Triggers:</a:t>
            </a: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 Regulatory crackdowns, major exchange failure, prolonged recession, quantum computing breakthrough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979" name="Text 51"/>
          <p:cNvSpPr/>
          <p:nvPr/>
        </p:nvSpPr>
        <p:spPr>
          <a:xfrm>
            <a:off x="7110360" y="3191040"/>
            <a:ext cx="445176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Bitcoin survives but struggles to gain mainstream traction. Volatility remains high, institutional interest wanes.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980" name="Shape 52"/>
          <p:cNvSpPr/>
          <p:nvPr/>
        </p:nvSpPr>
        <p:spPr>
          <a:xfrm>
            <a:off x="6967440" y="3809880"/>
            <a:ext cx="4682160" cy="1554840"/>
          </a:xfrm>
          <a:custGeom>
            <a:avLst/>
            <a:gdLst/>
            <a:ahLst/>
            <a:rect l="l" t="t" r="r" b="b"/>
            <a:pathLst>
              <a:path w="4683125" h="1555750">
                <a:moveTo>
                  <a:pt x="0" y="0"/>
                </a:moveTo>
                <a:lnTo>
                  <a:pt x="4683125" y="0"/>
                </a:lnTo>
                <a:lnTo>
                  <a:pt x="4683125" y="1555750"/>
                </a:lnTo>
                <a:lnTo>
                  <a:pt x="0" y="1555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81" name="Shape 53"/>
          <p:cNvSpPr/>
          <p:nvPr/>
        </p:nvSpPr>
        <p:spPr>
          <a:xfrm>
            <a:off x="7134120" y="3976560"/>
            <a:ext cx="268920" cy="268920"/>
          </a:xfrm>
          <a:custGeom>
            <a:avLst/>
            <a:gdLst/>
            <a:ahLst/>
            <a:rect l="l" t="t" r="r" b="b"/>
            <a:pathLst>
              <a:path w="269875" h="269875">
                <a:moveTo>
                  <a:pt x="0" y="0"/>
                </a:moveTo>
                <a:lnTo>
                  <a:pt x="269875" y="0"/>
                </a:lnTo>
                <a:lnTo>
                  <a:pt x="269875" y="269875"/>
                </a:lnTo>
                <a:lnTo>
                  <a:pt x="0" y="269875"/>
                </a:lnTo>
                <a:lnTo>
                  <a:pt x="0" y="0"/>
                </a:lnTo>
                <a:close/>
              </a:path>
            </a:pathLst>
          </a:custGeom>
          <a:solidFill>
            <a:srgbClr val="d087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82" name="Text 54"/>
          <p:cNvSpPr/>
          <p:nvPr/>
        </p:nvSpPr>
        <p:spPr>
          <a:xfrm>
            <a:off x="7078680" y="3952800"/>
            <a:ext cx="284760" cy="22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ffffff"/>
                </a:solidFill>
                <a:latin typeface="MiSans"/>
                <a:ea typeface="MiSans"/>
              </a:rPr>
              <a:t>B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983" name="Text 55"/>
          <p:cNvSpPr/>
          <p:nvPr/>
        </p:nvSpPr>
        <p:spPr>
          <a:xfrm>
            <a:off x="7523280" y="4000680"/>
            <a:ext cx="1006920" cy="22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000000"/>
                </a:solidFill>
                <a:latin typeface="Noto Sans SC"/>
                <a:ea typeface="Noto Sans SC"/>
              </a:rPr>
              <a:t>BASE CASE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984" name="Text 56"/>
          <p:cNvSpPr/>
          <p:nvPr/>
        </p:nvSpPr>
        <p:spPr>
          <a:xfrm>
            <a:off x="7110360" y="4334040"/>
            <a:ext cx="4515480" cy="28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d08700"/>
                </a:solidFill>
                <a:latin typeface="Noto Sans SC"/>
                <a:ea typeface="Noto Sans SC"/>
              </a:rPr>
              <a:t>$150K - $250K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985" name="Text 57"/>
          <p:cNvSpPr/>
          <p:nvPr/>
        </p:nvSpPr>
        <p:spPr>
          <a:xfrm>
            <a:off x="7110360" y="4683240"/>
            <a:ext cx="4451760" cy="15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Triggers:</a:t>
            </a: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 Steady ETF inflows, corporate adoption, favorable regulation, 2028 halving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986" name="Text 58"/>
          <p:cNvSpPr/>
          <p:nvPr/>
        </p:nvSpPr>
        <p:spPr>
          <a:xfrm>
            <a:off x="7110360" y="4905360"/>
            <a:ext cx="445176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Bitcoin becomes established store of value, "digital gold" thesis validated. Volatility decreases as market matures.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987" name="Shape 59"/>
          <p:cNvSpPr/>
          <p:nvPr/>
        </p:nvSpPr>
        <p:spPr>
          <a:xfrm>
            <a:off x="6967440" y="5524560"/>
            <a:ext cx="4682160" cy="1713600"/>
          </a:xfrm>
          <a:custGeom>
            <a:avLst/>
            <a:gdLst/>
            <a:ahLst/>
            <a:rect l="l" t="t" r="r" b="b"/>
            <a:pathLst>
              <a:path w="4683125" h="1714500">
                <a:moveTo>
                  <a:pt x="0" y="0"/>
                </a:moveTo>
                <a:lnTo>
                  <a:pt x="4683125" y="0"/>
                </a:lnTo>
                <a:lnTo>
                  <a:pt x="4683125" y="1714500"/>
                </a:lnTo>
                <a:lnTo>
                  <a:pt x="0" y="17145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88" name="Shape 60"/>
          <p:cNvSpPr/>
          <p:nvPr/>
        </p:nvSpPr>
        <p:spPr>
          <a:xfrm>
            <a:off x="7134120" y="5691240"/>
            <a:ext cx="268920" cy="268920"/>
          </a:xfrm>
          <a:custGeom>
            <a:avLst/>
            <a:gdLst/>
            <a:ahLst/>
            <a:rect l="l" t="t" r="r" b="b"/>
            <a:pathLst>
              <a:path w="269875" h="269875">
                <a:moveTo>
                  <a:pt x="0" y="0"/>
                </a:moveTo>
                <a:lnTo>
                  <a:pt x="269875" y="0"/>
                </a:lnTo>
                <a:lnTo>
                  <a:pt x="269875" y="269875"/>
                </a:lnTo>
                <a:lnTo>
                  <a:pt x="0" y="269875"/>
                </a:lnTo>
                <a:lnTo>
                  <a:pt x="0" y="0"/>
                </a:lnTo>
                <a:close/>
              </a:path>
            </a:pathLst>
          </a:custGeom>
          <a:solidFill>
            <a:srgbClr val="00a63e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89" name="Text 61"/>
          <p:cNvSpPr/>
          <p:nvPr/>
        </p:nvSpPr>
        <p:spPr>
          <a:xfrm>
            <a:off x="7078680" y="5667480"/>
            <a:ext cx="284760" cy="22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ffffff"/>
                </a:solidFill>
                <a:latin typeface="MiSans"/>
                <a:ea typeface="MiSans"/>
              </a:rPr>
              <a:t>B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990" name="Text 62"/>
          <p:cNvSpPr/>
          <p:nvPr/>
        </p:nvSpPr>
        <p:spPr>
          <a:xfrm>
            <a:off x="7523280" y="5715000"/>
            <a:ext cx="983160" cy="22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000000"/>
                </a:solidFill>
                <a:latin typeface="Noto Sans SC"/>
                <a:ea typeface="Noto Sans SC"/>
              </a:rPr>
              <a:t>BULL CASE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991" name="Text 63"/>
          <p:cNvSpPr/>
          <p:nvPr/>
        </p:nvSpPr>
        <p:spPr>
          <a:xfrm>
            <a:off x="7110360" y="6048360"/>
            <a:ext cx="4515480" cy="28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a63e"/>
                </a:solidFill>
                <a:latin typeface="Noto Sans SC"/>
                <a:ea typeface="Noto Sans SC"/>
              </a:rPr>
              <a:t>$500K+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992" name="Text 64"/>
          <p:cNvSpPr/>
          <p:nvPr/>
        </p:nvSpPr>
        <p:spPr>
          <a:xfrm>
            <a:off x="7110360" y="6397560"/>
            <a:ext cx="445176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Triggers:</a:t>
            </a: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 US strategic Bitcoin reserve, mass corporate adoption, nation-state FOMO, dollar crisis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993" name="Text 65"/>
          <p:cNvSpPr/>
          <p:nvPr/>
        </p:nvSpPr>
        <p:spPr>
          <a:xfrm>
            <a:off x="7110360" y="6778800"/>
            <a:ext cx="445176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Bitcoin becomes global reserve asset, challenges gold's $16T market cap. Widespread use as savings technology.</a:t>
            </a:r>
            <a:endParaRPr b="0" lang="en-HK" sz="88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4" name="Image 0"/>
          <p:cNvSpPr/>
          <p:nvPr/>
        </p:nvSpPr>
        <p:spPr>
          <a:xfrm>
            <a:off x="0" y="0"/>
            <a:ext cx="12191040" cy="6856920"/>
          </a:xfrm>
          <a:prstGeom prst="roundRect">
            <a:avLst>
              <a:gd name="adj" fmla="val 0"/>
            </a:avLst>
          </a:prstGeom>
          <a:solidFill>
            <a:srgbClr val="729fc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995" name="Shape 0"/>
          <p:cNvSpPr/>
          <p:nvPr/>
        </p:nvSpPr>
        <p:spPr>
          <a:xfrm>
            <a:off x="0" y="0"/>
            <a:ext cx="12191040" cy="6856920"/>
          </a:xfrm>
          <a:custGeom>
            <a:avLst/>
            <a:gdLst/>
            <a:ah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9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996" name="Shape 1"/>
          <p:cNvSpPr/>
          <p:nvPr/>
        </p:nvSpPr>
        <p:spPr>
          <a:xfrm>
            <a:off x="6200640" y="781200"/>
            <a:ext cx="5580720" cy="3961440"/>
          </a:xfrm>
          <a:custGeom>
            <a:avLst/>
            <a:gdLst/>
            <a:ahLst/>
            <a:rect l="l" t="t" r="r" b="b"/>
            <a:pathLst>
              <a:path w="5581650" h="3962400">
                <a:moveTo>
                  <a:pt x="0" y="0"/>
                </a:moveTo>
                <a:lnTo>
                  <a:pt x="5581650" y="0"/>
                </a:lnTo>
                <a:lnTo>
                  <a:pt x="5581650" y="3962400"/>
                </a:lnTo>
                <a:lnTo>
                  <a:pt x="0" y="39624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75858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997" name="Shape 2"/>
          <p:cNvSpPr/>
          <p:nvPr/>
        </p:nvSpPr>
        <p:spPr>
          <a:xfrm>
            <a:off x="10077480" y="1266840"/>
            <a:ext cx="75240" cy="913320"/>
          </a:xfrm>
          <a:custGeom>
            <a:avLst/>
            <a:gdLst/>
            <a:ahLst/>
            <a:rect l="l" t="t" r="r" b="b"/>
            <a:pathLst>
              <a:path w="76200" h="914400">
                <a:moveTo>
                  <a:pt x="0" y="0"/>
                </a:moveTo>
                <a:lnTo>
                  <a:pt x="76200" y="0"/>
                </a:lnTo>
                <a:lnTo>
                  <a:pt x="76200" y="914400"/>
                </a:lnTo>
                <a:lnTo>
                  <a:pt x="0" y="9144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998" name="Shape 3"/>
          <p:cNvSpPr/>
          <p:nvPr/>
        </p:nvSpPr>
        <p:spPr>
          <a:xfrm>
            <a:off x="10410840" y="1295280"/>
            <a:ext cx="856080" cy="856080"/>
          </a:xfrm>
          <a:custGeom>
            <a:avLst/>
            <a:gdLst/>
            <a:ahLst/>
            <a:rect l="l" t="t" r="r" b="b"/>
            <a:pathLst>
              <a:path w="857250" h="857250">
                <a:moveTo>
                  <a:pt x="0" y="0"/>
                </a:moveTo>
                <a:lnTo>
                  <a:pt x="857250" y="0"/>
                </a:lnTo>
                <a:lnTo>
                  <a:pt x="857250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99" name="Text 4"/>
          <p:cNvSpPr/>
          <p:nvPr/>
        </p:nvSpPr>
        <p:spPr>
          <a:xfrm>
            <a:off x="10267920" y="1266840"/>
            <a:ext cx="1027800" cy="79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80000"/>
              </a:lnSpc>
              <a:buNone/>
            </a:pPr>
            <a:r>
              <a:rPr b="1" lang="en-US" sz="3600" spc="-1" strike="noStrike">
                <a:solidFill>
                  <a:srgbClr val="ffffff"/>
                </a:solidFill>
                <a:latin typeface="Noto Sans SC"/>
                <a:ea typeface="Noto Sans SC"/>
              </a:rPr>
              <a:t>12</a:t>
            </a:r>
            <a:endParaRPr b="0" lang="en-HK" sz="3600" spc="-1" strike="noStrike">
              <a:latin typeface="Arial"/>
            </a:endParaRPr>
          </a:p>
        </p:txBody>
      </p:sp>
      <p:sp>
        <p:nvSpPr>
          <p:cNvPr id="1000" name="Text 5"/>
          <p:cNvSpPr/>
          <p:nvPr/>
        </p:nvSpPr>
        <p:spPr>
          <a:xfrm>
            <a:off x="6343560" y="2486160"/>
            <a:ext cx="4951800" cy="85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00000"/>
              </a:lnSpc>
              <a:buNone/>
            </a:pPr>
            <a:r>
              <a:rPr b="1" lang="en-US" sz="5400" spc="-1" strike="noStrike">
                <a:solidFill>
                  <a:srgbClr val="000000"/>
                </a:solidFill>
                <a:latin typeface="Noto Sans SC"/>
                <a:ea typeface="Noto Sans SC"/>
              </a:rPr>
              <a:t>CONCLUSION</a:t>
            </a:r>
            <a:endParaRPr b="0" lang="en-HK" sz="5400" spc="-1" strike="noStrike">
              <a:latin typeface="Arial"/>
            </a:endParaRPr>
          </a:p>
        </p:txBody>
      </p:sp>
      <p:sp>
        <p:nvSpPr>
          <p:cNvPr id="1001" name="Shape 6"/>
          <p:cNvSpPr/>
          <p:nvPr/>
        </p:nvSpPr>
        <p:spPr>
          <a:xfrm>
            <a:off x="9468000" y="3571920"/>
            <a:ext cx="1827720" cy="75240"/>
          </a:xfrm>
          <a:custGeom>
            <a:avLst/>
            <a:gdLst/>
            <a:ahLst/>
            <a:rect l="l" t="t" r="r" b="b"/>
            <a:pathLst>
              <a:path w="1828800" h="76200">
                <a:moveTo>
                  <a:pt x="0" y="0"/>
                </a:moveTo>
                <a:lnTo>
                  <a:pt x="1828800" y="0"/>
                </a:lnTo>
                <a:lnTo>
                  <a:pt x="18288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002" name="Text 7"/>
          <p:cNvSpPr/>
          <p:nvPr/>
        </p:nvSpPr>
        <p:spPr>
          <a:xfrm>
            <a:off x="6515280" y="3876840"/>
            <a:ext cx="4780440" cy="3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90000"/>
              </a:lnSpc>
              <a:buNone/>
            </a:pPr>
            <a:r>
              <a:rPr b="1" lang="en-US" sz="2700" spc="-1" strike="noStrike">
                <a:solidFill>
                  <a:srgbClr val="000000"/>
                </a:solidFill>
                <a:latin typeface="Noto Sans SC"/>
                <a:ea typeface="Noto Sans SC"/>
              </a:rPr>
              <a:t>The Path Forward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1003" name="Shape 8"/>
          <p:cNvSpPr/>
          <p:nvPr/>
        </p:nvSpPr>
        <p:spPr>
          <a:xfrm>
            <a:off x="7382880" y="5257800"/>
            <a:ext cx="4399560" cy="817920"/>
          </a:xfrm>
          <a:custGeom>
            <a:avLst/>
            <a:gdLst/>
            <a:ahLst/>
            <a:rect l="l" t="t" r="r" b="b"/>
            <a:pathLst>
              <a:path w="4400550" h="819150">
                <a:moveTo>
                  <a:pt x="0" y="0"/>
                </a:moveTo>
                <a:lnTo>
                  <a:pt x="4400550" y="0"/>
                </a:lnTo>
                <a:lnTo>
                  <a:pt x="4400550" y="819150"/>
                </a:lnTo>
                <a:lnTo>
                  <a:pt x="0" y="8191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004" name="Text 9"/>
          <p:cNvSpPr/>
          <p:nvPr/>
        </p:nvSpPr>
        <p:spPr>
          <a:xfrm>
            <a:off x="7640280" y="5514840"/>
            <a:ext cx="3999600" cy="30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8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▶ </a:t>
            </a:r>
            <a:r>
              <a:rPr b="1" lang="en-US" sz="1800" spc="-1" strike="noStrike">
                <a:solidFill>
                  <a:srgbClr val="000000"/>
                </a:solidFill>
                <a:latin typeface="Noto Sans SC"/>
                <a:ea typeface="Noto Sans SC"/>
              </a:rPr>
              <a:t>Key Takeaways &amp; Final Thoughts</a:t>
            </a:r>
            <a:endParaRPr b="0" lang="en-HK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5" name="Shape 0"/>
          <p:cNvSpPr/>
          <p:nvPr/>
        </p:nvSpPr>
        <p:spPr>
          <a:xfrm>
            <a:off x="341280" y="341280"/>
            <a:ext cx="11508120" cy="840240"/>
          </a:xfrm>
          <a:custGeom>
            <a:avLst/>
            <a:gdLst/>
            <a:ahLst/>
            <a:rect l="l" t="t" r="r" b="b"/>
            <a:pathLst>
              <a:path w="11509375" h="841375">
                <a:moveTo>
                  <a:pt x="0" y="0"/>
                </a:moveTo>
                <a:lnTo>
                  <a:pt x="11509375" y="0"/>
                </a:lnTo>
                <a:lnTo>
                  <a:pt x="11509375" y="841375"/>
                </a:lnTo>
                <a:lnTo>
                  <a:pt x="0" y="8413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006" name="Text 1"/>
          <p:cNvSpPr/>
          <p:nvPr/>
        </p:nvSpPr>
        <p:spPr>
          <a:xfrm>
            <a:off x="523800" y="523800"/>
            <a:ext cx="1128600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250" spc="-1" strike="noStrike">
                <a:solidFill>
                  <a:srgbClr val="000000"/>
                </a:solidFill>
                <a:latin typeface="Noto Sans SC"/>
                <a:ea typeface="Noto Sans SC"/>
              </a:rPr>
              <a:t>BITCOIN'S TRAJECTORY: KEY TAKEAWAYS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1007" name="Shape 2"/>
          <p:cNvSpPr/>
          <p:nvPr/>
        </p:nvSpPr>
        <p:spPr>
          <a:xfrm>
            <a:off x="523800" y="936720"/>
            <a:ext cx="761040" cy="62280"/>
          </a:xfrm>
          <a:custGeom>
            <a:avLst/>
            <a:gdLst/>
            <a:ahLst/>
            <a:rect l="l" t="t" r="r" b="b"/>
            <a:pathLst>
              <a:path w="762000" h="63500">
                <a:moveTo>
                  <a:pt x="0" y="0"/>
                </a:moveTo>
                <a:lnTo>
                  <a:pt x="762000" y="0"/>
                </a:lnTo>
                <a:lnTo>
                  <a:pt x="7620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008" name="Shape 3"/>
          <p:cNvSpPr/>
          <p:nvPr/>
        </p:nvSpPr>
        <p:spPr>
          <a:xfrm>
            <a:off x="341280" y="1357200"/>
            <a:ext cx="5666400" cy="1586520"/>
          </a:xfrm>
          <a:custGeom>
            <a:avLst/>
            <a:gdLst/>
            <a:ahLst/>
            <a:rect l="l" t="t" r="r" b="b"/>
            <a:pathLst>
              <a:path w="5667375" h="1587500">
                <a:moveTo>
                  <a:pt x="0" y="0"/>
                </a:moveTo>
                <a:lnTo>
                  <a:pt x="5667375" y="0"/>
                </a:lnTo>
                <a:lnTo>
                  <a:pt x="5667375" y="1587500"/>
                </a:lnTo>
                <a:lnTo>
                  <a:pt x="0" y="15875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009" name="Shape 4"/>
          <p:cNvSpPr/>
          <p:nvPr/>
        </p:nvSpPr>
        <p:spPr>
          <a:xfrm>
            <a:off x="547560" y="1563840"/>
            <a:ext cx="395640" cy="395640"/>
          </a:xfrm>
          <a:custGeom>
            <a:avLst/>
            <a:gdLst/>
            <a:ahLst/>
            <a:rect l="l" t="t" r="r" b="b"/>
            <a:pathLst>
              <a:path w="396875" h="396875">
                <a:moveTo>
                  <a:pt x="0" y="0"/>
                </a:moveTo>
                <a:lnTo>
                  <a:pt x="396875" y="0"/>
                </a:lnTo>
                <a:lnTo>
                  <a:pt x="396875" y="396875"/>
                </a:lnTo>
                <a:lnTo>
                  <a:pt x="0" y="3968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010" name="Text 5"/>
          <p:cNvSpPr/>
          <p:nvPr/>
        </p:nvSpPr>
        <p:spPr>
          <a:xfrm>
            <a:off x="476280" y="1539720"/>
            <a:ext cx="443520" cy="34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ffffff"/>
                </a:solidFill>
                <a:latin typeface="Noto Sans SC"/>
                <a:ea typeface="Noto Sans SC"/>
              </a:rPr>
              <a:t>1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011" name="Text 6"/>
          <p:cNvSpPr/>
          <p:nvPr/>
        </p:nvSpPr>
        <p:spPr>
          <a:xfrm>
            <a:off x="1095480" y="1539720"/>
            <a:ext cx="3650040" cy="25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FROM EXPERIMENT TO ASSET CLASS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012" name="Text 7"/>
          <p:cNvSpPr/>
          <p:nvPr/>
        </p:nvSpPr>
        <p:spPr>
          <a:xfrm>
            <a:off x="523800" y="2079720"/>
            <a:ext cx="5364720" cy="61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Bitcoin has evolved from a cypherpunk experiment to a </a:t>
            </a: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globally recognized financial asset</a:t>
            </a: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 with $1.47 trillion market cap. What started as an idea in a whitepaper is now held by institutions, corporations, and nation-states.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1013" name="Shape 8"/>
          <p:cNvSpPr/>
          <p:nvPr/>
        </p:nvSpPr>
        <p:spPr>
          <a:xfrm>
            <a:off x="6183360" y="1357200"/>
            <a:ext cx="5666400" cy="1586520"/>
          </a:xfrm>
          <a:custGeom>
            <a:avLst/>
            <a:gdLst/>
            <a:ahLst/>
            <a:rect l="l" t="t" r="r" b="b"/>
            <a:pathLst>
              <a:path w="5667375" h="1587500">
                <a:moveTo>
                  <a:pt x="0" y="0"/>
                </a:moveTo>
                <a:lnTo>
                  <a:pt x="5667375" y="0"/>
                </a:lnTo>
                <a:lnTo>
                  <a:pt x="5667375" y="1587500"/>
                </a:lnTo>
                <a:lnTo>
                  <a:pt x="0" y="15875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014" name="Shape 9"/>
          <p:cNvSpPr/>
          <p:nvPr/>
        </p:nvSpPr>
        <p:spPr>
          <a:xfrm>
            <a:off x="6389640" y="1563840"/>
            <a:ext cx="395640" cy="395640"/>
          </a:xfrm>
          <a:custGeom>
            <a:avLst/>
            <a:gdLst/>
            <a:ahLst/>
            <a:rect l="l" t="t" r="r" b="b"/>
            <a:pathLst>
              <a:path w="396875" h="396875">
                <a:moveTo>
                  <a:pt x="0" y="0"/>
                </a:moveTo>
                <a:lnTo>
                  <a:pt x="396875" y="0"/>
                </a:lnTo>
                <a:lnTo>
                  <a:pt x="396875" y="396875"/>
                </a:lnTo>
                <a:lnTo>
                  <a:pt x="0" y="3968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015" name="Text 10"/>
          <p:cNvSpPr/>
          <p:nvPr/>
        </p:nvSpPr>
        <p:spPr>
          <a:xfrm>
            <a:off x="6318360" y="1539720"/>
            <a:ext cx="443520" cy="34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ffffff"/>
                </a:solidFill>
                <a:latin typeface="Noto Sans SC"/>
                <a:ea typeface="Noto Sans SC"/>
              </a:rPr>
              <a:t>2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016" name="Text 11"/>
          <p:cNvSpPr/>
          <p:nvPr/>
        </p:nvSpPr>
        <p:spPr>
          <a:xfrm>
            <a:off x="6937200" y="1539720"/>
            <a:ext cx="4825080" cy="50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INSTITUTIONAL ADOPTION CROSSED THE RUBICON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017" name="Text 12"/>
          <p:cNvSpPr/>
          <p:nvPr/>
        </p:nvSpPr>
        <p:spPr>
          <a:xfrm>
            <a:off x="6365880" y="2143080"/>
            <a:ext cx="5364720" cy="61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The January 2024 ETF approval was a </a:t>
            </a: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watershed moment</a:t>
            </a: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. Wall Street has embraced Bitcoin, with $85B+ in ETF AUM, corporate treasury strategies, and major banks offering crypto services. This genie cannot be put back in the bottle.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1018" name="Shape 13"/>
          <p:cNvSpPr/>
          <p:nvPr/>
        </p:nvSpPr>
        <p:spPr>
          <a:xfrm>
            <a:off x="341280" y="3119400"/>
            <a:ext cx="5666400" cy="1586520"/>
          </a:xfrm>
          <a:custGeom>
            <a:avLst/>
            <a:gdLst/>
            <a:ahLst/>
            <a:rect l="l" t="t" r="r" b="b"/>
            <a:pathLst>
              <a:path w="5667375" h="1587500">
                <a:moveTo>
                  <a:pt x="0" y="0"/>
                </a:moveTo>
                <a:lnTo>
                  <a:pt x="5667375" y="0"/>
                </a:lnTo>
                <a:lnTo>
                  <a:pt x="5667375" y="1587500"/>
                </a:lnTo>
                <a:lnTo>
                  <a:pt x="0" y="15875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019" name="Shape 14"/>
          <p:cNvSpPr/>
          <p:nvPr/>
        </p:nvSpPr>
        <p:spPr>
          <a:xfrm>
            <a:off x="547560" y="3325680"/>
            <a:ext cx="395640" cy="395640"/>
          </a:xfrm>
          <a:custGeom>
            <a:avLst/>
            <a:gdLst/>
            <a:ahLst/>
            <a:rect l="l" t="t" r="r" b="b"/>
            <a:pathLst>
              <a:path w="396875" h="396875">
                <a:moveTo>
                  <a:pt x="0" y="0"/>
                </a:moveTo>
                <a:lnTo>
                  <a:pt x="396875" y="0"/>
                </a:lnTo>
                <a:lnTo>
                  <a:pt x="396875" y="396875"/>
                </a:lnTo>
                <a:lnTo>
                  <a:pt x="0" y="3968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020" name="Text 15"/>
          <p:cNvSpPr/>
          <p:nvPr/>
        </p:nvSpPr>
        <p:spPr>
          <a:xfrm>
            <a:off x="476280" y="3301920"/>
            <a:ext cx="443520" cy="34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ffffff"/>
                </a:solidFill>
                <a:latin typeface="Noto Sans SC"/>
                <a:ea typeface="Noto Sans SC"/>
              </a:rPr>
              <a:t>3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021" name="Text 16"/>
          <p:cNvSpPr/>
          <p:nvPr/>
        </p:nvSpPr>
        <p:spPr>
          <a:xfrm>
            <a:off x="1095480" y="3301920"/>
            <a:ext cx="4825080" cy="50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HALVING CYCLES CREATE PREDICTABLE PATTERNS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022" name="Text 17"/>
          <p:cNvSpPr/>
          <p:nvPr/>
        </p:nvSpPr>
        <p:spPr>
          <a:xfrm>
            <a:off x="523800" y="3905280"/>
            <a:ext cx="5364720" cy="61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The programmed scarcity mechanism has </a:t>
            </a: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historically preceded major bull runs</a:t>
            </a: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. The 2024 halving reduced daily new supply to 450 BTC (0.85% inflation), setting the stage for the next supply-demand imbalance.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1023" name="Shape 18"/>
          <p:cNvSpPr/>
          <p:nvPr/>
        </p:nvSpPr>
        <p:spPr>
          <a:xfrm>
            <a:off x="6183360" y="3119400"/>
            <a:ext cx="5666400" cy="1586520"/>
          </a:xfrm>
          <a:custGeom>
            <a:avLst/>
            <a:gdLst/>
            <a:ahLst/>
            <a:rect l="l" t="t" r="r" b="b"/>
            <a:pathLst>
              <a:path w="5667375" h="1587500">
                <a:moveTo>
                  <a:pt x="0" y="0"/>
                </a:moveTo>
                <a:lnTo>
                  <a:pt x="5667375" y="0"/>
                </a:lnTo>
                <a:lnTo>
                  <a:pt x="5667375" y="1587500"/>
                </a:lnTo>
                <a:lnTo>
                  <a:pt x="0" y="15875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024" name="Shape 19"/>
          <p:cNvSpPr/>
          <p:nvPr/>
        </p:nvSpPr>
        <p:spPr>
          <a:xfrm>
            <a:off x="6389640" y="3325680"/>
            <a:ext cx="395640" cy="395640"/>
          </a:xfrm>
          <a:custGeom>
            <a:avLst/>
            <a:gdLst/>
            <a:ahLst/>
            <a:rect l="l" t="t" r="r" b="b"/>
            <a:pathLst>
              <a:path w="396875" h="396875">
                <a:moveTo>
                  <a:pt x="0" y="0"/>
                </a:moveTo>
                <a:lnTo>
                  <a:pt x="396875" y="0"/>
                </a:lnTo>
                <a:lnTo>
                  <a:pt x="396875" y="396875"/>
                </a:lnTo>
                <a:lnTo>
                  <a:pt x="0" y="3968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025" name="Text 20"/>
          <p:cNvSpPr/>
          <p:nvPr/>
        </p:nvSpPr>
        <p:spPr>
          <a:xfrm>
            <a:off x="6318360" y="3301920"/>
            <a:ext cx="443520" cy="34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ffffff"/>
                </a:solidFill>
                <a:latin typeface="Noto Sans SC"/>
                <a:ea typeface="Noto Sans SC"/>
              </a:rPr>
              <a:t>4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026" name="Text 21"/>
          <p:cNvSpPr/>
          <p:nvPr/>
        </p:nvSpPr>
        <p:spPr>
          <a:xfrm>
            <a:off x="6937200" y="3301920"/>
            <a:ext cx="4753440" cy="25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CHALLENGES REMAIN, BUT SOLUTIONS EMERGE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027" name="Text 22"/>
          <p:cNvSpPr/>
          <p:nvPr/>
        </p:nvSpPr>
        <p:spPr>
          <a:xfrm>
            <a:off x="6365880" y="3841920"/>
            <a:ext cx="5364720" cy="61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Scalability, energy consumption, and regulation are real challenges. However, </a:t>
            </a: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Layer 2 solutions</a:t>
            </a: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 (Lightning Network), renewable energy adoption (~55% of mining), and regulatory clarity are addressing these issues.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1028" name="Shape 23"/>
          <p:cNvSpPr/>
          <p:nvPr/>
        </p:nvSpPr>
        <p:spPr>
          <a:xfrm>
            <a:off x="341280" y="4881600"/>
            <a:ext cx="5666400" cy="1522800"/>
          </a:xfrm>
          <a:custGeom>
            <a:avLst/>
            <a:gdLst/>
            <a:ahLst/>
            <a:rect l="l" t="t" r="r" b="b"/>
            <a:pathLst>
              <a:path w="5667375" h="1524000">
                <a:moveTo>
                  <a:pt x="0" y="0"/>
                </a:moveTo>
                <a:lnTo>
                  <a:pt x="5667375" y="0"/>
                </a:lnTo>
                <a:lnTo>
                  <a:pt x="5667375" y="1524000"/>
                </a:lnTo>
                <a:lnTo>
                  <a:pt x="0" y="1524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029" name="Shape 24"/>
          <p:cNvSpPr/>
          <p:nvPr/>
        </p:nvSpPr>
        <p:spPr>
          <a:xfrm>
            <a:off x="547560" y="5087880"/>
            <a:ext cx="395640" cy="395640"/>
          </a:xfrm>
          <a:custGeom>
            <a:avLst/>
            <a:gdLst/>
            <a:ahLst/>
            <a:rect l="l" t="t" r="r" b="b"/>
            <a:pathLst>
              <a:path w="396875" h="396875">
                <a:moveTo>
                  <a:pt x="0" y="0"/>
                </a:moveTo>
                <a:lnTo>
                  <a:pt x="396875" y="0"/>
                </a:lnTo>
                <a:lnTo>
                  <a:pt x="396875" y="396875"/>
                </a:lnTo>
                <a:lnTo>
                  <a:pt x="0" y="3968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030" name="Text 25"/>
          <p:cNvSpPr/>
          <p:nvPr/>
        </p:nvSpPr>
        <p:spPr>
          <a:xfrm>
            <a:off x="476280" y="5064120"/>
            <a:ext cx="443520" cy="34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ffffff"/>
                </a:solidFill>
                <a:latin typeface="Noto Sans SC"/>
                <a:ea typeface="Noto Sans SC"/>
              </a:rPr>
              <a:t>5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031" name="Text 26"/>
          <p:cNvSpPr/>
          <p:nvPr/>
        </p:nvSpPr>
        <p:spPr>
          <a:xfrm>
            <a:off x="1095480" y="5064120"/>
            <a:ext cx="3261240" cy="25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"DIGITAL GOLD" STILL EVOLVING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032" name="Text 27"/>
          <p:cNvSpPr/>
          <p:nvPr/>
        </p:nvSpPr>
        <p:spPr>
          <a:xfrm>
            <a:off x="523800" y="5603760"/>
            <a:ext cx="5364720" cy="61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Bitcoin's </a:t>
            </a: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scarcity and decentralization</a:t>
            </a: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 provide unique value, but it hasn't consistently acted as a crisis hedge like gold. As the asset matures and volatility decreases, the digital gold thesis may be validated—or Bitcoin may carve out a different role.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1033" name="Shape 28"/>
          <p:cNvSpPr/>
          <p:nvPr/>
        </p:nvSpPr>
        <p:spPr>
          <a:xfrm>
            <a:off x="6183360" y="4881600"/>
            <a:ext cx="5666400" cy="1522800"/>
          </a:xfrm>
          <a:custGeom>
            <a:avLst/>
            <a:gdLst/>
            <a:ahLst/>
            <a:rect l="l" t="t" r="r" b="b"/>
            <a:pathLst>
              <a:path w="5667375" h="1524000">
                <a:moveTo>
                  <a:pt x="0" y="0"/>
                </a:moveTo>
                <a:lnTo>
                  <a:pt x="5667375" y="0"/>
                </a:lnTo>
                <a:lnTo>
                  <a:pt x="5667375" y="1524000"/>
                </a:lnTo>
                <a:lnTo>
                  <a:pt x="0" y="1524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034" name="Shape 29"/>
          <p:cNvSpPr/>
          <p:nvPr/>
        </p:nvSpPr>
        <p:spPr>
          <a:xfrm>
            <a:off x="6389640" y="5087880"/>
            <a:ext cx="395640" cy="395640"/>
          </a:xfrm>
          <a:custGeom>
            <a:avLst/>
            <a:gdLst/>
            <a:ahLst/>
            <a:rect l="l" t="t" r="r" b="b"/>
            <a:pathLst>
              <a:path w="396875" h="396875">
                <a:moveTo>
                  <a:pt x="0" y="0"/>
                </a:moveTo>
                <a:lnTo>
                  <a:pt x="396875" y="0"/>
                </a:lnTo>
                <a:lnTo>
                  <a:pt x="396875" y="396875"/>
                </a:lnTo>
                <a:lnTo>
                  <a:pt x="0" y="3968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035" name="Text 30"/>
          <p:cNvSpPr/>
          <p:nvPr/>
        </p:nvSpPr>
        <p:spPr>
          <a:xfrm>
            <a:off x="6318360" y="5064120"/>
            <a:ext cx="443520" cy="34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ffffff"/>
                </a:solidFill>
                <a:latin typeface="Noto Sans SC"/>
                <a:ea typeface="Noto Sans SC"/>
              </a:rPr>
              <a:t>6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036" name="Text 31"/>
          <p:cNvSpPr/>
          <p:nvPr/>
        </p:nvSpPr>
        <p:spPr>
          <a:xfrm>
            <a:off x="6937200" y="5064120"/>
            <a:ext cx="3300840" cy="25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2024-2030: THE CRITICAL DECADE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037" name="Text 32"/>
          <p:cNvSpPr/>
          <p:nvPr/>
        </p:nvSpPr>
        <p:spPr>
          <a:xfrm>
            <a:off x="6365880" y="5603760"/>
            <a:ext cx="5364720" cy="61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The next 6 years will determine Bitcoin's long-term trajectory. </a:t>
            </a: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ETF adoption, corporate treasuries, nation-state accumulation, and the 2028 halving</a:t>
            </a: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 could propel Bitcoin to $150K-$500K+ or higher. The foundation is being laid for mainstream integration.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1038" name="Shape 33"/>
          <p:cNvSpPr/>
          <p:nvPr/>
        </p:nvSpPr>
        <p:spPr>
          <a:xfrm>
            <a:off x="341280" y="6580080"/>
            <a:ext cx="11508120" cy="1665720"/>
          </a:xfrm>
          <a:custGeom>
            <a:avLst/>
            <a:gdLst/>
            <a:ahLst/>
            <a:rect l="l" t="t" r="r" b="b"/>
            <a:pathLst>
              <a:path w="11509375" h="1666875">
                <a:moveTo>
                  <a:pt x="0" y="0"/>
                </a:moveTo>
                <a:lnTo>
                  <a:pt x="11509375" y="0"/>
                </a:lnTo>
                <a:lnTo>
                  <a:pt x="11509375" y="1666875"/>
                </a:lnTo>
                <a:lnTo>
                  <a:pt x="0" y="16668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039" name="Text 34"/>
          <p:cNvSpPr/>
          <p:nvPr/>
        </p:nvSpPr>
        <p:spPr>
          <a:xfrm>
            <a:off x="523800" y="7032600"/>
            <a:ext cx="10015920" cy="25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ffffff"/>
                </a:solidFill>
                <a:latin typeface="Noto Sans SC"/>
                <a:ea typeface="Noto Sans SC"/>
              </a:rPr>
              <a:t>THE BOTTOM LINE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040" name="Text 35"/>
          <p:cNvSpPr/>
          <p:nvPr/>
        </p:nvSpPr>
        <p:spPr>
          <a:xfrm>
            <a:off x="523800" y="7350120"/>
            <a:ext cx="9992160" cy="44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130" spc="-1" strike="noStrike">
                <a:solidFill>
                  <a:srgbClr val="ffffff"/>
                </a:solidFill>
                <a:latin typeface="MiSans"/>
                <a:ea typeface="MiSans"/>
              </a:rPr>
              <a:t>Bitcoin represents both </a:t>
            </a:r>
            <a:r>
              <a:rPr b="1" lang="en-US" sz="1130" spc="-1" strike="noStrike">
                <a:solidFill>
                  <a:srgbClr val="ffffff"/>
                </a:solidFill>
                <a:latin typeface="MiSans"/>
                <a:ea typeface="MiSans"/>
              </a:rPr>
              <a:t>transformative potential</a:t>
            </a:r>
            <a:r>
              <a:rPr b="0" lang="en-US" sz="1130" spc="-1" strike="noStrike">
                <a:solidFill>
                  <a:srgbClr val="ffffff"/>
                </a:solidFill>
                <a:latin typeface="MiSans"/>
                <a:ea typeface="MiSans"/>
              </a:rPr>
              <a:t> (decentralized, scarce, borderless money) and </a:t>
            </a:r>
            <a:r>
              <a:rPr b="1" lang="en-US" sz="1130" spc="-1" strike="noStrike">
                <a:solidFill>
                  <a:srgbClr val="ffffff"/>
                </a:solidFill>
                <a:latin typeface="MiSans"/>
                <a:ea typeface="MiSans"/>
              </a:rPr>
              <a:t>significant risks</a:t>
            </a:r>
            <a:r>
              <a:rPr b="0" lang="en-US" sz="1130" spc="-1" strike="noStrike">
                <a:solidFill>
                  <a:srgbClr val="ffffff"/>
                </a:solidFill>
                <a:latin typeface="MiSans"/>
                <a:ea typeface="MiSans"/>
              </a:rPr>
              <a:t> (volatility, regulation, competition). Approach with understanding of both.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1041" name="Shape 36"/>
          <p:cNvSpPr/>
          <p:nvPr/>
        </p:nvSpPr>
        <p:spPr>
          <a:xfrm>
            <a:off x="10662840" y="6786720"/>
            <a:ext cx="983160" cy="1253160"/>
          </a:xfrm>
          <a:custGeom>
            <a:avLst/>
            <a:gdLst/>
            <a:ahLst/>
            <a:rect l="l" t="t" r="r" b="b"/>
            <a:pathLst>
              <a:path w="984250" h="1254125">
                <a:moveTo>
                  <a:pt x="0" y="0"/>
                </a:moveTo>
                <a:lnTo>
                  <a:pt x="984250" y="0"/>
                </a:lnTo>
                <a:lnTo>
                  <a:pt x="984250" y="1254125"/>
                </a:lnTo>
                <a:lnTo>
                  <a:pt x="0" y="1254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042" name="Text 37"/>
          <p:cNvSpPr/>
          <p:nvPr/>
        </p:nvSpPr>
        <p:spPr>
          <a:xfrm>
            <a:off x="10781640" y="6937200"/>
            <a:ext cx="745200" cy="95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2026-2030</a:t>
            </a:r>
            <a:endParaRPr b="0" lang="en-HK" sz="1000" spc="-1" strike="noStrike">
              <a:latin typeface="Arial"/>
            </a:endParaRPr>
          </a:p>
          <a:p>
            <a:pPr algn="ctr"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WILL DEFINE</a:t>
            </a:r>
            <a:endParaRPr b="0" lang="en-HK" sz="1000" spc="-1" strike="noStrike">
              <a:latin typeface="Arial"/>
            </a:endParaRPr>
          </a:p>
          <a:p>
            <a:pPr algn="ctr"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THE FUTURE</a:t>
            </a:r>
            <a:endParaRPr b="0" lang="en-HK" sz="1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3" name="Image 0"/>
          <p:cNvSpPr/>
          <p:nvPr/>
        </p:nvSpPr>
        <p:spPr>
          <a:xfrm>
            <a:off x="0" y="0"/>
            <a:ext cx="12191040" cy="6856920"/>
          </a:xfrm>
          <a:prstGeom prst="roundRect">
            <a:avLst>
              <a:gd name="adj" fmla="val 0"/>
            </a:avLst>
          </a:prstGeom>
          <a:solidFill>
            <a:srgbClr val="729fc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044" name="Shape 0"/>
          <p:cNvSpPr/>
          <p:nvPr/>
        </p:nvSpPr>
        <p:spPr>
          <a:xfrm>
            <a:off x="0" y="0"/>
            <a:ext cx="12191040" cy="6856920"/>
          </a:xfrm>
          <a:custGeom>
            <a:avLst/>
            <a:gdLst/>
            <a:ah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9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045" name="Shape 1"/>
          <p:cNvSpPr/>
          <p:nvPr/>
        </p:nvSpPr>
        <p:spPr>
          <a:xfrm>
            <a:off x="3355920" y="676440"/>
            <a:ext cx="5475960" cy="4361400"/>
          </a:xfrm>
          <a:custGeom>
            <a:avLst/>
            <a:gdLst/>
            <a:ahLst/>
            <a:rect l="l" t="t" r="r" b="b"/>
            <a:pathLst>
              <a:path w="5476875" h="4362450">
                <a:moveTo>
                  <a:pt x="0" y="0"/>
                </a:moveTo>
                <a:lnTo>
                  <a:pt x="5476875" y="0"/>
                </a:lnTo>
                <a:lnTo>
                  <a:pt x="5476875" y="4362450"/>
                </a:lnTo>
                <a:lnTo>
                  <a:pt x="0" y="43624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75858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046" name="Text 2"/>
          <p:cNvSpPr/>
          <p:nvPr/>
        </p:nvSpPr>
        <p:spPr>
          <a:xfrm>
            <a:off x="3670200" y="1162080"/>
            <a:ext cx="4847040" cy="68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80000"/>
              </a:lnSpc>
              <a:buNone/>
            </a:pPr>
            <a:r>
              <a:rPr b="1" lang="en-US" sz="5400" spc="-1" strike="noStrike">
                <a:solidFill>
                  <a:srgbClr val="000000"/>
                </a:solidFill>
                <a:latin typeface="Noto Sans SC"/>
                <a:ea typeface="Noto Sans SC"/>
              </a:rPr>
              <a:t>THANK YOU</a:t>
            </a:r>
            <a:endParaRPr b="0" lang="en-HK" sz="5400" spc="-1" strike="noStrike">
              <a:latin typeface="Arial"/>
            </a:endParaRPr>
          </a:p>
        </p:txBody>
      </p:sp>
      <p:sp>
        <p:nvSpPr>
          <p:cNvPr id="1047" name="Shape 3"/>
          <p:cNvSpPr/>
          <p:nvPr/>
        </p:nvSpPr>
        <p:spPr>
          <a:xfrm>
            <a:off x="5181480" y="2076480"/>
            <a:ext cx="1827720" cy="75240"/>
          </a:xfrm>
          <a:custGeom>
            <a:avLst/>
            <a:gdLst/>
            <a:ahLst/>
            <a:rect l="l" t="t" r="r" b="b"/>
            <a:pathLst>
              <a:path w="1828800" h="76200">
                <a:moveTo>
                  <a:pt x="0" y="0"/>
                </a:moveTo>
                <a:lnTo>
                  <a:pt x="1828800" y="0"/>
                </a:lnTo>
                <a:lnTo>
                  <a:pt x="18288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048" name="Text 4"/>
          <p:cNvSpPr/>
          <p:nvPr/>
        </p:nvSpPr>
        <p:spPr>
          <a:xfrm>
            <a:off x="3755880" y="2381400"/>
            <a:ext cx="4675680" cy="3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90000"/>
              </a:lnSpc>
              <a:buNone/>
            </a:pPr>
            <a:r>
              <a:rPr b="1" lang="en-US" sz="2700" spc="-1" strike="noStrike">
                <a:solidFill>
                  <a:srgbClr val="000000"/>
                </a:solidFill>
                <a:latin typeface="Noto Sans SC"/>
                <a:ea typeface="Noto Sans SC"/>
              </a:rPr>
              <a:t>Questions &amp; Discussion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1049" name="Shape 5"/>
          <p:cNvSpPr/>
          <p:nvPr/>
        </p:nvSpPr>
        <p:spPr>
          <a:xfrm>
            <a:off x="3870360" y="3095640"/>
            <a:ext cx="4447080" cy="1427760"/>
          </a:xfrm>
          <a:custGeom>
            <a:avLst/>
            <a:gdLst/>
            <a:ahLst/>
            <a:rect l="l" t="t" r="r" b="b"/>
            <a:pathLst>
              <a:path w="4448175" h="1428750">
                <a:moveTo>
                  <a:pt x="0" y="0"/>
                </a:moveTo>
                <a:lnTo>
                  <a:pt x="4448175" y="0"/>
                </a:lnTo>
                <a:lnTo>
                  <a:pt x="4448175" y="1428750"/>
                </a:lnTo>
                <a:lnTo>
                  <a:pt x="0" y="14287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050" name="Text 6"/>
          <p:cNvSpPr/>
          <p:nvPr/>
        </p:nvSpPr>
        <p:spPr>
          <a:xfrm>
            <a:off x="4070520" y="3352680"/>
            <a:ext cx="4047120" cy="91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10000"/>
              </a:lnSpc>
              <a:buNone/>
            </a:pPr>
            <a:r>
              <a:rPr b="1" lang="en-US" sz="1800" spc="-1" strike="noStrike">
                <a:solidFill>
                  <a:srgbClr val="ffffff"/>
                </a:solidFill>
                <a:latin typeface="Noto Sans SC"/>
                <a:ea typeface="Noto Sans SC"/>
              </a:rPr>
              <a:t>In a world of infinite money printing,</a:t>
            </a:r>
            <a:endParaRPr b="0" lang="en-HK" sz="1800" spc="-1" strike="noStrike">
              <a:latin typeface="Arial"/>
            </a:endParaRPr>
          </a:p>
          <a:p>
            <a:pPr algn="ctr">
              <a:lnSpc>
                <a:spcPct val="110000"/>
              </a:lnSpc>
              <a:buNone/>
            </a:pPr>
            <a:r>
              <a:rPr b="1" lang="en-US" sz="1800" spc="-1" strike="noStrike">
                <a:solidFill>
                  <a:srgbClr val="ffffff"/>
                </a:solidFill>
                <a:latin typeface="Noto Sans SC"/>
                <a:ea typeface="Noto Sans SC"/>
              </a:rPr>
              <a:t>can a fixed-supply digital asset</a:t>
            </a:r>
            <a:endParaRPr b="0" lang="en-HK" sz="1800" spc="-1" strike="noStrike">
              <a:latin typeface="Arial"/>
            </a:endParaRPr>
          </a:p>
          <a:p>
            <a:pPr algn="ctr">
              <a:lnSpc>
                <a:spcPct val="110000"/>
              </a:lnSpc>
              <a:buNone/>
            </a:pPr>
            <a:r>
              <a:rPr b="1" lang="en-US" sz="1800" spc="-1" strike="noStrike">
                <a:solidFill>
                  <a:srgbClr val="ffffff"/>
                </a:solidFill>
                <a:latin typeface="Noto Sans SC"/>
                <a:ea typeface="Noto Sans SC"/>
              </a:rPr>
              <a:t>become the ultimate store of value?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1051" name="Shape 7"/>
          <p:cNvSpPr/>
          <p:nvPr/>
        </p:nvSpPr>
        <p:spPr>
          <a:xfrm>
            <a:off x="3743640" y="5400720"/>
            <a:ext cx="4704120" cy="780120"/>
          </a:xfrm>
          <a:custGeom>
            <a:avLst/>
            <a:gdLst/>
            <a:ahLst/>
            <a:rect l="l" t="t" r="r" b="b"/>
            <a:pathLst>
              <a:path w="4705350" h="781050">
                <a:moveTo>
                  <a:pt x="0" y="0"/>
                </a:moveTo>
                <a:lnTo>
                  <a:pt x="4705350" y="0"/>
                </a:lnTo>
                <a:lnTo>
                  <a:pt x="4705350" y="781050"/>
                </a:lnTo>
                <a:lnTo>
                  <a:pt x="0" y="781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7674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052" name="Text 8"/>
          <p:cNvSpPr/>
          <p:nvPr/>
        </p:nvSpPr>
        <p:spPr>
          <a:xfrm>
            <a:off x="4001040" y="5657760"/>
            <a:ext cx="4285080" cy="26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▶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Bitcoin: The Digital Revolution | March 2026</a:t>
            </a:r>
            <a:endParaRPr b="0" lang="en-HK" sz="15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333333"/>
      </a:dk2>
      <a:lt2>
        <a:srgbClr val="eeeeee"/>
      </a:lt2>
      <a:accent1>
        <a:srgbClr val="8daac2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333333"/>
      </a:dk2>
      <a:lt2>
        <a:srgbClr val="eeeeee"/>
      </a:lt2>
      <a:accent1>
        <a:srgbClr val="8daac2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25</TotalTime>
  <Application>LibreOffice/7.3.7.2$Linux_X86_64 LibreOffice_project/30$Build-2</Application>
  <AppVersion>15.0000</AppVersion>
  <Words>0</Words>
  <Paragraphs>0</Paragraphs>
  <Company>Moonshot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2026-03-18T08:32:36Z</dcterms:created>
  <dc:creator>Kimi</dc:creator>
  <dc:description/>
  <dc:language>en-HK</dc:language>
  <cp:lastModifiedBy/>
  <dcterms:modified xsi:type="dcterms:W3CDTF">2026-04-18T14:51:20Z</dcterms:modified>
  <cp:revision>4</cp:revision>
  <dc:subject>Bitcoin: The Digital Revolution</dc:subject>
  <dc:title>Bitcoin: The Digital Revolution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{"Label":"Bitcoin: The Digital Revolution","ContentProducer":"001191110108MACG2KBH8F10000","ProduceID":"19d000e5-9a32-8b0f-8000-00005ec375b0","ReservedCode1":"","ContentPropagator":"001191110108MACG2KBH8F20000","PropagateID":"19d000e5-9a32-8b0f-8000-00005ec375b0","ReservedCode2":""}</vt:lpwstr>
  </property>
  <property fmtid="{D5CDD505-2E9C-101B-9397-08002B2CF9AE}" pid="3" name="Notes">
    <vt:i4>27</vt:i4>
  </property>
  <property fmtid="{D5CDD505-2E9C-101B-9397-08002B2CF9AE}" pid="4" name="PresentationFormat">
    <vt:lpwstr>On-screen Show (16:9)</vt:lpwstr>
  </property>
  <property fmtid="{D5CDD505-2E9C-101B-9397-08002B2CF9AE}" pid="5" name="Slides">
    <vt:i4>27</vt:i4>
  </property>
</Properties>
</file>