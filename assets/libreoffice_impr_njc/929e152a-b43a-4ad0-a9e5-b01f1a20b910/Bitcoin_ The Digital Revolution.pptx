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2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7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27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4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</a:t>
            </a:r>
            <a:r>
              <a:rPr b="0" lang="en-HK" sz="4400" spc="-1" strike="noStrike">
                <a:latin typeface="Arial"/>
              </a:rPr>
              <a:t>move the </a:t>
            </a:r>
            <a:r>
              <a:rPr b="0" lang="en-HK" sz="4400" spc="-1" strike="noStrike">
                <a:latin typeface="Arial"/>
              </a:rPr>
              <a:t>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</a:t>
            </a:r>
            <a:r>
              <a:rPr b="0" lang="en-HK" sz="2000" spc="-1" strike="noStrike">
                <a:latin typeface="Arial"/>
              </a:rPr>
              <a:t>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913E4069-FD73-40E4-8E27-8CBC3A7D1EC8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5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45E3DA1-B249-49E3-A4FE-C7BFE620CBF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5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4C51784-981A-49DE-8C6A-25398F4023F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DA335EE-91DF-4492-9B00-D5F7F035CAA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HK" sz="1800" spc="-1" strike="noStrike">
                <a:latin typeface="Arial"/>
              </a:rPr>
              <a:t>Key talking point: The Genesis Block was mined on January 3</a:t>
            </a:r>
            <a:r>
              <a:rPr b="0" lang="en-HK" sz="1800" spc="-1" strike="noStrike" baseline="33000">
                <a:latin typeface="Arial"/>
              </a:rPr>
              <a:t>rd</a:t>
            </a:r>
            <a:r>
              <a:rPr b="0" lang="en-HK" sz="1800" spc="-1" strike="noStrike">
                <a:latin typeface="Arial"/>
              </a:rPr>
              <a:t>, 2009, embedding a headline about bank bailouts as a political statement by Satoshi Nakamoto.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6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BD99FE1-A5A7-4E31-A47F-095C8B280A4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62298E4-98DC-4FE2-96FA-E55EB2949B0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00F8F2D-EC89-494C-BA7E-D726AC90BD1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AFA5C55-99EA-4A43-BCD9-5D10DC6F381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C325A8F-6E9E-4D28-B758-F6C05FCF826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3E5243A-D837-4AF3-B173-D3D048CD797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D0DC025-F059-4726-8739-B908360CBE4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70C1D08-5F22-4AD1-B3A6-1F60246B4AE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2A922BA-96B7-4CEB-8B06-C1D2CC135A7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BFB439B-0341-4323-8011-C799F25A20B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B1AE6D8-58A7-4209-A186-9E300A0D522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05F4399-0A67-4DD6-937F-0EFD2DB0B2A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0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08602FA-DF56-4A65-95A5-2186361D4CA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1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2EB01CD-FD60-4906-B952-04E2473F4FB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1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CA98072-BC26-48DB-B5D0-17BA825DFA1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1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C45F11D-DA74-4893-9B59-78983D5FB8B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1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73E990B-9180-4EFC-9697-F2231DA5EE5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490290A-7D41-4DC8-A712-2C73F7524C8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1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EAA080D-508B-45BE-8970-EE27B074439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1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6F3B53F-5901-4C3D-9521-9C304154294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DF1201B-124C-40CC-9735-A440CBD09DC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1C5218-A1FE-41AC-BD28-6AFA4EF6033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531B916-E19B-41E7-AE56-47A2656D2A1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893D51F-8CD7-40FB-B218-EA0BC276D69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</a:t>
            </a:r>
            <a:r>
              <a:rPr b="0" lang="en-HK" sz="4400" spc="-1" strike="noStrike">
                <a:latin typeface="Arial"/>
              </a:rPr>
              <a:t>edit the </a:t>
            </a:r>
            <a:r>
              <a:rPr b="0" lang="en-HK" sz="4400" spc="-1" strike="noStrike">
                <a:latin typeface="Arial"/>
              </a:rPr>
              <a:t>title </a:t>
            </a:r>
            <a:r>
              <a:rPr b="0" lang="en-HK" sz="4400" spc="-1" strike="noStrike">
                <a:latin typeface="Arial"/>
              </a:rPr>
              <a:t>text </a:t>
            </a:r>
            <a:r>
              <a:rPr b="0" lang="en-HK" sz="4400" spc="-1" strike="noStrike">
                <a:latin typeface="Arial"/>
              </a:rPr>
              <a:t>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00008b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1"/>
          <p:cNvSpPr/>
          <p:nvPr/>
        </p:nvSpPr>
        <p:spPr>
          <a:xfrm>
            <a:off x="409680" y="714240"/>
            <a:ext cx="3703320" cy="779400"/>
          </a:xfrm>
          <a:custGeom>
            <a:avLst/>
            <a:gdLst/>
            <a:ahLst/>
            <a:rect l="l" t="t" r="r" b="b"/>
            <a:pathLst>
              <a:path w="3705225" h="781050">
                <a:moveTo>
                  <a:pt x="0" y="0"/>
                </a:moveTo>
                <a:lnTo>
                  <a:pt x="3705225" y="0"/>
                </a:lnTo>
                <a:lnTo>
                  <a:pt x="3705225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7" name="Text 2"/>
          <p:cNvSpPr/>
          <p:nvPr/>
        </p:nvSpPr>
        <p:spPr>
          <a:xfrm>
            <a:off x="666720" y="971640"/>
            <a:ext cx="32842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137" strike="noStrike">
                <a:solidFill>
                  <a:srgbClr val="ffffff"/>
                </a:solidFill>
                <a:latin typeface="Noto Sans SC"/>
                <a:ea typeface="Noto Sans SC"/>
              </a:rPr>
              <a:t>FINANCIAL LECTURE SERIES</a:t>
            </a:r>
            <a:endParaRPr b="0" lang="en-HK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3"/>
          <p:cNvSpPr/>
          <p:nvPr/>
        </p:nvSpPr>
        <p:spPr>
          <a:xfrm>
            <a:off x="409680" y="1876320"/>
            <a:ext cx="11370960" cy="3255840"/>
          </a:xfrm>
          <a:custGeom>
            <a:avLst/>
            <a:gdLst/>
            <a:ahLst/>
            <a:rect l="l" t="t" r="r" b="b"/>
            <a:pathLst>
              <a:path w="11372850" h="3257550">
                <a:moveTo>
                  <a:pt x="0" y="0"/>
                </a:moveTo>
                <a:lnTo>
                  <a:pt x="11372850" y="0"/>
                </a:lnTo>
                <a:lnTo>
                  <a:pt x="113728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9" name="Text 4"/>
          <p:cNvSpPr/>
          <p:nvPr/>
        </p:nvSpPr>
        <p:spPr>
          <a:xfrm>
            <a:off x="895320" y="2362320"/>
            <a:ext cx="108568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7200" spc="-1" strike="noStrike">
                <a:solidFill>
                  <a:srgbClr val="ffffff"/>
                </a:solidFill>
                <a:latin typeface="Noto Sans SC"/>
                <a:ea typeface="Noto Sans SC"/>
              </a:rPr>
              <a:t>BITCOIN</a:t>
            </a:r>
            <a:endParaRPr b="0" lang="en-HK" sz="7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895320" y="3505320"/>
            <a:ext cx="1217520" cy="74520"/>
          </a:xfrm>
          <a:custGeom>
            <a:avLst/>
            <a:gdLst/>
            <a:ah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6"/>
          <p:cNvSpPr/>
          <p:nvPr/>
        </p:nvSpPr>
        <p:spPr>
          <a:xfrm>
            <a:off x="895320" y="3809880"/>
            <a:ext cx="105710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ffff"/>
                </a:solidFill>
                <a:latin typeface="Noto Sans SC"/>
                <a:ea typeface="Noto Sans SC"/>
              </a:rPr>
              <a:t>THE DIGITAL REVOLUTION</a:t>
            </a:r>
            <a:endParaRPr b="0" lang="en-HK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895320" y="4343400"/>
            <a:ext cx="10513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A Comprehensive Analysis of History, Present &amp; Future</a:t>
            </a:r>
            <a:endParaRPr b="0" lang="en-HK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409680" y="5514840"/>
            <a:ext cx="1293480" cy="626760"/>
          </a:xfrm>
          <a:custGeom>
            <a:avLst/>
            <a:gdLst/>
            <a:ahLst/>
            <a:rect l="l" t="t" r="r" b="b"/>
            <a:pathLst>
              <a:path w="1295400" h="628650">
                <a:moveTo>
                  <a:pt x="0" y="0"/>
                </a:moveTo>
                <a:lnTo>
                  <a:pt x="1295400" y="0"/>
                </a:lnTo>
                <a:lnTo>
                  <a:pt x="1295400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" name="Text 9"/>
          <p:cNvSpPr/>
          <p:nvPr/>
        </p:nvSpPr>
        <p:spPr>
          <a:xfrm>
            <a:off x="590400" y="5695920"/>
            <a:ext cx="1017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ffffff"/>
                </a:solidFill>
                <a:latin typeface="MiSans"/>
                <a:ea typeface="MiSans"/>
              </a:rPr>
              <a:t>March 2026</a:t>
            </a:r>
            <a:endParaRPr b="0" lang="en-HK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10364400" y="5514840"/>
            <a:ext cx="1417320" cy="626760"/>
          </a:xfrm>
          <a:custGeom>
            <a:avLst/>
            <a:gdLst/>
            <a:ahLst/>
            <a:rect l="l" t="t" r="r" b="b"/>
            <a:pathLst>
              <a:path w="1419225" h="628650">
                <a:moveTo>
                  <a:pt x="0" y="0"/>
                </a:moveTo>
                <a:lnTo>
                  <a:pt x="1419225" y="0"/>
                </a:lnTo>
                <a:lnTo>
                  <a:pt x="1419225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" name="Text 11"/>
          <p:cNvSpPr/>
          <p:nvPr/>
        </p:nvSpPr>
        <p:spPr>
          <a:xfrm>
            <a:off x="10545480" y="5695920"/>
            <a:ext cx="11412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ffffff"/>
                </a:solidFill>
                <a:latin typeface="MiSans"/>
                <a:ea typeface="MiSans"/>
              </a:rPr>
              <a:t>▶ </a:t>
            </a:r>
            <a:r>
              <a:rPr b="1" lang="en-US" sz="1350" spc="-1" strike="noStrike">
                <a:solidFill>
                  <a:srgbClr val="ffffff"/>
                </a:solidFill>
                <a:latin typeface="MiSans"/>
                <a:ea typeface="MiSans"/>
              </a:rPr>
              <a:t>27 SLIDES</a:t>
            </a:r>
            <a:endParaRPr b="0" lang="en-HK" sz="13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341280" y="341280"/>
            <a:ext cx="11507400" cy="1093680"/>
          </a:xfrm>
          <a:custGeom>
            <a:avLst/>
            <a:gdLst/>
            <a:ahLst/>
            <a:rect l="l" t="t" r="r" b="b"/>
            <a:pathLst>
              <a:path w="11509375" h="1095375">
                <a:moveTo>
                  <a:pt x="0" y="0"/>
                </a:moveTo>
                <a:lnTo>
                  <a:pt x="11509375" y="0"/>
                </a:lnTo>
                <a:lnTo>
                  <a:pt x="11509375" y="1095375"/>
                </a:lnTo>
                <a:lnTo>
                  <a:pt x="0" y="1095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1"/>
          <p:cNvSpPr/>
          <p:nvPr/>
        </p:nvSpPr>
        <p:spPr>
          <a:xfrm>
            <a:off x="555480" y="555480"/>
            <a:ext cx="1131696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75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CONTENTS</a:t>
            </a:r>
            <a:endParaRPr b="0" lang="en-HK" sz="3750" spc="-1" strike="noStrike"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555480" y="1158840"/>
            <a:ext cx="760320" cy="6156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Shape 3"/>
          <p:cNvSpPr/>
          <p:nvPr/>
        </p:nvSpPr>
        <p:spPr>
          <a:xfrm>
            <a:off x="341280" y="1674720"/>
            <a:ext cx="5649840" cy="87120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" name="Shape 4"/>
          <p:cNvSpPr/>
          <p:nvPr/>
        </p:nvSpPr>
        <p:spPr>
          <a:xfrm>
            <a:off x="547560" y="1881360"/>
            <a:ext cx="458640" cy="45864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Text 5"/>
          <p:cNvSpPr/>
          <p:nvPr/>
        </p:nvSpPr>
        <p:spPr>
          <a:xfrm>
            <a:off x="464400" y="1857240"/>
            <a:ext cx="529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1158840" y="1857240"/>
            <a:ext cx="14112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58840" y="2143080"/>
            <a:ext cx="13874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Bitcoin's Origin Story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6199200" y="1674720"/>
            <a:ext cx="5649840" cy="87120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" name="Shape 9"/>
          <p:cNvSpPr/>
          <p:nvPr/>
        </p:nvSpPr>
        <p:spPr>
          <a:xfrm>
            <a:off x="6405480" y="1881360"/>
            <a:ext cx="458640" cy="45864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0"/>
          <p:cNvSpPr/>
          <p:nvPr/>
        </p:nvSpPr>
        <p:spPr>
          <a:xfrm>
            <a:off x="6322320" y="1857240"/>
            <a:ext cx="529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7016760" y="1857240"/>
            <a:ext cx="25142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7016760" y="2143080"/>
            <a:ext cx="24904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How Bitcoin Works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0" name="Shape 13"/>
          <p:cNvSpPr/>
          <p:nvPr/>
        </p:nvSpPr>
        <p:spPr>
          <a:xfrm>
            <a:off x="341280" y="2754360"/>
            <a:ext cx="5649840" cy="87120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" name="Shape 14"/>
          <p:cNvSpPr/>
          <p:nvPr/>
        </p:nvSpPr>
        <p:spPr>
          <a:xfrm>
            <a:off x="547560" y="2960640"/>
            <a:ext cx="458640" cy="45864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Text 15"/>
          <p:cNvSpPr/>
          <p:nvPr/>
        </p:nvSpPr>
        <p:spPr>
          <a:xfrm>
            <a:off x="464400" y="2936880"/>
            <a:ext cx="529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1158840" y="2936880"/>
            <a:ext cx="271296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1158840" y="3222720"/>
            <a:ext cx="26888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From Cypherpunk Dream to Global Asset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5" name="Shape 18"/>
          <p:cNvSpPr/>
          <p:nvPr/>
        </p:nvSpPr>
        <p:spPr>
          <a:xfrm>
            <a:off x="6199200" y="2754360"/>
            <a:ext cx="5649840" cy="87120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" name="Shape 19"/>
          <p:cNvSpPr/>
          <p:nvPr/>
        </p:nvSpPr>
        <p:spPr>
          <a:xfrm>
            <a:off x="6405480" y="2960640"/>
            <a:ext cx="458640" cy="45864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Text 20"/>
          <p:cNvSpPr/>
          <p:nvPr/>
        </p:nvSpPr>
        <p:spPr>
          <a:xfrm>
            <a:off x="6322320" y="2936880"/>
            <a:ext cx="529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7016760" y="2936880"/>
            <a:ext cx="21096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7016760" y="3222720"/>
            <a:ext cx="20858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Halving Cycles &amp; Price Patterns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341280" y="3833640"/>
            <a:ext cx="5649840" cy="87120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" name="Shape 24"/>
          <p:cNvSpPr/>
          <p:nvPr/>
        </p:nvSpPr>
        <p:spPr>
          <a:xfrm>
            <a:off x="547560" y="4040280"/>
            <a:ext cx="458640" cy="45864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Text 25"/>
          <p:cNvSpPr/>
          <p:nvPr/>
        </p:nvSpPr>
        <p:spPr>
          <a:xfrm>
            <a:off x="464400" y="4016520"/>
            <a:ext cx="529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1158840" y="4016520"/>
            <a:ext cx="2260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4" name="Text 27"/>
          <p:cNvSpPr/>
          <p:nvPr/>
        </p:nvSpPr>
        <p:spPr>
          <a:xfrm>
            <a:off x="1158840" y="4302000"/>
            <a:ext cx="22366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2024-2025 Market Status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5" name="Shape 28"/>
          <p:cNvSpPr/>
          <p:nvPr/>
        </p:nvSpPr>
        <p:spPr>
          <a:xfrm>
            <a:off x="6199200" y="3833640"/>
            <a:ext cx="5649840" cy="87120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" name="Shape 29"/>
          <p:cNvSpPr/>
          <p:nvPr/>
        </p:nvSpPr>
        <p:spPr>
          <a:xfrm>
            <a:off x="6405480" y="4040280"/>
            <a:ext cx="458640" cy="45864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30"/>
          <p:cNvSpPr/>
          <p:nvPr/>
        </p:nvSpPr>
        <p:spPr>
          <a:xfrm>
            <a:off x="6322320" y="4016520"/>
            <a:ext cx="529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8" name="Text 31"/>
          <p:cNvSpPr/>
          <p:nvPr/>
        </p:nvSpPr>
        <p:spPr>
          <a:xfrm>
            <a:off x="7016760" y="4016520"/>
            <a:ext cx="26017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9" name="Text 32"/>
          <p:cNvSpPr/>
          <p:nvPr/>
        </p:nvSpPr>
        <p:spPr>
          <a:xfrm>
            <a:off x="7016760" y="4302000"/>
            <a:ext cx="257796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Wall Street Embraces Bitcoin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0" name="Shape 33"/>
          <p:cNvSpPr/>
          <p:nvPr/>
        </p:nvSpPr>
        <p:spPr>
          <a:xfrm>
            <a:off x="341280" y="4913280"/>
            <a:ext cx="5649840" cy="87120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1" name="Shape 34"/>
          <p:cNvSpPr/>
          <p:nvPr/>
        </p:nvSpPr>
        <p:spPr>
          <a:xfrm>
            <a:off x="547560" y="5119560"/>
            <a:ext cx="458640" cy="45864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35"/>
          <p:cNvSpPr/>
          <p:nvPr/>
        </p:nvSpPr>
        <p:spPr>
          <a:xfrm>
            <a:off x="464400" y="5095800"/>
            <a:ext cx="529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3" name="Text 36"/>
          <p:cNvSpPr/>
          <p:nvPr/>
        </p:nvSpPr>
        <p:spPr>
          <a:xfrm>
            <a:off x="1158840" y="5095800"/>
            <a:ext cx="20062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" name="Text 37"/>
          <p:cNvSpPr/>
          <p:nvPr/>
        </p:nvSpPr>
        <p:spPr>
          <a:xfrm>
            <a:off x="1158840" y="5381640"/>
            <a:ext cx="198252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Backbone of Security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5" name="Shape 38"/>
          <p:cNvSpPr/>
          <p:nvPr/>
        </p:nvSpPr>
        <p:spPr>
          <a:xfrm>
            <a:off x="6199200" y="4913280"/>
            <a:ext cx="5649840" cy="87120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6" name="Shape 39"/>
          <p:cNvSpPr/>
          <p:nvPr/>
        </p:nvSpPr>
        <p:spPr>
          <a:xfrm>
            <a:off x="6405480" y="5119560"/>
            <a:ext cx="458640" cy="45864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Text 40"/>
          <p:cNvSpPr/>
          <p:nvPr/>
        </p:nvSpPr>
        <p:spPr>
          <a:xfrm>
            <a:off x="6322320" y="5095800"/>
            <a:ext cx="529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" name="Text 41"/>
          <p:cNvSpPr/>
          <p:nvPr/>
        </p:nvSpPr>
        <p:spPr>
          <a:xfrm>
            <a:off x="7016760" y="5095800"/>
            <a:ext cx="21967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9" name="Text 42"/>
          <p:cNvSpPr/>
          <p:nvPr/>
        </p:nvSpPr>
        <p:spPr>
          <a:xfrm>
            <a:off x="7016760" y="5381640"/>
            <a:ext cx="217296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Store of Value Debate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0" name="Shape 43"/>
          <p:cNvSpPr/>
          <p:nvPr/>
        </p:nvSpPr>
        <p:spPr>
          <a:xfrm>
            <a:off x="341280" y="5992920"/>
            <a:ext cx="5649840" cy="87120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" name="Shape 44"/>
          <p:cNvSpPr/>
          <p:nvPr/>
        </p:nvSpPr>
        <p:spPr>
          <a:xfrm>
            <a:off x="547560" y="6199200"/>
            <a:ext cx="458640" cy="45864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Text 45"/>
          <p:cNvSpPr/>
          <p:nvPr/>
        </p:nvSpPr>
        <p:spPr>
          <a:xfrm>
            <a:off x="464400" y="6175440"/>
            <a:ext cx="529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3" name="Text 46"/>
          <p:cNvSpPr/>
          <p:nvPr/>
        </p:nvSpPr>
        <p:spPr>
          <a:xfrm>
            <a:off x="1158840" y="6175440"/>
            <a:ext cx="21175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" name="Text 47"/>
          <p:cNvSpPr/>
          <p:nvPr/>
        </p:nvSpPr>
        <p:spPr>
          <a:xfrm>
            <a:off x="1158840" y="6461280"/>
            <a:ext cx="209376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&amp; Layer 2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5" name="Shape 48"/>
          <p:cNvSpPr/>
          <p:nvPr/>
        </p:nvSpPr>
        <p:spPr>
          <a:xfrm>
            <a:off x="6199200" y="5992920"/>
            <a:ext cx="5649840" cy="87120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6" name="Shape 49"/>
          <p:cNvSpPr/>
          <p:nvPr/>
        </p:nvSpPr>
        <p:spPr>
          <a:xfrm>
            <a:off x="6405480" y="6199200"/>
            <a:ext cx="458640" cy="45864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Text 50"/>
          <p:cNvSpPr/>
          <p:nvPr/>
        </p:nvSpPr>
        <p:spPr>
          <a:xfrm>
            <a:off x="6322320" y="6175440"/>
            <a:ext cx="529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8" name="Text 51"/>
          <p:cNvSpPr/>
          <p:nvPr/>
        </p:nvSpPr>
        <p:spPr>
          <a:xfrm>
            <a:off x="7016760" y="6175440"/>
            <a:ext cx="222876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9" name="Text 52"/>
          <p:cNvSpPr/>
          <p:nvPr/>
        </p:nvSpPr>
        <p:spPr>
          <a:xfrm>
            <a:off x="7016760" y="6461280"/>
            <a:ext cx="22050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Road Ahead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0" name="Shape 53"/>
          <p:cNvSpPr/>
          <p:nvPr/>
        </p:nvSpPr>
        <p:spPr>
          <a:xfrm>
            <a:off x="341280" y="7072200"/>
            <a:ext cx="5649840" cy="87120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1" name="Shape 54"/>
          <p:cNvSpPr/>
          <p:nvPr/>
        </p:nvSpPr>
        <p:spPr>
          <a:xfrm>
            <a:off x="547560" y="7278840"/>
            <a:ext cx="458640" cy="45864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 55"/>
          <p:cNvSpPr/>
          <p:nvPr/>
        </p:nvSpPr>
        <p:spPr>
          <a:xfrm>
            <a:off x="464400" y="7254720"/>
            <a:ext cx="529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3" name="Text 56"/>
          <p:cNvSpPr/>
          <p:nvPr/>
        </p:nvSpPr>
        <p:spPr>
          <a:xfrm>
            <a:off x="1158840" y="7254720"/>
            <a:ext cx="18712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4" name="Text 57"/>
          <p:cNvSpPr/>
          <p:nvPr/>
        </p:nvSpPr>
        <p:spPr>
          <a:xfrm>
            <a:off x="1158840" y="7540560"/>
            <a:ext cx="184752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Predictions &amp; Scenarios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5" name="Shape 58"/>
          <p:cNvSpPr/>
          <p:nvPr/>
        </p:nvSpPr>
        <p:spPr>
          <a:xfrm>
            <a:off x="6199200" y="7072200"/>
            <a:ext cx="5649840" cy="87120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6" name="Shape 59"/>
          <p:cNvSpPr/>
          <p:nvPr/>
        </p:nvSpPr>
        <p:spPr>
          <a:xfrm>
            <a:off x="6405480" y="7278840"/>
            <a:ext cx="458640" cy="45864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Text 60"/>
          <p:cNvSpPr/>
          <p:nvPr/>
        </p:nvSpPr>
        <p:spPr>
          <a:xfrm>
            <a:off x="6322320" y="7254720"/>
            <a:ext cx="529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8" name="Text 61"/>
          <p:cNvSpPr/>
          <p:nvPr/>
        </p:nvSpPr>
        <p:spPr>
          <a:xfrm>
            <a:off x="7016760" y="7254720"/>
            <a:ext cx="13712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9" name="Text 62"/>
          <p:cNvSpPr/>
          <p:nvPr/>
        </p:nvSpPr>
        <p:spPr>
          <a:xfrm>
            <a:off x="7016760" y="7540560"/>
            <a:ext cx="13474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Path Forward</a:t>
            </a:r>
            <a:endParaRPr b="0" lang="en-HK" sz="113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Shape 1"/>
          <p:cNvSpPr/>
          <p:nvPr/>
        </p:nvSpPr>
        <p:spPr>
          <a:xfrm>
            <a:off x="409680" y="781200"/>
            <a:ext cx="8475480" cy="396072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3" name="Shape 2"/>
          <p:cNvSpPr/>
          <p:nvPr/>
        </p:nvSpPr>
        <p:spPr>
          <a:xfrm>
            <a:off x="923760" y="1295280"/>
            <a:ext cx="855360" cy="85536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3"/>
          <p:cNvSpPr/>
          <p:nvPr/>
        </p:nvSpPr>
        <p:spPr>
          <a:xfrm>
            <a:off x="781200" y="1266840"/>
            <a:ext cx="102708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038320" y="1266840"/>
            <a:ext cx="74520" cy="91260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5"/>
          <p:cNvSpPr/>
          <p:nvPr/>
        </p:nvSpPr>
        <p:spPr>
          <a:xfrm>
            <a:off x="895320" y="2486160"/>
            <a:ext cx="7846920" cy="85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895320" y="3571920"/>
            <a:ext cx="1827000" cy="7452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Text 7"/>
          <p:cNvSpPr/>
          <p:nvPr/>
        </p:nvSpPr>
        <p:spPr>
          <a:xfrm>
            <a:off x="895320" y="3876840"/>
            <a:ext cx="767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Origin Story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09680" y="5257800"/>
            <a:ext cx="11370960" cy="81720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9"/>
          <p:cNvSpPr/>
          <p:nvPr/>
        </p:nvSpPr>
        <p:spPr>
          <a:xfrm>
            <a:off x="666720" y="5514840"/>
            <a:ext cx="10971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Vision to Financial Revolution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>
            <a:off x="341280" y="341280"/>
            <a:ext cx="11507400" cy="99828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ext 1"/>
          <p:cNvSpPr/>
          <p:nvPr/>
        </p:nvSpPr>
        <p:spPr>
          <a:xfrm>
            <a:off x="555480" y="555480"/>
            <a:ext cx="11269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BIRTH OF BITCOIN: 2008-2009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555480" y="1063800"/>
            <a:ext cx="760320" cy="6156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3"/>
          <p:cNvSpPr/>
          <p:nvPr/>
        </p:nvSpPr>
        <p:spPr>
          <a:xfrm>
            <a:off x="341280" y="1547640"/>
            <a:ext cx="8269200" cy="1847520"/>
          </a:xfrm>
          <a:custGeom>
            <a:avLst/>
            <a:gdLst/>
            <a:ahLst/>
            <a:rect l="l" t="t" r="r" b="b"/>
            <a:pathLst>
              <a:path w="8270875" h="1849438">
                <a:moveTo>
                  <a:pt x="0" y="0"/>
                </a:moveTo>
                <a:lnTo>
                  <a:pt x="8270875" y="0"/>
                </a:lnTo>
                <a:lnTo>
                  <a:pt x="8270875" y="1849438"/>
                </a:lnTo>
                <a:lnTo>
                  <a:pt x="0" y="1849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5" name="Shape 4"/>
          <p:cNvSpPr/>
          <p:nvPr/>
        </p:nvSpPr>
        <p:spPr>
          <a:xfrm>
            <a:off x="547560" y="1754280"/>
            <a:ext cx="331560" cy="33156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Text 5"/>
          <p:cNvSpPr/>
          <p:nvPr/>
        </p:nvSpPr>
        <p:spPr>
          <a:xfrm>
            <a:off x="484200" y="1730520"/>
            <a:ext cx="3632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1031760" y="1730520"/>
            <a:ext cx="16174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October 31, 2008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523800" y="2206800"/>
            <a:ext cx="7975440" cy="4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Satoshi Nakamoto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publishes the Bitcoin whitepaper: "Bitcoin: A Peer-to-Peer Electronic Cash System" to the cypherpunk mailing list.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39" name="Shape 8"/>
          <p:cNvSpPr/>
          <p:nvPr/>
        </p:nvSpPr>
        <p:spPr>
          <a:xfrm>
            <a:off x="539640" y="2782080"/>
            <a:ext cx="7872120" cy="41112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Text 9"/>
          <p:cNvSpPr/>
          <p:nvPr/>
        </p:nvSpPr>
        <p:spPr>
          <a:xfrm>
            <a:off x="650880" y="2893320"/>
            <a:ext cx="771336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Core Innovation: Decentralized digital currency without trusted third parties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341280" y="3567960"/>
            <a:ext cx="8269200" cy="1609560"/>
          </a:xfrm>
          <a:custGeom>
            <a:avLst/>
            <a:gdLst/>
            <a:ahLst/>
            <a:rect l="l" t="t" r="r" b="b"/>
            <a:pathLst>
              <a:path w="8270875" h="1611313">
                <a:moveTo>
                  <a:pt x="0" y="0"/>
                </a:moveTo>
                <a:lnTo>
                  <a:pt x="8270875" y="0"/>
                </a:lnTo>
                <a:lnTo>
                  <a:pt x="8270875" y="1611313"/>
                </a:lnTo>
                <a:lnTo>
                  <a:pt x="0" y="16113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2" name="Shape 11"/>
          <p:cNvSpPr/>
          <p:nvPr/>
        </p:nvSpPr>
        <p:spPr>
          <a:xfrm>
            <a:off x="547560" y="3774240"/>
            <a:ext cx="331560" cy="33156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12"/>
          <p:cNvSpPr/>
          <p:nvPr/>
        </p:nvSpPr>
        <p:spPr>
          <a:xfrm>
            <a:off x="484200" y="3750480"/>
            <a:ext cx="3632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031760" y="3750480"/>
            <a:ext cx="151416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3,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523800" y="4226760"/>
            <a:ext cx="7975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Genesis Block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is mined, marking Bitcoin network's official launch. Embedded message references bank bailouts.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46" name="Shape 15"/>
          <p:cNvSpPr/>
          <p:nvPr/>
        </p:nvSpPr>
        <p:spPr>
          <a:xfrm>
            <a:off x="539640" y="4569840"/>
            <a:ext cx="7872120" cy="41112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6"/>
          <p:cNvSpPr/>
          <p:nvPr/>
        </p:nvSpPr>
        <p:spPr>
          <a:xfrm>
            <a:off x="650880" y="4681080"/>
            <a:ext cx="771336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"The Times 03/Jan/2009 Chancellor on brink of second bailout for banks"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8" name="Shape 17"/>
          <p:cNvSpPr/>
          <p:nvPr/>
        </p:nvSpPr>
        <p:spPr>
          <a:xfrm>
            <a:off x="341280" y="5355720"/>
            <a:ext cx="8269200" cy="1069920"/>
          </a:xfrm>
          <a:custGeom>
            <a:avLst/>
            <a:gdLst/>
            <a:ahLst/>
            <a:rect l="l" t="t" r="r" b="b"/>
            <a:pathLst>
              <a:path w="8270875" h="1071563">
                <a:moveTo>
                  <a:pt x="0" y="0"/>
                </a:moveTo>
                <a:lnTo>
                  <a:pt x="8270875" y="0"/>
                </a:lnTo>
                <a:lnTo>
                  <a:pt x="8270875" y="1071563"/>
                </a:lnTo>
                <a:lnTo>
                  <a:pt x="0" y="107156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9" name="Shape 18"/>
          <p:cNvSpPr/>
          <p:nvPr/>
        </p:nvSpPr>
        <p:spPr>
          <a:xfrm>
            <a:off x="547560" y="5562360"/>
            <a:ext cx="331560" cy="33156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Text 19"/>
          <p:cNvSpPr/>
          <p:nvPr/>
        </p:nvSpPr>
        <p:spPr>
          <a:xfrm>
            <a:off x="484200" y="5538240"/>
            <a:ext cx="3632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1031760" y="5538240"/>
            <a:ext cx="16174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12,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2" name="Text 21"/>
          <p:cNvSpPr/>
          <p:nvPr/>
        </p:nvSpPr>
        <p:spPr>
          <a:xfrm>
            <a:off x="523800" y="6014520"/>
            <a:ext cx="7975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First Bitcoin transaction: Satoshi sends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10 BTC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to computer scientist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 Finney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, validating the system works.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53" name="Shape 22"/>
          <p:cNvSpPr/>
          <p:nvPr/>
        </p:nvSpPr>
        <p:spPr>
          <a:xfrm>
            <a:off x="8850240" y="1547640"/>
            <a:ext cx="2998440" cy="3506400"/>
          </a:xfrm>
          <a:custGeom>
            <a:avLst/>
            <a:gdLst/>
            <a:ahLst/>
            <a:rect l="l" t="t" r="r" b="b"/>
            <a:pathLst>
              <a:path w="3000375" h="3508375">
                <a:moveTo>
                  <a:pt x="0" y="0"/>
                </a:moveTo>
                <a:lnTo>
                  <a:pt x="3000375" y="0"/>
                </a:lnTo>
                <a:lnTo>
                  <a:pt x="3000375" y="3508375"/>
                </a:lnTo>
                <a:lnTo>
                  <a:pt x="0" y="3508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4" name="Text 23"/>
          <p:cNvSpPr/>
          <p:nvPr/>
        </p:nvSpPr>
        <p:spPr>
          <a:xfrm>
            <a:off x="9032760" y="1730520"/>
            <a:ext cx="27288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MOTIVATION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5" name="Shape 24"/>
          <p:cNvSpPr/>
          <p:nvPr/>
        </p:nvSpPr>
        <p:spPr>
          <a:xfrm>
            <a:off x="9048600" y="2127240"/>
            <a:ext cx="2601720" cy="82368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Text 25"/>
          <p:cNvSpPr/>
          <p:nvPr/>
        </p:nvSpPr>
        <p:spPr>
          <a:xfrm>
            <a:off x="9159840" y="2238480"/>
            <a:ext cx="244296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2008 Financial Crisis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7" name="Text 26"/>
          <p:cNvSpPr/>
          <p:nvPr/>
        </p:nvSpPr>
        <p:spPr>
          <a:xfrm>
            <a:off x="9159840" y="2460600"/>
            <a:ext cx="2442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Bank failures, government bailouts, currency devaluation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8" name="Shape 27"/>
          <p:cNvSpPr/>
          <p:nvPr/>
        </p:nvSpPr>
        <p:spPr>
          <a:xfrm>
            <a:off x="9048600" y="3079800"/>
            <a:ext cx="2601720" cy="82368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28"/>
          <p:cNvSpPr/>
          <p:nvPr/>
        </p:nvSpPr>
        <p:spPr>
          <a:xfrm>
            <a:off x="9159840" y="3191040"/>
            <a:ext cx="244296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Cypherpunk Philosophy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0" name="Text 29"/>
          <p:cNvSpPr/>
          <p:nvPr/>
        </p:nvSpPr>
        <p:spPr>
          <a:xfrm>
            <a:off x="9159840" y="3413160"/>
            <a:ext cx="2442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Privacy, decentralization, mathematical trust over institutional trust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1" name="Shape 30"/>
          <p:cNvSpPr/>
          <p:nvPr/>
        </p:nvSpPr>
        <p:spPr>
          <a:xfrm>
            <a:off x="9048600" y="4032360"/>
            <a:ext cx="2601720" cy="82368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Text 31"/>
          <p:cNvSpPr/>
          <p:nvPr/>
        </p:nvSpPr>
        <p:spPr>
          <a:xfrm>
            <a:off x="9159840" y="4143240"/>
            <a:ext cx="244296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Double-Spending Problem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3" name="Text 32"/>
          <p:cNvSpPr/>
          <p:nvPr/>
        </p:nvSpPr>
        <p:spPr>
          <a:xfrm>
            <a:off x="9159840" y="4365720"/>
            <a:ext cx="2442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digital currency to solve this without central authority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4" name="Shape 33"/>
          <p:cNvSpPr/>
          <p:nvPr/>
        </p:nvSpPr>
        <p:spPr>
          <a:xfrm>
            <a:off x="8850240" y="5230800"/>
            <a:ext cx="2998440" cy="3474720"/>
          </a:xfrm>
          <a:custGeom>
            <a:avLst/>
            <a:gdLst/>
            <a:ahLst/>
            <a:rect l="l" t="t" r="r" b="b"/>
            <a:pathLst>
              <a:path w="3000375" h="3476625">
                <a:moveTo>
                  <a:pt x="0" y="0"/>
                </a:moveTo>
                <a:lnTo>
                  <a:pt x="3000375" y="0"/>
                </a:lnTo>
                <a:lnTo>
                  <a:pt x="3000375" y="3476625"/>
                </a:lnTo>
                <a:lnTo>
                  <a:pt x="0" y="3476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5" name="Text 34"/>
          <p:cNvSpPr/>
          <p:nvPr/>
        </p:nvSpPr>
        <p:spPr>
          <a:xfrm>
            <a:off x="9032760" y="5413320"/>
            <a:ext cx="27288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CORE PRINCIPLES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66" name="Shape 35"/>
          <p:cNvSpPr/>
          <p:nvPr/>
        </p:nvSpPr>
        <p:spPr>
          <a:xfrm>
            <a:off x="9048600" y="5810400"/>
            <a:ext cx="2601720" cy="34740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Shape 36"/>
          <p:cNvSpPr/>
          <p:nvPr/>
        </p:nvSpPr>
        <p:spPr>
          <a:xfrm>
            <a:off x="9128160" y="5937120"/>
            <a:ext cx="93600" cy="9360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37"/>
          <p:cNvSpPr/>
          <p:nvPr/>
        </p:nvSpPr>
        <p:spPr>
          <a:xfrm>
            <a:off x="9318600" y="5889600"/>
            <a:ext cx="18954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Supply: 21 Million Coins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9" name="Shape 38"/>
          <p:cNvSpPr/>
          <p:nvPr/>
        </p:nvSpPr>
        <p:spPr>
          <a:xfrm>
            <a:off x="9048600" y="6254640"/>
            <a:ext cx="2601720" cy="53784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Shape 39"/>
          <p:cNvSpPr/>
          <p:nvPr/>
        </p:nvSpPr>
        <p:spPr>
          <a:xfrm>
            <a:off x="9128160" y="6477120"/>
            <a:ext cx="85680" cy="9360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Text 40"/>
          <p:cNvSpPr/>
          <p:nvPr/>
        </p:nvSpPr>
        <p:spPr>
          <a:xfrm>
            <a:off x="9309960" y="6334200"/>
            <a:ext cx="232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Decentralized: No Single Point of Control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2" name="Shape 41"/>
          <p:cNvSpPr/>
          <p:nvPr/>
        </p:nvSpPr>
        <p:spPr>
          <a:xfrm>
            <a:off x="9048600" y="6889680"/>
            <a:ext cx="2601720" cy="34740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Shape 42"/>
          <p:cNvSpPr/>
          <p:nvPr/>
        </p:nvSpPr>
        <p:spPr>
          <a:xfrm>
            <a:off x="9128160" y="7016760"/>
            <a:ext cx="93600" cy="9360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Text 43"/>
          <p:cNvSpPr/>
          <p:nvPr/>
        </p:nvSpPr>
        <p:spPr>
          <a:xfrm>
            <a:off x="9318600" y="6969240"/>
            <a:ext cx="23000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Trustless: Cryptographic Verification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5" name="Shape 44"/>
          <p:cNvSpPr/>
          <p:nvPr/>
        </p:nvSpPr>
        <p:spPr>
          <a:xfrm>
            <a:off x="9048600" y="7334280"/>
            <a:ext cx="2601720" cy="53784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Shape 45"/>
          <p:cNvSpPr/>
          <p:nvPr/>
        </p:nvSpPr>
        <p:spPr>
          <a:xfrm>
            <a:off x="9128160" y="7556400"/>
            <a:ext cx="85680" cy="9360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Text 46"/>
          <p:cNvSpPr/>
          <p:nvPr/>
        </p:nvSpPr>
        <p:spPr>
          <a:xfrm>
            <a:off x="9314280" y="7413480"/>
            <a:ext cx="232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Transparent: Public Blockchain Ledger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8" name="Shape 47"/>
          <p:cNvSpPr/>
          <p:nvPr/>
        </p:nvSpPr>
        <p:spPr>
          <a:xfrm>
            <a:off x="9048600" y="7969320"/>
            <a:ext cx="2601720" cy="53784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Shape 48"/>
          <p:cNvSpPr/>
          <p:nvPr/>
        </p:nvSpPr>
        <p:spPr>
          <a:xfrm>
            <a:off x="9128160" y="8191440"/>
            <a:ext cx="77400" cy="93600"/>
          </a:xfrm>
          <a:custGeom>
            <a:avLst/>
            <a:gdLst/>
            <a:ahLst/>
            <a:rect l="l" t="t" r="r" b="b"/>
            <a:pathLst>
              <a:path w="79375" h="95250">
                <a:moveTo>
                  <a:pt x="0" y="0"/>
                </a:moveTo>
                <a:lnTo>
                  <a:pt x="79375" y="0"/>
                </a:lnTo>
                <a:lnTo>
                  <a:pt x="793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49"/>
          <p:cNvSpPr/>
          <p:nvPr/>
        </p:nvSpPr>
        <p:spPr>
          <a:xfrm>
            <a:off x="9301320" y="8048520"/>
            <a:ext cx="23317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Immutable: Transactions Cannot Be Reversed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Shape 1"/>
          <p:cNvSpPr/>
          <p:nvPr/>
        </p:nvSpPr>
        <p:spPr>
          <a:xfrm>
            <a:off x="3305160" y="352440"/>
            <a:ext cx="8475480" cy="481788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4" name="Shape 2"/>
          <p:cNvSpPr/>
          <p:nvPr/>
        </p:nvSpPr>
        <p:spPr>
          <a:xfrm>
            <a:off x="10077480" y="838080"/>
            <a:ext cx="74520" cy="91260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Shape 3"/>
          <p:cNvSpPr/>
          <p:nvPr/>
        </p:nvSpPr>
        <p:spPr>
          <a:xfrm>
            <a:off x="10410840" y="866880"/>
            <a:ext cx="855360" cy="85536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Text 4"/>
          <p:cNvSpPr/>
          <p:nvPr/>
        </p:nvSpPr>
        <p:spPr>
          <a:xfrm>
            <a:off x="10267920" y="838080"/>
            <a:ext cx="102708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3448080" y="2057400"/>
            <a:ext cx="7846920" cy="17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88" name="Shape 6"/>
          <p:cNvSpPr/>
          <p:nvPr/>
        </p:nvSpPr>
        <p:spPr>
          <a:xfrm>
            <a:off x="9468000" y="4000680"/>
            <a:ext cx="1827000" cy="7452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7"/>
          <p:cNvSpPr/>
          <p:nvPr/>
        </p:nvSpPr>
        <p:spPr>
          <a:xfrm>
            <a:off x="3619440" y="4305240"/>
            <a:ext cx="767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Bitcoin Works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90" name="Shape 8"/>
          <p:cNvSpPr/>
          <p:nvPr/>
        </p:nvSpPr>
        <p:spPr>
          <a:xfrm>
            <a:off x="5071320" y="5686560"/>
            <a:ext cx="6713280" cy="817200"/>
          </a:xfrm>
          <a:custGeom>
            <a:avLst/>
            <a:gdLst/>
            <a:ahLst/>
            <a:rect l="l" t="t" r="r" b="b"/>
            <a:pathLst>
              <a:path w="6715125" h="819150">
                <a:moveTo>
                  <a:pt x="0" y="0"/>
                </a:moveTo>
                <a:lnTo>
                  <a:pt x="6715125" y="0"/>
                </a:lnTo>
                <a:lnTo>
                  <a:pt x="671512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Text 9"/>
          <p:cNvSpPr/>
          <p:nvPr/>
        </p:nvSpPr>
        <p:spPr>
          <a:xfrm>
            <a:off x="5328720" y="5943600"/>
            <a:ext cx="6313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Work, Blockchain &amp; Decentralized Consensus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341280" y="341280"/>
            <a:ext cx="11507400" cy="99828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Text 1"/>
          <p:cNvSpPr/>
          <p:nvPr/>
        </p:nvSpPr>
        <p:spPr>
          <a:xfrm>
            <a:off x="555480" y="555480"/>
            <a:ext cx="11269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BLOCKCHAIN &amp; PROOF OF WORK: THE SECURITY MODEL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94" name="Shape 2"/>
          <p:cNvSpPr/>
          <p:nvPr/>
        </p:nvSpPr>
        <p:spPr>
          <a:xfrm>
            <a:off x="555480" y="1063800"/>
            <a:ext cx="760320" cy="6156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Shape 3"/>
          <p:cNvSpPr/>
          <p:nvPr/>
        </p:nvSpPr>
        <p:spPr>
          <a:xfrm>
            <a:off x="341280" y="1547640"/>
            <a:ext cx="8269200" cy="2070000"/>
          </a:xfrm>
          <a:custGeom>
            <a:avLst/>
            <a:gdLst/>
            <a:ahLst/>
            <a:rect l="l" t="t" r="r" b="b"/>
            <a:pathLst>
              <a:path w="8270875" h="2071688">
                <a:moveTo>
                  <a:pt x="0" y="0"/>
                </a:moveTo>
                <a:lnTo>
                  <a:pt x="8270875" y="0"/>
                </a:lnTo>
                <a:lnTo>
                  <a:pt x="8270875" y="2071688"/>
                </a:lnTo>
                <a:lnTo>
                  <a:pt x="0" y="20716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6" name="Text 4"/>
          <p:cNvSpPr/>
          <p:nvPr/>
        </p:nvSpPr>
        <p:spPr>
          <a:xfrm>
            <a:off x="523800" y="1730520"/>
            <a:ext cx="79992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BLOCKCHAIN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523800" y="2111400"/>
            <a:ext cx="7975440" cy="4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A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distributed ledger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recording all transactions across a network of computers. Each block contains a cryptographic hash of the previous block, creating an immutable chain.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98" name="Shape 6"/>
          <p:cNvSpPr/>
          <p:nvPr/>
        </p:nvSpPr>
        <p:spPr>
          <a:xfrm>
            <a:off x="539640" y="2718720"/>
            <a:ext cx="2538360" cy="69660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7"/>
          <p:cNvSpPr/>
          <p:nvPr/>
        </p:nvSpPr>
        <p:spPr>
          <a:xfrm>
            <a:off x="591480" y="2829600"/>
            <a:ext cx="24350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0" name="Text 8"/>
          <p:cNvSpPr/>
          <p:nvPr/>
        </p:nvSpPr>
        <p:spPr>
          <a:xfrm>
            <a:off x="623160" y="3147120"/>
            <a:ext cx="23716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Blocks Mined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1" name="Shape 9"/>
          <p:cNvSpPr/>
          <p:nvPr/>
        </p:nvSpPr>
        <p:spPr>
          <a:xfrm>
            <a:off x="3206880" y="2718720"/>
            <a:ext cx="2538360" cy="69660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Text 10"/>
          <p:cNvSpPr/>
          <p:nvPr/>
        </p:nvSpPr>
        <p:spPr>
          <a:xfrm>
            <a:off x="3258360" y="2829600"/>
            <a:ext cx="24350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~10min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3" name="Text 11"/>
          <p:cNvSpPr/>
          <p:nvPr/>
        </p:nvSpPr>
        <p:spPr>
          <a:xfrm>
            <a:off x="3290040" y="3147120"/>
            <a:ext cx="23716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4" name="Shape 12"/>
          <p:cNvSpPr/>
          <p:nvPr/>
        </p:nvSpPr>
        <p:spPr>
          <a:xfrm>
            <a:off x="5873760" y="2718720"/>
            <a:ext cx="2538360" cy="69660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Text 13"/>
          <p:cNvSpPr/>
          <p:nvPr/>
        </p:nvSpPr>
        <p:spPr>
          <a:xfrm>
            <a:off x="5925240" y="2829600"/>
            <a:ext cx="24350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1.2B+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6" name="Text 14"/>
          <p:cNvSpPr/>
          <p:nvPr/>
        </p:nvSpPr>
        <p:spPr>
          <a:xfrm>
            <a:off x="5956920" y="3147120"/>
            <a:ext cx="23716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7" name="Shape 15"/>
          <p:cNvSpPr/>
          <p:nvPr/>
        </p:nvSpPr>
        <p:spPr>
          <a:xfrm>
            <a:off x="341280" y="3790080"/>
            <a:ext cx="8269200" cy="2863800"/>
          </a:xfrm>
          <a:custGeom>
            <a:avLst/>
            <a:gdLst/>
            <a:ahLst/>
            <a:rect l="l" t="t" r="r" b="b"/>
            <a:pathLst>
              <a:path w="8270875" h="2865438">
                <a:moveTo>
                  <a:pt x="0" y="0"/>
                </a:moveTo>
                <a:lnTo>
                  <a:pt x="8270875" y="0"/>
                </a:lnTo>
                <a:lnTo>
                  <a:pt x="8270875" y="2865438"/>
                </a:lnTo>
                <a:lnTo>
                  <a:pt x="0" y="286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8" name="Text 16"/>
          <p:cNvSpPr/>
          <p:nvPr/>
        </p:nvSpPr>
        <p:spPr>
          <a:xfrm>
            <a:off x="523800" y="3972600"/>
            <a:ext cx="79992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 MECHANISM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523800" y="4353840"/>
            <a:ext cx="7975440" cy="4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Miners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compete to solve cryptographic puzzles using SHA-256 hashing. The winner adds the next block and earns the block reward.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210" name="Shape 18"/>
          <p:cNvSpPr/>
          <p:nvPr/>
        </p:nvSpPr>
        <p:spPr>
          <a:xfrm>
            <a:off x="539640" y="4960800"/>
            <a:ext cx="7872120" cy="1490400"/>
          </a:xfrm>
          <a:custGeom>
            <a:avLst/>
            <a:gdLst/>
            <a:ahLst/>
            <a:rect l="l" t="t" r="r" b="b"/>
            <a:pathLst>
              <a:path w="7874000" h="1492250">
                <a:moveTo>
                  <a:pt x="0" y="0"/>
                </a:moveTo>
                <a:lnTo>
                  <a:pt x="7874000" y="0"/>
                </a:lnTo>
                <a:lnTo>
                  <a:pt x="7874000" y="1492250"/>
                </a:lnTo>
                <a:lnTo>
                  <a:pt x="0" y="1492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Text 19"/>
          <p:cNvSpPr/>
          <p:nvPr/>
        </p:nvSpPr>
        <p:spPr>
          <a:xfrm>
            <a:off x="682560" y="5103720"/>
            <a:ext cx="7650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Mining Process: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2" name="Text 20"/>
          <p:cNvSpPr/>
          <p:nvPr/>
        </p:nvSpPr>
        <p:spPr>
          <a:xfrm>
            <a:off x="682560" y="5357880"/>
            <a:ext cx="7650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Bundle transactions into a block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3" name="Text 21"/>
          <p:cNvSpPr/>
          <p:nvPr/>
        </p:nvSpPr>
        <p:spPr>
          <a:xfrm>
            <a:off x="682560" y="5611680"/>
            <a:ext cx="7650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Find nonce making block hash &lt; target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4" name="Text 22"/>
          <p:cNvSpPr/>
          <p:nvPr/>
        </p:nvSpPr>
        <p:spPr>
          <a:xfrm>
            <a:off x="682560" y="5865840"/>
            <a:ext cx="7650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First to solve broadcasts to network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5" name="Text 23"/>
          <p:cNvSpPr/>
          <p:nvPr/>
        </p:nvSpPr>
        <p:spPr>
          <a:xfrm>
            <a:off x="682560" y="6119640"/>
            <a:ext cx="7650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4. Other nodes verify and add to chain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6" name="Shape 24"/>
          <p:cNvSpPr/>
          <p:nvPr/>
        </p:nvSpPr>
        <p:spPr>
          <a:xfrm>
            <a:off x="8850240" y="1547640"/>
            <a:ext cx="2998440" cy="3697200"/>
          </a:xfrm>
          <a:custGeom>
            <a:avLst/>
            <a:gdLst/>
            <a:ahLst/>
            <a:rect l="l" t="t" r="r" b="b"/>
            <a:pathLst>
              <a:path w="3000375" h="3698875">
                <a:moveTo>
                  <a:pt x="0" y="0"/>
                </a:moveTo>
                <a:lnTo>
                  <a:pt x="3000375" y="0"/>
                </a:lnTo>
                <a:lnTo>
                  <a:pt x="3000375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7" name="Text 25"/>
          <p:cNvSpPr/>
          <p:nvPr/>
        </p:nvSpPr>
        <p:spPr>
          <a:xfrm>
            <a:off x="9032760" y="1730520"/>
            <a:ext cx="27288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NETWORK SECURITY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18" name="Shape 26"/>
          <p:cNvSpPr/>
          <p:nvPr/>
        </p:nvSpPr>
        <p:spPr>
          <a:xfrm>
            <a:off x="9048600" y="2127240"/>
            <a:ext cx="2601720" cy="88704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Text 27"/>
          <p:cNvSpPr/>
          <p:nvPr/>
        </p:nvSpPr>
        <p:spPr>
          <a:xfrm>
            <a:off x="9159840" y="2238480"/>
            <a:ext cx="244296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0" name="Text 28"/>
          <p:cNvSpPr/>
          <p:nvPr/>
        </p:nvSpPr>
        <p:spPr>
          <a:xfrm>
            <a:off x="9159840" y="2460600"/>
            <a:ext cx="249840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400M+ TH/s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1" name="Text 29"/>
          <p:cNvSpPr/>
          <p:nvPr/>
        </p:nvSpPr>
        <p:spPr>
          <a:xfrm>
            <a:off x="9159840" y="2746440"/>
            <a:ext cx="24350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computing power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2" name="Shape 30"/>
          <p:cNvSpPr/>
          <p:nvPr/>
        </p:nvSpPr>
        <p:spPr>
          <a:xfrm>
            <a:off x="9048600" y="3143160"/>
            <a:ext cx="2601720" cy="88704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Text 31"/>
          <p:cNvSpPr/>
          <p:nvPr/>
        </p:nvSpPr>
        <p:spPr>
          <a:xfrm>
            <a:off x="9159840" y="3254400"/>
            <a:ext cx="244296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Attack Cost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4" name="Text 32"/>
          <p:cNvSpPr/>
          <p:nvPr/>
        </p:nvSpPr>
        <p:spPr>
          <a:xfrm>
            <a:off x="9159840" y="3476520"/>
            <a:ext cx="249840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$10B+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5" name="Text 33"/>
          <p:cNvSpPr/>
          <p:nvPr/>
        </p:nvSpPr>
        <p:spPr>
          <a:xfrm>
            <a:off x="9159840" y="3762360"/>
            <a:ext cx="24350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1 hour 51% attack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6" name="Shape 34"/>
          <p:cNvSpPr/>
          <p:nvPr/>
        </p:nvSpPr>
        <p:spPr>
          <a:xfrm>
            <a:off x="9048600" y="4159080"/>
            <a:ext cx="2601720" cy="88704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Text 35"/>
          <p:cNvSpPr/>
          <p:nvPr/>
        </p:nvSpPr>
        <p:spPr>
          <a:xfrm>
            <a:off x="9159840" y="4270320"/>
            <a:ext cx="244296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Difficulty Adjustment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8" name="Text 36"/>
          <p:cNvSpPr/>
          <p:nvPr/>
        </p:nvSpPr>
        <p:spPr>
          <a:xfrm>
            <a:off x="9159840" y="4492800"/>
            <a:ext cx="249840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Every 2,016 Blocks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9" name="Text 37"/>
          <p:cNvSpPr/>
          <p:nvPr/>
        </p:nvSpPr>
        <p:spPr>
          <a:xfrm>
            <a:off x="9159840" y="4778280"/>
            <a:ext cx="24350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Maintains 10-min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30" name="Shape 38"/>
          <p:cNvSpPr/>
          <p:nvPr/>
        </p:nvSpPr>
        <p:spPr>
          <a:xfrm>
            <a:off x="8850240" y="5421240"/>
            <a:ext cx="2998440" cy="2554200"/>
          </a:xfrm>
          <a:custGeom>
            <a:avLst/>
            <a:gdLst/>
            <a:ahLst/>
            <a:rect l="l" t="t" r="r" b="b"/>
            <a:pathLst>
              <a:path w="3000375" h="2555875">
                <a:moveTo>
                  <a:pt x="0" y="0"/>
                </a:moveTo>
                <a:lnTo>
                  <a:pt x="3000375" y="0"/>
                </a:lnTo>
                <a:lnTo>
                  <a:pt x="3000375" y="2555875"/>
                </a:lnTo>
                <a:lnTo>
                  <a:pt x="0" y="255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1" name="Text 39"/>
          <p:cNvSpPr/>
          <p:nvPr/>
        </p:nvSpPr>
        <p:spPr>
          <a:xfrm>
            <a:off x="9032760" y="5603760"/>
            <a:ext cx="27288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WHY IT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32" name="Shape 40"/>
          <p:cNvSpPr/>
          <p:nvPr/>
        </p:nvSpPr>
        <p:spPr>
          <a:xfrm>
            <a:off x="9032760" y="6048360"/>
            <a:ext cx="61560" cy="6156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3" name="Text 41"/>
          <p:cNvSpPr/>
          <p:nvPr/>
        </p:nvSpPr>
        <p:spPr>
          <a:xfrm>
            <a:off x="9191520" y="5985000"/>
            <a:ext cx="2538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as Security: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Massive electricity cost makes attacks economically irrational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4" name="Shape 42"/>
          <p:cNvSpPr/>
          <p:nvPr/>
        </p:nvSpPr>
        <p:spPr>
          <a:xfrm>
            <a:off x="9032760" y="6524640"/>
            <a:ext cx="61560" cy="6156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43"/>
          <p:cNvSpPr/>
          <p:nvPr/>
        </p:nvSpPr>
        <p:spPr>
          <a:xfrm>
            <a:off x="9191520" y="6461280"/>
            <a:ext cx="2538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Game Theory: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Miners earn more by following rules than attacking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6" name="Shape 44"/>
          <p:cNvSpPr/>
          <p:nvPr/>
        </p:nvSpPr>
        <p:spPr>
          <a:xfrm>
            <a:off x="9032760" y="7000920"/>
            <a:ext cx="61560" cy="6156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Text 45"/>
          <p:cNvSpPr/>
          <p:nvPr/>
        </p:nvSpPr>
        <p:spPr>
          <a:xfrm>
            <a:off x="9191520" y="6937200"/>
            <a:ext cx="2538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Decentralization: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Thousands of independent miners globally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8" name="Shape 46"/>
          <p:cNvSpPr/>
          <p:nvPr/>
        </p:nvSpPr>
        <p:spPr>
          <a:xfrm>
            <a:off x="9032760" y="7477200"/>
            <a:ext cx="61560" cy="6156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47"/>
          <p:cNvSpPr/>
          <p:nvPr/>
        </p:nvSpPr>
        <p:spPr>
          <a:xfrm>
            <a:off x="9191520" y="7413480"/>
            <a:ext cx="2538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Immutability: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Changing history requires redoing all subsequent work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1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Shape 1"/>
          <p:cNvSpPr/>
          <p:nvPr/>
        </p:nvSpPr>
        <p:spPr>
          <a:xfrm>
            <a:off x="409680" y="352440"/>
            <a:ext cx="8475480" cy="481788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43" name="Shape 2"/>
          <p:cNvSpPr/>
          <p:nvPr/>
        </p:nvSpPr>
        <p:spPr>
          <a:xfrm>
            <a:off x="923760" y="866880"/>
            <a:ext cx="855360" cy="85536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Text 3"/>
          <p:cNvSpPr/>
          <p:nvPr/>
        </p:nvSpPr>
        <p:spPr>
          <a:xfrm>
            <a:off x="781200" y="838080"/>
            <a:ext cx="102708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2038320" y="838080"/>
            <a:ext cx="74520" cy="91260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Text 5"/>
          <p:cNvSpPr/>
          <p:nvPr/>
        </p:nvSpPr>
        <p:spPr>
          <a:xfrm>
            <a:off x="895320" y="2057400"/>
            <a:ext cx="7846920" cy="17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247" name="Shape 6"/>
          <p:cNvSpPr/>
          <p:nvPr/>
        </p:nvSpPr>
        <p:spPr>
          <a:xfrm>
            <a:off x="895320" y="4000680"/>
            <a:ext cx="1827000" cy="7452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7"/>
          <p:cNvSpPr/>
          <p:nvPr/>
        </p:nvSpPr>
        <p:spPr>
          <a:xfrm>
            <a:off x="895320" y="4305240"/>
            <a:ext cx="767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Dream to Global Asset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9" name="Shape 8"/>
          <p:cNvSpPr/>
          <p:nvPr/>
        </p:nvSpPr>
        <p:spPr>
          <a:xfrm>
            <a:off x="409680" y="5686560"/>
            <a:ext cx="11370960" cy="81720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Text 9"/>
          <p:cNvSpPr/>
          <p:nvPr/>
        </p:nvSpPr>
        <p:spPr>
          <a:xfrm>
            <a:off x="666720" y="5943600"/>
            <a:ext cx="10971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15 Years of Price Discovery, Crashes &amp; Resilience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341280" y="341280"/>
            <a:ext cx="11507400" cy="83952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Text 1"/>
          <p:cNvSpPr/>
          <p:nvPr/>
        </p:nvSpPr>
        <p:spPr>
          <a:xfrm>
            <a:off x="523800" y="523800"/>
            <a:ext cx="112852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JOURNEY: KEY MILESTONES 2009-2024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53" name="Shape 2"/>
          <p:cNvSpPr/>
          <p:nvPr/>
        </p:nvSpPr>
        <p:spPr>
          <a:xfrm>
            <a:off x="523800" y="936720"/>
            <a:ext cx="760320" cy="6156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Shape 3"/>
          <p:cNvSpPr/>
          <p:nvPr/>
        </p:nvSpPr>
        <p:spPr>
          <a:xfrm>
            <a:off x="341280" y="1357200"/>
            <a:ext cx="2768400" cy="159372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5" name="Shape 4"/>
          <p:cNvSpPr/>
          <p:nvPr/>
        </p:nvSpPr>
        <p:spPr>
          <a:xfrm>
            <a:off x="476280" y="1492200"/>
            <a:ext cx="2498400" cy="37908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Text 5"/>
          <p:cNvSpPr/>
          <p:nvPr/>
        </p:nvSpPr>
        <p:spPr>
          <a:xfrm>
            <a:off x="555480" y="1571760"/>
            <a:ext cx="24192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2009-2010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57" name="Text 6"/>
          <p:cNvSpPr/>
          <p:nvPr/>
        </p:nvSpPr>
        <p:spPr>
          <a:xfrm>
            <a:off x="460440" y="1952640"/>
            <a:ext cx="259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BEGINNING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460440" y="2174760"/>
            <a:ext cx="25858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real-world transaction: 10,000 BTC for two pizzas at $0.003/BTC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59" name="Shape 8"/>
          <p:cNvSpPr/>
          <p:nvPr/>
        </p:nvSpPr>
        <p:spPr>
          <a:xfrm>
            <a:off x="476280" y="2532240"/>
            <a:ext cx="2498400" cy="28404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0" name="Text 9"/>
          <p:cNvSpPr/>
          <p:nvPr/>
        </p:nvSpPr>
        <p:spPr>
          <a:xfrm>
            <a:off x="555480" y="2611440"/>
            <a:ext cx="23875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$0.003 → $0.30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1" name="Shape 10"/>
          <p:cNvSpPr/>
          <p:nvPr/>
        </p:nvSpPr>
        <p:spPr>
          <a:xfrm>
            <a:off x="3254400" y="1357200"/>
            <a:ext cx="2768400" cy="159372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2" name="Shape 11"/>
          <p:cNvSpPr/>
          <p:nvPr/>
        </p:nvSpPr>
        <p:spPr>
          <a:xfrm>
            <a:off x="3389400" y="1492200"/>
            <a:ext cx="2498400" cy="37908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12"/>
          <p:cNvSpPr/>
          <p:nvPr/>
        </p:nvSpPr>
        <p:spPr>
          <a:xfrm>
            <a:off x="3468600" y="1571760"/>
            <a:ext cx="24192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64" name="Text 13"/>
          <p:cNvSpPr/>
          <p:nvPr/>
        </p:nvSpPr>
        <p:spPr>
          <a:xfrm>
            <a:off x="3373560" y="1952640"/>
            <a:ext cx="259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BUBBLE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65" name="Text 14"/>
          <p:cNvSpPr/>
          <p:nvPr/>
        </p:nvSpPr>
        <p:spPr>
          <a:xfrm>
            <a:off x="3373560" y="2174760"/>
            <a:ext cx="25858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Price spikes to $31, then crashes to $2. Media declares Bitcoin dead.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66" name="Shape 15"/>
          <p:cNvSpPr/>
          <p:nvPr/>
        </p:nvSpPr>
        <p:spPr>
          <a:xfrm>
            <a:off x="3389400" y="2532240"/>
            <a:ext cx="2498400" cy="28404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16"/>
          <p:cNvSpPr/>
          <p:nvPr/>
        </p:nvSpPr>
        <p:spPr>
          <a:xfrm>
            <a:off x="3468600" y="2611440"/>
            <a:ext cx="23875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$31 | Crash: -94%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8" name="Shape 17"/>
          <p:cNvSpPr/>
          <p:nvPr/>
        </p:nvSpPr>
        <p:spPr>
          <a:xfrm>
            <a:off x="6167520" y="1357200"/>
            <a:ext cx="2768400" cy="159372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9" name="Shape 18"/>
          <p:cNvSpPr/>
          <p:nvPr/>
        </p:nvSpPr>
        <p:spPr>
          <a:xfrm>
            <a:off x="6302520" y="1492200"/>
            <a:ext cx="2498400" cy="37908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19"/>
          <p:cNvSpPr/>
          <p:nvPr/>
        </p:nvSpPr>
        <p:spPr>
          <a:xfrm>
            <a:off x="6381720" y="1571760"/>
            <a:ext cx="24192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1" name="Text 20"/>
          <p:cNvSpPr/>
          <p:nvPr/>
        </p:nvSpPr>
        <p:spPr>
          <a:xfrm>
            <a:off x="6286680" y="1952640"/>
            <a:ext cx="259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2" name="Text 21"/>
          <p:cNvSpPr/>
          <p:nvPr/>
        </p:nvSpPr>
        <p:spPr>
          <a:xfrm>
            <a:off x="6286680" y="2174760"/>
            <a:ext cx="25858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from 50 to 25 BTC. Sets stage for next bull run.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73" name="Shape 22"/>
          <p:cNvSpPr/>
          <p:nvPr/>
        </p:nvSpPr>
        <p:spPr>
          <a:xfrm>
            <a:off x="6302520" y="2532240"/>
            <a:ext cx="2498400" cy="28404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Text 23"/>
          <p:cNvSpPr/>
          <p:nvPr/>
        </p:nvSpPr>
        <p:spPr>
          <a:xfrm>
            <a:off x="6381720" y="2611440"/>
            <a:ext cx="23875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$12 → $13.50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75" name="Shape 24"/>
          <p:cNvSpPr/>
          <p:nvPr/>
        </p:nvSpPr>
        <p:spPr>
          <a:xfrm>
            <a:off x="9080640" y="1357200"/>
            <a:ext cx="2768400" cy="159372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6" name="Shape 25"/>
          <p:cNvSpPr/>
          <p:nvPr/>
        </p:nvSpPr>
        <p:spPr>
          <a:xfrm>
            <a:off x="9215280" y="1492200"/>
            <a:ext cx="2498400" cy="37908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Text 26"/>
          <p:cNvSpPr/>
          <p:nvPr/>
        </p:nvSpPr>
        <p:spPr>
          <a:xfrm>
            <a:off x="9294840" y="1571760"/>
            <a:ext cx="24192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2013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8" name="Text 27"/>
          <p:cNvSpPr/>
          <p:nvPr/>
        </p:nvSpPr>
        <p:spPr>
          <a:xfrm>
            <a:off x="9199440" y="1952640"/>
            <a:ext cx="259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$1,000 MILESTONE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9" name="Text 28"/>
          <p:cNvSpPr/>
          <p:nvPr/>
        </p:nvSpPr>
        <p:spPr>
          <a:xfrm>
            <a:off x="9199440" y="2174760"/>
            <a:ext cx="25858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major bull run to $1,200. Mt. Gox becomes dominant exchange.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0" name="Shape 29"/>
          <p:cNvSpPr/>
          <p:nvPr/>
        </p:nvSpPr>
        <p:spPr>
          <a:xfrm>
            <a:off x="9215280" y="2532240"/>
            <a:ext cx="2498400" cy="28404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Text 30"/>
          <p:cNvSpPr/>
          <p:nvPr/>
        </p:nvSpPr>
        <p:spPr>
          <a:xfrm>
            <a:off x="9294840" y="2611440"/>
            <a:ext cx="23875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$1,242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2" name="Shape 31"/>
          <p:cNvSpPr/>
          <p:nvPr/>
        </p:nvSpPr>
        <p:spPr>
          <a:xfrm>
            <a:off x="341280" y="3095640"/>
            <a:ext cx="2768400" cy="159372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3" name="Shape 32"/>
          <p:cNvSpPr/>
          <p:nvPr/>
        </p:nvSpPr>
        <p:spPr>
          <a:xfrm>
            <a:off x="476280" y="3230640"/>
            <a:ext cx="2498400" cy="37908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4" name="Text 33"/>
          <p:cNvSpPr/>
          <p:nvPr/>
        </p:nvSpPr>
        <p:spPr>
          <a:xfrm>
            <a:off x="555480" y="3309840"/>
            <a:ext cx="24192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2014-2015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85" name="Text 34"/>
          <p:cNvSpPr/>
          <p:nvPr/>
        </p:nvSpPr>
        <p:spPr>
          <a:xfrm>
            <a:off x="460440" y="3691080"/>
            <a:ext cx="259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MT. GOX COLLAPSE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86" name="Text 35"/>
          <p:cNvSpPr/>
          <p:nvPr/>
        </p:nvSpPr>
        <p:spPr>
          <a:xfrm>
            <a:off x="460440" y="3913200"/>
            <a:ext cx="25858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Exchange hack wipes out 850K BTC. Price falls below $200. Bear market.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7" name="Shape 36"/>
          <p:cNvSpPr/>
          <p:nvPr/>
        </p:nvSpPr>
        <p:spPr>
          <a:xfrm>
            <a:off x="476280" y="4270320"/>
            <a:ext cx="2498400" cy="28404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Text 37"/>
          <p:cNvSpPr/>
          <p:nvPr/>
        </p:nvSpPr>
        <p:spPr>
          <a:xfrm>
            <a:off x="555480" y="4349880"/>
            <a:ext cx="23875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9" name="Shape 38"/>
          <p:cNvSpPr/>
          <p:nvPr/>
        </p:nvSpPr>
        <p:spPr>
          <a:xfrm>
            <a:off x="3254400" y="3095640"/>
            <a:ext cx="2768400" cy="159372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0" name="Shape 39"/>
          <p:cNvSpPr/>
          <p:nvPr/>
        </p:nvSpPr>
        <p:spPr>
          <a:xfrm>
            <a:off x="3389400" y="3230640"/>
            <a:ext cx="2498400" cy="37908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Text 40"/>
          <p:cNvSpPr/>
          <p:nvPr/>
        </p:nvSpPr>
        <p:spPr>
          <a:xfrm>
            <a:off x="3468600" y="3309840"/>
            <a:ext cx="24192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2016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2" name="Text 41"/>
          <p:cNvSpPr/>
          <p:nvPr/>
        </p:nvSpPr>
        <p:spPr>
          <a:xfrm>
            <a:off x="3373560" y="3691080"/>
            <a:ext cx="259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SECOND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93" name="Text 42"/>
          <p:cNvSpPr/>
          <p:nvPr/>
        </p:nvSpPr>
        <p:spPr>
          <a:xfrm>
            <a:off x="3373560" y="3913200"/>
            <a:ext cx="25858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12.5 BTC. Ethereum launches, ICO era begins.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94" name="Shape 43"/>
          <p:cNvSpPr/>
          <p:nvPr/>
        </p:nvSpPr>
        <p:spPr>
          <a:xfrm>
            <a:off x="3389400" y="4270320"/>
            <a:ext cx="2498400" cy="28404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Text 44"/>
          <p:cNvSpPr/>
          <p:nvPr/>
        </p:nvSpPr>
        <p:spPr>
          <a:xfrm>
            <a:off x="3468600" y="4349880"/>
            <a:ext cx="23875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$650 → $960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96" name="Shape 45"/>
          <p:cNvSpPr/>
          <p:nvPr/>
        </p:nvSpPr>
        <p:spPr>
          <a:xfrm>
            <a:off x="6167520" y="3095640"/>
            <a:ext cx="2768400" cy="159372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7" name="Shape 46"/>
          <p:cNvSpPr/>
          <p:nvPr/>
        </p:nvSpPr>
        <p:spPr>
          <a:xfrm>
            <a:off x="6302520" y="3230640"/>
            <a:ext cx="2498400" cy="37908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Text 47"/>
          <p:cNvSpPr/>
          <p:nvPr/>
        </p:nvSpPr>
        <p:spPr>
          <a:xfrm>
            <a:off x="6381720" y="3309840"/>
            <a:ext cx="24192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9" name="Text 48"/>
          <p:cNvSpPr/>
          <p:nvPr/>
        </p:nvSpPr>
        <p:spPr>
          <a:xfrm>
            <a:off x="6286680" y="3691080"/>
            <a:ext cx="259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$20,000 PEAK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0" name="Text 49"/>
          <p:cNvSpPr/>
          <p:nvPr/>
        </p:nvSpPr>
        <p:spPr>
          <a:xfrm>
            <a:off x="6286680" y="3913200"/>
            <a:ext cx="25858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ICO mania drives parabolic rise. CME/CBOE futures launch. Mainstream FOMO.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1" name="Shape 50"/>
          <p:cNvSpPr/>
          <p:nvPr/>
        </p:nvSpPr>
        <p:spPr>
          <a:xfrm>
            <a:off x="6302520" y="4270320"/>
            <a:ext cx="2498400" cy="28404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2" name="Text 51"/>
          <p:cNvSpPr/>
          <p:nvPr/>
        </p:nvSpPr>
        <p:spPr>
          <a:xfrm>
            <a:off x="6381720" y="4349880"/>
            <a:ext cx="23875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03" name="Shape 52"/>
          <p:cNvSpPr/>
          <p:nvPr/>
        </p:nvSpPr>
        <p:spPr>
          <a:xfrm>
            <a:off x="9080640" y="3095640"/>
            <a:ext cx="2768400" cy="159372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4" name="Shape 53"/>
          <p:cNvSpPr/>
          <p:nvPr/>
        </p:nvSpPr>
        <p:spPr>
          <a:xfrm>
            <a:off x="9215280" y="3230640"/>
            <a:ext cx="2498400" cy="37908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Text 54"/>
          <p:cNvSpPr/>
          <p:nvPr/>
        </p:nvSpPr>
        <p:spPr>
          <a:xfrm>
            <a:off x="9294840" y="3309840"/>
            <a:ext cx="24192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2018-2019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06" name="Text 55"/>
          <p:cNvSpPr/>
          <p:nvPr/>
        </p:nvSpPr>
        <p:spPr>
          <a:xfrm>
            <a:off x="9199440" y="3691080"/>
            <a:ext cx="259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CRYPTO WINTER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7" name="Text 56"/>
          <p:cNvSpPr/>
          <p:nvPr/>
        </p:nvSpPr>
        <p:spPr>
          <a:xfrm>
            <a:off x="9199440" y="3913200"/>
            <a:ext cx="25858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80%+ crash from peak. Regulatory crackdowns. Institutional interest quietly builds.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8" name="Shape 57"/>
          <p:cNvSpPr/>
          <p:nvPr/>
        </p:nvSpPr>
        <p:spPr>
          <a:xfrm>
            <a:off x="9215280" y="4270320"/>
            <a:ext cx="2498400" cy="28404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9" name="Text 58"/>
          <p:cNvSpPr/>
          <p:nvPr/>
        </p:nvSpPr>
        <p:spPr>
          <a:xfrm>
            <a:off x="9294840" y="4349880"/>
            <a:ext cx="23875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$3,200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0" name="Shape 59"/>
          <p:cNvSpPr/>
          <p:nvPr/>
        </p:nvSpPr>
        <p:spPr>
          <a:xfrm>
            <a:off x="341280" y="4834080"/>
            <a:ext cx="2768400" cy="159372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1" name="Shape 60"/>
          <p:cNvSpPr/>
          <p:nvPr/>
        </p:nvSpPr>
        <p:spPr>
          <a:xfrm>
            <a:off x="476280" y="4968720"/>
            <a:ext cx="2498400" cy="37908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Text 61"/>
          <p:cNvSpPr/>
          <p:nvPr/>
        </p:nvSpPr>
        <p:spPr>
          <a:xfrm>
            <a:off x="555480" y="5048280"/>
            <a:ext cx="24192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13" name="Text 62"/>
          <p:cNvSpPr/>
          <p:nvPr/>
        </p:nvSpPr>
        <p:spPr>
          <a:xfrm>
            <a:off x="460440" y="5429160"/>
            <a:ext cx="259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THIRD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14" name="Text 63"/>
          <p:cNvSpPr/>
          <p:nvPr/>
        </p:nvSpPr>
        <p:spPr>
          <a:xfrm>
            <a:off x="460440" y="5651640"/>
            <a:ext cx="25858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6.25 BTC. COVID-19 triggers institutional adoption wave.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15" name="Shape 64"/>
          <p:cNvSpPr/>
          <p:nvPr/>
        </p:nvSpPr>
        <p:spPr>
          <a:xfrm>
            <a:off x="476280" y="6008760"/>
            <a:ext cx="2498400" cy="28404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6" name="Text 65"/>
          <p:cNvSpPr/>
          <p:nvPr/>
        </p:nvSpPr>
        <p:spPr>
          <a:xfrm>
            <a:off x="555480" y="6087960"/>
            <a:ext cx="23875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$8,000 → $29,000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7" name="Shape 66"/>
          <p:cNvSpPr/>
          <p:nvPr/>
        </p:nvSpPr>
        <p:spPr>
          <a:xfrm>
            <a:off x="3254400" y="4834080"/>
            <a:ext cx="2768400" cy="159372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8" name="Shape 67"/>
          <p:cNvSpPr/>
          <p:nvPr/>
        </p:nvSpPr>
        <p:spPr>
          <a:xfrm>
            <a:off x="3389400" y="4968720"/>
            <a:ext cx="2498400" cy="37908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9" name="Text 68"/>
          <p:cNvSpPr/>
          <p:nvPr/>
        </p:nvSpPr>
        <p:spPr>
          <a:xfrm>
            <a:off x="3468600" y="5048280"/>
            <a:ext cx="24192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0" name="Text 69"/>
          <p:cNvSpPr/>
          <p:nvPr/>
        </p:nvSpPr>
        <p:spPr>
          <a:xfrm>
            <a:off x="3373560" y="5429160"/>
            <a:ext cx="259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$69,000 ATH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1" name="Text 70"/>
          <p:cNvSpPr/>
          <p:nvPr/>
        </p:nvSpPr>
        <p:spPr>
          <a:xfrm>
            <a:off x="3373560" y="5651640"/>
            <a:ext cx="25858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MicroStrategy, Tesla add BTC to treasury. First Bitcoin futures ETF. NFT boom.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2" name="Shape 71"/>
          <p:cNvSpPr/>
          <p:nvPr/>
        </p:nvSpPr>
        <p:spPr>
          <a:xfrm>
            <a:off x="3389400" y="6008760"/>
            <a:ext cx="2498400" cy="28404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Text 72"/>
          <p:cNvSpPr/>
          <p:nvPr/>
        </p:nvSpPr>
        <p:spPr>
          <a:xfrm>
            <a:off x="3468600" y="6087960"/>
            <a:ext cx="23875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24" name="Shape 73"/>
          <p:cNvSpPr/>
          <p:nvPr/>
        </p:nvSpPr>
        <p:spPr>
          <a:xfrm>
            <a:off x="6167520" y="4834080"/>
            <a:ext cx="2768400" cy="159372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25" name="Shape 74"/>
          <p:cNvSpPr/>
          <p:nvPr/>
        </p:nvSpPr>
        <p:spPr>
          <a:xfrm>
            <a:off x="6302520" y="4968720"/>
            <a:ext cx="2498400" cy="37908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Text 75"/>
          <p:cNvSpPr/>
          <p:nvPr/>
        </p:nvSpPr>
        <p:spPr>
          <a:xfrm>
            <a:off x="6381720" y="5048280"/>
            <a:ext cx="24192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7" name="Text 76"/>
          <p:cNvSpPr/>
          <p:nvPr/>
        </p:nvSpPr>
        <p:spPr>
          <a:xfrm>
            <a:off x="6286680" y="5429160"/>
            <a:ext cx="259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BEAR MARKET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8" name="Text 77"/>
          <p:cNvSpPr/>
          <p:nvPr/>
        </p:nvSpPr>
        <p:spPr>
          <a:xfrm>
            <a:off x="6286680" y="5651640"/>
            <a:ext cx="25858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Fed rate hikes, Terra/LUNA collapse, FTX bankruptcy. Price falls to $16K.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9" name="Shape 78"/>
          <p:cNvSpPr/>
          <p:nvPr/>
        </p:nvSpPr>
        <p:spPr>
          <a:xfrm>
            <a:off x="6302520" y="6008760"/>
            <a:ext cx="2498400" cy="28404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Text 79"/>
          <p:cNvSpPr/>
          <p:nvPr/>
        </p:nvSpPr>
        <p:spPr>
          <a:xfrm>
            <a:off x="6381720" y="6087960"/>
            <a:ext cx="23875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$15,600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1" name="Shape 80"/>
          <p:cNvSpPr/>
          <p:nvPr/>
        </p:nvSpPr>
        <p:spPr>
          <a:xfrm>
            <a:off x="9080640" y="4834080"/>
            <a:ext cx="2768400" cy="159372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2" name="Shape 81"/>
          <p:cNvSpPr/>
          <p:nvPr/>
        </p:nvSpPr>
        <p:spPr>
          <a:xfrm>
            <a:off x="9215280" y="4968720"/>
            <a:ext cx="2498400" cy="37908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Text 82"/>
          <p:cNvSpPr/>
          <p:nvPr/>
        </p:nvSpPr>
        <p:spPr>
          <a:xfrm>
            <a:off x="9294840" y="5048280"/>
            <a:ext cx="24192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34" name="Text 83"/>
          <p:cNvSpPr/>
          <p:nvPr/>
        </p:nvSpPr>
        <p:spPr>
          <a:xfrm>
            <a:off x="9199440" y="5429160"/>
            <a:ext cx="259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$100K+ BREAKTHROUGH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35" name="Text 84"/>
          <p:cNvSpPr/>
          <p:nvPr/>
        </p:nvSpPr>
        <p:spPr>
          <a:xfrm>
            <a:off x="9199440" y="5651640"/>
            <a:ext cx="25858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Fourth halving. SEC approves spot ETFs. Price breaks $100K milestone.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36" name="Shape 85"/>
          <p:cNvSpPr/>
          <p:nvPr/>
        </p:nvSpPr>
        <p:spPr>
          <a:xfrm>
            <a:off x="9215280" y="6008760"/>
            <a:ext cx="2498400" cy="28404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Text 86"/>
          <p:cNvSpPr/>
          <p:nvPr/>
        </p:nvSpPr>
        <p:spPr>
          <a:xfrm>
            <a:off x="9294840" y="6087960"/>
            <a:ext cx="23875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$126,173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8" name="Shape 87"/>
          <p:cNvSpPr/>
          <p:nvPr/>
        </p:nvSpPr>
        <p:spPr>
          <a:xfrm>
            <a:off x="341280" y="6572160"/>
            <a:ext cx="11507400" cy="522000"/>
          </a:xfrm>
          <a:custGeom>
            <a:avLst/>
            <a:gdLst/>
            <a:ahLst/>
            <a:rect l="l" t="t" r="r" b="b"/>
            <a:pathLst>
              <a:path w="11509375" h="523875">
                <a:moveTo>
                  <a:pt x="0" y="0"/>
                </a:moveTo>
                <a:lnTo>
                  <a:pt x="11509375" y="0"/>
                </a:lnTo>
                <a:lnTo>
                  <a:pt x="11509375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Text 88"/>
          <p:cNvSpPr/>
          <p:nvPr/>
        </p:nvSpPr>
        <p:spPr>
          <a:xfrm>
            <a:off x="492120" y="6723000"/>
            <a:ext cx="330012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FOUR HALVINGS: 2012 | 2016 | 2020 | 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40" name="Text 89"/>
          <p:cNvSpPr/>
          <p:nvPr/>
        </p:nvSpPr>
        <p:spPr>
          <a:xfrm>
            <a:off x="8992080" y="6723000"/>
            <a:ext cx="27842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→ </a:t>
            </a: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Each Followed by Major Bull Run</a:t>
            </a:r>
            <a:endParaRPr b="0" lang="en-HK" sz="12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2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Shape 1"/>
          <p:cNvSpPr/>
          <p:nvPr/>
        </p:nvSpPr>
        <p:spPr>
          <a:xfrm>
            <a:off x="4029120" y="781200"/>
            <a:ext cx="7751520" cy="3960720"/>
          </a:xfrm>
          <a:custGeom>
            <a:avLst/>
            <a:gdLst/>
            <a:ahLst/>
            <a:rect l="l" t="t" r="r" b="b"/>
            <a:pathLst>
              <a:path w="7753350" h="3962400">
                <a:moveTo>
                  <a:pt x="0" y="0"/>
                </a:moveTo>
                <a:lnTo>
                  <a:pt x="7753350" y="0"/>
                </a:lnTo>
                <a:lnTo>
                  <a:pt x="77533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44" name="Shape 2"/>
          <p:cNvSpPr/>
          <p:nvPr/>
        </p:nvSpPr>
        <p:spPr>
          <a:xfrm>
            <a:off x="10077480" y="1266840"/>
            <a:ext cx="74520" cy="91260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Shape 3"/>
          <p:cNvSpPr/>
          <p:nvPr/>
        </p:nvSpPr>
        <p:spPr>
          <a:xfrm>
            <a:off x="10410840" y="1295280"/>
            <a:ext cx="855360" cy="85536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Text 4"/>
          <p:cNvSpPr/>
          <p:nvPr/>
        </p:nvSpPr>
        <p:spPr>
          <a:xfrm>
            <a:off x="10267920" y="1266840"/>
            <a:ext cx="102708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347" name="Text 5"/>
          <p:cNvSpPr/>
          <p:nvPr/>
        </p:nvSpPr>
        <p:spPr>
          <a:xfrm>
            <a:off x="4172040" y="2486160"/>
            <a:ext cx="7122960" cy="85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348" name="Shape 6"/>
          <p:cNvSpPr/>
          <p:nvPr/>
        </p:nvSpPr>
        <p:spPr>
          <a:xfrm>
            <a:off x="9468000" y="3571920"/>
            <a:ext cx="1827000" cy="7452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7"/>
          <p:cNvSpPr/>
          <p:nvPr/>
        </p:nvSpPr>
        <p:spPr>
          <a:xfrm>
            <a:off x="4343400" y="3876840"/>
            <a:ext cx="69516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&amp; Price Patterns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350" name="Shape 8"/>
          <p:cNvSpPr/>
          <p:nvPr/>
        </p:nvSpPr>
        <p:spPr>
          <a:xfrm>
            <a:off x="6188040" y="5257800"/>
            <a:ext cx="5589360" cy="817200"/>
          </a:xfrm>
          <a:custGeom>
            <a:avLst/>
            <a:gdLst/>
            <a:ahLst/>
            <a:rect l="l" t="t" r="r" b="b"/>
            <a:pathLst>
              <a:path w="5591175" h="819150">
                <a:moveTo>
                  <a:pt x="0" y="0"/>
                </a:moveTo>
                <a:lnTo>
                  <a:pt x="5591175" y="0"/>
                </a:lnTo>
                <a:lnTo>
                  <a:pt x="55911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1" name="Text 9"/>
          <p:cNvSpPr/>
          <p:nvPr/>
        </p:nvSpPr>
        <p:spPr>
          <a:xfrm>
            <a:off x="6445080" y="5514840"/>
            <a:ext cx="5189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Programmed Scarcity Driving Market Cycles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0"/>
          <p:cNvSpPr/>
          <p:nvPr/>
        </p:nvSpPr>
        <p:spPr>
          <a:xfrm>
            <a:off x="341280" y="341280"/>
            <a:ext cx="11507400" cy="83952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Text 1"/>
          <p:cNvSpPr/>
          <p:nvPr/>
        </p:nvSpPr>
        <p:spPr>
          <a:xfrm>
            <a:off x="523800" y="523800"/>
            <a:ext cx="112852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HALVING EFFECT: PROGRAMMED SCARCITY IN ACTION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354" name="Shape 2"/>
          <p:cNvSpPr/>
          <p:nvPr/>
        </p:nvSpPr>
        <p:spPr>
          <a:xfrm>
            <a:off x="523800" y="936720"/>
            <a:ext cx="760320" cy="6156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Shape 3"/>
          <p:cNvSpPr/>
          <p:nvPr/>
        </p:nvSpPr>
        <p:spPr>
          <a:xfrm>
            <a:off x="341280" y="1357200"/>
            <a:ext cx="6221160" cy="6078240"/>
          </a:xfrm>
          <a:custGeom>
            <a:avLst/>
            <a:gdLst/>
            <a:ahLst/>
            <a:rect l="l" t="t" r="r" b="b"/>
            <a:pathLst>
              <a:path w="6223000" h="6080125">
                <a:moveTo>
                  <a:pt x="0" y="0"/>
                </a:moveTo>
                <a:lnTo>
                  <a:pt x="6223000" y="0"/>
                </a:lnTo>
                <a:lnTo>
                  <a:pt x="6223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56" name="Text 4"/>
          <p:cNvSpPr/>
          <p:nvPr/>
        </p:nvSpPr>
        <p:spPr>
          <a:xfrm>
            <a:off x="523800" y="1539720"/>
            <a:ext cx="595116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WHAT IS THE HALVING?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523800" y="1889280"/>
            <a:ext cx="5919480" cy="61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Every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210,000 blocks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(~4 years), Bitcoin's block reward is cut in half. This pre-programmed monetary policy reduces new supply issuance, creating supply shocks that have historically preceded major bull runs.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58" name="Shape 6"/>
          <p:cNvSpPr/>
          <p:nvPr/>
        </p:nvSpPr>
        <p:spPr>
          <a:xfrm>
            <a:off x="539640" y="2651040"/>
            <a:ext cx="5824440" cy="2315880"/>
          </a:xfrm>
          <a:custGeom>
            <a:avLst/>
            <a:gdLst/>
            <a:ahLst/>
            <a:rect l="l" t="t" r="r" b="b"/>
            <a:pathLst>
              <a:path w="5826125" h="2317750">
                <a:moveTo>
                  <a:pt x="0" y="0"/>
                </a:moveTo>
                <a:lnTo>
                  <a:pt x="5826125" y="0"/>
                </a:lnTo>
                <a:lnTo>
                  <a:pt x="5826125" y="2317750"/>
                </a:lnTo>
                <a:lnTo>
                  <a:pt x="0" y="2317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9" name="Text 7"/>
          <p:cNvSpPr/>
          <p:nvPr/>
        </p:nvSpPr>
        <p:spPr>
          <a:xfrm>
            <a:off x="682560" y="2793960"/>
            <a:ext cx="560196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Halving Schedule &amp; Price Performance: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60" name="Shape 8"/>
          <p:cNvSpPr/>
          <p:nvPr/>
        </p:nvSpPr>
        <p:spPr>
          <a:xfrm>
            <a:off x="698400" y="3095640"/>
            <a:ext cx="2688840" cy="79200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1" name="Text 9"/>
          <p:cNvSpPr/>
          <p:nvPr/>
        </p:nvSpPr>
        <p:spPr>
          <a:xfrm>
            <a:off x="809640" y="3206880"/>
            <a:ext cx="25221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2012: 50 → 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2" name="Text 10"/>
          <p:cNvSpPr/>
          <p:nvPr/>
        </p:nvSpPr>
        <p:spPr>
          <a:xfrm>
            <a:off x="809640" y="3397320"/>
            <a:ext cx="25621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+9,300%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3" name="Text 11"/>
          <p:cNvSpPr/>
          <p:nvPr/>
        </p:nvSpPr>
        <p:spPr>
          <a:xfrm>
            <a:off x="809640" y="3651120"/>
            <a:ext cx="251424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$12 → $1,100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4" name="Shape 12"/>
          <p:cNvSpPr/>
          <p:nvPr/>
        </p:nvSpPr>
        <p:spPr>
          <a:xfrm>
            <a:off x="3515400" y="3095640"/>
            <a:ext cx="2688840" cy="79200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5" name="Text 13"/>
          <p:cNvSpPr/>
          <p:nvPr/>
        </p:nvSpPr>
        <p:spPr>
          <a:xfrm>
            <a:off x="3626640" y="3206880"/>
            <a:ext cx="25221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2016: 25 → 12.5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6" name="Text 14"/>
          <p:cNvSpPr/>
          <p:nvPr/>
        </p:nvSpPr>
        <p:spPr>
          <a:xfrm>
            <a:off x="3626640" y="3397320"/>
            <a:ext cx="25621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+3,200%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7" name="Text 15"/>
          <p:cNvSpPr/>
          <p:nvPr/>
        </p:nvSpPr>
        <p:spPr>
          <a:xfrm>
            <a:off x="3626640" y="3651120"/>
            <a:ext cx="251424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$650 →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8" name="Shape 16"/>
          <p:cNvSpPr/>
          <p:nvPr/>
        </p:nvSpPr>
        <p:spPr>
          <a:xfrm>
            <a:off x="698400" y="4016520"/>
            <a:ext cx="2688840" cy="79200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Text 17"/>
          <p:cNvSpPr/>
          <p:nvPr/>
        </p:nvSpPr>
        <p:spPr>
          <a:xfrm>
            <a:off x="809640" y="4127400"/>
            <a:ext cx="25221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2020: 12.5 → 6.25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0" name="Text 18"/>
          <p:cNvSpPr/>
          <p:nvPr/>
        </p:nvSpPr>
        <p:spPr>
          <a:xfrm>
            <a:off x="809640" y="4317840"/>
            <a:ext cx="25621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+700%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1" name="Text 19"/>
          <p:cNvSpPr/>
          <p:nvPr/>
        </p:nvSpPr>
        <p:spPr>
          <a:xfrm>
            <a:off x="809640" y="4572000"/>
            <a:ext cx="251424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$8,800 →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2" name="Shape 20"/>
          <p:cNvSpPr/>
          <p:nvPr/>
        </p:nvSpPr>
        <p:spPr>
          <a:xfrm>
            <a:off x="3515400" y="4016520"/>
            <a:ext cx="2688840" cy="79200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Text 21"/>
          <p:cNvSpPr/>
          <p:nvPr/>
        </p:nvSpPr>
        <p:spPr>
          <a:xfrm>
            <a:off x="3626640" y="4127400"/>
            <a:ext cx="25221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2024: 6.25 → 3.125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4" name="Text 22"/>
          <p:cNvSpPr/>
          <p:nvPr/>
        </p:nvSpPr>
        <p:spPr>
          <a:xfrm>
            <a:off x="3626640" y="4317840"/>
            <a:ext cx="25621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155dfc"/>
                </a:solidFill>
                <a:latin typeface="Noto Sans SC"/>
                <a:ea typeface="Noto Sans SC"/>
              </a:rPr>
              <a:t>IN PROGRESS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5" name="Text 23"/>
          <p:cNvSpPr/>
          <p:nvPr/>
        </p:nvSpPr>
        <p:spPr>
          <a:xfrm>
            <a:off x="3626640" y="4572000"/>
            <a:ext cx="251424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$43,000 → $126K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6" name="Shape 24"/>
          <p:cNvSpPr/>
          <p:nvPr/>
        </p:nvSpPr>
        <p:spPr>
          <a:xfrm>
            <a:off x="341280" y="7612200"/>
            <a:ext cx="6221160" cy="1569960"/>
          </a:xfrm>
          <a:custGeom>
            <a:avLst/>
            <a:gdLst/>
            <a:ahLst/>
            <a:rect l="l" t="t" r="r" b="b"/>
            <a:pathLst>
              <a:path w="6223000" h="1571625">
                <a:moveTo>
                  <a:pt x="0" y="0"/>
                </a:moveTo>
                <a:lnTo>
                  <a:pt x="6223000" y="0"/>
                </a:lnTo>
                <a:lnTo>
                  <a:pt x="6223000" y="1571625"/>
                </a:lnTo>
                <a:lnTo>
                  <a:pt x="0" y="1571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77" name="Text 25"/>
          <p:cNvSpPr/>
          <p:nvPr/>
        </p:nvSpPr>
        <p:spPr>
          <a:xfrm>
            <a:off x="492120" y="7763040"/>
            <a:ext cx="59990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2024 CYCLE: WHAT'S DIFFERENT?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78" name="Shape 26"/>
          <p:cNvSpPr/>
          <p:nvPr/>
        </p:nvSpPr>
        <p:spPr>
          <a:xfrm>
            <a:off x="507960" y="8096400"/>
            <a:ext cx="1879560" cy="91908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9" name="Text 27"/>
          <p:cNvSpPr/>
          <p:nvPr/>
        </p:nvSpPr>
        <p:spPr>
          <a:xfrm>
            <a:off x="619200" y="8207280"/>
            <a:ext cx="1720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Approval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0" name="Text 28"/>
          <p:cNvSpPr/>
          <p:nvPr/>
        </p:nvSpPr>
        <p:spPr>
          <a:xfrm>
            <a:off x="619200" y="8429760"/>
            <a:ext cx="171288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spot ETFs create institutional demand never seen before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1" name="Shape 29"/>
          <p:cNvSpPr/>
          <p:nvPr/>
        </p:nvSpPr>
        <p:spPr>
          <a:xfrm>
            <a:off x="2512800" y="8096400"/>
            <a:ext cx="1879560" cy="91908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Text 30"/>
          <p:cNvSpPr/>
          <p:nvPr/>
        </p:nvSpPr>
        <p:spPr>
          <a:xfrm>
            <a:off x="2624040" y="8207280"/>
            <a:ext cx="1720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3" name="Text 31"/>
          <p:cNvSpPr/>
          <p:nvPr/>
        </p:nvSpPr>
        <p:spPr>
          <a:xfrm>
            <a:off x="2624040" y="8429760"/>
            <a:ext cx="17128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holds 714K BTC worth $54B+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4" name="Shape 32"/>
          <p:cNvSpPr/>
          <p:nvPr/>
        </p:nvSpPr>
        <p:spPr>
          <a:xfrm>
            <a:off x="4518000" y="8096400"/>
            <a:ext cx="1879560" cy="91908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5" name="Text 33"/>
          <p:cNvSpPr/>
          <p:nvPr/>
        </p:nvSpPr>
        <p:spPr>
          <a:xfrm>
            <a:off x="4629240" y="8207280"/>
            <a:ext cx="1720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6" name="Text 34"/>
          <p:cNvSpPr/>
          <p:nvPr/>
        </p:nvSpPr>
        <p:spPr>
          <a:xfrm>
            <a:off x="4629240" y="8429760"/>
            <a:ext cx="17128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El Salvador makes BTC legal tender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7" name="Shape 35"/>
          <p:cNvSpPr/>
          <p:nvPr/>
        </p:nvSpPr>
        <p:spPr>
          <a:xfrm>
            <a:off x="6769080" y="1357200"/>
            <a:ext cx="5078160" cy="3951000"/>
          </a:xfrm>
          <a:custGeom>
            <a:avLst/>
            <a:gdLst/>
            <a:ahLst/>
            <a:rect l="l" t="t" r="r" b="b"/>
            <a:pathLst>
              <a:path w="5080000" h="3952875">
                <a:moveTo>
                  <a:pt x="0" y="0"/>
                </a:moveTo>
                <a:lnTo>
                  <a:pt x="5080000" y="0"/>
                </a:lnTo>
                <a:lnTo>
                  <a:pt x="5080000" y="3952875"/>
                </a:lnTo>
                <a:lnTo>
                  <a:pt x="0" y="395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88" name="Text 36"/>
          <p:cNvSpPr/>
          <p:nvPr/>
        </p:nvSpPr>
        <p:spPr>
          <a:xfrm>
            <a:off x="6951600" y="1539720"/>
            <a:ext cx="480816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STOCK-TO-FLOW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89" name="Text 37"/>
          <p:cNvSpPr/>
          <p:nvPr/>
        </p:nvSpPr>
        <p:spPr>
          <a:xfrm>
            <a:off x="6951600" y="1920960"/>
            <a:ext cx="4776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scarcity can be measured by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stock-to-flow ratio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(existing supply / annual production). Higher ratios indicate greater scarcity.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0" name="Shape 38"/>
          <p:cNvSpPr/>
          <p:nvPr/>
        </p:nvSpPr>
        <p:spPr>
          <a:xfrm>
            <a:off x="6967440" y="2476440"/>
            <a:ext cx="4681440" cy="60156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Text 39"/>
          <p:cNvSpPr/>
          <p:nvPr/>
        </p:nvSpPr>
        <p:spPr>
          <a:xfrm>
            <a:off x="7078680" y="2619360"/>
            <a:ext cx="6174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2" name="Text 40"/>
          <p:cNvSpPr/>
          <p:nvPr/>
        </p:nvSpPr>
        <p:spPr>
          <a:xfrm>
            <a:off x="11329200" y="2587680"/>
            <a:ext cx="3078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62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3" name="Shape 41"/>
          <p:cNvSpPr/>
          <p:nvPr/>
        </p:nvSpPr>
        <p:spPr>
          <a:xfrm>
            <a:off x="7094520" y="2889360"/>
            <a:ext cx="4427280" cy="6156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Shape 42"/>
          <p:cNvSpPr/>
          <p:nvPr/>
        </p:nvSpPr>
        <p:spPr>
          <a:xfrm>
            <a:off x="7110360" y="2905200"/>
            <a:ext cx="2196720" cy="29880"/>
          </a:xfrm>
          <a:custGeom>
            <a:avLst/>
            <a:gdLst/>
            <a:ahLst/>
            <a:rect l="l" t="t" r="r" b="b"/>
            <a:pathLst>
              <a:path w="2198688" h="31750">
                <a:moveTo>
                  <a:pt x="0" y="0"/>
                </a:moveTo>
                <a:lnTo>
                  <a:pt x="2198688" y="0"/>
                </a:lnTo>
                <a:lnTo>
                  <a:pt x="2198688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0b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5" name="Shape 43"/>
          <p:cNvSpPr/>
          <p:nvPr/>
        </p:nvSpPr>
        <p:spPr>
          <a:xfrm>
            <a:off x="6967440" y="3206880"/>
            <a:ext cx="4681440" cy="60156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6" name="Text 44"/>
          <p:cNvSpPr/>
          <p:nvPr/>
        </p:nvSpPr>
        <p:spPr>
          <a:xfrm>
            <a:off x="7078680" y="3349800"/>
            <a:ext cx="14824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S2F (Post-2024)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7" name="Text 45"/>
          <p:cNvSpPr/>
          <p:nvPr/>
        </p:nvSpPr>
        <p:spPr>
          <a:xfrm>
            <a:off x="11223360" y="3317760"/>
            <a:ext cx="4111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120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8" name="Shape 46"/>
          <p:cNvSpPr/>
          <p:nvPr/>
        </p:nvSpPr>
        <p:spPr>
          <a:xfrm>
            <a:off x="7094520" y="3619440"/>
            <a:ext cx="4427280" cy="6156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Shape 47"/>
          <p:cNvSpPr/>
          <p:nvPr/>
        </p:nvSpPr>
        <p:spPr>
          <a:xfrm>
            <a:off x="7110360" y="3635280"/>
            <a:ext cx="4395600" cy="29880"/>
          </a:xfrm>
          <a:custGeom>
            <a:avLst/>
            <a:gdLst/>
            <a:ahLst/>
            <a:rect l="l" t="t" r="r" b="b"/>
            <a:pathLst>
              <a:path w="4397375" h="31750">
                <a:moveTo>
                  <a:pt x="0" y="0"/>
                </a:moveTo>
                <a:lnTo>
                  <a:pt x="4397375" y="0"/>
                </a:lnTo>
                <a:lnTo>
                  <a:pt x="4397375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f69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0" name="Shape 48"/>
          <p:cNvSpPr/>
          <p:nvPr/>
        </p:nvSpPr>
        <p:spPr>
          <a:xfrm>
            <a:off x="6967440" y="3936960"/>
            <a:ext cx="4681440" cy="60156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1" name="Text 49"/>
          <p:cNvSpPr/>
          <p:nvPr/>
        </p:nvSpPr>
        <p:spPr>
          <a:xfrm>
            <a:off x="7078680" y="4079880"/>
            <a:ext cx="6728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Silver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2" name="Text 50"/>
          <p:cNvSpPr/>
          <p:nvPr/>
        </p:nvSpPr>
        <p:spPr>
          <a:xfrm>
            <a:off x="11329200" y="4048200"/>
            <a:ext cx="3078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3" name="Shape 51"/>
          <p:cNvSpPr/>
          <p:nvPr/>
        </p:nvSpPr>
        <p:spPr>
          <a:xfrm>
            <a:off x="7094520" y="4349880"/>
            <a:ext cx="4427280" cy="6156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4" name="Shape 52"/>
          <p:cNvSpPr/>
          <p:nvPr/>
        </p:nvSpPr>
        <p:spPr>
          <a:xfrm>
            <a:off x="7110360" y="4365720"/>
            <a:ext cx="792000" cy="29880"/>
          </a:xfrm>
          <a:custGeom>
            <a:avLst/>
            <a:gdLst/>
            <a:ahLst/>
            <a:rect l="l" t="t" r="r" b="b"/>
            <a:pathLst>
              <a:path w="793750" h="31750">
                <a:moveTo>
                  <a:pt x="0" y="0"/>
                </a:moveTo>
                <a:lnTo>
                  <a:pt x="793750" y="0"/>
                </a:lnTo>
                <a:lnTo>
                  <a:pt x="79375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5" name="Shape 53"/>
          <p:cNvSpPr/>
          <p:nvPr/>
        </p:nvSpPr>
        <p:spPr>
          <a:xfrm>
            <a:off x="6967440" y="4699080"/>
            <a:ext cx="4681440" cy="411120"/>
          </a:xfrm>
          <a:custGeom>
            <a:avLst/>
            <a:gdLst/>
            <a:ahLst/>
            <a:rect l="l" t="t" r="r" b="b"/>
            <a:pathLst>
              <a:path w="4683125" h="412750">
                <a:moveTo>
                  <a:pt x="0" y="0"/>
                </a:moveTo>
                <a:lnTo>
                  <a:pt x="4683125" y="0"/>
                </a:lnTo>
                <a:lnTo>
                  <a:pt x="46831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Text 54"/>
          <p:cNvSpPr/>
          <p:nvPr/>
        </p:nvSpPr>
        <p:spPr>
          <a:xfrm>
            <a:off x="7047000" y="4809960"/>
            <a:ext cx="45226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is now scarcer than 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7" name="Shape 55"/>
          <p:cNvSpPr/>
          <p:nvPr/>
        </p:nvSpPr>
        <p:spPr>
          <a:xfrm>
            <a:off x="6769080" y="5484960"/>
            <a:ext cx="5078160" cy="3697200"/>
          </a:xfrm>
          <a:custGeom>
            <a:avLst/>
            <a:gdLst/>
            <a:ahLst/>
            <a:rect l="l" t="t" r="r" b="b"/>
            <a:pathLst>
              <a:path w="5080000" h="3698875">
                <a:moveTo>
                  <a:pt x="0" y="0"/>
                </a:moveTo>
                <a:lnTo>
                  <a:pt x="5080000" y="0"/>
                </a:lnTo>
                <a:lnTo>
                  <a:pt x="5080000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08" name="Text 56"/>
          <p:cNvSpPr/>
          <p:nvPr/>
        </p:nvSpPr>
        <p:spPr>
          <a:xfrm>
            <a:off x="6951600" y="5667480"/>
            <a:ext cx="480816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SUPPLY IMPACT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9" name="Shape 57"/>
          <p:cNvSpPr/>
          <p:nvPr/>
        </p:nvSpPr>
        <p:spPr>
          <a:xfrm>
            <a:off x="6967440" y="6064200"/>
            <a:ext cx="4681440" cy="88704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Text 58"/>
          <p:cNvSpPr/>
          <p:nvPr/>
        </p:nvSpPr>
        <p:spPr>
          <a:xfrm>
            <a:off x="7078680" y="6175440"/>
            <a:ext cx="45226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Daily New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1" name="Text 59"/>
          <p:cNvSpPr/>
          <p:nvPr/>
        </p:nvSpPr>
        <p:spPr>
          <a:xfrm>
            <a:off x="7078680" y="6397560"/>
            <a:ext cx="457812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2" name="Text 60"/>
          <p:cNvSpPr/>
          <p:nvPr/>
        </p:nvSpPr>
        <p:spPr>
          <a:xfrm>
            <a:off x="7078680" y="6683400"/>
            <a:ext cx="45147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3" name="Shape 61"/>
          <p:cNvSpPr/>
          <p:nvPr/>
        </p:nvSpPr>
        <p:spPr>
          <a:xfrm>
            <a:off x="6967440" y="7080120"/>
            <a:ext cx="4681440" cy="88704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Text 62"/>
          <p:cNvSpPr/>
          <p:nvPr/>
        </p:nvSpPr>
        <p:spPr>
          <a:xfrm>
            <a:off x="7078680" y="7191360"/>
            <a:ext cx="45226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Inflation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5" name="Text 63"/>
          <p:cNvSpPr/>
          <p:nvPr/>
        </p:nvSpPr>
        <p:spPr>
          <a:xfrm>
            <a:off x="7078680" y="7413480"/>
            <a:ext cx="457812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0.85%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6" name="Text 64"/>
          <p:cNvSpPr/>
          <p:nvPr/>
        </p:nvSpPr>
        <p:spPr>
          <a:xfrm>
            <a:off x="7078680" y="7699320"/>
            <a:ext cx="45147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1.75%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7" name="Shape 65"/>
          <p:cNvSpPr/>
          <p:nvPr/>
        </p:nvSpPr>
        <p:spPr>
          <a:xfrm>
            <a:off x="6967440" y="8096400"/>
            <a:ext cx="4681440" cy="88704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Text 66"/>
          <p:cNvSpPr/>
          <p:nvPr/>
        </p:nvSpPr>
        <p:spPr>
          <a:xfrm>
            <a:off x="7078680" y="8207280"/>
            <a:ext cx="45226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Supply Mined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9" name="Text 67"/>
          <p:cNvSpPr/>
          <p:nvPr/>
        </p:nvSpPr>
        <p:spPr>
          <a:xfrm>
            <a:off x="7078680" y="8429760"/>
            <a:ext cx="457812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93.75%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20" name="Text 68"/>
          <p:cNvSpPr/>
          <p:nvPr/>
        </p:nvSpPr>
        <p:spPr>
          <a:xfrm>
            <a:off x="7078680" y="8715240"/>
            <a:ext cx="45147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~19.7M of 21M BTC in circulation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2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3" name="Shape 1"/>
          <p:cNvSpPr/>
          <p:nvPr/>
        </p:nvSpPr>
        <p:spPr>
          <a:xfrm>
            <a:off x="409680" y="352440"/>
            <a:ext cx="8475480" cy="481788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24" name="Shape 2"/>
          <p:cNvSpPr/>
          <p:nvPr/>
        </p:nvSpPr>
        <p:spPr>
          <a:xfrm>
            <a:off x="923760" y="866880"/>
            <a:ext cx="855360" cy="85536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5" name="Text 3"/>
          <p:cNvSpPr/>
          <p:nvPr/>
        </p:nvSpPr>
        <p:spPr>
          <a:xfrm>
            <a:off x="781200" y="838080"/>
            <a:ext cx="102708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426" name="Shape 4"/>
          <p:cNvSpPr/>
          <p:nvPr/>
        </p:nvSpPr>
        <p:spPr>
          <a:xfrm>
            <a:off x="2038320" y="838080"/>
            <a:ext cx="74520" cy="91260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Text 5"/>
          <p:cNvSpPr/>
          <p:nvPr/>
        </p:nvSpPr>
        <p:spPr>
          <a:xfrm>
            <a:off x="895320" y="2057400"/>
            <a:ext cx="7846920" cy="17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428" name="Shape 6"/>
          <p:cNvSpPr/>
          <p:nvPr/>
        </p:nvSpPr>
        <p:spPr>
          <a:xfrm>
            <a:off x="895320" y="4000680"/>
            <a:ext cx="1827000" cy="7452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9" name="Text 7"/>
          <p:cNvSpPr/>
          <p:nvPr/>
        </p:nvSpPr>
        <p:spPr>
          <a:xfrm>
            <a:off x="895320" y="4305240"/>
            <a:ext cx="767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2024-2025 Market Status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430" name="Shape 8"/>
          <p:cNvSpPr/>
          <p:nvPr/>
        </p:nvSpPr>
        <p:spPr>
          <a:xfrm>
            <a:off x="409680" y="5686560"/>
            <a:ext cx="11370960" cy="81720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Text 9"/>
          <p:cNvSpPr/>
          <p:nvPr/>
        </p:nvSpPr>
        <p:spPr>
          <a:xfrm>
            <a:off x="666720" y="5943600"/>
            <a:ext cx="10971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Adoption, ETF Success &amp; Price Discovery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0"/>
          <p:cNvSpPr/>
          <p:nvPr/>
        </p:nvSpPr>
        <p:spPr>
          <a:xfrm>
            <a:off x="341280" y="341280"/>
            <a:ext cx="11507400" cy="83952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3" name="Text 1"/>
          <p:cNvSpPr/>
          <p:nvPr/>
        </p:nvSpPr>
        <p:spPr>
          <a:xfrm>
            <a:off x="523800" y="523800"/>
            <a:ext cx="112852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TODAY: MARKET METRICS &amp; ADOPTION DATA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34" name="Shape 2"/>
          <p:cNvSpPr/>
          <p:nvPr/>
        </p:nvSpPr>
        <p:spPr>
          <a:xfrm>
            <a:off x="523800" y="936720"/>
            <a:ext cx="760320" cy="6156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5" name="Shape 3"/>
          <p:cNvSpPr/>
          <p:nvPr/>
        </p:nvSpPr>
        <p:spPr>
          <a:xfrm>
            <a:off x="341280" y="1357200"/>
            <a:ext cx="5649840" cy="2808000"/>
          </a:xfrm>
          <a:custGeom>
            <a:avLst/>
            <a:gdLst/>
            <a:ahLst/>
            <a:rect l="l" t="t" r="r" b="b"/>
            <a:pathLst>
              <a:path w="5651500" h="2809875">
                <a:moveTo>
                  <a:pt x="0" y="0"/>
                </a:moveTo>
                <a:lnTo>
                  <a:pt x="5651500" y="0"/>
                </a:lnTo>
                <a:lnTo>
                  <a:pt x="5651500" y="2809875"/>
                </a:lnTo>
                <a:lnTo>
                  <a:pt x="0" y="2809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36" name="Text 4"/>
          <p:cNvSpPr/>
          <p:nvPr/>
        </p:nvSpPr>
        <p:spPr>
          <a:xfrm>
            <a:off x="523800" y="153972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PRICE PERFORMANCE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37" name="Shape 5"/>
          <p:cNvSpPr/>
          <p:nvPr/>
        </p:nvSpPr>
        <p:spPr>
          <a:xfrm>
            <a:off x="539640" y="1936800"/>
            <a:ext cx="2546280" cy="101412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Text 6"/>
          <p:cNvSpPr/>
          <p:nvPr/>
        </p:nvSpPr>
        <p:spPr>
          <a:xfrm>
            <a:off x="682560" y="2079720"/>
            <a:ext cx="232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Current Price (Mar 2026)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39" name="Text 7"/>
          <p:cNvSpPr/>
          <p:nvPr/>
        </p:nvSpPr>
        <p:spPr>
          <a:xfrm>
            <a:off x="682560" y="2333520"/>
            <a:ext cx="240336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$74,532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0" name="Shape 8"/>
          <p:cNvSpPr/>
          <p:nvPr/>
        </p:nvSpPr>
        <p:spPr>
          <a:xfrm>
            <a:off x="3246480" y="1936800"/>
            <a:ext cx="2546280" cy="101412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Text 9"/>
          <p:cNvSpPr/>
          <p:nvPr/>
        </p:nvSpPr>
        <p:spPr>
          <a:xfrm>
            <a:off x="3389400" y="2079720"/>
            <a:ext cx="232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All-Time High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2" name="Text 10"/>
          <p:cNvSpPr/>
          <p:nvPr/>
        </p:nvSpPr>
        <p:spPr>
          <a:xfrm>
            <a:off x="3389400" y="2333520"/>
            <a:ext cx="240336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$126,173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3" name="Text 11"/>
          <p:cNvSpPr/>
          <p:nvPr/>
        </p:nvSpPr>
        <p:spPr>
          <a:xfrm>
            <a:off x="3389400" y="2651040"/>
            <a:ext cx="23158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October 6, 2025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44" name="Shape 12"/>
          <p:cNvSpPr/>
          <p:nvPr/>
        </p:nvSpPr>
        <p:spPr>
          <a:xfrm>
            <a:off x="539640" y="3111480"/>
            <a:ext cx="2546280" cy="85536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5" name="Text 13"/>
          <p:cNvSpPr/>
          <p:nvPr/>
        </p:nvSpPr>
        <p:spPr>
          <a:xfrm>
            <a:off x="682560" y="3254400"/>
            <a:ext cx="232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Market Cap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6" name="Text 14"/>
          <p:cNvSpPr/>
          <p:nvPr/>
        </p:nvSpPr>
        <p:spPr>
          <a:xfrm>
            <a:off x="682560" y="3508200"/>
            <a:ext cx="240336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$1.47T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7" name="Shape 15"/>
          <p:cNvSpPr/>
          <p:nvPr/>
        </p:nvSpPr>
        <p:spPr>
          <a:xfrm>
            <a:off x="3246480" y="3111480"/>
            <a:ext cx="2546280" cy="85536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16"/>
          <p:cNvSpPr/>
          <p:nvPr/>
        </p:nvSpPr>
        <p:spPr>
          <a:xfrm>
            <a:off x="3389400" y="3254400"/>
            <a:ext cx="2323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24h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9" name="Text 17"/>
          <p:cNvSpPr/>
          <p:nvPr/>
        </p:nvSpPr>
        <p:spPr>
          <a:xfrm>
            <a:off x="3389400" y="3508200"/>
            <a:ext cx="240336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$28.5B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50" name="Shape 18"/>
          <p:cNvSpPr/>
          <p:nvPr/>
        </p:nvSpPr>
        <p:spPr>
          <a:xfrm>
            <a:off x="341280" y="4341960"/>
            <a:ext cx="5649840" cy="2998440"/>
          </a:xfrm>
          <a:custGeom>
            <a:avLst/>
            <a:gdLst/>
            <a:ahLst/>
            <a:rect l="l" t="t" r="r" b="b"/>
            <a:pathLst>
              <a:path w="5651500" h="3000375">
                <a:moveTo>
                  <a:pt x="0" y="0"/>
                </a:moveTo>
                <a:lnTo>
                  <a:pt x="5651500" y="0"/>
                </a:lnTo>
                <a:lnTo>
                  <a:pt x="56515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51" name="Text 19"/>
          <p:cNvSpPr/>
          <p:nvPr/>
        </p:nvSpPr>
        <p:spPr>
          <a:xfrm>
            <a:off x="523800" y="452448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HOLDINGS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2" name="Shape 20"/>
          <p:cNvSpPr/>
          <p:nvPr/>
        </p:nvSpPr>
        <p:spPr>
          <a:xfrm>
            <a:off x="539640" y="4921200"/>
            <a:ext cx="5252760" cy="63324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3" name="Text 21"/>
          <p:cNvSpPr/>
          <p:nvPr/>
        </p:nvSpPr>
        <p:spPr>
          <a:xfrm>
            <a:off x="650880" y="5064120"/>
            <a:ext cx="1419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Institutional BTC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4" name="Text 22"/>
          <p:cNvSpPr/>
          <p:nvPr/>
        </p:nvSpPr>
        <p:spPr>
          <a:xfrm>
            <a:off x="4704120" y="5032440"/>
            <a:ext cx="10699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1.4M+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5" name="Text 23"/>
          <p:cNvSpPr/>
          <p:nvPr/>
        </p:nvSpPr>
        <p:spPr>
          <a:xfrm>
            <a:off x="650880" y="528624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~7% of circulating supply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56" name="Shape 24"/>
          <p:cNvSpPr/>
          <p:nvPr/>
        </p:nvSpPr>
        <p:spPr>
          <a:xfrm>
            <a:off x="539640" y="5683320"/>
            <a:ext cx="5252760" cy="63324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7" name="Text 25"/>
          <p:cNvSpPr/>
          <p:nvPr/>
        </p:nvSpPr>
        <p:spPr>
          <a:xfrm>
            <a:off x="650880" y="5826240"/>
            <a:ext cx="19666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Assets Under Management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8" name="Text 26"/>
          <p:cNvSpPr/>
          <p:nvPr/>
        </p:nvSpPr>
        <p:spPr>
          <a:xfrm>
            <a:off x="5116680" y="5794200"/>
            <a:ext cx="6570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9" name="Text 27"/>
          <p:cNvSpPr/>
          <p:nvPr/>
        </p:nvSpPr>
        <p:spPr>
          <a:xfrm>
            <a:off x="650880" y="604836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leads with $52B+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0" name="Shape 28"/>
          <p:cNvSpPr/>
          <p:nvPr/>
        </p:nvSpPr>
        <p:spPr>
          <a:xfrm>
            <a:off x="539640" y="6445080"/>
            <a:ext cx="5252760" cy="63324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1" name="Text 29"/>
          <p:cNvSpPr/>
          <p:nvPr/>
        </p:nvSpPr>
        <p:spPr>
          <a:xfrm>
            <a:off x="650880" y="6588000"/>
            <a:ext cx="14904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Holdings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2" name="Text 30"/>
          <p:cNvSpPr/>
          <p:nvPr/>
        </p:nvSpPr>
        <p:spPr>
          <a:xfrm>
            <a:off x="4550040" y="6556320"/>
            <a:ext cx="12286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3" name="Text 31"/>
          <p:cNvSpPr/>
          <p:nvPr/>
        </p:nvSpPr>
        <p:spPr>
          <a:xfrm>
            <a:off x="650880" y="681048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Cost basis: $54.4B ($76,056/BTC)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4" name="Shape 32"/>
          <p:cNvSpPr/>
          <p:nvPr/>
        </p:nvSpPr>
        <p:spPr>
          <a:xfrm>
            <a:off x="6199200" y="1357200"/>
            <a:ext cx="5649840" cy="3823920"/>
          </a:xfrm>
          <a:custGeom>
            <a:avLst/>
            <a:gdLst/>
            <a:ahLst/>
            <a:rect l="l" t="t" r="r" b="b"/>
            <a:pathLst>
              <a:path w="5651500" h="3825875">
                <a:moveTo>
                  <a:pt x="0" y="0"/>
                </a:moveTo>
                <a:lnTo>
                  <a:pt x="5651500" y="0"/>
                </a:lnTo>
                <a:lnTo>
                  <a:pt x="5651500" y="3825875"/>
                </a:lnTo>
                <a:lnTo>
                  <a:pt x="0" y="382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65" name="Text 33"/>
          <p:cNvSpPr/>
          <p:nvPr/>
        </p:nvSpPr>
        <p:spPr>
          <a:xfrm>
            <a:off x="6381720" y="153972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ON-CHAIN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6" name="Shape 34"/>
          <p:cNvSpPr/>
          <p:nvPr/>
        </p:nvSpPr>
        <p:spPr>
          <a:xfrm>
            <a:off x="6397560" y="1936800"/>
            <a:ext cx="5252760" cy="950760"/>
          </a:xfrm>
          <a:custGeom>
            <a:avLst/>
            <a:gdLst/>
            <a:ahLst/>
            <a:rect l="l" t="t" r="r" b="b"/>
            <a:pathLst>
              <a:path w="5254625" h="952500">
                <a:moveTo>
                  <a:pt x="0" y="0"/>
                </a:moveTo>
                <a:lnTo>
                  <a:pt x="5254625" y="0"/>
                </a:lnTo>
                <a:lnTo>
                  <a:pt x="5254625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5"/>
          <p:cNvSpPr/>
          <p:nvPr/>
        </p:nvSpPr>
        <p:spPr>
          <a:xfrm>
            <a:off x="6508800" y="204804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Long-Term Holder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8" name="Text 36"/>
          <p:cNvSpPr/>
          <p:nvPr/>
        </p:nvSpPr>
        <p:spPr>
          <a:xfrm>
            <a:off x="6508800" y="2301840"/>
            <a:ext cx="5936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62%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69" name="Text 37"/>
          <p:cNvSpPr/>
          <p:nvPr/>
        </p:nvSpPr>
        <p:spPr>
          <a:xfrm>
            <a:off x="7080480" y="2365200"/>
            <a:ext cx="145080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BTC unmoved for 1+ year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0" name="Shape 38"/>
          <p:cNvSpPr/>
          <p:nvPr/>
        </p:nvSpPr>
        <p:spPr>
          <a:xfrm>
            <a:off x="6524640" y="2666880"/>
            <a:ext cx="4998960" cy="9360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Shape 39"/>
          <p:cNvSpPr/>
          <p:nvPr/>
        </p:nvSpPr>
        <p:spPr>
          <a:xfrm>
            <a:off x="6540480" y="2682720"/>
            <a:ext cx="3078000" cy="61560"/>
          </a:xfrm>
          <a:custGeom>
            <a:avLst/>
            <a:gdLst/>
            <a:ahLst/>
            <a:rect l="l" t="t" r="r" b="b"/>
            <a:pathLst>
              <a:path w="3079750" h="63500">
                <a:moveTo>
                  <a:pt x="0" y="0"/>
                </a:moveTo>
                <a:lnTo>
                  <a:pt x="3079750" y="0"/>
                </a:lnTo>
                <a:lnTo>
                  <a:pt x="307975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Shape 40"/>
          <p:cNvSpPr/>
          <p:nvPr/>
        </p:nvSpPr>
        <p:spPr>
          <a:xfrm>
            <a:off x="6397560" y="3016080"/>
            <a:ext cx="5252760" cy="91908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Text 41"/>
          <p:cNvSpPr/>
          <p:nvPr/>
        </p:nvSpPr>
        <p:spPr>
          <a:xfrm>
            <a:off x="6508800" y="312732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4" name="Text 42"/>
          <p:cNvSpPr/>
          <p:nvPr/>
        </p:nvSpPr>
        <p:spPr>
          <a:xfrm>
            <a:off x="6508800" y="3381480"/>
            <a:ext cx="514980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5" name="Text 43"/>
          <p:cNvSpPr/>
          <p:nvPr/>
        </p:nvSpPr>
        <p:spPr>
          <a:xfrm>
            <a:off x="6508800" y="366696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 volume (Nov 2025)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6" name="Shape 44"/>
          <p:cNvSpPr/>
          <p:nvPr/>
        </p:nvSpPr>
        <p:spPr>
          <a:xfrm>
            <a:off x="6397560" y="4064040"/>
            <a:ext cx="5252760" cy="91908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7" name="Text 45"/>
          <p:cNvSpPr/>
          <p:nvPr/>
        </p:nvSpPr>
        <p:spPr>
          <a:xfrm>
            <a:off x="6508800" y="417528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8" name="Text 46"/>
          <p:cNvSpPr/>
          <p:nvPr/>
        </p:nvSpPr>
        <p:spPr>
          <a:xfrm>
            <a:off x="6508800" y="4429080"/>
            <a:ext cx="514980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 EH/s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9" name="Text 47"/>
          <p:cNvSpPr/>
          <p:nvPr/>
        </p:nvSpPr>
        <p:spPr>
          <a:xfrm>
            <a:off x="6508800" y="471492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All-time high network security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0" name="Shape 48"/>
          <p:cNvSpPr/>
          <p:nvPr/>
        </p:nvSpPr>
        <p:spPr>
          <a:xfrm>
            <a:off x="6199200" y="5357880"/>
            <a:ext cx="5649840" cy="1982520"/>
          </a:xfrm>
          <a:custGeom>
            <a:avLst/>
            <a:gdLst/>
            <a:ahLst/>
            <a:rect l="l" t="t" r="r" b="b"/>
            <a:pathLst>
              <a:path w="5651500" h="1984375">
                <a:moveTo>
                  <a:pt x="0" y="0"/>
                </a:moveTo>
                <a:lnTo>
                  <a:pt x="5651500" y="0"/>
                </a:lnTo>
                <a:lnTo>
                  <a:pt x="5651500" y="1984375"/>
                </a:lnTo>
                <a:lnTo>
                  <a:pt x="0" y="1984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81" name="Text 49"/>
          <p:cNvSpPr/>
          <p:nvPr/>
        </p:nvSpPr>
        <p:spPr>
          <a:xfrm>
            <a:off x="6381720" y="554040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VS TRADITIONAL ASSETS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82" name="Text 50"/>
          <p:cNvSpPr/>
          <p:nvPr/>
        </p:nvSpPr>
        <p:spPr>
          <a:xfrm>
            <a:off x="6381720" y="5921280"/>
            <a:ext cx="534816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3" name="Text 51"/>
          <p:cNvSpPr/>
          <p:nvPr/>
        </p:nvSpPr>
        <p:spPr>
          <a:xfrm>
            <a:off x="6381720" y="6207120"/>
            <a:ext cx="8236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4" name="Shape 52"/>
          <p:cNvSpPr/>
          <p:nvPr/>
        </p:nvSpPr>
        <p:spPr>
          <a:xfrm>
            <a:off x="7254720" y="6222960"/>
            <a:ext cx="4395600" cy="15696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5" name="Shape 53"/>
          <p:cNvSpPr/>
          <p:nvPr/>
        </p:nvSpPr>
        <p:spPr>
          <a:xfrm>
            <a:off x="7270920" y="6238800"/>
            <a:ext cx="4363920" cy="125280"/>
          </a:xfrm>
          <a:custGeom>
            <a:avLst/>
            <a:gdLst/>
            <a:ahLst/>
            <a:rect l="l" t="t" r="r" b="b"/>
            <a:pathLst>
              <a:path w="4365625" h="127000">
                <a:moveTo>
                  <a:pt x="0" y="0"/>
                </a:moveTo>
                <a:lnTo>
                  <a:pt x="4365625" y="0"/>
                </a:lnTo>
                <a:lnTo>
                  <a:pt x="4365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6" name="Text 54"/>
          <p:cNvSpPr/>
          <p:nvPr/>
        </p:nvSpPr>
        <p:spPr>
          <a:xfrm>
            <a:off x="11223720" y="6222960"/>
            <a:ext cx="4028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+940%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7" name="Text 55"/>
          <p:cNvSpPr/>
          <p:nvPr/>
        </p:nvSpPr>
        <p:spPr>
          <a:xfrm>
            <a:off x="6381720" y="6461280"/>
            <a:ext cx="8236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Nasdaq 100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8" name="Shape 56"/>
          <p:cNvSpPr/>
          <p:nvPr/>
        </p:nvSpPr>
        <p:spPr>
          <a:xfrm>
            <a:off x="7254720" y="6477120"/>
            <a:ext cx="4395600" cy="15696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9" name="Shape 57"/>
          <p:cNvSpPr/>
          <p:nvPr/>
        </p:nvSpPr>
        <p:spPr>
          <a:xfrm>
            <a:off x="7270920" y="6492960"/>
            <a:ext cx="522000" cy="125280"/>
          </a:xfrm>
          <a:custGeom>
            <a:avLst/>
            <a:gdLst/>
            <a:ahLst/>
            <a:rect l="l" t="t" r="r" b="b"/>
            <a:pathLst>
              <a:path w="523875" h="127000">
                <a:moveTo>
                  <a:pt x="0" y="0"/>
                </a:moveTo>
                <a:lnTo>
                  <a:pt x="523875" y="0"/>
                </a:lnTo>
                <a:lnTo>
                  <a:pt x="523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58"/>
          <p:cNvSpPr/>
          <p:nvPr/>
        </p:nvSpPr>
        <p:spPr>
          <a:xfrm>
            <a:off x="7382160" y="6477120"/>
            <a:ext cx="4028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+110%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1" name="Text 59"/>
          <p:cNvSpPr/>
          <p:nvPr/>
        </p:nvSpPr>
        <p:spPr>
          <a:xfrm>
            <a:off x="6381720" y="6715080"/>
            <a:ext cx="8236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S&amp;P 500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2" name="Shape 60"/>
          <p:cNvSpPr/>
          <p:nvPr/>
        </p:nvSpPr>
        <p:spPr>
          <a:xfrm>
            <a:off x="7254720" y="6730920"/>
            <a:ext cx="4395600" cy="15696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Shape 61"/>
          <p:cNvSpPr/>
          <p:nvPr/>
        </p:nvSpPr>
        <p:spPr>
          <a:xfrm>
            <a:off x="7270920" y="6746760"/>
            <a:ext cx="394920" cy="125280"/>
          </a:xfrm>
          <a:custGeom>
            <a:avLst/>
            <a:gdLst/>
            <a:ahLst/>
            <a:rect l="l" t="t" r="r" b="b"/>
            <a:pathLst>
              <a:path w="396875" h="127000">
                <a:moveTo>
                  <a:pt x="0" y="0"/>
                </a:moveTo>
                <a:lnTo>
                  <a:pt x="396875" y="0"/>
                </a:lnTo>
                <a:lnTo>
                  <a:pt x="396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Text 62"/>
          <p:cNvSpPr/>
          <p:nvPr/>
        </p:nvSpPr>
        <p:spPr>
          <a:xfrm>
            <a:off x="7312680" y="6730920"/>
            <a:ext cx="3394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5" name="Text 63"/>
          <p:cNvSpPr/>
          <p:nvPr/>
        </p:nvSpPr>
        <p:spPr>
          <a:xfrm>
            <a:off x="6381720" y="6969240"/>
            <a:ext cx="8236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6" name="Shape 64"/>
          <p:cNvSpPr/>
          <p:nvPr/>
        </p:nvSpPr>
        <p:spPr>
          <a:xfrm>
            <a:off x="7254720" y="6985080"/>
            <a:ext cx="4395600" cy="15696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Shape 65"/>
          <p:cNvSpPr/>
          <p:nvPr/>
        </p:nvSpPr>
        <p:spPr>
          <a:xfrm>
            <a:off x="7270920" y="7000920"/>
            <a:ext cx="172800" cy="125280"/>
          </a:xfrm>
          <a:custGeom>
            <a:avLst/>
            <a:gdLst/>
            <a:ahLst/>
            <a:rect l="l" t="t" r="r" b="b"/>
            <a:pathLst>
              <a:path w="174625" h="127000">
                <a:moveTo>
                  <a:pt x="0" y="0"/>
                </a:moveTo>
                <a:lnTo>
                  <a:pt x="174625" y="0"/>
                </a:lnTo>
                <a:lnTo>
                  <a:pt x="174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8" name="Text 66"/>
          <p:cNvSpPr/>
          <p:nvPr/>
        </p:nvSpPr>
        <p:spPr>
          <a:xfrm>
            <a:off x="7094520" y="6985080"/>
            <a:ext cx="3394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+25%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0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Shape 1"/>
          <p:cNvSpPr/>
          <p:nvPr/>
        </p:nvSpPr>
        <p:spPr>
          <a:xfrm>
            <a:off x="3305160" y="352440"/>
            <a:ext cx="8475480" cy="481788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02" name="Shape 2"/>
          <p:cNvSpPr/>
          <p:nvPr/>
        </p:nvSpPr>
        <p:spPr>
          <a:xfrm>
            <a:off x="10077480" y="838080"/>
            <a:ext cx="74520" cy="91260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3" name="Shape 3"/>
          <p:cNvSpPr/>
          <p:nvPr/>
        </p:nvSpPr>
        <p:spPr>
          <a:xfrm>
            <a:off x="10410840" y="866880"/>
            <a:ext cx="855360" cy="85536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Text 4"/>
          <p:cNvSpPr/>
          <p:nvPr/>
        </p:nvSpPr>
        <p:spPr>
          <a:xfrm>
            <a:off x="10267920" y="838080"/>
            <a:ext cx="102708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05" name="Text 5"/>
          <p:cNvSpPr/>
          <p:nvPr/>
        </p:nvSpPr>
        <p:spPr>
          <a:xfrm>
            <a:off x="3448080" y="2057400"/>
            <a:ext cx="7846920" cy="17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06" name="Shape 6"/>
          <p:cNvSpPr/>
          <p:nvPr/>
        </p:nvSpPr>
        <p:spPr>
          <a:xfrm>
            <a:off x="9468000" y="4000680"/>
            <a:ext cx="1827000" cy="7452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7" name="Text 7"/>
          <p:cNvSpPr/>
          <p:nvPr/>
        </p:nvSpPr>
        <p:spPr>
          <a:xfrm>
            <a:off x="3619440" y="4305240"/>
            <a:ext cx="767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Wall Street Embraces Bitcoin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08" name="Shape 8"/>
          <p:cNvSpPr/>
          <p:nvPr/>
        </p:nvSpPr>
        <p:spPr>
          <a:xfrm>
            <a:off x="5198760" y="5686560"/>
            <a:ext cx="6580080" cy="817200"/>
          </a:xfrm>
          <a:custGeom>
            <a:avLst/>
            <a:gdLst/>
            <a:ahLst/>
            <a:rect l="l" t="t" r="r" b="b"/>
            <a:pathLst>
              <a:path w="6581775" h="819150">
                <a:moveTo>
                  <a:pt x="0" y="0"/>
                </a:moveTo>
                <a:lnTo>
                  <a:pt x="6581775" y="0"/>
                </a:lnTo>
                <a:lnTo>
                  <a:pt x="65817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9" name="Text 9"/>
          <p:cNvSpPr/>
          <p:nvPr/>
        </p:nvSpPr>
        <p:spPr>
          <a:xfrm>
            <a:off x="5456160" y="5943600"/>
            <a:ext cx="61797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Asset to Mainstream Portfolio Allocation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0"/>
          <p:cNvSpPr/>
          <p:nvPr/>
        </p:nvSpPr>
        <p:spPr>
          <a:xfrm>
            <a:off x="341280" y="341280"/>
            <a:ext cx="11507400" cy="83952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1" name="Text 1"/>
          <p:cNvSpPr/>
          <p:nvPr/>
        </p:nvSpPr>
        <p:spPr>
          <a:xfrm>
            <a:off x="523800" y="523800"/>
            <a:ext cx="112852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TO MAINSTREAM: INSTITUTIONAL ENTRY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12" name="Shape 2"/>
          <p:cNvSpPr/>
          <p:nvPr/>
        </p:nvSpPr>
        <p:spPr>
          <a:xfrm>
            <a:off x="523800" y="936720"/>
            <a:ext cx="760320" cy="6156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Shape 3"/>
          <p:cNvSpPr/>
          <p:nvPr/>
        </p:nvSpPr>
        <p:spPr>
          <a:xfrm>
            <a:off x="341280" y="1357200"/>
            <a:ext cx="5649840" cy="1950840"/>
          </a:xfrm>
          <a:custGeom>
            <a:avLst/>
            <a:gdLst/>
            <a:ahLst/>
            <a:rect l="l" t="t" r="r" b="b"/>
            <a:pathLst>
              <a:path w="5651500" h="1952625">
                <a:moveTo>
                  <a:pt x="0" y="0"/>
                </a:moveTo>
                <a:lnTo>
                  <a:pt x="5651500" y="0"/>
                </a:lnTo>
                <a:lnTo>
                  <a:pt x="5651500" y="1952625"/>
                </a:lnTo>
                <a:lnTo>
                  <a:pt x="0" y="1952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14" name="Shape 4"/>
          <p:cNvSpPr/>
          <p:nvPr/>
        </p:nvSpPr>
        <p:spPr>
          <a:xfrm>
            <a:off x="547560" y="1563840"/>
            <a:ext cx="394920" cy="39492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Text 5"/>
          <p:cNvSpPr/>
          <p:nvPr/>
        </p:nvSpPr>
        <p:spPr>
          <a:xfrm>
            <a:off x="476280" y="1539720"/>
            <a:ext cx="442800" cy="3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6" name="Text 6"/>
          <p:cNvSpPr/>
          <p:nvPr/>
        </p:nvSpPr>
        <p:spPr>
          <a:xfrm>
            <a:off x="1095480" y="1539720"/>
            <a:ext cx="480816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2024: THE TURNING POINT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7" name="Text 7"/>
          <p:cNvSpPr/>
          <p:nvPr/>
        </p:nvSpPr>
        <p:spPr>
          <a:xfrm>
            <a:off x="1095480" y="1857240"/>
            <a:ext cx="4776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 approves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11 spot Bitcoin ETFs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, marking the most successful ETF launch in history. This removed the final barrier for institutional capital.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18" name="Shape 8"/>
          <p:cNvSpPr/>
          <p:nvPr/>
        </p:nvSpPr>
        <p:spPr>
          <a:xfrm>
            <a:off x="539640" y="2413080"/>
            <a:ext cx="1665000" cy="69660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9" name="Text 9"/>
          <p:cNvSpPr/>
          <p:nvPr/>
        </p:nvSpPr>
        <p:spPr>
          <a:xfrm>
            <a:off x="591480" y="2523960"/>
            <a:ext cx="15620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$52B+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0" name="Text 10"/>
          <p:cNvSpPr/>
          <p:nvPr/>
        </p:nvSpPr>
        <p:spPr>
          <a:xfrm>
            <a:off x="623160" y="2841480"/>
            <a:ext cx="14983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1" name="Shape 11"/>
          <p:cNvSpPr/>
          <p:nvPr/>
        </p:nvSpPr>
        <p:spPr>
          <a:xfrm>
            <a:off x="2333520" y="2413080"/>
            <a:ext cx="1665000" cy="69660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2" name="Text 12"/>
          <p:cNvSpPr/>
          <p:nvPr/>
        </p:nvSpPr>
        <p:spPr>
          <a:xfrm>
            <a:off x="2385360" y="2523960"/>
            <a:ext cx="15620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3" name="Text 13"/>
          <p:cNvSpPr/>
          <p:nvPr/>
        </p:nvSpPr>
        <p:spPr>
          <a:xfrm>
            <a:off x="2417040" y="2841480"/>
            <a:ext cx="14983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ETF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4" name="Shape 14"/>
          <p:cNvSpPr/>
          <p:nvPr/>
        </p:nvSpPr>
        <p:spPr>
          <a:xfrm>
            <a:off x="4127400" y="2413080"/>
            <a:ext cx="1665000" cy="69660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Text 15"/>
          <p:cNvSpPr/>
          <p:nvPr/>
        </p:nvSpPr>
        <p:spPr>
          <a:xfrm>
            <a:off x="4179240" y="2523960"/>
            <a:ext cx="15620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 Year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6" name="Text 16"/>
          <p:cNvSpPr/>
          <p:nvPr/>
        </p:nvSpPr>
        <p:spPr>
          <a:xfrm>
            <a:off x="4210920" y="2841480"/>
            <a:ext cx="14983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 Reach $50B+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7" name="Shape 17"/>
          <p:cNvSpPr/>
          <p:nvPr/>
        </p:nvSpPr>
        <p:spPr>
          <a:xfrm>
            <a:off x="341280" y="3484440"/>
            <a:ext cx="5649840" cy="5221080"/>
          </a:xfrm>
          <a:custGeom>
            <a:avLst/>
            <a:gdLst/>
            <a:ahLst/>
            <a:rect l="l" t="t" r="r" b="b"/>
            <a:pathLst>
              <a:path w="5651500" h="5222875">
                <a:moveTo>
                  <a:pt x="0" y="0"/>
                </a:moveTo>
                <a:lnTo>
                  <a:pt x="5651500" y="0"/>
                </a:lnTo>
                <a:lnTo>
                  <a:pt x="5651500" y="5222875"/>
                </a:lnTo>
                <a:lnTo>
                  <a:pt x="0" y="522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28" name="Text 18"/>
          <p:cNvSpPr/>
          <p:nvPr/>
        </p:nvSpPr>
        <p:spPr>
          <a:xfrm>
            <a:off x="523800" y="366696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INSTITUTIONAL PLAYERS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29" name="Shape 19"/>
          <p:cNvSpPr/>
          <p:nvPr/>
        </p:nvSpPr>
        <p:spPr>
          <a:xfrm>
            <a:off x="539640" y="4064040"/>
            <a:ext cx="5252760" cy="66492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Text 20"/>
          <p:cNvSpPr/>
          <p:nvPr/>
        </p:nvSpPr>
        <p:spPr>
          <a:xfrm>
            <a:off x="650880" y="4175280"/>
            <a:ext cx="261756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MicroStrategy (Strategy)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1" name="Text 21"/>
          <p:cNvSpPr/>
          <p:nvPr/>
        </p:nvSpPr>
        <p:spPr>
          <a:xfrm>
            <a:off x="650880" y="4429080"/>
            <a:ext cx="26096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Pioneered corporate treasury Bitcoin strategy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2" name="Text 22"/>
          <p:cNvSpPr/>
          <p:nvPr/>
        </p:nvSpPr>
        <p:spPr>
          <a:xfrm>
            <a:off x="4455000" y="4175280"/>
            <a:ext cx="12286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3" name="Text 23"/>
          <p:cNvSpPr/>
          <p:nvPr/>
        </p:nvSpPr>
        <p:spPr>
          <a:xfrm>
            <a:off x="4494600" y="4429080"/>
            <a:ext cx="11887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$54.4B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4" name="Shape 24"/>
          <p:cNvSpPr/>
          <p:nvPr/>
        </p:nvSpPr>
        <p:spPr>
          <a:xfrm>
            <a:off x="539640" y="4857840"/>
            <a:ext cx="5252760" cy="66492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5" name="Text 25"/>
          <p:cNvSpPr/>
          <p:nvPr/>
        </p:nvSpPr>
        <p:spPr>
          <a:xfrm>
            <a:off x="650880" y="4968720"/>
            <a:ext cx="21492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Tesla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6" name="Text 26"/>
          <p:cNvSpPr/>
          <p:nvPr/>
        </p:nvSpPr>
        <p:spPr>
          <a:xfrm>
            <a:off x="650880" y="5222880"/>
            <a:ext cx="21412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Added BTC to balance sheet in 2021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7" name="Text 27"/>
          <p:cNvSpPr/>
          <p:nvPr/>
        </p:nvSpPr>
        <p:spPr>
          <a:xfrm>
            <a:off x="4560840" y="4968720"/>
            <a:ext cx="1117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11,509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8" name="Text 28"/>
          <p:cNvSpPr/>
          <p:nvPr/>
        </p:nvSpPr>
        <p:spPr>
          <a:xfrm>
            <a:off x="4600440" y="5222880"/>
            <a:ext cx="10778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~$850M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9" name="Shape 29"/>
          <p:cNvSpPr/>
          <p:nvPr/>
        </p:nvSpPr>
        <p:spPr>
          <a:xfrm>
            <a:off x="539640" y="5651640"/>
            <a:ext cx="5252760" cy="66492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0" name="Text 30"/>
          <p:cNvSpPr/>
          <p:nvPr/>
        </p:nvSpPr>
        <p:spPr>
          <a:xfrm>
            <a:off x="650880" y="5762520"/>
            <a:ext cx="21254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(Square)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41" name="Text 31"/>
          <p:cNvSpPr/>
          <p:nvPr/>
        </p:nvSpPr>
        <p:spPr>
          <a:xfrm>
            <a:off x="650880" y="6016680"/>
            <a:ext cx="21175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Financial services embracing 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2" name="Text 32"/>
          <p:cNvSpPr/>
          <p:nvPr/>
        </p:nvSpPr>
        <p:spPr>
          <a:xfrm>
            <a:off x="4666680" y="5762520"/>
            <a:ext cx="10141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8,027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3" name="Text 33"/>
          <p:cNvSpPr/>
          <p:nvPr/>
        </p:nvSpPr>
        <p:spPr>
          <a:xfrm>
            <a:off x="4706640" y="6016680"/>
            <a:ext cx="9745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~$600M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4" name="Shape 34"/>
          <p:cNvSpPr/>
          <p:nvPr/>
        </p:nvSpPr>
        <p:spPr>
          <a:xfrm>
            <a:off x="6199200" y="1357200"/>
            <a:ext cx="5649840" cy="4713120"/>
          </a:xfrm>
          <a:custGeom>
            <a:avLst/>
            <a:gdLst/>
            <a:ahLst/>
            <a:rect l="l" t="t" r="r" b="b"/>
            <a:pathLst>
              <a:path w="5651500" h="4714875">
                <a:moveTo>
                  <a:pt x="0" y="0"/>
                </a:moveTo>
                <a:lnTo>
                  <a:pt x="5651500" y="0"/>
                </a:lnTo>
                <a:lnTo>
                  <a:pt x="5651500" y="4714875"/>
                </a:lnTo>
                <a:lnTo>
                  <a:pt x="0" y="4714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5" name="Text 35"/>
          <p:cNvSpPr/>
          <p:nvPr/>
        </p:nvSpPr>
        <p:spPr>
          <a:xfrm>
            <a:off x="6381720" y="153972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THREE-PHASE ADOPTION TIMELINE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6" name="Shape 36"/>
          <p:cNvSpPr/>
          <p:nvPr/>
        </p:nvSpPr>
        <p:spPr>
          <a:xfrm>
            <a:off x="6397560" y="1936800"/>
            <a:ext cx="5252760" cy="120456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7" name="Shape 37"/>
          <p:cNvSpPr/>
          <p:nvPr/>
        </p:nvSpPr>
        <p:spPr>
          <a:xfrm>
            <a:off x="6564240" y="2103480"/>
            <a:ext cx="268200" cy="26820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38"/>
          <p:cNvSpPr/>
          <p:nvPr/>
        </p:nvSpPr>
        <p:spPr>
          <a:xfrm>
            <a:off x="6508800" y="2079720"/>
            <a:ext cx="2840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9" name="Text 39"/>
          <p:cNvSpPr/>
          <p:nvPr/>
        </p:nvSpPr>
        <p:spPr>
          <a:xfrm>
            <a:off x="6953400" y="2127240"/>
            <a:ext cx="83952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2025-2027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0" name="Text 40"/>
          <p:cNvSpPr/>
          <p:nvPr/>
        </p:nvSpPr>
        <p:spPr>
          <a:xfrm>
            <a:off x="6540480" y="2460600"/>
            <a:ext cx="50306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Pension &amp; 401(k) Integration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1" name="Text 41"/>
          <p:cNvSpPr/>
          <p:nvPr/>
        </p:nvSpPr>
        <p:spPr>
          <a:xfrm>
            <a:off x="6540480" y="2682720"/>
            <a:ext cx="50227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Early pension fund allocations, 401(k) plans add Bitcoin ETF options, 2-5% standard allocation models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2" name="Shape 42"/>
          <p:cNvSpPr/>
          <p:nvPr/>
        </p:nvSpPr>
        <p:spPr>
          <a:xfrm>
            <a:off x="6397560" y="3301920"/>
            <a:ext cx="5252760" cy="120456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3" name="Shape 43"/>
          <p:cNvSpPr/>
          <p:nvPr/>
        </p:nvSpPr>
        <p:spPr>
          <a:xfrm>
            <a:off x="6564240" y="3468600"/>
            <a:ext cx="268200" cy="26820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4" name="Text 44"/>
          <p:cNvSpPr/>
          <p:nvPr/>
        </p:nvSpPr>
        <p:spPr>
          <a:xfrm>
            <a:off x="6508800" y="3444840"/>
            <a:ext cx="2840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2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5" name="Text 45"/>
          <p:cNvSpPr/>
          <p:nvPr/>
        </p:nvSpPr>
        <p:spPr>
          <a:xfrm>
            <a:off x="6953400" y="3492360"/>
            <a:ext cx="83952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2028-2030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6" name="Text 46"/>
          <p:cNvSpPr/>
          <p:nvPr/>
        </p:nvSpPr>
        <p:spPr>
          <a:xfrm>
            <a:off x="6540480" y="3825720"/>
            <a:ext cx="50306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 Expansion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7" name="Text 47"/>
          <p:cNvSpPr/>
          <p:nvPr/>
        </p:nvSpPr>
        <p:spPr>
          <a:xfrm>
            <a:off x="6540480" y="4048200"/>
            <a:ext cx="50227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European/Asian ETFs launch, 2028 halving cuts supply, corporate treasuries follow MicroStrategy model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8" name="Shape 48"/>
          <p:cNvSpPr/>
          <p:nvPr/>
        </p:nvSpPr>
        <p:spPr>
          <a:xfrm>
            <a:off x="6397560" y="4667400"/>
            <a:ext cx="5252760" cy="120456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9" name="Shape 49"/>
          <p:cNvSpPr/>
          <p:nvPr/>
        </p:nvSpPr>
        <p:spPr>
          <a:xfrm>
            <a:off x="6564240" y="4834080"/>
            <a:ext cx="268200" cy="26820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0" name="Text 50"/>
          <p:cNvSpPr/>
          <p:nvPr/>
        </p:nvSpPr>
        <p:spPr>
          <a:xfrm>
            <a:off x="6508800" y="4809960"/>
            <a:ext cx="2840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3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1" name="Text 51"/>
          <p:cNvSpPr/>
          <p:nvPr/>
        </p:nvSpPr>
        <p:spPr>
          <a:xfrm>
            <a:off x="6953400" y="4857840"/>
            <a:ext cx="83952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2030-2032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62" name="Text 52"/>
          <p:cNvSpPr/>
          <p:nvPr/>
        </p:nvSpPr>
        <p:spPr>
          <a:xfrm>
            <a:off x="6540480" y="5191200"/>
            <a:ext cx="50306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Infrastructure Embedding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3" name="Text 53"/>
          <p:cNvSpPr/>
          <p:nvPr/>
        </p:nvSpPr>
        <p:spPr>
          <a:xfrm>
            <a:off x="6540480" y="5413320"/>
            <a:ext cx="50227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operational infrastructure for custody, lending, trading services. Switching costs make removal prohibitively expensive.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64" name="Shape 54"/>
          <p:cNvSpPr/>
          <p:nvPr/>
        </p:nvSpPr>
        <p:spPr>
          <a:xfrm>
            <a:off x="6199200" y="6246720"/>
            <a:ext cx="5649840" cy="2458800"/>
          </a:xfrm>
          <a:custGeom>
            <a:avLst/>
            <a:gdLst/>
            <a:ahLst/>
            <a:rect l="l" t="t" r="r" b="b"/>
            <a:pathLst>
              <a:path w="5651500" h="2460625">
                <a:moveTo>
                  <a:pt x="0" y="0"/>
                </a:moveTo>
                <a:lnTo>
                  <a:pt x="5651500" y="0"/>
                </a:lnTo>
                <a:lnTo>
                  <a:pt x="5651500" y="2460625"/>
                </a:lnTo>
                <a:lnTo>
                  <a:pt x="0" y="246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5" name="Text 55"/>
          <p:cNvSpPr/>
          <p:nvPr/>
        </p:nvSpPr>
        <p:spPr>
          <a:xfrm>
            <a:off x="6381720" y="642924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MAJOR BANKS ENTERING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66" name="Shape 56"/>
          <p:cNvSpPr/>
          <p:nvPr/>
        </p:nvSpPr>
        <p:spPr>
          <a:xfrm>
            <a:off x="6397560" y="6826320"/>
            <a:ext cx="5252760" cy="34740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Shape 57"/>
          <p:cNvSpPr/>
          <p:nvPr/>
        </p:nvSpPr>
        <p:spPr>
          <a:xfrm>
            <a:off x="6477120" y="6969240"/>
            <a:ext cx="61560" cy="6156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8" name="Text 58"/>
          <p:cNvSpPr/>
          <p:nvPr/>
        </p:nvSpPr>
        <p:spPr>
          <a:xfrm>
            <a:off x="6635880" y="6905520"/>
            <a:ext cx="6728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JPMorgan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9" name="Text 59"/>
          <p:cNvSpPr/>
          <p:nvPr/>
        </p:nvSpPr>
        <p:spPr>
          <a:xfrm>
            <a:off x="7345080" y="6921360"/>
            <a:ext cx="14191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Accepting BTC as collateral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0" name="Shape 60"/>
          <p:cNvSpPr/>
          <p:nvPr/>
        </p:nvSpPr>
        <p:spPr>
          <a:xfrm>
            <a:off x="6397560" y="7270920"/>
            <a:ext cx="5252760" cy="34740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1" name="Shape 61"/>
          <p:cNvSpPr/>
          <p:nvPr/>
        </p:nvSpPr>
        <p:spPr>
          <a:xfrm>
            <a:off x="6477120" y="7413480"/>
            <a:ext cx="61560" cy="6156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Text 62"/>
          <p:cNvSpPr/>
          <p:nvPr/>
        </p:nvSpPr>
        <p:spPr>
          <a:xfrm>
            <a:off x="6635880" y="7350120"/>
            <a:ext cx="10220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Goldman Sachs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3" name="Text 63"/>
          <p:cNvSpPr/>
          <p:nvPr/>
        </p:nvSpPr>
        <p:spPr>
          <a:xfrm>
            <a:off x="7690680" y="7365960"/>
            <a:ext cx="13395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 trading desk active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4" name="Shape 64"/>
          <p:cNvSpPr/>
          <p:nvPr/>
        </p:nvSpPr>
        <p:spPr>
          <a:xfrm>
            <a:off x="6397560" y="7715160"/>
            <a:ext cx="5252760" cy="34740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5" name="Shape 65"/>
          <p:cNvSpPr/>
          <p:nvPr/>
        </p:nvSpPr>
        <p:spPr>
          <a:xfrm>
            <a:off x="6477120" y="7858080"/>
            <a:ext cx="61560" cy="6156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6" name="Text 66"/>
          <p:cNvSpPr/>
          <p:nvPr/>
        </p:nvSpPr>
        <p:spPr>
          <a:xfrm>
            <a:off x="6635880" y="7794720"/>
            <a:ext cx="1006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Morgan Stanley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7" name="Text 67"/>
          <p:cNvSpPr/>
          <p:nvPr/>
        </p:nvSpPr>
        <p:spPr>
          <a:xfrm>
            <a:off x="7676640" y="7810560"/>
            <a:ext cx="14745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Offering BTC funds to clients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8" name="Shape 68"/>
          <p:cNvSpPr/>
          <p:nvPr/>
        </p:nvSpPr>
        <p:spPr>
          <a:xfrm>
            <a:off x="6397560" y="8159760"/>
            <a:ext cx="5252760" cy="34740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9" name="Shape 69"/>
          <p:cNvSpPr/>
          <p:nvPr/>
        </p:nvSpPr>
        <p:spPr>
          <a:xfrm>
            <a:off x="6477120" y="8302680"/>
            <a:ext cx="61560" cy="6156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0" name="Text 70"/>
          <p:cNvSpPr/>
          <p:nvPr/>
        </p:nvSpPr>
        <p:spPr>
          <a:xfrm>
            <a:off x="6635880" y="8238960"/>
            <a:ext cx="3394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SoFi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81" name="Text 71"/>
          <p:cNvSpPr/>
          <p:nvPr/>
        </p:nvSpPr>
        <p:spPr>
          <a:xfrm>
            <a:off x="7006320" y="8255160"/>
            <a:ext cx="19587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US bank with direct crypto trading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3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4" name="Shape 1"/>
          <p:cNvSpPr/>
          <p:nvPr/>
        </p:nvSpPr>
        <p:spPr>
          <a:xfrm>
            <a:off x="409680" y="781200"/>
            <a:ext cx="8475480" cy="396072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85" name="Shape 2"/>
          <p:cNvSpPr/>
          <p:nvPr/>
        </p:nvSpPr>
        <p:spPr>
          <a:xfrm>
            <a:off x="923760" y="1295280"/>
            <a:ext cx="855360" cy="85536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6" name="Text 3"/>
          <p:cNvSpPr/>
          <p:nvPr/>
        </p:nvSpPr>
        <p:spPr>
          <a:xfrm>
            <a:off x="781200" y="1266840"/>
            <a:ext cx="102708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87" name="Shape 4"/>
          <p:cNvSpPr/>
          <p:nvPr/>
        </p:nvSpPr>
        <p:spPr>
          <a:xfrm>
            <a:off x="2038320" y="1266840"/>
            <a:ext cx="74520" cy="91260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8" name="Text 5"/>
          <p:cNvSpPr/>
          <p:nvPr/>
        </p:nvSpPr>
        <p:spPr>
          <a:xfrm>
            <a:off x="895320" y="2486160"/>
            <a:ext cx="7846920" cy="85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89" name="Shape 6"/>
          <p:cNvSpPr/>
          <p:nvPr/>
        </p:nvSpPr>
        <p:spPr>
          <a:xfrm>
            <a:off x="895320" y="3571920"/>
            <a:ext cx="1827000" cy="7452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0" name="Text 7"/>
          <p:cNvSpPr/>
          <p:nvPr/>
        </p:nvSpPr>
        <p:spPr>
          <a:xfrm>
            <a:off x="895320" y="3876840"/>
            <a:ext cx="767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Backbone of Security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91" name="Shape 8"/>
          <p:cNvSpPr/>
          <p:nvPr/>
        </p:nvSpPr>
        <p:spPr>
          <a:xfrm>
            <a:off x="409680" y="5257800"/>
            <a:ext cx="11370960" cy="81720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2" name="Text 9"/>
          <p:cNvSpPr/>
          <p:nvPr/>
        </p:nvSpPr>
        <p:spPr>
          <a:xfrm>
            <a:off x="666720" y="5514840"/>
            <a:ext cx="10971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Profitability &amp; Industry Consolidation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Shape 0"/>
          <p:cNvSpPr/>
          <p:nvPr/>
        </p:nvSpPr>
        <p:spPr>
          <a:xfrm>
            <a:off x="341280" y="341280"/>
            <a:ext cx="11507400" cy="83952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4" name="Text 1"/>
          <p:cNvSpPr/>
          <p:nvPr/>
        </p:nvSpPr>
        <p:spPr>
          <a:xfrm>
            <a:off x="523800" y="523800"/>
            <a:ext cx="112852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INDUSTRY: POST-HALVING ECONOMICS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95" name="Shape 2"/>
          <p:cNvSpPr/>
          <p:nvPr/>
        </p:nvSpPr>
        <p:spPr>
          <a:xfrm>
            <a:off x="523800" y="936720"/>
            <a:ext cx="760320" cy="6156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6" name="Shape 3"/>
          <p:cNvSpPr/>
          <p:nvPr/>
        </p:nvSpPr>
        <p:spPr>
          <a:xfrm>
            <a:off x="341280" y="1357200"/>
            <a:ext cx="5649840" cy="3411360"/>
          </a:xfrm>
          <a:custGeom>
            <a:avLst/>
            <a:gdLst/>
            <a:ahLst/>
            <a:rect l="l" t="t" r="r" b="b"/>
            <a:pathLst>
              <a:path w="5651500" h="3413125">
                <a:moveTo>
                  <a:pt x="0" y="0"/>
                </a:moveTo>
                <a:lnTo>
                  <a:pt x="5651500" y="0"/>
                </a:lnTo>
                <a:lnTo>
                  <a:pt x="5651500" y="3413125"/>
                </a:lnTo>
                <a:lnTo>
                  <a:pt x="0" y="341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97" name="Text 4"/>
          <p:cNvSpPr/>
          <p:nvPr/>
        </p:nvSpPr>
        <p:spPr>
          <a:xfrm>
            <a:off x="523800" y="153972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REVENUE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98" name="Shape 5"/>
          <p:cNvSpPr/>
          <p:nvPr/>
        </p:nvSpPr>
        <p:spPr>
          <a:xfrm>
            <a:off x="539640" y="1936800"/>
            <a:ext cx="5252760" cy="79200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9" name="Text 6"/>
          <p:cNvSpPr/>
          <p:nvPr/>
        </p:nvSpPr>
        <p:spPr>
          <a:xfrm>
            <a:off x="682560" y="2111400"/>
            <a:ext cx="105372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Subsidy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0" name="Text 7"/>
          <p:cNvSpPr/>
          <p:nvPr/>
        </p:nvSpPr>
        <p:spPr>
          <a:xfrm>
            <a:off x="4500000" y="2079720"/>
            <a:ext cx="126828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3.125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1" name="Text 8"/>
          <p:cNvSpPr/>
          <p:nvPr/>
        </p:nvSpPr>
        <p:spPr>
          <a:xfrm>
            <a:off x="682560" y="2428920"/>
            <a:ext cx="50227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6.25 BTC pre-2024 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2" name="Shape 9"/>
          <p:cNvSpPr/>
          <p:nvPr/>
        </p:nvSpPr>
        <p:spPr>
          <a:xfrm>
            <a:off x="539640" y="2857680"/>
            <a:ext cx="5252760" cy="79200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3" name="Text 10"/>
          <p:cNvSpPr/>
          <p:nvPr/>
        </p:nvSpPr>
        <p:spPr>
          <a:xfrm>
            <a:off x="682560" y="3032280"/>
            <a:ext cx="124452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4" name="Text 11"/>
          <p:cNvSpPr/>
          <p:nvPr/>
        </p:nvSpPr>
        <p:spPr>
          <a:xfrm>
            <a:off x="4626000" y="3000240"/>
            <a:ext cx="114120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~0.5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5" name="Text 12"/>
          <p:cNvSpPr/>
          <p:nvPr/>
        </p:nvSpPr>
        <p:spPr>
          <a:xfrm>
            <a:off x="682560" y="3349800"/>
            <a:ext cx="50227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Variable based on network congestion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6" name="Shape 13"/>
          <p:cNvSpPr/>
          <p:nvPr/>
        </p:nvSpPr>
        <p:spPr>
          <a:xfrm>
            <a:off x="539640" y="3778200"/>
            <a:ext cx="5252760" cy="79200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7" name="Text 14"/>
          <p:cNvSpPr/>
          <p:nvPr/>
        </p:nvSpPr>
        <p:spPr>
          <a:xfrm>
            <a:off x="682560" y="3952800"/>
            <a:ext cx="164916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Daily Network Revenue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8" name="Text 15"/>
          <p:cNvSpPr/>
          <p:nvPr/>
        </p:nvSpPr>
        <p:spPr>
          <a:xfrm>
            <a:off x="4559400" y="3921120"/>
            <a:ext cx="121248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9" name="Text 16"/>
          <p:cNvSpPr/>
          <p:nvPr/>
        </p:nvSpPr>
        <p:spPr>
          <a:xfrm>
            <a:off x="682560" y="4270320"/>
            <a:ext cx="50227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 (~$33M/day)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10" name="Shape 17"/>
          <p:cNvSpPr/>
          <p:nvPr/>
        </p:nvSpPr>
        <p:spPr>
          <a:xfrm>
            <a:off x="341280" y="4944960"/>
            <a:ext cx="5649840" cy="4236840"/>
          </a:xfrm>
          <a:custGeom>
            <a:avLst/>
            <a:gdLst/>
            <a:ahLst/>
            <a:rect l="l" t="t" r="r" b="b"/>
            <a:pathLst>
              <a:path w="5651500" h="4238625">
                <a:moveTo>
                  <a:pt x="0" y="0"/>
                </a:moveTo>
                <a:lnTo>
                  <a:pt x="5651500" y="0"/>
                </a:lnTo>
                <a:lnTo>
                  <a:pt x="5651500" y="4238625"/>
                </a:lnTo>
                <a:lnTo>
                  <a:pt x="0" y="4238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1" name="Text 18"/>
          <p:cNvSpPr/>
          <p:nvPr/>
        </p:nvSpPr>
        <p:spPr>
          <a:xfrm>
            <a:off x="523800" y="512748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COST STRUCTURE BREAKDOWN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12" name="Shape 19"/>
          <p:cNvSpPr/>
          <p:nvPr/>
        </p:nvSpPr>
        <p:spPr>
          <a:xfrm>
            <a:off x="539640" y="552456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3" name="Text 20"/>
          <p:cNvSpPr/>
          <p:nvPr/>
        </p:nvSpPr>
        <p:spPr>
          <a:xfrm>
            <a:off x="650880" y="5651640"/>
            <a:ext cx="6649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Electricity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4" name="Text 21"/>
          <p:cNvSpPr/>
          <p:nvPr/>
        </p:nvSpPr>
        <p:spPr>
          <a:xfrm>
            <a:off x="5136120" y="5635800"/>
            <a:ext cx="62532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60-80%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15" name="Shape 22"/>
          <p:cNvSpPr/>
          <p:nvPr/>
        </p:nvSpPr>
        <p:spPr>
          <a:xfrm>
            <a:off x="666720" y="5905440"/>
            <a:ext cx="4998960" cy="9360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6" name="Shape 23"/>
          <p:cNvSpPr/>
          <p:nvPr/>
        </p:nvSpPr>
        <p:spPr>
          <a:xfrm>
            <a:off x="682560" y="5921280"/>
            <a:ext cx="3474720" cy="61560"/>
          </a:xfrm>
          <a:custGeom>
            <a:avLst/>
            <a:gdLst/>
            <a:ahLst/>
            <a:rect l="l" t="t" r="r" b="b"/>
            <a:pathLst>
              <a:path w="3476625" h="63500">
                <a:moveTo>
                  <a:pt x="0" y="0"/>
                </a:moveTo>
                <a:lnTo>
                  <a:pt x="3476625" y="0"/>
                </a:lnTo>
                <a:lnTo>
                  <a:pt x="34766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7" name="Shape 24"/>
          <p:cNvSpPr/>
          <p:nvPr/>
        </p:nvSpPr>
        <p:spPr>
          <a:xfrm>
            <a:off x="539640" y="625464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8" name="Text 25"/>
          <p:cNvSpPr/>
          <p:nvPr/>
        </p:nvSpPr>
        <p:spPr>
          <a:xfrm>
            <a:off x="650880" y="6381720"/>
            <a:ext cx="14428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Hardware Depreciation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9" name="Text 26"/>
          <p:cNvSpPr/>
          <p:nvPr/>
        </p:nvSpPr>
        <p:spPr>
          <a:xfrm>
            <a:off x="5136120" y="6365880"/>
            <a:ext cx="62532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10-20%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0" name="Shape 27"/>
          <p:cNvSpPr/>
          <p:nvPr/>
        </p:nvSpPr>
        <p:spPr>
          <a:xfrm>
            <a:off x="666720" y="6635880"/>
            <a:ext cx="4998960" cy="9360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1" name="Shape 28"/>
          <p:cNvSpPr/>
          <p:nvPr/>
        </p:nvSpPr>
        <p:spPr>
          <a:xfrm>
            <a:off x="682560" y="6651720"/>
            <a:ext cx="744480" cy="61560"/>
          </a:xfrm>
          <a:custGeom>
            <a:avLst/>
            <a:gdLst/>
            <a:ahLst/>
            <a:rect l="l" t="t" r="r" b="b"/>
            <a:pathLst>
              <a:path w="746125" h="63500">
                <a:moveTo>
                  <a:pt x="0" y="0"/>
                </a:moveTo>
                <a:lnTo>
                  <a:pt x="746125" y="0"/>
                </a:lnTo>
                <a:lnTo>
                  <a:pt x="746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2" name="Shape 29"/>
          <p:cNvSpPr/>
          <p:nvPr/>
        </p:nvSpPr>
        <p:spPr>
          <a:xfrm>
            <a:off x="539640" y="698508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3" name="Text 30"/>
          <p:cNvSpPr/>
          <p:nvPr/>
        </p:nvSpPr>
        <p:spPr>
          <a:xfrm>
            <a:off x="650880" y="7112160"/>
            <a:ext cx="12366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Facilities &amp; Cooling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4" name="Text 31"/>
          <p:cNvSpPr/>
          <p:nvPr/>
        </p:nvSpPr>
        <p:spPr>
          <a:xfrm>
            <a:off x="5224320" y="7095960"/>
            <a:ext cx="5378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5-10%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5" name="Shape 32"/>
          <p:cNvSpPr/>
          <p:nvPr/>
        </p:nvSpPr>
        <p:spPr>
          <a:xfrm>
            <a:off x="666720" y="7365960"/>
            <a:ext cx="4998960" cy="9360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6" name="Shape 33"/>
          <p:cNvSpPr/>
          <p:nvPr/>
        </p:nvSpPr>
        <p:spPr>
          <a:xfrm>
            <a:off x="682560" y="7381800"/>
            <a:ext cx="394920" cy="61560"/>
          </a:xfrm>
          <a:custGeom>
            <a:avLst/>
            <a:gdLst/>
            <a:ahLst/>
            <a:rect l="l" t="t" r="r" b="b"/>
            <a:pathLst>
              <a:path w="396875" h="63500">
                <a:moveTo>
                  <a:pt x="0" y="0"/>
                </a:moveTo>
                <a:lnTo>
                  <a:pt x="396875" y="0"/>
                </a:lnTo>
                <a:lnTo>
                  <a:pt x="39687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7" name="Shape 34"/>
          <p:cNvSpPr/>
          <p:nvPr/>
        </p:nvSpPr>
        <p:spPr>
          <a:xfrm>
            <a:off x="539640" y="771516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8" name="Text 35"/>
          <p:cNvSpPr/>
          <p:nvPr/>
        </p:nvSpPr>
        <p:spPr>
          <a:xfrm>
            <a:off x="650880" y="7842240"/>
            <a:ext cx="14270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Personnel &amp; Overhead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9" name="Text 36"/>
          <p:cNvSpPr/>
          <p:nvPr/>
        </p:nvSpPr>
        <p:spPr>
          <a:xfrm>
            <a:off x="5312520" y="7826400"/>
            <a:ext cx="45072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3-5%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30" name="Shape 37"/>
          <p:cNvSpPr/>
          <p:nvPr/>
        </p:nvSpPr>
        <p:spPr>
          <a:xfrm>
            <a:off x="666720" y="8096400"/>
            <a:ext cx="4998960" cy="9360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1" name="Shape 38"/>
          <p:cNvSpPr/>
          <p:nvPr/>
        </p:nvSpPr>
        <p:spPr>
          <a:xfrm>
            <a:off x="682560" y="8112240"/>
            <a:ext cx="196560" cy="61560"/>
          </a:xfrm>
          <a:custGeom>
            <a:avLst/>
            <a:gdLst/>
            <a:ahLst/>
            <a:rect l="l" t="t" r="r" b="b"/>
            <a:pathLst>
              <a:path w="198438" h="63500">
                <a:moveTo>
                  <a:pt x="0" y="0"/>
                </a:moveTo>
                <a:lnTo>
                  <a:pt x="198438" y="0"/>
                </a:lnTo>
                <a:lnTo>
                  <a:pt x="198438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32" name="Shape 39"/>
          <p:cNvSpPr/>
          <p:nvPr/>
        </p:nvSpPr>
        <p:spPr>
          <a:xfrm>
            <a:off x="6199200" y="1357200"/>
            <a:ext cx="5649840" cy="3728880"/>
          </a:xfrm>
          <a:custGeom>
            <a:avLst/>
            <a:gdLst/>
            <a:ahLst/>
            <a:rect l="l" t="t" r="r" b="b"/>
            <a:pathLst>
              <a:path w="5651500" h="3730625">
                <a:moveTo>
                  <a:pt x="0" y="0"/>
                </a:moveTo>
                <a:lnTo>
                  <a:pt x="5651500" y="0"/>
                </a:lnTo>
                <a:lnTo>
                  <a:pt x="5651500" y="3730625"/>
                </a:lnTo>
                <a:lnTo>
                  <a:pt x="0" y="373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33" name="Text 40"/>
          <p:cNvSpPr/>
          <p:nvPr/>
        </p:nvSpPr>
        <p:spPr>
          <a:xfrm>
            <a:off x="6381720" y="153972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HASH RATE CONCENTRATION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34" name="Shape 41"/>
          <p:cNvSpPr/>
          <p:nvPr/>
        </p:nvSpPr>
        <p:spPr>
          <a:xfrm>
            <a:off x="6397560" y="1936800"/>
            <a:ext cx="5252760" cy="982440"/>
          </a:xfrm>
          <a:custGeom>
            <a:avLst/>
            <a:gdLst/>
            <a:ahLst/>
            <a:rect l="l" t="t" r="r" b="b"/>
            <a:pathLst>
              <a:path w="5254625" h="984250">
                <a:moveTo>
                  <a:pt x="0" y="0"/>
                </a:moveTo>
                <a:lnTo>
                  <a:pt x="5254625" y="0"/>
                </a:lnTo>
                <a:lnTo>
                  <a:pt x="5254625" y="984250"/>
                </a:lnTo>
                <a:lnTo>
                  <a:pt x="0" y="984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5" name="Text 42"/>
          <p:cNvSpPr/>
          <p:nvPr/>
        </p:nvSpPr>
        <p:spPr>
          <a:xfrm>
            <a:off x="6508800" y="204804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Top 5 Mining Pools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36" name="Text 43"/>
          <p:cNvSpPr/>
          <p:nvPr/>
        </p:nvSpPr>
        <p:spPr>
          <a:xfrm>
            <a:off x="6508800" y="2301840"/>
            <a:ext cx="73656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~55%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7" name="Text 44"/>
          <p:cNvSpPr/>
          <p:nvPr/>
        </p:nvSpPr>
        <p:spPr>
          <a:xfrm>
            <a:off x="7188120" y="2365200"/>
            <a:ext cx="12682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total network hashrate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38" name="Shape 45"/>
          <p:cNvSpPr/>
          <p:nvPr/>
        </p:nvSpPr>
        <p:spPr>
          <a:xfrm>
            <a:off x="6524640" y="2666880"/>
            <a:ext cx="4998960" cy="12528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9" name="Shape 46"/>
          <p:cNvSpPr/>
          <p:nvPr/>
        </p:nvSpPr>
        <p:spPr>
          <a:xfrm>
            <a:off x="6540480" y="2682720"/>
            <a:ext cx="2728800" cy="93600"/>
          </a:xfrm>
          <a:custGeom>
            <a:avLst/>
            <a:gdLst/>
            <a:ahLst/>
            <a:rect l="l" t="t" r="r" b="b"/>
            <a:pathLst>
              <a:path w="2730500" h="95250">
                <a:moveTo>
                  <a:pt x="0" y="0"/>
                </a:moveTo>
                <a:lnTo>
                  <a:pt x="2730500" y="0"/>
                </a:lnTo>
                <a:lnTo>
                  <a:pt x="273050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40" name="Shape 47"/>
          <p:cNvSpPr/>
          <p:nvPr/>
        </p:nvSpPr>
        <p:spPr>
          <a:xfrm>
            <a:off x="6397560" y="3048120"/>
            <a:ext cx="5252760" cy="85536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1" name="Text 48"/>
          <p:cNvSpPr/>
          <p:nvPr/>
        </p:nvSpPr>
        <p:spPr>
          <a:xfrm>
            <a:off x="6508800" y="315900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Foundry USA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2" name="Text 49"/>
          <p:cNvSpPr/>
          <p:nvPr/>
        </p:nvSpPr>
        <p:spPr>
          <a:xfrm>
            <a:off x="6508800" y="3381480"/>
            <a:ext cx="51256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~35%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3" name="Text 50"/>
          <p:cNvSpPr/>
          <p:nvPr/>
        </p:nvSpPr>
        <p:spPr>
          <a:xfrm>
            <a:off x="6508800" y="363528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Largest mining pool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4" name="Shape 51"/>
          <p:cNvSpPr/>
          <p:nvPr/>
        </p:nvSpPr>
        <p:spPr>
          <a:xfrm>
            <a:off x="6397560" y="4032360"/>
            <a:ext cx="5252760" cy="85536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5" name="Text 52"/>
          <p:cNvSpPr/>
          <p:nvPr/>
        </p:nvSpPr>
        <p:spPr>
          <a:xfrm>
            <a:off x="6508800" y="414324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Publicly Traded Miners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6" name="Text 53"/>
          <p:cNvSpPr/>
          <p:nvPr/>
        </p:nvSpPr>
        <p:spPr>
          <a:xfrm>
            <a:off x="6508800" y="4365720"/>
            <a:ext cx="51256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~25%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7" name="Text 54"/>
          <p:cNvSpPr/>
          <p:nvPr/>
        </p:nvSpPr>
        <p:spPr>
          <a:xfrm>
            <a:off x="6508800" y="461952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Marathon, Riot, CleanSpark, etc.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8" name="Shape 55"/>
          <p:cNvSpPr/>
          <p:nvPr/>
        </p:nvSpPr>
        <p:spPr>
          <a:xfrm>
            <a:off x="6199200" y="5262480"/>
            <a:ext cx="5649840" cy="3919320"/>
          </a:xfrm>
          <a:custGeom>
            <a:avLst/>
            <a:gdLst/>
            <a:ahLst/>
            <a:rect l="l" t="t" r="r" b="b"/>
            <a:pathLst>
              <a:path w="5651500" h="3921125">
                <a:moveTo>
                  <a:pt x="0" y="0"/>
                </a:moveTo>
                <a:lnTo>
                  <a:pt x="5651500" y="0"/>
                </a:lnTo>
                <a:lnTo>
                  <a:pt x="5651500" y="3921125"/>
                </a:lnTo>
                <a:lnTo>
                  <a:pt x="0" y="3921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49" name="Text 56"/>
          <p:cNvSpPr/>
          <p:nvPr/>
        </p:nvSpPr>
        <p:spPr>
          <a:xfrm>
            <a:off x="6381720" y="544500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REALITY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0" name="Shape 57"/>
          <p:cNvSpPr/>
          <p:nvPr/>
        </p:nvSpPr>
        <p:spPr>
          <a:xfrm>
            <a:off x="6397560" y="5842080"/>
            <a:ext cx="5252760" cy="85536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1" name="Text 58"/>
          <p:cNvSpPr/>
          <p:nvPr/>
        </p:nvSpPr>
        <p:spPr>
          <a:xfrm>
            <a:off x="6508800" y="595296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Breakeven Electricity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2" name="Text 59"/>
          <p:cNvSpPr/>
          <p:nvPr/>
        </p:nvSpPr>
        <p:spPr>
          <a:xfrm>
            <a:off x="6508800" y="6175440"/>
            <a:ext cx="51256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$0.05-0.08/kWh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3" name="Text 60"/>
          <p:cNvSpPr/>
          <p:nvPr/>
        </p:nvSpPr>
        <p:spPr>
          <a:xfrm>
            <a:off x="6508800" y="642924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efficient ASIC miners at $75K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54" name="Shape 61"/>
          <p:cNvSpPr/>
          <p:nvPr/>
        </p:nvSpPr>
        <p:spPr>
          <a:xfrm>
            <a:off x="6397560" y="6826320"/>
            <a:ext cx="5252760" cy="63324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5" name="Text 62"/>
          <p:cNvSpPr/>
          <p:nvPr/>
        </p:nvSpPr>
        <p:spPr>
          <a:xfrm>
            <a:off x="6508800" y="693720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Industry Consolidation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6" name="Text 63"/>
          <p:cNvSpPr/>
          <p:nvPr/>
        </p:nvSpPr>
        <p:spPr>
          <a:xfrm>
            <a:off x="6508800" y="715968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Small miners shut down, large operations with cheap electricity dominate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7" name="Shape 64"/>
          <p:cNvSpPr/>
          <p:nvPr/>
        </p:nvSpPr>
        <p:spPr>
          <a:xfrm>
            <a:off x="6397560" y="7588080"/>
            <a:ext cx="5252760" cy="63324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Text 65"/>
          <p:cNvSpPr/>
          <p:nvPr/>
        </p:nvSpPr>
        <p:spPr>
          <a:xfrm>
            <a:off x="6508800" y="769932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Shift to Fee Revenue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9" name="Text 66"/>
          <p:cNvSpPr/>
          <p:nvPr/>
        </p:nvSpPr>
        <p:spPr>
          <a:xfrm>
            <a:off x="6508800" y="792180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Miners increasingly dependent on transaction fees as subsidy declines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0" name="Shape 67"/>
          <p:cNvSpPr/>
          <p:nvPr/>
        </p:nvSpPr>
        <p:spPr>
          <a:xfrm>
            <a:off x="6397560" y="8350200"/>
            <a:ext cx="5252760" cy="63324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Text 68"/>
          <p:cNvSpPr/>
          <p:nvPr/>
        </p:nvSpPr>
        <p:spPr>
          <a:xfrm>
            <a:off x="6508800" y="846144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Renewable Energy Trend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2" name="Text 69"/>
          <p:cNvSpPr/>
          <p:nvPr/>
        </p:nvSpPr>
        <p:spPr>
          <a:xfrm>
            <a:off x="6508800" y="868356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~55% of mining uses renewable energy (hydro, wind, solar)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4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5" name="Shape 1"/>
          <p:cNvSpPr/>
          <p:nvPr/>
        </p:nvSpPr>
        <p:spPr>
          <a:xfrm>
            <a:off x="3305160" y="352440"/>
            <a:ext cx="8475480" cy="481788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6" name="Shape 2"/>
          <p:cNvSpPr/>
          <p:nvPr/>
        </p:nvSpPr>
        <p:spPr>
          <a:xfrm>
            <a:off x="10077480" y="838080"/>
            <a:ext cx="74520" cy="91260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7" name="Shape 3"/>
          <p:cNvSpPr/>
          <p:nvPr/>
        </p:nvSpPr>
        <p:spPr>
          <a:xfrm>
            <a:off x="10410840" y="866880"/>
            <a:ext cx="855360" cy="85536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8" name="Text 4"/>
          <p:cNvSpPr/>
          <p:nvPr/>
        </p:nvSpPr>
        <p:spPr>
          <a:xfrm>
            <a:off x="10267920" y="838080"/>
            <a:ext cx="102708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669" name="Text 5"/>
          <p:cNvSpPr/>
          <p:nvPr/>
        </p:nvSpPr>
        <p:spPr>
          <a:xfrm>
            <a:off x="3448080" y="2057400"/>
            <a:ext cx="7846920" cy="17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670" name="Shape 6"/>
          <p:cNvSpPr/>
          <p:nvPr/>
        </p:nvSpPr>
        <p:spPr>
          <a:xfrm>
            <a:off x="9468000" y="4000680"/>
            <a:ext cx="1827000" cy="7452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1" name="Text 7"/>
          <p:cNvSpPr/>
          <p:nvPr/>
        </p:nvSpPr>
        <p:spPr>
          <a:xfrm>
            <a:off x="3619440" y="4305240"/>
            <a:ext cx="767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Store of Value Debate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672" name="Shape 8"/>
          <p:cNvSpPr/>
          <p:nvPr/>
        </p:nvSpPr>
        <p:spPr>
          <a:xfrm>
            <a:off x="4779000" y="5686560"/>
            <a:ext cx="6999120" cy="817200"/>
          </a:xfrm>
          <a:custGeom>
            <a:avLst/>
            <a:gdLst/>
            <a:ahLst/>
            <a:rect l="l" t="t" r="r" b="b"/>
            <a:pathLst>
              <a:path w="7000875" h="819150">
                <a:moveTo>
                  <a:pt x="0" y="0"/>
                </a:moveTo>
                <a:lnTo>
                  <a:pt x="7000875" y="0"/>
                </a:lnTo>
                <a:lnTo>
                  <a:pt x="70008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3" name="Text 9"/>
          <p:cNvSpPr/>
          <p:nvPr/>
        </p:nvSpPr>
        <p:spPr>
          <a:xfrm>
            <a:off x="5036400" y="5943600"/>
            <a:ext cx="6599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Can Bitcoin Replace Gold as the Ultimate Store of Value?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0"/>
          <p:cNvSpPr/>
          <p:nvPr/>
        </p:nvSpPr>
        <p:spPr>
          <a:xfrm>
            <a:off x="341280" y="341280"/>
            <a:ext cx="11507400" cy="83952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5" name="Text 1"/>
          <p:cNvSpPr/>
          <p:nvPr/>
        </p:nvSpPr>
        <p:spPr>
          <a:xfrm>
            <a:off x="523800" y="523800"/>
            <a:ext cx="112852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VS GOLD: THE NEW STORE OF VALUE?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76" name="Shape 2"/>
          <p:cNvSpPr/>
          <p:nvPr/>
        </p:nvSpPr>
        <p:spPr>
          <a:xfrm>
            <a:off x="523800" y="936720"/>
            <a:ext cx="760320" cy="6156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7" name="Shape 3"/>
          <p:cNvSpPr/>
          <p:nvPr/>
        </p:nvSpPr>
        <p:spPr>
          <a:xfrm>
            <a:off x="341280" y="1357200"/>
            <a:ext cx="5649840" cy="430020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78" name="Text 4"/>
          <p:cNvSpPr/>
          <p:nvPr/>
        </p:nvSpPr>
        <p:spPr>
          <a:xfrm>
            <a:off x="523800" y="153972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79" name="Shape 5"/>
          <p:cNvSpPr/>
          <p:nvPr/>
        </p:nvSpPr>
        <p:spPr>
          <a:xfrm>
            <a:off x="539640" y="193680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0" name="Shape 6"/>
          <p:cNvSpPr/>
          <p:nvPr/>
        </p:nvSpPr>
        <p:spPr>
          <a:xfrm>
            <a:off x="650880" y="2111400"/>
            <a:ext cx="93600" cy="9360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1" name="Text 7"/>
          <p:cNvSpPr/>
          <p:nvPr/>
        </p:nvSpPr>
        <p:spPr>
          <a:xfrm>
            <a:off x="841320" y="2048040"/>
            <a:ext cx="32209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Portability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2" name="Text 8"/>
          <p:cNvSpPr/>
          <p:nvPr/>
        </p:nvSpPr>
        <p:spPr>
          <a:xfrm>
            <a:off x="841320" y="2270160"/>
            <a:ext cx="321300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Transfer $1B across borders in minutes vs. tons of physical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3" name="Shape 9"/>
          <p:cNvSpPr/>
          <p:nvPr/>
        </p:nvSpPr>
        <p:spPr>
          <a:xfrm>
            <a:off x="539640" y="266688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4" name="Shape 10"/>
          <p:cNvSpPr/>
          <p:nvPr/>
        </p:nvSpPr>
        <p:spPr>
          <a:xfrm>
            <a:off x="650880" y="2841480"/>
            <a:ext cx="93600" cy="9360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5" name="Text 11"/>
          <p:cNvSpPr/>
          <p:nvPr/>
        </p:nvSpPr>
        <p:spPr>
          <a:xfrm>
            <a:off x="841320" y="2778120"/>
            <a:ext cx="345096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Divisibility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6" name="Text 12"/>
          <p:cNvSpPr/>
          <p:nvPr/>
        </p:nvSpPr>
        <p:spPr>
          <a:xfrm>
            <a:off x="841320" y="3000240"/>
            <a:ext cx="34430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Divisible to 8 decimal places (0.00000001 BTC) vs. gold bars/ounces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7" name="Shape 13"/>
          <p:cNvSpPr/>
          <p:nvPr/>
        </p:nvSpPr>
        <p:spPr>
          <a:xfrm>
            <a:off x="539640" y="339732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8" name="Shape 14"/>
          <p:cNvSpPr/>
          <p:nvPr/>
        </p:nvSpPr>
        <p:spPr>
          <a:xfrm>
            <a:off x="650880" y="3571920"/>
            <a:ext cx="93600" cy="9360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9" name="Text 15"/>
          <p:cNvSpPr/>
          <p:nvPr/>
        </p:nvSpPr>
        <p:spPr>
          <a:xfrm>
            <a:off x="841320" y="3508200"/>
            <a:ext cx="2808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Verifiability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0" name="Text 16"/>
          <p:cNvSpPr/>
          <p:nvPr/>
        </p:nvSpPr>
        <p:spPr>
          <a:xfrm>
            <a:off x="841320" y="3730680"/>
            <a:ext cx="2800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Cryptographic proof vs. expensive purity testing for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1" name="Shape 17"/>
          <p:cNvSpPr/>
          <p:nvPr/>
        </p:nvSpPr>
        <p:spPr>
          <a:xfrm>
            <a:off x="539640" y="412740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2" name="Shape 18"/>
          <p:cNvSpPr/>
          <p:nvPr/>
        </p:nvSpPr>
        <p:spPr>
          <a:xfrm>
            <a:off x="650880" y="4302000"/>
            <a:ext cx="93600" cy="9360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3" name="Text 19"/>
          <p:cNvSpPr/>
          <p:nvPr/>
        </p:nvSpPr>
        <p:spPr>
          <a:xfrm>
            <a:off x="841320" y="4238640"/>
            <a:ext cx="323676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4" name="Text 20"/>
          <p:cNvSpPr/>
          <p:nvPr/>
        </p:nvSpPr>
        <p:spPr>
          <a:xfrm>
            <a:off x="841320" y="4460760"/>
            <a:ext cx="32288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21M BTC hard cap vs. unknown total gold supply in Earth's crust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5" name="Shape 21"/>
          <p:cNvSpPr/>
          <p:nvPr/>
        </p:nvSpPr>
        <p:spPr>
          <a:xfrm>
            <a:off x="539640" y="485784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6" name="Shape 22"/>
          <p:cNvSpPr/>
          <p:nvPr/>
        </p:nvSpPr>
        <p:spPr>
          <a:xfrm>
            <a:off x="650880" y="5032440"/>
            <a:ext cx="93600" cy="9360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7" name="Text 23"/>
          <p:cNvSpPr/>
          <p:nvPr/>
        </p:nvSpPr>
        <p:spPr>
          <a:xfrm>
            <a:off x="841320" y="4968720"/>
            <a:ext cx="29984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Programmable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8" name="Text 24"/>
          <p:cNvSpPr/>
          <p:nvPr/>
        </p:nvSpPr>
        <p:spPr>
          <a:xfrm>
            <a:off x="841320" y="5191200"/>
            <a:ext cx="29905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Smart contracts, multisig, time-locks vs. inert physical metal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9" name="Shape 25"/>
          <p:cNvSpPr/>
          <p:nvPr/>
        </p:nvSpPr>
        <p:spPr>
          <a:xfrm>
            <a:off x="341280" y="5834160"/>
            <a:ext cx="5649840" cy="385596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00" name="Text 26"/>
          <p:cNvSpPr/>
          <p:nvPr/>
        </p:nvSpPr>
        <p:spPr>
          <a:xfrm>
            <a:off x="523800" y="601668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COMPARISON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01" name="Text 27"/>
          <p:cNvSpPr/>
          <p:nvPr/>
        </p:nvSpPr>
        <p:spPr>
          <a:xfrm>
            <a:off x="523800" y="6397560"/>
            <a:ext cx="534816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2" name="Shape 28"/>
          <p:cNvSpPr/>
          <p:nvPr/>
        </p:nvSpPr>
        <p:spPr>
          <a:xfrm>
            <a:off x="539640" y="6699240"/>
            <a:ext cx="5252760" cy="72828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3" name="Text 29"/>
          <p:cNvSpPr/>
          <p:nvPr/>
        </p:nvSpPr>
        <p:spPr>
          <a:xfrm>
            <a:off x="650880" y="6858000"/>
            <a:ext cx="4903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4" name="Text 30"/>
          <p:cNvSpPr/>
          <p:nvPr/>
        </p:nvSpPr>
        <p:spPr>
          <a:xfrm>
            <a:off x="4935240" y="6810480"/>
            <a:ext cx="86328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a63e"/>
                </a:solidFill>
                <a:latin typeface="Noto Sans SC"/>
                <a:ea typeface="Noto Sans SC"/>
              </a:rPr>
              <a:t>+940%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05" name="Shape 31"/>
          <p:cNvSpPr/>
          <p:nvPr/>
        </p:nvSpPr>
        <p:spPr>
          <a:xfrm>
            <a:off x="666720" y="7175520"/>
            <a:ext cx="4998960" cy="12528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6" name="Shape 32"/>
          <p:cNvSpPr/>
          <p:nvPr/>
        </p:nvSpPr>
        <p:spPr>
          <a:xfrm>
            <a:off x="682560" y="7191360"/>
            <a:ext cx="4966920" cy="93600"/>
          </a:xfrm>
          <a:custGeom>
            <a:avLst/>
            <a:gdLst/>
            <a:ahLst/>
            <a:rect l="l" t="t" r="r" b="b"/>
            <a:pathLst>
              <a:path w="4968875" h="95250">
                <a:moveTo>
                  <a:pt x="0" y="0"/>
                </a:moveTo>
                <a:lnTo>
                  <a:pt x="4968875" y="0"/>
                </a:lnTo>
                <a:lnTo>
                  <a:pt x="49688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7" name="Shape 33"/>
          <p:cNvSpPr/>
          <p:nvPr/>
        </p:nvSpPr>
        <p:spPr>
          <a:xfrm>
            <a:off x="539640" y="7556400"/>
            <a:ext cx="5252760" cy="72828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8" name="Text 34"/>
          <p:cNvSpPr/>
          <p:nvPr/>
        </p:nvSpPr>
        <p:spPr>
          <a:xfrm>
            <a:off x="650880" y="7715160"/>
            <a:ext cx="3474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9" name="Text 35"/>
          <p:cNvSpPr/>
          <p:nvPr/>
        </p:nvSpPr>
        <p:spPr>
          <a:xfrm>
            <a:off x="5067360" y="7667640"/>
            <a:ext cx="73656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d08700"/>
                </a:solidFill>
                <a:latin typeface="Noto Sans SC"/>
                <a:ea typeface="Noto Sans SC"/>
              </a:rPr>
              <a:t>+25%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10" name="Shape 36"/>
          <p:cNvSpPr/>
          <p:nvPr/>
        </p:nvSpPr>
        <p:spPr>
          <a:xfrm>
            <a:off x="666720" y="8032680"/>
            <a:ext cx="4998960" cy="12528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1" name="Shape 37"/>
          <p:cNvSpPr/>
          <p:nvPr/>
        </p:nvSpPr>
        <p:spPr>
          <a:xfrm>
            <a:off x="682560" y="8048520"/>
            <a:ext cx="149040" cy="93600"/>
          </a:xfrm>
          <a:custGeom>
            <a:avLst/>
            <a:gdLst/>
            <a:ahLst/>
            <a:rect l="l" t="t" r="r" b="b"/>
            <a:pathLst>
              <a:path w="150813" h="95250">
                <a:moveTo>
                  <a:pt x="0" y="0"/>
                </a:moveTo>
                <a:lnTo>
                  <a:pt x="150813" y="0"/>
                </a:lnTo>
                <a:lnTo>
                  <a:pt x="1508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2" name="Shape 38"/>
          <p:cNvSpPr/>
          <p:nvPr/>
        </p:nvSpPr>
        <p:spPr>
          <a:xfrm>
            <a:off x="539640" y="8445600"/>
            <a:ext cx="5252760" cy="41112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3" name="Text 39"/>
          <p:cNvSpPr/>
          <p:nvPr/>
        </p:nvSpPr>
        <p:spPr>
          <a:xfrm>
            <a:off x="619200" y="855648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has outperformed gold by 37x over 5 years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4" name="Shape 40"/>
          <p:cNvSpPr/>
          <p:nvPr/>
        </p:nvSpPr>
        <p:spPr>
          <a:xfrm>
            <a:off x="6199200" y="1357200"/>
            <a:ext cx="5649840" cy="430020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5" name="Text 41"/>
          <p:cNvSpPr/>
          <p:nvPr/>
        </p:nvSpPr>
        <p:spPr>
          <a:xfrm>
            <a:off x="6381720" y="153972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GOLD'S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16" name="Shape 42"/>
          <p:cNvSpPr/>
          <p:nvPr/>
        </p:nvSpPr>
        <p:spPr>
          <a:xfrm>
            <a:off x="6397560" y="193680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7" name="Shape 43"/>
          <p:cNvSpPr/>
          <p:nvPr/>
        </p:nvSpPr>
        <p:spPr>
          <a:xfrm>
            <a:off x="6508800" y="2111400"/>
            <a:ext cx="93600" cy="9360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8" name="Text 44"/>
          <p:cNvSpPr/>
          <p:nvPr/>
        </p:nvSpPr>
        <p:spPr>
          <a:xfrm>
            <a:off x="6699240" y="2048040"/>
            <a:ext cx="31334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3,000+ Year Track Record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9" name="Text 45"/>
          <p:cNvSpPr/>
          <p:nvPr/>
        </p:nvSpPr>
        <p:spPr>
          <a:xfrm>
            <a:off x="6699240" y="2270160"/>
            <a:ext cx="31255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Proven store of value across civilizations vs. Bitcoin's 16 years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0" name="Shape 46"/>
          <p:cNvSpPr/>
          <p:nvPr/>
        </p:nvSpPr>
        <p:spPr>
          <a:xfrm>
            <a:off x="6397560" y="266688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1" name="Shape 47"/>
          <p:cNvSpPr/>
          <p:nvPr/>
        </p:nvSpPr>
        <p:spPr>
          <a:xfrm>
            <a:off x="6508800" y="2841480"/>
            <a:ext cx="93600" cy="9360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2" name="Text 48"/>
          <p:cNvSpPr/>
          <p:nvPr/>
        </p:nvSpPr>
        <p:spPr>
          <a:xfrm>
            <a:off x="6699240" y="2778120"/>
            <a:ext cx="28000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Physical Tangibility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3" name="Text 49"/>
          <p:cNvSpPr/>
          <p:nvPr/>
        </p:nvSpPr>
        <p:spPr>
          <a:xfrm>
            <a:off x="6699240" y="3000240"/>
            <a:ext cx="27921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Can hold in your hand, no internet or electricity required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4" name="Shape 50"/>
          <p:cNvSpPr/>
          <p:nvPr/>
        </p:nvSpPr>
        <p:spPr>
          <a:xfrm>
            <a:off x="6397560" y="339732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5" name="Shape 51"/>
          <p:cNvSpPr/>
          <p:nvPr/>
        </p:nvSpPr>
        <p:spPr>
          <a:xfrm>
            <a:off x="6508800" y="3571920"/>
            <a:ext cx="93600" cy="9360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6" name="Text 52"/>
          <p:cNvSpPr/>
          <p:nvPr/>
        </p:nvSpPr>
        <p:spPr>
          <a:xfrm>
            <a:off x="6699240" y="3508200"/>
            <a:ext cx="28558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Central Bank Demand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7" name="Text 53"/>
          <p:cNvSpPr/>
          <p:nvPr/>
        </p:nvSpPr>
        <p:spPr>
          <a:xfrm>
            <a:off x="6699240" y="3730680"/>
            <a:ext cx="284760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Record-high official gold purchases (1,000+ tonnes/year)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8" name="Shape 54"/>
          <p:cNvSpPr/>
          <p:nvPr/>
        </p:nvSpPr>
        <p:spPr>
          <a:xfrm>
            <a:off x="6397560" y="412740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9" name="Shape 55"/>
          <p:cNvSpPr/>
          <p:nvPr/>
        </p:nvSpPr>
        <p:spPr>
          <a:xfrm>
            <a:off x="6508800" y="4302000"/>
            <a:ext cx="93600" cy="9360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0" name="Text 56"/>
          <p:cNvSpPr/>
          <p:nvPr/>
        </p:nvSpPr>
        <p:spPr>
          <a:xfrm>
            <a:off x="6699240" y="4238640"/>
            <a:ext cx="257796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Lower Volatility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1" name="Text 57"/>
          <p:cNvSpPr/>
          <p:nvPr/>
        </p:nvSpPr>
        <p:spPr>
          <a:xfrm>
            <a:off x="6699240" y="4460760"/>
            <a:ext cx="25700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Gold's annual volatility ~15% vs. Bitcoin's ~60-80%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2" name="Shape 58"/>
          <p:cNvSpPr/>
          <p:nvPr/>
        </p:nvSpPr>
        <p:spPr>
          <a:xfrm>
            <a:off x="6397560" y="485784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3" name="Shape 59"/>
          <p:cNvSpPr/>
          <p:nvPr/>
        </p:nvSpPr>
        <p:spPr>
          <a:xfrm>
            <a:off x="6508800" y="5032440"/>
            <a:ext cx="93600" cy="9360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4" name="Text 60"/>
          <p:cNvSpPr/>
          <p:nvPr/>
        </p:nvSpPr>
        <p:spPr>
          <a:xfrm>
            <a:off x="6699240" y="4968720"/>
            <a:ext cx="3213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Industrial &amp; Jewelry Use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5" name="Text 61"/>
          <p:cNvSpPr/>
          <p:nvPr/>
        </p:nvSpPr>
        <p:spPr>
          <a:xfrm>
            <a:off x="6699240" y="5191200"/>
            <a:ext cx="3205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Real utility beyond speculation (electronics, dentistry, ornament)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6" name="Shape 62"/>
          <p:cNvSpPr/>
          <p:nvPr/>
        </p:nvSpPr>
        <p:spPr>
          <a:xfrm>
            <a:off x="6199200" y="5834160"/>
            <a:ext cx="5649840" cy="385596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37" name="Text 63"/>
          <p:cNvSpPr/>
          <p:nvPr/>
        </p:nvSpPr>
        <p:spPr>
          <a:xfrm>
            <a:off x="6381720" y="601668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INFLATION HEDGE DEBATE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38" name="Shape 64"/>
          <p:cNvSpPr/>
          <p:nvPr/>
        </p:nvSpPr>
        <p:spPr>
          <a:xfrm>
            <a:off x="6397560" y="6413400"/>
            <a:ext cx="5252760" cy="1236600"/>
          </a:xfrm>
          <a:custGeom>
            <a:avLst/>
            <a:gdLst/>
            <a:ahLst/>
            <a:rect l="l" t="t" r="r" b="b"/>
            <a:pathLst>
              <a:path w="5254625" h="1238250">
                <a:moveTo>
                  <a:pt x="0" y="0"/>
                </a:moveTo>
                <a:lnTo>
                  <a:pt x="5254625" y="0"/>
                </a:lnTo>
                <a:lnTo>
                  <a:pt x="5254625" y="1238250"/>
                </a:lnTo>
                <a:lnTo>
                  <a:pt x="0" y="1238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9" name="Text 65"/>
          <p:cNvSpPr/>
          <p:nvPr/>
        </p:nvSpPr>
        <p:spPr>
          <a:xfrm>
            <a:off x="6508800" y="652464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2022 Inflation Test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0" name="Text 66"/>
          <p:cNvSpPr/>
          <p:nvPr/>
        </p:nvSpPr>
        <p:spPr>
          <a:xfrm>
            <a:off x="6508800" y="677880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U.S. inflation hit 9% (40-year high). How did assets perform?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41" name="Shape 67"/>
          <p:cNvSpPr/>
          <p:nvPr/>
        </p:nvSpPr>
        <p:spPr>
          <a:xfrm>
            <a:off x="6524640" y="7016760"/>
            <a:ext cx="2450880" cy="50616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2" name="Text 68"/>
          <p:cNvSpPr/>
          <p:nvPr/>
        </p:nvSpPr>
        <p:spPr>
          <a:xfrm>
            <a:off x="6568200" y="7095960"/>
            <a:ext cx="23634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e7000b"/>
                </a:solidFill>
                <a:latin typeface="MiSans"/>
                <a:ea typeface="MiSans"/>
              </a:rPr>
              <a:t>-60%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3" name="Text 69"/>
          <p:cNvSpPr/>
          <p:nvPr/>
        </p:nvSpPr>
        <p:spPr>
          <a:xfrm>
            <a:off x="6580080" y="7318440"/>
            <a:ext cx="233964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4" name="Shape 70"/>
          <p:cNvSpPr/>
          <p:nvPr/>
        </p:nvSpPr>
        <p:spPr>
          <a:xfrm>
            <a:off x="9072720" y="7016760"/>
            <a:ext cx="2450880" cy="50616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5" name="Text 71"/>
          <p:cNvSpPr/>
          <p:nvPr/>
        </p:nvSpPr>
        <p:spPr>
          <a:xfrm>
            <a:off x="9116280" y="7095960"/>
            <a:ext cx="23634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a63e"/>
                </a:solidFill>
                <a:latin typeface="MiSans"/>
                <a:ea typeface="MiSans"/>
              </a:rPr>
              <a:t>+0.5%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6" name="Text 72"/>
          <p:cNvSpPr/>
          <p:nvPr/>
        </p:nvSpPr>
        <p:spPr>
          <a:xfrm>
            <a:off x="9128160" y="7318440"/>
            <a:ext cx="233964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7" name="Shape 73"/>
          <p:cNvSpPr/>
          <p:nvPr/>
        </p:nvSpPr>
        <p:spPr>
          <a:xfrm>
            <a:off x="6397560" y="7778880"/>
            <a:ext cx="5252760" cy="79200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8" name="Text 74"/>
          <p:cNvSpPr/>
          <p:nvPr/>
        </p:nvSpPr>
        <p:spPr>
          <a:xfrm>
            <a:off x="6508800" y="788976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Key Insight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9" name="Text 75"/>
          <p:cNvSpPr/>
          <p:nvPr/>
        </p:nvSpPr>
        <p:spPr>
          <a:xfrm>
            <a:off x="6508800" y="8143920"/>
            <a:ext cx="50860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has shown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high correlation with risk assets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(tech stocks) rather than acting as a crisis hedge like gold. During the 2022 bear market, BTC crashed alongside equities while gold held steady.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50" name="Shape 76"/>
          <p:cNvSpPr/>
          <p:nvPr/>
        </p:nvSpPr>
        <p:spPr>
          <a:xfrm>
            <a:off x="6397560" y="8699400"/>
            <a:ext cx="5252760" cy="79200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1" name="Text 77"/>
          <p:cNvSpPr/>
          <p:nvPr/>
        </p:nvSpPr>
        <p:spPr>
          <a:xfrm>
            <a:off x="6508800" y="881064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Verdict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52" name="Text 78"/>
          <p:cNvSpPr/>
          <p:nvPr/>
        </p:nvSpPr>
        <p:spPr>
          <a:xfrm>
            <a:off x="6508800" y="9064800"/>
            <a:ext cx="50860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may become "digital gold" as it matures and volatility decreases, but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it hasn't consistently fulfilled that role yet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. Gold remains the proven safe haven.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4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5" name="Shape 1"/>
          <p:cNvSpPr/>
          <p:nvPr/>
        </p:nvSpPr>
        <p:spPr>
          <a:xfrm>
            <a:off x="409680" y="781200"/>
            <a:ext cx="8475480" cy="396072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56" name="Shape 2"/>
          <p:cNvSpPr/>
          <p:nvPr/>
        </p:nvSpPr>
        <p:spPr>
          <a:xfrm>
            <a:off x="923760" y="1295280"/>
            <a:ext cx="855360" cy="85536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7" name="Text 3"/>
          <p:cNvSpPr/>
          <p:nvPr/>
        </p:nvSpPr>
        <p:spPr>
          <a:xfrm>
            <a:off x="781200" y="1266840"/>
            <a:ext cx="102708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758" name="Shape 4"/>
          <p:cNvSpPr/>
          <p:nvPr/>
        </p:nvSpPr>
        <p:spPr>
          <a:xfrm>
            <a:off x="2038320" y="1266840"/>
            <a:ext cx="74520" cy="91260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9" name="Text 5"/>
          <p:cNvSpPr/>
          <p:nvPr/>
        </p:nvSpPr>
        <p:spPr>
          <a:xfrm>
            <a:off x="895320" y="2486160"/>
            <a:ext cx="7846920" cy="85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760" name="Shape 6"/>
          <p:cNvSpPr/>
          <p:nvPr/>
        </p:nvSpPr>
        <p:spPr>
          <a:xfrm>
            <a:off x="895320" y="3571920"/>
            <a:ext cx="1827000" cy="7452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1" name="Text 7"/>
          <p:cNvSpPr/>
          <p:nvPr/>
        </p:nvSpPr>
        <p:spPr>
          <a:xfrm>
            <a:off x="895320" y="3876840"/>
            <a:ext cx="767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 &amp; Layer 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762" name="Shape 8"/>
          <p:cNvSpPr/>
          <p:nvPr/>
        </p:nvSpPr>
        <p:spPr>
          <a:xfrm>
            <a:off x="409680" y="5257800"/>
            <a:ext cx="11370960" cy="81720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3" name="Text 9"/>
          <p:cNvSpPr/>
          <p:nvPr/>
        </p:nvSpPr>
        <p:spPr>
          <a:xfrm>
            <a:off x="666720" y="5514840"/>
            <a:ext cx="10971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Solving Bitcoin's Throughput Limitations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Shape 0"/>
          <p:cNvSpPr/>
          <p:nvPr/>
        </p:nvSpPr>
        <p:spPr>
          <a:xfrm>
            <a:off x="341280" y="341280"/>
            <a:ext cx="11507400" cy="83952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5" name="Text 1"/>
          <p:cNvSpPr/>
          <p:nvPr/>
        </p:nvSpPr>
        <p:spPr>
          <a:xfrm>
            <a:off x="523800" y="523800"/>
            <a:ext cx="112852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NETWORK: BITCOIN'S PAYMENT LAYER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66" name="Shape 2"/>
          <p:cNvSpPr/>
          <p:nvPr/>
        </p:nvSpPr>
        <p:spPr>
          <a:xfrm>
            <a:off x="523800" y="936720"/>
            <a:ext cx="760320" cy="6156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7" name="Shape 3"/>
          <p:cNvSpPr/>
          <p:nvPr/>
        </p:nvSpPr>
        <p:spPr>
          <a:xfrm>
            <a:off x="341280" y="1357200"/>
            <a:ext cx="5649840" cy="3348000"/>
          </a:xfrm>
          <a:custGeom>
            <a:avLst/>
            <a:gdLst/>
            <a:ahLst/>
            <a:rect l="l" t="t" r="r" b="b"/>
            <a:pathLst>
              <a:path w="5651500" h="3349625">
                <a:moveTo>
                  <a:pt x="0" y="0"/>
                </a:moveTo>
                <a:lnTo>
                  <a:pt x="5651500" y="0"/>
                </a:lnTo>
                <a:lnTo>
                  <a:pt x="5651500" y="3349625"/>
                </a:lnTo>
                <a:lnTo>
                  <a:pt x="0" y="3349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8" name="Text 4"/>
          <p:cNvSpPr/>
          <p:nvPr/>
        </p:nvSpPr>
        <p:spPr>
          <a:xfrm>
            <a:off x="523800" y="153972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PROBLEM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69" name="Shape 5"/>
          <p:cNvSpPr/>
          <p:nvPr/>
        </p:nvSpPr>
        <p:spPr>
          <a:xfrm>
            <a:off x="539640" y="1936800"/>
            <a:ext cx="5252760" cy="79200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0" name="Text 6"/>
          <p:cNvSpPr/>
          <p:nvPr/>
        </p:nvSpPr>
        <p:spPr>
          <a:xfrm>
            <a:off x="682560" y="2111400"/>
            <a:ext cx="13554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 Base Layer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1" name="Text 7"/>
          <p:cNvSpPr/>
          <p:nvPr/>
        </p:nvSpPr>
        <p:spPr>
          <a:xfrm>
            <a:off x="4850640" y="2079720"/>
            <a:ext cx="91908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~7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2" name="Text 8"/>
          <p:cNvSpPr/>
          <p:nvPr/>
        </p:nvSpPr>
        <p:spPr>
          <a:xfrm>
            <a:off x="682560" y="2428920"/>
            <a:ext cx="50227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 per second limited by block size and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3" name="Shape 9"/>
          <p:cNvSpPr/>
          <p:nvPr/>
        </p:nvSpPr>
        <p:spPr>
          <a:xfrm>
            <a:off x="539640" y="2857680"/>
            <a:ext cx="5252760" cy="79200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4" name="Text 10"/>
          <p:cNvSpPr/>
          <p:nvPr/>
        </p:nvSpPr>
        <p:spPr>
          <a:xfrm>
            <a:off x="682560" y="3032280"/>
            <a:ext cx="9666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Visa Network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5" name="Text 11"/>
          <p:cNvSpPr/>
          <p:nvPr/>
        </p:nvSpPr>
        <p:spPr>
          <a:xfrm>
            <a:off x="4393800" y="3000240"/>
            <a:ext cx="13712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65,000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6" name="Text 12"/>
          <p:cNvSpPr/>
          <p:nvPr/>
        </p:nvSpPr>
        <p:spPr>
          <a:xfrm>
            <a:off x="682560" y="3349800"/>
            <a:ext cx="50227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payment network capacity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7" name="Shape 13"/>
          <p:cNvSpPr/>
          <p:nvPr/>
        </p:nvSpPr>
        <p:spPr>
          <a:xfrm>
            <a:off x="539640" y="3778200"/>
            <a:ext cx="5252760" cy="72828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8" name="Text 14"/>
          <p:cNvSpPr/>
          <p:nvPr/>
        </p:nvSpPr>
        <p:spPr>
          <a:xfrm>
            <a:off x="682560" y="3921120"/>
            <a:ext cx="50306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79" name="Text 15"/>
          <p:cNvSpPr/>
          <p:nvPr/>
        </p:nvSpPr>
        <p:spPr>
          <a:xfrm>
            <a:off x="682560" y="4175280"/>
            <a:ext cx="50306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Base layer fees spike during congestion ($5-50+), making micropayments impractical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0" name="Shape 16"/>
          <p:cNvSpPr/>
          <p:nvPr/>
        </p:nvSpPr>
        <p:spPr>
          <a:xfrm>
            <a:off x="341280" y="4881600"/>
            <a:ext cx="5649840" cy="4554360"/>
          </a:xfrm>
          <a:custGeom>
            <a:avLst/>
            <a:gdLst/>
            <a:ahLst/>
            <a:rect l="l" t="t" r="r" b="b"/>
            <a:pathLst>
              <a:path w="5651500" h="4556125">
                <a:moveTo>
                  <a:pt x="0" y="0"/>
                </a:moveTo>
                <a:lnTo>
                  <a:pt x="5651500" y="0"/>
                </a:lnTo>
                <a:lnTo>
                  <a:pt x="5651500" y="4556125"/>
                </a:lnTo>
                <a:lnTo>
                  <a:pt x="0" y="4556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81" name="Text 17"/>
          <p:cNvSpPr/>
          <p:nvPr/>
        </p:nvSpPr>
        <p:spPr>
          <a:xfrm>
            <a:off x="523800" y="506412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LIGHTNING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2" name="Shape 18"/>
          <p:cNvSpPr/>
          <p:nvPr/>
        </p:nvSpPr>
        <p:spPr>
          <a:xfrm>
            <a:off x="539640" y="546084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3" name="Text 19"/>
          <p:cNvSpPr/>
          <p:nvPr/>
        </p:nvSpPr>
        <p:spPr>
          <a:xfrm>
            <a:off x="650880" y="557208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Payment Channels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4" name="Text 20"/>
          <p:cNvSpPr/>
          <p:nvPr/>
        </p:nvSpPr>
        <p:spPr>
          <a:xfrm>
            <a:off x="650880" y="579420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Users lock BTC in multi-signature channels, enabling unlimited off-chain 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5" name="Shape 21"/>
          <p:cNvSpPr/>
          <p:nvPr/>
        </p:nvSpPr>
        <p:spPr>
          <a:xfrm>
            <a:off x="539640" y="619128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6" name="Text 22"/>
          <p:cNvSpPr/>
          <p:nvPr/>
        </p:nvSpPr>
        <p:spPr>
          <a:xfrm>
            <a:off x="650880" y="630252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Off-Chain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7" name="Text 23"/>
          <p:cNvSpPr/>
          <p:nvPr/>
        </p:nvSpPr>
        <p:spPr>
          <a:xfrm>
            <a:off x="650880" y="652464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Payments routed through network of channels without touching base layer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8" name="Shape 24"/>
          <p:cNvSpPr/>
          <p:nvPr/>
        </p:nvSpPr>
        <p:spPr>
          <a:xfrm>
            <a:off x="539640" y="692136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9" name="Text 25"/>
          <p:cNvSpPr/>
          <p:nvPr/>
        </p:nvSpPr>
        <p:spPr>
          <a:xfrm>
            <a:off x="650880" y="703260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Settlement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0" name="Text 26"/>
          <p:cNvSpPr/>
          <p:nvPr/>
        </p:nvSpPr>
        <p:spPr>
          <a:xfrm>
            <a:off x="650880" y="725472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Channel closes broadcast final balance to Bitcoin blockchain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1" name="Shape 27"/>
          <p:cNvSpPr/>
          <p:nvPr/>
        </p:nvSpPr>
        <p:spPr>
          <a:xfrm>
            <a:off x="539640" y="7651800"/>
            <a:ext cx="5252760" cy="41112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2" name="Text 28"/>
          <p:cNvSpPr/>
          <p:nvPr/>
        </p:nvSpPr>
        <p:spPr>
          <a:xfrm>
            <a:off x="619200" y="776304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Result: Near-instant, sub-cent fees, millions of TPS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3" name="Shape 29"/>
          <p:cNvSpPr/>
          <p:nvPr/>
        </p:nvSpPr>
        <p:spPr>
          <a:xfrm>
            <a:off x="6199200" y="1357200"/>
            <a:ext cx="5649840" cy="4332240"/>
          </a:xfrm>
          <a:custGeom>
            <a:avLst/>
            <a:gdLst/>
            <a:ahLst/>
            <a:rect l="l" t="t" r="r" b="b"/>
            <a:pathLst>
              <a:path w="5651500" h="4333875">
                <a:moveTo>
                  <a:pt x="0" y="0"/>
                </a:moveTo>
                <a:lnTo>
                  <a:pt x="5651500" y="0"/>
                </a:lnTo>
                <a:lnTo>
                  <a:pt x="5651500" y="4333875"/>
                </a:lnTo>
                <a:lnTo>
                  <a:pt x="0" y="4333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94" name="Text 30"/>
          <p:cNvSpPr/>
          <p:nvPr/>
        </p:nvSpPr>
        <p:spPr>
          <a:xfrm>
            <a:off x="6381720" y="153972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ADOPTION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5" name="Shape 31"/>
          <p:cNvSpPr/>
          <p:nvPr/>
        </p:nvSpPr>
        <p:spPr>
          <a:xfrm>
            <a:off x="6397560" y="1936800"/>
            <a:ext cx="5252760" cy="79200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6" name="Text 32"/>
          <p:cNvSpPr/>
          <p:nvPr/>
        </p:nvSpPr>
        <p:spPr>
          <a:xfrm>
            <a:off x="6540480" y="2127240"/>
            <a:ext cx="1045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7" name="Text 33"/>
          <p:cNvSpPr/>
          <p:nvPr/>
        </p:nvSpPr>
        <p:spPr>
          <a:xfrm>
            <a:off x="10741320" y="2079720"/>
            <a:ext cx="8870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98" name="Text 34"/>
          <p:cNvSpPr/>
          <p:nvPr/>
        </p:nvSpPr>
        <p:spPr>
          <a:xfrm>
            <a:off x="6540480" y="2428920"/>
            <a:ext cx="50227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November 2025 (River data)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9" name="Shape 35"/>
          <p:cNvSpPr/>
          <p:nvPr/>
        </p:nvSpPr>
        <p:spPr>
          <a:xfrm>
            <a:off x="6397560" y="2857680"/>
            <a:ext cx="5252760" cy="79200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0" name="Text 36"/>
          <p:cNvSpPr/>
          <p:nvPr/>
        </p:nvSpPr>
        <p:spPr>
          <a:xfrm>
            <a:off x="6540480" y="3048120"/>
            <a:ext cx="13712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1" name="Text 37"/>
          <p:cNvSpPr/>
          <p:nvPr/>
        </p:nvSpPr>
        <p:spPr>
          <a:xfrm>
            <a:off x="10847520" y="3000240"/>
            <a:ext cx="77616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5.22M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2" name="Text 38"/>
          <p:cNvSpPr/>
          <p:nvPr/>
        </p:nvSpPr>
        <p:spPr>
          <a:xfrm>
            <a:off x="6540480" y="3349800"/>
            <a:ext cx="50227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Average transaction size: ~$224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3" name="Shape 39"/>
          <p:cNvSpPr/>
          <p:nvPr/>
        </p:nvSpPr>
        <p:spPr>
          <a:xfrm>
            <a:off x="6397560" y="3778200"/>
            <a:ext cx="5252760" cy="79200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4" name="Text 40"/>
          <p:cNvSpPr/>
          <p:nvPr/>
        </p:nvSpPr>
        <p:spPr>
          <a:xfrm>
            <a:off x="6540480" y="3968640"/>
            <a:ext cx="112536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5" name="Text 41"/>
          <p:cNvSpPr/>
          <p:nvPr/>
        </p:nvSpPr>
        <p:spPr>
          <a:xfrm>
            <a:off x="10218960" y="3921120"/>
            <a:ext cx="141120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5,500+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6" name="Text 42"/>
          <p:cNvSpPr/>
          <p:nvPr/>
        </p:nvSpPr>
        <p:spPr>
          <a:xfrm>
            <a:off x="6540480" y="4270320"/>
            <a:ext cx="50227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BTC locked in channels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7" name="Shape 43"/>
          <p:cNvSpPr/>
          <p:nvPr/>
        </p:nvSpPr>
        <p:spPr>
          <a:xfrm>
            <a:off x="6397560" y="4699080"/>
            <a:ext cx="5252760" cy="79200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8" name="Text 44"/>
          <p:cNvSpPr/>
          <p:nvPr/>
        </p:nvSpPr>
        <p:spPr>
          <a:xfrm>
            <a:off x="6540480" y="4889520"/>
            <a:ext cx="86328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Active Nodes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9" name="Text 45"/>
          <p:cNvSpPr/>
          <p:nvPr/>
        </p:nvSpPr>
        <p:spPr>
          <a:xfrm>
            <a:off x="10641960" y="4842000"/>
            <a:ext cx="9824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18,000+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10" name="Text 46"/>
          <p:cNvSpPr/>
          <p:nvPr/>
        </p:nvSpPr>
        <p:spPr>
          <a:xfrm>
            <a:off x="6540480" y="5191200"/>
            <a:ext cx="50227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Decentralized network participants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1" name="Shape 47"/>
          <p:cNvSpPr/>
          <p:nvPr/>
        </p:nvSpPr>
        <p:spPr>
          <a:xfrm>
            <a:off x="6199200" y="5865840"/>
            <a:ext cx="5649840" cy="3570120"/>
          </a:xfrm>
          <a:custGeom>
            <a:avLst/>
            <a:gdLst/>
            <a:ahLst/>
            <a:rect l="l" t="t" r="r" b="b"/>
            <a:pathLst>
              <a:path w="5651500" h="3571875">
                <a:moveTo>
                  <a:pt x="0" y="0"/>
                </a:moveTo>
                <a:lnTo>
                  <a:pt x="5651500" y="0"/>
                </a:lnTo>
                <a:lnTo>
                  <a:pt x="56515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2" name="Text 48"/>
          <p:cNvSpPr/>
          <p:nvPr/>
        </p:nvSpPr>
        <p:spPr>
          <a:xfrm>
            <a:off x="6381720" y="6048360"/>
            <a:ext cx="53798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REAL-WORLD USE CASES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13" name="Shape 49"/>
          <p:cNvSpPr/>
          <p:nvPr/>
        </p:nvSpPr>
        <p:spPr>
          <a:xfrm>
            <a:off x="6397560" y="644508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4" name="Text 50"/>
          <p:cNvSpPr/>
          <p:nvPr/>
        </p:nvSpPr>
        <p:spPr>
          <a:xfrm>
            <a:off x="6508800" y="655632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 Salvador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5" name="Text 51"/>
          <p:cNvSpPr/>
          <p:nvPr/>
        </p:nvSpPr>
        <p:spPr>
          <a:xfrm>
            <a:off x="6508800" y="677880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legal tender using Lightning for everyday payments (coffee, groceries)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6" name="Shape 52"/>
          <p:cNvSpPr/>
          <p:nvPr/>
        </p:nvSpPr>
        <p:spPr>
          <a:xfrm>
            <a:off x="6397560" y="717552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7" name="Text 53"/>
          <p:cNvSpPr/>
          <p:nvPr/>
        </p:nvSpPr>
        <p:spPr>
          <a:xfrm>
            <a:off x="6508800" y="728676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Strike App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8" name="Text 54"/>
          <p:cNvSpPr/>
          <p:nvPr/>
        </p:nvSpPr>
        <p:spPr>
          <a:xfrm>
            <a:off x="6508800" y="750888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Cross-border remittances: Send USD → Receiver gets local currency, sub-cent fees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9" name="Shape 55"/>
          <p:cNvSpPr/>
          <p:nvPr/>
        </p:nvSpPr>
        <p:spPr>
          <a:xfrm>
            <a:off x="6397560" y="790560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0" name="Text 56"/>
          <p:cNvSpPr/>
          <p:nvPr/>
        </p:nvSpPr>
        <p:spPr>
          <a:xfrm>
            <a:off x="6508800" y="801684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Streaming &amp; Gaming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1" name="Text 57"/>
          <p:cNvSpPr/>
          <p:nvPr/>
        </p:nvSpPr>
        <p:spPr>
          <a:xfrm>
            <a:off x="6508800" y="823896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Micropayments for content (pay-per-minute video, in-game purchases)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22" name="Shape 58"/>
          <p:cNvSpPr/>
          <p:nvPr/>
        </p:nvSpPr>
        <p:spPr>
          <a:xfrm>
            <a:off x="6397560" y="8636040"/>
            <a:ext cx="5252760" cy="60156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3" name="Text 59"/>
          <p:cNvSpPr/>
          <p:nvPr/>
        </p:nvSpPr>
        <p:spPr>
          <a:xfrm>
            <a:off x="6508800" y="8747280"/>
            <a:ext cx="50940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AI Agent Payments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4" name="Text 60"/>
          <p:cNvSpPr/>
          <p:nvPr/>
        </p:nvSpPr>
        <p:spPr>
          <a:xfrm>
            <a:off x="6508800" y="8969400"/>
            <a:ext cx="508608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Lightning Labs toolkit enables autonomous machine-to-machine transactions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6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7" name="Shape 1"/>
          <p:cNvSpPr/>
          <p:nvPr/>
        </p:nvSpPr>
        <p:spPr>
          <a:xfrm>
            <a:off x="3305160" y="352440"/>
            <a:ext cx="8475480" cy="481788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28" name="Shape 2"/>
          <p:cNvSpPr/>
          <p:nvPr/>
        </p:nvSpPr>
        <p:spPr>
          <a:xfrm>
            <a:off x="10077480" y="838080"/>
            <a:ext cx="74520" cy="91260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9" name="Shape 3"/>
          <p:cNvSpPr/>
          <p:nvPr/>
        </p:nvSpPr>
        <p:spPr>
          <a:xfrm>
            <a:off x="10410840" y="866880"/>
            <a:ext cx="855360" cy="85536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0" name="Text 4"/>
          <p:cNvSpPr/>
          <p:nvPr/>
        </p:nvSpPr>
        <p:spPr>
          <a:xfrm>
            <a:off x="10267920" y="838080"/>
            <a:ext cx="102708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31" name="Text 5"/>
          <p:cNvSpPr/>
          <p:nvPr/>
        </p:nvSpPr>
        <p:spPr>
          <a:xfrm>
            <a:off x="3448080" y="2057400"/>
            <a:ext cx="7846920" cy="17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832" name="Shape 6"/>
          <p:cNvSpPr/>
          <p:nvPr/>
        </p:nvSpPr>
        <p:spPr>
          <a:xfrm>
            <a:off x="9468000" y="4000680"/>
            <a:ext cx="1827000" cy="7452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3" name="Text 7"/>
          <p:cNvSpPr/>
          <p:nvPr/>
        </p:nvSpPr>
        <p:spPr>
          <a:xfrm>
            <a:off x="3619440" y="4305240"/>
            <a:ext cx="767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Road Ahead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834" name="Shape 8"/>
          <p:cNvSpPr/>
          <p:nvPr/>
        </p:nvSpPr>
        <p:spPr>
          <a:xfrm>
            <a:off x="7293960" y="5686560"/>
            <a:ext cx="4484520" cy="817200"/>
          </a:xfrm>
          <a:custGeom>
            <a:avLst/>
            <a:gdLst/>
            <a:ahLst/>
            <a:rect l="l" t="t" r="r" b="b"/>
            <a:pathLst>
              <a:path w="4486275" h="819150">
                <a:moveTo>
                  <a:pt x="0" y="0"/>
                </a:moveTo>
                <a:lnTo>
                  <a:pt x="4486275" y="0"/>
                </a:lnTo>
                <a:lnTo>
                  <a:pt x="44862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5" name="Text 9"/>
          <p:cNvSpPr/>
          <p:nvPr/>
        </p:nvSpPr>
        <p:spPr>
          <a:xfrm>
            <a:off x="7551000" y="5943600"/>
            <a:ext cx="40845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Obstacles Bitcoin Must Overcome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Shape 0"/>
          <p:cNvSpPr/>
          <p:nvPr/>
        </p:nvSpPr>
        <p:spPr>
          <a:xfrm>
            <a:off x="341280" y="341280"/>
            <a:ext cx="11507400" cy="83952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7" name="Text 1"/>
          <p:cNvSpPr/>
          <p:nvPr/>
        </p:nvSpPr>
        <p:spPr>
          <a:xfrm>
            <a:off x="523800" y="523800"/>
            <a:ext cx="112852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CRITICAL CHALLENGES: WHAT COULD GO WRONG?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838" name="Shape 2"/>
          <p:cNvSpPr/>
          <p:nvPr/>
        </p:nvSpPr>
        <p:spPr>
          <a:xfrm>
            <a:off x="523800" y="936720"/>
            <a:ext cx="760320" cy="6156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9" name="Shape 3"/>
          <p:cNvSpPr/>
          <p:nvPr/>
        </p:nvSpPr>
        <p:spPr>
          <a:xfrm>
            <a:off x="341280" y="1357200"/>
            <a:ext cx="3720960" cy="353844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40" name="Shape 4"/>
          <p:cNvSpPr/>
          <p:nvPr/>
        </p:nvSpPr>
        <p:spPr>
          <a:xfrm>
            <a:off x="547560" y="1563840"/>
            <a:ext cx="331560" cy="33156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1" name="Text 5"/>
          <p:cNvSpPr/>
          <p:nvPr/>
        </p:nvSpPr>
        <p:spPr>
          <a:xfrm>
            <a:off x="484200" y="1539720"/>
            <a:ext cx="3632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42" name="Text 6"/>
          <p:cNvSpPr/>
          <p:nvPr/>
        </p:nvSpPr>
        <p:spPr>
          <a:xfrm>
            <a:off x="1000080" y="1619280"/>
            <a:ext cx="112536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SCALABILITY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43" name="Shape 7"/>
          <p:cNvSpPr/>
          <p:nvPr/>
        </p:nvSpPr>
        <p:spPr>
          <a:xfrm>
            <a:off x="539640" y="206388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4" name="Text 8"/>
          <p:cNvSpPr/>
          <p:nvPr/>
        </p:nvSpPr>
        <p:spPr>
          <a:xfrm>
            <a:off x="650880" y="217476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Base Layer Limitations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45" name="Text 9"/>
          <p:cNvSpPr/>
          <p:nvPr/>
        </p:nvSpPr>
        <p:spPr>
          <a:xfrm>
            <a:off x="650880" y="242892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 TPS is insufficient for global payment network. Block size debates led to Bitcoin Cash fork in 2017.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46" name="Shape 10"/>
          <p:cNvSpPr/>
          <p:nvPr/>
        </p:nvSpPr>
        <p:spPr>
          <a:xfrm>
            <a:off x="539640" y="298440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7" name="Text 11"/>
          <p:cNvSpPr/>
          <p:nvPr/>
        </p:nvSpPr>
        <p:spPr>
          <a:xfrm>
            <a:off x="650880" y="309564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Fee Volatility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48" name="Text 12"/>
          <p:cNvSpPr/>
          <p:nvPr/>
        </p:nvSpPr>
        <p:spPr>
          <a:xfrm>
            <a:off x="650880" y="334980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During congestion, fees spike to $5-50+, making small transactions uneconomical.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49" name="Shape 13"/>
          <p:cNvSpPr/>
          <p:nvPr/>
        </p:nvSpPr>
        <p:spPr>
          <a:xfrm>
            <a:off x="539640" y="390528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0" name="Text 14"/>
          <p:cNvSpPr/>
          <p:nvPr/>
        </p:nvSpPr>
        <p:spPr>
          <a:xfrm>
            <a:off x="650880" y="401652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51" name="Text 15"/>
          <p:cNvSpPr/>
          <p:nvPr/>
        </p:nvSpPr>
        <p:spPr>
          <a:xfrm>
            <a:off x="650880" y="427032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Layer 2 solutions (Lightning, sidechains) process transactions off-chain, settling on base layer.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52" name="Shape 16"/>
          <p:cNvSpPr/>
          <p:nvPr/>
        </p:nvSpPr>
        <p:spPr>
          <a:xfrm>
            <a:off x="4236120" y="1357200"/>
            <a:ext cx="3720960" cy="353844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53" name="Shape 17"/>
          <p:cNvSpPr/>
          <p:nvPr/>
        </p:nvSpPr>
        <p:spPr>
          <a:xfrm>
            <a:off x="4442400" y="1563840"/>
            <a:ext cx="331560" cy="33156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4" name="Text 18"/>
          <p:cNvSpPr/>
          <p:nvPr/>
        </p:nvSpPr>
        <p:spPr>
          <a:xfrm>
            <a:off x="4378680" y="1539720"/>
            <a:ext cx="3632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55" name="Text 19"/>
          <p:cNvSpPr/>
          <p:nvPr/>
        </p:nvSpPr>
        <p:spPr>
          <a:xfrm>
            <a:off x="4894920" y="1619280"/>
            <a:ext cx="145872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ENVIRONMENTAL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56" name="Shape 20"/>
          <p:cNvSpPr/>
          <p:nvPr/>
        </p:nvSpPr>
        <p:spPr>
          <a:xfrm>
            <a:off x="4434480" y="206388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7" name="Text 21"/>
          <p:cNvSpPr/>
          <p:nvPr/>
        </p:nvSpPr>
        <p:spPr>
          <a:xfrm>
            <a:off x="4545360" y="217476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Consumption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58" name="Text 22"/>
          <p:cNvSpPr/>
          <p:nvPr/>
        </p:nvSpPr>
        <p:spPr>
          <a:xfrm>
            <a:off x="4545360" y="242892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uses ~150 TWh/year, comparable to Argentina or Poland. Critics argue this is wasteful.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59" name="Shape 23"/>
          <p:cNvSpPr/>
          <p:nvPr/>
        </p:nvSpPr>
        <p:spPr>
          <a:xfrm>
            <a:off x="4434480" y="298440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0" name="Text 24"/>
          <p:cNvSpPr/>
          <p:nvPr/>
        </p:nvSpPr>
        <p:spPr>
          <a:xfrm>
            <a:off x="4545360" y="309564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Carbon Footprint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61" name="Text 25"/>
          <p:cNvSpPr/>
          <p:nvPr/>
        </p:nvSpPr>
        <p:spPr>
          <a:xfrm>
            <a:off x="4545360" y="334980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Estimated 65-70 Mt CO2/year. Coal-powered mining in some regions contributes to climate 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62" name="Shape 26"/>
          <p:cNvSpPr/>
          <p:nvPr/>
        </p:nvSpPr>
        <p:spPr>
          <a:xfrm>
            <a:off x="4434480" y="390528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3" name="Text 27"/>
          <p:cNvSpPr/>
          <p:nvPr/>
        </p:nvSpPr>
        <p:spPr>
          <a:xfrm>
            <a:off x="4545360" y="401652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64" name="Text 28"/>
          <p:cNvSpPr/>
          <p:nvPr/>
        </p:nvSpPr>
        <p:spPr>
          <a:xfrm>
            <a:off x="4545360" y="427032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~55% of mining uses renewable energy. Stranded energy (flared gas, hydro surplus) increasingly utilized.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65" name="Shape 29"/>
          <p:cNvSpPr/>
          <p:nvPr/>
        </p:nvSpPr>
        <p:spPr>
          <a:xfrm>
            <a:off x="8130600" y="1357200"/>
            <a:ext cx="3720960" cy="353844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6" name="Shape 30"/>
          <p:cNvSpPr/>
          <p:nvPr/>
        </p:nvSpPr>
        <p:spPr>
          <a:xfrm>
            <a:off x="8336880" y="1563840"/>
            <a:ext cx="331560" cy="33156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7" name="Text 31"/>
          <p:cNvSpPr/>
          <p:nvPr/>
        </p:nvSpPr>
        <p:spPr>
          <a:xfrm>
            <a:off x="8273520" y="1539720"/>
            <a:ext cx="3632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68" name="Text 32"/>
          <p:cNvSpPr/>
          <p:nvPr/>
        </p:nvSpPr>
        <p:spPr>
          <a:xfrm>
            <a:off x="8789400" y="1619280"/>
            <a:ext cx="118872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REGULATORY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69" name="Shape 33"/>
          <p:cNvSpPr/>
          <p:nvPr/>
        </p:nvSpPr>
        <p:spPr>
          <a:xfrm>
            <a:off x="8328960" y="206388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0" name="Text 34"/>
          <p:cNvSpPr/>
          <p:nvPr/>
        </p:nvSpPr>
        <p:spPr>
          <a:xfrm>
            <a:off x="8440200" y="217476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Government Bans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1" name="Text 35"/>
          <p:cNvSpPr/>
          <p:nvPr/>
        </p:nvSpPr>
        <p:spPr>
          <a:xfrm>
            <a:off x="8440200" y="242892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China banned mining and trading in 2021. Other countries could follow, restricting adoption.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2" name="Shape 36"/>
          <p:cNvSpPr/>
          <p:nvPr/>
        </p:nvSpPr>
        <p:spPr>
          <a:xfrm>
            <a:off x="8328960" y="298440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3" name="Text 37"/>
          <p:cNvSpPr/>
          <p:nvPr/>
        </p:nvSpPr>
        <p:spPr>
          <a:xfrm>
            <a:off x="8440200" y="309564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Taxation &amp; Reporting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4" name="Text 38"/>
          <p:cNvSpPr/>
          <p:nvPr/>
        </p:nvSpPr>
        <p:spPr>
          <a:xfrm>
            <a:off x="8440200" y="334980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Complex tax treatment. Heavy reporting requirements could deter mainstream adoption.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5" name="Shape 39"/>
          <p:cNvSpPr/>
          <p:nvPr/>
        </p:nvSpPr>
        <p:spPr>
          <a:xfrm>
            <a:off x="8328960" y="390528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6" name="Text 40"/>
          <p:cNvSpPr/>
          <p:nvPr/>
        </p:nvSpPr>
        <p:spPr>
          <a:xfrm>
            <a:off x="8440200" y="401652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7" name="Text 41"/>
          <p:cNvSpPr/>
          <p:nvPr/>
        </p:nvSpPr>
        <p:spPr>
          <a:xfrm>
            <a:off x="8440200" y="427032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Regulatory clarity emerging (US ETF approval, EU MiCA). Compliance infrastructure improving.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8" name="Shape 42"/>
          <p:cNvSpPr/>
          <p:nvPr/>
        </p:nvSpPr>
        <p:spPr>
          <a:xfrm>
            <a:off x="341280" y="5072040"/>
            <a:ext cx="3720960" cy="353844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79" name="Shape 43"/>
          <p:cNvSpPr/>
          <p:nvPr/>
        </p:nvSpPr>
        <p:spPr>
          <a:xfrm>
            <a:off x="547560" y="5278320"/>
            <a:ext cx="331560" cy="33156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0" name="Text 44"/>
          <p:cNvSpPr/>
          <p:nvPr/>
        </p:nvSpPr>
        <p:spPr>
          <a:xfrm>
            <a:off x="484200" y="5254560"/>
            <a:ext cx="3632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81" name="Text 45"/>
          <p:cNvSpPr/>
          <p:nvPr/>
        </p:nvSpPr>
        <p:spPr>
          <a:xfrm>
            <a:off x="1000080" y="5334120"/>
            <a:ext cx="11808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COMPETITION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82" name="Shape 46"/>
          <p:cNvSpPr/>
          <p:nvPr/>
        </p:nvSpPr>
        <p:spPr>
          <a:xfrm>
            <a:off x="539640" y="577836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3" name="Text 47"/>
          <p:cNvSpPr/>
          <p:nvPr/>
        </p:nvSpPr>
        <p:spPr>
          <a:xfrm>
            <a:off x="650880" y="588960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Ethereum &amp; Smart Contracts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84" name="Text 48"/>
          <p:cNvSpPr/>
          <p:nvPr/>
        </p:nvSpPr>
        <p:spPr>
          <a:xfrm>
            <a:off x="650880" y="614376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Superior programmability, DeFi ecosystem, NFTs. ETH market cap ~$300B+.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85" name="Shape 49"/>
          <p:cNvSpPr/>
          <p:nvPr/>
        </p:nvSpPr>
        <p:spPr>
          <a:xfrm>
            <a:off x="539640" y="669924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6" name="Text 50"/>
          <p:cNvSpPr/>
          <p:nvPr/>
        </p:nvSpPr>
        <p:spPr>
          <a:xfrm>
            <a:off x="650880" y="681048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Solana &amp; High-Speed Chains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87" name="Text 51"/>
          <p:cNvSpPr/>
          <p:nvPr/>
        </p:nvSpPr>
        <p:spPr>
          <a:xfrm>
            <a:off x="650880" y="706428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65,000 TPS, sub-cent fees, growing ecosystem. Could capture payment use cases.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88" name="Shape 52"/>
          <p:cNvSpPr/>
          <p:nvPr/>
        </p:nvSpPr>
        <p:spPr>
          <a:xfrm>
            <a:off x="539640" y="762012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9" name="Text 53"/>
          <p:cNvSpPr/>
          <p:nvPr/>
        </p:nvSpPr>
        <p:spPr>
          <a:xfrm>
            <a:off x="650880" y="773100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CBDCs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90" name="Text 54"/>
          <p:cNvSpPr/>
          <p:nvPr/>
        </p:nvSpPr>
        <p:spPr>
          <a:xfrm>
            <a:off x="650880" y="798516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Central bank digital currencies (China's e-yuan) could compete for digital payments.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91" name="Shape 55"/>
          <p:cNvSpPr/>
          <p:nvPr/>
        </p:nvSpPr>
        <p:spPr>
          <a:xfrm>
            <a:off x="4236120" y="5072040"/>
            <a:ext cx="3720960" cy="353844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92" name="Shape 56"/>
          <p:cNvSpPr/>
          <p:nvPr/>
        </p:nvSpPr>
        <p:spPr>
          <a:xfrm>
            <a:off x="4442400" y="5278320"/>
            <a:ext cx="331560" cy="33156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3" name="Text 57"/>
          <p:cNvSpPr/>
          <p:nvPr/>
        </p:nvSpPr>
        <p:spPr>
          <a:xfrm>
            <a:off x="4378680" y="5254560"/>
            <a:ext cx="3632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94" name="Text 58"/>
          <p:cNvSpPr/>
          <p:nvPr/>
        </p:nvSpPr>
        <p:spPr>
          <a:xfrm>
            <a:off x="4894920" y="5334120"/>
            <a:ext cx="147456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CENTRALIZATION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95" name="Shape 59"/>
          <p:cNvSpPr/>
          <p:nvPr/>
        </p:nvSpPr>
        <p:spPr>
          <a:xfrm>
            <a:off x="4434480" y="577836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6" name="Text 60"/>
          <p:cNvSpPr/>
          <p:nvPr/>
        </p:nvSpPr>
        <p:spPr>
          <a:xfrm>
            <a:off x="4545360" y="588960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Mining Pool Concentration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97" name="Text 61"/>
          <p:cNvSpPr/>
          <p:nvPr/>
        </p:nvSpPr>
        <p:spPr>
          <a:xfrm>
            <a:off x="4545360" y="614376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Top 5 pools control ~55% of hashrate. Foundry USA alone has ~35%.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98" name="Shape 62"/>
          <p:cNvSpPr/>
          <p:nvPr/>
        </p:nvSpPr>
        <p:spPr>
          <a:xfrm>
            <a:off x="4434480" y="669924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9" name="Text 63"/>
          <p:cNvSpPr/>
          <p:nvPr/>
        </p:nvSpPr>
        <p:spPr>
          <a:xfrm>
            <a:off x="4545360" y="681048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Large Holder Influence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00" name="Text 64"/>
          <p:cNvSpPr/>
          <p:nvPr/>
        </p:nvSpPr>
        <p:spPr>
          <a:xfrm>
            <a:off x="4545360" y="706428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"Whales" with 1,000+ BTC can move markets. Satoshi's 1M BTC remains untouched.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01" name="Shape 65"/>
          <p:cNvSpPr/>
          <p:nvPr/>
        </p:nvSpPr>
        <p:spPr>
          <a:xfrm>
            <a:off x="4434480" y="762012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2" name="Text 66"/>
          <p:cNvSpPr/>
          <p:nvPr/>
        </p:nvSpPr>
        <p:spPr>
          <a:xfrm>
            <a:off x="4545360" y="773100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03" name="Text 67"/>
          <p:cNvSpPr/>
          <p:nvPr/>
        </p:nvSpPr>
        <p:spPr>
          <a:xfrm>
            <a:off x="4545360" y="798516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Stratum V2 protocol gives miners more control. Geographic distribution improving.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04" name="Shape 68"/>
          <p:cNvSpPr/>
          <p:nvPr/>
        </p:nvSpPr>
        <p:spPr>
          <a:xfrm>
            <a:off x="8130600" y="5072040"/>
            <a:ext cx="3720960" cy="353844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05" name="Shape 69"/>
          <p:cNvSpPr/>
          <p:nvPr/>
        </p:nvSpPr>
        <p:spPr>
          <a:xfrm>
            <a:off x="8336880" y="5278320"/>
            <a:ext cx="331560" cy="33156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6" name="Text 70"/>
          <p:cNvSpPr/>
          <p:nvPr/>
        </p:nvSpPr>
        <p:spPr>
          <a:xfrm>
            <a:off x="8273520" y="5254560"/>
            <a:ext cx="36324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07" name="Text 71"/>
          <p:cNvSpPr/>
          <p:nvPr/>
        </p:nvSpPr>
        <p:spPr>
          <a:xfrm>
            <a:off x="8789400" y="5334120"/>
            <a:ext cx="15220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RISKS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08" name="Shape 72"/>
          <p:cNvSpPr/>
          <p:nvPr/>
        </p:nvSpPr>
        <p:spPr>
          <a:xfrm>
            <a:off x="8328960" y="577836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9" name="Text 73"/>
          <p:cNvSpPr/>
          <p:nvPr/>
        </p:nvSpPr>
        <p:spPr>
          <a:xfrm>
            <a:off x="8440200" y="588960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Quantum Computing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0" name="Text 74"/>
          <p:cNvSpPr/>
          <p:nvPr/>
        </p:nvSpPr>
        <p:spPr>
          <a:xfrm>
            <a:off x="8440200" y="614376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Future quantum computers could break SHA-256. Bitcoin would need to upgrade cryptography.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11" name="Shape 75"/>
          <p:cNvSpPr/>
          <p:nvPr/>
        </p:nvSpPr>
        <p:spPr>
          <a:xfrm>
            <a:off x="8328960" y="669924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2" name="Text 76"/>
          <p:cNvSpPr/>
          <p:nvPr/>
        </p:nvSpPr>
        <p:spPr>
          <a:xfrm>
            <a:off x="8440200" y="681048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Protocol Bugs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3" name="Text 77"/>
          <p:cNvSpPr/>
          <p:nvPr/>
        </p:nvSpPr>
        <p:spPr>
          <a:xfrm>
            <a:off x="8440200" y="706428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Critical vulnerability could be exploited. 2010 inflation bug created 184 billion BTC (quickly fixed).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14" name="Shape 78"/>
          <p:cNvSpPr/>
          <p:nvPr/>
        </p:nvSpPr>
        <p:spPr>
          <a:xfrm>
            <a:off x="8328960" y="7620120"/>
            <a:ext cx="3323880" cy="79200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5" name="Text 79"/>
          <p:cNvSpPr/>
          <p:nvPr/>
        </p:nvSpPr>
        <p:spPr>
          <a:xfrm>
            <a:off x="8440200" y="7731000"/>
            <a:ext cx="31651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6" name="Text 80"/>
          <p:cNvSpPr/>
          <p:nvPr/>
        </p:nvSpPr>
        <p:spPr>
          <a:xfrm>
            <a:off x="8440200" y="7985160"/>
            <a:ext cx="31572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Conservative development, extensive testing, slow upgrade process minimizes risk.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8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9" name="Shape 1"/>
          <p:cNvSpPr/>
          <p:nvPr/>
        </p:nvSpPr>
        <p:spPr>
          <a:xfrm>
            <a:off x="409680" y="781200"/>
            <a:ext cx="8475480" cy="396072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20" name="Shape 2"/>
          <p:cNvSpPr/>
          <p:nvPr/>
        </p:nvSpPr>
        <p:spPr>
          <a:xfrm>
            <a:off x="923760" y="1295280"/>
            <a:ext cx="855360" cy="85536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1" name="Text 3"/>
          <p:cNvSpPr/>
          <p:nvPr/>
        </p:nvSpPr>
        <p:spPr>
          <a:xfrm>
            <a:off x="781200" y="1266840"/>
            <a:ext cx="102708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22" name="Shape 4"/>
          <p:cNvSpPr/>
          <p:nvPr/>
        </p:nvSpPr>
        <p:spPr>
          <a:xfrm>
            <a:off x="2038320" y="1266840"/>
            <a:ext cx="74520" cy="91260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3" name="Text 5"/>
          <p:cNvSpPr/>
          <p:nvPr/>
        </p:nvSpPr>
        <p:spPr>
          <a:xfrm>
            <a:off x="895320" y="2486160"/>
            <a:ext cx="7846920" cy="85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924" name="Shape 6"/>
          <p:cNvSpPr/>
          <p:nvPr/>
        </p:nvSpPr>
        <p:spPr>
          <a:xfrm>
            <a:off x="895320" y="3571920"/>
            <a:ext cx="1827000" cy="7452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5" name="Text 7"/>
          <p:cNvSpPr/>
          <p:nvPr/>
        </p:nvSpPr>
        <p:spPr>
          <a:xfrm>
            <a:off x="895320" y="3876840"/>
            <a:ext cx="767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Predictions &amp; Scenarios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926" name="Shape 8"/>
          <p:cNvSpPr/>
          <p:nvPr/>
        </p:nvSpPr>
        <p:spPr>
          <a:xfrm>
            <a:off x="409680" y="5257800"/>
            <a:ext cx="11370960" cy="81720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7" name="Text 9"/>
          <p:cNvSpPr/>
          <p:nvPr/>
        </p:nvSpPr>
        <p:spPr>
          <a:xfrm>
            <a:off x="666720" y="5514840"/>
            <a:ext cx="10971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Expert Forecasts &amp; Price Targets for 2025-2030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Shape 0"/>
          <p:cNvSpPr/>
          <p:nvPr/>
        </p:nvSpPr>
        <p:spPr>
          <a:xfrm>
            <a:off x="341280" y="341280"/>
            <a:ext cx="11507400" cy="83952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9" name="Text 1"/>
          <p:cNvSpPr/>
          <p:nvPr/>
        </p:nvSpPr>
        <p:spPr>
          <a:xfrm>
            <a:off x="523800" y="523800"/>
            <a:ext cx="112852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2025-2030: EXPERT PREDICTIONS &amp; SCENARIOS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930" name="Shape 2"/>
          <p:cNvSpPr/>
          <p:nvPr/>
        </p:nvSpPr>
        <p:spPr>
          <a:xfrm>
            <a:off x="523800" y="936720"/>
            <a:ext cx="760320" cy="6156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31" name="Shape 3"/>
          <p:cNvSpPr/>
          <p:nvPr/>
        </p:nvSpPr>
        <p:spPr>
          <a:xfrm>
            <a:off x="341280" y="1357200"/>
            <a:ext cx="6221160" cy="3570120"/>
          </a:xfrm>
          <a:custGeom>
            <a:avLst/>
            <a:gdLst/>
            <a:ahLst/>
            <a:rect l="l" t="t" r="r" b="b"/>
            <a:pathLst>
              <a:path w="6223000" h="3571875">
                <a:moveTo>
                  <a:pt x="0" y="0"/>
                </a:moveTo>
                <a:lnTo>
                  <a:pt x="6223000" y="0"/>
                </a:lnTo>
                <a:lnTo>
                  <a:pt x="62230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32" name="Text 4"/>
          <p:cNvSpPr/>
          <p:nvPr/>
        </p:nvSpPr>
        <p:spPr>
          <a:xfrm>
            <a:off x="523800" y="1539720"/>
            <a:ext cx="595116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PRICE TARGETS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3" name="Shape 5"/>
          <p:cNvSpPr/>
          <p:nvPr/>
        </p:nvSpPr>
        <p:spPr>
          <a:xfrm>
            <a:off x="539640" y="1936800"/>
            <a:ext cx="5824440" cy="919080"/>
          </a:xfrm>
          <a:custGeom>
            <a:avLst/>
            <a:gdLst/>
            <a:ah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34" name="Text 6"/>
          <p:cNvSpPr/>
          <p:nvPr/>
        </p:nvSpPr>
        <p:spPr>
          <a:xfrm>
            <a:off x="650880" y="2063880"/>
            <a:ext cx="9428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2025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35" name="Text 7"/>
          <p:cNvSpPr/>
          <p:nvPr/>
        </p:nvSpPr>
        <p:spPr>
          <a:xfrm>
            <a:off x="4961160" y="2048040"/>
            <a:ext cx="1387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$120K - $285K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6" name="Text 8"/>
          <p:cNvSpPr/>
          <p:nvPr/>
        </p:nvSpPr>
        <p:spPr>
          <a:xfrm>
            <a:off x="650880" y="2365200"/>
            <a:ext cx="28238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Standard Chartered: $200K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7" name="Text 9"/>
          <p:cNvSpPr/>
          <p:nvPr/>
        </p:nvSpPr>
        <p:spPr>
          <a:xfrm>
            <a:off x="3483720" y="2365200"/>
            <a:ext cx="28238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Fundstrat: $250K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8" name="Text 10"/>
          <p:cNvSpPr/>
          <p:nvPr/>
        </p:nvSpPr>
        <p:spPr>
          <a:xfrm>
            <a:off x="650880" y="2587680"/>
            <a:ext cx="28238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H.C. Wainwright: $225K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9" name="Text 11"/>
          <p:cNvSpPr/>
          <p:nvPr/>
        </p:nvSpPr>
        <p:spPr>
          <a:xfrm>
            <a:off x="3483720" y="2587680"/>
            <a:ext cx="28238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21st Capital: $285K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0" name="Shape 12"/>
          <p:cNvSpPr/>
          <p:nvPr/>
        </p:nvSpPr>
        <p:spPr>
          <a:xfrm>
            <a:off x="539640" y="2984400"/>
            <a:ext cx="5824440" cy="696600"/>
          </a:xfrm>
          <a:custGeom>
            <a:avLst/>
            <a:gdLst/>
            <a:ahLst/>
            <a:rect l="l" t="t" r="r" b="b"/>
            <a:pathLst>
              <a:path w="5826125" h="698500">
                <a:moveTo>
                  <a:pt x="0" y="0"/>
                </a:moveTo>
                <a:lnTo>
                  <a:pt x="5826125" y="0"/>
                </a:lnTo>
                <a:lnTo>
                  <a:pt x="582612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1" name="Text 13"/>
          <p:cNvSpPr/>
          <p:nvPr/>
        </p:nvSpPr>
        <p:spPr>
          <a:xfrm>
            <a:off x="650880" y="3111480"/>
            <a:ext cx="9428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2026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42" name="Text 14"/>
          <p:cNvSpPr/>
          <p:nvPr/>
        </p:nvSpPr>
        <p:spPr>
          <a:xfrm>
            <a:off x="5067000" y="3095640"/>
            <a:ext cx="12762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$78K - $142K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3" name="Text 15"/>
          <p:cNvSpPr/>
          <p:nvPr/>
        </p:nvSpPr>
        <p:spPr>
          <a:xfrm>
            <a:off x="650880" y="3413160"/>
            <a:ext cx="56577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Consolidation after 2025 peak, continued ETF inflows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4" name="Shape 16"/>
          <p:cNvSpPr/>
          <p:nvPr/>
        </p:nvSpPr>
        <p:spPr>
          <a:xfrm>
            <a:off x="539640" y="3809880"/>
            <a:ext cx="5824440" cy="919080"/>
          </a:xfrm>
          <a:custGeom>
            <a:avLst/>
            <a:gdLst/>
            <a:ah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5" name="Text 17"/>
          <p:cNvSpPr/>
          <p:nvPr/>
        </p:nvSpPr>
        <p:spPr>
          <a:xfrm>
            <a:off x="650880" y="3936960"/>
            <a:ext cx="9428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2030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46" name="Text 18"/>
          <p:cNvSpPr/>
          <p:nvPr/>
        </p:nvSpPr>
        <p:spPr>
          <a:xfrm>
            <a:off x="4992840" y="3921120"/>
            <a:ext cx="1355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$109K - $1.5M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7" name="Text 19"/>
          <p:cNvSpPr/>
          <p:nvPr/>
        </p:nvSpPr>
        <p:spPr>
          <a:xfrm>
            <a:off x="650880" y="4238640"/>
            <a:ext cx="28238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Jack Dorsey: $1M+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8" name="Text 20"/>
          <p:cNvSpPr/>
          <p:nvPr/>
        </p:nvSpPr>
        <p:spPr>
          <a:xfrm>
            <a:off x="3483720" y="4238640"/>
            <a:ext cx="28238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Cathie Wood: $1.5M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9" name="Text 21"/>
          <p:cNvSpPr/>
          <p:nvPr/>
        </p:nvSpPr>
        <p:spPr>
          <a:xfrm>
            <a:off x="650880" y="4460760"/>
            <a:ext cx="28238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JPMorgan: $170K-266K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0" name="Text 22"/>
          <p:cNvSpPr/>
          <p:nvPr/>
        </p:nvSpPr>
        <p:spPr>
          <a:xfrm>
            <a:off x="3483720" y="4460760"/>
            <a:ext cx="28238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Conservative: $109K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1" name="Shape 23"/>
          <p:cNvSpPr/>
          <p:nvPr/>
        </p:nvSpPr>
        <p:spPr>
          <a:xfrm>
            <a:off x="341280" y="5103720"/>
            <a:ext cx="6221160" cy="3315960"/>
          </a:xfrm>
          <a:custGeom>
            <a:avLst/>
            <a:gdLst/>
            <a:ahLst/>
            <a:rect l="l" t="t" r="r" b="b"/>
            <a:pathLst>
              <a:path w="6223000" h="3317875">
                <a:moveTo>
                  <a:pt x="0" y="0"/>
                </a:moveTo>
                <a:lnTo>
                  <a:pt x="6223000" y="0"/>
                </a:lnTo>
                <a:lnTo>
                  <a:pt x="6223000" y="3317875"/>
                </a:lnTo>
                <a:lnTo>
                  <a:pt x="0" y="3317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52" name="Text 24"/>
          <p:cNvSpPr/>
          <p:nvPr/>
        </p:nvSpPr>
        <p:spPr>
          <a:xfrm>
            <a:off x="523800" y="5286240"/>
            <a:ext cx="595116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CATALYSTS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53" name="Shape 25"/>
          <p:cNvSpPr/>
          <p:nvPr/>
        </p:nvSpPr>
        <p:spPr>
          <a:xfrm>
            <a:off x="539640" y="5683320"/>
            <a:ext cx="2847600" cy="76032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4" name="Text 26"/>
          <p:cNvSpPr/>
          <p:nvPr/>
        </p:nvSpPr>
        <p:spPr>
          <a:xfrm>
            <a:off x="650880" y="5794200"/>
            <a:ext cx="26888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Inflows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55" name="Text 27"/>
          <p:cNvSpPr/>
          <p:nvPr/>
        </p:nvSpPr>
        <p:spPr>
          <a:xfrm>
            <a:off x="650880" y="6016680"/>
            <a:ext cx="2680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Continued institutional buying through regulated vehicles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6" name="Shape 28"/>
          <p:cNvSpPr/>
          <p:nvPr/>
        </p:nvSpPr>
        <p:spPr>
          <a:xfrm>
            <a:off x="3515400" y="5683320"/>
            <a:ext cx="2847600" cy="76032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7" name="Text 29"/>
          <p:cNvSpPr/>
          <p:nvPr/>
        </p:nvSpPr>
        <p:spPr>
          <a:xfrm>
            <a:off x="3626640" y="5794200"/>
            <a:ext cx="26888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58" name="Text 30"/>
          <p:cNvSpPr/>
          <p:nvPr/>
        </p:nvSpPr>
        <p:spPr>
          <a:xfrm>
            <a:off x="3626640" y="6016680"/>
            <a:ext cx="2680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More companies following MicroStrategy's Bitcoin strategy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9" name="Shape 31"/>
          <p:cNvSpPr/>
          <p:nvPr/>
        </p:nvSpPr>
        <p:spPr>
          <a:xfrm>
            <a:off x="539640" y="6572160"/>
            <a:ext cx="2847600" cy="76032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0" name="Text 32"/>
          <p:cNvSpPr/>
          <p:nvPr/>
        </p:nvSpPr>
        <p:spPr>
          <a:xfrm>
            <a:off x="650880" y="6683400"/>
            <a:ext cx="26888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1" name="Text 33"/>
          <p:cNvSpPr/>
          <p:nvPr/>
        </p:nvSpPr>
        <p:spPr>
          <a:xfrm>
            <a:off x="650880" y="6905520"/>
            <a:ext cx="2680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More countries making Bitcoin legal tender or reserve asset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2" name="Shape 34"/>
          <p:cNvSpPr/>
          <p:nvPr/>
        </p:nvSpPr>
        <p:spPr>
          <a:xfrm>
            <a:off x="3515400" y="6572160"/>
            <a:ext cx="2847600" cy="76032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3" name="Text 35"/>
          <p:cNvSpPr/>
          <p:nvPr/>
        </p:nvSpPr>
        <p:spPr>
          <a:xfrm>
            <a:off x="3626640" y="6683400"/>
            <a:ext cx="26888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2028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4" name="Text 36"/>
          <p:cNvSpPr/>
          <p:nvPr/>
        </p:nvSpPr>
        <p:spPr>
          <a:xfrm>
            <a:off x="3626640" y="6905520"/>
            <a:ext cx="2680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Next supply shock reduces new issuance to 1.5625 BTC/block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5" name="Shape 37"/>
          <p:cNvSpPr/>
          <p:nvPr/>
        </p:nvSpPr>
        <p:spPr>
          <a:xfrm>
            <a:off x="539640" y="7461360"/>
            <a:ext cx="2847600" cy="76032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6" name="Text 38"/>
          <p:cNvSpPr/>
          <p:nvPr/>
        </p:nvSpPr>
        <p:spPr>
          <a:xfrm>
            <a:off x="650880" y="7572240"/>
            <a:ext cx="26888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Favorable Regulation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7" name="Text 39"/>
          <p:cNvSpPr/>
          <p:nvPr/>
        </p:nvSpPr>
        <p:spPr>
          <a:xfrm>
            <a:off x="650880" y="7794720"/>
            <a:ext cx="268092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Pro-crypto US administration, global regulatory clarity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8" name="Shape 40"/>
          <p:cNvSpPr/>
          <p:nvPr/>
        </p:nvSpPr>
        <p:spPr>
          <a:xfrm>
            <a:off x="3515400" y="7461360"/>
            <a:ext cx="2847600" cy="76032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9" name="Text 41"/>
          <p:cNvSpPr/>
          <p:nvPr/>
        </p:nvSpPr>
        <p:spPr>
          <a:xfrm>
            <a:off x="3626640" y="7572240"/>
            <a:ext cx="26888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Layer 2 Growth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70" name="Text 42"/>
          <p:cNvSpPr/>
          <p:nvPr/>
        </p:nvSpPr>
        <p:spPr>
          <a:xfrm>
            <a:off x="3626640" y="7794720"/>
            <a:ext cx="2680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enables everyday payments at scale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71" name="Shape 43"/>
          <p:cNvSpPr/>
          <p:nvPr/>
        </p:nvSpPr>
        <p:spPr>
          <a:xfrm>
            <a:off x="6769080" y="1357200"/>
            <a:ext cx="5078160" cy="6078240"/>
          </a:xfrm>
          <a:custGeom>
            <a:avLst/>
            <a:gdLst/>
            <a:ahLst/>
            <a:rect l="l" t="t" r="r" b="b"/>
            <a:pathLst>
              <a:path w="5080000" h="6080125">
                <a:moveTo>
                  <a:pt x="0" y="0"/>
                </a:moveTo>
                <a:lnTo>
                  <a:pt x="5080000" y="0"/>
                </a:lnTo>
                <a:lnTo>
                  <a:pt x="5080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72" name="Text 44"/>
          <p:cNvSpPr/>
          <p:nvPr/>
        </p:nvSpPr>
        <p:spPr>
          <a:xfrm>
            <a:off x="6951600" y="1539720"/>
            <a:ext cx="480816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 SCENARIOS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73" name="Shape 45"/>
          <p:cNvSpPr/>
          <p:nvPr/>
        </p:nvSpPr>
        <p:spPr>
          <a:xfrm>
            <a:off x="6967440" y="1936800"/>
            <a:ext cx="4681440" cy="1712880"/>
          </a:xfrm>
          <a:custGeom>
            <a:avLst/>
            <a:gdLst/>
            <a:ah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4" name="Shape 46"/>
          <p:cNvSpPr/>
          <p:nvPr/>
        </p:nvSpPr>
        <p:spPr>
          <a:xfrm>
            <a:off x="7134120" y="2103480"/>
            <a:ext cx="268200" cy="26820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e7000b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5" name="Text 47"/>
          <p:cNvSpPr/>
          <p:nvPr/>
        </p:nvSpPr>
        <p:spPr>
          <a:xfrm>
            <a:off x="7078680" y="2079720"/>
            <a:ext cx="2840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76" name="Text 48"/>
          <p:cNvSpPr/>
          <p:nvPr/>
        </p:nvSpPr>
        <p:spPr>
          <a:xfrm>
            <a:off x="7523280" y="2127240"/>
            <a:ext cx="101412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BEAR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77" name="Text 49"/>
          <p:cNvSpPr/>
          <p:nvPr/>
        </p:nvSpPr>
        <p:spPr>
          <a:xfrm>
            <a:off x="7110360" y="2460600"/>
            <a:ext cx="451476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e7000b"/>
                </a:solidFill>
                <a:latin typeface="Noto Sans SC"/>
                <a:ea typeface="Noto Sans SC"/>
              </a:rPr>
              <a:t>$50K - $75K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78" name="Text 50"/>
          <p:cNvSpPr/>
          <p:nvPr/>
        </p:nvSpPr>
        <p:spPr>
          <a:xfrm>
            <a:off x="7110360" y="2809800"/>
            <a:ext cx="44510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Regulatory crackdowns, major exchange failure, prolonged recession, quantum computing breakthrough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79" name="Text 51"/>
          <p:cNvSpPr/>
          <p:nvPr/>
        </p:nvSpPr>
        <p:spPr>
          <a:xfrm>
            <a:off x="7110360" y="3191040"/>
            <a:ext cx="44510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survives but struggles to gain mainstream traction. Volatility remains high, institutional interest wanes.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0" name="Shape 52"/>
          <p:cNvSpPr/>
          <p:nvPr/>
        </p:nvSpPr>
        <p:spPr>
          <a:xfrm>
            <a:off x="6967440" y="3809880"/>
            <a:ext cx="4681440" cy="1554120"/>
          </a:xfrm>
          <a:custGeom>
            <a:avLst/>
            <a:gdLst/>
            <a:ahLst/>
            <a:rect l="l" t="t" r="r" b="b"/>
            <a:pathLst>
              <a:path w="4683125" h="1555750">
                <a:moveTo>
                  <a:pt x="0" y="0"/>
                </a:moveTo>
                <a:lnTo>
                  <a:pt x="4683125" y="0"/>
                </a:lnTo>
                <a:lnTo>
                  <a:pt x="4683125" y="1555750"/>
                </a:lnTo>
                <a:lnTo>
                  <a:pt x="0" y="155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1" name="Shape 53"/>
          <p:cNvSpPr/>
          <p:nvPr/>
        </p:nvSpPr>
        <p:spPr>
          <a:xfrm>
            <a:off x="7134120" y="3976560"/>
            <a:ext cx="268200" cy="26820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2" name="Text 54"/>
          <p:cNvSpPr/>
          <p:nvPr/>
        </p:nvSpPr>
        <p:spPr>
          <a:xfrm>
            <a:off x="7078680" y="3952800"/>
            <a:ext cx="2840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83" name="Text 55"/>
          <p:cNvSpPr/>
          <p:nvPr/>
        </p:nvSpPr>
        <p:spPr>
          <a:xfrm>
            <a:off x="7523280" y="4000680"/>
            <a:ext cx="10062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BASE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84" name="Text 56"/>
          <p:cNvSpPr/>
          <p:nvPr/>
        </p:nvSpPr>
        <p:spPr>
          <a:xfrm>
            <a:off x="7110360" y="4334040"/>
            <a:ext cx="451476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d08700"/>
                </a:solidFill>
                <a:latin typeface="Noto Sans SC"/>
                <a:ea typeface="Noto Sans SC"/>
              </a:rPr>
              <a:t>$150K - $250K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5" name="Text 57"/>
          <p:cNvSpPr/>
          <p:nvPr/>
        </p:nvSpPr>
        <p:spPr>
          <a:xfrm>
            <a:off x="7110360" y="4683240"/>
            <a:ext cx="445104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Steady ETF inflows, corporate adoption, favorable regulation, 2028 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6" name="Text 58"/>
          <p:cNvSpPr/>
          <p:nvPr/>
        </p:nvSpPr>
        <p:spPr>
          <a:xfrm>
            <a:off x="7110360" y="4905360"/>
            <a:ext cx="44510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established store of value, "digital gold" thesis validated. Volatility decreases as market matures.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7" name="Shape 59"/>
          <p:cNvSpPr/>
          <p:nvPr/>
        </p:nvSpPr>
        <p:spPr>
          <a:xfrm>
            <a:off x="6967440" y="5524560"/>
            <a:ext cx="4681440" cy="1712880"/>
          </a:xfrm>
          <a:custGeom>
            <a:avLst/>
            <a:gdLst/>
            <a:ah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8" name="Shape 60"/>
          <p:cNvSpPr/>
          <p:nvPr/>
        </p:nvSpPr>
        <p:spPr>
          <a:xfrm>
            <a:off x="7134120" y="5691240"/>
            <a:ext cx="268200" cy="26820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a63e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9" name="Text 61"/>
          <p:cNvSpPr/>
          <p:nvPr/>
        </p:nvSpPr>
        <p:spPr>
          <a:xfrm>
            <a:off x="7078680" y="5667480"/>
            <a:ext cx="2840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90" name="Text 62"/>
          <p:cNvSpPr/>
          <p:nvPr/>
        </p:nvSpPr>
        <p:spPr>
          <a:xfrm>
            <a:off x="7523280" y="5715000"/>
            <a:ext cx="98244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BULL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91" name="Text 63"/>
          <p:cNvSpPr/>
          <p:nvPr/>
        </p:nvSpPr>
        <p:spPr>
          <a:xfrm>
            <a:off x="7110360" y="6048360"/>
            <a:ext cx="451476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a63e"/>
                </a:solidFill>
                <a:latin typeface="Noto Sans SC"/>
                <a:ea typeface="Noto Sans SC"/>
              </a:rPr>
              <a:t>$500K+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92" name="Text 64"/>
          <p:cNvSpPr/>
          <p:nvPr/>
        </p:nvSpPr>
        <p:spPr>
          <a:xfrm>
            <a:off x="7110360" y="6397560"/>
            <a:ext cx="44510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US strategic Bitcoin reserve, mass corporate adoption, nation-state FOMO, dollar crisis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93" name="Text 65"/>
          <p:cNvSpPr/>
          <p:nvPr/>
        </p:nvSpPr>
        <p:spPr>
          <a:xfrm>
            <a:off x="7110360" y="6778800"/>
            <a:ext cx="44510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global reserve asset, challenges gold's $16T market cap. Widespread use as savings technology.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5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6" name="Shape 1"/>
          <p:cNvSpPr/>
          <p:nvPr/>
        </p:nvSpPr>
        <p:spPr>
          <a:xfrm>
            <a:off x="6200640" y="781200"/>
            <a:ext cx="5580000" cy="3960720"/>
          </a:xfrm>
          <a:custGeom>
            <a:avLst/>
            <a:gdLst/>
            <a:ahLst/>
            <a:rect l="l" t="t" r="r" b="b"/>
            <a:pathLst>
              <a:path w="5581650" h="3962400">
                <a:moveTo>
                  <a:pt x="0" y="0"/>
                </a:moveTo>
                <a:lnTo>
                  <a:pt x="5581650" y="0"/>
                </a:lnTo>
                <a:lnTo>
                  <a:pt x="55816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97" name="Shape 2"/>
          <p:cNvSpPr/>
          <p:nvPr/>
        </p:nvSpPr>
        <p:spPr>
          <a:xfrm>
            <a:off x="10077480" y="1266840"/>
            <a:ext cx="74520" cy="91260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8" name="Shape 3"/>
          <p:cNvSpPr/>
          <p:nvPr/>
        </p:nvSpPr>
        <p:spPr>
          <a:xfrm>
            <a:off x="10410840" y="1295280"/>
            <a:ext cx="855360" cy="85536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9" name="Text 4"/>
          <p:cNvSpPr/>
          <p:nvPr/>
        </p:nvSpPr>
        <p:spPr>
          <a:xfrm>
            <a:off x="10267920" y="1266840"/>
            <a:ext cx="102708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000" name="Text 5"/>
          <p:cNvSpPr/>
          <p:nvPr/>
        </p:nvSpPr>
        <p:spPr>
          <a:xfrm>
            <a:off x="6343560" y="2486160"/>
            <a:ext cx="4951080" cy="85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001" name="Shape 6"/>
          <p:cNvSpPr/>
          <p:nvPr/>
        </p:nvSpPr>
        <p:spPr>
          <a:xfrm>
            <a:off x="9468000" y="3571920"/>
            <a:ext cx="1827000" cy="7452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2" name="Text 7"/>
          <p:cNvSpPr/>
          <p:nvPr/>
        </p:nvSpPr>
        <p:spPr>
          <a:xfrm>
            <a:off x="6515280" y="3876840"/>
            <a:ext cx="47797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Path Forward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003" name="Shape 8"/>
          <p:cNvSpPr/>
          <p:nvPr/>
        </p:nvSpPr>
        <p:spPr>
          <a:xfrm>
            <a:off x="7382880" y="5257800"/>
            <a:ext cx="4398840" cy="817200"/>
          </a:xfrm>
          <a:custGeom>
            <a:avLst/>
            <a:gdLst/>
            <a:ahLst/>
            <a:rect l="l" t="t" r="r" b="b"/>
            <a:pathLst>
              <a:path w="4400550" h="819150">
                <a:moveTo>
                  <a:pt x="0" y="0"/>
                </a:moveTo>
                <a:lnTo>
                  <a:pt x="4400550" y="0"/>
                </a:lnTo>
                <a:lnTo>
                  <a:pt x="44005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4" name="Text 9"/>
          <p:cNvSpPr/>
          <p:nvPr/>
        </p:nvSpPr>
        <p:spPr>
          <a:xfrm>
            <a:off x="7640280" y="5514840"/>
            <a:ext cx="3998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Takeaways &amp; Final Thoughts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Shape 0"/>
          <p:cNvSpPr/>
          <p:nvPr/>
        </p:nvSpPr>
        <p:spPr>
          <a:xfrm>
            <a:off x="341280" y="341280"/>
            <a:ext cx="11507400" cy="83952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6" name="Text 1"/>
          <p:cNvSpPr/>
          <p:nvPr/>
        </p:nvSpPr>
        <p:spPr>
          <a:xfrm>
            <a:off x="523800" y="523800"/>
            <a:ext cx="112852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TRAJECTORY: KEY TAKEAWAYS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07" name="Shape 2"/>
          <p:cNvSpPr/>
          <p:nvPr/>
        </p:nvSpPr>
        <p:spPr>
          <a:xfrm>
            <a:off x="523800" y="936720"/>
            <a:ext cx="760320" cy="6156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8" name="Shape 3"/>
          <p:cNvSpPr/>
          <p:nvPr/>
        </p:nvSpPr>
        <p:spPr>
          <a:xfrm>
            <a:off x="341280" y="1357200"/>
            <a:ext cx="5665680" cy="158580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09" name="Shape 4"/>
          <p:cNvSpPr/>
          <p:nvPr/>
        </p:nvSpPr>
        <p:spPr>
          <a:xfrm>
            <a:off x="547560" y="1563840"/>
            <a:ext cx="394920" cy="39492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0" name="Text 5"/>
          <p:cNvSpPr/>
          <p:nvPr/>
        </p:nvSpPr>
        <p:spPr>
          <a:xfrm>
            <a:off x="476280" y="1539720"/>
            <a:ext cx="442800" cy="3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1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1" name="Text 6"/>
          <p:cNvSpPr/>
          <p:nvPr/>
        </p:nvSpPr>
        <p:spPr>
          <a:xfrm>
            <a:off x="1095480" y="1539720"/>
            <a:ext cx="36493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EXPERIMENT TO ASSET CLASS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2" name="Text 7"/>
          <p:cNvSpPr/>
          <p:nvPr/>
        </p:nvSpPr>
        <p:spPr>
          <a:xfrm>
            <a:off x="523800" y="2079720"/>
            <a:ext cx="5364000" cy="61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has evolved from a cypherpunk experiment to a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globally recognized financial asset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with $1.47 trillion market cap. What started as an idea in a whitepaper is now held by institutions, corporations, and nation-states.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13" name="Shape 8"/>
          <p:cNvSpPr/>
          <p:nvPr/>
        </p:nvSpPr>
        <p:spPr>
          <a:xfrm>
            <a:off x="6183360" y="1357200"/>
            <a:ext cx="5665680" cy="158580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4" name="Shape 9"/>
          <p:cNvSpPr/>
          <p:nvPr/>
        </p:nvSpPr>
        <p:spPr>
          <a:xfrm>
            <a:off x="6389640" y="1563840"/>
            <a:ext cx="394920" cy="39492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5" name="Text 10"/>
          <p:cNvSpPr/>
          <p:nvPr/>
        </p:nvSpPr>
        <p:spPr>
          <a:xfrm>
            <a:off x="6318360" y="1539720"/>
            <a:ext cx="442800" cy="3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6" name="Text 11"/>
          <p:cNvSpPr/>
          <p:nvPr/>
        </p:nvSpPr>
        <p:spPr>
          <a:xfrm>
            <a:off x="6937200" y="1539720"/>
            <a:ext cx="4824360" cy="5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 CROSSED THE RUBICON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7" name="Text 12"/>
          <p:cNvSpPr/>
          <p:nvPr/>
        </p:nvSpPr>
        <p:spPr>
          <a:xfrm>
            <a:off x="6365880" y="2143080"/>
            <a:ext cx="5364000" cy="61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January 2024 ETF approval was a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watershed moment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. Wall Street has embraced Bitcoin, with $85B+ in ETF AUM, corporate treasury strategies, and major banks offering crypto services. This genie cannot be put back in the bottle.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18" name="Shape 13"/>
          <p:cNvSpPr/>
          <p:nvPr/>
        </p:nvSpPr>
        <p:spPr>
          <a:xfrm>
            <a:off x="341280" y="3119400"/>
            <a:ext cx="5665680" cy="158580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9" name="Shape 14"/>
          <p:cNvSpPr/>
          <p:nvPr/>
        </p:nvSpPr>
        <p:spPr>
          <a:xfrm>
            <a:off x="547560" y="3325680"/>
            <a:ext cx="394920" cy="39492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0" name="Text 15"/>
          <p:cNvSpPr/>
          <p:nvPr/>
        </p:nvSpPr>
        <p:spPr>
          <a:xfrm>
            <a:off x="476280" y="3301920"/>
            <a:ext cx="442800" cy="3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1" name="Text 16"/>
          <p:cNvSpPr/>
          <p:nvPr/>
        </p:nvSpPr>
        <p:spPr>
          <a:xfrm>
            <a:off x="1095480" y="3301920"/>
            <a:ext cx="4824360" cy="5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CREATE PREDICTABLE PATTERNS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2" name="Text 17"/>
          <p:cNvSpPr/>
          <p:nvPr/>
        </p:nvSpPr>
        <p:spPr>
          <a:xfrm>
            <a:off x="523800" y="3905280"/>
            <a:ext cx="5364000" cy="61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programmed scarcity mechanism has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historically preceded major bull runs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. The 2024 halving reduced daily new supply to 450 BTC (0.85% inflation), setting the stage for the next supply-demand imbalance.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23" name="Shape 18"/>
          <p:cNvSpPr/>
          <p:nvPr/>
        </p:nvSpPr>
        <p:spPr>
          <a:xfrm>
            <a:off x="6183360" y="3119400"/>
            <a:ext cx="5665680" cy="158580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24" name="Shape 19"/>
          <p:cNvSpPr/>
          <p:nvPr/>
        </p:nvSpPr>
        <p:spPr>
          <a:xfrm>
            <a:off x="6389640" y="3325680"/>
            <a:ext cx="394920" cy="39492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5" name="Text 20"/>
          <p:cNvSpPr/>
          <p:nvPr/>
        </p:nvSpPr>
        <p:spPr>
          <a:xfrm>
            <a:off x="6318360" y="3301920"/>
            <a:ext cx="442800" cy="3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4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6" name="Text 21"/>
          <p:cNvSpPr/>
          <p:nvPr/>
        </p:nvSpPr>
        <p:spPr>
          <a:xfrm>
            <a:off x="6937200" y="3301920"/>
            <a:ext cx="47527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REMAIN, BUT SOLUTIONS EMERGE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7" name="Text 22"/>
          <p:cNvSpPr/>
          <p:nvPr/>
        </p:nvSpPr>
        <p:spPr>
          <a:xfrm>
            <a:off x="6365880" y="3841920"/>
            <a:ext cx="5364000" cy="61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Scalability, energy consumption, and regulation are real challenges. However,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Layer 2 solutions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(Lightning Network), renewable energy adoption (~55% of mining), and regulatory clarity are addressing these issues.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28" name="Shape 23"/>
          <p:cNvSpPr/>
          <p:nvPr/>
        </p:nvSpPr>
        <p:spPr>
          <a:xfrm>
            <a:off x="341280" y="4881600"/>
            <a:ext cx="5665680" cy="1522080"/>
          </a:xfrm>
          <a:custGeom>
            <a:avLst/>
            <a:gdLst/>
            <a:ah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29" name="Shape 24"/>
          <p:cNvSpPr/>
          <p:nvPr/>
        </p:nvSpPr>
        <p:spPr>
          <a:xfrm>
            <a:off x="547560" y="5087880"/>
            <a:ext cx="394920" cy="39492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0" name="Text 25"/>
          <p:cNvSpPr/>
          <p:nvPr/>
        </p:nvSpPr>
        <p:spPr>
          <a:xfrm>
            <a:off x="476280" y="5064120"/>
            <a:ext cx="442800" cy="3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5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1" name="Text 26"/>
          <p:cNvSpPr/>
          <p:nvPr/>
        </p:nvSpPr>
        <p:spPr>
          <a:xfrm>
            <a:off x="1095480" y="5064120"/>
            <a:ext cx="32605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"DIGITAL GOLD" STILL EVOLVING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2" name="Text 27"/>
          <p:cNvSpPr/>
          <p:nvPr/>
        </p:nvSpPr>
        <p:spPr>
          <a:xfrm>
            <a:off x="523800" y="5603760"/>
            <a:ext cx="5364000" cy="61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scarcity and decentralization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provide unique value, but it hasn't consistently acted as a crisis hedge like gold. As the asset matures and volatility decreases, the digital gold thesis may be validated—or Bitcoin may carve out a different role.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33" name="Shape 28"/>
          <p:cNvSpPr/>
          <p:nvPr/>
        </p:nvSpPr>
        <p:spPr>
          <a:xfrm>
            <a:off x="6183360" y="4881600"/>
            <a:ext cx="5665680" cy="1522080"/>
          </a:xfrm>
          <a:custGeom>
            <a:avLst/>
            <a:gdLst/>
            <a:ah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34" name="Shape 29"/>
          <p:cNvSpPr/>
          <p:nvPr/>
        </p:nvSpPr>
        <p:spPr>
          <a:xfrm>
            <a:off x="6389640" y="5087880"/>
            <a:ext cx="394920" cy="39492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5" name="Text 30"/>
          <p:cNvSpPr/>
          <p:nvPr/>
        </p:nvSpPr>
        <p:spPr>
          <a:xfrm>
            <a:off x="6318360" y="5064120"/>
            <a:ext cx="442800" cy="3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6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6" name="Text 31"/>
          <p:cNvSpPr/>
          <p:nvPr/>
        </p:nvSpPr>
        <p:spPr>
          <a:xfrm>
            <a:off x="6937200" y="5064120"/>
            <a:ext cx="33001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2024-2030: THE CRITICAL DECADE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7" name="Text 32"/>
          <p:cNvSpPr/>
          <p:nvPr/>
        </p:nvSpPr>
        <p:spPr>
          <a:xfrm>
            <a:off x="6365880" y="5603760"/>
            <a:ext cx="5364000" cy="61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next 6 years will determine Bitcoin's long-term trajectory.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adoption, corporate treasuries, nation-state accumulation, and the 2028 halving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could propel Bitcoin to $150K-$500K+ or higher. The foundation is being laid for mainstream integration.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38" name="Shape 33"/>
          <p:cNvSpPr/>
          <p:nvPr/>
        </p:nvSpPr>
        <p:spPr>
          <a:xfrm>
            <a:off x="341280" y="6580080"/>
            <a:ext cx="11507400" cy="1665000"/>
          </a:xfrm>
          <a:custGeom>
            <a:avLst/>
            <a:gdLst/>
            <a:ahLst/>
            <a:rect l="l" t="t" r="r" b="b"/>
            <a:pathLst>
              <a:path w="11509375" h="1666875">
                <a:moveTo>
                  <a:pt x="0" y="0"/>
                </a:moveTo>
                <a:lnTo>
                  <a:pt x="11509375" y="0"/>
                </a:lnTo>
                <a:lnTo>
                  <a:pt x="1150937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9" name="Text 34"/>
          <p:cNvSpPr/>
          <p:nvPr/>
        </p:nvSpPr>
        <p:spPr>
          <a:xfrm>
            <a:off x="523800" y="7032600"/>
            <a:ext cx="100152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THE BOTTOM 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0" name="Text 35"/>
          <p:cNvSpPr/>
          <p:nvPr/>
        </p:nvSpPr>
        <p:spPr>
          <a:xfrm>
            <a:off x="523800" y="7350120"/>
            <a:ext cx="9991440" cy="44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Bitcoin represents both </a:t>
            </a:r>
            <a:r>
              <a:rPr b="1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transformative potential</a:t>
            </a: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 (decentralized, scarce, borderless money) and </a:t>
            </a:r>
            <a:r>
              <a:rPr b="1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significant risks</a:t>
            </a: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 (volatility, regulation, competition). Approach with understanding of both.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41" name="Shape 36"/>
          <p:cNvSpPr/>
          <p:nvPr/>
        </p:nvSpPr>
        <p:spPr>
          <a:xfrm>
            <a:off x="10662840" y="6786720"/>
            <a:ext cx="982440" cy="1252440"/>
          </a:xfrm>
          <a:custGeom>
            <a:avLst/>
            <a:gdLst/>
            <a:ahLst/>
            <a:rect l="l" t="t" r="r" b="b"/>
            <a:pathLst>
              <a:path w="984250" h="1254125">
                <a:moveTo>
                  <a:pt x="0" y="0"/>
                </a:moveTo>
                <a:lnTo>
                  <a:pt x="984250" y="0"/>
                </a:lnTo>
                <a:lnTo>
                  <a:pt x="984250" y="1254125"/>
                </a:lnTo>
                <a:lnTo>
                  <a:pt x="0" y="1254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2" name="Text 37"/>
          <p:cNvSpPr/>
          <p:nvPr/>
        </p:nvSpPr>
        <p:spPr>
          <a:xfrm>
            <a:off x="10781640" y="6937200"/>
            <a:ext cx="744480" cy="95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2026-2030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WILL DEFINE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FUTURE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4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5" name="Shape 1"/>
          <p:cNvSpPr/>
          <p:nvPr/>
        </p:nvSpPr>
        <p:spPr>
          <a:xfrm>
            <a:off x="3355920" y="676440"/>
            <a:ext cx="5475240" cy="4360680"/>
          </a:xfrm>
          <a:custGeom>
            <a:avLst/>
            <a:gdLst/>
            <a:ahLst/>
            <a:rect l="l" t="t" r="r" b="b"/>
            <a:pathLst>
              <a:path w="5476875" h="4362450">
                <a:moveTo>
                  <a:pt x="0" y="0"/>
                </a:moveTo>
                <a:lnTo>
                  <a:pt x="5476875" y="0"/>
                </a:lnTo>
                <a:lnTo>
                  <a:pt x="5476875" y="4362450"/>
                </a:lnTo>
                <a:lnTo>
                  <a:pt x="0" y="43624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46" name="Text 2"/>
          <p:cNvSpPr/>
          <p:nvPr/>
        </p:nvSpPr>
        <p:spPr>
          <a:xfrm>
            <a:off x="3670200" y="1162080"/>
            <a:ext cx="484632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THANK YOU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047" name="Shape 3"/>
          <p:cNvSpPr/>
          <p:nvPr/>
        </p:nvSpPr>
        <p:spPr>
          <a:xfrm>
            <a:off x="5181480" y="2076480"/>
            <a:ext cx="1827000" cy="7452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8" name="Text 4"/>
          <p:cNvSpPr/>
          <p:nvPr/>
        </p:nvSpPr>
        <p:spPr>
          <a:xfrm>
            <a:off x="3755880" y="2381400"/>
            <a:ext cx="4674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Questions &amp; Discussion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049" name="Shape 5"/>
          <p:cNvSpPr/>
          <p:nvPr/>
        </p:nvSpPr>
        <p:spPr>
          <a:xfrm>
            <a:off x="3870360" y="3095640"/>
            <a:ext cx="4446360" cy="1427040"/>
          </a:xfrm>
          <a:custGeom>
            <a:avLst/>
            <a:gdLst/>
            <a:ahLst/>
            <a:rect l="l" t="t" r="r" b="b"/>
            <a:pathLst>
              <a:path w="4448175" h="1428750">
                <a:moveTo>
                  <a:pt x="0" y="0"/>
                </a:moveTo>
                <a:lnTo>
                  <a:pt x="4448175" y="0"/>
                </a:lnTo>
                <a:lnTo>
                  <a:pt x="4448175" y="1428750"/>
                </a:lnTo>
                <a:lnTo>
                  <a:pt x="0" y="1428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50" name="Text 6"/>
          <p:cNvSpPr/>
          <p:nvPr/>
        </p:nvSpPr>
        <p:spPr>
          <a:xfrm>
            <a:off x="4070520" y="3352680"/>
            <a:ext cx="40464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In a world of infinite money printing,</a:t>
            </a:r>
            <a:endParaRPr b="0" lang="en-HK" sz="1800" spc="-1" strike="noStrike">
              <a:latin typeface="Arial"/>
            </a:endParaRPr>
          </a:p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can a fixed-supply digital asset</a:t>
            </a:r>
            <a:endParaRPr b="0" lang="en-HK" sz="1800" spc="-1" strike="noStrike">
              <a:latin typeface="Arial"/>
            </a:endParaRPr>
          </a:p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become the ultimate store of value?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51" name="Shape 7"/>
          <p:cNvSpPr/>
          <p:nvPr/>
        </p:nvSpPr>
        <p:spPr>
          <a:xfrm>
            <a:off x="3743640" y="5400720"/>
            <a:ext cx="4703400" cy="779400"/>
          </a:xfrm>
          <a:custGeom>
            <a:avLst/>
            <a:gdLst/>
            <a:ahLst/>
            <a:rect l="l" t="t" r="r" b="b"/>
            <a:pathLst>
              <a:path w="4705350" h="781050">
                <a:moveTo>
                  <a:pt x="0" y="0"/>
                </a:moveTo>
                <a:lnTo>
                  <a:pt x="4705350" y="0"/>
                </a:lnTo>
                <a:lnTo>
                  <a:pt x="4705350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52" name="Text 8"/>
          <p:cNvSpPr/>
          <p:nvPr/>
        </p:nvSpPr>
        <p:spPr>
          <a:xfrm>
            <a:off x="4001040" y="5657760"/>
            <a:ext cx="4284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Bitcoin: The Digital Revolution | March 2026</a:t>
            </a:r>
            <a:endParaRPr b="0" lang="en-HK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2026-03-18T08:32:36Z</dcterms:created>
  <dc:creator>Kimi</dc:creator>
  <dc:description/>
  <dc:language>en-HK</dc:language>
  <cp:lastModifiedBy/>
  <dcterms:modified xsi:type="dcterms:W3CDTF">2026-04-19T07:11:12Z</dcterms:modified>
  <cp:revision>6</cp:revision>
  <dc:subject>Bitcoin: The Digital Revolution</dc:subject>
  <dc:title>Bitcoin: The Digital Revolution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{"Label":"Bitcoin: The Digital Revolution","ContentProducer":"001191110108MACG2KBH8F10000","ProduceID":"19d000e5-9a32-8b0f-8000-00005ec375b0","ReservedCode1":"","ContentPropagator":"001191110108MACG2KBH8F20000","PropagateID":"19d000e5-9a32-8b0f-8000-00005ec375b0","ReservedCode2":""}</vt:lpwstr>
  </property>
  <property fmtid="{D5CDD505-2E9C-101B-9397-08002B2CF9AE}" pid="3" name="Notes">
    <vt:i4>27</vt:i4>
  </property>
  <property fmtid="{D5CDD505-2E9C-101B-9397-08002B2CF9AE}" pid="4" name="PresentationFormat">
    <vt:lpwstr>On-screen Show (16:9)</vt:lpwstr>
  </property>
  <property fmtid="{D5CDD505-2E9C-101B-9397-08002B2CF9AE}" pid="5" name="Slides">
    <vt:i4>27</vt:i4>
  </property>
</Properties>
</file>