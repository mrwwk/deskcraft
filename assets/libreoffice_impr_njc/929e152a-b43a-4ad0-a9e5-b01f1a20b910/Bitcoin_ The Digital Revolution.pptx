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B4118C7-FC98-4D1C-A17C-EE704FF211CB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914771-828A-4DD5-8CD1-FBCA696D387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DEBA0E-035C-46AB-9424-2D40EFF7B4C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EF7E4F-65D4-4CC7-888D-36E4A2A34ED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Key talking point: The Genesis Block was mined on January 3</a:t>
            </a:r>
            <a:r>
              <a:rPr b="0" lang="en-HK" sz="1800" spc="-1" strike="noStrike" baseline="33000">
                <a:latin typeface="Arial"/>
              </a:rPr>
              <a:t>rd</a:t>
            </a:r>
            <a:r>
              <a:rPr b="0" lang="en-HK" sz="1800" spc="-1" strike="noStrike">
                <a:latin typeface="Arial"/>
              </a:rPr>
              <a:t>, 2009, embedding a headline about bank bailouts as a political statement by Satoshi Nakamoto.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20AC353-1D9E-421F-96E0-2D4A7CD7C5C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40F3AD-794E-46DC-9356-E96D82610B2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FC79B0-EE46-47EB-B219-5218E2DAEDC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D4B2E4-E0B8-4F09-819D-F200D1C5DDB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C822519-924B-45DE-8571-FACF20DB54D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651F478-F3AE-4898-B0C4-9E7FFAE0AA9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CBE4820-1E9D-488D-9AD7-05C5B2212D1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BAB16C0-EC2B-4DC2-AA40-3CFB91AD462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F41A62-6747-45E2-B25D-C3131625DFB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B684C6E-7E0D-425C-9CDE-3FE6DC69F7E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BF04B05-A185-428F-AE88-4F5DFF01EC5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D6B9DE-C549-4349-AFF1-3C930D66A17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D06BAA9-6BE5-4FA5-B382-BDB7894B02E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4C8800-9A55-4B82-8094-E60983BE3E4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6344F0-4B93-49D1-AA8B-BE5AAAEB442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9BD6F4C-2CAE-4A74-AA41-4006D8B7C13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DD4C2AA-3AF3-4A7A-B88F-B1C404C0C8D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F0D6C98-EA85-4EE1-97E1-58965300BF2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297F5BC-9B6C-4C01-924A-4FEEF6C07A8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CB3F134-57A1-43B4-BA6C-4AC093420E8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1235A2-4A5A-4675-8CFF-C872BF79F99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2721795-BFFC-4C76-9016-3713D8D7A0E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1010E7E-C3B0-426C-AC7D-3D7C4EA359A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8F6D7B3-E77F-4209-9400-B5F36FDA03C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8b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4400" cy="78048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53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145" strike="noStrike">
                <a:solidFill>
                  <a:srgbClr val="ffffff"/>
                </a:solidFill>
                <a:latin typeface="Noto Sans SC"/>
                <a:ea typeface="Noto Sans SC"/>
              </a:rPr>
              <a:t>FINANCIAL LECTURE SERIES</a:t>
            </a:r>
            <a:endParaRPr b="0" lang="en-HK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72040" cy="325692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79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ffffff"/>
                </a:solidFill>
                <a:latin typeface="Noto Sans SC"/>
                <a:ea typeface="Noto Sans SC"/>
              </a:rPr>
              <a:t>BITCOIN</a:t>
            </a:r>
            <a:endParaRPr b="0" lang="en-HK" sz="7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8600" cy="7560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721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DIGITAL REVOLUTION</a:t>
            </a:r>
            <a:endParaRPr b="0" lang="en-HK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4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0" lang="en-HK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4560" cy="62784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8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March 2026</a:t>
            </a:r>
            <a:endParaRPr b="0" lang="en-HK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8400" cy="62784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42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27 SLIDES</a:t>
            </a:r>
            <a:endParaRPr b="0" lang="en-HK" sz="13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8480" cy="109476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804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122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85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5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915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40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9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106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6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61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77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28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9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73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36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78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4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8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48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98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60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723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86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50920" cy="87228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9720" cy="45972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3100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72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85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6560" cy="396180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800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72040" cy="81828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720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8480" cy="99936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705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70280" cy="184860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65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3200" cy="41220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4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70280" cy="161064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5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65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3200" cy="41220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4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70280" cy="107100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85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652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9520" cy="350748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9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2800" cy="82476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4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40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2800" cy="82476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4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40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2800" cy="82476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4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40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9520" cy="347580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9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2800" cy="34848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64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2800" cy="53892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6760" cy="9468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4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2800" cy="34848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3011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2800" cy="53892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6760" cy="9468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4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2800" cy="53892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8480" cy="9468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28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6560" cy="481896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800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4360" cy="81828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44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8480" cy="99936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705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70280" cy="207108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80002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65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9440" cy="69768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6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27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9440" cy="69768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6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27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9440" cy="69768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6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27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70280" cy="286488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80002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65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3200" cy="149148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51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51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51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51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51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9520" cy="369828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9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2800" cy="88812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4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94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61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2800" cy="88812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4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94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61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2800" cy="88812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4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94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61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9520" cy="255528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9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94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94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94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94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6560" cy="481896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800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72040" cy="81828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720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9480" cy="159480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9480" cy="38016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2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696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9480" cy="28512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86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8480" cy="52308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3012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53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2600" cy="396180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404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26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90440" cy="81828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904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22240" cy="607932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52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2056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5520" cy="231696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3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9920" cy="79308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32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3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53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9920" cy="79308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32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3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53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9920" cy="79308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32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3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53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9920" cy="79308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32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3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53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22240" cy="157104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6000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80640" cy="92016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21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396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80640" cy="92016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21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39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80640" cy="92016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21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39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9240" cy="395208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9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756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2520" cy="60264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84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8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8360" cy="6264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7800" cy="3096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2520" cy="60264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35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12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8360" cy="6264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6680" cy="3096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2520" cy="60264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3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8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8360" cy="6264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3080" cy="3096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2520" cy="41220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3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9240" cy="369828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9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2520" cy="88812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3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92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5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2520" cy="88812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3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92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5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2520" cy="88812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3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92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5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6560" cy="481896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800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72040" cy="81828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720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50920" cy="280908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7360" cy="101520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4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7360" cy="101520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4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69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7360" cy="85644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4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7360" cy="85644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4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444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50920" cy="299952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3840" cy="63432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20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710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3840" cy="63432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7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80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3840" cy="63432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914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97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50920" cy="382500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3840" cy="95184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47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5188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5000040" cy="9468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9080" cy="6264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3840" cy="92016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508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3840" cy="92016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508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50920" cy="198360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92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4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6680" cy="15804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5000" cy="12636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3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4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6680" cy="15804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3080" cy="12636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3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4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6680" cy="15804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6000" cy="12636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405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4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6680" cy="15804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3880" cy="12636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405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6560" cy="481896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800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81160" cy="81828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808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50920" cy="195192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9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756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6080" cy="69768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3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94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6080" cy="69768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3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94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6080" cy="69768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3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94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50920" cy="522216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3840" cy="66600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86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10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97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9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3840" cy="66600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50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423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8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3840" cy="66600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65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86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5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56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50920" cy="471420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3840" cy="120564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9280" cy="26928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5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406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31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38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3840" cy="120564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9280" cy="26928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5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406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31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38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3840" cy="120564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9280" cy="26928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5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406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31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38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50920" cy="245988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3840" cy="34848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3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202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3840" cy="34848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31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40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3840" cy="34848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5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3840" cy="34848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2640" cy="6264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405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9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6560" cy="396180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800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72040" cy="81828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720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50920" cy="341244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48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93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56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422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502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35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50920" cy="423792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64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5000040" cy="9468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5800" cy="6264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39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64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5000040" cy="9468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5560" cy="6264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76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8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5000040" cy="9468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6000" cy="6264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81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518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5000040" cy="9468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7640" cy="6264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50920" cy="372996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3840" cy="98352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76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93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5000040" cy="12636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9880" cy="9468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3840" cy="85644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67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3840" cy="85644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67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50920" cy="392040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3840" cy="85644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67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3840" cy="63432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3840" cy="63432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3840" cy="63432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6560" cy="481896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800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7000200" cy="81828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6002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50920" cy="430128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22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408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52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41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9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801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78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9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9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916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50920" cy="385704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92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3840" cy="72936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914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43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5000040" cy="12636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8000" cy="9468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3840" cy="72936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84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76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5000040" cy="12636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50120" cy="9468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3840" cy="41220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50920" cy="430128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4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66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8011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32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69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868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90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711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4680" cy="9468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4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6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50920" cy="385704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3840" cy="123768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51960" cy="50724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44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407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51960" cy="50724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44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407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71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6560" cy="396180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800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72040" cy="81828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720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50920" cy="334908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64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201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76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72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3840" cy="72936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31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31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50920" cy="455544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3840" cy="41220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50920" cy="433332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6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8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723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7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6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122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3840" cy="79308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43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35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3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50920" cy="357120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80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3840" cy="60264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5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71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6560" cy="481896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800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5600" cy="81828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56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22040" cy="353952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64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22040" cy="353952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98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22040" cy="353952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98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22040" cy="353952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818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22040" cy="353952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56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22040" cy="353952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32640" cy="33264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43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231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4960" cy="79308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6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6560" cy="396180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800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62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72040" cy="81828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720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22240" cy="357120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52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5520" cy="92016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3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8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5520" cy="69768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3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72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88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5520" cy="92016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3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6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49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22240" cy="331704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52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8680" cy="76140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9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82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8680" cy="76140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9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82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8680" cy="76140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9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82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8680" cy="76140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9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82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8680" cy="76140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9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820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8680" cy="76140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9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82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9240" cy="607932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92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82520" cy="171396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9280" cy="26928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5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52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58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52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52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82520" cy="155520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9280" cy="26928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5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7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58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5212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52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82520" cy="171396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9280" cy="26928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51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35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58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52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52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81080" cy="396180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5600" cy="91368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6440" cy="85644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816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5216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808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9920" cy="81828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99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8480" cy="84060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63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61400" cy="6264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6760" cy="158688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504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508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6760" cy="158688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544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508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6760" cy="158688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544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508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6760" cy="158688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38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508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6760" cy="152316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61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508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6760" cy="152316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6000" cy="39600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388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3012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508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8480" cy="166608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62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9252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3520" cy="125352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55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6320" cy="436176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74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8080" cy="7560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60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7440" cy="142812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74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4480" cy="78048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5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2026-04-07T20:52:29Z</dcterms:modified>
  <cp:revision>3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