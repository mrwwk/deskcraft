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6.xml.rels" ContentType="application/vnd.openxmlformats-package.relationships+xml"/>
  <Override PartName="/ppt/notesSlides/_rels/notesSlide7.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8.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3.xml.rels" ContentType="application/vnd.openxmlformats-package.relationships+xml"/>
  <Override PartName="/ppt/notesSlides/_rels/notesSlide14.xml.rels" ContentType="application/vnd.openxmlformats-package.relationships+xml"/>
  <Override PartName="/ppt/notesSlides/_rels/notesSlide10.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3.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6.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media/image2.png" ContentType="image/png"/>
  <Override PartName="/ppt/media/image3.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5.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HK" sz="4400" spc="-1" strike="noStrike">
                <a:solidFill>
                  <a:srgbClr val="000000"/>
                </a:solidFill>
                <a:latin typeface="Calibri Light"/>
              </a:rPr>
              <a:t>Click to move the slide</a:t>
            </a:r>
            <a:endParaRPr b="0" lang="en-HK" sz="4400" spc="-1" strike="noStrike">
              <a:solidFill>
                <a:srgbClr val="000000"/>
              </a:solidFill>
              <a:latin typeface="Calibri Light"/>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HK" sz="2000" spc="-1" strike="noStrike">
                <a:latin typeface="Arial"/>
              </a:rPr>
              <a:t>Click to edit the notes format</a:t>
            </a:r>
            <a:endParaRPr b="0" lang="en-HK"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HK" sz="1400" spc="-1" strike="noStrike">
                <a:latin typeface="Times New Roman"/>
              </a:rPr>
              <a:t>&lt;header&gt;</a:t>
            </a:r>
            <a:endParaRPr b="0" lang="en-HK"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HK" sz="1400" spc="-1" strike="noStrike">
                <a:latin typeface="Times New Roman"/>
              </a:defRPr>
            </a:lvl1pPr>
          </a:lstStyle>
          <a:p>
            <a:pPr algn="r">
              <a:buNone/>
            </a:pPr>
            <a:r>
              <a:rPr b="0" lang="en-HK" sz="1400" spc="-1" strike="noStrike">
                <a:latin typeface="Times New Roman"/>
              </a:rPr>
              <a:t>&lt;date/time&gt;</a:t>
            </a:r>
            <a:endParaRPr b="0" lang="en-HK"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HK" sz="1400" spc="-1" strike="noStrike">
                <a:latin typeface="Times New Roman"/>
              </a:defRPr>
            </a:lvl1pPr>
          </a:lstStyle>
          <a:p>
            <a:r>
              <a:rPr b="0" lang="en-HK" sz="1400" spc="-1" strike="noStrike">
                <a:latin typeface="Times New Roman"/>
              </a:rPr>
              <a:t>&lt;footer&gt;</a:t>
            </a:r>
            <a:endParaRPr b="0" lang="en-HK"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HK" sz="1400" spc="-1" strike="noStrike">
                <a:latin typeface="Times New Roman"/>
              </a:defRPr>
            </a:lvl1pPr>
          </a:lstStyle>
          <a:p>
            <a:pPr algn="r">
              <a:buNone/>
            </a:pPr>
            <a:fld id="{53286907-18C8-414F-8413-59E159070C73}" type="slidenum">
              <a:rPr b="0" lang="en-HK" sz="1400" spc="-1" strike="noStrike">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sldImg"/>
          </p:nvPr>
        </p:nvSpPr>
        <p:spPr>
          <a:xfrm>
            <a:off x="685800" y="1143000"/>
            <a:ext cx="5486040" cy="3085920"/>
          </a:xfrm>
          <a:prstGeom prst="rect">
            <a:avLst/>
          </a:prstGeom>
          <a:ln w="0">
            <a:noFill/>
          </a:ln>
        </p:spPr>
      </p:sp>
      <p:sp>
        <p:nvSpPr>
          <p:cNvPr id="40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406" name="PlaceHolder 3"/>
          <p:cNvSpPr>
            <a:spLocks noGrp="1"/>
          </p:cNvSpPr>
          <p:nvPr>
            <p:ph type="sldNum" idx="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93BAC5C9-A464-4390-A59F-6C4A92283387}"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PlaceHolder 1"/>
          <p:cNvSpPr>
            <a:spLocks noGrp="1"/>
          </p:cNvSpPr>
          <p:nvPr>
            <p:ph type="sldImg"/>
          </p:nvPr>
        </p:nvSpPr>
        <p:spPr>
          <a:xfrm>
            <a:off x="685800" y="1143000"/>
            <a:ext cx="5486040" cy="3085920"/>
          </a:xfrm>
          <a:prstGeom prst="rect">
            <a:avLst/>
          </a:prstGeom>
          <a:ln w="0">
            <a:noFill/>
          </a:ln>
        </p:spPr>
      </p:sp>
      <p:sp>
        <p:nvSpPr>
          <p:cNvPr id="40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409" name="PlaceHolder 3"/>
          <p:cNvSpPr>
            <a:spLocks noGrp="1"/>
          </p:cNvSpPr>
          <p:nvPr>
            <p:ph type="sldNum" idx="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837BD9A1-9B49-4A0F-A6B3-E212C3C017C2}"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PlaceHolder 1"/>
          <p:cNvSpPr>
            <a:spLocks noGrp="1"/>
          </p:cNvSpPr>
          <p:nvPr>
            <p:ph type="sldImg"/>
          </p:nvPr>
        </p:nvSpPr>
        <p:spPr>
          <a:xfrm>
            <a:off x="685800" y="1143000"/>
            <a:ext cx="5486040" cy="3085920"/>
          </a:xfrm>
          <a:prstGeom prst="rect">
            <a:avLst/>
          </a:prstGeom>
          <a:ln w="0">
            <a:noFill/>
          </a:ln>
        </p:spPr>
      </p:sp>
      <p:sp>
        <p:nvSpPr>
          <p:cNvPr id="41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412" name="PlaceHolder 3"/>
          <p:cNvSpPr>
            <a:spLocks noGrp="1"/>
          </p:cNvSpPr>
          <p:nvPr>
            <p:ph type="sldNum" idx="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0078A60-A077-4E12-BEBE-4972948AA5E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sldImg"/>
          </p:nvPr>
        </p:nvSpPr>
        <p:spPr>
          <a:xfrm>
            <a:off x="685800" y="1143000"/>
            <a:ext cx="5486040" cy="3085920"/>
          </a:xfrm>
          <a:prstGeom prst="rect">
            <a:avLst/>
          </a:prstGeom>
          <a:ln w="0">
            <a:noFill/>
          </a:ln>
        </p:spPr>
      </p:sp>
      <p:sp>
        <p:nvSpPr>
          <p:cNvPr id="41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415" name="PlaceHolder 3"/>
          <p:cNvSpPr>
            <a:spLocks noGrp="1"/>
          </p:cNvSpPr>
          <p:nvPr>
            <p:ph type="sldNum" idx="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74720A76-39DF-41E4-BE8C-123EC62D5A84}"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PlaceHolder 1"/>
          <p:cNvSpPr>
            <a:spLocks noGrp="1"/>
          </p:cNvSpPr>
          <p:nvPr>
            <p:ph type="sldImg"/>
          </p:nvPr>
        </p:nvSpPr>
        <p:spPr>
          <a:xfrm>
            <a:off x="685800" y="1143000"/>
            <a:ext cx="5486040" cy="3085920"/>
          </a:xfrm>
          <a:prstGeom prst="rect">
            <a:avLst/>
          </a:prstGeom>
          <a:ln w="0">
            <a:noFill/>
          </a:ln>
        </p:spPr>
      </p:sp>
      <p:sp>
        <p:nvSpPr>
          <p:cNvPr id="41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418" name="PlaceHolder 3"/>
          <p:cNvSpPr>
            <a:spLocks noGrp="1"/>
          </p:cNvSpPr>
          <p:nvPr>
            <p:ph type="sldNum" idx="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09A4DDAD-6906-4DF4-B8C6-31E065121D22}"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sldImg"/>
          </p:nvPr>
        </p:nvSpPr>
        <p:spPr>
          <a:xfrm>
            <a:off x="685800" y="1143000"/>
            <a:ext cx="5486040" cy="3085920"/>
          </a:xfrm>
          <a:prstGeom prst="rect">
            <a:avLst/>
          </a:prstGeom>
          <a:ln w="0">
            <a:noFill/>
          </a:ln>
        </p:spPr>
      </p:sp>
      <p:sp>
        <p:nvSpPr>
          <p:cNvPr id="420"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421" name="PlaceHolder 3"/>
          <p:cNvSpPr>
            <a:spLocks noGrp="1"/>
          </p:cNvSpPr>
          <p:nvPr>
            <p:ph type="sldNum" idx="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7127C2E8-EA5E-4732-9409-BB6CF447004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PlaceHolder 1"/>
          <p:cNvSpPr>
            <a:spLocks noGrp="1"/>
          </p:cNvSpPr>
          <p:nvPr>
            <p:ph type="sldImg"/>
          </p:nvPr>
        </p:nvSpPr>
        <p:spPr>
          <a:xfrm>
            <a:off x="685800" y="1143000"/>
            <a:ext cx="5486040" cy="3085920"/>
          </a:xfrm>
          <a:prstGeom prst="rect">
            <a:avLst/>
          </a:prstGeom>
          <a:ln w="0">
            <a:noFill/>
          </a:ln>
        </p:spPr>
      </p:sp>
      <p:sp>
        <p:nvSpPr>
          <p:cNvPr id="42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424" name="PlaceHolder 3"/>
          <p:cNvSpPr>
            <a:spLocks noGrp="1"/>
          </p:cNvSpPr>
          <p:nvPr>
            <p:ph type="sldNum" idx="1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A8FBA103-0EDA-4EFE-A524-48F5410BFBC8}"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PlaceHolder 1"/>
          <p:cNvSpPr>
            <a:spLocks noGrp="1"/>
          </p:cNvSpPr>
          <p:nvPr>
            <p:ph type="sldImg"/>
          </p:nvPr>
        </p:nvSpPr>
        <p:spPr>
          <a:xfrm>
            <a:off x="685800" y="1143000"/>
            <a:ext cx="5486040" cy="3085920"/>
          </a:xfrm>
          <a:prstGeom prst="rect">
            <a:avLst/>
          </a:prstGeom>
          <a:ln w="0">
            <a:noFill/>
          </a:ln>
        </p:spPr>
      </p:sp>
      <p:sp>
        <p:nvSpPr>
          <p:cNvPr id="42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427" name="PlaceHolder 3"/>
          <p:cNvSpPr>
            <a:spLocks noGrp="1"/>
          </p:cNvSpPr>
          <p:nvPr>
            <p:ph type="sldNum" idx="1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A1EC2D2-077B-465A-A4AF-A550FD6E219E}"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PlaceHolder 1"/>
          <p:cNvSpPr>
            <a:spLocks noGrp="1"/>
          </p:cNvSpPr>
          <p:nvPr>
            <p:ph type="sldImg"/>
          </p:nvPr>
        </p:nvSpPr>
        <p:spPr>
          <a:xfrm>
            <a:off x="685800" y="1143000"/>
            <a:ext cx="5486040" cy="3085920"/>
          </a:xfrm>
          <a:prstGeom prst="rect">
            <a:avLst/>
          </a:prstGeom>
          <a:ln w="0">
            <a:noFill/>
          </a:ln>
        </p:spPr>
      </p:sp>
      <p:sp>
        <p:nvSpPr>
          <p:cNvPr id="42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430" name="PlaceHolder 3"/>
          <p:cNvSpPr>
            <a:spLocks noGrp="1"/>
          </p:cNvSpPr>
          <p:nvPr>
            <p:ph type="sldNum" idx="1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A1F05450-B7BC-4860-9D88-D4B22D58477E}"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PlaceHolder 1"/>
          <p:cNvSpPr>
            <a:spLocks noGrp="1"/>
          </p:cNvSpPr>
          <p:nvPr>
            <p:ph type="sldImg"/>
          </p:nvPr>
        </p:nvSpPr>
        <p:spPr>
          <a:xfrm>
            <a:off x="685800" y="1143000"/>
            <a:ext cx="5486040" cy="3085920"/>
          </a:xfrm>
          <a:prstGeom prst="rect">
            <a:avLst/>
          </a:prstGeom>
          <a:ln w="0">
            <a:noFill/>
          </a:ln>
        </p:spPr>
      </p:sp>
      <p:sp>
        <p:nvSpPr>
          <p:cNvPr id="43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433" name="PlaceHolder 3"/>
          <p:cNvSpPr>
            <a:spLocks noGrp="1"/>
          </p:cNvSpPr>
          <p:nvPr>
            <p:ph type="sldNum" idx="1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985F50A4-2945-4F78-93AD-CDD8F4EBF58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PlaceHolder 1"/>
          <p:cNvSpPr>
            <a:spLocks noGrp="1"/>
          </p:cNvSpPr>
          <p:nvPr>
            <p:ph type="sldImg"/>
          </p:nvPr>
        </p:nvSpPr>
        <p:spPr>
          <a:xfrm>
            <a:off x="685800" y="1143000"/>
            <a:ext cx="5486040" cy="3085920"/>
          </a:xfrm>
          <a:prstGeom prst="rect">
            <a:avLst/>
          </a:prstGeom>
          <a:ln w="0">
            <a:noFill/>
          </a:ln>
        </p:spPr>
      </p:sp>
      <p:sp>
        <p:nvSpPr>
          <p:cNvPr id="43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436" name="PlaceHolder 3"/>
          <p:cNvSpPr>
            <a:spLocks noGrp="1"/>
          </p:cNvSpPr>
          <p:nvPr>
            <p:ph type="sldNum" idx="1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348C93FA-BE06-480A-8095-84295FBD7945}"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PlaceHolder 1"/>
          <p:cNvSpPr>
            <a:spLocks noGrp="1"/>
          </p:cNvSpPr>
          <p:nvPr>
            <p:ph type="sldImg"/>
          </p:nvPr>
        </p:nvSpPr>
        <p:spPr>
          <a:xfrm>
            <a:off x="685800" y="1143000"/>
            <a:ext cx="5486040" cy="3085920"/>
          </a:xfrm>
          <a:prstGeom prst="rect">
            <a:avLst/>
          </a:prstGeom>
          <a:ln w="0">
            <a:noFill/>
          </a:ln>
        </p:spPr>
      </p:sp>
      <p:sp>
        <p:nvSpPr>
          <p:cNvPr id="43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439" name="PlaceHolder 3"/>
          <p:cNvSpPr>
            <a:spLocks noGrp="1"/>
          </p:cNvSpPr>
          <p:nvPr>
            <p:ph type="sldNum" idx="1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66177342-1D3F-41C3-A601-F771129362D6}"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sldImg"/>
          </p:nvPr>
        </p:nvSpPr>
        <p:spPr>
          <a:xfrm>
            <a:off x="685800" y="1143000"/>
            <a:ext cx="5486040" cy="3085920"/>
          </a:xfrm>
          <a:prstGeom prst="rect">
            <a:avLst/>
          </a:prstGeom>
          <a:ln w="0">
            <a:noFill/>
          </a:ln>
        </p:spPr>
      </p:sp>
      <p:sp>
        <p:nvSpPr>
          <p:cNvPr id="44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442" name="PlaceHolder 3"/>
          <p:cNvSpPr>
            <a:spLocks noGrp="1"/>
          </p:cNvSpPr>
          <p:nvPr>
            <p:ph type="sldNum" idx="1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1CA124EF-6F3B-4860-84FF-D0860382EF1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PlaceHolder 1"/>
          <p:cNvSpPr>
            <a:spLocks noGrp="1"/>
          </p:cNvSpPr>
          <p:nvPr>
            <p:ph type="sldImg"/>
          </p:nvPr>
        </p:nvSpPr>
        <p:spPr>
          <a:xfrm>
            <a:off x="685800" y="1143000"/>
            <a:ext cx="5486040" cy="3085920"/>
          </a:xfrm>
          <a:prstGeom prst="rect">
            <a:avLst/>
          </a:prstGeom>
          <a:ln w="0">
            <a:noFill/>
          </a:ln>
        </p:spPr>
      </p:sp>
      <p:sp>
        <p:nvSpPr>
          <p:cNvPr id="44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445" name="PlaceHolder 3"/>
          <p:cNvSpPr>
            <a:spLocks noGrp="1"/>
          </p:cNvSpPr>
          <p:nvPr>
            <p:ph type="sldNum" idx="1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DD5E3283-3B3D-4DAF-B157-81C859EF03CE}"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sldImg"/>
          </p:nvPr>
        </p:nvSpPr>
        <p:spPr>
          <a:xfrm>
            <a:off x="685800" y="1143000"/>
            <a:ext cx="5486040" cy="3085920"/>
          </a:xfrm>
          <a:prstGeom prst="rect">
            <a:avLst/>
          </a:prstGeom>
          <a:ln w="0">
            <a:noFill/>
          </a:ln>
        </p:spPr>
      </p:sp>
      <p:sp>
        <p:nvSpPr>
          <p:cNvPr id="44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448" name="PlaceHolder 3"/>
          <p:cNvSpPr>
            <a:spLocks noGrp="1"/>
          </p:cNvSpPr>
          <p:nvPr>
            <p:ph type="sldNum" idx="1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1ABC991B-C1AF-4E7C-8BB6-F8400C60785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PlaceHolder 1"/>
          <p:cNvSpPr>
            <a:spLocks noGrp="1"/>
          </p:cNvSpPr>
          <p:nvPr>
            <p:ph type="sldImg"/>
          </p:nvPr>
        </p:nvSpPr>
        <p:spPr>
          <a:xfrm>
            <a:off x="685800" y="1143000"/>
            <a:ext cx="5486040" cy="3085920"/>
          </a:xfrm>
          <a:prstGeom prst="rect">
            <a:avLst/>
          </a:prstGeom>
          <a:ln w="0">
            <a:noFill/>
          </a:ln>
        </p:spPr>
      </p:sp>
      <p:sp>
        <p:nvSpPr>
          <p:cNvPr id="450"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451" name="PlaceHolder 3"/>
          <p:cNvSpPr>
            <a:spLocks noGrp="1"/>
          </p:cNvSpPr>
          <p:nvPr>
            <p:ph type="sldNum" idx="1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20103769-7D22-4B0E-AFEE-F2EA8426CEF2}"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2" name="PlaceHolder 1"/>
          <p:cNvSpPr>
            <a:spLocks noGrp="1"/>
          </p:cNvSpPr>
          <p:nvPr>
            <p:ph type="sldImg"/>
          </p:nvPr>
        </p:nvSpPr>
        <p:spPr>
          <a:xfrm>
            <a:off x="685800" y="1143000"/>
            <a:ext cx="5486040" cy="3085920"/>
          </a:xfrm>
          <a:prstGeom prst="rect">
            <a:avLst/>
          </a:prstGeom>
          <a:ln w="0">
            <a:noFill/>
          </a:ln>
        </p:spPr>
      </p:sp>
      <p:sp>
        <p:nvSpPr>
          <p:cNvPr id="45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454" name="PlaceHolder 3"/>
          <p:cNvSpPr>
            <a:spLocks noGrp="1"/>
          </p:cNvSpPr>
          <p:nvPr>
            <p:ph type="sldNum" idx="2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54903250-6602-4F03-BA45-26E8B7AFB71E}"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PlaceHolder 1"/>
          <p:cNvSpPr>
            <a:spLocks noGrp="1"/>
          </p:cNvSpPr>
          <p:nvPr>
            <p:ph type="sldImg"/>
          </p:nvPr>
        </p:nvSpPr>
        <p:spPr>
          <a:xfrm>
            <a:off x="685800" y="1143000"/>
            <a:ext cx="5486040" cy="3085920"/>
          </a:xfrm>
          <a:prstGeom prst="rect">
            <a:avLst/>
          </a:prstGeom>
          <a:ln w="0">
            <a:noFill/>
          </a:ln>
        </p:spPr>
      </p:sp>
      <p:sp>
        <p:nvSpPr>
          <p:cNvPr id="45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457" name="PlaceHolder 3"/>
          <p:cNvSpPr>
            <a:spLocks noGrp="1"/>
          </p:cNvSpPr>
          <p:nvPr>
            <p:ph type="sldNum" idx="2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D30E99D-10CD-4CBE-B85D-28C67DB269A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8" name="PlaceHolder 1"/>
          <p:cNvSpPr>
            <a:spLocks noGrp="1"/>
          </p:cNvSpPr>
          <p:nvPr>
            <p:ph type="sldImg"/>
          </p:nvPr>
        </p:nvSpPr>
        <p:spPr>
          <a:xfrm>
            <a:off x="685800" y="1143000"/>
            <a:ext cx="5486040" cy="3085920"/>
          </a:xfrm>
          <a:prstGeom prst="rect">
            <a:avLst/>
          </a:prstGeom>
          <a:ln w="0">
            <a:noFill/>
          </a:ln>
        </p:spPr>
      </p:sp>
      <p:sp>
        <p:nvSpPr>
          <p:cNvPr id="45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460" name="PlaceHolder 3"/>
          <p:cNvSpPr>
            <a:spLocks noGrp="1"/>
          </p:cNvSpPr>
          <p:nvPr>
            <p:ph type="sldNum" idx="2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6EDA76C-F112-4346-8F41-07F8B5CD7725}"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PlaceHolder 1"/>
          <p:cNvSpPr>
            <a:spLocks noGrp="1"/>
          </p:cNvSpPr>
          <p:nvPr>
            <p:ph type="sldImg"/>
          </p:nvPr>
        </p:nvSpPr>
        <p:spPr>
          <a:xfrm>
            <a:off x="685800" y="1143000"/>
            <a:ext cx="5486040" cy="3085920"/>
          </a:xfrm>
          <a:prstGeom prst="rect">
            <a:avLst/>
          </a:prstGeom>
          <a:ln w="0">
            <a:noFill/>
          </a:ln>
        </p:spPr>
      </p:sp>
      <p:sp>
        <p:nvSpPr>
          <p:cNvPr id="46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463" name="PlaceHolder 3"/>
          <p:cNvSpPr>
            <a:spLocks noGrp="1"/>
          </p:cNvSpPr>
          <p:nvPr>
            <p:ph type="sldNum" idx="2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3DF08D13-27EE-49D0-9AC6-47BE339ABF37}"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sldImg"/>
          </p:nvPr>
        </p:nvSpPr>
        <p:spPr>
          <a:xfrm>
            <a:off x="685800" y="1143000"/>
            <a:ext cx="5486040" cy="3085920"/>
          </a:xfrm>
          <a:prstGeom prst="rect">
            <a:avLst/>
          </a:prstGeom>
          <a:ln w="0">
            <a:noFill/>
          </a:ln>
        </p:spPr>
      </p:sp>
      <p:sp>
        <p:nvSpPr>
          <p:cNvPr id="46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466" name="PlaceHolder 3"/>
          <p:cNvSpPr>
            <a:spLocks noGrp="1"/>
          </p:cNvSpPr>
          <p:nvPr>
            <p:ph type="sldNum" idx="2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683DC360-28B2-479D-9A43-8788D3A705ED}" type="slidenum">
              <a:rPr b="0" lang="en-US" sz="1200" spc="-1" strike="noStrike">
                <a:latin typeface="Times New Roman"/>
              </a:rPr>
              <a:t>&lt;number&gt;</a:t>
            </a:fld>
            <a:endParaRPr b="0" lang="en-HK"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HK" sz="4400" spc="-1" strike="noStrike">
                <a:solidFill>
                  <a:srgbClr val="000000"/>
                </a:solidFill>
                <a:latin typeface="Calibri Light"/>
              </a:rPr>
              <a:t>Click to edit the title text format</a:t>
            </a:r>
            <a:endParaRPr b="0" lang="en-HK" sz="4400" spc="-1" strike="noStrike">
              <a:solidFill>
                <a:srgbClr val="000000"/>
              </a:solidFill>
              <a:latin typeface="Calibri Light"/>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solidFill>
                  <a:srgbClr val="000000"/>
                </a:solidFill>
                <a:latin typeface="Calibri"/>
              </a:rPr>
              <a:t>Click to edit the outline text format</a:t>
            </a:r>
            <a:endParaRPr b="0" lang="en-HK"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HK" sz="2400" spc="-1" strike="noStrike">
                <a:solidFill>
                  <a:srgbClr val="000000"/>
                </a:solidFill>
                <a:latin typeface="Calibri"/>
              </a:rPr>
              <a:t>Second Outline Level</a:t>
            </a:r>
            <a:endParaRPr b="0" lang="en-HK"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HK" sz="2000" spc="-1" strike="noStrike">
                <a:solidFill>
                  <a:srgbClr val="000000"/>
                </a:solidFill>
                <a:latin typeface="Calibri"/>
              </a:rPr>
              <a:t>Third Outline Level</a:t>
            </a:r>
            <a:endParaRPr b="0" lang="en-HK"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HK" sz="2000" spc="-1" strike="noStrike">
                <a:solidFill>
                  <a:srgbClr val="000000"/>
                </a:solidFill>
                <a:latin typeface="Calibri"/>
              </a:rPr>
              <a:t>Fourth Outline Level</a:t>
            </a:r>
            <a:endParaRPr b="0" lang="en-HK"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HK" sz="2000" spc="-1" strike="noStrike">
                <a:solidFill>
                  <a:srgbClr val="000000"/>
                </a:solidFill>
                <a:latin typeface="Calibri"/>
              </a:rPr>
              <a:t>Fifth Outline Level</a:t>
            </a:r>
            <a:endParaRPr b="0" lang="en-HK"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HK" sz="2000" spc="-1" strike="noStrike">
                <a:solidFill>
                  <a:srgbClr val="000000"/>
                </a:solidFill>
                <a:latin typeface="Calibri"/>
              </a:rPr>
              <a:t>Sixth Outline Level</a:t>
            </a:r>
            <a:endParaRPr b="0" lang="en-HK"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HK" sz="2000" spc="-1" strike="noStrike">
                <a:solidFill>
                  <a:srgbClr val="000000"/>
                </a:solidFill>
                <a:latin typeface="Calibri"/>
              </a:rPr>
              <a:t>Seventh Outline Level</a:t>
            </a:r>
            <a:endParaRPr b="0" lang="en-HK"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8b"/>
        </a:solidFill>
      </p:bgPr>
    </p:bg>
    <p:spTree>
      <p:nvGrpSpPr>
        <p:cNvPr id="1" name=""/>
        <p:cNvGrpSpPr/>
        <p:nvPr/>
      </p:nvGrpSpPr>
      <p:grpSpPr>
        <a:xfrm>
          <a:off x="0" y="0"/>
          <a:ext cx="0" cy="0"/>
          <a:chOff x="0" y="0"/>
          <a:chExt cx="0" cy="0"/>
        </a:xfrm>
      </p:grpSpPr>
      <p:sp>
        <p:nvSpPr>
          <p:cNvPr id="44" name="Shape 0"/>
          <p:cNvSpPr/>
          <p:nvPr/>
        </p:nvSpPr>
        <p:spPr>
          <a:xfrm>
            <a:off x="5638680" y="2266920"/>
            <a:ext cx="914040" cy="18720"/>
          </a:xfrm>
          <a:custGeom>
            <a:avLst/>
            <a:gdLst/>
            <a:ahLst/>
            <a:rect l="l" t="t" r="r" b="b"/>
            <a:pathLst>
              <a:path w="914400" h="19050">
                <a:moveTo>
                  <a:pt x="0" y="0"/>
                </a:moveTo>
                <a:lnTo>
                  <a:pt x="914400" y="0"/>
                </a:lnTo>
                <a:lnTo>
                  <a:pt x="914400" y="19050"/>
                </a:lnTo>
                <a:lnTo>
                  <a:pt x="0" y="19050"/>
                </a:lnTo>
                <a:lnTo>
                  <a:pt x="0" y="0"/>
                </a:lnTo>
                <a:close/>
              </a:path>
            </a:pathLst>
          </a:custGeom>
          <a:solidFill>
            <a:srgbClr val="0984e3"/>
          </a:solidFill>
          <a:ln w="0">
            <a:noFill/>
          </a:ln>
        </p:spPr>
        <p:style>
          <a:lnRef idx="0"/>
          <a:fillRef idx="0"/>
          <a:effectRef idx="0"/>
          <a:fontRef idx="minor"/>
        </p:style>
      </p:sp>
      <p:sp>
        <p:nvSpPr>
          <p:cNvPr id="45" name="Text 1"/>
          <p:cNvSpPr/>
          <p:nvPr/>
        </p:nvSpPr>
        <p:spPr>
          <a:xfrm>
            <a:off x="3633840" y="2514600"/>
            <a:ext cx="4924080" cy="914040"/>
          </a:xfrm>
          <a:prstGeom prst="rect">
            <a:avLst/>
          </a:prstGeom>
          <a:noFill/>
          <a:ln w="0">
            <a:noFill/>
          </a:ln>
        </p:spPr>
        <p:style>
          <a:lnRef idx="0"/>
          <a:fillRef idx="0"/>
          <a:effectRef idx="0"/>
          <a:fontRef idx="minor"/>
        </p:style>
        <p:txBody>
          <a:bodyPr lIns="0" rIns="0" tIns="0" bIns="0" anchor="ctr">
            <a:noAutofit/>
          </a:bodyPr>
          <a:p>
            <a:pPr algn="ctr">
              <a:lnSpc>
                <a:spcPct val="80000"/>
              </a:lnSpc>
              <a:buNone/>
            </a:pPr>
            <a:r>
              <a:rPr b="1" lang="en-US" sz="7200" spc="-182" strike="noStrike">
                <a:solidFill>
                  <a:srgbClr val="ffffff"/>
                </a:solidFill>
                <a:latin typeface="Oranienbaum"/>
                <a:ea typeface="Oranienbaum"/>
              </a:rPr>
              <a:t>Game Theory</a:t>
            </a:r>
            <a:endParaRPr b="0" lang="en-HK" sz="7200" spc="-1" strike="noStrike">
              <a:solidFill>
                <a:srgbClr val="ffffff"/>
              </a:solidFill>
              <a:latin typeface="Arial"/>
            </a:endParaRPr>
          </a:p>
        </p:txBody>
      </p:sp>
      <p:sp>
        <p:nvSpPr>
          <p:cNvPr id="46" name="Shape 2"/>
          <p:cNvSpPr/>
          <p:nvPr/>
        </p:nvSpPr>
        <p:spPr>
          <a:xfrm>
            <a:off x="5638680" y="3657600"/>
            <a:ext cx="914040" cy="18720"/>
          </a:xfrm>
          <a:custGeom>
            <a:avLst/>
            <a:gdLst/>
            <a:ahLst/>
            <a:rect l="l" t="t" r="r" b="b"/>
            <a:pathLst>
              <a:path w="914400" h="19050">
                <a:moveTo>
                  <a:pt x="0" y="0"/>
                </a:moveTo>
                <a:lnTo>
                  <a:pt x="914400" y="0"/>
                </a:lnTo>
                <a:lnTo>
                  <a:pt x="914400" y="19050"/>
                </a:lnTo>
                <a:lnTo>
                  <a:pt x="0" y="19050"/>
                </a:lnTo>
                <a:lnTo>
                  <a:pt x="0" y="0"/>
                </a:lnTo>
                <a:close/>
              </a:path>
            </a:pathLst>
          </a:custGeom>
          <a:solidFill>
            <a:srgbClr val="0984e3"/>
          </a:solidFill>
          <a:ln w="0">
            <a:noFill/>
          </a:ln>
        </p:spPr>
        <p:style>
          <a:lnRef idx="0"/>
          <a:fillRef idx="0"/>
          <a:effectRef idx="0"/>
          <a:fontRef idx="minor"/>
        </p:style>
      </p:sp>
      <p:sp>
        <p:nvSpPr>
          <p:cNvPr id="47" name="Text 3"/>
          <p:cNvSpPr/>
          <p:nvPr/>
        </p:nvSpPr>
        <p:spPr>
          <a:xfrm>
            <a:off x="3545640" y="4286160"/>
            <a:ext cx="5095440" cy="30456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0" lang="en-US" sz="1800" spc="43" strike="noStrike">
                <a:solidFill>
                  <a:srgbClr val="ffffff"/>
                </a:solidFill>
                <a:latin typeface="Liter"/>
                <a:ea typeface="Liter"/>
              </a:rPr>
              <a:t>The Mathematics of Strategic Decision-Making</a:t>
            </a:r>
            <a:endParaRPr b="0" lang="en-HK"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 name="Text 0"/>
          <p:cNvSpPr/>
          <p:nvPr/>
        </p:nvSpPr>
        <p:spPr>
          <a:xfrm>
            <a:off x="380880" y="380880"/>
            <a:ext cx="11658240" cy="456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Contents</a:t>
            </a:r>
            <a:endParaRPr b="0" lang="en-HK" sz="3600" spc="-1" strike="noStrike">
              <a:latin typeface="Arial"/>
            </a:endParaRPr>
          </a:p>
        </p:txBody>
      </p:sp>
      <p:sp>
        <p:nvSpPr>
          <p:cNvPr id="49" name="Shape 1"/>
          <p:cNvSpPr/>
          <p:nvPr/>
        </p:nvSpPr>
        <p:spPr>
          <a:xfrm>
            <a:off x="380880" y="952560"/>
            <a:ext cx="761760" cy="18720"/>
          </a:xfrm>
          <a:custGeom>
            <a:avLst/>
            <a:gdLst/>
            <a:ahLst/>
            <a:rect l="l" t="t" r="r" b="b"/>
            <a:pathLst>
              <a:path w="762000" h="19050">
                <a:moveTo>
                  <a:pt x="0" y="0"/>
                </a:moveTo>
                <a:lnTo>
                  <a:pt x="762000" y="0"/>
                </a:lnTo>
                <a:lnTo>
                  <a:pt x="762000" y="19050"/>
                </a:lnTo>
                <a:lnTo>
                  <a:pt x="0" y="19050"/>
                </a:lnTo>
                <a:lnTo>
                  <a:pt x="0" y="0"/>
                </a:lnTo>
                <a:close/>
              </a:path>
            </a:pathLst>
          </a:custGeom>
          <a:solidFill>
            <a:srgbClr val="0984e3"/>
          </a:solidFill>
          <a:ln w="0">
            <a:noFill/>
          </a:ln>
        </p:spPr>
        <p:style>
          <a:lnRef idx="0"/>
          <a:fillRef idx="0"/>
          <a:effectRef idx="0"/>
          <a:fontRef idx="minor"/>
        </p:style>
      </p:sp>
      <p:sp>
        <p:nvSpPr>
          <p:cNvPr id="50" name="Text 2"/>
          <p:cNvSpPr/>
          <p:nvPr/>
        </p:nvSpPr>
        <p:spPr>
          <a:xfrm>
            <a:off x="380880" y="1428840"/>
            <a:ext cx="752040" cy="5713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01</a:t>
            </a:r>
            <a:endParaRPr b="0" lang="en-HK" sz="4500" spc="-1" strike="noStrike">
              <a:latin typeface="Arial"/>
            </a:endParaRPr>
          </a:p>
        </p:txBody>
      </p:sp>
      <p:sp>
        <p:nvSpPr>
          <p:cNvPr id="51" name="Text 3"/>
          <p:cNvSpPr/>
          <p:nvPr/>
        </p:nvSpPr>
        <p:spPr>
          <a:xfrm>
            <a:off x="1034280" y="1504800"/>
            <a:ext cx="419076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Introduction to Game Theory</a:t>
            </a:r>
            <a:endParaRPr b="0" lang="en-HK" sz="1800" spc="-1" strike="noStrike">
              <a:latin typeface="Arial"/>
            </a:endParaRPr>
          </a:p>
        </p:txBody>
      </p:sp>
      <p:sp>
        <p:nvSpPr>
          <p:cNvPr id="52" name="Text 4"/>
          <p:cNvSpPr/>
          <p:nvPr/>
        </p:nvSpPr>
        <p:spPr>
          <a:xfrm>
            <a:off x="1034280" y="1886040"/>
            <a:ext cx="4161960" cy="275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Defining the mathematical study of strategic interaction</a:t>
            </a:r>
            <a:endParaRPr b="0" lang="en-HK" sz="1350" spc="-1" strike="noStrike">
              <a:latin typeface="Arial"/>
            </a:endParaRPr>
          </a:p>
        </p:txBody>
      </p:sp>
      <p:sp>
        <p:nvSpPr>
          <p:cNvPr id="53" name="Text 5"/>
          <p:cNvSpPr/>
          <p:nvPr/>
        </p:nvSpPr>
        <p:spPr>
          <a:xfrm>
            <a:off x="6400800" y="1428840"/>
            <a:ext cx="856800" cy="5713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02</a:t>
            </a:r>
            <a:endParaRPr b="0" lang="en-HK" sz="4500" spc="-1" strike="noStrike">
              <a:latin typeface="Arial"/>
            </a:endParaRPr>
          </a:p>
        </p:txBody>
      </p:sp>
      <p:sp>
        <p:nvSpPr>
          <p:cNvPr id="54" name="Text 6"/>
          <p:cNvSpPr/>
          <p:nvPr/>
        </p:nvSpPr>
        <p:spPr>
          <a:xfrm>
            <a:off x="7160040" y="1504800"/>
            <a:ext cx="476208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Historical Foundations</a:t>
            </a:r>
            <a:endParaRPr b="0" lang="en-HK" sz="1800" spc="-1" strike="noStrike">
              <a:latin typeface="Arial"/>
            </a:endParaRPr>
          </a:p>
        </p:txBody>
      </p:sp>
      <p:sp>
        <p:nvSpPr>
          <p:cNvPr id="55" name="Text 7"/>
          <p:cNvSpPr/>
          <p:nvPr/>
        </p:nvSpPr>
        <p:spPr>
          <a:xfrm>
            <a:off x="7160040" y="1886040"/>
            <a:ext cx="4733640" cy="561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From von Neumann to Nash: The evolution of strategic thinking</a:t>
            </a:r>
            <a:endParaRPr b="0" lang="en-HK" sz="1350" spc="-1" strike="noStrike">
              <a:latin typeface="Arial"/>
            </a:endParaRPr>
          </a:p>
        </p:txBody>
      </p:sp>
      <p:sp>
        <p:nvSpPr>
          <p:cNvPr id="56" name="Text 8"/>
          <p:cNvSpPr/>
          <p:nvPr/>
        </p:nvSpPr>
        <p:spPr>
          <a:xfrm>
            <a:off x="380880" y="2824200"/>
            <a:ext cx="856800" cy="5713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03</a:t>
            </a:r>
            <a:endParaRPr b="0" lang="en-HK" sz="4500" spc="-1" strike="noStrike">
              <a:latin typeface="Arial"/>
            </a:endParaRPr>
          </a:p>
        </p:txBody>
      </p:sp>
      <p:sp>
        <p:nvSpPr>
          <p:cNvPr id="57" name="Text 9"/>
          <p:cNvSpPr/>
          <p:nvPr/>
        </p:nvSpPr>
        <p:spPr>
          <a:xfrm>
            <a:off x="1143000" y="2900520"/>
            <a:ext cx="397152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Core Concepts &amp; Mathematical Framework</a:t>
            </a:r>
            <a:endParaRPr b="0" lang="en-HK" sz="1800" spc="-1" strike="noStrike">
              <a:latin typeface="Arial"/>
            </a:endParaRPr>
          </a:p>
        </p:txBody>
      </p:sp>
      <p:sp>
        <p:nvSpPr>
          <p:cNvPr id="58" name="Text 10"/>
          <p:cNvSpPr/>
          <p:nvPr/>
        </p:nvSpPr>
        <p:spPr>
          <a:xfrm>
            <a:off x="1143000" y="3281400"/>
            <a:ext cx="3943080" cy="275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The essential building blocks of strategic analysis</a:t>
            </a:r>
            <a:endParaRPr b="0" lang="en-HK" sz="1350" spc="-1" strike="noStrike">
              <a:latin typeface="Arial"/>
            </a:endParaRPr>
          </a:p>
        </p:txBody>
      </p:sp>
      <p:sp>
        <p:nvSpPr>
          <p:cNvPr id="59" name="Text 11"/>
          <p:cNvSpPr/>
          <p:nvPr/>
        </p:nvSpPr>
        <p:spPr>
          <a:xfrm>
            <a:off x="6400800" y="2824200"/>
            <a:ext cx="885600" cy="5713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04</a:t>
            </a:r>
            <a:endParaRPr b="0" lang="en-HK" sz="4500" spc="-1" strike="noStrike">
              <a:latin typeface="Arial"/>
            </a:endParaRPr>
          </a:p>
        </p:txBody>
      </p:sp>
      <p:sp>
        <p:nvSpPr>
          <p:cNvPr id="60" name="Text 12"/>
          <p:cNvSpPr/>
          <p:nvPr/>
        </p:nvSpPr>
        <p:spPr>
          <a:xfrm>
            <a:off x="7188480" y="2900520"/>
            <a:ext cx="247608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Types of Games</a:t>
            </a:r>
            <a:endParaRPr b="0" lang="en-HK" sz="1800" spc="-1" strike="noStrike">
              <a:latin typeface="Arial"/>
            </a:endParaRPr>
          </a:p>
        </p:txBody>
      </p:sp>
      <p:sp>
        <p:nvSpPr>
          <p:cNvPr id="61" name="Text 13"/>
          <p:cNvSpPr/>
          <p:nvPr/>
        </p:nvSpPr>
        <p:spPr>
          <a:xfrm>
            <a:off x="7188480" y="3281400"/>
            <a:ext cx="2447640" cy="275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Classifying strategic interactions</a:t>
            </a:r>
            <a:endParaRPr b="0" lang="en-HK" sz="1350" spc="-1" strike="noStrike">
              <a:latin typeface="Arial"/>
            </a:endParaRPr>
          </a:p>
        </p:txBody>
      </p:sp>
      <p:sp>
        <p:nvSpPr>
          <p:cNvPr id="62" name="Text 14"/>
          <p:cNvSpPr/>
          <p:nvPr/>
        </p:nvSpPr>
        <p:spPr>
          <a:xfrm>
            <a:off x="380880" y="3940920"/>
            <a:ext cx="847440" cy="5713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05</a:t>
            </a:r>
            <a:endParaRPr b="0" lang="en-HK" sz="4500" spc="-1" strike="noStrike">
              <a:latin typeface="Arial"/>
            </a:endParaRPr>
          </a:p>
        </p:txBody>
      </p:sp>
      <p:sp>
        <p:nvSpPr>
          <p:cNvPr id="63" name="Text 15"/>
          <p:cNvSpPr/>
          <p:nvPr/>
        </p:nvSpPr>
        <p:spPr>
          <a:xfrm>
            <a:off x="1137240" y="4017240"/>
            <a:ext cx="286668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Classic Game Models</a:t>
            </a:r>
            <a:endParaRPr b="0" lang="en-HK" sz="1800" spc="-1" strike="noStrike">
              <a:latin typeface="Arial"/>
            </a:endParaRPr>
          </a:p>
        </p:txBody>
      </p:sp>
      <p:sp>
        <p:nvSpPr>
          <p:cNvPr id="64" name="Text 16"/>
          <p:cNvSpPr/>
          <p:nvPr/>
        </p:nvSpPr>
        <p:spPr>
          <a:xfrm>
            <a:off x="1137240" y="4398120"/>
            <a:ext cx="2838240" cy="275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Iconic examples that shaped the field</a:t>
            </a:r>
            <a:endParaRPr b="0" lang="en-HK" sz="1350" spc="-1" strike="noStrike">
              <a:latin typeface="Arial"/>
            </a:endParaRPr>
          </a:p>
        </p:txBody>
      </p:sp>
      <p:sp>
        <p:nvSpPr>
          <p:cNvPr id="65" name="Text 17"/>
          <p:cNvSpPr/>
          <p:nvPr/>
        </p:nvSpPr>
        <p:spPr>
          <a:xfrm>
            <a:off x="6400800" y="3940920"/>
            <a:ext cx="866520" cy="5713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06</a:t>
            </a:r>
            <a:endParaRPr b="0" lang="en-HK" sz="4500" spc="-1" strike="noStrike">
              <a:latin typeface="Arial"/>
            </a:endParaRPr>
          </a:p>
        </p:txBody>
      </p:sp>
      <p:sp>
        <p:nvSpPr>
          <p:cNvPr id="66" name="Text 18"/>
          <p:cNvSpPr/>
          <p:nvPr/>
        </p:nvSpPr>
        <p:spPr>
          <a:xfrm>
            <a:off x="7171560" y="4017240"/>
            <a:ext cx="307620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Real-World Applications</a:t>
            </a:r>
            <a:endParaRPr b="0" lang="en-HK" sz="1800" spc="-1" strike="noStrike">
              <a:latin typeface="Arial"/>
            </a:endParaRPr>
          </a:p>
        </p:txBody>
      </p:sp>
      <p:sp>
        <p:nvSpPr>
          <p:cNvPr id="67" name="Text 19"/>
          <p:cNvSpPr/>
          <p:nvPr/>
        </p:nvSpPr>
        <p:spPr>
          <a:xfrm>
            <a:off x="7171560" y="4398120"/>
            <a:ext cx="3047760" cy="275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Game theory in action across disciplines</a:t>
            </a:r>
            <a:endParaRPr b="0" lang="en-HK" sz="135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8" name="Text 0"/>
          <p:cNvSpPr/>
          <p:nvPr/>
        </p:nvSpPr>
        <p:spPr>
          <a:xfrm>
            <a:off x="609480" y="1781280"/>
            <a:ext cx="12191760" cy="12189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01</a:t>
            </a:r>
            <a:endParaRPr b="0" lang="en-HK" sz="9600" spc="-1" strike="noStrike">
              <a:latin typeface="Arial"/>
            </a:endParaRPr>
          </a:p>
        </p:txBody>
      </p:sp>
      <p:sp>
        <p:nvSpPr>
          <p:cNvPr id="69" name="Text 1"/>
          <p:cNvSpPr/>
          <p:nvPr/>
        </p:nvSpPr>
        <p:spPr>
          <a:xfrm>
            <a:off x="609480" y="3152880"/>
            <a:ext cx="11867760" cy="11426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Introduction to</a:t>
            </a:r>
            <a:endParaRPr b="0" lang="en-HK" sz="4500" spc="-1" strike="noStrike">
              <a:latin typeface="Arial"/>
            </a:endParaRPr>
          </a:p>
          <a:p>
            <a:pPr>
              <a:lnSpc>
                <a:spcPct val="80000"/>
              </a:lnSpc>
              <a:buNone/>
            </a:pPr>
            <a:r>
              <a:rPr b="1" lang="en-US" sz="4500" spc="-1" strike="noStrike">
                <a:solidFill>
                  <a:srgbClr val="2d3436"/>
                </a:solidFill>
                <a:latin typeface="Oranienbaum"/>
                <a:ea typeface="Oranienbaum"/>
              </a:rPr>
              <a:t>Game Theory</a:t>
            </a:r>
            <a:endParaRPr b="0" lang="en-HK" sz="4500" spc="-1" strike="noStrike">
              <a:latin typeface="Arial"/>
            </a:endParaRPr>
          </a:p>
        </p:txBody>
      </p:sp>
      <p:sp>
        <p:nvSpPr>
          <p:cNvPr id="70" name="Shape 2"/>
          <p:cNvSpPr/>
          <p:nvPr/>
        </p:nvSpPr>
        <p:spPr>
          <a:xfrm>
            <a:off x="609480" y="4524480"/>
            <a:ext cx="1218960" cy="1872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71" name="Text 3"/>
          <p:cNvSpPr/>
          <p:nvPr/>
        </p:nvSpPr>
        <p:spPr>
          <a:xfrm>
            <a:off x="609480" y="4772160"/>
            <a:ext cx="1169640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Defining the mathematical study of strategic interaction</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 name="Text 0"/>
          <p:cNvSpPr/>
          <p:nvPr/>
        </p:nvSpPr>
        <p:spPr>
          <a:xfrm>
            <a:off x="380880" y="380880"/>
            <a:ext cx="1150596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58" strike="noStrike">
                <a:solidFill>
                  <a:srgbClr val="0984e3"/>
                </a:solidFill>
                <a:latin typeface="Quattrocento Sans"/>
                <a:ea typeface="Quattrocento Sans"/>
              </a:rPr>
              <a:t>INTRODUCTION</a:t>
            </a:r>
            <a:endParaRPr b="0" lang="en-HK" sz="1200" spc="-1" strike="noStrike">
              <a:latin typeface="Arial"/>
            </a:endParaRPr>
          </a:p>
        </p:txBody>
      </p:sp>
      <p:sp>
        <p:nvSpPr>
          <p:cNvPr id="73" name="Text 1"/>
          <p:cNvSpPr/>
          <p:nvPr/>
        </p:nvSpPr>
        <p:spPr>
          <a:xfrm>
            <a:off x="380880" y="685800"/>
            <a:ext cx="11658240" cy="456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What is Game Theory?</a:t>
            </a:r>
            <a:endParaRPr b="0" lang="en-HK" sz="3600" spc="-1" strike="noStrike">
              <a:latin typeface="Arial"/>
            </a:endParaRPr>
          </a:p>
        </p:txBody>
      </p:sp>
      <p:sp>
        <p:nvSpPr>
          <p:cNvPr id="74" name="Text 2"/>
          <p:cNvSpPr/>
          <p:nvPr/>
        </p:nvSpPr>
        <p:spPr>
          <a:xfrm>
            <a:off x="380880" y="1371600"/>
            <a:ext cx="6829200" cy="12380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500" spc="-1" strike="noStrike">
                <a:solidFill>
                  <a:srgbClr val="1e272e"/>
                </a:solidFill>
                <a:latin typeface="Quattrocento Sans"/>
                <a:ea typeface="Quattrocento Sans"/>
              </a:rPr>
              <a:t>Game theory is a mathematical framework for analyzing strategic interactions among rational decision-makers.</a:t>
            </a:r>
            <a:r>
              <a:rPr b="0" lang="en-US" sz="1500" spc="-1" strike="noStrike">
                <a:solidFill>
                  <a:srgbClr val="1e272e"/>
                </a:solidFill>
                <a:latin typeface="Quattrocento Sans"/>
                <a:ea typeface="Quattrocento Sans"/>
              </a:rPr>
              <a:t> It provides a structured approach to understanding how individuals or groups make decisions in situations where the outcome depends on the choices of multiple participants.</a:t>
            </a:r>
            <a:endParaRPr b="0" lang="en-HK" sz="1500" spc="-1" strike="noStrike">
              <a:latin typeface="Arial"/>
            </a:endParaRPr>
          </a:p>
        </p:txBody>
      </p:sp>
      <p:sp>
        <p:nvSpPr>
          <p:cNvPr id="75" name="Text 3"/>
          <p:cNvSpPr/>
          <p:nvPr/>
        </p:nvSpPr>
        <p:spPr>
          <a:xfrm>
            <a:off x="380880" y="2838600"/>
            <a:ext cx="6819480" cy="1114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Originally developed to investigate rational and economic behavior, game theory has evolved into a powerful tool with applications spanning economics, political science, biology, psychology, and computer science. It helps us predict behavior, design optimal strategies, and understand the dynamics of cooperation and competition.</a:t>
            </a:r>
            <a:endParaRPr b="0" lang="en-HK" sz="1350" spc="-1" strike="noStrike">
              <a:latin typeface="Arial"/>
            </a:endParaRPr>
          </a:p>
        </p:txBody>
      </p:sp>
      <p:sp>
        <p:nvSpPr>
          <p:cNvPr id="76" name="Shape 4"/>
          <p:cNvSpPr/>
          <p:nvPr/>
        </p:nvSpPr>
        <p:spPr>
          <a:xfrm>
            <a:off x="399960" y="4986360"/>
            <a:ext cx="6714720" cy="1361880"/>
          </a:xfrm>
          <a:custGeom>
            <a:avLst/>
            <a:gdLst/>
            <a:ahLst/>
            <a:rect l="l" t="t" r="r" b="b"/>
            <a:pathLst>
              <a:path w="6715125" h="1362075">
                <a:moveTo>
                  <a:pt x="0" y="0"/>
                </a:moveTo>
                <a:lnTo>
                  <a:pt x="6715125" y="0"/>
                </a:lnTo>
                <a:lnTo>
                  <a:pt x="6715125" y="1362075"/>
                </a:lnTo>
                <a:lnTo>
                  <a:pt x="0" y="1362075"/>
                </a:lnTo>
                <a:lnTo>
                  <a:pt x="0" y="0"/>
                </a:lnTo>
                <a:close/>
              </a:path>
            </a:pathLst>
          </a:custGeom>
          <a:solidFill>
            <a:srgbClr val="f8f9fa"/>
          </a:solidFill>
          <a:ln w="0">
            <a:noFill/>
          </a:ln>
        </p:spPr>
        <p:style>
          <a:lnRef idx="0"/>
          <a:fillRef idx="0"/>
          <a:effectRef idx="0"/>
          <a:fontRef idx="minor"/>
        </p:style>
      </p:sp>
      <p:sp>
        <p:nvSpPr>
          <p:cNvPr id="77" name="Shape 5"/>
          <p:cNvSpPr/>
          <p:nvPr/>
        </p:nvSpPr>
        <p:spPr>
          <a:xfrm>
            <a:off x="399960" y="4986360"/>
            <a:ext cx="37800" cy="1361880"/>
          </a:xfrm>
          <a:custGeom>
            <a:avLst/>
            <a:gdLst/>
            <a:ahLst/>
            <a:rect l="l" t="t" r="r" b="b"/>
            <a:pathLst>
              <a:path w="38100" h="1362075">
                <a:moveTo>
                  <a:pt x="0" y="0"/>
                </a:moveTo>
                <a:lnTo>
                  <a:pt x="38100" y="0"/>
                </a:lnTo>
                <a:lnTo>
                  <a:pt x="38100" y="1362075"/>
                </a:lnTo>
                <a:lnTo>
                  <a:pt x="0" y="1362075"/>
                </a:lnTo>
                <a:lnTo>
                  <a:pt x="0" y="0"/>
                </a:lnTo>
                <a:close/>
              </a:path>
            </a:pathLst>
          </a:custGeom>
          <a:solidFill>
            <a:srgbClr val="0984e3"/>
          </a:solidFill>
          <a:ln w="0">
            <a:noFill/>
          </a:ln>
        </p:spPr>
        <p:style>
          <a:lnRef idx="0"/>
          <a:fillRef idx="0"/>
          <a:effectRef idx="0"/>
          <a:fontRef idx="minor"/>
        </p:style>
      </p:sp>
      <p:sp>
        <p:nvSpPr>
          <p:cNvPr id="78" name="Text 6"/>
          <p:cNvSpPr/>
          <p:nvPr/>
        </p:nvSpPr>
        <p:spPr>
          <a:xfrm>
            <a:off x="647640" y="5214960"/>
            <a:ext cx="6324120" cy="561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1e272e"/>
                </a:solidFill>
                <a:latin typeface="Quattrocento Sans"/>
                <a:ea typeface="Quattrocento Sans"/>
              </a:rPr>
              <a:t>"Game theory is the study of mathematical models of strategic interaction among rational decision-makers."</a:t>
            </a:r>
            <a:endParaRPr b="0" lang="en-HK" sz="1350" spc="-1" strike="noStrike">
              <a:latin typeface="Arial"/>
            </a:endParaRPr>
          </a:p>
        </p:txBody>
      </p:sp>
      <p:sp>
        <p:nvSpPr>
          <p:cNvPr id="79" name="Text 7"/>
          <p:cNvSpPr/>
          <p:nvPr/>
        </p:nvSpPr>
        <p:spPr>
          <a:xfrm>
            <a:off x="647640" y="5886360"/>
            <a:ext cx="631476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636e72"/>
                </a:solidFill>
                <a:latin typeface="Quattrocento Sans"/>
                <a:ea typeface="Quattrocento Sans"/>
              </a:rPr>
              <a:t>— </a:t>
            </a:r>
            <a:r>
              <a:rPr b="0" lang="en-US" sz="1200" spc="-1" strike="noStrike">
                <a:solidFill>
                  <a:srgbClr val="636e72"/>
                </a:solidFill>
                <a:latin typeface="Quattrocento Sans"/>
                <a:ea typeface="Quattrocento Sans"/>
              </a:rPr>
              <a:t>Roger Myerson, Nobel Laureate 2007</a:t>
            </a:r>
            <a:endParaRPr b="0" lang="en-HK" sz="1200" spc="-1" strike="noStrike">
              <a:latin typeface="Arial"/>
            </a:endParaRPr>
          </a:p>
        </p:txBody>
      </p:sp>
      <p:sp>
        <p:nvSpPr>
          <p:cNvPr id="80" name="Shape 8"/>
          <p:cNvSpPr/>
          <p:nvPr/>
        </p:nvSpPr>
        <p:spPr>
          <a:xfrm>
            <a:off x="7426440" y="1376280"/>
            <a:ext cx="4381200" cy="1495080"/>
          </a:xfrm>
          <a:custGeom>
            <a:avLst/>
            <a:gdLst/>
            <a:ahLst/>
            <a:rect l="l" t="t" r="r" b="b"/>
            <a:pathLst>
              <a:path w="4381500" h="1495425">
                <a:moveTo>
                  <a:pt x="0" y="0"/>
                </a:moveTo>
                <a:lnTo>
                  <a:pt x="4381500" y="0"/>
                </a:lnTo>
                <a:lnTo>
                  <a:pt x="4381500" y="1495425"/>
                </a:lnTo>
                <a:lnTo>
                  <a:pt x="0" y="1495425"/>
                </a:lnTo>
                <a:lnTo>
                  <a:pt x="0" y="0"/>
                </a:lnTo>
                <a:close/>
              </a:path>
            </a:pathLst>
          </a:custGeom>
          <a:solidFill>
            <a:srgbClr val="ffffff"/>
          </a:solidFill>
          <a:ln w="12700">
            <a:solidFill>
              <a:srgbClr val="e0e0e0"/>
            </a:solidFill>
            <a:round/>
          </a:ln>
        </p:spPr>
        <p:style>
          <a:lnRef idx="0"/>
          <a:fillRef idx="0"/>
          <a:effectRef idx="0"/>
          <a:fontRef idx="minor"/>
        </p:style>
      </p:sp>
      <p:sp>
        <p:nvSpPr>
          <p:cNvPr id="81" name="Shape 9"/>
          <p:cNvSpPr/>
          <p:nvPr/>
        </p:nvSpPr>
        <p:spPr>
          <a:xfrm>
            <a:off x="7660080" y="1609560"/>
            <a:ext cx="380520" cy="380520"/>
          </a:xfrm>
          <a:custGeom>
            <a:avLst/>
            <a:gdLst/>
            <a:ahLst/>
            <a:rect l="l" t="t" r="r" b="b"/>
            <a:pathLst>
              <a:path w="381000" h="381000">
                <a:moveTo>
                  <a:pt x="0" y="0"/>
                </a:moveTo>
                <a:lnTo>
                  <a:pt x="381000" y="0"/>
                </a:lnTo>
                <a:lnTo>
                  <a:pt x="381000" y="381000"/>
                </a:lnTo>
                <a:lnTo>
                  <a:pt x="0" y="381000"/>
                </a:lnTo>
                <a:lnTo>
                  <a:pt x="0" y="0"/>
                </a:lnTo>
                <a:close/>
              </a:path>
            </a:pathLst>
          </a:custGeom>
          <a:solidFill>
            <a:srgbClr val="0984e3"/>
          </a:solidFill>
          <a:ln w="0">
            <a:noFill/>
          </a:ln>
        </p:spPr>
        <p:style>
          <a:lnRef idx="0"/>
          <a:fillRef idx="0"/>
          <a:effectRef idx="0"/>
          <a:fontRef idx="minor"/>
        </p:style>
      </p:sp>
      <p:sp>
        <p:nvSpPr>
          <p:cNvPr id="82" name="Shape 10"/>
          <p:cNvSpPr/>
          <p:nvPr/>
        </p:nvSpPr>
        <p:spPr>
          <a:xfrm>
            <a:off x="7745760" y="1714680"/>
            <a:ext cx="213840" cy="171000"/>
          </a:xfrm>
          <a:custGeom>
            <a:avLst/>
            <a:gdLst/>
            <a:ahLst/>
            <a:rect l="l" t="t" r="r" b="b"/>
            <a:pathLst>
              <a:path w="214313" h="171450">
                <a:moveTo>
                  <a:pt x="107156" y="5358"/>
                </a:moveTo>
                <a:cubicBezTo>
                  <a:pt x="126377" y="5358"/>
                  <a:pt x="141982" y="20963"/>
                  <a:pt x="141982" y="40184"/>
                </a:cubicBezTo>
                <a:cubicBezTo>
                  <a:pt x="141982" y="59404"/>
                  <a:pt x="126377" y="75009"/>
                  <a:pt x="107156" y="75009"/>
                </a:cubicBezTo>
                <a:cubicBezTo>
                  <a:pt x="87935" y="75009"/>
                  <a:pt x="72330" y="59404"/>
                  <a:pt x="72330" y="40184"/>
                </a:cubicBezTo>
                <a:cubicBezTo>
                  <a:pt x="72330" y="20963"/>
                  <a:pt x="87935" y="5358"/>
                  <a:pt x="107156" y="5358"/>
                </a:cubicBezTo>
                <a:close/>
                <a:moveTo>
                  <a:pt x="32147" y="29468"/>
                </a:moveTo>
                <a:cubicBezTo>
                  <a:pt x="45454" y="29468"/>
                  <a:pt x="56257" y="40271"/>
                  <a:pt x="56257" y="53578"/>
                </a:cubicBezTo>
                <a:cubicBezTo>
                  <a:pt x="56257" y="66885"/>
                  <a:pt x="45454" y="77688"/>
                  <a:pt x="32147" y="77688"/>
                </a:cubicBezTo>
                <a:cubicBezTo>
                  <a:pt x="18840" y="77688"/>
                  <a:pt x="8037" y="66885"/>
                  <a:pt x="8037" y="53578"/>
                </a:cubicBezTo>
                <a:cubicBezTo>
                  <a:pt x="8037" y="40271"/>
                  <a:pt x="18840" y="29468"/>
                  <a:pt x="32147" y="29468"/>
                </a:cubicBezTo>
                <a:close/>
                <a:moveTo>
                  <a:pt x="0" y="139303"/>
                </a:moveTo>
                <a:cubicBezTo>
                  <a:pt x="0" y="115628"/>
                  <a:pt x="19188" y="96441"/>
                  <a:pt x="42863" y="96441"/>
                </a:cubicBezTo>
                <a:cubicBezTo>
                  <a:pt x="47149" y="96441"/>
                  <a:pt x="51301" y="97077"/>
                  <a:pt x="55219" y="98249"/>
                </a:cubicBezTo>
                <a:cubicBezTo>
                  <a:pt x="44202" y="110572"/>
                  <a:pt x="37505" y="126846"/>
                  <a:pt x="37505" y="144661"/>
                </a:cubicBezTo>
                <a:lnTo>
                  <a:pt x="37505" y="150019"/>
                </a:lnTo>
                <a:cubicBezTo>
                  <a:pt x="37505" y="153836"/>
                  <a:pt x="38308" y="157453"/>
                  <a:pt x="39748" y="160734"/>
                </a:cubicBezTo>
                <a:lnTo>
                  <a:pt x="10716" y="160734"/>
                </a:lnTo>
                <a:cubicBezTo>
                  <a:pt x="4789" y="160734"/>
                  <a:pt x="0" y="155946"/>
                  <a:pt x="0" y="150019"/>
                </a:cubicBezTo>
                <a:lnTo>
                  <a:pt x="0" y="139303"/>
                </a:lnTo>
                <a:close/>
                <a:moveTo>
                  <a:pt x="174564" y="160734"/>
                </a:moveTo>
                <a:cubicBezTo>
                  <a:pt x="176004" y="157453"/>
                  <a:pt x="176808" y="153836"/>
                  <a:pt x="176808" y="150019"/>
                </a:cubicBezTo>
                <a:lnTo>
                  <a:pt x="176808" y="144661"/>
                </a:lnTo>
                <a:cubicBezTo>
                  <a:pt x="176808" y="126846"/>
                  <a:pt x="170111" y="110572"/>
                  <a:pt x="159094" y="98249"/>
                </a:cubicBezTo>
                <a:cubicBezTo>
                  <a:pt x="163011" y="97077"/>
                  <a:pt x="167164" y="96441"/>
                  <a:pt x="171450" y="96441"/>
                </a:cubicBezTo>
                <a:cubicBezTo>
                  <a:pt x="195125" y="96441"/>
                  <a:pt x="214313" y="115628"/>
                  <a:pt x="214313" y="139303"/>
                </a:cubicBezTo>
                <a:lnTo>
                  <a:pt x="214313" y="150019"/>
                </a:lnTo>
                <a:cubicBezTo>
                  <a:pt x="214313" y="155946"/>
                  <a:pt x="209524" y="160734"/>
                  <a:pt x="203597" y="160734"/>
                </a:cubicBezTo>
                <a:lnTo>
                  <a:pt x="174564" y="160734"/>
                </a:lnTo>
                <a:close/>
                <a:moveTo>
                  <a:pt x="158055" y="53578"/>
                </a:moveTo>
                <a:cubicBezTo>
                  <a:pt x="158055" y="40271"/>
                  <a:pt x="168859" y="29468"/>
                  <a:pt x="182166" y="29468"/>
                </a:cubicBezTo>
                <a:cubicBezTo>
                  <a:pt x="195472" y="29468"/>
                  <a:pt x="206276" y="40271"/>
                  <a:pt x="206276" y="53578"/>
                </a:cubicBezTo>
                <a:cubicBezTo>
                  <a:pt x="206276" y="66885"/>
                  <a:pt x="195472" y="77688"/>
                  <a:pt x="182166" y="77688"/>
                </a:cubicBezTo>
                <a:cubicBezTo>
                  <a:pt x="168859" y="77688"/>
                  <a:pt x="158055" y="66885"/>
                  <a:pt x="158055" y="53578"/>
                </a:cubicBezTo>
                <a:close/>
                <a:moveTo>
                  <a:pt x="53578" y="144661"/>
                </a:moveTo>
                <a:cubicBezTo>
                  <a:pt x="53578" y="115059"/>
                  <a:pt x="77554" y="91083"/>
                  <a:pt x="107156" y="91083"/>
                </a:cubicBezTo>
                <a:cubicBezTo>
                  <a:pt x="136758" y="91083"/>
                  <a:pt x="160734" y="115059"/>
                  <a:pt x="160734" y="144661"/>
                </a:cubicBezTo>
                <a:lnTo>
                  <a:pt x="160734" y="150019"/>
                </a:lnTo>
                <a:cubicBezTo>
                  <a:pt x="160734" y="155946"/>
                  <a:pt x="155946" y="160734"/>
                  <a:pt x="150019" y="160734"/>
                </a:cubicBezTo>
                <a:lnTo>
                  <a:pt x="64294" y="160734"/>
                </a:lnTo>
                <a:cubicBezTo>
                  <a:pt x="58367" y="160734"/>
                  <a:pt x="53578" y="155946"/>
                  <a:pt x="53578" y="150019"/>
                </a:cubicBezTo>
                <a:lnTo>
                  <a:pt x="53578" y="144661"/>
                </a:lnTo>
                <a:close/>
              </a:path>
            </a:pathLst>
          </a:custGeom>
          <a:solidFill>
            <a:srgbClr val="ffffff"/>
          </a:solidFill>
          <a:ln w="0">
            <a:noFill/>
          </a:ln>
        </p:spPr>
        <p:style>
          <a:lnRef idx="0"/>
          <a:fillRef idx="0"/>
          <a:effectRef idx="0"/>
          <a:fontRef idx="minor"/>
        </p:style>
      </p:sp>
      <p:sp>
        <p:nvSpPr>
          <p:cNvPr id="83" name="Text 11"/>
          <p:cNvSpPr/>
          <p:nvPr/>
        </p:nvSpPr>
        <p:spPr>
          <a:xfrm>
            <a:off x="8155440" y="1666800"/>
            <a:ext cx="63792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Players</a:t>
            </a:r>
            <a:endParaRPr b="0" lang="en-HK" sz="1500" spc="-1" strike="noStrike">
              <a:latin typeface="Arial"/>
            </a:endParaRPr>
          </a:p>
        </p:txBody>
      </p:sp>
      <p:sp>
        <p:nvSpPr>
          <p:cNvPr id="84" name="Text 12"/>
          <p:cNvSpPr/>
          <p:nvPr/>
        </p:nvSpPr>
        <p:spPr>
          <a:xfrm>
            <a:off x="7660080" y="2143080"/>
            <a:ext cx="3990600" cy="495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Decision-makers whose choices influence outcomes. Games may involve two players or many.</a:t>
            </a:r>
            <a:endParaRPr b="0" lang="en-HK" sz="1200" spc="-1" strike="noStrike">
              <a:latin typeface="Arial"/>
            </a:endParaRPr>
          </a:p>
        </p:txBody>
      </p:sp>
      <p:sp>
        <p:nvSpPr>
          <p:cNvPr id="85" name="Shape 13"/>
          <p:cNvSpPr/>
          <p:nvPr/>
        </p:nvSpPr>
        <p:spPr>
          <a:xfrm>
            <a:off x="7426440" y="3110040"/>
            <a:ext cx="4381200" cy="1495080"/>
          </a:xfrm>
          <a:custGeom>
            <a:avLst/>
            <a:gdLst/>
            <a:ahLst/>
            <a:rect l="l" t="t" r="r" b="b"/>
            <a:pathLst>
              <a:path w="4381500" h="1495425">
                <a:moveTo>
                  <a:pt x="0" y="0"/>
                </a:moveTo>
                <a:lnTo>
                  <a:pt x="4381500" y="0"/>
                </a:lnTo>
                <a:lnTo>
                  <a:pt x="4381500" y="1495425"/>
                </a:lnTo>
                <a:lnTo>
                  <a:pt x="0" y="1495425"/>
                </a:lnTo>
                <a:lnTo>
                  <a:pt x="0" y="0"/>
                </a:lnTo>
                <a:close/>
              </a:path>
            </a:pathLst>
          </a:custGeom>
          <a:solidFill>
            <a:srgbClr val="ffffff"/>
          </a:solidFill>
          <a:ln w="12700">
            <a:solidFill>
              <a:srgbClr val="e0e0e0"/>
            </a:solidFill>
            <a:round/>
          </a:ln>
        </p:spPr>
        <p:style>
          <a:lnRef idx="0"/>
          <a:fillRef idx="0"/>
          <a:effectRef idx="0"/>
          <a:fontRef idx="minor"/>
        </p:style>
      </p:sp>
      <p:sp>
        <p:nvSpPr>
          <p:cNvPr id="86" name="Shape 14"/>
          <p:cNvSpPr/>
          <p:nvPr/>
        </p:nvSpPr>
        <p:spPr>
          <a:xfrm>
            <a:off x="7660080" y="3343320"/>
            <a:ext cx="380520" cy="380520"/>
          </a:xfrm>
          <a:custGeom>
            <a:avLst/>
            <a:gdLst/>
            <a:ahLst/>
            <a:rect l="l" t="t" r="r" b="b"/>
            <a:pathLst>
              <a:path w="381000" h="381000">
                <a:moveTo>
                  <a:pt x="0" y="0"/>
                </a:moveTo>
                <a:lnTo>
                  <a:pt x="381000" y="0"/>
                </a:lnTo>
                <a:lnTo>
                  <a:pt x="381000" y="381000"/>
                </a:lnTo>
                <a:lnTo>
                  <a:pt x="0" y="381000"/>
                </a:lnTo>
                <a:lnTo>
                  <a:pt x="0" y="0"/>
                </a:lnTo>
                <a:close/>
              </a:path>
            </a:pathLst>
          </a:custGeom>
          <a:solidFill>
            <a:srgbClr val="0984e3"/>
          </a:solidFill>
          <a:ln w="0">
            <a:noFill/>
          </a:ln>
        </p:spPr>
        <p:style>
          <a:lnRef idx="0"/>
          <a:fillRef idx="0"/>
          <a:effectRef idx="0"/>
          <a:fontRef idx="minor"/>
        </p:style>
      </p:sp>
      <p:sp>
        <p:nvSpPr>
          <p:cNvPr id="87" name="Shape 15"/>
          <p:cNvSpPr/>
          <p:nvPr/>
        </p:nvSpPr>
        <p:spPr>
          <a:xfrm>
            <a:off x="7767000" y="3448080"/>
            <a:ext cx="171000" cy="171000"/>
          </a:xfrm>
          <a:custGeom>
            <a:avLst/>
            <a:gdLst/>
            <a:ahLst/>
            <a:rect l="l" t="t" r="r" b="b"/>
            <a:pathLst>
              <a:path w="171450" h="171450">
                <a:moveTo>
                  <a:pt x="56257" y="18752"/>
                </a:moveTo>
                <a:lnTo>
                  <a:pt x="56257" y="32147"/>
                </a:lnTo>
                <a:lnTo>
                  <a:pt x="30104" y="32147"/>
                </a:lnTo>
                <a:cubicBezTo>
                  <a:pt x="25316" y="32147"/>
                  <a:pt x="21431" y="36031"/>
                  <a:pt x="21431" y="40820"/>
                </a:cubicBezTo>
                <a:cubicBezTo>
                  <a:pt x="21431" y="42159"/>
                  <a:pt x="21733" y="43499"/>
                  <a:pt x="22335" y="44704"/>
                </a:cubicBezTo>
                <a:lnTo>
                  <a:pt x="33520" y="67073"/>
                </a:lnTo>
                <a:cubicBezTo>
                  <a:pt x="29702" y="67676"/>
                  <a:pt x="26756" y="70991"/>
                  <a:pt x="26756" y="75009"/>
                </a:cubicBezTo>
                <a:cubicBezTo>
                  <a:pt x="26756" y="79463"/>
                  <a:pt x="30339" y="83046"/>
                  <a:pt x="34792" y="83046"/>
                </a:cubicBezTo>
                <a:lnTo>
                  <a:pt x="36668" y="83046"/>
                </a:lnTo>
                <a:lnTo>
                  <a:pt x="32113" y="128588"/>
                </a:lnTo>
                <a:lnTo>
                  <a:pt x="13294" y="152128"/>
                </a:lnTo>
                <a:cubicBezTo>
                  <a:pt x="11620" y="154238"/>
                  <a:pt x="10682" y="156850"/>
                  <a:pt x="10682" y="159562"/>
                </a:cubicBezTo>
                <a:cubicBezTo>
                  <a:pt x="10682" y="166126"/>
                  <a:pt x="16006" y="171450"/>
                  <a:pt x="22570" y="171450"/>
                </a:cubicBezTo>
                <a:lnTo>
                  <a:pt x="105917" y="171450"/>
                </a:lnTo>
                <a:cubicBezTo>
                  <a:pt x="112481" y="171450"/>
                  <a:pt x="117805" y="166126"/>
                  <a:pt x="117805" y="159562"/>
                </a:cubicBezTo>
                <a:cubicBezTo>
                  <a:pt x="117805" y="156850"/>
                  <a:pt x="116901" y="154238"/>
                  <a:pt x="115193" y="152128"/>
                </a:cubicBezTo>
                <a:lnTo>
                  <a:pt x="96441" y="128588"/>
                </a:lnTo>
                <a:lnTo>
                  <a:pt x="91886" y="83046"/>
                </a:lnTo>
                <a:lnTo>
                  <a:pt x="93762" y="83046"/>
                </a:lnTo>
                <a:cubicBezTo>
                  <a:pt x="98215" y="83046"/>
                  <a:pt x="101798" y="79463"/>
                  <a:pt x="101798" y="75009"/>
                </a:cubicBezTo>
                <a:cubicBezTo>
                  <a:pt x="101798" y="71025"/>
                  <a:pt x="98885" y="67676"/>
                  <a:pt x="95034" y="67073"/>
                </a:cubicBezTo>
                <a:lnTo>
                  <a:pt x="106219" y="44704"/>
                </a:lnTo>
                <a:cubicBezTo>
                  <a:pt x="106821" y="43499"/>
                  <a:pt x="107123" y="42159"/>
                  <a:pt x="107123" y="40820"/>
                </a:cubicBezTo>
                <a:cubicBezTo>
                  <a:pt x="107123" y="36031"/>
                  <a:pt x="103238" y="32147"/>
                  <a:pt x="98450" y="32147"/>
                </a:cubicBezTo>
                <a:lnTo>
                  <a:pt x="72297" y="32147"/>
                </a:lnTo>
                <a:lnTo>
                  <a:pt x="72297" y="18752"/>
                </a:lnTo>
                <a:lnTo>
                  <a:pt x="77655" y="18752"/>
                </a:lnTo>
                <a:cubicBezTo>
                  <a:pt x="82108" y="18752"/>
                  <a:pt x="85692" y="15169"/>
                  <a:pt x="85692" y="10716"/>
                </a:cubicBezTo>
                <a:cubicBezTo>
                  <a:pt x="85692" y="6262"/>
                  <a:pt x="82142" y="2679"/>
                  <a:pt x="77688" y="2679"/>
                </a:cubicBezTo>
                <a:lnTo>
                  <a:pt x="72330" y="2679"/>
                </a:lnTo>
                <a:lnTo>
                  <a:pt x="72330" y="-2679"/>
                </a:lnTo>
                <a:cubicBezTo>
                  <a:pt x="72330" y="-7133"/>
                  <a:pt x="68747" y="-10716"/>
                  <a:pt x="64294" y="-10716"/>
                </a:cubicBezTo>
                <a:cubicBezTo>
                  <a:pt x="59840" y="-10716"/>
                  <a:pt x="56257" y="-7133"/>
                  <a:pt x="56257" y="-2679"/>
                </a:cubicBezTo>
                <a:lnTo>
                  <a:pt x="56257" y="2679"/>
                </a:lnTo>
                <a:lnTo>
                  <a:pt x="50899" y="2679"/>
                </a:lnTo>
                <a:cubicBezTo>
                  <a:pt x="46446" y="2679"/>
                  <a:pt x="42863" y="6262"/>
                  <a:pt x="42863" y="10716"/>
                </a:cubicBezTo>
                <a:cubicBezTo>
                  <a:pt x="42863" y="15169"/>
                  <a:pt x="46446" y="18752"/>
                  <a:pt x="50899" y="18752"/>
                </a:cubicBezTo>
                <a:lnTo>
                  <a:pt x="56257" y="18752"/>
                </a:lnTo>
                <a:close/>
                <a:moveTo>
                  <a:pt x="109098" y="93628"/>
                </a:moveTo>
                <a:lnTo>
                  <a:pt x="111945" y="122259"/>
                </a:lnTo>
                <a:lnTo>
                  <a:pt x="127817" y="142082"/>
                </a:lnTo>
                <a:lnTo>
                  <a:pt x="129224" y="143991"/>
                </a:lnTo>
                <a:cubicBezTo>
                  <a:pt x="132304" y="148579"/>
                  <a:pt x="133945" y="154004"/>
                  <a:pt x="133945" y="159562"/>
                </a:cubicBezTo>
                <a:cubicBezTo>
                  <a:pt x="133945" y="163815"/>
                  <a:pt x="133008" y="167867"/>
                  <a:pt x="131300" y="171450"/>
                </a:cubicBezTo>
                <a:lnTo>
                  <a:pt x="159127" y="171450"/>
                </a:lnTo>
                <a:cubicBezTo>
                  <a:pt x="165925" y="171450"/>
                  <a:pt x="171450" y="165925"/>
                  <a:pt x="171450" y="159127"/>
                </a:cubicBezTo>
                <a:cubicBezTo>
                  <a:pt x="171450" y="156683"/>
                  <a:pt x="170713" y="154305"/>
                  <a:pt x="169374" y="152296"/>
                </a:cubicBezTo>
                <a:lnTo>
                  <a:pt x="160734" y="139337"/>
                </a:lnTo>
                <a:lnTo>
                  <a:pt x="160734" y="117905"/>
                </a:lnTo>
                <a:lnTo>
                  <a:pt x="165188" y="113452"/>
                </a:lnTo>
                <a:cubicBezTo>
                  <a:pt x="169206" y="109433"/>
                  <a:pt x="171450" y="103975"/>
                  <a:pt x="171450" y="98282"/>
                </a:cubicBezTo>
                <a:lnTo>
                  <a:pt x="171450" y="64294"/>
                </a:lnTo>
                <a:cubicBezTo>
                  <a:pt x="171450" y="58367"/>
                  <a:pt x="166661" y="53578"/>
                  <a:pt x="160734" y="53578"/>
                </a:cubicBezTo>
                <a:cubicBezTo>
                  <a:pt x="154807" y="53578"/>
                  <a:pt x="150019" y="58367"/>
                  <a:pt x="150019" y="64294"/>
                </a:cubicBezTo>
                <a:lnTo>
                  <a:pt x="150019" y="69652"/>
                </a:lnTo>
                <a:lnTo>
                  <a:pt x="139303" y="69652"/>
                </a:lnTo>
                <a:lnTo>
                  <a:pt x="139303" y="64294"/>
                </a:lnTo>
                <a:cubicBezTo>
                  <a:pt x="139303" y="58367"/>
                  <a:pt x="134515" y="53578"/>
                  <a:pt x="128588" y="53578"/>
                </a:cubicBezTo>
                <a:cubicBezTo>
                  <a:pt x="122660" y="53578"/>
                  <a:pt x="117872" y="58367"/>
                  <a:pt x="117872" y="64294"/>
                </a:cubicBezTo>
                <a:lnTo>
                  <a:pt x="117872" y="75009"/>
                </a:lnTo>
                <a:cubicBezTo>
                  <a:pt x="117872" y="82510"/>
                  <a:pt x="114456" y="89208"/>
                  <a:pt x="109098" y="93628"/>
                </a:cubicBezTo>
                <a:close/>
              </a:path>
            </a:pathLst>
          </a:custGeom>
          <a:solidFill>
            <a:srgbClr val="ffffff"/>
          </a:solidFill>
          <a:ln w="0">
            <a:noFill/>
          </a:ln>
        </p:spPr>
        <p:style>
          <a:lnRef idx="0"/>
          <a:fillRef idx="0"/>
          <a:effectRef idx="0"/>
          <a:fontRef idx="minor"/>
        </p:style>
      </p:sp>
      <p:sp>
        <p:nvSpPr>
          <p:cNvPr id="88" name="Text 16"/>
          <p:cNvSpPr/>
          <p:nvPr/>
        </p:nvSpPr>
        <p:spPr>
          <a:xfrm>
            <a:off x="8155440" y="3400560"/>
            <a:ext cx="86652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Strategies</a:t>
            </a:r>
            <a:endParaRPr b="0" lang="en-HK" sz="1500" spc="-1" strike="noStrike">
              <a:latin typeface="Arial"/>
            </a:endParaRPr>
          </a:p>
        </p:txBody>
      </p:sp>
      <p:sp>
        <p:nvSpPr>
          <p:cNvPr id="89" name="Text 17"/>
          <p:cNvSpPr/>
          <p:nvPr/>
        </p:nvSpPr>
        <p:spPr>
          <a:xfrm>
            <a:off x="7660080" y="3876840"/>
            <a:ext cx="3990600" cy="495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Complete plans of action available to each player, specifying choices at every decision point.</a:t>
            </a:r>
            <a:endParaRPr b="0" lang="en-HK" sz="1200" spc="-1" strike="noStrike">
              <a:latin typeface="Arial"/>
            </a:endParaRPr>
          </a:p>
        </p:txBody>
      </p:sp>
      <p:sp>
        <p:nvSpPr>
          <p:cNvPr id="90" name="Shape 18"/>
          <p:cNvSpPr/>
          <p:nvPr/>
        </p:nvSpPr>
        <p:spPr>
          <a:xfrm>
            <a:off x="7426440" y="4843440"/>
            <a:ext cx="4381200" cy="1495080"/>
          </a:xfrm>
          <a:custGeom>
            <a:avLst/>
            <a:gdLst/>
            <a:ahLst/>
            <a:rect l="l" t="t" r="r" b="b"/>
            <a:pathLst>
              <a:path w="4381500" h="1495425">
                <a:moveTo>
                  <a:pt x="0" y="0"/>
                </a:moveTo>
                <a:lnTo>
                  <a:pt x="4381500" y="0"/>
                </a:lnTo>
                <a:lnTo>
                  <a:pt x="4381500" y="1495425"/>
                </a:lnTo>
                <a:lnTo>
                  <a:pt x="0" y="1495425"/>
                </a:lnTo>
                <a:lnTo>
                  <a:pt x="0" y="0"/>
                </a:lnTo>
                <a:close/>
              </a:path>
            </a:pathLst>
          </a:custGeom>
          <a:solidFill>
            <a:srgbClr val="ffffff"/>
          </a:solidFill>
          <a:ln w="12700">
            <a:solidFill>
              <a:srgbClr val="e0e0e0"/>
            </a:solidFill>
            <a:round/>
          </a:ln>
        </p:spPr>
        <p:style>
          <a:lnRef idx="0"/>
          <a:fillRef idx="0"/>
          <a:effectRef idx="0"/>
          <a:fontRef idx="minor"/>
        </p:style>
      </p:sp>
      <p:sp>
        <p:nvSpPr>
          <p:cNvPr id="91" name="Shape 19"/>
          <p:cNvSpPr/>
          <p:nvPr/>
        </p:nvSpPr>
        <p:spPr>
          <a:xfrm>
            <a:off x="7660080" y="5076720"/>
            <a:ext cx="380520" cy="380520"/>
          </a:xfrm>
          <a:custGeom>
            <a:avLst/>
            <a:gdLst/>
            <a:ahLst/>
            <a:rect l="l" t="t" r="r" b="b"/>
            <a:pathLst>
              <a:path w="381000" h="381000">
                <a:moveTo>
                  <a:pt x="0" y="0"/>
                </a:moveTo>
                <a:lnTo>
                  <a:pt x="381000" y="0"/>
                </a:lnTo>
                <a:lnTo>
                  <a:pt x="381000" y="381000"/>
                </a:lnTo>
                <a:lnTo>
                  <a:pt x="0" y="381000"/>
                </a:lnTo>
                <a:lnTo>
                  <a:pt x="0" y="0"/>
                </a:lnTo>
                <a:close/>
              </a:path>
            </a:pathLst>
          </a:custGeom>
          <a:solidFill>
            <a:srgbClr val="0984e3"/>
          </a:solidFill>
          <a:ln w="0">
            <a:noFill/>
          </a:ln>
        </p:spPr>
        <p:style>
          <a:lnRef idx="0"/>
          <a:fillRef idx="0"/>
          <a:effectRef idx="0"/>
          <a:fontRef idx="minor"/>
        </p:style>
      </p:sp>
      <p:sp>
        <p:nvSpPr>
          <p:cNvPr id="92" name="Shape 20"/>
          <p:cNvSpPr/>
          <p:nvPr/>
        </p:nvSpPr>
        <p:spPr>
          <a:xfrm>
            <a:off x="7767000" y="5181480"/>
            <a:ext cx="171000" cy="171000"/>
          </a:xfrm>
          <a:custGeom>
            <a:avLst/>
            <a:gdLst/>
            <a:ahLst/>
            <a:rect l="l" t="t" r="r" b="b"/>
            <a:pathLst>
              <a:path w="171450" h="171450">
                <a:moveTo>
                  <a:pt x="48321" y="0"/>
                </a:moveTo>
                <a:lnTo>
                  <a:pt x="123330" y="0"/>
                </a:lnTo>
                <a:cubicBezTo>
                  <a:pt x="132204" y="0"/>
                  <a:pt x="139437" y="7300"/>
                  <a:pt x="139102" y="16140"/>
                </a:cubicBezTo>
                <a:cubicBezTo>
                  <a:pt x="139035" y="17915"/>
                  <a:pt x="138968" y="19690"/>
                  <a:pt x="138868" y="21431"/>
                </a:cubicBezTo>
                <a:lnTo>
                  <a:pt x="155477" y="21431"/>
                </a:lnTo>
                <a:cubicBezTo>
                  <a:pt x="164217" y="21431"/>
                  <a:pt x="171919" y="28664"/>
                  <a:pt x="171249" y="38107"/>
                </a:cubicBezTo>
                <a:cubicBezTo>
                  <a:pt x="168738" y="72833"/>
                  <a:pt x="150990" y="91920"/>
                  <a:pt x="131735" y="101899"/>
                </a:cubicBezTo>
                <a:cubicBezTo>
                  <a:pt x="126444" y="104645"/>
                  <a:pt x="121053" y="106687"/>
                  <a:pt x="115930" y="108194"/>
                </a:cubicBezTo>
                <a:cubicBezTo>
                  <a:pt x="109165" y="117771"/>
                  <a:pt x="102133" y="122828"/>
                  <a:pt x="96541" y="125540"/>
                </a:cubicBezTo>
                <a:lnTo>
                  <a:pt x="96541" y="150019"/>
                </a:lnTo>
                <a:lnTo>
                  <a:pt x="117972" y="150019"/>
                </a:lnTo>
                <a:cubicBezTo>
                  <a:pt x="123899" y="150019"/>
                  <a:pt x="128688" y="154807"/>
                  <a:pt x="128688" y="160734"/>
                </a:cubicBezTo>
                <a:cubicBezTo>
                  <a:pt x="128688" y="166661"/>
                  <a:pt x="123899" y="171450"/>
                  <a:pt x="117972" y="171450"/>
                </a:cubicBezTo>
                <a:lnTo>
                  <a:pt x="53679" y="171450"/>
                </a:lnTo>
                <a:cubicBezTo>
                  <a:pt x="47752" y="171450"/>
                  <a:pt x="42963" y="166661"/>
                  <a:pt x="42963" y="160734"/>
                </a:cubicBezTo>
                <a:cubicBezTo>
                  <a:pt x="42963" y="154807"/>
                  <a:pt x="47752" y="150019"/>
                  <a:pt x="53679" y="150019"/>
                </a:cubicBezTo>
                <a:lnTo>
                  <a:pt x="75110" y="150019"/>
                </a:lnTo>
                <a:lnTo>
                  <a:pt x="75110" y="125540"/>
                </a:lnTo>
                <a:cubicBezTo>
                  <a:pt x="69752" y="122962"/>
                  <a:pt x="63088" y="118173"/>
                  <a:pt x="56592" y="109366"/>
                </a:cubicBezTo>
                <a:cubicBezTo>
                  <a:pt x="50430" y="107759"/>
                  <a:pt x="43733" y="105315"/>
                  <a:pt x="37203" y="101631"/>
                </a:cubicBezTo>
                <a:cubicBezTo>
                  <a:pt x="19087" y="91485"/>
                  <a:pt x="2746" y="72364"/>
                  <a:pt x="402" y="38040"/>
                </a:cubicBezTo>
                <a:cubicBezTo>
                  <a:pt x="-234" y="28631"/>
                  <a:pt x="7434" y="21398"/>
                  <a:pt x="16174" y="21398"/>
                </a:cubicBezTo>
                <a:lnTo>
                  <a:pt x="32783" y="21398"/>
                </a:lnTo>
                <a:cubicBezTo>
                  <a:pt x="32683" y="19656"/>
                  <a:pt x="32616" y="17915"/>
                  <a:pt x="32549" y="16107"/>
                </a:cubicBezTo>
                <a:cubicBezTo>
                  <a:pt x="32214" y="7233"/>
                  <a:pt x="39447" y="-33"/>
                  <a:pt x="48321" y="-33"/>
                </a:cubicBezTo>
                <a:close/>
                <a:moveTo>
                  <a:pt x="33989" y="37505"/>
                </a:moveTo>
                <a:lnTo>
                  <a:pt x="16442" y="37505"/>
                </a:lnTo>
                <a:cubicBezTo>
                  <a:pt x="18518" y="65868"/>
                  <a:pt x="31544" y="80066"/>
                  <a:pt x="44972" y="87600"/>
                </a:cubicBezTo>
                <a:cubicBezTo>
                  <a:pt x="40150" y="75110"/>
                  <a:pt x="36165" y="58802"/>
                  <a:pt x="33989" y="37505"/>
                </a:cubicBezTo>
                <a:close/>
                <a:moveTo>
                  <a:pt x="127248" y="85993"/>
                </a:moveTo>
                <a:cubicBezTo>
                  <a:pt x="140810" y="78023"/>
                  <a:pt x="153066" y="63858"/>
                  <a:pt x="155142" y="37505"/>
                </a:cubicBezTo>
                <a:lnTo>
                  <a:pt x="137629" y="37505"/>
                </a:lnTo>
                <a:cubicBezTo>
                  <a:pt x="135553" y="57898"/>
                  <a:pt x="131802" y="73737"/>
                  <a:pt x="127248" y="85993"/>
                </a:cubicBezTo>
                <a:close/>
              </a:path>
            </a:pathLst>
          </a:custGeom>
          <a:solidFill>
            <a:srgbClr val="ffffff"/>
          </a:solidFill>
          <a:ln w="0">
            <a:noFill/>
          </a:ln>
        </p:spPr>
        <p:style>
          <a:lnRef idx="0"/>
          <a:fillRef idx="0"/>
          <a:effectRef idx="0"/>
          <a:fontRef idx="minor"/>
        </p:style>
      </p:sp>
      <p:sp>
        <p:nvSpPr>
          <p:cNvPr id="93" name="Text 21"/>
          <p:cNvSpPr/>
          <p:nvPr/>
        </p:nvSpPr>
        <p:spPr>
          <a:xfrm>
            <a:off x="8155440" y="5133960"/>
            <a:ext cx="65700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Payoffs</a:t>
            </a:r>
            <a:endParaRPr b="0" lang="en-HK" sz="1500" spc="-1" strike="noStrike">
              <a:latin typeface="Arial"/>
            </a:endParaRPr>
          </a:p>
        </p:txBody>
      </p:sp>
      <p:sp>
        <p:nvSpPr>
          <p:cNvPr id="94" name="Text 22"/>
          <p:cNvSpPr/>
          <p:nvPr/>
        </p:nvSpPr>
        <p:spPr>
          <a:xfrm>
            <a:off x="7660080" y="5610240"/>
            <a:ext cx="3990600" cy="495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Numerical values representing utility or benefit received by players for each outcome.</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 name="Text 0"/>
          <p:cNvSpPr/>
          <p:nvPr/>
        </p:nvSpPr>
        <p:spPr>
          <a:xfrm>
            <a:off x="609480" y="1781280"/>
            <a:ext cx="12191760" cy="12189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02</a:t>
            </a:r>
            <a:endParaRPr b="0" lang="en-HK" sz="9600" spc="-1" strike="noStrike">
              <a:latin typeface="Arial"/>
            </a:endParaRPr>
          </a:p>
        </p:txBody>
      </p:sp>
      <p:sp>
        <p:nvSpPr>
          <p:cNvPr id="96" name="Text 1"/>
          <p:cNvSpPr/>
          <p:nvPr/>
        </p:nvSpPr>
        <p:spPr>
          <a:xfrm>
            <a:off x="609480" y="3152880"/>
            <a:ext cx="11867760" cy="11426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Historical</a:t>
            </a:r>
            <a:endParaRPr b="0" lang="en-HK" sz="4500" spc="-1" strike="noStrike">
              <a:latin typeface="Arial"/>
            </a:endParaRPr>
          </a:p>
          <a:p>
            <a:pPr>
              <a:lnSpc>
                <a:spcPct val="80000"/>
              </a:lnSpc>
              <a:buNone/>
            </a:pPr>
            <a:r>
              <a:rPr b="1" lang="en-US" sz="4500" spc="-1" strike="noStrike">
                <a:solidFill>
                  <a:srgbClr val="2d3436"/>
                </a:solidFill>
                <a:latin typeface="Oranienbaum"/>
                <a:ea typeface="Oranienbaum"/>
              </a:rPr>
              <a:t>Foundations</a:t>
            </a:r>
            <a:endParaRPr b="0" lang="en-HK" sz="4500" spc="-1" strike="noStrike">
              <a:latin typeface="Arial"/>
            </a:endParaRPr>
          </a:p>
        </p:txBody>
      </p:sp>
      <p:sp>
        <p:nvSpPr>
          <p:cNvPr id="97" name="Shape 2"/>
          <p:cNvSpPr/>
          <p:nvPr/>
        </p:nvSpPr>
        <p:spPr>
          <a:xfrm>
            <a:off x="609480" y="4524480"/>
            <a:ext cx="1218960" cy="1872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98" name="Text 3"/>
          <p:cNvSpPr/>
          <p:nvPr/>
        </p:nvSpPr>
        <p:spPr>
          <a:xfrm>
            <a:off x="609480" y="4772160"/>
            <a:ext cx="1169640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From von Neumann to Nash: The evolution of strategic thinking</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9" name="Text 0"/>
          <p:cNvSpPr/>
          <p:nvPr/>
        </p:nvSpPr>
        <p:spPr>
          <a:xfrm>
            <a:off x="324360" y="324360"/>
            <a:ext cx="11607840" cy="194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20" spc="49" strike="noStrike">
                <a:solidFill>
                  <a:srgbClr val="0984e3"/>
                </a:solidFill>
                <a:latin typeface="Quattrocento Sans"/>
                <a:ea typeface="Quattrocento Sans"/>
              </a:rPr>
              <a:t>HISTORICAL DEVELOPMENT</a:t>
            </a:r>
            <a:endParaRPr b="0" lang="en-HK" sz="1020" spc="-1" strike="noStrike">
              <a:latin typeface="Arial"/>
            </a:endParaRPr>
          </a:p>
        </p:txBody>
      </p:sp>
      <p:sp>
        <p:nvSpPr>
          <p:cNvPr id="100" name="Text 1"/>
          <p:cNvSpPr/>
          <p:nvPr/>
        </p:nvSpPr>
        <p:spPr>
          <a:xfrm>
            <a:off x="324360" y="583560"/>
            <a:ext cx="11737800" cy="3888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060" spc="-1" strike="noStrike">
                <a:solidFill>
                  <a:srgbClr val="2d3436"/>
                </a:solidFill>
                <a:latin typeface="Oranienbaum"/>
                <a:ea typeface="Oranienbaum"/>
              </a:rPr>
              <a:t>The Pioneers of Game Theory</a:t>
            </a:r>
            <a:endParaRPr b="0" lang="en-HK" sz="3060" spc="-1" strike="noStrike">
              <a:latin typeface="Arial"/>
            </a:endParaRPr>
          </a:p>
        </p:txBody>
      </p:sp>
      <p:sp>
        <p:nvSpPr>
          <p:cNvPr id="101" name="Shape 2"/>
          <p:cNvSpPr/>
          <p:nvPr/>
        </p:nvSpPr>
        <p:spPr>
          <a:xfrm>
            <a:off x="6095880" y="1167480"/>
            <a:ext cx="15840" cy="4977000"/>
          </a:xfrm>
          <a:custGeom>
            <a:avLst/>
            <a:gdLst/>
            <a:ahLst/>
            <a:rect l="l" t="t" r="r" b="b"/>
            <a:pathLst>
              <a:path w="16213" h="4977319">
                <a:moveTo>
                  <a:pt x="0" y="0"/>
                </a:moveTo>
                <a:lnTo>
                  <a:pt x="16213" y="0"/>
                </a:lnTo>
                <a:lnTo>
                  <a:pt x="16213" y="4977319"/>
                </a:lnTo>
                <a:lnTo>
                  <a:pt x="0" y="4977319"/>
                </a:lnTo>
                <a:lnTo>
                  <a:pt x="0" y="0"/>
                </a:lnTo>
                <a:close/>
              </a:path>
            </a:pathLst>
          </a:custGeom>
          <a:solidFill>
            <a:srgbClr val="e0e0e0"/>
          </a:solidFill>
          <a:ln w="0">
            <a:noFill/>
          </a:ln>
        </p:spPr>
        <p:style>
          <a:lnRef idx="0"/>
          <a:fillRef idx="0"/>
          <a:effectRef idx="0"/>
          <a:fontRef idx="minor"/>
        </p:style>
      </p:sp>
      <p:sp>
        <p:nvSpPr>
          <p:cNvPr id="102" name="Shape 3"/>
          <p:cNvSpPr/>
          <p:nvPr/>
        </p:nvSpPr>
        <p:spPr>
          <a:xfrm>
            <a:off x="1638000" y="1171440"/>
            <a:ext cx="3866400" cy="721080"/>
          </a:xfrm>
          <a:custGeom>
            <a:avLst/>
            <a:gdLst/>
            <a:ahLst/>
            <a:rect l="l" t="t" r="r" b="b"/>
            <a:pathLst>
              <a:path w="3866745" h="721468">
                <a:moveTo>
                  <a:pt x="0" y="0"/>
                </a:moveTo>
                <a:lnTo>
                  <a:pt x="3866745" y="0"/>
                </a:lnTo>
                <a:lnTo>
                  <a:pt x="3866745" y="721468"/>
                </a:lnTo>
                <a:lnTo>
                  <a:pt x="0" y="721468"/>
                </a:lnTo>
                <a:lnTo>
                  <a:pt x="0" y="0"/>
                </a:lnTo>
                <a:close/>
              </a:path>
            </a:pathLst>
          </a:custGeom>
          <a:solidFill>
            <a:srgbClr val="ffffff"/>
          </a:solidFill>
          <a:ln w="12700">
            <a:solidFill>
              <a:srgbClr val="e0e0e0"/>
            </a:solidFill>
            <a:round/>
          </a:ln>
        </p:spPr>
        <p:style>
          <a:lnRef idx="0"/>
          <a:fillRef idx="0"/>
          <a:effectRef idx="0"/>
          <a:fontRef idx="minor"/>
        </p:style>
      </p:sp>
      <p:sp>
        <p:nvSpPr>
          <p:cNvPr id="103" name="Text 4"/>
          <p:cNvSpPr/>
          <p:nvPr/>
        </p:nvSpPr>
        <p:spPr>
          <a:xfrm>
            <a:off x="1698840" y="1305000"/>
            <a:ext cx="3672000" cy="22644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1" lang="en-US" sz="1150" spc="-1" strike="noStrike">
                <a:solidFill>
                  <a:srgbClr val="2d3436"/>
                </a:solidFill>
                <a:latin typeface="Oranienbaum"/>
                <a:ea typeface="Oranienbaum"/>
              </a:rPr>
              <a:t>1912 — Ernst Zermelo</a:t>
            </a:r>
            <a:endParaRPr b="0" lang="en-HK" sz="1150" spc="-1" strike="noStrike">
              <a:latin typeface="Arial"/>
            </a:endParaRPr>
          </a:p>
        </p:txBody>
      </p:sp>
      <p:sp>
        <p:nvSpPr>
          <p:cNvPr id="104" name="Text 5"/>
          <p:cNvSpPr/>
          <p:nvPr/>
        </p:nvSpPr>
        <p:spPr>
          <a:xfrm>
            <a:off x="1706760" y="1564560"/>
            <a:ext cx="3663720" cy="19404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0" lang="en-US" sz="1020" spc="-1" strike="noStrike">
                <a:solidFill>
                  <a:srgbClr val="636e72"/>
                </a:solidFill>
                <a:latin typeface="Quattrocento Sans"/>
                <a:ea typeface="Quattrocento Sans"/>
              </a:rPr>
              <a:t>Proved chess is determined; laid early mathematical foundations</a:t>
            </a:r>
            <a:endParaRPr b="0" lang="en-HK" sz="1020" spc="-1" strike="noStrike">
              <a:latin typeface="Arial"/>
            </a:endParaRPr>
          </a:p>
        </p:txBody>
      </p:sp>
      <p:sp>
        <p:nvSpPr>
          <p:cNvPr id="105" name="Shape 6"/>
          <p:cNvSpPr/>
          <p:nvPr/>
        </p:nvSpPr>
        <p:spPr>
          <a:xfrm>
            <a:off x="6683760" y="2030760"/>
            <a:ext cx="3290760" cy="721080"/>
          </a:xfrm>
          <a:custGeom>
            <a:avLst/>
            <a:gdLst/>
            <a:ahLst/>
            <a:rect l="l" t="t" r="r" b="b"/>
            <a:pathLst>
              <a:path w="3291191" h="721468">
                <a:moveTo>
                  <a:pt x="0" y="0"/>
                </a:moveTo>
                <a:lnTo>
                  <a:pt x="3291191" y="0"/>
                </a:lnTo>
                <a:lnTo>
                  <a:pt x="3291191" y="721468"/>
                </a:lnTo>
                <a:lnTo>
                  <a:pt x="0" y="721468"/>
                </a:lnTo>
                <a:lnTo>
                  <a:pt x="0" y="0"/>
                </a:lnTo>
                <a:close/>
              </a:path>
            </a:pathLst>
          </a:custGeom>
          <a:solidFill>
            <a:srgbClr val="ffffff"/>
          </a:solidFill>
          <a:ln w="12700">
            <a:solidFill>
              <a:srgbClr val="e0e0e0"/>
            </a:solidFill>
            <a:round/>
          </a:ln>
        </p:spPr>
        <p:style>
          <a:lnRef idx="0"/>
          <a:fillRef idx="0"/>
          <a:effectRef idx="0"/>
          <a:fontRef idx="minor"/>
        </p:style>
      </p:sp>
      <p:sp>
        <p:nvSpPr>
          <p:cNvPr id="106" name="Text 7"/>
          <p:cNvSpPr/>
          <p:nvPr/>
        </p:nvSpPr>
        <p:spPr>
          <a:xfrm>
            <a:off x="6817320" y="2164320"/>
            <a:ext cx="3096360" cy="226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2d3436"/>
                </a:solidFill>
                <a:latin typeface="Oranienbaum"/>
                <a:ea typeface="Oranienbaum"/>
              </a:rPr>
              <a:t>1921 — Émile Borel</a:t>
            </a:r>
            <a:endParaRPr b="0" lang="en-HK" sz="1150" spc="-1" strike="noStrike">
              <a:latin typeface="Arial"/>
            </a:endParaRPr>
          </a:p>
        </p:txBody>
      </p:sp>
      <p:sp>
        <p:nvSpPr>
          <p:cNvPr id="107" name="Text 8"/>
          <p:cNvSpPr/>
          <p:nvPr/>
        </p:nvSpPr>
        <p:spPr>
          <a:xfrm>
            <a:off x="6817320" y="2423880"/>
            <a:ext cx="3088080" cy="194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636e72"/>
                </a:solidFill>
                <a:latin typeface="Quattrocento Sans"/>
                <a:ea typeface="Quattrocento Sans"/>
              </a:rPr>
              <a:t>Posed fundamental questions about optimal strategies</a:t>
            </a:r>
            <a:endParaRPr b="0" lang="en-HK" sz="1020" spc="-1" strike="noStrike">
              <a:latin typeface="Arial"/>
            </a:endParaRPr>
          </a:p>
        </p:txBody>
      </p:sp>
      <p:sp>
        <p:nvSpPr>
          <p:cNvPr id="108" name="Shape 9"/>
          <p:cNvSpPr/>
          <p:nvPr/>
        </p:nvSpPr>
        <p:spPr>
          <a:xfrm>
            <a:off x="633600" y="2885760"/>
            <a:ext cx="4879800" cy="713160"/>
          </a:xfrm>
          <a:custGeom>
            <a:avLst/>
            <a:gdLst/>
            <a:ahLst/>
            <a:rect l="l" t="t" r="r" b="b"/>
            <a:pathLst>
              <a:path w="4880043" h="713362">
                <a:moveTo>
                  <a:pt x="0" y="0"/>
                </a:moveTo>
                <a:lnTo>
                  <a:pt x="4880043" y="0"/>
                </a:lnTo>
                <a:lnTo>
                  <a:pt x="4880043" y="713362"/>
                </a:lnTo>
                <a:lnTo>
                  <a:pt x="0" y="713362"/>
                </a:lnTo>
                <a:lnTo>
                  <a:pt x="0" y="0"/>
                </a:lnTo>
                <a:close/>
              </a:path>
            </a:pathLst>
          </a:custGeom>
          <a:solidFill>
            <a:srgbClr val="f8f9fa"/>
          </a:solidFill>
          <a:ln w="0">
            <a:noFill/>
          </a:ln>
        </p:spPr>
        <p:style>
          <a:lnRef idx="0"/>
          <a:fillRef idx="0"/>
          <a:effectRef idx="0"/>
          <a:fontRef idx="minor"/>
        </p:style>
      </p:sp>
      <p:sp>
        <p:nvSpPr>
          <p:cNvPr id="109" name="Shape 10"/>
          <p:cNvSpPr/>
          <p:nvPr/>
        </p:nvSpPr>
        <p:spPr>
          <a:xfrm>
            <a:off x="633600" y="2885760"/>
            <a:ext cx="32040" cy="713160"/>
          </a:xfrm>
          <a:custGeom>
            <a:avLst/>
            <a:gdLst/>
            <a:ahLst/>
            <a:rect l="l" t="t" r="r" b="b"/>
            <a:pathLst>
              <a:path w="32426" h="713362">
                <a:moveTo>
                  <a:pt x="0" y="0"/>
                </a:moveTo>
                <a:lnTo>
                  <a:pt x="32426" y="0"/>
                </a:lnTo>
                <a:lnTo>
                  <a:pt x="32426" y="713362"/>
                </a:lnTo>
                <a:lnTo>
                  <a:pt x="0" y="713362"/>
                </a:lnTo>
                <a:lnTo>
                  <a:pt x="0" y="0"/>
                </a:lnTo>
                <a:close/>
              </a:path>
            </a:pathLst>
          </a:custGeom>
          <a:solidFill>
            <a:srgbClr val="0984e3"/>
          </a:solidFill>
          <a:ln w="0">
            <a:noFill/>
          </a:ln>
        </p:spPr>
        <p:style>
          <a:lnRef idx="0"/>
          <a:fillRef idx="0"/>
          <a:effectRef idx="0"/>
          <a:fontRef idx="minor"/>
        </p:style>
      </p:sp>
      <p:sp>
        <p:nvSpPr>
          <p:cNvPr id="110" name="Text 11"/>
          <p:cNvSpPr/>
          <p:nvPr/>
        </p:nvSpPr>
        <p:spPr>
          <a:xfrm>
            <a:off x="706680" y="3015720"/>
            <a:ext cx="4677120" cy="22644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1" lang="en-US" sz="1150" spc="-1" strike="noStrike">
                <a:solidFill>
                  <a:srgbClr val="2d3436"/>
                </a:solidFill>
                <a:latin typeface="Oranienbaum"/>
                <a:ea typeface="Oranienbaum"/>
              </a:rPr>
              <a:t>1928 — John von Neumann</a:t>
            </a:r>
            <a:endParaRPr b="0" lang="en-HK" sz="1150" spc="-1" strike="noStrike">
              <a:latin typeface="Arial"/>
            </a:endParaRPr>
          </a:p>
        </p:txBody>
      </p:sp>
      <p:sp>
        <p:nvSpPr>
          <p:cNvPr id="111" name="Text 12"/>
          <p:cNvSpPr/>
          <p:nvPr/>
        </p:nvSpPr>
        <p:spPr>
          <a:xfrm>
            <a:off x="714960" y="3274920"/>
            <a:ext cx="4668840" cy="19404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1" lang="en-US" sz="1020" spc="-1" strike="noStrike">
                <a:solidFill>
                  <a:srgbClr val="636e72"/>
                </a:solidFill>
                <a:latin typeface="Quattrocento Sans"/>
                <a:ea typeface="Quattrocento Sans"/>
              </a:rPr>
              <a:t>Minimax Theorem:</a:t>
            </a:r>
            <a:r>
              <a:rPr b="0" lang="en-US" sz="1020" spc="-1" strike="noStrike">
                <a:solidFill>
                  <a:srgbClr val="636e72"/>
                </a:solidFill>
                <a:latin typeface="Quattrocento Sans"/>
                <a:ea typeface="Quattrocento Sans"/>
              </a:rPr>
              <a:t> Proved all two-person zero-sum games have optimal solutions</a:t>
            </a:r>
            <a:endParaRPr b="0" lang="en-HK" sz="1020" spc="-1" strike="noStrike">
              <a:latin typeface="Arial"/>
            </a:endParaRPr>
          </a:p>
        </p:txBody>
      </p:sp>
      <p:sp>
        <p:nvSpPr>
          <p:cNvPr id="112" name="Shape 13"/>
          <p:cNvSpPr/>
          <p:nvPr/>
        </p:nvSpPr>
        <p:spPr>
          <a:xfrm>
            <a:off x="6696000" y="3728880"/>
            <a:ext cx="5017320" cy="713160"/>
          </a:xfrm>
          <a:custGeom>
            <a:avLst/>
            <a:gdLst/>
            <a:ahLst/>
            <a:rect l="l" t="t" r="r" b="b"/>
            <a:pathLst>
              <a:path w="5017851" h="713362">
                <a:moveTo>
                  <a:pt x="0" y="0"/>
                </a:moveTo>
                <a:lnTo>
                  <a:pt x="5017851" y="0"/>
                </a:lnTo>
                <a:lnTo>
                  <a:pt x="5017851" y="713362"/>
                </a:lnTo>
                <a:lnTo>
                  <a:pt x="0" y="713362"/>
                </a:lnTo>
                <a:lnTo>
                  <a:pt x="0" y="0"/>
                </a:lnTo>
                <a:close/>
              </a:path>
            </a:pathLst>
          </a:custGeom>
          <a:solidFill>
            <a:srgbClr val="f8f9fa"/>
          </a:solidFill>
          <a:ln w="0">
            <a:noFill/>
          </a:ln>
        </p:spPr>
        <p:style>
          <a:lnRef idx="0"/>
          <a:fillRef idx="0"/>
          <a:effectRef idx="0"/>
          <a:fontRef idx="minor"/>
        </p:style>
      </p:sp>
      <p:sp>
        <p:nvSpPr>
          <p:cNvPr id="113" name="Shape 14"/>
          <p:cNvSpPr/>
          <p:nvPr/>
        </p:nvSpPr>
        <p:spPr>
          <a:xfrm>
            <a:off x="6696000" y="3728880"/>
            <a:ext cx="32040" cy="713160"/>
          </a:xfrm>
          <a:custGeom>
            <a:avLst/>
            <a:gdLst/>
            <a:ahLst/>
            <a:rect l="l" t="t" r="r" b="b"/>
            <a:pathLst>
              <a:path w="32426" h="713362">
                <a:moveTo>
                  <a:pt x="0" y="0"/>
                </a:moveTo>
                <a:lnTo>
                  <a:pt x="32426" y="0"/>
                </a:lnTo>
                <a:lnTo>
                  <a:pt x="32426" y="713362"/>
                </a:lnTo>
                <a:lnTo>
                  <a:pt x="0" y="713362"/>
                </a:lnTo>
                <a:lnTo>
                  <a:pt x="0" y="0"/>
                </a:lnTo>
                <a:close/>
              </a:path>
            </a:pathLst>
          </a:custGeom>
          <a:solidFill>
            <a:srgbClr val="0984e3"/>
          </a:solidFill>
          <a:ln w="0">
            <a:noFill/>
          </a:ln>
        </p:spPr>
        <p:style>
          <a:lnRef idx="0"/>
          <a:fillRef idx="0"/>
          <a:effectRef idx="0"/>
          <a:fontRef idx="minor"/>
        </p:style>
      </p:sp>
      <p:sp>
        <p:nvSpPr>
          <p:cNvPr id="114" name="Text 15"/>
          <p:cNvSpPr/>
          <p:nvPr/>
        </p:nvSpPr>
        <p:spPr>
          <a:xfrm>
            <a:off x="6841800" y="3858480"/>
            <a:ext cx="4815000" cy="226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2d3436"/>
                </a:solidFill>
                <a:latin typeface="Oranienbaum"/>
                <a:ea typeface="Oranienbaum"/>
              </a:rPr>
              <a:t>1944 — von Neumann &amp; Morgenstern</a:t>
            </a:r>
            <a:endParaRPr b="0" lang="en-HK" sz="1150" spc="-1" strike="noStrike">
              <a:latin typeface="Arial"/>
            </a:endParaRPr>
          </a:p>
        </p:txBody>
      </p:sp>
      <p:sp>
        <p:nvSpPr>
          <p:cNvPr id="115" name="Text 16"/>
          <p:cNvSpPr/>
          <p:nvPr/>
        </p:nvSpPr>
        <p:spPr>
          <a:xfrm>
            <a:off x="6841800" y="4118040"/>
            <a:ext cx="4806720" cy="194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20" spc="-1" strike="noStrike">
                <a:solidFill>
                  <a:srgbClr val="636e72"/>
                </a:solidFill>
                <a:latin typeface="Quattrocento Sans"/>
                <a:ea typeface="Quattrocento Sans"/>
              </a:rPr>
              <a:t>"Theory of Games and Economic Behavior"</a:t>
            </a:r>
            <a:r>
              <a:rPr b="0" lang="en-US" sz="1020" spc="-1" strike="noStrike">
                <a:solidFill>
                  <a:srgbClr val="636e72"/>
                </a:solidFill>
                <a:latin typeface="Quattrocento Sans"/>
                <a:ea typeface="Quattrocento Sans"/>
              </a:rPr>
              <a:t> — established game theory as a discipline</a:t>
            </a:r>
            <a:endParaRPr b="0" lang="en-HK" sz="1020" spc="-1" strike="noStrike">
              <a:latin typeface="Arial"/>
            </a:endParaRPr>
          </a:p>
        </p:txBody>
      </p:sp>
      <p:sp>
        <p:nvSpPr>
          <p:cNvPr id="116" name="Shape 17"/>
          <p:cNvSpPr/>
          <p:nvPr/>
        </p:nvSpPr>
        <p:spPr>
          <a:xfrm>
            <a:off x="1476360" y="4572000"/>
            <a:ext cx="4036680" cy="713160"/>
          </a:xfrm>
          <a:custGeom>
            <a:avLst/>
            <a:gdLst/>
            <a:ahLst/>
            <a:rect l="l" t="t" r="r" b="b"/>
            <a:pathLst>
              <a:path w="4036979" h="713362">
                <a:moveTo>
                  <a:pt x="0" y="0"/>
                </a:moveTo>
                <a:lnTo>
                  <a:pt x="4036979" y="0"/>
                </a:lnTo>
                <a:lnTo>
                  <a:pt x="4036979" y="713362"/>
                </a:lnTo>
                <a:lnTo>
                  <a:pt x="0" y="713362"/>
                </a:lnTo>
                <a:lnTo>
                  <a:pt x="0" y="0"/>
                </a:lnTo>
                <a:close/>
              </a:path>
            </a:pathLst>
          </a:custGeom>
          <a:solidFill>
            <a:srgbClr val="2d3436"/>
          </a:solidFill>
          <a:ln w="0">
            <a:noFill/>
          </a:ln>
        </p:spPr>
        <p:style>
          <a:lnRef idx="0"/>
          <a:fillRef idx="0"/>
          <a:effectRef idx="0"/>
          <a:fontRef idx="minor"/>
        </p:style>
      </p:sp>
      <p:sp>
        <p:nvSpPr>
          <p:cNvPr id="117" name="Text 18"/>
          <p:cNvSpPr/>
          <p:nvPr/>
        </p:nvSpPr>
        <p:spPr>
          <a:xfrm>
            <a:off x="1532880" y="4701600"/>
            <a:ext cx="3850200" cy="22644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1" lang="en-US" sz="1150" spc="-1" strike="noStrike">
                <a:solidFill>
                  <a:srgbClr val="ffffff"/>
                </a:solidFill>
                <a:latin typeface="Oranienbaum"/>
                <a:ea typeface="Oranienbaum"/>
              </a:rPr>
              <a:t>1950 — John Nash</a:t>
            </a:r>
            <a:endParaRPr b="0" lang="en-HK" sz="1150" spc="-1" strike="noStrike">
              <a:latin typeface="Arial"/>
            </a:endParaRPr>
          </a:p>
        </p:txBody>
      </p:sp>
      <p:sp>
        <p:nvSpPr>
          <p:cNvPr id="118" name="Text 19"/>
          <p:cNvSpPr/>
          <p:nvPr/>
        </p:nvSpPr>
        <p:spPr>
          <a:xfrm>
            <a:off x="1541160" y="4961160"/>
            <a:ext cx="3841920" cy="19404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1" lang="en-US" sz="1020" spc="-1" strike="noStrike">
                <a:solidFill>
                  <a:srgbClr val="e0e0e0"/>
                </a:solidFill>
                <a:latin typeface="Quattrocento Sans"/>
                <a:ea typeface="Quattrocento Sans"/>
              </a:rPr>
              <a:t>Nash Equilibrium:</a:t>
            </a:r>
            <a:r>
              <a:rPr b="0" lang="en-US" sz="1020" spc="-1" strike="noStrike">
                <a:solidFill>
                  <a:srgbClr val="e0e0e0"/>
                </a:solidFill>
                <a:latin typeface="Quattrocento Sans"/>
                <a:ea typeface="Quattrocento Sans"/>
              </a:rPr>
              <a:t> Proved existence of equilibrium in all finite games</a:t>
            </a:r>
            <a:endParaRPr b="0" lang="en-HK" sz="1020" spc="-1" strike="noStrike">
              <a:latin typeface="Arial"/>
            </a:endParaRPr>
          </a:p>
        </p:txBody>
      </p:sp>
      <p:sp>
        <p:nvSpPr>
          <p:cNvPr id="119" name="Shape 20"/>
          <p:cNvSpPr/>
          <p:nvPr/>
        </p:nvSpPr>
        <p:spPr>
          <a:xfrm>
            <a:off x="6683760" y="5419080"/>
            <a:ext cx="3988080" cy="721080"/>
          </a:xfrm>
          <a:custGeom>
            <a:avLst/>
            <a:gdLst/>
            <a:ahLst/>
            <a:rect l="l" t="t" r="r" b="b"/>
            <a:pathLst>
              <a:path w="3988340" h="721468">
                <a:moveTo>
                  <a:pt x="0" y="0"/>
                </a:moveTo>
                <a:lnTo>
                  <a:pt x="3988340" y="0"/>
                </a:lnTo>
                <a:lnTo>
                  <a:pt x="3988340" y="721468"/>
                </a:lnTo>
                <a:lnTo>
                  <a:pt x="0" y="721468"/>
                </a:lnTo>
                <a:lnTo>
                  <a:pt x="0" y="0"/>
                </a:lnTo>
                <a:close/>
              </a:path>
            </a:pathLst>
          </a:custGeom>
          <a:solidFill>
            <a:srgbClr val="ffffff"/>
          </a:solidFill>
          <a:ln w="12700">
            <a:solidFill>
              <a:srgbClr val="e0e0e0"/>
            </a:solidFill>
            <a:round/>
          </a:ln>
        </p:spPr>
        <p:style>
          <a:lnRef idx="0"/>
          <a:fillRef idx="0"/>
          <a:effectRef idx="0"/>
          <a:fontRef idx="minor"/>
        </p:style>
      </p:sp>
      <p:sp>
        <p:nvSpPr>
          <p:cNvPr id="120" name="Text 21"/>
          <p:cNvSpPr/>
          <p:nvPr/>
        </p:nvSpPr>
        <p:spPr>
          <a:xfrm>
            <a:off x="6817320" y="5553000"/>
            <a:ext cx="3793320" cy="226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2d3436"/>
                </a:solidFill>
                <a:latin typeface="Oranienbaum"/>
                <a:ea typeface="Oranienbaum"/>
              </a:rPr>
              <a:t>1994 — Nobel Prize</a:t>
            </a:r>
            <a:endParaRPr b="0" lang="en-HK" sz="1150" spc="-1" strike="noStrike">
              <a:latin typeface="Arial"/>
            </a:endParaRPr>
          </a:p>
        </p:txBody>
      </p:sp>
      <p:sp>
        <p:nvSpPr>
          <p:cNvPr id="121" name="Text 22"/>
          <p:cNvSpPr/>
          <p:nvPr/>
        </p:nvSpPr>
        <p:spPr>
          <a:xfrm>
            <a:off x="6817320" y="5812200"/>
            <a:ext cx="3785400" cy="194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636e72"/>
                </a:solidFill>
                <a:latin typeface="Quattrocento Sans"/>
                <a:ea typeface="Quattrocento Sans"/>
              </a:rPr>
              <a:t>Nash, Harsanyi, and Selten awarded for game theory contributions</a:t>
            </a:r>
            <a:endParaRPr b="0" lang="en-HK" sz="1020" spc="-1" strike="noStrike">
              <a:latin typeface="Arial"/>
            </a:endParaRPr>
          </a:p>
        </p:txBody>
      </p:sp>
      <p:sp>
        <p:nvSpPr>
          <p:cNvPr id="122" name="Shape 23"/>
          <p:cNvSpPr/>
          <p:nvPr/>
        </p:nvSpPr>
        <p:spPr>
          <a:xfrm>
            <a:off x="6031080" y="1467360"/>
            <a:ext cx="129240" cy="12924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w="0">
            <a:noFill/>
          </a:ln>
        </p:spPr>
        <p:style>
          <a:lnRef idx="0"/>
          <a:fillRef idx="0"/>
          <a:effectRef idx="0"/>
          <a:fontRef idx="minor"/>
        </p:style>
      </p:sp>
      <p:sp>
        <p:nvSpPr>
          <p:cNvPr id="123" name="Shape 24"/>
          <p:cNvSpPr/>
          <p:nvPr/>
        </p:nvSpPr>
        <p:spPr>
          <a:xfrm>
            <a:off x="6031080" y="2326680"/>
            <a:ext cx="129240" cy="12924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w="0">
            <a:noFill/>
          </a:ln>
        </p:spPr>
        <p:style>
          <a:lnRef idx="0"/>
          <a:fillRef idx="0"/>
          <a:effectRef idx="0"/>
          <a:fontRef idx="minor"/>
        </p:style>
      </p:sp>
      <p:sp>
        <p:nvSpPr>
          <p:cNvPr id="124" name="Shape 25"/>
          <p:cNvSpPr/>
          <p:nvPr/>
        </p:nvSpPr>
        <p:spPr>
          <a:xfrm>
            <a:off x="6031080" y="3177720"/>
            <a:ext cx="129240" cy="12924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w="0">
            <a:noFill/>
          </a:ln>
        </p:spPr>
        <p:style>
          <a:lnRef idx="0"/>
          <a:fillRef idx="0"/>
          <a:effectRef idx="0"/>
          <a:fontRef idx="minor"/>
        </p:style>
      </p:sp>
      <p:sp>
        <p:nvSpPr>
          <p:cNvPr id="125" name="Shape 26"/>
          <p:cNvSpPr/>
          <p:nvPr/>
        </p:nvSpPr>
        <p:spPr>
          <a:xfrm>
            <a:off x="6031080" y="4020840"/>
            <a:ext cx="129240" cy="12924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w="0">
            <a:noFill/>
          </a:ln>
        </p:spPr>
        <p:style>
          <a:lnRef idx="0"/>
          <a:fillRef idx="0"/>
          <a:effectRef idx="0"/>
          <a:fontRef idx="minor"/>
        </p:style>
      </p:sp>
      <p:sp>
        <p:nvSpPr>
          <p:cNvPr id="126" name="Shape 27"/>
          <p:cNvSpPr/>
          <p:nvPr/>
        </p:nvSpPr>
        <p:spPr>
          <a:xfrm>
            <a:off x="6031080" y="4863960"/>
            <a:ext cx="129240" cy="12924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2d3436"/>
          </a:solidFill>
          <a:ln w="0">
            <a:noFill/>
          </a:ln>
        </p:spPr>
        <p:style>
          <a:lnRef idx="0"/>
          <a:fillRef idx="0"/>
          <a:effectRef idx="0"/>
          <a:fontRef idx="minor"/>
        </p:style>
      </p:sp>
      <p:sp>
        <p:nvSpPr>
          <p:cNvPr id="127" name="Shape 28"/>
          <p:cNvSpPr/>
          <p:nvPr/>
        </p:nvSpPr>
        <p:spPr>
          <a:xfrm>
            <a:off x="6031080" y="5715000"/>
            <a:ext cx="129240" cy="12924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8" name="Text 0"/>
          <p:cNvSpPr/>
          <p:nvPr/>
        </p:nvSpPr>
        <p:spPr>
          <a:xfrm>
            <a:off x="380880" y="380880"/>
            <a:ext cx="1150596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58" strike="noStrike">
                <a:solidFill>
                  <a:srgbClr val="0984e3"/>
                </a:solidFill>
                <a:latin typeface="Quattrocento Sans"/>
                <a:ea typeface="Quattrocento Sans"/>
              </a:rPr>
              <a:t>KEY FIGURE</a:t>
            </a:r>
            <a:endParaRPr b="0" lang="en-HK" sz="1200" spc="-1" strike="noStrike">
              <a:latin typeface="Arial"/>
            </a:endParaRPr>
          </a:p>
        </p:txBody>
      </p:sp>
      <p:sp>
        <p:nvSpPr>
          <p:cNvPr id="129" name="Text 1"/>
          <p:cNvSpPr/>
          <p:nvPr/>
        </p:nvSpPr>
        <p:spPr>
          <a:xfrm>
            <a:off x="380880" y="685800"/>
            <a:ext cx="11658240" cy="456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John Nash: A Beautiful Mind</a:t>
            </a:r>
            <a:endParaRPr b="0" lang="en-HK" sz="3600" spc="-1" strike="noStrike">
              <a:latin typeface="Arial"/>
            </a:endParaRPr>
          </a:p>
        </p:txBody>
      </p:sp>
      <p:sp>
        <p:nvSpPr>
          <p:cNvPr id="130" name="Image 0"/>
          <p:cNvSpPr/>
          <p:nvPr/>
        </p:nvSpPr>
        <p:spPr>
          <a:xfrm>
            <a:off x="380880" y="1371600"/>
            <a:ext cx="4390560" cy="3047760"/>
          </a:xfrm>
          <a:prstGeom prst="roundRect">
            <a:avLst>
              <a:gd name="adj" fmla="val 0"/>
            </a:avLst>
          </a:prstGeom>
          <a:blipFill rotWithShape="0">
            <a:blip r:embed="rId1"/>
            <a:srcRect/>
            <a:stretch/>
          </a:blipFill>
          <a:ln w="0">
            <a:noFill/>
          </a:ln>
        </p:spPr>
        <p:style>
          <a:lnRef idx="0"/>
          <a:fillRef idx="0"/>
          <a:effectRef idx="0"/>
          <a:fontRef idx="minor"/>
        </p:style>
      </p:sp>
      <p:sp>
        <p:nvSpPr>
          <p:cNvPr id="131" name="Shape 2"/>
          <p:cNvSpPr/>
          <p:nvPr/>
        </p:nvSpPr>
        <p:spPr>
          <a:xfrm>
            <a:off x="399960" y="4648320"/>
            <a:ext cx="4371480" cy="1142640"/>
          </a:xfrm>
          <a:custGeom>
            <a:avLst/>
            <a:gdLst/>
            <a:ahLst/>
            <a:rect l="l" t="t" r="r" b="b"/>
            <a:pathLst>
              <a:path w="4371975" h="1143000">
                <a:moveTo>
                  <a:pt x="0" y="0"/>
                </a:moveTo>
                <a:lnTo>
                  <a:pt x="4371975" y="0"/>
                </a:lnTo>
                <a:lnTo>
                  <a:pt x="4371975" y="1143000"/>
                </a:lnTo>
                <a:lnTo>
                  <a:pt x="0" y="1143000"/>
                </a:lnTo>
                <a:lnTo>
                  <a:pt x="0" y="0"/>
                </a:lnTo>
                <a:close/>
              </a:path>
            </a:pathLst>
          </a:custGeom>
          <a:solidFill>
            <a:srgbClr val="f8f9fa"/>
          </a:solidFill>
          <a:ln w="0">
            <a:noFill/>
          </a:ln>
        </p:spPr>
        <p:style>
          <a:lnRef idx="0"/>
          <a:fillRef idx="0"/>
          <a:effectRef idx="0"/>
          <a:fontRef idx="minor"/>
        </p:style>
      </p:sp>
      <p:sp>
        <p:nvSpPr>
          <p:cNvPr id="132" name="Shape 3"/>
          <p:cNvSpPr/>
          <p:nvPr/>
        </p:nvSpPr>
        <p:spPr>
          <a:xfrm>
            <a:off x="399960" y="4648320"/>
            <a:ext cx="37800" cy="1142640"/>
          </a:xfrm>
          <a:custGeom>
            <a:avLst/>
            <a:gdLst/>
            <a:ahLst/>
            <a:rect l="l" t="t" r="r" b="b"/>
            <a:pathLst>
              <a:path w="38100" h="1143000">
                <a:moveTo>
                  <a:pt x="0" y="0"/>
                </a:moveTo>
                <a:lnTo>
                  <a:pt x="38100" y="0"/>
                </a:lnTo>
                <a:lnTo>
                  <a:pt x="38100" y="1143000"/>
                </a:lnTo>
                <a:lnTo>
                  <a:pt x="0" y="1143000"/>
                </a:lnTo>
                <a:lnTo>
                  <a:pt x="0" y="0"/>
                </a:lnTo>
                <a:close/>
              </a:path>
            </a:pathLst>
          </a:custGeom>
          <a:solidFill>
            <a:srgbClr val="0984e3"/>
          </a:solidFill>
          <a:ln w="0">
            <a:noFill/>
          </a:ln>
        </p:spPr>
        <p:style>
          <a:lnRef idx="0"/>
          <a:fillRef idx="0"/>
          <a:effectRef idx="0"/>
          <a:fontRef idx="minor"/>
        </p:style>
      </p:sp>
      <p:sp>
        <p:nvSpPr>
          <p:cNvPr id="133" name="Text 4"/>
          <p:cNvSpPr/>
          <p:nvPr/>
        </p:nvSpPr>
        <p:spPr>
          <a:xfrm>
            <a:off x="609480" y="4838760"/>
            <a:ext cx="4047840" cy="495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e272e"/>
                </a:solidFill>
                <a:latin typeface="Quattrocento Sans"/>
                <a:ea typeface="Quattrocento Sans"/>
              </a:rPr>
              <a:t>"I was on the right track. I was doing good work. And then I became mentally disturbed."</a:t>
            </a:r>
            <a:endParaRPr b="0" lang="en-HK" sz="1200" spc="-1" strike="noStrike">
              <a:latin typeface="Arial"/>
            </a:endParaRPr>
          </a:p>
        </p:txBody>
      </p:sp>
      <p:sp>
        <p:nvSpPr>
          <p:cNvPr id="134" name="Text 5"/>
          <p:cNvSpPr/>
          <p:nvPr/>
        </p:nvSpPr>
        <p:spPr>
          <a:xfrm>
            <a:off x="609480" y="5410080"/>
            <a:ext cx="4038120" cy="190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50" spc="-1" strike="noStrike">
                <a:solidFill>
                  <a:srgbClr val="636e72"/>
                </a:solidFill>
                <a:latin typeface="Quattrocento Sans"/>
                <a:ea typeface="Quattrocento Sans"/>
              </a:rPr>
              <a:t>— </a:t>
            </a:r>
            <a:r>
              <a:rPr b="0" lang="en-US" sz="1050" spc="-1" strike="noStrike">
                <a:solidFill>
                  <a:srgbClr val="636e72"/>
                </a:solidFill>
                <a:latin typeface="Quattrocento Sans"/>
                <a:ea typeface="Quattrocento Sans"/>
              </a:rPr>
              <a:t>John Nash, on his recovery</a:t>
            </a:r>
            <a:endParaRPr b="0" lang="en-HK" sz="1050" spc="-1" strike="noStrike">
              <a:latin typeface="Arial"/>
            </a:endParaRPr>
          </a:p>
        </p:txBody>
      </p:sp>
      <p:sp>
        <p:nvSpPr>
          <p:cNvPr id="135" name="Text 6"/>
          <p:cNvSpPr/>
          <p:nvPr/>
        </p:nvSpPr>
        <p:spPr>
          <a:xfrm>
            <a:off x="5074920" y="1371600"/>
            <a:ext cx="684828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Early Brilliance</a:t>
            </a:r>
            <a:endParaRPr b="0" lang="en-HK" sz="1800" spc="-1" strike="noStrike">
              <a:latin typeface="Arial"/>
            </a:endParaRPr>
          </a:p>
        </p:txBody>
      </p:sp>
      <p:sp>
        <p:nvSpPr>
          <p:cNvPr id="136" name="Text 7"/>
          <p:cNvSpPr/>
          <p:nvPr/>
        </p:nvSpPr>
        <p:spPr>
          <a:xfrm>
            <a:off x="5074920" y="1752480"/>
            <a:ext cx="6810120" cy="990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e272e"/>
                </a:solidFill>
                <a:latin typeface="Quattrocento Sans"/>
                <a:ea typeface="Quattrocento Sans"/>
              </a:rPr>
              <a:t>Born June 13, 1928, in Bluefield, West Virginia, Nash showed exceptional mathematical talent from an early age. His high school math teacher noted he "will really go places if you would only organize your work." He completed his undergraduate and master's degrees at Carnegie Tech in 1948, then earned his Ph.D. from Princeton in 1950 at age 21.</a:t>
            </a:r>
            <a:endParaRPr b="0" lang="en-HK" sz="1200" spc="-1" strike="noStrike">
              <a:latin typeface="Arial"/>
            </a:endParaRPr>
          </a:p>
        </p:txBody>
      </p:sp>
      <p:sp>
        <p:nvSpPr>
          <p:cNvPr id="137" name="Text 8"/>
          <p:cNvSpPr/>
          <p:nvPr/>
        </p:nvSpPr>
        <p:spPr>
          <a:xfrm>
            <a:off x="5074920" y="2895480"/>
            <a:ext cx="684828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The Nash Equilibrium</a:t>
            </a:r>
            <a:endParaRPr b="0" lang="en-HK" sz="1800" spc="-1" strike="noStrike">
              <a:latin typeface="Arial"/>
            </a:endParaRPr>
          </a:p>
        </p:txBody>
      </p:sp>
      <p:sp>
        <p:nvSpPr>
          <p:cNvPr id="138" name="Text 9"/>
          <p:cNvSpPr/>
          <p:nvPr/>
        </p:nvSpPr>
        <p:spPr>
          <a:xfrm>
            <a:off x="5074920" y="3276720"/>
            <a:ext cx="6810120" cy="990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e272e"/>
                </a:solidFill>
                <a:latin typeface="Quattrocento Sans"/>
                <a:ea typeface="Quattrocento Sans"/>
              </a:rPr>
              <a:t>Nash's doctoral thesis introduced the concept that would revolutionize economics: the </a:t>
            </a:r>
            <a:r>
              <a:rPr b="1" lang="en-US" sz="1200" spc="-1" strike="noStrike">
                <a:solidFill>
                  <a:srgbClr val="1e272e"/>
                </a:solidFill>
                <a:latin typeface="Quattrocento Sans"/>
                <a:ea typeface="Quattrocento Sans"/>
              </a:rPr>
              <a:t>Nash Equilibrium</a:t>
            </a:r>
            <a:r>
              <a:rPr b="0" lang="en-US" sz="1200" spc="-1" strike="noStrike">
                <a:solidFill>
                  <a:srgbClr val="1e272e"/>
                </a:solidFill>
                <a:latin typeface="Quattrocento Sans"/>
                <a:ea typeface="Quattrocento Sans"/>
              </a:rPr>
              <a:t>. He proved that in any finite game, there exists at least one set of strategies where no player can benefit by unilaterally changing their strategy. This elegant solution concept became the cornerstone of non-cooperative game theory.</a:t>
            </a:r>
            <a:endParaRPr b="0" lang="en-HK" sz="1200" spc="-1" strike="noStrike">
              <a:latin typeface="Arial"/>
            </a:endParaRPr>
          </a:p>
        </p:txBody>
      </p:sp>
      <p:sp>
        <p:nvSpPr>
          <p:cNvPr id="139" name="Text 10"/>
          <p:cNvSpPr/>
          <p:nvPr/>
        </p:nvSpPr>
        <p:spPr>
          <a:xfrm>
            <a:off x="5074920" y="4419720"/>
            <a:ext cx="684828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Struggle and Triumph</a:t>
            </a:r>
            <a:endParaRPr b="0" lang="en-HK" sz="1800" spc="-1" strike="noStrike">
              <a:latin typeface="Arial"/>
            </a:endParaRPr>
          </a:p>
        </p:txBody>
      </p:sp>
      <p:sp>
        <p:nvSpPr>
          <p:cNvPr id="140" name="Text 11"/>
          <p:cNvSpPr/>
          <p:nvPr/>
        </p:nvSpPr>
        <p:spPr>
          <a:xfrm>
            <a:off x="5074920" y="4800600"/>
            <a:ext cx="6810120" cy="990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e272e"/>
                </a:solidFill>
                <a:latin typeface="Quattrocento Sans"/>
                <a:ea typeface="Quattrocento Sans"/>
              </a:rPr>
              <a:t>In 1959, Nash was diagnosed with paranoid schizophrenia. For decades, he battled delusions and was hospitalized multiple times. Yet remarkably, by the 1980s, he experienced a spontaneous remission without medication. He returned to Princeton, resumed his research, and in 1994, was awarded the </a:t>
            </a:r>
            <a:r>
              <a:rPr b="1" lang="en-US" sz="1200" spc="-1" strike="noStrike">
                <a:solidFill>
                  <a:srgbClr val="1e272e"/>
                </a:solidFill>
                <a:latin typeface="Quattrocento Sans"/>
                <a:ea typeface="Quattrocento Sans"/>
              </a:rPr>
              <a:t>Nobel Prize in Economic Sciences</a:t>
            </a:r>
            <a:r>
              <a:rPr b="0" lang="en-US" sz="1200" spc="-1" strike="noStrike">
                <a:solidFill>
                  <a:srgbClr val="1e272e"/>
                </a:solidFill>
                <a:latin typeface="Quattrocento Sans"/>
                <a:ea typeface="Quattrocento Sans"/>
              </a:rPr>
              <a:t> for his work on game theory.</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1" name="Text 0"/>
          <p:cNvSpPr/>
          <p:nvPr/>
        </p:nvSpPr>
        <p:spPr>
          <a:xfrm>
            <a:off x="609480" y="1781280"/>
            <a:ext cx="12191760" cy="12189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03</a:t>
            </a:r>
            <a:endParaRPr b="0" lang="en-HK" sz="9600" spc="-1" strike="noStrike">
              <a:latin typeface="Arial"/>
            </a:endParaRPr>
          </a:p>
        </p:txBody>
      </p:sp>
      <p:sp>
        <p:nvSpPr>
          <p:cNvPr id="142" name="Text 1"/>
          <p:cNvSpPr/>
          <p:nvPr/>
        </p:nvSpPr>
        <p:spPr>
          <a:xfrm>
            <a:off x="609480" y="3152880"/>
            <a:ext cx="11867760" cy="11426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Core Concepts &amp;</a:t>
            </a:r>
            <a:endParaRPr b="0" lang="en-HK" sz="4500" spc="-1" strike="noStrike">
              <a:latin typeface="Arial"/>
            </a:endParaRPr>
          </a:p>
          <a:p>
            <a:pPr>
              <a:lnSpc>
                <a:spcPct val="80000"/>
              </a:lnSpc>
              <a:buNone/>
            </a:pPr>
            <a:r>
              <a:rPr b="1" lang="en-US" sz="4500" spc="-1" strike="noStrike">
                <a:solidFill>
                  <a:srgbClr val="2d3436"/>
                </a:solidFill>
                <a:latin typeface="Oranienbaum"/>
                <a:ea typeface="Oranienbaum"/>
              </a:rPr>
              <a:t>Mathematical Framework</a:t>
            </a:r>
            <a:endParaRPr b="0" lang="en-HK" sz="4500" spc="-1" strike="noStrike">
              <a:latin typeface="Arial"/>
            </a:endParaRPr>
          </a:p>
        </p:txBody>
      </p:sp>
      <p:sp>
        <p:nvSpPr>
          <p:cNvPr id="143" name="Shape 2"/>
          <p:cNvSpPr/>
          <p:nvPr/>
        </p:nvSpPr>
        <p:spPr>
          <a:xfrm>
            <a:off x="609480" y="4524480"/>
            <a:ext cx="1218960" cy="1872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144" name="Text 3"/>
          <p:cNvSpPr/>
          <p:nvPr/>
        </p:nvSpPr>
        <p:spPr>
          <a:xfrm>
            <a:off x="609480" y="4772160"/>
            <a:ext cx="1169640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The essential building blocks of strategic analysis</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5" name="Text 0"/>
          <p:cNvSpPr/>
          <p:nvPr/>
        </p:nvSpPr>
        <p:spPr>
          <a:xfrm>
            <a:off x="380880" y="380880"/>
            <a:ext cx="1150596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58" strike="noStrike">
                <a:solidFill>
                  <a:srgbClr val="0984e3"/>
                </a:solidFill>
                <a:latin typeface="Quattrocento Sans"/>
                <a:ea typeface="Quattrocento Sans"/>
              </a:rPr>
              <a:t>MATHEMATICAL REPRESENTATION</a:t>
            </a:r>
            <a:endParaRPr b="0" lang="en-HK" sz="1200" spc="-1" strike="noStrike">
              <a:latin typeface="Arial"/>
            </a:endParaRPr>
          </a:p>
        </p:txBody>
      </p:sp>
      <p:sp>
        <p:nvSpPr>
          <p:cNvPr id="146" name="Text 1"/>
          <p:cNvSpPr/>
          <p:nvPr/>
        </p:nvSpPr>
        <p:spPr>
          <a:xfrm>
            <a:off x="380880" y="685800"/>
            <a:ext cx="11658240" cy="456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Payoff Matrices &amp; Strategic Representation</a:t>
            </a:r>
            <a:endParaRPr b="0" lang="en-HK" sz="3600" spc="-1" strike="noStrike">
              <a:latin typeface="Arial"/>
            </a:endParaRPr>
          </a:p>
        </p:txBody>
      </p:sp>
      <p:sp>
        <p:nvSpPr>
          <p:cNvPr id="147" name="Text 2"/>
          <p:cNvSpPr/>
          <p:nvPr/>
        </p:nvSpPr>
        <p:spPr>
          <a:xfrm>
            <a:off x="380880" y="1371600"/>
            <a:ext cx="5657400" cy="12380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500" spc="-1" strike="noStrike">
                <a:solidFill>
                  <a:srgbClr val="1e272e"/>
                </a:solidFill>
                <a:latin typeface="Quattrocento Sans"/>
                <a:ea typeface="Quattrocento Sans"/>
              </a:rPr>
              <a:t>A payoff matrix is the fundamental tool for representing strategic interactions in game theory.</a:t>
            </a:r>
            <a:r>
              <a:rPr b="0" lang="en-US" sz="1500" spc="-1" strike="noStrike">
                <a:solidFill>
                  <a:srgbClr val="1e272e"/>
                </a:solidFill>
                <a:latin typeface="Quattrocento Sans"/>
                <a:ea typeface="Quattrocento Sans"/>
              </a:rPr>
              <a:t> It organizes all possible outcomes based on the strategies chosen by each player, enabling systematic analysis of decision-making scenarios.</a:t>
            </a:r>
            <a:endParaRPr b="0" lang="en-HK" sz="1500" spc="-1" strike="noStrike">
              <a:latin typeface="Arial"/>
            </a:endParaRPr>
          </a:p>
        </p:txBody>
      </p:sp>
      <p:sp>
        <p:nvSpPr>
          <p:cNvPr id="148" name="Text 3"/>
          <p:cNvSpPr/>
          <p:nvPr/>
        </p:nvSpPr>
        <p:spPr>
          <a:xfrm>
            <a:off x="380880" y="2762280"/>
            <a:ext cx="5648040" cy="837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Each cell in the matrix shows the payoff for every player given a specific combination of strategies. By examining the matrix, we can identify dominant strategies, Nash equilibria, and predict rational behavior.</a:t>
            </a:r>
            <a:endParaRPr b="0" lang="en-HK" sz="1350" spc="-1" strike="noStrike">
              <a:latin typeface="Arial"/>
            </a:endParaRPr>
          </a:p>
        </p:txBody>
      </p:sp>
      <p:sp>
        <p:nvSpPr>
          <p:cNvPr id="149" name="Shape 4"/>
          <p:cNvSpPr/>
          <p:nvPr/>
        </p:nvSpPr>
        <p:spPr>
          <a:xfrm>
            <a:off x="399960" y="3750480"/>
            <a:ext cx="5543280" cy="1599840"/>
          </a:xfrm>
          <a:custGeom>
            <a:avLst/>
            <a:gdLst/>
            <a:ahLst/>
            <a:rect l="l" t="t" r="r" b="b"/>
            <a:pathLst>
              <a:path w="5543550" h="1600200">
                <a:moveTo>
                  <a:pt x="0" y="0"/>
                </a:moveTo>
                <a:lnTo>
                  <a:pt x="5543550" y="0"/>
                </a:lnTo>
                <a:lnTo>
                  <a:pt x="5543550" y="1600200"/>
                </a:lnTo>
                <a:lnTo>
                  <a:pt x="0" y="1600200"/>
                </a:lnTo>
                <a:lnTo>
                  <a:pt x="0" y="0"/>
                </a:lnTo>
                <a:close/>
              </a:path>
            </a:pathLst>
          </a:custGeom>
          <a:solidFill>
            <a:srgbClr val="f8f9fa"/>
          </a:solidFill>
          <a:ln w="0">
            <a:noFill/>
          </a:ln>
        </p:spPr>
        <p:style>
          <a:lnRef idx="0"/>
          <a:fillRef idx="0"/>
          <a:effectRef idx="0"/>
          <a:fontRef idx="minor"/>
        </p:style>
      </p:sp>
      <p:sp>
        <p:nvSpPr>
          <p:cNvPr id="150" name="Shape 5"/>
          <p:cNvSpPr/>
          <p:nvPr/>
        </p:nvSpPr>
        <p:spPr>
          <a:xfrm>
            <a:off x="399960" y="3750480"/>
            <a:ext cx="37800" cy="1599840"/>
          </a:xfrm>
          <a:custGeom>
            <a:avLst/>
            <a:gdLst/>
            <a:ahLst/>
            <a:rect l="l" t="t" r="r" b="b"/>
            <a:pathLst>
              <a:path w="38100" h="1600200">
                <a:moveTo>
                  <a:pt x="0" y="0"/>
                </a:moveTo>
                <a:lnTo>
                  <a:pt x="38100" y="0"/>
                </a:lnTo>
                <a:lnTo>
                  <a:pt x="38100" y="1600200"/>
                </a:lnTo>
                <a:lnTo>
                  <a:pt x="0" y="1600200"/>
                </a:lnTo>
                <a:lnTo>
                  <a:pt x="0" y="0"/>
                </a:lnTo>
                <a:close/>
              </a:path>
            </a:pathLst>
          </a:custGeom>
          <a:solidFill>
            <a:srgbClr val="0984e3"/>
          </a:solidFill>
          <a:ln w="0">
            <a:noFill/>
          </a:ln>
        </p:spPr>
        <p:style>
          <a:lnRef idx="0"/>
          <a:fillRef idx="0"/>
          <a:effectRef idx="0"/>
          <a:fontRef idx="minor"/>
        </p:style>
      </p:sp>
      <p:sp>
        <p:nvSpPr>
          <p:cNvPr id="151" name="Text 6"/>
          <p:cNvSpPr/>
          <p:nvPr/>
        </p:nvSpPr>
        <p:spPr>
          <a:xfrm>
            <a:off x="609480" y="3940920"/>
            <a:ext cx="523836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Matrix Components</a:t>
            </a:r>
            <a:endParaRPr b="0" lang="en-HK" sz="1500" spc="-1" strike="noStrike">
              <a:latin typeface="Arial"/>
            </a:endParaRPr>
          </a:p>
        </p:txBody>
      </p:sp>
      <p:sp>
        <p:nvSpPr>
          <p:cNvPr id="152" name="Text 7"/>
          <p:cNvSpPr/>
          <p:nvPr/>
        </p:nvSpPr>
        <p:spPr>
          <a:xfrm>
            <a:off x="609480" y="4321800"/>
            <a:ext cx="521928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Rows:</a:t>
            </a:r>
            <a:r>
              <a:rPr b="0" lang="en-US" sz="1200" spc="-1" strike="noStrike">
                <a:solidFill>
                  <a:srgbClr val="636e72"/>
                </a:solidFill>
                <a:latin typeface="Quattrocento Sans"/>
                <a:ea typeface="Quattrocento Sans"/>
              </a:rPr>
              <a:t> Strategies available to Player 1</a:t>
            </a:r>
            <a:endParaRPr b="0" lang="en-HK" sz="1200" spc="-1" strike="noStrike">
              <a:latin typeface="Arial"/>
            </a:endParaRPr>
          </a:p>
        </p:txBody>
      </p:sp>
      <p:sp>
        <p:nvSpPr>
          <p:cNvPr id="153" name="Text 8"/>
          <p:cNvSpPr/>
          <p:nvPr/>
        </p:nvSpPr>
        <p:spPr>
          <a:xfrm>
            <a:off x="609480" y="4626720"/>
            <a:ext cx="521928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Columns:</a:t>
            </a:r>
            <a:r>
              <a:rPr b="0" lang="en-US" sz="1200" spc="-1" strike="noStrike">
                <a:solidFill>
                  <a:srgbClr val="636e72"/>
                </a:solidFill>
                <a:latin typeface="Quattrocento Sans"/>
                <a:ea typeface="Quattrocento Sans"/>
              </a:rPr>
              <a:t> Strategies available to Player 2</a:t>
            </a:r>
            <a:endParaRPr b="0" lang="en-HK" sz="1200" spc="-1" strike="noStrike">
              <a:latin typeface="Arial"/>
            </a:endParaRPr>
          </a:p>
        </p:txBody>
      </p:sp>
      <p:sp>
        <p:nvSpPr>
          <p:cNvPr id="154" name="Text 9"/>
          <p:cNvSpPr/>
          <p:nvPr/>
        </p:nvSpPr>
        <p:spPr>
          <a:xfrm>
            <a:off x="609480" y="4931640"/>
            <a:ext cx="521928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Cells:</a:t>
            </a:r>
            <a:r>
              <a:rPr b="0" lang="en-US" sz="1200" spc="-1" strike="noStrike">
                <a:solidFill>
                  <a:srgbClr val="636e72"/>
                </a:solidFill>
                <a:latin typeface="Quattrocento Sans"/>
                <a:ea typeface="Quattrocento Sans"/>
              </a:rPr>
              <a:t> Payoffs (Player 1, Player 2)</a:t>
            </a:r>
            <a:endParaRPr b="0" lang="en-HK" sz="1200" spc="-1" strike="noStrike">
              <a:latin typeface="Arial"/>
            </a:endParaRPr>
          </a:p>
        </p:txBody>
      </p:sp>
      <p:sp>
        <p:nvSpPr>
          <p:cNvPr id="155" name="Shape 10"/>
          <p:cNvSpPr/>
          <p:nvPr/>
        </p:nvSpPr>
        <p:spPr>
          <a:xfrm>
            <a:off x="6253200" y="1618200"/>
            <a:ext cx="5552640" cy="3485880"/>
          </a:xfrm>
          <a:custGeom>
            <a:avLst/>
            <a:gdLst/>
            <a:ahLst/>
            <a:rect l="l" t="t" r="r" b="b"/>
            <a:pathLst>
              <a:path w="5553075" h="3486150">
                <a:moveTo>
                  <a:pt x="0" y="0"/>
                </a:moveTo>
                <a:lnTo>
                  <a:pt x="5553075" y="0"/>
                </a:lnTo>
                <a:lnTo>
                  <a:pt x="5553075" y="3486150"/>
                </a:lnTo>
                <a:lnTo>
                  <a:pt x="0" y="3486150"/>
                </a:lnTo>
                <a:lnTo>
                  <a:pt x="0" y="0"/>
                </a:lnTo>
                <a:close/>
              </a:path>
            </a:pathLst>
          </a:custGeom>
          <a:solidFill>
            <a:srgbClr val="ffffff"/>
          </a:solidFill>
          <a:ln w="12700">
            <a:solidFill>
              <a:srgbClr val="e0e0e0"/>
            </a:solidFill>
            <a:round/>
          </a:ln>
        </p:spPr>
        <p:style>
          <a:lnRef idx="0"/>
          <a:fillRef idx="0"/>
          <a:effectRef idx="0"/>
          <a:fontRef idx="minor"/>
        </p:style>
      </p:sp>
      <p:sp>
        <p:nvSpPr>
          <p:cNvPr id="156" name="Text 11"/>
          <p:cNvSpPr/>
          <p:nvPr/>
        </p:nvSpPr>
        <p:spPr>
          <a:xfrm>
            <a:off x="6438960" y="1851480"/>
            <a:ext cx="5181120" cy="2664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2d3436"/>
                </a:solidFill>
                <a:latin typeface="Oranienbaum"/>
                <a:ea typeface="Oranienbaum"/>
              </a:rPr>
              <a:t>Example: Pricing Game</a:t>
            </a:r>
            <a:endParaRPr b="0" lang="en-HK" sz="1500" spc="-1" strike="noStrike">
              <a:latin typeface="Arial"/>
            </a:endParaRPr>
          </a:p>
        </p:txBody>
      </p:sp>
      <p:sp>
        <p:nvSpPr>
          <p:cNvPr id="157" name="Text 12"/>
          <p:cNvSpPr/>
          <p:nvPr/>
        </p:nvSpPr>
        <p:spPr>
          <a:xfrm>
            <a:off x="6448320" y="2270520"/>
            <a:ext cx="5162040" cy="2282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200" spc="-1" strike="noStrike">
                <a:solidFill>
                  <a:srgbClr val="636e72"/>
                </a:solidFill>
                <a:latin typeface="Quattrocento Sans"/>
                <a:ea typeface="Quattrocento Sans"/>
              </a:rPr>
              <a:t>Two firms deciding whether to lower prices</a:t>
            </a:r>
            <a:endParaRPr b="0" lang="en-HK" sz="1200" spc="-1" strike="noStrike">
              <a:latin typeface="Arial"/>
            </a:endParaRPr>
          </a:p>
        </p:txBody>
      </p:sp>
      <p:graphicFrame>
        <p:nvGraphicFramePr>
          <p:cNvPr id="158" name="Table 0"/>
          <p:cNvGraphicFramePr/>
          <p:nvPr/>
        </p:nvGraphicFramePr>
        <p:xfrm>
          <a:off x="6486480" y="2651400"/>
          <a:ext cx="5086080" cy="1409400"/>
        </p:xfrm>
        <a:graphic>
          <a:graphicData uri="http://schemas.openxmlformats.org/drawingml/2006/table">
            <a:tbl>
              <a:tblPr/>
              <a:tblGrid>
                <a:gridCol w="1749600"/>
                <a:gridCol w="1730160"/>
                <a:gridCol w="1606320"/>
              </a:tblGrid>
              <a:tr h="469800">
                <a:tc>
                  <a:tcPr anchor="ctr" marL="114120" marR="11412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114120" rIns="114120" tIns="114120" bIns="114120" anchor="ctr">
                      <a:noAutofit/>
                    </a:bodyPr>
                    <a:p>
                      <a:pPr algn="ctr">
                        <a:lnSpc>
                          <a:spcPct val="100000"/>
                        </a:lnSpc>
                        <a:buNone/>
                      </a:pPr>
                      <a:r>
                        <a:rPr b="1" lang="en-US" sz="1200" spc="-1" strike="noStrike">
                          <a:solidFill>
                            <a:srgbClr val="2d3436"/>
                          </a:solidFill>
                          <a:latin typeface="微软雅黑"/>
                          <a:ea typeface="微软雅黑"/>
                        </a:rPr>
                        <a:t>Firm B: Lower</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114120" rIns="114120" tIns="114120" bIns="114120" anchor="ctr">
                      <a:noAutofit/>
                    </a:bodyPr>
                    <a:p>
                      <a:pPr algn="ctr">
                        <a:lnSpc>
                          <a:spcPct val="100000"/>
                        </a:lnSpc>
                        <a:buNone/>
                      </a:pPr>
                      <a:r>
                        <a:rPr b="1" lang="en-US" sz="1200" spc="-1" strike="noStrike">
                          <a:solidFill>
                            <a:srgbClr val="2d3436"/>
                          </a:solidFill>
                          <a:latin typeface="微软雅黑"/>
                          <a:ea typeface="微软雅黑"/>
                        </a:rPr>
                        <a:t>Firm B: Keep</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r>
              <a:tr h="469800">
                <a:tc>
                  <a:txBody>
                    <a:bodyPr lIns="114120" rIns="114120" tIns="114120" bIns="114120" anchor="ctr">
                      <a:noAutofit/>
                    </a:bodyPr>
                    <a:p>
                      <a:pPr>
                        <a:lnSpc>
                          <a:spcPct val="100000"/>
                        </a:lnSpc>
                        <a:buNone/>
                      </a:pPr>
                      <a:r>
                        <a:rPr b="1" lang="en-US" sz="1200" spc="-1" strike="noStrike">
                          <a:solidFill>
                            <a:srgbClr val="2d3436"/>
                          </a:solidFill>
                          <a:latin typeface="微软雅黑"/>
                          <a:ea typeface="微软雅黑"/>
                        </a:rPr>
                        <a:t>Firm A: Lower</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114120" rIns="114120" tIns="114120" bIns="114120" anchor="ctr">
                      <a:noAutofit/>
                    </a:bodyPr>
                    <a:p>
                      <a:pPr algn="ctr">
                        <a:lnSpc>
                          <a:spcPct val="100000"/>
                        </a:lnSpc>
                        <a:buNone/>
                      </a:pPr>
                      <a:r>
                        <a:rPr b="0" lang="en-US" sz="1200" spc="-1" strike="noStrike">
                          <a:solidFill>
                            <a:srgbClr val="1e272e"/>
                          </a:solidFill>
                          <a:latin typeface="微软雅黑"/>
                          <a:ea typeface="微软雅黑"/>
                        </a:rPr>
                        <a:t>(5, 5)</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noFill/>
                  </a:tcPr>
                </a:tc>
                <a:tc>
                  <a:txBody>
                    <a:bodyPr lIns="114120" rIns="114120" tIns="114120" bIns="114120" anchor="ctr">
                      <a:noAutofit/>
                    </a:bodyPr>
                    <a:p>
                      <a:pPr algn="ctr">
                        <a:lnSpc>
                          <a:spcPct val="100000"/>
                        </a:lnSpc>
                        <a:buNone/>
                      </a:pPr>
                      <a:r>
                        <a:rPr b="0" lang="en-US" sz="1200" spc="-1" strike="noStrike">
                          <a:solidFill>
                            <a:srgbClr val="1e272e"/>
                          </a:solidFill>
                          <a:latin typeface="微软雅黑"/>
                          <a:ea typeface="微软雅黑"/>
                        </a:rPr>
                        <a:t>(10, 2)</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noFill/>
                  </a:tcPr>
                </a:tc>
              </a:tr>
              <a:tr h="469800">
                <a:tc>
                  <a:txBody>
                    <a:bodyPr lIns="114120" rIns="114120" tIns="114120" bIns="114120" anchor="ctr">
                      <a:noAutofit/>
                    </a:bodyPr>
                    <a:p>
                      <a:pPr>
                        <a:lnSpc>
                          <a:spcPct val="100000"/>
                        </a:lnSpc>
                        <a:buNone/>
                      </a:pPr>
                      <a:r>
                        <a:rPr b="1" lang="en-US" sz="1200" spc="-1" strike="noStrike">
                          <a:solidFill>
                            <a:srgbClr val="2d3436"/>
                          </a:solidFill>
                          <a:latin typeface="微软雅黑"/>
                          <a:ea typeface="微软雅黑"/>
                        </a:rPr>
                        <a:t>Firm A: Keep</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114120" rIns="114120" tIns="114120" bIns="114120" anchor="ctr">
                      <a:noAutofit/>
                    </a:bodyPr>
                    <a:p>
                      <a:pPr algn="ctr">
                        <a:lnSpc>
                          <a:spcPct val="100000"/>
                        </a:lnSpc>
                        <a:buNone/>
                      </a:pPr>
                      <a:r>
                        <a:rPr b="0" lang="en-US" sz="1200" spc="-1" strike="noStrike">
                          <a:solidFill>
                            <a:srgbClr val="1e272e"/>
                          </a:solidFill>
                          <a:latin typeface="微软雅黑"/>
                          <a:ea typeface="微软雅黑"/>
                        </a:rPr>
                        <a:t>(2, 10)</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noFill/>
                  </a:tcPr>
                </a:tc>
                <a:tc>
                  <a:txBody>
                    <a:bodyPr lIns="114120" rIns="114120" tIns="114120" bIns="114120" anchor="ctr">
                      <a:noAutofit/>
                    </a:bodyPr>
                    <a:p>
                      <a:pPr algn="ctr">
                        <a:lnSpc>
                          <a:spcPct val="100000"/>
                        </a:lnSpc>
                        <a:buNone/>
                      </a:pPr>
                      <a:r>
                        <a:rPr b="0" lang="en-US" sz="1200" spc="-1" strike="noStrike">
                          <a:solidFill>
                            <a:srgbClr val="1e272e"/>
                          </a:solidFill>
                          <a:latin typeface="微软雅黑"/>
                          <a:ea typeface="微软雅黑"/>
                        </a:rPr>
                        <a:t>(8, 8)</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noFill/>
                  </a:tcPr>
                </a:tc>
              </a:tr>
            </a:tbl>
          </a:graphicData>
        </a:graphic>
      </p:graphicFrame>
      <p:sp>
        <p:nvSpPr>
          <p:cNvPr id="159" name="Shape 13"/>
          <p:cNvSpPr/>
          <p:nvPr/>
        </p:nvSpPr>
        <p:spPr>
          <a:xfrm>
            <a:off x="6486480" y="4218480"/>
            <a:ext cx="5086080" cy="9000"/>
          </a:xfrm>
          <a:custGeom>
            <a:avLst/>
            <a:gdLst/>
            <a:ahLst/>
            <a:rect l="l" t="t" r="r" b="b"/>
            <a:pathLst>
              <a:path w="5086350" h="9525">
                <a:moveTo>
                  <a:pt x="0" y="0"/>
                </a:moveTo>
                <a:lnTo>
                  <a:pt x="5086350" y="0"/>
                </a:lnTo>
                <a:lnTo>
                  <a:pt x="5086350" y="9525"/>
                </a:lnTo>
                <a:lnTo>
                  <a:pt x="0" y="9525"/>
                </a:lnTo>
                <a:lnTo>
                  <a:pt x="0" y="0"/>
                </a:lnTo>
                <a:close/>
              </a:path>
            </a:pathLst>
          </a:custGeom>
          <a:solidFill>
            <a:srgbClr val="e0e0e0"/>
          </a:solidFill>
          <a:ln w="0">
            <a:noFill/>
          </a:ln>
        </p:spPr>
        <p:style>
          <a:lnRef idx="0"/>
          <a:fillRef idx="0"/>
          <a:effectRef idx="0"/>
          <a:fontRef idx="minor"/>
        </p:style>
      </p:sp>
      <p:sp>
        <p:nvSpPr>
          <p:cNvPr id="160" name="Text 14"/>
          <p:cNvSpPr/>
          <p:nvPr/>
        </p:nvSpPr>
        <p:spPr>
          <a:xfrm>
            <a:off x="6486480" y="4375440"/>
            <a:ext cx="5162040" cy="495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636e72"/>
                </a:solidFill>
                <a:latin typeface="Quattrocento Sans"/>
                <a:ea typeface="Quattrocento Sans"/>
              </a:rPr>
              <a:t>Interpretation:</a:t>
            </a:r>
            <a:r>
              <a:rPr b="0" lang="en-US" sz="1200" spc="-1" strike="noStrike">
                <a:solidFill>
                  <a:srgbClr val="636e72"/>
                </a:solidFill>
                <a:latin typeface="Quattrocento Sans"/>
                <a:ea typeface="Quattrocento Sans"/>
              </a:rPr>
              <a:t> If both firms lower prices, each earns 5. If Firm A lowers while B keeps, A captures market share and earns 10 while B earns only 2.</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1" name="Text 0"/>
          <p:cNvSpPr/>
          <p:nvPr/>
        </p:nvSpPr>
        <p:spPr>
          <a:xfrm>
            <a:off x="380880" y="380880"/>
            <a:ext cx="1150596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58" strike="noStrike">
                <a:solidFill>
                  <a:srgbClr val="0984e3"/>
                </a:solidFill>
                <a:latin typeface="Quattrocento Sans"/>
                <a:ea typeface="Quattrocento Sans"/>
              </a:rPr>
              <a:t>CORE CONCEPT</a:t>
            </a:r>
            <a:endParaRPr b="0" lang="en-HK" sz="1200" spc="-1" strike="noStrike">
              <a:latin typeface="Arial"/>
            </a:endParaRPr>
          </a:p>
        </p:txBody>
      </p:sp>
      <p:sp>
        <p:nvSpPr>
          <p:cNvPr id="162" name="Text 1"/>
          <p:cNvSpPr/>
          <p:nvPr/>
        </p:nvSpPr>
        <p:spPr>
          <a:xfrm>
            <a:off x="380880" y="685800"/>
            <a:ext cx="11658240" cy="456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Nash Equilibrium: The Cornerstone Concept</a:t>
            </a:r>
            <a:endParaRPr b="0" lang="en-HK" sz="3600" spc="-1" strike="noStrike">
              <a:latin typeface="Arial"/>
            </a:endParaRPr>
          </a:p>
        </p:txBody>
      </p:sp>
      <p:sp>
        <p:nvSpPr>
          <p:cNvPr id="163" name="Text 2"/>
          <p:cNvSpPr/>
          <p:nvPr/>
        </p:nvSpPr>
        <p:spPr>
          <a:xfrm>
            <a:off x="380880" y="1419120"/>
            <a:ext cx="5496840" cy="828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500" spc="-1" strike="noStrike">
                <a:solidFill>
                  <a:srgbClr val="1e272e"/>
                </a:solidFill>
                <a:latin typeface="Quattrocento Sans"/>
                <a:ea typeface="Quattrocento Sans"/>
              </a:rPr>
              <a:t>A Nash Equilibrium is a set of strategies, one for each player, such that no player can improve their outcome by unilaterally changing their own strategy.</a:t>
            </a:r>
            <a:endParaRPr b="0" lang="en-HK" sz="1500" spc="-1" strike="noStrike">
              <a:latin typeface="Arial"/>
            </a:endParaRPr>
          </a:p>
        </p:txBody>
      </p:sp>
      <p:sp>
        <p:nvSpPr>
          <p:cNvPr id="164" name="Text 3"/>
          <p:cNvSpPr/>
          <p:nvPr/>
        </p:nvSpPr>
        <p:spPr>
          <a:xfrm>
            <a:off x="380880" y="2452680"/>
            <a:ext cx="5648040" cy="837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In equilibrium, each player's strategy is optimal given the strategies of all other players. This creates a stable state where everyone is doing the best they can, given what others are doing.</a:t>
            </a:r>
            <a:endParaRPr b="0" lang="en-HK" sz="1350" spc="-1" strike="noStrike">
              <a:latin typeface="Arial"/>
            </a:endParaRPr>
          </a:p>
        </p:txBody>
      </p:sp>
      <p:sp>
        <p:nvSpPr>
          <p:cNvPr id="165" name="Shape 4"/>
          <p:cNvSpPr/>
          <p:nvPr/>
        </p:nvSpPr>
        <p:spPr>
          <a:xfrm>
            <a:off x="380880" y="3867120"/>
            <a:ext cx="5562360" cy="2018880"/>
          </a:xfrm>
          <a:custGeom>
            <a:avLst/>
            <a:gdLst/>
            <a:ahLst/>
            <a:rect l="l" t="t" r="r" b="b"/>
            <a:pathLst>
              <a:path w="5562600" h="2019300">
                <a:moveTo>
                  <a:pt x="0" y="0"/>
                </a:moveTo>
                <a:lnTo>
                  <a:pt x="5562600" y="0"/>
                </a:lnTo>
                <a:lnTo>
                  <a:pt x="5562600" y="2019300"/>
                </a:lnTo>
                <a:lnTo>
                  <a:pt x="0" y="2019300"/>
                </a:lnTo>
                <a:lnTo>
                  <a:pt x="0" y="0"/>
                </a:lnTo>
                <a:close/>
              </a:path>
            </a:pathLst>
          </a:custGeom>
          <a:solidFill>
            <a:srgbClr val="2d3436"/>
          </a:solidFill>
          <a:ln w="0">
            <a:noFill/>
          </a:ln>
        </p:spPr>
        <p:style>
          <a:lnRef idx="0"/>
          <a:fillRef idx="0"/>
          <a:effectRef idx="0"/>
          <a:fontRef idx="minor"/>
        </p:style>
      </p:sp>
      <p:sp>
        <p:nvSpPr>
          <p:cNvPr id="166" name="Text 5"/>
          <p:cNvSpPr/>
          <p:nvPr/>
        </p:nvSpPr>
        <p:spPr>
          <a:xfrm>
            <a:off x="609480" y="4095720"/>
            <a:ext cx="520020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Oranienbaum"/>
                <a:ea typeface="Oranienbaum"/>
              </a:rPr>
              <a:t>Mathematical Definition</a:t>
            </a:r>
            <a:endParaRPr b="0" lang="en-HK" sz="1500" spc="-1" strike="noStrike">
              <a:latin typeface="Arial"/>
            </a:endParaRPr>
          </a:p>
        </p:txBody>
      </p:sp>
      <p:sp>
        <p:nvSpPr>
          <p:cNvPr id="167" name="Text 6"/>
          <p:cNvSpPr/>
          <p:nvPr/>
        </p:nvSpPr>
        <p:spPr>
          <a:xfrm>
            <a:off x="609480" y="4476600"/>
            <a:ext cx="5181120" cy="247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e0e0e0"/>
                </a:solidFill>
                <a:latin typeface="Quattrocento Sans"/>
                <a:ea typeface="Quattrocento Sans"/>
              </a:rPr>
              <a:t>For a strategy profile s * = ( s</a:t>
            </a:r>
            <a:r>
              <a:rPr b="0" lang="en-US" sz="900" spc="-1" strike="noStrike">
                <a:solidFill>
                  <a:srgbClr val="e0e0e0"/>
                </a:solidFill>
                <a:latin typeface="Quattrocento Sans"/>
                <a:ea typeface="Quattrocento Sans"/>
              </a:rPr>
              <a:t>1</a:t>
            </a:r>
            <a:r>
              <a:rPr b="0" lang="en-US" sz="1200" spc="-1" strike="noStrike">
                <a:solidFill>
                  <a:srgbClr val="e0e0e0"/>
                </a:solidFill>
                <a:latin typeface="Quattrocento Sans"/>
                <a:ea typeface="Quattrocento Sans"/>
              </a:rPr>
              <a:t> *, ..., s</a:t>
            </a:r>
            <a:r>
              <a:rPr b="0" lang="en-US" sz="900" spc="-1" strike="noStrike">
                <a:solidFill>
                  <a:srgbClr val="e0e0e0"/>
                </a:solidFill>
                <a:latin typeface="Quattrocento Sans"/>
                <a:ea typeface="Quattrocento Sans"/>
              </a:rPr>
              <a:t>n</a:t>
            </a:r>
            <a:r>
              <a:rPr b="0" lang="en-US" sz="1200" spc="-1" strike="noStrike">
                <a:solidFill>
                  <a:srgbClr val="e0e0e0"/>
                </a:solidFill>
                <a:latin typeface="Quattrocento Sans"/>
                <a:ea typeface="Quattrocento Sans"/>
              </a:rPr>
              <a:t> *) to be a Nash Equilibrium:</a:t>
            </a:r>
            <a:endParaRPr b="0" lang="en-HK" sz="1200" spc="-1" strike="noStrike">
              <a:latin typeface="Arial"/>
            </a:endParaRPr>
          </a:p>
        </p:txBody>
      </p:sp>
      <p:sp>
        <p:nvSpPr>
          <p:cNvPr id="168" name="Shape 7"/>
          <p:cNvSpPr/>
          <p:nvPr/>
        </p:nvSpPr>
        <p:spPr>
          <a:xfrm>
            <a:off x="609480" y="4838760"/>
            <a:ext cx="5105160" cy="456840"/>
          </a:xfrm>
          <a:custGeom>
            <a:avLst/>
            <a:gdLst/>
            <a:ahLst/>
            <a:rect l="l" t="t" r="r" b="b"/>
            <a:pathLst>
              <a:path w="5105400" h="457200">
                <a:moveTo>
                  <a:pt x="0" y="0"/>
                </a:moveTo>
                <a:lnTo>
                  <a:pt x="5105400" y="0"/>
                </a:lnTo>
                <a:lnTo>
                  <a:pt x="5105400" y="457200"/>
                </a:lnTo>
                <a:lnTo>
                  <a:pt x="0" y="457200"/>
                </a:lnTo>
                <a:lnTo>
                  <a:pt x="0" y="0"/>
                </a:lnTo>
                <a:close/>
              </a:path>
            </a:pathLst>
          </a:custGeom>
          <a:solidFill>
            <a:srgbClr val="1e272e"/>
          </a:solidFill>
          <a:ln w="0">
            <a:noFill/>
          </a:ln>
        </p:spPr>
        <p:style>
          <a:lnRef idx="0"/>
          <a:fillRef idx="0"/>
          <a:effectRef idx="0"/>
          <a:fontRef idx="minor"/>
        </p:style>
      </p:sp>
      <p:sp>
        <p:nvSpPr>
          <p:cNvPr id="169" name="Text 8"/>
          <p:cNvSpPr/>
          <p:nvPr/>
        </p:nvSpPr>
        <p:spPr>
          <a:xfrm>
            <a:off x="609480" y="4838760"/>
            <a:ext cx="5181120" cy="456840"/>
          </a:xfrm>
          <a:prstGeom prst="rect">
            <a:avLst/>
          </a:prstGeom>
          <a:noFill/>
          <a:ln w="0">
            <a:noFill/>
          </a:ln>
        </p:spPr>
        <p:style>
          <a:lnRef idx="0"/>
          <a:fillRef idx="0"/>
          <a:effectRef idx="0"/>
          <a:fontRef idx="minor"/>
        </p:style>
        <p:txBody>
          <a:bodyPr lIns="114480" rIns="114480" tIns="228960" bIns="228960" anchor="ctr">
            <a:noAutofit/>
          </a:bodyPr>
          <a:p>
            <a:pPr>
              <a:lnSpc>
                <a:spcPct val="130000"/>
              </a:lnSpc>
              <a:buNone/>
            </a:pPr>
            <a:r>
              <a:rPr b="0" lang="en-US" sz="1200" spc="-1" strike="noStrike">
                <a:solidFill>
                  <a:srgbClr val="ffffff"/>
                </a:solidFill>
                <a:latin typeface="MiSans"/>
                <a:ea typeface="MiSans"/>
              </a:rPr>
              <a:t>uᵢ(sᵢ*, s₋ᵢ*) ≥ uᵢ(sᵢ, s₋ᵢ*)</a:t>
            </a:r>
            <a:endParaRPr b="0" lang="en-HK" sz="1200" spc="-1" strike="noStrike">
              <a:latin typeface="Arial"/>
            </a:endParaRPr>
          </a:p>
        </p:txBody>
      </p:sp>
      <p:sp>
        <p:nvSpPr>
          <p:cNvPr id="170" name="Text 9"/>
          <p:cNvSpPr/>
          <p:nvPr/>
        </p:nvSpPr>
        <p:spPr>
          <a:xfrm>
            <a:off x="609480" y="5410080"/>
            <a:ext cx="5181120" cy="247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e0e0e0"/>
                </a:solidFill>
                <a:latin typeface="Quattrocento Sans"/>
                <a:ea typeface="Quattrocento Sans"/>
              </a:rPr>
              <a:t>for all players i and all alternative strategies s</a:t>
            </a:r>
            <a:r>
              <a:rPr b="0" lang="en-US" sz="900" spc="-1" strike="noStrike">
                <a:solidFill>
                  <a:srgbClr val="e0e0e0"/>
                </a:solidFill>
                <a:latin typeface="Quattrocento Sans"/>
                <a:ea typeface="Quattrocento Sans"/>
              </a:rPr>
              <a:t>i</a:t>
            </a:r>
            <a:r>
              <a:rPr b="0" lang="en-US" sz="1200" spc="-1" strike="noStrike">
                <a:solidFill>
                  <a:srgbClr val="e0e0e0"/>
                </a:solidFill>
                <a:latin typeface="Quattrocento Sans"/>
                <a:ea typeface="Quattrocento Sans"/>
              </a:rPr>
              <a:t> .</a:t>
            </a:r>
            <a:endParaRPr b="0" lang="en-HK" sz="1200" spc="-1" strike="noStrike">
              <a:latin typeface="Arial"/>
            </a:endParaRPr>
          </a:p>
        </p:txBody>
      </p:sp>
      <p:sp>
        <p:nvSpPr>
          <p:cNvPr id="171" name="Shape 10"/>
          <p:cNvSpPr/>
          <p:nvPr/>
        </p:nvSpPr>
        <p:spPr>
          <a:xfrm>
            <a:off x="6253200" y="1376280"/>
            <a:ext cx="5552640" cy="3209400"/>
          </a:xfrm>
          <a:custGeom>
            <a:avLst/>
            <a:gdLst/>
            <a:ahLst/>
            <a:rect l="l" t="t" r="r" b="b"/>
            <a:pathLst>
              <a:path w="5553075" h="3209925">
                <a:moveTo>
                  <a:pt x="0" y="0"/>
                </a:moveTo>
                <a:lnTo>
                  <a:pt x="5553075" y="0"/>
                </a:lnTo>
                <a:lnTo>
                  <a:pt x="5553075" y="3209925"/>
                </a:lnTo>
                <a:lnTo>
                  <a:pt x="0" y="3209925"/>
                </a:lnTo>
                <a:lnTo>
                  <a:pt x="0" y="0"/>
                </a:lnTo>
                <a:close/>
              </a:path>
            </a:pathLst>
          </a:custGeom>
          <a:solidFill>
            <a:srgbClr val="ffffff"/>
          </a:solidFill>
          <a:ln w="12700">
            <a:solidFill>
              <a:srgbClr val="e0e0e0"/>
            </a:solidFill>
            <a:round/>
          </a:ln>
        </p:spPr>
        <p:style>
          <a:lnRef idx="0"/>
          <a:fillRef idx="0"/>
          <a:effectRef idx="0"/>
          <a:fontRef idx="minor"/>
        </p:style>
      </p:sp>
      <p:sp>
        <p:nvSpPr>
          <p:cNvPr id="172" name="Text 11"/>
          <p:cNvSpPr/>
          <p:nvPr/>
        </p:nvSpPr>
        <p:spPr>
          <a:xfrm>
            <a:off x="6486480" y="1609560"/>
            <a:ext cx="518112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Key Properties</a:t>
            </a:r>
            <a:endParaRPr b="0" lang="en-HK" sz="1500" spc="-1" strike="noStrike">
              <a:latin typeface="Arial"/>
            </a:endParaRPr>
          </a:p>
        </p:txBody>
      </p:sp>
      <p:sp>
        <p:nvSpPr>
          <p:cNvPr id="173" name="Shape 12"/>
          <p:cNvSpPr/>
          <p:nvPr/>
        </p:nvSpPr>
        <p:spPr>
          <a:xfrm>
            <a:off x="6486480" y="2028960"/>
            <a:ext cx="304560" cy="304560"/>
          </a:xfrm>
          <a:custGeom>
            <a:avLst/>
            <a:gdLst/>
            <a:ahLst/>
            <a:rect l="l" t="t" r="r" b="b"/>
            <a:pathLst>
              <a:path w="304800" h="304800">
                <a:moveTo>
                  <a:pt x="0" y="0"/>
                </a:moveTo>
                <a:lnTo>
                  <a:pt x="304800" y="0"/>
                </a:lnTo>
                <a:lnTo>
                  <a:pt x="304800" y="304800"/>
                </a:lnTo>
                <a:lnTo>
                  <a:pt x="0" y="304800"/>
                </a:lnTo>
                <a:lnTo>
                  <a:pt x="0" y="0"/>
                </a:lnTo>
                <a:close/>
              </a:path>
            </a:pathLst>
          </a:custGeom>
          <a:solidFill>
            <a:srgbClr val="0984e3"/>
          </a:solidFill>
          <a:ln w="0">
            <a:noFill/>
          </a:ln>
        </p:spPr>
        <p:style>
          <a:lnRef idx="0"/>
          <a:fillRef idx="0"/>
          <a:effectRef idx="0"/>
          <a:fontRef idx="minor"/>
        </p:style>
      </p:sp>
      <p:sp>
        <p:nvSpPr>
          <p:cNvPr id="174" name="Text 13"/>
          <p:cNvSpPr/>
          <p:nvPr/>
        </p:nvSpPr>
        <p:spPr>
          <a:xfrm>
            <a:off x="6453360" y="2028960"/>
            <a:ext cx="371160" cy="3045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050" spc="-1" strike="noStrike">
                <a:solidFill>
                  <a:srgbClr val="ffffff"/>
                </a:solidFill>
                <a:latin typeface="Quattrocento Sans"/>
                <a:ea typeface="Quattrocento Sans"/>
              </a:rPr>
              <a:t>1</a:t>
            </a:r>
            <a:endParaRPr b="0" lang="en-HK" sz="1050" spc="-1" strike="noStrike">
              <a:latin typeface="Arial"/>
            </a:endParaRPr>
          </a:p>
        </p:txBody>
      </p:sp>
      <p:sp>
        <p:nvSpPr>
          <p:cNvPr id="175" name="Text 14"/>
          <p:cNvSpPr/>
          <p:nvPr/>
        </p:nvSpPr>
        <p:spPr>
          <a:xfrm>
            <a:off x="6905520" y="2028960"/>
            <a:ext cx="306684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Stability</a:t>
            </a:r>
            <a:endParaRPr b="0" lang="en-HK" sz="1200" spc="-1" strike="noStrike">
              <a:latin typeface="Arial"/>
            </a:endParaRPr>
          </a:p>
        </p:txBody>
      </p:sp>
      <p:sp>
        <p:nvSpPr>
          <p:cNvPr id="176" name="Text 15"/>
          <p:cNvSpPr/>
          <p:nvPr/>
        </p:nvSpPr>
        <p:spPr>
          <a:xfrm>
            <a:off x="6905520" y="2295360"/>
            <a:ext cx="306684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636e72"/>
                </a:solidFill>
                <a:latin typeface="Quattrocento Sans"/>
                <a:ea typeface="Quattrocento Sans"/>
              </a:rPr>
              <a:t>No player has incentive to deviate unilaterally</a:t>
            </a:r>
            <a:endParaRPr b="0" lang="en-HK" sz="1200" spc="-1" strike="noStrike">
              <a:latin typeface="Arial"/>
            </a:endParaRPr>
          </a:p>
        </p:txBody>
      </p:sp>
      <p:sp>
        <p:nvSpPr>
          <p:cNvPr id="177" name="Shape 16"/>
          <p:cNvSpPr/>
          <p:nvPr/>
        </p:nvSpPr>
        <p:spPr>
          <a:xfrm>
            <a:off x="6486480" y="2638440"/>
            <a:ext cx="304560" cy="304560"/>
          </a:xfrm>
          <a:custGeom>
            <a:avLst/>
            <a:gdLst/>
            <a:ahLst/>
            <a:rect l="l" t="t" r="r" b="b"/>
            <a:pathLst>
              <a:path w="304800" h="304800">
                <a:moveTo>
                  <a:pt x="0" y="0"/>
                </a:moveTo>
                <a:lnTo>
                  <a:pt x="304800" y="0"/>
                </a:lnTo>
                <a:lnTo>
                  <a:pt x="304800" y="304800"/>
                </a:lnTo>
                <a:lnTo>
                  <a:pt x="0" y="304800"/>
                </a:lnTo>
                <a:lnTo>
                  <a:pt x="0" y="0"/>
                </a:lnTo>
                <a:close/>
              </a:path>
            </a:pathLst>
          </a:custGeom>
          <a:solidFill>
            <a:srgbClr val="0984e3"/>
          </a:solidFill>
          <a:ln w="0">
            <a:noFill/>
          </a:ln>
        </p:spPr>
        <p:style>
          <a:lnRef idx="0"/>
          <a:fillRef idx="0"/>
          <a:effectRef idx="0"/>
          <a:fontRef idx="minor"/>
        </p:style>
      </p:sp>
      <p:sp>
        <p:nvSpPr>
          <p:cNvPr id="178" name="Text 17"/>
          <p:cNvSpPr/>
          <p:nvPr/>
        </p:nvSpPr>
        <p:spPr>
          <a:xfrm>
            <a:off x="6453360" y="2638440"/>
            <a:ext cx="371160" cy="3045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050" spc="-1" strike="noStrike">
                <a:solidFill>
                  <a:srgbClr val="ffffff"/>
                </a:solidFill>
                <a:latin typeface="Quattrocento Sans"/>
                <a:ea typeface="Quattrocento Sans"/>
              </a:rPr>
              <a:t>2</a:t>
            </a:r>
            <a:endParaRPr b="0" lang="en-HK" sz="1050" spc="-1" strike="noStrike">
              <a:latin typeface="Arial"/>
            </a:endParaRPr>
          </a:p>
        </p:txBody>
      </p:sp>
      <p:sp>
        <p:nvSpPr>
          <p:cNvPr id="179" name="Text 18"/>
          <p:cNvSpPr/>
          <p:nvPr/>
        </p:nvSpPr>
        <p:spPr>
          <a:xfrm>
            <a:off x="6905520" y="2638440"/>
            <a:ext cx="366660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Self-Enforcing</a:t>
            </a:r>
            <a:endParaRPr b="0" lang="en-HK" sz="1200" spc="-1" strike="noStrike">
              <a:latin typeface="Arial"/>
            </a:endParaRPr>
          </a:p>
        </p:txBody>
      </p:sp>
      <p:sp>
        <p:nvSpPr>
          <p:cNvPr id="180" name="Text 19"/>
          <p:cNvSpPr/>
          <p:nvPr/>
        </p:nvSpPr>
        <p:spPr>
          <a:xfrm>
            <a:off x="6905520" y="2905200"/>
            <a:ext cx="366660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636e72"/>
                </a:solidFill>
                <a:latin typeface="Quattrocento Sans"/>
                <a:ea typeface="Quattrocento Sans"/>
              </a:rPr>
              <a:t>Equilibrium strategies are best responses to each other</a:t>
            </a:r>
            <a:endParaRPr b="0" lang="en-HK" sz="1200" spc="-1" strike="noStrike">
              <a:latin typeface="Arial"/>
            </a:endParaRPr>
          </a:p>
        </p:txBody>
      </p:sp>
      <p:sp>
        <p:nvSpPr>
          <p:cNvPr id="181" name="Shape 20"/>
          <p:cNvSpPr/>
          <p:nvPr/>
        </p:nvSpPr>
        <p:spPr>
          <a:xfrm>
            <a:off x="6486480" y="3247920"/>
            <a:ext cx="304560" cy="304560"/>
          </a:xfrm>
          <a:custGeom>
            <a:avLst/>
            <a:gdLst/>
            <a:ahLst/>
            <a:rect l="l" t="t" r="r" b="b"/>
            <a:pathLst>
              <a:path w="304800" h="304800">
                <a:moveTo>
                  <a:pt x="0" y="0"/>
                </a:moveTo>
                <a:lnTo>
                  <a:pt x="304800" y="0"/>
                </a:lnTo>
                <a:lnTo>
                  <a:pt x="304800" y="304800"/>
                </a:lnTo>
                <a:lnTo>
                  <a:pt x="0" y="304800"/>
                </a:lnTo>
                <a:lnTo>
                  <a:pt x="0" y="0"/>
                </a:lnTo>
                <a:close/>
              </a:path>
            </a:pathLst>
          </a:custGeom>
          <a:solidFill>
            <a:srgbClr val="0984e3"/>
          </a:solidFill>
          <a:ln w="0">
            <a:noFill/>
          </a:ln>
        </p:spPr>
        <p:style>
          <a:lnRef idx="0"/>
          <a:fillRef idx="0"/>
          <a:effectRef idx="0"/>
          <a:fontRef idx="minor"/>
        </p:style>
      </p:sp>
      <p:sp>
        <p:nvSpPr>
          <p:cNvPr id="182" name="Text 21"/>
          <p:cNvSpPr/>
          <p:nvPr/>
        </p:nvSpPr>
        <p:spPr>
          <a:xfrm>
            <a:off x="6453360" y="3247920"/>
            <a:ext cx="371160" cy="3045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050" spc="-1" strike="noStrike">
                <a:solidFill>
                  <a:srgbClr val="ffffff"/>
                </a:solidFill>
                <a:latin typeface="Quattrocento Sans"/>
                <a:ea typeface="Quattrocento Sans"/>
              </a:rPr>
              <a:t>3</a:t>
            </a:r>
            <a:endParaRPr b="0" lang="en-HK" sz="1050" spc="-1" strike="noStrike">
              <a:latin typeface="Arial"/>
            </a:endParaRPr>
          </a:p>
        </p:txBody>
      </p:sp>
      <p:sp>
        <p:nvSpPr>
          <p:cNvPr id="183" name="Text 22"/>
          <p:cNvSpPr/>
          <p:nvPr/>
        </p:nvSpPr>
        <p:spPr>
          <a:xfrm>
            <a:off x="6905520" y="3247920"/>
            <a:ext cx="328572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Existence</a:t>
            </a:r>
            <a:endParaRPr b="0" lang="en-HK" sz="1200" spc="-1" strike="noStrike">
              <a:latin typeface="Arial"/>
            </a:endParaRPr>
          </a:p>
        </p:txBody>
      </p:sp>
      <p:sp>
        <p:nvSpPr>
          <p:cNvPr id="184" name="Text 23"/>
          <p:cNvSpPr/>
          <p:nvPr/>
        </p:nvSpPr>
        <p:spPr>
          <a:xfrm>
            <a:off x="6905520" y="3514680"/>
            <a:ext cx="328572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636e72"/>
                </a:solidFill>
                <a:latin typeface="Quattrocento Sans"/>
                <a:ea typeface="Quattrocento Sans"/>
              </a:rPr>
              <a:t>Nash proved equilibrium exists in all finite games</a:t>
            </a:r>
            <a:endParaRPr b="0" lang="en-HK" sz="1200" spc="-1" strike="noStrike">
              <a:latin typeface="Arial"/>
            </a:endParaRPr>
          </a:p>
        </p:txBody>
      </p:sp>
      <p:sp>
        <p:nvSpPr>
          <p:cNvPr id="185" name="Shape 24"/>
          <p:cNvSpPr/>
          <p:nvPr/>
        </p:nvSpPr>
        <p:spPr>
          <a:xfrm>
            <a:off x="6486480" y="3857760"/>
            <a:ext cx="304560" cy="304560"/>
          </a:xfrm>
          <a:custGeom>
            <a:avLst/>
            <a:gdLst/>
            <a:ahLst/>
            <a:rect l="l" t="t" r="r" b="b"/>
            <a:pathLst>
              <a:path w="304800" h="304800">
                <a:moveTo>
                  <a:pt x="0" y="0"/>
                </a:moveTo>
                <a:lnTo>
                  <a:pt x="304800" y="0"/>
                </a:lnTo>
                <a:lnTo>
                  <a:pt x="304800" y="304800"/>
                </a:lnTo>
                <a:lnTo>
                  <a:pt x="0" y="304800"/>
                </a:lnTo>
                <a:lnTo>
                  <a:pt x="0" y="0"/>
                </a:lnTo>
                <a:close/>
              </a:path>
            </a:pathLst>
          </a:custGeom>
          <a:solidFill>
            <a:srgbClr val="0984e3"/>
          </a:solidFill>
          <a:ln w="0">
            <a:noFill/>
          </a:ln>
        </p:spPr>
        <p:style>
          <a:lnRef idx="0"/>
          <a:fillRef idx="0"/>
          <a:effectRef idx="0"/>
          <a:fontRef idx="minor"/>
        </p:style>
      </p:sp>
      <p:sp>
        <p:nvSpPr>
          <p:cNvPr id="186" name="Text 25"/>
          <p:cNvSpPr/>
          <p:nvPr/>
        </p:nvSpPr>
        <p:spPr>
          <a:xfrm>
            <a:off x="6453360" y="3857760"/>
            <a:ext cx="371160" cy="3045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050" spc="-1" strike="noStrike">
                <a:solidFill>
                  <a:srgbClr val="ffffff"/>
                </a:solidFill>
                <a:latin typeface="Quattrocento Sans"/>
                <a:ea typeface="Quattrocento Sans"/>
              </a:rPr>
              <a:t>4</a:t>
            </a:r>
            <a:endParaRPr b="0" lang="en-HK" sz="1050" spc="-1" strike="noStrike">
              <a:latin typeface="Arial"/>
            </a:endParaRPr>
          </a:p>
        </p:txBody>
      </p:sp>
      <p:sp>
        <p:nvSpPr>
          <p:cNvPr id="187" name="Text 26"/>
          <p:cNvSpPr/>
          <p:nvPr/>
        </p:nvSpPr>
        <p:spPr>
          <a:xfrm>
            <a:off x="6905520" y="3857760"/>
            <a:ext cx="413352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Non-Uniqueness</a:t>
            </a:r>
            <a:endParaRPr b="0" lang="en-HK" sz="1200" spc="-1" strike="noStrike">
              <a:latin typeface="Arial"/>
            </a:endParaRPr>
          </a:p>
        </p:txBody>
      </p:sp>
      <p:sp>
        <p:nvSpPr>
          <p:cNvPr id="188" name="Text 27"/>
          <p:cNvSpPr/>
          <p:nvPr/>
        </p:nvSpPr>
        <p:spPr>
          <a:xfrm>
            <a:off x="6905520" y="4124160"/>
            <a:ext cx="413352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636e72"/>
                </a:solidFill>
                <a:latin typeface="Quattrocento Sans"/>
                <a:ea typeface="Quattrocento Sans"/>
              </a:rPr>
              <a:t>Games may have multiple equilibria or none in pure strategies</a:t>
            </a:r>
            <a:endParaRPr b="0" lang="en-HK" sz="1200" spc="-1" strike="noStrike">
              <a:latin typeface="Arial"/>
            </a:endParaRPr>
          </a:p>
        </p:txBody>
      </p:sp>
      <p:sp>
        <p:nvSpPr>
          <p:cNvPr id="189" name="Shape 28"/>
          <p:cNvSpPr/>
          <p:nvPr/>
        </p:nvSpPr>
        <p:spPr>
          <a:xfrm>
            <a:off x="6267600" y="4743360"/>
            <a:ext cx="5543280" cy="1142640"/>
          </a:xfrm>
          <a:custGeom>
            <a:avLst/>
            <a:gdLst/>
            <a:ahLst/>
            <a:rect l="l" t="t" r="r" b="b"/>
            <a:pathLst>
              <a:path w="5543550" h="1143000">
                <a:moveTo>
                  <a:pt x="0" y="0"/>
                </a:moveTo>
                <a:lnTo>
                  <a:pt x="5543550" y="0"/>
                </a:lnTo>
                <a:lnTo>
                  <a:pt x="5543550" y="1143000"/>
                </a:lnTo>
                <a:lnTo>
                  <a:pt x="0" y="1143000"/>
                </a:lnTo>
                <a:lnTo>
                  <a:pt x="0" y="0"/>
                </a:lnTo>
                <a:close/>
              </a:path>
            </a:pathLst>
          </a:custGeom>
          <a:solidFill>
            <a:srgbClr val="f8f9fa"/>
          </a:solidFill>
          <a:ln w="0">
            <a:noFill/>
          </a:ln>
        </p:spPr>
        <p:style>
          <a:lnRef idx="0"/>
          <a:fillRef idx="0"/>
          <a:effectRef idx="0"/>
          <a:fontRef idx="minor"/>
        </p:style>
      </p:sp>
      <p:sp>
        <p:nvSpPr>
          <p:cNvPr id="190" name="Shape 29"/>
          <p:cNvSpPr/>
          <p:nvPr/>
        </p:nvSpPr>
        <p:spPr>
          <a:xfrm>
            <a:off x="6267600" y="4743360"/>
            <a:ext cx="37800" cy="1142640"/>
          </a:xfrm>
          <a:custGeom>
            <a:avLst/>
            <a:gdLst/>
            <a:ahLst/>
            <a:rect l="l" t="t" r="r" b="b"/>
            <a:pathLst>
              <a:path w="38100" h="1143000">
                <a:moveTo>
                  <a:pt x="0" y="0"/>
                </a:moveTo>
                <a:lnTo>
                  <a:pt x="38100" y="0"/>
                </a:lnTo>
                <a:lnTo>
                  <a:pt x="38100" y="1143000"/>
                </a:lnTo>
                <a:lnTo>
                  <a:pt x="0" y="1143000"/>
                </a:lnTo>
                <a:lnTo>
                  <a:pt x="0" y="0"/>
                </a:lnTo>
                <a:close/>
              </a:path>
            </a:pathLst>
          </a:custGeom>
          <a:solidFill>
            <a:srgbClr val="0984e3"/>
          </a:solidFill>
          <a:ln w="0">
            <a:noFill/>
          </a:ln>
        </p:spPr>
        <p:style>
          <a:lnRef idx="0"/>
          <a:fillRef idx="0"/>
          <a:effectRef idx="0"/>
          <a:fontRef idx="minor"/>
        </p:style>
      </p:sp>
      <p:sp>
        <p:nvSpPr>
          <p:cNvPr id="191" name="Text 30"/>
          <p:cNvSpPr/>
          <p:nvPr/>
        </p:nvSpPr>
        <p:spPr>
          <a:xfrm>
            <a:off x="6477120" y="4933800"/>
            <a:ext cx="5219280" cy="495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e272e"/>
                </a:solidFill>
                <a:latin typeface="Quattrocento Sans"/>
                <a:ea typeface="Quattrocento Sans"/>
              </a:rPr>
              <a:t>"In some ways it's a very rational thing to do, and in some ways it's almost crazy."</a:t>
            </a:r>
            <a:endParaRPr b="0" lang="en-HK" sz="1200" spc="-1" strike="noStrike">
              <a:latin typeface="Arial"/>
            </a:endParaRPr>
          </a:p>
        </p:txBody>
      </p:sp>
      <p:sp>
        <p:nvSpPr>
          <p:cNvPr id="192" name="Text 31"/>
          <p:cNvSpPr/>
          <p:nvPr/>
        </p:nvSpPr>
        <p:spPr>
          <a:xfrm>
            <a:off x="6477120" y="5505480"/>
            <a:ext cx="5209920" cy="190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50" spc="-1" strike="noStrike">
                <a:solidFill>
                  <a:srgbClr val="636e72"/>
                </a:solidFill>
                <a:latin typeface="Quattrocento Sans"/>
                <a:ea typeface="Quattrocento Sans"/>
              </a:rPr>
              <a:t>— </a:t>
            </a:r>
            <a:r>
              <a:rPr b="0" lang="en-US" sz="1050" spc="-1" strike="noStrike">
                <a:solidFill>
                  <a:srgbClr val="636e72"/>
                </a:solidFill>
                <a:latin typeface="Quattrocento Sans"/>
                <a:ea typeface="Quattrocento Sans"/>
              </a:rPr>
              <a:t>John Nash, on game theory</a:t>
            </a:r>
            <a:endParaRPr b="0" lang="en-HK" sz="105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3" name="Text 0"/>
          <p:cNvSpPr/>
          <p:nvPr/>
        </p:nvSpPr>
        <p:spPr>
          <a:xfrm>
            <a:off x="379440" y="379440"/>
            <a:ext cx="1150848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58" strike="noStrike">
                <a:solidFill>
                  <a:srgbClr val="0984e3"/>
                </a:solidFill>
                <a:latin typeface="Quattrocento Sans"/>
                <a:ea typeface="Quattrocento Sans"/>
              </a:rPr>
              <a:t>STRATEGIC CONCEPTS</a:t>
            </a:r>
            <a:endParaRPr b="0" lang="en-HK" sz="1200" spc="-1" strike="noStrike">
              <a:latin typeface="Arial"/>
            </a:endParaRPr>
          </a:p>
        </p:txBody>
      </p:sp>
      <p:sp>
        <p:nvSpPr>
          <p:cNvPr id="194" name="Text 1"/>
          <p:cNvSpPr/>
          <p:nvPr/>
        </p:nvSpPr>
        <p:spPr>
          <a:xfrm>
            <a:off x="379440" y="683280"/>
            <a:ext cx="11660400" cy="4550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590" spc="-1" strike="noStrike">
                <a:solidFill>
                  <a:srgbClr val="2d3436"/>
                </a:solidFill>
                <a:latin typeface="Oranienbaum"/>
                <a:ea typeface="Oranienbaum"/>
              </a:rPr>
              <a:t>Dominant Strategies &amp; Mixed Strategies</a:t>
            </a:r>
            <a:endParaRPr b="0" lang="en-HK" sz="3590" spc="-1" strike="noStrike">
              <a:latin typeface="Arial"/>
            </a:endParaRPr>
          </a:p>
        </p:txBody>
      </p:sp>
      <p:sp>
        <p:nvSpPr>
          <p:cNvPr id="195" name="Text 2"/>
          <p:cNvSpPr/>
          <p:nvPr/>
        </p:nvSpPr>
        <p:spPr>
          <a:xfrm>
            <a:off x="379440" y="1366200"/>
            <a:ext cx="5682960" cy="3031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90" spc="-1" strike="noStrike">
                <a:solidFill>
                  <a:srgbClr val="2d3436"/>
                </a:solidFill>
                <a:latin typeface="Oranienbaum"/>
                <a:ea typeface="Oranienbaum"/>
              </a:rPr>
              <a:t>Dominant Strategies</a:t>
            </a:r>
            <a:endParaRPr b="0" lang="en-HK" sz="1790" spc="-1" strike="noStrike">
              <a:latin typeface="Arial"/>
            </a:endParaRPr>
          </a:p>
        </p:txBody>
      </p:sp>
      <p:sp>
        <p:nvSpPr>
          <p:cNvPr id="196" name="Text 3"/>
          <p:cNvSpPr/>
          <p:nvPr/>
        </p:nvSpPr>
        <p:spPr>
          <a:xfrm>
            <a:off x="379440" y="1826280"/>
            <a:ext cx="5096880" cy="466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340" spc="-1" strike="noStrike">
                <a:solidFill>
                  <a:srgbClr val="1e272e"/>
                </a:solidFill>
                <a:latin typeface="Quattrocento Sans"/>
                <a:ea typeface="Quattrocento Sans"/>
              </a:rPr>
              <a:t>A dominant strategy is one that yields a higher payoff than any other strategy, regardless of what opponents choose.</a:t>
            </a:r>
            <a:endParaRPr b="0" lang="en-HK" sz="1340" spc="-1" strike="noStrike">
              <a:latin typeface="Arial"/>
            </a:endParaRPr>
          </a:p>
        </p:txBody>
      </p:sp>
      <p:sp>
        <p:nvSpPr>
          <p:cNvPr id="197" name="Text 4"/>
          <p:cNvSpPr/>
          <p:nvPr/>
        </p:nvSpPr>
        <p:spPr>
          <a:xfrm>
            <a:off x="379440" y="2452680"/>
            <a:ext cx="5644800" cy="739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When a player has a dominant strategy, rationality dictates they should play it. If both players have dominant strategies, their combination forms a dominant strategy equilibrium—a particularly strong solution concept.</a:t>
            </a:r>
            <a:endParaRPr b="0" lang="en-HK" sz="1200" spc="-1" strike="noStrike">
              <a:latin typeface="Arial"/>
            </a:endParaRPr>
          </a:p>
        </p:txBody>
      </p:sp>
      <p:sp>
        <p:nvSpPr>
          <p:cNvPr id="198" name="Shape 5"/>
          <p:cNvSpPr/>
          <p:nvPr/>
        </p:nvSpPr>
        <p:spPr>
          <a:xfrm>
            <a:off x="398520" y="3306600"/>
            <a:ext cx="5550120" cy="758520"/>
          </a:xfrm>
          <a:custGeom>
            <a:avLst/>
            <a:gdLst/>
            <a:ahLst/>
            <a:rect l="l" t="t" r="r" b="b"/>
            <a:pathLst>
              <a:path w="5550444" h="759035">
                <a:moveTo>
                  <a:pt x="0" y="0"/>
                </a:moveTo>
                <a:lnTo>
                  <a:pt x="5550444" y="0"/>
                </a:lnTo>
                <a:lnTo>
                  <a:pt x="5550444" y="759035"/>
                </a:lnTo>
                <a:lnTo>
                  <a:pt x="0" y="759035"/>
                </a:lnTo>
                <a:lnTo>
                  <a:pt x="0" y="0"/>
                </a:lnTo>
                <a:close/>
              </a:path>
            </a:pathLst>
          </a:custGeom>
          <a:solidFill>
            <a:srgbClr val="f8f9fa"/>
          </a:solidFill>
          <a:ln w="0">
            <a:noFill/>
          </a:ln>
        </p:spPr>
        <p:style>
          <a:lnRef idx="0"/>
          <a:fillRef idx="0"/>
          <a:effectRef idx="0"/>
          <a:fontRef idx="minor"/>
        </p:style>
      </p:sp>
      <p:sp>
        <p:nvSpPr>
          <p:cNvPr id="199" name="Shape 6"/>
          <p:cNvSpPr/>
          <p:nvPr/>
        </p:nvSpPr>
        <p:spPr>
          <a:xfrm>
            <a:off x="398520" y="3306600"/>
            <a:ext cx="37440" cy="758520"/>
          </a:xfrm>
          <a:custGeom>
            <a:avLst/>
            <a:gdLst/>
            <a:ahLst/>
            <a:rect l="l" t="t" r="r" b="b"/>
            <a:pathLst>
              <a:path w="37952" h="759035">
                <a:moveTo>
                  <a:pt x="0" y="0"/>
                </a:moveTo>
                <a:lnTo>
                  <a:pt x="37952" y="0"/>
                </a:lnTo>
                <a:lnTo>
                  <a:pt x="37952" y="759035"/>
                </a:lnTo>
                <a:lnTo>
                  <a:pt x="0" y="759035"/>
                </a:lnTo>
                <a:lnTo>
                  <a:pt x="0" y="0"/>
                </a:lnTo>
                <a:close/>
              </a:path>
            </a:pathLst>
          </a:custGeom>
          <a:solidFill>
            <a:srgbClr val="0984e3"/>
          </a:solidFill>
          <a:ln w="0">
            <a:noFill/>
          </a:ln>
        </p:spPr>
        <p:style>
          <a:lnRef idx="0"/>
          <a:fillRef idx="0"/>
          <a:effectRef idx="0"/>
          <a:fontRef idx="minor"/>
        </p:style>
      </p:sp>
      <p:sp>
        <p:nvSpPr>
          <p:cNvPr id="200" name="Text 7"/>
          <p:cNvSpPr/>
          <p:nvPr/>
        </p:nvSpPr>
        <p:spPr>
          <a:xfrm>
            <a:off x="569160" y="3458520"/>
            <a:ext cx="5303520" cy="455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1e272e"/>
                </a:solidFill>
                <a:latin typeface="Quattrocento Sans"/>
                <a:ea typeface="Quattrocento Sans"/>
              </a:rPr>
              <a:t>Strictly Dominant:</a:t>
            </a:r>
            <a:r>
              <a:rPr b="0" lang="en-US" sz="1200" spc="-1" strike="noStrike">
                <a:solidFill>
                  <a:srgbClr val="1e272e"/>
                </a:solidFill>
                <a:latin typeface="Quattrocento Sans"/>
                <a:ea typeface="Quattrocento Sans"/>
              </a:rPr>
              <a:t> Always better than all other strategies</a:t>
            </a:r>
            <a:endParaRPr b="0" lang="en-HK" sz="1200" spc="-1" strike="noStrike">
              <a:latin typeface="Arial"/>
            </a:endParaRPr>
          </a:p>
          <a:p>
            <a:pPr>
              <a:lnSpc>
                <a:spcPct val="130000"/>
              </a:lnSpc>
              <a:buNone/>
            </a:pPr>
            <a:r>
              <a:rPr b="1" lang="en-US" sz="1200" spc="-1" strike="noStrike">
                <a:solidFill>
                  <a:srgbClr val="1e272e"/>
                </a:solidFill>
                <a:latin typeface="Quattrocento Sans"/>
                <a:ea typeface="Quattrocento Sans"/>
              </a:rPr>
              <a:t>Weakly Dominant:</a:t>
            </a:r>
            <a:r>
              <a:rPr b="0" lang="en-US" sz="1200" spc="-1" strike="noStrike">
                <a:solidFill>
                  <a:srgbClr val="1e272e"/>
                </a:solidFill>
                <a:latin typeface="Quattrocento Sans"/>
                <a:ea typeface="Quattrocento Sans"/>
              </a:rPr>
              <a:t> At least as good, and sometimes better</a:t>
            </a:r>
            <a:endParaRPr b="0" lang="en-HK" sz="1200" spc="-1" strike="noStrike">
              <a:latin typeface="Arial"/>
            </a:endParaRPr>
          </a:p>
        </p:txBody>
      </p:sp>
      <p:sp>
        <p:nvSpPr>
          <p:cNvPr id="201" name="Text 8"/>
          <p:cNvSpPr/>
          <p:nvPr/>
        </p:nvSpPr>
        <p:spPr>
          <a:xfrm>
            <a:off x="379440" y="4217400"/>
            <a:ext cx="5682960" cy="3031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90" spc="-1" strike="noStrike">
                <a:solidFill>
                  <a:srgbClr val="2d3436"/>
                </a:solidFill>
                <a:latin typeface="Oranienbaum"/>
                <a:ea typeface="Oranienbaum"/>
              </a:rPr>
              <a:t>Iterated Elimination</a:t>
            </a:r>
            <a:endParaRPr b="0" lang="en-HK" sz="1790" spc="-1" strike="noStrike">
              <a:latin typeface="Arial"/>
            </a:endParaRPr>
          </a:p>
        </p:txBody>
      </p:sp>
      <p:sp>
        <p:nvSpPr>
          <p:cNvPr id="202" name="Text 9"/>
          <p:cNvSpPr/>
          <p:nvPr/>
        </p:nvSpPr>
        <p:spPr>
          <a:xfrm>
            <a:off x="379440" y="4635000"/>
            <a:ext cx="5644800" cy="739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Players can eliminate dominated strategies (those always worse than alternatives), simplifying the game. This process, repeated iteratively, can sometimes lead to a unique equilibrium.</a:t>
            </a:r>
            <a:endParaRPr b="0" lang="en-HK" sz="1200" spc="-1" strike="noStrike">
              <a:latin typeface="Arial"/>
            </a:endParaRPr>
          </a:p>
        </p:txBody>
      </p:sp>
      <p:sp>
        <p:nvSpPr>
          <p:cNvPr id="203" name="Text 10"/>
          <p:cNvSpPr/>
          <p:nvPr/>
        </p:nvSpPr>
        <p:spPr>
          <a:xfrm>
            <a:off x="6249240" y="1366200"/>
            <a:ext cx="5682960" cy="3031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90" spc="-1" strike="noStrike">
                <a:solidFill>
                  <a:srgbClr val="2d3436"/>
                </a:solidFill>
                <a:latin typeface="Oranienbaum"/>
                <a:ea typeface="Oranienbaum"/>
              </a:rPr>
              <a:t>Mixed Strategies</a:t>
            </a:r>
            <a:endParaRPr b="0" lang="en-HK" sz="1790" spc="-1" strike="noStrike">
              <a:latin typeface="Arial"/>
            </a:endParaRPr>
          </a:p>
        </p:txBody>
      </p:sp>
      <p:sp>
        <p:nvSpPr>
          <p:cNvPr id="204" name="Text 11"/>
          <p:cNvSpPr/>
          <p:nvPr/>
        </p:nvSpPr>
        <p:spPr>
          <a:xfrm>
            <a:off x="6249240" y="1826280"/>
            <a:ext cx="5250240" cy="466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340" spc="-1" strike="noStrike">
                <a:solidFill>
                  <a:srgbClr val="1e272e"/>
                </a:solidFill>
                <a:latin typeface="Quattrocento Sans"/>
                <a:ea typeface="Quattrocento Sans"/>
              </a:rPr>
              <a:t>When no pure strategy equilibrium exists, players can randomize their choices according to specific probabilities.</a:t>
            </a:r>
            <a:endParaRPr b="0" lang="en-HK" sz="1340" spc="-1" strike="noStrike">
              <a:latin typeface="Arial"/>
            </a:endParaRPr>
          </a:p>
        </p:txBody>
      </p:sp>
      <p:sp>
        <p:nvSpPr>
          <p:cNvPr id="205" name="Text 12"/>
          <p:cNvSpPr/>
          <p:nvPr/>
        </p:nvSpPr>
        <p:spPr>
          <a:xfrm>
            <a:off x="6249240" y="2452680"/>
            <a:ext cx="5644800" cy="739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A mixed strategy specifies the probability distribution over pure strategies. By randomizing unpredictably, players prevent opponents from exploiting predictable behavior.</a:t>
            </a:r>
            <a:endParaRPr b="0" lang="en-HK" sz="1200" spc="-1" strike="noStrike">
              <a:latin typeface="Arial"/>
            </a:endParaRPr>
          </a:p>
        </p:txBody>
      </p:sp>
      <p:sp>
        <p:nvSpPr>
          <p:cNvPr id="206" name="Shape 13"/>
          <p:cNvSpPr/>
          <p:nvPr/>
        </p:nvSpPr>
        <p:spPr>
          <a:xfrm>
            <a:off x="6249240" y="3344400"/>
            <a:ext cx="5569200" cy="2181960"/>
          </a:xfrm>
          <a:custGeom>
            <a:avLst/>
            <a:gdLst/>
            <a:ahLst/>
            <a:rect l="l" t="t" r="r" b="b"/>
            <a:pathLst>
              <a:path w="5569419" h="2182226">
                <a:moveTo>
                  <a:pt x="0" y="0"/>
                </a:moveTo>
                <a:lnTo>
                  <a:pt x="5569419" y="0"/>
                </a:lnTo>
                <a:lnTo>
                  <a:pt x="5569419" y="2182226"/>
                </a:lnTo>
                <a:lnTo>
                  <a:pt x="0" y="2182226"/>
                </a:lnTo>
                <a:lnTo>
                  <a:pt x="0" y="0"/>
                </a:lnTo>
                <a:close/>
              </a:path>
            </a:pathLst>
          </a:custGeom>
          <a:solidFill>
            <a:srgbClr val="2d3436"/>
          </a:solidFill>
          <a:ln w="0">
            <a:noFill/>
          </a:ln>
        </p:spPr>
        <p:style>
          <a:lnRef idx="0"/>
          <a:fillRef idx="0"/>
          <a:effectRef idx="0"/>
          <a:fontRef idx="minor"/>
        </p:style>
      </p:sp>
      <p:sp>
        <p:nvSpPr>
          <p:cNvPr id="207" name="Text 14"/>
          <p:cNvSpPr/>
          <p:nvPr/>
        </p:nvSpPr>
        <p:spPr>
          <a:xfrm>
            <a:off x="6438960" y="3534120"/>
            <a:ext cx="5284440" cy="26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90" spc="-1" strike="noStrike">
                <a:solidFill>
                  <a:srgbClr val="ffffff"/>
                </a:solidFill>
                <a:latin typeface="Oranienbaum"/>
                <a:ea typeface="Oranienbaum"/>
              </a:rPr>
              <a:t>The Minimax Theorem</a:t>
            </a:r>
            <a:endParaRPr b="0" lang="en-HK" sz="1490" spc="-1" strike="noStrike">
              <a:latin typeface="Arial"/>
            </a:endParaRPr>
          </a:p>
        </p:txBody>
      </p:sp>
      <p:sp>
        <p:nvSpPr>
          <p:cNvPr id="208" name="Text 15"/>
          <p:cNvSpPr/>
          <p:nvPr/>
        </p:nvSpPr>
        <p:spPr>
          <a:xfrm>
            <a:off x="6438960" y="3913920"/>
            <a:ext cx="5265360" cy="246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e0e0e0"/>
                </a:solidFill>
                <a:latin typeface="Quattrocento Sans"/>
                <a:ea typeface="Quattrocento Sans"/>
              </a:rPr>
              <a:t>In two-person zero-sum games, von Neumann proved that:</a:t>
            </a:r>
            <a:endParaRPr b="0" lang="en-HK" sz="1200" spc="-1" strike="noStrike">
              <a:latin typeface="Arial"/>
            </a:endParaRPr>
          </a:p>
        </p:txBody>
      </p:sp>
      <p:sp>
        <p:nvSpPr>
          <p:cNvPr id="209" name="Shape 16"/>
          <p:cNvSpPr/>
          <p:nvPr/>
        </p:nvSpPr>
        <p:spPr>
          <a:xfrm>
            <a:off x="6438960" y="4274280"/>
            <a:ext cx="5189400" cy="455040"/>
          </a:xfrm>
          <a:custGeom>
            <a:avLst/>
            <a:gdLst/>
            <a:ahLst/>
            <a:rect l="l" t="t" r="r" b="b"/>
            <a:pathLst>
              <a:path w="5189902" h="455421">
                <a:moveTo>
                  <a:pt x="0" y="0"/>
                </a:moveTo>
                <a:lnTo>
                  <a:pt x="5189902" y="0"/>
                </a:lnTo>
                <a:lnTo>
                  <a:pt x="5189902" y="455421"/>
                </a:lnTo>
                <a:lnTo>
                  <a:pt x="0" y="455421"/>
                </a:lnTo>
                <a:lnTo>
                  <a:pt x="0" y="0"/>
                </a:lnTo>
                <a:close/>
              </a:path>
            </a:pathLst>
          </a:custGeom>
          <a:solidFill>
            <a:srgbClr val="1e272e"/>
          </a:solidFill>
          <a:ln w="0">
            <a:noFill/>
          </a:ln>
        </p:spPr>
        <p:style>
          <a:lnRef idx="0"/>
          <a:fillRef idx="0"/>
          <a:effectRef idx="0"/>
          <a:fontRef idx="minor"/>
        </p:style>
      </p:sp>
      <p:sp>
        <p:nvSpPr>
          <p:cNvPr id="210" name="Text 17"/>
          <p:cNvSpPr/>
          <p:nvPr/>
        </p:nvSpPr>
        <p:spPr>
          <a:xfrm>
            <a:off x="6438960" y="4274280"/>
            <a:ext cx="5265360" cy="455040"/>
          </a:xfrm>
          <a:prstGeom prst="rect">
            <a:avLst/>
          </a:prstGeom>
          <a:noFill/>
          <a:ln w="0">
            <a:noFill/>
          </a:ln>
        </p:spPr>
        <p:style>
          <a:lnRef idx="0"/>
          <a:fillRef idx="0"/>
          <a:effectRef idx="0"/>
          <a:fontRef idx="minor"/>
        </p:style>
        <p:txBody>
          <a:bodyPr lIns="113760" rIns="113760" tIns="113760" bIns="113760" anchor="ctr">
            <a:noAutofit/>
          </a:bodyPr>
          <a:p>
            <a:pPr>
              <a:lnSpc>
                <a:spcPct val="130000"/>
              </a:lnSpc>
              <a:buNone/>
            </a:pPr>
            <a:r>
              <a:rPr b="0" lang="en-US" sz="1200" spc="-1" strike="noStrike">
                <a:solidFill>
                  <a:srgbClr val="ffffff"/>
                </a:solidFill>
                <a:latin typeface="MiSans"/>
                <a:ea typeface="MiSans"/>
              </a:rPr>
              <a:t>maxₓ minᵧ xAyᵀ = minᵧ maxₓ xAyᵀ</a:t>
            </a:r>
            <a:endParaRPr b="0" lang="en-HK" sz="1200" spc="-1" strike="noStrike">
              <a:latin typeface="Arial"/>
            </a:endParaRPr>
          </a:p>
        </p:txBody>
      </p:sp>
      <p:sp>
        <p:nvSpPr>
          <p:cNvPr id="211" name="Text 18"/>
          <p:cNvSpPr/>
          <p:nvPr/>
        </p:nvSpPr>
        <p:spPr>
          <a:xfrm>
            <a:off x="6438960" y="4843440"/>
            <a:ext cx="5265360" cy="492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e0e0e0"/>
                </a:solidFill>
                <a:latin typeface="Quattrocento Sans"/>
                <a:ea typeface="Quattrocento Sans"/>
              </a:rPr>
              <a:t>Both players have optimal mixed strategies, and the game's value is uniquely determined.</a:t>
            </a:r>
            <a:endParaRPr b="0" lang="en-HK" sz="1200" spc="-1" strike="noStrike">
              <a:latin typeface="Arial"/>
            </a:endParaRPr>
          </a:p>
        </p:txBody>
      </p:sp>
      <p:sp>
        <p:nvSpPr>
          <p:cNvPr id="212" name="Shape 19"/>
          <p:cNvSpPr/>
          <p:nvPr/>
        </p:nvSpPr>
        <p:spPr>
          <a:xfrm>
            <a:off x="6268320" y="5678640"/>
            <a:ext cx="5550120" cy="796680"/>
          </a:xfrm>
          <a:custGeom>
            <a:avLst/>
            <a:gdLst/>
            <a:ahLst/>
            <a:rect l="l" t="t" r="r" b="b"/>
            <a:pathLst>
              <a:path w="5550444" h="796987">
                <a:moveTo>
                  <a:pt x="0" y="0"/>
                </a:moveTo>
                <a:lnTo>
                  <a:pt x="5550444" y="0"/>
                </a:lnTo>
                <a:lnTo>
                  <a:pt x="5550444" y="796987"/>
                </a:lnTo>
                <a:lnTo>
                  <a:pt x="0" y="796987"/>
                </a:lnTo>
                <a:lnTo>
                  <a:pt x="0" y="0"/>
                </a:lnTo>
                <a:close/>
              </a:path>
            </a:pathLst>
          </a:custGeom>
          <a:solidFill>
            <a:srgbClr val="f8f9fa"/>
          </a:solidFill>
          <a:ln w="0">
            <a:noFill/>
          </a:ln>
        </p:spPr>
        <p:style>
          <a:lnRef idx="0"/>
          <a:fillRef idx="0"/>
          <a:effectRef idx="0"/>
          <a:fontRef idx="minor"/>
        </p:style>
      </p:sp>
      <p:sp>
        <p:nvSpPr>
          <p:cNvPr id="213" name="Shape 20"/>
          <p:cNvSpPr/>
          <p:nvPr/>
        </p:nvSpPr>
        <p:spPr>
          <a:xfrm>
            <a:off x="6268320" y="5678640"/>
            <a:ext cx="37440" cy="796680"/>
          </a:xfrm>
          <a:custGeom>
            <a:avLst/>
            <a:gdLst/>
            <a:ahLst/>
            <a:rect l="l" t="t" r="r" b="b"/>
            <a:pathLst>
              <a:path w="37952" h="796987">
                <a:moveTo>
                  <a:pt x="0" y="0"/>
                </a:moveTo>
                <a:lnTo>
                  <a:pt x="37952" y="0"/>
                </a:lnTo>
                <a:lnTo>
                  <a:pt x="37952" y="796987"/>
                </a:lnTo>
                <a:lnTo>
                  <a:pt x="0" y="796987"/>
                </a:lnTo>
                <a:lnTo>
                  <a:pt x="0" y="0"/>
                </a:lnTo>
                <a:close/>
              </a:path>
            </a:pathLst>
          </a:custGeom>
          <a:solidFill>
            <a:srgbClr val="0984e3"/>
          </a:solidFill>
          <a:ln w="0">
            <a:noFill/>
          </a:ln>
        </p:spPr>
        <p:style>
          <a:lnRef idx="0"/>
          <a:fillRef idx="0"/>
          <a:effectRef idx="0"/>
          <a:fontRef idx="minor"/>
        </p:style>
      </p:sp>
      <p:sp>
        <p:nvSpPr>
          <p:cNvPr id="214" name="Text 21"/>
          <p:cNvSpPr/>
          <p:nvPr/>
        </p:nvSpPr>
        <p:spPr>
          <a:xfrm>
            <a:off x="6438960" y="5830200"/>
            <a:ext cx="5303520" cy="492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1e272e"/>
                </a:solidFill>
                <a:latin typeface="Quattrocento Sans"/>
                <a:ea typeface="Quattrocento Sans"/>
              </a:rPr>
              <a:t>Key Insight:</a:t>
            </a:r>
            <a:r>
              <a:rPr b="0" lang="en-US" sz="1200" spc="-1" strike="noStrike">
                <a:solidFill>
                  <a:srgbClr val="1e272e"/>
                </a:solidFill>
                <a:latin typeface="Quattrocento Sans"/>
                <a:ea typeface="Quattrocento Sans"/>
              </a:rPr>
              <a:t> Mixed strategies make players indifferent to opponent's choices, creating equilibrium through unpredictability.</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5" name="Text 0"/>
          <p:cNvSpPr/>
          <p:nvPr/>
        </p:nvSpPr>
        <p:spPr>
          <a:xfrm>
            <a:off x="609480" y="2066760"/>
            <a:ext cx="12191760" cy="12189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04</a:t>
            </a:r>
            <a:endParaRPr b="0" lang="en-HK" sz="9600" spc="-1" strike="noStrike">
              <a:latin typeface="Arial"/>
            </a:endParaRPr>
          </a:p>
        </p:txBody>
      </p:sp>
      <p:sp>
        <p:nvSpPr>
          <p:cNvPr id="216" name="Text 1"/>
          <p:cNvSpPr/>
          <p:nvPr/>
        </p:nvSpPr>
        <p:spPr>
          <a:xfrm>
            <a:off x="609480" y="3438360"/>
            <a:ext cx="11867760" cy="5713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Types of Games</a:t>
            </a:r>
            <a:endParaRPr b="0" lang="en-HK" sz="4500" spc="-1" strike="noStrike">
              <a:latin typeface="Arial"/>
            </a:endParaRPr>
          </a:p>
        </p:txBody>
      </p:sp>
      <p:sp>
        <p:nvSpPr>
          <p:cNvPr id="217" name="Shape 2"/>
          <p:cNvSpPr/>
          <p:nvPr/>
        </p:nvSpPr>
        <p:spPr>
          <a:xfrm>
            <a:off x="609480" y="4238640"/>
            <a:ext cx="1218960" cy="1872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218" name="Text 3"/>
          <p:cNvSpPr/>
          <p:nvPr/>
        </p:nvSpPr>
        <p:spPr>
          <a:xfrm>
            <a:off x="609480" y="4486320"/>
            <a:ext cx="1169640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Classifying strategic interactions</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9" name="Text 0"/>
          <p:cNvSpPr/>
          <p:nvPr/>
        </p:nvSpPr>
        <p:spPr>
          <a:xfrm>
            <a:off x="356400" y="356400"/>
            <a:ext cx="11550600" cy="213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20" spc="55" strike="noStrike">
                <a:solidFill>
                  <a:srgbClr val="0984e3"/>
                </a:solidFill>
                <a:latin typeface="Quattrocento Sans"/>
                <a:ea typeface="Quattrocento Sans"/>
              </a:rPr>
              <a:t>CLASSIFICATION FRAMEWORK</a:t>
            </a:r>
            <a:endParaRPr b="0" lang="en-HK" sz="1120" spc="-1" strike="noStrike">
              <a:latin typeface="Arial"/>
            </a:endParaRPr>
          </a:p>
        </p:txBody>
      </p:sp>
      <p:sp>
        <p:nvSpPr>
          <p:cNvPr id="220" name="Text 1"/>
          <p:cNvSpPr/>
          <p:nvPr/>
        </p:nvSpPr>
        <p:spPr>
          <a:xfrm>
            <a:off x="356400" y="641160"/>
            <a:ext cx="11692800" cy="4269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359" spc="-1" strike="noStrike">
                <a:solidFill>
                  <a:srgbClr val="2d3436"/>
                </a:solidFill>
                <a:latin typeface="Oranienbaum"/>
                <a:ea typeface="Oranienbaum"/>
              </a:rPr>
              <a:t>Game Classification Framework</a:t>
            </a:r>
            <a:endParaRPr b="0" lang="en-HK" sz="3359" spc="-1" strike="noStrike">
              <a:latin typeface="Arial"/>
            </a:endParaRPr>
          </a:p>
        </p:txBody>
      </p:sp>
      <p:sp>
        <p:nvSpPr>
          <p:cNvPr id="221" name="Shape 2"/>
          <p:cNvSpPr/>
          <p:nvPr/>
        </p:nvSpPr>
        <p:spPr>
          <a:xfrm>
            <a:off x="360720" y="1287000"/>
            <a:ext cx="3695400" cy="2626920"/>
          </a:xfrm>
          <a:custGeom>
            <a:avLst/>
            <a:gdLst/>
            <a:ahLst/>
            <a:rect l="l" t="t" r="r" b="b"/>
            <a:pathLst>
              <a:path w="3695895" h="2627202">
                <a:moveTo>
                  <a:pt x="0" y="0"/>
                </a:moveTo>
                <a:lnTo>
                  <a:pt x="3695895" y="0"/>
                </a:lnTo>
                <a:lnTo>
                  <a:pt x="3695895" y="2627202"/>
                </a:lnTo>
                <a:lnTo>
                  <a:pt x="0" y="2627202"/>
                </a:lnTo>
                <a:lnTo>
                  <a:pt x="0" y="0"/>
                </a:lnTo>
                <a:close/>
              </a:path>
            </a:pathLst>
          </a:custGeom>
          <a:solidFill>
            <a:srgbClr val="ffffff"/>
          </a:solidFill>
          <a:ln w="12700">
            <a:solidFill>
              <a:srgbClr val="e0e0e0"/>
            </a:solidFill>
            <a:round/>
          </a:ln>
        </p:spPr>
        <p:style>
          <a:lnRef idx="0"/>
          <a:fillRef idx="0"/>
          <a:effectRef idx="0"/>
          <a:fontRef idx="minor"/>
        </p:style>
      </p:sp>
      <p:sp>
        <p:nvSpPr>
          <p:cNvPr id="222" name="Shape 3"/>
          <p:cNvSpPr/>
          <p:nvPr/>
        </p:nvSpPr>
        <p:spPr>
          <a:xfrm>
            <a:off x="543240" y="1469520"/>
            <a:ext cx="426960" cy="426960"/>
          </a:xfrm>
          <a:custGeom>
            <a:avLst/>
            <a:gdLst/>
            <a:ahLst/>
            <a:rect l="l" t="t" r="r" b="b"/>
            <a:pathLst>
              <a:path w="427477" h="427477">
                <a:moveTo>
                  <a:pt x="0" y="0"/>
                </a:moveTo>
                <a:lnTo>
                  <a:pt x="427477" y="0"/>
                </a:lnTo>
                <a:lnTo>
                  <a:pt x="427477" y="427477"/>
                </a:lnTo>
                <a:lnTo>
                  <a:pt x="0" y="427477"/>
                </a:lnTo>
                <a:lnTo>
                  <a:pt x="0" y="0"/>
                </a:lnTo>
                <a:close/>
              </a:path>
            </a:pathLst>
          </a:custGeom>
          <a:solidFill>
            <a:srgbClr val="0984e3"/>
          </a:solidFill>
          <a:ln w="0">
            <a:noFill/>
          </a:ln>
        </p:spPr>
        <p:style>
          <a:lnRef idx="0"/>
          <a:fillRef idx="0"/>
          <a:effectRef idx="0"/>
          <a:fontRef idx="minor"/>
        </p:style>
      </p:sp>
      <p:sp>
        <p:nvSpPr>
          <p:cNvPr id="223" name="Shape 4"/>
          <p:cNvSpPr/>
          <p:nvPr/>
        </p:nvSpPr>
        <p:spPr>
          <a:xfrm>
            <a:off x="656640" y="1594080"/>
            <a:ext cx="200160" cy="177840"/>
          </a:xfrm>
          <a:custGeom>
            <a:avLst/>
            <a:gdLst/>
            <a:ahLst/>
            <a:rect l="l" t="t" r="r" b="b"/>
            <a:pathLst>
              <a:path w="200380" h="178115">
                <a:moveTo>
                  <a:pt x="93545" y="29640"/>
                </a:moveTo>
                <a:lnTo>
                  <a:pt x="52982" y="74725"/>
                </a:lnTo>
                <a:cubicBezTo>
                  <a:pt x="51382" y="76499"/>
                  <a:pt x="51452" y="79247"/>
                  <a:pt x="53156" y="80952"/>
                </a:cubicBezTo>
                <a:cubicBezTo>
                  <a:pt x="63767" y="91562"/>
                  <a:pt x="80987" y="91562"/>
                  <a:pt x="91597" y="80952"/>
                </a:cubicBezTo>
                <a:lnTo>
                  <a:pt x="102660" y="69889"/>
                </a:lnTo>
                <a:cubicBezTo>
                  <a:pt x="104121" y="68428"/>
                  <a:pt x="105965" y="67628"/>
                  <a:pt x="107843" y="67489"/>
                </a:cubicBezTo>
                <a:cubicBezTo>
                  <a:pt x="110209" y="67280"/>
                  <a:pt x="112644" y="68080"/>
                  <a:pt x="114453" y="69889"/>
                </a:cubicBezTo>
                <a:lnTo>
                  <a:pt x="175889" y="130804"/>
                </a:lnTo>
                <a:lnTo>
                  <a:pt x="200380" y="111322"/>
                </a:lnTo>
                <a:lnTo>
                  <a:pt x="200380" y="11132"/>
                </a:lnTo>
                <a:lnTo>
                  <a:pt x="161417" y="33397"/>
                </a:lnTo>
                <a:lnTo>
                  <a:pt x="153138" y="27865"/>
                </a:lnTo>
                <a:cubicBezTo>
                  <a:pt x="147641" y="24213"/>
                  <a:pt x="141205" y="22264"/>
                  <a:pt x="134595" y="22264"/>
                </a:cubicBezTo>
                <a:lnTo>
                  <a:pt x="110105" y="22264"/>
                </a:lnTo>
                <a:cubicBezTo>
                  <a:pt x="109722" y="22264"/>
                  <a:pt x="109304" y="22264"/>
                  <a:pt x="108922" y="22299"/>
                </a:cubicBezTo>
                <a:cubicBezTo>
                  <a:pt x="103043" y="22612"/>
                  <a:pt x="97511" y="25256"/>
                  <a:pt x="93545" y="29640"/>
                </a:cubicBezTo>
                <a:close/>
                <a:moveTo>
                  <a:pt x="40563" y="63558"/>
                </a:moveTo>
                <a:lnTo>
                  <a:pt x="77717" y="22264"/>
                </a:lnTo>
                <a:lnTo>
                  <a:pt x="63941" y="22264"/>
                </a:lnTo>
                <a:cubicBezTo>
                  <a:pt x="55070" y="22264"/>
                  <a:pt x="46581" y="25778"/>
                  <a:pt x="40319" y="32040"/>
                </a:cubicBezTo>
                <a:lnTo>
                  <a:pt x="38963" y="33397"/>
                </a:lnTo>
                <a:lnTo>
                  <a:pt x="0" y="11132"/>
                </a:lnTo>
                <a:lnTo>
                  <a:pt x="0" y="111322"/>
                </a:lnTo>
                <a:lnTo>
                  <a:pt x="54409" y="156651"/>
                </a:lnTo>
                <a:cubicBezTo>
                  <a:pt x="62410" y="163330"/>
                  <a:pt x="72499" y="166983"/>
                  <a:pt x="82900" y="166983"/>
                </a:cubicBezTo>
                <a:lnTo>
                  <a:pt x="88362" y="166983"/>
                </a:lnTo>
                <a:lnTo>
                  <a:pt x="85927" y="164548"/>
                </a:lnTo>
                <a:cubicBezTo>
                  <a:pt x="82657" y="161278"/>
                  <a:pt x="82657" y="155990"/>
                  <a:pt x="85927" y="152755"/>
                </a:cubicBezTo>
                <a:cubicBezTo>
                  <a:pt x="89197" y="149520"/>
                  <a:pt x="94485" y="149485"/>
                  <a:pt x="97720" y="152755"/>
                </a:cubicBezTo>
                <a:lnTo>
                  <a:pt x="111983" y="167018"/>
                </a:lnTo>
                <a:lnTo>
                  <a:pt x="115114" y="167018"/>
                </a:lnTo>
                <a:cubicBezTo>
                  <a:pt x="121759" y="167018"/>
                  <a:pt x="128264" y="165522"/>
                  <a:pt x="134178" y="162739"/>
                </a:cubicBezTo>
                <a:lnTo>
                  <a:pt x="124890" y="153416"/>
                </a:lnTo>
                <a:cubicBezTo>
                  <a:pt x="121619" y="150146"/>
                  <a:pt x="121619" y="144858"/>
                  <a:pt x="124890" y="141623"/>
                </a:cubicBezTo>
                <a:cubicBezTo>
                  <a:pt x="128160" y="138387"/>
                  <a:pt x="133447" y="138353"/>
                  <a:pt x="136683" y="141623"/>
                </a:cubicBezTo>
                <a:lnTo>
                  <a:pt x="147815" y="152755"/>
                </a:lnTo>
                <a:lnTo>
                  <a:pt x="153903" y="146667"/>
                </a:lnTo>
                <a:cubicBezTo>
                  <a:pt x="156999" y="143571"/>
                  <a:pt x="157903" y="139083"/>
                  <a:pt x="156547" y="135152"/>
                </a:cubicBezTo>
                <a:lnTo>
                  <a:pt x="108574" y="87562"/>
                </a:lnTo>
                <a:lnTo>
                  <a:pt x="103390" y="92745"/>
                </a:lnTo>
                <a:cubicBezTo>
                  <a:pt x="86240" y="109896"/>
                  <a:pt x="58479" y="109896"/>
                  <a:pt x="41328" y="92745"/>
                </a:cubicBezTo>
                <a:cubicBezTo>
                  <a:pt x="33327" y="84744"/>
                  <a:pt x="33014" y="71907"/>
                  <a:pt x="40563" y="63523"/>
                </a:cubicBezTo>
                <a:close/>
              </a:path>
            </a:pathLst>
          </a:custGeom>
          <a:solidFill>
            <a:srgbClr val="ffffff"/>
          </a:solidFill>
          <a:ln w="0">
            <a:noFill/>
          </a:ln>
        </p:spPr>
        <p:style>
          <a:lnRef idx="0"/>
          <a:fillRef idx="0"/>
          <a:effectRef idx="0"/>
          <a:fontRef idx="minor"/>
        </p:style>
      </p:sp>
      <p:sp>
        <p:nvSpPr>
          <p:cNvPr id="224" name="Text 5"/>
          <p:cNvSpPr/>
          <p:nvPr/>
        </p:nvSpPr>
        <p:spPr>
          <a:xfrm>
            <a:off x="1077480" y="1558440"/>
            <a:ext cx="2341800" cy="24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00" spc="-1" strike="noStrike">
                <a:solidFill>
                  <a:srgbClr val="2d3436"/>
                </a:solidFill>
                <a:latin typeface="Oranienbaum"/>
                <a:ea typeface="Oranienbaum"/>
              </a:rPr>
              <a:t>Cooperative vs Non-Cooperative</a:t>
            </a:r>
            <a:endParaRPr b="0" lang="en-HK" sz="1400" spc="-1" strike="noStrike">
              <a:latin typeface="Arial"/>
            </a:endParaRPr>
          </a:p>
        </p:txBody>
      </p:sp>
      <p:sp>
        <p:nvSpPr>
          <p:cNvPr id="225" name="Text 6"/>
          <p:cNvSpPr/>
          <p:nvPr/>
        </p:nvSpPr>
        <p:spPr>
          <a:xfrm>
            <a:off x="543240" y="2003760"/>
            <a:ext cx="3401640" cy="694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Cooperative games</a:t>
            </a:r>
            <a:r>
              <a:rPr b="0" lang="en-US" sz="1120" spc="-1" strike="noStrike">
                <a:solidFill>
                  <a:srgbClr val="1e272e"/>
                </a:solidFill>
                <a:latin typeface="Quattrocento Sans"/>
                <a:ea typeface="Quattrocento Sans"/>
              </a:rPr>
              <a:t> allow binding agreements and coalition formation. Players work together to maximize collective payoff, then divide the gains.</a:t>
            </a:r>
            <a:endParaRPr b="0" lang="en-HK" sz="1120" spc="-1" strike="noStrike">
              <a:latin typeface="Arial"/>
            </a:endParaRPr>
          </a:p>
        </p:txBody>
      </p:sp>
      <p:sp>
        <p:nvSpPr>
          <p:cNvPr id="226" name="Text 7"/>
          <p:cNvSpPr/>
          <p:nvPr/>
        </p:nvSpPr>
        <p:spPr>
          <a:xfrm>
            <a:off x="543240" y="2805480"/>
            <a:ext cx="3401640" cy="925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636e72"/>
                </a:solidFill>
                <a:latin typeface="Quattrocento Sans"/>
                <a:ea typeface="Quattrocento Sans"/>
              </a:rPr>
              <a:t>Non-cooperative games</a:t>
            </a:r>
            <a:r>
              <a:rPr b="0" lang="en-US" sz="1120" spc="-1" strike="noStrike">
                <a:solidFill>
                  <a:srgbClr val="636e72"/>
                </a:solidFill>
                <a:latin typeface="Quattrocento Sans"/>
                <a:ea typeface="Quattrocento Sans"/>
              </a:rPr>
              <a:t> assume independent decision-making without enforceable agreements. Each player pursues self-interest through strategic interaction.</a:t>
            </a:r>
            <a:endParaRPr b="0" lang="en-HK" sz="1120" spc="-1" strike="noStrike">
              <a:latin typeface="Arial"/>
            </a:endParaRPr>
          </a:p>
        </p:txBody>
      </p:sp>
      <p:sp>
        <p:nvSpPr>
          <p:cNvPr id="227" name="Shape 8"/>
          <p:cNvSpPr/>
          <p:nvPr/>
        </p:nvSpPr>
        <p:spPr>
          <a:xfrm>
            <a:off x="4246200" y="1287000"/>
            <a:ext cx="3695400" cy="2626920"/>
          </a:xfrm>
          <a:custGeom>
            <a:avLst/>
            <a:gdLst/>
            <a:ahLst/>
            <a:rect l="l" t="t" r="r" b="b"/>
            <a:pathLst>
              <a:path w="3695895" h="2627202">
                <a:moveTo>
                  <a:pt x="0" y="0"/>
                </a:moveTo>
                <a:lnTo>
                  <a:pt x="3695895" y="0"/>
                </a:lnTo>
                <a:lnTo>
                  <a:pt x="3695895" y="2627202"/>
                </a:lnTo>
                <a:lnTo>
                  <a:pt x="0" y="2627202"/>
                </a:lnTo>
                <a:lnTo>
                  <a:pt x="0" y="0"/>
                </a:lnTo>
                <a:close/>
              </a:path>
            </a:pathLst>
          </a:custGeom>
          <a:solidFill>
            <a:srgbClr val="ffffff"/>
          </a:solidFill>
          <a:ln w="12700">
            <a:solidFill>
              <a:srgbClr val="e0e0e0"/>
            </a:solidFill>
            <a:round/>
          </a:ln>
        </p:spPr>
        <p:style>
          <a:lnRef idx="0"/>
          <a:fillRef idx="0"/>
          <a:effectRef idx="0"/>
          <a:fontRef idx="minor"/>
        </p:style>
      </p:sp>
      <p:sp>
        <p:nvSpPr>
          <p:cNvPr id="228" name="Shape 9"/>
          <p:cNvSpPr/>
          <p:nvPr/>
        </p:nvSpPr>
        <p:spPr>
          <a:xfrm>
            <a:off x="4428720" y="1469520"/>
            <a:ext cx="426960" cy="426960"/>
          </a:xfrm>
          <a:custGeom>
            <a:avLst/>
            <a:gdLst/>
            <a:ahLst/>
            <a:rect l="l" t="t" r="r" b="b"/>
            <a:pathLst>
              <a:path w="427477" h="427477">
                <a:moveTo>
                  <a:pt x="0" y="0"/>
                </a:moveTo>
                <a:lnTo>
                  <a:pt x="427477" y="0"/>
                </a:lnTo>
                <a:lnTo>
                  <a:pt x="427477" y="427477"/>
                </a:lnTo>
                <a:lnTo>
                  <a:pt x="0" y="427477"/>
                </a:lnTo>
                <a:lnTo>
                  <a:pt x="0" y="0"/>
                </a:lnTo>
                <a:close/>
              </a:path>
            </a:pathLst>
          </a:custGeom>
          <a:solidFill>
            <a:srgbClr val="0984e3"/>
          </a:solidFill>
          <a:ln w="0">
            <a:noFill/>
          </a:ln>
        </p:spPr>
        <p:style>
          <a:lnRef idx="0"/>
          <a:fillRef idx="0"/>
          <a:effectRef idx="0"/>
          <a:fontRef idx="minor"/>
        </p:style>
      </p:sp>
      <p:sp>
        <p:nvSpPr>
          <p:cNvPr id="229" name="Shape 10"/>
          <p:cNvSpPr/>
          <p:nvPr/>
        </p:nvSpPr>
        <p:spPr>
          <a:xfrm>
            <a:off x="4542120" y="1594080"/>
            <a:ext cx="200160" cy="177840"/>
          </a:xfrm>
          <a:custGeom>
            <a:avLst/>
            <a:gdLst/>
            <a:ahLst/>
            <a:rect l="l" t="t" r="r" b="b"/>
            <a:pathLst>
              <a:path w="200380" h="178115">
                <a:moveTo>
                  <a:pt x="100190" y="11132"/>
                </a:moveTo>
                <a:cubicBezTo>
                  <a:pt x="72081" y="11132"/>
                  <a:pt x="49573" y="23934"/>
                  <a:pt x="33188" y="39171"/>
                </a:cubicBezTo>
                <a:cubicBezTo>
                  <a:pt x="16907" y="54304"/>
                  <a:pt x="6018" y="72359"/>
                  <a:pt x="835" y="84779"/>
                </a:cubicBezTo>
                <a:cubicBezTo>
                  <a:pt x="-313" y="87527"/>
                  <a:pt x="-313" y="90588"/>
                  <a:pt x="835" y="93337"/>
                </a:cubicBezTo>
                <a:cubicBezTo>
                  <a:pt x="6018" y="105756"/>
                  <a:pt x="16907" y="123846"/>
                  <a:pt x="33188" y="138944"/>
                </a:cubicBezTo>
                <a:cubicBezTo>
                  <a:pt x="49573" y="154146"/>
                  <a:pt x="72081" y="166983"/>
                  <a:pt x="100190" y="166983"/>
                </a:cubicBezTo>
                <a:cubicBezTo>
                  <a:pt x="128299" y="166983"/>
                  <a:pt x="150807" y="154181"/>
                  <a:pt x="167192" y="138944"/>
                </a:cubicBezTo>
                <a:cubicBezTo>
                  <a:pt x="183473" y="123811"/>
                  <a:pt x="194361" y="105756"/>
                  <a:pt x="199545" y="93337"/>
                </a:cubicBezTo>
                <a:cubicBezTo>
                  <a:pt x="200693" y="90588"/>
                  <a:pt x="200693" y="87527"/>
                  <a:pt x="199545" y="84779"/>
                </a:cubicBezTo>
                <a:cubicBezTo>
                  <a:pt x="194361" y="72359"/>
                  <a:pt x="183473" y="54270"/>
                  <a:pt x="167192" y="39171"/>
                </a:cubicBezTo>
                <a:cubicBezTo>
                  <a:pt x="150807" y="23969"/>
                  <a:pt x="128299" y="11132"/>
                  <a:pt x="100190" y="11132"/>
                </a:cubicBezTo>
                <a:close/>
                <a:moveTo>
                  <a:pt x="50095" y="89058"/>
                </a:moveTo>
                <a:cubicBezTo>
                  <a:pt x="50095" y="61410"/>
                  <a:pt x="72542" y="38963"/>
                  <a:pt x="100190" y="38963"/>
                </a:cubicBezTo>
                <a:cubicBezTo>
                  <a:pt x="127838" y="38963"/>
                  <a:pt x="150285" y="61410"/>
                  <a:pt x="150285" y="89058"/>
                </a:cubicBezTo>
                <a:cubicBezTo>
                  <a:pt x="150285" y="116706"/>
                  <a:pt x="127838" y="139153"/>
                  <a:pt x="100190" y="139153"/>
                </a:cubicBezTo>
                <a:cubicBezTo>
                  <a:pt x="72542" y="139153"/>
                  <a:pt x="50095" y="116706"/>
                  <a:pt x="50095" y="89058"/>
                </a:cubicBezTo>
                <a:close/>
                <a:moveTo>
                  <a:pt x="100190" y="66793"/>
                </a:moveTo>
                <a:cubicBezTo>
                  <a:pt x="100190" y="79074"/>
                  <a:pt x="90206" y="89058"/>
                  <a:pt x="77925" y="89058"/>
                </a:cubicBezTo>
                <a:cubicBezTo>
                  <a:pt x="73925" y="89058"/>
                  <a:pt x="70168" y="88014"/>
                  <a:pt x="66898" y="86136"/>
                </a:cubicBezTo>
                <a:cubicBezTo>
                  <a:pt x="66550" y="89927"/>
                  <a:pt x="66863" y="93824"/>
                  <a:pt x="67907" y="97685"/>
                </a:cubicBezTo>
                <a:cubicBezTo>
                  <a:pt x="72672" y="115497"/>
                  <a:pt x="91006" y="126072"/>
                  <a:pt x="108817" y="121306"/>
                </a:cubicBezTo>
                <a:cubicBezTo>
                  <a:pt x="126629" y="116540"/>
                  <a:pt x="137205" y="98207"/>
                  <a:pt x="132439" y="80395"/>
                </a:cubicBezTo>
                <a:cubicBezTo>
                  <a:pt x="128194" y="64497"/>
                  <a:pt x="113131" y="54374"/>
                  <a:pt x="97268" y="55765"/>
                </a:cubicBezTo>
                <a:cubicBezTo>
                  <a:pt x="99111" y="59001"/>
                  <a:pt x="100190" y="62758"/>
                  <a:pt x="100190" y="66793"/>
                </a:cubicBezTo>
                <a:close/>
              </a:path>
            </a:pathLst>
          </a:custGeom>
          <a:solidFill>
            <a:srgbClr val="ffffff"/>
          </a:solidFill>
          <a:ln w="0">
            <a:noFill/>
          </a:ln>
        </p:spPr>
        <p:style>
          <a:lnRef idx="0"/>
          <a:fillRef idx="0"/>
          <a:effectRef idx="0"/>
          <a:fontRef idx="minor"/>
        </p:style>
      </p:sp>
      <p:sp>
        <p:nvSpPr>
          <p:cNvPr id="230" name="Text 11"/>
          <p:cNvSpPr/>
          <p:nvPr/>
        </p:nvSpPr>
        <p:spPr>
          <a:xfrm>
            <a:off x="4962960" y="1558440"/>
            <a:ext cx="2431080" cy="24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00" spc="-1" strike="noStrike">
                <a:solidFill>
                  <a:srgbClr val="2d3436"/>
                </a:solidFill>
                <a:latin typeface="Oranienbaum"/>
                <a:ea typeface="Oranienbaum"/>
              </a:rPr>
              <a:t>Perfect vs Imperfect Information</a:t>
            </a:r>
            <a:endParaRPr b="0" lang="en-HK" sz="1400" spc="-1" strike="noStrike">
              <a:latin typeface="Arial"/>
            </a:endParaRPr>
          </a:p>
        </p:txBody>
      </p:sp>
      <p:sp>
        <p:nvSpPr>
          <p:cNvPr id="231" name="Text 12"/>
          <p:cNvSpPr/>
          <p:nvPr/>
        </p:nvSpPr>
        <p:spPr>
          <a:xfrm>
            <a:off x="4428720" y="2003760"/>
            <a:ext cx="3401640" cy="694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Perfect information games</a:t>
            </a:r>
            <a:r>
              <a:rPr b="0" lang="en-US" sz="1120" spc="-1" strike="noStrike">
                <a:solidFill>
                  <a:srgbClr val="1e272e"/>
                </a:solidFill>
                <a:latin typeface="Quattrocento Sans"/>
                <a:ea typeface="Quattrocento Sans"/>
              </a:rPr>
              <a:t> (e.g., chess) allow players to observe all previous moves. Each decision is made with complete knowledge of the game's history.</a:t>
            </a:r>
            <a:endParaRPr b="0" lang="en-HK" sz="1120" spc="-1" strike="noStrike">
              <a:latin typeface="Arial"/>
            </a:endParaRPr>
          </a:p>
        </p:txBody>
      </p:sp>
      <p:sp>
        <p:nvSpPr>
          <p:cNvPr id="232" name="Text 13"/>
          <p:cNvSpPr/>
          <p:nvPr/>
        </p:nvSpPr>
        <p:spPr>
          <a:xfrm>
            <a:off x="4428720" y="2805480"/>
            <a:ext cx="3401640" cy="694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636e72"/>
                </a:solidFill>
                <a:latin typeface="Quattrocento Sans"/>
                <a:ea typeface="Quattrocento Sans"/>
              </a:rPr>
              <a:t>Imperfect information games</a:t>
            </a:r>
            <a:r>
              <a:rPr b="0" lang="en-US" sz="1120" spc="-1" strike="noStrike">
                <a:solidFill>
                  <a:srgbClr val="636e72"/>
                </a:solidFill>
                <a:latin typeface="Quattrocento Sans"/>
                <a:ea typeface="Quattrocento Sans"/>
              </a:rPr>
              <a:t> (e.g., poker) involve hidden information. Players must make decisions without knowing opponents' cards or actions.</a:t>
            </a:r>
            <a:endParaRPr b="0" lang="en-HK" sz="1120" spc="-1" strike="noStrike">
              <a:latin typeface="Arial"/>
            </a:endParaRPr>
          </a:p>
        </p:txBody>
      </p:sp>
      <p:sp>
        <p:nvSpPr>
          <p:cNvPr id="233" name="Shape 14"/>
          <p:cNvSpPr/>
          <p:nvPr/>
        </p:nvSpPr>
        <p:spPr>
          <a:xfrm>
            <a:off x="8131680" y="1287000"/>
            <a:ext cx="3695400" cy="2626920"/>
          </a:xfrm>
          <a:custGeom>
            <a:avLst/>
            <a:gdLst/>
            <a:ahLst/>
            <a:rect l="l" t="t" r="r" b="b"/>
            <a:pathLst>
              <a:path w="3695895" h="2627202">
                <a:moveTo>
                  <a:pt x="0" y="0"/>
                </a:moveTo>
                <a:lnTo>
                  <a:pt x="3695895" y="0"/>
                </a:lnTo>
                <a:lnTo>
                  <a:pt x="3695895" y="2627202"/>
                </a:lnTo>
                <a:lnTo>
                  <a:pt x="0" y="2627202"/>
                </a:lnTo>
                <a:lnTo>
                  <a:pt x="0" y="0"/>
                </a:lnTo>
                <a:close/>
              </a:path>
            </a:pathLst>
          </a:custGeom>
          <a:solidFill>
            <a:srgbClr val="ffffff"/>
          </a:solidFill>
          <a:ln w="12700">
            <a:solidFill>
              <a:srgbClr val="e0e0e0"/>
            </a:solidFill>
            <a:round/>
          </a:ln>
        </p:spPr>
        <p:style>
          <a:lnRef idx="0"/>
          <a:fillRef idx="0"/>
          <a:effectRef idx="0"/>
          <a:fontRef idx="minor"/>
        </p:style>
      </p:sp>
      <p:sp>
        <p:nvSpPr>
          <p:cNvPr id="234" name="Shape 15"/>
          <p:cNvSpPr/>
          <p:nvPr/>
        </p:nvSpPr>
        <p:spPr>
          <a:xfrm>
            <a:off x="8314200" y="1469520"/>
            <a:ext cx="426960" cy="426960"/>
          </a:xfrm>
          <a:custGeom>
            <a:avLst/>
            <a:gdLst/>
            <a:ahLst/>
            <a:rect l="l" t="t" r="r" b="b"/>
            <a:pathLst>
              <a:path w="427477" h="427477">
                <a:moveTo>
                  <a:pt x="0" y="0"/>
                </a:moveTo>
                <a:lnTo>
                  <a:pt x="427477" y="0"/>
                </a:lnTo>
                <a:lnTo>
                  <a:pt x="427477" y="427477"/>
                </a:lnTo>
                <a:lnTo>
                  <a:pt x="0" y="427477"/>
                </a:lnTo>
                <a:lnTo>
                  <a:pt x="0" y="0"/>
                </a:lnTo>
                <a:close/>
              </a:path>
            </a:pathLst>
          </a:custGeom>
          <a:solidFill>
            <a:srgbClr val="0984e3"/>
          </a:solidFill>
          <a:ln w="0">
            <a:noFill/>
          </a:ln>
        </p:spPr>
        <p:style>
          <a:lnRef idx="0"/>
          <a:fillRef idx="0"/>
          <a:effectRef idx="0"/>
          <a:fontRef idx="minor"/>
        </p:style>
      </p:sp>
      <p:sp>
        <p:nvSpPr>
          <p:cNvPr id="235" name="Shape 16"/>
          <p:cNvSpPr/>
          <p:nvPr/>
        </p:nvSpPr>
        <p:spPr>
          <a:xfrm>
            <a:off x="8439120" y="1594080"/>
            <a:ext cx="177840" cy="177840"/>
          </a:xfrm>
          <a:custGeom>
            <a:avLst/>
            <a:gdLst/>
            <a:ahLst/>
            <a:rect l="l" t="t" r="r" b="b"/>
            <a:pathLst>
              <a:path w="178115" h="178115">
                <a:moveTo>
                  <a:pt x="89058" y="0"/>
                </a:moveTo>
                <a:cubicBezTo>
                  <a:pt x="138210" y="0"/>
                  <a:pt x="178115" y="39905"/>
                  <a:pt x="178115" y="89058"/>
                </a:cubicBezTo>
                <a:cubicBezTo>
                  <a:pt x="178115" y="138210"/>
                  <a:pt x="138210" y="178115"/>
                  <a:pt x="89058" y="178115"/>
                </a:cubicBezTo>
                <a:cubicBezTo>
                  <a:pt x="39905" y="178115"/>
                  <a:pt x="0" y="138210"/>
                  <a:pt x="0" y="89058"/>
                </a:cubicBezTo>
                <a:cubicBezTo>
                  <a:pt x="0" y="39905"/>
                  <a:pt x="39905" y="0"/>
                  <a:pt x="89058" y="0"/>
                </a:cubicBezTo>
                <a:close/>
                <a:moveTo>
                  <a:pt x="80709" y="41746"/>
                </a:moveTo>
                <a:lnTo>
                  <a:pt x="80709" y="89058"/>
                </a:lnTo>
                <a:cubicBezTo>
                  <a:pt x="80709" y="91841"/>
                  <a:pt x="82100" y="94450"/>
                  <a:pt x="84431" y="96015"/>
                </a:cubicBezTo>
                <a:lnTo>
                  <a:pt x="117828" y="118280"/>
                </a:lnTo>
                <a:cubicBezTo>
                  <a:pt x="121654" y="120854"/>
                  <a:pt x="126838" y="119810"/>
                  <a:pt x="129412" y="115949"/>
                </a:cubicBezTo>
                <a:cubicBezTo>
                  <a:pt x="131986" y="112087"/>
                  <a:pt x="130943" y="106939"/>
                  <a:pt x="127081" y="104364"/>
                </a:cubicBezTo>
                <a:lnTo>
                  <a:pt x="97407" y="84605"/>
                </a:lnTo>
                <a:lnTo>
                  <a:pt x="97407" y="41746"/>
                </a:lnTo>
                <a:cubicBezTo>
                  <a:pt x="97407" y="37119"/>
                  <a:pt x="93685" y="33397"/>
                  <a:pt x="89058" y="33397"/>
                </a:cubicBezTo>
                <a:cubicBezTo>
                  <a:pt x="84431" y="33397"/>
                  <a:pt x="80709" y="37119"/>
                  <a:pt x="80709" y="41746"/>
                </a:cubicBezTo>
                <a:close/>
              </a:path>
            </a:pathLst>
          </a:custGeom>
          <a:solidFill>
            <a:srgbClr val="ffffff"/>
          </a:solidFill>
          <a:ln w="0">
            <a:noFill/>
          </a:ln>
        </p:spPr>
        <p:style>
          <a:lnRef idx="0"/>
          <a:fillRef idx="0"/>
          <a:effectRef idx="0"/>
          <a:fontRef idx="minor"/>
        </p:style>
      </p:sp>
      <p:sp>
        <p:nvSpPr>
          <p:cNvPr id="236" name="Text 17"/>
          <p:cNvSpPr/>
          <p:nvPr/>
        </p:nvSpPr>
        <p:spPr>
          <a:xfrm>
            <a:off x="8848800" y="1558440"/>
            <a:ext cx="2039040" cy="24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00" spc="-1" strike="noStrike">
                <a:solidFill>
                  <a:srgbClr val="2d3436"/>
                </a:solidFill>
                <a:latin typeface="Oranienbaum"/>
                <a:ea typeface="Oranienbaum"/>
              </a:rPr>
              <a:t>Simultaneous vs Sequential</a:t>
            </a:r>
            <a:endParaRPr b="0" lang="en-HK" sz="1400" spc="-1" strike="noStrike">
              <a:latin typeface="Arial"/>
            </a:endParaRPr>
          </a:p>
        </p:txBody>
      </p:sp>
      <p:sp>
        <p:nvSpPr>
          <p:cNvPr id="237" name="Text 18"/>
          <p:cNvSpPr/>
          <p:nvPr/>
        </p:nvSpPr>
        <p:spPr>
          <a:xfrm>
            <a:off x="8314200" y="2003760"/>
            <a:ext cx="3401640" cy="694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Simultaneous games</a:t>
            </a:r>
            <a:r>
              <a:rPr b="0" lang="en-US" sz="1120" spc="-1" strike="noStrike">
                <a:solidFill>
                  <a:srgbClr val="1e272e"/>
                </a:solidFill>
                <a:latin typeface="Quattrocento Sans"/>
                <a:ea typeface="Quattrocento Sans"/>
              </a:rPr>
              <a:t> require players to choose strategies without knowing others' choices. Represented by payoff matrices.</a:t>
            </a:r>
            <a:endParaRPr b="0" lang="en-HK" sz="1120" spc="-1" strike="noStrike">
              <a:latin typeface="Arial"/>
            </a:endParaRPr>
          </a:p>
        </p:txBody>
      </p:sp>
      <p:sp>
        <p:nvSpPr>
          <p:cNvPr id="238" name="Text 19"/>
          <p:cNvSpPr/>
          <p:nvPr/>
        </p:nvSpPr>
        <p:spPr>
          <a:xfrm>
            <a:off x="8314200" y="2805480"/>
            <a:ext cx="3401640" cy="694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636e72"/>
                </a:solidFill>
                <a:latin typeface="Quattrocento Sans"/>
                <a:ea typeface="Quattrocento Sans"/>
              </a:rPr>
              <a:t>Sequential games</a:t>
            </a:r>
            <a:r>
              <a:rPr b="0" lang="en-US" sz="1120" spc="-1" strike="noStrike">
                <a:solidFill>
                  <a:srgbClr val="636e72"/>
                </a:solidFill>
                <a:latin typeface="Quattrocento Sans"/>
                <a:ea typeface="Quattrocento Sans"/>
              </a:rPr>
              <a:t> involve turn-taking, with later players observing earlier moves. Analyzed using game trees and backward induction.</a:t>
            </a:r>
            <a:endParaRPr b="0" lang="en-HK" sz="1120" spc="-1" strike="noStrike">
              <a:latin typeface="Arial"/>
            </a:endParaRPr>
          </a:p>
        </p:txBody>
      </p:sp>
      <p:sp>
        <p:nvSpPr>
          <p:cNvPr id="239" name="Shape 20"/>
          <p:cNvSpPr/>
          <p:nvPr/>
        </p:nvSpPr>
        <p:spPr>
          <a:xfrm>
            <a:off x="360720" y="4101120"/>
            <a:ext cx="3695400" cy="2395440"/>
          </a:xfrm>
          <a:custGeom>
            <a:avLst/>
            <a:gdLst/>
            <a:ahLst/>
            <a:rect l="l" t="t" r="r" b="b"/>
            <a:pathLst>
              <a:path w="3695895" h="2395652">
                <a:moveTo>
                  <a:pt x="0" y="0"/>
                </a:moveTo>
                <a:lnTo>
                  <a:pt x="3695895" y="0"/>
                </a:lnTo>
                <a:lnTo>
                  <a:pt x="3695895" y="2395652"/>
                </a:lnTo>
                <a:lnTo>
                  <a:pt x="0" y="2395652"/>
                </a:lnTo>
                <a:lnTo>
                  <a:pt x="0" y="0"/>
                </a:lnTo>
                <a:close/>
              </a:path>
            </a:pathLst>
          </a:custGeom>
          <a:solidFill>
            <a:srgbClr val="ffffff"/>
          </a:solidFill>
          <a:ln w="12700">
            <a:solidFill>
              <a:srgbClr val="e0e0e0"/>
            </a:solidFill>
            <a:round/>
          </a:ln>
        </p:spPr>
        <p:style>
          <a:lnRef idx="0"/>
          <a:fillRef idx="0"/>
          <a:effectRef idx="0"/>
          <a:fontRef idx="minor"/>
        </p:style>
      </p:sp>
      <p:sp>
        <p:nvSpPr>
          <p:cNvPr id="240" name="Shape 21"/>
          <p:cNvSpPr/>
          <p:nvPr/>
        </p:nvSpPr>
        <p:spPr>
          <a:xfrm>
            <a:off x="543240" y="4283640"/>
            <a:ext cx="426960" cy="426960"/>
          </a:xfrm>
          <a:custGeom>
            <a:avLst/>
            <a:gdLst/>
            <a:ahLst/>
            <a:rect l="l" t="t" r="r" b="b"/>
            <a:pathLst>
              <a:path w="427477" h="427477">
                <a:moveTo>
                  <a:pt x="0" y="0"/>
                </a:moveTo>
                <a:lnTo>
                  <a:pt x="427477" y="0"/>
                </a:lnTo>
                <a:lnTo>
                  <a:pt x="427477" y="427477"/>
                </a:lnTo>
                <a:lnTo>
                  <a:pt x="0" y="427477"/>
                </a:lnTo>
                <a:lnTo>
                  <a:pt x="0" y="0"/>
                </a:lnTo>
                <a:close/>
              </a:path>
            </a:pathLst>
          </a:custGeom>
          <a:solidFill>
            <a:srgbClr val="0984e3"/>
          </a:solidFill>
          <a:ln w="0">
            <a:noFill/>
          </a:ln>
        </p:spPr>
        <p:style>
          <a:lnRef idx="0"/>
          <a:fillRef idx="0"/>
          <a:effectRef idx="0"/>
          <a:fontRef idx="minor"/>
        </p:style>
      </p:sp>
      <p:sp>
        <p:nvSpPr>
          <p:cNvPr id="241" name="Shape 22"/>
          <p:cNvSpPr/>
          <p:nvPr/>
        </p:nvSpPr>
        <p:spPr>
          <a:xfrm>
            <a:off x="645840" y="4408200"/>
            <a:ext cx="222120" cy="177840"/>
          </a:xfrm>
          <a:custGeom>
            <a:avLst/>
            <a:gdLst/>
            <a:ahLst/>
            <a:rect l="l" t="t" r="r" b="b"/>
            <a:pathLst>
              <a:path w="222644" h="178115">
                <a:moveTo>
                  <a:pt x="133587" y="11132"/>
                </a:moveTo>
                <a:lnTo>
                  <a:pt x="178115" y="11132"/>
                </a:lnTo>
                <a:cubicBezTo>
                  <a:pt x="184273" y="11132"/>
                  <a:pt x="189248" y="16107"/>
                  <a:pt x="189248" y="22264"/>
                </a:cubicBezTo>
                <a:cubicBezTo>
                  <a:pt x="189248" y="28422"/>
                  <a:pt x="184273" y="33397"/>
                  <a:pt x="178115" y="33397"/>
                </a:cubicBezTo>
                <a:lnTo>
                  <a:pt x="138596" y="33397"/>
                </a:lnTo>
                <a:cubicBezTo>
                  <a:pt x="136787" y="42372"/>
                  <a:pt x="130630" y="49782"/>
                  <a:pt x="122454" y="53330"/>
                </a:cubicBezTo>
                <a:lnTo>
                  <a:pt x="122454" y="155851"/>
                </a:lnTo>
                <a:lnTo>
                  <a:pt x="178115" y="155851"/>
                </a:lnTo>
                <a:cubicBezTo>
                  <a:pt x="184273" y="155851"/>
                  <a:pt x="189248" y="160826"/>
                  <a:pt x="189248" y="166983"/>
                </a:cubicBezTo>
                <a:cubicBezTo>
                  <a:pt x="189248" y="173141"/>
                  <a:pt x="184273" y="178115"/>
                  <a:pt x="178115" y="178115"/>
                </a:cubicBezTo>
                <a:lnTo>
                  <a:pt x="44529" y="178115"/>
                </a:lnTo>
                <a:cubicBezTo>
                  <a:pt x="38371" y="178115"/>
                  <a:pt x="33397" y="173141"/>
                  <a:pt x="33397" y="166983"/>
                </a:cubicBezTo>
                <a:cubicBezTo>
                  <a:pt x="33397" y="160826"/>
                  <a:pt x="38371" y="155851"/>
                  <a:pt x="44529" y="155851"/>
                </a:cubicBezTo>
                <a:lnTo>
                  <a:pt x="100190" y="155851"/>
                </a:lnTo>
                <a:lnTo>
                  <a:pt x="100190" y="53330"/>
                </a:lnTo>
                <a:cubicBezTo>
                  <a:pt x="92015" y="49747"/>
                  <a:pt x="85857" y="42337"/>
                  <a:pt x="84048" y="33397"/>
                </a:cubicBezTo>
                <a:lnTo>
                  <a:pt x="44529" y="33397"/>
                </a:lnTo>
                <a:cubicBezTo>
                  <a:pt x="38371" y="33397"/>
                  <a:pt x="33397" y="28422"/>
                  <a:pt x="33397" y="22264"/>
                </a:cubicBezTo>
                <a:cubicBezTo>
                  <a:pt x="33397" y="16107"/>
                  <a:pt x="38371" y="11132"/>
                  <a:pt x="44529" y="11132"/>
                </a:cubicBezTo>
                <a:lnTo>
                  <a:pt x="89058" y="11132"/>
                </a:lnTo>
                <a:cubicBezTo>
                  <a:pt x="94137" y="4383"/>
                  <a:pt x="102208" y="0"/>
                  <a:pt x="111322" y="0"/>
                </a:cubicBezTo>
                <a:cubicBezTo>
                  <a:pt x="120437" y="0"/>
                  <a:pt x="128507" y="4383"/>
                  <a:pt x="133587" y="11132"/>
                </a:cubicBezTo>
                <a:close/>
                <a:moveTo>
                  <a:pt x="152929" y="111322"/>
                </a:moveTo>
                <a:lnTo>
                  <a:pt x="203302" y="111322"/>
                </a:lnTo>
                <a:lnTo>
                  <a:pt x="178115" y="68115"/>
                </a:lnTo>
                <a:lnTo>
                  <a:pt x="152929" y="111322"/>
                </a:lnTo>
                <a:close/>
                <a:moveTo>
                  <a:pt x="178115" y="144719"/>
                </a:moveTo>
                <a:cubicBezTo>
                  <a:pt x="156234" y="144719"/>
                  <a:pt x="138039" y="132891"/>
                  <a:pt x="134282" y="117271"/>
                </a:cubicBezTo>
                <a:cubicBezTo>
                  <a:pt x="133378" y="113444"/>
                  <a:pt x="134630" y="109513"/>
                  <a:pt x="136613" y="106104"/>
                </a:cubicBezTo>
                <a:lnTo>
                  <a:pt x="169731" y="49330"/>
                </a:lnTo>
                <a:cubicBezTo>
                  <a:pt x="171471" y="46338"/>
                  <a:pt x="174671" y="44529"/>
                  <a:pt x="178115" y="44529"/>
                </a:cubicBezTo>
                <a:cubicBezTo>
                  <a:pt x="181559" y="44529"/>
                  <a:pt x="184760" y="46373"/>
                  <a:pt x="186499" y="49330"/>
                </a:cubicBezTo>
                <a:lnTo>
                  <a:pt x="219618" y="106104"/>
                </a:lnTo>
                <a:cubicBezTo>
                  <a:pt x="221601" y="109513"/>
                  <a:pt x="222853" y="113444"/>
                  <a:pt x="221949" y="117271"/>
                </a:cubicBezTo>
                <a:cubicBezTo>
                  <a:pt x="218191" y="132856"/>
                  <a:pt x="199997" y="144719"/>
                  <a:pt x="178115" y="144719"/>
                </a:cubicBezTo>
                <a:close/>
                <a:moveTo>
                  <a:pt x="44111" y="68115"/>
                </a:moveTo>
                <a:lnTo>
                  <a:pt x="18925" y="111322"/>
                </a:lnTo>
                <a:lnTo>
                  <a:pt x="69333" y="111322"/>
                </a:lnTo>
                <a:lnTo>
                  <a:pt x="44111" y="68115"/>
                </a:lnTo>
                <a:close/>
                <a:moveTo>
                  <a:pt x="313" y="117271"/>
                </a:moveTo>
                <a:cubicBezTo>
                  <a:pt x="-591" y="113444"/>
                  <a:pt x="661" y="109513"/>
                  <a:pt x="2644" y="106104"/>
                </a:cubicBezTo>
                <a:lnTo>
                  <a:pt x="35762" y="49330"/>
                </a:lnTo>
                <a:cubicBezTo>
                  <a:pt x="37502" y="46338"/>
                  <a:pt x="40702" y="44529"/>
                  <a:pt x="44146" y="44529"/>
                </a:cubicBezTo>
                <a:cubicBezTo>
                  <a:pt x="47590" y="44529"/>
                  <a:pt x="50791" y="46373"/>
                  <a:pt x="52530" y="49330"/>
                </a:cubicBezTo>
                <a:lnTo>
                  <a:pt x="85648" y="106104"/>
                </a:lnTo>
                <a:cubicBezTo>
                  <a:pt x="87631" y="109513"/>
                  <a:pt x="88884" y="113444"/>
                  <a:pt x="87979" y="117271"/>
                </a:cubicBezTo>
                <a:cubicBezTo>
                  <a:pt x="84222" y="132856"/>
                  <a:pt x="66028" y="144719"/>
                  <a:pt x="44146" y="144719"/>
                </a:cubicBezTo>
                <a:cubicBezTo>
                  <a:pt x="22264" y="144719"/>
                  <a:pt x="4070" y="132891"/>
                  <a:pt x="313" y="117271"/>
                </a:cubicBezTo>
                <a:close/>
              </a:path>
            </a:pathLst>
          </a:custGeom>
          <a:solidFill>
            <a:srgbClr val="ffffff"/>
          </a:solidFill>
          <a:ln w="0">
            <a:noFill/>
          </a:ln>
        </p:spPr>
        <p:style>
          <a:lnRef idx="0"/>
          <a:fillRef idx="0"/>
          <a:effectRef idx="0"/>
          <a:fontRef idx="minor"/>
        </p:style>
      </p:sp>
      <p:sp>
        <p:nvSpPr>
          <p:cNvPr id="242" name="Text 23"/>
          <p:cNvSpPr/>
          <p:nvPr/>
        </p:nvSpPr>
        <p:spPr>
          <a:xfrm>
            <a:off x="1077480" y="4372560"/>
            <a:ext cx="1932120" cy="24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00" spc="-1" strike="noStrike">
                <a:solidFill>
                  <a:srgbClr val="2d3436"/>
                </a:solidFill>
                <a:latin typeface="Oranienbaum"/>
                <a:ea typeface="Oranienbaum"/>
              </a:rPr>
              <a:t>Symmetric vs Asymmetric</a:t>
            </a:r>
            <a:endParaRPr b="0" lang="en-HK" sz="1400" spc="-1" strike="noStrike">
              <a:latin typeface="Arial"/>
            </a:endParaRPr>
          </a:p>
        </p:txBody>
      </p:sp>
      <p:sp>
        <p:nvSpPr>
          <p:cNvPr id="243" name="Text 24"/>
          <p:cNvSpPr/>
          <p:nvPr/>
        </p:nvSpPr>
        <p:spPr>
          <a:xfrm>
            <a:off x="543240" y="4817880"/>
            <a:ext cx="3401640" cy="694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Symmetric games</a:t>
            </a:r>
            <a:r>
              <a:rPr b="0" lang="en-US" sz="1120" spc="-1" strike="noStrike">
                <a:solidFill>
                  <a:srgbClr val="1e272e"/>
                </a:solidFill>
                <a:latin typeface="Quattrocento Sans"/>
                <a:ea typeface="Quattrocento Sans"/>
              </a:rPr>
              <a:t> have identical strategy sets and payoff structures for all players. Players are interchangeable.</a:t>
            </a:r>
            <a:endParaRPr b="0" lang="en-HK" sz="1120" spc="-1" strike="noStrike">
              <a:latin typeface="Arial"/>
            </a:endParaRPr>
          </a:p>
        </p:txBody>
      </p:sp>
      <p:sp>
        <p:nvSpPr>
          <p:cNvPr id="244" name="Text 25"/>
          <p:cNvSpPr/>
          <p:nvPr/>
        </p:nvSpPr>
        <p:spPr>
          <a:xfrm>
            <a:off x="543240" y="5619600"/>
            <a:ext cx="3401640" cy="694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636e72"/>
                </a:solidFill>
                <a:latin typeface="Quattrocento Sans"/>
                <a:ea typeface="Quattrocento Sans"/>
              </a:rPr>
              <a:t>Asymmetric games</a:t>
            </a:r>
            <a:r>
              <a:rPr b="0" lang="en-US" sz="1120" spc="-1" strike="noStrike">
                <a:solidFill>
                  <a:srgbClr val="636e72"/>
                </a:solidFill>
                <a:latin typeface="Quattrocento Sans"/>
                <a:ea typeface="Quattrocento Sans"/>
              </a:rPr>
              <a:t> feature different roles, strategies, or payoff functions. Players have distinct positions and objectives.</a:t>
            </a:r>
            <a:endParaRPr b="0" lang="en-HK" sz="1120" spc="-1" strike="noStrike">
              <a:latin typeface="Arial"/>
            </a:endParaRPr>
          </a:p>
        </p:txBody>
      </p:sp>
      <p:sp>
        <p:nvSpPr>
          <p:cNvPr id="245" name="Shape 26"/>
          <p:cNvSpPr/>
          <p:nvPr/>
        </p:nvSpPr>
        <p:spPr>
          <a:xfrm>
            <a:off x="4246200" y="4101120"/>
            <a:ext cx="7587360" cy="2395440"/>
          </a:xfrm>
          <a:custGeom>
            <a:avLst/>
            <a:gdLst/>
            <a:ahLst/>
            <a:rect l="l" t="t" r="r" b="b"/>
            <a:pathLst>
              <a:path w="7587717" h="2395652">
                <a:moveTo>
                  <a:pt x="0" y="0"/>
                </a:moveTo>
                <a:lnTo>
                  <a:pt x="7587717" y="0"/>
                </a:lnTo>
                <a:lnTo>
                  <a:pt x="7587717" y="2395652"/>
                </a:lnTo>
                <a:lnTo>
                  <a:pt x="0" y="2395652"/>
                </a:lnTo>
                <a:lnTo>
                  <a:pt x="0" y="0"/>
                </a:lnTo>
                <a:close/>
              </a:path>
            </a:pathLst>
          </a:custGeom>
          <a:solidFill>
            <a:srgbClr val="ffffff"/>
          </a:solidFill>
          <a:ln w="12700">
            <a:solidFill>
              <a:srgbClr val="e0e0e0"/>
            </a:solidFill>
            <a:round/>
          </a:ln>
        </p:spPr>
        <p:style>
          <a:lnRef idx="0"/>
          <a:fillRef idx="0"/>
          <a:effectRef idx="0"/>
          <a:fontRef idx="minor"/>
        </p:style>
      </p:sp>
      <p:sp>
        <p:nvSpPr>
          <p:cNvPr id="246" name="Shape 27"/>
          <p:cNvSpPr/>
          <p:nvPr/>
        </p:nvSpPr>
        <p:spPr>
          <a:xfrm>
            <a:off x="4428720" y="4283640"/>
            <a:ext cx="426960" cy="426960"/>
          </a:xfrm>
          <a:custGeom>
            <a:avLst/>
            <a:gdLst/>
            <a:ahLst/>
            <a:rect l="l" t="t" r="r" b="b"/>
            <a:pathLst>
              <a:path w="427477" h="427477">
                <a:moveTo>
                  <a:pt x="0" y="0"/>
                </a:moveTo>
                <a:lnTo>
                  <a:pt x="427477" y="0"/>
                </a:lnTo>
                <a:lnTo>
                  <a:pt x="427477" y="427477"/>
                </a:lnTo>
                <a:lnTo>
                  <a:pt x="0" y="427477"/>
                </a:lnTo>
                <a:lnTo>
                  <a:pt x="0" y="0"/>
                </a:lnTo>
                <a:close/>
              </a:path>
            </a:pathLst>
          </a:custGeom>
          <a:solidFill>
            <a:srgbClr val="2d3436"/>
          </a:solidFill>
          <a:ln w="0">
            <a:noFill/>
          </a:ln>
        </p:spPr>
        <p:style>
          <a:lnRef idx="0"/>
          <a:fillRef idx="0"/>
          <a:effectRef idx="0"/>
          <a:fontRef idx="minor"/>
        </p:style>
      </p:sp>
      <p:sp>
        <p:nvSpPr>
          <p:cNvPr id="247" name="Shape 28"/>
          <p:cNvSpPr/>
          <p:nvPr/>
        </p:nvSpPr>
        <p:spPr>
          <a:xfrm>
            <a:off x="4553280" y="4408200"/>
            <a:ext cx="177840" cy="177840"/>
          </a:xfrm>
          <a:custGeom>
            <a:avLst/>
            <a:gdLst/>
            <a:ahLst/>
            <a:rect l="l" t="t" r="r" b="b"/>
            <a:pathLst>
              <a:path w="178115" h="178115">
                <a:moveTo>
                  <a:pt x="22264" y="22264"/>
                </a:moveTo>
                <a:cubicBezTo>
                  <a:pt x="22264" y="16107"/>
                  <a:pt x="17290" y="11132"/>
                  <a:pt x="11132" y="11132"/>
                </a:cubicBezTo>
                <a:cubicBezTo>
                  <a:pt x="4975" y="11132"/>
                  <a:pt x="0" y="16107"/>
                  <a:pt x="0" y="22264"/>
                </a:cubicBezTo>
                <a:lnTo>
                  <a:pt x="0" y="139153"/>
                </a:lnTo>
                <a:cubicBezTo>
                  <a:pt x="0" y="154529"/>
                  <a:pt x="12454" y="166983"/>
                  <a:pt x="27831" y="166983"/>
                </a:cubicBezTo>
                <a:lnTo>
                  <a:pt x="166983" y="166983"/>
                </a:lnTo>
                <a:cubicBezTo>
                  <a:pt x="173141" y="166983"/>
                  <a:pt x="178115" y="162008"/>
                  <a:pt x="178115" y="155851"/>
                </a:cubicBezTo>
                <a:cubicBezTo>
                  <a:pt x="178115" y="149693"/>
                  <a:pt x="173141" y="144719"/>
                  <a:pt x="166983" y="144719"/>
                </a:cubicBezTo>
                <a:lnTo>
                  <a:pt x="27831" y="144719"/>
                </a:lnTo>
                <a:cubicBezTo>
                  <a:pt x="24769" y="144719"/>
                  <a:pt x="22264" y="142214"/>
                  <a:pt x="22264" y="139153"/>
                </a:cubicBezTo>
                <a:lnTo>
                  <a:pt x="22264" y="22264"/>
                </a:lnTo>
                <a:close/>
                <a:moveTo>
                  <a:pt x="163713" y="52391"/>
                </a:moveTo>
                <a:cubicBezTo>
                  <a:pt x="168062" y="48042"/>
                  <a:pt x="168062" y="40980"/>
                  <a:pt x="163713" y="36632"/>
                </a:cubicBezTo>
                <a:cubicBezTo>
                  <a:pt x="159365" y="32283"/>
                  <a:pt x="152303" y="32283"/>
                  <a:pt x="147954" y="36632"/>
                </a:cubicBezTo>
                <a:lnTo>
                  <a:pt x="111322" y="73299"/>
                </a:lnTo>
                <a:lnTo>
                  <a:pt x="91354" y="53365"/>
                </a:lnTo>
                <a:cubicBezTo>
                  <a:pt x="87005" y="49017"/>
                  <a:pt x="79943" y="49017"/>
                  <a:pt x="75595" y="53365"/>
                </a:cubicBezTo>
                <a:lnTo>
                  <a:pt x="42198" y="86762"/>
                </a:lnTo>
                <a:cubicBezTo>
                  <a:pt x="37850" y="91110"/>
                  <a:pt x="37850" y="98172"/>
                  <a:pt x="42198" y="102521"/>
                </a:cubicBezTo>
                <a:cubicBezTo>
                  <a:pt x="46547" y="106869"/>
                  <a:pt x="53609" y="106869"/>
                  <a:pt x="57957" y="102521"/>
                </a:cubicBezTo>
                <a:lnTo>
                  <a:pt x="83492" y="76986"/>
                </a:lnTo>
                <a:lnTo>
                  <a:pt x="103460" y="96955"/>
                </a:lnTo>
                <a:cubicBezTo>
                  <a:pt x="107809" y="101303"/>
                  <a:pt x="114871" y="101303"/>
                  <a:pt x="119219" y="96955"/>
                </a:cubicBezTo>
                <a:lnTo>
                  <a:pt x="163748" y="52426"/>
                </a:lnTo>
                <a:close/>
              </a:path>
            </a:pathLst>
          </a:custGeom>
          <a:solidFill>
            <a:srgbClr val="ffffff"/>
          </a:solidFill>
          <a:ln w="0">
            <a:noFill/>
          </a:ln>
        </p:spPr>
        <p:style>
          <a:lnRef idx="0"/>
          <a:fillRef idx="0"/>
          <a:effectRef idx="0"/>
          <a:fontRef idx="minor"/>
        </p:style>
      </p:sp>
      <p:sp>
        <p:nvSpPr>
          <p:cNvPr id="248" name="Text 29"/>
          <p:cNvSpPr/>
          <p:nvPr/>
        </p:nvSpPr>
        <p:spPr>
          <a:xfrm>
            <a:off x="4962960" y="4372560"/>
            <a:ext cx="2048040" cy="24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00" spc="-1" strike="noStrike">
                <a:solidFill>
                  <a:srgbClr val="2d3436"/>
                </a:solidFill>
                <a:latin typeface="Oranienbaum"/>
                <a:ea typeface="Oranienbaum"/>
              </a:rPr>
              <a:t>Zero-Sum vs Non-Zero-Sum</a:t>
            </a:r>
            <a:endParaRPr b="0" lang="en-HK" sz="1400" spc="-1" strike="noStrike">
              <a:latin typeface="Arial"/>
            </a:endParaRPr>
          </a:p>
        </p:txBody>
      </p:sp>
      <p:sp>
        <p:nvSpPr>
          <p:cNvPr id="249" name="Text 30"/>
          <p:cNvSpPr/>
          <p:nvPr/>
        </p:nvSpPr>
        <p:spPr>
          <a:xfrm>
            <a:off x="4428720" y="4817880"/>
            <a:ext cx="3606480" cy="694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Zero-sum games</a:t>
            </a:r>
            <a:r>
              <a:rPr b="0" lang="en-US" sz="1120" spc="-1" strike="noStrike">
                <a:solidFill>
                  <a:srgbClr val="1e272e"/>
                </a:solidFill>
                <a:latin typeface="Quattrocento Sans"/>
                <a:ea typeface="Quattrocento Sans"/>
              </a:rPr>
              <a:t> represent pure competition: one player's gain equals another's loss. Total payoff is constant.</a:t>
            </a:r>
            <a:endParaRPr b="0" lang="en-HK" sz="1120" spc="-1" strike="noStrike">
              <a:latin typeface="Arial"/>
            </a:endParaRPr>
          </a:p>
        </p:txBody>
      </p:sp>
      <p:sp>
        <p:nvSpPr>
          <p:cNvPr id="250" name="Text 31"/>
          <p:cNvSpPr/>
          <p:nvPr/>
        </p:nvSpPr>
        <p:spPr>
          <a:xfrm>
            <a:off x="4428720" y="5583960"/>
            <a:ext cx="3606480" cy="462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20" spc="-1" strike="noStrike">
                <a:solidFill>
                  <a:srgbClr val="636e72"/>
                </a:solidFill>
                <a:latin typeface="Quattrocento Sans"/>
                <a:ea typeface="Quattrocento Sans"/>
              </a:rPr>
              <a:t>Examples: Poker, chess, competitive sports. Mathematically: Σpayoffs = constant</a:t>
            </a:r>
            <a:endParaRPr b="0" lang="en-HK" sz="1120" spc="-1" strike="noStrike">
              <a:latin typeface="Arial"/>
            </a:endParaRPr>
          </a:p>
        </p:txBody>
      </p:sp>
      <p:sp>
        <p:nvSpPr>
          <p:cNvPr id="251" name="Text 32"/>
          <p:cNvSpPr/>
          <p:nvPr/>
        </p:nvSpPr>
        <p:spPr>
          <a:xfrm>
            <a:off x="8109360" y="4817880"/>
            <a:ext cx="3606480" cy="694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Non-zero-sum games</a:t>
            </a:r>
            <a:r>
              <a:rPr b="0" lang="en-US" sz="1120" spc="-1" strike="noStrike">
                <a:solidFill>
                  <a:srgbClr val="1e272e"/>
                </a:solidFill>
                <a:latin typeface="Quattrocento Sans"/>
                <a:ea typeface="Quattrocento Sans"/>
              </a:rPr>
              <a:t> allow mutual gain or loss. Cooperation can benefit all players; conflict can harm everyone.</a:t>
            </a:r>
            <a:endParaRPr b="0" lang="en-HK" sz="1120" spc="-1" strike="noStrike">
              <a:latin typeface="Arial"/>
            </a:endParaRPr>
          </a:p>
        </p:txBody>
      </p:sp>
      <p:sp>
        <p:nvSpPr>
          <p:cNvPr id="252" name="Text 33"/>
          <p:cNvSpPr/>
          <p:nvPr/>
        </p:nvSpPr>
        <p:spPr>
          <a:xfrm>
            <a:off x="8109360" y="5583960"/>
            <a:ext cx="3606480" cy="462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20" spc="-1" strike="noStrike">
                <a:solidFill>
                  <a:srgbClr val="636e72"/>
                </a:solidFill>
                <a:latin typeface="Quattrocento Sans"/>
                <a:ea typeface="Quattrocento Sans"/>
              </a:rPr>
              <a:t>Examples: Prisoner's Dilemma, trade negotiations, environmental agreements.</a:t>
            </a:r>
            <a:endParaRPr b="0" lang="en-HK" sz="112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3" name="Text 0"/>
          <p:cNvSpPr/>
          <p:nvPr/>
        </p:nvSpPr>
        <p:spPr>
          <a:xfrm>
            <a:off x="609480" y="2066760"/>
            <a:ext cx="12191760" cy="12189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05</a:t>
            </a:r>
            <a:endParaRPr b="0" lang="en-HK" sz="9600" spc="-1" strike="noStrike">
              <a:latin typeface="Arial"/>
            </a:endParaRPr>
          </a:p>
        </p:txBody>
      </p:sp>
      <p:sp>
        <p:nvSpPr>
          <p:cNvPr id="254" name="Text 1"/>
          <p:cNvSpPr/>
          <p:nvPr/>
        </p:nvSpPr>
        <p:spPr>
          <a:xfrm>
            <a:off x="609480" y="3438360"/>
            <a:ext cx="11867760" cy="5713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Classic Game Models</a:t>
            </a:r>
            <a:endParaRPr b="0" lang="en-HK" sz="4500" spc="-1" strike="noStrike">
              <a:latin typeface="Arial"/>
            </a:endParaRPr>
          </a:p>
        </p:txBody>
      </p:sp>
      <p:sp>
        <p:nvSpPr>
          <p:cNvPr id="255" name="Shape 2"/>
          <p:cNvSpPr/>
          <p:nvPr/>
        </p:nvSpPr>
        <p:spPr>
          <a:xfrm>
            <a:off x="609480" y="4238640"/>
            <a:ext cx="1218960" cy="1872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256" name="Text 3"/>
          <p:cNvSpPr/>
          <p:nvPr/>
        </p:nvSpPr>
        <p:spPr>
          <a:xfrm>
            <a:off x="609480" y="4486320"/>
            <a:ext cx="1169640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Iconic examples that shaped the field</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7" name="Text 0"/>
          <p:cNvSpPr/>
          <p:nvPr/>
        </p:nvSpPr>
        <p:spPr>
          <a:xfrm>
            <a:off x="380880" y="380880"/>
            <a:ext cx="1150596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58" strike="noStrike">
                <a:solidFill>
                  <a:srgbClr val="0984e3"/>
                </a:solidFill>
                <a:latin typeface="Quattrocento Sans"/>
                <a:ea typeface="Quattrocento Sans"/>
              </a:rPr>
              <a:t>CLASSIC EXAMPLE</a:t>
            </a:r>
            <a:endParaRPr b="0" lang="en-HK" sz="1200" spc="-1" strike="noStrike">
              <a:latin typeface="Arial"/>
            </a:endParaRPr>
          </a:p>
        </p:txBody>
      </p:sp>
      <p:sp>
        <p:nvSpPr>
          <p:cNvPr id="258" name="Text 1"/>
          <p:cNvSpPr/>
          <p:nvPr/>
        </p:nvSpPr>
        <p:spPr>
          <a:xfrm>
            <a:off x="380880" y="685800"/>
            <a:ext cx="11658240" cy="456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The Prisoner's Dilemma</a:t>
            </a:r>
            <a:endParaRPr b="0" lang="en-HK" sz="3600" spc="-1" strike="noStrike">
              <a:latin typeface="Arial"/>
            </a:endParaRPr>
          </a:p>
        </p:txBody>
      </p:sp>
      <p:sp>
        <p:nvSpPr>
          <p:cNvPr id="259" name="Text 2"/>
          <p:cNvSpPr/>
          <p:nvPr/>
        </p:nvSpPr>
        <p:spPr>
          <a:xfrm>
            <a:off x="380880" y="1295280"/>
            <a:ext cx="5657400" cy="12380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500" spc="-1" strike="noStrike">
                <a:solidFill>
                  <a:srgbClr val="1e272e"/>
                </a:solidFill>
                <a:latin typeface="Quattrocento Sans"/>
                <a:ea typeface="Quattrocento Sans"/>
              </a:rPr>
              <a:t>Two suspects are arrested and interrogated separately.</a:t>
            </a:r>
            <a:r>
              <a:rPr b="0" lang="en-US" sz="1500" spc="-1" strike="noStrike">
                <a:solidFill>
                  <a:srgbClr val="1e272e"/>
                </a:solidFill>
                <a:latin typeface="Quattrocento Sans"/>
                <a:ea typeface="Quattrocento Sans"/>
              </a:rPr>
              <a:t> Each must choose: confess (defect) or remain silent (cooperate). The dilemma reveals the tension between individual rationality and collective optimality.</a:t>
            </a:r>
            <a:endParaRPr b="0" lang="en-HK" sz="1500" spc="-1" strike="noStrike">
              <a:latin typeface="Arial"/>
            </a:endParaRPr>
          </a:p>
        </p:txBody>
      </p:sp>
      <p:sp>
        <p:nvSpPr>
          <p:cNvPr id="260" name="Text 3"/>
          <p:cNvSpPr/>
          <p:nvPr/>
        </p:nvSpPr>
        <p:spPr>
          <a:xfrm>
            <a:off x="380880" y="2647800"/>
            <a:ext cx="5638320" cy="742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The paradox: rational self-interest leads both to confess, resulting in worse outcomes for both than if they had cooperated. This illustrates how individual incentives can undermine collective welfare.</a:t>
            </a:r>
            <a:endParaRPr b="0" lang="en-HK" sz="1200" spc="-1" strike="noStrike">
              <a:latin typeface="Arial"/>
            </a:endParaRPr>
          </a:p>
        </p:txBody>
      </p:sp>
      <p:sp>
        <p:nvSpPr>
          <p:cNvPr id="261" name="Shape 4"/>
          <p:cNvSpPr/>
          <p:nvPr/>
        </p:nvSpPr>
        <p:spPr>
          <a:xfrm>
            <a:off x="385920" y="3548160"/>
            <a:ext cx="5552640" cy="2028600"/>
          </a:xfrm>
          <a:custGeom>
            <a:avLst/>
            <a:gdLst/>
            <a:ahLst/>
            <a:rect l="l" t="t" r="r" b="b"/>
            <a:pathLst>
              <a:path w="5553075" h="2028825">
                <a:moveTo>
                  <a:pt x="0" y="0"/>
                </a:moveTo>
                <a:lnTo>
                  <a:pt x="5553075" y="0"/>
                </a:lnTo>
                <a:lnTo>
                  <a:pt x="5553075" y="2028825"/>
                </a:lnTo>
                <a:lnTo>
                  <a:pt x="0" y="2028825"/>
                </a:lnTo>
                <a:lnTo>
                  <a:pt x="0" y="0"/>
                </a:lnTo>
                <a:close/>
              </a:path>
            </a:pathLst>
          </a:custGeom>
          <a:solidFill>
            <a:srgbClr val="ffffff"/>
          </a:solidFill>
          <a:ln w="12700">
            <a:solidFill>
              <a:srgbClr val="e0e0e0"/>
            </a:solidFill>
            <a:round/>
          </a:ln>
        </p:spPr>
        <p:style>
          <a:lnRef idx="0"/>
          <a:fillRef idx="0"/>
          <a:effectRef idx="0"/>
          <a:fontRef idx="minor"/>
        </p:style>
      </p:sp>
      <p:sp>
        <p:nvSpPr>
          <p:cNvPr id="262" name="Text 5"/>
          <p:cNvSpPr/>
          <p:nvPr/>
        </p:nvSpPr>
        <p:spPr>
          <a:xfrm>
            <a:off x="495360" y="3705120"/>
            <a:ext cx="5333760" cy="2664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2d3436"/>
                </a:solidFill>
                <a:latin typeface="Oranienbaum"/>
                <a:ea typeface="Oranienbaum"/>
              </a:rPr>
              <a:t>Payoff Matrix (Years in Prison)</a:t>
            </a:r>
            <a:endParaRPr b="0" lang="en-HK" sz="1500" spc="-1" strike="noStrike">
              <a:latin typeface="Arial"/>
            </a:endParaRPr>
          </a:p>
        </p:txBody>
      </p:sp>
      <p:graphicFrame>
        <p:nvGraphicFramePr>
          <p:cNvPr id="263" name="Table 0"/>
          <p:cNvGraphicFramePr/>
          <p:nvPr/>
        </p:nvGraphicFramePr>
        <p:xfrm>
          <a:off x="542880" y="4086360"/>
          <a:ext cx="5238360" cy="1066320"/>
        </p:xfrm>
        <a:graphic>
          <a:graphicData uri="http://schemas.openxmlformats.org/drawingml/2006/table">
            <a:tbl>
              <a:tblPr/>
              <a:tblGrid>
                <a:gridCol w="1879560"/>
                <a:gridCol w="1507680"/>
                <a:gridCol w="1851120"/>
              </a:tblGrid>
              <a:tr h="355320">
                <a:tc>
                  <a:tcPr anchor="ctr" marL="75960" marR="7596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5960" rIns="75960" tIns="75960" bIns="75960" anchor="ctr">
                      <a:noAutofit/>
                    </a:bodyPr>
                    <a:p>
                      <a:pPr algn="ctr">
                        <a:lnSpc>
                          <a:spcPct val="100000"/>
                        </a:lnSpc>
                        <a:buNone/>
                      </a:pPr>
                      <a:r>
                        <a:rPr b="1" lang="en-US" sz="1000" spc="-1" strike="noStrike">
                          <a:solidFill>
                            <a:srgbClr val="2d3436"/>
                          </a:solidFill>
                          <a:latin typeface="微软雅黑"/>
                          <a:ea typeface="微软雅黑"/>
                        </a:rPr>
                        <a:t>B: Silent</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5960" rIns="75960" tIns="75960" bIns="75960" anchor="ctr">
                      <a:noAutofit/>
                    </a:bodyPr>
                    <a:p>
                      <a:pPr algn="ctr">
                        <a:lnSpc>
                          <a:spcPct val="100000"/>
                        </a:lnSpc>
                        <a:buNone/>
                      </a:pPr>
                      <a:r>
                        <a:rPr b="1" lang="en-US" sz="1000" spc="-1" strike="noStrike">
                          <a:solidFill>
                            <a:srgbClr val="2d3436"/>
                          </a:solidFill>
                          <a:latin typeface="微软雅黑"/>
                          <a:ea typeface="微软雅黑"/>
                        </a:rPr>
                        <a:t>B: Confess</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r>
              <a:tr h="355320">
                <a:tc>
                  <a:txBody>
                    <a:bodyPr lIns="75960" rIns="75960" tIns="75960" bIns="75960" anchor="ctr">
                      <a:noAutofit/>
                    </a:bodyPr>
                    <a:p>
                      <a:pPr>
                        <a:lnSpc>
                          <a:spcPct val="100000"/>
                        </a:lnSpc>
                        <a:buNone/>
                      </a:pPr>
                      <a:r>
                        <a:rPr b="1" lang="en-US" sz="1000" spc="-1" strike="noStrike">
                          <a:solidFill>
                            <a:srgbClr val="2d3436"/>
                          </a:solidFill>
                          <a:latin typeface="微软雅黑"/>
                          <a:ea typeface="微软雅黑"/>
                        </a:rPr>
                        <a:t>A: Silent</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5960" rIns="75960" tIns="75960" bIns="75960" anchor="ctr">
                      <a:noAutofit/>
                    </a:bodyPr>
                    <a:p>
                      <a:pPr algn="ctr">
                        <a:lnSpc>
                          <a:spcPct val="100000"/>
                        </a:lnSpc>
                        <a:buNone/>
                      </a:pPr>
                      <a:r>
                        <a:rPr b="0" lang="en-US" sz="1000" spc="-1" strike="noStrike">
                          <a:solidFill>
                            <a:srgbClr val="1e272e"/>
                          </a:solidFill>
                          <a:latin typeface="微软雅黑"/>
                          <a:ea typeface="微软雅黑"/>
                        </a:rPr>
                        <a:t>(-1, -1)</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noFill/>
                  </a:tcPr>
                </a:tc>
                <a:tc>
                  <a:txBody>
                    <a:bodyPr lIns="75960" rIns="75960" tIns="75960" bIns="75960" anchor="ctr">
                      <a:noAutofit/>
                    </a:bodyPr>
                    <a:p>
                      <a:pPr algn="ctr">
                        <a:lnSpc>
                          <a:spcPct val="100000"/>
                        </a:lnSpc>
                        <a:buNone/>
                      </a:pPr>
                      <a:r>
                        <a:rPr b="0" lang="en-US" sz="1000" spc="-1" strike="noStrike">
                          <a:solidFill>
                            <a:srgbClr val="1e272e"/>
                          </a:solidFill>
                          <a:latin typeface="微软雅黑"/>
                          <a:ea typeface="微软雅黑"/>
                        </a:rPr>
                        <a:t>(-10, 0)</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noFill/>
                  </a:tcPr>
                </a:tc>
              </a:tr>
              <a:tr h="355680">
                <a:tc>
                  <a:txBody>
                    <a:bodyPr lIns="75960" rIns="75960" tIns="75960" bIns="75960" anchor="ctr">
                      <a:noAutofit/>
                    </a:bodyPr>
                    <a:p>
                      <a:pPr>
                        <a:lnSpc>
                          <a:spcPct val="100000"/>
                        </a:lnSpc>
                        <a:buNone/>
                      </a:pPr>
                      <a:r>
                        <a:rPr b="1" lang="en-US" sz="1000" spc="-1" strike="noStrike">
                          <a:solidFill>
                            <a:srgbClr val="2d3436"/>
                          </a:solidFill>
                          <a:latin typeface="微软雅黑"/>
                          <a:ea typeface="微软雅黑"/>
                        </a:rPr>
                        <a:t>A: Confess</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5960" rIns="75960" tIns="75960" bIns="75960" anchor="ctr">
                      <a:noAutofit/>
                    </a:bodyPr>
                    <a:p>
                      <a:pPr algn="ctr">
                        <a:lnSpc>
                          <a:spcPct val="100000"/>
                        </a:lnSpc>
                        <a:buNone/>
                      </a:pPr>
                      <a:r>
                        <a:rPr b="0" lang="en-US" sz="1000" spc="-1" strike="noStrike">
                          <a:solidFill>
                            <a:srgbClr val="1e272e"/>
                          </a:solidFill>
                          <a:latin typeface="微软雅黑"/>
                          <a:ea typeface="微软雅黑"/>
                        </a:rPr>
                        <a:t>(0, -10)</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noFill/>
                  </a:tcPr>
                </a:tc>
                <a:tc>
                  <a:txBody>
                    <a:bodyPr lIns="75960" rIns="75960" tIns="75960" bIns="75960" anchor="ctr">
                      <a:noAutofit/>
                    </a:bodyPr>
                    <a:p>
                      <a:pPr algn="ctr">
                        <a:lnSpc>
                          <a:spcPct val="100000"/>
                        </a:lnSpc>
                        <a:buNone/>
                      </a:pPr>
                      <a:r>
                        <a:rPr b="0" lang="en-US" sz="1000" spc="-1" strike="noStrike">
                          <a:solidFill>
                            <a:srgbClr val="1e272e"/>
                          </a:solidFill>
                          <a:latin typeface="微软雅黑"/>
                          <a:ea typeface="微软雅黑"/>
                        </a:rPr>
                        <a:t>(-5, -5)</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solidFill>
                      <a:srgbClr val="0984e3"/>
                    </a:solidFill>
                  </a:tcPr>
                </a:tc>
              </a:tr>
            </a:tbl>
          </a:graphicData>
        </a:graphic>
      </p:graphicFrame>
      <p:sp>
        <p:nvSpPr>
          <p:cNvPr id="264" name="Text 6"/>
          <p:cNvSpPr/>
          <p:nvPr/>
        </p:nvSpPr>
        <p:spPr>
          <a:xfrm>
            <a:off x="509760" y="5229360"/>
            <a:ext cx="5304960" cy="1900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1050" spc="-1" strike="noStrike">
                <a:solidFill>
                  <a:srgbClr val="636e72"/>
                </a:solidFill>
                <a:latin typeface="Quattrocento Sans"/>
                <a:ea typeface="Quattrocento Sans"/>
              </a:rPr>
              <a:t>Nash Equilibrium highlighted in blue</a:t>
            </a:r>
            <a:endParaRPr b="0" lang="en-HK" sz="1050" spc="-1" strike="noStrike">
              <a:latin typeface="Arial"/>
            </a:endParaRPr>
          </a:p>
        </p:txBody>
      </p:sp>
      <p:sp>
        <p:nvSpPr>
          <p:cNvPr id="265" name="Shape 7"/>
          <p:cNvSpPr/>
          <p:nvPr/>
        </p:nvSpPr>
        <p:spPr>
          <a:xfrm>
            <a:off x="6253200" y="1300320"/>
            <a:ext cx="5552640" cy="1609200"/>
          </a:xfrm>
          <a:custGeom>
            <a:avLst/>
            <a:gdLst/>
            <a:ahLst/>
            <a:rect l="l" t="t" r="r" b="b"/>
            <a:pathLst>
              <a:path w="5553075" h="1609725">
                <a:moveTo>
                  <a:pt x="0" y="0"/>
                </a:moveTo>
                <a:lnTo>
                  <a:pt x="5553075" y="0"/>
                </a:lnTo>
                <a:lnTo>
                  <a:pt x="5553075" y="1609725"/>
                </a:lnTo>
                <a:lnTo>
                  <a:pt x="0" y="1609725"/>
                </a:lnTo>
                <a:lnTo>
                  <a:pt x="0" y="0"/>
                </a:lnTo>
                <a:close/>
              </a:path>
            </a:pathLst>
          </a:custGeom>
          <a:solidFill>
            <a:srgbClr val="ffffff"/>
          </a:solidFill>
          <a:ln w="12700">
            <a:solidFill>
              <a:srgbClr val="e0e0e0"/>
            </a:solidFill>
            <a:round/>
          </a:ln>
        </p:spPr>
        <p:style>
          <a:lnRef idx="0"/>
          <a:fillRef idx="0"/>
          <a:effectRef idx="0"/>
          <a:fontRef idx="minor"/>
        </p:style>
      </p:sp>
      <p:sp>
        <p:nvSpPr>
          <p:cNvPr id="266" name="Text 8"/>
          <p:cNvSpPr/>
          <p:nvPr/>
        </p:nvSpPr>
        <p:spPr>
          <a:xfrm>
            <a:off x="6448320" y="1495440"/>
            <a:ext cx="525744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Why Confession is Dominant</a:t>
            </a:r>
            <a:endParaRPr b="0" lang="en-HK" sz="1500" spc="-1" strike="noStrike">
              <a:latin typeface="Arial"/>
            </a:endParaRPr>
          </a:p>
        </p:txBody>
      </p:sp>
      <p:sp>
        <p:nvSpPr>
          <p:cNvPr id="267" name="Text 9"/>
          <p:cNvSpPr/>
          <p:nvPr/>
        </p:nvSpPr>
        <p:spPr>
          <a:xfrm>
            <a:off x="6448320" y="1876320"/>
            <a:ext cx="523836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If B is silent:</a:t>
            </a:r>
            <a:r>
              <a:rPr b="0" lang="en-US" sz="1200" spc="-1" strike="noStrike">
                <a:solidFill>
                  <a:srgbClr val="636e72"/>
                </a:solidFill>
                <a:latin typeface="Quattrocento Sans"/>
                <a:ea typeface="Quattrocento Sans"/>
              </a:rPr>
              <a:t> A gets 0 years (confess) vs. -1 year (silent) → Confess better</a:t>
            </a:r>
            <a:endParaRPr b="0" lang="en-HK" sz="1200" spc="-1" strike="noStrike">
              <a:latin typeface="Arial"/>
            </a:endParaRPr>
          </a:p>
        </p:txBody>
      </p:sp>
      <p:sp>
        <p:nvSpPr>
          <p:cNvPr id="268" name="Text 10"/>
          <p:cNvSpPr/>
          <p:nvPr/>
        </p:nvSpPr>
        <p:spPr>
          <a:xfrm>
            <a:off x="6448320" y="2181240"/>
            <a:ext cx="523836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If B confesses:</a:t>
            </a:r>
            <a:r>
              <a:rPr b="0" lang="en-US" sz="1200" spc="-1" strike="noStrike">
                <a:solidFill>
                  <a:srgbClr val="636e72"/>
                </a:solidFill>
                <a:latin typeface="Quattrocento Sans"/>
                <a:ea typeface="Quattrocento Sans"/>
              </a:rPr>
              <a:t> A gets -5 years (confess) vs. -10 years (silent) → Confess better</a:t>
            </a:r>
            <a:endParaRPr b="0" lang="en-HK" sz="1200" spc="-1" strike="noStrike">
              <a:latin typeface="Arial"/>
            </a:endParaRPr>
          </a:p>
        </p:txBody>
      </p:sp>
      <p:sp>
        <p:nvSpPr>
          <p:cNvPr id="269" name="Text 11"/>
          <p:cNvSpPr/>
          <p:nvPr/>
        </p:nvSpPr>
        <p:spPr>
          <a:xfrm>
            <a:off x="6448320" y="2486160"/>
            <a:ext cx="523836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0984e3"/>
                </a:solidFill>
                <a:latin typeface="Quattrocento Sans"/>
                <a:ea typeface="Quattrocento Sans"/>
              </a:rPr>
              <a:t>Confessing is always better, regardless of B's choice</a:t>
            </a:r>
            <a:endParaRPr b="0" lang="en-HK" sz="1200" spc="-1" strike="noStrike">
              <a:latin typeface="Arial"/>
            </a:endParaRPr>
          </a:p>
        </p:txBody>
      </p:sp>
      <p:sp>
        <p:nvSpPr>
          <p:cNvPr id="270" name="Shape 12"/>
          <p:cNvSpPr/>
          <p:nvPr/>
        </p:nvSpPr>
        <p:spPr>
          <a:xfrm>
            <a:off x="6267600" y="3067200"/>
            <a:ext cx="5543280" cy="2133360"/>
          </a:xfrm>
          <a:custGeom>
            <a:avLst/>
            <a:gdLst/>
            <a:ahLst/>
            <a:rect l="l" t="t" r="r" b="b"/>
            <a:pathLst>
              <a:path w="5543550" h="2133600">
                <a:moveTo>
                  <a:pt x="0" y="0"/>
                </a:moveTo>
                <a:lnTo>
                  <a:pt x="5543550" y="0"/>
                </a:lnTo>
                <a:lnTo>
                  <a:pt x="5543550" y="2133600"/>
                </a:lnTo>
                <a:lnTo>
                  <a:pt x="0" y="2133600"/>
                </a:lnTo>
                <a:lnTo>
                  <a:pt x="0" y="0"/>
                </a:lnTo>
                <a:close/>
              </a:path>
            </a:pathLst>
          </a:custGeom>
          <a:solidFill>
            <a:srgbClr val="f8f9fa"/>
          </a:solidFill>
          <a:ln w="0">
            <a:noFill/>
          </a:ln>
        </p:spPr>
        <p:style>
          <a:lnRef idx="0"/>
          <a:fillRef idx="0"/>
          <a:effectRef idx="0"/>
          <a:fontRef idx="minor"/>
        </p:style>
      </p:sp>
      <p:sp>
        <p:nvSpPr>
          <p:cNvPr id="271" name="Shape 13"/>
          <p:cNvSpPr/>
          <p:nvPr/>
        </p:nvSpPr>
        <p:spPr>
          <a:xfrm>
            <a:off x="6267600" y="3067200"/>
            <a:ext cx="37800" cy="2133360"/>
          </a:xfrm>
          <a:custGeom>
            <a:avLst/>
            <a:gdLst/>
            <a:ahLst/>
            <a:rect l="l" t="t" r="r" b="b"/>
            <a:pathLst>
              <a:path w="38100" h="2133600">
                <a:moveTo>
                  <a:pt x="0" y="0"/>
                </a:moveTo>
                <a:lnTo>
                  <a:pt x="38100" y="0"/>
                </a:lnTo>
                <a:lnTo>
                  <a:pt x="38100" y="2133600"/>
                </a:lnTo>
                <a:lnTo>
                  <a:pt x="0" y="2133600"/>
                </a:lnTo>
                <a:lnTo>
                  <a:pt x="0" y="0"/>
                </a:lnTo>
                <a:close/>
              </a:path>
            </a:pathLst>
          </a:custGeom>
          <a:solidFill>
            <a:srgbClr val="0984e3"/>
          </a:solidFill>
          <a:ln w="0">
            <a:noFill/>
          </a:ln>
        </p:spPr>
        <p:style>
          <a:lnRef idx="0"/>
          <a:fillRef idx="0"/>
          <a:effectRef idx="0"/>
          <a:fontRef idx="minor"/>
        </p:style>
      </p:sp>
      <p:sp>
        <p:nvSpPr>
          <p:cNvPr id="272" name="Text 14"/>
          <p:cNvSpPr/>
          <p:nvPr/>
        </p:nvSpPr>
        <p:spPr>
          <a:xfrm>
            <a:off x="6477120" y="3257640"/>
            <a:ext cx="523836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Real-World Applications</a:t>
            </a:r>
            <a:endParaRPr b="0" lang="en-HK" sz="1500" spc="-1" strike="noStrike">
              <a:latin typeface="Arial"/>
            </a:endParaRPr>
          </a:p>
        </p:txBody>
      </p:sp>
      <p:sp>
        <p:nvSpPr>
          <p:cNvPr id="273" name="Shape 15"/>
          <p:cNvSpPr/>
          <p:nvPr/>
        </p:nvSpPr>
        <p:spPr>
          <a:xfrm>
            <a:off x="6496200" y="3672000"/>
            <a:ext cx="151920" cy="151920"/>
          </a:xfrm>
          <a:custGeom>
            <a:avLst/>
            <a:gdLst/>
            <a:ahLst/>
            <a:rect l="l" t="t" r="r" b="b"/>
            <a:pathLst>
              <a:path w="152400" h="152400">
                <a:moveTo>
                  <a:pt x="38100" y="95250"/>
                </a:moveTo>
                <a:lnTo>
                  <a:pt x="7293" y="95250"/>
                </a:lnTo>
                <a:cubicBezTo>
                  <a:pt x="-119" y="95250"/>
                  <a:pt x="-4673" y="87184"/>
                  <a:pt x="-863" y="80814"/>
                </a:cubicBezTo>
                <a:lnTo>
                  <a:pt x="14883" y="54560"/>
                </a:lnTo>
                <a:cubicBezTo>
                  <a:pt x="17472" y="50244"/>
                  <a:pt x="22116" y="47625"/>
                  <a:pt x="27146" y="47625"/>
                </a:cubicBezTo>
                <a:lnTo>
                  <a:pt x="55424" y="47625"/>
                </a:lnTo>
                <a:cubicBezTo>
                  <a:pt x="78075" y="9257"/>
                  <a:pt x="111859" y="7322"/>
                  <a:pt x="134451" y="10626"/>
                </a:cubicBezTo>
                <a:cubicBezTo>
                  <a:pt x="138261" y="11192"/>
                  <a:pt x="141238" y="14168"/>
                  <a:pt x="141774" y="17949"/>
                </a:cubicBezTo>
                <a:cubicBezTo>
                  <a:pt x="145078" y="40541"/>
                  <a:pt x="143143" y="74325"/>
                  <a:pt x="104775" y="96976"/>
                </a:cubicBezTo>
                <a:lnTo>
                  <a:pt x="104775" y="125254"/>
                </a:lnTo>
                <a:cubicBezTo>
                  <a:pt x="104775" y="130284"/>
                  <a:pt x="102156" y="134928"/>
                  <a:pt x="97840" y="137517"/>
                </a:cubicBezTo>
                <a:lnTo>
                  <a:pt x="71586" y="153263"/>
                </a:lnTo>
                <a:cubicBezTo>
                  <a:pt x="65246" y="157073"/>
                  <a:pt x="57150" y="152489"/>
                  <a:pt x="57150" y="145107"/>
                </a:cubicBezTo>
                <a:lnTo>
                  <a:pt x="57150" y="114300"/>
                </a:lnTo>
                <a:cubicBezTo>
                  <a:pt x="57150" y="103793"/>
                  <a:pt x="48607" y="95250"/>
                  <a:pt x="38100" y="95250"/>
                </a:cubicBezTo>
                <a:lnTo>
                  <a:pt x="38070" y="95250"/>
                </a:lnTo>
                <a:close/>
                <a:moveTo>
                  <a:pt x="119062" y="47625"/>
                </a:moveTo>
                <a:cubicBezTo>
                  <a:pt x="119062" y="39740"/>
                  <a:pt x="112660" y="33338"/>
                  <a:pt x="104775" y="33338"/>
                </a:cubicBezTo>
                <a:cubicBezTo>
                  <a:pt x="96890" y="33338"/>
                  <a:pt x="90488" y="39740"/>
                  <a:pt x="90488" y="47625"/>
                </a:cubicBezTo>
                <a:cubicBezTo>
                  <a:pt x="90488" y="55510"/>
                  <a:pt x="96890" y="61912"/>
                  <a:pt x="104775" y="61912"/>
                </a:cubicBezTo>
                <a:cubicBezTo>
                  <a:pt x="112660" y="61912"/>
                  <a:pt x="119062" y="55510"/>
                  <a:pt x="119062" y="47625"/>
                </a:cubicBezTo>
                <a:close/>
              </a:path>
            </a:pathLst>
          </a:custGeom>
          <a:solidFill>
            <a:srgbClr val="0984e3"/>
          </a:solidFill>
          <a:ln w="0">
            <a:noFill/>
          </a:ln>
        </p:spPr>
        <p:style>
          <a:lnRef idx="0"/>
          <a:fillRef idx="0"/>
          <a:effectRef idx="0"/>
          <a:fontRef idx="minor"/>
        </p:style>
      </p:sp>
      <p:sp>
        <p:nvSpPr>
          <p:cNvPr id="274" name="Text 16"/>
          <p:cNvSpPr/>
          <p:nvPr/>
        </p:nvSpPr>
        <p:spPr>
          <a:xfrm>
            <a:off x="6724800" y="3638520"/>
            <a:ext cx="4971600" cy="456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Arms Races:</a:t>
            </a:r>
            <a:r>
              <a:rPr b="0" lang="en-US" sz="1200" spc="-1" strike="noStrike">
                <a:solidFill>
                  <a:srgbClr val="636e72"/>
                </a:solidFill>
                <a:latin typeface="Quattrocento Sans"/>
                <a:ea typeface="Quattrocento Sans"/>
              </a:rPr>
              <a:t> Nations build weapons despite mutual disarmament being preferable</a:t>
            </a:r>
            <a:endParaRPr b="0" lang="en-HK" sz="1200" spc="-1" strike="noStrike">
              <a:latin typeface="Arial"/>
            </a:endParaRPr>
          </a:p>
        </p:txBody>
      </p:sp>
      <p:sp>
        <p:nvSpPr>
          <p:cNvPr id="275" name="Shape 17"/>
          <p:cNvSpPr/>
          <p:nvPr/>
        </p:nvSpPr>
        <p:spPr>
          <a:xfrm>
            <a:off x="6496200" y="4205160"/>
            <a:ext cx="151920" cy="151920"/>
          </a:xfrm>
          <a:custGeom>
            <a:avLst/>
            <a:gdLst/>
            <a:ahLst/>
            <a:rect l="l" t="t" r="r" b="b"/>
            <a:pathLst>
              <a:path w="152400" h="152400">
                <a:moveTo>
                  <a:pt x="140285" y="1994"/>
                </a:moveTo>
                <a:cubicBezTo>
                  <a:pt x="142190" y="179"/>
                  <a:pt x="144959" y="-476"/>
                  <a:pt x="147518" y="357"/>
                </a:cubicBezTo>
                <a:cubicBezTo>
                  <a:pt x="150435" y="1339"/>
                  <a:pt x="152400" y="4078"/>
                  <a:pt x="152400" y="7144"/>
                </a:cubicBezTo>
                <a:lnTo>
                  <a:pt x="152400" y="62776"/>
                </a:lnTo>
                <a:cubicBezTo>
                  <a:pt x="152400" y="101828"/>
                  <a:pt x="120223" y="133350"/>
                  <a:pt x="81320" y="133350"/>
                </a:cubicBezTo>
                <a:cubicBezTo>
                  <a:pt x="58400" y="133350"/>
                  <a:pt x="38636" y="118616"/>
                  <a:pt x="31462" y="98018"/>
                </a:cubicBezTo>
                <a:cubicBezTo>
                  <a:pt x="20925" y="107186"/>
                  <a:pt x="14287" y="120670"/>
                  <a:pt x="14287" y="135731"/>
                </a:cubicBezTo>
                <a:cubicBezTo>
                  <a:pt x="14287" y="139690"/>
                  <a:pt x="11103" y="142875"/>
                  <a:pt x="7144" y="142875"/>
                </a:cubicBezTo>
                <a:cubicBezTo>
                  <a:pt x="3185" y="142875"/>
                  <a:pt x="0" y="139690"/>
                  <a:pt x="0" y="135731"/>
                </a:cubicBezTo>
                <a:cubicBezTo>
                  <a:pt x="0" y="113437"/>
                  <a:pt x="11370" y="93791"/>
                  <a:pt x="28605" y="82242"/>
                </a:cubicBezTo>
                <a:cubicBezTo>
                  <a:pt x="39112" y="75218"/>
                  <a:pt x="51643" y="71438"/>
                  <a:pt x="64294" y="71438"/>
                </a:cubicBezTo>
                <a:lnTo>
                  <a:pt x="88106" y="71438"/>
                </a:lnTo>
                <a:cubicBezTo>
                  <a:pt x="92065" y="71438"/>
                  <a:pt x="95250" y="68253"/>
                  <a:pt x="95250" y="64294"/>
                </a:cubicBezTo>
                <a:cubicBezTo>
                  <a:pt x="95250" y="60335"/>
                  <a:pt x="92065" y="57150"/>
                  <a:pt x="88106" y="57150"/>
                </a:cubicBezTo>
                <a:lnTo>
                  <a:pt x="64294" y="57150"/>
                </a:lnTo>
                <a:cubicBezTo>
                  <a:pt x="52477" y="57150"/>
                  <a:pt x="41285" y="59769"/>
                  <a:pt x="31254" y="64443"/>
                </a:cubicBezTo>
                <a:cubicBezTo>
                  <a:pt x="38189" y="43607"/>
                  <a:pt x="57805" y="28575"/>
                  <a:pt x="80962" y="28575"/>
                </a:cubicBezTo>
                <a:cubicBezTo>
                  <a:pt x="100727" y="28575"/>
                  <a:pt x="115431" y="21997"/>
                  <a:pt x="125224" y="15478"/>
                </a:cubicBezTo>
                <a:cubicBezTo>
                  <a:pt x="130939" y="11668"/>
                  <a:pt x="135791" y="7114"/>
                  <a:pt x="140315" y="1994"/>
                </a:cubicBezTo>
                <a:close/>
              </a:path>
            </a:pathLst>
          </a:custGeom>
          <a:solidFill>
            <a:srgbClr val="0984e3"/>
          </a:solidFill>
          <a:ln w="0">
            <a:noFill/>
          </a:ln>
        </p:spPr>
        <p:style>
          <a:lnRef idx="0"/>
          <a:fillRef idx="0"/>
          <a:effectRef idx="0"/>
          <a:fontRef idx="minor"/>
        </p:style>
      </p:sp>
      <p:sp>
        <p:nvSpPr>
          <p:cNvPr id="276" name="Text 18"/>
          <p:cNvSpPr/>
          <p:nvPr/>
        </p:nvSpPr>
        <p:spPr>
          <a:xfrm>
            <a:off x="6724800" y="4172040"/>
            <a:ext cx="497160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Environment:</a:t>
            </a:r>
            <a:r>
              <a:rPr b="0" lang="en-US" sz="1200" spc="-1" strike="noStrike">
                <a:solidFill>
                  <a:srgbClr val="636e72"/>
                </a:solidFill>
                <a:latin typeface="Quattrocento Sans"/>
                <a:ea typeface="Quattrocento Sans"/>
              </a:rPr>
              <a:t> Overfishing and pollution despite collective harm</a:t>
            </a:r>
            <a:endParaRPr b="0" lang="en-HK" sz="1200" spc="-1" strike="noStrike">
              <a:latin typeface="Arial"/>
            </a:endParaRPr>
          </a:p>
        </p:txBody>
      </p:sp>
      <p:sp>
        <p:nvSpPr>
          <p:cNvPr id="277" name="Shape 19"/>
          <p:cNvSpPr/>
          <p:nvPr/>
        </p:nvSpPr>
        <p:spPr>
          <a:xfrm>
            <a:off x="6515280" y="4510080"/>
            <a:ext cx="114120" cy="151920"/>
          </a:xfrm>
          <a:custGeom>
            <a:avLst/>
            <a:gdLst/>
            <a:ahLst/>
            <a:rect l="l" t="t" r="r" b="b"/>
            <a:pathLst>
              <a:path w="114300" h="152400">
                <a:moveTo>
                  <a:pt x="19050" y="0"/>
                </a:moveTo>
                <a:cubicBezTo>
                  <a:pt x="8543" y="0"/>
                  <a:pt x="0" y="8543"/>
                  <a:pt x="0" y="19050"/>
                </a:cubicBezTo>
                <a:lnTo>
                  <a:pt x="0" y="133350"/>
                </a:lnTo>
                <a:cubicBezTo>
                  <a:pt x="0" y="143857"/>
                  <a:pt x="8543" y="152400"/>
                  <a:pt x="19050" y="152400"/>
                </a:cubicBezTo>
                <a:lnTo>
                  <a:pt x="95250" y="152400"/>
                </a:lnTo>
                <a:cubicBezTo>
                  <a:pt x="105757" y="152400"/>
                  <a:pt x="114300" y="143857"/>
                  <a:pt x="114300" y="133350"/>
                </a:cubicBezTo>
                <a:lnTo>
                  <a:pt x="114300" y="19050"/>
                </a:lnTo>
                <a:cubicBezTo>
                  <a:pt x="114300" y="8543"/>
                  <a:pt x="105757" y="0"/>
                  <a:pt x="95250" y="0"/>
                </a:cubicBezTo>
                <a:lnTo>
                  <a:pt x="19050" y="0"/>
                </a:lnTo>
                <a:close/>
                <a:moveTo>
                  <a:pt x="52388" y="104775"/>
                </a:moveTo>
                <a:lnTo>
                  <a:pt x="61912" y="104775"/>
                </a:lnTo>
                <a:cubicBezTo>
                  <a:pt x="67181" y="104775"/>
                  <a:pt x="71438" y="109031"/>
                  <a:pt x="71438" y="114300"/>
                </a:cubicBezTo>
                <a:lnTo>
                  <a:pt x="71438" y="138113"/>
                </a:lnTo>
                <a:lnTo>
                  <a:pt x="42863" y="138113"/>
                </a:lnTo>
                <a:lnTo>
                  <a:pt x="42863" y="114300"/>
                </a:lnTo>
                <a:cubicBezTo>
                  <a:pt x="42863" y="109031"/>
                  <a:pt x="47119" y="104775"/>
                  <a:pt x="52388" y="104775"/>
                </a:cubicBezTo>
                <a:close/>
                <a:moveTo>
                  <a:pt x="28575" y="33338"/>
                </a:moveTo>
                <a:cubicBezTo>
                  <a:pt x="28575" y="30718"/>
                  <a:pt x="30718" y="28575"/>
                  <a:pt x="33338" y="28575"/>
                </a:cubicBezTo>
                <a:lnTo>
                  <a:pt x="42863" y="28575"/>
                </a:lnTo>
                <a:cubicBezTo>
                  <a:pt x="45482" y="28575"/>
                  <a:pt x="47625" y="30718"/>
                  <a:pt x="47625" y="33338"/>
                </a:cubicBezTo>
                <a:lnTo>
                  <a:pt x="47625" y="42863"/>
                </a:lnTo>
                <a:cubicBezTo>
                  <a:pt x="47625" y="45482"/>
                  <a:pt x="45482" y="47625"/>
                  <a:pt x="42863" y="47625"/>
                </a:cubicBezTo>
                <a:lnTo>
                  <a:pt x="33338" y="47625"/>
                </a:lnTo>
                <a:cubicBezTo>
                  <a:pt x="30718" y="47625"/>
                  <a:pt x="28575" y="45482"/>
                  <a:pt x="28575" y="42863"/>
                </a:cubicBezTo>
                <a:lnTo>
                  <a:pt x="28575" y="33338"/>
                </a:lnTo>
                <a:close/>
                <a:moveTo>
                  <a:pt x="71438" y="28575"/>
                </a:moveTo>
                <a:lnTo>
                  <a:pt x="80962" y="28575"/>
                </a:lnTo>
                <a:cubicBezTo>
                  <a:pt x="83582" y="28575"/>
                  <a:pt x="85725" y="30718"/>
                  <a:pt x="85725" y="33338"/>
                </a:cubicBezTo>
                <a:lnTo>
                  <a:pt x="85725" y="42863"/>
                </a:lnTo>
                <a:cubicBezTo>
                  <a:pt x="85725" y="45482"/>
                  <a:pt x="83582" y="47625"/>
                  <a:pt x="80962" y="47625"/>
                </a:cubicBezTo>
                <a:lnTo>
                  <a:pt x="71438" y="47625"/>
                </a:lnTo>
                <a:cubicBezTo>
                  <a:pt x="68818" y="47625"/>
                  <a:pt x="66675" y="45482"/>
                  <a:pt x="66675" y="42863"/>
                </a:cubicBezTo>
                <a:lnTo>
                  <a:pt x="66675" y="33338"/>
                </a:lnTo>
                <a:cubicBezTo>
                  <a:pt x="66675" y="30718"/>
                  <a:pt x="68818" y="28575"/>
                  <a:pt x="71438" y="28575"/>
                </a:cubicBezTo>
                <a:close/>
                <a:moveTo>
                  <a:pt x="28575" y="71438"/>
                </a:moveTo>
                <a:cubicBezTo>
                  <a:pt x="28575" y="68818"/>
                  <a:pt x="30718" y="66675"/>
                  <a:pt x="33338" y="66675"/>
                </a:cubicBezTo>
                <a:lnTo>
                  <a:pt x="42863" y="66675"/>
                </a:lnTo>
                <a:cubicBezTo>
                  <a:pt x="45482" y="66675"/>
                  <a:pt x="47625" y="68818"/>
                  <a:pt x="47625" y="71438"/>
                </a:cubicBezTo>
                <a:lnTo>
                  <a:pt x="47625" y="80962"/>
                </a:lnTo>
                <a:cubicBezTo>
                  <a:pt x="47625" y="83582"/>
                  <a:pt x="45482" y="85725"/>
                  <a:pt x="42863" y="85725"/>
                </a:cubicBezTo>
                <a:lnTo>
                  <a:pt x="33338" y="85725"/>
                </a:lnTo>
                <a:cubicBezTo>
                  <a:pt x="30718" y="85725"/>
                  <a:pt x="28575" y="83582"/>
                  <a:pt x="28575" y="80962"/>
                </a:cubicBezTo>
                <a:lnTo>
                  <a:pt x="28575" y="71438"/>
                </a:lnTo>
                <a:close/>
                <a:moveTo>
                  <a:pt x="71438" y="66675"/>
                </a:moveTo>
                <a:lnTo>
                  <a:pt x="80962" y="66675"/>
                </a:lnTo>
                <a:cubicBezTo>
                  <a:pt x="83582" y="66675"/>
                  <a:pt x="85725" y="68818"/>
                  <a:pt x="85725" y="71438"/>
                </a:cubicBezTo>
                <a:lnTo>
                  <a:pt x="85725" y="80962"/>
                </a:lnTo>
                <a:cubicBezTo>
                  <a:pt x="85725" y="83582"/>
                  <a:pt x="83582" y="85725"/>
                  <a:pt x="80962" y="85725"/>
                </a:cubicBezTo>
                <a:lnTo>
                  <a:pt x="71438" y="85725"/>
                </a:lnTo>
                <a:cubicBezTo>
                  <a:pt x="68818" y="85725"/>
                  <a:pt x="66675" y="83582"/>
                  <a:pt x="66675" y="80962"/>
                </a:cubicBezTo>
                <a:lnTo>
                  <a:pt x="66675" y="71438"/>
                </a:lnTo>
                <a:cubicBezTo>
                  <a:pt x="66675" y="68818"/>
                  <a:pt x="68818" y="66675"/>
                  <a:pt x="71438" y="66675"/>
                </a:cubicBezTo>
                <a:close/>
              </a:path>
            </a:pathLst>
          </a:custGeom>
          <a:solidFill>
            <a:srgbClr val="0984e3"/>
          </a:solidFill>
          <a:ln w="0">
            <a:noFill/>
          </a:ln>
        </p:spPr>
        <p:style>
          <a:lnRef idx="0"/>
          <a:fillRef idx="0"/>
          <a:effectRef idx="0"/>
          <a:fontRef idx="minor"/>
        </p:style>
      </p:sp>
      <p:sp>
        <p:nvSpPr>
          <p:cNvPr id="278" name="Text 20"/>
          <p:cNvSpPr/>
          <p:nvPr/>
        </p:nvSpPr>
        <p:spPr>
          <a:xfrm>
            <a:off x="6724800" y="4476600"/>
            <a:ext cx="497160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Business:</a:t>
            </a:r>
            <a:r>
              <a:rPr b="0" lang="en-US" sz="1200" spc="-1" strike="noStrike">
                <a:solidFill>
                  <a:srgbClr val="636e72"/>
                </a:solidFill>
                <a:latin typeface="Quattrocento Sans"/>
                <a:ea typeface="Quattrocento Sans"/>
              </a:rPr>
              <a:t> Price wars that reduce profits for all competitors</a:t>
            </a:r>
            <a:endParaRPr b="0" lang="en-HK" sz="1200" spc="-1" strike="noStrike">
              <a:latin typeface="Arial"/>
            </a:endParaRPr>
          </a:p>
        </p:txBody>
      </p:sp>
      <p:sp>
        <p:nvSpPr>
          <p:cNvPr id="279" name="Shape 21"/>
          <p:cNvSpPr/>
          <p:nvPr/>
        </p:nvSpPr>
        <p:spPr>
          <a:xfrm>
            <a:off x="6486480" y="4815000"/>
            <a:ext cx="171000" cy="151920"/>
          </a:xfrm>
          <a:custGeom>
            <a:avLst/>
            <a:gdLst/>
            <a:ahLst/>
            <a:rect l="l" t="t" r="r" b="b"/>
            <a:pathLst>
              <a:path w="171450" h="152400">
                <a:moveTo>
                  <a:pt x="85725" y="-4762"/>
                </a:moveTo>
                <a:cubicBezTo>
                  <a:pt x="81766" y="-4762"/>
                  <a:pt x="78581" y="-1578"/>
                  <a:pt x="78581" y="2381"/>
                </a:cubicBezTo>
                <a:lnTo>
                  <a:pt x="78581" y="5953"/>
                </a:lnTo>
                <a:lnTo>
                  <a:pt x="78045" y="5953"/>
                </a:lnTo>
                <a:cubicBezTo>
                  <a:pt x="67151" y="5953"/>
                  <a:pt x="58341" y="14794"/>
                  <a:pt x="58341" y="25658"/>
                </a:cubicBezTo>
                <a:cubicBezTo>
                  <a:pt x="58341" y="35600"/>
                  <a:pt x="65752" y="43994"/>
                  <a:pt x="75605" y="45214"/>
                </a:cubicBezTo>
                <a:lnTo>
                  <a:pt x="93762" y="47476"/>
                </a:lnTo>
                <a:cubicBezTo>
                  <a:pt x="95280" y="47655"/>
                  <a:pt x="96441" y="48964"/>
                  <a:pt x="96441" y="50512"/>
                </a:cubicBezTo>
                <a:cubicBezTo>
                  <a:pt x="96441" y="52209"/>
                  <a:pt x="95071" y="53548"/>
                  <a:pt x="93405" y="53548"/>
                </a:cubicBezTo>
                <a:lnTo>
                  <a:pt x="71438" y="53578"/>
                </a:lnTo>
                <a:cubicBezTo>
                  <a:pt x="66824" y="53578"/>
                  <a:pt x="63103" y="57299"/>
                  <a:pt x="63103" y="61912"/>
                </a:cubicBezTo>
                <a:cubicBezTo>
                  <a:pt x="63103" y="66526"/>
                  <a:pt x="66824" y="70247"/>
                  <a:pt x="71438" y="70247"/>
                </a:cubicBezTo>
                <a:lnTo>
                  <a:pt x="78581" y="70247"/>
                </a:lnTo>
                <a:lnTo>
                  <a:pt x="78581" y="73819"/>
                </a:lnTo>
                <a:cubicBezTo>
                  <a:pt x="78581" y="77778"/>
                  <a:pt x="81766" y="80962"/>
                  <a:pt x="85725" y="80962"/>
                </a:cubicBezTo>
                <a:cubicBezTo>
                  <a:pt x="89684" y="80962"/>
                  <a:pt x="92869" y="77778"/>
                  <a:pt x="92869" y="73819"/>
                </a:cubicBezTo>
                <a:lnTo>
                  <a:pt x="92869" y="70247"/>
                </a:lnTo>
                <a:lnTo>
                  <a:pt x="93405" y="70247"/>
                </a:lnTo>
                <a:cubicBezTo>
                  <a:pt x="104299" y="70247"/>
                  <a:pt x="113109" y="61406"/>
                  <a:pt x="113109" y="50542"/>
                </a:cubicBezTo>
                <a:cubicBezTo>
                  <a:pt x="113109" y="40600"/>
                  <a:pt x="105698" y="32206"/>
                  <a:pt x="95845" y="30986"/>
                </a:cubicBezTo>
                <a:lnTo>
                  <a:pt x="77688" y="28724"/>
                </a:lnTo>
                <a:cubicBezTo>
                  <a:pt x="76170" y="28545"/>
                  <a:pt x="75009" y="27236"/>
                  <a:pt x="75009" y="25688"/>
                </a:cubicBezTo>
                <a:cubicBezTo>
                  <a:pt x="75009" y="23991"/>
                  <a:pt x="76379" y="22652"/>
                  <a:pt x="78045" y="22652"/>
                </a:cubicBezTo>
                <a:lnTo>
                  <a:pt x="97631" y="22622"/>
                </a:lnTo>
                <a:cubicBezTo>
                  <a:pt x="102245" y="22622"/>
                  <a:pt x="105966" y="18901"/>
                  <a:pt x="105966" y="14288"/>
                </a:cubicBezTo>
                <a:cubicBezTo>
                  <a:pt x="105966" y="9674"/>
                  <a:pt x="102245" y="5953"/>
                  <a:pt x="97631" y="5953"/>
                </a:cubicBezTo>
                <a:lnTo>
                  <a:pt x="92869" y="5953"/>
                </a:lnTo>
                <a:lnTo>
                  <a:pt x="92869" y="2381"/>
                </a:lnTo>
                <a:cubicBezTo>
                  <a:pt x="92869" y="-1578"/>
                  <a:pt x="89684" y="-4762"/>
                  <a:pt x="85725" y="-4762"/>
                </a:cubicBezTo>
                <a:close/>
                <a:moveTo>
                  <a:pt x="32534" y="101650"/>
                </a:moveTo>
                <a:lnTo>
                  <a:pt x="19854" y="114300"/>
                </a:lnTo>
                <a:lnTo>
                  <a:pt x="9525" y="114300"/>
                </a:lnTo>
                <a:cubicBezTo>
                  <a:pt x="4256" y="114300"/>
                  <a:pt x="0" y="118556"/>
                  <a:pt x="0" y="123825"/>
                </a:cubicBezTo>
                <a:lnTo>
                  <a:pt x="0" y="142875"/>
                </a:lnTo>
                <a:cubicBezTo>
                  <a:pt x="0" y="148144"/>
                  <a:pt x="4256" y="152400"/>
                  <a:pt x="9525" y="152400"/>
                </a:cubicBezTo>
                <a:lnTo>
                  <a:pt x="104924" y="152400"/>
                </a:lnTo>
                <a:cubicBezTo>
                  <a:pt x="113556" y="152400"/>
                  <a:pt x="121980" y="149632"/>
                  <a:pt x="128945" y="144512"/>
                </a:cubicBezTo>
                <a:lnTo>
                  <a:pt x="166628" y="116741"/>
                </a:lnTo>
                <a:cubicBezTo>
                  <a:pt x="171926" y="112841"/>
                  <a:pt x="173057" y="105400"/>
                  <a:pt x="169158" y="100102"/>
                </a:cubicBezTo>
                <a:cubicBezTo>
                  <a:pt x="165259" y="94804"/>
                  <a:pt x="157817" y="93672"/>
                  <a:pt x="152519" y="97572"/>
                </a:cubicBezTo>
                <a:lnTo>
                  <a:pt x="116860" y="123825"/>
                </a:lnTo>
                <a:lnTo>
                  <a:pt x="83344" y="123825"/>
                </a:lnTo>
                <a:cubicBezTo>
                  <a:pt x="79385" y="123825"/>
                  <a:pt x="76200" y="120640"/>
                  <a:pt x="76200" y="116681"/>
                </a:cubicBezTo>
                <a:cubicBezTo>
                  <a:pt x="76200" y="112722"/>
                  <a:pt x="79385" y="109537"/>
                  <a:pt x="83344" y="109537"/>
                </a:cubicBezTo>
                <a:lnTo>
                  <a:pt x="104775" y="109537"/>
                </a:lnTo>
                <a:cubicBezTo>
                  <a:pt x="110044" y="109537"/>
                  <a:pt x="114300" y="105281"/>
                  <a:pt x="114300" y="100013"/>
                </a:cubicBezTo>
                <a:cubicBezTo>
                  <a:pt x="114300" y="94744"/>
                  <a:pt x="110044" y="90488"/>
                  <a:pt x="104775" y="90488"/>
                </a:cubicBezTo>
                <a:lnTo>
                  <a:pt x="59472" y="90488"/>
                </a:lnTo>
                <a:cubicBezTo>
                  <a:pt x="49381" y="90488"/>
                  <a:pt x="39678" y="94506"/>
                  <a:pt x="32534" y="101650"/>
                </a:cubicBezTo>
                <a:close/>
              </a:path>
            </a:pathLst>
          </a:custGeom>
          <a:solidFill>
            <a:srgbClr val="0984e3"/>
          </a:solidFill>
          <a:ln w="0">
            <a:noFill/>
          </a:ln>
        </p:spPr>
        <p:style>
          <a:lnRef idx="0"/>
          <a:fillRef idx="0"/>
          <a:effectRef idx="0"/>
          <a:fontRef idx="minor"/>
        </p:style>
      </p:sp>
      <p:sp>
        <p:nvSpPr>
          <p:cNvPr id="280" name="Text 22"/>
          <p:cNvSpPr/>
          <p:nvPr/>
        </p:nvSpPr>
        <p:spPr>
          <a:xfrm>
            <a:off x="6724800" y="4781520"/>
            <a:ext cx="497160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Public Goods:</a:t>
            </a:r>
            <a:r>
              <a:rPr b="0" lang="en-US" sz="1200" spc="-1" strike="noStrike">
                <a:solidFill>
                  <a:srgbClr val="636e72"/>
                </a:solidFill>
                <a:latin typeface="Quattrocento Sans"/>
                <a:ea typeface="Quattrocento Sans"/>
              </a:rPr>
              <a:t> Free-riding on contributions to shared resources</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1" name="Text 0"/>
          <p:cNvSpPr/>
          <p:nvPr/>
        </p:nvSpPr>
        <p:spPr>
          <a:xfrm>
            <a:off x="358560" y="358560"/>
            <a:ext cx="11546280" cy="214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130" spc="55" strike="noStrike">
                <a:solidFill>
                  <a:srgbClr val="0984e3"/>
                </a:solidFill>
                <a:latin typeface="Quattrocento Sans"/>
                <a:ea typeface="Quattrocento Sans"/>
              </a:rPr>
              <a:t>COORDINATION &amp; CONFRONTATION</a:t>
            </a:r>
            <a:endParaRPr b="0" lang="en-HK" sz="1130" spc="-1" strike="noStrike">
              <a:latin typeface="Arial"/>
            </a:endParaRPr>
          </a:p>
        </p:txBody>
      </p:sp>
      <p:sp>
        <p:nvSpPr>
          <p:cNvPr id="282" name="Text 1"/>
          <p:cNvSpPr/>
          <p:nvPr/>
        </p:nvSpPr>
        <p:spPr>
          <a:xfrm>
            <a:off x="358560" y="645480"/>
            <a:ext cx="11689560" cy="429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390" spc="-1" strike="noStrike">
                <a:solidFill>
                  <a:srgbClr val="2d3436"/>
                </a:solidFill>
                <a:latin typeface="Oranienbaum"/>
                <a:ea typeface="Oranienbaum"/>
              </a:rPr>
              <a:t>Battle of the Sexes &amp; Chicken Game</a:t>
            </a:r>
            <a:endParaRPr b="0" lang="en-HK" sz="3390" spc="-1" strike="noStrike">
              <a:latin typeface="Arial"/>
            </a:endParaRPr>
          </a:p>
        </p:txBody>
      </p:sp>
      <p:sp>
        <p:nvSpPr>
          <p:cNvPr id="283" name="Text 2"/>
          <p:cNvSpPr/>
          <p:nvPr/>
        </p:nvSpPr>
        <p:spPr>
          <a:xfrm>
            <a:off x="358560" y="1290960"/>
            <a:ext cx="5701320" cy="286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00" spc="-1" strike="noStrike">
                <a:solidFill>
                  <a:srgbClr val="2d3436"/>
                </a:solidFill>
                <a:latin typeface="Oranienbaum"/>
                <a:ea typeface="Oranienbaum"/>
              </a:rPr>
              <a:t>Battle of the Sexes</a:t>
            </a:r>
            <a:endParaRPr b="0" lang="en-HK" sz="1700" spc="-1" strike="noStrike">
              <a:latin typeface="Arial"/>
            </a:endParaRPr>
          </a:p>
        </p:txBody>
      </p:sp>
      <p:sp>
        <p:nvSpPr>
          <p:cNvPr id="284" name="Text 3"/>
          <p:cNvSpPr/>
          <p:nvPr/>
        </p:nvSpPr>
        <p:spPr>
          <a:xfrm>
            <a:off x="358560" y="1725840"/>
            <a:ext cx="5474160" cy="441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70" spc="-1" strike="noStrike">
                <a:solidFill>
                  <a:srgbClr val="1e272e"/>
                </a:solidFill>
                <a:latin typeface="Quattrocento Sans"/>
                <a:ea typeface="Quattrocento Sans"/>
              </a:rPr>
              <a:t>A coordination game where two players prefer to be together but disagree on the preferred activity.</a:t>
            </a:r>
            <a:endParaRPr b="0" lang="en-HK" sz="1270" spc="-1" strike="noStrike">
              <a:latin typeface="Arial"/>
            </a:endParaRPr>
          </a:p>
        </p:txBody>
      </p:sp>
      <p:sp>
        <p:nvSpPr>
          <p:cNvPr id="285" name="Text 4"/>
          <p:cNvSpPr/>
          <p:nvPr/>
        </p:nvSpPr>
        <p:spPr>
          <a:xfrm>
            <a:off x="358560" y="2317320"/>
            <a:ext cx="5665320" cy="465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30" spc="-1" strike="noStrike">
                <a:solidFill>
                  <a:srgbClr val="636e72"/>
                </a:solidFill>
                <a:latin typeface="Quattrocento Sans"/>
                <a:ea typeface="Quattrocento Sans"/>
              </a:rPr>
              <a:t>Classic scenario: Alice prefers ballet, Bob prefers boxing, but both prefer being together over being apart. The challenge is achieving coordination when preferences diverge.</a:t>
            </a:r>
            <a:endParaRPr b="0" lang="en-HK" sz="1130" spc="-1" strike="noStrike">
              <a:latin typeface="Arial"/>
            </a:endParaRPr>
          </a:p>
        </p:txBody>
      </p:sp>
      <p:sp>
        <p:nvSpPr>
          <p:cNvPr id="286" name="Shape 5"/>
          <p:cNvSpPr/>
          <p:nvPr/>
        </p:nvSpPr>
        <p:spPr>
          <a:xfrm>
            <a:off x="363240" y="2931480"/>
            <a:ext cx="5584680" cy="1873440"/>
          </a:xfrm>
          <a:custGeom>
            <a:avLst/>
            <a:gdLst/>
            <a:ahLst/>
            <a:rect l="l" t="t" r="r" b="b"/>
            <a:pathLst>
              <a:path w="5585012" h="1873624">
                <a:moveTo>
                  <a:pt x="0" y="0"/>
                </a:moveTo>
                <a:lnTo>
                  <a:pt x="5585012" y="0"/>
                </a:lnTo>
                <a:lnTo>
                  <a:pt x="5585012" y="1873624"/>
                </a:lnTo>
                <a:lnTo>
                  <a:pt x="0" y="1873624"/>
                </a:lnTo>
                <a:lnTo>
                  <a:pt x="0" y="0"/>
                </a:lnTo>
                <a:close/>
              </a:path>
            </a:pathLst>
          </a:custGeom>
          <a:solidFill>
            <a:srgbClr val="ffffff"/>
          </a:solidFill>
          <a:ln w="12700">
            <a:solidFill>
              <a:srgbClr val="e0e0e0"/>
            </a:solidFill>
            <a:round/>
          </a:ln>
        </p:spPr>
        <p:style>
          <a:lnRef idx="0"/>
          <a:fillRef idx="0"/>
          <a:effectRef idx="0"/>
          <a:fontRef idx="minor"/>
        </p:style>
      </p:sp>
      <p:sp>
        <p:nvSpPr>
          <p:cNvPr id="287" name="Text 6"/>
          <p:cNvSpPr/>
          <p:nvPr/>
        </p:nvSpPr>
        <p:spPr>
          <a:xfrm>
            <a:off x="470520" y="3079440"/>
            <a:ext cx="5369400" cy="2505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270" spc="-1" strike="noStrike">
                <a:solidFill>
                  <a:srgbClr val="2d3436"/>
                </a:solidFill>
                <a:latin typeface="Oranienbaum"/>
                <a:ea typeface="Oranienbaum"/>
              </a:rPr>
              <a:t>Payoff Matrix</a:t>
            </a:r>
            <a:endParaRPr b="0" lang="en-HK" sz="1270" spc="-1" strike="noStrike">
              <a:latin typeface="Arial"/>
            </a:endParaRPr>
          </a:p>
        </p:txBody>
      </p:sp>
      <p:graphicFrame>
        <p:nvGraphicFramePr>
          <p:cNvPr id="288" name="Table 0"/>
          <p:cNvGraphicFramePr/>
          <p:nvPr/>
        </p:nvGraphicFramePr>
        <p:xfrm>
          <a:off x="510840" y="3402000"/>
          <a:ext cx="5288760" cy="1003680"/>
        </p:xfrm>
        <a:graphic>
          <a:graphicData uri="http://schemas.openxmlformats.org/drawingml/2006/table">
            <a:tbl>
              <a:tblPr/>
              <a:tblGrid>
                <a:gridCol w="1894680"/>
                <a:gridCol w="1616040"/>
                <a:gridCol w="1778040"/>
              </a:tblGrid>
              <a:tr h="334440">
                <a:tc>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tIns="71640" bIns="71640" anchor="ctr">
                      <a:noAutofit/>
                    </a:bodyPr>
                    <a:p>
                      <a:pPr algn="ctr">
                        <a:lnSpc>
                          <a:spcPct val="100000"/>
                        </a:lnSpc>
                        <a:buNone/>
                      </a:pPr>
                      <a:r>
                        <a:rPr b="1" lang="en-US" sz="900" spc="-1" strike="noStrike">
                          <a:solidFill>
                            <a:srgbClr val="2d3436"/>
                          </a:solidFill>
                          <a:latin typeface="微软雅黑"/>
                          <a:ea typeface="微软雅黑"/>
                        </a:rPr>
                        <a:t>Bob: Ballet</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tIns="71640" bIns="71640" anchor="ctr">
                      <a:noAutofit/>
                    </a:bodyPr>
                    <a:p>
                      <a:pPr algn="ctr">
                        <a:lnSpc>
                          <a:spcPct val="100000"/>
                        </a:lnSpc>
                        <a:buNone/>
                      </a:pPr>
                      <a:r>
                        <a:rPr b="1" lang="en-US" sz="900" spc="-1" strike="noStrike">
                          <a:solidFill>
                            <a:srgbClr val="2d3436"/>
                          </a:solidFill>
                          <a:latin typeface="微软雅黑"/>
                          <a:ea typeface="微软雅黑"/>
                        </a:rPr>
                        <a:t>Bob: Boxing</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r>
              <a:tr h="334440">
                <a:tc>
                  <a:txBody>
                    <a:bodyPr lIns="71640" rIns="71640" tIns="71640" bIns="71640" anchor="ctr">
                      <a:noAutofit/>
                    </a:bodyPr>
                    <a:p>
                      <a:pPr>
                        <a:lnSpc>
                          <a:spcPct val="100000"/>
                        </a:lnSpc>
                        <a:buNone/>
                      </a:pPr>
                      <a:r>
                        <a:rPr b="1" lang="en-US" sz="900" spc="-1" strike="noStrike">
                          <a:solidFill>
                            <a:srgbClr val="2d3436"/>
                          </a:solidFill>
                          <a:latin typeface="微软雅黑"/>
                          <a:ea typeface="微软雅黑"/>
                        </a:rPr>
                        <a:t>Alice: Ballet</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tIns="71640" bIns="71640" anchor="ctr">
                      <a:noAutofit/>
                    </a:bodyPr>
                    <a:p>
                      <a:pPr algn="ctr">
                        <a:lnSpc>
                          <a:spcPct val="100000"/>
                        </a:lnSpc>
                        <a:buNone/>
                      </a:pPr>
                      <a:r>
                        <a:rPr b="0" lang="en-US" sz="900" spc="-1" strike="noStrike">
                          <a:solidFill>
                            <a:srgbClr val="1e272e"/>
                          </a:solidFill>
                          <a:latin typeface="微软雅黑"/>
                          <a:ea typeface="微软雅黑"/>
                        </a:rPr>
                        <a:t>(3, 2)</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0984e3"/>
                    </a:solidFill>
                  </a:tcPr>
                </a:tc>
                <a:tc>
                  <a:txBody>
                    <a:bodyPr lIns="71640" rIns="71640" tIns="71640" bIns="71640" anchor="ctr">
                      <a:noAutofit/>
                    </a:bodyPr>
                    <a:p>
                      <a:pPr algn="ctr">
                        <a:lnSpc>
                          <a:spcPct val="100000"/>
                        </a:lnSpc>
                        <a:buNone/>
                      </a:pPr>
                      <a:r>
                        <a:rPr b="0" lang="en-US" sz="900" spc="-1" strike="noStrike">
                          <a:solidFill>
                            <a:srgbClr val="1e272e"/>
                          </a:solidFill>
                          <a:latin typeface="微软雅黑"/>
                          <a:ea typeface="微软雅黑"/>
                        </a:rPr>
                        <a:t>(0, 0)</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noFill/>
                  </a:tcPr>
                </a:tc>
              </a:tr>
              <a:tr h="334800">
                <a:tc>
                  <a:txBody>
                    <a:bodyPr lIns="71640" rIns="71640" tIns="71640" bIns="71640" anchor="ctr">
                      <a:noAutofit/>
                    </a:bodyPr>
                    <a:p>
                      <a:pPr>
                        <a:lnSpc>
                          <a:spcPct val="100000"/>
                        </a:lnSpc>
                        <a:buNone/>
                      </a:pPr>
                      <a:r>
                        <a:rPr b="1" lang="en-US" sz="900" spc="-1" strike="noStrike">
                          <a:solidFill>
                            <a:srgbClr val="2d3436"/>
                          </a:solidFill>
                          <a:latin typeface="微软雅黑"/>
                          <a:ea typeface="微软雅黑"/>
                        </a:rPr>
                        <a:t>Alice: Boxing</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tIns="71640" bIns="71640" anchor="ctr">
                      <a:noAutofit/>
                    </a:bodyPr>
                    <a:p>
                      <a:pPr algn="ctr">
                        <a:lnSpc>
                          <a:spcPct val="100000"/>
                        </a:lnSpc>
                        <a:buNone/>
                      </a:pPr>
                      <a:r>
                        <a:rPr b="0" lang="en-US" sz="900" spc="-1" strike="noStrike">
                          <a:solidFill>
                            <a:srgbClr val="1e272e"/>
                          </a:solidFill>
                          <a:latin typeface="微软雅黑"/>
                          <a:ea typeface="微软雅黑"/>
                        </a:rPr>
                        <a:t>(0, 0)</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noFill/>
                  </a:tcPr>
                </a:tc>
                <a:tc>
                  <a:txBody>
                    <a:bodyPr lIns="71640" rIns="71640" tIns="71640" bIns="71640" anchor="ctr">
                      <a:noAutofit/>
                    </a:bodyPr>
                    <a:p>
                      <a:pPr algn="ctr">
                        <a:lnSpc>
                          <a:spcPct val="100000"/>
                        </a:lnSpc>
                        <a:buNone/>
                      </a:pPr>
                      <a:r>
                        <a:rPr b="0" lang="en-US" sz="900" spc="-1" strike="noStrike">
                          <a:solidFill>
                            <a:srgbClr val="1e272e"/>
                          </a:solidFill>
                          <a:latin typeface="微软雅黑"/>
                          <a:ea typeface="微软雅黑"/>
                        </a:rPr>
                        <a:t>(2, 3)</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0984e3"/>
                    </a:solidFill>
                  </a:tcPr>
                </a:tc>
              </a:tr>
            </a:tbl>
          </a:graphicData>
        </a:graphic>
      </p:graphicFrame>
      <p:sp>
        <p:nvSpPr>
          <p:cNvPr id="289" name="Text 7"/>
          <p:cNvSpPr/>
          <p:nvPr/>
        </p:nvSpPr>
        <p:spPr>
          <a:xfrm>
            <a:off x="479520" y="4478040"/>
            <a:ext cx="5351400" cy="1789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89" spc="-1" strike="noStrike">
                <a:solidFill>
                  <a:srgbClr val="636e72"/>
                </a:solidFill>
                <a:latin typeface="Quattrocento Sans"/>
                <a:ea typeface="Quattrocento Sans"/>
              </a:rPr>
              <a:t>Two pure-strategy Nash equilibria (highlighted)</a:t>
            </a:r>
            <a:endParaRPr b="0" lang="en-HK" sz="989" spc="-1" strike="noStrike">
              <a:latin typeface="Arial"/>
            </a:endParaRPr>
          </a:p>
        </p:txBody>
      </p:sp>
      <p:sp>
        <p:nvSpPr>
          <p:cNvPr id="290" name="Shape 8"/>
          <p:cNvSpPr/>
          <p:nvPr/>
        </p:nvSpPr>
        <p:spPr>
          <a:xfrm>
            <a:off x="376560" y="4952880"/>
            <a:ext cx="5575680" cy="752760"/>
          </a:xfrm>
          <a:custGeom>
            <a:avLst/>
            <a:gdLst/>
            <a:ahLst/>
            <a:rect l="l" t="t" r="r" b="b"/>
            <a:pathLst>
              <a:path w="5576047" h="753035">
                <a:moveTo>
                  <a:pt x="0" y="0"/>
                </a:moveTo>
                <a:lnTo>
                  <a:pt x="5576047" y="0"/>
                </a:lnTo>
                <a:lnTo>
                  <a:pt x="5576047" y="753035"/>
                </a:lnTo>
                <a:lnTo>
                  <a:pt x="0" y="753035"/>
                </a:lnTo>
                <a:lnTo>
                  <a:pt x="0" y="0"/>
                </a:lnTo>
                <a:close/>
              </a:path>
            </a:pathLst>
          </a:custGeom>
          <a:solidFill>
            <a:srgbClr val="f8f9fa"/>
          </a:solidFill>
          <a:ln w="0">
            <a:noFill/>
          </a:ln>
        </p:spPr>
        <p:style>
          <a:lnRef idx="0"/>
          <a:fillRef idx="0"/>
          <a:effectRef idx="0"/>
          <a:fontRef idx="minor"/>
        </p:style>
      </p:sp>
      <p:sp>
        <p:nvSpPr>
          <p:cNvPr id="291" name="Shape 9"/>
          <p:cNvSpPr/>
          <p:nvPr/>
        </p:nvSpPr>
        <p:spPr>
          <a:xfrm>
            <a:off x="376560" y="4952880"/>
            <a:ext cx="35640" cy="752760"/>
          </a:xfrm>
          <a:custGeom>
            <a:avLst/>
            <a:gdLst/>
            <a:ahLst/>
            <a:rect l="l" t="t" r="r" b="b"/>
            <a:pathLst>
              <a:path w="35859" h="753035">
                <a:moveTo>
                  <a:pt x="0" y="0"/>
                </a:moveTo>
                <a:lnTo>
                  <a:pt x="35859" y="0"/>
                </a:lnTo>
                <a:lnTo>
                  <a:pt x="35859" y="753035"/>
                </a:lnTo>
                <a:lnTo>
                  <a:pt x="0" y="753035"/>
                </a:lnTo>
                <a:lnTo>
                  <a:pt x="0" y="0"/>
                </a:lnTo>
                <a:close/>
              </a:path>
            </a:pathLst>
          </a:custGeom>
          <a:solidFill>
            <a:srgbClr val="0984e3"/>
          </a:solidFill>
          <a:ln w="0">
            <a:noFill/>
          </a:ln>
        </p:spPr>
        <p:style>
          <a:lnRef idx="0"/>
          <a:fillRef idx="0"/>
          <a:effectRef idx="0"/>
          <a:fontRef idx="minor"/>
        </p:style>
      </p:sp>
      <p:sp>
        <p:nvSpPr>
          <p:cNvPr id="292" name="Text 10"/>
          <p:cNvSpPr/>
          <p:nvPr/>
        </p:nvSpPr>
        <p:spPr>
          <a:xfrm>
            <a:off x="537840" y="5096520"/>
            <a:ext cx="5342760" cy="465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30" spc="-1" strike="noStrike">
                <a:solidFill>
                  <a:srgbClr val="1e272e"/>
                </a:solidFill>
                <a:latin typeface="Quattrocento Sans"/>
                <a:ea typeface="Quattrocento Sans"/>
              </a:rPr>
              <a:t>Key Challenge:</a:t>
            </a:r>
            <a:r>
              <a:rPr b="0" lang="en-US" sz="1130" spc="-1" strike="noStrike">
                <a:solidFill>
                  <a:srgbClr val="1e272e"/>
                </a:solidFill>
                <a:latin typeface="Quattrocento Sans"/>
                <a:ea typeface="Quattrocento Sans"/>
              </a:rPr>
              <a:t> Multiple equilibria create coordination problems. Players need mechanisms (communication, conventions, focal points) to select among equilibria.</a:t>
            </a:r>
            <a:endParaRPr b="0" lang="en-HK" sz="1130" spc="-1" strike="noStrike">
              <a:latin typeface="Arial"/>
            </a:endParaRPr>
          </a:p>
        </p:txBody>
      </p:sp>
      <p:sp>
        <p:nvSpPr>
          <p:cNvPr id="293" name="Text 11"/>
          <p:cNvSpPr/>
          <p:nvPr/>
        </p:nvSpPr>
        <p:spPr>
          <a:xfrm>
            <a:off x="6239520" y="1290960"/>
            <a:ext cx="5701320" cy="286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00" spc="-1" strike="noStrike">
                <a:solidFill>
                  <a:srgbClr val="2d3436"/>
                </a:solidFill>
                <a:latin typeface="Oranienbaum"/>
                <a:ea typeface="Oranienbaum"/>
              </a:rPr>
              <a:t>Chicken Game</a:t>
            </a:r>
            <a:endParaRPr b="0" lang="en-HK" sz="1700" spc="-1" strike="noStrike">
              <a:latin typeface="Arial"/>
            </a:endParaRPr>
          </a:p>
        </p:txBody>
      </p:sp>
      <p:sp>
        <p:nvSpPr>
          <p:cNvPr id="294" name="Text 12"/>
          <p:cNvSpPr/>
          <p:nvPr/>
        </p:nvSpPr>
        <p:spPr>
          <a:xfrm>
            <a:off x="6239520" y="1685520"/>
            <a:ext cx="5674320" cy="528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70" spc="-1" strike="noStrike">
                <a:solidFill>
                  <a:srgbClr val="1e272e"/>
                </a:solidFill>
                <a:latin typeface="Quattrocento Sans"/>
                <a:ea typeface="Quattrocento Sans"/>
              </a:rPr>
              <a:t>Two drivers head toward each other; the first to swerve is "chicken."</a:t>
            </a:r>
            <a:r>
              <a:rPr b="0" lang="en-US" sz="1270" spc="-1" strike="noStrike">
                <a:solidFill>
                  <a:srgbClr val="1e272e"/>
                </a:solidFill>
                <a:latin typeface="Quattrocento Sans"/>
                <a:ea typeface="Quattrocento Sans"/>
              </a:rPr>
              <a:t> Mutual destruction occurs if neither swerves.</a:t>
            </a:r>
            <a:endParaRPr b="0" lang="en-HK" sz="1270" spc="-1" strike="noStrike">
              <a:latin typeface="Arial"/>
            </a:endParaRPr>
          </a:p>
        </p:txBody>
      </p:sp>
      <p:sp>
        <p:nvSpPr>
          <p:cNvPr id="295" name="Text 13"/>
          <p:cNvSpPr/>
          <p:nvPr/>
        </p:nvSpPr>
        <p:spPr>
          <a:xfrm>
            <a:off x="6239520" y="2317320"/>
            <a:ext cx="5665320" cy="698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30" spc="-1" strike="noStrike">
                <a:solidFill>
                  <a:srgbClr val="636e72"/>
                </a:solidFill>
                <a:latin typeface="Quattrocento Sans"/>
                <a:ea typeface="Quattrocento Sans"/>
              </a:rPr>
              <a:t>This game models brinkmanship—pushing situations to the edge of disaster to force opponent concession. It has profound implications for nuclear strategy and conflict resolution.</a:t>
            </a:r>
            <a:endParaRPr b="0" lang="en-HK" sz="1130" spc="-1" strike="noStrike">
              <a:latin typeface="Arial"/>
            </a:endParaRPr>
          </a:p>
        </p:txBody>
      </p:sp>
      <p:sp>
        <p:nvSpPr>
          <p:cNvPr id="296" name="Shape 14"/>
          <p:cNvSpPr/>
          <p:nvPr/>
        </p:nvSpPr>
        <p:spPr>
          <a:xfrm>
            <a:off x="6243840" y="3164400"/>
            <a:ext cx="5584680" cy="1873440"/>
          </a:xfrm>
          <a:custGeom>
            <a:avLst/>
            <a:gdLst/>
            <a:ahLst/>
            <a:rect l="l" t="t" r="r" b="b"/>
            <a:pathLst>
              <a:path w="5585012" h="1873624">
                <a:moveTo>
                  <a:pt x="0" y="0"/>
                </a:moveTo>
                <a:lnTo>
                  <a:pt x="5585012" y="0"/>
                </a:lnTo>
                <a:lnTo>
                  <a:pt x="5585012" y="1873624"/>
                </a:lnTo>
                <a:lnTo>
                  <a:pt x="0" y="1873624"/>
                </a:lnTo>
                <a:lnTo>
                  <a:pt x="0" y="0"/>
                </a:lnTo>
                <a:close/>
              </a:path>
            </a:pathLst>
          </a:custGeom>
          <a:solidFill>
            <a:srgbClr val="ffffff"/>
          </a:solidFill>
          <a:ln w="12700">
            <a:solidFill>
              <a:srgbClr val="e0e0e0"/>
            </a:solidFill>
            <a:round/>
          </a:ln>
        </p:spPr>
        <p:style>
          <a:lnRef idx="0"/>
          <a:fillRef idx="0"/>
          <a:effectRef idx="0"/>
          <a:fontRef idx="minor"/>
        </p:style>
      </p:sp>
      <p:sp>
        <p:nvSpPr>
          <p:cNvPr id="297" name="Text 15"/>
          <p:cNvSpPr/>
          <p:nvPr/>
        </p:nvSpPr>
        <p:spPr>
          <a:xfrm>
            <a:off x="6351480" y="3312360"/>
            <a:ext cx="5369400" cy="2505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270" spc="-1" strike="noStrike">
                <a:solidFill>
                  <a:srgbClr val="2d3436"/>
                </a:solidFill>
                <a:latin typeface="Oranienbaum"/>
                <a:ea typeface="Oranienbaum"/>
              </a:rPr>
              <a:t>Payoff Matrix</a:t>
            </a:r>
            <a:endParaRPr b="0" lang="en-HK" sz="1270" spc="-1" strike="noStrike">
              <a:latin typeface="Arial"/>
            </a:endParaRPr>
          </a:p>
        </p:txBody>
      </p:sp>
      <p:graphicFrame>
        <p:nvGraphicFramePr>
          <p:cNvPr id="298" name="Table 1"/>
          <p:cNvGraphicFramePr/>
          <p:nvPr/>
        </p:nvGraphicFramePr>
        <p:xfrm>
          <a:off x="6391800" y="3635280"/>
          <a:ext cx="5288760" cy="1003680"/>
        </p:xfrm>
        <a:graphic>
          <a:graphicData uri="http://schemas.openxmlformats.org/drawingml/2006/table">
            <a:tbl>
              <a:tblPr/>
              <a:tblGrid>
                <a:gridCol w="1777680"/>
                <a:gridCol w="1751040"/>
                <a:gridCol w="1760040"/>
              </a:tblGrid>
              <a:tr h="334440">
                <a:tc>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tIns="71640" bIns="71640" anchor="ctr">
                      <a:noAutofit/>
                    </a:bodyPr>
                    <a:p>
                      <a:pPr algn="ctr">
                        <a:lnSpc>
                          <a:spcPct val="100000"/>
                        </a:lnSpc>
                        <a:buNone/>
                      </a:pPr>
                      <a:r>
                        <a:rPr b="1" lang="en-US" sz="900" spc="-1" strike="noStrike">
                          <a:solidFill>
                            <a:srgbClr val="2d3436"/>
                          </a:solidFill>
                          <a:latin typeface="微软雅黑"/>
                          <a:ea typeface="微软雅黑"/>
                        </a:rPr>
                        <a:t>Driver B: Swerve</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tIns="71640" bIns="71640" anchor="ctr">
                      <a:noAutofit/>
                    </a:bodyPr>
                    <a:p>
                      <a:pPr algn="ctr">
                        <a:lnSpc>
                          <a:spcPct val="100000"/>
                        </a:lnSpc>
                        <a:buNone/>
                      </a:pPr>
                      <a:r>
                        <a:rPr b="1" lang="en-US" sz="900" spc="-1" strike="noStrike">
                          <a:solidFill>
                            <a:srgbClr val="2d3436"/>
                          </a:solidFill>
                          <a:latin typeface="微软雅黑"/>
                          <a:ea typeface="微软雅黑"/>
                        </a:rPr>
                        <a:t>Driver B: Straight</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r>
              <a:tr h="334440">
                <a:tc>
                  <a:txBody>
                    <a:bodyPr lIns="71640" rIns="71640" tIns="71640" bIns="71640" anchor="ctr">
                      <a:noAutofit/>
                    </a:bodyPr>
                    <a:p>
                      <a:pPr>
                        <a:lnSpc>
                          <a:spcPct val="100000"/>
                        </a:lnSpc>
                        <a:buNone/>
                      </a:pPr>
                      <a:r>
                        <a:rPr b="1" lang="en-US" sz="900" spc="-1" strike="noStrike">
                          <a:solidFill>
                            <a:srgbClr val="2d3436"/>
                          </a:solidFill>
                          <a:latin typeface="微软雅黑"/>
                          <a:ea typeface="微软雅黑"/>
                        </a:rPr>
                        <a:t>Driver A: Swerve</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tIns="71640" bIns="71640" anchor="ctr">
                      <a:noAutofit/>
                    </a:bodyPr>
                    <a:p>
                      <a:pPr algn="ctr">
                        <a:lnSpc>
                          <a:spcPct val="100000"/>
                        </a:lnSpc>
                        <a:buNone/>
                      </a:pPr>
                      <a:r>
                        <a:rPr b="0" lang="en-US" sz="900" spc="-1" strike="noStrike">
                          <a:solidFill>
                            <a:srgbClr val="1e272e"/>
                          </a:solidFill>
                          <a:latin typeface="微软雅黑"/>
                          <a:ea typeface="微软雅黑"/>
                        </a:rPr>
                        <a:t>(0, 0)</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noFill/>
                  </a:tcPr>
                </a:tc>
                <a:tc>
                  <a:txBody>
                    <a:bodyPr lIns="71640" rIns="71640" tIns="71640" bIns="71640" anchor="ctr">
                      <a:noAutofit/>
                    </a:bodyPr>
                    <a:p>
                      <a:pPr algn="ctr">
                        <a:lnSpc>
                          <a:spcPct val="100000"/>
                        </a:lnSpc>
                        <a:buNone/>
                      </a:pPr>
                      <a:r>
                        <a:rPr b="0" lang="en-US" sz="900" spc="-1" strike="noStrike">
                          <a:solidFill>
                            <a:srgbClr val="1e272e"/>
                          </a:solidFill>
                          <a:latin typeface="微软雅黑"/>
                          <a:ea typeface="微软雅黑"/>
                        </a:rPr>
                        <a:t>(-1, 2)</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noFill/>
                  </a:tcPr>
                </a:tc>
              </a:tr>
              <a:tr h="334800">
                <a:tc>
                  <a:txBody>
                    <a:bodyPr lIns="71640" rIns="71640" tIns="71640" bIns="71640" anchor="ctr">
                      <a:noAutofit/>
                    </a:bodyPr>
                    <a:p>
                      <a:pPr>
                        <a:lnSpc>
                          <a:spcPct val="100000"/>
                        </a:lnSpc>
                        <a:buNone/>
                      </a:pPr>
                      <a:r>
                        <a:rPr b="1" lang="en-US" sz="900" spc="-1" strike="noStrike">
                          <a:solidFill>
                            <a:srgbClr val="2d3436"/>
                          </a:solidFill>
                          <a:latin typeface="微软雅黑"/>
                          <a:ea typeface="微软雅黑"/>
                        </a:rPr>
                        <a:t>Driver A: Straight</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tIns="71640" bIns="71640" anchor="ctr">
                      <a:noAutofit/>
                    </a:bodyPr>
                    <a:p>
                      <a:pPr algn="ctr">
                        <a:lnSpc>
                          <a:spcPct val="100000"/>
                        </a:lnSpc>
                        <a:buNone/>
                      </a:pPr>
                      <a:r>
                        <a:rPr b="0" lang="en-US" sz="900" spc="-1" strike="noStrike">
                          <a:solidFill>
                            <a:srgbClr val="1e272e"/>
                          </a:solidFill>
                          <a:latin typeface="微软雅黑"/>
                          <a:ea typeface="微软雅黑"/>
                        </a:rPr>
                        <a:t>(2, -1)</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noFill/>
                  </a:tcPr>
                </a:tc>
                <a:tc>
                  <a:txBody>
                    <a:bodyPr lIns="71640" rIns="71640" tIns="71640" bIns="71640" anchor="ctr">
                      <a:noAutofit/>
                    </a:bodyPr>
                    <a:p>
                      <a:pPr algn="ctr">
                        <a:lnSpc>
                          <a:spcPct val="100000"/>
                        </a:lnSpc>
                        <a:buNone/>
                      </a:pPr>
                      <a:r>
                        <a:rPr b="0" lang="en-US" sz="900" spc="-1" strike="noStrike">
                          <a:solidFill>
                            <a:srgbClr val="1e272e"/>
                          </a:solidFill>
                          <a:latin typeface="微软雅黑"/>
                          <a:ea typeface="微软雅黑"/>
                        </a:rPr>
                        <a:t>(-10, -10)</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b2c36"/>
                    </a:solidFill>
                  </a:tcPr>
                </a:tc>
              </a:tr>
            </a:tbl>
          </a:graphicData>
        </a:graphic>
      </p:graphicFrame>
      <p:sp>
        <p:nvSpPr>
          <p:cNvPr id="299" name="Text 16"/>
          <p:cNvSpPr/>
          <p:nvPr/>
        </p:nvSpPr>
        <p:spPr>
          <a:xfrm>
            <a:off x="6360480" y="4710960"/>
            <a:ext cx="5351400" cy="1789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89" spc="-1" strike="noStrike">
                <a:solidFill>
                  <a:srgbClr val="636e72"/>
                </a:solidFill>
                <a:latin typeface="Quattrocento Sans"/>
                <a:ea typeface="Quattrocento Sans"/>
              </a:rPr>
              <a:t>Mutual destruction (highlighted in red) is the worst outcome</a:t>
            </a:r>
            <a:endParaRPr b="0" lang="en-HK" sz="989" spc="-1" strike="noStrike">
              <a:latin typeface="Arial"/>
            </a:endParaRPr>
          </a:p>
        </p:txBody>
      </p:sp>
      <p:sp>
        <p:nvSpPr>
          <p:cNvPr id="300" name="Shape 17"/>
          <p:cNvSpPr/>
          <p:nvPr/>
        </p:nvSpPr>
        <p:spPr>
          <a:xfrm>
            <a:off x="6239520" y="5186160"/>
            <a:ext cx="5593680" cy="1308600"/>
          </a:xfrm>
          <a:custGeom>
            <a:avLst/>
            <a:gdLst/>
            <a:ahLst/>
            <a:rect l="l" t="t" r="r" b="b"/>
            <a:pathLst>
              <a:path w="5593976" h="1308847">
                <a:moveTo>
                  <a:pt x="0" y="0"/>
                </a:moveTo>
                <a:lnTo>
                  <a:pt x="5593976" y="0"/>
                </a:lnTo>
                <a:lnTo>
                  <a:pt x="5593976" y="1308847"/>
                </a:lnTo>
                <a:lnTo>
                  <a:pt x="0" y="1308847"/>
                </a:lnTo>
                <a:lnTo>
                  <a:pt x="0" y="0"/>
                </a:lnTo>
                <a:close/>
              </a:path>
            </a:pathLst>
          </a:custGeom>
          <a:solidFill>
            <a:srgbClr val="2d3436"/>
          </a:solidFill>
          <a:ln w="0">
            <a:noFill/>
          </a:ln>
        </p:spPr>
        <p:style>
          <a:lnRef idx="0"/>
          <a:fillRef idx="0"/>
          <a:effectRef idx="0"/>
          <a:fontRef idx="minor"/>
        </p:style>
      </p:sp>
      <p:sp>
        <p:nvSpPr>
          <p:cNvPr id="301" name="Text 18"/>
          <p:cNvSpPr/>
          <p:nvPr/>
        </p:nvSpPr>
        <p:spPr>
          <a:xfrm>
            <a:off x="6382800" y="5329440"/>
            <a:ext cx="5387400" cy="250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70" spc="-1" strike="noStrike">
                <a:solidFill>
                  <a:srgbClr val="ffffff"/>
                </a:solidFill>
                <a:latin typeface="Oranienbaum"/>
                <a:ea typeface="Oranienbaum"/>
              </a:rPr>
              <a:t>Nuclear Deterrence Application</a:t>
            </a:r>
            <a:endParaRPr b="0" lang="en-HK" sz="1270" spc="-1" strike="noStrike">
              <a:latin typeface="Arial"/>
            </a:endParaRPr>
          </a:p>
        </p:txBody>
      </p:sp>
      <p:sp>
        <p:nvSpPr>
          <p:cNvPr id="302" name="Text 19"/>
          <p:cNvSpPr/>
          <p:nvPr/>
        </p:nvSpPr>
        <p:spPr>
          <a:xfrm>
            <a:off x="6382800" y="5652360"/>
            <a:ext cx="5378400" cy="698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30" spc="-1" strike="noStrike">
                <a:solidFill>
                  <a:srgbClr val="e0e0e0"/>
                </a:solidFill>
                <a:latin typeface="Quattrocento Sans"/>
                <a:ea typeface="Quattrocento Sans"/>
              </a:rPr>
              <a:t>During the Cold War, the Chicken Game modeled nuclear brinkmanship. Both superpowers threatened mutual assured destruction (MAD) to deter first strikes. The key was making threats credible while avoiding actual catastrophe.</a:t>
            </a:r>
            <a:endParaRPr b="0" lang="en-HK" sz="113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3" name="Text 0"/>
          <p:cNvSpPr/>
          <p:nvPr/>
        </p:nvSpPr>
        <p:spPr>
          <a:xfrm>
            <a:off x="609480" y="1781280"/>
            <a:ext cx="12191760" cy="12189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06</a:t>
            </a:r>
            <a:endParaRPr b="0" lang="en-HK" sz="9600" spc="-1" strike="noStrike">
              <a:latin typeface="Arial"/>
            </a:endParaRPr>
          </a:p>
        </p:txBody>
      </p:sp>
      <p:sp>
        <p:nvSpPr>
          <p:cNvPr id="304" name="Text 1"/>
          <p:cNvSpPr/>
          <p:nvPr/>
        </p:nvSpPr>
        <p:spPr>
          <a:xfrm>
            <a:off x="609480" y="3152880"/>
            <a:ext cx="11867760" cy="11426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Real-World</a:t>
            </a:r>
            <a:endParaRPr b="0" lang="en-HK" sz="4500" spc="-1" strike="noStrike">
              <a:latin typeface="Arial"/>
            </a:endParaRPr>
          </a:p>
          <a:p>
            <a:pPr>
              <a:lnSpc>
                <a:spcPct val="80000"/>
              </a:lnSpc>
              <a:buNone/>
            </a:pPr>
            <a:r>
              <a:rPr b="1" lang="en-US" sz="4500" spc="-1" strike="noStrike">
                <a:solidFill>
                  <a:srgbClr val="2d3436"/>
                </a:solidFill>
                <a:latin typeface="Oranienbaum"/>
                <a:ea typeface="Oranienbaum"/>
              </a:rPr>
              <a:t>Applications</a:t>
            </a:r>
            <a:endParaRPr b="0" lang="en-HK" sz="4500" spc="-1" strike="noStrike">
              <a:latin typeface="Arial"/>
            </a:endParaRPr>
          </a:p>
        </p:txBody>
      </p:sp>
      <p:sp>
        <p:nvSpPr>
          <p:cNvPr id="305" name="Shape 2"/>
          <p:cNvSpPr/>
          <p:nvPr/>
        </p:nvSpPr>
        <p:spPr>
          <a:xfrm>
            <a:off x="609480" y="4524480"/>
            <a:ext cx="1218960" cy="1872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306" name="Text 3"/>
          <p:cNvSpPr/>
          <p:nvPr/>
        </p:nvSpPr>
        <p:spPr>
          <a:xfrm>
            <a:off x="609480" y="4772160"/>
            <a:ext cx="11696400" cy="3045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Game theory in action across disciplines</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7" name="Text 0"/>
          <p:cNvSpPr/>
          <p:nvPr/>
        </p:nvSpPr>
        <p:spPr>
          <a:xfrm>
            <a:off x="380880" y="380880"/>
            <a:ext cx="1150596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58" strike="noStrike">
                <a:solidFill>
                  <a:srgbClr val="0984e3"/>
                </a:solidFill>
                <a:latin typeface="Quattrocento Sans"/>
                <a:ea typeface="Quattrocento Sans"/>
              </a:rPr>
              <a:t>APPLICATION DOMAIN</a:t>
            </a:r>
            <a:endParaRPr b="0" lang="en-HK" sz="1200" spc="-1" strike="noStrike">
              <a:latin typeface="Arial"/>
            </a:endParaRPr>
          </a:p>
        </p:txBody>
      </p:sp>
      <p:sp>
        <p:nvSpPr>
          <p:cNvPr id="308" name="Text 1"/>
          <p:cNvSpPr/>
          <p:nvPr/>
        </p:nvSpPr>
        <p:spPr>
          <a:xfrm>
            <a:off x="380880" y="685800"/>
            <a:ext cx="11658240" cy="456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Economics &amp; Business Strategy</a:t>
            </a:r>
            <a:endParaRPr b="0" lang="en-HK" sz="3600" spc="-1" strike="noStrike">
              <a:latin typeface="Arial"/>
            </a:endParaRPr>
          </a:p>
        </p:txBody>
      </p:sp>
      <p:sp>
        <p:nvSpPr>
          <p:cNvPr id="309" name="Text 2"/>
          <p:cNvSpPr/>
          <p:nvPr/>
        </p:nvSpPr>
        <p:spPr>
          <a:xfrm>
            <a:off x="380880" y="1295280"/>
            <a:ext cx="7648200" cy="933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500" spc="-1" strike="noStrike">
                <a:solidFill>
                  <a:srgbClr val="1e272e"/>
                </a:solidFill>
                <a:latin typeface="Quattrocento Sans"/>
                <a:ea typeface="Quattrocento Sans"/>
              </a:rPr>
              <a:t>Game theory revolutionized economics by providing rigorous tools to model strategic interactions among firms, consumers, and market participants.</a:t>
            </a:r>
            <a:r>
              <a:rPr b="0" lang="en-US" sz="1500" spc="-1" strike="noStrike">
                <a:solidFill>
                  <a:srgbClr val="1e272e"/>
                </a:solidFill>
                <a:latin typeface="Quattrocento Sans"/>
                <a:ea typeface="Quattrocento Sans"/>
              </a:rPr>
              <a:t> It enables prediction of competitor behavior and optimization of strategic decisions.</a:t>
            </a:r>
            <a:endParaRPr b="0" lang="en-HK" sz="1500" spc="-1" strike="noStrike">
              <a:latin typeface="Arial"/>
            </a:endParaRPr>
          </a:p>
        </p:txBody>
      </p:sp>
      <p:sp>
        <p:nvSpPr>
          <p:cNvPr id="310" name="Shape 3"/>
          <p:cNvSpPr/>
          <p:nvPr/>
        </p:nvSpPr>
        <p:spPr>
          <a:xfrm>
            <a:off x="385920" y="2381400"/>
            <a:ext cx="3695400" cy="1723680"/>
          </a:xfrm>
          <a:custGeom>
            <a:avLst/>
            <a:gdLst/>
            <a:ahLst/>
            <a:rect l="l" t="t" r="r" b="b"/>
            <a:pathLst>
              <a:path w="3695700" h="1724025">
                <a:moveTo>
                  <a:pt x="0" y="0"/>
                </a:moveTo>
                <a:lnTo>
                  <a:pt x="3695700" y="0"/>
                </a:lnTo>
                <a:lnTo>
                  <a:pt x="3695700" y="1724025"/>
                </a:lnTo>
                <a:lnTo>
                  <a:pt x="0" y="1724025"/>
                </a:lnTo>
                <a:lnTo>
                  <a:pt x="0" y="0"/>
                </a:lnTo>
                <a:close/>
              </a:path>
            </a:pathLst>
          </a:custGeom>
          <a:solidFill>
            <a:srgbClr val="ffffff"/>
          </a:solidFill>
          <a:ln w="12700">
            <a:solidFill>
              <a:srgbClr val="e0e0e0"/>
            </a:solidFill>
            <a:round/>
          </a:ln>
        </p:spPr>
        <p:style>
          <a:lnRef idx="0"/>
          <a:fillRef idx="0"/>
          <a:effectRef idx="0"/>
          <a:fontRef idx="minor"/>
        </p:style>
      </p:sp>
      <p:sp>
        <p:nvSpPr>
          <p:cNvPr id="311" name="Text 4"/>
          <p:cNvSpPr/>
          <p:nvPr/>
        </p:nvSpPr>
        <p:spPr>
          <a:xfrm>
            <a:off x="542880" y="2538360"/>
            <a:ext cx="347616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Oligopoly Competition</a:t>
            </a:r>
            <a:endParaRPr b="0" lang="en-HK" sz="1500" spc="-1" strike="noStrike">
              <a:latin typeface="Arial"/>
            </a:endParaRPr>
          </a:p>
        </p:txBody>
      </p:sp>
      <p:sp>
        <p:nvSpPr>
          <p:cNvPr id="312" name="Text 5"/>
          <p:cNvSpPr/>
          <p:nvPr/>
        </p:nvSpPr>
        <p:spPr>
          <a:xfrm>
            <a:off x="542880" y="2881440"/>
            <a:ext cx="3457080" cy="495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636e72"/>
                </a:solidFill>
                <a:latin typeface="Quattrocento Sans"/>
                <a:ea typeface="Quattrocento Sans"/>
              </a:rPr>
              <a:t>Cournot Model:</a:t>
            </a:r>
            <a:r>
              <a:rPr b="0" lang="en-US" sz="1200" spc="-1" strike="noStrike">
                <a:solidFill>
                  <a:srgbClr val="636e72"/>
                </a:solidFill>
                <a:latin typeface="Quattrocento Sans"/>
                <a:ea typeface="Quattrocento Sans"/>
              </a:rPr>
              <a:t> Firms compete by choosing quantities simultaneously.</a:t>
            </a:r>
            <a:endParaRPr b="0" lang="en-HK" sz="1200" spc="-1" strike="noStrike">
              <a:latin typeface="Arial"/>
            </a:endParaRPr>
          </a:p>
        </p:txBody>
      </p:sp>
      <p:sp>
        <p:nvSpPr>
          <p:cNvPr id="313" name="Text 6"/>
          <p:cNvSpPr/>
          <p:nvPr/>
        </p:nvSpPr>
        <p:spPr>
          <a:xfrm>
            <a:off x="542880" y="3452760"/>
            <a:ext cx="3457080" cy="495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636e72"/>
                </a:solidFill>
                <a:latin typeface="Quattrocento Sans"/>
                <a:ea typeface="Quattrocento Sans"/>
              </a:rPr>
              <a:t>Bertrand Model:</a:t>
            </a:r>
            <a:r>
              <a:rPr b="0" lang="en-US" sz="1200" spc="-1" strike="noStrike">
                <a:solidFill>
                  <a:srgbClr val="636e72"/>
                </a:solidFill>
                <a:latin typeface="Quattrocento Sans"/>
                <a:ea typeface="Quattrocento Sans"/>
              </a:rPr>
              <a:t> Firms compete by setting prices, undercutting rivals.</a:t>
            </a:r>
            <a:endParaRPr b="0" lang="en-HK" sz="1200" spc="-1" strike="noStrike">
              <a:latin typeface="Arial"/>
            </a:endParaRPr>
          </a:p>
        </p:txBody>
      </p:sp>
      <p:sp>
        <p:nvSpPr>
          <p:cNvPr id="314" name="Shape 7"/>
          <p:cNvSpPr/>
          <p:nvPr/>
        </p:nvSpPr>
        <p:spPr>
          <a:xfrm>
            <a:off x="4240080" y="2381400"/>
            <a:ext cx="3695400" cy="1723680"/>
          </a:xfrm>
          <a:custGeom>
            <a:avLst/>
            <a:gdLst/>
            <a:ahLst/>
            <a:rect l="l" t="t" r="r" b="b"/>
            <a:pathLst>
              <a:path w="3695700" h="1724025">
                <a:moveTo>
                  <a:pt x="0" y="0"/>
                </a:moveTo>
                <a:lnTo>
                  <a:pt x="3695700" y="0"/>
                </a:lnTo>
                <a:lnTo>
                  <a:pt x="3695700" y="1724025"/>
                </a:lnTo>
                <a:lnTo>
                  <a:pt x="0" y="1724025"/>
                </a:lnTo>
                <a:lnTo>
                  <a:pt x="0" y="0"/>
                </a:lnTo>
                <a:close/>
              </a:path>
            </a:pathLst>
          </a:custGeom>
          <a:solidFill>
            <a:srgbClr val="ffffff"/>
          </a:solidFill>
          <a:ln w="12700">
            <a:solidFill>
              <a:srgbClr val="e0e0e0"/>
            </a:solidFill>
            <a:round/>
          </a:ln>
        </p:spPr>
        <p:style>
          <a:lnRef idx="0"/>
          <a:fillRef idx="0"/>
          <a:effectRef idx="0"/>
          <a:fontRef idx="minor"/>
        </p:style>
      </p:sp>
      <p:sp>
        <p:nvSpPr>
          <p:cNvPr id="315" name="Text 8"/>
          <p:cNvSpPr/>
          <p:nvPr/>
        </p:nvSpPr>
        <p:spPr>
          <a:xfrm>
            <a:off x="4397400" y="2538360"/>
            <a:ext cx="347616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Auction Design</a:t>
            </a:r>
            <a:endParaRPr b="0" lang="en-HK" sz="1500" spc="-1" strike="noStrike">
              <a:latin typeface="Arial"/>
            </a:endParaRPr>
          </a:p>
        </p:txBody>
      </p:sp>
      <p:sp>
        <p:nvSpPr>
          <p:cNvPr id="316" name="Text 9"/>
          <p:cNvSpPr/>
          <p:nvPr/>
        </p:nvSpPr>
        <p:spPr>
          <a:xfrm>
            <a:off x="4397400" y="2881440"/>
            <a:ext cx="3457080" cy="495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636e72"/>
                </a:solidFill>
                <a:latin typeface="Quattrocento Sans"/>
                <a:ea typeface="Quattrocento Sans"/>
              </a:rPr>
              <a:t>Mechanism Design:</a:t>
            </a:r>
            <a:r>
              <a:rPr b="0" lang="en-US" sz="1200" spc="-1" strike="noStrike">
                <a:solidFill>
                  <a:srgbClr val="636e72"/>
                </a:solidFill>
                <a:latin typeface="Quattrocento Sans"/>
                <a:ea typeface="Quattrocento Sans"/>
              </a:rPr>
              <a:t> Creating rules to achieve efficient outcomes.</a:t>
            </a:r>
            <a:endParaRPr b="0" lang="en-HK" sz="1200" spc="-1" strike="noStrike">
              <a:latin typeface="Arial"/>
            </a:endParaRPr>
          </a:p>
        </p:txBody>
      </p:sp>
      <p:sp>
        <p:nvSpPr>
          <p:cNvPr id="317" name="Text 10"/>
          <p:cNvSpPr/>
          <p:nvPr/>
        </p:nvSpPr>
        <p:spPr>
          <a:xfrm>
            <a:off x="4397400" y="3452760"/>
            <a:ext cx="3457080" cy="495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636e72"/>
                </a:solidFill>
                <a:latin typeface="Quattrocento Sans"/>
                <a:ea typeface="Quattrocento Sans"/>
              </a:rPr>
              <a:t>Bidding Strategies:</a:t>
            </a:r>
            <a:r>
              <a:rPr b="0" lang="en-US" sz="1200" spc="-1" strike="noStrike">
                <a:solidFill>
                  <a:srgbClr val="636e72"/>
                </a:solidFill>
                <a:latin typeface="Quattrocento Sans"/>
                <a:ea typeface="Quattrocento Sans"/>
              </a:rPr>
              <a:t> Analyzing optimal behavior in different auction formats.</a:t>
            </a:r>
            <a:endParaRPr b="0" lang="en-HK" sz="1200" spc="-1" strike="noStrike">
              <a:latin typeface="Arial"/>
            </a:endParaRPr>
          </a:p>
        </p:txBody>
      </p:sp>
      <p:sp>
        <p:nvSpPr>
          <p:cNvPr id="318" name="Shape 11"/>
          <p:cNvSpPr/>
          <p:nvPr/>
        </p:nvSpPr>
        <p:spPr>
          <a:xfrm>
            <a:off x="399960" y="4262400"/>
            <a:ext cx="7534080" cy="1638000"/>
          </a:xfrm>
          <a:custGeom>
            <a:avLst/>
            <a:gdLst/>
            <a:ahLst/>
            <a:rect l="l" t="t" r="r" b="b"/>
            <a:pathLst>
              <a:path w="7534275" h="1638300">
                <a:moveTo>
                  <a:pt x="0" y="0"/>
                </a:moveTo>
                <a:lnTo>
                  <a:pt x="7534275" y="0"/>
                </a:lnTo>
                <a:lnTo>
                  <a:pt x="7534275" y="1638300"/>
                </a:lnTo>
                <a:lnTo>
                  <a:pt x="0" y="1638300"/>
                </a:lnTo>
                <a:lnTo>
                  <a:pt x="0" y="0"/>
                </a:lnTo>
                <a:close/>
              </a:path>
            </a:pathLst>
          </a:custGeom>
          <a:solidFill>
            <a:srgbClr val="f8f9fa"/>
          </a:solidFill>
          <a:ln w="0">
            <a:noFill/>
          </a:ln>
        </p:spPr>
        <p:style>
          <a:lnRef idx="0"/>
          <a:fillRef idx="0"/>
          <a:effectRef idx="0"/>
          <a:fontRef idx="minor"/>
        </p:style>
      </p:sp>
      <p:sp>
        <p:nvSpPr>
          <p:cNvPr id="319" name="Shape 12"/>
          <p:cNvSpPr/>
          <p:nvPr/>
        </p:nvSpPr>
        <p:spPr>
          <a:xfrm>
            <a:off x="399960" y="4262400"/>
            <a:ext cx="37800" cy="1638000"/>
          </a:xfrm>
          <a:custGeom>
            <a:avLst/>
            <a:gdLst/>
            <a:ahLst/>
            <a:rect l="l" t="t" r="r" b="b"/>
            <a:pathLst>
              <a:path w="38100" h="1638300">
                <a:moveTo>
                  <a:pt x="0" y="0"/>
                </a:moveTo>
                <a:lnTo>
                  <a:pt x="38100" y="0"/>
                </a:lnTo>
                <a:lnTo>
                  <a:pt x="38100" y="1638300"/>
                </a:lnTo>
                <a:lnTo>
                  <a:pt x="0" y="1638300"/>
                </a:lnTo>
                <a:lnTo>
                  <a:pt x="0" y="0"/>
                </a:lnTo>
                <a:close/>
              </a:path>
            </a:pathLst>
          </a:custGeom>
          <a:solidFill>
            <a:srgbClr val="0984e3"/>
          </a:solidFill>
          <a:ln w="0">
            <a:noFill/>
          </a:ln>
        </p:spPr>
        <p:style>
          <a:lnRef idx="0"/>
          <a:fillRef idx="0"/>
          <a:effectRef idx="0"/>
          <a:fontRef idx="minor"/>
        </p:style>
      </p:sp>
      <p:sp>
        <p:nvSpPr>
          <p:cNvPr id="320" name="Text 13"/>
          <p:cNvSpPr/>
          <p:nvPr/>
        </p:nvSpPr>
        <p:spPr>
          <a:xfrm>
            <a:off x="571680" y="4414680"/>
            <a:ext cx="730548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Strategic Business Decisions</a:t>
            </a:r>
            <a:endParaRPr b="0" lang="en-HK" sz="1500" spc="-1" strike="noStrike">
              <a:latin typeface="Arial"/>
            </a:endParaRPr>
          </a:p>
        </p:txBody>
      </p:sp>
      <p:sp>
        <p:nvSpPr>
          <p:cNvPr id="321" name="Shape 14"/>
          <p:cNvSpPr/>
          <p:nvPr/>
        </p:nvSpPr>
        <p:spPr>
          <a:xfrm>
            <a:off x="619200" y="4791240"/>
            <a:ext cx="95040" cy="151920"/>
          </a:xfrm>
          <a:custGeom>
            <a:avLst/>
            <a:gdLst/>
            <a:ahLst/>
            <a:rect l="l" t="t" r="r" b="b"/>
            <a:pathLst>
              <a:path w="95250" h="152400">
                <a:moveTo>
                  <a:pt x="40481" y="7144"/>
                </a:moveTo>
                <a:cubicBezTo>
                  <a:pt x="40481" y="3185"/>
                  <a:pt x="43666" y="0"/>
                  <a:pt x="47625" y="0"/>
                </a:cubicBezTo>
                <a:cubicBezTo>
                  <a:pt x="51584" y="0"/>
                  <a:pt x="54769" y="3185"/>
                  <a:pt x="54769" y="7144"/>
                </a:cubicBezTo>
                <a:lnTo>
                  <a:pt x="54769" y="19050"/>
                </a:lnTo>
                <a:lnTo>
                  <a:pt x="71438" y="19050"/>
                </a:lnTo>
                <a:cubicBezTo>
                  <a:pt x="76706" y="19050"/>
                  <a:pt x="80962" y="23306"/>
                  <a:pt x="80962" y="28575"/>
                </a:cubicBezTo>
                <a:cubicBezTo>
                  <a:pt x="80962" y="33844"/>
                  <a:pt x="76706" y="38100"/>
                  <a:pt x="71438" y="38100"/>
                </a:cubicBezTo>
                <a:lnTo>
                  <a:pt x="37237" y="38100"/>
                </a:lnTo>
                <a:cubicBezTo>
                  <a:pt x="29825" y="38100"/>
                  <a:pt x="23813" y="44113"/>
                  <a:pt x="23813" y="51524"/>
                </a:cubicBezTo>
                <a:cubicBezTo>
                  <a:pt x="23813" y="58222"/>
                  <a:pt x="28724" y="63877"/>
                  <a:pt x="35332" y="64830"/>
                </a:cubicBezTo>
                <a:lnTo>
                  <a:pt x="62597" y="68729"/>
                </a:lnTo>
                <a:cubicBezTo>
                  <a:pt x="78611" y="71021"/>
                  <a:pt x="90488" y="84713"/>
                  <a:pt x="90488" y="100876"/>
                </a:cubicBezTo>
                <a:cubicBezTo>
                  <a:pt x="90488" y="118824"/>
                  <a:pt x="75932" y="133350"/>
                  <a:pt x="58013" y="133350"/>
                </a:cubicBezTo>
                <a:lnTo>
                  <a:pt x="54769" y="133350"/>
                </a:lnTo>
                <a:lnTo>
                  <a:pt x="54769" y="145256"/>
                </a:lnTo>
                <a:cubicBezTo>
                  <a:pt x="54769" y="149215"/>
                  <a:pt x="51584" y="152400"/>
                  <a:pt x="47625" y="152400"/>
                </a:cubicBezTo>
                <a:cubicBezTo>
                  <a:pt x="43666" y="152400"/>
                  <a:pt x="40481" y="149215"/>
                  <a:pt x="40481" y="145256"/>
                </a:cubicBezTo>
                <a:lnTo>
                  <a:pt x="40481" y="133350"/>
                </a:lnTo>
                <a:lnTo>
                  <a:pt x="19050" y="133350"/>
                </a:lnTo>
                <a:cubicBezTo>
                  <a:pt x="13781" y="133350"/>
                  <a:pt x="9525" y="129094"/>
                  <a:pt x="9525" y="123825"/>
                </a:cubicBezTo>
                <a:cubicBezTo>
                  <a:pt x="9525" y="118556"/>
                  <a:pt x="13781" y="114300"/>
                  <a:pt x="19050" y="114300"/>
                </a:cubicBezTo>
                <a:lnTo>
                  <a:pt x="58013" y="114300"/>
                </a:lnTo>
                <a:cubicBezTo>
                  <a:pt x="65425" y="114300"/>
                  <a:pt x="71438" y="108287"/>
                  <a:pt x="71438" y="100876"/>
                </a:cubicBezTo>
                <a:cubicBezTo>
                  <a:pt x="71438" y="94178"/>
                  <a:pt x="66526" y="88523"/>
                  <a:pt x="59918" y="87570"/>
                </a:cubicBezTo>
                <a:lnTo>
                  <a:pt x="32653" y="83671"/>
                </a:lnTo>
                <a:cubicBezTo>
                  <a:pt x="16639" y="81409"/>
                  <a:pt x="4763" y="67687"/>
                  <a:pt x="4763" y="51524"/>
                </a:cubicBezTo>
                <a:cubicBezTo>
                  <a:pt x="4763" y="33605"/>
                  <a:pt x="19318" y="19050"/>
                  <a:pt x="37237" y="19050"/>
                </a:cubicBezTo>
                <a:lnTo>
                  <a:pt x="40481" y="19050"/>
                </a:lnTo>
                <a:lnTo>
                  <a:pt x="40481" y="7144"/>
                </a:lnTo>
                <a:close/>
              </a:path>
            </a:pathLst>
          </a:custGeom>
          <a:solidFill>
            <a:srgbClr val="0984e3"/>
          </a:solidFill>
          <a:ln w="0">
            <a:noFill/>
          </a:ln>
        </p:spPr>
        <p:style>
          <a:lnRef idx="0"/>
          <a:fillRef idx="0"/>
          <a:effectRef idx="0"/>
          <a:fontRef idx="minor"/>
        </p:style>
      </p:sp>
      <p:sp>
        <p:nvSpPr>
          <p:cNvPr id="322" name="Text 15"/>
          <p:cNvSpPr/>
          <p:nvPr/>
        </p:nvSpPr>
        <p:spPr>
          <a:xfrm>
            <a:off x="819000" y="4757760"/>
            <a:ext cx="3362040" cy="456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Pricing:</a:t>
            </a:r>
            <a:r>
              <a:rPr b="0" lang="en-US" sz="1200" spc="-1" strike="noStrike">
                <a:solidFill>
                  <a:srgbClr val="636e72"/>
                </a:solidFill>
                <a:latin typeface="Quattrocento Sans"/>
                <a:ea typeface="Quattrocento Sans"/>
              </a:rPr>
              <a:t> Optimal pricing under competitive pressure</a:t>
            </a:r>
            <a:endParaRPr b="0" lang="en-HK" sz="1200" spc="-1" strike="noStrike">
              <a:latin typeface="Arial"/>
            </a:endParaRPr>
          </a:p>
        </p:txBody>
      </p:sp>
      <p:sp>
        <p:nvSpPr>
          <p:cNvPr id="323" name="Shape 16"/>
          <p:cNvSpPr/>
          <p:nvPr/>
        </p:nvSpPr>
        <p:spPr>
          <a:xfrm>
            <a:off x="4282920" y="4791240"/>
            <a:ext cx="132840" cy="151920"/>
          </a:xfrm>
          <a:custGeom>
            <a:avLst/>
            <a:gdLst/>
            <a:ahLst/>
            <a:rect l="l" t="t" r="r" b="b"/>
            <a:pathLst>
              <a:path w="133350" h="152400">
                <a:moveTo>
                  <a:pt x="85725" y="0"/>
                </a:moveTo>
                <a:lnTo>
                  <a:pt x="38100" y="0"/>
                </a:lnTo>
                <a:cubicBezTo>
                  <a:pt x="32831" y="0"/>
                  <a:pt x="28575" y="4256"/>
                  <a:pt x="28575" y="9525"/>
                </a:cubicBezTo>
                <a:cubicBezTo>
                  <a:pt x="28575" y="14794"/>
                  <a:pt x="32831" y="19050"/>
                  <a:pt x="38100" y="19050"/>
                </a:cubicBezTo>
                <a:lnTo>
                  <a:pt x="38100" y="64145"/>
                </a:lnTo>
                <a:lnTo>
                  <a:pt x="2232" y="126891"/>
                </a:lnTo>
                <a:cubicBezTo>
                  <a:pt x="774" y="129480"/>
                  <a:pt x="0" y="132368"/>
                  <a:pt x="0" y="135344"/>
                </a:cubicBezTo>
                <a:cubicBezTo>
                  <a:pt x="0" y="144780"/>
                  <a:pt x="7620" y="152400"/>
                  <a:pt x="17056" y="152400"/>
                </a:cubicBezTo>
                <a:lnTo>
                  <a:pt x="116294" y="152400"/>
                </a:lnTo>
                <a:cubicBezTo>
                  <a:pt x="125700" y="152400"/>
                  <a:pt x="133350" y="144780"/>
                  <a:pt x="133350" y="135344"/>
                </a:cubicBezTo>
                <a:cubicBezTo>
                  <a:pt x="133350" y="132368"/>
                  <a:pt x="132576" y="129451"/>
                  <a:pt x="131118" y="126891"/>
                </a:cubicBezTo>
                <a:lnTo>
                  <a:pt x="95250" y="64145"/>
                </a:lnTo>
                <a:lnTo>
                  <a:pt x="95250" y="19050"/>
                </a:lnTo>
                <a:cubicBezTo>
                  <a:pt x="100519" y="19050"/>
                  <a:pt x="104775" y="14794"/>
                  <a:pt x="104775" y="9525"/>
                </a:cubicBezTo>
                <a:cubicBezTo>
                  <a:pt x="104775" y="4256"/>
                  <a:pt x="100519" y="0"/>
                  <a:pt x="95250" y="0"/>
                </a:cubicBezTo>
                <a:lnTo>
                  <a:pt x="85725" y="0"/>
                </a:lnTo>
                <a:close/>
                <a:moveTo>
                  <a:pt x="57150" y="64145"/>
                </a:moveTo>
                <a:lnTo>
                  <a:pt x="57150" y="19050"/>
                </a:lnTo>
                <a:lnTo>
                  <a:pt x="76200" y="19050"/>
                </a:lnTo>
                <a:lnTo>
                  <a:pt x="76200" y="64145"/>
                </a:lnTo>
                <a:cubicBezTo>
                  <a:pt x="76200" y="67449"/>
                  <a:pt x="77063" y="70723"/>
                  <a:pt x="78700" y="73610"/>
                </a:cubicBezTo>
                <a:lnTo>
                  <a:pt x="91083" y="95250"/>
                </a:lnTo>
                <a:lnTo>
                  <a:pt x="42267" y="95250"/>
                </a:lnTo>
                <a:lnTo>
                  <a:pt x="54650" y="73610"/>
                </a:lnTo>
                <a:cubicBezTo>
                  <a:pt x="56287" y="70723"/>
                  <a:pt x="57150" y="67479"/>
                  <a:pt x="57150" y="64145"/>
                </a:cubicBezTo>
                <a:close/>
              </a:path>
            </a:pathLst>
          </a:custGeom>
          <a:solidFill>
            <a:srgbClr val="0984e3"/>
          </a:solidFill>
          <a:ln w="0">
            <a:noFill/>
          </a:ln>
        </p:spPr>
        <p:style>
          <a:lnRef idx="0"/>
          <a:fillRef idx="0"/>
          <a:effectRef idx="0"/>
          <a:fontRef idx="minor"/>
        </p:style>
      </p:sp>
      <p:sp>
        <p:nvSpPr>
          <p:cNvPr id="324" name="Text 17"/>
          <p:cNvSpPr/>
          <p:nvPr/>
        </p:nvSpPr>
        <p:spPr>
          <a:xfrm>
            <a:off x="4502160" y="4757760"/>
            <a:ext cx="3362040" cy="456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R&amp;D:</a:t>
            </a:r>
            <a:r>
              <a:rPr b="0" lang="en-US" sz="1200" spc="-1" strike="noStrike">
                <a:solidFill>
                  <a:srgbClr val="636e72"/>
                </a:solidFill>
                <a:latin typeface="Quattrocento Sans"/>
                <a:ea typeface="Quattrocento Sans"/>
              </a:rPr>
              <a:t> Innovation races and patent strategies</a:t>
            </a:r>
            <a:endParaRPr b="0" lang="en-HK" sz="1200" spc="-1" strike="noStrike">
              <a:latin typeface="Arial"/>
            </a:endParaRPr>
          </a:p>
        </p:txBody>
      </p:sp>
      <p:sp>
        <p:nvSpPr>
          <p:cNvPr id="325" name="Shape 18"/>
          <p:cNvSpPr/>
          <p:nvPr/>
        </p:nvSpPr>
        <p:spPr>
          <a:xfrm>
            <a:off x="590400" y="5324400"/>
            <a:ext cx="151920" cy="151920"/>
          </a:xfrm>
          <a:custGeom>
            <a:avLst/>
            <a:gdLst/>
            <a:ahLst/>
            <a:rect l="l" t="t" r="r" b="b"/>
            <a:pathLst>
              <a:path w="152400" h="152400">
                <a:moveTo>
                  <a:pt x="19050" y="19050"/>
                </a:moveTo>
                <a:cubicBezTo>
                  <a:pt x="8543" y="19050"/>
                  <a:pt x="0" y="27593"/>
                  <a:pt x="0" y="38100"/>
                </a:cubicBezTo>
                <a:lnTo>
                  <a:pt x="0" y="114300"/>
                </a:lnTo>
                <a:cubicBezTo>
                  <a:pt x="0" y="124807"/>
                  <a:pt x="8543" y="133350"/>
                  <a:pt x="19050" y="133350"/>
                </a:cubicBezTo>
                <a:lnTo>
                  <a:pt x="133350" y="133350"/>
                </a:lnTo>
                <a:cubicBezTo>
                  <a:pt x="143857" y="133350"/>
                  <a:pt x="152400" y="124807"/>
                  <a:pt x="152400" y="114300"/>
                </a:cubicBezTo>
                <a:lnTo>
                  <a:pt x="152400" y="38100"/>
                </a:lnTo>
                <a:cubicBezTo>
                  <a:pt x="152400" y="27593"/>
                  <a:pt x="143857" y="19050"/>
                  <a:pt x="133350" y="19050"/>
                </a:cubicBezTo>
                <a:lnTo>
                  <a:pt x="19050" y="19050"/>
                </a:lnTo>
                <a:close/>
                <a:moveTo>
                  <a:pt x="123825" y="54769"/>
                </a:moveTo>
                <a:lnTo>
                  <a:pt x="123825" y="97631"/>
                </a:lnTo>
                <a:cubicBezTo>
                  <a:pt x="123825" y="101590"/>
                  <a:pt x="120640" y="104775"/>
                  <a:pt x="116681" y="104775"/>
                </a:cubicBezTo>
                <a:cubicBezTo>
                  <a:pt x="114568" y="104775"/>
                  <a:pt x="112663" y="103852"/>
                  <a:pt x="111353" y="102394"/>
                </a:cubicBezTo>
                <a:cubicBezTo>
                  <a:pt x="108317" y="103912"/>
                  <a:pt x="104864" y="104775"/>
                  <a:pt x="101203" y="104775"/>
                </a:cubicBezTo>
                <a:cubicBezTo>
                  <a:pt x="88702" y="104775"/>
                  <a:pt x="78581" y="94655"/>
                  <a:pt x="78581" y="82153"/>
                </a:cubicBezTo>
                <a:cubicBezTo>
                  <a:pt x="78581" y="69652"/>
                  <a:pt x="88702" y="59531"/>
                  <a:pt x="101203" y="59531"/>
                </a:cubicBezTo>
                <a:cubicBezTo>
                  <a:pt x="104150" y="59531"/>
                  <a:pt x="106948" y="60097"/>
                  <a:pt x="109537" y="61109"/>
                </a:cubicBezTo>
                <a:lnTo>
                  <a:pt x="109537" y="54769"/>
                </a:lnTo>
                <a:cubicBezTo>
                  <a:pt x="109537" y="50810"/>
                  <a:pt x="112722" y="47625"/>
                  <a:pt x="116681" y="47625"/>
                </a:cubicBezTo>
                <a:cubicBezTo>
                  <a:pt x="120640" y="47625"/>
                  <a:pt x="123825" y="50810"/>
                  <a:pt x="123825" y="54769"/>
                </a:cubicBezTo>
                <a:close/>
                <a:moveTo>
                  <a:pt x="109537" y="82153"/>
                </a:moveTo>
                <a:cubicBezTo>
                  <a:pt x="109537" y="77553"/>
                  <a:pt x="105803" y="73819"/>
                  <a:pt x="101203" y="73819"/>
                </a:cubicBezTo>
                <a:cubicBezTo>
                  <a:pt x="96603" y="73819"/>
                  <a:pt x="92869" y="77553"/>
                  <a:pt x="92869" y="82153"/>
                </a:cubicBezTo>
                <a:cubicBezTo>
                  <a:pt x="92869" y="86753"/>
                  <a:pt x="96603" y="90488"/>
                  <a:pt x="101203" y="90488"/>
                </a:cubicBezTo>
                <a:cubicBezTo>
                  <a:pt x="105803" y="90488"/>
                  <a:pt x="109537" y="86753"/>
                  <a:pt x="109537" y="82153"/>
                </a:cubicBezTo>
                <a:close/>
                <a:moveTo>
                  <a:pt x="47625" y="61912"/>
                </a:moveTo>
                <a:cubicBezTo>
                  <a:pt x="45006" y="61912"/>
                  <a:pt x="42863" y="64056"/>
                  <a:pt x="42863" y="66675"/>
                </a:cubicBezTo>
                <a:lnTo>
                  <a:pt x="42863" y="76200"/>
                </a:lnTo>
                <a:lnTo>
                  <a:pt x="57150" y="76200"/>
                </a:lnTo>
                <a:lnTo>
                  <a:pt x="57150" y="66675"/>
                </a:lnTo>
                <a:cubicBezTo>
                  <a:pt x="57150" y="64056"/>
                  <a:pt x="55007" y="61912"/>
                  <a:pt x="52388" y="61912"/>
                </a:cubicBezTo>
                <a:lnTo>
                  <a:pt x="47625" y="61912"/>
                </a:lnTo>
                <a:close/>
                <a:moveTo>
                  <a:pt x="57150" y="90488"/>
                </a:moveTo>
                <a:lnTo>
                  <a:pt x="42863" y="90488"/>
                </a:lnTo>
                <a:lnTo>
                  <a:pt x="42863" y="97631"/>
                </a:lnTo>
                <a:cubicBezTo>
                  <a:pt x="42863" y="101590"/>
                  <a:pt x="39678" y="104775"/>
                  <a:pt x="35719" y="104775"/>
                </a:cubicBezTo>
                <a:cubicBezTo>
                  <a:pt x="31760" y="104775"/>
                  <a:pt x="28575" y="101590"/>
                  <a:pt x="28575" y="97631"/>
                </a:cubicBezTo>
                <a:lnTo>
                  <a:pt x="28575" y="66675"/>
                </a:lnTo>
                <a:cubicBezTo>
                  <a:pt x="28575" y="56168"/>
                  <a:pt x="37118" y="47625"/>
                  <a:pt x="47625" y="47625"/>
                </a:cubicBezTo>
                <a:lnTo>
                  <a:pt x="52388" y="47625"/>
                </a:lnTo>
                <a:cubicBezTo>
                  <a:pt x="62895" y="47625"/>
                  <a:pt x="71438" y="56168"/>
                  <a:pt x="71438" y="66675"/>
                </a:cubicBezTo>
                <a:lnTo>
                  <a:pt x="71438" y="97631"/>
                </a:lnTo>
                <a:cubicBezTo>
                  <a:pt x="71438" y="101590"/>
                  <a:pt x="68253" y="104775"/>
                  <a:pt x="64294" y="104775"/>
                </a:cubicBezTo>
                <a:cubicBezTo>
                  <a:pt x="60335" y="104775"/>
                  <a:pt x="57150" y="101590"/>
                  <a:pt x="57150" y="97631"/>
                </a:cubicBezTo>
                <a:lnTo>
                  <a:pt x="57150" y="90488"/>
                </a:lnTo>
                <a:close/>
              </a:path>
            </a:pathLst>
          </a:custGeom>
          <a:solidFill>
            <a:srgbClr val="0984e3"/>
          </a:solidFill>
          <a:ln w="0">
            <a:noFill/>
          </a:ln>
        </p:spPr>
        <p:style>
          <a:lnRef idx="0"/>
          <a:fillRef idx="0"/>
          <a:effectRef idx="0"/>
          <a:fontRef idx="minor"/>
        </p:style>
      </p:sp>
      <p:sp>
        <p:nvSpPr>
          <p:cNvPr id="326" name="Text 19"/>
          <p:cNvSpPr/>
          <p:nvPr/>
        </p:nvSpPr>
        <p:spPr>
          <a:xfrm>
            <a:off x="819000" y="5291280"/>
            <a:ext cx="3362040" cy="456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Marketing:</a:t>
            </a:r>
            <a:r>
              <a:rPr b="0" lang="en-US" sz="1200" spc="-1" strike="noStrike">
                <a:solidFill>
                  <a:srgbClr val="636e72"/>
                </a:solidFill>
                <a:latin typeface="Quattrocento Sans"/>
                <a:ea typeface="Quattrocento Sans"/>
              </a:rPr>
              <a:t> Advertising campaigns and market positioning</a:t>
            </a:r>
            <a:endParaRPr b="0" lang="en-HK" sz="1200" spc="-1" strike="noStrike">
              <a:latin typeface="Arial"/>
            </a:endParaRPr>
          </a:p>
        </p:txBody>
      </p:sp>
      <p:sp>
        <p:nvSpPr>
          <p:cNvPr id="327" name="Shape 20"/>
          <p:cNvSpPr/>
          <p:nvPr/>
        </p:nvSpPr>
        <p:spPr>
          <a:xfrm>
            <a:off x="4263840" y="5324400"/>
            <a:ext cx="171000" cy="151920"/>
          </a:xfrm>
          <a:custGeom>
            <a:avLst/>
            <a:gdLst/>
            <a:ahLst/>
            <a:rect l="l" t="t" r="r" b="b"/>
            <a:pathLst>
              <a:path w="171450" h="152400">
                <a:moveTo>
                  <a:pt x="80040" y="25360"/>
                </a:moveTo>
                <a:lnTo>
                  <a:pt x="45333" y="63937"/>
                </a:lnTo>
                <a:cubicBezTo>
                  <a:pt x="43964" y="65455"/>
                  <a:pt x="44023" y="67806"/>
                  <a:pt x="45482" y="69265"/>
                </a:cubicBezTo>
                <a:cubicBezTo>
                  <a:pt x="54560" y="78343"/>
                  <a:pt x="69294" y="78343"/>
                  <a:pt x="78373" y="69265"/>
                </a:cubicBezTo>
                <a:lnTo>
                  <a:pt x="87838" y="59799"/>
                </a:lnTo>
                <a:cubicBezTo>
                  <a:pt x="89089" y="58549"/>
                  <a:pt x="90666" y="57864"/>
                  <a:pt x="92273" y="57745"/>
                </a:cubicBezTo>
                <a:cubicBezTo>
                  <a:pt x="94298" y="57567"/>
                  <a:pt x="96381" y="58251"/>
                  <a:pt x="97929" y="59799"/>
                </a:cubicBezTo>
                <a:lnTo>
                  <a:pt x="150495" y="111919"/>
                </a:lnTo>
                <a:lnTo>
                  <a:pt x="171450" y="95250"/>
                </a:lnTo>
                <a:lnTo>
                  <a:pt x="171450" y="9525"/>
                </a:lnTo>
                <a:lnTo>
                  <a:pt x="138113" y="28575"/>
                </a:lnTo>
                <a:lnTo>
                  <a:pt x="131028" y="23842"/>
                </a:lnTo>
                <a:cubicBezTo>
                  <a:pt x="126325" y="20717"/>
                  <a:pt x="120819" y="19050"/>
                  <a:pt x="115163" y="19050"/>
                </a:cubicBezTo>
                <a:lnTo>
                  <a:pt x="94208" y="19050"/>
                </a:lnTo>
                <a:cubicBezTo>
                  <a:pt x="93881" y="19050"/>
                  <a:pt x="93524" y="19050"/>
                  <a:pt x="93196" y="19080"/>
                </a:cubicBezTo>
                <a:cubicBezTo>
                  <a:pt x="88166" y="19348"/>
                  <a:pt x="83433" y="21610"/>
                  <a:pt x="80040" y="25360"/>
                </a:cubicBezTo>
                <a:close/>
                <a:moveTo>
                  <a:pt x="34707" y="54382"/>
                </a:moveTo>
                <a:lnTo>
                  <a:pt x="66496" y="19050"/>
                </a:lnTo>
                <a:lnTo>
                  <a:pt x="54709" y="19050"/>
                </a:lnTo>
                <a:cubicBezTo>
                  <a:pt x="47119" y="19050"/>
                  <a:pt x="39856" y="22056"/>
                  <a:pt x="34498" y="27414"/>
                </a:cubicBezTo>
                <a:lnTo>
                  <a:pt x="33338" y="28575"/>
                </a:lnTo>
                <a:lnTo>
                  <a:pt x="0" y="9525"/>
                </a:lnTo>
                <a:lnTo>
                  <a:pt x="0" y="95250"/>
                </a:lnTo>
                <a:lnTo>
                  <a:pt x="46553" y="134035"/>
                </a:lnTo>
                <a:cubicBezTo>
                  <a:pt x="53400" y="139750"/>
                  <a:pt x="62032" y="142875"/>
                  <a:pt x="70931" y="142875"/>
                </a:cubicBezTo>
                <a:lnTo>
                  <a:pt x="75605" y="142875"/>
                </a:lnTo>
                <a:lnTo>
                  <a:pt x="73521" y="140791"/>
                </a:lnTo>
                <a:cubicBezTo>
                  <a:pt x="70723" y="137993"/>
                  <a:pt x="70723" y="133469"/>
                  <a:pt x="73521" y="130701"/>
                </a:cubicBezTo>
                <a:cubicBezTo>
                  <a:pt x="76319" y="127933"/>
                  <a:pt x="80843" y="127903"/>
                  <a:pt x="83612" y="130701"/>
                </a:cubicBezTo>
                <a:lnTo>
                  <a:pt x="95816" y="142905"/>
                </a:lnTo>
                <a:lnTo>
                  <a:pt x="98494" y="142905"/>
                </a:lnTo>
                <a:cubicBezTo>
                  <a:pt x="104180" y="142905"/>
                  <a:pt x="109746" y="141625"/>
                  <a:pt x="114806" y="139244"/>
                </a:cubicBezTo>
                <a:lnTo>
                  <a:pt x="106859" y="131266"/>
                </a:lnTo>
                <a:cubicBezTo>
                  <a:pt x="104061" y="128468"/>
                  <a:pt x="104061" y="123944"/>
                  <a:pt x="106859" y="121176"/>
                </a:cubicBezTo>
                <a:cubicBezTo>
                  <a:pt x="109657" y="118408"/>
                  <a:pt x="114181" y="118378"/>
                  <a:pt x="116949" y="121176"/>
                </a:cubicBezTo>
                <a:lnTo>
                  <a:pt x="126474" y="130701"/>
                </a:lnTo>
                <a:lnTo>
                  <a:pt x="131683" y="125492"/>
                </a:lnTo>
                <a:cubicBezTo>
                  <a:pt x="134332" y="122843"/>
                  <a:pt x="135106" y="119003"/>
                  <a:pt x="133945" y="115639"/>
                </a:cubicBezTo>
                <a:lnTo>
                  <a:pt x="92899" y="74920"/>
                </a:lnTo>
                <a:lnTo>
                  <a:pt x="88463" y="79355"/>
                </a:lnTo>
                <a:cubicBezTo>
                  <a:pt x="73789" y="94030"/>
                  <a:pt x="50036" y="94030"/>
                  <a:pt x="35362" y="79355"/>
                </a:cubicBezTo>
                <a:cubicBezTo>
                  <a:pt x="28515" y="72509"/>
                  <a:pt x="28248" y="61526"/>
                  <a:pt x="34707" y="54352"/>
                </a:cubicBezTo>
                <a:close/>
              </a:path>
            </a:pathLst>
          </a:custGeom>
          <a:solidFill>
            <a:srgbClr val="0984e3"/>
          </a:solidFill>
          <a:ln w="0">
            <a:noFill/>
          </a:ln>
        </p:spPr>
        <p:style>
          <a:lnRef idx="0"/>
          <a:fillRef idx="0"/>
          <a:effectRef idx="0"/>
          <a:fontRef idx="minor"/>
        </p:style>
      </p:sp>
      <p:sp>
        <p:nvSpPr>
          <p:cNvPr id="328" name="Text 21"/>
          <p:cNvSpPr/>
          <p:nvPr/>
        </p:nvSpPr>
        <p:spPr>
          <a:xfrm>
            <a:off x="4502160" y="5291280"/>
            <a:ext cx="3362040" cy="456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Mergers:</a:t>
            </a:r>
            <a:r>
              <a:rPr b="0" lang="en-US" sz="1200" spc="-1" strike="noStrike">
                <a:solidFill>
                  <a:srgbClr val="636e72"/>
                </a:solidFill>
                <a:latin typeface="Quattrocento Sans"/>
                <a:ea typeface="Quattrocento Sans"/>
              </a:rPr>
              <a:t> Strategic acquisitions and antitrust analysis</a:t>
            </a:r>
            <a:endParaRPr b="0" lang="en-HK" sz="1200" spc="-1" strike="noStrike">
              <a:latin typeface="Arial"/>
            </a:endParaRPr>
          </a:p>
        </p:txBody>
      </p:sp>
      <p:sp>
        <p:nvSpPr>
          <p:cNvPr id="329" name="Shape 22"/>
          <p:cNvSpPr/>
          <p:nvPr/>
        </p:nvSpPr>
        <p:spPr>
          <a:xfrm>
            <a:off x="8132760" y="1300320"/>
            <a:ext cx="3676320" cy="2638080"/>
          </a:xfrm>
          <a:custGeom>
            <a:avLst/>
            <a:gdLst/>
            <a:ahLst/>
            <a:rect l="l" t="t" r="r" b="b"/>
            <a:pathLst>
              <a:path w="3676650" h="2638425">
                <a:moveTo>
                  <a:pt x="0" y="0"/>
                </a:moveTo>
                <a:lnTo>
                  <a:pt x="3676650" y="0"/>
                </a:lnTo>
                <a:lnTo>
                  <a:pt x="3676650" y="2638425"/>
                </a:lnTo>
                <a:lnTo>
                  <a:pt x="0" y="2638425"/>
                </a:lnTo>
                <a:lnTo>
                  <a:pt x="0" y="0"/>
                </a:lnTo>
                <a:close/>
              </a:path>
            </a:pathLst>
          </a:custGeom>
          <a:solidFill>
            <a:srgbClr val="ffffff"/>
          </a:solidFill>
          <a:ln w="12700">
            <a:solidFill>
              <a:srgbClr val="e0e0e0"/>
            </a:solidFill>
            <a:round/>
          </a:ln>
        </p:spPr>
        <p:style>
          <a:lnRef idx="0"/>
          <a:fillRef idx="0"/>
          <a:effectRef idx="0"/>
          <a:fontRef idx="minor"/>
        </p:style>
      </p:sp>
      <p:sp>
        <p:nvSpPr>
          <p:cNvPr id="330" name="Text 23"/>
          <p:cNvSpPr/>
          <p:nvPr/>
        </p:nvSpPr>
        <p:spPr>
          <a:xfrm>
            <a:off x="8242200" y="1457280"/>
            <a:ext cx="3457080" cy="2664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2d3436"/>
                </a:solidFill>
                <a:latin typeface="Oranienbaum"/>
                <a:ea typeface="Oranienbaum"/>
              </a:rPr>
              <a:t>Competitive Dynamics</a:t>
            </a:r>
            <a:endParaRPr b="0" lang="en-HK" sz="1500" spc="-1" strike="noStrike">
              <a:latin typeface="Arial"/>
            </a:endParaRPr>
          </a:p>
        </p:txBody>
      </p:sp>
      <p:sp>
        <p:nvSpPr>
          <p:cNvPr id="331" name="Image 0"/>
          <p:cNvSpPr/>
          <p:nvPr/>
        </p:nvSpPr>
        <p:spPr>
          <a:xfrm>
            <a:off x="8289720" y="1838160"/>
            <a:ext cx="3362040" cy="1333080"/>
          </a:xfrm>
          <a:prstGeom prst="roundRect">
            <a:avLst>
              <a:gd name="adj" fmla="val 0"/>
            </a:avLst>
          </a:prstGeom>
          <a:blipFill rotWithShape="0">
            <a:blip r:embed="rId1"/>
            <a:srcRect/>
            <a:stretch/>
          </a:blipFill>
          <a:ln w="0">
            <a:noFill/>
          </a:ln>
        </p:spPr>
        <p:style>
          <a:lnRef idx="0"/>
          <a:fillRef idx="0"/>
          <a:effectRef idx="0"/>
          <a:fontRef idx="minor"/>
        </p:style>
      </p:sp>
      <p:sp>
        <p:nvSpPr>
          <p:cNvPr id="332" name="Text 24"/>
          <p:cNvSpPr/>
          <p:nvPr/>
        </p:nvSpPr>
        <p:spPr>
          <a:xfrm>
            <a:off x="8251920" y="3286080"/>
            <a:ext cx="3438000" cy="49500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200" spc="-1" strike="noStrike">
                <a:solidFill>
                  <a:srgbClr val="636e72"/>
                </a:solidFill>
                <a:latin typeface="Quattrocento Sans"/>
                <a:ea typeface="Quattrocento Sans"/>
              </a:rPr>
              <a:t>Firms form strategic networks, competing and cooperating in complex ecosystems.</a:t>
            </a:r>
            <a:endParaRPr b="0" lang="en-HK" sz="1200" spc="-1" strike="noStrike">
              <a:latin typeface="Arial"/>
            </a:endParaRPr>
          </a:p>
        </p:txBody>
      </p:sp>
      <p:sp>
        <p:nvSpPr>
          <p:cNvPr id="333" name="Shape 25"/>
          <p:cNvSpPr/>
          <p:nvPr/>
        </p:nvSpPr>
        <p:spPr>
          <a:xfrm>
            <a:off x="8128080" y="4095720"/>
            <a:ext cx="3685680" cy="1638000"/>
          </a:xfrm>
          <a:custGeom>
            <a:avLst/>
            <a:gdLst/>
            <a:ahLst/>
            <a:rect l="l" t="t" r="r" b="b"/>
            <a:pathLst>
              <a:path w="3686175" h="1638300">
                <a:moveTo>
                  <a:pt x="0" y="0"/>
                </a:moveTo>
                <a:lnTo>
                  <a:pt x="3686175" y="0"/>
                </a:lnTo>
                <a:lnTo>
                  <a:pt x="3686175" y="1638300"/>
                </a:lnTo>
                <a:lnTo>
                  <a:pt x="0" y="1638300"/>
                </a:lnTo>
                <a:lnTo>
                  <a:pt x="0" y="0"/>
                </a:lnTo>
                <a:close/>
              </a:path>
            </a:pathLst>
          </a:custGeom>
          <a:solidFill>
            <a:srgbClr val="2d3436"/>
          </a:solidFill>
          <a:ln w="0">
            <a:noFill/>
          </a:ln>
        </p:spPr>
        <p:style>
          <a:lnRef idx="0"/>
          <a:fillRef idx="0"/>
          <a:effectRef idx="0"/>
          <a:fontRef idx="minor"/>
        </p:style>
      </p:sp>
      <p:sp>
        <p:nvSpPr>
          <p:cNvPr id="334" name="Text 26"/>
          <p:cNvSpPr/>
          <p:nvPr/>
        </p:nvSpPr>
        <p:spPr>
          <a:xfrm>
            <a:off x="8280360" y="4248000"/>
            <a:ext cx="3466800" cy="266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ffffff"/>
                </a:solidFill>
                <a:latin typeface="Oranienbaum"/>
                <a:ea typeface="Oranienbaum"/>
              </a:rPr>
              <a:t>Case Study: Airline Pricing</a:t>
            </a:r>
            <a:endParaRPr b="0" lang="en-HK" sz="1350" spc="-1" strike="noStrike">
              <a:latin typeface="Arial"/>
            </a:endParaRPr>
          </a:p>
        </p:txBody>
      </p:sp>
      <p:sp>
        <p:nvSpPr>
          <p:cNvPr id="335" name="Text 27"/>
          <p:cNvSpPr/>
          <p:nvPr/>
        </p:nvSpPr>
        <p:spPr>
          <a:xfrm>
            <a:off x="8280360" y="4591080"/>
            <a:ext cx="3457080" cy="990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e0e0e0"/>
                </a:solidFill>
                <a:latin typeface="Quattrocento Sans"/>
                <a:ea typeface="Quattrocento Sans"/>
              </a:rPr>
              <a:t>Airlines use game theory to set fares, anticipating competitor responses to price changes. This explains why fares often move in lockstep and why price wars erupt.</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6" name="Text 0"/>
          <p:cNvSpPr/>
          <p:nvPr/>
        </p:nvSpPr>
        <p:spPr>
          <a:xfrm>
            <a:off x="370440" y="370440"/>
            <a:ext cx="11524680" cy="222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55" strike="noStrike">
                <a:solidFill>
                  <a:srgbClr val="0984e3"/>
                </a:solidFill>
                <a:latin typeface="Quattrocento Sans"/>
                <a:ea typeface="Quattrocento Sans"/>
              </a:rPr>
              <a:t>APPLICATION DOMAIN</a:t>
            </a:r>
            <a:endParaRPr b="0" lang="en-HK" sz="1170" spc="-1" strike="noStrike">
              <a:latin typeface="Arial"/>
            </a:endParaRPr>
          </a:p>
        </p:txBody>
      </p:sp>
      <p:sp>
        <p:nvSpPr>
          <p:cNvPr id="337" name="Text 1"/>
          <p:cNvSpPr/>
          <p:nvPr/>
        </p:nvSpPr>
        <p:spPr>
          <a:xfrm>
            <a:off x="370440" y="667080"/>
            <a:ext cx="11673000" cy="4442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500" spc="-1" strike="noStrike">
                <a:solidFill>
                  <a:srgbClr val="2d3436"/>
                </a:solidFill>
                <a:latin typeface="Oranienbaum"/>
                <a:ea typeface="Oranienbaum"/>
              </a:rPr>
              <a:t>Political Science &amp; International Relations</a:t>
            </a:r>
            <a:endParaRPr b="0" lang="en-HK" sz="3500" spc="-1" strike="noStrike">
              <a:latin typeface="Arial"/>
            </a:endParaRPr>
          </a:p>
        </p:txBody>
      </p:sp>
      <p:sp>
        <p:nvSpPr>
          <p:cNvPr id="338" name="Text 2"/>
          <p:cNvSpPr/>
          <p:nvPr/>
        </p:nvSpPr>
        <p:spPr>
          <a:xfrm>
            <a:off x="370440" y="1334160"/>
            <a:ext cx="5669640" cy="1203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460" spc="-1" strike="noStrike">
                <a:solidFill>
                  <a:srgbClr val="1e272e"/>
                </a:solidFill>
                <a:latin typeface="Quattrocento Sans"/>
                <a:ea typeface="Quattrocento Sans"/>
              </a:rPr>
              <a:t>Game theory provides essential frameworks for understanding political behavior, from voting systems to international conflicts.</a:t>
            </a:r>
            <a:r>
              <a:rPr b="0" lang="en-US" sz="1460" spc="-1" strike="noStrike">
                <a:solidFill>
                  <a:srgbClr val="1e272e"/>
                </a:solidFill>
                <a:latin typeface="Quattrocento Sans"/>
                <a:ea typeface="Quattrocento Sans"/>
              </a:rPr>
              <a:t> It illuminates why nations cooperate or compete and how institutions shape strategic interactions.</a:t>
            </a:r>
            <a:endParaRPr b="0" lang="en-HK" sz="1460" spc="-1" strike="noStrike">
              <a:latin typeface="Arial"/>
            </a:endParaRPr>
          </a:p>
        </p:txBody>
      </p:sp>
      <p:sp>
        <p:nvSpPr>
          <p:cNvPr id="339" name="Shape 3"/>
          <p:cNvSpPr/>
          <p:nvPr/>
        </p:nvSpPr>
        <p:spPr>
          <a:xfrm>
            <a:off x="375120" y="2691360"/>
            <a:ext cx="5567400" cy="2158200"/>
          </a:xfrm>
          <a:custGeom>
            <a:avLst/>
            <a:gdLst/>
            <a:ahLst/>
            <a:rect l="l" t="t" r="r" b="b"/>
            <a:pathLst>
              <a:path w="5567927" h="2158614">
                <a:moveTo>
                  <a:pt x="0" y="0"/>
                </a:moveTo>
                <a:lnTo>
                  <a:pt x="5567927" y="0"/>
                </a:lnTo>
                <a:lnTo>
                  <a:pt x="5567927" y="2158614"/>
                </a:lnTo>
                <a:lnTo>
                  <a:pt x="0" y="2158614"/>
                </a:lnTo>
                <a:lnTo>
                  <a:pt x="0" y="0"/>
                </a:lnTo>
                <a:close/>
              </a:path>
            </a:pathLst>
          </a:custGeom>
          <a:solidFill>
            <a:srgbClr val="ffffff"/>
          </a:solidFill>
          <a:ln w="12700">
            <a:solidFill>
              <a:srgbClr val="e0e0e0"/>
            </a:solidFill>
            <a:round/>
          </a:ln>
        </p:spPr>
        <p:style>
          <a:lnRef idx="0"/>
          <a:fillRef idx="0"/>
          <a:effectRef idx="0"/>
          <a:fontRef idx="minor"/>
        </p:style>
      </p:sp>
      <p:sp>
        <p:nvSpPr>
          <p:cNvPr id="340" name="Text 4"/>
          <p:cNvSpPr/>
          <p:nvPr/>
        </p:nvSpPr>
        <p:spPr>
          <a:xfrm>
            <a:off x="565200" y="2881080"/>
            <a:ext cx="5280480" cy="259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60" spc="-1" strike="noStrike">
                <a:solidFill>
                  <a:srgbClr val="2d3436"/>
                </a:solidFill>
                <a:latin typeface="Oranienbaum"/>
                <a:ea typeface="Oranienbaum"/>
              </a:rPr>
              <a:t>Voting Systems &amp; Elections</a:t>
            </a:r>
            <a:endParaRPr b="0" lang="en-HK" sz="1460" spc="-1" strike="noStrike">
              <a:latin typeface="Arial"/>
            </a:endParaRPr>
          </a:p>
        </p:txBody>
      </p:sp>
      <p:sp>
        <p:nvSpPr>
          <p:cNvPr id="341" name="Text 5"/>
          <p:cNvSpPr/>
          <p:nvPr/>
        </p:nvSpPr>
        <p:spPr>
          <a:xfrm>
            <a:off x="565200" y="3251880"/>
            <a:ext cx="5261760" cy="481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70" spc="-1" strike="noStrike">
                <a:solidFill>
                  <a:srgbClr val="636e72"/>
                </a:solidFill>
                <a:latin typeface="Quattrocento Sans"/>
                <a:ea typeface="Quattrocento Sans"/>
              </a:rPr>
              <a:t>Game theory analyzes strategic voting, where voters may not choose their true preference to avoid "wasting" votes. It explains:</a:t>
            </a:r>
            <a:endParaRPr b="0" lang="en-HK" sz="1170" spc="-1" strike="noStrike">
              <a:latin typeface="Arial"/>
            </a:endParaRPr>
          </a:p>
        </p:txBody>
      </p:sp>
      <p:sp>
        <p:nvSpPr>
          <p:cNvPr id="342" name="Shape 6"/>
          <p:cNvSpPr/>
          <p:nvPr/>
        </p:nvSpPr>
        <p:spPr>
          <a:xfrm>
            <a:off x="592920" y="3877200"/>
            <a:ext cx="129240" cy="147960"/>
          </a:xfrm>
          <a:custGeom>
            <a:avLst/>
            <a:gdLst/>
            <a:ahLst/>
            <a:rect l="l" t="t" r="r" b="b"/>
            <a:pathLst>
              <a:path w="129702" h="148231">
                <a:moveTo>
                  <a:pt x="125881" y="20295"/>
                </a:moveTo>
                <a:cubicBezTo>
                  <a:pt x="130021" y="23306"/>
                  <a:pt x="130947" y="29096"/>
                  <a:pt x="127936" y="33236"/>
                </a:cubicBezTo>
                <a:lnTo>
                  <a:pt x="53821" y="135145"/>
                </a:lnTo>
                <a:cubicBezTo>
                  <a:pt x="52228" y="137345"/>
                  <a:pt x="49767" y="138706"/>
                  <a:pt x="47046" y="138938"/>
                </a:cubicBezTo>
                <a:cubicBezTo>
                  <a:pt x="44325" y="139169"/>
                  <a:pt x="41690" y="138156"/>
                  <a:pt x="39779" y="136245"/>
                </a:cubicBezTo>
                <a:lnTo>
                  <a:pt x="2721" y="99187"/>
                </a:lnTo>
                <a:cubicBezTo>
                  <a:pt x="-897" y="95568"/>
                  <a:pt x="-897" y="89691"/>
                  <a:pt x="2721" y="86072"/>
                </a:cubicBezTo>
                <a:cubicBezTo>
                  <a:pt x="6340" y="82453"/>
                  <a:pt x="12217" y="82453"/>
                  <a:pt x="15836" y="86072"/>
                </a:cubicBezTo>
                <a:lnTo>
                  <a:pt x="45222" y="115458"/>
                </a:lnTo>
                <a:lnTo>
                  <a:pt x="112968" y="22322"/>
                </a:lnTo>
                <a:cubicBezTo>
                  <a:pt x="115979" y="18181"/>
                  <a:pt x="121769" y="17255"/>
                  <a:pt x="125909" y="20266"/>
                </a:cubicBezTo>
                <a:close/>
              </a:path>
            </a:pathLst>
          </a:custGeom>
          <a:solidFill>
            <a:srgbClr val="0984e3"/>
          </a:solidFill>
          <a:ln w="0">
            <a:noFill/>
          </a:ln>
        </p:spPr>
        <p:style>
          <a:lnRef idx="0"/>
          <a:fillRef idx="0"/>
          <a:effectRef idx="0"/>
          <a:fontRef idx="minor"/>
        </p:style>
      </p:sp>
      <p:sp>
        <p:nvSpPr>
          <p:cNvPr id="343" name="Text 7"/>
          <p:cNvSpPr/>
          <p:nvPr/>
        </p:nvSpPr>
        <p:spPr>
          <a:xfrm>
            <a:off x="804600" y="3844800"/>
            <a:ext cx="5022360" cy="222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70" spc="-1" strike="noStrike">
                <a:solidFill>
                  <a:srgbClr val="636e72"/>
                </a:solidFill>
                <a:latin typeface="Quattrocento Sans"/>
                <a:ea typeface="Quattrocento Sans"/>
              </a:rPr>
              <a:t>Why two-party systems dominate under plurality voting</a:t>
            </a:r>
            <a:endParaRPr b="0" lang="en-HK" sz="1170" spc="-1" strike="noStrike">
              <a:latin typeface="Arial"/>
            </a:endParaRPr>
          </a:p>
        </p:txBody>
      </p:sp>
      <p:sp>
        <p:nvSpPr>
          <p:cNvPr id="344" name="Shape 8"/>
          <p:cNvSpPr/>
          <p:nvPr/>
        </p:nvSpPr>
        <p:spPr>
          <a:xfrm>
            <a:off x="592920" y="4173480"/>
            <a:ext cx="129240" cy="147960"/>
          </a:xfrm>
          <a:custGeom>
            <a:avLst/>
            <a:gdLst/>
            <a:ahLst/>
            <a:rect l="l" t="t" r="r" b="b"/>
            <a:pathLst>
              <a:path w="129702" h="148231">
                <a:moveTo>
                  <a:pt x="125881" y="20295"/>
                </a:moveTo>
                <a:cubicBezTo>
                  <a:pt x="130021" y="23306"/>
                  <a:pt x="130947" y="29096"/>
                  <a:pt x="127936" y="33236"/>
                </a:cubicBezTo>
                <a:lnTo>
                  <a:pt x="53821" y="135145"/>
                </a:lnTo>
                <a:cubicBezTo>
                  <a:pt x="52228" y="137345"/>
                  <a:pt x="49767" y="138706"/>
                  <a:pt x="47046" y="138938"/>
                </a:cubicBezTo>
                <a:cubicBezTo>
                  <a:pt x="44325" y="139169"/>
                  <a:pt x="41690" y="138156"/>
                  <a:pt x="39779" y="136245"/>
                </a:cubicBezTo>
                <a:lnTo>
                  <a:pt x="2721" y="99187"/>
                </a:lnTo>
                <a:cubicBezTo>
                  <a:pt x="-897" y="95568"/>
                  <a:pt x="-897" y="89691"/>
                  <a:pt x="2721" y="86072"/>
                </a:cubicBezTo>
                <a:cubicBezTo>
                  <a:pt x="6340" y="82453"/>
                  <a:pt x="12217" y="82453"/>
                  <a:pt x="15836" y="86072"/>
                </a:cubicBezTo>
                <a:lnTo>
                  <a:pt x="45222" y="115458"/>
                </a:lnTo>
                <a:lnTo>
                  <a:pt x="112968" y="22322"/>
                </a:lnTo>
                <a:cubicBezTo>
                  <a:pt x="115979" y="18181"/>
                  <a:pt x="121769" y="17255"/>
                  <a:pt x="125909" y="20266"/>
                </a:cubicBezTo>
                <a:close/>
              </a:path>
            </a:pathLst>
          </a:custGeom>
          <a:solidFill>
            <a:srgbClr val="0984e3"/>
          </a:solidFill>
          <a:ln w="0">
            <a:noFill/>
          </a:ln>
        </p:spPr>
        <p:style>
          <a:lnRef idx="0"/>
          <a:fillRef idx="0"/>
          <a:effectRef idx="0"/>
          <a:fontRef idx="minor"/>
        </p:style>
      </p:sp>
      <p:sp>
        <p:nvSpPr>
          <p:cNvPr id="345" name="Text 9"/>
          <p:cNvSpPr/>
          <p:nvPr/>
        </p:nvSpPr>
        <p:spPr>
          <a:xfrm>
            <a:off x="804600" y="4141080"/>
            <a:ext cx="5022360" cy="222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70" spc="-1" strike="noStrike">
                <a:solidFill>
                  <a:srgbClr val="636e72"/>
                </a:solidFill>
                <a:latin typeface="Quattrocento Sans"/>
                <a:ea typeface="Quattrocento Sans"/>
              </a:rPr>
              <a:t>Strategic candidate positioning (median voter theorem)</a:t>
            </a:r>
            <a:endParaRPr b="0" lang="en-HK" sz="1170" spc="-1" strike="noStrike">
              <a:latin typeface="Arial"/>
            </a:endParaRPr>
          </a:p>
        </p:txBody>
      </p:sp>
      <p:sp>
        <p:nvSpPr>
          <p:cNvPr id="346" name="Shape 10"/>
          <p:cNvSpPr/>
          <p:nvPr/>
        </p:nvSpPr>
        <p:spPr>
          <a:xfrm>
            <a:off x="592920" y="4470120"/>
            <a:ext cx="129240" cy="147960"/>
          </a:xfrm>
          <a:custGeom>
            <a:avLst/>
            <a:gdLst/>
            <a:ahLst/>
            <a:rect l="l" t="t" r="r" b="b"/>
            <a:pathLst>
              <a:path w="129702" h="148231">
                <a:moveTo>
                  <a:pt x="125881" y="20295"/>
                </a:moveTo>
                <a:cubicBezTo>
                  <a:pt x="130021" y="23306"/>
                  <a:pt x="130947" y="29096"/>
                  <a:pt x="127936" y="33236"/>
                </a:cubicBezTo>
                <a:lnTo>
                  <a:pt x="53821" y="135145"/>
                </a:lnTo>
                <a:cubicBezTo>
                  <a:pt x="52228" y="137345"/>
                  <a:pt x="49767" y="138706"/>
                  <a:pt x="47046" y="138938"/>
                </a:cubicBezTo>
                <a:cubicBezTo>
                  <a:pt x="44325" y="139169"/>
                  <a:pt x="41690" y="138156"/>
                  <a:pt x="39779" y="136245"/>
                </a:cubicBezTo>
                <a:lnTo>
                  <a:pt x="2721" y="99187"/>
                </a:lnTo>
                <a:cubicBezTo>
                  <a:pt x="-897" y="95568"/>
                  <a:pt x="-897" y="89691"/>
                  <a:pt x="2721" y="86072"/>
                </a:cubicBezTo>
                <a:cubicBezTo>
                  <a:pt x="6340" y="82453"/>
                  <a:pt x="12217" y="82453"/>
                  <a:pt x="15836" y="86072"/>
                </a:cubicBezTo>
                <a:lnTo>
                  <a:pt x="45222" y="115458"/>
                </a:lnTo>
                <a:lnTo>
                  <a:pt x="112968" y="22322"/>
                </a:lnTo>
                <a:cubicBezTo>
                  <a:pt x="115979" y="18181"/>
                  <a:pt x="121769" y="17255"/>
                  <a:pt x="125909" y="20266"/>
                </a:cubicBezTo>
                <a:close/>
              </a:path>
            </a:pathLst>
          </a:custGeom>
          <a:solidFill>
            <a:srgbClr val="0984e3"/>
          </a:solidFill>
          <a:ln w="0">
            <a:noFill/>
          </a:ln>
        </p:spPr>
        <p:style>
          <a:lnRef idx="0"/>
          <a:fillRef idx="0"/>
          <a:effectRef idx="0"/>
          <a:fontRef idx="minor"/>
        </p:style>
      </p:sp>
      <p:sp>
        <p:nvSpPr>
          <p:cNvPr id="347" name="Text 11"/>
          <p:cNvSpPr/>
          <p:nvPr/>
        </p:nvSpPr>
        <p:spPr>
          <a:xfrm>
            <a:off x="804600" y="4437720"/>
            <a:ext cx="5022360" cy="222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70" spc="-1" strike="noStrike">
                <a:solidFill>
                  <a:srgbClr val="636e72"/>
                </a:solidFill>
                <a:latin typeface="Quattrocento Sans"/>
                <a:ea typeface="Quattrocento Sans"/>
              </a:rPr>
              <a:t>Coalition formation in parliamentary systems</a:t>
            </a:r>
            <a:endParaRPr b="0" lang="en-HK" sz="1170" spc="-1" strike="noStrike">
              <a:latin typeface="Arial"/>
            </a:endParaRPr>
          </a:p>
        </p:txBody>
      </p:sp>
      <p:sp>
        <p:nvSpPr>
          <p:cNvPr id="348" name="Shape 12"/>
          <p:cNvSpPr/>
          <p:nvPr/>
        </p:nvSpPr>
        <p:spPr>
          <a:xfrm>
            <a:off x="375120" y="5007600"/>
            <a:ext cx="5567400" cy="1472760"/>
          </a:xfrm>
          <a:custGeom>
            <a:avLst/>
            <a:gdLst/>
            <a:ahLst/>
            <a:rect l="l" t="t" r="r" b="b"/>
            <a:pathLst>
              <a:path w="5567927" h="1473046">
                <a:moveTo>
                  <a:pt x="0" y="0"/>
                </a:moveTo>
                <a:lnTo>
                  <a:pt x="5567927" y="0"/>
                </a:lnTo>
                <a:lnTo>
                  <a:pt x="5567927" y="1473046"/>
                </a:lnTo>
                <a:lnTo>
                  <a:pt x="0" y="1473046"/>
                </a:lnTo>
                <a:lnTo>
                  <a:pt x="0" y="0"/>
                </a:lnTo>
                <a:close/>
              </a:path>
            </a:pathLst>
          </a:custGeom>
          <a:solidFill>
            <a:srgbClr val="ffffff"/>
          </a:solidFill>
          <a:ln w="12700">
            <a:solidFill>
              <a:srgbClr val="e0e0e0"/>
            </a:solidFill>
            <a:round/>
          </a:ln>
        </p:spPr>
        <p:style>
          <a:lnRef idx="0"/>
          <a:fillRef idx="0"/>
          <a:effectRef idx="0"/>
          <a:fontRef idx="minor"/>
        </p:style>
      </p:sp>
      <p:sp>
        <p:nvSpPr>
          <p:cNvPr id="349" name="Text 13"/>
          <p:cNvSpPr/>
          <p:nvPr/>
        </p:nvSpPr>
        <p:spPr>
          <a:xfrm>
            <a:off x="565200" y="5197320"/>
            <a:ext cx="5280480" cy="259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60" spc="-1" strike="noStrike">
                <a:solidFill>
                  <a:srgbClr val="2d3436"/>
                </a:solidFill>
                <a:latin typeface="Oranienbaum"/>
                <a:ea typeface="Oranienbaum"/>
              </a:rPr>
              <a:t>International Negotiations</a:t>
            </a:r>
            <a:endParaRPr b="0" lang="en-HK" sz="1460" spc="-1" strike="noStrike">
              <a:latin typeface="Arial"/>
            </a:endParaRPr>
          </a:p>
        </p:txBody>
      </p:sp>
      <p:sp>
        <p:nvSpPr>
          <p:cNvPr id="350" name="Text 14"/>
          <p:cNvSpPr/>
          <p:nvPr/>
        </p:nvSpPr>
        <p:spPr>
          <a:xfrm>
            <a:off x="565200" y="5567760"/>
            <a:ext cx="5261760" cy="722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70" spc="-1" strike="noStrike">
                <a:solidFill>
                  <a:srgbClr val="636e72"/>
                </a:solidFill>
                <a:latin typeface="Quattrocento Sans"/>
                <a:ea typeface="Quattrocento Sans"/>
              </a:rPr>
              <a:t>Trade agreements, climate treaties, and arms control all involve strategic bargaining. Game theory reveals why enforceable commitments and repeated interactions foster cooperation.</a:t>
            </a:r>
            <a:endParaRPr b="0" lang="en-HK" sz="1170" spc="-1" strike="noStrike">
              <a:latin typeface="Arial"/>
            </a:endParaRPr>
          </a:p>
        </p:txBody>
      </p:sp>
      <p:sp>
        <p:nvSpPr>
          <p:cNvPr id="351" name="Shape 15"/>
          <p:cNvSpPr/>
          <p:nvPr/>
        </p:nvSpPr>
        <p:spPr>
          <a:xfrm>
            <a:off x="6242040" y="1334160"/>
            <a:ext cx="5576760" cy="2844000"/>
          </a:xfrm>
          <a:custGeom>
            <a:avLst/>
            <a:gdLst/>
            <a:ahLst/>
            <a:rect l="l" t="t" r="r" b="b"/>
            <a:pathLst>
              <a:path w="5577191" h="2844182">
                <a:moveTo>
                  <a:pt x="0" y="0"/>
                </a:moveTo>
                <a:lnTo>
                  <a:pt x="5577191" y="0"/>
                </a:lnTo>
                <a:lnTo>
                  <a:pt x="5577191" y="2844182"/>
                </a:lnTo>
                <a:lnTo>
                  <a:pt x="0" y="2844182"/>
                </a:lnTo>
                <a:lnTo>
                  <a:pt x="0" y="0"/>
                </a:lnTo>
                <a:close/>
              </a:path>
            </a:pathLst>
          </a:custGeom>
          <a:solidFill>
            <a:srgbClr val="2d3436"/>
          </a:solidFill>
          <a:ln w="0">
            <a:noFill/>
          </a:ln>
        </p:spPr>
        <p:style>
          <a:lnRef idx="0"/>
          <a:fillRef idx="0"/>
          <a:effectRef idx="0"/>
          <a:fontRef idx="minor"/>
        </p:style>
      </p:sp>
      <p:sp>
        <p:nvSpPr>
          <p:cNvPr id="352" name="Text 16"/>
          <p:cNvSpPr/>
          <p:nvPr/>
        </p:nvSpPr>
        <p:spPr>
          <a:xfrm>
            <a:off x="6427440" y="1519200"/>
            <a:ext cx="5317560" cy="2962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50" spc="-1" strike="noStrike">
                <a:solidFill>
                  <a:srgbClr val="ffffff"/>
                </a:solidFill>
                <a:latin typeface="Oranienbaum"/>
                <a:ea typeface="Oranienbaum"/>
              </a:rPr>
              <a:t>Nuclear Deterrence Theory</a:t>
            </a:r>
            <a:endParaRPr b="0" lang="en-HK" sz="1750" spc="-1" strike="noStrike">
              <a:latin typeface="Arial"/>
            </a:endParaRPr>
          </a:p>
        </p:txBody>
      </p:sp>
      <p:sp>
        <p:nvSpPr>
          <p:cNvPr id="353" name="Text 17"/>
          <p:cNvSpPr/>
          <p:nvPr/>
        </p:nvSpPr>
        <p:spPr>
          <a:xfrm>
            <a:off x="6427440" y="1968840"/>
            <a:ext cx="5146200" cy="455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320" spc="-1" strike="noStrike">
                <a:solidFill>
                  <a:srgbClr val="e0e0e0"/>
                </a:solidFill>
                <a:latin typeface="Quattrocento Sans"/>
                <a:ea typeface="Quattrocento Sans"/>
              </a:rPr>
              <a:t>The Cold War's most critical strategic problem was preventing nuclear war while maintaining credible deterrence.</a:t>
            </a:r>
            <a:endParaRPr b="0" lang="en-HK" sz="1320" spc="-1" strike="noStrike">
              <a:latin typeface="Arial"/>
            </a:endParaRPr>
          </a:p>
        </p:txBody>
      </p:sp>
      <p:sp>
        <p:nvSpPr>
          <p:cNvPr id="354" name="Text 18"/>
          <p:cNvSpPr/>
          <p:nvPr/>
        </p:nvSpPr>
        <p:spPr>
          <a:xfrm>
            <a:off x="6427440" y="2580120"/>
            <a:ext cx="5280480" cy="481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70" spc="-1" strike="noStrike">
                <a:solidFill>
                  <a:srgbClr val="e0e0e0"/>
                </a:solidFill>
                <a:latin typeface="Quattrocento Sans"/>
                <a:ea typeface="Quattrocento Sans"/>
              </a:rPr>
              <a:t>Game theorists like Thomas Schelling applied the Chicken Game to model nuclear brinkmanship. Key insights:</a:t>
            </a:r>
            <a:endParaRPr b="0" lang="en-HK" sz="1170" spc="-1" strike="noStrike">
              <a:latin typeface="Arial"/>
            </a:endParaRPr>
          </a:p>
        </p:txBody>
      </p:sp>
      <p:sp>
        <p:nvSpPr>
          <p:cNvPr id="355" name="Shape 19"/>
          <p:cNvSpPr/>
          <p:nvPr/>
        </p:nvSpPr>
        <p:spPr>
          <a:xfrm>
            <a:off x="6436800" y="3205440"/>
            <a:ext cx="166320" cy="147960"/>
          </a:xfrm>
          <a:custGeom>
            <a:avLst/>
            <a:gdLst/>
            <a:ahLst/>
            <a:rect l="l" t="t" r="r" b="b"/>
            <a:pathLst>
              <a:path w="166760" h="148231">
                <a:moveTo>
                  <a:pt x="138967" y="-4632"/>
                </a:moveTo>
                <a:cubicBezTo>
                  <a:pt x="140964" y="-4632"/>
                  <a:pt x="142730" y="-3358"/>
                  <a:pt x="143367" y="-1477"/>
                </a:cubicBezTo>
                <a:lnTo>
                  <a:pt x="147276" y="10220"/>
                </a:lnTo>
                <a:lnTo>
                  <a:pt x="158972" y="14128"/>
                </a:lnTo>
                <a:cubicBezTo>
                  <a:pt x="160854" y="14765"/>
                  <a:pt x="162128" y="16531"/>
                  <a:pt x="162128" y="18529"/>
                </a:cubicBezTo>
                <a:cubicBezTo>
                  <a:pt x="162128" y="20527"/>
                  <a:pt x="160854" y="22293"/>
                  <a:pt x="158972" y="22929"/>
                </a:cubicBezTo>
                <a:lnTo>
                  <a:pt x="147276" y="26838"/>
                </a:lnTo>
                <a:lnTo>
                  <a:pt x="143367" y="38534"/>
                </a:lnTo>
                <a:cubicBezTo>
                  <a:pt x="142730" y="40416"/>
                  <a:pt x="140964" y="41690"/>
                  <a:pt x="138967" y="41690"/>
                </a:cubicBezTo>
                <a:cubicBezTo>
                  <a:pt x="136969" y="41690"/>
                  <a:pt x="135203" y="40416"/>
                  <a:pt x="134566" y="38534"/>
                </a:cubicBezTo>
                <a:lnTo>
                  <a:pt x="130658" y="26838"/>
                </a:lnTo>
                <a:lnTo>
                  <a:pt x="118961" y="22929"/>
                </a:lnTo>
                <a:cubicBezTo>
                  <a:pt x="117079" y="22293"/>
                  <a:pt x="115805" y="20527"/>
                  <a:pt x="115805" y="18529"/>
                </a:cubicBezTo>
                <a:cubicBezTo>
                  <a:pt x="115805" y="16531"/>
                  <a:pt x="117079" y="14765"/>
                  <a:pt x="118961" y="14128"/>
                </a:cubicBezTo>
                <a:lnTo>
                  <a:pt x="130658" y="10220"/>
                </a:lnTo>
                <a:lnTo>
                  <a:pt x="134566" y="-1477"/>
                </a:lnTo>
                <a:cubicBezTo>
                  <a:pt x="135203" y="-3358"/>
                  <a:pt x="136969" y="-4632"/>
                  <a:pt x="138967" y="-4632"/>
                </a:cubicBezTo>
                <a:close/>
                <a:moveTo>
                  <a:pt x="93050" y="28199"/>
                </a:moveTo>
                <a:cubicBezTo>
                  <a:pt x="96669" y="24580"/>
                  <a:pt x="102546" y="24580"/>
                  <a:pt x="106165" y="28199"/>
                </a:cubicBezTo>
                <a:lnTo>
                  <a:pt x="129326" y="51360"/>
                </a:lnTo>
                <a:cubicBezTo>
                  <a:pt x="132945" y="54979"/>
                  <a:pt x="132945" y="60856"/>
                  <a:pt x="129326" y="64475"/>
                </a:cubicBezTo>
                <a:lnTo>
                  <a:pt x="126170" y="67630"/>
                </a:lnTo>
                <a:cubicBezTo>
                  <a:pt x="128457" y="74000"/>
                  <a:pt x="129702" y="80861"/>
                  <a:pt x="129702" y="88041"/>
                </a:cubicBezTo>
                <a:cubicBezTo>
                  <a:pt x="129702" y="121306"/>
                  <a:pt x="102748" y="148260"/>
                  <a:pt x="69483" y="148260"/>
                </a:cubicBezTo>
                <a:cubicBezTo>
                  <a:pt x="36218" y="148260"/>
                  <a:pt x="9264" y="121277"/>
                  <a:pt x="9264" y="88012"/>
                </a:cubicBezTo>
                <a:cubicBezTo>
                  <a:pt x="9264" y="54747"/>
                  <a:pt x="36218" y="27793"/>
                  <a:pt x="69483" y="27793"/>
                </a:cubicBezTo>
                <a:cubicBezTo>
                  <a:pt x="76634" y="27793"/>
                  <a:pt x="83525" y="29038"/>
                  <a:pt x="89894" y="31354"/>
                </a:cubicBezTo>
                <a:lnTo>
                  <a:pt x="93050" y="28199"/>
                </a:lnTo>
                <a:close/>
                <a:moveTo>
                  <a:pt x="41690" y="88012"/>
                </a:moveTo>
                <a:cubicBezTo>
                  <a:pt x="41690" y="72668"/>
                  <a:pt x="54139" y="60219"/>
                  <a:pt x="69483" y="60219"/>
                </a:cubicBezTo>
                <a:cubicBezTo>
                  <a:pt x="73334" y="60219"/>
                  <a:pt x="76432" y="57121"/>
                  <a:pt x="76432" y="53271"/>
                </a:cubicBezTo>
                <a:cubicBezTo>
                  <a:pt x="76432" y="49420"/>
                  <a:pt x="73334" y="46322"/>
                  <a:pt x="69483" y="46322"/>
                </a:cubicBezTo>
                <a:cubicBezTo>
                  <a:pt x="46467" y="46322"/>
                  <a:pt x="27793" y="64996"/>
                  <a:pt x="27793" y="88012"/>
                </a:cubicBezTo>
                <a:cubicBezTo>
                  <a:pt x="27793" y="91863"/>
                  <a:pt x="30891" y="94960"/>
                  <a:pt x="34742" y="94960"/>
                </a:cubicBezTo>
                <a:cubicBezTo>
                  <a:pt x="38592" y="94960"/>
                  <a:pt x="41690" y="91863"/>
                  <a:pt x="41690" y="88012"/>
                </a:cubicBezTo>
                <a:close/>
              </a:path>
            </a:pathLst>
          </a:custGeom>
          <a:solidFill>
            <a:srgbClr val="0984e3"/>
          </a:solidFill>
          <a:ln w="0">
            <a:noFill/>
          </a:ln>
        </p:spPr>
        <p:style>
          <a:lnRef idx="0"/>
          <a:fillRef idx="0"/>
          <a:effectRef idx="0"/>
          <a:fontRef idx="minor"/>
        </p:style>
      </p:sp>
      <p:sp>
        <p:nvSpPr>
          <p:cNvPr id="356" name="Text 20"/>
          <p:cNvSpPr/>
          <p:nvPr/>
        </p:nvSpPr>
        <p:spPr>
          <a:xfrm>
            <a:off x="6666840" y="3173040"/>
            <a:ext cx="5041080" cy="222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e0e0e0"/>
                </a:solidFill>
                <a:latin typeface="Quattrocento Sans"/>
                <a:ea typeface="Quattrocento Sans"/>
              </a:rPr>
              <a:t>Credible Threats:</a:t>
            </a:r>
            <a:r>
              <a:rPr b="0" lang="en-US" sz="1170" spc="-1" strike="noStrike">
                <a:solidFill>
                  <a:srgbClr val="e0e0e0"/>
                </a:solidFill>
                <a:latin typeface="Quattrocento Sans"/>
                <a:ea typeface="Quattrocento Sans"/>
              </a:rPr>
              <a:t> Making retaliation automatic (doomsday devices)</a:t>
            </a:r>
            <a:endParaRPr b="0" lang="en-HK" sz="1170" spc="-1" strike="noStrike">
              <a:latin typeface="Arial"/>
            </a:endParaRPr>
          </a:p>
        </p:txBody>
      </p:sp>
      <p:sp>
        <p:nvSpPr>
          <p:cNvPr id="357" name="Shape 21"/>
          <p:cNvSpPr/>
          <p:nvPr/>
        </p:nvSpPr>
        <p:spPr>
          <a:xfrm>
            <a:off x="6445800" y="3502080"/>
            <a:ext cx="147960" cy="147960"/>
          </a:xfrm>
          <a:custGeom>
            <a:avLst/>
            <a:gdLst/>
            <a:ahLst/>
            <a:rect l="l" t="t" r="r" b="b"/>
            <a:pathLst>
              <a:path w="148231" h="148231">
                <a:moveTo>
                  <a:pt x="83380" y="9264"/>
                </a:moveTo>
                <a:cubicBezTo>
                  <a:pt x="83380" y="4140"/>
                  <a:pt x="79240" y="0"/>
                  <a:pt x="74116" y="0"/>
                </a:cubicBezTo>
                <a:cubicBezTo>
                  <a:pt x="68991" y="0"/>
                  <a:pt x="64851" y="4140"/>
                  <a:pt x="64851" y="9264"/>
                </a:cubicBezTo>
                <a:lnTo>
                  <a:pt x="64851" y="69483"/>
                </a:lnTo>
                <a:cubicBezTo>
                  <a:pt x="64851" y="72031"/>
                  <a:pt x="62767" y="74116"/>
                  <a:pt x="60219" y="74116"/>
                </a:cubicBezTo>
                <a:cubicBezTo>
                  <a:pt x="57671" y="74116"/>
                  <a:pt x="55587" y="72031"/>
                  <a:pt x="55587" y="69483"/>
                </a:cubicBezTo>
                <a:lnTo>
                  <a:pt x="55587" y="18529"/>
                </a:lnTo>
                <a:cubicBezTo>
                  <a:pt x="55587" y="13404"/>
                  <a:pt x="51447" y="9264"/>
                  <a:pt x="46322" y="9264"/>
                </a:cubicBezTo>
                <a:cubicBezTo>
                  <a:pt x="41198" y="9264"/>
                  <a:pt x="37058" y="13404"/>
                  <a:pt x="37058" y="18529"/>
                </a:cubicBezTo>
                <a:lnTo>
                  <a:pt x="37058" y="97277"/>
                </a:lnTo>
                <a:cubicBezTo>
                  <a:pt x="37058" y="97711"/>
                  <a:pt x="37058" y="98174"/>
                  <a:pt x="37087" y="98608"/>
                </a:cubicBezTo>
                <a:lnTo>
                  <a:pt x="19571" y="81932"/>
                </a:lnTo>
                <a:cubicBezTo>
                  <a:pt x="14939" y="77532"/>
                  <a:pt x="7614" y="77705"/>
                  <a:pt x="3185" y="82338"/>
                </a:cubicBezTo>
                <a:cubicBezTo>
                  <a:pt x="-1245" y="86970"/>
                  <a:pt x="-1042" y="94295"/>
                  <a:pt x="3590" y="98724"/>
                </a:cubicBezTo>
                <a:lnTo>
                  <a:pt x="36131" y="129702"/>
                </a:lnTo>
                <a:cubicBezTo>
                  <a:pt x="48609" y="141601"/>
                  <a:pt x="65198" y="148231"/>
                  <a:pt x="82453" y="148231"/>
                </a:cubicBezTo>
                <a:lnTo>
                  <a:pt x="88012" y="148231"/>
                </a:lnTo>
                <a:cubicBezTo>
                  <a:pt x="116153" y="148231"/>
                  <a:pt x="138967" y="125417"/>
                  <a:pt x="138967" y="97277"/>
                </a:cubicBezTo>
                <a:lnTo>
                  <a:pt x="138967" y="37058"/>
                </a:lnTo>
                <a:cubicBezTo>
                  <a:pt x="138967" y="31933"/>
                  <a:pt x="134827" y="27793"/>
                  <a:pt x="129702" y="27793"/>
                </a:cubicBezTo>
                <a:cubicBezTo>
                  <a:pt x="124578" y="27793"/>
                  <a:pt x="120438" y="31933"/>
                  <a:pt x="120438" y="37058"/>
                </a:cubicBezTo>
                <a:lnTo>
                  <a:pt x="120438" y="69483"/>
                </a:lnTo>
                <a:cubicBezTo>
                  <a:pt x="120438" y="72031"/>
                  <a:pt x="118353" y="74116"/>
                  <a:pt x="115805" y="74116"/>
                </a:cubicBezTo>
                <a:cubicBezTo>
                  <a:pt x="113258" y="74116"/>
                  <a:pt x="111173" y="72031"/>
                  <a:pt x="111173" y="69483"/>
                </a:cubicBezTo>
                <a:lnTo>
                  <a:pt x="111173" y="18529"/>
                </a:lnTo>
                <a:cubicBezTo>
                  <a:pt x="111173" y="13404"/>
                  <a:pt x="107033" y="9264"/>
                  <a:pt x="101909" y="9264"/>
                </a:cubicBezTo>
                <a:cubicBezTo>
                  <a:pt x="96784" y="9264"/>
                  <a:pt x="92644" y="13404"/>
                  <a:pt x="92644" y="18529"/>
                </a:cubicBezTo>
                <a:lnTo>
                  <a:pt x="92644" y="69483"/>
                </a:lnTo>
                <a:cubicBezTo>
                  <a:pt x="92644" y="72031"/>
                  <a:pt x="90560" y="74116"/>
                  <a:pt x="88012" y="74116"/>
                </a:cubicBezTo>
                <a:cubicBezTo>
                  <a:pt x="85464" y="74116"/>
                  <a:pt x="83380" y="72031"/>
                  <a:pt x="83380" y="69483"/>
                </a:cubicBezTo>
                <a:lnTo>
                  <a:pt x="83380" y="9264"/>
                </a:lnTo>
                <a:close/>
              </a:path>
            </a:pathLst>
          </a:custGeom>
          <a:solidFill>
            <a:srgbClr val="0984e3"/>
          </a:solidFill>
          <a:ln w="0">
            <a:noFill/>
          </a:ln>
        </p:spPr>
        <p:style>
          <a:lnRef idx="0"/>
          <a:fillRef idx="0"/>
          <a:effectRef idx="0"/>
          <a:fontRef idx="minor"/>
        </p:style>
      </p:sp>
      <p:sp>
        <p:nvSpPr>
          <p:cNvPr id="358" name="Text 22"/>
          <p:cNvSpPr/>
          <p:nvPr/>
        </p:nvSpPr>
        <p:spPr>
          <a:xfrm>
            <a:off x="6666840" y="3469680"/>
            <a:ext cx="5041080" cy="222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e0e0e0"/>
                </a:solidFill>
                <a:latin typeface="Quattrocento Sans"/>
                <a:ea typeface="Quattrocento Sans"/>
              </a:rPr>
              <a:t>Brinkmanship:</a:t>
            </a:r>
            <a:r>
              <a:rPr b="0" lang="en-US" sz="1170" spc="-1" strike="noStrike">
                <a:solidFill>
                  <a:srgbClr val="e0e0e0"/>
                </a:solidFill>
                <a:latin typeface="Quattrocento Sans"/>
                <a:ea typeface="Quattrocento Sans"/>
              </a:rPr>
              <a:t> Deliberately creating risk to force concessions</a:t>
            </a:r>
            <a:endParaRPr b="0" lang="en-HK" sz="1170" spc="-1" strike="noStrike">
              <a:latin typeface="Arial"/>
            </a:endParaRPr>
          </a:p>
        </p:txBody>
      </p:sp>
      <p:sp>
        <p:nvSpPr>
          <p:cNvPr id="359" name="Shape 23"/>
          <p:cNvSpPr/>
          <p:nvPr/>
        </p:nvSpPr>
        <p:spPr>
          <a:xfrm>
            <a:off x="6427440" y="3798360"/>
            <a:ext cx="185040" cy="147960"/>
          </a:xfrm>
          <a:custGeom>
            <a:avLst/>
            <a:gdLst/>
            <a:ahLst/>
            <a:rect l="l" t="t" r="r" b="b"/>
            <a:pathLst>
              <a:path w="185289" h="148231">
                <a:moveTo>
                  <a:pt x="111173" y="9264"/>
                </a:moveTo>
                <a:lnTo>
                  <a:pt x="148231" y="9264"/>
                </a:lnTo>
                <a:cubicBezTo>
                  <a:pt x="153355" y="9264"/>
                  <a:pt x="157495" y="13404"/>
                  <a:pt x="157495" y="18529"/>
                </a:cubicBezTo>
                <a:cubicBezTo>
                  <a:pt x="157495" y="23653"/>
                  <a:pt x="153355" y="27793"/>
                  <a:pt x="148231" y="27793"/>
                </a:cubicBezTo>
                <a:lnTo>
                  <a:pt x="115342" y="27793"/>
                </a:lnTo>
                <a:cubicBezTo>
                  <a:pt x="113837" y="35263"/>
                  <a:pt x="108712" y="41429"/>
                  <a:pt x="101909" y="44382"/>
                </a:cubicBezTo>
                <a:lnTo>
                  <a:pt x="101909" y="129702"/>
                </a:lnTo>
                <a:lnTo>
                  <a:pt x="148231" y="129702"/>
                </a:lnTo>
                <a:cubicBezTo>
                  <a:pt x="153355" y="129702"/>
                  <a:pt x="157495" y="133842"/>
                  <a:pt x="157495" y="138967"/>
                </a:cubicBezTo>
                <a:cubicBezTo>
                  <a:pt x="157495" y="144091"/>
                  <a:pt x="153355" y="148231"/>
                  <a:pt x="148231" y="148231"/>
                </a:cubicBezTo>
                <a:lnTo>
                  <a:pt x="37058" y="148231"/>
                </a:lnTo>
                <a:cubicBezTo>
                  <a:pt x="31933" y="148231"/>
                  <a:pt x="27793" y="144091"/>
                  <a:pt x="27793" y="138967"/>
                </a:cubicBezTo>
                <a:cubicBezTo>
                  <a:pt x="27793" y="133842"/>
                  <a:pt x="31933" y="129702"/>
                  <a:pt x="37058" y="129702"/>
                </a:cubicBezTo>
                <a:lnTo>
                  <a:pt x="83380" y="129702"/>
                </a:lnTo>
                <a:lnTo>
                  <a:pt x="83380" y="44382"/>
                </a:lnTo>
                <a:cubicBezTo>
                  <a:pt x="76576" y="41400"/>
                  <a:pt x="71452" y="35234"/>
                  <a:pt x="69947" y="27793"/>
                </a:cubicBezTo>
                <a:lnTo>
                  <a:pt x="37058" y="27793"/>
                </a:lnTo>
                <a:cubicBezTo>
                  <a:pt x="31933" y="27793"/>
                  <a:pt x="27793" y="23653"/>
                  <a:pt x="27793" y="18529"/>
                </a:cubicBezTo>
                <a:cubicBezTo>
                  <a:pt x="27793" y="13404"/>
                  <a:pt x="31933" y="9264"/>
                  <a:pt x="37058" y="9264"/>
                </a:cubicBezTo>
                <a:lnTo>
                  <a:pt x="74116" y="9264"/>
                </a:lnTo>
                <a:cubicBezTo>
                  <a:pt x="78342" y="3648"/>
                  <a:pt x="85059" y="0"/>
                  <a:pt x="92644" y="0"/>
                </a:cubicBezTo>
                <a:cubicBezTo>
                  <a:pt x="100230" y="0"/>
                  <a:pt x="106946" y="3648"/>
                  <a:pt x="111173" y="9264"/>
                </a:cubicBezTo>
                <a:close/>
                <a:moveTo>
                  <a:pt x="127270" y="92644"/>
                </a:moveTo>
                <a:lnTo>
                  <a:pt x="169192" y="92644"/>
                </a:lnTo>
                <a:lnTo>
                  <a:pt x="148231" y="56687"/>
                </a:lnTo>
                <a:lnTo>
                  <a:pt x="127270" y="92644"/>
                </a:lnTo>
                <a:close/>
                <a:moveTo>
                  <a:pt x="148231" y="120438"/>
                </a:moveTo>
                <a:cubicBezTo>
                  <a:pt x="130021" y="120438"/>
                  <a:pt x="114879" y="110594"/>
                  <a:pt x="111752" y="97595"/>
                </a:cubicBezTo>
                <a:cubicBezTo>
                  <a:pt x="111000" y="94410"/>
                  <a:pt x="112042" y="91139"/>
                  <a:pt x="113692" y="88302"/>
                </a:cubicBezTo>
                <a:lnTo>
                  <a:pt x="141254" y="41053"/>
                </a:lnTo>
                <a:cubicBezTo>
                  <a:pt x="142701" y="38563"/>
                  <a:pt x="145365" y="37058"/>
                  <a:pt x="148231" y="37058"/>
                </a:cubicBezTo>
                <a:cubicBezTo>
                  <a:pt x="151097" y="37058"/>
                  <a:pt x="153761" y="38592"/>
                  <a:pt x="155208" y="41053"/>
                </a:cubicBezTo>
                <a:lnTo>
                  <a:pt x="182770" y="88302"/>
                </a:lnTo>
                <a:cubicBezTo>
                  <a:pt x="184420" y="91139"/>
                  <a:pt x="185462" y="94410"/>
                  <a:pt x="184710" y="97595"/>
                </a:cubicBezTo>
                <a:cubicBezTo>
                  <a:pt x="181583" y="110565"/>
                  <a:pt x="166441" y="120438"/>
                  <a:pt x="148231" y="120438"/>
                </a:cubicBezTo>
                <a:close/>
                <a:moveTo>
                  <a:pt x="36710" y="56687"/>
                </a:moveTo>
                <a:lnTo>
                  <a:pt x="15750" y="92644"/>
                </a:lnTo>
                <a:lnTo>
                  <a:pt x="57700" y="92644"/>
                </a:lnTo>
                <a:lnTo>
                  <a:pt x="36710" y="56687"/>
                </a:lnTo>
                <a:close/>
                <a:moveTo>
                  <a:pt x="261" y="97595"/>
                </a:moveTo>
                <a:cubicBezTo>
                  <a:pt x="-492" y="94410"/>
                  <a:pt x="550" y="91139"/>
                  <a:pt x="2200" y="88302"/>
                </a:cubicBezTo>
                <a:lnTo>
                  <a:pt x="29762" y="41053"/>
                </a:lnTo>
                <a:cubicBezTo>
                  <a:pt x="31210" y="38563"/>
                  <a:pt x="33873" y="37058"/>
                  <a:pt x="36739" y="37058"/>
                </a:cubicBezTo>
                <a:cubicBezTo>
                  <a:pt x="39605" y="37058"/>
                  <a:pt x="42269" y="38592"/>
                  <a:pt x="43717" y="41053"/>
                </a:cubicBezTo>
                <a:lnTo>
                  <a:pt x="71278" y="88302"/>
                </a:lnTo>
                <a:cubicBezTo>
                  <a:pt x="72928" y="91139"/>
                  <a:pt x="73971" y="94410"/>
                  <a:pt x="73218" y="97595"/>
                </a:cubicBezTo>
                <a:cubicBezTo>
                  <a:pt x="70091" y="110565"/>
                  <a:pt x="54950" y="120438"/>
                  <a:pt x="36739" y="120438"/>
                </a:cubicBezTo>
                <a:cubicBezTo>
                  <a:pt x="18529" y="120438"/>
                  <a:pt x="3387" y="110594"/>
                  <a:pt x="261" y="97595"/>
                </a:cubicBezTo>
                <a:close/>
              </a:path>
            </a:pathLst>
          </a:custGeom>
          <a:solidFill>
            <a:srgbClr val="0984e3"/>
          </a:solidFill>
          <a:ln w="0">
            <a:noFill/>
          </a:ln>
        </p:spPr>
        <p:style>
          <a:lnRef idx="0"/>
          <a:fillRef idx="0"/>
          <a:effectRef idx="0"/>
          <a:fontRef idx="minor"/>
        </p:style>
      </p:sp>
      <p:sp>
        <p:nvSpPr>
          <p:cNvPr id="360" name="Text 24"/>
          <p:cNvSpPr/>
          <p:nvPr/>
        </p:nvSpPr>
        <p:spPr>
          <a:xfrm>
            <a:off x="6666840" y="3765960"/>
            <a:ext cx="5041080" cy="222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e0e0e0"/>
                </a:solidFill>
                <a:latin typeface="Quattrocento Sans"/>
                <a:ea typeface="Quattrocento Sans"/>
              </a:rPr>
              <a:t>MAD Doctrine:</a:t>
            </a:r>
            <a:r>
              <a:rPr b="0" lang="en-US" sz="1170" spc="-1" strike="noStrike">
                <a:solidFill>
                  <a:srgbClr val="e0e0e0"/>
                </a:solidFill>
                <a:latin typeface="Quattrocento Sans"/>
                <a:ea typeface="Quattrocento Sans"/>
              </a:rPr>
              <a:t> Mutual Assured Destruction as deterrent</a:t>
            </a:r>
            <a:endParaRPr b="0" lang="en-HK" sz="1170" spc="-1" strike="noStrike">
              <a:latin typeface="Arial"/>
            </a:endParaRPr>
          </a:p>
        </p:txBody>
      </p:sp>
      <p:sp>
        <p:nvSpPr>
          <p:cNvPr id="361" name="Shape 25"/>
          <p:cNvSpPr/>
          <p:nvPr/>
        </p:nvSpPr>
        <p:spPr>
          <a:xfrm>
            <a:off x="6260760" y="4321800"/>
            <a:ext cx="5558400" cy="870480"/>
          </a:xfrm>
          <a:custGeom>
            <a:avLst/>
            <a:gdLst/>
            <a:ahLst/>
            <a:rect l="l" t="t" r="r" b="b"/>
            <a:pathLst>
              <a:path w="5558663" h="870857">
                <a:moveTo>
                  <a:pt x="0" y="0"/>
                </a:moveTo>
                <a:lnTo>
                  <a:pt x="5558663" y="0"/>
                </a:lnTo>
                <a:lnTo>
                  <a:pt x="5558663" y="870857"/>
                </a:lnTo>
                <a:lnTo>
                  <a:pt x="0" y="870857"/>
                </a:lnTo>
                <a:lnTo>
                  <a:pt x="0" y="0"/>
                </a:lnTo>
                <a:close/>
              </a:path>
            </a:pathLst>
          </a:custGeom>
          <a:solidFill>
            <a:srgbClr val="f8f9fa"/>
          </a:solidFill>
          <a:ln w="0">
            <a:noFill/>
          </a:ln>
        </p:spPr>
        <p:style>
          <a:lnRef idx="0"/>
          <a:fillRef idx="0"/>
          <a:effectRef idx="0"/>
          <a:fontRef idx="minor"/>
        </p:style>
      </p:sp>
      <p:sp>
        <p:nvSpPr>
          <p:cNvPr id="362" name="Shape 26"/>
          <p:cNvSpPr/>
          <p:nvPr/>
        </p:nvSpPr>
        <p:spPr>
          <a:xfrm>
            <a:off x="6260760" y="4321800"/>
            <a:ext cx="36720" cy="870480"/>
          </a:xfrm>
          <a:custGeom>
            <a:avLst/>
            <a:gdLst/>
            <a:ahLst/>
            <a:rect l="l" t="t" r="r" b="b"/>
            <a:pathLst>
              <a:path w="37058" h="870857">
                <a:moveTo>
                  <a:pt x="0" y="0"/>
                </a:moveTo>
                <a:lnTo>
                  <a:pt x="37058" y="0"/>
                </a:lnTo>
                <a:lnTo>
                  <a:pt x="37058" y="870857"/>
                </a:lnTo>
                <a:lnTo>
                  <a:pt x="0" y="870857"/>
                </a:lnTo>
                <a:lnTo>
                  <a:pt x="0" y="0"/>
                </a:lnTo>
                <a:close/>
              </a:path>
            </a:pathLst>
          </a:custGeom>
          <a:solidFill>
            <a:srgbClr val="0984e3"/>
          </a:solidFill>
          <a:ln w="0">
            <a:noFill/>
          </a:ln>
        </p:spPr>
        <p:style>
          <a:lnRef idx="0"/>
          <a:fillRef idx="0"/>
          <a:effectRef idx="0"/>
          <a:fontRef idx="minor"/>
        </p:style>
      </p:sp>
      <p:sp>
        <p:nvSpPr>
          <p:cNvPr id="363" name="Text 27"/>
          <p:cNvSpPr/>
          <p:nvPr/>
        </p:nvSpPr>
        <p:spPr>
          <a:xfrm>
            <a:off x="6464520" y="4507200"/>
            <a:ext cx="5243400" cy="240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70" spc="-1" strike="noStrike">
                <a:solidFill>
                  <a:srgbClr val="1e272e"/>
                </a:solidFill>
                <a:latin typeface="Quattrocento Sans"/>
                <a:ea typeface="Quattrocento Sans"/>
              </a:rPr>
              <a:t>"The power to constrain an adversary depends upon the power to bind oneself."</a:t>
            </a:r>
            <a:endParaRPr b="0" lang="en-HK" sz="1170" spc="-1" strike="noStrike">
              <a:latin typeface="Arial"/>
            </a:endParaRPr>
          </a:p>
        </p:txBody>
      </p:sp>
      <p:sp>
        <p:nvSpPr>
          <p:cNvPr id="364" name="Text 28"/>
          <p:cNvSpPr/>
          <p:nvPr/>
        </p:nvSpPr>
        <p:spPr>
          <a:xfrm>
            <a:off x="6464520" y="4822200"/>
            <a:ext cx="5234040" cy="185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20" spc="-1" strike="noStrike">
                <a:solidFill>
                  <a:srgbClr val="636e72"/>
                </a:solidFill>
                <a:latin typeface="Quattrocento Sans"/>
                <a:ea typeface="Quattrocento Sans"/>
              </a:rPr>
              <a:t>— </a:t>
            </a:r>
            <a:r>
              <a:rPr b="0" lang="en-US" sz="1020" spc="-1" strike="noStrike">
                <a:solidFill>
                  <a:srgbClr val="636e72"/>
                </a:solidFill>
                <a:latin typeface="Quattrocento Sans"/>
                <a:ea typeface="Quattrocento Sans"/>
              </a:rPr>
              <a:t>Thomas Schelling, Nobel Laureate 2005</a:t>
            </a:r>
            <a:endParaRPr b="0" lang="en-HK" sz="102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5" name="Text 0"/>
          <p:cNvSpPr/>
          <p:nvPr/>
        </p:nvSpPr>
        <p:spPr>
          <a:xfrm>
            <a:off x="335880" y="335880"/>
            <a:ext cx="1158696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52" strike="noStrike">
                <a:solidFill>
                  <a:srgbClr val="0984e3"/>
                </a:solidFill>
                <a:latin typeface="Quattrocento Sans"/>
                <a:ea typeface="Quattrocento Sans"/>
              </a:rPr>
              <a:t>APPLICATION DOMAIN</a:t>
            </a:r>
            <a:endParaRPr b="0" lang="en-HK" sz="1060" spc="-1" strike="noStrike">
              <a:latin typeface="Arial"/>
            </a:endParaRPr>
          </a:p>
        </p:txBody>
      </p:sp>
      <p:sp>
        <p:nvSpPr>
          <p:cNvPr id="366" name="Text 1"/>
          <p:cNvSpPr/>
          <p:nvPr/>
        </p:nvSpPr>
        <p:spPr>
          <a:xfrm>
            <a:off x="335880" y="604440"/>
            <a:ext cx="11721600" cy="402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170" spc="-1" strike="noStrike">
                <a:solidFill>
                  <a:srgbClr val="2d3436"/>
                </a:solidFill>
                <a:latin typeface="Oranienbaum"/>
                <a:ea typeface="Oranienbaum"/>
              </a:rPr>
              <a:t>Biology &amp; Evolutionary Game Theory</a:t>
            </a:r>
            <a:endParaRPr b="0" lang="en-HK" sz="3170" spc="-1" strike="noStrike">
              <a:latin typeface="Arial"/>
            </a:endParaRPr>
          </a:p>
        </p:txBody>
      </p:sp>
      <p:sp>
        <p:nvSpPr>
          <p:cNvPr id="367" name="Text 2"/>
          <p:cNvSpPr/>
          <p:nvPr/>
        </p:nvSpPr>
        <p:spPr>
          <a:xfrm>
            <a:off x="335880" y="1251000"/>
            <a:ext cx="5995800" cy="457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320" spc="-1" strike="noStrike">
                <a:solidFill>
                  <a:srgbClr val="1e272e"/>
                </a:solidFill>
                <a:latin typeface="Quattrocento Sans"/>
                <a:ea typeface="Quattrocento Sans"/>
              </a:rPr>
              <a:t>In 1973, John Maynard Smith and George Price introduced game theory to biology, revolutionizing our understanding of animal behavior and evolution.</a:t>
            </a:r>
            <a:endParaRPr b="0" lang="en-HK" sz="1320" spc="-1" strike="noStrike">
              <a:latin typeface="Arial"/>
            </a:endParaRPr>
          </a:p>
        </p:txBody>
      </p:sp>
      <p:sp>
        <p:nvSpPr>
          <p:cNvPr id="368" name="Text 3"/>
          <p:cNvSpPr/>
          <p:nvPr/>
        </p:nvSpPr>
        <p:spPr>
          <a:xfrm>
            <a:off x="335880" y="1889280"/>
            <a:ext cx="6876360" cy="654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636e72"/>
                </a:solidFill>
                <a:latin typeface="Quattrocento Sans"/>
                <a:ea typeface="Quattrocento Sans"/>
              </a:rPr>
              <a:t>Evolutionary game theory applies strategic concepts to populations where successful strategies spread through natural selection. Unlike classical game theory, it doesn't assume rationality—only that successful strategies reproduce.</a:t>
            </a:r>
            <a:endParaRPr b="0" lang="en-HK" sz="1060" spc="-1" strike="noStrike">
              <a:latin typeface="Arial"/>
            </a:endParaRPr>
          </a:p>
        </p:txBody>
      </p:sp>
      <p:sp>
        <p:nvSpPr>
          <p:cNvPr id="369" name="Shape 4"/>
          <p:cNvSpPr/>
          <p:nvPr/>
        </p:nvSpPr>
        <p:spPr>
          <a:xfrm>
            <a:off x="340200" y="2682720"/>
            <a:ext cx="6801120" cy="1956240"/>
          </a:xfrm>
          <a:custGeom>
            <a:avLst/>
            <a:gdLst/>
            <a:ahLst/>
            <a:rect l="l" t="t" r="r" b="b"/>
            <a:pathLst>
              <a:path w="6801322" h="1956430">
                <a:moveTo>
                  <a:pt x="0" y="0"/>
                </a:moveTo>
                <a:lnTo>
                  <a:pt x="6801322" y="0"/>
                </a:lnTo>
                <a:lnTo>
                  <a:pt x="6801322" y="1956430"/>
                </a:lnTo>
                <a:lnTo>
                  <a:pt x="0" y="1956430"/>
                </a:lnTo>
                <a:lnTo>
                  <a:pt x="0" y="0"/>
                </a:lnTo>
                <a:close/>
              </a:path>
            </a:pathLst>
          </a:custGeom>
          <a:solidFill>
            <a:srgbClr val="ffffff"/>
          </a:solidFill>
          <a:ln w="12700">
            <a:solidFill>
              <a:srgbClr val="e0e0e0"/>
            </a:solidFill>
            <a:round/>
          </a:ln>
        </p:spPr>
        <p:style>
          <a:lnRef idx="0"/>
          <a:fillRef idx="0"/>
          <a:effectRef idx="0"/>
          <a:fontRef idx="minor"/>
        </p:style>
      </p:sp>
      <p:sp>
        <p:nvSpPr>
          <p:cNvPr id="370" name="Text 5"/>
          <p:cNvSpPr/>
          <p:nvPr/>
        </p:nvSpPr>
        <p:spPr>
          <a:xfrm>
            <a:off x="512280" y="2854800"/>
            <a:ext cx="6540840" cy="234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d3436"/>
                </a:solidFill>
                <a:latin typeface="Oranienbaum"/>
                <a:ea typeface="Oranienbaum"/>
              </a:rPr>
              <a:t>Evolutionarily Stable Strategy (ESS)</a:t>
            </a:r>
            <a:endParaRPr b="0" lang="en-HK" sz="1320" spc="-1" strike="noStrike">
              <a:latin typeface="Arial"/>
            </a:endParaRPr>
          </a:p>
        </p:txBody>
      </p:sp>
      <p:sp>
        <p:nvSpPr>
          <p:cNvPr id="371" name="Text 6"/>
          <p:cNvSpPr/>
          <p:nvPr/>
        </p:nvSpPr>
        <p:spPr>
          <a:xfrm>
            <a:off x="512280" y="3190680"/>
            <a:ext cx="6523920" cy="217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1e272e"/>
                </a:solidFill>
                <a:latin typeface="Quattrocento Sans"/>
                <a:ea typeface="Quattrocento Sans"/>
              </a:rPr>
              <a:t>An ESS is a strategy that, if adopted by a population, cannot be invaded by any alternative strategy. It satisfies:</a:t>
            </a:r>
            <a:endParaRPr b="0" lang="en-HK" sz="1060" spc="-1" strike="noStrike">
              <a:latin typeface="Arial"/>
            </a:endParaRPr>
          </a:p>
        </p:txBody>
      </p:sp>
      <p:sp>
        <p:nvSpPr>
          <p:cNvPr id="372" name="Shape 7"/>
          <p:cNvSpPr/>
          <p:nvPr/>
        </p:nvSpPr>
        <p:spPr>
          <a:xfrm>
            <a:off x="512280" y="3509640"/>
            <a:ext cx="6456600" cy="637920"/>
          </a:xfrm>
          <a:custGeom>
            <a:avLst/>
            <a:gdLst/>
            <a:ahLst/>
            <a:rect l="l" t="t" r="r" b="b"/>
            <a:pathLst>
              <a:path w="6457058" h="638149">
                <a:moveTo>
                  <a:pt x="0" y="0"/>
                </a:moveTo>
                <a:lnTo>
                  <a:pt x="6457058" y="0"/>
                </a:lnTo>
                <a:lnTo>
                  <a:pt x="6457058" y="638149"/>
                </a:lnTo>
                <a:lnTo>
                  <a:pt x="0" y="638149"/>
                </a:lnTo>
                <a:lnTo>
                  <a:pt x="0" y="0"/>
                </a:lnTo>
                <a:close/>
              </a:path>
            </a:pathLst>
          </a:custGeom>
          <a:solidFill>
            <a:srgbClr val="f8f9fa"/>
          </a:solidFill>
          <a:ln w="0">
            <a:noFill/>
          </a:ln>
        </p:spPr>
        <p:style>
          <a:lnRef idx="0"/>
          <a:fillRef idx="0"/>
          <a:effectRef idx="0"/>
          <a:fontRef idx="minor"/>
        </p:style>
      </p:sp>
      <p:sp>
        <p:nvSpPr>
          <p:cNvPr id="373" name="Text 8"/>
          <p:cNvSpPr/>
          <p:nvPr/>
        </p:nvSpPr>
        <p:spPr>
          <a:xfrm>
            <a:off x="613080" y="3610440"/>
            <a:ext cx="632232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636e72"/>
                </a:solidFill>
                <a:latin typeface="MiSans"/>
                <a:ea typeface="MiSans"/>
              </a:rPr>
              <a:t>u(ESS, ESS) ≥ u(Mutant, ESS)</a:t>
            </a:r>
            <a:endParaRPr b="0" lang="en-HK" sz="1060" spc="-1" strike="noStrike">
              <a:latin typeface="Arial"/>
            </a:endParaRPr>
          </a:p>
        </p:txBody>
      </p:sp>
      <p:sp>
        <p:nvSpPr>
          <p:cNvPr id="374" name="Text 9"/>
          <p:cNvSpPr/>
          <p:nvPr/>
        </p:nvSpPr>
        <p:spPr>
          <a:xfrm>
            <a:off x="613080" y="3845520"/>
            <a:ext cx="632232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636e72"/>
                </a:solidFill>
                <a:latin typeface="MiSans"/>
                <a:ea typeface="MiSans"/>
              </a:rPr>
              <a:t>If equal: u(ESS, Mutant) &gt; u(Mutant, Mutant)</a:t>
            </a:r>
            <a:endParaRPr b="0" lang="en-HK" sz="1060" spc="-1" strike="noStrike">
              <a:latin typeface="Arial"/>
            </a:endParaRPr>
          </a:p>
        </p:txBody>
      </p:sp>
      <p:sp>
        <p:nvSpPr>
          <p:cNvPr id="375" name="Text 10"/>
          <p:cNvSpPr/>
          <p:nvPr/>
        </p:nvSpPr>
        <p:spPr>
          <a:xfrm>
            <a:off x="512280" y="4248720"/>
            <a:ext cx="6523920" cy="217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636e72"/>
                </a:solidFill>
                <a:latin typeface="Quattrocento Sans"/>
                <a:ea typeface="Quattrocento Sans"/>
              </a:rPr>
              <a:t>An ESS is a refined Nash Equilibrium that is robust to evolutionary pressures.</a:t>
            </a:r>
            <a:endParaRPr b="0" lang="en-HK" sz="1060" spc="-1" strike="noStrike">
              <a:latin typeface="Arial"/>
            </a:endParaRPr>
          </a:p>
        </p:txBody>
      </p:sp>
      <p:sp>
        <p:nvSpPr>
          <p:cNvPr id="376" name="Shape 11"/>
          <p:cNvSpPr/>
          <p:nvPr/>
        </p:nvSpPr>
        <p:spPr>
          <a:xfrm>
            <a:off x="352800" y="4777560"/>
            <a:ext cx="6792480" cy="1527840"/>
          </a:xfrm>
          <a:custGeom>
            <a:avLst/>
            <a:gdLst/>
            <a:ahLst/>
            <a:rect l="l" t="t" r="r" b="b"/>
            <a:pathLst>
              <a:path w="6792926" h="1528198">
                <a:moveTo>
                  <a:pt x="0" y="0"/>
                </a:moveTo>
                <a:lnTo>
                  <a:pt x="6792926" y="0"/>
                </a:lnTo>
                <a:lnTo>
                  <a:pt x="6792926" y="1528198"/>
                </a:lnTo>
                <a:lnTo>
                  <a:pt x="0" y="1528198"/>
                </a:lnTo>
                <a:lnTo>
                  <a:pt x="0" y="0"/>
                </a:lnTo>
                <a:close/>
              </a:path>
            </a:pathLst>
          </a:custGeom>
          <a:solidFill>
            <a:srgbClr val="f8f9fa"/>
          </a:solidFill>
          <a:ln w="0">
            <a:noFill/>
          </a:ln>
        </p:spPr>
        <p:style>
          <a:lnRef idx="0"/>
          <a:fillRef idx="0"/>
          <a:effectRef idx="0"/>
          <a:fontRef idx="minor"/>
        </p:style>
      </p:sp>
      <p:sp>
        <p:nvSpPr>
          <p:cNvPr id="377" name="Shape 12"/>
          <p:cNvSpPr/>
          <p:nvPr/>
        </p:nvSpPr>
        <p:spPr>
          <a:xfrm>
            <a:off x="352800" y="4777560"/>
            <a:ext cx="33120" cy="1527840"/>
          </a:xfrm>
          <a:custGeom>
            <a:avLst/>
            <a:gdLst/>
            <a:ahLst/>
            <a:rect l="l" t="t" r="r" b="b"/>
            <a:pathLst>
              <a:path w="33587" h="1528198">
                <a:moveTo>
                  <a:pt x="0" y="0"/>
                </a:moveTo>
                <a:lnTo>
                  <a:pt x="33587" y="0"/>
                </a:lnTo>
                <a:lnTo>
                  <a:pt x="33587" y="1528198"/>
                </a:lnTo>
                <a:lnTo>
                  <a:pt x="0" y="1528198"/>
                </a:lnTo>
                <a:lnTo>
                  <a:pt x="0" y="0"/>
                </a:lnTo>
                <a:close/>
              </a:path>
            </a:pathLst>
          </a:custGeom>
          <a:solidFill>
            <a:srgbClr val="0984e3"/>
          </a:solidFill>
          <a:ln w="0">
            <a:noFill/>
          </a:ln>
        </p:spPr>
        <p:style>
          <a:lnRef idx="0"/>
          <a:fillRef idx="0"/>
          <a:effectRef idx="0"/>
          <a:fontRef idx="minor"/>
        </p:style>
      </p:sp>
      <p:sp>
        <p:nvSpPr>
          <p:cNvPr id="378" name="Text 13"/>
          <p:cNvSpPr/>
          <p:nvPr/>
        </p:nvSpPr>
        <p:spPr>
          <a:xfrm>
            <a:off x="537480" y="4945680"/>
            <a:ext cx="6523920" cy="234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d3436"/>
                </a:solidFill>
                <a:latin typeface="Oranienbaum"/>
                <a:ea typeface="Oranienbaum"/>
              </a:rPr>
              <a:t>The Hawk-Dove Game</a:t>
            </a:r>
            <a:endParaRPr b="0" lang="en-HK" sz="1320" spc="-1" strike="noStrike">
              <a:latin typeface="Arial"/>
            </a:endParaRPr>
          </a:p>
        </p:txBody>
      </p:sp>
      <p:sp>
        <p:nvSpPr>
          <p:cNvPr id="379" name="Text 14"/>
          <p:cNvSpPr/>
          <p:nvPr/>
        </p:nvSpPr>
        <p:spPr>
          <a:xfrm>
            <a:off x="537480" y="5281560"/>
            <a:ext cx="6507000" cy="217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636e72"/>
                </a:solidFill>
                <a:latin typeface="Quattrocento Sans"/>
                <a:ea typeface="Quattrocento Sans"/>
              </a:rPr>
              <a:t>Models conflict over resources between aggressive (Hawk) and peaceful (Dove) strategies:</a:t>
            </a:r>
            <a:endParaRPr b="0" lang="en-HK" sz="1060" spc="-1" strike="noStrike">
              <a:latin typeface="Arial"/>
            </a:endParaRPr>
          </a:p>
        </p:txBody>
      </p:sp>
      <p:sp>
        <p:nvSpPr>
          <p:cNvPr id="380" name="Text 15"/>
          <p:cNvSpPr/>
          <p:nvPr/>
        </p:nvSpPr>
        <p:spPr>
          <a:xfrm>
            <a:off x="537480" y="5600520"/>
            <a:ext cx="321552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d3436"/>
                </a:solidFill>
                <a:latin typeface="Quattrocento Sans"/>
                <a:ea typeface="Quattrocento Sans"/>
              </a:rPr>
              <a:t>Hawk vs. Hawk:</a:t>
            </a:r>
            <a:r>
              <a:rPr b="0" lang="en-US" sz="1060" spc="-1" strike="noStrike">
                <a:solidFill>
                  <a:srgbClr val="636e72"/>
                </a:solidFill>
                <a:latin typeface="Quattrocento Sans"/>
                <a:ea typeface="Quattrocento Sans"/>
              </a:rPr>
              <a:t> Fight, high cost</a:t>
            </a:r>
            <a:endParaRPr b="0" lang="en-HK" sz="1060" spc="-1" strike="noStrike">
              <a:latin typeface="Arial"/>
            </a:endParaRPr>
          </a:p>
        </p:txBody>
      </p:sp>
      <p:sp>
        <p:nvSpPr>
          <p:cNvPr id="381" name="Text 16"/>
          <p:cNvSpPr/>
          <p:nvPr/>
        </p:nvSpPr>
        <p:spPr>
          <a:xfrm>
            <a:off x="3823200" y="5600520"/>
            <a:ext cx="321552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d3436"/>
                </a:solidFill>
                <a:latin typeface="Quattrocento Sans"/>
                <a:ea typeface="Quattrocento Sans"/>
              </a:rPr>
              <a:t>Hawk vs. Dove:</a:t>
            </a:r>
            <a:r>
              <a:rPr b="0" lang="en-US" sz="1060" spc="-1" strike="noStrike">
                <a:solidFill>
                  <a:srgbClr val="636e72"/>
                </a:solidFill>
                <a:latin typeface="Quattrocento Sans"/>
                <a:ea typeface="Quattrocento Sans"/>
              </a:rPr>
              <a:t> Hawk takes all</a:t>
            </a:r>
            <a:endParaRPr b="0" lang="en-HK" sz="1060" spc="-1" strike="noStrike">
              <a:latin typeface="Arial"/>
            </a:endParaRPr>
          </a:p>
        </p:txBody>
      </p:sp>
      <p:sp>
        <p:nvSpPr>
          <p:cNvPr id="382" name="Text 17"/>
          <p:cNvSpPr/>
          <p:nvPr/>
        </p:nvSpPr>
        <p:spPr>
          <a:xfrm>
            <a:off x="537480" y="5936400"/>
            <a:ext cx="321552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d3436"/>
                </a:solidFill>
                <a:latin typeface="Quattrocento Sans"/>
                <a:ea typeface="Quattrocento Sans"/>
              </a:rPr>
              <a:t>Dove vs. Dove:</a:t>
            </a:r>
            <a:r>
              <a:rPr b="0" lang="en-US" sz="1060" spc="-1" strike="noStrike">
                <a:solidFill>
                  <a:srgbClr val="636e72"/>
                </a:solidFill>
                <a:latin typeface="Quattrocento Sans"/>
                <a:ea typeface="Quattrocento Sans"/>
              </a:rPr>
              <a:t> Share peacefully</a:t>
            </a:r>
            <a:endParaRPr b="0" lang="en-HK" sz="1060" spc="-1" strike="noStrike">
              <a:latin typeface="Arial"/>
            </a:endParaRPr>
          </a:p>
        </p:txBody>
      </p:sp>
      <p:sp>
        <p:nvSpPr>
          <p:cNvPr id="383" name="Text 18"/>
          <p:cNvSpPr/>
          <p:nvPr/>
        </p:nvSpPr>
        <p:spPr>
          <a:xfrm>
            <a:off x="3823200" y="5936400"/>
            <a:ext cx="321552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0984e3"/>
                </a:solidFill>
                <a:latin typeface="Quattrocento Sans"/>
                <a:ea typeface="Quattrocento Sans"/>
              </a:rPr>
              <a:t>ESS:</a:t>
            </a:r>
            <a:r>
              <a:rPr b="0" lang="en-US" sz="1060" spc="-1" strike="noStrike">
                <a:solidFill>
                  <a:srgbClr val="636e72"/>
                </a:solidFill>
                <a:latin typeface="Quattrocento Sans"/>
                <a:ea typeface="Quattrocento Sans"/>
              </a:rPr>
              <a:t> Mixed population</a:t>
            </a:r>
            <a:endParaRPr b="0" lang="en-HK" sz="1060" spc="-1" strike="noStrike">
              <a:latin typeface="Arial"/>
            </a:endParaRPr>
          </a:p>
        </p:txBody>
      </p:sp>
      <p:sp>
        <p:nvSpPr>
          <p:cNvPr id="384" name="Shape 19"/>
          <p:cNvSpPr/>
          <p:nvPr/>
        </p:nvSpPr>
        <p:spPr>
          <a:xfrm>
            <a:off x="7415640" y="1213200"/>
            <a:ext cx="4441320" cy="3501000"/>
          </a:xfrm>
          <a:custGeom>
            <a:avLst/>
            <a:gdLst/>
            <a:ahLst/>
            <a:rect l="l" t="t" r="r" b="b"/>
            <a:pathLst>
              <a:path w="4441851" h="3501421">
                <a:moveTo>
                  <a:pt x="0" y="0"/>
                </a:moveTo>
                <a:lnTo>
                  <a:pt x="4441851" y="0"/>
                </a:lnTo>
                <a:lnTo>
                  <a:pt x="4441851" y="3501421"/>
                </a:lnTo>
                <a:lnTo>
                  <a:pt x="0" y="3501421"/>
                </a:lnTo>
                <a:lnTo>
                  <a:pt x="0" y="0"/>
                </a:lnTo>
                <a:close/>
              </a:path>
            </a:pathLst>
          </a:custGeom>
          <a:solidFill>
            <a:srgbClr val="ffffff"/>
          </a:solidFill>
          <a:ln w="12700">
            <a:solidFill>
              <a:srgbClr val="e0e0e0"/>
            </a:solidFill>
            <a:round/>
          </a:ln>
        </p:spPr>
        <p:style>
          <a:lnRef idx="0"/>
          <a:fillRef idx="0"/>
          <a:effectRef idx="0"/>
          <a:fontRef idx="minor"/>
        </p:style>
      </p:sp>
      <p:sp>
        <p:nvSpPr>
          <p:cNvPr id="385" name="Image 0"/>
          <p:cNvSpPr/>
          <p:nvPr/>
        </p:nvSpPr>
        <p:spPr>
          <a:xfrm>
            <a:off x="7587720" y="1385280"/>
            <a:ext cx="4097160" cy="1679040"/>
          </a:xfrm>
          <a:prstGeom prst="roundRect">
            <a:avLst>
              <a:gd name="adj" fmla="val 0"/>
            </a:avLst>
          </a:prstGeom>
          <a:blipFill rotWithShape="0">
            <a:blip r:embed="rId1"/>
            <a:srcRect/>
            <a:stretch/>
          </a:blipFill>
          <a:ln w="0">
            <a:noFill/>
          </a:ln>
        </p:spPr>
        <p:style>
          <a:lnRef idx="0"/>
          <a:fillRef idx="0"/>
          <a:effectRef idx="0"/>
          <a:fontRef idx="minor"/>
        </p:style>
      </p:sp>
      <p:sp>
        <p:nvSpPr>
          <p:cNvPr id="386" name="Text 20"/>
          <p:cNvSpPr/>
          <p:nvPr/>
        </p:nvSpPr>
        <p:spPr>
          <a:xfrm>
            <a:off x="7545600" y="3199320"/>
            <a:ext cx="4181040" cy="2347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320" spc="-1" strike="noStrike">
                <a:solidFill>
                  <a:srgbClr val="2d3436"/>
                </a:solidFill>
                <a:latin typeface="Oranienbaum"/>
                <a:ea typeface="Oranienbaum"/>
              </a:rPr>
              <a:t>Applications in Biology</a:t>
            </a:r>
            <a:endParaRPr b="0" lang="en-HK" sz="1320" spc="-1" strike="noStrike">
              <a:latin typeface="Arial"/>
            </a:endParaRPr>
          </a:p>
        </p:txBody>
      </p:sp>
      <p:sp>
        <p:nvSpPr>
          <p:cNvPr id="387" name="Shape 21"/>
          <p:cNvSpPr/>
          <p:nvPr/>
        </p:nvSpPr>
        <p:spPr>
          <a:xfrm>
            <a:off x="7621200" y="3564360"/>
            <a:ext cx="100440" cy="133920"/>
          </a:xfrm>
          <a:custGeom>
            <a:avLst/>
            <a:gdLst/>
            <a:ahLst/>
            <a:rect l="l" t="t" r="r" b="b"/>
            <a:pathLst>
              <a:path w="100760" h="134347">
                <a:moveTo>
                  <a:pt x="92364" y="0"/>
                </a:moveTo>
                <a:cubicBezTo>
                  <a:pt x="97008" y="0"/>
                  <a:pt x="100760" y="3752"/>
                  <a:pt x="100760" y="8397"/>
                </a:cubicBezTo>
                <a:cubicBezTo>
                  <a:pt x="100760" y="23563"/>
                  <a:pt x="94358" y="35896"/>
                  <a:pt x="85699" y="46313"/>
                </a:cubicBezTo>
                <a:cubicBezTo>
                  <a:pt x="79375" y="53896"/>
                  <a:pt x="71582" y="60771"/>
                  <a:pt x="63762" y="67174"/>
                </a:cubicBezTo>
                <a:cubicBezTo>
                  <a:pt x="71582" y="73602"/>
                  <a:pt x="79375" y="80451"/>
                  <a:pt x="85699" y="88034"/>
                </a:cubicBezTo>
                <a:cubicBezTo>
                  <a:pt x="94358" y="98425"/>
                  <a:pt x="100760" y="110784"/>
                  <a:pt x="100760" y="125950"/>
                </a:cubicBezTo>
                <a:cubicBezTo>
                  <a:pt x="100760" y="130595"/>
                  <a:pt x="97008" y="134347"/>
                  <a:pt x="92364" y="134347"/>
                </a:cubicBezTo>
                <a:cubicBezTo>
                  <a:pt x="87719" y="134347"/>
                  <a:pt x="83967" y="130595"/>
                  <a:pt x="83967" y="125950"/>
                </a:cubicBezTo>
                <a:lnTo>
                  <a:pt x="16793" y="125950"/>
                </a:lnTo>
                <a:cubicBezTo>
                  <a:pt x="16793" y="130595"/>
                  <a:pt x="13041" y="134347"/>
                  <a:pt x="8397" y="134347"/>
                </a:cubicBezTo>
                <a:cubicBezTo>
                  <a:pt x="3752" y="134347"/>
                  <a:pt x="0" y="130595"/>
                  <a:pt x="0" y="125950"/>
                </a:cubicBezTo>
                <a:cubicBezTo>
                  <a:pt x="0" y="110784"/>
                  <a:pt x="6402" y="98451"/>
                  <a:pt x="15062" y="88034"/>
                </a:cubicBezTo>
                <a:cubicBezTo>
                  <a:pt x="21385" y="80451"/>
                  <a:pt x="29179" y="73602"/>
                  <a:pt x="36998" y="67174"/>
                </a:cubicBezTo>
                <a:cubicBezTo>
                  <a:pt x="29179" y="60745"/>
                  <a:pt x="21385" y="53896"/>
                  <a:pt x="15062" y="46313"/>
                </a:cubicBezTo>
                <a:cubicBezTo>
                  <a:pt x="6402" y="35896"/>
                  <a:pt x="0" y="23563"/>
                  <a:pt x="0" y="8397"/>
                </a:cubicBezTo>
                <a:cubicBezTo>
                  <a:pt x="0" y="3752"/>
                  <a:pt x="3752" y="0"/>
                  <a:pt x="8397" y="0"/>
                </a:cubicBezTo>
                <a:cubicBezTo>
                  <a:pt x="13041" y="0"/>
                  <a:pt x="16793" y="3752"/>
                  <a:pt x="16793" y="8397"/>
                </a:cubicBezTo>
                <a:lnTo>
                  <a:pt x="83967" y="8397"/>
                </a:lnTo>
                <a:cubicBezTo>
                  <a:pt x="83967" y="3752"/>
                  <a:pt x="87719" y="0"/>
                  <a:pt x="92364" y="0"/>
                </a:cubicBezTo>
                <a:close/>
                <a:moveTo>
                  <a:pt x="74389" y="100760"/>
                </a:moveTo>
                <a:lnTo>
                  <a:pt x="26397" y="100760"/>
                </a:lnTo>
                <a:cubicBezTo>
                  <a:pt x="24245" y="103515"/>
                  <a:pt x="22435" y="106297"/>
                  <a:pt x="20992" y="109157"/>
                </a:cubicBezTo>
                <a:lnTo>
                  <a:pt x="79821" y="109157"/>
                </a:lnTo>
                <a:cubicBezTo>
                  <a:pt x="78352" y="106297"/>
                  <a:pt x="76541" y="103515"/>
                  <a:pt x="74416" y="100760"/>
                </a:cubicBezTo>
                <a:close/>
                <a:moveTo>
                  <a:pt x="62450" y="88165"/>
                </a:moveTo>
                <a:cubicBezTo>
                  <a:pt x="58698" y="84754"/>
                  <a:pt x="54631" y="81395"/>
                  <a:pt x="50380" y="77932"/>
                </a:cubicBezTo>
                <a:cubicBezTo>
                  <a:pt x="46129" y="81369"/>
                  <a:pt x="42062" y="84754"/>
                  <a:pt x="38310" y="88165"/>
                </a:cubicBezTo>
                <a:lnTo>
                  <a:pt x="62450" y="88165"/>
                </a:lnTo>
                <a:close/>
                <a:moveTo>
                  <a:pt x="26371" y="33587"/>
                </a:moveTo>
                <a:lnTo>
                  <a:pt x="74363" y="33587"/>
                </a:lnTo>
                <a:cubicBezTo>
                  <a:pt x="76515" y="30832"/>
                  <a:pt x="78325" y="28050"/>
                  <a:pt x="79769" y="25190"/>
                </a:cubicBezTo>
                <a:lnTo>
                  <a:pt x="20965" y="25190"/>
                </a:lnTo>
                <a:cubicBezTo>
                  <a:pt x="22435" y="28050"/>
                  <a:pt x="24245" y="30832"/>
                  <a:pt x="26371" y="33587"/>
                </a:cubicBezTo>
                <a:close/>
                <a:moveTo>
                  <a:pt x="38310" y="46182"/>
                </a:moveTo>
                <a:cubicBezTo>
                  <a:pt x="42062" y="49593"/>
                  <a:pt x="46129" y="52952"/>
                  <a:pt x="50380" y="56415"/>
                </a:cubicBezTo>
                <a:cubicBezTo>
                  <a:pt x="54631" y="52978"/>
                  <a:pt x="58698" y="49593"/>
                  <a:pt x="62450" y="46182"/>
                </a:cubicBezTo>
                <a:lnTo>
                  <a:pt x="38310" y="46182"/>
                </a:lnTo>
                <a:close/>
              </a:path>
            </a:pathLst>
          </a:custGeom>
          <a:solidFill>
            <a:srgbClr val="0984e3"/>
          </a:solidFill>
          <a:ln w="0">
            <a:noFill/>
          </a:ln>
        </p:spPr>
        <p:style>
          <a:lnRef idx="0"/>
          <a:fillRef idx="0"/>
          <a:effectRef idx="0"/>
          <a:fontRef idx="minor"/>
        </p:style>
      </p:sp>
      <p:sp>
        <p:nvSpPr>
          <p:cNvPr id="388" name="Text 22"/>
          <p:cNvSpPr/>
          <p:nvPr/>
        </p:nvSpPr>
        <p:spPr>
          <a:xfrm>
            <a:off x="7800120" y="3534840"/>
            <a:ext cx="395208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636e72"/>
                </a:solidFill>
                <a:latin typeface="Quattrocento Sans"/>
                <a:ea typeface="Quattrocento Sans"/>
              </a:rPr>
              <a:t>Animal Behavior:</a:t>
            </a:r>
            <a:r>
              <a:rPr b="0" lang="en-US" sz="1060" spc="-1" strike="noStrike">
                <a:solidFill>
                  <a:srgbClr val="636e72"/>
                </a:solidFill>
                <a:latin typeface="Quattrocento Sans"/>
                <a:ea typeface="Quattrocento Sans"/>
              </a:rPr>
              <a:t> Mating rituals, territorial disputes</a:t>
            </a:r>
            <a:endParaRPr b="0" lang="en-HK" sz="1060" spc="-1" strike="noStrike">
              <a:latin typeface="Arial"/>
            </a:endParaRPr>
          </a:p>
        </p:txBody>
      </p:sp>
      <p:sp>
        <p:nvSpPr>
          <p:cNvPr id="389" name="Shape 23"/>
          <p:cNvSpPr/>
          <p:nvPr/>
        </p:nvSpPr>
        <p:spPr>
          <a:xfrm>
            <a:off x="7604640" y="3832920"/>
            <a:ext cx="133920" cy="133920"/>
          </a:xfrm>
          <a:custGeom>
            <a:avLst/>
            <a:gdLst/>
            <a:ahLst/>
            <a:rect l="l" t="t" r="r" b="b"/>
            <a:pathLst>
              <a:path w="134347" h="134347">
                <a:moveTo>
                  <a:pt x="77669" y="10496"/>
                </a:moveTo>
                <a:cubicBezTo>
                  <a:pt x="77669" y="4697"/>
                  <a:pt x="72973" y="0"/>
                  <a:pt x="67174" y="0"/>
                </a:cubicBezTo>
                <a:cubicBezTo>
                  <a:pt x="61375" y="0"/>
                  <a:pt x="56678" y="4697"/>
                  <a:pt x="56678" y="10496"/>
                </a:cubicBezTo>
                <a:cubicBezTo>
                  <a:pt x="56678" y="22068"/>
                  <a:pt x="42692" y="27840"/>
                  <a:pt x="34505" y="19680"/>
                </a:cubicBezTo>
                <a:cubicBezTo>
                  <a:pt x="30412" y="15586"/>
                  <a:pt x="23773" y="15586"/>
                  <a:pt x="19654" y="19680"/>
                </a:cubicBezTo>
                <a:cubicBezTo>
                  <a:pt x="15534" y="23773"/>
                  <a:pt x="15560" y="30412"/>
                  <a:pt x="19654" y="34531"/>
                </a:cubicBezTo>
                <a:cubicBezTo>
                  <a:pt x="27840" y="42718"/>
                  <a:pt x="22041" y="56704"/>
                  <a:pt x="10470" y="56704"/>
                </a:cubicBezTo>
                <a:cubicBezTo>
                  <a:pt x="4671" y="56704"/>
                  <a:pt x="-26" y="61401"/>
                  <a:pt x="-26" y="67200"/>
                </a:cubicBezTo>
                <a:cubicBezTo>
                  <a:pt x="-26" y="72999"/>
                  <a:pt x="4671" y="77696"/>
                  <a:pt x="10470" y="77696"/>
                </a:cubicBezTo>
                <a:cubicBezTo>
                  <a:pt x="22041" y="77696"/>
                  <a:pt x="27814" y="91681"/>
                  <a:pt x="19654" y="99868"/>
                </a:cubicBezTo>
                <a:cubicBezTo>
                  <a:pt x="15560" y="103962"/>
                  <a:pt x="15560" y="110600"/>
                  <a:pt x="19654" y="114720"/>
                </a:cubicBezTo>
                <a:cubicBezTo>
                  <a:pt x="23747" y="118839"/>
                  <a:pt x="30386" y="118813"/>
                  <a:pt x="34505" y="114720"/>
                </a:cubicBezTo>
                <a:cubicBezTo>
                  <a:pt x="42692" y="106533"/>
                  <a:pt x="56678" y="112332"/>
                  <a:pt x="56678" y="123904"/>
                </a:cubicBezTo>
                <a:cubicBezTo>
                  <a:pt x="56678" y="129703"/>
                  <a:pt x="61375" y="134400"/>
                  <a:pt x="67174" y="134400"/>
                </a:cubicBezTo>
                <a:cubicBezTo>
                  <a:pt x="72973" y="134400"/>
                  <a:pt x="77669" y="129703"/>
                  <a:pt x="77669" y="123904"/>
                </a:cubicBezTo>
                <a:cubicBezTo>
                  <a:pt x="77669" y="112332"/>
                  <a:pt x="91655" y="106559"/>
                  <a:pt x="99842" y="114720"/>
                </a:cubicBezTo>
                <a:cubicBezTo>
                  <a:pt x="103935" y="118813"/>
                  <a:pt x="110574" y="118813"/>
                  <a:pt x="114694" y="114720"/>
                </a:cubicBezTo>
                <a:cubicBezTo>
                  <a:pt x="118813" y="110626"/>
                  <a:pt x="118787" y="103988"/>
                  <a:pt x="114694" y="99868"/>
                </a:cubicBezTo>
                <a:cubicBezTo>
                  <a:pt x="106507" y="91681"/>
                  <a:pt x="112306" y="77696"/>
                  <a:pt x="123877" y="77696"/>
                </a:cubicBezTo>
                <a:cubicBezTo>
                  <a:pt x="129676" y="77696"/>
                  <a:pt x="134373" y="72999"/>
                  <a:pt x="134373" y="67200"/>
                </a:cubicBezTo>
                <a:cubicBezTo>
                  <a:pt x="134373" y="61401"/>
                  <a:pt x="129676" y="56704"/>
                  <a:pt x="123877" y="56704"/>
                </a:cubicBezTo>
                <a:cubicBezTo>
                  <a:pt x="112306" y="56704"/>
                  <a:pt x="106533" y="42718"/>
                  <a:pt x="114694" y="34531"/>
                </a:cubicBezTo>
                <a:cubicBezTo>
                  <a:pt x="118787" y="30438"/>
                  <a:pt x="118787" y="23799"/>
                  <a:pt x="114694" y="19680"/>
                </a:cubicBezTo>
                <a:cubicBezTo>
                  <a:pt x="110600" y="15560"/>
                  <a:pt x="103962" y="15586"/>
                  <a:pt x="99842" y="19680"/>
                </a:cubicBezTo>
                <a:cubicBezTo>
                  <a:pt x="91655" y="27840"/>
                  <a:pt x="77669" y="22068"/>
                  <a:pt x="77669" y="10496"/>
                </a:cubicBezTo>
                <a:close/>
                <a:moveTo>
                  <a:pt x="41983" y="58777"/>
                </a:moveTo>
                <a:cubicBezTo>
                  <a:pt x="41983" y="54143"/>
                  <a:pt x="45746" y="50380"/>
                  <a:pt x="50380" y="50380"/>
                </a:cubicBezTo>
                <a:cubicBezTo>
                  <a:pt x="55014" y="50380"/>
                  <a:pt x="58777" y="54143"/>
                  <a:pt x="58777" y="58777"/>
                </a:cubicBezTo>
                <a:cubicBezTo>
                  <a:pt x="58777" y="63411"/>
                  <a:pt x="55014" y="67174"/>
                  <a:pt x="50380" y="67174"/>
                </a:cubicBezTo>
                <a:cubicBezTo>
                  <a:pt x="45746" y="67174"/>
                  <a:pt x="41983" y="63411"/>
                  <a:pt x="41983" y="58777"/>
                </a:cubicBezTo>
                <a:close/>
                <a:moveTo>
                  <a:pt x="83967" y="67174"/>
                </a:moveTo>
                <a:cubicBezTo>
                  <a:pt x="88601" y="67174"/>
                  <a:pt x="92364" y="70936"/>
                  <a:pt x="92364" y="75570"/>
                </a:cubicBezTo>
                <a:cubicBezTo>
                  <a:pt x="92364" y="80205"/>
                  <a:pt x="88601" y="83967"/>
                  <a:pt x="83967" y="83967"/>
                </a:cubicBezTo>
                <a:cubicBezTo>
                  <a:pt x="79333" y="83967"/>
                  <a:pt x="75570" y="80205"/>
                  <a:pt x="75570" y="75570"/>
                </a:cubicBezTo>
                <a:cubicBezTo>
                  <a:pt x="75570" y="70936"/>
                  <a:pt x="79333" y="67174"/>
                  <a:pt x="83967" y="67174"/>
                </a:cubicBezTo>
                <a:close/>
              </a:path>
            </a:pathLst>
          </a:custGeom>
          <a:solidFill>
            <a:srgbClr val="0984e3"/>
          </a:solidFill>
          <a:ln w="0">
            <a:noFill/>
          </a:ln>
        </p:spPr>
        <p:style>
          <a:lnRef idx="0"/>
          <a:fillRef idx="0"/>
          <a:effectRef idx="0"/>
          <a:fontRef idx="minor"/>
        </p:style>
      </p:sp>
      <p:sp>
        <p:nvSpPr>
          <p:cNvPr id="390" name="Text 24"/>
          <p:cNvSpPr/>
          <p:nvPr/>
        </p:nvSpPr>
        <p:spPr>
          <a:xfrm>
            <a:off x="7800120" y="3803760"/>
            <a:ext cx="395208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636e72"/>
                </a:solidFill>
                <a:latin typeface="Quattrocento Sans"/>
                <a:ea typeface="Quattrocento Sans"/>
              </a:rPr>
              <a:t>Pathogen Evolution:</a:t>
            </a:r>
            <a:r>
              <a:rPr b="0" lang="en-US" sz="1060" spc="-1" strike="noStrike">
                <a:solidFill>
                  <a:srgbClr val="636e72"/>
                </a:solidFill>
                <a:latin typeface="Quattrocento Sans"/>
                <a:ea typeface="Quattrocento Sans"/>
              </a:rPr>
              <a:t> Virulence and transmission strategies</a:t>
            </a:r>
            <a:endParaRPr b="0" lang="en-HK" sz="1060" spc="-1" strike="noStrike">
              <a:latin typeface="Arial"/>
            </a:endParaRPr>
          </a:p>
        </p:txBody>
      </p:sp>
      <p:sp>
        <p:nvSpPr>
          <p:cNvPr id="391" name="Shape 25"/>
          <p:cNvSpPr/>
          <p:nvPr/>
        </p:nvSpPr>
        <p:spPr>
          <a:xfrm>
            <a:off x="7604640" y="4101840"/>
            <a:ext cx="133920" cy="133920"/>
          </a:xfrm>
          <a:custGeom>
            <a:avLst/>
            <a:gdLst/>
            <a:ahLst/>
            <a:rect l="l" t="t" r="r" b="b"/>
            <a:pathLst>
              <a:path w="134347" h="134347">
                <a:moveTo>
                  <a:pt x="67174" y="28313"/>
                </a:moveTo>
                <a:lnTo>
                  <a:pt x="63238" y="22855"/>
                </a:lnTo>
                <a:cubicBezTo>
                  <a:pt x="56678" y="13776"/>
                  <a:pt x="46156" y="8397"/>
                  <a:pt x="34925" y="8397"/>
                </a:cubicBezTo>
                <a:cubicBezTo>
                  <a:pt x="15639" y="8397"/>
                  <a:pt x="0" y="24036"/>
                  <a:pt x="0" y="43322"/>
                </a:cubicBezTo>
                <a:lnTo>
                  <a:pt x="0" y="44004"/>
                </a:lnTo>
                <a:cubicBezTo>
                  <a:pt x="0" y="50196"/>
                  <a:pt x="1627" y="56599"/>
                  <a:pt x="4356" y="62975"/>
                </a:cubicBezTo>
                <a:lnTo>
                  <a:pt x="32170" y="62975"/>
                </a:lnTo>
                <a:cubicBezTo>
                  <a:pt x="33010" y="62975"/>
                  <a:pt x="33770" y="62477"/>
                  <a:pt x="34112" y="61689"/>
                </a:cubicBezTo>
                <a:lnTo>
                  <a:pt x="42456" y="41669"/>
                </a:lnTo>
                <a:cubicBezTo>
                  <a:pt x="43427" y="39360"/>
                  <a:pt x="45683" y="37838"/>
                  <a:pt x="48176" y="37785"/>
                </a:cubicBezTo>
                <a:cubicBezTo>
                  <a:pt x="50669" y="37733"/>
                  <a:pt x="52978" y="39202"/>
                  <a:pt x="54001" y="41485"/>
                </a:cubicBezTo>
                <a:lnTo>
                  <a:pt x="67462" y="71372"/>
                </a:lnTo>
                <a:lnTo>
                  <a:pt x="78325" y="49645"/>
                </a:lnTo>
                <a:cubicBezTo>
                  <a:pt x="79401" y="47520"/>
                  <a:pt x="81579" y="46156"/>
                  <a:pt x="83967" y="46156"/>
                </a:cubicBezTo>
                <a:cubicBezTo>
                  <a:pt x="86355" y="46156"/>
                  <a:pt x="88533" y="47494"/>
                  <a:pt x="89608" y="49645"/>
                </a:cubicBezTo>
                <a:lnTo>
                  <a:pt x="95696" y="61794"/>
                </a:lnTo>
                <a:cubicBezTo>
                  <a:pt x="96063" y="62503"/>
                  <a:pt x="96772" y="62949"/>
                  <a:pt x="97585" y="62949"/>
                </a:cubicBezTo>
                <a:lnTo>
                  <a:pt x="130018" y="62949"/>
                </a:lnTo>
                <a:cubicBezTo>
                  <a:pt x="132773" y="56573"/>
                  <a:pt x="134373" y="50170"/>
                  <a:pt x="134373" y="43978"/>
                </a:cubicBezTo>
                <a:lnTo>
                  <a:pt x="134373" y="43295"/>
                </a:lnTo>
                <a:cubicBezTo>
                  <a:pt x="134347" y="24036"/>
                  <a:pt x="118708" y="8397"/>
                  <a:pt x="99422" y="8397"/>
                </a:cubicBezTo>
                <a:cubicBezTo>
                  <a:pt x="88218" y="8397"/>
                  <a:pt x="77669" y="13776"/>
                  <a:pt x="71110" y="22855"/>
                </a:cubicBezTo>
                <a:lnTo>
                  <a:pt x="67174" y="28286"/>
                </a:lnTo>
                <a:close/>
                <a:moveTo>
                  <a:pt x="123221" y="75570"/>
                </a:moveTo>
                <a:lnTo>
                  <a:pt x="97559" y="75570"/>
                </a:lnTo>
                <a:cubicBezTo>
                  <a:pt x="91996" y="75570"/>
                  <a:pt x="86906" y="72421"/>
                  <a:pt x="84413" y="67436"/>
                </a:cubicBezTo>
                <a:lnTo>
                  <a:pt x="83967" y="66544"/>
                </a:lnTo>
                <a:lnTo>
                  <a:pt x="72815" y="88874"/>
                </a:lnTo>
                <a:cubicBezTo>
                  <a:pt x="71739" y="91052"/>
                  <a:pt x="69483" y="92416"/>
                  <a:pt x="67042" y="92364"/>
                </a:cubicBezTo>
                <a:cubicBezTo>
                  <a:pt x="64602" y="92311"/>
                  <a:pt x="62424" y="90868"/>
                  <a:pt x="61427" y="88664"/>
                </a:cubicBezTo>
                <a:lnTo>
                  <a:pt x="48491" y="59931"/>
                </a:lnTo>
                <a:lnTo>
                  <a:pt x="45736" y="66544"/>
                </a:lnTo>
                <a:cubicBezTo>
                  <a:pt x="43453" y="72028"/>
                  <a:pt x="38100" y="75596"/>
                  <a:pt x="32170" y="75596"/>
                </a:cubicBezTo>
                <a:lnTo>
                  <a:pt x="11126" y="75596"/>
                </a:lnTo>
                <a:cubicBezTo>
                  <a:pt x="23511" y="94961"/>
                  <a:pt x="43400" y="112778"/>
                  <a:pt x="55838" y="122277"/>
                </a:cubicBezTo>
                <a:cubicBezTo>
                  <a:pt x="59092" y="124743"/>
                  <a:pt x="63080" y="125977"/>
                  <a:pt x="67147" y="125977"/>
                </a:cubicBezTo>
                <a:cubicBezTo>
                  <a:pt x="71214" y="125977"/>
                  <a:pt x="75229" y="124770"/>
                  <a:pt x="78457" y="122277"/>
                </a:cubicBezTo>
                <a:cubicBezTo>
                  <a:pt x="90947" y="112752"/>
                  <a:pt x="110836" y="94935"/>
                  <a:pt x="123221" y="75570"/>
                </a:cubicBezTo>
                <a:close/>
              </a:path>
            </a:pathLst>
          </a:custGeom>
          <a:solidFill>
            <a:srgbClr val="0984e3"/>
          </a:solidFill>
          <a:ln w="0">
            <a:noFill/>
          </a:ln>
        </p:spPr>
        <p:style>
          <a:lnRef idx="0"/>
          <a:fillRef idx="0"/>
          <a:effectRef idx="0"/>
          <a:fontRef idx="minor"/>
        </p:style>
      </p:sp>
      <p:sp>
        <p:nvSpPr>
          <p:cNvPr id="392" name="Text 26"/>
          <p:cNvSpPr/>
          <p:nvPr/>
        </p:nvSpPr>
        <p:spPr>
          <a:xfrm>
            <a:off x="7800120" y="4072320"/>
            <a:ext cx="395208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636e72"/>
                </a:solidFill>
                <a:latin typeface="Quattrocento Sans"/>
                <a:ea typeface="Quattrocento Sans"/>
              </a:rPr>
              <a:t>Cancer Therapy:</a:t>
            </a:r>
            <a:r>
              <a:rPr b="0" lang="en-US" sz="1060" spc="-1" strike="noStrike">
                <a:solidFill>
                  <a:srgbClr val="636e72"/>
                </a:solidFill>
                <a:latin typeface="Quattrocento Sans"/>
                <a:ea typeface="Quattrocento Sans"/>
              </a:rPr>
              <a:t> Treatment resistance evolution</a:t>
            </a:r>
            <a:endParaRPr b="0" lang="en-HK" sz="1060" spc="-1" strike="noStrike">
              <a:latin typeface="Arial"/>
            </a:endParaRPr>
          </a:p>
        </p:txBody>
      </p:sp>
      <p:sp>
        <p:nvSpPr>
          <p:cNvPr id="393" name="Shape 27"/>
          <p:cNvSpPr/>
          <p:nvPr/>
        </p:nvSpPr>
        <p:spPr>
          <a:xfrm>
            <a:off x="7587720" y="4370400"/>
            <a:ext cx="167400" cy="133920"/>
          </a:xfrm>
          <a:custGeom>
            <a:avLst/>
            <a:gdLst/>
            <a:ahLst/>
            <a:rect l="l" t="t" r="r" b="b"/>
            <a:pathLst>
              <a:path w="167934" h="134347">
                <a:moveTo>
                  <a:pt x="83967" y="4198"/>
                </a:moveTo>
                <a:cubicBezTo>
                  <a:pt x="99028" y="4198"/>
                  <a:pt x="111256" y="16426"/>
                  <a:pt x="111256" y="31488"/>
                </a:cubicBezTo>
                <a:cubicBezTo>
                  <a:pt x="111256" y="46549"/>
                  <a:pt x="99028" y="58777"/>
                  <a:pt x="83967" y="58777"/>
                </a:cubicBezTo>
                <a:cubicBezTo>
                  <a:pt x="68906" y="58777"/>
                  <a:pt x="56678" y="46549"/>
                  <a:pt x="56678" y="31488"/>
                </a:cubicBezTo>
                <a:cubicBezTo>
                  <a:pt x="56678" y="16426"/>
                  <a:pt x="68906" y="4198"/>
                  <a:pt x="83967" y="4198"/>
                </a:cubicBezTo>
                <a:close/>
                <a:moveTo>
                  <a:pt x="25190" y="23091"/>
                </a:moveTo>
                <a:cubicBezTo>
                  <a:pt x="35617" y="23091"/>
                  <a:pt x="44083" y="31556"/>
                  <a:pt x="44083" y="41983"/>
                </a:cubicBezTo>
                <a:cubicBezTo>
                  <a:pt x="44083" y="52411"/>
                  <a:pt x="35617" y="60876"/>
                  <a:pt x="25190" y="60876"/>
                </a:cubicBezTo>
                <a:cubicBezTo>
                  <a:pt x="14763" y="60876"/>
                  <a:pt x="6298" y="52411"/>
                  <a:pt x="6298" y="41983"/>
                </a:cubicBezTo>
                <a:cubicBezTo>
                  <a:pt x="6298" y="31556"/>
                  <a:pt x="14763" y="23091"/>
                  <a:pt x="25190" y="23091"/>
                </a:cubicBezTo>
                <a:close/>
                <a:moveTo>
                  <a:pt x="0" y="109157"/>
                </a:moveTo>
                <a:cubicBezTo>
                  <a:pt x="0" y="90606"/>
                  <a:pt x="15035" y="75570"/>
                  <a:pt x="33587" y="75570"/>
                </a:cubicBezTo>
                <a:cubicBezTo>
                  <a:pt x="36945" y="75570"/>
                  <a:pt x="40199" y="76069"/>
                  <a:pt x="43269" y="76987"/>
                </a:cubicBezTo>
                <a:cubicBezTo>
                  <a:pt x="34636" y="86643"/>
                  <a:pt x="29388" y="99396"/>
                  <a:pt x="29388" y="113355"/>
                </a:cubicBezTo>
                <a:lnTo>
                  <a:pt x="29388" y="117554"/>
                </a:lnTo>
                <a:cubicBezTo>
                  <a:pt x="29388" y="120545"/>
                  <a:pt x="30018" y="123379"/>
                  <a:pt x="31146" y="125950"/>
                </a:cubicBezTo>
                <a:lnTo>
                  <a:pt x="8397" y="125950"/>
                </a:lnTo>
                <a:cubicBezTo>
                  <a:pt x="3752" y="125950"/>
                  <a:pt x="0" y="122198"/>
                  <a:pt x="0" y="117554"/>
                </a:cubicBezTo>
                <a:lnTo>
                  <a:pt x="0" y="109157"/>
                </a:lnTo>
                <a:close/>
                <a:moveTo>
                  <a:pt x="136787" y="125950"/>
                </a:moveTo>
                <a:cubicBezTo>
                  <a:pt x="137916" y="123379"/>
                  <a:pt x="138545" y="120545"/>
                  <a:pt x="138545" y="117554"/>
                </a:cubicBezTo>
                <a:lnTo>
                  <a:pt x="138545" y="113355"/>
                </a:lnTo>
                <a:cubicBezTo>
                  <a:pt x="138545" y="99396"/>
                  <a:pt x="133298" y="86643"/>
                  <a:pt x="124665" y="76987"/>
                </a:cubicBezTo>
                <a:cubicBezTo>
                  <a:pt x="127735" y="76069"/>
                  <a:pt x="130988" y="75570"/>
                  <a:pt x="134347" y="75570"/>
                </a:cubicBezTo>
                <a:cubicBezTo>
                  <a:pt x="152899" y="75570"/>
                  <a:pt x="167934" y="90606"/>
                  <a:pt x="167934" y="109157"/>
                </a:cubicBezTo>
                <a:lnTo>
                  <a:pt x="167934" y="117554"/>
                </a:lnTo>
                <a:cubicBezTo>
                  <a:pt x="167934" y="122198"/>
                  <a:pt x="164182" y="125950"/>
                  <a:pt x="159537" y="125950"/>
                </a:cubicBezTo>
                <a:lnTo>
                  <a:pt x="136787" y="125950"/>
                </a:lnTo>
                <a:close/>
                <a:moveTo>
                  <a:pt x="123851" y="41983"/>
                </a:moveTo>
                <a:cubicBezTo>
                  <a:pt x="123851" y="31556"/>
                  <a:pt x="132317" y="23091"/>
                  <a:pt x="142744" y="23091"/>
                </a:cubicBezTo>
                <a:cubicBezTo>
                  <a:pt x="153171" y="23091"/>
                  <a:pt x="161636" y="31556"/>
                  <a:pt x="161636" y="41983"/>
                </a:cubicBezTo>
                <a:cubicBezTo>
                  <a:pt x="161636" y="52411"/>
                  <a:pt x="153171" y="60876"/>
                  <a:pt x="142744" y="60876"/>
                </a:cubicBezTo>
                <a:cubicBezTo>
                  <a:pt x="132317" y="60876"/>
                  <a:pt x="123851" y="52411"/>
                  <a:pt x="123851" y="41983"/>
                </a:cubicBezTo>
                <a:close/>
                <a:moveTo>
                  <a:pt x="41983" y="113355"/>
                </a:moveTo>
                <a:cubicBezTo>
                  <a:pt x="41983" y="90160"/>
                  <a:pt x="60771" y="71372"/>
                  <a:pt x="83967" y="71372"/>
                </a:cubicBezTo>
                <a:cubicBezTo>
                  <a:pt x="107163" y="71372"/>
                  <a:pt x="125950" y="90160"/>
                  <a:pt x="125950" y="113355"/>
                </a:cubicBezTo>
                <a:lnTo>
                  <a:pt x="125950" y="117554"/>
                </a:lnTo>
                <a:cubicBezTo>
                  <a:pt x="125950" y="122198"/>
                  <a:pt x="122198" y="125950"/>
                  <a:pt x="117554" y="125950"/>
                </a:cubicBezTo>
                <a:lnTo>
                  <a:pt x="50380" y="125950"/>
                </a:lnTo>
                <a:cubicBezTo>
                  <a:pt x="45736" y="125950"/>
                  <a:pt x="41983" y="122198"/>
                  <a:pt x="41983" y="117554"/>
                </a:cubicBezTo>
                <a:lnTo>
                  <a:pt x="41983" y="113355"/>
                </a:lnTo>
                <a:close/>
              </a:path>
            </a:pathLst>
          </a:custGeom>
          <a:solidFill>
            <a:srgbClr val="0984e3"/>
          </a:solidFill>
          <a:ln w="0">
            <a:noFill/>
          </a:ln>
        </p:spPr>
        <p:style>
          <a:lnRef idx="0"/>
          <a:fillRef idx="0"/>
          <a:effectRef idx="0"/>
          <a:fontRef idx="minor"/>
        </p:style>
      </p:sp>
      <p:sp>
        <p:nvSpPr>
          <p:cNvPr id="394" name="Text 28"/>
          <p:cNvSpPr/>
          <p:nvPr/>
        </p:nvSpPr>
        <p:spPr>
          <a:xfrm>
            <a:off x="7800120" y="4341240"/>
            <a:ext cx="395208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636e72"/>
                </a:solidFill>
                <a:latin typeface="Quattrocento Sans"/>
                <a:ea typeface="Quattrocento Sans"/>
              </a:rPr>
              <a:t>Social Behavior:</a:t>
            </a:r>
            <a:r>
              <a:rPr b="0" lang="en-US" sz="1060" spc="-1" strike="noStrike">
                <a:solidFill>
                  <a:srgbClr val="636e72"/>
                </a:solidFill>
                <a:latin typeface="Quattrocento Sans"/>
                <a:ea typeface="Quattrocento Sans"/>
              </a:rPr>
              <a:t> Altruism and cooperation evolution</a:t>
            </a:r>
            <a:endParaRPr b="0" lang="en-HK" sz="1060" spc="-1" strike="noStrike">
              <a:latin typeface="Arial"/>
            </a:endParaRPr>
          </a:p>
        </p:txBody>
      </p:sp>
      <p:sp>
        <p:nvSpPr>
          <p:cNvPr id="395" name="Shape 29"/>
          <p:cNvSpPr/>
          <p:nvPr/>
        </p:nvSpPr>
        <p:spPr>
          <a:xfrm>
            <a:off x="7411320" y="4853160"/>
            <a:ext cx="4449960" cy="1292760"/>
          </a:xfrm>
          <a:custGeom>
            <a:avLst/>
            <a:gdLst/>
            <a:ahLst/>
            <a:rect l="l" t="t" r="r" b="b"/>
            <a:pathLst>
              <a:path w="4450248" h="1293091">
                <a:moveTo>
                  <a:pt x="0" y="0"/>
                </a:moveTo>
                <a:lnTo>
                  <a:pt x="4450248" y="0"/>
                </a:lnTo>
                <a:lnTo>
                  <a:pt x="4450248" y="1293091"/>
                </a:lnTo>
                <a:lnTo>
                  <a:pt x="0" y="1293091"/>
                </a:lnTo>
                <a:lnTo>
                  <a:pt x="0" y="0"/>
                </a:lnTo>
                <a:close/>
              </a:path>
            </a:pathLst>
          </a:custGeom>
          <a:solidFill>
            <a:srgbClr val="2d3436"/>
          </a:solidFill>
          <a:ln w="0">
            <a:noFill/>
          </a:ln>
        </p:spPr>
        <p:style>
          <a:lnRef idx="0"/>
          <a:fillRef idx="0"/>
          <a:effectRef idx="0"/>
          <a:fontRef idx="minor"/>
        </p:style>
      </p:sp>
      <p:sp>
        <p:nvSpPr>
          <p:cNvPr id="396" name="Text 30"/>
          <p:cNvSpPr/>
          <p:nvPr/>
        </p:nvSpPr>
        <p:spPr>
          <a:xfrm>
            <a:off x="7579440" y="5021280"/>
            <a:ext cx="4189680" cy="234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ffffff"/>
                </a:solidFill>
                <a:latin typeface="Oranienbaum"/>
                <a:ea typeface="Oranienbaum"/>
              </a:rPr>
              <a:t>Evolution of Cooperation</a:t>
            </a:r>
            <a:endParaRPr b="0" lang="en-HK" sz="1190" spc="-1" strike="noStrike">
              <a:latin typeface="Arial"/>
            </a:endParaRPr>
          </a:p>
        </p:txBody>
      </p:sp>
      <p:sp>
        <p:nvSpPr>
          <p:cNvPr id="397" name="Text 31"/>
          <p:cNvSpPr/>
          <p:nvPr/>
        </p:nvSpPr>
        <p:spPr>
          <a:xfrm>
            <a:off x="7579440" y="5323680"/>
            <a:ext cx="4181040" cy="654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e0e0e0"/>
                </a:solidFill>
                <a:latin typeface="Quattrocento Sans"/>
                <a:ea typeface="Quattrocento Sans"/>
              </a:rPr>
              <a:t>Despite individual incentives to defect, cooperation evolves through mechanisms like reciprocity, kin selection, and group selection—explaining altruism across species.</a:t>
            </a:r>
            <a:endParaRPr b="0" lang="en-HK" sz="106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8" name="Shape 0"/>
          <p:cNvSpPr/>
          <p:nvPr/>
        </p:nvSpPr>
        <p:spPr>
          <a:xfrm>
            <a:off x="5486400" y="585720"/>
            <a:ext cx="1218960" cy="1872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399" name="Text 1"/>
          <p:cNvSpPr/>
          <p:nvPr/>
        </p:nvSpPr>
        <p:spPr>
          <a:xfrm>
            <a:off x="3664080" y="909720"/>
            <a:ext cx="4866840" cy="142848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4500" spc="-1" strike="noStrike">
                <a:solidFill>
                  <a:srgbClr val="2d3436"/>
                </a:solidFill>
                <a:latin typeface="Oranienbaum"/>
                <a:ea typeface="Oranienbaum"/>
              </a:rPr>
              <a:t>The Enduring Power</a:t>
            </a:r>
            <a:endParaRPr b="0" lang="en-HK" sz="4500" spc="-1" strike="noStrike">
              <a:latin typeface="Arial"/>
            </a:endParaRPr>
          </a:p>
          <a:p>
            <a:pPr algn="ctr">
              <a:lnSpc>
                <a:spcPct val="100000"/>
              </a:lnSpc>
              <a:buNone/>
            </a:pPr>
            <a:r>
              <a:rPr b="1" lang="en-US" sz="4500" spc="-1" strike="noStrike">
                <a:solidFill>
                  <a:srgbClr val="2d3436"/>
                </a:solidFill>
                <a:latin typeface="Oranienbaum"/>
                <a:ea typeface="Oranienbaum"/>
              </a:rPr>
              <a:t>of Game Theory</a:t>
            </a:r>
            <a:endParaRPr b="0" lang="en-HK" sz="4500" spc="-1" strike="noStrike">
              <a:latin typeface="Arial"/>
            </a:endParaRPr>
          </a:p>
        </p:txBody>
      </p:sp>
      <p:sp>
        <p:nvSpPr>
          <p:cNvPr id="400" name="Shape 2"/>
          <p:cNvSpPr/>
          <p:nvPr/>
        </p:nvSpPr>
        <p:spPr>
          <a:xfrm>
            <a:off x="5486400" y="2643120"/>
            <a:ext cx="1218960" cy="1872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401" name="Text 3"/>
          <p:cNvSpPr/>
          <p:nvPr/>
        </p:nvSpPr>
        <p:spPr>
          <a:xfrm>
            <a:off x="1771560" y="2967120"/>
            <a:ext cx="8648280" cy="111420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800" spc="-1" strike="noStrike">
                <a:solidFill>
                  <a:srgbClr val="1e272e"/>
                </a:solidFill>
                <a:latin typeface="Quattrocento Sans"/>
                <a:ea typeface="Quattrocento Sans"/>
              </a:rPr>
              <a:t>Game theory transforms our understanding of strategic interaction across all domains of life. From economics to biology, from politics to everyday decisions, its mathematical precision reveals the hidden logic of competition and cooperation.</a:t>
            </a:r>
            <a:endParaRPr b="0" lang="en-HK" sz="1800" spc="-1" strike="noStrike">
              <a:latin typeface="Arial"/>
            </a:endParaRPr>
          </a:p>
        </p:txBody>
      </p:sp>
      <p:sp>
        <p:nvSpPr>
          <p:cNvPr id="402" name="Text 4"/>
          <p:cNvSpPr/>
          <p:nvPr/>
        </p:nvSpPr>
        <p:spPr>
          <a:xfrm>
            <a:off x="1781280" y="4309920"/>
            <a:ext cx="8629200" cy="123804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500" spc="-1" strike="noStrike">
                <a:solidFill>
                  <a:srgbClr val="636e72"/>
                </a:solidFill>
                <a:latin typeface="Quattrocento Sans"/>
                <a:ea typeface="Quattrocento Sans"/>
              </a:rPr>
              <a:t>As we face increasingly complex global challenges—climate change, pandemics, technological disruption—the insights of game theory become more vital than ever. By understanding the strategic structures that shape our world, we become better equipped to design institutions, craft policies, and make decisions that lead to better outcomes for all.</a:t>
            </a:r>
            <a:endParaRPr b="0" lang="en-HK" sz="1500" spc="-1" strike="noStrike">
              <a:latin typeface="Arial"/>
            </a:endParaRPr>
          </a:p>
        </p:txBody>
      </p:sp>
      <p:sp>
        <p:nvSpPr>
          <p:cNvPr id="403" name="Text 5"/>
          <p:cNvSpPr/>
          <p:nvPr/>
        </p:nvSpPr>
        <p:spPr>
          <a:xfrm>
            <a:off x="2615400" y="6005520"/>
            <a:ext cx="6962400" cy="2664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50" spc="-1" strike="noStrike">
                <a:solidFill>
                  <a:srgbClr val="636e72"/>
                </a:solidFill>
                <a:latin typeface="Liter"/>
                <a:ea typeface="Liter"/>
              </a:rPr>
              <a:t>"In the long run, we're all dead. But game theory helps us navigate the short run more wisely."</a:t>
            </a:r>
            <a:endParaRPr b="0" lang="en-HK" sz="135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LibreOffice/7.3.7.2$Linux_X86_64 LibreOffice_project/30$Build-2</Application>
  <AppVersion>15.0000</AppVersion>
  <Words>0</Words>
  <Paragraphs>0</Paragraphs>
  <Company>Moonshot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2026-03-18T11:54:39Z</dcterms:created>
  <dc:creator>Kimi</dc:creator>
  <dc:description/>
  <dc:language>en-HK</dc:language>
  <cp:lastModifiedBy/>
  <dcterms:modified xsi:type="dcterms:W3CDTF">2026-04-04T03:53:48Z</dcterms:modified>
  <cp:revision>2</cp:revision>
  <dc:subject>Game Theory</dc:subject>
  <dc:title>Game Theory</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{"Label":"Game Theory","ContentProducer":"001191110108MACG2KBH8F10000","ProduceID":"19d00906-6002-88af-8000-00001a6b51f9","ReservedCode1":"","ContentPropagator":"001191110108MACG2KBH8F20000","PropagateID":"19d00906-6002-88af-8000-00001a6b51f9","ReservedCode2":""}</vt:lpwstr>
  </property>
  <property fmtid="{D5CDD505-2E9C-101B-9397-08002B2CF9AE}" pid="3" name="Notes">
    <vt:i4>21</vt:i4>
  </property>
  <property fmtid="{D5CDD505-2E9C-101B-9397-08002B2CF9AE}" pid="4" name="PresentationFormat">
    <vt:lpwstr>On-screen Show (16:9)</vt:lpwstr>
  </property>
  <property fmtid="{D5CDD505-2E9C-101B-9397-08002B2CF9AE}" pid="5" name="Slides">
    <vt:i4>21</vt:i4>
  </property>
</Properties>
</file>