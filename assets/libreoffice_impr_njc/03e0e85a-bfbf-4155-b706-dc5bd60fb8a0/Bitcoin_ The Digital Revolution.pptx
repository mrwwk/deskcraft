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5FDD950-EA55-455E-B5A0-AE2815B24B95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6E581A6-4CE4-4A20-AFFF-09DDF16DFE7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729CE78-E38D-4E18-B7AB-89987D6EDC5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E764DA6-4EED-4A15-9FCA-A72826D776C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B1B25B-0B9B-4FED-8A40-2353517102C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131E753-D13A-4084-9D52-D38B94E2D2C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3368C7-A667-447C-AB75-FA23778A7CA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403E548-BFA1-4619-9623-C1163DA071F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B984A1E-7FA8-4E3C-8B7E-E87DF78A63E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A6779C4-8FA2-43C4-965A-ADE85BD6A01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2B2012-E8CC-4105-987A-BED0CD7B9D4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2BD284-E1B9-4A58-A3F2-42442801169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ABA8A46-F6CC-48C9-A71A-4E75B5AB0C8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A2FC62-965C-4D60-BD79-F0C1F3556F4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A3D122F-66F1-445E-A4CA-006063BD95F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5322F1-2425-4E6F-8BB1-011D1165543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581C698-68F7-42F9-A2F3-0F413C18DBE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0618EC4-382E-460D-9316-95582DE0661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89C7AFA-C44C-4CAD-BF72-6DF852FD09D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5DD11B-F4CE-426A-B46B-08CC6086D86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B018204-F2DD-4740-A9FC-0758D2D4042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775338D-B468-4D1B-A4A7-9571CBC3B47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ACDDDDF-B629-458E-BC68-486051B9015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6ADBE3-D5B2-44A2-BB32-B5E7DB1D8BF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75D294F-8A51-411B-8AAB-97AC33DCFDC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ABA9AB-D8E7-42A1-84C2-EF9208160F2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0599250-DC25-4418-A0E9-2B2F6596BE4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5AA3E7D-7D9D-4815-811E-5496DA225CA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1880" cy="77796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28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126" strike="noStrike">
                <a:solidFill>
                  <a:srgbClr val="ff8000"/>
                </a:solidFill>
                <a:latin typeface="Noto Sans SC"/>
                <a:ea typeface="Noto Sans SC"/>
              </a:rPr>
              <a:t>FINANCIAL LECTURE SERIES</a:t>
            </a:r>
            <a:endParaRPr b="1" lang="en-HK" sz="1500" spc="-1" strike="noStrike">
              <a:solidFill>
                <a:srgbClr val="ff8000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69520" cy="325440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54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7200" spc="-1" strike="noStrike">
                <a:solidFill>
                  <a:srgbClr val="ff8000"/>
                </a:solidFill>
                <a:latin typeface="Noto Sans SC"/>
                <a:ea typeface="Noto Sans SC"/>
              </a:rPr>
              <a:t>BITCOIN</a:t>
            </a:r>
            <a:endParaRPr b="1" lang="en-HK" sz="7200" spc="-1" strike="noStrike">
              <a:solidFill>
                <a:srgbClr val="ff8000"/>
              </a:solidFill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6080" cy="7308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6960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8000"/>
                </a:solidFill>
                <a:latin typeface="Noto Sans SC"/>
                <a:ea typeface="Noto Sans SC"/>
              </a:rPr>
              <a:t>THE DIGITAL REVOLUTION</a:t>
            </a:r>
            <a:endParaRPr b="1" lang="en-HK" sz="2700" spc="-1" strike="noStrike">
              <a:solidFill>
                <a:srgbClr val="ff8000"/>
              </a:solidFill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23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8000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1" lang="en-HK" sz="1800" spc="-1" strike="noStrike">
              <a:solidFill>
                <a:srgbClr val="ff8000"/>
              </a:solidFill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2040" cy="62532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59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8000"/>
                </a:solidFill>
                <a:latin typeface="MiSans"/>
                <a:ea typeface="MiSans"/>
              </a:rPr>
              <a:t>March 2026</a:t>
            </a:r>
            <a:endParaRPr b="1" lang="en-HK" sz="1350" spc="-1" strike="noStrike">
              <a:solidFill>
                <a:srgbClr val="ff8000"/>
              </a:solidFill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5880" cy="62532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3976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8000"/>
                </a:solidFill>
                <a:highlight>
                  <a:srgbClr val="ffff00"/>
                </a:highlight>
                <a:latin typeface="MiSans"/>
                <a:ea typeface="MiSans"/>
              </a:rPr>
              <a:t>▶ </a:t>
            </a:r>
            <a:r>
              <a:rPr b="1" lang="en-US" sz="1350" spc="-1" strike="noStrike">
                <a:solidFill>
                  <a:srgbClr val="ff8000"/>
                </a:solidFill>
                <a:highlight>
                  <a:srgbClr val="ffff00"/>
                </a:highlight>
                <a:latin typeface="MiSans"/>
                <a:ea typeface="MiSans"/>
              </a:rPr>
              <a:t>27 SLIDES</a:t>
            </a:r>
            <a:endParaRPr b="1" lang="en-HK" sz="1350" spc="-1" strike="noStrike">
              <a:solidFill>
                <a:srgbClr val="ff8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5960" cy="109224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55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7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09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2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890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15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7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081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4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590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52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6002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65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48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1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52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15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6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23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273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3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698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6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6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60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5960" cy="99684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6800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67760" cy="184608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60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40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0680" cy="40968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19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67760" cy="160812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2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0680" cy="40968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19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67760" cy="106848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60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7000" cy="350496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600280" cy="82224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1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600280" cy="82224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1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600280" cy="82224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1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7000" cy="347328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600280" cy="34596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3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600280" cy="53640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4240" cy="9216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23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600280" cy="34596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2986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600280" cy="53640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4240" cy="9216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23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600280" cy="53640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5960" cy="9216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3028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1840" cy="81576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188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5960" cy="99684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6800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67760" cy="206856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7997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40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6920" cy="69516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3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02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6920" cy="69516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3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02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6920" cy="69516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3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702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67760" cy="286236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7997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40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0680" cy="148896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7000" cy="369576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600280" cy="88560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6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3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600280" cy="88560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6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3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600280" cy="88560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6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3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7000" cy="255276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5960" cy="52056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298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28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0080" cy="395928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152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501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87920" cy="81576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879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19720" cy="607680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49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1804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3000" cy="231444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0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19720" cy="156852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5997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78120" cy="91764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19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144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78120" cy="91764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19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14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78120" cy="91764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19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14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6720" cy="394956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50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80000" cy="60012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5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6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5840" cy="6012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5280" cy="2844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80000" cy="60012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10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09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5840" cy="6012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4160" cy="2844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80000" cy="60012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1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6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5840" cy="6012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90560" cy="2844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80000" cy="40968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6720" cy="369576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80000" cy="88560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66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3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80000" cy="88560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66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3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80000" cy="88560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66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3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48400" cy="280656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4840" cy="101268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4840" cy="101268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44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4840" cy="85392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4840" cy="85392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48400" cy="299700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17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684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5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55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88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27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48400" cy="382248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1320" cy="94932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22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4936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6560" cy="6012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1320" cy="91764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48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1320" cy="91764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48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48400" cy="198108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67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2480" cy="12384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1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20560" cy="12384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1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3480" cy="12384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380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1360" cy="12384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380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78640" cy="81576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7832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48400" cy="194940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50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3560" cy="69516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0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68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3560" cy="69516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0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68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3560" cy="69516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60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68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48400" cy="521964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1320" cy="66348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6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08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27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87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1320" cy="66348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4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398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60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6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1320" cy="66348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4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60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2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30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48400" cy="471168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1320" cy="120312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38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12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1320" cy="120312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38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12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1320" cy="120312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38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12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48400" cy="245736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1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176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206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381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47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31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380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57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48400" cy="340992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2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68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3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39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47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10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48400" cy="423540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34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3280" cy="6012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14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3040" cy="6012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51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6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3480" cy="6012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56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49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5120" cy="6012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48400" cy="372744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1320" cy="98100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51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68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4997520" cy="12384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27360" cy="9216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1320" cy="85392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4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1320" cy="85392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4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48400" cy="391788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1320" cy="85392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4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6997680" cy="81576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59772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48400" cy="429876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194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156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49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1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6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798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53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27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70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890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48400" cy="385452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67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1320" cy="72684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888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18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4997520" cy="12384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5480" cy="9216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1320" cy="72684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5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51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4997520" cy="12384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47600" cy="9216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1320" cy="40968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48400" cy="429876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20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40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7986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44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616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6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68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1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3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48400" cy="385452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1320" cy="123516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49440" cy="50472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1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382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49440" cy="50472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1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382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46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46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48400" cy="334656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3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176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5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69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1320" cy="72684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48400" cy="455292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1320" cy="40968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48400" cy="433080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4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5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698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47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39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09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18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10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48400" cy="356868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3080" cy="81576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312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CRITICAL CHALLENGES: WHAT COULD GO WRONG?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Shape 3"/>
          <p:cNvSpPr/>
          <p:nvPr/>
        </p:nvSpPr>
        <p:spPr>
          <a:xfrm>
            <a:off x="341280" y="135720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0" name="Shape 4"/>
          <p:cNvSpPr/>
          <p:nvPr/>
        </p:nvSpPr>
        <p:spPr>
          <a:xfrm>
            <a:off x="547560" y="15638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Text 5"/>
          <p:cNvSpPr/>
          <p:nvPr/>
        </p:nvSpPr>
        <p:spPr>
          <a:xfrm>
            <a:off x="484200" y="15397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2" name="Text 6"/>
          <p:cNvSpPr/>
          <p:nvPr/>
        </p:nvSpPr>
        <p:spPr>
          <a:xfrm>
            <a:off x="1000080" y="1619280"/>
            <a:ext cx="11239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SCALABILITY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539640" y="20638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Text 8"/>
          <p:cNvSpPr/>
          <p:nvPr/>
        </p:nvSpPr>
        <p:spPr>
          <a:xfrm>
            <a:off x="650880" y="217476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Limitations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5" name="Text 9"/>
          <p:cNvSpPr/>
          <p:nvPr/>
        </p:nvSpPr>
        <p:spPr>
          <a:xfrm>
            <a:off x="650880" y="24289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 TPS is insufficient for global payment network. Block size debates led to Bitcoin Cash fork in 2017.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39640" y="298440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7" name="Text 11"/>
          <p:cNvSpPr/>
          <p:nvPr/>
        </p:nvSpPr>
        <p:spPr>
          <a:xfrm>
            <a:off x="650880" y="309564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Fee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8" name="Text 12"/>
          <p:cNvSpPr/>
          <p:nvPr/>
        </p:nvSpPr>
        <p:spPr>
          <a:xfrm>
            <a:off x="650880" y="334980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During congestion, fees spike to $5-50+, making small transactions uneconomical.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539640" y="39052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0" name="Text 14"/>
          <p:cNvSpPr/>
          <p:nvPr/>
        </p:nvSpPr>
        <p:spPr>
          <a:xfrm>
            <a:off x="650880" y="401652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1" name="Text 15"/>
          <p:cNvSpPr/>
          <p:nvPr/>
        </p:nvSpPr>
        <p:spPr>
          <a:xfrm>
            <a:off x="650880" y="42703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 (Lightning, sidechains) process transactions off-chain, settling on base layer.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4236120" y="135720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3" name="Shape 17"/>
          <p:cNvSpPr/>
          <p:nvPr/>
        </p:nvSpPr>
        <p:spPr>
          <a:xfrm>
            <a:off x="4442400" y="15638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4" name="Text 18"/>
          <p:cNvSpPr/>
          <p:nvPr/>
        </p:nvSpPr>
        <p:spPr>
          <a:xfrm>
            <a:off x="4378680" y="15397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5" name="Text 19"/>
          <p:cNvSpPr/>
          <p:nvPr/>
        </p:nvSpPr>
        <p:spPr>
          <a:xfrm>
            <a:off x="4894920" y="1619280"/>
            <a:ext cx="1457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ENVIRONMENTAL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4434480" y="20638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Text 21"/>
          <p:cNvSpPr/>
          <p:nvPr/>
        </p:nvSpPr>
        <p:spPr>
          <a:xfrm>
            <a:off x="4545360" y="217476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Consumption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8" name="Text 22"/>
          <p:cNvSpPr/>
          <p:nvPr/>
        </p:nvSpPr>
        <p:spPr>
          <a:xfrm>
            <a:off x="4545360" y="24289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uses ~150 TWh/year, comparable to Argentina or Poland. Critics argue this is wasteful.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4434480" y="298440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0" name="Text 24"/>
          <p:cNvSpPr/>
          <p:nvPr/>
        </p:nvSpPr>
        <p:spPr>
          <a:xfrm>
            <a:off x="4545360" y="309564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Carbon Footprint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1" name="Text 25"/>
          <p:cNvSpPr/>
          <p:nvPr/>
        </p:nvSpPr>
        <p:spPr>
          <a:xfrm>
            <a:off x="4545360" y="334980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Estimated 65-70 Mt CO2/year. Coal-powered mining in some regions contributes to climate 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4434480" y="39052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3" name="Text 27"/>
          <p:cNvSpPr/>
          <p:nvPr/>
        </p:nvSpPr>
        <p:spPr>
          <a:xfrm>
            <a:off x="4545360" y="401652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4" name="Text 28"/>
          <p:cNvSpPr/>
          <p:nvPr/>
        </p:nvSpPr>
        <p:spPr>
          <a:xfrm>
            <a:off x="4545360" y="42703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energy. Stranded energy (flared gas, hydro surplus) increasingly utilized.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8130600" y="135720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6" name="Shape 30"/>
          <p:cNvSpPr/>
          <p:nvPr/>
        </p:nvSpPr>
        <p:spPr>
          <a:xfrm>
            <a:off x="8336880" y="15638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7" name="Text 31"/>
          <p:cNvSpPr/>
          <p:nvPr/>
        </p:nvSpPr>
        <p:spPr>
          <a:xfrm>
            <a:off x="8273520" y="15397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8" name="Text 32"/>
          <p:cNvSpPr/>
          <p:nvPr/>
        </p:nvSpPr>
        <p:spPr>
          <a:xfrm>
            <a:off x="8789400" y="1619280"/>
            <a:ext cx="1187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REGULATORY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8328960" y="20638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0" name="Text 34"/>
          <p:cNvSpPr/>
          <p:nvPr/>
        </p:nvSpPr>
        <p:spPr>
          <a:xfrm>
            <a:off x="8440200" y="217476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Government Bans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1" name="Text 35"/>
          <p:cNvSpPr/>
          <p:nvPr/>
        </p:nvSpPr>
        <p:spPr>
          <a:xfrm>
            <a:off x="8440200" y="24289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China banned mining and trading in 2021. Other countries could follow, restricting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2" name="Shape 36"/>
          <p:cNvSpPr/>
          <p:nvPr/>
        </p:nvSpPr>
        <p:spPr>
          <a:xfrm>
            <a:off x="8328960" y="298440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Text 37"/>
          <p:cNvSpPr/>
          <p:nvPr/>
        </p:nvSpPr>
        <p:spPr>
          <a:xfrm>
            <a:off x="8440200" y="309564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Taxation &amp; Reporting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8440200" y="334980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Complex tax treatment. Heavy reporting requirements could deter mainstream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8328960" y="39052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Text 40"/>
          <p:cNvSpPr/>
          <p:nvPr/>
        </p:nvSpPr>
        <p:spPr>
          <a:xfrm>
            <a:off x="8440200" y="401652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7" name="Text 41"/>
          <p:cNvSpPr/>
          <p:nvPr/>
        </p:nvSpPr>
        <p:spPr>
          <a:xfrm>
            <a:off x="8440200" y="42703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Regulatory clarity emerging (US ETF approval, EU MiCA). Compliance infrastructure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8" name="Shape 42"/>
          <p:cNvSpPr/>
          <p:nvPr/>
        </p:nvSpPr>
        <p:spPr>
          <a:xfrm>
            <a:off x="341280" y="507204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9" name="Shape 43"/>
          <p:cNvSpPr/>
          <p:nvPr/>
        </p:nvSpPr>
        <p:spPr>
          <a:xfrm>
            <a:off x="547560" y="527832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0" name="Text 44"/>
          <p:cNvSpPr/>
          <p:nvPr/>
        </p:nvSpPr>
        <p:spPr>
          <a:xfrm>
            <a:off x="484200" y="525456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1" name="Text 45"/>
          <p:cNvSpPr/>
          <p:nvPr/>
        </p:nvSpPr>
        <p:spPr>
          <a:xfrm>
            <a:off x="1000080" y="5334120"/>
            <a:ext cx="11793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COMPETITION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2" name="Shape 46"/>
          <p:cNvSpPr/>
          <p:nvPr/>
        </p:nvSpPr>
        <p:spPr>
          <a:xfrm>
            <a:off x="539640" y="577836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3" name="Text 47"/>
          <p:cNvSpPr/>
          <p:nvPr/>
        </p:nvSpPr>
        <p:spPr>
          <a:xfrm>
            <a:off x="650880" y="58896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Ethereum &amp; Smart Contracts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4" name="Text 48"/>
          <p:cNvSpPr/>
          <p:nvPr/>
        </p:nvSpPr>
        <p:spPr>
          <a:xfrm>
            <a:off x="650880" y="61437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Superior programmability, DeFi ecosystem, NFTs. ETH market cap ~$300B+.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5" name="Shape 49"/>
          <p:cNvSpPr/>
          <p:nvPr/>
        </p:nvSpPr>
        <p:spPr>
          <a:xfrm>
            <a:off x="539640" y="669924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6" name="Text 50"/>
          <p:cNvSpPr/>
          <p:nvPr/>
        </p:nvSpPr>
        <p:spPr>
          <a:xfrm>
            <a:off x="650880" y="681048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Solana &amp; High-Speed Chains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7" name="Text 51"/>
          <p:cNvSpPr/>
          <p:nvPr/>
        </p:nvSpPr>
        <p:spPr>
          <a:xfrm>
            <a:off x="650880" y="706428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65,000 TPS, sub-cent fees, growing ecosystem. Could capture payment use cases.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8" name="Shape 52"/>
          <p:cNvSpPr/>
          <p:nvPr/>
        </p:nvSpPr>
        <p:spPr>
          <a:xfrm>
            <a:off x="539640" y="762012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9" name="Text 53"/>
          <p:cNvSpPr/>
          <p:nvPr/>
        </p:nvSpPr>
        <p:spPr>
          <a:xfrm>
            <a:off x="650880" y="77310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CBDCs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0" name="Text 54"/>
          <p:cNvSpPr/>
          <p:nvPr/>
        </p:nvSpPr>
        <p:spPr>
          <a:xfrm>
            <a:off x="650880" y="79851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Central bank digital currencies (China's e-yuan) could compete for digital payments.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1" name="Shape 55"/>
          <p:cNvSpPr/>
          <p:nvPr/>
        </p:nvSpPr>
        <p:spPr>
          <a:xfrm>
            <a:off x="4236120" y="507204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2" name="Shape 56"/>
          <p:cNvSpPr/>
          <p:nvPr/>
        </p:nvSpPr>
        <p:spPr>
          <a:xfrm>
            <a:off x="4442400" y="527832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3" name="Text 57"/>
          <p:cNvSpPr/>
          <p:nvPr/>
        </p:nvSpPr>
        <p:spPr>
          <a:xfrm>
            <a:off x="4378680" y="525456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4" name="Text 58"/>
          <p:cNvSpPr/>
          <p:nvPr/>
        </p:nvSpPr>
        <p:spPr>
          <a:xfrm>
            <a:off x="4894920" y="5334120"/>
            <a:ext cx="1473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CENTRALIZATION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5" name="Shape 59"/>
          <p:cNvSpPr/>
          <p:nvPr/>
        </p:nvSpPr>
        <p:spPr>
          <a:xfrm>
            <a:off x="4434480" y="577836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6" name="Text 60"/>
          <p:cNvSpPr/>
          <p:nvPr/>
        </p:nvSpPr>
        <p:spPr>
          <a:xfrm>
            <a:off x="4545360" y="58896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Mining Pool Concentration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7" name="Text 61"/>
          <p:cNvSpPr/>
          <p:nvPr/>
        </p:nvSpPr>
        <p:spPr>
          <a:xfrm>
            <a:off x="4545360" y="61437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Top 5 pools control ~55% of hashrate. Foundry USA alone has ~35%.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8" name="Shape 62"/>
          <p:cNvSpPr/>
          <p:nvPr/>
        </p:nvSpPr>
        <p:spPr>
          <a:xfrm>
            <a:off x="4434480" y="669924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Text 63"/>
          <p:cNvSpPr/>
          <p:nvPr/>
        </p:nvSpPr>
        <p:spPr>
          <a:xfrm>
            <a:off x="4545360" y="681048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Large Holder Influence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0" name="Text 64"/>
          <p:cNvSpPr/>
          <p:nvPr/>
        </p:nvSpPr>
        <p:spPr>
          <a:xfrm>
            <a:off x="4545360" y="706428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"Whales" with 1,000+ BTC can move markets. Satoshi's 1M BTC remains untouched.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1" name="Shape 65"/>
          <p:cNvSpPr/>
          <p:nvPr/>
        </p:nvSpPr>
        <p:spPr>
          <a:xfrm>
            <a:off x="4434480" y="762012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2" name="Text 66"/>
          <p:cNvSpPr/>
          <p:nvPr/>
        </p:nvSpPr>
        <p:spPr>
          <a:xfrm>
            <a:off x="4545360" y="77310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3" name="Text 67"/>
          <p:cNvSpPr/>
          <p:nvPr/>
        </p:nvSpPr>
        <p:spPr>
          <a:xfrm>
            <a:off x="4545360" y="79851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Stratum V2 protocol gives miners more control. Geographic distribution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4" name="Shape 68"/>
          <p:cNvSpPr/>
          <p:nvPr/>
        </p:nvSpPr>
        <p:spPr>
          <a:xfrm>
            <a:off x="8130600" y="507204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5" name="Shape 69"/>
          <p:cNvSpPr/>
          <p:nvPr/>
        </p:nvSpPr>
        <p:spPr>
          <a:xfrm>
            <a:off x="8336880" y="527832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6" name="Text 70"/>
          <p:cNvSpPr/>
          <p:nvPr/>
        </p:nvSpPr>
        <p:spPr>
          <a:xfrm>
            <a:off x="8273520" y="525456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7" name="Text 71"/>
          <p:cNvSpPr/>
          <p:nvPr/>
        </p:nvSpPr>
        <p:spPr>
          <a:xfrm>
            <a:off x="8789400" y="5334120"/>
            <a:ext cx="15206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RISKS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8" name="Shape 72"/>
          <p:cNvSpPr/>
          <p:nvPr/>
        </p:nvSpPr>
        <p:spPr>
          <a:xfrm>
            <a:off x="8328960" y="577836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Text 73"/>
          <p:cNvSpPr/>
          <p:nvPr/>
        </p:nvSpPr>
        <p:spPr>
          <a:xfrm>
            <a:off x="8440200" y="58896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Quantum Computing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0" name="Text 74"/>
          <p:cNvSpPr/>
          <p:nvPr/>
        </p:nvSpPr>
        <p:spPr>
          <a:xfrm>
            <a:off x="8440200" y="61437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Future quantum computers could break SHA-256. Bitcoin would need to upgrade cryptography.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1" name="Shape 75"/>
          <p:cNvSpPr/>
          <p:nvPr/>
        </p:nvSpPr>
        <p:spPr>
          <a:xfrm>
            <a:off x="8328960" y="669924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Text 76"/>
          <p:cNvSpPr/>
          <p:nvPr/>
        </p:nvSpPr>
        <p:spPr>
          <a:xfrm>
            <a:off x="8440200" y="681048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Protocol Bugs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3" name="Text 77"/>
          <p:cNvSpPr/>
          <p:nvPr/>
        </p:nvSpPr>
        <p:spPr>
          <a:xfrm>
            <a:off x="8440200" y="706428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Critical vulnerability could be exploited. 2010 inflation bug created 184 billion BTC (quickly fixed).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4" name="Shape 78"/>
          <p:cNvSpPr/>
          <p:nvPr/>
        </p:nvSpPr>
        <p:spPr>
          <a:xfrm>
            <a:off x="8328960" y="762012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Text 79"/>
          <p:cNvSpPr/>
          <p:nvPr/>
        </p:nvSpPr>
        <p:spPr>
          <a:xfrm>
            <a:off x="8440200" y="77310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6" name="Text 80"/>
          <p:cNvSpPr/>
          <p:nvPr/>
        </p:nvSpPr>
        <p:spPr>
          <a:xfrm>
            <a:off x="8440200" y="79851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 development, extensive testing, slow upgrade process minimizes risk.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8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9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0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1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3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5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Predictions &amp; Scenarios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7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Expert Forecasts &amp; Price Targets for 2025-2030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9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2025-2030: EXPERT PREDICTIONS &amp; SCENARIOS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1" name="Shape 3"/>
          <p:cNvSpPr/>
          <p:nvPr/>
        </p:nvSpPr>
        <p:spPr>
          <a:xfrm>
            <a:off x="341280" y="1357200"/>
            <a:ext cx="6219720" cy="3568680"/>
          </a:xfrm>
          <a:custGeom>
            <a:avLst/>
            <a:gdLst/>
            <a:ah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2" name="Text 4"/>
          <p:cNvSpPr/>
          <p:nvPr/>
        </p:nvSpPr>
        <p:spPr>
          <a:xfrm>
            <a:off x="523800" y="1539720"/>
            <a:ext cx="5949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PRICE TARGETS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539640" y="1936800"/>
            <a:ext cx="5823000" cy="91764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Text 6"/>
          <p:cNvSpPr/>
          <p:nvPr/>
        </p:nvSpPr>
        <p:spPr>
          <a:xfrm>
            <a:off x="650880" y="2063880"/>
            <a:ext cx="941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2025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4961160" y="2048040"/>
            <a:ext cx="13860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$120K - $285K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650880" y="236520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Standard Chartered: $200K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7" name="Text 9"/>
          <p:cNvSpPr/>
          <p:nvPr/>
        </p:nvSpPr>
        <p:spPr>
          <a:xfrm>
            <a:off x="3483720" y="236520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Fundstrat: $250K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650880" y="258768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H.C. Wainwright: $225K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3483720" y="258768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21st Capital: $285K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539640" y="2984400"/>
            <a:ext cx="5823000" cy="695160"/>
          </a:xfrm>
          <a:custGeom>
            <a:avLst/>
            <a:gdLst/>
            <a:ah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1" name="Text 13"/>
          <p:cNvSpPr/>
          <p:nvPr/>
        </p:nvSpPr>
        <p:spPr>
          <a:xfrm>
            <a:off x="650880" y="3111480"/>
            <a:ext cx="941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2026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5067000" y="3095640"/>
            <a:ext cx="1274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$78K - $142K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650880" y="3413160"/>
            <a:ext cx="5656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Consolidation after 2025 peak, continued ETF inflows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4" name="Shape 16"/>
          <p:cNvSpPr/>
          <p:nvPr/>
        </p:nvSpPr>
        <p:spPr>
          <a:xfrm>
            <a:off x="539640" y="3809880"/>
            <a:ext cx="5823000" cy="91764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5" name="Text 17"/>
          <p:cNvSpPr/>
          <p:nvPr/>
        </p:nvSpPr>
        <p:spPr>
          <a:xfrm>
            <a:off x="650880" y="3936960"/>
            <a:ext cx="941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2030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4992840" y="3921120"/>
            <a:ext cx="13539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$109K - $1.5M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7" name="Text 19"/>
          <p:cNvSpPr/>
          <p:nvPr/>
        </p:nvSpPr>
        <p:spPr>
          <a:xfrm>
            <a:off x="650880" y="423864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Jack Dorsey: $1M+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8" name="Text 20"/>
          <p:cNvSpPr/>
          <p:nvPr/>
        </p:nvSpPr>
        <p:spPr>
          <a:xfrm>
            <a:off x="3483720" y="423864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Cathie Wood: $1.5M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650880" y="446076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JPMorgan: $170K-266K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0" name="Text 22"/>
          <p:cNvSpPr/>
          <p:nvPr/>
        </p:nvSpPr>
        <p:spPr>
          <a:xfrm>
            <a:off x="3483720" y="446076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Conservative: $109K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41280" y="5103720"/>
            <a:ext cx="6219720" cy="3314520"/>
          </a:xfrm>
          <a:custGeom>
            <a:avLst/>
            <a:gdLst/>
            <a:ah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2" name="Text 24"/>
          <p:cNvSpPr/>
          <p:nvPr/>
        </p:nvSpPr>
        <p:spPr>
          <a:xfrm>
            <a:off x="523800" y="5286240"/>
            <a:ext cx="5949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CATALYSTS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539640" y="568332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Text 26"/>
          <p:cNvSpPr/>
          <p:nvPr/>
        </p:nvSpPr>
        <p:spPr>
          <a:xfrm>
            <a:off x="650880" y="57942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Inflows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650880" y="601668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Continued institutional buying through regulated vehicles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3515400" y="568332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7" name="Text 29"/>
          <p:cNvSpPr/>
          <p:nvPr/>
        </p:nvSpPr>
        <p:spPr>
          <a:xfrm>
            <a:off x="3626640" y="57942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3626640" y="601668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companies following MicroStrategy's Bitcoin strategy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539640" y="65721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0" name="Text 32"/>
          <p:cNvSpPr/>
          <p:nvPr/>
        </p:nvSpPr>
        <p:spPr>
          <a:xfrm>
            <a:off x="650880" y="66834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1" name="Text 33"/>
          <p:cNvSpPr/>
          <p:nvPr/>
        </p:nvSpPr>
        <p:spPr>
          <a:xfrm>
            <a:off x="650880" y="690552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countries making Bitcoin legal tender or reserve asset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2" name="Shape 34"/>
          <p:cNvSpPr/>
          <p:nvPr/>
        </p:nvSpPr>
        <p:spPr>
          <a:xfrm>
            <a:off x="3515400" y="65721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3" name="Text 35"/>
          <p:cNvSpPr/>
          <p:nvPr/>
        </p:nvSpPr>
        <p:spPr>
          <a:xfrm>
            <a:off x="3626640" y="66834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2028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3626640" y="690552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Next supply shock reduces new issuance to 1.5625 BTC/block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5" name="Shape 37"/>
          <p:cNvSpPr/>
          <p:nvPr/>
        </p:nvSpPr>
        <p:spPr>
          <a:xfrm>
            <a:off x="539640" y="74613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Text 38"/>
          <p:cNvSpPr/>
          <p:nvPr/>
        </p:nvSpPr>
        <p:spPr>
          <a:xfrm>
            <a:off x="650880" y="757224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Favorable Regulation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650880" y="7794720"/>
            <a:ext cx="26794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Pro-crypto US administration, global regulatory clarity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8" name="Shape 40"/>
          <p:cNvSpPr/>
          <p:nvPr/>
        </p:nvSpPr>
        <p:spPr>
          <a:xfrm>
            <a:off x="3515400" y="74613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Text 41"/>
          <p:cNvSpPr/>
          <p:nvPr/>
        </p:nvSpPr>
        <p:spPr>
          <a:xfrm>
            <a:off x="3626640" y="757224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Growth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3626640" y="779472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enables everyday payments at scale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1" name="Shape 43"/>
          <p:cNvSpPr/>
          <p:nvPr/>
        </p:nvSpPr>
        <p:spPr>
          <a:xfrm>
            <a:off x="6769080" y="1357200"/>
            <a:ext cx="5076720" cy="6076800"/>
          </a:xfrm>
          <a:custGeom>
            <a:avLst/>
            <a:gdLst/>
            <a:ah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72" name="Text 44"/>
          <p:cNvSpPr/>
          <p:nvPr/>
        </p:nvSpPr>
        <p:spPr>
          <a:xfrm>
            <a:off x="6951600" y="153972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 SCENARIOS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3" name="Shape 45"/>
          <p:cNvSpPr/>
          <p:nvPr/>
        </p:nvSpPr>
        <p:spPr>
          <a:xfrm>
            <a:off x="6967440" y="1936800"/>
            <a:ext cx="4680000" cy="171144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4" name="Shape 46"/>
          <p:cNvSpPr/>
          <p:nvPr/>
        </p:nvSpPr>
        <p:spPr>
          <a:xfrm>
            <a:off x="7134120" y="210348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5" name="Text 47"/>
          <p:cNvSpPr/>
          <p:nvPr/>
        </p:nvSpPr>
        <p:spPr>
          <a:xfrm>
            <a:off x="7078680" y="207972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7523280" y="2127240"/>
            <a:ext cx="101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BEAR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77" name="Text 49"/>
          <p:cNvSpPr/>
          <p:nvPr/>
        </p:nvSpPr>
        <p:spPr>
          <a:xfrm>
            <a:off x="7110360" y="2460600"/>
            <a:ext cx="45133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7000b"/>
                </a:solidFill>
                <a:latin typeface="Noto Sans SC"/>
                <a:ea typeface="Noto Sans SC"/>
              </a:rPr>
              <a:t>$50K - $75K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78" name="Text 50"/>
          <p:cNvSpPr/>
          <p:nvPr/>
        </p:nvSpPr>
        <p:spPr>
          <a:xfrm>
            <a:off x="7110360" y="280980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Regulatory crackdowns, major exchange failure, prolonged recession, quantum computing breakthrough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9" name="Text 51"/>
          <p:cNvSpPr/>
          <p:nvPr/>
        </p:nvSpPr>
        <p:spPr>
          <a:xfrm>
            <a:off x="7110360" y="319104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survives but struggles to gain mainstream traction. Volatility remains high, institutional interest wanes.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0" name="Shape 52"/>
          <p:cNvSpPr/>
          <p:nvPr/>
        </p:nvSpPr>
        <p:spPr>
          <a:xfrm>
            <a:off x="6967440" y="3809880"/>
            <a:ext cx="4680000" cy="1552680"/>
          </a:xfrm>
          <a:custGeom>
            <a:avLst/>
            <a:gdLst/>
            <a:ah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1" name="Shape 53"/>
          <p:cNvSpPr/>
          <p:nvPr/>
        </p:nvSpPr>
        <p:spPr>
          <a:xfrm>
            <a:off x="7134120" y="397656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2" name="Text 54"/>
          <p:cNvSpPr/>
          <p:nvPr/>
        </p:nvSpPr>
        <p:spPr>
          <a:xfrm>
            <a:off x="7078680" y="395280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83" name="Text 55"/>
          <p:cNvSpPr/>
          <p:nvPr/>
        </p:nvSpPr>
        <p:spPr>
          <a:xfrm>
            <a:off x="7523280" y="4000680"/>
            <a:ext cx="1004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BASE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84" name="Text 56"/>
          <p:cNvSpPr/>
          <p:nvPr/>
        </p:nvSpPr>
        <p:spPr>
          <a:xfrm>
            <a:off x="7110360" y="4334040"/>
            <a:ext cx="45133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$150K - $250K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5" name="Text 57"/>
          <p:cNvSpPr/>
          <p:nvPr/>
        </p:nvSpPr>
        <p:spPr>
          <a:xfrm>
            <a:off x="7110360" y="4683240"/>
            <a:ext cx="4449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Steady ETF inflows, corporate adoption, favorable regulation, 2028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6" name="Text 58"/>
          <p:cNvSpPr/>
          <p:nvPr/>
        </p:nvSpPr>
        <p:spPr>
          <a:xfrm>
            <a:off x="7110360" y="490536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established store of value, "digital gold" thesis validated. Volatility decreases as market matures.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7" name="Shape 59"/>
          <p:cNvSpPr/>
          <p:nvPr/>
        </p:nvSpPr>
        <p:spPr>
          <a:xfrm>
            <a:off x="6967440" y="5524560"/>
            <a:ext cx="4680000" cy="171144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8" name="Shape 60"/>
          <p:cNvSpPr/>
          <p:nvPr/>
        </p:nvSpPr>
        <p:spPr>
          <a:xfrm>
            <a:off x="7134120" y="569124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Text 61"/>
          <p:cNvSpPr/>
          <p:nvPr/>
        </p:nvSpPr>
        <p:spPr>
          <a:xfrm>
            <a:off x="7078680" y="566748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90" name="Text 62"/>
          <p:cNvSpPr/>
          <p:nvPr/>
        </p:nvSpPr>
        <p:spPr>
          <a:xfrm>
            <a:off x="7523280" y="5715000"/>
            <a:ext cx="981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BULL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91" name="Text 63"/>
          <p:cNvSpPr/>
          <p:nvPr/>
        </p:nvSpPr>
        <p:spPr>
          <a:xfrm>
            <a:off x="7110360" y="6048360"/>
            <a:ext cx="45133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$500K+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92" name="Text 64"/>
          <p:cNvSpPr/>
          <p:nvPr/>
        </p:nvSpPr>
        <p:spPr>
          <a:xfrm>
            <a:off x="7110360" y="639756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US strategic Bitcoin reserve, mass corporate adoption, nation-state FOMO, dollar crisis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93" name="Text 65"/>
          <p:cNvSpPr/>
          <p:nvPr/>
        </p:nvSpPr>
        <p:spPr>
          <a:xfrm>
            <a:off x="7110360" y="677880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global reserve asset, challenges gold's $16T market cap. Widespread use as savings technology.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5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6" name="Shape 1"/>
          <p:cNvSpPr/>
          <p:nvPr/>
        </p:nvSpPr>
        <p:spPr>
          <a:xfrm>
            <a:off x="6200640" y="781200"/>
            <a:ext cx="5578560" cy="3959280"/>
          </a:xfrm>
          <a:custGeom>
            <a:avLst/>
            <a:gdLst/>
            <a:ah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7" name="Shape 2"/>
          <p:cNvSpPr/>
          <p:nvPr/>
        </p:nvSpPr>
        <p:spPr>
          <a:xfrm>
            <a:off x="1007748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8" name="Shape 3"/>
          <p:cNvSpPr/>
          <p:nvPr/>
        </p:nvSpPr>
        <p:spPr>
          <a:xfrm>
            <a:off x="1041084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9" name="Text 4"/>
          <p:cNvSpPr/>
          <p:nvPr/>
        </p:nvSpPr>
        <p:spPr>
          <a:xfrm>
            <a:off x="1026792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000" name="Text 5"/>
          <p:cNvSpPr/>
          <p:nvPr/>
        </p:nvSpPr>
        <p:spPr>
          <a:xfrm>
            <a:off x="6343560" y="2486160"/>
            <a:ext cx="494964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01" name="Shape 6"/>
          <p:cNvSpPr/>
          <p:nvPr/>
        </p:nvSpPr>
        <p:spPr>
          <a:xfrm>
            <a:off x="946800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2" name="Text 7"/>
          <p:cNvSpPr/>
          <p:nvPr/>
        </p:nvSpPr>
        <p:spPr>
          <a:xfrm>
            <a:off x="6515280" y="3876840"/>
            <a:ext cx="477828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Path Forward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03" name="Shape 8"/>
          <p:cNvSpPr/>
          <p:nvPr/>
        </p:nvSpPr>
        <p:spPr>
          <a:xfrm>
            <a:off x="7382880" y="5257800"/>
            <a:ext cx="4397400" cy="815760"/>
          </a:xfrm>
          <a:custGeom>
            <a:avLst/>
            <a:gdLst/>
            <a:ah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4" name="Text 9"/>
          <p:cNvSpPr/>
          <p:nvPr/>
        </p:nvSpPr>
        <p:spPr>
          <a:xfrm>
            <a:off x="7640280" y="5514840"/>
            <a:ext cx="399744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Takeaways &amp; Final Thoughts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6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TRAJECTORY: KEY TAKEAWAYS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8" name="Shape 3"/>
          <p:cNvSpPr/>
          <p:nvPr/>
        </p:nvSpPr>
        <p:spPr>
          <a:xfrm>
            <a:off x="341280" y="13572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09" name="Shape 4"/>
          <p:cNvSpPr/>
          <p:nvPr/>
        </p:nvSpPr>
        <p:spPr>
          <a:xfrm>
            <a:off x="547560" y="156384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0" name="Text 5"/>
          <p:cNvSpPr/>
          <p:nvPr/>
        </p:nvSpPr>
        <p:spPr>
          <a:xfrm>
            <a:off x="476280" y="15397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1095480" y="1539720"/>
            <a:ext cx="36478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EXPERIMENT TO ASSET CLASS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523800" y="207972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has evolved from a cypherpunk experiment to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globally recognized financial asset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with $1.47 trillion market cap. What started as an idea in a whitepaper is now held by institutions, corporations, and nation-states.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6183360" y="13572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4" name="Shape 9"/>
          <p:cNvSpPr/>
          <p:nvPr/>
        </p:nvSpPr>
        <p:spPr>
          <a:xfrm>
            <a:off x="6389640" y="156384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5" name="Text 10"/>
          <p:cNvSpPr/>
          <p:nvPr/>
        </p:nvSpPr>
        <p:spPr>
          <a:xfrm>
            <a:off x="6318360" y="15397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6" name="Text 11"/>
          <p:cNvSpPr/>
          <p:nvPr/>
        </p:nvSpPr>
        <p:spPr>
          <a:xfrm>
            <a:off x="6937200" y="1539720"/>
            <a:ext cx="4822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 CROSSED THE RUBICON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7" name="Text 12"/>
          <p:cNvSpPr/>
          <p:nvPr/>
        </p:nvSpPr>
        <p:spPr>
          <a:xfrm>
            <a:off x="6365880" y="214308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January 2024 ETF approval was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watershed moment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Wall Street has embraced Bitcoin, with $85B+ in ETF AUM, corporate treasury strategies, and major banks offering crypto services. This genie cannot be put back in the bottle.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341280" y="31194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9" name="Shape 14"/>
          <p:cNvSpPr/>
          <p:nvPr/>
        </p:nvSpPr>
        <p:spPr>
          <a:xfrm>
            <a:off x="547560" y="33256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0" name="Text 15"/>
          <p:cNvSpPr/>
          <p:nvPr/>
        </p:nvSpPr>
        <p:spPr>
          <a:xfrm>
            <a:off x="476280" y="33019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1" name="Text 16"/>
          <p:cNvSpPr/>
          <p:nvPr/>
        </p:nvSpPr>
        <p:spPr>
          <a:xfrm>
            <a:off x="1095480" y="3301920"/>
            <a:ext cx="4822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CREATE PREDICTABLE PATTERNS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2" name="Text 17"/>
          <p:cNvSpPr/>
          <p:nvPr/>
        </p:nvSpPr>
        <p:spPr>
          <a:xfrm>
            <a:off x="523800" y="390528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programmed scarcity mechanism has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historically preceded major bull runs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The 2024 halving reduced daily new supply to 450 BTC (0.85% inflation), setting the stage for the next supply-demand imbalance.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6183360" y="31194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4" name="Shape 19"/>
          <p:cNvSpPr/>
          <p:nvPr/>
        </p:nvSpPr>
        <p:spPr>
          <a:xfrm>
            <a:off x="6389640" y="33256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5" name="Text 20"/>
          <p:cNvSpPr/>
          <p:nvPr/>
        </p:nvSpPr>
        <p:spPr>
          <a:xfrm>
            <a:off x="6318360" y="33019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6" name="Text 21"/>
          <p:cNvSpPr/>
          <p:nvPr/>
        </p:nvSpPr>
        <p:spPr>
          <a:xfrm>
            <a:off x="6937200" y="3301920"/>
            <a:ext cx="47512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REMAIN, BUT SOLUTIONS EMERGE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7" name="Text 22"/>
          <p:cNvSpPr/>
          <p:nvPr/>
        </p:nvSpPr>
        <p:spPr>
          <a:xfrm>
            <a:off x="6365880" y="384192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Scalability, energy consumption, and regulation are real challenges. However,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(Lightning Network), renewable energy adoption (~55% of mining), and regulatory clarity are addressing these issues.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341280" y="4881600"/>
            <a:ext cx="5664240" cy="152064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9" name="Shape 24"/>
          <p:cNvSpPr/>
          <p:nvPr/>
        </p:nvSpPr>
        <p:spPr>
          <a:xfrm>
            <a:off x="547560" y="50878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0" name="Text 25"/>
          <p:cNvSpPr/>
          <p:nvPr/>
        </p:nvSpPr>
        <p:spPr>
          <a:xfrm>
            <a:off x="476280" y="50641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1" name="Text 26"/>
          <p:cNvSpPr/>
          <p:nvPr/>
        </p:nvSpPr>
        <p:spPr>
          <a:xfrm>
            <a:off x="1095480" y="5064120"/>
            <a:ext cx="3259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"DIGITAL GOLD" STILL EVOLVING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2" name="Text 27"/>
          <p:cNvSpPr/>
          <p:nvPr/>
        </p:nvSpPr>
        <p:spPr>
          <a:xfrm>
            <a:off x="523800" y="560376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scarcity and decentralization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6183360" y="4881600"/>
            <a:ext cx="5664240" cy="152064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4" name="Shape 29"/>
          <p:cNvSpPr/>
          <p:nvPr/>
        </p:nvSpPr>
        <p:spPr>
          <a:xfrm>
            <a:off x="6389640" y="50878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5" name="Text 30"/>
          <p:cNvSpPr/>
          <p:nvPr/>
        </p:nvSpPr>
        <p:spPr>
          <a:xfrm>
            <a:off x="6318360" y="50641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6" name="Text 31"/>
          <p:cNvSpPr/>
          <p:nvPr/>
        </p:nvSpPr>
        <p:spPr>
          <a:xfrm>
            <a:off x="6937200" y="5064120"/>
            <a:ext cx="3298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2024-2030: THE CRITICAL DECADE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7" name="Text 32"/>
          <p:cNvSpPr/>
          <p:nvPr/>
        </p:nvSpPr>
        <p:spPr>
          <a:xfrm>
            <a:off x="6365880" y="560376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next 6 years will determine Bitcoin's long-term trajectory.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adoption, corporate treasuries, nation-state accumulation, and the 2028 halving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could propel Bitcoin to $150K-$500K+ or higher. The foundation is being laid for mainstream integration.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341280" y="6580080"/>
            <a:ext cx="11505960" cy="1663560"/>
          </a:xfrm>
          <a:custGeom>
            <a:avLst/>
            <a:gdLst/>
            <a:ah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9" name="Text 34"/>
          <p:cNvSpPr/>
          <p:nvPr/>
        </p:nvSpPr>
        <p:spPr>
          <a:xfrm>
            <a:off x="523800" y="7032600"/>
            <a:ext cx="10013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BOTTOM 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0" name="Text 35"/>
          <p:cNvSpPr/>
          <p:nvPr/>
        </p:nvSpPr>
        <p:spPr>
          <a:xfrm>
            <a:off x="523800" y="7350120"/>
            <a:ext cx="99900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Bitcoin represents both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transformative potential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(decentralized, scarce, borderless money) and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significant risks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(volatility, regulation, competition). Approach with understanding of both.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41" name="Shape 36"/>
          <p:cNvSpPr/>
          <p:nvPr/>
        </p:nvSpPr>
        <p:spPr>
          <a:xfrm>
            <a:off x="10662840" y="6786720"/>
            <a:ext cx="981000" cy="1251000"/>
          </a:xfrm>
          <a:custGeom>
            <a:avLst/>
            <a:gdLst/>
            <a:ah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2" name="Text 37"/>
          <p:cNvSpPr/>
          <p:nvPr/>
        </p:nvSpPr>
        <p:spPr>
          <a:xfrm>
            <a:off x="10781640" y="6937200"/>
            <a:ext cx="743040" cy="9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2026-2030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WILL DEFINE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FUTURE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4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5" name="Shape 1"/>
          <p:cNvSpPr/>
          <p:nvPr/>
        </p:nvSpPr>
        <p:spPr>
          <a:xfrm>
            <a:off x="3355920" y="676440"/>
            <a:ext cx="5473800" cy="4359240"/>
          </a:xfrm>
          <a:custGeom>
            <a:avLst/>
            <a:gdLst/>
            <a:ah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46" name="Text 2"/>
          <p:cNvSpPr/>
          <p:nvPr/>
        </p:nvSpPr>
        <p:spPr>
          <a:xfrm>
            <a:off x="3670200" y="1162080"/>
            <a:ext cx="484488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THANK YOU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47" name="Shape 3"/>
          <p:cNvSpPr/>
          <p:nvPr/>
        </p:nvSpPr>
        <p:spPr>
          <a:xfrm>
            <a:off x="5181480" y="20764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8" name="Text 4"/>
          <p:cNvSpPr/>
          <p:nvPr/>
        </p:nvSpPr>
        <p:spPr>
          <a:xfrm>
            <a:off x="3755880" y="2381400"/>
            <a:ext cx="4673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Questions &amp; Discussion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49" name="Shape 5"/>
          <p:cNvSpPr/>
          <p:nvPr/>
        </p:nvSpPr>
        <p:spPr>
          <a:xfrm>
            <a:off x="3870360" y="3095640"/>
            <a:ext cx="4444920" cy="1425600"/>
          </a:xfrm>
          <a:custGeom>
            <a:avLst/>
            <a:gdLst/>
            <a:ah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0" name="Text 6"/>
          <p:cNvSpPr/>
          <p:nvPr/>
        </p:nvSpPr>
        <p:spPr>
          <a:xfrm>
            <a:off x="4070520" y="3352680"/>
            <a:ext cx="40449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In a world of infinite money printing,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can a fixed-supply digital asset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become the ultimate store of value?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51" name="Shape 7"/>
          <p:cNvSpPr/>
          <p:nvPr/>
        </p:nvSpPr>
        <p:spPr>
          <a:xfrm>
            <a:off x="3743640" y="5400720"/>
            <a:ext cx="4701960" cy="777960"/>
          </a:xfrm>
          <a:custGeom>
            <a:avLst/>
            <a:gdLst/>
            <a:ah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2" name="Text 8"/>
          <p:cNvSpPr/>
          <p:nvPr/>
        </p:nvSpPr>
        <p:spPr>
          <a:xfrm>
            <a:off x="4001040" y="5657760"/>
            <a:ext cx="42829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Bitcoin: The Digital Revolution | March 2026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2026-04-18T14:38:40Z</dcterms:modified>
  <cp:revision>10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