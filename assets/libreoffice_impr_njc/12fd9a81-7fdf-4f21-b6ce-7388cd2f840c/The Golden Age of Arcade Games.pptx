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4B4C6EB-82C8-4C53-A992-868D62BBDEF4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E8B831-FD8D-42BE-A2C4-99E3567034A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72C516-FB2C-4A7A-9E77-D3F73C47E9D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01345F-4FA9-4DAA-94A6-A8778EC5A35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35FB59-3B4C-4EB2-BCF2-2087E95BD9E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1DAFCC-8833-4C0F-8CA7-84540BCC5FF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3B1EB8-5E69-4121-A7A3-6F9CE37B567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0E5507-1E1E-4E6D-86AA-72D9613FDE0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6054B7-07C9-44D0-AAA3-DCEF3C10651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82E70A-64CF-46A6-ACC8-CC6F6DF2B3E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DF3F71-C122-4E29-9FC8-EBEEB8699BE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B40CC9-E39E-4904-8DFC-39F7D95E9CA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7E9380-ABA5-47E4-BCA6-0314F3BC9BD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1E6B14-5E47-4A67-A74C-C3709FA79CF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8202E4-F2BC-4664-B133-80C0C8CAFF3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A91A2B-17AE-405E-A22F-D3889E93F52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C9F8BA-B545-409A-988C-159A7D9EFAD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CA7597-4910-4597-8792-6935F2235A5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7C2AE1-F98F-4964-B213-653784ADCA4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96277B-329A-4417-940C-636CF83F23F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2045CD-5C69-4A77-A8F6-D1A22649B07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1"/>
          <p:cNvSpPr/>
          <p:nvPr/>
        </p:nvSpPr>
        <p:spPr>
          <a:xfrm>
            <a:off x="5667480" y="1276200"/>
            <a:ext cx="85644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f4f4f4"/>
                </a:solidFill>
                <a:latin typeface="Jersey 15"/>
                <a:ea typeface="Jersey 15"/>
              </a:rPr>
              <a:t>👾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3164400" y="2305080"/>
            <a:ext cx="5866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i="1" lang="en-US" sz="7200" spc="-1" strike="noStrike" u="sng">
                <a:solidFill>
                  <a:srgbClr val="ffff00"/>
                </a:solidFill>
                <a:uFillTx/>
                <a:latin typeface="Jersey 20 Charted"/>
                <a:ea typeface="Jersey 20 Charted"/>
              </a:rPr>
              <a:t>THE GOLDEN AGE</a:t>
            </a:r>
            <a:endParaRPr b="0" lang="en-HK" sz="720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154040" y="3448080"/>
            <a:ext cx="388548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ff00"/>
                </a:solidFill>
                <a:latin typeface="Jersey 15"/>
                <a:ea typeface="Jersey 15"/>
              </a:rPr>
              <a:t>OF</a:t>
            </a:r>
            <a:r>
              <a:rPr b="1" lang="en-US" sz="4500" spc="-1" strike="noStrike">
                <a:solidFill>
                  <a:srgbClr val="f4f4f4"/>
                </a:solidFill>
                <a:latin typeface="Jersey 15"/>
                <a:ea typeface="Jersey 15"/>
              </a:rPr>
              <a:t> </a:t>
            </a:r>
            <a:r>
              <a:rPr b="1" lang="en-US" sz="4500" spc="-1" strike="noStrike" u="sng">
                <a:solidFill>
                  <a:srgbClr val="ffbf00"/>
                </a:solidFill>
                <a:uFillTx/>
                <a:latin typeface="Jersey 15"/>
                <a:ea typeface="Jersey 15"/>
              </a:rPr>
              <a:t>ARCADE</a:t>
            </a:r>
            <a:r>
              <a:rPr b="1" lang="en-US" sz="4500" spc="-1" strike="noStrike">
                <a:solidFill>
                  <a:srgbClr val="f4f4f4"/>
                </a:solidFill>
                <a:latin typeface="Jersey 15"/>
                <a:ea typeface="Jersey 15"/>
              </a:rPr>
              <a:t> </a:t>
            </a:r>
            <a:r>
              <a:rPr b="1" lang="en-US" sz="4500" spc="-1" strike="noStrike">
                <a:solidFill>
                  <a:srgbClr val="ffff00"/>
                </a:solidFill>
                <a:latin typeface="Jersey 15"/>
                <a:ea typeface="Jersey 15"/>
              </a:rPr>
              <a:t>GAMES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486400" y="4324320"/>
            <a:ext cx="1218600" cy="7560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5"/>
          <p:cNvSpPr/>
          <p:nvPr/>
        </p:nvSpPr>
        <p:spPr>
          <a:xfrm>
            <a:off x="5400720" y="4705200"/>
            <a:ext cx="138996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270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1978-1983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4384080" y="5238720"/>
            <a:ext cx="34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5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When Quarters Ruled the World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571500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8"/>
          <p:cNvSpPr/>
          <p:nvPr/>
        </p:nvSpPr>
        <p:spPr>
          <a:xfrm>
            <a:off x="601992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9"/>
          <p:cNvSpPr/>
          <p:nvPr/>
        </p:nvSpPr>
        <p:spPr>
          <a:xfrm>
            <a:off x="632448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"/>
          <p:cNvSpPr/>
          <p:nvPr/>
        </p:nvSpPr>
        <p:spPr>
          <a:xfrm>
            <a:off x="380880" y="380880"/>
            <a:ext cx="1171512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CONTENTS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80880" y="1104840"/>
            <a:ext cx="913680" cy="75600"/>
          </a:xfrm>
          <a:custGeom>
            <a:avLst/>
            <a:gdLst/>
            <a:ah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399960" y="1504800"/>
            <a:ext cx="5447520" cy="134244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647640" y="1752480"/>
            <a:ext cx="6660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257480" y="1752480"/>
            <a:ext cx="44856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Dawn of a New Era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257480" y="2171880"/>
            <a:ext cx="44380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How Space Invaders sparked a revolution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343560" y="1504800"/>
            <a:ext cx="5447520" cy="134244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8"/>
          <p:cNvSpPr/>
          <p:nvPr/>
        </p:nvSpPr>
        <p:spPr>
          <a:xfrm>
            <a:off x="6591240" y="1752480"/>
            <a:ext cx="770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306920" y="1752480"/>
            <a:ext cx="4380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7306920" y="2171880"/>
            <a:ext cx="43333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Characters that became cultural phenomena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399960" y="3117960"/>
            <a:ext cx="5447520" cy="134244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2"/>
          <p:cNvSpPr/>
          <p:nvPr/>
        </p:nvSpPr>
        <p:spPr>
          <a:xfrm>
            <a:off x="647640" y="3365280"/>
            <a:ext cx="770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363320" y="3365280"/>
            <a:ext cx="4380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Business of Fun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1363320" y="3784680"/>
            <a:ext cx="43333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Billions of quarters, an economic force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6343560" y="3117960"/>
            <a:ext cx="5447520" cy="134244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6"/>
          <p:cNvSpPr/>
          <p:nvPr/>
        </p:nvSpPr>
        <p:spPr>
          <a:xfrm>
            <a:off x="6591240" y="3365280"/>
            <a:ext cx="75168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285680" y="3365280"/>
            <a:ext cx="4399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Cultural Impact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7285680" y="3784680"/>
            <a:ext cx="4352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From niche hobby to global phenomenon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399960" y="4730760"/>
            <a:ext cx="11391120" cy="1342440"/>
          </a:xfrm>
          <a:custGeom>
            <a:avLst/>
            <a:gdLst/>
            <a:ah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0"/>
          <p:cNvSpPr/>
          <p:nvPr/>
        </p:nvSpPr>
        <p:spPr>
          <a:xfrm>
            <a:off x="647640" y="4978440"/>
            <a:ext cx="75168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342080" y="4978440"/>
            <a:ext cx="103435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Decline and Beyond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1342080" y="5397480"/>
            <a:ext cx="10295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The crash that changed everything and the phoenix that rose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5715000" y="63244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4"/>
          <p:cNvSpPr/>
          <p:nvPr/>
        </p:nvSpPr>
        <p:spPr>
          <a:xfrm>
            <a:off x="6019920" y="63244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5"/>
          <p:cNvSpPr/>
          <p:nvPr/>
        </p:nvSpPr>
        <p:spPr>
          <a:xfrm>
            <a:off x="6324480" y="63244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380880" y="1542960"/>
            <a:ext cx="1799640" cy="608760"/>
          </a:xfrm>
          <a:custGeom>
            <a:avLst/>
            <a:gdLst/>
            <a:ah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"/>
          <p:cNvSpPr/>
          <p:nvPr/>
        </p:nvSpPr>
        <p:spPr>
          <a:xfrm>
            <a:off x="609480" y="1676520"/>
            <a:ext cx="15170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80880" y="2381400"/>
            <a:ext cx="1177236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DAWN OF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NEW ERA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380880" y="4324320"/>
            <a:ext cx="1523160" cy="7560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380880" y="4629240"/>
            <a:ext cx="7457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How a Japanese Space Shooter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1059192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7"/>
          <p:cNvSpPr/>
          <p:nvPr/>
        </p:nvSpPr>
        <p:spPr>
          <a:xfrm>
            <a:off x="1089648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8"/>
          <p:cNvSpPr/>
          <p:nvPr/>
        </p:nvSpPr>
        <p:spPr>
          <a:xfrm>
            <a:off x="1120140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"/>
          <p:cNvSpPr/>
          <p:nvPr/>
        </p:nvSpPr>
        <p:spPr>
          <a:xfrm>
            <a:off x="380880" y="380880"/>
            <a:ext cx="11657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TIMELINE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380880" y="952560"/>
            <a:ext cx="115437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When Was the Golden Age?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380880" y="1371600"/>
            <a:ext cx="913680" cy="3744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395280" y="1576440"/>
            <a:ext cx="5609520" cy="166608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600120" y="1781280"/>
            <a:ext cx="53143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DEBATED TIMEFRAME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600120" y="2200320"/>
            <a:ext cx="528552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While experts disagree on exact dates, most place the golden age between </a:t>
            </a:r>
            <a:r>
              <a:rPr b="1" lang="en-US" sz="1350" spc="-1" strike="noStrike">
                <a:solidFill>
                  <a:srgbClr val="ffcd75"/>
                </a:solidFill>
                <a:latin typeface="Jersey 15"/>
                <a:ea typeface="Jersey 15"/>
              </a:rPr>
              <a:t>1978-1983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. Some extend it to 1971 (first arcade game) or end at 1985 (industry recovery).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186600" y="1576440"/>
            <a:ext cx="5609520" cy="166608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8"/>
          <p:cNvSpPr/>
          <p:nvPr/>
        </p:nvSpPr>
        <p:spPr>
          <a:xfrm>
            <a:off x="6391440" y="1781280"/>
            <a:ext cx="53143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KEY MILESTONE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6391440" y="2200320"/>
            <a:ext cx="52855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(1978)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 is universally recognized as the catalyst that transformed arcades from novelty to cultural phenomenon.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399960" y="3426480"/>
            <a:ext cx="11391120" cy="3314160"/>
          </a:xfrm>
          <a:custGeom>
            <a:avLst/>
            <a:gdLst/>
            <a:ah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1"/>
          <p:cNvSpPr/>
          <p:nvPr/>
        </p:nvSpPr>
        <p:spPr>
          <a:xfrm>
            <a:off x="552600" y="3636000"/>
            <a:ext cx="110865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THE GOLDEN AGE TIMELINE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Image 0"/>
          <p:cNvSpPr/>
          <p:nvPr/>
        </p:nvSpPr>
        <p:spPr>
          <a:xfrm>
            <a:off x="609480" y="4055400"/>
            <a:ext cx="10972080" cy="24757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91400" cy="6855120"/>
          </a:xfrm>
          <a:custGeom>
            <a:avLst/>
            <a:gdLst/>
            <a:ah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349200" y="349200"/>
            <a:ext cx="1170216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SPACE INVADERS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349200" y="873360"/>
            <a:ext cx="1159740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50" spc="-1" strike="noStrike">
                <a:solidFill>
                  <a:srgbClr val="f4f4f4"/>
                </a:solidFill>
                <a:latin typeface="Jersey 15"/>
                <a:ea typeface="Jersey 15"/>
              </a:rPr>
              <a:t>The Spark That Ignited the Revolution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349200" y="1257480"/>
            <a:ext cx="837720" cy="34200"/>
          </a:xfrm>
          <a:custGeom>
            <a:avLst/>
            <a:gdLst/>
            <a:ah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362520" y="1445400"/>
            <a:ext cx="5047200" cy="4191480"/>
          </a:xfrm>
          <a:custGeom>
            <a:avLst/>
            <a:gdLst/>
            <a:ah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Image 0"/>
          <p:cNvSpPr/>
          <p:nvPr/>
        </p:nvSpPr>
        <p:spPr>
          <a:xfrm>
            <a:off x="515160" y="1598400"/>
            <a:ext cx="4741560" cy="16761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384120" y="3380040"/>
            <a:ext cx="50036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12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750,000</a:t>
            </a:r>
            <a:endParaRPr b="0" lang="en-HK" sz="412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71600" y="3973680"/>
            <a:ext cx="48290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70" spc="-1" strike="noStrike">
                <a:solidFill>
                  <a:srgbClr val="f4f4f4"/>
                </a:solidFill>
                <a:latin typeface="Jersey 15"/>
                <a:ea typeface="Jersey 15"/>
              </a:rPr>
              <a:t>Machines Worldwide by 1979</a:t>
            </a:r>
            <a:endParaRPr b="0" lang="en-HK" sz="137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362520" y="5801400"/>
            <a:ext cx="5047200" cy="1038600"/>
          </a:xfrm>
          <a:custGeom>
            <a:avLst/>
            <a:gdLst/>
            <a:ah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410400" y="5954040"/>
            <a:ext cx="4951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$670M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75920" y="6443280"/>
            <a:ext cx="48200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Revenue in Japan Alone (1978)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5648040" y="1445400"/>
            <a:ext cx="6174000" cy="1885680"/>
          </a:xfrm>
          <a:custGeom>
            <a:avLst/>
            <a:gdLst/>
            <a:ah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1"/>
          <p:cNvSpPr/>
          <p:nvPr/>
        </p:nvSpPr>
        <p:spPr>
          <a:xfrm>
            <a:off x="5835600" y="1633320"/>
            <a:ext cx="590328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ffcd75"/>
                </a:solidFill>
                <a:latin typeface="Jersey 15"/>
                <a:ea typeface="Jersey 15"/>
              </a:rPr>
              <a:t>THE CREATOR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5835600" y="2017440"/>
            <a:ext cx="58770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40" spc="-1" strike="noStrike">
                <a:solidFill>
                  <a:srgbClr val="29adff"/>
                </a:solidFill>
                <a:latin typeface="Jersey 15"/>
                <a:ea typeface="Jersey 15"/>
              </a:rPr>
              <a:t>Tomohiro Nishikado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at Taito spent one year designing custom hardware using an </a:t>
            </a:r>
            <a:r>
              <a:rPr b="1" lang="en-US" sz="1240" spc="-1" strike="noStrike">
                <a:solidFill>
                  <a:srgbClr val="a7f070"/>
                </a:solidFill>
                <a:latin typeface="Jersey 15"/>
                <a:ea typeface="Jersey 15"/>
              </a:rPr>
              <a:t>Intel 8080 CPU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—pushing technological limits of the time.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5835600" y="2633040"/>
            <a:ext cx="58770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Inspired by Star Wars and H.G. Wells' War of the Worlds, he created alien designs based on octopus, squid, and crabs.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5648040" y="3497760"/>
            <a:ext cx="6174000" cy="1527480"/>
          </a:xfrm>
          <a:custGeom>
            <a:avLst/>
            <a:gdLst/>
            <a:ah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5"/>
          <p:cNvSpPr/>
          <p:nvPr/>
        </p:nvSpPr>
        <p:spPr>
          <a:xfrm>
            <a:off x="5835600" y="3685680"/>
            <a:ext cx="590328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29adff"/>
                </a:solidFill>
                <a:latin typeface="Jersey 15"/>
                <a:ea typeface="Jersey 15"/>
              </a:rPr>
              <a:t>THE HAPPY ACCIDENT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5835600" y="4069800"/>
            <a:ext cx="58770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The game's signature </a:t>
            </a:r>
            <a:r>
              <a:rPr b="1" lang="en-US" sz="1240" spc="-1" strike="noStrike">
                <a:solidFill>
                  <a:srgbClr val="ffcd75"/>
                </a:solidFill>
                <a:latin typeface="Jersey 15"/>
                <a:ea typeface="Jersey 15"/>
              </a:rPr>
              <a:t>increasing speed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5643720" y="5185440"/>
            <a:ext cx="3029760" cy="76788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8"/>
          <p:cNvSpPr/>
          <p:nvPr/>
        </p:nvSpPr>
        <p:spPr>
          <a:xfrm>
            <a:off x="7030800" y="5299200"/>
            <a:ext cx="261360" cy="26136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9"/>
          <p:cNvSpPr/>
          <p:nvPr/>
        </p:nvSpPr>
        <p:spPr>
          <a:xfrm>
            <a:off x="5722200" y="5631120"/>
            <a:ext cx="28724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First High Score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8798040" y="5185440"/>
            <a:ext cx="3029760" cy="76788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1"/>
          <p:cNvSpPr/>
          <p:nvPr/>
        </p:nvSpPr>
        <p:spPr>
          <a:xfrm>
            <a:off x="10185120" y="5299200"/>
            <a:ext cx="261360" cy="26136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2"/>
          <p:cNvSpPr/>
          <p:nvPr/>
        </p:nvSpPr>
        <p:spPr>
          <a:xfrm>
            <a:off x="8876520" y="5631120"/>
            <a:ext cx="28724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Multiple Lives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5643720" y="6076440"/>
            <a:ext cx="3029760" cy="76788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4"/>
          <p:cNvSpPr/>
          <p:nvPr/>
        </p:nvSpPr>
        <p:spPr>
          <a:xfrm>
            <a:off x="7030800" y="6189840"/>
            <a:ext cx="261360" cy="26136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5"/>
          <p:cNvSpPr/>
          <p:nvPr/>
        </p:nvSpPr>
        <p:spPr>
          <a:xfrm>
            <a:off x="5722200" y="6521760"/>
            <a:ext cx="28724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Destructible Barriers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31" name="Shape 26"/>
          <p:cNvSpPr/>
          <p:nvPr/>
        </p:nvSpPr>
        <p:spPr>
          <a:xfrm>
            <a:off x="8798040" y="6076440"/>
            <a:ext cx="3029760" cy="76788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27"/>
          <p:cNvSpPr/>
          <p:nvPr/>
        </p:nvSpPr>
        <p:spPr>
          <a:xfrm>
            <a:off x="10185120" y="6189840"/>
            <a:ext cx="261360" cy="26136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8"/>
          <p:cNvSpPr/>
          <p:nvPr/>
        </p:nvSpPr>
        <p:spPr>
          <a:xfrm>
            <a:off x="8876520" y="6521760"/>
            <a:ext cx="28724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Continuous Soundtrack</a:t>
            </a:r>
            <a:endParaRPr b="0" lang="en-HK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2191400" cy="6858000"/>
          </a:xfrm>
          <a:custGeom>
            <a:avLst/>
            <a:gdLst/>
            <a:ah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"/>
          <p:cNvSpPr/>
          <p:nvPr/>
        </p:nvSpPr>
        <p:spPr>
          <a:xfrm>
            <a:off x="369720" y="369720"/>
            <a:ext cx="1167372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TECHNOLOGY EVOLUTION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369720" y="924480"/>
            <a:ext cx="115628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50" spc="-1" strike="noStrike">
                <a:solidFill>
                  <a:srgbClr val="f4f4f4"/>
                </a:solidFill>
                <a:latin typeface="Jersey 15"/>
                <a:ea typeface="Jersey 15"/>
              </a:rPr>
              <a:t>From Paddles to Microprocessors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69720" y="1330920"/>
            <a:ext cx="886680" cy="36360"/>
          </a:xfrm>
          <a:custGeom>
            <a:avLst/>
            <a:gdLst/>
            <a:ah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4"/>
          <p:cNvSpPr/>
          <p:nvPr/>
        </p:nvSpPr>
        <p:spPr>
          <a:xfrm>
            <a:off x="383760" y="1529640"/>
            <a:ext cx="5591520" cy="283716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527040" y="1728360"/>
            <a:ext cx="53049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ffcd75"/>
                </a:solidFill>
                <a:latin typeface="Jersey 15"/>
                <a:ea typeface="Jersey 15"/>
              </a:rPr>
              <a:t>PRE-GOLDEN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582480" y="224604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804240" y="2172240"/>
            <a:ext cx="1875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discrete logic circuits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582480" y="261576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9"/>
          <p:cNvSpPr/>
          <p:nvPr/>
        </p:nvSpPr>
        <p:spPr>
          <a:xfrm>
            <a:off x="804240" y="2541960"/>
            <a:ext cx="14598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Black &amp; white displays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582480" y="298548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1"/>
          <p:cNvSpPr/>
          <p:nvPr/>
        </p:nvSpPr>
        <p:spPr>
          <a:xfrm>
            <a:off x="804240" y="2911680"/>
            <a:ext cx="12193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Basic beep sounds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582480" y="335520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3"/>
          <p:cNvSpPr/>
          <p:nvPr/>
        </p:nvSpPr>
        <p:spPr>
          <a:xfrm>
            <a:off x="804240" y="3281400"/>
            <a:ext cx="1922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ball-and-paddle games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582480" y="3688200"/>
            <a:ext cx="5194080" cy="47988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646920" y="3799080"/>
            <a:ext cx="50644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Pong Era (1972)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6221160" y="1529640"/>
            <a:ext cx="5591520" cy="283716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7"/>
          <p:cNvSpPr/>
          <p:nvPr/>
        </p:nvSpPr>
        <p:spPr>
          <a:xfrm>
            <a:off x="6364440" y="1728360"/>
            <a:ext cx="53049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a7f070"/>
                </a:solidFill>
                <a:latin typeface="Jersey 15"/>
                <a:ea typeface="Jersey 15"/>
              </a:rPr>
              <a:t>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52" name="Shape 18"/>
          <p:cNvSpPr/>
          <p:nvPr/>
        </p:nvSpPr>
        <p:spPr>
          <a:xfrm>
            <a:off x="6419880" y="224604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9"/>
          <p:cNvSpPr/>
          <p:nvPr/>
        </p:nvSpPr>
        <p:spPr>
          <a:xfrm>
            <a:off x="6642000" y="2172240"/>
            <a:ext cx="1857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Microprocessors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(Intel 8080)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4" name="Shape 20"/>
          <p:cNvSpPr/>
          <p:nvPr/>
        </p:nvSpPr>
        <p:spPr>
          <a:xfrm>
            <a:off x="6419880" y="261576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1"/>
          <p:cNvSpPr/>
          <p:nvPr/>
        </p:nvSpPr>
        <p:spPr>
          <a:xfrm>
            <a:off x="6642000" y="2541960"/>
            <a:ext cx="1653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Color displays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overlays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6419880" y="298548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3"/>
          <p:cNvSpPr/>
          <p:nvPr/>
        </p:nvSpPr>
        <p:spPr>
          <a:xfrm>
            <a:off x="6642000" y="2957760"/>
            <a:ext cx="131508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Custom sound chips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6419880" y="3355200"/>
            <a:ext cx="110160" cy="11016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5"/>
          <p:cNvSpPr/>
          <p:nvPr/>
        </p:nvSpPr>
        <p:spPr>
          <a:xfrm>
            <a:off x="6642000" y="3281400"/>
            <a:ext cx="1487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Complex gameplay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AI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6419880" y="3688200"/>
            <a:ext cx="5194080" cy="47988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7"/>
          <p:cNvSpPr/>
          <p:nvPr/>
        </p:nvSpPr>
        <p:spPr>
          <a:xfrm>
            <a:off x="6484680" y="3799080"/>
            <a:ext cx="50644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Era (1978+)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2" name="Shape 28"/>
          <p:cNvSpPr/>
          <p:nvPr/>
        </p:nvSpPr>
        <p:spPr>
          <a:xfrm>
            <a:off x="383760" y="4543200"/>
            <a:ext cx="3687480" cy="154296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9"/>
          <p:cNvSpPr/>
          <p:nvPr/>
        </p:nvSpPr>
        <p:spPr>
          <a:xfrm>
            <a:off x="2062800" y="4704840"/>
            <a:ext cx="331920" cy="331920"/>
          </a:xfrm>
          <a:custGeom>
            <a:avLst/>
            <a:gdLst/>
            <a:ah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30"/>
          <p:cNvSpPr/>
          <p:nvPr/>
        </p:nvSpPr>
        <p:spPr>
          <a:xfrm>
            <a:off x="499320" y="5148720"/>
            <a:ext cx="34563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29adff"/>
                </a:solidFill>
                <a:latin typeface="Jersey 15"/>
                <a:ea typeface="Jersey 15"/>
              </a:rPr>
              <a:t>MICROPROCESSORS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508320" y="5481360"/>
            <a:ext cx="34376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Enabled complex game logic, AI enemy behavior, and dynamic gameplay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4250880" y="4543200"/>
            <a:ext cx="3687480" cy="154296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3"/>
          <p:cNvSpPr/>
          <p:nvPr/>
        </p:nvSpPr>
        <p:spPr>
          <a:xfrm>
            <a:off x="5909400" y="4704840"/>
            <a:ext cx="373680" cy="331920"/>
          </a:xfrm>
          <a:custGeom>
            <a:avLst/>
            <a:gdLst/>
            <a:ah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4"/>
          <p:cNvSpPr/>
          <p:nvPr/>
        </p:nvSpPr>
        <p:spPr>
          <a:xfrm>
            <a:off x="4366440" y="5148720"/>
            <a:ext cx="34563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VECTOR GRAPHICS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4375440" y="5481360"/>
            <a:ext cx="34376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 used crisp line graphics instead of pixels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0" name="Shape 36"/>
          <p:cNvSpPr/>
          <p:nvPr/>
        </p:nvSpPr>
        <p:spPr>
          <a:xfrm>
            <a:off x="8118000" y="4543200"/>
            <a:ext cx="3687480" cy="154296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7"/>
          <p:cNvSpPr/>
          <p:nvPr/>
        </p:nvSpPr>
        <p:spPr>
          <a:xfrm>
            <a:off x="9755640" y="4704840"/>
            <a:ext cx="415080" cy="331920"/>
          </a:xfrm>
          <a:custGeom>
            <a:avLst/>
            <a:gdLst/>
            <a:ah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8"/>
          <p:cNvSpPr/>
          <p:nvPr/>
        </p:nvSpPr>
        <p:spPr>
          <a:xfrm>
            <a:off x="8233560" y="5148720"/>
            <a:ext cx="34563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SOUND INNOVATION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8242560" y="5481360"/>
            <a:ext cx="34376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Dedicated sound chips created immersive audio experiences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4" name="Shape 40"/>
          <p:cNvSpPr/>
          <p:nvPr/>
        </p:nvSpPr>
        <p:spPr>
          <a:xfrm>
            <a:off x="383760" y="6262560"/>
            <a:ext cx="11424240" cy="581760"/>
          </a:xfrm>
          <a:custGeom>
            <a:avLst/>
            <a:gdLst/>
            <a:ah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1"/>
          <p:cNvSpPr/>
          <p:nvPr/>
        </p:nvSpPr>
        <p:spPr>
          <a:xfrm>
            <a:off x="499320" y="6424200"/>
            <a:ext cx="11193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The Result: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Games evolved from simple distractions to </a:t>
            </a: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immersive experiences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that captivated millions</a:t>
            </a:r>
            <a:endParaRPr b="0" lang="en-HK" sz="145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"/>
          <p:cNvSpPr/>
          <p:nvPr/>
        </p:nvSpPr>
        <p:spPr>
          <a:xfrm>
            <a:off x="380880" y="1114560"/>
            <a:ext cx="1866240" cy="60876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609480" y="1247760"/>
            <a:ext cx="1580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380880" y="1952640"/>
            <a:ext cx="11772360" cy="25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ICONIC GAMES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THAT DEFINED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GENERATION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380880" y="4753080"/>
            <a:ext cx="1523160" cy="7560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5"/>
          <p:cNvSpPr/>
          <p:nvPr/>
        </p:nvSpPr>
        <p:spPr>
          <a:xfrm>
            <a:off x="380880" y="5057640"/>
            <a:ext cx="7457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Characters and Experiences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That Became Cultural Phenomena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059192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7"/>
          <p:cNvSpPr/>
          <p:nvPr/>
        </p:nvSpPr>
        <p:spPr>
          <a:xfrm>
            <a:off x="1089648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8"/>
          <p:cNvSpPr/>
          <p:nvPr/>
        </p:nvSpPr>
        <p:spPr>
          <a:xfrm>
            <a:off x="1120140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12191400" cy="6858000"/>
          </a:xfrm>
          <a:custGeom>
            <a:avLst/>
            <a:gdLst/>
            <a:ah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"/>
          <p:cNvSpPr/>
          <p:nvPr/>
        </p:nvSpPr>
        <p:spPr>
          <a:xfrm>
            <a:off x="379080" y="379080"/>
            <a:ext cx="116607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PAC-MAN</a:t>
            </a:r>
            <a:endParaRPr b="0" lang="en-HK" sz="3580" spc="-1" strike="noStrike"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379080" y="947160"/>
            <a:ext cx="115470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90" spc="-1" strike="noStrike">
                <a:solidFill>
                  <a:srgbClr val="f4f4f4"/>
                </a:solidFill>
                <a:latin typeface="Jersey 15"/>
                <a:ea typeface="Jersey 15"/>
              </a:rPr>
              <a:t>Eating the Competition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379080" y="1364040"/>
            <a:ext cx="908640" cy="37080"/>
          </a:xfrm>
          <a:custGeom>
            <a:avLst/>
            <a:gdLst/>
            <a:ah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4"/>
          <p:cNvSpPr/>
          <p:nvPr/>
        </p:nvSpPr>
        <p:spPr>
          <a:xfrm>
            <a:off x="393120" y="1567800"/>
            <a:ext cx="4451760" cy="4233960"/>
          </a:xfrm>
          <a:custGeom>
            <a:avLst/>
            <a:gdLst/>
            <a:ah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Image 0"/>
          <p:cNvSpPr/>
          <p:nvPr/>
        </p:nvSpPr>
        <p:spPr>
          <a:xfrm>
            <a:off x="559080" y="1733760"/>
            <a:ext cx="4120200" cy="21211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"/>
          <p:cNvSpPr/>
          <p:nvPr/>
        </p:nvSpPr>
        <p:spPr>
          <a:xfrm>
            <a:off x="416880" y="3969360"/>
            <a:ext cx="440424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4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$14B+</a:t>
            </a:r>
            <a:endParaRPr b="0" lang="en-HK" sz="4480" spc="-1" strike="noStrike"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511560" y="4613400"/>
            <a:ext cx="42148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90" spc="-1" strike="noStrike">
                <a:solidFill>
                  <a:srgbClr val="f4f4f4"/>
                </a:solidFill>
                <a:latin typeface="Jersey 15"/>
                <a:ea typeface="Jersey 15"/>
              </a:rPr>
              <a:t>Total Global Revenue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520920" y="4954320"/>
            <a:ext cx="4195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Highest-grossing arcade game ever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93120" y="5982480"/>
            <a:ext cx="4451760" cy="861480"/>
          </a:xfrm>
          <a:custGeom>
            <a:avLst/>
            <a:gdLst/>
            <a:ah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"/>
          <p:cNvSpPr/>
          <p:nvPr/>
        </p:nvSpPr>
        <p:spPr>
          <a:xfrm>
            <a:off x="516240" y="6148080"/>
            <a:ext cx="4205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May 1980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16240" y="6413400"/>
            <a:ext cx="4205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Namco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103720" y="1567800"/>
            <a:ext cx="6696720" cy="204552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2"/>
          <p:cNvSpPr/>
          <p:nvPr/>
        </p:nvSpPr>
        <p:spPr>
          <a:xfrm>
            <a:off x="5307120" y="1771560"/>
            <a:ext cx="64033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29adff"/>
                </a:solidFill>
                <a:latin typeface="Jersey 15"/>
                <a:ea typeface="Jersey 15"/>
              </a:rPr>
              <a:t>THE VISIONARY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5307120" y="2188440"/>
            <a:ext cx="63748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40" spc="-1" strike="noStrike">
                <a:solidFill>
                  <a:srgbClr val="ffcd75"/>
                </a:solidFill>
                <a:latin typeface="Jersey 15"/>
                <a:ea typeface="Jersey 15"/>
              </a:rPr>
              <a:t>Toru Iwatani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wanted to create something completely different from the violent shooters dominating arcades. His goal: </a:t>
            </a:r>
            <a:r>
              <a:rPr b="0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"A game that anyone can enjoy."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5307120" y="2856240"/>
            <a:ext cx="63748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He noticed arcades were seen as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"hangouts for delinquents"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and set out to change that perception with non-violent, universally appealing gameplay.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103720" y="3794040"/>
            <a:ext cx="6696720" cy="204552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5307120" y="3997800"/>
            <a:ext cx="64033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ffcd75"/>
                </a:solidFill>
                <a:latin typeface="Jersey 15"/>
                <a:ea typeface="Jersey 15"/>
              </a:rPr>
              <a:t>THE LEGENDARY DESIGN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5307120" y="4414680"/>
            <a:ext cx="63748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The iconic character was born when Iwatani saw a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pizza with a slice missing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—the shape reminded him of a mouth. Combined with the Japanese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"mouth" (kuchi)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character, Pac-Man was born.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307120" y="5082480"/>
            <a:ext cx="63748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Each ghost has distinct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AI personality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: Blinky (chase), Pinky (ambush), Inky (unpredictable), Clyde (random).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5099040" y="6015600"/>
            <a:ext cx="2149560" cy="83304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0"/>
          <p:cNvSpPr/>
          <p:nvPr/>
        </p:nvSpPr>
        <p:spPr>
          <a:xfrm>
            <a:off x="6068160" y="6138720"/>
            <a:ext cx="212400" cy="283320"/>
          </a:xfrm>
          <a:custGeom>
            <a:avLst/>
            <a:gdLst/>
            <a:ah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1"/>
          <p:cNvSpPr/>
          <p:nvPr/>
        </p:nvSpPr>
        <p:spPr>
          <a:xfrm>
            <a:off x="5184000" y="6498720"/>
            <a:ext cx="1979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Appealed to Women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7378200" y="6015600"/>
            <a:ext cx="2149560" cy="83304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23"/>
          <p:cNvSpPr/>
          <p:nvPr/>
        </p:nvSpPr>
        <p:spPr>
          <a:xfrm>
            <a:off x="8276400" y="6138720"/>
            <a:ext cx="354600" cy="283320"/>
          </a:xfrm>
          <a:custGeom>
            <a:avLst/>
            <a:gdLst/>
            <a:ah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4"/>
          <p:cNvSpPr/>
          <p:nvPr/>
        </p:nvSpPr>
        <p:spPr>
          <a:xfrm>
            <a:off x="7463520" y="6498720"/>
            <a:ext cx="1979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Family-Friendly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2" name="Shape 25"/>
          <p:cNvSpPr/>
          <p:nvPr/>
        </p:nvSpPr>
        <p:spPr>
          <a:xfrm>
            <a:off x="9657720" y="6015600"/>
            <a:ext cx="2149560" cy="83304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26"/>
          <p:cNvSpPr/>
          <p:nvPr/>
        </p:nvSpPr>
        <p:spPr>
          <a:xfrm>
            <a:off x="10591560" y="6138720"/>
            <a:ext cx="283320" cy="283320"/>
          </a:xfrm>
          <a:custGeom>
            <a:avLst/>
            <a:gdLst/>
            <a:ah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7"/>
          <p:cNvSpPr/>
          <p:nvPr/>
        </p:nvSpPr>
        <p:spPr>
          <a:xfrm>
            <a:off x="9743040" y="6498720"/>
            <a:ext cx="1979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Global Icon</a:t>
            </a:r>
            <a:endParaRPr b="0" lang="en-HK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"/>
          <p:cNvSpPr/>
          <p:nvPr/>
        </p:nvSpPr>
        <p:spPr>
          <a:xfrm>
            <a:off x="334800" y="334800"/>
            <a:ext cx="117223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DONKEY KONG</a:t>
            </a:r>
            <a:endParaRPr b="0" lang="en-HK" sz="3170" spc="-1" strike="noStrike"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334800" y="837360"/>
            <a:ext cx="1162188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80" spc="-1" strike="noStrike">
                <a:solidFill>
                  <a:srgbClr val="f4f4f4"/>
                </a:solidFill>
                <a:latin typeface="Jersey 15"/>
                <a:ea typeface="Jersey 15"/>
              </a:rPr>
              <a:t>The Birth of a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34800" y="1205640"/>
            <a:ext cx="803160" cy="32760"/>
          </a:xfrm>
          <a:custGeom>
            <a:avLst/>
            <a:gdLst/>
            <a:ah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4"/>
          <p:cNvSpPr/>
          <p:nvPr/>
        </p:nvSpPr>
        <p:spPr>
          <a:xfrm>
            <a:off x="347400" y="1386000"/>
            <a:ext cx="5065200" cy="4320000"/>
          </a:xfrm>
          <a:custGeom>
            <a:avLst/>
            <a:gdLst/>
            <a:ah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Image 0"/>
          <p:cNvSpPr/>
          <p:nvPr/>
        </p:nvSpPr>
        <p:spPr>
          <a:xfrm>
            <a:off x="493920" y="1532520"/>
            <a:ext cx="4772160" cy="17409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368280" y="3374640"/>
            <a:ext cx="5023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9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$280M</a:t>
            </a:r>
            <a:endParaRPr b="0" lang="en-HK" sz="395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52160" y="3943800"/>
            <a:ext cx="4856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Revenue by End of 1982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60440" y="4245480"/>
            <a:ext cx="48391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Saved Nintendo of America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347400" y="5867640"/>
            <a:ext cx="5065200" cy="761400"/>
          </a:xfrm>
          <a:custGeom>
            <a:avLst/>
            <a:gdLst/>
            <a:ah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456480" y="6014520"/>
            <a:ext cx="484776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July 1981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56480" y="6248880"/>
            <a:ext cx="484776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Nintendo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5643000" y="1386000"/>
            <a:ext cx="6204240" cy="1807920"/>
          </a:xfrm>
          <a:custGeom>
            <a:avLst/>
            <a:gdLst/>
            <a:ah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2"/>
          <p:cNvSpPr/>
          <p:nvPr/>
        </p:nvSpPr>
        <p:spPr>
          <a:xfrm>
            <a:off x="5823000" y="1566000"/>
            <a:ext cx="594468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29adff"/>
                </a:solidFill>
                <a:latin typeface="Jersey 15"/>
                <a:ea typeface="Jersey 15"/>
              </a:rPr>
              <a:t>THE RESCUE MISSION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5823000" y="1934280"/>
            <a:ext cx="591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of America was drowning in unsold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Radar Scope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machines. President Hiroshi Yamauchi tasked </a:t>
            </a:r>
            <a:r>
              <a:rPr b="1" lang="en-US" sz="1180" spc="-1" strike="noStrike">
                <a:solidFill>
                  <a:srgbClr val="ffcd75"/>
                </a:solidFill>
                <a:latin typeface="Jersey 15"/>
                <a:ea typeface="Jersey 15"/>
              </a:rPr>
              <a:t>Shigeru Miyamoto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with creating a game to convert them.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5823000" y="2524680"/>
            <a:ext cx="591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had never designed a game before. His advantage? He wasn't a programmer—he focused on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story first, technology second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5643000" y="3353760"/>
            <a:ext cx="6204240" cy="2050920"/>
          </a:xfrm>
          <a:custGeom>
            <a:avLst/>
            <a:gdLst/>
            <a:ah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6"/>
          <p:cNvSpPr/>
          <p:nvPr/>
        </p:nvSpPr>
        <p:spPr>
          <a:xfrm>
            <a:off x="5823000" y="3533760"/>
            <a:ext cx="594468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ffcd75"/>
                </a:solidFill>
                <a:latin typeface="Jersey 15"/>
                <a:ea typeface="Jersey 15"/>
              </a:rPr>
              <a:t>FROM POPEYE TO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5823000" y="3902040"/>
            <a:ext cx="5919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wanted to use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Popeye characters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but couldn't secure the license. So he created original characters: a gorilla (Bluto became Donkey Kong), a hero (Popeye became Jumpman), and a damsel (Olive Oyl became Pauline).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5823000" y="4737240"/>
            <a:ext cx="591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Jumpman was renamed "Mario"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after Nintendo's Seattle landlord, Mario Segale, who demanded overdue rent.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5643000" y="5566320"/>
            <a:ext cx="6204240" cy="1062720"/>
          </a:xfrm>
          <a:custGeom>
            <a:avLst/>
            <a:gdLst/>
            <a:ah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0"/>
          <p:cNvSpPr/>
          <p:nvPr/>
        </p:nvSpPr>
        <p:spPr>
          <a:xfrm>
            <a:off x="5789520" y="5712840"/>
            <a:ext cx="599472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LEGAL VICTORY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5789520" y="6048000"/>
            <a:ext cx="597816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Universal Studios sued Nintendo claiming Donkey Kong infringed on King Kong. Nintendo won, with Universal ordered to pay </a:t>
            </a:r>
            <a:r>
              <a:rPr b="1" lang="en-US" sz="1050" spc="-1" strike="noStrike">
                <a:solidFill>
                  <a:srgbClr val="ffcd75"/>
                </a:solidFill>
                <a:latin typeface="Jersey 15"/>
                <a:ea typeface="Jersey 15"/>
              </a:rPr>
              <a:t>$1.8 million</a:t>
            </a: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 in legal fees. The attorney, John Kirby, received a sailboat named "Donkey Kong."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"/>
          <p:cNvSpPr/>
          <p:nvPr/>
        </p:nvSpPr>
        <p:spPr>
          <a:xfrm>
            <a:off x="380880" y="380880"/>
            <a:ext cx="11657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HALL OF FAME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952560"/>
            <a:ext cx="115437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Top 10 Arcade Legends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80880" y="1371600"/>
            <a:ext cx="913680" cy="3744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4"/>
          <p:cNvSpPr/>
          <p:nvPr/>
        </p:nvSpPr>
        <p:spPr>
          <a:xfrm>
            <a:off x="395280" y="157644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"/>
          <p:cNvSpPr/>
          <p:nvPr/>
        </p:nvSpPr>
        <p:spPr>
          <a:xfrm>
            <a:off x="523800" y="1762200"/>
            <a:ext cx="399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905040" y="1704960"/>
            <a:ext cx="5066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905040" y="1971720"/>
            <a:ext cx="5047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1980 • Maze-chase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95280" y="247176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9"/>
          <p:cNvSpPr/>
          <p:nvPr/>
        </p:nvSpPr>
        <p:spPr>
          <a:xfrm>
            <a:off x="523800" y="2657520"/>
            <a:ext cx="465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968400" y="260028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968400" y="2867040"/>
            <a:ext cx="498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1978 • Shooting genre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395280" y="336708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3"/>
          <p:cNvSpPr/>
          <p:nvPr/>
        </p:nvSpPr>
        <p:spPr>
          <a:xfrm>
            <a:off x="523800" y="3552840"/>
            <a:ext cx="465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968400" y="349560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968400" y="3762360"/>
            <a:ext cx="498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Platform gaming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395280" y="426240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7"/>
          <p:cNvSpPr/>
          <p:nvPr/>
        </p:nvSpPr>
        <p:spPr>
          <a:xfrm>
            <a:off x="523800" y="4448160"/>
            <a:ext cx="447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955800" y="4390920"/>
            <a:ext cx="5019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Street Fighter II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955800" y="4657680"/>
            <a:ext cx="5000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1991 • Fighting game standard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395280" y="515772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21"/>
          <p:cNvSpPr/>
          <p:nvPr/>
        </p:nvSpPr>
        <p:spPr>
          <a:xfrm>
            <a:off x="523800" y="5343480"/>
            <a:ext cx="447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955800" y="5286240"/>
            <a:ext cx="5019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955800" y="5553000"/>
            <a:ext cx="5000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1982 • Refined gameplay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6186600" y="157644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5"/>
          <p:cNvSpPr/>
          <p:nvPr/>
        </p:nvSpPr>
        <p:spPr>
          <a:xfrm>
            <a:off x="6315120" y="1762200"/>
            <a:ext cx="465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06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6759720" y="170496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Galaga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6759720" y="1971720"/>
            <a:ext cx="498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Space shooter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6" name="Shape 28"/>
          <p:cNvSpPr/>
          <p:nvPr/>
        </p:nvSpPr>
        <p:spPr>
          <a:xfrm>
            <a:off x="6186600" y="247176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9"/>
          <p:cNvSpPr/>
          <p:nvPr/>
        </p:nvSpPr>
        <p:spPr>
          <a:xfrm>
            <a:off x="6315120" y="2657520"/>
            <a:ext cx="447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07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6746760" y="2600280"/>
            <a:ext cx="5019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6746760" y="2867040"/>
            <a:ext cx="5000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Complex controls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0" name="Shape 32"/>
          <p:cNvSpPr/>
          <p:nvPr/>
        </p:nvSpPr>
        <p:spPr>
          <a:xfrm>
            <a:off x="6186600" y="336708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33"/>
          <p:cNvSpPr/>
          <p:nvPr/>
        </p:nvSpPr>
        <p:spPr>
          <a:xfrm>
            <a:off x="6315120" y="3552840"/>
            <a:ext cx="465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08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6759720" y="349560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3" name="Text 35"/>
          <p:cNvSpPr/>
          <p:nvPr/>
        </p:nvSpPr>
        <p:spPr>
          <a:xfrm>
            <a:off x="6759720" y="3762360"/>
            <a:ext cx="498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1979 • Vector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4" name="Shape 36"/>
          <p:cNvSpPr/>
          <p:nvPr/>
        </p:nvSpPr>
        <p:spPr>
          <a:xfrm>
            <a:off x="6186600" y="426240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37"/>
          <p:cNvSpPr/>
          <p:nvPr/>
        </p:nvSpPr>
        <p:spPr>
          <a:xfrm>
            <a:off x="6315120" y="4448160"/>
            <a:ext cx="465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09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6759720" y="439092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7" name="Text 39"/>
          <p:cNvSpPr/>
          <p:nvPr/>
        </p:nvSpPr>
        <p:spPr>
          <a:xfrm>
            <a:off x="6759720" y="4657680"/>
            <a:ext cx="498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Trackball innovation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8" name="Shape 40"/>
          <p:cNvSpPr/>
          <p:nvPr/>
        </p:nvSpPr>
        <p:spPr>
          <a:xfrm>
            <a:off x="6186600" y="5157720"/>
            <a:ext cx="5609520" cy="75168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41"/>
          <p:cNvSpPr/>
          <p:nvPr/>
        </p:nvSpPr>
        <p:spPr>
          <a:xfrm>
            <a:off x="6315120" y="5343480"/>
            <a:ext cx="399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10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0" name="Text 42"/>
          <p:cNvSpPr/>
          <p:nvPr/>
        </p:nvSpPr>
        <p:spPr>
          <a:xfrm>
            <a:off x="6696000" y="5286240"/>
            <a:ext cx="5066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Mortal Kombat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1" name="Text 43"/>
          <p:cNvSpPr/>
          <p:nvPr/>
        </p:nvSpPr>
        <p:spPr>
          <a:xfrm>
            <a:off x="6696000" y="5553000"/>
            <a:ext cx="5047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1992 • Digitized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2" name="Shape 44"/>
          <p:cNvSpPr/>
          <p:nvPr/>
        </p:nvSpPr>
        <p:spPr>
          <a:xfrm>
            <a:off x="395280" y="6091200"/>
            <a:ext cx="11400840" cy="599400"/>
          </a:xfrm>
          <a:custGeom>
            <a:avLst/>
            <a:gdLst/>
            <a:ah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45"/>
          <p:cNvSpPr/>
          <p:nvPr/>
        </p:nvSpPr>
        <p:spPr>
          <a:xfrm>
            <a:off x="514440" y="6257880"/>
            <a:ext cx="11162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These games generated </a:t>
            </a:r>
            <a:r>
              <a:rPr b="1" lang="en-US" sz="1500" spc="-1" strike="noStrike">
                <a:solidFill>
                  <a:srgbClr val="ffcd75"/>
                </a:solidFill>
                <a:latin typeface="Jersey 15"/>
                <a:ea typeface="Jersey 15"/>
              </a:rPr>
              <a:t>billions in revenue</a:t>
            </a: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 and established gaming archetypes that persist today</a:t>
            </a:r>
            <a:endParaRPr b="0" lang="en-HK" sz="15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"/>
          <p:cNvSpPr/>
          <p:nvPr/>
        </p:nvSpPr>
        <p:spPr>
          <a:xfrm>
            <a:off x="380880" y="1542960"/>
            <a:ext cx="1866240" cy="60876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"/>
          <p:cNvSpPr/>
          <p:nvPr/>
        </p:nvSpPr>
        <p:spPr>
          <a:xfrm>
            <a:off x="609480" y="1676520"/>
            <a:ext cx="1580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380880" y="2381400"/>
            <a:ext cx="1177236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BUSINESS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OF FUN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380880" y="4324320"/>
            <a:ext cx="1523160" cy="7560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5"/>
          <p:cNvSpPr/>
          <p:nvPr/>
        </p:nvSpPr>
        <p:spPr>
          <a:xfrm>
            <a:off x="380880" y="4629240"/>
            <a:ext cx="7457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Billions of Quarters: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An Economic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1059192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7"/>
          <p:cNvSpPr/>
          <p:nvPr/>
        </p:nvSpPr>
        <p:spPr>
          <a:xfrm>
            <a:off x="1089648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8"/>
          <p:cNvSpPr/>
          <p:nvPr/>
        </p:nvSpPr>
        <p:spPr>
          <a:xfrm>
            <a:off x="1120140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2191400" cy="6855120"/>
          </a:xfrm>
          <a:custGeom>
            <a:avLst/>
            <a:gdLst/>
            <a:ah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"/>
          <p:cNvSpPr/>
          <p:nvPr/>
        </p:nvSpPr>
        <p:spPr>
          <a:xfrm>
            <a:off x="345240" y="345240"/>
            <a:ext cx="1170792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INDUSTRY REVENUE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345240" y="863280"/>
            <a:ext cx="116042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29" spc="-1" strike="noStrike">
                <a:solidFill>
                  <a:srgbClr val="f4f4f4"/>
                </a:solidFill>
                <a:latin typeface="Jersey 15"/>
                <a:ea typeface="Jersey 15"/>
              </a:rPr>
              <a:t>Peak and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345240" y="1243440"/>
            <a:ext cx="828360" cy="33840"/>
          </a:xfrm>
          <a:custGeom>
            <a:avLst/>
            <a:gdLst/>
            <a:ah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4"/>
          <p:cNvSpPr/>
          <p:nvPr/>
        </p:nvSpPr>
        <p:spPr>
          <a:xfrm>
            <a:off x="358200" y="1429200"/>
            <a:ext cx="5620320" cy="275364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5"/>
          <p:cNvSpPr/>
          <p:nvPr/>
        </p:nvSpPr>
        <p:spPr>
          <a:xfrm>
            <a:off x="492120" y="1614600"/>
            <a:ext cx="5352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a7f070"/>
                </a:solidFill>
                <a:latin typeface="Jersey 15"/>
                <a:ea typeface="Jersey 15"/>
              </a:rPr>
              <a:t>THE PEAK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40280" y="2028960"/>
            <a:ext cx="545616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$8 Billion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505080" y="2478240"/>
            <a:ext cx="532692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1981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543960" y="2858040"/>
            <a:ext cx="5249160" cy="41364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613080" y="2961720"/>
            <a:ext cx="5110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Nearly </a:t>
            </a:r>
            <a:r>
              <a:rPr b="1" lang="en-US" sz="1090" spc="-1" strike="noStrike">
                <a:solidFill>
                  <a:srgbClr val="ffcd75"/>
                </a:solidFill>
                <a:latin typeface="Jersey 15"/>
                <a:ea typeface="Jersey 15"/>
              </a:rPr>
              <a:t>4x movie box office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($3.2B)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543960" y="3410640"/>
            <a:ext cx="2572200" cy="58644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1"/>
          <p:cNvSpPr/>
          <p:nvPr/>
        </p:nvSpPr>
        <p:spPr>
          <a:xfrm>
            <a:off x="561240" y="3479760"/>
            <a:ext cx="253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582840" y="3755880"/>
            <a:ext cx="24948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3219840" y="3410640"/>
            <a:ext cx="2572200" cy="58644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4"/>
          <p:cNvSpPr/>
          <p:nvPr/>
        </p:nvSpPr>
        <p:spPr>
          <a:xfrm>
            <a:off x="3237120" y="3479760"/>
            <a:ext cx="253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1.5M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3258360" y="3755880"/>
            <a:ext cx="24948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Machines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6210720" y="1429200"/>
            <a:ext cx="5620320" cy="275364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7"/>
          <p:cNvSpPr/>
          <p:nvPr/>
        </p:nvSpPr>
        <p:spPr>
          <a:xfrm>
            <a:off x="6344280" y="1614600"/>
            <a:ext cx="5352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THE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6292800" y="2028960"/>
            <a:ext cx="545616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$100M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6357240" y="2478240"/>
            <a:ext cx="532692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1985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6396120" y="2858040"/>
            <a:ext cx="5249160" cy="41364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1"/>
          <p:cNvSpPr/>
          <p:nvPr/>
        </p:nvSpPr>
        <p:spPr>
          <a:xfrm>
            <a:off x="6465240" y="2961720"/>
            <a:ext cx="5110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90" spc="-1" strike="noStrike">
                <a:solidFill>
                  <a:srgbClr val="ff6b6b"/>
                </a:solidFill>
                <a:latin typeface="Jersey 15"/>
                <a:ea typeface="Jersey 15"/>
              </a:rPr>
              <a:t>97% decline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in just 4 years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396120" y="3410640"/>
            <a:ext cx="2572200" cy="58644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3"/>
          <p:cNvSpPr/>
          <p:nvPr/>
        </p:nvSpPr>
        <p:spPr>
          <a:xfrm>
            <a:off x="6413400" y="3479760"/>
            <a:ext cx="253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$7B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6435000" y="3755880"/>
            <a:ext cx="24948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1982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9072000" y="3410640"/>
            <a:ext cx="2572200" cy="58644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6"/>
          <p:cNvSpPr/>
          <p:nvPr/>
        </p:nvSpPr>
        <p:spPr>
          <a:xfrm>
            <a:off x="9089280" y="3479760"/>
            <a:ext cx="253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$5B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9110880" y="3755880"/>
            <a:ext cx="24948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1983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22" name="Shape 28"/>
          <p:cNvSpPr/>
          <p:nvPr/>
        </p:nvSpPr>
        <p:spPr>
          <a:xfrm>
            <a:off x="362520" y="4351680"/>
            <a:ext cx="11466000" cy="2486160"/>
          </a:xfrm>
          <a:custGeom>
            <a:avLst/>
            <a:gdLst/>
            <a:ah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29"/>
          <p:cNvSpPr/>
          <p:nvPr/>
        </p:nvSpPr>
        <p:spPr>
          <a:xfrm>
            <a:off x="500760" y="4541760"/>
            <a:ext cx="111895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REVENUE TRAJECTORY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4" name="Image 0"/>
          <p:cNvSpPr/>
          <p:nvPr/>
        </p:nvSpPr>
        <p:spPr>
          <a:xfrm>
            <a:off x="552600" y="4921560"/>
            <a:ext cx="9946440" cy="17262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"/>
          <p:cNvSpPr/>
          <p:nvPr/>
        </p:nvSpPr>
        <p:spPr>
          <a:xfrm>
            <a:off x="380880" y="380880"/>
            <a:ext cx="11657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POWER PLAYERS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380880" y="952560"/>
            <a:ext cx="115437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That Ruled the Arcades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80880" y="1371600"/>
            <a:ext cx="913680" cy="3744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95280" y="1576440"/>
            <a:ext cx="3675960" cy="235188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564480" y="1752480"/>
            <a:ext cx="356400" cy="285120"/>
          </a:xfrm>
          <a:custGeom>
            <a:avLst/>
            <a:gdLst/>
            <a:ah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1033560" y="1743120"/>
            <a:ext cx="551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ATARI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561960" y="2200320"/>
            <a:ext cx="7020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714240" y="246708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714240" y="277164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714240" y="307656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Tempest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561960" y="3419640"/>
            <a:ext cx="3342600" cy="34236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604800" y="3495600"/>
            <a:ext cx="3256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Pioneered vector graphics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4255920" y="1576440"/>
            <a:ext cx="3675960" cy="235188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14"/>
          <p:cNvSpPr/>
          <p:nvPr/>
        </p:nvSpPr>
        <p:spPr>
          <a:xfrm>
            <a:off x="4496400" y="1752480"/>
            <a:ext cx="213480" cy="285120"/>
          </a:xfrm>
          <a:custGeom>
            <a:avLst/>
            <a:gdLst/>
            <a:ah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15"/>
          <p:cNvSpPr/>
          <p:nvPr/>
        </p:nvSpPr>
        <p:spPr>
          <a:xfrm>
            <a:off x="4894200" y="1743120"/>
            <a:ext cx="675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NAMCO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4422600" y="2200320"/>
            <a:ext cx="7020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4575240" y="246708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(1980)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4575240" y="277164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4575240" y="307656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Dig Dug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5" name="Shape 20"/>
          <p:cNvSpPr/>
          <p:nvPr/>
        </p:nvSpPr>
        <p:spPr>
          <a:xfrm>
            <a:off x="4422600" y="3419640"/>
            <a:ext cx="3342600" cy="34236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1"/>
          <p:cNvSpPr/>
          <p:nvPr/>
        </p:nvSpPr>
        <p:spPr>
          <a:xfrm>
            <a:off x="4465440" y="3495600"/>
            <a:ext cx="3256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gaming icons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47" name="Shape 22"/>
          <p:cNvSpPr/>
          <p:nvPr/>
        </p:nvSpPr>
        <p:spPr>
          <a:xfrm>
            <a:off x="8116920" y="1576440"/>
            <a:ext cx="3675960" cy="235188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8321760" y="1752480"/>
            <a:ext cx="285120" cy="28512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8755200" y="1743120"/>
            <a:ext cx="542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TAITO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8283600" y="2200320"/>
            <a:ext cx="7020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8435880" y="246708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 (1978)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2" name="Text 27"/>
          <p:cNvSpPr/>
          <p:nvPr/>
        </p:nvSpPr>
        <p:spPr>
          <a:xfrm>
            <a:off x="8435880" y="277164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Bubble Bobble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3" name="Text 28"/>
          <p:cNvSpPr/>
          <p:nvPr/>
        </p:nvSpPr>
        <p:spPr>
          <a:xfrm>
            <a:off x="8435880" y="307656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Arkanoid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4" name="Shape 29"/>
          <p:cNvSpPr/>
          <p:nvPr/>
        </p:nvSpPr>
        <p:spPr>
          <a:xfrm>
            <a:off x="8283600" y="3419640"/>
            <a:ext cx="3342600" cy="34236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8326440" y="3495600"/>
            <a:ext cx="3256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Started the golden 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56" name="Shape 31"/>
          <p:cNvSpPr/>
          <p:nvPr/>
        </p:nvSpPr>
        <p:spPr>
          <a:xfrm>
            <a:off x="395280" y="4110120"/>
            <a:ext cx="3675960" cy="235188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32"/>
          <p:cNvSpPr/>
          <p:nvPr/>
        </p:nvSpPr>
        <p:spPr>
          <a:xfrm>
            <a:off x="600120" y="4286160"/>
            <a:ext cx="285120" cy="28512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33"/>
          <p:cNvSpPr/>
          <p:nvPr/>
        </p:nvSpPr>
        <p:spPr>
          <a:xfrm>
            <a:off x="1033560" y="4276800"/>
            <a:ext cx="8755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NINTENDO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9" name="Text 34"/>
          <p:cNvSpPr/>
          <p:nvPr/>
        </p:nvSpPr>
        <p:spPr>
          <a:xfrm>
            <a:off x="561960" y="4734000"/>
            <a:ext cx="7020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0" name="Text 35"/>
          <p:cNvSpPr/>
          <p:nvPr/>
        </p:nvSpPr>
        <p:spPr>
          <a:xfrm>
            <a:off x="714240" y="500076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1" name="Text 36"/>
          <p:cNvSpPr/>
          <p:nvPr/>
        </p:nvSpPr>
        <p:spPr>
          <a:xfrm>
            <a:off x="714240" y="530532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Mario Bros. (1983)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714240" y="561024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Popeye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3" name="Shape 38"/>
          <p:cNvSpPr/>
          <p:nvPr/>
        </p:nvSpPr>
        <p:spPr>
          <a:xfrm>
            <a:off x="561960" y="5952960"/>
            <a:ext cx="3342600" cy="34236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39"/>
          <p:cNvSpPr/>
          <p:nvPr/>
        </p:nvSpPr>
        <p:spPr>
          <a:xfrm>
            <a:off x="604800" y="6029280"/>
            <a:ext cx="3256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Mario universe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65" name="Shape 40"/>
          <p:cNvSpPr/>
          <p:nvPr/>
        </p:nvSpPr>
        <p:spPr>
          <a:xfrm>
            <a:off x="4255920" y="4110120"/>
            <a:ext cx="3675960" cy="235188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41"/>
          <p:cNvSpPr/>
          <p:nvPr/>
        </p:nvSpPr>
        <p:spPr>
          <a:xfrm>
            <a:off x="4443120" y="4286160"/>
            <a:ext cx="320760" cy="285120"/>
          </a:xfrm>
          <a:custGeom>
            <a:avLst/>
            <a:gdLst/>
            <a:ah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42"/>
          <p:cNvSpPr/>
          <p:nvPr/>
        </p:nvSpPr>
        <p:spPr>
          <a:xfrm>
            <a:off x="4894200" y="4276800"/>
            <a:ext cx="7614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MIDWAY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68" name="Text 43"/>
          <p:cNvSpPr/>
          <p:nvPr/>
        </p:nvSpPr>
        <p:spPr>
          <a:xfrm>
            <a:off x="4422600" y="4734000"/>
            <a:ext cx="7020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9" name="Text 44"/>
          <p:cNvSpPr/>
          <p:nvPr/>
        </p:nvSpPr>
        <p:spPr>
          <a:xfrm>
            <a:off x="4575240" y="500076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0" name="Text 45"/>
          <p:cNvSpPr/>
          <p:nvPr/>
        </p:nvSpPr>
        <p:spPr>
          <a:xfrm>
            <a:off x="4575240" y="530532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1" name="Text 46"/>
          <p:cNvSpPr/>
          <p:nvPr/>
        </p:nvSpPr>
        <p:spPr>
          <a:xfrm>
            <a:off x="4575240" y="561024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2" name="Shape 47"/>
          <p:cNvSpPr/>
          <p:nvPr/>
        </p:nvSpPr>
        <p:spPr>
          <a:xfrm>
            <a:off x="4422600" y="5952960"/>
            <a:ext cx="3342600" cy="34236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48"/>
          <p:cNvSpPr/>
          <p:nvPr/>
        </p:nvSpPr>
        <p:spPr>
          <a:xfrm>
            <a:off x="4465440" y="6029280"/>
            <a:ext cx="3256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Major US distributor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74" name="Shape 49"/>
          <p:cNvSpPr/>
          <p:nvPr/>
        </p:nvSpPr>
        <p:spPr>
          <a:xfrm>
            <a:off x="8116920" y="4110120"/>
            <a:ext cx="3675960" cy="235188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50"/>
          <p:cNvSpPr/>
          <p:nvPr/>
        </p:nvSpPr>
        <p:spPr>
          <a:xfrm>
            <a:off x="8321760" y="4286160"/>
            <a:ext cx="285120" cy="28512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51"/>
          <p:cNvSpPr/>
          <p:nvPr/>
        </p:nvSpPr>
        <p:spPr>
          <a:xfrm>
            <a:off x="8755200" y="4276800"/>
            <a:ext cx="866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WILLIAMS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8283600" y="4734000"/>
            <a:ext cx="7020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8" name="Text 53"/>
          <p:cNvSpPr/>
          <p:nvPr/>
        </p:nvSpPr>
        <p:spPr>
          <a:xfrm>
            <a:off x="8435880" y="500076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9" name="Text 54"/>
          <p:cNvSpPr/>
          <p:nvPr/>
        </p:nvSpPr>
        <p:spPr>
          <a:xfrm>
            <a:off x="8435880" y="530532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Joust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0" name="Text 55"/>
          <p:cNvSpPr/>
          <p:nvPr/>
        </p:nvSpPr>
        <p:spPr>
          <a:xfrm>
            <a:off x="8435880" y="5610240"/>
            <a:ext cx="326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Robotron 2084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1" name="Shape 56"/>
          <p:cNvSpPr/>
          <p:nvPr/>
        </p:nvSpPr>
        <p:spPr>
          <a:xfrm>
            <a:off x="8283600" y="5952960"/>
            <a:ext cx="3342600" cy="34236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57"/>
          <p:cNvSpPr/>
          <p:nvPr/>
        </p:nvSpPr>
        <p:spPr>
          <a:xfrm>
            <a:off x="8326440" y="6029280"/>
            <a:ext cx="3256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Innovative gameplay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1"/>
          <p:cNvSpPr/>
          <p:nvPr/>
        </p:nvSpPr>
        <p:spPr>
          <a:xfrm>
            <a:off x="380880" y="1542960"/>
            <a:ext cx="1856520" cy="60876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"/>
          <p:cNvSpPr/>
          <p:nvPr/>
        </p:nvSpPr>
        <p:spPr>
          <a:xfrm>
            <a:off x="609480" y="1676520"/>
            <a:ext cx="1567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380880" y="2381400"/>
            <a:ext cx="1177236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CULTURAL IMPACT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&amp; LEGACY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380880" y="4324320"/>
            <a:ext cx="1523160" cy="7560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5"/>
          <p:cNvSpPr/>
          <p:nvPr/>
        </p:nvSpPr>
        <p:spPr>
          <a:xfrm>
            <a:off x="380880" y="4629240"/>
            <a:ext cx="7457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From Niche Hobby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to Global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90" name="Shape 6"/>
          <p:cNvSpPr/>
          <p:nvPr/>
        </p:nvSpPr>
        <p:spPr>
          <a:xfrm>
            <a:off x="1059192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7"/>
          <p:cNvSpPr/>
          <p:nvPr/>
        </p:nvSpPr>
        <p:spPr>
          <a:xfrm>
            <a:off x="1089648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Shape 8"/>
          <p:cNvSpPr/>
          <p:nvPr/>
        </p:nvSpPr>
        <p:spPr>
          <a:xfrm>
            <a:off x="1120140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2191400" cy="6855120"/>
          </a:xfrm>
          <a:custGeom>
            <a:avLst/>
            <a:gdLst/>
            <a:ah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"/>
          <p:cNvSpPr/>
          <p:nvPr/>
        </p:nvSpPr>
        <p:spPr>
          <a:xfrm>
            <a:off x="353520" y="353520"/>
            <a:ext cx="11696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4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ARCADES AS SOCIAL HUBS</a:t>
            </a:r>
            <a:endParaRPr b="0" lang="en-HK" sz="3340" spc="-1" strike="noStrike"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353520" y="883440"/>
            <a:ext cx="115905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0" spc="-1" strike="noStrike">
                <a:solidFill>
                  <a:srgbClr val="f4f4f4"/>
                </a:solidFill>
                <a:latin typeface="Jersey 15"/>
                <a:ea typeface="Jersey 15"/>
              </a:rPr>
              <a:t>Where Youth Culture Thrived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353520" y="1272240"/>
            <a:ext cx="847440" cy="34560"/>
          </a:xfrm>
          <a:custGeom>
            <a:avLst/>
            <a:gdLst/>
            <a:ah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4"/>
          <p:cNvSpPr/>
          <p:nvPr/>
        </p:nvSpPr>
        <p:spPr>
          <a:xfrm>
            <a:off x="366480" y="1462320"/>
            <a:ext cx="3709800" cy="211068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5"/>
          <p:cNvSpPr/>
          <p:nvPr/>
        </p:nvSpPr>
        <p:spPr>
          <a:xfrm>
            <a:off x="1954800" y="1652040"/>
            <a:ext cx="529200" cy="423360"/>
          </a:xfrm>
          <a:custGeom>
            <a:avLst/>
            <a:gdLst/>
            <a:ah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6"/>
          <p:cNvSpPr/>
          <p:nvPr/>
        </p:nvSpPr>
        <p:spPr>
          <a:xfrm>
            <a:off x="503640" y="2217600"/>
            <a:ext cx="34358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GATHERING PLACES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516960" y="2606400"/>
            <a:ext cx="340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Arcades became the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malls of the 80s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—where teenagers hung out, made friends, and built communities around shared interests.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4240800" y="1462320"/>
            <a:ext cx="3709800" cy="211068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9"/>
          <p:cNvSpPr/>
          <p:nvPr/>
        </p:nvSpPr>
        <p:spPr>
          <a:xfrm>
            <a:off x="5882040" y="1652040"/>
            <a:ext cx="423360" cy="42336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10"/>
          <p:cNvSpPr/>
          <p:nvPr/>
        </p:nvSpPr>
        <p:spPr>
          <a:xfrm>
            <a:off x="4377600" y="2217600"/>
            <a:ext cx="34358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HIGH-SCORE WARS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4390920" y="2606400"/>
            <a:ext cx="340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Competing for top scores created </a:t>
            </a:r>
            <a:r>
              <a:rPr b="1" lang="en-US" sz="1250" spc="-1" strike="noStrike">
                <a:solidFill>
                  <a:srgbClr val="ffcd75"/>
                </a:solidFill>
                <a:latin typeface="Jersey 15"/>
                <a:ea typeface="Jersey 15"/>
              </a:rPr>
              <a:t>social currency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. Being the best at Pac-Man or Donkey Kong brought status and respect.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5" name="Shape 12"/>
          <p:cNvSpPr/>
          <p:nvPr/>
        </p:nvSpPr>
        <p:spPr>
          <a:xfrm>
            <a:off x="8115120" y="1462320"/>
            <a:ext cx="3709800" cy="211068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13"/>
          <p:cNvSpPr/>
          <p:nvPr/>
        </p:nvSpPr>
        <p:spPr>
          <a:xfrm>
            <a:off x="9756000" y="1652040"/>
            <a:ext cx="423360" cy="42336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14"/>
          <p:cNvSpPr/>
          <p:nvPr/>
        </p:nvSpPr>
        <p:spPr>
          <a:xfrm>
            <a:off x="8251920" y="2217600"/>
            <a:ext cx="34358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A SAFE HAVEN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8265240" y="2606400"/>
            <a:ext cx="34095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For many teens, arcades offered a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refuge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—a place to escape, belong, and connect with like-minded peers.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366480" y="3739320"/>
            <a:ext cx="5609520" cy="310032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17"/>
          <p:cNvSpPr/>
          <p:nvPr/>
        </p:nvSpPr>
        <p:spPr>
          <a:xfrm>
            <a:off x="503640" y="3929400"/>
            <a:ext cx="53355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ARCADE EXPLOSION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556560" y="4353480"/>
            <a:ext cx="5229360" cy="49392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19"/>
          <p:cNvSpPr/>
          <p:nvPr/>
        </p:nvSpPr>
        <p:spPr>
          <a:xfrm>
            <a:off x="662760" y="4476960"/>
            <a:ext cx="1625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(1980)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5293800" y="4459320"/>
            <a:ext cx="49392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4" name="Shape 21"/>
          <p:cNvSpPr/>
          <p:nvPr/>
        </p:nvSpPr>
        <p:spPr>
          <a:xfrm>
            <a:off x="556560" y="4953960"/>
            <a:ext cx="5229360" cy="49392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2"/>
          <p:cNvSpPr/>
          <p:nvPr/>
        </p:nvSpPr>
        <p:spPr>
          <a:xfrm>
            <a:off x="662760" y="5077800"/>
            <a:ext cx="1625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5136840" y="5060160"/>
            <a:ext cx="644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10,000+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556560" y="5554800"/>
            <a:ext cx="5229360" cy="49392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25"/>
          <p:cNvSpPr/>
          <p:nvPr/>
        </p:nvSpPr>
        <p:spPr>
          <a:xfrm>
            <a:off x="662760" y="5678640"/>
            <a:ext cx="11566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5199840" y="5661000"/>
            <a:ext cx="58248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556560" y="6155640"/>
            <a:ext cx="5229360" cy="49392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28"/>
          <p:cNvSpPr/>
          <p:nvPr/>
        </p:nvSpPr>
        <p:spPr>
          <a:xfrm>
            <a:off x="662760" y="6279480"/>
            <a:ext cx="141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Active Machines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2" name="Text 29"/>
          <p:cNvSpPr/>
          <p:nvPr/>
        </p:nvSpPr>
        <p:spPr>
          <a:xfrm>
            <a:off x="4971960" y="6261480"/>
            <a:ext cx="8121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1.5 Million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3" name="Shape 30"/>
          <p:cNvSpPr/>
          <p:nvPr/>
        </p:nvSpPr>
        <p:spPr>
          <a:xfrm>
            <a:off x="6213240" y="3739320"/>
            <a:ext cx="5609520" cy="310032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31"/>
          <p:cNvSpPr/>
          <p:nvPr/>
        </p:nvSpPr>
        <p:spPr>
          <a:xfrm>
            <a:off x="6350040" y="3929400"/>
            <a:ext cx="53355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SOCIAL DYNAMICS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5" name="Shape 32"/>
          <p:cNvSpPr/>
          <p:nvPr/>
        </p:nvSpPr>
        <p:spPr>
          <a:xfrm>
            <a:off x="6403320" y="4353480"/>
            <a:ext cx="5229360" cy="45864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33"/>
          <p:cNvSpPr/>
          <p:nvPr/>
        </p:nvSpPr>
        <p:spPr>
          <a:xfrm>
            <a:off x="6520320" y="4494600"/>
            <a:ext cx="198000" cy="17604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34"/>
          <p:cNvSpPr/>
          <p:nvPr/>
        </p:nvSpPr>
        <p:spPr>
          <a:xfrm>
            <a:off x="6836040" y="4459320"/>
            <a:ext cx="2419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Crowds gathered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around skilled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8" name="Shape 35"/>
          <p:cNvSpPr/>
          <p:nvPr/>
        </p:nvSpPr>
        <p:spPr>
          <a:xfrm>
            <a:off x="6403320" y="4918680"/>
            <a:ext cx="5229360" cy="45864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6"/>
          <p:cNvSpPr/>
          <p:nvPr/>
        </p:nvSpPr>
        <p:spPr>
          <a:xfrm>
            <a:off x="6520320" y="5060160"/>
            <a:ext cx="198000" cy="17604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37"/>
          <p:cNvSpPr/>
          <p:nvPr/>
        </p:nvSpPr>
        <p:spPr>
          <a:xfrm>
            <a:off x="6836040" y="5024880"/>
            <a:ext cx="2057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Strategies shared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among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1" name="Shape 38"/>
          <p:cNvSpPr/>
          <p:nvPr/>
        </p:nvSpPr>
        <p:spPr>
          <a:xfrm>
            <a:off x="6403320" y="5484240"/>
            <a:ext cx="5229360" cy="45864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Shape 39"/>
          <p:cNvSpPr/>
          <p:nvPr/>
        </p:nvSpPr>
        <p:spPr>
          <a:xfrm>
            <a:off x="6520320" y="5625720"/>
            <a:ext cx="198000" cy="17604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40"/>
          <p:cNvSpPr/>
          <p:nvPr/>
        </p:nvSpPr>
        <p:spPr>
          <a:xfrm>
            <a:off x="6836040" y="5590080"/>
            <a:ext cx="24552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Friendships formed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over shared passion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4" name="Shape 41"/>
          <p:cNvSpPr/>
          <p:nvPr/>
        </p:nvSpPr>
        <p:spPr>
          <a:xfrm>
            <a:off x="6403320" y="6049440"/>
            <a:ext cx="5229360" cy="45864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42"/>
          <p:cNvSpPr/>
          <p:nvPr/>
        </p:nvSpPr>
        <p:spPr>
          <a:xfrm>
            <a:off x="6542280" y="6190920"/>
            <a:ext cx="153720" cy="176040"/>
          </a:xfrm>
          <a:custGeom>
            <a:avLst/>
            <a:gdLst/>
            <a:ah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Text 43"/>
          <p:cNvSpPr/>
          <p:nvPr/>
        </p:nvSpPr>
        <p:spPr>
          <a:xfrm>
            <a:off x="6836040" y="6155640"/>
            <a:ext cx="2296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Rivalries developed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between regulars</a:t>
            </a:r>
            <a:endParaRPr b="0" lang="en-HK" sz="125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"/>
          <p:cNvSpPr/>
          <p:nvPr/>
        </p:nvSpPr>
        <p:spPr>
          <a:xfrm>
            <a:off x="354240" y="354240"/>
            <a:ext cx="116949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POP CULTURE INVASION</a:t>
            </a:r>
            <a:endParaRPr b="0" lang="en-HK" sz="3350" spc="-1" strike="noStrike"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354240" y="885960"/>
            <a:ext cx="11588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When Games Became Icons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354240" y="1275840"/>
            <a:ext cx="849960" cy="34560"/>
          </a:xfrm>
          <a:custGeom>
            <a:avLst/>
            <a:gdLst/>
            <a:ah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4"/>
          <p:cNvSpPr/>
          <p:nvPr/>
        </p:nvSpPr>
        <p:spPr>
          <a:xfrm>
            <a:off x="367560" y="1466280"/>
            <a:ext cx="5608080" cy="3180240"/>
          </a:xfrm>
          <a:custGeom>
            <a:avLst/>
            <a:gdLst/>
            <a:ah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Shape 5"/>
          <p:cNvSpPr/>
          <p:nvPr/>
        </p:nvSpPr>
        <p:spPr>
          <a:xfrm>
            <a:off x="618120" y="1657080"/>
            <a:ext cx="278280" cy="31824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6"/>
          <p:cNvSpPr/>
          <p:nvPr/>
        </p:nvSpPr>
        <p:spPr>
          <a:xfrm>
            <a:off x="1063080" y="1657080"/>
            <a:ext cx="1213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90" spc="-1" strike="noStrike">
                <a:solidFill>
                  <a:srgbClr val="ffcd75"/>
                </a:solidFill>
                <a:latin typeface="Jersey 15"/>
                <a:ea typeface="Jersey 15"/>
              </a:rPr>
              <a:t>HOLLYWOOD</a:t>
            </a:r>
            <a:endParaRPr b="0" lang="en-HK" sz="2090" spc="-1" strike="noStrike"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558360" y="2117520"/>
            <a:ext cx="5226840" cy="70812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8"/>
          <p:cNvSpPr/>
          <p:nvPr/>
        </p:nvSpPr>
        <p:spPr>
          <a:xfrm>
            <a:off x="664560" y="2224080"/>
            <a:ext cx="5094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TRON (1982)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6" name="Text 9"/>
          <p:cNvSpPr/>
          <p:nvPr/>
        </p:nvSpPr>
        <p:spPr>
          <a:xfrm>
            <a:off x="664560" y="2507400"/>
            <a:ext cx="50853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First movie set inside a video game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558360" y="2932920"/>
            <a:ext cx="5226840" cy="70812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1"/>
          <p:cNvSpPr/>
          <p:nvPr/>
        </p:nvSpPr>
        <p:spPr>
          <a:xfrm>
            <a:off x="664560" y="3039120"/>
            <a:ext cx="5094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The Last Starfighter (1984)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664560" y="3322800"/>
            <a:ext cx="50853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Arcade game as gateway to space adventure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558360" y="3747960"/>
            <a:ext cx="5226840" cy="70812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Text 14"/>
          <p:cNvSpPr/>
          <p:nvPr/>
        </p:nvSpPr>
        <p:spPr>
          <a:xfrm>
            <a:off x="664560" y="3854160"/>
            <a:ext cx="5094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WarGames (1983)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664560" y="4137840"/>
            <a:ext cx="50853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Gaming culture meets Cold War tension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6215760" y="1466280"/>
            <a:ext cx="5608080" cy="129276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Shape 17"/>
          <p:cNvSpPr/>
          <p:nvPr/>
        </p:nvSpPr>
        <p:spPr>
          <a:xfrm>
            <a:off x="6441480" y="1665720"/>
            <a:ext cx="264960" cy="264960"/>
          </a:xfrm>
          <a:custGeom>
            <a:avLst/>
            <a:gdLst/>
            <a:ah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18"/>
          <p:cNvSpPr/>
          <p:nvPr/>
        </p:nvSpPr>
        <p:spPr>
          <a:xfrm>
            <a:off x="6844680" y="1657080"/>
            <a:ext cx="9828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MUSIC &amp; TV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6406200" y="2046600"/>
            <a:ext cx="530676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Music videos featured arcade imagery. TV shows like </a:t>
            </a:r>
            <a:r>
              <a:rPr b="1" lang="en-US" sz="1260" spc="-1" strike="noStrike">
                <a:solidFill>
                  <a:srgbClr val="ffcd75"/>
                </a:solidFill>
                <a:latin typeface="Jersey 15"/>
                <a:ea typeface="Jersey 15"/>
              </a:rPr>
              <a:t>"Starcade"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(1982-84) made gaming a spectator sport. Pac-Man even got his own </a:t>
            </a:r>
            <a:r>
              <a:rPr b="1" lang="en-US" sz="1260" spc="-1" strike="noStrike">
                <a:solidFill>
                  <a:srgbClr val="29adff"/>
                </a:solidFill>
                <a:latin typeface="Jersey 15"/>
                <a:ea typeface="Jersey 15"/>
              </a:rPr>
              <a:t>Saturday morning cartoon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(1982-83).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7" name="Shape 20"/>
          <p:cNvSpPr/>
          <p:nvPr/>
        </p:nvSpPr>
        <p:spPr>
          <a:xfrm>
            <a:off x="6215760" y="2923920"/>
            <a:ext cx="5608080" cy="129276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21"/>
          <p:cNvSpPr/>
          <p:nvPr/>
        </p:nvSpPr>
        <p:spPr>
          <a:xfrm>
            <a:off x="6408360" y="3123360"/>
            <a:ext cx="331560" cy="264960"/>
          </a:xfrm>
          <a:custGeom>
            <a:avLst/>
            <a:gdLst/>
            <a:ah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22"/>
          <p:cNvSpPr/>
          <p:nvPr/>
        </p:nvSpPr>
        <p:spPr>
          <a:xfrm>
            <a:off x="6844680" y="3114360"/>
            <a:ext cx="708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29adff"/>
                </a:solidFill>
                <a:latin typeface="Jersey 15"/>
                <a:ea typeface="Jersey 15"/>
              </a:rPr>
              <a:t>FASHION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406200" y="3504240"/>
            <a:ext cx="530676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Bright, neon colors from game screens influenced 80s fashion. Arcade-inspired patterns appeared on clothing, creating a </a:t>
            </a:r>
            <a:r>
              <a:rPr b="1" lang="en-US" sz="1260" spc="-1" strike="noStrike">
                <a:solidFill>
                  <a:srgbClr val="a7f070"/>
                </a:solidFill>
                <a:latin typeface="Jersey 15"/>
                <a:ea typeface="Jersey 15"/>
              </a:rPr>
              <a:t>distinctive aesthetic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of the era.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61" name="Shape 24"/>
          <p:cNvSpPr/>
          <p:nvPr/>
        </p:nvSpPr>
        <p:spPr>
          <a:xfrm>
            <a:off x="367560" y="4815720"/>
            <a:ext cx="2737080" cy="126648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25"/>
          <p:cNvSpPr/>
          <p:nvPr/>
        </p:nvSpPr>
        <p:spPr>
          <a:xfrm>
            <a:off x="1577160" y="4970880"/>
            <a:ext cx="318240" cy="31824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26"/>
          <p:cNvSpPr/>
          <p:nvPr/>
        </p:nvSpPr>
        <p:spPr>
          <a:xfrm>
            <a:off x="478440" y="5396040"/>
            <a:ext cx="2515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MERCHANDISE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4" name="Text 27"/>
          <p:cNvSpPr/>
          <p:nvPr/>
        </p:nvSpPr>
        <p:spPr>
          <a:xfrm>
            <a:off x="487440" y="5715000"/>
            <a:ext cx="2498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Lunch boxes, toys, bedsheets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5" name="Shape 28"/>
          <p:cNvSpPr/>
          <p:nvPr/>
        </p:nvSpPr>
        <p:spPr>
          <a:xfrm>
            <a:off x="3273840" y="4815720"/>
            <a:ext cx="2737080" cy="126648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29"/>
          <p:cNvSpPr/>
          <p:nvPr/>
        </p:nvSpPr>
        <p:spPr>
          <a:xfrm>
            <a:off x="4503240" y="4970880"/>
            <a:ext cx="278280" cy="31824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0"/>
          <p:cNvSpPr/>
          <p:nvPr/>
        </p:nvSpPr>
        <p:spPr>
          <a:xfrm>
            <a:off x="3384720" y="5396040"/>
            <a:ext cx="2515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COMICS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8" name="Text 31"/>
          <p:cNvSpPr/>
          <p:nvPr/>
        </p:nvSpPr>
        <p:spPr>
          <a:xfrm>
            <a:off x="3393720" y="5715000"/>
            <a:ext cx="2498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Game-based comic books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9" name="Shape 32"/>
          <p:cNvSpPr/>
          <p:nvPr/>
        </p:nvSpPr>
        <p:spPr>
          <a:xfrm>
            <a:off x="6180120" y="4815720"/>
            <a:ext cx="2737080" cy="126648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Shape 33"/>
          <p:cNvSpPr/>
          <p:nvPr/>
        </p:nvSpPr>
        <p:spPr>
          <a:xfrm>
            <a:off x="7389720" y="4970880"/>
            <a:ext cx="318240" cy="31824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34"/>
          <p:cNvSpPr/>
          <p:nvPr/>
        </p:nvSpPr>
        <p:spPr>
          <a:xfrm>
            <a:off x="6291000" y="5396040"/>
            <a:ext cx="2515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CEREAL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2" name="Text 35"/>
          <p:cNvSpPr/>
          <p:nvPr/>
        </p:nvSpPr>
        <p:spPr>
          <a:xfrm>
            <a:off x="6299640" y="5715000"/>
            <a:ext cx="2498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Pac-Man breakfast cereal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3" name="Shape 36"/>
          <p:cNvSpPr/>
          <p:nvPr/>
        </p:nvSpPr>
        <p:spPr>
          <a:xfrm>
            <a:off x="9086400" y="4815720"/>
            <a:ext cx="2737080" cy="126648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37"/>
          <p:cNvSpPr/>
          <p:nvPr/>
        </p:nvSpPr>
        <p:spPr>
          <a:xfrm>
            <a:off x="10296000" y="4970880"/>
            <a:ext cx="318240" cy="31824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38"/>
          <p:cNvSpPr/>
          <p:nvPr/>
        </p:nvSpPr>
        <p:spPr>
          <a:xfrm>
            <a:off x="9197280" y="5396040"/>
            <a:ext cx="2515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MEDIA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6" name="Text 39"/>
          <p:cNvSpPr/>
          <p:nvPr/>
        </p:nvSpPr>
        <p:spPr>
          <a:xfrm>
            <a:off x="9205920" y="5715000"/>
            <a:ext cx="2498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Newspaper coverage, strategy guides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7" name="Shape 40"/>
          <p:cNvSpPr/>
          <p:nvPr/>
        </p:nvSpPr>
        <p:spPr>
          <a:xfrm>
            <a:off x="367560" y="6251040"/>
            <a:ext cx="11455920" cy="592920"/>
          </a:xfrm>
          <a:custGeom>
            <a:avLst/>
            <a:gdLst/>
            <a:ah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41"/>
          <p:cNvSpPr/>
          <p:nvPr/>
        </p:nvSpPr>
        <p:spPr>
          <a:xfrm>
            <a:off x="469440" y="6406200"/>
            <a:ext cx="11252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Games became </a:t>
            </a:r>
            <a:r>
              <a:rPr b="1" lang="en-US" sz="1679" spc="-1" strike="noStrike">
                <a:solidFill>
                  <a:srgbClr val="ffcd75"/>
                </a:solidFill>
                <a:latin typeface="Jersey 15"/>
                <a:ea typeface="Jersey 15"/>
              </a:rPr>
              <a:t>cultural touchstones</a:t>
            </a: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 recognized worldwide—transcending entertainment to become </a:t>
            </a: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symbols of a generation</a:t>
            </a:r>
            <a:endParaRPr b="0" lang="en-HK" sz="1679" spc="-1" strike="noStrike"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1"/>
          <p:cNvSpPr/>
          <p:nvPr/>
        </p:nvSpPr>
        <p:spPr>
          <a:xfrm>
            <a:off x="380880" y="1714680"/>
            <a:ext cx="1856520" cy="60876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2"/>
          <p:cNvSpPr/>
          <p:nvPr/>
        </p:nvSpPr>
        <p:spPr>
          <a:xfrm>
            <a:off x="609480" y="1847880"/>
            <a:ext cx="1567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380880" y="2552760"/>
            <a:ext cx="1177236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DECLINE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AND BEYOND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380880" y="4495680"/>
            <a:ext cx="1523160" cy="7560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 5"/>
          <p:cNvSpPr/>
          <p:nvPr/>
        </p:nvSpPr>
        <p:spPr>
          <a:xfrm>
            <a:off x="380880" y="4800600"/>
            <a:ext cx="7457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Crash That 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1059192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Shape 7"/>
          <p:cNvSpPr/>
          <p:nvPr/>
        </p:nvSpPr>
        <p:spPr>
          <a:xfrm>
            <a:off x="1089648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Shape 8"/>
          <p:cNvSpPr/>
          <p:nvPr/>
        </p:nvSpPr>
        <p:spPr>
          <a:xfrm>
            <a:off x="11201400" y="58672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12191400" cy="6856200"/>
          </a:xfrm>
          <a:custGeom>
            <a:avLst/>
            <a:gdLst/>
            <a:ah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"/>
          <p:cNvSpPr/>
          <p:nvPr/>
        </p:nvSpPr>
        <p:spPr>
          <a:xfrm>
            <a:off x="327240" y="327240"/>
            <a:ext cx="11733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VIDEO GAME CRASH OF 1983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327240" y="818280"/>
            <a:ext cx="116348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40" spc="-1" strike="noStrike">
                <a:solidFill>
                  <a:srgbClr val="f4f4f4"/>
                </a:solidFill>
                <a:latin typeface="Jersey 15"/>
                <a:ea typeface="Jersey 15"/>
              </a:rPr>
              <a:t>When the Industry Collapsed</a:t>
            </a:r>
            <a:endParaRPr b="0" lang="en-HK" sz="1540" spc="-1" strike="noStrike"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327240" y="1178280"/>
            <a:ext cx="784800" cy="32040"/>
          </a:xfrm>
          <a:custGeom>
            <a:avLst/>
            <a:gdLst/>
            <a:ah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4"/>
          <p:cNvSpPr/>
          <p:nvPr/>
        </p:nvSpPr>
        <p:spPr>
          <a:xfrm>
            <a:off x="339480" y="1354320"/>
            <a:ext cx="5645160" cy="349308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5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5"/>
          <p:cNvSpPr/>
          <p:nvPr/>
        </p:nvSpPr>
        <p:spPr>
          <a:xfrm>
            <a:off x="453960" y="1530000"/>
            <a:ext cx="541620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6b6b"/>
                </a:solidFill>
                <a:latin typeface="Jersey 15"/>
                <a:ea typeface="Jersey 15"/>
              </a:rPr>
              <a:t>THE PERFECT STORM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515520" y="1955520"/>
            <a:ext cx="5293440" cy="62100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Shape 7"/>
          <p:cNvSpPr/>
          <p:nvPr/>
        </p:nvSpPr>
        <p:spPr>
          <a:xfrm>
            <a:off x="634320" y="2086560"/>
            <a:ext cx="163080" cy="16308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8"/>
          <p:cNvSpPr/>
          <p:nvPr/>
        </p:nvSpPr>
        <p:spPr>
          <a:xfrm>
            <a:off x="916560" y="2053800"/>
            <a:ext cx="240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Market Oversaturation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916560" y="2282760"/>
            <a:ext cx="23968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Too many low-quality games flooded the market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515520" y="2675520"/>
            <a:ext cx="5293440" cy="62100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11"/>
          <p:cNvSpPr/>
          <p:nvPr/>
        </p:nvSpPr>
        <p:spPr>
          <a:xfrm>
            <a:off x="634320" y="2806560"/>
            <a:ext cx="163080" cy="16308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Text 12"/>
          <p:cNvSpPr/>
          <p:nvPr/>
        </p:nvSpPr>
        <p:spPr>
          <a:xfrm>
            <a:off x="916560" y="2773800"/>
            <a:ext cx="204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Loss of Consumer Trust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2" name="Text 13"/>
          <p:cNvSpPr/>
          <p:nvPr/>
        </p:nvSpPr>
        <p:spPr>
          <a:xfrm>
            <a:off x="916560" y="3003120"/>
            <a:ext cx="20368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Poor games destroyed buyer confidence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3" name="Shape 14"/>
          <p:cNvSpPr/>
          <p:nvPr/>
        </p:nvSpPr>
        <p:spPr>
          <a:xfrm>
            <a:off x="515520" y="3395880"/>
            <a:ext cx="5293440" cy="62100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Shape 15"/>
          <p:cNvSpPr/>
          <p:nvPr/>
        </p:nvSpPr>
        <p:spPr>
          <a:xfrm>
            <a:off x="634320" y="3526560"/>
            <a:ext cx="163080" cy="16308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16"/>
          <p:cNvSpPr/>
          <p:nvPr/>
        </p:nvSpPr>
        <p:spPr>
          <a:xfrm>
            <a:off x="916560" y="3493800"/>
            <a:ext cx="19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Home Computer Rise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6" name="Text 17"/>
          <p:cNvSpPr/>
          <p:nvPr/>
        </p:nvSpPr>
        <p:spPr>
          <a:xfrm>
            <a:off x="916560" y="3723120"/>
            <a:ext cx="195480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PCs offered better value than arcades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7" name="Shape 18"/>
          <p:cNvSpPr/>
          <p:nvPr/>
        </p:nvSpPr>
        <p:spPr>
          <a:xfrm>
            <a:off x="6205680" y="1354320"/>
            <a:ext cx="5645160" cy="349308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19"/>
          <p:cNvSpPr/>
          <p:nvPr/>
        </p:nvSpPr>
        <p:spPr>
          <a:xfrm>
            <a:off x="6320160" y="1530000"/>
            <a:ext cx="541620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cd75"/>
                </a:solidFill>
                <a:latin typeface="Jersey 15"/>
                <a:ea typeface="Jersey 15"/>
              </a:rPr>
              <a:t>THE DEVASTATION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509" name="Shape 20"/>
          <p:cNvSpPr/>
          <p:nvPr/>
        </p:nvSpPr>
        <p:spPr>
          <a:xfrm>
            <a:off x="6381360" y="1955520"/>
            <a:ext cx="5293440" cy="1144800"/>
          </a:xfrm>
          <a:custGeom>
            <a:avLst/>
            <a:gdLst/>
            <a:ah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21"/>
          <p:cNvSpPr/>
          <p:nvPr/>
        </p:nvSpPr>
        <p:spPr>
          <a:xfrm>
            <a:off x="6414120" y="2086560"/>
            <a:ext cx="52279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6b6b"/>
                </a:solidFill>
                <a:latin typeface="Jersey 20 Charted"/>
                <a:ea typeface="Jersey 20 Charted"/>
              </a:rPr>
              <a:t>97%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511" name="Text 22"/>
          <p:cNvSpPr/>
          <p:nvPr/>
        </p:nvSpPr>
        <p:spPr>
          <a:xfrm>
            <a:off x="6475680" y="2544840"/>
            <a:ext cx="510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Revenue Decline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2" name="Text 23"/>
          <p:cNvSpPr/>
          <p:nvPr/>
        </p:nvSpPr>
        <p:spPr>
          <a:xfrm>
            <a:off x="6479640" y="2773800"/>
            <a:ext cx="50968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$3.2B → $100M (1983-1985)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3" name="Shape 24"/>
          <p:cNvSpPr/>
          <p:nvPr/>
        </p:nvSpPr>
        <p:spPr>
          <a:xfrm>
            <a:off x="6381360" y="3232080"/>
            <a:ext cx="5293440" cy="65376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25"/>
          <p:cNvSpPr/>
          <p:nvPr/>
        </p:nvSpPr>
        <p:spPr>
          <a:xfrm>
            <a:off x="6479640" y="3330360"/>
            <a:ext cx="517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Atari's Loss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5" name="Text 26"/>
          <p:cNvSpPr/>
          <p:nvPr/>
        </p:nvSpPr>
        <p:spPr>
          <a:xfrm>
            <a:off x="6479640" y="3592080"/>
            <a:ext cx="516240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$350 million</a:t>
            </a: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 in 1983 alone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6" name="Shape 27"/>
          <p:cNvSpPr/>
          <p:nvPr/>
        </p:nvSpPr>
        <p:spPr>
          <a:xfrm>
            <a:off x="6381360" y="4017600"/>
            <a:ext cx="5293440" cy="65376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Text 28"/>
          <p:cNvSpPr/>
          <p:nvPr/>
        </p:nvSpPr>
        <p:spPr>
          <a:xfrm>
            <a:off x="6479640" y="4115880"/>
            <a:ext cx="517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The Landfill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8" name="Text 29"/>
          <p:cNvSpPr/>
          <p:nvPr/>
        </p:nvSpPr>
        <p:spPr>
          <a:xfrm>
            <a:off x="6479640" y="4377600"/>
            <a:ext cx="516240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Unsold cartridges buried in </a:t>
            </a: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New Mexico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9" name="Shape 30"/>
          <p:cNvSpPr/>
          <p:nvPr/>
        </p:nvSpPr>
        <p:spPr>
          <a:xfrm>
            <a:off x="339480" y="5003640"/>
            <a:ext cx="3730680" cy="116928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Shape 31"/>
          <p:cNvSpPr/>
          <p:nvPr/>
        </p:nvSpPr>
        <p:spPr>
          <a:xfrm>
            <a:off x="2095920" y="5146920"/>
            <a:ext cx="220320" cy="293760"/>
          </a:xfrm>
          <a:custGeom>
            <a:avLst/>
            <a:gdLst/>
            <a:ah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32"/>
          <p:cNvSpPr/>
          <p:nvPr/>
        </p:nvSpPr>
        <p:spPr>
          <a:xfrm>
            <a:off x="441720" y="5539680"/>
            <a:ext cx="352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FOLDED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2" name="Text 33"/>
          <p:cNvSpPr/>
          <p:nvPr/>
        </p:nvSpPr>
        <p:spPr>
          <a:xfrm>
            <a:off x="450000" y="5834160"/>
            <a:ext cx="350964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U.S. Games, Magnavox, and dozens more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3" name="Shape 34"/>
          <p:cNvSpPr/>
          <p:nvPr/>
        </p:nvSpPr>
        <p:spPr>
          <a:xfrm>
            <a:off x="4228560" y="5003640"/>
            <a:ext cx="3730680" cy="116928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Shape 35"/>
          <p:cNvSpPr/>
          <p:nvPr/>
        </p:nvSpPr>
        <p:spPr>
          <a:xfrm>
            <a:off x="5929200" y="5146920"/>
            <a:ext cx="330840" cy="29376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36"/>
          <p:cNvSpPr/>
          <p:nvPr/>
        </p:nvSpPr>
        <p:spPr>
          <a:xfrm>
            <a:off x="4330800" y="5539680"/>
            <a:ext cx="352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LAYOFFS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6" name="Text 37"/>
          <p:cNvSpPr/>
          <p:nvPr/>
        </p:nvSpPr>
        <p:spPr>
          <a:xfrm>
            <a:off x="4338720" y="5834160"/>
            <a:ext cx="350964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Thousands lost jobs industry-wide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7" name="Shape 38"/>
          <p:cNvSpPr/>
          <p:nvPr/>
        </p:nvSpPr>
        <p:spPr>
          <a:xfrm>
            <a:off x="8117280" y="5003640"/>
            <a:ext cx="3730680" cy="116928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Shape 39"/>
          <p:cNvSpPr/>
          <p:nvPr/>
        </p:nvSpPr>
        <p:spPr>
          <a:xfrm>
            <a:off x="9818280" y="5146920"/>
            <a:ext cx="330840" cy="29376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40"/>
          <p:cNvSpPr/>
          <p:nvPr/>
        </p:nvSpPr>
        <p:spPr>
          <a:xfrm>
            <a:off x="8219520" y="5539680"/>
            <a:ext cx="352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ARCADES CLOSED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30" name="Text 41"/>
          <p:cNvSpPr/>
          <p:nvPr/>
        </p:nvSpPr>
        <p:spPr>
          <a:xfrm>
            <a:off x="8227800" y="5834160"/>
            <a:ext cx="350964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Many arcades shut down permanently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31" name="Shape 42"/>
          <p:cNvSpPr/>
          <p:nvPr/>
        </p:nvSpPr>
        <p:spPr>
          <a:xfrm>
            <a:off x="339480" y="6329160"/>
            <a:ext cx="11512080" cy="514800"/>
          </a:xfrm>
          <a:custGeom>
            <a:avLst/>
            <a:gdLst/>
            <a:ah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43"/>
          <p:cNvSpPr/>
          <p:nvPr/>
        </p:nvSpPr>
        <p:spPr>
          <a:xfrm>
            <a:off x="441720" y="6472440"/>
            <a:ext cx="1130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By 1985, the industry was on its knees. But from the ashes, a </a:t>
            </a:r>
            <a:r>
              <a:rPr b="1" lang="en-US" sz="1290" spc="-1" strike="noStrike">
                <a:solidFill>
                  <a:srgbClr val="a7f070"/>
                </a:solidFill>
                <a:latin typeface="Jersey 15"/>
                <a:ea typeface="Jersey 15"/>
              </a:rPr>
              <a:t>phoenix would rise</a:t>
            </a: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...</a:t>
            </a:r>
            <a:endParaRPr b="0" lang="en-HK" sz="1290" spc="-1" strike="noStrike"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12191400" cy="6859440"/>
          </a:xfrm>
          <a:custGeom>
            <a:avLst/>
            <a:gdLst/>
            <a:ah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1"/>
          <p:cNvSpPr/>
          <p:nvPr/>
        </p:nvSpPr>
        <p:spPr>
          <a:xfrm>
            <a:off x="372960" y="372960"/>
            <a:ext cx="1166940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PHOENIX RISES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372960" y="932040"/>
            <a:ext cx="1155744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60" spc="-1" strike="noStrike">
                <a:solidFill>
                  <a:srgbClr val="f4f4f4"/>
                </a:solidFill>
                <a:latin typeface="Jersey 15"/>
                <a:ea typeface="Jersey 15"/>
              </a:rPr>
              <a:t>Nintendo's Redemption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372960" y="1342080"/>
            <a:ext cx="894240" cy="36720"/>
          </a:xfrm>
          <a:custGeom>
            <a:avLst/>
            <a:gdLst/>
            <a:ah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Shape 4"/>
          <p:cNvSpPr/>
          <p:nvPr/>
        </p:nvSpPr>
        <p:spPr>
          <a:xfrm>
            <a:off x="387000" y="1542600"/>
            <a:ext cx="5582520" cy="2012760"/>
          </a:xfrm>
          <a:custGeom>
            <a:avLst/>
            <a:gdLst/>
            <a:ah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5"/>
          <p:cNvSpPr/>
          <p:nvPr/>
        </p:nvSpPr>
        <p:spPr>
          <a:xfrm>
            <a:off x="587160" y="1743120"/>
            <a:ext cx="5293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ffcd75"/>
                </a:solidFill>
                <a:latin typeface="Jersey 15"/>
                <a:ea typeface="Jersey 15"/>
              </a:rPr>
              <a:t>THE NEWCOMER ARRIVES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587160" y="2153160"/>
            <a:ext cx="52657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 </a:t>
            </a: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1985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, a Japanese company entered the US market with a revolutionary approach: the </a:t>
            </a:r>
            <a:r>
              <a:rPr b="1" lang="en-US" sz="1320" spc="-1" strike="noStrike">
                <a:solidFill>
                  <a:srgbClr val="29adff"/>
                </a:solidFill>
                <a:latin typeface="Jersey 15"/>
                <a:ea typeface="Jersey 15"/>
              </a:rPr>
              <a:t>Nintendo Entertainment System (NES)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0" name="Text 7"/>
          <p:cNvSpPr/>
          <p:nvPr/>
        </p:nvSpPr>
        <p:spPr>
          <a:xfrm>
            <a:off x="587160" y="2810160"/>
            <a:ext cx="52657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studied the crash's lessons and implemented </a:t>
            </a:r>
            <a:r>
              <a:rPr b="1" lang="en-US" sz="1320" spc="-1" strike="noStrike">
                <a:solidFill>
                  <a:srgbClr val="ffcd75"/>
                </a:solidFill>
                <a:latin typeface="Jersey 15"/>
                <a:ea typeface="Jersey 15"/>
              </a:rPr>
              <a:t>strict quality control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 to prevent another market collapse.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1" name="Shape 8"/>
          <p:cNvSpPr/>
          <p:nvPr/>
        </p:nvSpPr>
        <p:spPr>
          <a:xfrm>
            <a:off x="387000" y="3733200"/>
            <a:ext cx="5582520" cy="1928880"/>
          </a:xfrm>
          <a:custGeom>
            <a:avLst/>
            <a:gdLst/>
            <a:ah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9"/>
          <p:cNvSpPr/>
          <p:nvPr/>
        </p:nvSpPr>
        <p:spPr>
          <a:xfrm>
            <a:off x="587160" y="3933360"/>
            <a:ext cx="5293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a7f070"/>
                </a:solidFill>
                <a:latin typeface="Jersey 15"/>
                <a:ea typeface="Jersey 15"/>
              </a:rPr>
              <a:t>THE NINTENDO STRATEGY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43" name="Shape 10"/>
          <p:cNvSpPr/>
          <p:nvPr/>
        </p:nvSpPr>
        <p:spPr>
          <a:xfrm>
            <a:off x="610560" y="4380840"/>
            <a:ext cx="167040" cy="16704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Text 11"/>
          <p:cNvSpPr/>
          <p:nvPr/>
        </p:nvSpPr>
        <p:spPr>
          <a:xfrm>
            <a:off x="908640" y="4343760"/>
            <a:ext cx="31496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Third-party licensing: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Controlled who could make games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5" name="Shape 12"/>
          <p:cNvSpPr/>
          <p:nvPr/>
        </p:nvSpPr>
        <p:spPr>
          <a:xfrm>
            <a:off x="610560" y="4679280"/>
            <a:ext cx="167040" cy="16704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13"/>
          <p:cNvSpPr/>
          <p:nvPr/>
        </p:nvSpPr>
        <p:spPr>
          <a:xfrm>
            <a:off x="908640" y="4641840"/>
            <a:ext cx="27770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Quality standards: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Every game required approval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7" name="Shape 14"/>
          <p:cNvSpPr/>
          <p:nvPr/>
        </p:nvSpPr>
        <p:spPr>
          <a:xfrm>
            <a:off x="610560" y="4977360"/>
            <a:ext cx="167040" cy="16704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15"/>
          <p:cNvSpPr/>
          <p:nvPr/>
        </p:nvSpPr>
        <p:spPr>
          <a:xfrm>
            <a:off x="908640" y="4940280"/>
            <a:ext cx="3187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Marketing: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Repositioned NES as "entertainment system"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9" name="Shape 16"/>
          <p:cNvSpPr/>
          <p:nvPr/>
        </p:nvSpPr>
        <p:spPr>
          <a:xfrm>
            <a:off x="610560" y="5275800"/>
            <a:ext cx="167040" cy="16704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17"/>
          <p:cNvSpPr/>
          <p:nvPr/>
        </p:nvSpPr>
        <p:spPr>
          <a:xfrm>
            <a:off x="908640" y="5238360"/>
            <a:ext cx="29818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Super Mario Bros., The Legend of Zelda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1" name="Shape 18"/>
          <p:cNvSpPr/>
          <p:nvPr/>
        </p:nvSpPr>
        <p:spPr>
          <a:xfrm>
            <a:off x="6224040" y="1542600"/>
            <a:ext cx="5582520" cy="3942000"/>
          </a:xfrm>
          <a:custGeom>
            <a:avLst/>
            <a:gdLst/>
            <a:ah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19"/>
          <p:cNvSpPr/>
          <p:nvPr/>
        </p:nvSpPr>
        <p:spPr>
          <a:xfrm>
            <a:off x="6368400" y="1743120"/>
            <a:ext cx="5293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29adff"/>
                </a:solidFill>
                <a:latin typeface="Jersey 15"/>
                <a:ea typeface="Jersey 15"/>
              </a:rPr>
              <a:t>THE RESULT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53" name="Shape 20"/>
          <p:cNvSpPr/>
          <p:nvPr/>
        </p:nvSpPr>
        <p:spPr>
          <a:xfrm>
            <a:off x="6424200" y="2190600"/>
            <a:ext cx="5181840" cy="1080360"/>
          </a:xfrm>
          <a:custGeom>
            <a:avLst/>
            <a:gdLst/>
            <a:ah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21"/>
          <p:cNvSpPr/>
          <p:nvPr/>
        </p:nvSpPr>
        <p:spPr>
          <a:xfrm>
            <a:off x="6461640" y="2339640"/>
            <a:ext cx="510732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90%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55" name="Text 22"/>
          <p:cNvSpPr/>
          <p:nvPr/>
        </p:nvSpPr>
        <p:spPr>
          <a:xfrm>
            <a:off x="6531480" y="2861640"/>
            <a:ext cx="4967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US Console Market Share by 1987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6" name="Shape 23"/>
          <p:cNvSpPr/>
          <p:nvPr/>
        </p:nvSpPr>
        <p:spPr>
          <a:xfrm>
            <a:off x="6424200" y="3420720"/>
            <a:ext cx="5181840" cy="85680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Text 24"/>
          <p:cNvSpPr/>
          <p:nvPr/>
        </p:nvSpPr>
        <p:spPr>
          <a:xfrm>
            <a:off x="6573240" y="3570120"/>
            <a:ext cx="4967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Consumer Confidence Restored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8" name="Text 25"/>
          <p:cNvSpPr/>
          <p:nvPr/>
        </p:nvSpPr>
        <p:spPr>
          <a:xfrm>
            <a:off x="6573240" y="3905640"/>
            <a:ext cx="49582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Nintendo's seal of quality reassured buyers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9" name="Shape 26"/>
          <p:cNvSpPr/>
          <p:nvPr/>
        </p:nvSpPr>
        <p:spPr>
          <a:xfrm>
            <a:off x="6424200" y="4427640"/>
            <a:ext cx="5181840" cy="85680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 27"/>
          <p:cNvSpPr/>
          <p:nvPr/>
        </p:nvSpPr>
        <p:spPr>
          <a:xfrm>
            <a:off x="6573240" y="4576680"/>
            <a:ext cx="4967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Industry Foundation Rebuilt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61" name="Text 28"/>
          <p:cNvSpPr/>
          <p:nvPr/>
        </p:nvSpPr>
        <p:spPr>
          <a:xfrm>
            <a:off x="6573240" y="4912200"/>
            <a:ext cx="49582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Modern gaming business model established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62" name="Shape 29"/>
          <p:cNvSpPr/>
          <p:nvPr/>
        </p:nvSpPr>
        <p:spPr>
          <a:xfrm>
            <a:off x="6224040" y="5662440"/>
            <a:ext cx="5582520" cy="1182960"/>
          </a:xfrm>
          <a:custGeom>
            <a:avLst/>
            <a:gdLst/>
            <a:ah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30"/>
          <p:cNvSpPr/>
          <p:nvPr/>
        </p:nvSpPr>
        <p:spPr>
          <a:xfrm>
            <a:off x="6340320" y="5825520"/>
            <a:ext cx="53496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70" spc="-1" strike="noStrike">
                <a:solidFill>
                  <a:srgbClr val="ffcd75"/>
                </a:solidFill>
                <a:latin typeface="Jersey 15"/>
                <a:ea typeface="Jersey 15"/>
              </a:rPr>
              <a:t>THE ARCADE LEGACY</a:t>
            </a:r>
            <a:endParaRPr b="0" lang="en-HK" sz="1470" spc="-1" strike="noStrike">
              <a:latin typeface="Arial"/>
            </a:endParaRPr>
          </a:p>
        </p:txBody>
      </p:sp>
      <p:sp>
        <p:nvSpPr>
          <p:cNvPr id="564" name="Text 31"/>
          <p:cNvSpPr/>
          <p:nvPr/>
        </p:nvSpPr>
        <p:spPr>
          <a:xfrm>
            <a:off x="6349680" y="6198480"/>
            <a:ext cx="533088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NES games like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Super Mario Bros.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and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Donkey Kong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brought arcade-quality experiences into living rooms—preserving the golden age's innovations for future generations.</a:t>
            </a:r>
            <a:endParaRPr b="0" lang="en-HK" sz="118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Image 0"/>
          <p:cNvSpPr/>
          <p:nvPr/>
        </p:nvSpPr>
        <p:spPr>
          <a:xfrm>
            <a:off x="0" y="0"/>
            <a:ext cx="12191400" cy="68554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Shape 0"/>
          <p:cNvSpPr/>
          <p:nvPr/>
        </p:nvSpPr>
        <p:spPr>
          <a:xfrm>
            <a:off x="0" y="0"/>
            <a:ext cx="12191400" cy="6855480"/>
          </a:xfrm>
          <a:custGeom>
            <a:avLst/>
            <a:gdLst/>
            <a:ah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1"/>
          <p:cNvSpPr/>
          <p:nvPr/>
        </p:nvSpPr>
        <p:spPr>
          <a:xfrm>
            <a:off x="5608440" y="-186840"/>
            <a:ext cx="9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5100" spc="-1" strike="noStrike">
                <a:solidFill>
                  <a:srgbClr val="f4f4f4"/>
                </a:solidFill>
                <a:latin typeface="Jersey 15"/>
                <a:ea typeface="Jersey 15"/>
              </a:rPr>
              <a:t>🕹️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8" name="Text 2"/>
          <p:cNvSpPr/>
          <p:nvPr/>
        </p:nvSpPr>
        <p:spPr>
          <a:xfrm>
            <a:off x="4541400" y="821160"/>
            <a:ext cx="310356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LEGACY</a:t>
            </a:r>
            <a:endParaRPr b="0" lang="en-HK" sz="5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LIVES ON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9" name="Shape 3"/>
          <p:cNvSpPr/>
          <p:nvPr/>
        </p:nvSpPr>
        <p:spPr>
          <a:xfrm>
            <a:off x="5374800" y="2656440"/>
            <a:ext cx="1438920" cy="360"/>
          </a:xfrm>
          <a:custGeom>
            <a:avLst/>
            <a:gdLst/>
            <a:ah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Text 4"/>
          <p:cNvSpPr/>
          <p:nvPr/>
        </p:nvSpPr>
        <p:spPr>
          <a:xfrm>
            <a:off x="2201400" y="2944440"/>
            <a:ext cx="778248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700" spc="-1" strike="noStrike">
                <a:solidFill>
                  <a:srgbClr val="f4f4f4"/>
                </a:solidFill>
                <a:latin typeface="Jersey 15"/>
                <a:ea typeface="Jersey 15"/>
              </a:rPr>
              <a:t>The golden age of arcade games established principles that still drive the industry today:</a:t>
            </a:r>
            <a:endParaRPr b="0" lang="en-HK" sz="1700" spc="-1" strike="noStrike">
              <a:latin typeface="Arial"/>
            </a:endParaRPr>
          </a:p>
        </p:txBody>
      </p:sp>
      <p:sp>
        <p:nvSpPr>
          <p:cNvPr id="571" name="Shape 5"/>
          <p:cNvSpPr/>
          <p:nvPr/>
        </p:nvSpPr>
        <p:spPr>
          <a:xfrm>
            <a:off x="2268720" y="3524760"/>
            <a:ext cx="3742200" cy="94392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6"/>
          <p:cNvSpPr/>
          <p:nvPr/>
        </p:nvSpPr>
        <p:spPr>
          <a:xfrm>
            <a:off x="4006080" y="3682440"/>
            <a:ext cx="269280" cy="26928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7"/>
          <p:cNvSpPr/>
          <p:nvPr/>
        </p:nvSpPr>
        <p:spPr>
          <a:xfrm>
            <a:off x="2385720" y="4060080"/>
            <a:ext cx="35085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Competitive Gaming Culture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4" name="Shape 8"/>
          <p:cNvSpPr/>
          <p:nvPr/>
        </p:nvSpPr>
        <p:spPr>
          <a:xfrm>
            <a:off x="6179760" y="3524760"/>
            <a:ext cx="3742200" cy="94392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9"/>
          <p:cNvSpPr/>
          <p:nvPr/>
        </p:nvSpPr>
        <p:spPr>
          <a:xfrm>
            <a:off x="7883640" y="3682440"/>
            <a:ext cx="336600" cy="269280"/>
          </a:xfrm>
          <a:custGeom>
            <a:avLst/>
            <a:gdLst/>
            <a:ah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 10"/>
          <p:cNvSpPr/>
          <p:nvPr/>
        </p:nvSpPr>
        <p:spPr>
          <a:xfrm>
            <a:off x="6296760" y="4060080"/>
            <a:ext cx="35085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Social Experiences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7" name="Shape 11"/>
          <p:cNvSpPr/>
          <p:nvPr/>
        </p:nvSpPr>
        <p:spPr>
          <a:xfrm>
            <a:off x="2268720" y="4640760"/>
            <a:ext cx="3742200" cy="94392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12"/>
          <p:cNvSpPr/>
          <p:nvPr/>
        </p:nvSpPr>
        <p:spPr>
          <a:xfrm>
            <a:off x="4039920" y="4798080"/>
            <a:ext cx="201600" cy="269280"/>
          </a:xfrm>
          <a:custGeom>
            <a:avLst/>
            <a:gdLst/>
            <a:ah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Text 13"/>
          <p:cNvSpPr/>
          <p:nvPr/>
        </p:nvSpPr>
        <p:spPr>
          <a:xfrm>
            <a:off x="2385720" y="5176080"/>
            <a:ext cx="35085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Iconic Character Design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0" name="Shape 14"/>
          <p:cNvSpPr/>
          <p:nvPr/>
        </p:nvSpPr>
        <p:spPr>
          <a:xfrm>
            <a:off x="6179760" y="4640760"/>
            <a:ext cx="3742200" cy="94392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Shape 15"/>
          <p:cNvSpPr/>
          <p:nvPr/>
        </p:nvSpPr>
        <p:spPr>
          <a:xfrm>
            <a:off x="7917120" y="4798080"/>
            <a:ext cx="269280" cy="26928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Text 16"/>
          <p:cNvSpPr/>
          <p:nvPr/>
        </p:nvSpPr>
        <p:spPr>
          <a:xfrm>
            <a:off x="6296760" y="5176080"/>
            <a:ext cx="35085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Games for Everyone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3" name="Text 17"/>
          <p:cNvSpPr/>
          <p:nvPr/>
        </p:nvSpPr>
        <p:spPr>
          <a:xfrm>
            <a:off x="2210400" y="5814720"/>
            <a:ext cx="77644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Every mobile game, esports tournament, and modern arcade traces its roots to those </a:t>
            </a:r>
            <a:r>
              <a:rPr b="1" lang="en-US" sz="1410" spc="-1" strike="noStrike">
                <a:solidFill>
                  <a:srgbClr val="a7f070"/>
                </a:solidFill>
                <a:latin typeface="Jersey 15"/>
                <a:ea typeface="Jersey 15"/>
              </a:rPr>
              <a:t>neon-lit rooms of the 1980s</a:t>
            </a: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4" name="Text 18"/>
          <p:cNvSpPr/>
          <p:nvPr/>
        </p:nvSpPr>
        <p:spPr>
          <a:xfrm>
            <a:off x="2187720" y="6395040"/>
            <a:ext cx="7809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INSERT COIN TO CONTINUE</a:t>
            </a:r>
            <a:endParaRPr b="0" lang="en-HK" sz="2130" spc="-1" strike="noStrike">
              <a:latin typeface="Arial"/>
            </a:endParaRPr>
          </a:p>
        </p:txBody>
      </p:sp>
      <p:sp>
        <p:nvSpPr>
          <p:cNvPr id="585" name="Text 19"/>
          <p:cNvSpPr/>
          <p:nvPr/>
        </p:nvSpPr>
        <p:spPr>
          <a:xfrm>
            <a:off x="2210400" y="6791040"/>
            <a:ext cx="7764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10" spc="-1" strike="noStrike">
                <a:solidFill>
                  <a:srgbClr val="29adff"/>
                </a:solidFill>
                <a:latin typeface="Jersey 15"/>
                <a:ea typeface="Jersey 15"/>
              </a:rPr>
              <a:t>The game never really ended.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6" name="Shape 20"/>
          <p:cNvSpPr/>
          <p:nvPr/>
        </p:nvSpPr>
        <p:spPr>
          <a:xfrm>
            <a:off x="5734440" y="5920560"/>
            <a:ext cx="143280" cy="14328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Shape 21"/>
          <p:cNvSpPr/>
          <p:nvPr/>
        </p:nvSpPr>
        <p:spPr>
          <a:xfrm>
            <a:off x="6022440" y="5920560"/>
            <a:ext cx="143280" cy="14328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22"/>
          <p:cNvSpPr/>
          <p:nvPr/>
        </p:nvSpPr>
        <p:spPr>
          <a:xfrm>
            <a:off x="6310440" y="5920560"/>
            <a:ext cx="143280" cy="14328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2026-03-18T12:09:07Z</dcterms:created>
  <dc:creator>Kimi</dc:creator>
  <dc:description/>
  <dc:language>en-HK</dc:language>
  <cp:lastModifiedBy/>
  <dcterms:modified xsi:type="dcterms:W3CDTF">2026-04-11T14:37:55Z</dcterms:modified>
  <cp:revision>3</cp:revision>
  <dc:subject>The Golden Age of Arcade Games</dc:subject>
  <dc:title>The Golden Age of Arcade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  <property fmtid="{D5CDD505-2E9C-101B-9397-08002B2CF9AE}" pid="3" name="Notes">
    <vt:i4>20</vt:i4>
  </property>
  <property fmtid="{D5CDD505-2E9C-101B-9397-08002B2CF9AE}" pid="4" name="PresentationFormat">
    <vt:lpwstr>On-screen Show (16:9)</vt:lpwstr>
  </property>
  <property fmtid="{D5CDD505-2E9C-101B-9397-08002B2CF9AE}" pid="5" name="Slides">
    <vt:i4>20</vt:i4>
  </property>
</Properties>
</file>