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4-1.jpg" ContentType="image/jpg"/>
  <Override PartName="/ppt/media/image-17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7375" y="12763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👾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64532" y="2305050"/>
            <a:ext cx="586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GOLDEN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 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3942" y="344805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OF ARCADE GAMES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32435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00675" y="4705350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04" y="5238750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Quarters Ruled the World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019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24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7526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7300" y="1752600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Dawn of a New 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21717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Space Invaders sparked a revolution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1300" y="175260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6791" y="1752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6791" y="217170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Characters that became cultural phenomena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196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336545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3191" y="33654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Business of Fun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63191" y="378455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quarters, an economic force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36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1300" y="3365450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85583" y="336545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85583" y="378455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 to global phenomenon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730725"/>
            <a:ext cx="11391900" cy="1343025"/>
          </a:xfrm>
          <a:custGeom>
            <a:avLst/>
            <a:gdLst/>
            <a:ahLst/>
            <a:cxn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700" y="4978375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1983" y="4978375"/>
            <a:ext cx="10344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 and Beyond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1983" y="5397475"/>
            <a:ext cx="1029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 and the phoenix that rose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98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00225" cy="609600"/>
          </a:xfrm>
          <a:custGeom>
            <a:avLst/>
            <a:gdLst/>
            <a:ahLst/>
            <a:cxn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1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DAWN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NEW ERA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a Japanese Space Shooter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Was the Golden Age?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0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DEBATED TIMEFRAME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0075" y="2200275"/>
            <a:ext cx="52863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While experts disagree on exact dates, most place the golden age between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Some extend it to 1971 (first arcade game) or end at 1985 (industry recovery).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64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2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MILESTONE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275" y="2200275"/>
            <a:ext cx="5286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(1978)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is universally recognized as the catalyst that transformed arcades from novelty to cultural phenomenon.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6619"/>
            <a:ext cx="11391900" cy="3314700"/>
          </a:xfrm>
          <a:custGeom>
            <a:avLst/>
            <a:gdLst/>
            <a:ahLst/>
            <a:cxn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3636169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TIMELINE</a:t>
            </a:r>
            <a:endParaRPr lang="en-US" sz="1600" dirty="0"/>
          </a:p>
        </p:txBody>
      </p:sp>
      <p:pic>
        <p:nvPicPr>
          <p:cNvPr id="14" name="Image 0" descr="https://kimi-img.moonshot.cn/pub/slides/26-03-18-20:08:22-d6t9bdi7ch94jfuetv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055269"/>
            <a:ext cx="10972800" cy="2476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17"/>
          </a:xfrm>
          <a:custGeom>
            <a:avLst/>
            <a:gdLst/>
            <a:ahLst/>
            <a:cxn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9341" y="349341"/>
            <a:ext cx="11702923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341" y="873352"/>
            <a:ext cx="1159812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Spark That Ignited the Revolution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41" y="1257628"/>
            <a:ext cx="838418" cy="34934"/>
          </a:xfrm>
          <a:custGeom>
            <a:avLst/>
            <a:gdLst/>
            <a:ahLst/>
            <a:cxn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2441" y="1445398"/>
            <a:ext cx="5047977" cy="4192092"/>
          </a:xfrm>
          <a:custGeom>
            <a:avLst/>
            <a:gdLst/>
            <a:ahLst/>
            <a:cxn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pic>
        <p:nvPicPr>
          <p:cNvPr id="7" name="Image 0" descr="https://kimi-web-img.moonshot.cn/img/www.gamesroomcompany.com/53f8b3942a6072057c1a840ef45686add5c58e88.jpg">    </p:cNvPr>
          <p:cNvPicPr>
            <a:picLocks noChangeAspect="1"/>
          </p:cNvPicPr>
          <p:nvPr/>
        </p:nvPicPr>
        <p:blipFill>
          <a:blip r:embed="rId1"/>
          <a:srcRect l="0" r="0" t="32320" b="32320"/>
          <a:stretch/>
        </p:blipFill>
        <p:spPr>
          <a:xfrm>
            <a:off x="515278" y="1598235"/>
            <a:ext cx="4742304" cy="1676837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84275" y="3379874"/>
            <a:ext cx="5004309" cy="52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2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750,000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610" y="3973754"/>
            <a:ext cx="4829639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 Worldwide by 1979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2441" y="5801244"/>
            <a:ext cx="5047977" cy="1039289"/>
          </a:xfrm>
          <a:custGeom>
            <a:avLst/>
            <a:gdLst/>
            <a:ahLst/>
            <a:cxn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0476" y="5954080"/>
            <a:ext cx="4951908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01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$670M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977" y="6443158"/>
            <a:ext cx="4820905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in Japan Alone (1978)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47997" y="1445398"/>
            <a:ext cx="6174602" cy="1886441"/>
          </a:xfrm>
          <a:custGeom>
            <a:avLst/>
            <a:gdLst/>
            <a:ahLst/>
            <a:cxn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5768" y="1633169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CREATOR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35768" y="2017444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Tomohiro Nishikado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at Taito spent one year designing custom hardware using an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Intel 8080 CPU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—pushing technological limits of the time.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35768" y="2633158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Inspired by Star Wars and H.G. Wells' War of the Worlds, he created alien designs based on octopus, squid, and crabs.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47997" y="3497777"/>
            <a:ext cx="6174602" cy="1528367"/>
          </a:xfrm>
          <a:custGeom>
            <a:avLst/>
            <a:gdLst/>
            <a:ahLst/>
            <a:cxn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5768" y="3685547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HAPPY ACCIDENT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35768" y="4069822"/>
            <a:ext cx="5877662" cy="76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game's signature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increasing speed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43631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30828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19"/>
          <p:cNvSpPr/>
          <p:nvPr/>
        </p:nvSpPr>
        <p:spPr>
          <a:xfrm>
            <a:off x="5722232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High Score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97934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85132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5" name="Text 22"/>
          <p:cNvSpPr/>
          <p:nvPr/>
        </p:nvSpPr>
        <p:spPr>
          <a:xfrm>
            <a:off x="8876536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Multiple Lives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43631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0828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22232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Destructible Barriers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797934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85132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1" name="Text 28"/>
          <p:cNvSpPr/>
          <p:nvPr/>
        </p:nvSpPr>
        <p:spPr>
          <a:xfrm>
            <a:off x="8876536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Continuous Soundtrack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78"/>
          </a:xfrm>
          <a:custGeom>
            <a:avLst/>
            <a:gdLst/>
            <a:ahLst/>
            <a:cxn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69735" y="369735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924337"/>
            <a:ext cx="1156345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Paddles to Microprocessors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735" y="1331045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3600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6872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PRE-GOLDEN 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332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804173" y="2172191"/>
            <a:ext cx="187640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discrete logic circuits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332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04173" y="2541926"/>
            <a:ext cx="146045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Black &amp; white displays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332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173" y="2911660"/>
            <a:ext cx="122012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Basic beep sounds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332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173" y="3281395"/>
            <a:ext cx="192262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ball-and-paddle games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332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7036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Pong Era (1972)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1291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563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GOLDEN 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20023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864" y="2172191"/>
            <a:ext cx="185791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(Intel 8080)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0023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3" name="Text 21"/>
          <p:cNvSpPr/>
          <p:nvPr/>
        </p:nvSpPr>
        <p:spPr>
          <a:xfrm>
            <a:off x="6641864" y="2541926"/>
            <a:ext cx="165456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Color displays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overlays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0023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Text 23"/>
          <p:cNvSpPr/>
          <p:nvPr/>
        </p:nvSpPr>
        <p:spPr>
          <a:xfrm>
            <a:off x="6641864" y="2957877"/>
            <a:ext cx="1315663" cy="16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Custom sound chips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0023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6641864" y="3281395"/>
            <a:ext cx="148818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Complex gameplay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0023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84727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Era (1978+)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600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2932" y="4704873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9142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385" y="5481316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Enabled complex game logic, AI enemy behavior, and dynamic gameplay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0721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09255" y="4704873"/>
            <a:ext cx="374356" cy="332761"/>
          </a:xfrm>
          <a:custGeom>
            <a:avLst/>
            <a:gdLst/>
            <a:ahLst/>
            <a:cxn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6" name="Text 34"/>
          <p:cNvSpPr/>
          <p:nvPr/>
        </p:nvSpPr>
        <p:spPr>
          <a:xfrm>
            <a:off x="4366263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VECTOR GRAPHICS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75506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 (1979) used crisp line graphics instead of pixels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7842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55579" y="4704873"/>
            <a:ext cx="415951" cy="332761"/>
          </a:xfrm>
          <a:custGeom>
            <a:avLst/>
            <a:gdLst/>
            <a:ahLst/>
            <a:cxn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0" name="Text 38"/>
          <p:cNvSpPr/>
          <p:nvPr/>
        </p:nvSpPr>
        <p:spPr>
          <a:xfrm>
            <a:off x="8233384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SOUND INNOVATION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42627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Dedicated sound chips created immersive audio experiences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3600" y="6262381"/>
            <a:ext cx="11424801" cy="582332"/>
          </a:xfrm>
          <a:custGeom>
            <a:avLst/>
            <a:gdLst/>
            <a:ahLst/>
            <a:cxn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142" y="6424139"/>
            <a:ext cx="1119371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Result: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Games evolved from simple distractions to </a:t>
            </a:r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immersive experiences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captivated millions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amesroomcompany.com/108bacafdda3f8467cc67cc670b345755385639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14425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47775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5262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ICONIC GAMES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THAT DEFINED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GENERATION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5297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57775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Characters and Experiences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That Became Cultural Phenomena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92"/>
          </a:xfrm>
          <a:custGeom>
            <a:avLst/>
            <a:gdLst/>
            <a:ahLst/>
            <a:cxn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8928" y="378928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PAC-MAN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947319"/>
            <a:ext cx="1154782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Eating the Competition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364140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38" y="1567814"/>
            <a:ext cx="4452401" cy="4234517"/>
          </a:xfrm>
          <a:custGeom>
            <a:avLst/>
            <a:gdLst/>
            <a:ahLst/>
            <a:cxn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primetimeamusements.com/7bd8171ef7867f102426f03ba84c585a56da8b7c.png">    </p:cNvPr>
          <p:cNvPicPr>
            <a:picLocks noChangeAspect="1"/>
          </p:cNvPicPr>
          <p:nvPr/>
        </p:nvPicPr>
        <p:blipFill>
          <a:blip r:embed="rId1"/>
          <a:srcRect l="0" r="0" t="24253" b="24253"/>
          <a:stretch/>
        </p:blipFill>
        <p:spPr>
          <a:xfrm>
            <a:off x="558918" y="1733594"/>
            <a:ext cx="4120839" cy="2121995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416821" y="3969268"/>
            <a:ext cx="4405035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7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$14B+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1552" y="4613445"/>
            <a:ext cx="421557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Total Global Revenue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1026" y="4954480"/>
            <a:ext cx="41966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Highest-grossing arcade game ever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38" y="5982322"/>
            <a:ext cx="4452401" cy="862061"/>
          </a:xfrm>
          <a:custGeom>
            <a:avLst/>
            <a:gdLst/>
            <a:ahLst/>
            <a:cxn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289" y="6148103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May 1980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289" y="6413352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03609" y="15678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7283" y="1771487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VISIONARY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7283" y="21883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Toru Iwatani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wanted to create something completely different from the violent shooters dominating arcades. His goal: 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"A game that anyone can enjoy."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7283" y="28561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He noticed arcades were seen as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"hangouts for delinquents"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set out to change that perception with non-violent, universally appealing gameplay.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03609" y="37940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7283" y="3997688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LEGENDARY DESIGN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7283" y="44145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iconic character was born when Iwatani saw 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pizza with a slice missing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—the shape reminded him of a mouth. Combined with the Japanese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"mouth" (kuchi)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character, Pac-Man was born.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7283" y="50823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Each ghost has distinct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AI personality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: Blinky (chase), Pinky (ambush), Inky (unpredictable), Clyde (random).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98872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8024" y="6138629"/>
            <a:ext cx="213147" cy="284196"/>
          </a:xfrm>
          <a:custGeom>
            <a:avLst/>
            <a:gdLst/>
            <a:ahLst/>
            <a:cxn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1"/>
          <p:cNvSpPr/>
          <p:nvPr/>
        </p:nvSpPr>
        <p:spPr>
          <a:xfrm>
            <a:off x="51841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Appealed to Women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78286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6463" y="6138629"/>
            <a:ext cx="355245" cy="284196"/>
          </a:xfrm>
          <a:custGeom>
            <a:avLst/>
            <a:gdLst/>
            <a:ahLst/>
            <a:cxn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7" name="Text 24"/>
          <p:cNvSpPr/>
          <p:nvPr/>
        </p:nvSpPr>
        <p:spPr>
          <a:xfrm>
            <a:off x="7463544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Family-Friendly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57773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91400" y="6138629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7"/>
          <p:cNvSpPr/>
          <p:nvPr/>
        </p:nvSpPr>
        <p:spPr>
          <a:xfrm>
            <a:off x="97430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Global Icon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34945" y="334945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837363"/>
            <a:ext cx="11622593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Birth of a Plumber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45" y="1205802"/>
            <a:ext cx="803868" cy="33495"/>
          </a:xfrm>
          <a:custGeom>
            <a:avLst/>
            <a:gdLst/>
            <a:ahLst/>
            <a:cxn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47505" y="1385835"/>
            <a:ext cx="5066044" cy="4320791"/>
          </a:xfrm>
          <a:custGeom>
            <a:avLst/>
            <a:gdLst/>
            <a:ahLst/>
            <a:cxn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www.arcade-museum.com/8814cedaf48a4df01a87331adfa4735751ff5ac1.jpg">    </p:cNvPr>
          <p:cNvPicPr>
            <a:picLocks noChangeAspect="1"/>
          </p:cNvPicPr>
          <p:nvPr/>
        </p:nvPicPr>
        <p:blipFill>
          <a:blip r:embed="rId1"/>
          <a:srcRect l="0" r="0" t="39152" b="39152"/>
          <a:stretch/>
        </p:blipFill>
        <p:spPr>
          <a:xfrm>
            <a:off x="494044" y="1532374"/>
            <a:ext cx="4772967" cy="1741714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68440" y="3374571"/>
            <a:ext cx="5024176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$280M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2176" y="3943978"/>
            <a:ext cx="485670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by End of 1982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0549" y="4245429"/>
            <a:ext cx="483995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Saved Nintendo of America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505" y="5867819"/>
            <a:ext cx="5066044" cy="762000"/>
          </a:xfrm>
          <a:custGeom>
            <a:avLst/>
            <a:gdLst/>
            <a:ahLst/>
            <a:cxn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363" y="6014357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July 1981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6363" y="6248819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42974" y="1385835"/>
            <a:ext cx="6204857" cy="1808703"/>
          </a:xfrm>
          <a:custGeom>
            <a:avLst/>
            <a:gdLst/>
            <a:ahLst/>
            <a:cxn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23007" y="1565868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RESCUE MISSION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23007" y="193430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of America was drowning in unsold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Radar Scope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machines. President Hiroshi Yamauchi tasked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Shigeru Miyamoto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creating a game to convert them.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23007" y="252464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had never designed a game before. His advantage? He wasn't a programmer—he focused on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story first, technology second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42974" y="3353637"/>
            <a:ext cx="6204857" cy="2051538"/>
          </a:xfrm>
          <a:custGeom>
            <a:avLst/>
            <a:gdLst/>
            <a:ahLst/>
            <a:cxn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3007" y="3533670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POPEYE TO PLUMBER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23007" y="3902110"/>
            <a:ext cx="5920154" cy="73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wanted to use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Popeye characters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but couldn't secure the license. So he created original characters: a gorilla (Bluto became Donkey Kong), a hero (Popeye became Jumpman), and a damsel (Olive Oyl became Pauline).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3007" y="4737379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Jumpman was renamed "Mario"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after Nintendo's Seattle landlord, Mario Segale, who demanded overdue rent.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42974" y="5566368"/>
            <a:ext cx="6204857" cy="1063451"/>
          </a:xfrm>
          <a:custGeom>
            <a:avLst/>
            <a:gdLst/>
            <a:ahLst/>
            <a:cxn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9512" y="5712907"/>
            <a:ext cx="599551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LEGAL VICTORY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89512" y="6047852"/>
            <a:ext cx="597876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Universal Studios sued Nintendo claiming Donkey Kong infringed on King Kong. Nintendo won, with Universal ordered to pay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$1.8 million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legal fees. The attorney, John Kirby, received a sailboat named "Donkey Kong."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HALL OF FAME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Top 10 Arcade Legends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7621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4875" y="17049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4875" y="1971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1980 • Maze-chase perfection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" y="26574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425" y="26003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8425" y="28670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 • Shooting genre pioneer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52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4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84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Platform gaming pioneer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52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875" y="44481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700" y="43910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Street Fighter II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5700" y="46577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1991 • Fighting game standard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52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875" y="534352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5700" y="52863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Ms. Pac-Man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700" y="55530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 • Refined gameplay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64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5075" y="1762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9625" y="17049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Galaga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9625" y="19716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Space shooter perfection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64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5075" y="26574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6900" y="26003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Defender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6900" y="28670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Complex controls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64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0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96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96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1979 • Vector graphics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4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5075" y="4448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625" y="43910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Centipede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9625" y="46577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Trackball innovation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64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5075" y="53435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96075" y="52863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Mortal Kombat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6075" y="55530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1992 • Digitized graphics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5288" y="60912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350" y="6257925"/>
            <a:ext cx="1116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These games generated 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in revenue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established gaming archetypes that persist today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BUSINESS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OF FUN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An Economic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41"/>
          </a:xfrm>
          <a:custGeom>
            <a:avLst/>
            <a:gdLst/>
            <a:ahLst/>
            <a:cxn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5382" y="345382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INDUSTRY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863456"/>
            <a:ext cx="1160485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Peak and Decline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382" y="1243377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58334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170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363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$8 Billion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5122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977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4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Nearly </a:t>
            </a:r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movie box office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($3.2B)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977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1246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2833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9679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36948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8535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610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4446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2639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7398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 Revenue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96253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5330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97% decline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just 4 years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625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1352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$7B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5109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7202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8929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$5B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10878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2652" y="4351819"/>
            <a:ext cx="11466697" cy="2486754"/>
          </a:xfrm>
          <a:custGeom>
            <a:avLst/>
            <a:gdLst/>
            <a:ahLst/>
            <a:cxn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805" y="4541779"/>
            <a:ext cx="1119039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TRAJECTORY</a:t>
            </a:r>
            <a:endParaRPr lang="en-US" sz="1600" dirty="0"/>
          </a:p>
        </p:txBody>
      </p:sp>
      <p:pic>
        <p:nvPicPr>
          <p:cNvPr id="32" name="Image 0" descr="https://kimi-img.moonshot.cn/pub/slides/26-03-18-20:08:22-d6t9bdjfj2jdcr296q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612" y="4921700"/>
            <a:ext cx="9947014" cy="1726912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POWER PLAYERS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That Ruled the Arcades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356" y="17526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33462" y="1743075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97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37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Asteroids (1979)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37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Centipede (1981)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Tempest (1981)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483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Pioneered vector graphics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603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544" y="17526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4213" y="1743075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72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512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(1980)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512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(1981)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512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Dig Dug (1982)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272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6558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gaming icons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16863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650" y="1752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755038" y="1743075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TAITO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3550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5950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Space Invaders (1978)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5950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Bubble Bobble (1986)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35950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Arkanoid (1986)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3550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26413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Started the golden 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528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075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462" y="42767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197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437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Donkey Kong (1981)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437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Mario Bros. (1983)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37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Popeye (1982)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483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Mario universe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5603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2966" y="4286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4213" y="4276725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MIDWAY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2272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512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(US dist.)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7512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Ms. Pac-Man (1982)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512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(US dist.)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2272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6558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Major US distributor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6863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650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3" name="Text 51"/>
          <p:cNvSpPr/>
          <p:nvPr/>
        </p:nvSpPr>
        <p:spPr>
          <a:xfrm>
            <a:off x="8755038" y="4276725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WILLIAMS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3550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35950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Defender (1981)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35950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Joust (1982)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35950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Robotron 2084 (1982)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83550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26413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Innovative gameplay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54dfb5c4d33cb4a05d16def8318f85ae5f5bb5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CULTURAL IMPACT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&amp; LEGACY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 Global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791"/>
          </a:xfrm>
          <a:custGeom>
            <a:avLst/>
            <a:gdLst/>
            <a:ahLst/>
            <a:cxn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3391" y="353391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ARCADES AS SOCIAL HUBS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883478"/>
            <a:ext cx="115912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Where Youth Culture Thrived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72209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6643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4765" y="1652104"/>
            <a:ext cx="530087" cy="424070"/>
          </a:xfrm>
          <a:custGeom>
            <a:avLst/>
            <a:gdLst/>
            <a:ahLst/>
            <a:cxn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50358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GATHERING PLACES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83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became the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malls of the 80s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—where teenagers hung out, made friends, and built communities around shared interests.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083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196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2" name="Text 10"/>
          <p:cNvSpPr/>
          <p:nvPr/>
        </p:nvSpPr>
        <p:spPr>
          <a:xfrm>
            <a:off x="437777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HIGH-SCORE WARS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102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Competing for top scores created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currency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Being the best at Pac-Man or Donkey Kong brought status and respect.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502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615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5196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 SAFE HAVEN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5215" y="2606261"/>
            <a:ext cx="3410226" cy="52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many teens, arcades offered a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refuge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—a place to escape, belong, and connect with like-minded peers.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643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583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EXPLOSION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6591" y="4353339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609" y="4477026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(1980)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3898" y="4459357"/>
            <a:ext cx="494748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591" y="4954104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2609" y="5077791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(1982)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6874" y="5060122"/>
            <a:ext cx="6449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10,000+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6591" y="5554870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2609" y="5678557"/>
            <a:ext cx="11573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 (1982)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9684" y="5660887"/>
            <a:ext cx="58309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6591" y="6155635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609" y="6279322"/>
            <a:ext cx="14135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Active Machines (1982)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71981" y="6261652"/>
            <a:ext cx="81280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 Million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268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0207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DYNAMICS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3216" y="4353339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20277" y="449469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836120" y="4459357"/>
            <a:ext cx="2420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Crowds gathered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around skilled players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3216" y="4918765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20277" y="5060122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9" name="Text 37"/>
          <p:cNvSpPr/>
          <p:nvPr/>
        </p:nvSpPr>
        <p:spPr>
          <a:xfrm>
            <a:off x="6836120" y="5024783"/>
            <a:ext cx="20585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Strategies shared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among players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3216" y="5484191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20277" y="5625548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6120" y="5590209"/>
            <a:ext cx="24560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Friendships formed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over shared passion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3216" y="6049617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2364" y="61909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5" name="Text 43"/>
          <p:cNvSpPr/>
          <p:nvPr/>
        </p:nvSpPr>
        <p:spPr>
          <a:xfrm>
            <a:off x="6836120" y="6155635"/>
            <a:ext cx="22970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Rivalries developed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between regulars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4419" y="354419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POP CULTURE INVASION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886047"/>
            <a:ext cx="11589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Games Became Icons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419" y="1275907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7709" y="1466407"/>
            <a:ext cx="5608674" cy="3180907"/>
          </a:xfrm>
          <a:custGeom>
            <a:avLst/>
            <a:gdLst/>
            <a:ahLst/>
            <a:cxn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017" y="1656907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63256" y="1656907"/>
            <a:ext cx="121388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HOLLYWOOD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09" y="2117651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4535" y="2223977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TRON (1982)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535" y="2507512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movie set inside a video game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209" y="2932814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4535" y="3039140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Last Starfighter (1984)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535" y="3322674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game as gateway to space adventure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209" y="3747977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4535" y="3854302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WarGames (1983)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535" y="4137837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Gaming culture meets Cold War tension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5616" y="1466407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558" y="166576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709" y="1656907"/>
            <a:ext cx="983512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&amp; TV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6116" y="2046767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videos featured arcade imagery. TV shows like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"Starcade"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(1982-84) made gaming a spectator sport. Pac-Man even got his own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Saturday morning cartoon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(1982-83).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616" y="2923953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8331" y="3123314"/>
            <a:ext cx="332267" cy="265814"/>
          </a:xfrm>
          <a:custGeom>
            <a:avLst/>
            <a:gdLst/>
            <a:ahLst/>
            <a:cxn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44709" y="3114453"/>
            <a:ext cx="708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FASHION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6116" y="3504314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Bright, neon colors from game screens influenced 80s fashion. Arcade-inspired patterns appeared on clothing, creating a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distinctive aesthetic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of the era.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7709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7163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8" name="Text 26"/>
          <p:cNvSpPr/>
          <p:nvPr/>
        </p:nvSpPr>
        <p:spPr>
          <a:xfrm>
            <a:off x="478465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MERCHANDISE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326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Lunch boxes, toys, bedsheets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3942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331" y="4970721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4698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3558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Game-based comic books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174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9628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90930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CEREAL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99791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 breakfast cereal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6407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5860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0" name="Text 38"/>
          <p:cNvSpPr/>
          <p:nvPr/>
        </p:nvSpPr>
        <p:spPr>
          <a:xfrm>
            <a:off x="9197163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MEDIA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06023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Newspaper coverage, strategy guides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7709" y="6251058"/>
            <a:ext cx="11456581" cy="593651"/>
          </a:xfrm>
          <a:custGeom>
            <a:avLst/>
            <a:gdLst/>
            <a:ahLst/>
            <a:cxn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605" y="6406116"/>
            <a:ext cx="1125279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became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touchstones</a:t>
            </a:r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recognized worldwide—transcending entertainment to become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symbols of a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34d1a5cf71eed33b230b710c9cdf7e9720935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2187" b="32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1450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4785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527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DECLINE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AND BEYOND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958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800600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977"/>
          </a:xfrm>
          <a:custGeom>
            <a:avLst/>
            <a:gdLst/>
            <a:ahLst/>
            <a:cxn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7302" y="327302"/>
            <a:ext cx="11733777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VIDEO GAME CRASH OF 1983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818255"/>
            <a:ext cx="1163558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the Industry Collapsed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302" y="1178287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3957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4902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132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PERFECT STORM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501" y="1955630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148" y="2086550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6446" y="2053820"/>
            <a:ext cx="24056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 Oversaturation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446" y="2282932"/>
            <a:ext cx="23974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 many low-quality games flooded the market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501" y="2675694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4148" y="2806615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46" y="2773885"/>
            <a:ext cx="20456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Loss of Consumer Trust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446" y="3002996"/>
            <a:ext cx="20374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Poor games destroyed buyer confidence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501" y="3395758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4148" y="3526679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6446" y="3493949"/>
            <a:ext cx="196381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Home Computer 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446" y="3723060"/>
            <a:ext cx="19556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PCs offered better value than arcades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550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0061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DEVASTATION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430" y="1955630"/>
            <a:ext cx="5294110" cy="1145557"/>
          </a:xfrm>
          <a:custGeom>
            <a:avLst/>
            <a:gdLst/>
            <a:ahLst/>
            <a:cxn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14161" y="2086550"/>
            <a:ext cx="5228650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93" b="1" dirty="0">
                <a:solidFill>
                  <a:srgbClr val="FF6B6B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5530" y="2544773"/>
            <a:ext cx="510591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Decline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9621" y="2773885"/>
            <a:ext cx="509772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$3.2B → $100M (1983-1985)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430" y="3232107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79621" y="3330298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Atari's Loss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9621" y="3592140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$350 million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1983 alone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430" y="4017632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9621" y="4115823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Landfill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9621" y="4377664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Unsold cartridges buried in </a:t>
            </a:r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 Mexico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9576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5756" y="5146824"/>
            <a:ext cx="220929" cy="294572"/>
          </a:xfrm>
          <a:custGeom>
            <a:avLst/>
            <a:gdLst/>
            <a:ahLst/>
            <a:cxn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41858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FOLDED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040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U.S. Games, Magnavox, and dozens more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28397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29344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330679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LAYOFFS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38861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Thousands lost jobs industry-wide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7218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8165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8219500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CLOSED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7682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Many arcades shut down permanently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9576" y="6329203"/>
            <a:ext cx="11512848" cy="515501"/>
          </a:xfrm>
          <a:custGeom>
            <a:avLst/>
            <a:gdLst/>
            <a:ahLst/>
            <a:cxn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858" y="6472397"/>
            <a:ext cx="11308285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By 1985, the industry was on its knees. But from the ashes, a </a:t>
            </a:r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phoenix would rise</a:t>
            </a:r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2844" y="372844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PHOENIX RISES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932110"/>
            <a:ext cx="1155816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Redemption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342239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6826" y="1542642"/>
            <a:ext cx="5583339" cy="2013358"/>
          </a:xfrm>
          <a:custGeom>
            <a:avLst/>
            <a:gdLst/>
            <a:ahLst/>
            <a:cxn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229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NEWCOMER ARRIVES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229" y="2153174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a Japanese company entered the US market with a revolutionary approach: the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Entertainment System (NES)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229" y="2810312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studied the crash's lessons and implemented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strict quality control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prevent another market collapse.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826" y="3733101"/>
            <a:ext cx="5583339" cy="1929468"/>
          </a:xfrm>
          <a:custGeom>
            <a:avLst/>
            <a:gdLst/>
            <a:ahLst/>
            <a:cxn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229" y="3933505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NINTENDO STRATEGY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0532" y="438091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1"/>
          <p:cNvSpPr/>
          <p:nvPr/>
        </p:nvSpPr>
        <p:spPr>
          <a:xfrm>
            <a:off x="908807" y="4343633"/>
            <a:ext cx="315053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Third-party licensing: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Controlled who could make games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0532" y="467919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5" name="Text 13"/>
          <p:cNvSpPr/>
          <p:nvPr/>
        </p:nvSpPr>
        <p:spPr>
          <a:xfrm>
            <a:off x="908807" y="4641908"/>
            <a:ext cx="277768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Quality standards: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Every game required approval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532" y="4977468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807" y="4940183"/>
            <a:ext cx="31878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Repositioned NES as "entertainment system"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0532" y="527574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908807" y="5238459"/>
            <a:ext cx="2982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Super Mario Bros., The Legend of Zelda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874" y="1542642"/>
            <a:ext cx="5583339" cy="3942826"/>
          </a:xfrm>
          <a:custGeom>
            <a:avLst/>
            <a:gdLst/>
            <a:ahLst/>
            <a:cxn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351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4278" y="2190459"/>
            <a:ext cx="5182532" cy="1081248"/>
          </a:xfrm>
          <a:custGeom>
            <a:avLst/>
            <a:gdLst/>
            <a:ahLst/>
            <a:cxn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1562" y="2339596"/>
            <a:ext cx="510796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1470" y="2861578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 Console Market Share by 1987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4278" y="3420844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73415" y="3569982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Consumer Confidence Restored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3415" y="3905541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seal of quality reassured buyers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4278" y="4427523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73415" y="4576661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Industry Foundation Rebuilt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3415" y="4912220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gaming business model established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874" y="5662569"/>
            <a:ext cx="5583339" cy="1183780"/>
          </a:xfrm>
          <a:custGeom>
            <a:avLst/>
            <a:gdLst/>
            <a:ahLst/>
            <a:cxn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0388" y="5825688"/>
            <a:ext cx="535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ARCADE LEGACY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9709" y="6198532"/>
            <a:ext cx="533167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NES games like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Super Mario Bros.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brought arcade-quality experiences into living rooms—preserving the golden age's innovations for future generations.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99" r="99" t="0" b="0"/>
          <a:stretch/>
        </p:blipFill>
        <p:spPr>
          <a:xfrm>
            <a:off x="0" y="0"/>
            <a:ext cx="12192000" cy="685631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13"/>
          </a:xfrm>
          <a:custGeom>
            <a:avLst/>
            <a:gdLst/>
            <a:ahLst/>
            <a:cxn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608573" y="-186704"/>
            <a:ext cx="971761" cy="64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0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🕹️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1562" y="821048"/>
            <a:ext cx="3104236" cy="161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LEGACY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LIVES 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74631" y="2656596"/>
            <a:ext cx="1439646" cy="0"/>
          </a:xfrm>
          <a:custGeom>
            <a:avLst/>
            <a:gdLst/>
            <a:ahLst/>
            <a:cxn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4"/>
          <p:cNvSpPr/>
          <p:nvPr/>
        </p:nvSpPr>
        <p:spPr>
          <a:xfrm>
            <a:off x="2201365" y="2944525"/>
            <a:ext cx="7783085" cy="35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of arcade games established principles that still drive the industry today: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68848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6194" y="368234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Text 7"/>
          <p:cNvSpPr/>
          <p:nvPr/>
        </p:nvSpPr>
        <p:spPr>
          <a:xfrm>
            <a:off x="2385819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Competitive Gaming Culture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9932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3537" y="3682344"/>
            <a:ext cx="337417" cy="269934"/>
          </a:xfrm>
          <a:custGeom>
            <a:avLst/>
            <a:gdLst/>
            <a:ahLst/>
            <a:cxn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0"/>
          <p:cNvSpPr/>
          <p:nvPr/>
        </p:nvSpPr>
        <p:spPr>
          <a:xfrm>
            <a:off x="6296904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Experiences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268848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39936" y="4798069"/>
            <a:ext cx="202450" cy="269934"/>
          </a:xfrm>
          <a:custGeom>
            <a:avLst/>
            <a:gdLst/>
            <a:ahLst/>
            <a:cxn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3"/>
          <p:cNvSpPr/>
          <p:nvPr/>
        </p:nvSpPr>
        <p:spPr>
          <a:xfrm>
            <a:off x="2385819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Character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9932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17278" y="4798069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9" name="Text 16"/>
          <p:cNvSpPr/>
          <p:nvPr/>
        </p:nvSpPr>
        <p:spPr>
          <a:xfrm>
            <a:off x="6296904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for Everyone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10362" y="5814819"/>
            <a:ext cx="7765089" cy="29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Every mobile game, esports tournament, and modern arcade traces its roots to those </a:t>
            </a:r>
            <a:pPr algn="ctr">
              <a:lnSpc>
                <a:spcPct val="140000"/>
              </a:lnSpc>
            </a:pPr>
            <a:r>
              <a:rPr lang="en-US" sz="141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neon-lit rooms of the 1980s</a:t>
            </a:r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87868" y="6395176"/>
            <a:ext cx="7810078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INSERT COIN TO CONTINUE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10362" y="6791079"/>
            <a:ext cx="776508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 never really ended.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34542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2471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Shape 22"/>
          <p:cNvSpPr/>
          <p:nvPr/>
        </p:nvSpPr>
        <p:spPr>
          <a:xfrm>
            <a:off x="6310400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Golden Age of Arcade Games</dc:title>
  <dc:subject>The Golden Age of Arcade Games</dc:subject>
  <dc:creator>Kimi</dc:creator>
  <cp:lastModifiedBy>Kimi</cp:lastModifiedBy>
  <cp:revision>1</cp:revision>
  <dcterms:created xsi:type="dcterms:W3CDTF">2026-03-18T12:09:07Z</dcterms:created>
  <dcterms:modified xsi:type="dcterms:W3CDTF">2026-03-18T12:09:07Z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</Properties>
</file>