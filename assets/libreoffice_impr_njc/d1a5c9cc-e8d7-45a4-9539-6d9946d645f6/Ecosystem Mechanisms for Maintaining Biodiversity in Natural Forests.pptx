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9.xml.rels" ContentType="application/vnd.openxmlformats-package.relationships+xml"/>
  <Override PartName="/ppt/notesSlides/_rels/notesSlide18.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19.xml" ContentType="application/vnd.openxmlformats-officedocument.presentationml.notesSlid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media/image3.jpeg" ContentType="image/jpeg"/>
  <Override PartName="/ppt/media/image2.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1.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3588"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HK" sz="4400" spc="-1" strike="noStrike">
                <a:latin typeface="Arial"/>
              </a:rPr>
              <a:t>Click to move the slide</a:t>
            </a:r>
            <a:endParaRPr b="0" lang="en-HK" sz="4400" spc="-1" strike="noStrike">
              <a:latin typeface="Arial"/>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HK" sz="2000" spc="-1" strike="noStrike">
                <a:latin typeface="Arial"/>
              </a:rPr>
              <a:t>Click to edit the notes format</a:t>
            </a:r>
            <a:endParaRPr b="0" lang="en-HK"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HK" sz="1400" spc="-1" strike="noStrike">
                <a:latin typeface="Times New Roman"/>
              </a:rPr>
              <a:t>&lt;header&gt;</a:t>
            </a:r>
            <a:endParaRPr b="0" lang="en-HK"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HK" sz="1400" spc="-1" strike="noStrike">
                <a:latin typeface="Times New Roman"/>
              </a:defRPr>
            </a:lvl1pPr>
          </a:lstStyle>
          <a:p>
            <a:pPr algn="r">
              <a:buNone/>
            </a:pPr>
            <a:r>
              <a:rPr b="0" lang="en-HK" sz="1400" spc="-1" strike="noStrike">
                <a:latin typeface="Times New Roman"/>
              </a:rPr>
              <a:t>&lt;date/time&gt;</a:t>
            </a:r>
            <a:endParaRPr b="0" lang="en-HK"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HK" sz="1400" spc="-1" strike="noStrike">
                <a:latin typeface="Times New Roman"/>
              </a:defRPr>
            </a:lvl1pPr>
          </a:lstStyle>
          <a:p>
            <a:r>
              <a:rPr b="0" lang="en-HK" sz="1400" spc="-1" strike="noStrike">
                <a:latin typeface="Times New Roman"/>
              </a:rPr>
              <a:t>&lt;footer&gt;</a:t>
            </a:r>
            <a:endParaRPr b="0" lang="en-HK"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HK" sz="1400" spc="-1" strike="noStrike">
                <a:latin typeface="Times New Roman"/>
              </a:defRPr>
            </a:lvl1pPr>
          </a:lstStyle>
          <a:p>
            <a:pPr algn="r">
              <a:buNone/>
            </a:pPr>
            <a:fld id="{83430086-D18A-4B40-8FC0-4F320C9DC206}" type="slidenum">
              <a:rPr b="0" lang="en-HK" sz="1400" spc="-1" strike="noStrike">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9" name="PlaceHolder 1"/>
          <p:cNvSpPr>
            <a:spLocks noGrp="1"/>
          </p:cNvSpPr>
          <p:nvPr>
            <p:ph type="sldImg"/>
          </p:nvPr>
        </p:nvSpPr>
        <p:spPr>
          <a:xfrm>
            <a:off x="685800" y="1143000"/>
            <a:ext cx="5485320" cy="3085200"/>
          </a:xfrm>
          <a:prstGeom prst="rect">
            <a:avLst/>
          </a:prstGeom>
          <a:ln w="0">
            <a:noFill/>
          </a:ln>
        </p:spPr>
      </p:sp>
      <p:sp>
        <p:nvSpPr>
          <p:cNvPr id="820"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821" name="PlaceHolder 3"/>
          <p:cNvSpPr>
            <a:spLocks noGrp="1"/>
          </p:cNvSpPr>
          <p:nvPr>
            <p:ph type="sldNum" idx="4"/>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4FBB2026-DB43-4AE5-9EAC-59893BCDD74D}"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2" name="PlaceHolder 1"/>
          <p:cNvSpPr>
            <a:spLocks noGrp="1"/>
          </p:cNvSpPr>
          <p:nvPr>
            <p:ph type="sldImg"/>
          </p:nvPr>
        </p:nvSpPr>
        <p:spPr>
          <a:xfrm>
            <a:off x="685800" y="1143000"/>
            <a:ext cx="5485320" cy="3085200"/>
          </a:xfrm>
          <a:prstGeom prst="rect">
            <a:avLst/>
          </a:prstGeom>
          <a:ln w="0">
            <a:noFill/>
          </a:ln>
        </p:spPr>
      </p:sp>
      <p:sp>
        <p:nvSpPr>
          <p:cNvPr id="823"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824" name="PlaceHolder 3"/>
          <p:cNvSpPr>
            <a:spLocks noGrp="1"/>
          </p:cNvSpPr>
          <p:nvPr>
            <p:ph type="sldNum" idx="5"/>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F5C02EE4-E6F7-4220-AFBC-00CB88DBF4E5}"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5" name="PlaceHolder 1"/>
          <p:cNvSpPr>
            <a:spLocks noGrp="1"/>
          </p:cNvSpPr>
          <p:nvPr>
            <p:ph type="sldImg"/>
          </p:nvPr>
        </p:nvSpPr>
        <p:spPr>
          <a:xfrm>
            <a:off x="685800" y="1143000"/>
            <a:ext cx="5485320" cy="3085200"/>
          </a:xfrm>
          <a:prstGeom prst="rect">
            <a:avLst/>
          </a:prstGeom>
          <a:ln w="0">
            <a:noFill/>
          </a:ln>
        </p:spPr>
      </p:sp>
      <p:sp>
        <p:nvSpPr>
          <p:cNvPr id="826"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pPr marL="216000" indent="-216000">
              <a:lnSpc>
                <a:spcPct val="100000"/>
              </a:lnSpc>
              <a:buNone/>
              <a:tabLst>
                <a:tab algn="l" pos="0"/>
              </a:tabLst>
            </a:pPr>
            <a:r>
              <a:rPr b="0" lang="en-HK" sz="1800" spc="-1" strike="noStrike">
                <a:latin typeface="Arial"/>
              </a:rPr>
              <a:t>Forests cover approximately </a:t>
            </a:r>
            <a:r>
              <a:rPr b="0" lang="en-HK" sz="1800" spc="-1" strike="noStrike">
                <a:latin typeface="Arial"/>
              </a:rPr>
              <a:t>31% of the Earth’s land </a:t>
            </a:r>
            <a:r>
              <a:rPr b="0" lang="en-HK" sz="1800" spc="-1" strike="noStrike">
                <a:latin typeface="Arial"/>
              </a:rPr>
              <a:t>surface and host over 80% of </a:t>
            </a:r>
            <a:r>
              <a:rPr b="0" lang="en-HK" sz="1800" spc="-1" strike="noStrike">
                <a:latin typeface="Arial"/>
              </a:rPr>
              <a:t>terrestrial biodiversity.</a:t>
            </a:r>
            <a:endParaRPr b="0" lang="en-HK" sz="1800" spc="-1" strike="noStrike">
              <a:latin typeface="Arial"/>
            </a:endParaRPr>
          </a:p>
        </p:txBody>
      </p:sp>
      <p:sp>
        <p:nvSpPr>
          <p:cNvPr id="827" name="PlaceHolder 3"/>
          <p:cNvSpPr>
            <a:spLocks noGrp="1"/>
          </p:cNvSpPr>
          <p:nvPr>
            <p:ph type="sldNum" idx="6"/>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2A3B7E52-123F-4FC9-955C-A8CB6E8EA5C0}"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8" name="PlaceHolder 1"/>
          <p:cNvSpPr>
            <a:spLocks noGrp="1"/>
          </p:cNvSpPr>
          <p:nvPr>
            <p:ph type="sldImg"/>
          </p:nvPr>
        </p:nvSpPr>
        <p:spPr>
          <a:xfrm>
            <a:off x="685800" y="1143000"/>
            <a:ext cx="5485320" cy="3085200"/>
          </a:xfrm>
          <a:prstGeom prst="rect">
            <a:avLst/>
          </a:prstGeom>
          <a:ln w="0">
            <a:noFill/>
          </a:ln>
        </p:spPr>
      </p:sp>
      <p:sp>
        <p:nvSpPr>
          <p:cNvPr id="829"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830" name="PlaceHolder 3"/>
          <p:cNvSpPr>
            <a:spLocks noGrp="1"/>
          </p:cNvSpPr>
          <p:nvPr>
            <p:ph type="sldNum" idx="7"/>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C55C7EBB-FE09-48CB-8FCB-3B41B7E6EEB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1" name="PlaceHolder 1"/>
          <p:cNvSpPr>
            <a:spLocks noGrp="1"/>
          </p:cNvSpPr>
          <p:nvPr>
            <p:ph type="sldImg"/>
          </p:nvPr>
        </p:nvSpPr>
        <p:spPr>
          <a:xfrm>
            <a:off x="685800" y="1143000"/>
            <a:ext cx="5485320" cy="3085200"/>
          </a:xfrm>
          <a:prstGeom prst="rect">
            <a:avLst/>
          </a:prstGeom>
          <a:ln w="0">
            <a:noFill/>
          </a:ln>
        </p:spPr>
      </p:sp>
      <p:sp>
        <p:nvSpPr>
          <p:cNvPr id="832"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833" name="PlaceHolder 3"/>
          <p:cNvSpPr>
            <a:spLocks noGrp="1"/>
          </p:cNvSpPr>
          <p:nvPr>
            <p:ph type="sldNum" idx="8"/>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AF5542E3-16A4-4C5F-A2D0-C48FEB86AE50}"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4" name="PlaceHolder 1"/>
          <p:cNvSpPr>
            <a:spLocks noGrp="1"/>
          </p:cNvSpPr>
          <p:nvPr>
            <p:ph type="sldImg"/>
          </p:nvPr>
        </p:nvSpPr>
        <p:spPr>
          <a:xfrm>
            <a:off x="685800" y="1143000"/>
            <a:ext cx="5485320" cy="3085200"/>
          </a:xfrm>
          <a:prstGeom prst="rect">
            <a:avLst/>
          </a:prstGeom>
          <a:ln w="0">
            <a:noFill/>
          </a:ln>
        </p:spPr>
      </p:sp>
      <p:sp>
        <p:nvSpPr>
          <p:cNvPr id="835"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836" name="PlaceHolder 3"/>
          <p:cNvSpPr>
            <a:spLocks noGrp="1"/>
          </p:cNvSpPr>
          <p:nvPr>
            <p:ph type="sldNum" idx="9"/>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0776831D-E3BE-4B20-99E4-095883ED81F7}"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7" name="PlaceHolder 1"/>
          <p:cNvSpPr>
            <a:spLocks noGrp="1"/>
          </p:cNvSpPr>
          <p:nvPr>
            <p:ph type="sldImg"/>
          </p:nvPr>
        </p:nvSpPr>
        <p:spPr>
          <a:xfrm>
            <a:off x="685800" y="1143000"/>
            <a:ext cx="5485320" cy="3085200"/>
          </a:xfrm>
          <a:prstGeom prst="rect">
            <a:avLst/>
          </a:prstGeom>
          <a:ln w="0">
            <a:noFill/>
          </a:ln>
        </p:spPr>
      </p:sp>
      <p:sp>
        <p:nvSpPr>
          <p:cNvPr id="838"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839" name="PlaceHolder 3"/>
          <p:cNvSpPr>
            <a:spLocks noGrp="1"/>
          </p:cNvSpPr>
          <p:nvPr>
            <p:ph type="sldNum" idx="10"/>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7F942249-777E-4296-9A26-19E8597525E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0" name="PlaceHolder 1"/>
          <p:cNvSpPr>
            <a:spLocks noGrp="1"/>
          </p:cNvSpPr>
          <p:nvPr>
            <p:ph type="sldImg"/>
          </p:nvPr>
        </p:nvSpPr>
        <p:spPr>
          <a:xfrm>
            <a:off x="685800" y="1143000"/>
            <a:ext cx="5485320" cy="3085200"/>
          </a:xfrm>
          <a:prstGeom prst="rect">
            <a:avLst/>
          </a:prstGeom>
          <a:ln w="0">
            <a:noFill/>
          </a:ln>
        </p:spPr>
      </p:sp>
      <p:sp>
        <p:nvSpPr>
          <p:cNvPr id="841"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842" name="PlaceHolder 3"/>
          <p:cNvSpPr>
            <a:spLocks noGrp="1"/>
          </p:cNvSpPr>
          <p:nvPr>
            <p:ph type="sldNum" idx="11"/>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C0266DBB-6DEF-437C-90B1-CA2A63E31AA5}"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3" name="PlaceHolder 1"/>
          <p:cNvSpPr>
            <a:spLocks noGrp="1"/>
          </p:cNvSpPr>
          <p:nvPr>
            <p:ph type="sldImg"/>
          </p:nvPr>
        </p:nvSpPr>
        <p:spPr>
          <a:xfrm>
            <a:off x="685800" y="1143000"/>
            <a:ext cx="5485320" cy="3085200"/>
          </a:xfrm>
          <a:prstGeom prst="rect">
            <a:avLst/>
          </a:prstGeom>
          <a:ln w="0">
            <a:noFill/>
          </a:ln>
        </p:spPr>
      </p:sp>
      <p:sp>
        <p:nvSpPr>
          <p:cNvPr id="844"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845" name="PlaceHolder 3"/>
          <p:cNvSpPr>
            <a:spLocks noGrp="1"/>
          </p:cNvSpPr>
          <p:nvPr>
            <p:ph type="sldNum" idx="12"/>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849408C2-EDF6-43B7-B811-40E2DD7D4FAD}"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6" name="PlaceHolder 1"/>
          <p:cNvSpPr>
            <a:spLocks noGrp="1"/>
          </p:cNvSpPr>
          <p:nvPr>
            <p:ph type="sldImg"/>
          </p:nvPr>
        </p:nvSpPr>
        <p:spPr>
          <a:xfrm>
            <a:off x="685800" y="1143000"/>
            <a:ext cx="5485320" cy="3085200"/>
          </a:xfrm>
          <a:prstGeom prst="rect">
            <a:avLst/>
          </a:prstGeom>
          <a:ln w="0">
            <a:noFill/>
          </a:ln>
        </p:spPr>
      </p:sp>
      <p:sp>
        <p:nvSpPr>
          <p:cNvPr id="847"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848" name="PlaceHolder 3"/>
          <p:cNvSpPr>
            <a:spLocks noGrp="1"/>
          </p:cNvSpPr>
          <p:nvPr>
            <p:ph type="sldNum" idx="13"/>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A1335E2E-8293-4B15-AD1D-BD41B88A9496}"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9" name="PlaceHolder 1"/>
          <p:cNvSpPr>
            <a:spLocks noGrp="1"/>
          </p:cNvSpPr>
          <p:nvPr>
            <p:ph type="sldImg"/>
          </p:nvPr>
        </p:nvSpPr>
        <p:spPr>
          <a:xfrm>
            <a:off x="685800" y="1143000"/>
            <a:ext cx="5485320" cy="3085200"/>
          </a:xfrm>
          <a:prstGeom prst="rect">
            <a:avLst/>
          </a:prstGeom>
          <a:ln w="0">
            <a:noFill/>
          </a:ln>
        </p:spPr>
      </p:sp>
      <p:sp>
        <p:nvSpPr>
          <p:cNvPr id="850"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851" name="PlaceHolder 3"/>
          <p:cNvSpPr>
            <a:spLocks noGrp="1"/>
          </p:cNvSpPr>
          <p:nvPr>
            <p:ph type="sldNum" idx="14"/>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8DD60AC6-4C19-4120-964B-EAD5E58CD223}"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2" name="PlaceHolder 1"/>
          <p:cNvSpPr>
            <a:spLocks noGrp="1"/>
          </p:cNvSpPr>
          <p:nvPr>
            <p:ph type="sldImg"/>
          </p:nvPr>
        </p:nvSpPr>
        <p:spPr>
          <a:xfrm>
            <a:off x="685800" y="1143000"/>
            <a:ext cx="5485320" cy="3085200"/>
          </a:xfrm>
          <a:prstGeom prst="rect">
            <a:avLst/>
          </a:prstGeom>
          <a:ln w="0">
            <a:noFill/>
          </a:ln>
        </p:spPr>
      </p:sp>
      <p:sp>
        <p:nvSpPr>
          <p:cNvPr id="853"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854" name="PlaceHolder 3"/>
          <p:cNvSpPr>
            <a:spLocks noGrp="1"/>
          </p:cNvSpPr>
          <p:nvPr>
            <p:ph type="sldNum" idx="15"/>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A101E129-3ADC-4612-8428-76ED05F9CBE7}"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5" name="PlaceHolder 1"/>
          <p:cNvSpPr>
            <a:spLocks noGrp="1"/>
          </p:cNvSpPr>
          <p:nvPr>
            <p:ph type="sldImg"/>
          </p:nvPr>
        </p:nvSpPr>
        <p:spPr>
          <a:xfrm>
            <a:off x="685800" y="1143000"/>
            <a:ext cx="5485320" cy="3085200"/>
          </a:xfrm>
          <a:prstGeom prst="rect">
            <a:avLst/>
          </a:prstGeom>
          <a:ln w="0">
            <a:noFill/>
          </a:ln>
        </p:spPr>
      </p:sp>
      <p:sp>
        <p:nvSpPr>
          <p:cNvPr id="856"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857" name="PlaceHolder 3"/>
          <p:cNvSpPr>
            <a:spLocks noGrp="1"/>
          </p:cNvSpPr>
          <p:nvPr>
            <p:ph type="sldNum" idx="16"/>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4206F531-3294-407E-A482-28821DCE14E3}"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8" name="PlaceHolder 1"/>
          <p:cNvSpPr>
            <a:spLocks noGrp="1"/>
          </p:cNvSpPr>
          <p:nvPr>
            <p:ph type="sldImg"/>
          </p:nvPr>
        </p:nvSpPr>
        <p:spPr>
          <a:xfrm>
            <a:off x="685800" y="1143000"/>
            <a:ext cx="5485320" cy="3085200"/>
          </a:xfrm>
          <a:prstGeom prst="rect">
            <a:avLst/>
          </a:prstGeom>
          <a:ln w="0">
            <a:noFill/>
          </a:ln>
        </p:spPr>
      </p:sp>
      <p:sp>
        <p:nvSpPr>
          <p:cNvPr id="859"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860" name="PlaceHolder 3"/>
          <p:cNvSpPr>
            <a:spLocks noGrp="1"/>
          </p:cNvSpPr>
          <p:nvPr>
            <p:ph type="sldNum" idx="17"/>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3386E7DD-25B3-4A05-B170-9615B1536077}"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1" name="PlaceHolder 1"/>
          <p:cNvSpPr>
            <a:spLocks noGrp="1"/>
          </p:cNvSpPr>
          <p:nvPr>
            <p:ph type="sldImg"/>
          </p:nvPr>
        </p:nvSpPr>
        <p:spPr>
          <a:xfrm>
            <a:off x="685800" y="1143000"/>
            <a:ext cx="5485320" cy="3085200"/>
          </a:xfrm>
          <a:prstGeom prst="rect">
            <a:avLst/>
          </a:prstGeom>
          <a:ln w="0">
            <a:noFill/>
          </a:ln>
        </p:spPr>
      </p:sp>
      <p:sp>
        <p:nvSpPr>
          <p:cNvPr id="862"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863" name="PlaceHolder 3"/>
          <p:cNvSpPr>
            <a:spLocks noGrp="1"/>
          </p:cNvSpPr>
          <p:nvPr>
            <p:ph type="sldNum" idx="18"/>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752C5320-472F-4EFE-BFA6-A968488206B4}"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4" name="PlaceHolder 1"/>
          <p:cNvSpPr>
            <a:spLocks noGrp="1"/>
          </p:cNvSpPr>
          <p:nvPr>
            <p:ph type="sldImg"/>
          </p:nvPr>
        </p:nvSpPr>
        <p:spPr>
          <a:xfrm>
            <a:off x="685800" y="1143000"/>
            <a:ext cx="5485320" cy="3085200"/>
          </a:xfrm>
          <a:prstGeom prst="rect">
            <a:avLst/>
          </a:prstGeom>
          <a:ln w="0">
            <a:noFill/>
          </a:ln>
        </p:spPr>
      </p:sp>
      <p:sp>
        <p:nvSpPr>
          <p:cNvPr id="865"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866" name="PlaceHolder 3"/>
          <p:cNvSpPr>
            <a:spLocks noGrp="1"/>
          </p:cNvSpPr>
          <p:nvPr>
            <p:ph type="sldNum" idx="19"/>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21767457-08DA-4450-92DC-2688D41FBB6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7" name="PlaceHolder 1"/>
          <p:cNvSpPr>
            <a:spLocks noGrp="1"/>
          </p:cNvSpPr>
          <p:nvPr>
            <p:ph type="sldImg"/>
          </p:nvPr>
        </p:nvSpPr>
        <p:spPr>
          <a:xfrm>
            <a:off x="685800" y="1143000"/>
            <a:ext cx="5485320" cy="3085200"/>
          </a:xfrm>
          <a:prstGeom prst="rect">
            <a:avLst/>
          </a:prstGeom>
          <a:ln w="0">
            <a:noFill/>
          </a:ln>
        </p:spPr>
      </p:sp>
      <p:sp>
        <p:nvSpPr>
          <p:cNvPr id="868"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869" name="PlaceHolder 3"/>
          <p:cNvSpPr>
            <a:spLocks noGrp="1"/>
          </p:cNvSpPr>
          <p:nvPr>
            <p:ph type="sldNum" idx="20"/>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E3D95378-692B-4B4E-92E1-F46CAF3285E3}"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0" name="PlaceHolder 1"/>
          <p:cNvSpPr>
            <a:spLocks noGrp="1"/>
          </p:cNvSpPr>
          <p:nvPr>
            <p:ph type="sldImg"/>
          </p:nvPr>
        </p:nvSpPr>
        <p:spPr>
          <a:xfrm>
            <a:off x="685800" y="1143000"/>
            <a:ext cx="5485320" cy="3085200"/>
          </a:xfrm>
          <a:prstGeom prst="rect">
            <a:avLst/>
          </a:prstGeom>
          <a:ln w="0">
            <a:noFill/>
          </a:ln>
        </p:spPr>
      </p:sp>
      <p:sp>
        <p:nvSpPr>
          <p:cNvPr id="871"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872" name="PlaceHolder 3"/>
          <p:cNvSpPr>
            <a:spLocks noGrp="1"/>
          </p:cNvSpPr>
          <p:nvPr>
            <p:ph type="sldNum" idx="21"/>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7121E29D-2FBD-4A15-A3E6-2F9594137E50}"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3" name="PlaceHolder 1"/>
          <p:cNvSpPr>
            <a:spLocks noGrp="1"/>
          </p:cNvSpPr>
          <p:nvPr>
            <p:ph type="sldImg"/>
          </p:nvPr>
        </p:nvSpPr>
        <p:spPr>
          <a:xfrm>
            <a:off x="685800" y="1143000"/>
            <a:ext cx="5485320" cy="3085200"/>
          </a:xfrm>
          <a:prstGeom prst="rect">
            <a:avLst/>
          </a:prstGeom>
          <a:ln w="0">
            <a:noFill/>
          </a:ln>
        </p:spPr>
      </p:sp>
      <p:sp>
        <p:nvSpPr>
          <p:cNvPr id="874"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HK" sz="2000" spc="-1" strike="noStrike">
              <a:latin typeface="Arial"/>
            </a:endParaRPr>
          </a:p>
        </p:txBody>
      </p:sp>
      <p:sp>
        <p:nvSpPr>
          <p:cNvPr id="875" name="PlaceHolder 3"/>
          <p:cNvSpPr>
            <a:spLocks noGrp="1"/>
          </p:cNvSpPr>
          <p:nvPr>
            <p:ph type="sldNum" idx="22"/>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E0E17DDA-D04A-4383-A189-0D0B049C8D6B}" type="slidenum">
              <a:rPr b="0" lang="en-US" sz="1200" spc="-1" strike="noStrike">
                <a:latin typeface="Times New Roman"/>
              </a:rPr>
              <a:t>&lt;number&gt;</a:t>
            </a:fld>
            <a:endParaRPr b="0" lang="en-HK"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 name="PlaceHolder 2"/>
          <p:cNvSpPr>
            <a:spLocks noGrp="1"/>
          </p:cNvSpPr>
          <p:nvPr>
            <p:ph type="subTitle"/>
          </p:nvPr>
        </p:nvSpPr>
        <p:spPr>
          <a:xfrm>
            <a:off x="609480" y="1604520"/>
            <a:ext cx="1097352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5" name="PlaceHolder 2"/>
          <p:cNvSpPr>
            <a:spLocks noGrp="1"/>
          </p:cNvSpPr>
          <p:nvPr>
            <p:ph/>
          </p:nvPr>
        </p:nvSpPr>
        <p:spPr>
          <a:xfrm>
            <a:off x="609480" y="1604520"/>
            <a:ext cx="1097352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7" name="PlaceHolder 2"/>
          <p:cNvSpPr>
            <a:spLocks noGrp="1"/>
          </p:cNvSpPr>
          <p:nvPr>
            <p:ph/>
          </p:nvPr>
        </p:nvSpPr>
        <p:spPr>
          <a:xfrm>
            <a:off x="609480" y="1604520"/>
            <a:ext cx="53550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8" name="PlaceHolder 3"/>
          <p:cNvSpPr>
            <a:spLocks noGrp="1"/>
          </p:cNvSpPr>
          <p:nvPr>
            <p:ph/>
          </p:nvPr>
        </p:nvSpPr>
        <p:spPr>
          <a:xfrm>
            <a:off x="6232680" y="1604520"/>
            <a:ext cx="535500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3520" cy="53078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2" name="PlaceHolder 2"/>
          <p:cNvSpPr>
            <a:spLocks noGrp="1"/>
          </p:cNvSpPr>
          <p:nvPr>
            <p:ph/>
          </p:nvPr>
        </p:nvSpPr>
        <p:spPr>
          <a:xfrm>
            <a:off x="609480" y="160452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3" name="PlaceHolder 3"/>
          <p:cNvSpPr>
            <a:spLocks noGrp="1"/>
          </p:cNvSpPr>
          <p:nvPr>
            <p:ph/>
          </p:nvPr>
        </p:nvSpPr>
        <p:spPr>
          <a:xfrm>
            <a:off x="6232680" y="1604520"/>
            <a:ext cx="53550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4" name="PlaceHolder 4"/>
          <p:cNvSpPr>
            <a:spLocks noGrp="1"/>
          </p:cNvSpPr>
          <p:nvPr>
            <p:ph/>
          </p:nvPr>
        </p:nvSpPr>
        <p:spPr>
          <a:xfrm>
            <a:off x="609480" y="3682080"/>
            <a:ext cx="535500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6" name="PlaceHolder 2"/>
          <p:cNvSpPr>
            <a:spLocks noGrp="1"/>
          </p:cNvSpPr>
          <p:nvPr>
            <p:ph/>
          </p:nvPr>
        </p:nvSpPr>
        <p:spPr>
          <a:xfrm>
            <a:off x="609480" y="1604520"/>
            <a:ext cx="53550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7" name="PlaceHolder 3"/>
          <p:cNvSpPr>
            <a:spLocks noGrp="1"/>
          </p:cNvSpPr>
          <p:nvPr>
            <p:ph/>
          </p:nvPr>
        </p:nvSpPr>
        <p:spPr>
          <a:xfrm>
            <a:off x="6232680" y="160452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8" name="PlaceHolder 4"/>
          <p:cNvSpPr>
            <a:spLocks noGrp="1"/>
          </p:cNvSpPr>
          <p:nvPr>
            <p:ph/>
          </p:nvPr>
        </p:nvSpPr>
        <p:spPr>
          <a:xfrm>
            <a:off x="6232680" y="3682080"/>
            <a:ext cx="535500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0" name="PlaceHolder 2"/>
          <p:cNvSpPr>
            <a:spLocks noGrp="1"/>
          </p:cNvSpPr>
          <p:nvPr>
            <p:ph/>
          </p:nvPr>
        </p:nvSpPr>
        <p:spPr>
          <a:xfrm>
            <a:off x="609480" y="160452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1" name="PlaceHolder 3"/>
          <p:cNvSpPr>
            <a:spLocks noGrp="1"/>
          </p:cNvSpPr>
          <p:nvPr>
            <p:ph/>
          </p:nvPr>
        </p:nvSpPr>
        <p:spPr>
          <a:xfrm>
            <a:off x="6232680" y="160452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2" name="PlaceHolder 4"/>
          <p:cNvSpPr>
            <a:spLocks noGrp="1"/>
          </p:cNvSpPr>
          <p:nvPr>
            <p:ph/>
          </p:nvPr>
        </p:nvSpPr>
        <p:spPr>
          <a:xfrm>
            <a:off x="609480" y="3682080"/>
            <a:ext cx="1097352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4" name="PlaceHolder 2"/>
          <p:cNvSpPr>
            <a:spLocks noGrp="1"/>
          </p:cNvSpPr>
          <p:nvPr>
            <p:ph/>
          </p:nvPr>
        </p:nvSpPr>
        <p:spPr>
          <a:xfrm>
            <a:off x="609480" y="1604520"/>
            <a:ext cx="1097352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5" name="PlaceHolder 3"/>
          <p:cNvSpPr>
            <a:spLocks noGrp="1"/>
          </p:cNvSpPr>
          <p:nvPr>
            <p:ph/>
          </p:nvPr>
        </p:nvSpPr>
        <p:spPr>
          <a:xfrm>
            <a:off x="609480" y="3682080"/>
            <a:ext cx="1097352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7" name="PlaceHolder 2"/>
          <p:cNvSpPr>
            <a:spLocks noGrp="1"/>
          </p:cNvSpPr>
          <p:nvPr>
            <p:ph/>
          </p:nvPr>
        </p:nvSpPr>
        <p:spPr>
          <a:xfrm>
            <a:off x="609480" y="160452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8" name="PlaceHolder 3"/>
          <p:cNvSpPr>
            <a:spLocks noGrp="1"/>
          </p:cNvSpPr>
          <p:nvPr>
            <p:ph/>
          </p:nvPr>
        </p:nvSpPr>
        <p:spPr>
          <a:xfrm>
            <a:off x="6232680" y="160452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9" name="PlaceHolder 4"/>
          <p:cNvSpPr>
            <a:spLocks noGrp="1"/>
          </p:cNvSpPr>
          <p:nvPr>
            <p:ph/>
          </p:nvPr>
        </p:nvSpPr>
        <p:spPr>
          <a:xfrm>
            <a:off x="609480" y="368208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0" name="PlaceHolder 5"/>
          <p:cNvSpPr>
            <a:spLocks noGrp="1"/>
          </p:cNvSpPr>
          <p:nvPr>
            <p:ph/>
          </p:nvPr>
        </p:nvSpPr>
        <p:spPr>
          <a:xfrm>
            <a:off x="6232680" y="3682080"/>
            <a:ext cx="535500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2" name="PlaceHolder 2"/>
          <p:cNvSpPr>
            <a:spLocks noGrp="1"/>
          </p:cNvSpPr>
          <p:nvPr>
            <p:ph/>
          </p:nvPr>
        </p:nvSpPr>
        <p:spPr>
          <a:xfrm>
            <a:off x="609480" y="1604520"/>
            <a:ext cx="35334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3" name="PlaceHolder 3"/>
          <p:cNvSpPr>
            <a:spLocks noGrp="1"/>
          </p:cNvSpPr>
          <p:nvPr>
            <p:ph/>
          </p:nvPr>
        </p:nvSpPr>
        <p:spPr>
          <a:xfrm>
            <a:off x="4320000" y="1604520"/>
            <a:ext cx="35334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4" name="PlaceHolder 4"/>
          <p:cNvSpPr>
            <a:spLocks noGrp="1"/>
          </p:cNvSpPr>
          <p:nvPr>
            <p:ph/>
          </p:nvPr>
        </p:nvSpPr>
        <p:spPr>
          <a:xfrm>
            <a:off x="8030520" y="1604520"/>
            <a:ext cx="35334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5" name="PlaceHolder 5"/>
          <p:cNvSpPr>
            <a:spLocks noGrp="1"/>
          </p:cNvSpPr>
          <p:nvPr>
            <p:ph/>
          </p:nvPr>
        </p:nvSpPr>
        <p:spPr>
          <a:xfrm>
            <a:off x="609480" y="3682080"/>
            <a:ext cx="35334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6" name="PlaceHolder 6"/>
          <p:cNvSpPr>
            <a:spLocks noGrp="1"/>
          </p:cNvSpPr>
          <p:nvPr>
            <p:ph/>
          </p:nvPr>
        </p:nvSpPr>
        <p:spPr>
          <a:xfrm>
            <a:off x="4320000" y="3682080"/>
            <a:ext cx="35334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7" name="PlaceHolder 7"/>
          <p:cNvSpPr>
            <a:spLocks noGrp="1"/>
          </p:cNvSpPr>
          <p:nvPr>
            <p:ph/>
          </p:nvPr>
        </p:nvSpPr>
        <p:spPr>
          <a:xfrm>
            <a:off x="8030520" y="3682080"/>
            <a:ext cx="353340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3d3d3"/>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r>
              <a:rPr b="0" lang="en-HK" sz="4400" spc="-1" strike="noStrike">
                <a:latin typeface="Arial"/>
              </a:rPr>
              <a:t>Click to edit the title text format</a:t>
            </a:r>
            <a:endParaRPr b="0" lang="en-HK" sz="4400" spc="-1" strike="noStrike">
              <a:latin typeface="Arial"/>
            </a:endParaRPr>
          </a:p>
        </p:txBody>
      </p:sp>
      <p:sp>
        <p:nvSpPr>
          <p:cNvPr id="1" name="PlaceHolder 2"/>
          <p:cNvSpPr>
            <a:spLocks noGrp="1"/>
          </p:cNvSpPr>
          <p:nvPr>
            <p:ph type="body"/>
          </p:nvPr>
        </p:nvSpPr>
        <p:spPr>
          <a:xfrm>
            <a:off x="609480" y="1604520"/>
            <a:ext cx="1097352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3d3d3"/>
        </a:solidFill>
      </p:bgPr>
    </p:bg>
    <p:spTree>
      <p:nvGrpSpPr>
        <p:cNvPr id="1" name=""/>
        <p:cNvGrpSpPr/>
        <p:nvPr/>
      </p:nvGrpSpPr>
      <p:grpSpPr>
        <a:xfrm>
          <a:off x="0" y="0"/>
          <a:ext cx="0" cy="0"/>
          <a:chOff x="0" y="0"/>
          <a:chExt cx="0" cy="0"/>
        </a:xfrm>
      </p:grpSpPr>
      <p:sp>
        <p:nvSpPr>
          <p:cNvPr id="44" name="Image 0"/>
          <p:cNvSpPr/>
          <p:nvPr/>
        </p:nvSpPr>
        <p:spPr>
          <a:xfrm>
            <a:off x="0" y="0"/>
            <a:ext cx="12192120" cy="6856920"/>
          </a:xfrm>
          <a:prstGeom prst="roundRect">
            <a:avLst>
              <a:gd name="adj" fmla="val 0"/>
            </a:avLst>
          </a:prstGeom>
          <a:blipFill rotWithShape="0">
            <a:blip r:embed="rId1"/>
            <a:srcRect/>
            <a:stretch/>
          </a:blipFill>
          <a:ln w="0">
            <a:noFill/>
          </a:ln>
        </p:spPr>
        <p:style>
          <a:lnRef idx="0"/>
          <a:fillRef idx="0"/>
          <a:effectRef idx="0"/>
          <a:fontRef idx="minor"/>
        </p:style>
      </p:sp>
      <p:sp>
        <p:nvSpPr>
          <p:cNvPr id="45" name="Shape 0"/>
          <p:cNvSpPr/>
          <p:nvPr/>
        </p:nvSpPr>
        <p:spPr>
          <a:xfrm>
            <a:off x="0" y="0"/>
            <a:ext cx="12192120" cy="685692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2f3e3b">
                  <a:alpha val="95294"/>
                </a:srgbClr>
              </a:gs>
              <a:gs pos="100000">
                <a:srgbClr val="2f3e3b">
                  <a:alpha val="80000"/>
                </a:srgbClr>
              </a:gs>
            </a:gsLst>
            <a:lin ang="0"/>
          </a:gradFill>
          <a:ln w="0">
            <a:noFill/>
          </a:ln>
        </p:spPr>
        <p:style>
          <a:lnRef idx="0"/>
          <a:fillRef idx="0"/>
          <a:effectRef idx="0"/>
          <a:fontRef idx="minor"/>
        </p:style>
      </p:sp>
      <p:sp>
        <p:nvSpPr>
          <p:cNvPr id="46" name="Shape 1"/>
          <p:cNvSpPr/>
          <p:nvPr/>
        </p:nvSpPr>
        <p:spPr>
          <a:xfrm>
            <a:off x="380880" y="615240"/>
            <a:ext cx="2723400" cy="379800"/>
          </a:xfrm>
          <a:custGeom>
            <a:avLst/>
            <a:gdLst/>
            <a:ahLst/>
            <a:rect l="l" t="t" r="r" b="b"/>
            <a:pathLst>
              <a:path w="2724150" h="381000">
                <a:moveTo>
                  <a:pt x="190500" y="0"/>
                </a:moveTo>
                <a:lnTo>
                  <a:pt x="2533650" y="0"/>
                </a:lnTo>
                <a:cubicBezTo>
                  <a:pt x="2638790" y="0"/>
                  <a:pt x="2724150" y="85360"/>
                  <a:pt x="2724150" y="190500"/>
                </a:cubicBezTo>
                <a:lnTo>
                  <a:pt x="2724150" y="190500"/>
                </a:lnTo>
                <a:cubicBezTo>
                  <a:pt x="2724150" y="295640"/>
                  <a:pt x="2638790" y="381000"/>
                  <a:pt x="2533650" y="381000"/>
                </a:cubicBezTo>
                <a:lnTo>
                  <a:pt x="190500" y="381000"/>
                </a:lnTo>
                <a:cubicBezTo>
                  <a:pt x="85360" y="381000"/>
                  <a:pt x="0" y="295640"/>
                  <a:pt x="0" y="190500"/>
                </a:cubicBezTo>
                <a:lnTo>
                  <a:pt x="0" y="190500"/>
                </a:lnTo>
                <a:cubicBezTo>
                  <a:pt x="0" y="85360"/>
                  <a:pt x="85360" y="0"/>
                  <a:pt x="190500" y="0"/>
                </a:cubicBezTo>
                <a:close/>
              </a:path>
            </a:pathLst>
          </a:custGeom>
          <a:solidFill>
            <a:srgbClr val="4c8a7a">
              <a:alpha val="25000"/>
            </a:srgbClr>
          </a:solidFill>
          <a:ln w="0">
            <a:noFill/>
          </a:ln>
        </p:spPr>
        <p:style>
          <a:lnRef idx="0"/>
          <a:fillRef idx="0"/>
          <a:effectRef idx="0"/>
          <a:fontRef idx="minor"/>
        </p:style>
      </p:sp>
      <p:sp>
        <p:nvSpPr>
          <p:cNvPr id="47" name="Text 2"/>
          <p:cNvSpPr/>
          <p:nvPr/>
        </p:nvSpPr>
        <p:spPr>
          <a:xfrm>
            <a:off x="571680" y="691560"/>
            <a:ext cx="241848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11" strike="noStrike">
                <a:solidFill>
                  <a:srgbClr val="8fb7ac"/>
                </a:solidFill>
                <a:latin typeface="Quattrocento Sans"/>
                <a:ea typeface="Quattrocento Sans"/>
              </a:rPr>
              <a:t>Forest Ecology Research</a:t>
            </a:r>
            <a:endParaRPr b="0" lang="en-HK" sz="1200" spc="-1" strike="noStrike">
              <a:latin typeface="Arial"/>
            </a:endParaRPr>
          </a:p>
        </p:txBody>
      </p:sp>
      <p:sp>
        <p:nvSpPr>
          <p:cNvPr id="48" name="Text 3"/>
          <p:cNvSpPr/>
          <p:nvPr/>
        </p:nvSpPr>
        <p:spPr>
          <a:xfrm>
            <a:off x="380880" y="1225080"/>
            <a:ext cx="7486200" cy="30182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5400" spc="-1" strike="noStrike">
                <a:solidFill>
                  <a:srgbClr val="ffffff"/>
                </a:solidFill>
                <a:latin typeface="Sorts Mill Goudy"/>
                <a:ea typeface="Sorts Mill Goudy"/>
              </a:rPr>
              <a:t>Ecosystem Mechanisms for Maintaining Biodiversity in Natural Forests</a:t>
            </a:r>
            <a:endParaRPr b="0" lang="en-HK" sz="5400" spc="-1" strike="noStrike">
              <a:latin typeface="Arial"/>
            </a:endParaRPr>
          </a:p>
        </p:txBody>
      </p:sp>
      <p:sp>
        <p:nvSpPr>
          <p:cNvPr id="49" name="Text 4"/>
          <p:cNvSpPr/>
          <p:nvPr/>
        </p:nvSpPr>
        <p:spPr>
          <a:xfrm>
            <a:off x="380880" y="4470840"/>
            <a:ext cx="5828760" cy="741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800" spc="-1" strike="noStrike">
                <a:solidFill>
                  <a:srgbClr val="8fb7ac"/>
                </a:solidFill>
                <a:latin typeface="Quattrocento Sans"/>
                <a:ea typeface="Quattrocento Sans"/>
              </a:rPr>
              <a:t>An Exploration of Ecological Processes Sustaining Forest Biological Diversity</a:t>
            </a:r>
            <a:endParaRPr b="0" lang="en-HK" sz="1800" spc="-1" strike="noStrike">
              <a:latin typeface="Arial"/>
            </a:endParaRPr>
          </a:p>
        </p:txBody>
      </p:sp>
      <p:sp>
        <p:nvSpPr>
          <p:cNvPr id="50" name="Shape 5"/>
          <p:cNvSpPr/>
          <p:nvPr/>
        </p:nvSpPr>
        <p:spPr>
          <a:xfrm>
            <a:off x="416880" y="6014160"/>
            <a:ext cx="165600" cy="189360"/>
          </a:xfrm>
          <a:custGeom>
            <a:avLst/>
            <a:gdLst/>
            <a:ahLst/>
            <a:rect l="l" t="t" r="r" b="b"/>
            <a:pathLst>
              <a:path w="166688" h="190500">
                <a:moveTo>
                  <a:pt x="47625" y="0"/>
                </a:moveTo>
                <a:cubicBezTo>
                  <a:pt x="41039" y="0"/>
                  <a:pt x="35719" y="5321"/>
                  <a:pt x="35719" y="11906"/>
                </a:cubicBezTo>
                <a:lnTo>
                  <a:pt x="35719" y="23812"/>
                </a:lnTo>
                <a:lnTo>
                  <a:pt x="23812" y="23812"/>
                </a:lnTo>
                <a:cubicBezTo>
                  <a:pt x="10678" y="23812"/>
                  <a:pt x="0" y="34491"/>
                  <a:pt x="0" y="47625"/>
                </a:cubicBezTo>
                <a:lnTo>
                  <a:pt x="0" y="65484"/>
                </a:lnTo>
                <a:lnTo>
                  <a:pt x="166688" y="65484"/>
                </a:lnTo>
                <a:lnTo>
                  <a:pt x="166688" y="47625"/>
                </a:lnTo>
                <a:cubicBezTo>
                  <a:pt x="166688" y="34491"/>
                  <a:pt x="156009" y="23812"/>
                  <a:pt x="142875" y="23812"/>
                </a:cubicBezTo>
                <a:lnTo>
                  <a:pt x="130969" y="23812"/>
                </a:lnTo>
                <a:lnTo>
                  <a:pt x="130969" y="11906"/>
                </a:lnTo>
                <a:cubicBezTo>
                  <a:pt x="130969" y="5321"/>
                  <a:pt x="125648" y="0"/>
                  <a:pt x="119063" y="0"/>
                </a:cubicBezTo>
                <a:cubicBezTo>
                  <a:pt x="112477" y="0"/>
                  <a:pt x="107156" y="5321"/>
                  <a:pt x="107156" y="11906"/>
                </a:cubicBezTo>
                <a:lnTo>
                  <a:pt x="107156" y="23812"/>
                </a:lnTo>
                <a:lnTo>
                  <a:pt x="59531" y="23812"/>
                </a:lnTo>
                <a:lnTo>
                  <a:pt x="59531" y="11906"/>
                </a:lnTo>
                <a:cubicBezTo>
                  <a:pt x="59531" y="5321"/>
                  <a:pt x="54211" y="0"/>
                  <a:pt x="47625" y="0"/>
                </a:cubicBezTo>
                <a:close/>
                <a:moveTo>
                  <a:pt x="0" y="83344"/>
                </a:moveTo>
                <a:lnTo>
                  <a:pt x="0" y="154781"/>
                </a:lnTo>
                <a:cubicBezTo>
                  <a:pt x="0" y="167915"/>
                  <a:pt x="10678" y="178594"/>
                  <a:pt x="23812" y="178594"/>
                </a:cubicBezTo>
                <a:lnTo>
                  <a:pt x="142875" y="178594"/>
                </a:lnTo>
                <a:cubicBezTo>
                  <a:pt x="156009" y="178594"/>
                  <a:pt x="166688" y="167915"/>
                  <a:pt x="166688" y="154781"/>
                </a:cubicBezTo>
                <a:lnTo>
                  <a:pt x="166688" y="83344"/>
                </a:lnTo>
                <a:lnTo>
                  <a:pt x="0" y="83344"/>
                </a:lnTo>
                <a:close/>
              </a:path>
            </a:pathLst>
          </a:custGeom>
          <a:solidFill>
            <a:srgbClr val="8fb7ac"/>
          </a:solidFill>
          <a:ln w="0">
            <a:noFill/>
          </a:ln>
        </p:spPr>
        <p:style>
          <a:lnRef idx="0"/>
          <a:fillRef idx="0"/>
          <a:effectRef idx="0"/>
          <a:fontRef idx="minor"/>
        </p:style>
      </p:sp>
      <p:sp>
        <p:nvSpPr>
          <p:cNvPr id="51" name="Text 6"/>
          <p:cNvSpPr/>
          <p:nvPr/>
        </p:nvSpPr>
        <p:spPr>
          <a:xfrm>
            <a:off x="733320" y="5976000"/>
            <a:ext cx="465480" cy="265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8fb7ac"/>
                </a:solidFill>
                <a:latin typeface="Quattrocento Sans"/>
                <a:ea typeface="Quattrocento Sans"/>
              </a:rPr>
              <a:t>2026</a:t>
            </a:r>
            <a:endParaRPr b="0" lang="en-HK" sz="1350" spc="-1" strike="noStrike">
              <a:latin typeface="Arial"/>
            </a:endParaRPr>
          </a:p>
        </p:txBody>
      </p:sp>
      <p:sp>
        <p:nvSpPr>
          <p:cNvPr id="52" name="Shape 7"/>
          <p:cNvSpPr/>
          <p:nvPr/>
        </p:nvSpPr>
        <p:spPr>
          <a:xfrm>
            <a:off x="1442520" y="6014160"/>
            <a:ext cx="189360" cy="189360"/>
          </a:xfrm>
          <a:custGeom>
            <a:avLst/>
            <a:gdLst/>
            <a:ahLst/>
            <a:rect l="l" t="t" r="r" b="b"/>
            <a:pathLst>
              <a:path w="190500" h="190500">
                <a:moveTo>
                  <a:pt x="175357" y="2493"/>
                </a:moveTo>
                <a:cubicBezTo>
                  <a:pt x="177738" y="223"/>
                  <a:pt x="181198" y="-595"/>
                  <a:pt x="184398" y="446"/>
                </a:cubicBezTo>
                <a:cubicBezTo>
                  <a:pt x="188044" y="1674"/>
                  <a:pt x="190500" y="5097"/>
                  <a:pt x="190500" y="8930"/>
                </a:cubicBezTo>
                <a:lnTo>
                  <a:pt x="190500" y="78470"/>
                </a:lnTo>
                <a:cubicBezTo>
                  <a:pt x="190500" y="127285"/>
                  <a:pt x="150279" y="166688"/>
                  <a:pt x="101650" y="166688"/>
                </a:cubicBezTo>
                <a:cubicBezTo>
                  <a:pt x="73000" y="166688"/>
                  <a:pt x="48295" y="148270"/>
                  <a:pt x="39328" y="122523"/>
                </a:cubicBezTo>
                <a:cubicBezTo>
                  <a:pt x="26157" y="133983"/>
                  <a:pt x="17859" y="150837"/>
                  <a:pt x="17859" y="169664"/>
                </a:cubicBezTo>
                <a:cubicBezTo>
                  <a:pt x="17859" y="174613"/>
                  <a:pt x="13878" y="178594"/>
                  <a:pt x="8930" y="178594"/>
                </a:cubicBezTo>
                <a:cubicBezTo>
                  <a:pt x="3981" y="178594"/>
                  <a:pt x="0" y="174613"/>
                  <a:pt x="0" y="169664"/>
                </a:cubicBezTo>
                <a:cubicBezTo>
                  <a:pt x="0" y="141796"/>
                  <a:pt x="14213" y="117239"/>
                  <a:pt x="35756" y="102803"/>
                </a:cubicBezTo>
                <a:cubicBezTo>
                  <a:pt x="48890" y="94022"/>
                  <a:pt x="64554" y="89297"/>
                  <a:pt x="80367" y="89297"/>
                </a:cubicBezTo>
                <a:lnTo>
                  <a:pt x="110133" y="89297"/>
                </a:lnTo>
                <a:cubicBezTo>
                  <a:pt x="115081" y="89297"/>
                  <a:pt x="119063" y="85316"/>
                  <a:pt x="119063" y="80367"/>
                </a:cubicBezTo>
                <a:cubicBezTo>
                  <a:pt x="119063" y="75419"/>
                  <a:pt x="115081" y="71438"/>
                  <a:pt x="110133" y="71438"/>
                </a:cubicBezTo>
                <a:lnTo>
                  <a:pt x="80367" y="71438"/>
                </a:lnTo>
                <a:cubicBezTo>
                  <a:pt x="65596" y="71438"/>
                  <a:pt x="51606" y="74712"/>
                  <a:pt x="39067" y="80553"/>
                </a:cubicBezTo>
                <a:cubicBezTo>
                  <a:pt x="47737" y="54508"/>
                  <a:pt x="72256" y="35719"/>
                  <a:pt x="101203" y="35719"/>
                </a:cubicBezTo>
                <a:cubicBezTo>
                  <a:pt x="125909" y="35719"/>
                  <a:pt x="144289" y="27496"/>
                  <a:pt x="156530" y="19348"/>
                </a:cubicBezTo>
                <a:cubicBezTo>
                  <a:pt x="163674" y="14585"/>
                  <a:pt x="169738" y="8892"/>
                  <a:pt x="175394" y="2493"/>
                </a:cubicBezTo>
                <a:close/>
              </a:path>
            </a:pathLst>
          </a:custGeom>
          <a:solidFill>
            <a:srgbClr val="8fb7ac"/>
          </a:solidFill>
          <a:ln w="0">
            <a:noFill/>
          </a:ln>
        </p:spPr>
        <p:style>
          <a:lnRef idx="0"/>
          <a:fillRef idx="0"/>
          <a:effectRef idx="0"/>
          <a:fontRef idx="minor"/>
        </p:style>
      </p:sp>
      <p:sp>
        <p:nvSpPr>
          <p:cNvPr id="53" name="Text 8"/>
          <p:cNvSpPr/>
          <p:nvPr/>
        </p:nvSpPr>
        <p:spPr>
          <a:xfrm>
            <a:off x="1770840" y="5976000"/>
            <a:ext cx="1446840" cy="265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8fb7ac"/>
                </a:solidFill>
                <a:latin typeface="Quattrocento Sans"/>
                <a:ea typeface="Quattrocento Sans"/>
              </a:rPr>
              <a:t>Ecological Science</a:t>
            </a:r>
            <a:endParaRPr b="0" lang="en-HK" sz="135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54" name="Text 0"/>
          <p:cNvSpPr/>
          <p:nvPr/>
        </p:nvSpPr>
        <p:spPr>
          <a:xfrm>
            <a:off x="380880" y="380880"/>
            <a:ext cx="11496600" cy="189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50" spc="97" strike="noStrike">
                <a:solidFill>
                  <a:srgbClr val="4c8a7a"/>
                </a:solidFill>
                <a:latin typeface="Quattrocento Sans"/>
                <a:ea typeface="Quattrocento Sans"/>
              </a:rPr>
              <a:t>Overview</a:t>
            </a:r>
            <a:endParaRPr b="0" lang="en-HK" sz="1050" spc="-1" strike="noStrike">
              <a:latin typeface="Arial"/>
            </a:endParaRPr>
          </a:p>
        </p:txBody>
      </p:sp>
      <p:sp>
        <p:nvSpPr>
          <p:cNvPr id="55" name="Text 1"/>
          <p:cNvSpPr/>
          <p:nvPr/>
        </p:nvSpPr>
        <p:spPr>
          <a:xfrm>
            <a:off x="380880" y="647640"/>
            <a:ext cx="11658600" cy="4561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f3e3b"/>
                </a:solidFill>
                <a:latin typeface="Sorts Mill Goudy"/>
                <a:ea typeface="Sorts Mill Goudy"/>
              </a:rPr>
              <a:t>Contents</a:t>
            </a:r>
            <a:endParaRPr b="0" lang="en-HK" sz="3600" spc="-1" strike="noStrike">
              <a:latin typeface="Arial"/>
            </a:endParaRPr>
          </a:p>
        </p:txBody>
      </p:sp>
      <p:sp>
        <p:nvSpPr>
          <p:cNvPr id="56" name="Shape 2"/>
          <p:cNvSpPr/>
          <p:nvPr/>
        </p:nvSpPr>
        <p:spPr>
          <a:xfrm>
            <a:off x="399960" y="1409760"/>
            <a:ext cx="5542920" cy="115128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57" name="Shape 3"/>
          <p:cNvSpPr/>
          <p:nvPr/>
        </p:nvSpPr>
        <p:spPr>
          <a:xfrm>
            <a:off x="399960" y="1409760"/>
            <a:ext cx="37080" cy="115128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4c8a7a"/>
          </a:solidFill>
          <a:ln w="0">
            <a:noFill/>
          </a:ln>
        </p:spPr>
        <p:style>
          <a:lnRef idx="0"/>
          <a:fillRef idx="0"/>
          <a:effectRef idx="0"/>
          <a:fontRef idx="minor"/>
        </p:style>
      </p:sp>
      <p:sp>
        <p:nvSpPr>
          <p:cNvPr id="58" name="Shape 4"/>
          <p:cNvSpPr/>
          <p:nvPr/>
        </p:nvSpPr>
        <p:spPr>
          <a:xfrm>
            <a:off x="571680" y="1562040"/>
            <a:ext cx="456120" cy="45612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c8a7a"/>
          </a:solidFill>
          <a:ln w="0">
            <a:noFill/>
          </a:ln>
        </p:spPr>
        <p:style>
          <a:lnRef idx="0"/>
          <a:fillRef idx="0"/>
          <a:effectRef idx="0"/>
          <a:fontRef idx="minor"/>
        </p:style>
      </p:sp>
      <p:sp>
        <p:nvSpPr>
          <p:cNvPr id="59" name="Text 5"/>
          <p:cNvSpPr/>
          <p:nvPr/>
        </p:nvSpPr>
        <p:spPr>
          <a:xfrm>
            <a:off x="523800" y="1562040"/>
            <a:ext cx="551520" cy="4561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01</a:t>
            </a:r>
            <a:endParaRPr b="0" lang="en-HK" sz="1500" spc="-1" strike="noStrike">
              <a:latin typeface="Arial"/>
            </a:endParaRPr>
          </a:p>
        </p:txBody>
      </p:sp>
      <p:sp>
        <p:nvSpPr>
          <p:cNvPr id="60" name="Text 6"/>
          <p:cNvSpPr/>
          <p:nvPr/>
        </p:nvSpPr>
        <p:spPr>
          <a:xfrm>
            <a:off x="1181160" y="1562040"/>
            <a:ext cx="3228120" cy="265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Introduction to Forest Biodiversity</a:t>
            </a:r>
            <a:endParaRPr b="0" lang="en-HK" sz="1500" spc="-1" strike="noStrike">
              <a:latin typeface="Arial"/>
            </a:endParaRPr>
          </a:p>
        </p:txBody>
      </p:sp>
      <p:sp>
        <p:nvSpPr>
          <p:cNvPr id="61" name="Text 7"/>
          <p:cNvSpPr/>
          <p:nvPr/>
        </p:nvSpPr>
        <p:spPr>
          <a:xfrm>
            <a:off x="1181160" y="1866960"/>
            <a:ext cx="320904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Global significance and conservation challenges</a:t>
            </a:r>
            <a:endParaRPr b="0" lang="en-HK" sz="1200" spc="-1" strike="noStrike">
              <a:latin typeface="Arial"/>
            </a:endParaRPr>
          </a:p>
        </p:txBody>
      </p:sp>
      <p:sp>
        <p:nvSpPr>
          <p:cNvPr id="62" name="Shape 8"/>
          <p:cNvSpPr/>
          <p:nvPr/>
        </p:nvSpPr>
        <p:spPr>
          <a:xfrm>
            <a:off x="6267960" y="1409760"/>
            <a:ext cx="5542920" cy="115128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63" name="Shape 9"/>
          <p:cNvSpPr/>
          <p:nvPr/>
        </p:nvSpPr>
        <p:spPr>
          <a:xfrm>
            <a:off x="6267960" y="1409760"/>
            <a:ext cx="37080" cy="115128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4c8a7a"/>
          </a:solidFill>
          <a:ln w="0">
            <a:noFill/>
          </a:ln>
        </p:spPr>
        <p:style>
          <a:lnRef idx="0"/>
          <a:fillRef idx="0"/>
          <a:effectRef idx="0"/>
          <a:fontRef idx="minor"/>
        </p:style>
      </p:sp>
      <p:sp>
        <p:nvSpPr>
          <p:cNvPr id="64" name="Shape 10"/>
          <p:cNvSpPr/>
          <p:nvPr/>
        </p:nvSpPr>
        <p:spPr>
          <a:xfrm>
            <a:off x="6439320" y="1562040"/>
            <a:ext cx="456120" cy="45612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c8a7a"/>
          </a:solidFill>
          <a:ln w="0">
            <a:noFill/>
          </a:ln>
        </p:spPr>
        <p:style>
          <a:lnRef idx="0"/>
          <a:fillRef idx="0"/>
          <a:effectRef idx="0"/>
          <a:fontRef idx="minor"/>
        </p:style>
      </p:sp>
      <p:sp>
        <p:nvSpPr>
          <p:cNvPr id="65" name="Text 11"/>
          <p:cNvSpPr/>
          <p:nvPr/>
        </p:nvSpPr>
        <p:spPr>
          <a:xfrm>
            <a:off x="6391800" y="1562040"/>
            <a:ext cx="551520" cy="4561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02</a:t>
            </a:r>
            <a:endParaRPr b="0" lang="en-HK" sz="1500" spc="-1" strike="noStrike">
              <a:latin typeface="Arial"/>
            </a:endParaRPr>
          </a:p>
        </p:txBody>
      </p:sp>
      <p:sp>
        <p:nvSpPr>
          <p:cNvPr id="66" name="Text 12"/>
          <p:cNvSpPr/>
          <p:nvPr/>
        </p:nvSpPr>
        <p:spPr>
          <a:xfrm>
            <a:off x="7048800" y="1562040"/>
            <a:ext cx="2952000" cy="265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Structural Complexity</a:t>
            </a:r>
            <a:endParaRPr b="0" lang="en-HK" sz="1500" spc="-1" strike="noStrike">
              <a:latin typeface="Arial"/>
            </a:endParaRPr>
          </a:p>
        </p:txBody>
      </p:sp>
      <p:sp>
        <p:nvSpPr>
          <p:cNvPr id="67" name="Text 13"/>
          <p:cNvSpPr/>
          <p:nvPr/>
        </p:nvSpPr>
        <p:spPr>
          <a:xfrm>
            <a:off x="7048800" y="1866960"/>
            <a:ext cx="293292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Habitat heterogeneity and vertical structure</a:t>
            </a:r>
            <a:endParaRPr b="0" lang="en-HK" sz="1200" spc="-1" strike="noStrike">
              <a:latin typeface="Arial"/>
            </a:endParaRPr>
          </a:p>
        </p:txBody>
      </p:sp>
      <p:sp>
        <p:nvSpPr>
          <p:cNvPr id="68" name="Shape 14"/>
          <p:cNvSpPr/>
          <p:nvPr/>
        </p:nvSpPr>
        <p:spPr>
          <a:xfrm>
            <a:off x="399960" y="2714760"/>
            <a:ext cx="5542920" cy="115128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69" name="Shape 15"/>
          <p:cNvSpPr/>
          <p:nvPr/>
        </p:nvSpPr>
        <p:spPr>
          <a:xfrm>
            <a:off x="399960" y="2714760"/>
            <a:ext cx="37080" cy="115128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8fb7ac"/>
          </a:solidFill>
          <a:ln w="0">
            <a:noFill/>
          </a:ln>
        </p:spPr>
        <p:style>
          <a:lnRef idx="0"/>
          <a:fillRef idx="0"/>
          <a:effectRef idx="0"/>
          <a:fontRef idx="minor"/>
        </p:style>
      </p:sp>
      <p:sp>
        <p:nvSpPr>
          <p:cNvPr id="70" name="Shape 16"/>
          <p:cNvSpPr/>
          <p:nvPr/>
        </p:nvSpPr>
        <p:spPr>
          <a:xfrm>
            <a:off x="571680" y="2867040"/>
            <a:ext cx="456120" cy="45612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fb7ac"/>
          </a:solidFill>
          <a:ln w="0">
            <a:noFill/>
          </a:ln>
        </p:spPr>
        <p:style>
          <a:lnRef idx="0"/>
          <a:fillRef idx="0"/>
          <a:effectRef idx="0"/>
          <a:fontRef idx="minor"/>
        </p:style>
      </p:sp>
      <p:sp>
        <p:nvSpPr>
          <p:cNvPr id="71" name="Text 17"/>
          <p:cNvSpPr/>
          <p:nvPr/>
        </p:nvSpPr>
        <p:spPr>
          <a:xfrm>
            <a:off x="523800" y="2867040"/>
            <a:ext cx="551520" cy="4561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03</a:t>
            </a:r>
            <a:endParaRPr b="0" lang="en-HK" sz="1500" spc="-1" strike="noStrike">
              <a:latin typeface="Arial"/>
            </a:endParaRPr>
          </a:p>
        </p:txBody>
      </p:sp>
      <p:sp>
        <p:nvSpPr>
          <p:cNvPr id="72" name="Text 18"/>
          <p:cNvSpPr/>
          <p:nvPr/>
        </p:nvSpPr>
        <p:spPr>
          <a:xfrm>
            <a:off x="1181160" y="2867040"/>
            <a:ext cx="2799720" cy="265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Species Interactions</a:t>
            </a:r>
            <a:endParaRPr b="0" lang="en-HK" sz="1500" spc="-1" strike="noStrike">
              <a:latin typeface="Arial"/>
            </a:endParaRPr>
          </a:p>
        </p:txBody>
      </p:sp>
      <p:sp>
        <p:nvSpPr>
          <p:cNvPr id="73" name="Text 19"/>
          <p:cNvSpPr/>
          <p:nvPr/>
        </p:nvSpPr>
        <p:spPr>
          <a:xfrm>
            <a:off x="1181160" y="3171960"/>
            <a:ext cx="278064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Competition, facilitation, and coexistence</a:t>
            </a:r>
            <a:endParaRPr b="0" lang="en-HK" sz="1200" spc="-1" strike="noStrike">
              <a:latin typeface="Arial"/>
            </a:endParaRPr>
          </a:p>
        </p:txBody>
      </p:sp>
      <p:sp>
        <p:nvSpPr>
          <p:cNvPr id="74" name="Shape 20"/>
          <p:cNvSpPr/>
          <p:nvPr/>
        </p:nvSpPr>
        <p:spPr>
          <a:xfrm>
            <a:off x="6267960" y="2714760"/>
            <a:ext cx="5542920" cy="115128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75" name="Shape 21"/>
          <p:cNvSpPr/>
          <p:nvPr/>
        </p:nvSpPr>
        <p:spPr>
          <a:xfrm>
            <a:off x="6267960" y="2714760"/>
            <a:ext cx="37080" cy="115128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8fb7ac"/>
          </a:solidFill>
          <a:ln w="0">
            <a:noFill/>
          </a:ln>
        </p:spPr>
        <p:style>
          <a:lnRef idx="0"/>
          <a:fillRef idx="0"/>
          <a:effectRef idx="0"/>
          <a:fontRef idx="minor"/>
        </p:style>
      </p:sp>
      <p:sp>
        <p:nvSpPr>
          <p:cNvPr id="76" name="Shape 22"/>
          <p:cNvSpPr/>
          <p:nvPr/>
        </p:nvSpPr>
        <p:spPr>
          <a:xfrm>
            <a:off x="6439320" y="2867040"/>
            <a:ext cx="456120" cy="45612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fb7ac"/>
          </a:solidFill>
          <a:ln w="0">
            <a:noFill/>
          </a:ln>
        </p:spPr>
        <p:style>
          <a:lnRef idx="0"/>
          <a:fillRef idx="0"/>
          <a:effectRef idx="0"/>
          <a:fontRef idx="minor"/>
        </p:style>
      </p:sp>
      <p:sp>
        <p:nvSpPr>
          <p:cNvPr id="77" name="Text 23"/>
          <p:cNvSpPr/>
          <p:nvPr/>
        </p:nvSpPr>
        <p:spPr>
          <a:xfrm>
            <a:off x="6391800" y="2867040"/>
            <a:ext cx="551520" cy="4561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04</a:t>
            </a:r>
            <a:endParaRPr b="0" lang="en-HK" sz="1500" spc="-1" strike="noStrike">
              <a:latin typeface="Arial"/>
            </a:endParaRPr>
          </a:p>
        </p:txBody>
      </p:sp>
      <p:sp>
        <p:nvSpPr>
          <p:cNvPr id="78" name="Text 24"/>
          <p:cNvSpPr/>
          <p:nvPr/>
        </p:nvSpPr>
        <p:spPr>
          <a:xfrm>
            <a:off x="7048800" y="2867040"/>
            <a:ext cx="2770920" cy="265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Disturbance Regimes</a:t>
            </a:r>
            <a:endParaRPr b="0" lang="en-HK" sz="1500" spc="-1" strike="noStrike">
              <a:latin typeface="Arial"/>
            </a:endParaRPr>
          </a:p>
        </p:txBody>
      </p:sp>
      <p:sp>
        <p:nvSpPr>
          <p:cNvPr id="79" name="Text 25"/>
          <p:cNvSpPr/>
          <p:nvPr/>
        </p:nvSpPr>
        <p:spPr>
          <a:xfrm>
            <a:off x="7048800" y="3171960"/>
            <a:ext cx="275184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Gap dynamics and succession processes</a:t>
            </a:r>
            <a:endParaRPr b="0" lang="en-HK" sz="1200" spc="-1" strike="noStrike">
              <a:latin typeface="Arial"/>
            </a:endParaRPr>
          </a:p>
        </p:txBody>
      </p:sp>
      <p:sp>
        <p:nvSpPr>
          <p:cNvPr id="80" name="Shape 26"/>
          <p:cNvSpPr/>
          <p:nvPr/>
        </p:nvSpPr>
        <p:spPr>
          <a:xfrm>
            <a:off x="399960" y="4019400"/>
            <a:ext cx="5542920" cy="115128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81" name="Shape 27"/>
          <p:cNvSpPr/>
          <p:nvPr/>
        </p:nvSpPr>
        <p:spPr>
          <a:xfrm>
            <a:off x="399960" y="4019400"/>
            <a:ext cx="37080" cy="115128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5f6f6b"/>
          </a:solidFill>
          <a:ln w="0">
            <a:noFill/>
          </a:ln>
        </p:spPr>
        <p:style>
          <a:lnRef idx="0"/>
          <a:fillRef idx="0"/>
          <a:effectRef idx="0"/>
          <a:fontRef idx="minor"/>
        </p:style>
      </p:sp>
      <p:sp>
        <p:nvSpPr>
          <p:cNvPr id="82" name="Shape 28"/>
          <p:cNvSpPr/>
          <p:nvPr/>
        </p:nvSpPr>
        <p:spPr>
          <a:xfrm>
            <a:off x="571680" y="4172040"/>
            <a:ext cx="456120" cy="45612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5f6f6b"/>
          </a:solidFill>
          <a:ln w="0">
            <a:noFill/>
          </a:ln>
        </p:spPr>
        <p:style>
          <a:lnRef idx="0"/>
          <a:fillRef idx="0"/>
          <a:effectRef idx="0"/>
          <a:fontRef idx="minor"/>
        </p:style>
      </p:sp>
      <p:sp>
        <p:nvSpPr>
          <p:cNvPr id="83" name="Text 29"/>
          <p:cNvSpPr/>
          <p:nvPr/>
        </p:nvSpPr>
        <p:spPr>
          <a:xfrm>
            <a:off x="523800" y="4172040"/>
            <a:ext cx="551520" cy="4561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05</a:t>
            </a:r>
            <a:endParaRPr b="0" lang="en-HK" sz="1500" spc="-1" strike="noStrike">
              <a:latin typeface="Arial"/>
            </a:endParaRPr>
          </a:p>
        </p:txBody>
      </p:sp>
      <p:sp>
        <p:nvSpPr>
          <p:cNvPr id="84" name="Text 30"/>
          <p:cNvSpPr/>
          <p:nvPr/>
        </p:nvSpPr>
        <p:spPr>
          <a:xfrm>
            <a:off x="1181160" y="4172040"/>
            <a:ext cx="2847240" cy="265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Belowground Processes</a:t>
            </a:r>
            <a:endParaRPr b="0" lang="en-HK" sz="1500" spc="-1" strike="noStrike">
              <a:latin typeface="Arial"/>
            </a:endParaRPr>
          </a:p>
        </p:txBody>
      </p:sp>
      <p:sp>
        <p:nvSpPr>
          <p:cNvPr id="85" name="Text 31"/>
          <p:cNvSpPr/>
          <p:nvPr/>
        </p:nvSpPr>
        <p:spPr>
          <a:xfrm>
            <a:off x="1181160" y="4476600"/>
            <a:ext cx="282816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Mycorrhizal networks and nutrient cycling</a:t>
            </a:r>
            <a:endParaRPr b="0" lang="en-HK" sz="1200" spc="-1" strike="noStrike">
              <a:latin typeface="Arial"/>
            </a:endParaRPr>
          </a:p>
        </p:txBody>
      </p:sp>
      <p:sp>
        <p:nvSpPr>
          <p:cNvPr id="86" name="Shape 32"/>
          <p:cNvSpPr/>
          <p:nvPr/>
        </p:nvSpPr>
        <p:spPr>
          <a:xfrm>
            <a:off x="6267960" y="4019400"/>
            <a:ext cx="5542920" cy="115128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87" name="Shape 33"/>
          <p:cNvSpPr/>
          <p:nvPr/>
        </p:nvSpPr>
        <p:spPr>
          <a:xfrm>
            <a:off x="6267960" y="4019400"/>
            <a:ext cx="37080" cy="115128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5f6f6b"/>
          </a:solidFill>
          <a:ln w="0">
            <a:noFill/>
          </a:ln>
        </p:spPr>
        <p:style>
          <a:lnRef idx="0"/>
          <a:fillRef idx="0"/>
          <a:effectRef idx="0"/>
          <a:fontRef idx="minor"/>
        </p:style>
      </p:sp>
      <p:sp>
        <p:nvSpPr>
          <p:cNvPr id="88" name="Shape 34"/>
          <p:cNvSpPr/>
          <p:nvPr/>
        </p:nvSpPr>
        <p:spPr>
          <a:xfrm>
            <a:off x="6439320" y="4172040"/>
            <a:ext cx="456120" cy="45612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5f6f6b"/>
          </a:solidFill>
          <a:ln w="0">
            <a:noFill/>
          </a:ln>
        </p:spPr>
        <p:style>
          <a:lnRef idx="0"/>
          <a:fillRef idx="0"/>
          <a:effectRef idx="0"/>
          <a:fontRef idx="minor"/>
        </p:style>
      </p:sp>
      <p:sp>
        <p:nvSpPr>
          <p:cNvPr id="89" name="Text 35"/>
          <p:cNvSpPr/>
          <p:nvPr/>
        </p:nvSpPr>
        <p:spPr>
          <a:xfrm>
            <a:off x="6391800" y="4172040"/>
            <a:ext cx="551520" cy="4561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06</a:t>
            </a:r>
            <a:endParaRPr b="0" lang="en-HK" sz="1500" spc="-1" strike="noStrike">
              <a:latin typeface="Arial"/>
            </a:endParaRPr>
          </a:p>
        </p:txBody>
      </p:sp>
      <p:sp>
        <p:nvSpPr>
          <p:cNvPr id="90" name="Text 36"/>
          <p:cNvSpPr/>
          <p:nvPr/>
        </p:nvSpPr>
        <p:spPr>
          <a:xfrm>
            <a:off x="7048800" y="4172040"/>
            <a:ext cx="2494800" cy="265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Animal-Mediated Processes</a:t>
            </a:r>
            <a:endParaRPr b="0" lang="en-HK" sz="1500" spc="-1" strike="noStrike">
              <a:latin typeface="Arial"/>
            </a:endParaRPr>
          </a:p>
        </p:txBody>
      </p:sp>
      <p:sp>
        <p:nvSpPr>
          <p:cNvPr id="91" name="Text 37"/>
          <p:cNvSpPr/>
          <p:nvPr/>
        </p:nvSpPr>
        <p:spPr>
          <a:xfrm>
            <a:off x="7048800" y="4476600"/>
            <a:ext cx="247572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Seed dispersal and keystone species</a:t>
            </a:r>
            <a:endParaRPr b="0" lang="en-HK" sz="1200" spc="-1" strike="noStrike">
              <a:latin typeface="Arial"/>
            </a:endParaRPr>
          </a:p>
        </p:txBody>
      </p:sp>
      <p:sp>
        <p:nvSpPr>
          <p:cNvPr id="92" name="Shape 38"/>
          <p:cNvSpPr/>
          <p:nvPr/>
        </p:nvSpPr>
        <p:spPr>
          <a:xfrm>
            <a:off x="399960" y="5324400"/>
            <a:ext cx="5542920" cy="115128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93" name="Shape 39"/>
          <p:cNvSpPr/>
          <p:nvPr/>
        </p:nvSpPr>
        <p:spPr>
          <a:xfrm>
            <a:off x="399960" y="5324400"/>
            <a:ext cx="37080" cy="115128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2f3e3b"/>
          </a:solidFill>
          <a:ln w="0">
            <a:noFill/>
          </a:ln>
        </p:spPr>
        <p:style>
          <a:lnRef idx="0"/>
          <a:fillRef idx="0"/>
          <a:effectRef idx="0"/>
          <a:fontRef idx="minor"/>
        </p:style>
      </p:sp>
      <p:sp>
        <p:nvSpPr>
          <p:cNvPr id="94" name="Shape 40"/>
          <p:cNvSpPr/>
          <p:nvPr/>
        </p:nvSpPr>
        <p:spPr>
          <a:xfrm>
            <a:off x="571680" y="5477040"/>
            <a:ext cx="456120" cy="45612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2f3e3b"/>
          </a:solidFill>
          <a:ln w="0">
            <a:noFill/>
          </a:ln>
        </p:spPr>
        <p:style>
          <a:lnRef idx="0"/>
          <a:fillRef idx="0"/>
          <a:effectRef idx="0"/>
          <a:fontRef idx="minor"/>
        </p:style>
      </p:sp>
      <p:sp>
        <p:nvSpPr>
          <p:cNvPr id="95" name="Text 41"/>
          <p:cNvSpPr/>
          <p:nvPr/>
        </p:nvSpPr>
        <p:spPr>
          <a:xfrm>
            <a:off x="523800" y="5477040"/>
            <a:ext cx="551520" cy="4561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07</a:t>
            </a:r>
            <a:endParaRPr b="0" lang="en-HK" sz="1500" spc="-1" strike="noStrike">
              <a:latin typeface="Arial"/>
            </a:endParaRPr>
          </a:p>
        </p:txBody>
      </p:sp>
      <p:sp>
        <p:nvSpPr>
          <p:cNvPr id="96" name="Text 42"/>
          <p:cNvSpPr/>
          <p:nvPr/>
        </p:nvSpPr>
        <p:spPr>
          <a:xfrm>
            <a:off x="1181160" y="5477040"/>
            <a:ext cx="2723400" cy="265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Latitudinal Gradients</a:t>
            </a:r>
            <a:endParaRPr b="0" lang="en-HK" sz="1500" spc="-1" strike="noStrike">
              <a:latin typeface="Arial"/>
            </a:endParaRPr>
          </a:p>
        </p:txBody>
      </p:sp>
      <p:sp>
        <p:nvSpPr>
          <p:cNvPr id="97" name="Text 43"/>
          <p:cNvSpPr/>
          <p:nvPr/>
        </p:nvSpPr>
        <p:spPr>
          <a:xfrm>
            <a:off x="1181160" y="5781600"/>
            <a:ext cx="270432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Biome variation and climate adaptations</a:t>
            </a:r>
            <a:endParaRPr b="0" lang="en-HK" sz="1200" spc="-1" strike="noStrike">
              <a:latin typeface="Arial"/>
            </a:endParaRPr>
          </a:p>
        </p:txBody>
      </p:sp>
      <p:sp>
        <p:nvSpPr>
          <p:cNvPr id="98" name="Shape 44"/>
          <p:cNvSpPr/>
          <p:nvPr/>
        </p:nvSpPr>
        <p:spPr>
          <a:xfrm>
            <a:off x="6267960" y="5324400"/>
            <a:ext cx="5542920" cy="115128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99" name="Shape 45"/>
          <p:cNvSpPr/>
          <p:nvPr/>
        </p:nvSpPr>
        <p:spPr>
          <a:xfrm>
            <a:off x="6267960" y="5324400"/>
            <a:ext cx="37080" cy="115128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2f3e3b"/>
          </a:solidFill>
          <a:ln w="0">
            <a:noFill/>
          </a:ln>
        </p:spPr>
        <p:style>
          <a:lnRef idx="0"/>
          <a:fillRef idx="0"/>
          <a:effectRef idx="0"/>
          <a:fontRef idx="minor"/>
        </p:style>
      </p:sp>
      <p:sp>
        <p:nvSpPr>
          <p:cNvPr id="100" name="Shape 46"/>
          <p:cNvSpPr/>
          <p:nvPr/>
        </p:nvSpPr>
        <p:spPr>
          <a:xfrm>
            <a:off x="6439320" y="5477040"/>
            <a:ext cx="456120" cy="45612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2f3e3b"/>
          </a:solidFill>
          <a:ln w="0">
            <a:noFill/>
          </a:ln>
        </p:spPr>
        <p:style>
          <a:lnRef idx="0"/>
          <a:fillRef idx="0"/>
          <a:effectRef idx="0"/>
          <a:fontRef idx="minor"/>
        </p:style>
      </p:sp>
      <p:sp>
        <p:nvSpPr>
          <p:cNvPr id="101" name="Text 47"/>
          <p:cNvSpPr/>
          <p:nvPr/>
        </p:nvSpPr>
        <p:spPr>
          <a:xfrm>
            <a:off x="6391800" y="5477040"/>
            <a:ext cx="551520" cy="4561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08</a:t>
            </a:r>
            <a:endParaRPr b="0" lang="en-HK" sz="1500" spc="-1" strike="noStrike">
              <a:latin typeface="Arial"/>
            </a:endParaRPr>
          </a:p>
        </p:txBody>
      </p:sp>
      <p:sp>
        <p:nvSpPr>
          <p:cNvPr id="102" name="Text 48"/>
          <p:cNvSpPr/>
          <p:nvPr/>
        </p:nvSpPr>
        <p:spPr>
          <a:xfrm>
            <a:off x="7048800" y="5477040"/>
            <a:ext cx="3018600" cy="265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Conservation Implications</a:t>
            </a:r>
            <a:endParaRPr b="0" lang="en-HK" sz="1500" spc="-1" strike="noStrike">
              <a:latin typeface="Arial"/>
            </a:endParaRPr>
          </a:p>
        </p:txBody>
      </p:sp>
      <p:sp>
        <p:nvSpPr>
          <p:cNvPr id="103" name="Text 49"/>
          <p:cNvSpPr/>
          <p:nvPr/>
        </p:nvSpPr>
        <p:spPr>
          <a:xfrm>
            <a:off x="7048800" y="5781600"/>
            <a:ext cx="299952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Management strategies and future directions</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3d3d3"/>
        </a:solidFill>
      </p:bgPr>
    </p:bg>
    <p:spTree>
      <p:nvGrpSpPr>
        <p:cNvPr id="1" name=""/>
        <p:cNvGrpSpPr/>
        <p:nvPr/>
      </p:nvGrpSpPr>
      <p:grpSpPr>
        <a:xfrm>
          <a:off x="0" y="0"/>
          <a:ext cx="0" cy="0"/>
          <a:chOff x="0" y="0"/>
          <a:chExt cx="0" cy="0"/>
        </a:xfrm>
      </p:grpSpPr>
      <p:sp>
        <p:nvSpPr>
          <p:cNvPr id="104" name="Text 0"/>
          <p:cNvSpPr/>
          <p:nvPr/>
        </p:nvSpPr>
        <p:spPr>
          <a:xfrm>
            <a:off x="380880" y="380880"/>
            <a:ext cx="11496600" cy="189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50" spc="97" strike="noStrike">
                <a:solidFill>
                  <a:srgbClr val="4c8a7a"/>
                </a:solidFill>
                <a:latin typeface="Quattrocento Sans"/>
                <a:ea typeface="Quattrocento Sans"/>
              </a:rPr>
              <a:t>01 • Introduction</a:t>
            </a:r>
            <a:endParaRPr b="0" lang="en-HK" sz="1050" spc="-1" strike="noStrike">
              <a:latin typeface="Arial"/>
            </a:endParaRPr>
          </a:p>
        </p:txBody>
      </p:sp>
      <p:sp>
        <p:nvSpPr>
          <p:cNvPr id="105" name="Text 1"/>
          <p:cNvSpPr/>
          <p:nvPr/>
        </p:nvSpPr>
        <p:spPr>
          <a:xfrm>
            <a:off x="6120360" y="647640"/>
            <a:ext cx="5861520" cy="3798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0" lang="en-US" sz="2700" spc="-1" strike="noStrike">
                <a:solidFill>
                  <a:srgbClr val="006400"/>
                </a:solidFill>
                <a:latin typeface="Sorts Mill Goudy"/>
                <a:ea typeface="Sorts Mill Goudy"/>
              </a:rPr>
              <a:t>Forests as Biodiversity Reservoirs</a:t>
            </a:r>
            <a:endParaRPr b="0" lang="en-HK" sz="2700" spc="-1" strike="noStrike">
              <a:solidFill>
                <a:srgbClr val="006400"/>
              </a:solidFill>
              <a:latin typeface="Arial"/>
            </a:endParaRPr>
          </a:p>
        </p:txBody>
      </p:sp>
      <p:sp>
        <p:nvSpPr>
          <p:cNvPr id="106" name="Text 2"/>
          <p:cNvSpPr/>
          <p:nvPr/>
        </p:nvSpPr>
        <p:spPr>
          <a:xfrm>
            <a:off x="380880" y="1143000"/>
            <a:ext cx="11515680" cy="265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5f6f6b"/>
                </a:solidFill>
                <a:latin typeface="Quattrocento Sans"/>
                <a:ea typeface="Quattrocento Sans"/>
              </a:rPr>
              <a:t>Understanding the global significance of forests for terrestrial biodiversity conservation</a:t>
            </a:r>
            <a:br>
              <a:rPr sz="1350"/>
            </a:br>
            <a:r>
              <a:rPr b="0" lang="en-US" sz="1350" spc="-1" strike="noStrike">
                <a:solidFill>
                  <a:srgbClr val="5f6f6b"/>
                </a:solidFill>
                <a:latin typeface="Quattrocento Sans"/>
                <a:ea typeface="Quattrocento Sans"/>
              </a:rPr>
              <a:t>Forests cover approximately 31% of the Earth’s land surface and host over 80% of terrestrial biodiversity.</a:t>
            </a:r>
            <a:endParaRPr b="0" lang="en-HK" sz="1350" spc="-1" strike="noStrike">
              <a:latin typeface="Arial"/>
            </a:endParaRPr>
          </a:p>
        </p:txBody>
      </p:sp>
      <p:sp>
        <p:nvSpPr>
          <p:cNvPr id="107" name="Shape 3"/>
          <p:cNvSpPr/>
          <p:nvPr/>
        </p:nvSpPr>
        <p:spPr>
          <a:xfrm>
            <a:off x="399960" y="1638360"/>
            <a:ext cx="7524360" cy="2361240"/>
          </a:xfrm>
          <a:custGeom>
            <a:avLst/>
            <a:gdLst/>
            <a:ahLst/>
            <a:rect l="l" t="t" r="r" b="b"/>
            <a:pathLst>
              <a:path w="7524750" h="2362200">
                <a:moveTo>
                  <a:pt x="38100" y="0"/>
                </a:moveTo>
                <a:lnTo>
                  <a:pt x="7410443" y="0"/>
                </a:lnTo>
                <a:cubicBezTo>
                  <a:pt x="7473531" y="0"/>
                  <a:pt x="7524750" y="51219"/>
                  <a:pt x="7524750" y="114307"/>
                </a:cubicBezTo>
                <a:lnTo>
                  <a:pt x="7524750" y="2247893"/>
                </a:lnTo>
                <a:cubicBezTo>
                  <a:pt x="7524750" y="2310981"/>
                  <a:pt x="7473531" y="2362200"/>
                  <a:pt x="7410443" y="2362200"/>
                </a:cubicBezTo>
                <a:lnTo>
                  <a:pt x="38100" y="2362200"/>
                </a:lnTo>
                <a:cubicBezTo>
                  <a:pt x="17072" y="2362200"/>
                  <a:pt x="0" y="2345128"/>
                  <a:pt x="0" y="2324100"/>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08" name="Shape 4"/>
          <p:cNvSpPr/>
          <p:nvPr/>
        </p:nvSpPr>
        <p:spPr>
          <a:xfrm>
            <a:off x="399960" y="1638360"/>
            <a:ext cx="37080" cy="2361240"/>
          </a:xfrm>
          <a:custGeom>
            <a:avLst/>
            <a:gdLst/>
            <a:ahLst/>
            <a:rect l="l" t="t" r="r" b="b"/>
            <a:pathLst>
              <a:path w="38100" h="2362200">
                <a:moveTo>
                  <a:pt x="38100" y="0"/>
                </a:moveTo>
                <a:lnTo>
                  <a:pt x="38100" y="0"/>
                </a:lnTo>
                <a:lnTo>
                  <a:pt x="38100" y="2362200"/>
                </a:lnTo>
                <a:lnTo>
                  <a:pt x="38100" y="2362200"/>
                </a:lnTo>
                <a:cubicBezTo>
                  <a:pt x="17072" y="2362200"/>
                  <a:pt x="0" y="2345128"/>
                  <a:pt x="0" y="2324100"/>
                </a:cubicBezTo>
                <a:lnTo>
                  <a:pt x="0" y="38100"/>
                </a:lnTo>
                <a:cubicBezTo>
                  <a:pt x="0" y="17072"/>
                  <a:pt x="17072" y="0"/>
                  <a:pt x="38100" y="0"/>
                </a:cubicBezTo>
                <a:close/>
              </a:path>
            </a:pathLst>
          </a:custGeom>
          <a:solidFill>
            <a:srgbClr val="4c8a7a"/>
          </a:solidFill>
          <a:ln w="0">
            <a:noFill/>
          </a:ln>
        </p:spPr>
        <p:style>
          <a:lnRef idx="0"/>
          <a:fillRef idx="0"/>
          <a:effectRef idx="0"/>
          <a:fontRef idx="minor"/>
        </p:style>
      </p:sp>
      <p:sp>
        <p:nvSpPr>
          <p:cNvPr id="109" name="Shape 5"/>
          <p:cNvSpPr/>
          <p:nvPr/>
        </p:nvSpPr>
        <p:spPr>
          <a:xfrm>
            <a:off x="633240" y="1866960"/>
            <a:ext cx="189360" cy="189360"/>
          </a:xfrm>
          <a:custGeom>
            <a:avLst/>
            <a:gdLst/>
            <a:ahLst/>
            <a:rect l="l" t="t" r="r" b="b"/>
            <a:pathLst>
              <a:path w="190500" h="190500">
                <a:moveTo>
                  <a:pt x="20724" y="74302"/>
                </a:moveTo>
                <a:lnTo>
                  <a:pt x="32221" y="85799"/>
                </a:lnTo>
                <a:cubicBezTo>
                  <a:pt x="34454" y="88032"/>
                  <a:pt x="37467" y="89297"/>
                  <a:pt x="40630" y="89297"/>
                </a:cubicBezTo>
                <a:lnTo>
                  <a:pt x="48630" y="89297"/>
                </a:lnTo>
                <a:cubicBezTo>
                  <a:pt x="51792" y="89297"/>
                  <a:pt x="54806" y="90562"/>
                  <a:pt x="57038" y="92794"/>
                </a:cubicBezTo>
                <a:lnTo>
                  <a:pt x="67940" y="103696"/>
                </a:lnTo>
                <a:cubicBezTo>
                  <a:pt x="70172" y="105928"/>
                  <a:pt x="71438" y="108942"/>
                  <a:pt x="71438" y="112105"/>
                </a:cubicBezTo>
                <a:lnTo>
                  <a:pt x="71438" y="126057"/>
                </a:lnTo>
                <a:cubicBezTo>
                  <a:pt x="71438" y="129220"/>
                  <a:pt x="72703" y="132234"/>
                  <a:pt x="74935" y="134466"/>
                </a:cubicBezTo>
                <a:lnTo>
                  <a:pt x="79883" y="139415"/>
                </a:lnTo>
                <a:cubicBezTo>
                  <a:pt x="82116" y="141647"/>
                  <a:pt x="83381" y="144661"/>
                  <a:pt x="83381" y="147824"/>
                </a:cubicBezTo>
                <a:lnTo>
                  <a:pt x="83381" y="154781"/>
                </a:lnTo>
                <a:cubicBezTo>
                  <a:pt x="83381" y="161367"/>
                  <a:pt x="88702" y="166688"/>
                  <a:pt x="95287" y="166688"/>
                </a:cubicBezTo>
                <a:cubicBezTo>
                  <a:pt x="101873" y="166688"/>
                  <a:pt x="107193" y="161367"/>
                  <a:pt x="107193" y="154781"/>
                </a:cubicBezTo>
                <a:lnTo>
                  <a:pt x="107193" y="153777"/>
                </a:lnTo>
                <a:cubicBezTo>
                  <a:pt x="107193" y="150614"/>
                  <a:pt x="108458" y="147600"/>
                  <a:pt x="110691" y="145368"/>
                </a:cubicBezTo>
                <a:lnTo>
                  <a:pt x="127546" y="128513"/>
                </a:lnTo>
                <a:cubicBezTo>
                  <a:pt x="129778" y="126281"/>
                  <a:pt x="131043" y="123267"/>
                  <a:pt x="131043" y="120104"/>
                </a:cubicBezTo>
                <a:lnTo>
                  <a:pt x="131043" y="107193"/>
                </a:lnTo>
                <a:cubicBezTo>
                  <a:pt x="131043" y="100608"/>
                  <a:pt x="125723" y="95287"/>
                  <a:pt x="119137" y="95287"/>
                </a:cubicBezTo>
                <a:lnTo>
                  <a:pt x="88367" y="95287"/>
                </a:lnTo>
                <a:cubicBezTo>
                  <a:pt x="85204" y="95287"/>
                  <a:pt x="82190" y="94022"/>
                  <a:pt x="79958" y="91790"/>
                </a:cubicBezTo>
                <a:lnTo>
                  <a:pt x="74005" y="85837"/>
                </a:lnTo>
                <a:cubicBezTo>
                  <a:pt x="72442" y="84274"/>
                  <a:pt x="71549" y="82116"/>
                  <a:pt x="71549" y="79883"/>
                </a:cubicBezTo>
                <a:cubicBezTo>
                  <a:pt x="71549" y="75233"/>
                  <a:pt x="75307" y="71475"/>
                  <a:pt x="79958" y="71475"/>
                </a:cubicBezTo>
                <a:lnTo>
                  <a:pt x="92869" y="71475"/>
                </a:lnTo>
                <a:cubicBezTo>
                  <a:pt x="97520" y="71475"/>
                  <a:pt x="101278" y="67717"/>
                  <a:pt x="101278" y="63066"/>
                </a:cubicBezTo>
                <a:cubicBezTo>
                  <a:pt x="101278" y="60833"/>
                  <a:pt x="100385" y="58675"/>
                  <a:pt x="98822" y="57113"/>
                </a:cubicBezTo>
                <a:lnTo>
                  <a:pt x="91492" y="49783"/>
                </a:lnTo>
                <a:cubicBezTo>
                  <a:pt x="90041" y="48369"/>
                  <a:pt x="89297" y="46546"/>
                  <a:pt x="89297" y="44648"/>
                </a:cubicBezTo>
                <a:cubicBezTo>
                  <a:pt x="89297" y="42751"/>
                  <a:pt x="90041" y="40928"/>
                  <a:pt x="91418" y="39551"/>
                </a:cubicBezTo>
                <a:lnTo>
                  <a:pt x="97854" y="33114"/>
                </a:lnTo>
                <a:cubicBezTo>
                  <a:pt x="100013" y="30956"/>
                  <a:pt x="101240" y="28017"/>
                  <a:pt x="101240" y="24966"/>
                </a:cubicBezTo>
                <a:cubicBezTo>
                  <a:pt x="101240" y="22287"/>
                  <a:pt x="100347" y="19869"/>
                  <a:pt x="98859" y="17934"/>
                </a:cubicBezTo>
                <a:cubicBezTo>
                  <a:pt x="97668" y="17897"/>
                  <a:pt x="96478" y="17859"/>
                  <a:pt x="95287" y="17859"/>
                </a:cubicBezTo>
                <a:cubicBezTo>
                  <a:pt x="59792" y="17859"/>
                  <a:pt x="29914" y="41746"/>
                  <a:pt x="20762" y="74302"/>
                </a:cubicBezTo>
                <a:close/>
                <a:moveTo>
                  <a:pt x="172641" y="95250"/>
                </a:moveTo>
                <a:cubicBezTo>
                  <a:pt x="172641" y="82376"/>
                  <a:pt x="169515" y="70247"/>
                  <a:pt x="163934" y="59606"/>
                </a:cubicBezTo>
                <a:cubicBezTo>
                  <a:pt x="161553" y="59941"/>
                  <a:pt x="159209" y="61057"/>
                  <a:pt x="157274" y="62992"/>
                </a:cubicBezTo>
                <a:lnTo>
                  <a:pt x="152288" y="67977"/>
                </a:lnTo>
                <a:cubicBezTo>
                  <a:pt x="150056" y="70210"/>
                  <a:pt x="148791" y="73223"/>
                  <a:pt x="148791" y="76386"/>
                </a:cubicBezTo>
                <a:lnTo>
                  <a:pt x="148791" y="89297"/>
                </a:lnTo>
                <a:cubicBezTo>
                  <a:pt x="148791" y="95883"/>
                  <a:pt x="154112" y="101203"/>
                  <a:pt x="160697" y="101203"/>
                </a:cubicBezTo>
                <a:lnTo>
                  <a:pt x="169664" y="101203"/>
                </a:lnTo>
                <a:cubicBezTo>
                  <a:pt x="170594" y="101203"/>
                  <a:pt x="171524" y="101092"/>
                  <a:pt x="172380" y="100905"/>
                </a:cubicBezTo>
                <a:cubicBezTo>
                  <a:pt x="172529" y="99045"/>
                  <a:pt x="172566" y="97148"/>
                  <a:pt x="172566" y="95250"/>
                </a:cubicBezTo>
                <a:close/>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path>
            </a:pathLst>
          </a:custGeom>
          <a:solidFill>
            <a:srgbClr val="4c8a7a"/>
          </a:solidFill>
          <a:ln w="0">
            <a:noFill/>
          </a:ln>
        </p:spPr>
        <p:style>
          <a:lnRef idx="0"/>
          <a:fillRef idx="0"/>
          <a:effectRef idx="0"/>
          <a:fontRef idx="minor"/>
        </p:style>
      </p:sp>
      <p:sp>
        <p:nvSpPr>
          <p:cNvPr id="110" name="Text 6"/>
          <p:cNvSpPr/>
          <p:nvPr/>
        </p:nvSpPr>
        <p:spPr>
          <a:xfrm>
            <a:off x="847800" y="1828800"/>
            <a:ext cx="6981480" cy="265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Global Forest Coverage</a:t>
            </a:r>
            <a:endParaRPr b="0" lang="en-HK" sz="1500" spc="-1" strike="noStrike">
              <a:latin typeface="Arial"/>
            </a:endParaRPr>
          </a:p>
        </p:txBody>
      </p:sp>
      <p:sp>
        <p:nvSpPr>
          <p:cNvPr id="111" name="Text 7"/>
          <p:cNvSpPr/>
          <p:nvPr/>
        </p:nvSpPr>
        <p:spPr>
          <a:xfrm>
            <a:off x="609480" y="2209680"/>
            <a:ext cx="7200720" cy="741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f2a28"/>
                </a:solidFill>
                <a:latin typeface="Quattrocento Sans"/>
                <a:ea typeface="Quattrocento Sans"/>
              </a:rPr>
              <a:t>Forests cover approximately </a:t>
            </a:r>
            <a:r>
              <a:rPr b="1" lang="en-US" sz="1200" spc="-1" strike="noStrike">
                <a:solidFill>
                  <a:srgbClr val="1f2a28"/>
                </a:solidFill>
                <a:latin typeface="Quattrocento Sans"/>
                <a:ea typeface="Quattrocento Sans"/>
              </a:rPr>
              <a:t>31% of Earth's land surface</a:t>
            </a:r>
            <a:r>
              <a:rPr b="0" lang="en-US" sz="1200" spc="-1" strike="noStrike">
                <a:solidFill>
                  <a:srgbClr val="1f2a28"/>
                </a:solidFill>
                <a:latin typeface="Quattrocento Sans"/>
                <a:ea typeface="Quattrocento Sans"/>
              </a:rPr>
              <a:t>, representing one of the most extensive terrestrial ecosystems. These complex biological systems harbor </a:t>
            </a:r>
            <a:r>
              <a:rPr b="1" lang="en-US" sz="1200" spc="-1" strike="noStrike">
                <a:solidFill>
                  <a:srgbClr val="1f2a28"/>
                </a:solidFill>
                <a:latin typeface="Quattrocento Sans"/>
                <a:ea typeface="Quattrocento Sans"/>
              </a:rPr>
              <a:t>over 80% of terrestrial biodiversity</a:t>
            </a:r>
            <a:r>
              <a:rPr b="0" lang="en-US" sz="1200" spc="-1" strike="noStrike">
                <a:solidFill>
                  <a:srgbClr val="1f2a28"/>
                </a:solidFill>
                <a:latin typeface="Quattrocento Sans"/>
                <a:ea typeface="Quattrocento Sans"/>
              </a:rPr>
              <a:t>, providing habitat for millions of species across all taxonomic groups.</a:t>
            </a:r>
            <a:endParaRPr b="0" lang="en-HK" sz="1200" spc="-1" strike="noStrike">
              <a:latin typeface="Arial"/>
            </a:endParaRPr>
          </a:p>
        </p:txBody>
      </p:sp>
      <p:sp>
        <p:nvSpPr>
          <p:cNvPr id="112" name="Text 8"/>
          <p:cNvSpPr/>
          <p:nvPr/>
        </p:nvSpPr>
        <p:spPr>
          <a:xfrm>
            <a:off x="609480" y="3067200"/>
            <a:ext cx="7200720" cy="741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5f6f6b"/>
                </a:solidFill>
                <a:latin typeface="Quattrocento Sans"/>
                <a:ea typeface="Quattrocento Sans"/>
              </a:rPr>
              <a:t>From the towering emergent trees of tropical rainforests to the resilient conifers of boreal zones, forests create three-dimensional habitats that support intricate food webs and ecological interactions essential for planetary health.</a:t>
            </a:r>
            <a:endParaRPr b="0" lang="en-HK" sz="1200" spc="-1" strike="noStrike">
              <a:latin typeface="Arial"/>
            </a:endParaRPr>
          </a:p>
        </p:txBody>
      </p:sp>
      <p:sp>
        <p:nvSpPr>
          <p:cNvPr id="113" name="Shape 9"/>
          <p:cNvSpPr/>
          <p:nvPr/>
        </p:nvSpPr>
        <p:spPr>
          <a:xfrm>
            <a:off x="399960" y="4152960"/>
            <a:ext cx="7524360" cy="1751400"/>
          </a:xfrm>
          <a:custGeom>
            <a:avLst/>
            <a:gdLst/>
            <a:ahLst/>
            <a:rect l="l" t="t" r="r" b="b"/>
            <a:pathLst>
              <a:path w="7524750" h="1752600">
                <a:moveTo>
                  <a:pt x="38100" y="0"/>
                </a:moveTo>
                <a:lnTo>
                  <a:pt x="7410445" y="0"/>
                </a:lnTo>
                <a:cubicBezTo>
                  <a:pt x="7473574" y="0"/>
                  <a:pt x="7524750" y="51176"/>
                  <a:pt x="7524750" y="114305"/>
                </a:cubicBezTo>
                <a:lnTo>
                  <a:pt x="7524750" y="1638295"/>
                </a:lnTo>
                <a:cubicBezTo>
                  <a:pt x="7524750" y="1701424"/>
                  <a:pt x="7473574" y="1752600"/>
                  <a:pt x="7410445" y="1752600"/>
                </a:cubicBezTo>
                <a:lnTo>
                  <a:pt x="38100" y="1752600"/>
                </a:lnTo>
                <a:cubicBezTo>
                  <a:pt x="17072" y="1752600"/>
                  <a:pt x="0" y="1735528"/>
                  <a:pt x="0" y="1714500"/>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14" name="Shape 10"/>
          <p:cNvSpPr/>
          <p:nvPr/>
        </p:nvSpPr>
        <p:spPr>
          <a:xfrm>
            <a:off x="399960" y="4152960"/>
            <a:ext cx="37080" cy="1751400"/>
          </a:xfrm>
          <a:custGeom>
            <a:avLst/>
            <a:gdLst/>
            <a:ahLst/>
            <a:rect l="l" t="t" r="r" b="b"/>
            <a:pathLst>
              <a:path w="38100" h="1752600">
                <a:moveTo>
                  <a:pt x="38100" y="0"/>
                </a:moveTo>
                <a:lnTo>
                  <a:pt x="38100" y="0"/>
                </a:lnTo>
                <a:lnTo>
                  <a:pt x="38100" y="1752600"/>
                </a:lnTo>
                <a:lnTo>
                  <a:pt x="38100" y="1752600"/>
                </a:lnTo>
                <a:cubicBezTo>
                  <a:pt x="17072" y="1752600"/>
                  <a:pt x="0" y="1735528"/>
                  <a:pt x="0" y="1714500"/>
                </a:cubicBezTo>
                <a:lnTo>
                  <a:pt x="0" y="38100"/>
                </a:lnTo>
                <a:cubicBezTo>
                  <a:pt x="0" y="17072"/>
                  <a:pt x="17072" y="0"/>
                  <a:pt x="38100" y="0"/>
                </a:cubicBezTo>
                <a:close/>
              </a:path>
            </a:pathLst>
          </a:custGeom>
          <a:solidFill>
            <a:srgbClr val="8fb7ac"/>
          </a:solidFill>
          <a:ln w="0">
            <a:noFill/>
          </a:ln>
        </p:spPr>
        <p:style>
          <a:lnRef idx="0"/>
          <a:fillRef idx="0"/>
          <a:effectRef idx="0"/>
          <a:fontRef idx="minor"/>
        </p:style>
      </p:sp>
      <p:sp>
        <p:nvSpPr>
          <p:cNvPr id="115" name="Shape 11"/>
          <p:cNvSpPr/>
          <p:nvPr/>
        </p:nvSpPr>
        <p:spPr>
          <a:xfrm>
            <a:off x="645480" y="4381560"/>
            <a:ext cx="165600" cy="189360"/>
          </a:xfrm>
          <a:custGeom>
            <a:avLst/>
            <a:gdLst/>
            <a:ahLst/>
            <a:rect l="l" t="t" r="r" b="b"/>
            <a:pathLst>
              <a:path w="166688" h="190500">
                <a:moveTo>
                  <a:pt x="83344" y="-11906"/>
                </a:moveTo>
                <a:cubicBezTo>
                  <a:pt x="85948" y="-11906"/>
                  <a:pt x="88441" y="-10753"/>
                  <a:pt x="90153" y="-8744"/>
                </a:cubicBezTo>
                <a:lnTo>
                  <a:pt x="140754" y="50788"/>
                </a:lnTo>
                <a:cubicBezTo>
                  <a:pt x="143024" y="53429"/>
                  <a:pt x="143508" y="57150"/>
                  <a:pt x="142056" y="60313"/>
                </a:cubicBezTo>
                <a:cubicBezTo>
                  <a:pt x="140605" y="63475"/>
                  <a:pt x="137443" y="65484"/>
                  <a:pt x="133945" y="65484"/>
                </a:cubicBezTo>
                <a:lnTo>
                  <a:pt x="124681" y="65484"/>
                </a:lnTo>
                <a:lnTo>
                  <a:pt x="152660" y="98413"/>
                </a:lnTo>
                <a:cubicBezTo>
                  <a:pt x="154930" y="101054"/>
                  <a:pt x="155414" y="104775"/>
                  <a:pt x="153963" y="107938"/>
                </a:cubicBezTo>
                <a:cubicBezTo>
                  <a:pt x="152512" y="111100"/>
                  <a:pt x="149349" y="113109"/>
                  <a:pt x="145852" y="113109"/>
                </a:cubicBezTo>
                <a:lnTo>
                  <a:pt x="131527" y="113109"/>
                </a:lnTo>
                <a:lnTo>
                  <a:pt x="164567" y="151991"/>
                </a:lnTo>
                <a:cubicBezTo>
                  <a:pt x="166836" y="154632"/>
                  <a:pt x="167320" y="158353"/>
                  <a:pt x="165869" y="161516"/>
                </a:cubicBezTo>
                <a:cubicBezTo>
                  <a:pt x="164418" y="164678"/>
                  <a:pt x="161255" y="166688"/>
                  <a:pt x="157758" y="166688"/>
                </a:cubicBezTo>
                <a:lnTo>
                  <a:pt x="95250" y="166688"/>
                </a:lnTo>
                <a:lnTo>
                  <a:pt x="95250" y="190500"/>
                </a:lnTo>
                <a:cubicBezTo>
                  <a:pt x="95250" y="197086"/>
                  <a:pt x="89929" y="202406"/>
                  <a:pt x="83344" y="202406"/>
                </a:cubicBezTo>
                <a:cubicBezTo>
                  <a:pt x="76758" y="202406"/>
                  <a:pt x="71438" y="197086"/>
                  <a:pt x="71438" y="190500"/>
                </a:cubicBezTo>
                <a:lnTo>
                  <a:pt x="71438" y="166688"/>
                </a:lnTo>
                <a:lnTo>
                  <a:pt x="8930" y="166688"/>
                </a:lnTo>
                <a:cubicBezTo>
                  <a:pt x="5432" y="166688"/>
                  <a:pt x="2270" y="164678"/>
                  <a:pt x="819" y="161516"/>
                </a:cubicBezTo>
                <a:cubicBezTo>
                  <a:pt x="-633" y="158353"/>
                  <a:pt x="-149" y="154632"/>
                  <a:pt x="2121" y="151991"/>
                </a:cubicBezTo>
                <a:lnTo>
                  <a:pt x="35161" y="113109"/>
                </a:lnTo>
                <a:lnTo>
                  <a:pt x="20836" y="113109"/>
                </a:lnTo>
                <a:cubicBezTo>
                  <a:pt x="17338" y="113109"/>
                  <a:pt x="14176" y="111100"/>
                  <a:pt x="12725" y="107938"/>
                </a:cubicBezTo>
                <a:cubicBezTo>
                  <a:pt x="11274" y="104775"/>
                  <a:pt x="11757" y="101054"/>
                  <a:pt x="14027" y="98413"/>
                </a:cubicBezTo>
                <a:lnTo>
                  <a:pt x="42007" y="65484"/>
                </a:lnTo>
                <a:lnTo>
                  <a:pt x="32742" y="65484"/>
                </a:lnTo>
                <a:cubicBezTo>
                  <a:pt x="29245" y="65484"/>
                  <a:pt x="26082" y="63475"/>
                  <a:pt x="24631" y="60313"/>
                </a:cubicBezTo>
                <a:cubicBezTo>
                  <a:pt x="23180" y="57150"/>
                  <a:pt x="23664" y="53429"/>
                  <a:pt x="25933" y="50788"/>
                </a:cubicBezTo>
                <a:lnTo>
                  <a:pt x="76535" y="-8744"/>
                </a:lnTo>
                <a:cubicBezTo>
                  <a:pt x="78246" y="-10753"/>
                  <a:pt x="80739" y="-11906"/>
                  <a:pt x="83344" y="-11906"/>
                </a:cubicBezTo>
                <a:close/>
              </a:path>
            </a:pathLst>
          </a:custGeom>
          <a:solidFill>
            <a:srgbClr val="8fb7ac"/>
          </a:solidFill>
          <a:ln w="0">
            <a:noFill/>
          </a:ln>
        </p:spPr>
        <p:style>
          <a:lnRef idx="0"/>
          <a:fillRef idx="0"/>
          <a:effectRef idx="0"/>
          <a:fontRef idx="minor"/>
        </p:style>
      </p:sp>
      <p:sp>
        <p:nvSpPr>
          <p:cNvPr id="116" name="Text 12"/>
          <p:cNvSpPr/>
          <p:nvPr/>
        </p:nvSpPr>
        <p:spPr>
          <a:xfrm>
            <a:off x="847800" y="4343400"/>
            <a:ext cx="6981480" cy="265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The Biodiversity Challenge</a:t>
            </a:r>
            <a:endParaRPr b="0" lang="en-HK" sz="1500" spc="-1" strike="noStrike">
              <a:latin typeface="Arial"/>
            </a:endParaRPr>
          </a:p>
        </p:txBody>
      </p:sp>
      <p:sp>
        <p:nvSpPr>
          <p:cNvPr id="117" name="Text 13"/>
          <p:cNvSpPr/>
          <p:nvPr/>
        </p:nvSpPr>
        <p:spPr>
          <a:xfrm>
            <a:off x="609480" y="4724280"/>
            <a:ext cx="7200720" cy="989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f2a28"/>
                </a:solidFill>
                <a:latin typeface="Quattrocento Sans"/>
                <a:ea typeface="Quattrocento Sans"/>
              </a:rPr>
              <a:t>Understanding the mechanisms that maintain high species diversity in natural forests remains a fundamental challenge in ecology. Unlike simplified plantation forests, natural forests sustain hundreds of tree species coexisting within the same landscape—a phenomenon that defies simple competitive exclusion principles and requires explanation through complex ecological mechanisms.</a:t>
            </a:r>
            <a:endParaRPr b="0" lang="en-HK" sz="1200" spc="-1" strike="noStrike">
              <a:latin typeface="Arial"/>
            </a:endParaRPr>
          </a:p>
        </p:txBody>
      </p:sp>
      <p:sp>
        <p:nvSpPr>
          <p:cNvPr id="118" name="Shape 14"/>
          <p:cNvSpPr/>
          <p:nvPr/>
        </p:nvSpPr>
        <p:spPr>
          <a:xfrm>
            <a:off x="8154000" y="1638360"/>
            <a:ext cx="3656880" cy="1370520"/>
          </a:xfrm>
          <a:custGeom>
            <a:avLst/>
            <a:gdLst/>
            <a:ahLst/>
            <a:rect l="l" t="t" r="r" b="b"/>
            <a:pathLst>
              <a:path w="3657600" h="1371600">
                <a:moveTo>
                  <a:pt x="114295" y="0"/>
                </a:moveTo>
                <a:lnTo>
                  <a:pt x="3543305" y="0"/>
                </a:lnTo>
                <a:cubicBezTo>
                  <a:pt x="3606386" y="0"/>
                  <a:pt x="3657600" y="51214"/>
                  <a:pt x="3657600" y="114295"/>
                </a:cubicBezTo>
                <a:lnTo>
                  <a:pt x="3657600" y="1257305"/>
                </a:lnTo>
                <a:cubicBezTo>
                  <a:pt x="3657600" y="1320386"/>
                  <a:pt x="3606386" y="1371600"/>
                  <a:pt x="3543305" y="1371600"/>
                </a:cubicBezTo>
                <a:lnTo>
                  <a:pt x="114295" y="1371600"/>
                </a:lnTo>
                <a:cubicBezTo>
                  <a:pt x="51214" y="1371600"/>
                  <a:pt x="0" y="1320386"/>
                  <a:pt x="0" y="1257305"/>
                </a:cubicBezTo>
                <a:lnTo>
                  <a:pt x="0" y="114295"/>
                </a:lnTo>
                <a:cubicBezTo>
                  <a:pt x="0" y="51214"/>
                  <a:pt x="51214" y="0"/>
                  <a:pt x="114295" y="0"/>
                </a:cubicBezTo>
                <a:close/>
              </a:path>
            </a:pathLst>
          </a:custGeom>
          <a:solidFill>
            <a:srgbClr val="4c8a7a"/>
          </a:solidFill>
          <a:ln w="0">
            <a:noFill/>
          </a:ln>
        </p:spPr>
        <p:style>
          <a:lnRef idx="0"/>
          <a:fillRef idx="0"/>
          <a:effectRef idx="0"/>
          <a:fontRef idx="minor"/>
        </p:style>
      </p:sp>
      <p:sp>
        <p:nvSpPr>
          <p:cNvPr id="119" name="Text 15"/>
          <p:cNvSpPr/>
          <p:nvPr/>
        </p:nvSpPr>
        <p:spPr>
          <a:xfrm>
            <a:off x="8344800" y="1828800"/>
            <a:ext cx="3504600" cy="4561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ffffff"/>
                </a:solidFill>
                <a:latin typeface="Sorts Mill Goudy"/>
                <a:ea typeface="Sorts Mill Goudy"/>
              </a:rPr>
              <a:t>31%</a:t>
            </a:r>
            <a:endParaRPr b="0" lang="en-HK" sz="3600" spc="-1" strike="noStrike">
              <a:latin typeface="Arial"/>
            </a:endParaRPr>
          </a:p>
        </p:txBody>
      </p:sp>
      <p:sp>
        <p:nvSpPr>
          <p:cNvPr id="120" name="Text 16"/>
          <p:cNvSpPr/>
          <p:nvPr/>
        </p:nvSpPr>
        <p:spPr>
          <a:xfrm>
            <a:off x="8344800" y="2362320"/>
            <a:ext cx="335196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90000"/>
                  </a:srgbClr>
                </a:solidFill>
                <a:latin typeface="Quattrocento Sans"/>
                <a:ea typeface="Quattrocento Sans"/>
              </a:rPr>
              <a:t>Global Land Coverage</a:t>
            </a:r>
            <a:endParaRPr b="0" lang="en-HK" sz="1200" spc="-1" strike="noStrike">
              <a:latin typeface="Arial"/>
            </a:endParaRPr>
          </a:p>
        </p:txBody>
      </p:sp>
      <p:sp>
        <p:nvSpPr>
          <p:cNvPr id="121" name="Text 17"/>
          <p:cNvSpPr/>
          <p:nvPr/>
        </p:nvSpPr>
        <p:spPr>
          <a:xfrm>
            <a:off x="8344800" y="2629080"/>
            <a:ext cx="3342600" cy="189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50" spc="-1" strike="noStrike">
                <a:solidFill>
                  <a:srgbClr val="ffffff">
                    <a:alpha val="75000"/>
                  </a:srgbClr>
                </a:solidFill>
                <a:latin typeface="Quattrocento Sans"/>
                <a:ea typeface="Quattrocento Sans"/>
              </a:rPr>
              <a:t>~4 billion hectares</a:t>
            </a:r>
            <a:endParaRPr b="0" lang="en-HK" sz="1050" spc="-1" strike="noStrike">
              <a:latin typeface="Arial"/>
            </a:endParaRPr>
          </a:p>
        </p:txBody>
      </p:sp>
      <p:sp>
        <p:nvSpPr>
          <p:cNvPr id="122" name="Shape 18"/>
          <p:cNvSpPr/>
          <p:nvPr/>
        </p:nvSpPr>
        <p:spPr>
          <a:xfrm>
            <a:off x="8154000" y="3162240"/>
            <a:ext cx="3656880" cy="1370520"/>
          </a:xfrm>
          <a:custGeom>
            <a:avLst/>
            <a:gdLst/>
            <a:ahLst/>
            <a:rect l="l" t="t" r="r" b="b"/>
            <a:pathLst>
              <a:path w="3657600" h="1371600">
                <a:moveTo>
                  <a:pt x="114295" y="0"/>
                </a:moveTo>
                <a:lnTo>
                  <a:pt x="3543305" y="0"/>
                </a:lnTo>
                <a:cubicBezTo>
                  <a:pt x="3606386" y="0"/>
                  <a:pt x="3657600" y="51214"/>
                  <a:pt x="3657600" y="114295"/>
                </a:cubicBezTo>
                <a:lnTo>
                  <a:pt x="3657600" y="1257305"/>
                </a:lnTo>
                <a:cubicBezTo>
                  <a:pt x="3657600" y="1320386"/>
                  <a:pt x="3606386" y="1371600"/>
                  <a:pt x="3543305" y="1371600"/>
                </a:cubicBezTo>
                <a:lnTo>
                  <a:pt x="114295" y="1371600"/>
                </a:lnTo>
                <a:cubicBezTo>
                  <a:pt x="51214" y="1371600"/>
                  <a:pt x="0" y="1320386"/>
                  <a:pt x="0" y="1257305"/>
                </a:cubicBezTo>
                <a:lnTo>
                  <a:pt x="0" y="114295"/>
                </a:lnTo>
                <a:cubicBezTo>
                  <a:pt x="0" y="51214"/>
                  <a:pt x="51214" y="0"/>
                  <a:pt x="114295" y="0"/>
                </a:cubicBezTo>
                <a:close/>
              </a:path>
            </a:pathLst>
          </a:custGeom>
          <a:solidFill>
            <a:srgbClr val="2f3e3b"/>
          </a:solidFill>
          <a:ln w="0">
            <a:noFill/>
          </a:ln>
        </p:spPr>
        <p:style>
          <a:lnRef idx="0"/>
          <a:fillRef idx="0"/>
          <a:effectRef idx="0"/>
          <a:fontRef idx="minor"/>
        </p:style>
      </p:sp>
      <p:sp>
        <p:nvSpPr>
          <p:cNvPr id="123" name="Text 19"/>
          <p:cNvSpPr/>
          <p:nvPr/>
        </p:nvSpPr>
        <p:spPr>
          <a:xfrm>
            <a:off x="8344800" y="3352680"/>
            <a:ext cx="3504600" cy="4561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ffffff"/>
                </a:solidFill>
                <a:latin typeface="Sorts Mill Goudy"/>
                <a:ea typeface="Sorts Mill Goudy"/>
              </a:rPr>
              <a:t>80%</a:t>
            </a:r>
            <a:endParaRPr b="0" lang="en-HK" sz="3600" spc="-1" strike="noStrike">
              <a:latin typeface="Arial"/>
            </a:endParaRPr>
          </a:p>
        </p:txBody>
      </p:sp>
      <p:sp>
        <p:nvSpPr>
          <p:cNvPr id="124" name="Text 20"/>
          <p:cNvSpPr/>
          <p:nvPr/>
        </p:nvSpPr>
        <p:spPr>
          <a:xfrm>
            <a:off x="8344800" y="3886200"/>
            <a:ext cx="335196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90000"/>
                  </a:srgbClr>
                </a:solidFill>
                <a:latin typeface="Quattrocento Sans"/>
                <a:ea typeface="Quattrocento Sans"/>
              </a:rPr>
              <a:t>Terrestrial Biodiversity</a:t>
            </a:r>
            <a:endParaRPr b="0" lang="en-HK" sz="1200" spc="-1" strike="noStrike">
              <a:latin typeface="Arial"/>
            </a:endParaRPr>
          </a:p>
        </p:txBody>
      </p:sp>
      <p:sp>
        <p:nvSpPr>
          <p:cNvPr id="125" name="Text 21"/>
          <p:cNvSpPr/>
          <p:nvPr/>
        </p:nvSpPr>
        <p:spPr>
          <a:xfrm>
            <a:off x="8344800" y="4152960"/>
            <a:ext cx="3342600" cy="189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50" spc="-1" strike="noStrike">
                <a:solidFill>
                  <a:srgbClr val="ffffff">
                    <a:alpha val="75000"/>
                  </a:srgbClr>
                </a:solidFill>
                <a:latin typeface="Quattrocento Sans"/>
                <a:ea typeface="Quattrocento Sans"/>
              </a:rPr>
              <a:t>Species habitat</a:t>
            </a:r>
            <a:endParaRPr b="0" lang="en-HK" sz="1050" spc="-1" strike="noStrike">
              <a:latin typeface="Arial"/>
            </a:endParaRPr>
          </a:p>
        </p:txBody>
      </p:sp>
      <p:sp>
        <p:nvSpPr>
          <p:cNvPr id="126" name="Shape 22"/>
          <p:cNvSpPr/>
          <p:nvPr/>
        </p:nvSpPr>
        <p:spPr>
          <a:xfrm>
            <a:off x="8153640" y="4686480"/>
            <a:ext cx="3656880" cy="1904040"/>
          </a:xfrm>
          <a:custGeom>
            <a:avLst/>
            <a:gdLst/>
            <a:ahLst/>
            <a:rect l="l" t="t" r="r" b="b"/>
            <a:pathLst>
              <a:path w="3657600" h="1905000">
                <a:moveTo>
                  <a:pt x="114300" y="0"/>
                </a:moveTo>
                <a:lnTo>
                  <a:pt x="3543300" y="0"/>
                </a:lnTo>
                <a:cubicBezTo>
                  <a:pt x="3606384" y="0"/>
                  <a:pt x="3657600" y="51216"/>
                  <a:pt x="3657600" y="114300"/>
                </a:cubicBezTo>
                <a:lnTo>
                  <a:pt x="3657600" y="1790700"/>
                </a:lnTo>
                <a:cubicBezTo>
                  <a:pt x="3657600" y="1853784"/>
                  <a:pt x="3606384" y="1905000"/>
                  <a:pt x="3543300" y="1905000"/>
                </a:cubicBezTo>
                <a:lnTo>
                  <a:pt x="114300" y="1905000"/>
                </a:lnTo>
                <a:cubicBezTo>
                  <a:pt x="51216" y="1905000"/>
                  <a:pt x="0" y="1853784"/>
                  <a:pt x="0" y="1790700"/>
                </a:cubicBezTo>
                <a:lnTo>
                  <a:pt x="0" y="114300"/>
                </a:lnTo>
                <a:cubicBezTo>
                  <a:pt x="0" y="51216"/>
                  <a:pt x="51216" y="0"/>
                  <a:pt x="1143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27" name="Text 23"/>
          <p:cNvSpPr/>
          <p:nvPr/>
        </p:nvSpPr>
        <p:spPr>
          <a:xfrm>
            <a:off x="8344800" y="4876920"/>
            <a:ext cx="3361680" cy="265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2f3e3b"/>
                </a:solidFill>
                <a:latin typeface="Sorts Mill Goudy"/>
                <a:ea typeface="Sorts Mill Goudy"/>
              </a:rPr>
              <a:t>Ecosystem Services</a:t>
            </a:r>
            <a:endParaRPr b="0" lang="en-HK" sz="1350" spc="-1" strike="noStrike">
              <a:latin typeface="Arial"/>
            </a:endParaRPr>
          </a:p>
        </p:txBody>
      </p:sp>
      <p:sp>
        <p:nvSpPr>
          <p:cNvPr id="128" name="Shape 24"/>
          <p:cNvSpPr/>
          <p:nvPr/>
        </p:nvSpPr>
        <p:spPr>
          <a:xfrm>
            <a:off x="8373240" y="5295960"/>
            <a:ext cx="132120" cy="151200"/>
          </a:xfrm>
          <a:custGeom>
            <a:avLst/>
            <a:gdLst/>
            <a:ah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w="0">
            <a:noFill/>
          </a:ln>
        </p:spPr>
        <p:style>
          <a:lnRef idx="0"/>
          <a:fillRef idx="0"/>
          <a:effectRef idx="0"/>
          <a:fontRef idx="minor"/>
        </p:style>
      </p:sp>
      <p:sp>
        <p:nvSpPr>
          <p:cNvPr id="129" name="Text 25"/>
          <p:cNvSpPr/>
          <p:nvPr/>
        </p:nvSpPr>
        <p:spPr>
          <a:xfrm>
            <a:off x="8611200" y="5257800"/>
            <a:ext cx="148500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Carbon sequestration</a:t>
            </a:r>
            <a:endParaRPr b="0" lang="en-HK" sz="1200" spc="-1" strike="noStrike">
              <a:latin typeface="Arial"/>
            </a:endParaRPr>
          </a:p>
        </p:txBody>
      </p:sp>
      <p:sp>
        <p:nvSpPr>
          <p:cNvPr id="130" name="Shape 26"/>
          <p:cNvSpPr/>
          <p:nvPr/>
        </p:nvSpPr>
        <p:spPr>
          <a:xfrm>
            <a:off x="8373240" y="5600880"/>
            <a:ext cx="132120" cy="151200"/>
          </a:xfrm>
          <a:custGeom>
            <a:avLst/>
            <a:gdLst/>
            <a:ah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w="0">
            <a:noFill/>
          </a:ln>
        </p:spPr>
        <p:style>
          <a:lnRef idx="0"/>
          <a:fillRef idx="0"/>
          <a:effectRef idx="0"/>
          <a:fontRef idx="minor"/>
        </p:style>
      </p:sp>
      <p:sp>
        <p:nvSpPr>
          <p:cNvPr id="131" name="Text 27"/>
          <p:cNvSpPr/>
          <p:nvPr/>
        </p:nvSpPr>
        <p:spPr>
          <a:xfrm>
            <a:off x="8611200" y="5562720"/>
            <a:ext cx="118944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Water regulation</a:t>
            </a:r>
            <a:endParaRPr b="0" lang="en-HK" sz="1200" spc="-1" strike="noStrike">
              <a:latin typeface="Arial"/>
            </a:endParaRPr>
          </a:p>
        </p:txBody>
      </p:sp>
      <p:sp>
        <p:nvSpPr>
          <p:cNvPr id="132" name="Shape 28"/>
          <p:cNvSpPr/>
          <p:nvPr/>
        </p:nvSpPr>
        <p:spPr>
          <a:xfrm>
            <a:off x="8373240" y="5905440"/>
            <a:ext cx="132120" cy="151200"/>
          </a:xfrm>
          <a:custGeom>
            <a:avLst/>
            <a:gdLst/>
            <a:ah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w="0">
            <a:noFill/>
          </a:ln>
        </p:spPr>
        <p:style>
          <a:lnRef idx="0"/>
          <a:fillRef idx="0"/>
          <a:effectRef idx="0"/>
          <a:fontRef idx="minor"/>
        </p:style>
      </p:sp>
      <p:sp>
        <p:nvSpPr>
          <p:cNvPr id="133" name="Text 29"/>
          <p:cNvSpPr/>
          <p:nvPr/>
        </p:nvSpPr>
        <p:spPr>
          <a:xfrm>
            <a:off x="8611200" y="5867280"/>
            <a:ext cx="103716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Soil protection</a:t>
            </a:r>
            <a:endParaRPr b="0" lang="en-HK" sz="1200" spc="-1" strike="noStrike">
              <a:latin typeface="Arial"/>
            </a:endParaRPr>
          </a:p>
        </p:txBody>
      </p:sp>
      <p:sp>
        <p:nvSpPr>
          <p:cNvPr id="134" name="Shape 30"/>
          <p:cNvSpPr/>
          <p:nvPr/>
        </p:nvSpPr>
        <p:spPr>
          <a:xfrm>
            <a:off x="8373240" y="6210360"/>
            <a:ext cx="132120" cy="151200"/>
          </a:xfrm>
          <a:custGeom>
            <a:avLst/>
            <a:gdLst/>
            <a:ah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w="0">
            <a:noFill/>
          </a:ln>
        </p:spPr>
        <p:style>
          <a:lnRef idx="0"/>
          <a:fillRef idx="0"/>
          <a:effectRef idx="0"/>
          <a:fontRef idx="minor"/>
        </p:style>
      </p:sp>
      <p:sp>
        <p:nvSpPr>
          <p:cNvPr id="135" name="Text 31"/>
          <p:cNvSpPr/>
          <p:nvPr/>
        </p:nvSpPr>
        <p:spPr>
          <a:xfrm>
            <a:off x="8611200" y="6172200"/>
            <a:ext cx="127512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Climate regulation</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136" name="Text 0"/>
          <p:cNvSpPr/>
          <p:nvPr/>
        </p:nvSpPr>
        <p:spPr>
          <a:xfrm>
            <a:off x="380880" y="380880"/>
            <a:ext cx="11496600" cy="189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50" spc="97" strike="noStrike">
                <a:solidFill>
                  <a:srgbClr val="4c8a7a"/>
                </a:solidFill>
                <a:latin typeface="Quattrocento Sans"/>
                <a:ea typeface="Quattrocento Sans"/>
              </a:rPr>
              <a:t>02 • Structural Complexity</a:t>
            </a:r>
            <a:endParaRPr b="0" lang="en-HK" sz="1050" spc="-1" strike="noStrike">
              <a:latin typeface="Arial"/>
            </a:endParaRPr>
          </a:p>
        </p:txBody>
      </p:sp>
      <p:sp>
        <p:nvSpPr>
          <p:cNvPr id="137" name="Text 1"/>
          <p:cNvSpPr/>
          <p:nvPr/>
        </p:nvSpPr>
        <p:spPr>
          <a:xfrm>
            <a:off x="380880" y="647640"/>
            <a:ext cx="11601360" cy="3798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700" spc="-1" strike="noStrike">
                <a:solidFill>
                  <a:srgbClr val="2f3e3b"/>
                </a:solidFill>
                <a:latin typeface="Sorts Mill Goudy"/>
                <a:ea typeface="Sorts Mill Goudy"/>
              </a:rPr>
              <a:t>The Foundation of Forest Biodiversity</a:t>
            </a:r>
            <a:endParaRPr b="0" lang="en-HK" sz="2700" spc="-1" strike="noStrike">
              <a:latin typeface="Arial"/>
            </a:endParaRPr>
          </a:p>
        </p:txBody>
      </p:sp>
      <p:sp>
        <p:nvSpPr>
          <p:cNvPr id="138" name="Text 2"/>
          <p:cNvSpPr/>
          <p:nvPr/>
        </p:nvSpPr>
        <p:spPr>
          <a:xfrm>
            <a:off x="380880" y="1104840"/>
            <a:ext cx="11515680" cy="265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5f6f6b"/>
                </a:solidFill>
                <a:latin typeface="Quattrocento Sans"/>
                <a:ea typeface="Quattrocento Sans"/>
              </a:rPr>
              <a:t>How forest structural heterogeneity creates diverse habitats</a:t>
            </a:r>
            <a:endParaRPr b="0" lang="en-HK" sz="1350" spc="-1" strike="noStrike">
              <a:latin typeface="Arial"/>
            </a:endParaRPr>
          </a:p>
        </p:txBody>
      </p:sp>
      <p:sp>
        <p:nvSpPr>
          <p:cNvPr id="139" name="Shape 3"/>
          <p:cNvSpPr/>
          <p:nvPr/>
        </p:nvSpPr>
        <p:spPr>
          <a:xfrm>
            <a:off x="380880" y="1562040"/>
            <a:ext cx="6781320" cy="2665800"/>
          </a:xfrm>
          <a:custGeom>
            <a:avLst/>
            <a:gdLst/>
            <a:ahLst/>
            <a:rect l="l" t="t" r="r" b="b"/>
            <a:pathLst>
              <a:path w="6781800" h="2667000">
                <a:moveTo>
                  <a:pt x="114308" y="0"/>
                </a:moveTo>
                <a:lnTo>
                  <a:pt x="6667492" y="0"/>
                </a:lnTo>
                <a:cubicBezTo>
                  <a:pt x="6730623" y="0"/>
                  <a:pt x="6781800" y="51177"/>
                  <a:pt x="6781800" y="114308"/>
                </a:cubicBezTo>
                <a:lnTo>
                  <a:pt x="6781800" y="2552692"/>
                </a:lnTo>
                <a:cubicBezTo>
                  <a:pt x="6781800" y="2615823"/>
                  <a:pt x="6730623" y="2667000"/>
                  <a:pt x="6667492" y="2667000"/>
                </a:cubicBezTo>
                <a:lnTo>
                  <a:pt x="114308" y="2667000"/>
                </a:lnTo>
                <a:cubicBezTo>
                  <a:pt x="51177" y="2667000"/>
                  <a:pt x="0" y="2615823"/>
                  <a:pt x="0" y="2552692"/>
                </a:cubicBezTo>
                <a:lnTo>
                  <a:pt x="0" y="114308"/>
                </a:lnTo>
                <a:cubicBezTo>
                  <a:pt x="0" y="51177"/>
                  <a:pt x="51177" y="0"/>
                  <a:pt x="114308"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40" name="Shape 4"/>
          <p:cNvSpPr/>
          <p:nvPr/>
        </p:nvSpPr>
        <p:spPr>
          <a:xfrm>
            <a:off x="595440" y="1790640"/>
            <a:ext cx="189360" cy="189360"/>
          </a:xfrm>
          <a:custGeom>
            <a:avLst/>
            <a:gdLst/>
            <a:ahLst/>
            <a:rect l="l" t="t" r="r" b="b"/>
            <a:pathLst>
              <a:path w="190500" h="190500">
                <a:moveTo>
                  <a:pt x="86506" y="1935"/>
                </a:moveTo>
                <a:cubicBezTo>
                  <a:pt x="92050" y="-633"/>
                  <a:pt x="98450" y="-633"/>
                  <a:pt x="103994" y="1935"/>
                </a:cubicBezTo>
                <a:lnTo>
                  <a:pt x="185328" y="39514"/>
                </a:lnTo>
                <a:cubicBezTo>
                  <a:pt x="188491" y="40965"/>
                  <a:pt x="190500" y="44128"/>
                  <a:pt x="190500" y="47625"/>
                </a:cubicBezTo>
                <a:cubicBezTo>
                  <a:pt x="190500" y="51122"/>
                  <a:pt x="188491" y="54285"/>
                  <a:pt x="185328" y="55736"/>
                </a:cubicBezTo>
                <a:lnTo>
                  <a:pt x="103994" y="93315"/>
                </a:lnTo>
                <a:cubicBezTo>
                  <a:pt x="98450" y="95883"/>
                  <a:pt x="92050" y="95883"/>
                  <a:pt x="86506" y="93315"/>
                </a:cubicBezTo>
                <a:lnTo>
                  <a:pt x="5172" y="55736"/>
                </a:lnTo>
                <a:cubicBezTo>
                  <a:pt x="2009" y="54248"/>
                  <a:pt x="0" y="51085"/>
                  <a:pt x="0" y="47625"/>
                </a:cubicBezTo>
                <a:cubicBezTo>
                  <a:pt x="0" y="44165"/>
                  <a:pt x="2009" y="40965"/>
                  <a:pt x="5172" y="39514"/>
                </a:cubicBezTo>
                <a:lnTo>
                  <a:pt x="86506" y="1935"/>
                </a:lnTo>
                <a:close/>
                <a:moveTo>
                  <a:pt x="17897" y="81260"/>
                </a:moveTo>
                <a:lnTo>
                  <a:pt x="79028" y="109500"/>
                </a:lnTo>
                <a:cubicBezTo>
                  <a:pt x="89334" y="114263"/>
                  <a:pt x="101203" y="114263"/>
                  <a:pt x="111509" y="109500"/>
                </a:cubicBezTo>
                <a:lnTo>
                  <a:pt x="172641" y="81260"/>
                </a:lnTo>
                <a:lnTo>
                  <a:pt x="185328" y="87139"/>
                </a:lnTo>
                <a:cubicBezTo>
                  <a:pt x="188491" y="88590"/>
                  <a:pt x="190500" y="91753"/>
                  <a:pt x="190500" y="95250"/>
                </a:cubicBezTo>
                <a:cubicBezTo>
                  <a:pt x="190500" y="98747"/>
                  <a:pt x="188491" y="101910"/>
                  <a:pt x="185328" y="103361"/>
                </a:cubicBezTo>
                <a:lnTo>
                  <a:pt x="103994" y="140940"/>
                </a:lnTo>
                <a:cubicBezTo>
                  <a:pt x="98450" y="143508"/>
                  <a:pt x="92050" y="143508"/>
                  <a:pt x="86506" y="140940"/>
                </a:cubicBezTo>
                <a:lnTo>
                  <a:pt x="5172" y="103361"/>
                </a:lnTo>
                <a:cubicBezTo>
                  <a:pt x="2009" y="101873"/>
                  <a:pt x="0" y="98710"/>
                  <a:pt x="0" y="95250"/>
                </a:cubicBezTo>
                <a:cubicBezTo>
                  <a:pt x="0" y="91790"/>
                  <a:pt x="2009" y="88590"/>
                  <a:pt x="5172" y="87139"/>
                </a:cubicBezTo>
                <a:lnTo>
                  <a:pt x="17859" y="81260"/>
                </a:lnTo>
                <a:close/>
                <a:moveTo>
                  <a:pt x="5172" y="134764"/>
                </a:moveTo>
                <a:lnTo>
                  <a:pt x="17859" y="128885"/>
                </a:lnTo>
                <a:lnTo>
                  <a:pt x="78991" y="157125"/>
                </a:lnTo>
                <a:cubicBezTo>
                  <a:pt x="89297" y="161888"/>
                  <a:pt x="101166" y="161888"/>
                  <a:pt x="111472" y="157125"/>
                </a:cubicBezTo>
                <a:lnTo>
                  <a:pt x="172603" y="128885"/>
                </a:lnTo>
                <a:lnTo>
                  <a:pt x="185291" y="134764"/>
                </a:lnTo>
                <a:cubicBezTo>
                  <a:pt x="188454" y="136215"/>
                  <a:pt x="190463" y="139378"/>
                  <a:pt x="190463" y="142875"/>
                </a:cubicBezTo>
                <a:cubicBezTo>
                  <a:pt x="190463" y="146372"/>
                  <a:pt x="188454" y="149535"/>
                  <a:pt x="185291" y="150986"/>
                </a:cubicBezTo>
                <a:lnTo>
                  <a:pt x="103956" y="188565"/>
                </a:lnTo>
                <a:cubicBezTo>
                  <a:pt x="98413" y="191133"/>
                  <a:pt x="92013" y="191133"/>
                  <a:pt x="86469" y="188565"/>
                </a:cubicBezTo>
                <a:lnTo>
                  <a:pt x="5172" y="150986"/>
                </a:lnTo>
                <a:cubicBezTo>
                  <a:pt x="2009" y="149498"/>
                  <a:pt x="0" y="146335"/>
                  <a:pt x="0" y="142875"/>
                </a:cubicBezTo>
                <a:cubicBezTo>
                  <a:pt x="0" y="139415"/>
                  <a:pt x="2009" y="136215"/>
                  <a:pt x="5172" y="134764"/>
                </a:cubicBezTo>
                <a:close/>
              </a:path>
            </a:pathLst>
          </a:custGeom>
          <a:solidFill>
            <a:srgbClr val="4c8a7a"/>
          </a:solidFill>
          <a:ln w="0">
            <a:noFill/>
          </a:ln>
        </p:spPr>
        <p:style>
          <a:lnRef idx="0"/>
          <a:fillRef idx="0"/>
          <a:effectRef idx="0"/>
          <a:fontRef idx="minor"/>
        </p:style>
      </p:sp>
      <p:sp>
        <p:nvSpPr>
          <p:cNvPr id="141" name="Text 5"/>
          <p:cNvSpPr/>
          <p:nvPr/>
        </p:nvSpPr>
        <p:spPr>
          <a:xfrm>
            <a:off x="809640" y="1752480"/>
            <a:ext cx="6257520" cy="265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Habitat-Heterogeneity Hypothesis</a:t>
            </a:r>
            <a:endParaRPr b="0" lang="en-HK" sz="1500" spc="-1" strike="noStrike">
              <a:latin typeface="Arial"/>
            </a:endParaRPr>
          </a:p>
        </p:txBody>
      </p:sp>
      <p:sp>
        <p:nvSpPr>
          <p:cNvPr id="142" name="Text 6"/>
          <p:cNvSpPr/>
          <p:nvPr/>
        </p:nvSpPr>
        <p:spPr>
          <a:xfrm>
            <a:off x="571680" y="2133720"/>
            <a:ext cx="6476760" cy="989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f2a28"/>
                </a:solidFill>
                <a:latin typeface="Quattrocento Sans"/>
                <a:ea typeface="Quattrocento Sans"/>
              </a:rPr>
              <a:t>First proposed by MacArthur and MacArthur (1961), this foundational theory posits that </a:t>
            </a:r>
            <a:r>
              <a:rPr b="0" lang="en-US" sz="1200" spc="-1" strike="noStrike">
                <a:solidFill>
                  <a:srgbClr val="2f3e3b"/>
                </a:solidFill>
                <a:highlight>
                  <a:srgbClr val="8fb7ac"/>
                </a:highlight>
                <a:latin typeface="Quattrocento Sans"/>
                <a:ea typeface="Quattrocento Sans"/>
              </a:rPr>
              <a:t>increased environmental heterogeneity supports greater species diversity </a:t>
            </a:r>
            <a:r>
              <a:rPr b="0" lang="en-US" sz="1200" spc="-1" strike="noStrike">
                <a:solidFill>
                  <a:srgbClr val="1f2a28"/>
                </a:solidFill>
                <a:latin typeface="Quattrocento Sans"/>
                <a:ea typeface="Quattrocento Sans"/>
              </a:rPr>
              <a:t>by creating more ecological niches. Forests with complex structures provide diverse microhabitats that accommodate species with varying ecological requirements.</a:t>
            </a:r>
            <a:endParaRPr b="0" lang="en-HK" sz="1200" spc="-1" strike="noStrike">
              <a:latin typeface="Arial"/>
            </a:endParaRPr>
          </a:p>
        </p:txBody>
      </p:sp>
      <p:sp>
        <p:nvSpPr>
          <p:cNvPr id="143" name="Shape 7"/>
          <p:cNvSpPr/>
          <p:nvPr/>
        </p:nvSpPr>
        <p:spPr>
          <a:xfrm>
            <a:off x="571680" y="3238560"/>
            <a:ext cx="6400440" cy="799200"/>
          </a:xfrm>
          <a:custGeom>
            <a:avLst/>
            <a:gdLst/>
            <a:ahLst/>
            <a:rect l="l" t="t" r="r" b="b"/>
            <a:pathLst>
              <a:path w="6400800" h="800100">
                <a:moveTo>
                  <a:pt x="76202" y="0"/>
                </a:moveTo>
                <a:lnTo>
                  <a:pt x="6324598" y="0"/>
                </a:lnTo>
                <a:cubicBezTo>
                  <a:pt x="6366683" y="0"/>
                  <a:pt x="6400800" y="34117"/>
                  <a:pt x="6400800" y="76202"/>
                </a:cubicBezTo>
                <a:lnTo>
                  <a:pt x="6400800" y="723898"/>
                </a:lnTo>
                <a:cubicBezTo>
                  <a:pt x="6400800" y="765983"/>
                  <a:pt x="6366683" y="800100"/>
                  <a:pt x="6324598" y="800100"/>
                </a:cubicBezTo>
                <a:lnTo>
                  <a:pt x="76202" y="800100"/>
                </a:lnTo>
                <a:cubicBezTo>
                  <a:pt x="34117" y="800100"/>
                  <a:pt x="0" y="765983"/>
                  <a:pt x="0" y="723898"/>
                </a:cubicBezTo>
                <a:lnTo>
                  <a:pt x="0" y="76202"/>
                </a:lnTo>
                <a:cubicBezTo>
                  <a:pt x="0" y="34145"/>
                  <a:pt x="34145" y="0"/>
                  <a:pt x="76202" y="0"/>
                </a:cubicBezTo>
                <a:close/>
              </a:path>
            </a:pathLst>
          </a:custGeom>
          <a:solidFill>
            <a:srgbClr val="f5f7f6"/>
          </a:solidFill>
          <a:ln w="0">
            <a:noFill/>
          </a:ln>
        </p:spPr>
        <p:style>
          <a:lnRef idx="0"/>
          <a:fillRef idx="0"/>
          <a:effectRef idx="0"/>
          <a:fontRef idx="minor"/>
        </p:style>
      </p:sp>
      <p:sp>
        <p:nvSpPr>
          <p:cNvPr id="144" name="Text 8"/>
          <p:cNvSpPr/>
          <p:nvPr/>
        </p:nvSpPr>
        <p:spPr>
          <a:xfrm>
            <a:off x="723960" y="3390840"/>
            <a:ext cx="6171840" cy="4942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5f6f6b"/>
                </a:solidFill>
                <a:latin typeface="Quattrocento Sans"/>
                <a:ea typeface="Quattrocento Sans"/>
              </a:rPr>
              <a:t>"Structural complexity promotes biodiversity by increasing environmental heterogeneity, microclimate, and microhabitat variations."</a:t>
            </a:r>
            <a:endParaRPr b="0" lang="en-HK" sz="1200" spc="-1" strike="noStrike">
              <a:latin typeface="Arial"/>
            </a:endParaRPr>
          </a:p>
        </p:txBody>
      </p:sp>
      <p:sp>
        <p:nvSpPr>
          <p:cNvPr id="145" name="Shape 9"/>
          <p:cNvSpPr/>
          <p:nvPr/>
        </p:nvSpPr>
        <p:spPr>
          <a:xfrm>
            <a:off x="380880" y="4400640"/>
            <a:ext cx="3314160" cy="2189520"/>
          </a:xfrm>
          <a:custGeom>
            <a:avLst/>
            <a:gdLst/>
            <a:ahLst/>
            <a:rect l="l" t="t" r="r" b="b"/>
            <a:pathLst>
              <a:path w="3314700" h="2190750">
                <a:moveTo>
                  <a:pt x="38100" y="0"/>
                </a:moveTo>
                <a:lnTo>
                  <a:pt x="3276600" y="0"/>
                </a:lnTo>
                <a:cubicBezTo>
                  <a:pt x="3297628" y="0"/>
                  <a:pt x="3314700" y="17072"/>
                  <a:pt x="3314700" y="38100"/>
                </a:cubicBezTo>
                <a:lnTo>
                  <a:pt x="3314700" y="2076459"/>
                </a:lnTo>
                <a:cubicBezTo>
                  <a:pt x="3314700" y="2139580"/>
                  <a:pt x="3263530" y="2190750"/>
                  <a:pt x="3200409" y="2190750"/>
                </a:cubicBezTo>
                <a:lnTo>
                  <a:pt x="114291" y="2190750"/>
                </a:lnTo>
                <a:cubicBezTo>
                  <a:pt x="51170" y="2190750"/>
                  <a:pt x="0" y="2139580"/>
                  <a:pt x="0" y="2076459"/>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46" name="Shape 10"/>
          <p:cNvSpPr/>
          <p:nvPr/>
        </p:nvSpPr>
        <p:spPr>
          <a:xfrm>
            <a:off x="380880" y="4400640"/>
            <a:ext cx="3314160" cy="37080"/>
          </a:xfrm>
          <a:custGeom>
            <a:avLst/>
            <a:gdLst/>
            <a:ahLst/>
            <a:rect l="l" t="t" r="r" b="b"/>
            <a:pathLst>
              <a:path w="3314700" h="38100">
                <a:moveTo>
                  <a:pt x="38100" y="0"/>
                </a:moveTo>
                <a:lnTo>
                  <a:pt x="3276600" y="0"/>
                </a:lnTo>
                <a:cubicBezTo>
                  <a:pt x="3297628" y="0"/>
                  <a:pt x="3314700" y="17072"/>
                  <a:pt x="3314700" y="38100"/>
                </a:cubicBezTo>
                <a:lnTo>
                  <a:pt x="3314700" y="38100"/>
                </a:lnTo>
                <a:lnTo>
                  <a:pt x="0" y="38100"/>
                </a:lnTo>
                <a:lnTo>
                  <a:pt x="0" y="38100"/>
                </a:lnTo>
                <a:cubicBezTo>
                  <a:pt x="0" y="17072"/>
                  <a:pt x="17072" y="0"/>
                  <a:pt x="38100" y="0"/>
                </a:cubicBezTo>
                <a:close/>
              </a:path>
            </a:pathLst>
          </a:custGeom>
          <a:solidFill>
            <a:srgbClr val="4c8a7a"/>
          </a:solidFill>
          <a:ln w="0">
            <a:noFill/>
          </a:ln>
        </p:spPr>
        <p:style>
          <a:lnRef idx="0"/>
          <a:fillRef idx="0"/>
          <a:effectRef idx="0"/>
          <a:fontRef idx="minor"/>
        </p:style>
      </p:sp>
      <p:sp>
        <p:nvSpPr>
          <p:cNvPr id="147" name="Shape 11"/>
          <p:cNvSpPr/>
          <p:nvPr/>
        </p:nvSpPr>
        <p:spPr>
          <a:xfrm>
            <a:off x="533520" y="4572000"/>
            <a:ext cx="379800" cy="379800"/>
          </a:xfrm>
          <a:custGeom>
            <a:avLst/>
            <a:gdLst/>
            <a:ah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4c8a7a">
              <a:alpha val="15000"/>
            </a:srgbClr>
          </a:solidFill>
          <a:ln w="0">
            <a:noFill/>
          </a:ln>
        </p:spPr>
        <p:style>
          <a:lnRef idx="0"/>
          <a:fillRef idx="0"/>
          <a:effectRef idx="0"/>
          <a:fontRef idx="minor"/>
        </p:style>
      </p:sp>
      <p:sp>
        <p:nvSpPr>
          <p:cNvPr id="148" name="Shape 12"/>
          <p:cNvSpPr/>
          <p:nvPr/>
        </p:nvSpPr>
        <p:spPr>
          <a:xfrm>
            <a:off x="640440" y="4676760"/>
            <a:ext cx="170280" cy="170280"/>
          </a:xfrm>
          <a:custGeom>
            <a:avLst/>
            <a:gdLst/>
            <a:ahLst/>
            <a:rect l="l" t="t" r="r" b="b"/>
            <a:pathLst>
              <a:path w="171450" h="171450">
                <a:moveTo>
                  <a:pt x="136155" y="168302"/>
                </a:moveTo>
                <a:lnTo>
                  <a:pt x="168302" y="136155"/>
                </a:lnTo>
                <a:cubicBezTo>
                  <a:pt x="171383" y="133075"/>
                  <a:pt x="172287" y="128487"/>
                  <a:pt x="170613" y="124469"/>
                </a:cubicBezTo>
                <a:cubicBezTo>
                  <a:pt x="168939" y="120450"/>
                  <a:pt x="165054" y="117872"/>
                  <a:pt x="160734" y="117872"/>
                </a:cubicBezTo>
                <a:lnTo>
                  <a:pt x="139303" y="117872"/>
                </a:lnTo>
                <a:lnTo>
                  <a:pt x="139303" y="10716"/>
                </a:lnTo>
                <a:cubicBezTo>
                  <a:pt x="139303" y="4789"/>
                  <a:pt x="134515" y="0"/>
                  <a:pt x="128588" y="0"/>
                </a:cubicBezTo>
                <a:cubicBezTo>
                  <a:pt x="122660" y="0"/>
                  <a:pt x="117872" y="4789"/>
                  <a:pt x="117872" y="10716"/>
                </a:cubicBezTo>
                <a:lnTo>
                  <a:pt x="117872" y="117872"/>
                </a:lnTo>
                <a:lnTo>
                  <a:pt x="96441" y="117872"/>
                </a:lnTo>
                <a:cubicBezTo>
                  <a:pt x="92121" y="117872"/>
                  <a:pt x="88203" y="120484"/>
                  <a:pt x="86529" y="124502"/>
                </a:cubicBezTo>
                <a:cubicBezTo>
                  <a:pt x="84854" y="128521"/>
                  <a:pt x="85792" y="133108"/>
                  <a:pt x="88839" y="136189"/>
                </a:cubicBezTo>
                <a:lnTo>
                  <a:pt x="120986" y="168336"/>
                </a:lnTo>
                <a:cubicBezTo>
                  <a:pt x="125172" y="172522"/>
                  <a:pt x="131970" y="172522"/>
                  <a:pt x="136155" y="168336"/>
                </a:cubicBezTo>
                <a:close/>
                <a:moveTo>
                  <a:pt x="50430" y="3148"/>
                </a:moveTo>
                <a:cubicBezTo>
                  <a:pt x="46245" y="-1038"/>
                  <a:pt x="39447" y="-1038"/>
                  <a:pt x="35261" y="3148"/>
                </a:cubicBezTo>
                <a:lnTo>
                  <a:pt x="3114" y="35295"/>
                </a:lnTo>
                <a:cubicBezTo>
                  <a:pt x="33" y="38375"/>
                  <a:pt x="-871" y="42963"/>
                  <a:pt x="804" y="46981"/>
                </a:cubicBezTo>
                <a:cubicBezTo>
                  <a:pt x="2478" y="51000"/>
                  <a:pt x="6396" y="53578"/>
                  <a:pt x="10716" y="53578"/>
                </a:cubicBezTo>
                <a:lnTo>
                  <a:pt x="32147" y="53578"/>
                </a:lnTo>
                <a:lnTo>
                  <a:pt x="32147" y="160734"/>
                </a:lnTo>
                <a:cubicBezTo>
                  <a:pt x="32147" y="166661"/>
                  <a:pt x="36935" y="171450"/>
                  <a:pt x="42863" y="171450"/>
                </a:cubicBezTo>
                <a:cubicBezTo>
                  <a:pt x="48790" y="171450"/>
                  <a:pt x="53578" y="166661"/>
                  <a:pt x="53578" y="160734"/>
                </a:cubicBezTo>
                <a:lnTo>
                  <a:pt x="53578" y="53578"/>
                </a:lnTo>
                <a:lnTo>
                  <a:pt x="75009" y="53578"/>
                </a:lnTo>
                <a:cubicBezTo>
                  <a:pt x="79329" y="53578"/>
                  <a:pt x="83247" y="50966"/>
                  <a:pt x="84921" y="46948"/>
                </a:cubicBezTo>
                <a:cubicBezTo>
                  <a:pt x="86596" y="42929"/>
                  <a:pt x="85658" y="38342"/>
                  <a:pt x="82611" y="35261"/>
                </a:cubicBezTo>
                <a:lnTo>
                  <a:pt x="50464" y="3114"/>
                </a:lnTo>
                <a:close/>
              </a:path>
            </a:pathLst>
          </a:custGeom>
          <a:solidFill>
            <a:srgbClr val="4c8a7a"/>
          </a:solidFill>
          <a:ln w="0">
            <a:noFill/>
          </a:ln>
        </p:spPr>
        <p:style>
          <a:lnRef idx="0"/>
          <a:fillRef idx="0"/>
          <a:effectRef idx="0"/>
          <a:fontRef idx="minor"/>
        </p:style>
      </p:sp>
      <p:sp>
        <p:nvSpPr>
          <p:cNvPr id="149" name="Text 13"/>
          <p:cNvSpPr/>
          <p:nvPr/>
        </p:nvSpPr>
        <p:spPr>
          <a:xfrm>
            <a:off x="1028880" y="4629240"/>
            <a:ext cx="1418040" cy="265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2f3e3b"/>
                </a:solidFill>
                <a:latin typeface="Sorts Mill Goudy"/>
                <a:ea typeface="Sorts Mill Goudy"/>
              </a:rPr>
              <a:t>Vertical Structure</a:t>
            </a:r>
            <a:endParaRPr b="0" lang="en-HK" sz="1350" spc="-1" strike="noStrike">
              <a:latin typeface="Arial"/>
            </a:endParaRPr>
          </a:p>
        </p:txBody>
      </p:sp>
      <p:sp>
        <p:nvSpPr>
          <p:cNvPr id="150" name="Text 14"/>
          <p:cNvSpPr/>
          <p:nvPr/>
        </p:nvSpPr>
        <p:spPr>
          <a:xfrm>
            <a:off x="533520" y="5067360"/>
            <a:ext cx="308556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Emergent layer (&gt;40m)</a:t>
            </a:r>
            <a:endParaRPr b="0" lang="en-HK" sz="1200" spc="-1" strike="noStrike">
              <a:latin typeface="Arial"/>
            </a:endParaRPr>
          </a:p>
        </p:txBody>
      </p:sp>
      <p:sp>
        <p:nvSpPr>
          <p:cNvPr id="151" name="Text 15"/>
          <p:cNvSpPr/>
          <p:nvPr/>
        </p:nvSpPr>
        <p:spPr>
          <a:xfrm>
            <a:off x="533520" y="5353200"/>
            <a:ext cx="308556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Main canopy (20-40m)</a:t>
            </a:r>
            <a:endParaRPr b="0" lang="en-HK" sz="1200" spc="-1" strike="noStrike">
              <a:latin typeface="Arial"/>
            </a:endParaRPr>
          </a:p>
        </p:txBody>
      </p:sp>
      <p:sp>
        <p:nvSpPr>
          <p:cNvPr id="152" name="Text 16"/>
          <p:cNvSpPr/>
          <p:nvPr/>
        </p:nvSpPr>
        <p:spPr>
          <a:xfrm>
            <a:off x="533520" y="5638680"/>
            <a:ext cx="308556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Subcanopy (10-20m)</a:t>
            </a:r>
            <a:endParaRPr b="0" lang="en-HK" sz="1200" spc="-1" strike="noStrike">
              <a:latin typeface="Arial"/>
            </a:endParaRPr>
          </a:p>
        </p:txBody>
      </p:sp>
      <p:sp>
        <p:nvSpPr>
          <p:cNvPr id="153" name="Text 17"/>
          <p:cNvSpPr/>
          <p:nvPr/>
        </p:nvSpPr>
        <p:spPr>
          <a:xfrm>
            <a:off x="533520" y="5924520"/>
            <a:ext cx="308556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Understory (&lt;10m)</a:t>
            </a:r>
            <a:endParaRPr b="0" lang="en-HK" sz="1200" spc="-1" strike="noStrike">
              <a:latin typeface="Arial"/>
            </a:endParaRPr>
          </a:p>
        </p:txBody>
      </p:sp>
      <p:sp>
        <p:nvSpPr>
          <p:cNvPr id="154" name="Text 18"/>
          <p:cNvSpPr/>
          <p:nvPr/>
        </p:nvSpPr>
        <p:spPr>
          <a:xfrm>
            <a:off x="533520" y="6210360"/>
            <a:ext cx="308556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Ground vegetation</a:t>
            </a:r>
            <a:endParaRPr b="0" lang="en-HK" sz="1200" spc="-1" strike="noStrike">
              <a:latin typeface="Arial"/>
            </a:endParaRPr>
          </a:p>
        </p:txBody>
      </p:sp>
      <p:sp>
        <p:nvSpPr>
          <p:cNvPr id="155" name="Shape 19"/>
          <p:cNvSpPr/>
          <p:nvPr/>
        </p:nvSpPr>
        <p:spPr>
          <a:xfrm>
            <a:off x="3848040" y="4400640"/>
            <a:ext cx="3314160" cy="2189520"/>
          </a:xfrm>
          <a:custGeom>
            <a:avLst/>
            <a:gdLst/>
            <a:ahLst/>
            <a:rect l="l" t="t" r="r" b="b"/>
            <a:pathLst>
              <a:path w="3314700" h="2190750">
                <a:moveTo>
                  <a:pt x="38100" y="0"/>
                </a:moveTo>
                <a:lnTo>
                  <a:pt x="3276600" y="0"/>
                </a:lnTo>
                <a:cubicBezTo>
                  <a:pt x="3297628" y="0"/>
                  <a:pt x="3314700" y="17072"/>
                  <a:pt x="3314700" y="38100"/>
                </a:cubicBezTo>
                <a:lnTo>
                  <a:pt x="3314700" y="2076459"/>
                </a:lnTo>
                <a:cubicBezTo>
                  <a:pt x="3314700" y="2139580"/>
                  <a:pt x="3263530" y="2190750"/>
                  <a:pt x="3200409" y="2190750"/>
                </a:cubicBezTo>
                <a:lnTo>
                  <a:pt x="114291" y="2190750"/>
                </a:lnTo>
                <a:cubicBezTo>
                  <a:pt x="51170" y="2190750"/>
                  <a:pt x="0" y="2139580"/>
                  <a:pt x="0" y="2076459"/>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56" name="Shape 20"/>
          <p:cNvSpPr/>
          <p:nvPr/>
        </p:nvSpPr>
        <p:spPr>
          <a:xfrm>
            <a:off x="3848040" y="4400640"/>
            <a:ext cx="3314160" cy="37080"/>
          </a:xfrm>
          <a:custGeom>
            <a:avLst/>
            <a:gdLst/>
            <a:ahLst/>
            <a:rect l="l" t="t" r="r" b="b"/>
            <a:pathLst>
              <a:path w="3314700" h="38100">
                <a:moveTo>
                  <a:pt x="38100" y="0"/>
                </a:moveTo>
                <a:lnTo>
                  <a:pt x="3276600" y="0"/>
                </a:lnTo>
                <a:cubicBezTo>
                  <a:pt x="3297628" y="0"/>
                  <a:pt x="3314700" y="17072"/>
                  <a:pt x="3314700" y="38100"/>
                </a:cubicBezTo>
                <a:lnTo>
                  <a:pt x="3314700" y="38100"/>
                </a:lnTo>
                <a:lnTo>
                  <a:pt x="0" y="38100"/>
                </a:lnTo>
                <a:lnTo>
                  <a:pt x="0" y="38100"/>
                </a:lnTo>
                <a:cubicBezTo>
                  <a:pt x="0" y="17072"/>
                  <a:pt x="17072" y="0"/>
                  <a:pt x="38100" y="0"/>
                </a:cubicBezTo>
                <a:close/>
              </a:path>
            </a:pathLst>
          </a:custGeom>
          <a:solidFill>
            <a:srgbClr val="8fb7ac"/>
          </a:solidFill>
          <a:ln w="0">
            <a:noFill/>
          </a:ln>
        </p:spPr>
        <p:style>
          <a:lnRef idx="0"/>
          <a:fillRef idx="0"/>
          <a:effectRef idx="0"/>
          <a:fontRef idx="minor"/>
        </p:style>
      </p:sp>
      <p:sp>
        <p:nvSpPr>
          <p:cNvPr id="157" name="Shape 21"/>
          <p:cNvSpPr/>
          <p:nvPr/>
        </p:nvSpPr>
        <p:spPr>
          <a:xfrm>
            <a:off x="4000680" y="4572000"/>
            <a:ext cx="379800" cy="379800"/>
          </a:xfrm>
          <a:custGeom>
            <a:avLst/>
            <a:gdLst/>
            <a:ah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8fb7ac">
              <a:alpha val="15000"/>
            </a:srgbClr>
          </a:solidFill>
          <a:ln w="0">
            <a:noFill/>
          </a:ln>
        </p:spPr>
        <p:style>
          <a:lnRef idx="0"/>
          <a:fillRef idx="0"/>
          <a:effectRef idx="0"/>
          <a:fontRef idx="minor"/>
        </p:style>
      </p:sp>
      <p:sp>
        <p:nvSpPr>
          <p:cNvPr id="158" name="Shape 22"/>
          <p:cNvSpPr/>
          <p:nvPr/>
        </p:nvSpPr>
        <p:spPr>
          <a:xfrm>
            <a:off x="4107960" y="4676760"/>
            <a:ext cx="170280" cy="170280"/>
          </a:xfrm>
          <a:custGeom>
            <a:avLst/>
            <a:gdLst/>
            <a:ahLst/>
            <a:rect l="l" t="t" r="r" b="b"/>
            <a:pathLst>
              <a:path w="171450" h="171450">
                <a:moveTo>
                  <a:pt x="168302" y="136155"/>
                </a:moveTo>
                <a:lnTo>
                  <a:pt x="136155" y="168302"/>
                </a:lnTo>
                <a:cubicBezTo>
                  <a:pt x="133075" y="171383"/>
                  <a:pt x="128487" y="172287"/>
                  <a:pt x="124469" y="170613"/>
                </a:cubicBezTo>
                <a:cubicBezTo>
                  <a:pt x="120450" y="168939"/>
                  <a:pt x="117872" y="165054"/>
                  <a:pt x="117872" y="160734"/>
                </a:cubicBezTo>
                <a:lnTo>
                  <a:pt x="117872" y="139303"/>
                </a:lnTo>
                <a:lnTo>
                  <a:pt x="10716" y="139303"/>
                </a:lnTo>
                <a:cubicBezTo>
                  <a:pt x="4789" y="139303"/>
                  <a:pt x="0" y="134515"/>
                  <a:pt x="0" y="128588"/>
                </a:cubicBezTo>
                <a:cubicBezTo>
                  <a:pt x="0" y="122660"/>
                  <a:pt x="4789" y="117872"/>
                  <a:pt x="10716" y="117872"/>
                </a:cubicBezTo>
                <a:lnTo>
                  <a:pt x="117872" y="117872"/>
                </a:lnTo>
                <a:lnTo>
                  <a:pt x="117872" y="96441"/>
                </a:lnTo>
                <a:cubicBezTo>
                  <a:pt x="117872" y="92121"/>
                  <a:pt x="120484" y="88203"/>
                  <a:pt x="124502" y="86529"/>
                </a:cubicBezTo>
                <a:cubicBezTo>
                  <a:pt x="128521" y="84854"/>
                  <a:pt x="133108" y="85792"/>
                  <a:pt x="136189" y="88839"/>
                </a:cubicBezTo>
                <a:lnTo>
                  <a:pt x="168336" y="120986"/>
                </a:lnTo>
                <a:cubicBezTo>
                  <a:pt x="172522" y="125172"/>
                  <a:pt x="172522" y="131970"/>
                  <a:pt x="168336" y="136155"/>
                </a:cubicBezTo>
                <a:close/>
                <a:moveTo>
                  <a:pt x="3148" y="50430"/>
                </a:moveTo>
                <a:cubicBezTo>
                  <a:pt x="-1038" y="46245"/>
                  <a:pt x="-1038" y="39447"/>
                  <a:pt x="3148" y="35261"/>
                </a:cubicBezTo>
                <a:lnTo>
                  <a:pt x="35295" y="3114"/>
                </a:lnTo>
                <a:cubicBezTo>
                  <a:pt x="38375" y="33"/>
                  <a:pt x="42963" y="-871"/>
                  <a:pt x="46981" y="804"/>
                </a:cubicBezTo>
                <a:cubicBezTo>
                  <a:pt x="51000" y="2478"/>
                  <a:pt x="53578" y="6396"/>
                  <a:pt x="53578" y="10716"/>
                </a:cubicBezTo>
                <a:lnTo>
                  <a:pt x="53578" y="32147"/>
                </a:lnTo>
                <a:lnTo>
                  <a:pt x="160734" y="32147"/>
                </a:lnTo>
                <a:cubicBezTo>
                  <a:pt x="166661" y="32147"/>
                  <a:pt x="171450" y="36935"/>
                  <a:pt x="171450" y="42863"/>
                </a:cubicBezTo>
                <a:cubicBezTo>
                  <a:pt x="171450" y="48790"/>
                  <a:pt x="166661" y="53578"/>
                  <a:pt x="160734" y="53578"/>
                </a:cubicBezTo>
                <a:lnTo>
                  <a:pt x="53578" y="53578"/>
                </a:lnTo>
                <a:lnTo>
                  <a:pt x="53578" y="75009"/>
                </a:lnTo>
                <a:cubicBezTo>
                  <a:pt x="53578" y="79329"/>
                  <a:pt x="50966" y="83247"/>
                  <a:pt x="46948" y="84921"/>
                </a:cubicBezTo>
                <a:cubicBezTo>
                  <a:pt x="42929" y="86596"/>
                  <a:pt x="38342" y="85658"/>
                  <a:pt x="35261" y="82611"/>
                </a:cubicBezTo>
                <a:lnTo>
                  <a:pt x="3114" y="50464"/>
                </a:lnTo>
                <a:close/>
              </a:path>
            </a:pathLst>
          </a:custGeom>
          <a:solidFill>
            <a:srgbClr val="8fb7ac"/>
          </a:solidFill>
          <a:ln w="0">
            <a:noFill/>
          </a:ln>
        </p:spPr>
        <p:style>
          <a:lnRef idx="0"/>
          <a:fillRef idx="0"/>
          <a:effectRef idx="0"/>
          <a:fontRef idx="minor"/>
        </p:style>
      </p:sp>
      <p:sp>
        <p:nvSpPr>
          <p:cNvPr id="159" name="Text 23"/>
          <p:cNvSpPr/>
          <p:nvPr/>
        </p:nvSpPr>
        <p:spPr>
          <a:xfrm>
            <a:off x="4496040" y="4629240"/>
            <a:ext cx="1608480" cy="265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2f3e3b"/>
                </a:solidFill>
                <a:latin typeface="Sorts Mill Goudy"/>
                <a:ea typeface="Sorts Mill Goudy"/>
              </a:rPr>
              <a:t>Horizontal Structure</a:t>
            </a:r>
            <a:endParaRPr b="0" lang="en-HK" sz="1350" spc="-1" strike="noStrike">
              <a:latin typeface="Arial"/>
            </a:endParaRPr>
          </a:p>
        </p:txBody>
      </p:sp>
      <p:sp>
        <p:nvSpPr>
          <p:cNvPr id="160" name="Text 24"/>
          <p:cNvSpPr/>
          <p:nvPr/>
        </p:nvSpPr>
        <p:spPr>
          <a:xfrm>
            <a:off x="4000680" y="5067360"/>
            <a:ext cx="308556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Canopy gaps</a:t>
            </a:r>
            <a:endParaRPr b="0" lang="en-HK" sz="1200" spc="-1" strike="noStrike">
              <a:latin typeface="Arial"/>
            </a:endParaRPr>
          </a:p>
        </p:txBody>
      </p:sp>
      <p:sp>
        <p:nvSpPr>
          <p:cNvPr id="161" name="Text 25"/>
          <p:cNvSpPr/>
          <p:nvPr/>
        </p:nvSpPr>
        <p:spPr>
          <a:xfrm>
            <a:off x="4000680" y="5353200"/>
            <a:ext cx="308556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Forest edges</a:t>
            </a:r>
            <a:endParaRPr b="0" lang="en-HK" sz="1200" spc="-1" strike="noStrike">
              <a:latin typeface="Arial"/>
            </a:endParaRPr>
          </a:p>
        </p:txBody>
      </p:sp>
      <p:sp>
        <p:nvSpPr>
          <p:cNvPr id="162" name="Text 26"/>
          <p:cNvSpPr/>
          <p:nvPr/>
        </p:nvSpPr>
        <p:spPr>
          <a:xfrm>
            <a:off x="4000680" y="5638680"/>
            <a:ext cx="308556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Interior habitats</a:t>
            </a:r>
            <a:endParaRPr b="0" lang="en-HK" sz="1200" spc="-1" strike="noStrike">
              <a:latin typeface="Arial"/>
            </a:endParaRPr>
          </a:p>
        </p:txBody>
      </p:sp>
      <p:sp>
        <p:nvSpPr>
          <p:cNvPr id="163" name="Text 27"/>
          <p:cNvSpPr/>
          <p:nvPr/>
        </p:nvSpPr>
        <p:spPr>
          <a:xfrm>
            <a:off x="4000680" y="5924520"/>
            <a:ext cx="308556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Stand mosaics</a:t>
            </a:r>
            <a:endParaRPr b="0" lang="en-HK" sz="1200" spc="-1" strike="noStrike">
              <a:latin typeface="Arial"/>
            </a:endParaRPr>
          </a:p>
        </p:txBody>
      </p:sp>
      <p:sp>
        <p:nvSpPr>
          <p:cNvPr id="164" name="Text 28"/>
          <p:cNvSpPr/>
          <p:nvPr/>
        </p:nvSpPr>
        <p:spPr>
          <a:xfrm>
            <a:off x="4000680" y="6210360"/>
            <a:ext cx="308556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Microtopography</a:t>
            </a:r>
            <a:endParaRPr b="0" lang="en-HK" sz="1200" spc="-1" strike="noStrike">
              <a:latin typeface="Arial"/>
            </a:endParaRPr>
          </a:p>
        </p:txBody>
      </p:sp>
      <p:sp>
        <p:nvSpPr>
          <p:cNvPr id="165" name="Shape 29"/>
          <p:cNvSpPr/>
          <p:nvPr/>
        </p:nvSpPr>
        <p:spPr>
          <a:xfrm>
            <a:off x="7353720" y="1562040"/>
            <a:ext cx="4457160" cy="2970720"/>
          </a:xfrm>
          <a:custGeom>
            <a:avLst/>
            <a:gdLst/>
            <a:ahLst/>
            <a:rect l="l" t="t" r="r" b="b"/>
            <a:pathLst>
              <a:path w="4457700" h="2971800">
                <a:moveTo>
                  <a:pt x="114295" y="0"/>
                </a:moveTo>
                <a:lnTo>
                  <a:pt x="4343405" y="0"/>
                </a:lnTo>
                <a:cubicBezTo>
                  <a:pt x="4406486" y="0"/>
                  <a:pt x="4457700" y="51214"/>
                  <a:pt x="4457700" y="114295"/>
                </a:cubicBezTo>
                <a:lnTo>
                  <a:pt x="4457700" y="2857505"/>
                </a:lnTo>
                <a:cubicBezTo>
                  <a:pt x="4457700" y="2920586"/>
                  <a:pt x="4406486" y="2971800"/>
                  <a:pt x="4343405" y="2971800"/>
                </a:cubicBezTo>
                <a:lnTo>
                  <a:pt x="114295" y="2971800"/>
                </a:lnTo>
                <a:cubicBezTo>
                  <a:pt x="51214" y="2971800"/>
                  <a:pt x="0" y="2920586"/>
                  <a:pt x="0" y="2857505"/>
                </a:cubicBezTo>
                <a:lnTo>
                  <a:pt x="0" y="114295"/>
                </a:lnTo>
                <a:cubicBezTo>
                  <a:pt x="0" y="51214"/>
                  <a:pt x="51214" y="0"/>
                  <a:pt x="114295"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66" name="Image 0"/>
          <p:cNvSpPr/>
          <p:nvPr/>
        </p:nvSpPr>
        <p:spPr>
          <a:xfrm>
            <a:off x="7353720" y="1562040"/>
            <a:ext cx="4457160" cy="2970720"/>
          </a:xfrm>
          <a:prstGeom prst="roundRect">
            <a:avLst>
              <a:gd name="adj" fmla="val 3846"/>
            </a:avLst>
          </a:prstGeom>
          <a:blipFill rotWithShape="0">
            <a:blip r:embed="rId1"/>
            <a:srcRect/>
            <a:stretch/>
          </a:blipFill>
          <a:ln w="0">
            <a:noFill/>
          </a:ln>
        </p:spPr>
        <p:style>
          <a:lnRef idx="0"/>
          <a:fillRef idx="0"/>
          <a:effectRef idx="0"/>
          <a:fontRef idx="minor"/>
        </p:style>
      </p:sp>
      <p:sp>
        <p:nvSpPr>
          <p:cNvPr id="167" name="Shape 30"/>
          <p:cNvSpPr/>
          <p:nvPr/>
        </p:nvSpPr>
        <p:spPr>
          <a:xfrm>
            <a:off x="7353720" y="4686480"/>
            <a:ext cx="4457160" cy="1904040"/>
          </a:xfrm>
          <a:custGeom>
            <a:avLst/>
            <a:gdLst/>
            <a:ahLst/>
            <a:rect l="l" t="t" r="r" b="b"/>
            <a:pathLst>
              <a:path w="4457700" h="1905000">
                <a:moveTo>
                  <a:pt x="114300" y="0"/>
                </a:moveTo>
                <a:lnTo>
                  <a:pt x="4343400" y="0"/>
                </a:lnTo>
                <a:cubicBezTo>
                  <a:pt x="4406484" y="0"/>
                  <a:pt x="4457700" y="51216"/>
                  <a:pt x="4457700" y="114300"/>
                </a:cubicBezTo>
                <a:lnTo>
                  <a:pt x="4457700" y="1790700"/>
                </a:lnTo>
                <a:cubicBezTo>
                  <a:pt x="4457700" y="1853784"/>
                  <a:pt x="4406484" y="1905000"/>
                  <a:pt x="4343400" y="1905000"/>
                </a:cubicBezTo>
                <a:lnTo>
                  <a:pt x="114300" y="1905000"/>
                </a:lnTo>
                <a:cubicBezTo>
                  <a:pt x="51216" y="1905000"/>
                  <a:pt x="0" y="1853784"/>
                  <a:pt x="0" y="1790700"/>
                </a:cubicBezTo>
                <a:lnTo>
                  <a:pt x="0" y="114300"/>
                </a:lnTo>
                <a:cubicBezTo>
                  <a:pt x="0" y="51216"/>
                  <a:pt x="51216" y="0"/>
                  <a:pt x="114300" y="0"/>
                </a:cubicBezTo>
                <a:close/>
              </a:path>
            </a:pathLst>
          </a:custGeom>
          <a:solidFill>
            <a:srgbClr val="2f3e3b"/>
          </a:solidFill>
          <a:ln w="0">
            <a:noFill/>
          </a:ln>
        </p:spPr>
        <p:style>
          <a:lnRef idx="0"/>
          <a:fillRef idx="0"/>
          <a:effectRef idx="0"/>
          <a:fontRef idx="minor"/>
        </p:style>
      </p:sp>
      <p:sp>
        <p:nvSpPr>
          <p:cNvPr id="168" name="Text 31"/>
          <p:cNvSpPr/>
          <p:nvPr/>
        </p:nvSpPr>
        <p:spPr>
          <a:xfrm>
            <a:off x="7544160" y="4876920"/>
            <a:ext cx="4161600" cy="265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ffffff"/>
                </a:solidFill>
                <a:latin typeface="Sorts Mill Goudy"/>
                <a:ea typeface="Sorts Mill Goudy"/>
              </a:rPr>
              <a:t>Key Structural Elements</a:t>
            </a:r>
            <a:endParaRPr b="0" lang="en-HK" sz="1350" spc="-1" strike="noStrike">
              <a:latin typeface="Arial"/>
            </a:endParaRPr>
          </a:p>
        </p:txBody>
      </p:sp>
      <p:sp>
        <p:nvSpPr>
          <p:cNvPr id="169" name="Shape 32"/>
          <p:cNvSpPr/>
          <p:nvPr/>
        </p:nvSpPr>
        <p:spPr>
          <a:xfrm>
            <a:off x="7558560" y="5315040"/>
            <a:ext cx="113400" cy="113400"/>
          </a:xfrm>
          <a:custGeom>
            <a:avLst/>
            <a:gdLst/>
            <a:ah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w="0">
            <a:noFill/>
          </a:ln>
        </p:spPr>
        <p:style>
          <a:lnRef idx="0"/>
          <a:fillRef idx="0"/>
          <a:effectRef idx="0"/>
          <a:fontRef idx="minor"/>
        </p:style>
      </p:sp>
      <p:sp>
        <p:nvSpPr>
          <p:cNvPr id="170" name="Text 33"/>
          <p:cNvSpPr/>
          <p:nvPr/>
        </p:nvSpPr>
        <p:spPr>
          <a:xfrm>
            <a:off x="7801200" y="5257800"/>
            <a:ext cx="355212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ffffff"/>
                </a:solidFill>
                <a:latin typeface="Quattrocento Sans"/>
                <a:ea typeface="Quattrocento Sans"/>
              </a:rPr>
              <a:t>Dead Wood:</a:t>
            </a:r>
            <a:r>
              <a:rPr b="0" lang="en-US" sz="1200" spc="-1" strike="noStrike">
                <a:solidFill>
                  <a:srgbClr val="ffffff"/>
                </a:solidFill>
                <a:latin typeface="Quattrocento Sans"/>
                <a:ea typeface="Quattrocento Sans"/>
              </a:rPr>
              <a:t> Critical habitat for saproxylic organisms</a:t>
            </a:r>
            <a:endParaRPr b="0" lang="en-HK" sz="1200" spc="-1" strike="noStrike">
              <a:latin typeface="Arial"/>
            </a:endParaRPr>
          </a:p>
        </p:txBody>
      </p:sp>
      <p:sp>
        <p:nvSpPr>
          <p:cNvPr id="171" name="Shape 34"/>
          <p:cNvSpPr/>
          <p:nvPr/>
        </p:nvSpPr>
        <p:spPr>
          <a:xfrm>
            <a:off x="7558560" y="5619600"/>
            <a:ext cx="113400" cy="113400"/>
          </a:xfrm>
          <a:custGeom>
            <a:avLst/>
            <a:gdLst/>
            <a:ah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w="0">
            <a:noFill/>
          </a:ln>
        </p:spPr>
        <p:style>
          <a:lnRef idx="0"/>
          <a:fillRef idx="0"/>
          <a:effectRef idx="0"/>
          <a:fontRef idx="minor"/>
        </p:style>
      </p:sp>
      <p:sp>
        <p:nvSpPr>
          <p:cNvPr id="172" name="Text 35"/>
          <p:cNvSpPr/>
          <p:nvPr/>
        </p:nvSpPr>
        <p:spPr>
          <a:xfrm>
            <a:off x="7801200" y="5562720"/>
            <a:ext cx="350460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ffffff"/>
                </a:solidFill>
                <a:latin typeface="Quattrocento Sans"/>
                <a:ea typeface="Quattrocento Sans"/>
              </a:rPr>
              <a:t>Veteran Trees:</a:t>
            </a:r>
            <a:r>
              <a:rPr b="0" lang="en-US" sz="1200" spc="-1" strike="noStrike">
                <a:solidFill>
                  <a:srgbClr val="ffffff"/>
                </a:solidFill>
                <a:latin typeface="Quattrocento Sans"/>
                <a:ea typeface="Quattrocento Sans"/>
              </a:rPr>
              <a:t> Support epiphytes and cavity nesters</a:t>
            </a:r>
            <a:endParaRPr b="0" lang="en-HK" sz="1200" spc="-1" strike="noStrike">
              <a:latin typeface="Arial"/>
            </a:endParaRPr>
          </a:p>
        </p:txBody>
      </p:sp>
      <p:sp>
        <p:nvSpPr>
          <p:cNvPr id="173" name="Shape 36"/>
          <p:cNvSpPr/>
          <p:nvPr/>
        </p:nvSpPr>
        <p:spPr>
          <a:xfrm>
            <a:off x="7558560" y="5924520"/>
            <a:ext cx="113400" cy="113400"/>
          </a:xfrm>
          <a:custGeom>
            <a:avLst/>
            <a:gdLst/>
            <a:ah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w="0">
            <a:noFill/>
          </a:ln>
        </p:spPr>
        <p:style>
          <a:lnRef idx="0"/>
          <a:fillRef idx="0"/>
          <a:effectRef idx="0"/>
          <a:fontRef idx="minor"/>
        </p:style>
      </p:sp>
      <p:sp>
        <p:nvSpPr>
          <p:cNvPr id="174" name="Text 37"/>
          <p:cNvSpPr/>
          <p:nvPr/>
        </p:nvSpPr>
        <p:spPr>
          <a:xfrm>
            <a:off x="7801200" y="5867280"/>
            <a:ext cx="324720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ffffff"/>
                </a:solidFill>
                <a:latin typeface="Quattrocento Sans"/>
                <a:ea typeface="Quattrocento Sans"/>
              </a:rPr>
              <a:t>Canopy Gaps:</a:t>
            </a:r>
            <a:r>
              <a:rPr b="0" lang="en-US" sz="1200" spc="-1" strike="noStrike">
                <a:solidFill>
                  <a:srgbClr val="ffffff"/>
                </a:solidFill>
                <a:latin typeface="Quattrocento Sans"/>
                <a:ea typeface="Quattrocento Sans"/>
              </a:rPr>
              <a:t> Create regeneration opportunities</a:t>
            </a:r>
            <a:endParaRPr b="0" lang="en-HK" sz="1200" spc="-1" strike="noStrike">
              <a:latin typeface="Arial"/>
            </a:endParaRPr>
          </a:p>
        </p:txBody>
      </p:sp>
      <p:sp>
        <p:nvSpPr>
          <p:cNvPr id="175" name="Shape 38"/>
          <p:cNvSpPr/>
          <p:nvPr/>
        </p:nvSpPr>
        <p:spPr>
          <a:xfrm>
            <a:off x="7558560" y="6229440"/>
            <a:ext cx="113400" cy="113400"/>
          </a:xfrm>
          <a:custGeom>
            <a:avLst/>
            <a:gdLst/>
            <a:ah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w="0">
            <a:noFill/>
          </a:ln>
        </p:spPr>
        <p:style>
          <a:lnRef idx="0"/>
          <a:fillRef idx="0"/>
          <a:effectRef idx="0"/>
          <a:fontRef idx="minor"/>
        </p:style>
      </p:sp>
      <p:sp>
        <p:nvSpPr>
          <p:cNvPr id="176" name="Text 39"/>
          <p:cNvSpPr/>
          <p:nvPr/>
        </p:nvSpPr>
        <p:spPr>
          <a:xfrm>
            <a:off x="7801200" y="6172200"/>
            <a:ext cx="336168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ffffff"/>
                </a:solidFill>
                <a:latin typeface="Quattrocento Sans"/>
                <a:ea typeface="Quattrocento Sans"/>
              </a:rPr>
              <a:t>Bark Diversity:</a:t>
            </a:r>
            <a:r>
              <a:rPr b="0" lang="en-US" sz="1200" spc="-1" strike="noStrike">
                <a:solidFill>
                  <a:srgbClr val="ffffff"/>
                </a:solidFill>
                <a:latin typeface="Quattrocento Sans"/>
                <a:ea typeface="Quattrocento Sans"/>
              </a:rPr>
              <a:t> Various textures support epiphytes</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177" name="Text 0"/>
          <p:cNvSpPr/>
          <p:nvPr/>
        </p:nvSpPr>
        <p:spPr>
          <a:xfrm>
            <a:off x="317520" y="317520"/>
            <a:ext cx="1161252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0" strike="noStrike">
                <a:solidFill>
                  <a:srgbClr val="4c8a7a"/>
                </a:solidFill>
                <a:latin typeface="Quattrocento Sans"/>
                <a:ea typeface="Quattrocento Sans"/>
              </a:rPr>
              <a:t>02 • Structural Complexity</a:t>
            </a:r>
            <a:endParaRPr b="0" lang="en-HK" sz="880" spc="-1" strike="noStrike">
              <a:latin typeface="Arial"/>
            </a:endParaRPr>
          </a:p>
        </p:txBody>
      </p:sp>
      <p:sp>
        <p:nvSpPr>
          <p:cNvPr id="178" name="Text 1"/>
          <p:cNvSpPr/>
          <p:nvPr/>
        </p:nvSpPr>
        <p:spPr>
          <a:xfrm>
            <a:off x="317520" y="539640"/>
            <a:ext cx="11700000" cy="3164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50" spc="-1" strike="noStrike">
                <a:solidFill>
                  <a:srgbClr val="2f3e3b"/>
                </a:solidFill>
                <a:latin typeface="Sorts Mill Goudy"/>
                <a:ea typeface="Sorts Mill Goudy"/>
              </a:rPr>
              <a:t>Vertical Structure &amp; Canopy Layering</a:t>
            </a:r>
            <a:endParaRPr b="0" lang="en-HK" sz="2250" spc="-1" strike="noStrike">
              <a:latin typeface="Arial"/>
            </a:endParaRPr>
          </a:p>
        </p:txBody>
      </p:sp>
      <p:sp>
        <p:nvSpPr>
          <p:cNvPr id="179" name="Text 2"/>
          <p:cNvSpPr/>
          <p:nvPr/>
        </p:nvSpPr>
        <p:spPr>
          <a:xfrm>
            <a:off x="317520" y="920880"/>
            <a:ext cx="1162836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30" spc="-1" strike="noStrike">
                <a:solidFill>
                  <a:srgbClr val="5f6f6b"/>
                </a:solidFill>
                <a:latin typeface="Quattrocento Sans"/>
                <a:ea typeface="Quattrocento Sans"/>
              </a:rPr>
              <a:t>Three-dimensional stratification creates distinct microclimates and niche spaces</a:t>
            </a:r>
            <a:endParaRPr b="0" lang="en-HK" sz="1130" spc="-1" strike="noStrike">
              <a:latin typeface="Arial"/>
            </a:endParaRPr>
          </a:p>
        </p:txBody>
      </p:sp>
      <p:sp>
        <p:nvSpPr>
          <p:cNvPr id="180" name="Shape 3"/>
          <p:cNvSpPr/>
          <p:nvPr/>
        </p:nvSpPr>
        <p:spPr>
          <a:xfrm>
            <a:off x="317520" y="1301760"/>
            <a:ext cx="5682600" cy="3189960"/>
          </a:xfrm>
          <a:custGeom>
            <a:avLst/>
            <a:gdLst/>
            <a:ahLst/>
            <a:rect l="l" t="t" r="r" b="b"/>
            <a:pathLst>
              <a:path w="5683250" h="3190875">
                <a:moveTo>
                  <a:pt x="95248" y="0"/>
                </a:moveTo>
                <a:lnTo>
                  <a:pt x="5588002" y="0"/>
                </a:lnTo>
                <a:cubicBezTo>
                  <a:pt x="5640606" y="0"/>
                  <a:pt x="5683250" y="42644"/>
                  <a:pt x="5683250" y="95248"/>
                </a:cubicBezTo>
                <a:lnTo>
                  <a:pt x="5683250" y="3095627"/>
                </a:lnTo>
                <a:cubicBezTo>
                  <a:pt x="5683250" y="3148231"/>
                  <a:pt x="5640606" y="3190875"/>
                  <a:pt x="5588002" y="3190875"/>
                </a:cubicBezTo>
                <a:lnTo>
                  <a:pt x="95248" y="3190875"/>
                </a:lnTo>
                <a:cubicBezTo>
                  <a:pt x="42644" y="3190875"/>
                  <a:pt x="0" y="3148231"/>
                  <a:pt x="0" y="3095627"/>
                </a:cubicBezTo>
                <a:lnTo>
                  <a:pt x="0" y="95248"/>
                </a:lnTo>
                <a:cubicBezTo>
                  <a:pt x="0" y="42679"/>
                  <a:pt x="42679" y="0"/>
                  <a:pt x="95248"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181" name="Text 4"/>
          <p:cNvSpPr/>
          <p:nvPr/>
        </p:nvSpPr>
        <p:spPr>
          <a:xfrm>
            <a:off x="476280" y="1460520"/>
            <a:ext cx="5444280" cy="221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2f3e3b"/>
                </a:solidFill>
                <a:latin typeface="Sorts Mill Goudy"/>
                <a:ea typeface="Sorts Mill Goudy"/>
              </a:rPr>
              <a:t>Forest Stratification</a:t>
            </a:r>
            <a:endParaRPr b="0" lang="en-HK" sz="1250" spc="-1" strike="noStrike">
              <a:latin typeface="Arial"/>
            </a:endParaRPr>
          </a:p>
        </p:txBody>
      </p:sp>
      <p:sp>
        <p:nvSpPr>
          <p:cNvPr id="182" name="Text 5"/>
          <p:cNvSpPr/>
          <p:nvPr/>
        </p:nvSpPr>
        <p:spPr>
          <a:xfrm>
            <a:off x="476280" y="1778040"/>
            <a:ext cx="5428440" cy="618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1f2a28"/>
                </a:solidFill>
                <a:latin typeface="Quattrocento Sans"/>
                <a:ea typeface="Quattrocento Sans"/>
              </a:rPr>
              <a:t>Vertical stratification in forests creates </a:t>
            </a:r>
            <a:r>
              <a:rPr b="1" lang="en-US" sz="1000" spc="-1" strike="noStrike">
                <a:solidFill>
                  <a:srgbClr val="1f2a28"/>
                </a:solidFill>
                <a:latin typeface="Quattrocento Sans"/>
                <a:ea typeface="Quattrocento Sans"/>
              </a:rPr>
              <a:t>distinct microclimates and niche spaces</a:t>
            </a:r>
            <a:r>
              <a:rPr b="0" lang="en-US" sz="1000" spc="-1" strike="noStrike">
                <a:solidFill>
                  <a:srgbClr val="1f2a28"/>
                </a:solidFill>
                <a:latin typeface="Quattrocento Sans"/>
                <a:ea typeface="Quattrocento Sans"/>
              </a:rPr>
              <a:t> that support specialized communities. Each layer differs in light availability, temperature, humidity, and wind exposure—factors that determine which species can thrive.</a:t>
            </a:r>
            <a:endParaRPr b="0" lang="en-HK" sz="1000" spc="-1" strike="noStrike">
              <a:latin typeface="Arial"/>
            </a:endParaRPr>
          </a:p>
        </p:txBody>
      </p:sp>
      <p:sp>
        <p:nvSpPr>
          <p:cNvPr id="183" name="Shape 6"/>
          <p:cNvSpPr/>
          <p:nvPr/>
        </p:nvSpPr>
        <p:spPr>
          <a:xfrm>
            <a:off x="476280" y="2523960"/>
            <a:ext cx="5365080" cy="538560"/>
          </a:xfrm>
          <a:custGeom>
            <a:avLst/>
            <a:gdLst/>
            <a:ah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4c8a7a">
              <a:alpha val="10000"/>
            </a:srgbClr>
          </a:solidFill>
          <a:ln w="0">
            <a:noFill/>
          </a:ln>
        </p:spPr>
        <p:style>
          <a:lnRef idx="0"/>
          <a:fillRef idx="0"/>
          <a:effectRef idx="0"/>
          <a:fontRef idx="minor"/>
        </p:style>
      </p:sp>
      <p:sp>
        <p:nvSpPr>
          <p:cNvPr id="184" name="Shape 7"/>
          <p:cNvSpPr/>
          <p:nvPr/>
        </p:nvSpPr>
        <p:spPr>
          <a:xfrm>
            <a:off x="571680" y="2619360"/>
            <a:ext cx="253080" cy="253080"/>
          </a:xfrm>
          <a:custGeom>
            <a:avLst/>
            <a:gdLst/>
            <a:ah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4c8a7a"/>
          </a:solidFill>
          <a:ln w="0">
            <a:noFill/>
          </a:ln>
        </p:spPr>
        <p:style>
          <a:lnRef idx="0"/>
          <a:fillRef idx="0"/>
          <a:effectRef idx="0"/>
          <a:fontRef idx="minor"/>
        </p:style>
      </p:sp>
      <p:sp>
        <p:nvSpPr>
          <p:cNvPr id="185" name="Text 8"/>
          <p:cNvSpPr/>
          <p:nvPr/>
        </p:nvSpPr>
        <p:spPr>
          <a:xfrm>
            <a:off x="543600" y="2619360"/>
            <a:ext cx="308520" cy="2530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Quattrocento Sans"/>
                <a:ea typeface="Quattrocento Sans"/>
              </a:rPr>
              <a:t>E</a:t>
            </a:r>
            <a:endParaRPr b="0" lang="en-HK" sz="880" spc="-1" strike="noStrike">
              <a:latin typeface="Arial"/>
            </a:endParaRPr>
          </a:p>
        </p:txBody>
      </p:sp>
      <p:sp>
        <p:nvSpPr>
          <p:cNvPr id="186" name="Text 9"/>
          <p:cNvSpPr/>
          <p:nvPr/>
        </p:nvSpPr>
        <p:spPr>
          <a:xfrm>
            <a:off x="920880" y="2619360"/>
            <a:ext cx="244404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2f3e3b"/>
                </a:solidFill>
                <a:latin typeface="Quattrocento Sans"/>
                <a:ea typeface="Quattrocento Sans"/>
              </a:rPr>
              <a:t>Emergent Layer (&gt;40m)</a:t>
            </a:r>
            <a:endParaRPr b="0" lang="en-HK" sz="1000" spc="-1" strike="noStrike">
              <a:latin typeface="Arial"/>
            </a:endParaRPr>
          </a:p>
        </p:txBody>
      </p:sp>
      <p:sp>
        <p:nvSpPr>
          <p:cNvPr id="187" name="Text 10"/>
          <p:cNvSpPr/>
          <p:nvPr/>
        </p:nvSpPr>
        <p:spPr>
          <a:xfrm>
            <a:off x="920880" y="2809800"/>
            <a:ext cx="243612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Full sun exposure, wind-resistant species, raptors</a:t>
            </a:r>
            <a:endParaRPr b="0" lang="en-HK" sz="880" spc="-1" strike="noStrike">
              <a:latin typeface="Arial"/>
            </a:endParaRPr>
          </a:p>
        </p:txBody>
      </p:sp>
      <p:sp>
        <p:nvSpPr>
          <p:cNvPr id="188" name="Shape 11"/>
          <p:cNvSpPr/>
          <p:nvPr/>
        </p:nvSpPr>
        <p:spPr>
          <a:xfrm>
            <a:off x="476280" y="3159000"/>
            <a:ext cx="5365080" cy="538560"/>
          </a:xfrm>
          <a:custGeom>
            <a:avLst/>
            <a:gdLst/>
            <a:ah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8fb7ac">
              <a:alpha val="10000"/>
            </a:srgbClr>
          </a:solidFill>
          <a:ln w="0">
            <a:noFill/>
          </a:ln>
        </p:spPr>
        <p:style>
          <a:lnRef idx="0"/>
          <a:fillRef idx="0"/>
          <a:effectRef idx="0"/>
          <a:fontRef idx="minor"/>
        </p:style>
      </p:sp>
      <p:sp>
        <p:nvSpPr>
          <p:cNvPr id="189" name="Shape 12"/>
          <p:cNvSpPr/>
          <p:nvPr/>
        </p:nvSpPr>
        <p:spPr>
          <a:xfrm>
            <a:off x="571680" y="3254400"/>
            <a:ext cx="253080" cy="253080"/>
          </a:xfrm>
          <a:custGeom>
            <a:avLst/>
            <a:gdLst/>
            <a:ah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8fb7ac"/>
          </a:solidFill>
          <a:ln w="0">
            <a:noFill/>
          </a:ln>
        </p:spPr>
        <p:style>
          <a:lnRef idx="0"/>
          <a:fillRef idx="0"/>
          <a:effectRef idx="0"/>
          <a:fontRef idx="minor"/>
        </p:style>
      </p:sp>
      <p:sp>
        <p:nvSpPr>
          <p:cNvPr id="190" name="Text 13"/>
          <p:cNvSpPr/>
          <p:nvPr/>
        </p:nvSpPr>
        <p:spPr>
          <a:xfrm>
            <a:off x="543600" y="3254400"/>
            <a:ext cx="308520" cy="2530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Quattrocento Sans"/>
                <a:ea typeface="Quattrocento Sans"/>
              </a:rPr>
              <a:t>C</a:t>
            </a:r>
            <a:endParaRPr b="0" lang="en-HK" sz="880" spc="-1" strike="noStrike">
              <a:latin typeface="Arial"/>
            </a:endParaRPr>
          </a:p>
        </p:txBody>
      </p:sp>
      <p:sp>
        <p:nvSpPr>
          <p:cNvPr id="191" name="Text 14"/>
          <p:cNvSpPr/>
          <p:nvPr/>
        </p:nvSpPr>
        <p:spPr>
          <a:xfrm>
            <a:off x="920880" y="3254400"/>
            <a:ext cx="289656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2f3e3b"/>
                </a:solidFill>
                <a:latin typeface="Quattrocento Sans"/>
                <a:ea typeface="Quattrocento Sans"/>
              </a:rPr>
              <a:t>Canopy Layer (20-40m)</a:t>
            </a:r>
            <a:endParaRPr b="0" lang="en-HK" sz="1000" spc="-1" strike="noStrike">
              <a:latin typeface="Arial"/>
            </a:endParaRPr>
          </a:p>
        </p:txBody>
      </p:sp>
      <p:sp>
        <p:nvSpPr>
          <p:cNvPr id="192" name="Text 15"/>
          <p:cNvSpPr/>
          <p:nvPr/>
        </p:nvSpPr>
        <p:spPr>
          <a:xfrm>
            <a:off x="920880" y="3444840"/>
            <a:ext cx="288864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Filtered light, primary productivity zone, arboreal mammals</a:t>
            </a:r>
            <a:endParaRPr b="0" lang="en-HK" sz="880" spc="-1" strike="noStrike">
              <a:latin typeface="Arial"/>
            </a:endParaRPr>
          </a:p>
        </p:txBody>
      </p:sp>
      <p:sp>
        <p:nvSpPr>
          <p:cNvPr id="193" name="Shape 16"/>
          <p:cNvSpPr/>
          <p:nvPr/>
        </p:nvSpPr>
        <p:spPr>
          <a:xfrm>
            <a:off x="476280" y="3794040"/>
            <a:ext cx="5365080" cy="538560"/>
          </a:xfrm>
          <a:custGeom>
            <a:avLst/>
            <a:gdLst/>
            <a:ah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5f6f6b">
              <a:alpha val="10000"/>
            </a:srgbClr>
          </a:solidFill>
          <a:ln w="0">
            <a:noFill/>
          </a:ln>
        </p:spPr>
        <p:style>
          <a:lnRef idx="0"/>
          <a:fillRef idx="0"/>
          <a:effectRef idx="0"/>
          <a:fontRef idx="minor"/>
        </p:style>
      </p:sp>
      <p:sp>
        <p:nvSpPr>
          <p:cNvPr id="194" name="Shape 17"/>
          <p:cNvSpPr/>
          <p:nvPr/>
        </p:nvSpPr>
        <p:spPr>
          <a:xfrm>
            <a:off x="571680" y="3889440"/>
            <a:ext cx="253080" cy="253080"/>
          </a:xfrm>
          <a:custGeom>
            <a:avLst/>
            <a:gdLst/>
            <a:ah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5f6f6b"/>
          </a:solidFill>
          <a:ln w="0">
            <a:noFill/>
          </a:ln>
        </p:spPr>
        <p:style>
          <a:lnRef idx="0"/>
          <a:fillRef idx="0"/>
          <a:effectRef idx="0"/>
          <a:fontRef idx="minor"/>
        </p:style>
      </p:sp>
      <p:sp>
        <p:nvSpPr>
          <p:cNvPr id="195" name="Text 18"/>
          <p:cNvSpPr/>
          <p:nvPr/>
        </p:nvSpPr>
        <p:spPr>
          <a:xfrm>
            <a:off x="543600" y="3889440"/>
            <a:ext cx="308520" cy="2530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Quattrocento Sans"/>
                <a:ea typeface="Quattrocento Sans"/>
              </a:rPr>
              <a:t>U</a:t>
            </a:r>
            <a:endParaRPr b="0" lang="en-HK" sz="880" spc="-1" strike="noStrike">
              <a:latin typeface="Arial"/>
            </a:endParaRPr>
          </a:p>
        </p:txBody>
      </p:sp>
      <p:sp>
        <p:nvSpPr>
          <p:cNvPr id="196" name="Text 19"/>
          <p:cNvSpPr/>
          <p:nvPr/>
        </p:nvSpPr>
        <p:spPr>
          <a:xfrm>
            <a:off x="920880" y="3889440"/>
            <a:ext cx="235656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2f3e3b"/>
                </a:solidFill>
                <a:latin typeface="Quattrocento Sans"/>
                <a:ea typeface="Quattrocento Sans"/>
              </a:rPr>
              <a:t>Understory (&lt;20m)</a:t>
            </a:r>
            <a:endParaRPr b="0" lang="en-HK" sz="1000" spc="-1" strike="noStrike">
              <a:latin typeface="Arial"/>
            </a:endParaRPr>
          </a:p>
        </p:txBody>
      </p:sp>
      <p:sp>
        <p:nvSpPr>
          <p:cNvPr id="197" name="Text 20"/>
          <p:cNvSpPr/>
          <p:nvPr/>
        </p:nvSpPr>
        <p:spPr>
          <a:xfrm>
            <a:off x="920880" y="4079880"/>
            <a:ext cx="234864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Low light, shade-tolerant species, high humidity</a:t>
            </a:r>
            <a:endParaRPr b="0" lang="en-HK" sz="880" spc="-1" strike="noStrike">
              <a:latin typeface="Arial"/>
            </a:endParaRPr>
          </a:p>
        </p:txBody>
      </p:sp>
      <p:sp>
        <p:nvSpPr>
          <p:cNvPr id="198" name="Shape 21"/>
          <p:cNvSpPr/>
          <p:nvPr/>
        </p:nvSpPr>
        <p:spPr>
          <a:xfrm>
            <a:off x="6191640" y="1301760"/>
            <a:ext cx="5682600" cy="7650720"/>
          </a:xfrm>
          <a:custGeom>
            <a:avLst/>
            <a:gdLst/>
            <a:ahLst/>
            <a:rect l="l" t="t" r="r" b="b"/>
            <a:pathLst>
              <a:path w="5683250" h="7651750">
                <a:moveTo>
                  <a:pt x="95251" y="0"/>
                </a:moveTo>
                <a:lnTo>
                  <a:pt x="5587999" y="0"/>
                </a:lnTo>
                <a:cubicBezTo>
                  <a:pt x="5640605" y="0"/>
                  <a:pt x="5683250" y="42645"/>
                  <a:pt x="5683250" y="95251"/>
                </a:cubicBezTo>
                <a:lnTo>
                  <a:pt x="5683250" y="7556499"/>
                </a:lnTo>
                <a:cubicBezTo>
                  <a:pt x="5683250" y="7609105"/>
                  <a:pt x="5640605" y="7651750"/>
                  <a:pt x="5587999" y="7651750"/>
                </a:cubicBezTo>
                <a:lnTo>
                  <a:pt x="95251" y="7651750"/>
                </a:lnTo>
                <a:cubicBezTo>
                  <a:pt x="42645" y="7651750"/>
                  <a:pt x="0" y="7609105"/>
                  <a:pt x="0" y="7556499"/>
                </a:cubicBezTo>
                <a:lnTo>
                  <a:pt x="0" y="95251"/>
                </a:lnTo>
                <a:cubicBezTo>
                  <a:pt x="0" y="42645"/>
                  <a:pt x="42645" y="0"/>
                  <a:pt x="95251"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199" name="Image 0"/>
          <p:cNvSpPr/>
          <p:nvPr/>
        </p:nvSpPr>
        <p:spPr>
          <a:xfrm>
            <a:off x="6191640" y="1301760"/>
            <a:ext cx="5682600" cy="7650720"/>
          </a:xfrm>
          <a:prstGeom prst="roundRect">
            <a:avLst>
              <a:gd name="adj" fmla="val 1676"/>
            </a:avLst>
          </a:prstGeom>
          <a:blipFill rotWithShape="0">
            <a:blip r:embed="rId1"/>
            <a:srcRect/>
            <a:stretch/>
          </a:blipFill>
          <a:ln w="0">
            <a:noFill/>
          </a:ln>
        </p:spPr>
        <p:style>
          <a:lnRef idx="0"/>
          <a:fillRef idx="0"/>
          <a:effectRef idx="0"/>
          <a:fontRef idx="minor"/>
        </p:style>
      </p:sp>
      <p:sp>
        <p:nvSpPr>
          <p:cNvPr id="200" name="Shape 22"/>
          <p:cNvSpPr/>
          <p:nvPr/>
        </p:nvSpPr>
        <p:spPr>
          <a:xfrm>
            <a:off x="6191640" y="9079200"/>
            <a:ext cx="5682600" cy="1332360"/>
          </a:xfrm>
          <a:custGeom>
            <a:avLst/>
            <a:gdLst/>
            <a:ahLst/>
            <a:rect l="l" t="t" r="r" b="b"/>
            <a:pathLst>
              <a:path w="5683250" h="1333500">
                <a:moveTo>
                  <a:pt x="95252" y="0"/>
                </a:moveTo>
                <a:lnTo>
                  <a:pt x="5587998" y="0"/>
                </a:lnTo>
                <a:cubicBezTo>
                  <a:pt x="5640604" y="0"/>
                  <a:pt x="5683250" y="42646"/>
                  <a:pt x="5683250" y="95252"/>
                </a:cubicBezTo>
                <a:lnTo>
                  <a:pt x="5683250" y="1238248"/>
                </a:lnTo>
                <a:cubicBezTo>
                  <a:pt x="5683250" y="1290854"/>
                  <a:pt x="5640604" y="1333500"/>
                  <a:pt x="5587998" y="1333500"/>
                </a:cubicBezTo>
                <a:lnTo>
                  <a:pt x="95252" y="1333500"/>
                </a:lnTo>
                <a:cubicBezTo>
                  <a:pt x="42646" y="1333500"/>
                  <a:pt x="0" y="1290854"/>
                  <a:pt x="0" y="1238248"/>
                </a:cubicBezTo>
                <a:lnTo>
                  <a:pt x="0" y="95252"/>
                </a:lnTo>
                <a:cubicBezTo>
                  <a:pt x="0" y="42646"/>
                  <a:pt x="42646" y="0"/>
                  <a:pt x="95252" y="0"/>
                </a:cubicBezTo>
                <a:close/>
              </a:path>
            </a:pathLst>
          </a:custGeom>
          <a:solidFill>
            <a:srgbClr val="2f3e3b"/>
          </a:solidFill>
          <a:ln w="0">
            <a:noFill/>
          </a:ln>
        </p:spPr>
        <p:style>
          <a:lnRef idx="0"/>
          <a:fillRef idx="0"/>
          <a:effectRef idx="0"/>
          <a:fontRef idx="minor"/>
        </p:style>
      </p:sp>
      <p:sp>
        <p:nvSpPr>
          <p:cNvPr id="201" name="Text 23"/>
          <p:cNvSpPr/>
          <p:nvPr/>
        </p:nvSpPr>
        <p:spPr>
          <a:xfrm>
            <a:off x="6350400" y="9237960"/>
            <a:ext cx="543636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Sorts Mill Goudy"/>
                <a:ea typeface="Sorts Mill Goudy"/>
              </a:rPr>
              <a:t>Research Evidence</a:t>
            </a:r>
            <a:endParaRPr b="0" lang="en-HK" sz="1130" spc="-1" strike="noStrike">
              <a:latin typeface="Arial"/>
            </a:endParaRPr>
          </a:p>
        </p:txBody>
      </p:sp>
      <p:sp>
        <p:nvSpPr>
          <p:cNvPr id="202" name="Shape 24"/>
          <p:cNvSpPr/>
          <p:nvPr/>
        </p:nvSpPr>
        <p:spPr>
          <a:xfrm>
            <a:off x="6366240" y="9587160"/>
            <a:ext cx="126000" cy="126000"/>
          </a:xfrm>
          <a:custGeom>
            <a:avLst/>
            <a:gdLst/>
            <a:ah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8fb7ac"/>
          </a:solidFill>
          <a:ln w="0">
            <a:noFill/>
          </a:ln>
        </p:spPr>
        <p:style>
          <a:lnRef idx="0"/>
          <a:fillRef idx="0"/>
          <a:effectRef idx="0"/>
          <a:fontRef idx="minor"/>
        </p:style>
      </p:sp>
      <p:sp>
        <p:nvSpPr>
          <p:cNvPr id="203" name="Text 25"/>
          <p:cNvSpPr/>
          <p:nvPr/>
        </p:nvSpPr>
        <p:spPr>
          <a:xfrm>
            <a:off x="6572520" y="9555480"/>
            <a:ext cx="419832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Foliage Height Diversity (FHD)</a:t>
            </a:r>
            <a:r>
              <a:rPr b="0" lang="en-US" sz="1000" spc="-1" strike="noStrike">
                <a:solidFill>
                  <a:srgbClr val="ffffff"/>
                </a:solidFill>
                <a:latin typeface="Quattrocento Sans"/>
                <a:ea typeface="Quattrocento Sans"/>
              </a:rPr>
              <a:t> strongly correlates with bird species richness</a:t>
            </a:r>
            <a:endParaRPr b="0" lang="en-HK" sz="1000" spc="-1" strike="noStrike">
              <a:latin typeface="Arial"/>
            </a:endParaRPr>
          </a:p>
        </p:txBody>
      </p:sp>
      <p:sp>
        <p:nvSpPr>
          <p:cNvPr id="204" name="Shape 26"/>
          <p:cNvSpPr/>
          <p:nvPr/>
        </p:nvSpPr>
        <p:spPr>
          <a:xfrm>
            <a:off x="6366240" y="9841320"/>
            <a:ext cx="126000" cy="126000"/>
          </a:xfrm>
          <a:custGeom>
            <a:avLst/>
            <a:gdLst/>
            <a:ah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8fb7ac"/>
          </a:solidFill>
          <a:ln w="0">
            <a:noFill/>
          </a:ln>
        </p:spPr>
        <p:style>
          <a:lnRef idx="0"/>
          <a:fillRef idx="0"/>
          <a:effectRef idx="0"/>
          <a:fontRef idx="minor"/>
        </p:style>
      </p:sp>
      <p:sp>
        <p:nvSpPr>
          <p:cNvPr id="205" name="Text 27"/>
          <p:cNvSpPr/>
          <p:nvPr/>
        </p:nvSpPr>
        <p:spPr>
          <a:xfrm>
            <a:off x="6572520" y="9809640"/>
            <a:ext cx="423792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Vertical structural diversity</a:t>
            </a:r>
            <a:r>
              <a:rPr b="0" lang="en-US" sz="1000" spc="-1" strike="noStrike">
                <a:solidFill>
                  <a:srgbClr val="ffffff"/>
                </a:solidFill>
                <a:latin typeface="Quattrocento Sans"/>
                <a:ea typeface="Quattrocento Sans"/>
              </a:rPr>
              <a:t> explains 41.8% of variance in community stability</a:t>
            </a:r>
            <a:endParaRPr b="0" lang="en-HK" sz="1000" spc="-1" strike="noStrike">
              <a:latin typeface="Arial"/>
            </a:endParaRPr>
          </a:p>
        </p:txBody>
      </p:sp>
      <p:sp>
        <p:nvSpPr>
          <p:cNvPr id="206" name="Shape 28"/>
          <p:cNvSpPr/>
          <p:nvPr/>
        </p:nvSpPr>
        <p:spPr>
          <a:xfrm>
            <a:off x="6366240" y="10095120"/>
            <a:ext cx="126000" cy="126000"/>
          </a:xfrm>
          <a:custGeom>
            <a:avLst/>
            <a:gdLst/>
            <a:ah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8fb7ac"/>
          </a:solidFill>
          <a:ln w="0">
            <a:noFill/>
          </a:ln>
        </p:spPr>
        <p:style>
          <a:lnRef idx="0"/>
          <a:fillRef idx="0"/>
          <a:effectRef idx="0"/>
          <a:fontRef idx="minor"/>
        </p:style>
      </p:sp>
      <p:sp>
        <p:nvSpPr>
          <p:cNvPr id="207" name="Text 29"/>
          <p:cNvSpPr/>
          <p:nvPr/>
        </p:nvSpPr>
        <p:spPr>
          <a:xfrm>
            <a:off x="6572520" y="10063440"/>
            <a:ext cx="401580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Simpson's Diversity Index</a:t>
            </a:r>
            <a:r>
              <a:rPr b="0" lang="en-US" sz="1000" spc="-1" strike="noStrike">
                <a:solidFill>
                  <a:srgbClr val="ffffff"/>
                </a:solidFill>
                <a:latin typeface="Quattrocento Sans"/>
                <a:ea typeface="Quattrocento Sans"/>
              </a:rPr>
              <a:t> on tree heights best differentiates forest types</a:t>
            </a:r>
            <a:endParaRPr b="0" lang="en-HK" sz="10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208" name="Text 0"/>
          <p:cNvSpPr/>
          <p:nvPr/>
        </p:nvSpPr>
        <p:spPr>
          <a:xfrm>
            <a:off x="353520" y="353520"/>
            <a:ext cx="11547000" cy="175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80" spc="89" strike="noStrike">
                <a:solidFill>
                  <a:srgbClr val="4c8a7a"/>
                </a:solidFill>
                <a:latin typeface="Quattrocento Sans"/>
                <a:ea typeface="Quattrocento Sans"/>
              </a:rPr>
              <a:t>02 • Structural Complexity</a:t>
            </a:r>
            <a:endParaRPr b="0" lang="en-HK" sz="980" spc="-1" strike="noStrike">
              <a:latin typeface="Arial"/>
            </a:endParaRPr>
          </a:p>
        </p:txBody>
      </p:sp>
      <p:sp>
        <p:nvSpPr>
          <p:cNvPr id="209" name="Text 1"/>
          <p:cNvSpPr/>
          <p:nvPr/>
        </p:nvSpPr>
        <p:spPr>
          <a:xfrm>
            <a:off x="353520" y="600840"/>
            <a:ext cx="11644200" cy="3524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510" spc="-1" strike="noStrike">
                <a:solidFill>
                  <a:srgbClr val="2f3e3b"/>
                </a:solidFill>
                <a:latin typeface="Sorts Mill Goudy"/>
                <a:ea typeface="Sorts Mill Goudy"/>
              </a:rPr>
              <a:t>Microhabitat Heterogeneity &amp; Niche Provision</a:t>
            </a:r>
            <a:endParaRPr b="0" lang="en-HK" sz="2510" spc="-1" strike="noStrike">
              <a:latin typeface="Arial"/>
            </a:endParaRPr>
          </a:p>
        </p:txBody>
      </p:sp>
      <p:sp>
        <p:nvSpPr>
          <p:cNvPr id="210" name="Text 2"/>
          <p:cNvSpPr/>
          <p:nvPr/>
        </p:nvSpPr>
        <p:spPr>
          <a:xfrm>
            <a:off x="353520" y="1024920"/>
            <a:ext cx="11564640" cy="246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50" spc="-1" strike="noStrike">
                <a:solidFill>
                  <a:srgbClr val="5f6f6b"/>
                </a:solidFill>
                <a:latin typeface="Quattrocento Sans"/>
                <a:ea typeface="Quattrocento Sans"/>
              </a:rPr>
              <a:t>Fine-scale habitat diversity enables species coexistence</a:t>
            </a:r>
            <a:endParaRPr b="0" lang="en-HK" sz="1250" spc="-1" strike="noStrike">
              <a:latin typeface="Arial"/>
            </a:endParaRPr>
          </a:p>
        </p:txBody>
      </p:sp>
      <p:sp>
        <p:nvSpPr>
          <p:cNvPr id="211" name="Shape 3"/>
          <p:cNvSpPr/>
          <p:nvPr/>
        </p:nvSpPr>
        <p:spPr>
          <a:xfrm>
            <a:off x="353520" y="1449000"/>
            <a:ext cx="7597440" cy="3338640"/>
          </a:xfrm>
          <a:custGeom>
            <a:avLst/>
            <a:gdLst/>
            <a:ahLst/>
            <a:rect l="l" t="t" r="r" b="b"/>
            <a:pathLst>
              <a:path w="7597913" h="3339548">
                <a:moveTo>
                  <a:pt x="106031" y="0"/>
                </a:moveTo>
                <a:lnTo>
                  <a:pt x="7491882" y="0"/>
                </a:lnTo>
                <a:cubicBezTo>
                  <a:pt x="7550442" y="0"/>
                  <a:pt x="7597913" y="47472"/>
                  <a:pt x="7597913" y="106031"/>
                </a:cubicBezTo>
                <a:lnTo>
                  <a:pt x="7597913" y="3233517"/>
                </a:lnTo>
                <a:cubicBezTo>
                  <a:pt x="7597913" y="3292076"/>
                  <a:pt x="7550442" y="3339548"/>
                  <a:pt x="7491882" y="3339548"/>
                </a:cubicBezTo>
                <a:lnTo>
                  <a:pt x="106031" y="3339548"/>
                </a:lnTo>
                <a:cubicBezTo>
                  <a:pt x="47472" y="3339548"/>
                  <a:pt x="0" y="3292076"/>
                  <a:pt x="0" y="3233517"/>
                </a:cubicBezTo>
                <a:lnTo>
                  <a:pt x="0" y="106031"/>
                </a:lnTo>
                <a:cubicBezTo>
                  <a:pt x="0" y="47472"/>
                  <a:pt x="47472" y="0"/>
                  <a:pt x="106031" y="0"/>
                </a:cubicBezTo>
                <a:close/>
              </a:path>
            </a:pathLst>
          </a:custGeom>
          <a:solidFill>
            <a:srgbClr val="ffffff"/>
          </a:solidFill>
          <a:ln w="0">
            <a:noFill/>
          </a:ln>
          <a:effectLst>
            <a:outerShdw algn="bl" blurRad="26640" dir="5400000" dist="9000" kx="0" ky="0" rotWithShape="0" sx="100000" sy="100000">
              <a:srgbClr val="000000">
                <a:alpha val="10000"/>
              </a:srgbClr>
            </a:outerShdw>
          </a:effectLst>
        </p:spPr>
        <p:style>
          <a:lnRef idx="0"/>
          <a:fillRef idx="0"/>
          <a:effectRef idx="0"/>
          <a:fontRef idx="minor"/>
        </p:style>
      </p:sp>
      <p:sp>
        <p:nvSpPr>
          <p:cNvPr id="212" name="Text 4"/>
          <p:cNvSpPr/>
          <p:nvPr/>
        </p:nvSpPr>
        <p:spPr>
          <a:xfrm>
            <a:off x="529920" y="1625760"/>
            <a:ext cx="7332480" cy="24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90" spc="-1" strike="noStrike">
                <a:solidFill>
                  <a:srgbClr val="2f3e3b"/>
                </a:solidFill>
                <a:latin typeface="Sorts Mill Goudy"/>
                <a:ea typeface="Sorts Mill Goudy"/>
              </a:rPr>
              <a:t>Microhabitat Types &amp; Their Biodiversity Value</a:t>
            </a:r>
            <a:endParaRPr b="0" lang="en-HK" sz="1390" spc="-1" strike="noStrike">
              <a:latin typeface="Arial"/>
            </a:endParaRPr>
          </a:p>
        </p:txBody>
      </p:sp>
      <p:sp>
        <p:nvSpPr>
          <p:cNvPr id="213" name="Text 5"/>
          <p:cNvSpPr/>
          <p:nvPr/>
        </p:nvSpPr>
        <p:spPr>
          <a:xfrm>
            <a:off x="529920" y="1978920"/>
            <a:ext cx="7314840" cy="687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1f2a28"/>
                </a:solidFill>
                <a:latin typeface="Quattrocento Sans"/>
                <a:ea typeface="Quattrocento Sans"/>
              </a:rPr>
              <a:t>Research demonstrates that </a:t>
            </a:r>
            <a:r>
              <a:rPr b="0" lang="en-US" sz="1110" spc="-1" strike="noStrike">
                <a:solidFill>
                  <a:srgbClr val="2f3e3b"/>
                </a:solidFill>
                <a:highlight>
                  <a:srgbClr val="8fb7ac"/>
                </a:highlight>
                <a:latin typeface="Quattrocento Sans"/>
                <a:ea typeface="Quattrocento Sans"/>
              </a:rPr>
              <a:t>microhabitat heterogeneity is a stronger predictor of species richness than microhabitat frequency alone </a:t>
            </a:r>
            <a:r>
              <a:rPr b="0" lang="en-US" sz="1110" spc="-1" strike="noStrike">
                <a:solidFill>
                  <a:srgbClr val="1f2a28"/>
                </a:solidFill>
                <a:latin typeface="Quattrocento Sans"/>
                <a:ea typeface="Quattrocento Sans"/>
              </a:rPr>
              <a:t>. Natural forests contain numerous specialized microhabitats that support distinct ecological communities.</a:t>
            </a:r>
            <a:endParaRPr b="0" lang="en-HK" sz="1110" spc="-1" strike="noStrike">
              <a:latin typeface="Arial"/>
            </a:endParaRPr>
          </a:p>
        </p:txBody>
      </p:sp>
      <p:sp>
        <p:nvSpPr>
          <p:cNvPr id="214" name="Shape 6"/>
          <p:cNvSpPr/>
          <p:nvPr/>
        </p:nvSpPr>
        <p:spPr>
          <a:xfrm>
            <a:off x="529920" y="2809440"/>
            <a:ext cx="3568680" cy="847080"/>
          </a:xfrm>
          <a:custGeom>
            <a:avLst/>
            <a:gdLst/>
            <a:ah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4c8a7a">
              <a:alpha val="10000"/>
            </a:srgbClr>
          </a:solidFill>
          <a:ln w="0">
            <a:noFill/>
          </a:ln>
        </p:spPr>
        <p:style>
          <a:lnRef idx="0"/>
          <a:fillRef idx="0"/>
          <a:effectRef idx="0"/>
          <a:fontRef idx="minor"/>
        </p:style>
      </p:sp>
      <p:sp>
        <p:nvSpPr>
          <p:cNvPr id="215" name="Shape 7"/>
          <p:cNvSpPr/>
          <p:nvPr/>
        </p:nvSpPr>
        <p:spPr>
          <a:xfrm>
            <a:off x="662760" y="2950920"/>
            <a:ext cx="122760" cy="140400"/>
          </a:xfrm>
          <a:custGeom>
            <a:avLst/>
            <a:gdLst/>
            <a:ahLst/>
            <a:rect l="l" t="t" r="r" b="b"/>
            <a:pathLst>
              <a:path w="123687" h="141357">
                <a:moveTo>
                  <a:pt x="61843" y="-8835"/>
                </a:moveTo>
                <a:cubicBezTo>
                  <a:pt x="63776" y="-8835"/>
                  <a:pt x="65626" y="-7979"/>
                  <a:pt x="66896" y="-6488"/>
                </a:cubicBezTo>
                <a:lnTo>
                  <a:pt x="104444" y="37686"/>
                </a:lnTo>
                <a:cubicBezTo>
                  <a:pt x="106128" y="39646"/>
                  <a:pt x="106487" y="42407"/>
                  <a:pt x="105410" y="44754"/>
                </a:cubicBezTo>
                <a:cubicBezTo>
                  <a:pt x="104333" y="47100"/>
                  <a:pt x="101987" y="48591"/>
                  <a:pt x="99391" y="48591"/>
                </a:cubicBezTo>
                <a:lnTo>
                  <a:pt x="92517" y="48591"/>
                </a:lnTo>
                <a:lnTo>
                  <a:pt x="113278" y="73025"/>
                </a:lnTo>
                <a:cubicBezTo>
                  <a:pt x="114963" y="74985"/>
                  <a:pt x="115322" y="77746"/>
                  <a:pt x="114245" y="80093"/>
                </a:cubicBezTo>
                <a:cubicBezTo>
                  <a:pt x="113168" y="82440"/>
                  <a:pt x="110821" y="83930"/>
                  <a:pt x="108226" y="83930"/>
                </a:cubicBezTo>
                <a:lnTo>
                  <a:pt x="97597" y="83930"/>
                </a:lnTo>
                <a:lnTo>
                  <a:pt x="122113" y="112782"/>
                </a:lnTo>
                <a:cubicBezTo>
                  <a:pt x="123797" y="114742"/>
                  <a:pt x="124156" y="117503"/>
                  <a:pt x="123080" y="119849"/>
                </a:cubicBezTo>
                <a:cubicBezTo>
                  <a:pt x="122003" y="122196"/>
                  <a:pt x="119656" y="123687"/>
                  <a:pt x="117061" y="123687"/>
                </a:cubicBezTo>
                <a:lnTo>
                  <a:pt x="70678" y="123687"/>
                </a:lnTo>
                <a:lnTo>
                  <a:pt x="70678" y="141357"/>
                </a:lnTo>
                <a:cubicBezTo>
                  <a:pt x="70678" y="146243"/>
                  <a:pt x="66730" y="150191"/>
                  <a:pt x="61843" y="150191"/>
                </a:cubicBezTo>
                <a:cubicBezTo>
                  <a:pt x="56957" y="150191"/>
                  <a:pt x="53009" y="146243"/>
                  <a:pt x="53009" y="141357"/>
                </a:cubicBezTo>
                <a:lnTo>
                  <a:pt x="53009" y="123687"/>
                </a:lnTo>
                <a:lnTo>
                  <a:pt x="6626" y="123687"/>
                </a:lnTo>
                <a:cubicBezTo>
                  <a:pt x="4031" y="123687"/>
                  <a:pt x="1684" y="122196"/>
                  <a:pt x="607" y="119849"/>
                </a:cubicBezTo>
                <a:cubicBezTo>
                  <a:pt x="-469" y="117503"/>
                  <a:pt x="-110" y="114742"/>
                  <a:pt x="1574" y="112782"/>
                </a:cubicBezTo>
                <a:lnTo>
                  <a:pt x="26090" y="83930"/>
                </a:lnTo>
                <a:lnTo>
                  <a:pt x="15461" y="83930"/>
                </a:lnTo>
                <a:cubicBezTo>
                  <a:pt x="12866" y="83930"/>
                  <a:pt x="10519" y="82440"/>
                  <a:pt x="9442" y="80093"/>
                </a:cubicBezTo>
                <a:cubicBezTo>
                  <a:pt x="8365" y="77746"/>
                  <a:pt x="8724" y="74985"/>
                  <a:pt x="10408" y="73025"/>
                </a:cubicBezTo>
                <a:lnTo>
                  <a:pt x="31170" y="48591"/>
                </a:lnTo>
                <a:lnTo>
                  <a:pt x="24296" y="48591"/>
                </a:lnTo>
                <a:cubicBezTo>
                  <a:pt x="21700" y="48591"/>
                  <a:pt x="19354" y="47100"/>
                  <a:pt x="18277" y="44754"/>
                </a:cubicBezTo>
                <a:cubicBezTo>
                  <a:pt x="17200" y="42407"/>
                  <a:pt x="17559" y="39646"/>
                  <a:pt x="19243" y="37686"/>
                </a:cubicBezTo>
                <a:lnTo>
                  <a:pt x="56791" y="-6488"/>
                </a:lnTo>
                <a:cubicBezTo>
                  <a:pt x="58061" y="-7979"/>
                  <a:pt x="59911" y="-8835"/>
                  <a:pt x="61843" y="-8835"/>
                </a:cubicBezTo>
                <a:close/>
              </a:path>
            </a:pathLst>
          </a:custGeom>
          <a:solidFill>
            <a:srgbClr val="4c8a7a"/>
          </a:solidFill>
          <a:ln w="0">
            <a:noFill/>
          </a:ln>
        </p:spPr>
        <p:style>
          <a:lnRef idx="0"/>
          <a:fillRef idx="0"/>
          <a:effectRef idx="0"/>
          <a:fontRef idx="minor"/>
        </p:style>
      </p:sp>
      <p:sp>
        <p:nvSpPr>
          <p:cNvPr id="216" name="Text 8"/>
          <p:cNvSpPr/>
          <p:nvPr/>
        </p:nvSpPr>
        <p:spPr>
          <a:xfrm>
            <a:off x="812880" y="2915640"/>
            <a:ext cx="3250440" cy="210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2f3e3b"/>
                </a:solidFill>
                <a:latin typeface="Quattrocento Sans"/>
                <a:ea typeface="Quattrocento Sans"/>
              </a:rPr>
              <a:t>Bark Surfaces</a:t>
            </a:r>
            <a:endParaRPr b="0" lang="en-HK" sz="1110" spc="-1" strike="noStrike">
              <a:latin typeface="Arial"/>
            </a:endParaRPr>
          </a:p>
        </p:txBody>
      </p:sp>
      <p:sp>
        <p:nvSpPr>
          <p:cNvPr id="217" name="Text 9"/>
          <p:cNvSpPr/>
          <p:nvPr/>
        </p:nvSpPr>
        <p:spPr>
          <a:xfrm>
            <a:off x="636120" y="3198240"/>
            <a:ext cx="3418200" cy="352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5f6f6b"/>
                </a:solidFill>
                <a:latin typeface="Quattrocento Sans"/>
                <a:ea typeface="Quattrocento Sans"/>
              </a:rPr>
              <a:t>Support epiphytic lichens, mosses, and invertebrates. Chemistry and texture determine species composition.</a:t>
            </a:r>
            <a:endParaRPr b="0" lang="en-HK" sz="980" spc="-1" strike="noStrike">
              <a:latin typeface="Arial"/>
            </a:endParaRPr>
          </a:p>
        </p:txBody>
      </p:sp>
      <p:sp>
        <p:nvSpPr>
          <p:cNvPr id="218" name="Shape 10"/>
          <p:cNvSpPr/>
          <p:nvPr/>
        </p:nvSpPr>
        <p:spPr>
          <a:xfrm>
            <a:off x="4204440" y="2809440"/>
            <a:ext cx="3568680" cy="847080"/>
          </a:xfrm>
          <a:custGeom>
            <a:avLst/>
            <a:gdLst/>
            <a:ah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8fb7ac">
              <a:alpha val="10000"/>
            </a:srgbClr>
          </a:solidFill>
          <a:ln w="0">
            <a:noFill/>
          </a:ln>
        </p:spPr>
        <p:style>
          <a:lnRef idx="0"/>
          <a:fillRef idx="0"/>
          <a:effectRef idx="0"/>
          <a:fontRef idx="minor"/>
        </p:style>
      </p:sp>
      <p:sp>
        <p:nvSpPr>
          <p:cNvPr id="219" name="Shape 11"/>
          <p:cNvSpPr/>
          <p:nvPr/>
        </p:nvSpPr>
        <p:spPr>
          <a:xfrm>
            <a:off x="4327920" y="2950920"/>
            <a:ext cx="140400" cy="140400"/>
          </a:xfrm>
          <a:custGeom>
            <a:avLst/>
            <a:gdLst/>
            <a:ahLst/>
            <a:rect l="l" t="t" r="r" b="b"/>
            <a:pathLst>
              <a:path w="141357" h="141357">
                <a:moveTo>
                  <a:pt x="61926" y="-690"/>
                </a:moveTo>
                <a:cubicBezTo>
                  <a:pt x="67393" y="-3838"/>
                  <a:pt x="74129" y="-3838"/>
                  <a:pt x="79596" y="-690"/>
                </a:cubicBezTo>
                <a:lnTo>
                  <a:pt x="128160" y="27333"/>
                </a:lnTo>
                <a:cubicBezTo>
                  <a:pt x="133626" y="30480"/>
                  <a:pt x="136994" y="36333"/>
                  <a:pt x="136994" y="42628"/>
                </a:cubicBezTo>
                <a:lnTo>
                  <a:pt x="136994" y="98673"/>
                </a:lnTo>
                <a:cubicBezTo>
                  <a:pt x="136994" y="104996"/>
                  <a:pt x="133626" y="110821"/>
                  <a:pt x="128160" y="113969"/>
                </a:cubicBezTo>
                <a:lnTo>
                  <a:pt x="79596" y="142047"/>
                </a:lnTo>
                <a:cubicBezTo>
                  <a:pt x="74129" y="145194"/>
                  <a:pt x="67393" y="145194"/>
                  <a:pt x="61926" y="142047"/>
                </a:cubicBezTo>
                <a:lnTo>
                  <a:pt x="13390" y="114024"/>
                </a:lnTo>
                <a:cubicBezTo>
                  <a:pt x="7924" y="110877"/>
                  <a:pt x="4555" y="105023"/>
                  <a:pt x="4555" y="98729"/>
                </a:cubicBezTo>
                <a:lnTo>
                  <a:pt x="4555" y="42683"/>
                </a:lnTo>
                <a:cubicBezTo>
                  <a:pt x="4555" y="36361"/>
                  <a:pt x="7924" y="30535"/>
                  <a:pt x="13390" y="27388"/>
                </a:cubicBezTo>
                <a:lnTo>
                  <a:pt x="61926" y="-690"/>
                </a:lnTo>
                <a:close/>
                <a:moveTo>
                  <a:pt x="119297" y="98701"/>
                </a:moveTo>
                <a:lnTo>
                  <a:pt x="119297" y="52843"/>
                </a:lnTo>
                <a:lnTo>
                  <a:pt x="79596" y="75758"/>
                </a:lnTo>
                <a:lnTo>
                  <a:pt x="79596" y="121616"/>
                </a:lnTo>
                <a:lnTo>
                  <a:pt x="119297" y="98701"/>
                </a:lnTo>
                <a:close/>
              </a:path>
            </a:pathLst>
          </a:custGeom>
          <a:solidFill>
            <a:srgbClr val="8fb7ac"/>
          </a:solidFill>
          <a:ln w="0">
            <a:noFill/>
          </a:ln>
        </p:spPr>
        <p:style>
          <a:lnRef idx="0"/>
          <a:fillRef idx="0"/>
          <a:effectRef idx="0"/>
          <a:fontRef idx="minor"/>
        </p:style>
      </p:sp>
      <p:sp>
        <p:nvSpPr>
          <p:cNvPr id="220" name="Text 12"/>
          <p:cNvSpPr/>
          <p:nvPr/>
        </p:nvSpPr>
        <p:spPr>
          <a:xfrm>
            <a:off x="4487040" y="2915640"/>
            <a:ext cx="3250440" cy="210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2f3e3b"/>
                </a:solidFill>
                <a:latin typeface="Quattrocento Sans"/>
                <a:ea typeface="Quattrocento Sans"/>
              </a:rPr>
              <a:t>Dead Wood</a:t>
            </a:r>
            <a:endParaRPr b="0" lang="en-HK" sz="1110" spc="-1" strike="noStrike">
              <a:latin typeface="Arial"/>
            </a:endParaRPr>
          </a:p>
        </p:txBody>
      </p:sp>
      <p:sp>
        <p:nvSpPr>
          <p:cNvPr id="221" name="Text 13"/>
          <p:cNvSpPr/>
          <p:nvPr/>
        </p:nvSpPr>
        <p:spPr>
          <a:xfrm>
            <a:off x="4310280" y="3198240"/>
            <a:ext cx="3418200" cy="352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5f6f6b"/>
                </a:solidFill>
                <a:latin typeface="Quattrocento Sans"/>
                <a:ea typeface="Quattrocento Sans"/>
              </a:rPr>
              <a:t>Critical for saproxylic beetles, fungi, and cavity-nesting birds. Decay stages create temporal niches.</a:t>
            </a:r>
            <a:endParaRPr b="0" lang="en-HK" sz="980" spc="-1" strike="noStrike">
              <a:latin typeface="Arial"/>
            </a:endParaRPr>
          </a:p>
        </p:txBody>
      </p:sp>
      <p:sp>
        <p:nvSpPr>
          <p:cNvPr id="222" name="Shape 14"/>
          <p:cNvSpPr/>
          <p:nvPr/>
        </p:nvSpPr>
        <p:spPr>
          <a:xfrm>
            <a:off x="529920" y="3763440"/>
            <a:ext cx="3568680" cy="847080"/>
          </a:xfrm>
          <a:custGeom>
            <a:avLst/>
            <a:gdLst/>
            <a:ah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5f6f6b">
              <a:alpha val="10000"/>
            </a:srgbClr>
          </a:solidFill>
          <a:ln w="0">
            <a:noFill/>
          </a:ln>
        </p:spPr>
        <p:style>
          <a:lnRef idx="0"/>
          <a:fillRef idx="0"/>
          <a:effectRef idx="0"/>
          <a:fontRef idx="minor"/>
        </p:style>
      </p:sp>
      <p:sp>
        <p:nvSpPr>
          <p:cNvPr id="223" name="Shape 15"/>
          <p:cNvSpPr/>
          <p:nvPr/>
        </p:nvSpPr>
        <p:spPr>
          <a:xfrm>
            <a:off x="653760" y="3904920"/>
            <a:ext cx="140400" cy="140400"/>
          </a:xfrm>
          <a:custGeom>
            <a:avLst/>
            <a:gdLst/>
            <a:ahLst/>
            <a:rect l="l" t="t" r="r" b="b"/>
            <a:pathLst>
              <a:path w="141357" h="141357">
                <a:moveTo>
                  <a:pt x="76697" y="2374"/>
                </a:moveTo>
                <a:cubicBezTo>
                  <a:pt x="73301" y="-773"/>
                  <a:pt x="68055" y="-773"/>
                  <a:pt x="64687" y="2374"/>
                </a:cubicBezTo>
                <a:lnTo>
                  <a:pt x="2844" y="59800"/>
                </a:lnTo>
                <a:cubicBezTo>
                  <a:pt x="193" y="62285"/>
                  <a:pt x="-690" y="66123"/>
                  <a:pt x="635" y="69491"/>
                </a:cubicBezTo>
                <a:cubicBezTo>
                  <a:pt x="1960" y="72859"/>
                  <a:pt x="5190" y="75096"/>
                  <a:pt x="8835" y="75096"/>
                </a:cubicBezTo>
                <a:lnTo>
                  <a:pt x="13252" y="75096"/>
                </a:lnTo>
                <a:lnTo>
                  <a:pt x="13252" y="123687"/>
                </a:lnTo>
                <a:cubicBezTo>
                  <a:pt x="13252" y="133433"/>
                  <a:pt x="21176" y="141357"/>
                  <a:pt x="30922" y="141357"/>
                </a:cubicBezTo>
                <a:lnTo>
                  <a:pt x="110435" y="141357"/>
                </a:lnTo>
                <a:cubicBezTo>
                  <a:pt x="120181" y="141357"/>
                  <a:pt x="128104" y="133433"/>
                  <a:pt x="128104" y="123687"/>
                </a:cubicBezTo>
                <a:lnTo>
                  <a:pt x="128104" y="75096"/>
                </a:lnTo>
                <a:lnTo>
                  <a:pt x="132522" y="75096"/>
                </a:lnTo>
                <a:cubicBezTo>
                  <a:pt x="136166" y="75096"/>
                  <a:pt x="139424" y="72859"/>
                  <a:pt x="140749" y="69491"/>
                </a:cubicBezTo>
                <a:cubicBezTo>
                  <a:pt x="142074" y="66123"/>
                  <a:pt x="141191" y="62258"/>
                  <a:pt x="138540" y="59800"/>
                </a:cubicBezTo>
                <a:lnTo>
                  <a:pt x="76697" y="2374"/>
                </a:lnTo>
                <a:close/>
                <a:moveTo>
                  <a:pt x="66261" y="88348"/>
                </a:moveTo>
                <a:lnTo>
                  <a:pt x="75096" y="88348"/>
                </a:lnTo>
                <a:cubicBezTo>
                  <a:pt x="82412" y="88348"/>
                  <a:pt x="88348" y="94284"/>
                  <a:pt x="88348" y="101600"/>
                </a:cubicBezTo>
                <a:lnTo>
                  <a:pt x="88348" y="128104"/>
                </a:lnTo>
                <a:lnTo>
                  <a:pt x="53009" y="128104"/>
                </a:lnTo>
                <a:lnTo>
                  <a:pt x="53009" y="101600"/>
                </a:lnTo>
                <a:cubicBezTo>
                  <a:pt x="53009" y="94284"/>
                  <a:pt x="58945" y="88348"/>
                  <a:pt x="66261" y="88348"/>
                </a:cubicBezTo>
                <a:close/>
              </a:path>
            </a:pathLst>
          </a:custGeom>
          <a:solidFill>
            <a:srgbClr val="5f6f6b"/>
          </a:solidFill>
          <a:ln w="0">
            <a:noFill/>
          </a:ln>
        </p:spPr>
        <p:style>
          <a:lnRef idx="0"/>
          <a:fillRef idx="0"/>
          <a:effectRef idx="0"/>
          <a:fontRef idx="minor"/>
        </p:style>
      </p:sp>
      <p:sp>
        <p:nvSpPr>
          <p:cNvPr id="224" name="Text 16"/>
          <p:cNvSpPr/>
          <p:nvPr/>
        </p:nvSpPr>
        <p:spPr>
          <a:xfrm>
            <a:off x="812880" y="3869640"/>
            <a:ext cx="3250440" cy="210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2f3e3b"/>
                </a:solidFill>
                <a:latin typeface="Quattrocento Sans"/>
                <a:ea typeface="Quattrocento Sans"/>
              </a:rPr>
              <a:t>Tree Cavities</a:t>
            </a:r>
            <a:endParaRPr b="0" lang="en-HK" sz="1110" spc="-1" strike="noStrike">
              <a:latin typeface="Arial"/>
            </a:endParaRPr>
          </a:p>
        </p:txBody>
      </p:sp>
      <p:sp>
        <p:nvSpPr>
          <p:cNvPr id="225" name="Text 17"/>
          <p:cNvSpPr/>
          <p:nvPr/>
        </p:nvSpPr>
        <p:spPr>
          <a:xfrm>
            <a:off x="636120" y="4152240"/>
            <a:ext cx="3418200" cy="352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5f6f6b"/>
                </a:solidFill>
                <a:latin typeface="Quattrocento Sans"/>
                <a:ea typeface="Quattrocento Sans"/>
              </a:rPr>
              <a:t>Rot holes and woodpecker cavities provide nesting sites for birds, mammals, and insects.</a:t>
            </a:r>
            <a:endParaRPr b="0" lang="en-HK" sz="980" spc="-1" strike="noStrike">
              <a:latin typeface="Arial"/>
            </a:endParaRPr>
          </a:p>
        </p:txBody>
      </p:sp>
      <p:sp>
        <p:nvSpPr>
          <p:cNvPr id="226" name="Shape 18"/>
          <p:cNvSpPr/>
          <p:nvPr/>
        </p:nvSpPr>
        <p:spPr>
          <a:xfrm>
            <a:off x="4204440" y="3763440"/>
            <a:ext cx="3568680" cy="847080"/>
          </a:xfrm>
          <a:custGeom>
            <a:avLst/>
            <a:gdLst/>
            <a:ah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4c8a7a">
              <a:alpha val="10000"/>
            </a:srgbClr>
          </a:solidFill>
          <a:ln w="0">
            <a:noFill/>
          </a:ln>
        </p:spPr>
        <p:style>
          <a:lnRef idx="0"/>
          <a:fillRef idx="0"/>
          <a:effectRef idx="0"/>
          <a:fontRef idx="minor"/>
        </p:style>
      </p:sp>
      <p:sp>
        <p:nvSpPr>
          <p:cNvPr id="227" name="Shape 19"/>
          <p:cNvSpPr/>
          <p:nvPr/>
        </p:nvSpPr>
        <p:spPr>
          <a:xfrm>
            <a:off x="4345920" y="3904920"/>
            <a:ext cx="104760" cy="140400"/>
          </a:xfrm>
          <a:custGeom>
            <a:avLst/>
            <a:gdLst/>
            <a:ahLst/>
            <a:rect l="l" t="t" r="r" b="b"/>
            <a:pathLst>
              <a:path w="106017" h="141357">
                <a:moveTo>
                  <a:pt x="53009" y="141357"/>
                </a:moveTo>
                <a:cubicBezTo>
                  <a:pt x="23743" y="141357"/>
                  <a:pt x="0" y="117613"/>
                  <a:pt x="0" y="88348"/>
                </a:cubicBezTo>
                <a:cubicBezTo>
                  <a:pt x="0" y="63169"/>
                  <a:pt x="35947" y="12672"/>
                  <a:pt x="45996" y="-966"/>
                </a:cubicBezTo>
                <a:cubicBezTo>
                  <a:pt x="47625" y="-3175"/>
                  <a:pt x="50193" y="-4417"/>
                  <a:pt x="52953" y="-4417"/>
                </a:cubicBezTo>
                <a:lnTo>
                  <a:pt x="53064" y="-4417"/>
                </a:lnTo>
                <a:cubicBezTo>
                  <a:pt x="55825" y="-4417"/>
                  <a:pt x="58392" y="-3175"/>
                  <a:pt x="60021" y="-966"/>
                </a:cubicBezTo>
                <a:cubicBezTo>
                  <a:pt x="70071" y="12672"/>
                  <a:pt x="106017" y="63169"/>
                  <a:pt x="106017" y="88348"/>
                </a:cubicBezTo>
                <a:cubicBezTo>
                  <a:pt x="106017" y="117613"/>
                  <a:pt x="82274" y="141357"/>
                  <a:pt x="53009" y="141357"/>
                </a:cubicBezTo>
                <a:close/>
                <a:moveTo>
                  <a:pt x="30922" y="86139"/>
                </a:moveTo>
                <a:cubicBezTo>
                  <a:pt x="30922" y="82467"/>
                  <a:pt x="27968" y="79513"/>
                  <a:pt x="24296" y="79513"/>
                </a:cubicBezTo>
                <a:cubicBezTo>
                  <a:pt x="20624" y="79513"/>
                  <a:pt x="17670" y="82467"/>
                  <a:pt x="17670" y="86139"/>
                </a:cubicBezTo>
                <a:cubicBezTo>
                  <a:pt x="17670" y="106873"/>
                  <a:pt x="34483" y="123687"/>
                  <a:pt x="55217" y="123687"/>
                </a:cubicBezTo>
                <a:cubicBezTo>
                  <a:pt x="58889" y="123687"/>
                  <a:pt x="61843" y="120733"/>
                  <a:pt x="61843" y="117061"/>
                </a:cubicBezTo>
                <a:cubicBezTo>
                  <a:pt x="61843" y="113389"/>
                  <a:pt x="58889" y="110435"/>
                  <a:pt x="55217" y="110435"/>
                </a:cubicBezTo>
                <a:cubicBezTo>
                  <a:pt x="41800" y="110435"/>
                  <a:pt x="30922" y="99557"/>
                  <a:pt x="30922" y="86139"/>
                </a:cubicBezTo>
                <a:close/>
              </a:path>
            </a:pathLst>
          </a:custGeom>
          <a:solidFill>
            <a:srgbClr val="4c8a7a"/>
          </a:solidFill>
          <a:ln w="0">
            <a:noFill/>
          </a:ln>
        </p:spPr>
        <p:style>
          <a:lnRef idx="0"/>
          <a:fillRef idx="0"/>
          <a:effectRef idx="0"/>
          <a:fontRef idx="minor"/>
        </p:style>
      </p:sp>
      <p:sp>
        <p:nvSpPr>
          <p:cNvPr id="228" name="Text 20"/>
          <p:cNvSpPr/>
          <p:nvPr/>
        </p:nvSpPr>
        <p:spPr>
          <a:xfrm>
            <a:off x="4487040" y="3869640"/>
            <a:ext cx="3250440" cy="210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2f3e3b"/>
                </a:solidFill>
                <a:latin typeface="Quattrocento Sans"/>
                <a:ea typeface="Quattrocento Sans"/>
              </a:rPr>
              <a:t>Moist Microsites</a:t>
            </a:r>
            <a:endParaRPr b="0" lang="en-HK" sz="1110" spc="-1" strike="noStrike">
              <a:latin typeface="Arial"/>
            </a:endParaRPr>
          </a:p>
        </p:txBody>
      </p:sp>
      <p:sp>
        <p:nvSpPr>
          <p:cNvPr id="229" name="Text 21"/>
          <p:cNvSpPr/>
          <p:nvPr/>
        </p:nvSpPr>
        <p:spPr>
          <a:xfrm>
            <a:off x="4310280" y="4152240"/>
            <a:ext cx="3418200" cy="352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5f6f6b"/>
                </a:solidFill>
                <a:latin typeface="Quattrocento Sans"/>
                <a:ea typeface="Quattrocento Sans"/>
              </a:rPr>
              <a:t>Support bryophytes and moisture-dependent species. Critical in fragmented landscapes.</a:t>
            </a:r>
            <a:endParaRPr b="0" lang="en-HK" sz="980" spc="-1" strike="noStrike">
              <a:latin typeface="Arial"/>
            </a:endParaRPr>
          </a:p>
        </p:txBody>
      </p:sp>
      <p:sp>
        <p:nvSpPr>
          <p:cNvPr id="230" name="Shape 22"/>
          <p:cNvSpPr/>
          <p:nvPr/>
        </p:nvSpPr>
        <p:spPr>
          <a:xfrm>
            <a:off x="353520" y="4929840"/>
            <a:ext cx="7597440" cy="1394640"/>
          </a:xfrm>
          <a:custGeom>
            <a:avLst/>
            <a:gdLst/>
            <a:ahLst/>
            <a:rect l="l" t="t" r="r" b="b"/>
            <a:pathLst>
              <a:path w="7597913" h="1395896">
                <a:moveTo>
                  <a:pt x="106018" y="0"/>
                </a:moveTo>
                <a:lnTo>
                  <a:pt x="7491895" y="0"/>
                </a:lnTo>
                <a:cubicBezTo>
                  <a:pt x="7550447" y="0"/>
                  <a:pt x="7597913" y="47466"/>
                  <a:pt x="7597913" y="106018"/>
                </a:cubicBezTo>
                <a:lnTo>
                  <a:pt x="7597913" y="1289877"/>
                </a:lnTo>
                <a:cubicBezTo>
                  <a:pt x="7597913" y="1348430"/>
                  <a:pt x="7550447" y="1395896"/>
                  <a:pt x="7491895" y="1395896"/>
                </a:cubicBezTo>
                <a:lnTo>
                  <a:pt x="106018" y="1395896"/>
                </a:lnTo>
                <a:cubicBezTo>
                  <a:pt x="47466" y="1395896"/>
                  <a:pt x="0" y="1348430"/>
                  <a:pt x="0" y="1289877"/>
                </a:cubicBezTo>
                <a:lnTo>
                  <a:pt x="0" y="106018"/>
                </a:lnTo>
                <a:cubicBezTo>
                  <a:pt x="0" y="47505"/>
                  <a:pt x="47505" y="0"/>
                  <a:pt x="106018" y="0"/>
                </a:cubicBezTo>
                <a:close/>
              </a:path>
            </a:pathLst>
          </a:custGeom>
          <a:solidFill>
            <a:srgbClr val="ffffff"/>
          </a:solidFill>
          <a:ln w="0">
            <a:noFill/>
          </a:ln>
          <a:effectLst>
            <a:outerShdw algn="bl" blurRad="26640" dir="5400000" dist="9000" kx="0" ky="0" rotWithShape="0" sx="100000" sy="100000">
              <a:srgbClr val="000000">
                <a:alpha val="10000"/>
              </a:srgbClr>
            </a:outerShdw>
          </a:effectLst>
        </p:spPr>
        <p:style>
          <a:lnRef idx="0"/>
          <a:fillRef idx="0"/>
          <a:effectRef idx="0"/>
          <a:fontRef idx="minor"/>
        </p:style>
      </p:sp>
      <p:sp>
        <p:nvSpPr>
          <p:cNvPr id="231" name="Text 23"/>
          <p:cNvSpPr/>
          <p:nvPr/>
        </p:nvSpPr>
        <p:spPr>
          <a:xfrm>
            <a:off x="529920" y="5106600"/>
            <a:ext cx="7332480" cy="24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90" spc="-1" strike="noStrike">
                <a:solidFill>
                  <a:srgbClr val="2f3e3b"/>
                </a:solidFill>
                <a:latin typeface="Sorts Mill Goudy"/>
                <a:ea typeface="Sorts Mill Goudy"/>
              </a:rPr>
              <a:t>Habitat Continuity Importance</a:t>
            </a:r>
            <a:endParaRPr b="0" lang="en-HK" sz="1390" spc="-1" strike="noStrike">
              <a:latin typeface="Arial"/>
            </a:endParaRPr>
          </a:p>
        </p:txBody>
      </p:sp>
      <p:sp>
        <p:nvSpPr>
          <p:cNvPr id="232" name="Text 24"/>
          <p:cNvSpPr/>
          <p:nvPr/>
        </p:nvSpPr>
        <p:spPr>
          <a:xfrm>
            <a:off x="529920" y="5459760"/>
            <a:ext cx="7314840" cy="687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1f2a28"/>
                </a:solidFill>
                <a:latin typeface="Quattrocento Sans"/>
                <a:ea typeface="Quattrocento Sans"/>
              </a:rPr>
              <a:t>Studies of epiphytic lichens in fragmented temperate forests reveal that </a:t>
            </a:r>
            <a:r>
              <a:rPr b="1" lang="en-US" sz="1110" spc="-1" strike="noStrike">
                <a:solidFill>
                  <a:srgbClr val="1f2a28"/>
                </a:solidFill>
                <a:latin typeface="Quattrocento Sans"/>
                <a:ea typeface="Quattrocento Sans"/>
              </a:rPr>
              <a:t>spatiotemporal habitat continuity</a:t>
            </a:r>
            <a:r>
              <a:rPr b="0" lang="en-US" sz="1110" spc="-1" strike="noStrike">
                <a:solidFill>
                  <a:srgbClr val="1f2a28"/>
                </a:solidFill>
                <a:latin typeface="Quattrocento Sans"/>
                <a:ea typeface="Quattrocento Sans"/>
              </a:rPr>
              <a:t> is crucial for maintaining species-rich communities. Hotspots of diversity capture substantial portions of regional species pools but require ongoing protection to ensure long-term persistence.</a:t>
            </a:r>
            <a:endParaRPr b="0" lang="en-HK" sz="1110" spc="-1" strike="noStrike">
              <a:latin typeface="Arial"/>
            </a:endParaRPr>
          </a:p>
        </p:txBody>
      </p:sp>
      <p:sp>
        <p:nvSpPr>
          <p:cNvPr id="233" name="Shape 25"/>
          <p:cNvSpPr/>
          <p:nvPr/>
        </p:nvSpPr>
        <p:spPr>
          <a:xfrm>
            <a:off x="8125560" y="1449000"/>
            <a:ext cx="3709800" cy="1624680"/>
          </a:xfrm>
          <a:custGeom>
            <a:avLst/>
            <a:gdLst/>
            <a:ahLst/>
            <a:rect l="l" t="t" r="r" b="b"/>
            <a:pathLst>
              <a:path w="3710609" h="1625600">
                <a:moveTo>
                  <a:pt x="106022" y="0"/>
                </a:moveTo>
                <a:lnTo>
                  <a:pt x="3604587" y="0"/>
                </a:lnTo>
                <a:cubicBezTo>
                  <a:pt x="3663141" y="0"/>
                  <a:pt x="3710609" y="47468"/>
                  <a:pt x="3710609" y="106022"/>
                </a:cubicBezTo>
                <a:lnTo>
                  <a:pt x="3710609" y="1519578"/>
                </a:lnTo>
                <a:cubicBezTo>
                  <a:pt x="3710609" y="1578132"/>
                  <a:pt x="3663141" y="1625600"/>
                  <a:pt x="3604587" y="1625600"/>
                </a:cubicBezTo>
                <a:lnTo>
                  <a:pt x="106022" y="1625600"/>
                </a:lnTo>
                <a:cubicBezTo>
                  <a:pt x="47468" y="1625600"/>
                  <a:pt x="0" y="1578132"/>
                  <a:pt x="0" y="1519578"/>
                </a:cubicBezTo>
                <a:lnTo>
                  <a:pt x="0" y="106022"/>
                </a:lnTo>
                <a:cubicBezTo>
                  <a:pt x="0" y="47507"/>
                  <a:pt x="47507" y="0"/>
                  <a:pt x="106022" y="0"/>
                </a:cubicBezTo>
                <a:close/>
              </a:path>
            </a:pathLst>
          </a:custGeom>
          <a:solidFill>
            <a:srgbClr val="4c8a7a"/>
          </a:solidFill>
          <a:ln w="0">
            <a:noFill/>
          </a:ln>
        </p:spPr>
        <p:style>
          <a:lnRef idx="0"/>
          <a:fillRef idx="0"/>
          <a:effectRef idx="0"/>
          <a:fontRef idx="minor"/>
        </p:style>
      </p:sp>
      <p:sp>
        <p:nvSpPr>
          <p:cNvPr id="234" name="Text 26"/>
          <p:cNvSpPr/>
          <p:nvPr/>
        </p:nvSpPr>
        <p:spPr>
          <a:xfrm>
            <a:off x="8302680" y="1625760"/>
            <a:ext cx="3435840" cy="246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ffffff"/>
                </a:solidFill>
                <a:latin typeface="Sorts Mill Goudy"/>
                <a:ea typeface="Sorts Mill Goudy"/>
              </a:rPr>
              <a:t>Key Finding</a:t>
            </a:r>
            <a:endParaRPr b="0" lang="en-HK" sz="1250" spc="-1" strike="noStrike">
              <a:latin typeface="Arial"/>
            </a:endParaRPr>
          </a:p>
        </p:txBody>
      </p:sp>
      <p:sp>
        <p:nvSpPr>
          <p:cNvPr id="235" name="Text 27"/>
          <p:cNvSpPr/>
          <p:nvPr/>
        </p:nvSpPr>
        <p:spPr>
          <a:xfrm>
            <a:off x="8302680" y="1978920"/>
            <a:ext cx="3427200" cy="917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ffffff"/>
                </a:solidFill>
                <a:latin typeface="Quattrocento Sans"/>
                <a:ea typeface="Quattrocento Sans"/>
              </a:rPr>
              <a:t>Microhabitat heterogeneity in unmanaged forests (mean = 15 types) exceeds that in managed forests (mean = 12 types), explaining higher biodiversity in natural stands.</a:t>
            </a:r>
            <a:endParaRPr b="0" lang="en-HK" sz="1110" spc="-1" strike="noStrike">
              <a:latin typeface="Arial"/>
            </a:endParaRPr>
          </a:p>
        </p:txBody>
      </p:sp>
      <p:sp>
        <p:nvSpPr>
          <p:cNvPr id="236" name="Shape 28"/>
          <p:cNvSpPr/>
          <p:nvPr/>
        </p:nvSpPr>
        <p:spPr>
          <a:xfrm>
            <a:off x="8125560" y="3215880"/>
            <a:ext cx="3709800" cy="2189880"/>
          </a:xfrm>
          <a:custGeom>
            <a:avLst/>
            <a:gdLst/>
            <a:ahLst/>
            <a:rect l="l" t="t" r="r" b="b"/>
            <a:pathLst>
              <a:path w="3710609" h="2191026">
                <a:moveTo>
                  <a:pt x="106024" y="0"/>
                </a:moveTo>
                <a:lnTo>
                  <a:pt x="3604585" y="0"/>
                </a:lnTo>
                <a:cubicBezTo>
                  <a:pt x="3663140" y="0"/>
                  <a:pt x="3710609" y="47468"/>
                  <a:pt x="3710609" y="106024"/>
                </a:cubicBezTo>
                <a:lnTo>
                  <a:pt x="3710609" y="2085002"/>
                </a:lnTo>
                <a:cubicBezTo>
                  <a:pt x="3710609" y="2143558"/>
                  <a:pt x="3663140" y="2191026"/>
                  <a:pt x="3604585" y="2191026"/>
                </a:cubicBezTo>
                <a:lnTo>
                  <a:pt x="106024" y="2191026"/>
                </a:lnTo>
                <a:cubicBezTo>
                  <a:pt x="47468" y="2191026"/>
                  <a:pt x="0" y="2143558"/>
                  <a:pt x="0" y="2085002"/>
                </a:cubicBezTo>
                <a:lnTo>
                  <a:pt x="0" y="106024"/>
                </a:lnTo>
                <a:cubicBezTo>
                  <a:pt x="0" y="47508"/>
                  <a:pt x="47508" y="0"/>
                  <a:pt x="106024" y="0"/>
                </a:cubicBezTo>
                <a:close/>
              </a:path>
            </a:pathLst>
          </a:custGeom>
          <a:solidFill>
            <a:srgbClr val="ffffff"/>
          </a:solidFill>
          <a:ln w="0">
            <a:noFill/>
          </a:ln>
          <a:effectLst>
            <a:outerShdw algn="bl" blurRad="26640" dir="5400000" dist="9000" kx="0" ky="0" rotWithShape="0" sx="100000" sy="100000">
              <a:srgbClr val="000000">
                <a:alpha val="10000"/>
              </a:srgbClr>
            </a:outerShdw>
          </a:effectLst>
        </p:spPr>
        <p:style>
          <a:lnRef idx="0"/>
          <a:fillRef idx="0"/>
          <a:effectRef idx="0"/>
          <a:fontRef idx="minor"/>
        </p:style>
      </p:sp>
      <p:sp>
        <p:nvSpPr>
          <p:cNvPr id="237" name="Text 29"/>
          <p:cNvSpPr/>
          <p:nvPr/>
        </p:nvSpPr>
        <p:spPr>
          <a:xfrm>
            <a:off x="8302680" y="3392640"/>
            <a:ext cx="3435840" cy="246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2f3e3b"/>
                </a:solidFill>
                <a:latin typeface="Sorts Mill Goudy"/>
                <a:ea typeface="Sorts Mill Goudy"/>
              </a:rPr>
              <a:t>Research Insights</a:t>
            </a:r>
            <a:endParaRPr b="0" lang="en-HK" sz="1250" spc="-1" strike="noStrike">
              <a:latin typeface="Arial"/>
            </a:endParaRPr>
          </a:p>
        </p:txBody>
      </p:sp>
      <p:sp>
        <p:nvSpPr>
          <p:cNvPr id="238" name="Shape 30"/>
          <p:cNvSpPr/>
          <p:nvPr/>
        </p:nvSpPr>
        <p:spPr>
          <a:xfrm>
            <a:off x="8285040" y="3781440"/>
            <a:ext cx="140400" cy="140400"/>
          </a:xfrm>
          <a:custGeom>
            <a:avLst/>
            <a:gdLst/>
            <a:ahLst/>
            <a:rect l="l" t="t" r="r" b="b"/>
            <a:pathLst>
              <a:path w="141357" h="141357">
                <a:moveTo>
                  <a:pt x="48591" y="0"/>
                </a:moveTo>
                <a:cubicBezTo>
                  <a:pt x="41275" y="0"/>
                  <a:pt x="35339" y="5936"/>
                  <a:pt x="35339" y="13252"/>
                </a:cubicBezTo>
                <a:lnTo>
                  <a:pt x="35339" y="70678"/>
                </a:lnTo>
                <a:cubicBezTo>
                  <a:pt x="35339" y="77995"/>
                  <a:pt x="41275" y="83930"/>
                  <a:pt x="48591" y="83930"/>
                </a:cubicBezTo>
                <a:lnTo>
                  <a:pt x="66261" y="83930"/>
                </a:lnTo>
                <a:cubicBezTo>
                  <a:pt x="73577" y="83930"/>
                  <a:pt x="79513" y="77995"/>
                  <a:pt x="79513" y="70678"/>
                </a:cubicBezTo>
                <a:lnTo>
                  <a:pt x="79513" y="53009"/>
                </a:lnTo>
                <a:lnTo>
                  <a:pt x="88348" y="53009"/>
                </a:lnTo>
                <a:cubicBezTo>
                  <a:pt x="107867" y="53009"/>
                  <a:pt x="123687" y="68828"/>
                  <a:pt x="123687" y="88348"/>
                </a:cubicBezTo>
                <a:cubicBezTo>
                  <a:pt x="123687" y="107867"/>
                  <a:pt x="107867" y="123687"/>
                  <a:pt x="88348" y="123687"/>
                </a:cubicBezTo>
                <a:lnTo>
                  <a:pt x="8835" y="123687"/>
                </a:lnTo>
                <a:cubicBezTo>
                  <a:pt x="3948" y="123687"/>
                  <a:pt x="0" y="127635"/>
                  <a:pt x="0" y="132522"/>
                </a:cubicBezTo>
                <a:cubicBezTo>
                  <a:pt x="0" y="137408"/>
                  <a:pt x="3948" y="141357"/>
                  <a:pt x="8835" y="141357"/>
                </a:cubicBezTo>
                <a:lnTo>
                  <a:pt x="132522" y="141357"/>
                </a:lnTo>
                <a:cubicBezTo>
                  <a:pt x="137408" y="141357"/>
                  <a:pt x="141357" y="137408"/>
                  <a:pt x="141357" y="132522"/>
                </a:cubicBezTo>
                <a:cubicBezTo>
                  <a:pt x="141357" y="127635"/>
                  <a:pt x="137408" y="123687"/>
                  <a:pt x="132522" y="123687"/>
                </a:cubicBezTo>
                <a:lnTo>
                  <a:pt x="127856" y="123687"/>
                </a:lnTo>
                <a:cubicBezTo>
                  <a:pt x="136249" y="114300"/>
                  <a:pt x="141357" y="101931"/>
                  <a:pt x="141357" y="88348"/>
                </a:cubicBezTo>
                <a:cubicBezTo>
                  <a:pt x="141357" y="59083"/>
                  <a:pt x="117613" y="35339"/>
                  <a:pt x="88348" y="35339"/>
                </a:cubicBezTo>
                <a:lnTo>
                  <a:pt x="79513" y="35339"/>
                </a:lnTo>
                <a:lnTo>
                  <a:pt x="79513" y="13252"/>
                </a:lnTo>
                <a:cubicBezTo>
                  <a:pt x="79513" y="5936"/>
                  <a:pt x="73577" y="0"/>
                  <a:pt x="66261" y="0"/>
                </a:cubicBezTo>
                <a:lnTo>
                  <a:pt x="48591" y="0"/>
                </a:lnTo>
                <a:close/>
                <a:moveTo>
                  <a:pt x="33130" y="97183"/>
                </a:moveTo>
                <a:cubicBezTo>
                  <a:pt x="29458" y="97183"/>
                  <a:pt x="26504" y="100137"/>
                  <a:pt x="26504" y="103809"/>
                </a:cubicBezTo>
                <a:cubicBezTo>
                  <a:pt x="26504" y="107481"/>
                  <a:pt x="29458" y="110435"/>
                  <a:pt x="33130" y="110435"/>
                </a:cubicBezTo>
                <a:lnTo>
                  <a:pt x="81722" y="110435"/>
                </a:lnTo>
                <a:cubicBezTo>
                  <a:pt x="85394" y="110435"/>
                  <a:pt x="88348" y="107481"/>
                  <a:pt x="88348" y="103809"/>
                </a:cubicBezTo>
                <a:cubicBezTo>
                  <a:pt x="88348" y="100137"/>
                  <a:pt x="85394" y="97183"/>
                  <a:pt x="81722" y="97183"/>
                </a:cubicBezTo>
                <a:lnTo>
                  <a:pt x="33130" y="97183"/>
                </a:lnTo>
                <a:close/>
              </a:path>
            </a:pathLst>
          </a:custGeom>
          <a:solidFill>
            <a:srgbClr val="4c8a7a"/>
          </a:solidFill>
          <a:ln w="0">
            <a:noFill/>
          </a:ln>
        </p:spPr>
        <p:style>
          <a:lnRef idx="0"/>
          <a:fillRef idx="0"/>
          <a:effectRef idx="0"/>
          <a:fontRef idx="minor"/>
        </p:style>
      </p:sp>
      <p:sp>
        <p:nvSpPr>
          <p:cNvPr id="239" name="Text 31"/>
          <p:cNvSpPr/>
          <p:nvPr/>
        </p:nvSpPr>
        <p:spPr>
          <a:xfrm>
            <a:off x="8483400" y="3745800"/>
            <a:ext cx="3241800" cy="423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Amphibian communities can change abruptly across microclimate gradients of only a few meters</a:t>
            </a:r>
            <a:endParaRPr b="0" lang="en-HK" sz="1110" spc="-1" strike="noStrike">
              <a:latin typeface="Arial"/>
            </a:endParaRPr>
          </a:p>
        </p:txBody>
      </p:sp>
      <p:sp>
        <p:nvSpPr>
          <p:cNvPr id="240" name="Shape 32"/>
          <p:cNvSpPr/>
          <p:nvPr/>
        </p:nvSpPr>
        <p:spPr>
          <a:xfrm>
            <a:off x="8285040" y="4311360"/>
            <a:ext cx="140400" cy="140400"/>
          </a:xfrm>
          <a:custGeom>
            <a:avLst/>
            <a:gdLst/>
            <a:ahLst/>
            <a:rect l="l" t="t" r="r" b="b"/>
            <a:pathLst>
              <a:path w="141357" h="141357">
                <a:moveTo>
                  <a:pt x="48591" y="0"/>
                </a:moveTo>
                <a:cubicBezTo>
                  <a:pt x="41275" y="0"/>
                  <a:pt x="35339" y="5936"/>
                  <a:pt x="35339" y="13252"/>
                </a:cubicBezTo>
                <a:lnTo>
                  <a:pt x="35339" y="70678"/>
                </a:lnTo>
                <a:cubicBezTo>
                  <a:pt x="35339" y="77995"/>
                  <a:pt x="41275" y="83930"/>
                  <a:pt x="48591" y="83930"/>
                </a:cubicBezTo>
                <a:lnTo>
                  <a:pt x="66261" y="83930"/>
                </a:lnTo>
                <a:cubicBezTo>
                  <a:pt x="73577" y="83930"/>
                  <a:pt x="79513" y="77995"/>
                  <a:pt x="79513" y="70678"/>
                </a:cubicBezTo>
                <a:lnTo>
                  <a:pt x="79513" y="53009"/>
                </a:lnTo>
                <a:lnTo>
                  <a:pt x="88348" y="53009"/>
                </a:lnTo>
                <a:cubicBezTo>
                  <a:pt x="107867" y="53009"/>
                  <a:pt x="123687" y="68828"/>
                  <a:pt x="123687" y="88348"/>
                </a:cubicBezTo>
                <a:cubicBezTo>
                  <a:pt x="123687" y="107867"/>
                  <a:pt x="107867" y="123687"/>
                  <a:pt x="88348" y="123687"/>
                </a:cubicBezTo>
                <a:lnTo>
                  <a:pt x="8835" y="123687"/>
                </a:lnTo>
                <a:cubicBezTo>
                  <a:pt x="3948" y="123687"/>
                  <a:pt x="0" y="127635"/>
                  <a:pt x="0" y="132522"/>
                </a:cubicBezTo>
                <a:cubicBezTo>
                  <a:pt x="0" y="137408"/>
                  <a:pt x="3948" y="141357"/>
                  <a:pt x="8835" y="141357"/>
                </a:cubicBezTo>
                <a:lnTo>
                  <a:pt x="132522" y="141357"/>
                </a:lnTo>
                <a:cubicBezTo>
                  <a:pt x="137408" y="141357"/>
                  <a:pt x="141357" y="137408"/>
                  <a:pt x="141357" y="132522"/>
                </a:cubicBezTo>
                <a:cubicBezTo>
                  <a:pt x="141357" y="127635"/>
                  <a:pt x="137408" y="123687"/>
                  <a:pt x="132522" y="123687"/>
                </a:cubicBezTo>
                <a:lnTo>
                  <a:pt x="127856" y="123687"/>
                </a:lnTo>
                <a:cubicBezTo>
                  <a:pt x="136249" y="114300"/>
                  <a:pt x="141357" y="101931"/>
                  <a:pt x="141357" y="88348"/>
                </a:cubicBezTo>
                <a:cubicBezTo>
                  <a:pt x="141357" y="59083"/>
                  <a:pt x="117613" y="35339"/>
                  <a:pt x="88348" y="35339"/>
                </a:cubicBezTo>
                <a:lnTo>
                  <a:pt x="79513" y="35339"/>
                </a:lnTo>
                <a:lnTo>
                  <a:pt x="79513" y="13252"/>
                </a:lnTo>
                <a:cubicBezTo>
                  <a:pt x="79513" y="5936"/>
                  <a:pt x="73577" y="0"/>
                  <a:pt x="66261" y="0"/>
                </a:cubicBezTo>
                <a:lnTo>
                  <a:pt x="48591" y="0"/>
                </a:lnTo>
                <a:close/>
                <a:moveTo>
                  <a:pt x="33130" y="97183"/>
                </a:moveTo>
                <a:cubicBezTo>
                  <a:pt x="29458" y="97183"/>
                  <a:pt x="26504" y="100137"/>
                  <a:pt x="26504" y="103809"/>
                </a:cubicBezTo>
                <a:cubicBezTo>
                  <a:pt x="26504" y="107481"/>
                  <a:pt x="29458" y="110435"/>
                  <a:pt x="33130" y="110435"/>
                </a:cubicBezTo>
                <a:lnTo>
                  <a:pt x="81722" y="110435"/>
                </a:lnTo>
                <a:cubicBezTo>
                  <a:pt x="85394" y="110435"/>
                  <a:pt x="88348" y="107481"/>
                  <a:pt x="88348" y="103809"/>
                </a:cubicBezTo>
                <a:cubicBezTo>
                  <a:pt x="88348" y="100137"/>
                  <a:pt x="85394" y="97183"/>
                  <a:pt x="81722" y="97183"/>
                </a:cubicBezTo>
                <a:lnTo>
                  <a:pt x="33130" y="97183"/>
                </a:lnTo>
                <a:close/>
              </a:path>
            </a:pathLst>
          </a:custGeom>
          <a:solidFill>
            <a:srgbClr val="4c8a7a"/>
          </a:solidFill>
          <a:ln w="0">
            <a:noFill/>
          </a:ln>
        </p:spPr>
        <p:style>
          <a:lnRef idx="0"/>
          <a:fillRef idx="0"/>
          <a:effectRef idx="0"/>
          <a:fontRef idx="minor"/>
        </p:style>
      </p:sp>
      <p:sp>
        <p:nvSpPr>
          <p:cNvPr id="241" name="Text 33"/>
          <p:cNvSpPr/>
          <p:nvPr/>
        </p:nvSpPr>
        <p:spPr>
          <a:xfrm>
            <a:off x="8483400" y="4276080"/>
            <a:ext cx="3241800" cy="423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Old-growth stands offer higher substrate density, quality, and diversity for epiphytes</a:t>
            </a:r>
            <a:endParaRPr b="0" lang="en-HK" sz="1110" spc="-1" strike="noStrike">
              <a:latin typeface="Arial"/>
            </a:endParaRPr>
          </a:p>
        </p:txBody>
      </p:sp>
      <p:sp>
        <p:nvSpPr>
          <p:cNvPr id="242" name="Shape 34"/>
          <p:cNvSpPr/>
          <p:nvPr/>
        </p:nvSpPr>
        <p:spPr>
          <a:xfrm>
            <a:off x="8289720" y="4841640"/>
            <a:ext cx="140400" cy="140400"/>
          </a:xfrm>
          <a:custGeom>
            <a:avLst/>
            <a:gdLst/>
            <a:ahLst/>
            <a:rect l="l" t="t" r="r" b="b"/>
            <a:pathLst>
              <a:path w="141357" h="141357">
                <a:moveTo>
                  <a:pt x="48591" y="0"/>
                </a:moveTo>
                <a:cubicBezTo>
                  <a:pt x="41275" y="0"/>
                  <a:pt x="35339" y="5936"/>
                  <a:pt x="35339" y="13252"/>
                </a:cubicBezTo>
                <a:lnTo>
                  <a:pt x="35339" y="70678"/>
                </a:lnTo>
                <a:cubicBezTo>
                  <a:pt x="35339" y="77995"/>
                  <a:pt x="41275" y="83930"/>
                  <a:pt x="48591" y="83930"/>
                </a:cubicBezTo>
                <a:lnTo>
                  <a:pt x="66261" y="83930"/>
                </a:lnTo>
                <a:cubicBezTo>
                  <a:pt x="73577" y="83930"/>
                  <a:pt x="79513" y="77995"/>
                  <a:pt x="79513" y="70678"/>
                </a:cubicBezTo>
                <a:lnTo>
                  <a:pt x="79513" y="53009"/>
                </a:lnTo>
                <a:lnTo>
                  <a:pt x="88348" y="53009"/>
                </a:lnTo>
                <a:cubicBezTo>
                  <a:pt x="107867" y="53009"/>
                  <a:pt x="123687" y="68828"/>
                  <a:pt x="123687" y="88348"/>
                </a:cubicBezTo>
                <a:cubicBezTo>
                  <a:pt x="123687" y="107867"/>
                  <a:pt x="107867" y="123687"/>
                  <a:pt x="88348" y="123687"/>
                </a:cubicBezTo>
                <a:lnTo>
                  <a:pt x="8835" y="123687"/>
                </a:lnTo>
                <a:cubicBezTo>
                  <a:pt x="3948" y="123687"/>
                  <a:pt x="0" y="127635"/>
                  <a:pt x="0" y="132522"/>
                </a:cubicBezTo>
                <a:cubicBezTo>
                  <a:pt x="0" y="137408"/>
                  <a:pt x="3948" y="141357"/>
                  <a:pt x="8835" y="141357"/>
                </a:cubicBezTo>
                <a:lnTo>
                  <a:pt x="132522" y="141357"/>
                </a:lnTo>
                <a:cubicBezTo>
                  <a:pt x="137408" y="141357"/>
                  <a:pt x="141357" y="137408"/>
                  <a:pt x="141357" y="132522"/>
                </a:cubicBezTo>
                <a:cubicBezTo>
                  <a:pt x="141357" y="127635"/>
                  <a:pt x="137408" y="123687"/>
                  <a:pt x="132522" y="123687"/>
                </a:cubicBezTo>
                <a:lnTo>
                  <a:pt x="127856" y="123687"/>
                </a:lnTo>
                <a:cubicBezTo>
                  <a:pt x="136249" y="114300"/>
                  <a:pt x="141357" y="101931"/>
                  <a:pt x="141357" y="88348"/>
                </a:cubicBezTo>
                <a:cubicBezTo>
                  <a:pt x="141357" y="59083"/>
                  <a:pt x="117613" y="35339"/>
                  <a:pt x="88348" y="35339"/>
                </a:cubicBezTo>
                <a:lnTo>
                  <a:pt x="79513" y="35339"/>
                </a:lnTo>
                <a:lnTo>
                  <a:pt x="79513" y="13252"/>
                </a:lnTo>
                <a:cubicBezTo>
                  <a:pt x="79513" y="5936"/>
                  <a:pt x="73577" y="0"/>
                  <a:pt x="66261" y="0"/>
                </a:cubicBezTo>
                <a:lnTo>
                  <a:pt x="48591" y="0"/>
                </a:lnTo>
                <a:close/>
                <a:moveTo>
                  <a:pt x="33130" y="97183"/>
                </a:moveTo>
                <a:cubicBezTo>
                  <a:pt x="29458" y="97183"/>
                  <a:pt x="26504" y="100137"/>
                  <a:pt x="26504" y="103809"/>
                </a:cubicBezTo>
                <a:cubicBezTo>
                  <a:pt x="26504" y="107481"/>
                  <a:pt x="29458" y="110435"/>
                  <a:pt x="33130" y="110435"/>
                </a:cubicBezTo>
                <a:lnTo>
                  <a:pt x="81722" y="110435"/>
                </a:lnTo>
                <a:cubicBezTo>
                  <a:pt x="85394" y="110435"/>
                  <a:pt x="88348" y="107481"/>
                  <a:pt x="88348" y="103809"/>
                </a:cubicBezTo>
                <a:cubicBezTo>
                  <a:pt x="88348" y="100137"/>
                  <a:pt x="85394" y="97183"/>
                  <a:pt x="81722" y="97183"/>
                </a:cubicBezTo>
                <a:lnTo>
                  <a:pt x="33130" y="97183"/>
                </a:lnTo>
                <a:close/>
              </a:path>
            </a:pathLst>
          </a:custGeom>
          <a:solidFill>
            <a:srgbClr val="4c8a7a"/>
          </a:solidFill>
          <a:ln w="0">
            <a:noFill/>
          </a:ln>
        </p:spPr>
        <p:style>
          <a:lnRef idx="0"/>
          <a:fillRef idx="0"/>
          <a:effectRef idx="0"/>
          <a:fontRef idx="minor"/>
        </p:style>
      </p:sp>
      <p:sp>
        <p:nvSpPr>
          <p:cNvPr id="243" name="Text 35"/>
          <p:cNvSpPr/>
          <p:nvPr/>
        </p:nvSpPr>
        <p:spPr>
          <a:xfrm>
            <a:off x="8490240" y="4806000"/>
            <a:ext cx="3241800" cy="423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Veteran trees host unique microhabitats including rot holes and dead branches</a:t>
            </a:r>
            <a:endParaRPr b="0" lang="en-HK" sz="1110" spc="-1" strike="noStrike">
              <a:latin typeface="Arial"/>
            </a:endParaRPr>
          </a:p>
        </p:txBody>
      </p:sp>
      <p:sp>
        <p:nvSpPr>
          <p:cNvPr id="244" name="Shape 36"/>
          <p:cNvSpPr/>
          <p:nvPr/>
        </p:nvSpPr>
        <p:spPr>
          <a:xfrm>
            <a:off x="8125560" y="5548320"/>
            <a:ext cx="3709800" cy="1094400"/>
          </a:xfrm>
          <a:custGeom>
            <a:avLst/>
            <a:gdLst/>
            <a:ahLst/>
            <a:rect l="l" t="t" r="r" b="b"/>
            <a:pathLst>
              <a:path w="3710609" h="1095513">
                <a:moveTo>
                  <a:pt x="106013" y="0"/>
                </a:moveTo>
                <a:lnTo>
                  <a:pt x="3604596" y="0"/>
                </a:lnTo>
                <a:cubicBezTo>
                  <a:pt x="3663145" y="0"/>
                  <a:pt x="3710609" y="47464"/>
                  <a:pt x="3710609" y="106013"/>
                </a:cubicBezTo>
                <a:lnTo>
                  <a:pt x="3710609" y="989500"/>
                </a:lnTo>
                <a:cubicBezTo>
                  <a:pt x="3710609" y="1048049"/>
                  <a:pt x="3663145" y="1095513"/>
                  <a:pt x="3604596" y="1095513"/>
                </a:cubicBezTo>
                <a:lnTo>
                  <a:pt x="106013" y="1095513"/>
                </a:lnTo>
                <a:cubicBezTo>
                  <a:pt x="47464" y="1095513"/>
                  <a:pt x="0" y="1048049"/>
                  <a:pt x="0" y="989500"/>
                </a:cubicBezTo>
                <a:lnTo>
                  <a:pt x="0" y="106013"/>
                </a:lnTo>
                <a:cubicBezTo>
                  <a:pt x="0" y="47503"/>
                  <a:pt x="47503" y="0"/>
                  <a:pt x="106013" y="0"/>
                </a:cubicBezTo>
                <a:close/>
              </a:path>
            </a:pathLst>
          </a:custGeom>
          <a:solidFill>
            <a:srgbClr val="2f3e3b"/>
          </a:solidFill>
          <a:ln w="0">
            <a:noFill/>
          </a:ln>
        </p:spPr>
        <p:style>
          <a:lnRef idx="0"/>
          <a:fillRef idx="0"/>
          <a:effectRef idx="0"/>
          <a:fontRef idx="minor"/>
        </p:style>
      </p:sp>
      <p:sp>
        <p:nvSpPr>
          <p:cNvPr id="245" name="Text 37"/>
          <p:cNvSpPr/>
          <p:nvPr/>
        </p:nvSpPr>
        <p:spPr>
          <a:xfrm>
            <a:off x="8187840" y="5689440"/>
            <a:ext cx="3586320" cy="352440"/>
          </a:xfrm>
          <a:prstGeom prst="rect">
            <a:avLst/>
          </a:prstGeom>
          <a:noFill/>
          <a:ln w="0">
            <a:noFill/>
          </a:ln>
        </p:spPr>
        <p:style>
          <a:lnRef idx="0"/>
          <a:fillRef idx="0"/>
          <a:effectRef idx="0"/>
          <a:fontRef idx="minor"/>
        </p:style>
        <p:txBody>
          <a:bodyPr lIns="0" rIns="0" tIns="0" bIns="0" anchor="ctr">
            <a:noAutofit/>
          </a:bodyPr>
          <a:p>
            <a:pPr algn="ctr">
              <a:lnSpc>
                <a:spcPct val="90000"/>
              </a:lnSpc>
              <a:buNone/>
            </a:pPr>
            <a:r>
              <a:rPr b="1" lang="en-US" sz="2510" spc="-1" strike="noStrike">
                <a:solidFill>
                  <a:srgbClr val="ffffff"/>
                </a:solidFill>
                <a:latin typeface="Sorts Mill Goudy"/>
                <a:ea typeface="Sorts Mill Goudy"/>
              </a:rPr>
              <a:t>19</a:t>
            </a:r>
            <a:endParaRPr b="0" lang="en-HK" sz="2510" spc="-1" strike="noStrike">
              <a:latin typeface="Arial"/>
            </a:endParaRPr>
          </a:p>
        </p:txBody>
      </p:sp>
      <p:sp>
        <p:nvSpPr>
          <p:cNvPr id="246" name="Text 38"/>
          <p:cNvSpPr/>
          <p:nvPr/>
        </p:nvSpPr>
        <p:spPr>
          <a:xfrm>
            <a:off x="8232120" y="6078240"/>
            <a:ext cx="3497760" cy="2109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110" spc="-1" strike="noStrike">
                <a:solidFill>
                  <a:srgbClr val="ffffff"/>
                </a:solidFill>
                <a:latin typeface="Quattrocento Sans"/>
                <a:ea typeface="Quattrocento Sans"/>
              </a:rPr>
              <a:t>Microhabitat Types Identified</a:t>
            </a:r>
            <a:endParaRPr b="0" lang="en-HK" sz="1110" spc="-1" strike="noStrike">
              <a:latin typeface="Arial"/>
            </a:endParaRPr>
          </a:p>
        </p:txBody>
      </p:sp>
      <p:sp>
        <p:nvSpPr>
          <p:cNvPr id="247" name="Text 39"/>
          <p:cNvSpPr/>
          <p:nvPr/>
        </p:nvSpPr>
        <p:spPr>
          <a:xfrm>
            <a:off x="8236440" y="6325560"/>
            <a:ext cx="3489120" cy="1756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80" spc="-1" strike="noStrike">
                <a:solidFill>
                  <a:srgbClr val="ffffff">
                    <a:alpha val="75000"/>
                  </a:srgbClr>
                </a:solidFill>
                <a:latin typeface="Quattrocento Sans"/>
                <a:ea typeface="Quattrocento Sans"/>
              </a:rPr>
              <a:t>in Central European forests</a:t>
            </a:r>
            <a:endParaRPr b="0" lang="en-HK" sz="98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248" name="Text 0"/>
          <p:cNvSpPr/>
          <p:nvPr/>
        </p:nvSpPr>
        <p:spPr>
          <a:xfrm>
            <a:off x="349200" y="349200"/>
            <a:ext cx="11554920" cy="173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60" spc="89" strike="noStrike">
                <a:solidFill>
                  <a:srgbClr val="8fb7ac"/>
                </a:solidFill>
                <a:latin typeface="Quattrocento Sans"/>
                <a:ea typeface="Quattrocento Sans"/>
              </a:rPr>
              <a:t>03 • Species Interactions</a:t>
            </a:r>
            <a:endParaRPr b="0" lang="en-HK" sz="960" spc="-1" strike="noStrike">
              <a:latin typeface="Arial"/>
            </a:endParaRPr>
          </a:p>
        </p:txBody>
      </p:sp>
      <p:sp>
        <p:nvSpPr>
          <p:cNvPr id="249" name="Text 1"/>
          <p:cNvSpPr/>
          <p:nvPr/>
        </p:nvSpPr>
        <p:spPr>
          <a:xfrm>
            <a:off x="349200" y="593280"/>
            <a:ext cx="11651040" cy="34812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470" spc="-1" strike="noStrike">
                <a:solidFill>
                  <a:srgbClr val="2f3e3b"/>
                </a:solidFill>
                <a:latin typeface="Sorts Mill Goudy"/>
                <a:ea typeface="Sorts Mill Goudy"/>
              </a:rPr>
              <a:t>Competition &amp; Facilitation</a:t>
            </a:r>
            <a:endParaRPr b="0" lang="en-HK" sz="2470" spc="-1" strike="noStrike">
              <a:latin typeface="Arial"/>
            </a:endParaRPr>
          </a:p>
        </p:txBody>
      </p:sp>
      <p:sp>
        <p:nvSpPr>
          <p:cNvPr id="250" name="Text 2"/>
          <p:cNvSpPr/>
          <p:nvPr/>
        </p:nvSpPr>
        <p:spPr>
          <a:xfrm>
            <a:off x="349200" y="1012320"/>
            <a:ext cx="11572200" cy="243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40" spc="-1" strike="noStrike">
                <a:solidFill>
                  <a:srgbClr val="5f6f6b"/>
                </a:solidFill>
                <a:latin typeface="Quattrocento Sans"/>
                <a:ea typeface="Quattrocento Sans"/>
              </a:rPr>
              <a:t>Dual processes structuring forest communities</a:t>
            </a:r>
            <a:endParaRPr b="0" lang="en-HK" sz="1240" spc="-1" strike="noStrike">
              <a:latin typeface="Arial"/>
            </a:endParaRPr>
          </a:p>
        </p:txBody>
      </p:sp>
      <p:sp>
        <p:nvSpPr>
          <p:cNvPr id="251" name="Shape 3"/>
          <p:cNvSpPr/>
          <p:nvPr/>
        </p:nvSpPr>
        <p:spPr>
          <a:xfrm>
            <a:off x="349200" y="1431360"/>
            <a:ext cx="5645880" cy="2424960"/>
          </a:xfrm>
          <a:custGeom>
            <a:avLst/>
            <a:gdLst/>
            <a:ahLst/>
            <a:rect l="l" t="t" r="r" b="b"/>
            <a:pathLst>
              <a:path w="5646545" h="2426182">
                <a:moveTo>
                  <a:pt x="104738" y="0"/>
                </a:moveTo>
                <a:lnTo>
                  <a:pt x="5541807" y="0"/>
                </a:lnTo>
                <a:cubicBezTo>
                  <a:pt x="5599653" y="0"/>
                  <a:pt x="5646545" y="46893"/>
                  <a:pt x="5646545" y="104738"/>
                </a:cubicBezTo>
                <a:lnTo>
                  <a:pt x="5646545" y="2321444"/>
                </a:lnTo>
                <a:cubicBezTo>
                  <a:pt x="5646545" y="2379289"/>
                  <a:pt x="5599653" y="2426182"/>
                  <a:pt x="5541807" y="2426182"/>
                </a:cubicBezTo>
                <a:lnTo>
                  <a:pt x="104738" y="2426182"/>
                </a:lnTo>
                <a:cubicBezTo>
                  <a:pt x="46893" y="2426182"/>
                  <a:pt x="0" y="2379289"/>
                  <a:pt x="0" y="2321444"/>
                </a:cubicBezTo>
                <a:lnTo>
                  <a:pt x="0" y="104738"/>
                </a:lnTo>
                <a:cubicBezTo>
                  <a:pt x="0" y="46932"/>
                  <a:pt x="46932" y="0"/>
                  <a:pt x="104738"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252" name="Shape 4"/>
          <p:cNvSpPr/>
          <p:nvPr/>
        </p:nvSpPr>
        <p:spPr>
          <a:xfrm>
            <a:off x="523800" y="1640880"/>
            <a:ext cx="217080" cy="173520"/>
          </a:xfrm>
          <a:custGeom>
            <a:avLst/>
            <a:gdLst/>
            <a:ahLst/>
            <a:rect l="l" t="t" r="r" b="b"/>
            <a:pathLst>
              <a:path w="218182" h="174545">
                <a:moveTo>
                  <a:pt x="130909" y="10909"/>
                </a:moveTo>
                <a:lnTo>
                  <a:pt x="174545" y="10909"/>
                </a:lnTo>
                <a:cubicBezTo>
                  <a:pt x="180580" y="10909"/>
                  <a:pt x="185455" y="15784"/>
                  <a:pt x="185455" y="21818"/>
                </a:cubicBezTo>
                <a:cubicBezTo>
                  <a:pt x="185455" y="27852"/>
                  <a:pt x="180580" y="32727"/>
                  <a:pt x="174545" y="32727"/>
                </a:cubicBezTo>
                <a:lnTo>
                  <a:pt x="135818" y="32727"/>
                </a:lnTo>
                <a:cubicBezTo>
                  <a:pt x="134045" y="41523"/>
                  <a:pt x="128011" y="48784"/>
                  <a:pt x="120000" y="52261"/>
                </a:cubicBezTo>
                <a:lnTo>
                  <a:pt x="120000" y="152727"/>
                </a:lnTo>
                <a:lnTo>
                  <a:pt x="174545" y="152727"/>
                </a:lnTo>
                <a:cubicBezTo>
                  <a:pt x="180580" y="152727"/>
                  <a:pt x="185455" y="157602"/>
                  <a:pt x="185455" y="163636"/>
                </a:cubicBezTo>
                <a:cubicBezTo>
                  <a:pt x="185455" y="169670"/>
                  <a:pt x="180580" y="174545"/>
                  <a:pt x="174545" y="174545"/>
                </a:cubicBezTo>
                <a:lnTo>
                  <a:pt x="43636" y="174545"/>
                </a:lnTo>
                <a:cubicBezTo>
                  <a:pt x="37602" y="174545"/>
                  <a:pt x="32727" y="169670"/>
                  <a:pt x="32727" y="163636"/>
                </a:cubicBezTo>
                <a:cubicBezTo>
                  <a:pt x="32727" y="157602"/>
                  <a:pt x="37602" y="152727"/>
                  <a:pt x="43636" y="152727"/>
                </a:cubicBezTo>
                <a:lnTo>
                  <a:pt x="98182" y="152727"/>
                </a:lnTo>
                <a:lnTo>
                  <a:pt x="98182" y="52261"/>
                </a:lnTo>
                <a:cubicBezTo>
                  <a:pt x="90170" y="48750"/>
                  <a:pt x="84136" y="41489"/>
                  <a:pt x="82364" y="32727"/>
                </a:cubicBezTo>
                <a:lnTo>
                  <a:pt x="43636" y="32727"/>
                </a:lnTo>
                <a:cubicBezTo>
                  <a:pt x="37602" y="32727"/>
                  <a:pt x="32727" y="27852"/>
                  <a:pt x="32727" y="21818"/>
                </a:cubicBezTo>
                <a:cubicBezTo>
                  <a:pt x="32727" y="15784"/>
                  <a:pt x="37602" y="10909"/>
                  <a:pt x="43636" y="10909"/>
                </a:cubicBezTo>
                <a:lnTo>
                  <a:pt x="87273" y="10909"/>
                </a:lnTo>
                <a:cubicBezTo>
                  <a:pt x="92250" y="4295"/>
                  <a:pt x="100159" y="0"/>
                  <a:pt x="109091" y="0"/>
                </a:cubicBezTo>
                <a:cubicBezTo>
                  <a:pt x="118023" y="0"/>
                  <a:pt x="125932" y="4295"/>
                  <a:pt x="130909" y="10909"/>
                </a:cubicBezTo>
                <a:close/>
                <a:moveTo>
                  <a:pt x="149864" y="109091"/>
                </a:moveTo>
                <a:lnTo>
                  <a:pt x="199227" y="109091"/>
                </a:lnTo>
                <a:lnTo>
                  <a:pt x="174545" y="66750"/>
                </a:lnTo>
                <a:lnTo>
                  <a:pt x="149864" y="109091"/>
                </a:lnTo>
                <a:close/>
                <a:moveTo>
                  <a:pt x="174545" y="141818"/>
                </a:moveTo>
                <a:cubicBezTo>
                  <a:pt x="153102" y="141818"/>
                  <a:pt x="135273" y="130227"/>
                  <a:pt x="131591" y="114920"/>
                </a:cubicBezTo>
                <a:cubicBezTo>
                  <a:pt x="130705" y="111170"/>
                  <a:pt x="131932" y="107318"/>
                  <a:pt x="133875" y="103977"/>
                </a:cubicBezTo>
                <a:lnTo>
                  <a:pt x="166330" y="48341"/>
                </a:lnTo>
                <a:cubicBezTo>
                  <a:pt x="168034" y="45409"/>
                  <a:pt x="171170" y="43636"/>
                  <a:pt x="174545" y="43636"/>
                </a:cubicBezTo>
                <a:cubicBezTo>
                  <a:pt x="177920" y="43636"/>
                  <a:pt x="181057" y="45443"/>
                  <a:pt x="182761" y="48341"/>
                </a:cubicBezTo>
                <a:lnTo>
                  <a:pt x="215216" y="103977"/>
                </a:lnTo>
                <a:cubicBezTo>
                  <a:pt x="217159" y="107318"/>
                  <a:pt x="218386" y="111170"/>
                  <a:pt x="217500" y="114920"/>
                </a:cubicBezTo>
                <a:cubicBezTo>
                  <a:pt x="213818" y="130193"/>
                  <a:pt x="195989" y="141818"/>
                  <a:pt x="174545" y="141818"/>
                </a:cubicBezTo>
                <a:close/>
                <a:moveTo>
                  <a:pt x="43227" y="66750"/>
                </a:moveTo>
                <a:lnTo>
                  <a:pt x="18545" y="109091"/>
                </a:lnTo>
                <a:lnTo>
                  <a:pt x="67943" y="109091"/>
                </a:lnTo>
                <a:lnTo>
                  <a:pt x="43227" y="66750"/>
                </a:lnTo>
                <a:close/>
                <a:moveTo>
                  <a:pt x="307" y="114920"/>
                </a:moveTo>
                <a:cubicBezTo>
                  <a:pt x="-580" y="111170"/>
                  <a:pt x="648" y="107318"/>
                  <a:pt x="2591" y="103977"/>
                </a:cubicBezTo>
                <a:lnTo>
                  <a:pt x="35045" y="48341"/>
                </a:lnTo>
                <a:cubicBezTo>
                  <a:pt x="36750" y="45409"/>
                  <a:pt x="39886" y="43636"/>
                  <a:pt x="43261" y="43636"/>
                </a:cubicBezTo>
                <a:cubicBezTo>
                  <a:pt x="46636" y="43636"/>
                  <a:pt x="49773" y="45443"/>
                  <a:pt x="51477" y="48341"/>
                </a:cubicBezTo>
                <a:lnTo>
                  <a:pt x="83932" y="103977"/>
                </a:lnTo>
                <a:cubicBezTo>
                  <a:pt x="85875" y="107318"/>
                  <a:pt x="87102" y="111170"/>
                  <a:pt x="86216" y="114920"/>
                </a:cubicBezTo>
                <a:cubicBezTo>
                  <a:pt x="82534" y="130193"/>
                  <a:pt x="64705" y="141818"/>
                  <a:pt x="43261" y="141818"/>
                </a:cubicBezTo>
                <a:cubicBezTo>
                  <a:pt x="21818" y="141818"/>
                  <a:pt x="3989" y="130227"/>
                  <a:pt x="307" y="114920"/>
                </a:cubicBezTo>
                <a:close/>
              </a:path>
            </a:pathLst>
          </a:custGeom>
          <a:solidFill>
            <a:srgbClr val="4c8a7a"/>
          </a:solidFill>
          <a:ln w="0">
            <a:noFill/>
          </a:ln>
        </p:spPr>
        <p:style>
          <a:lnRef idx="0"/>
          <a:fillRef idx="0"/>
          <a:effectRef idx="0"/>
          <a:fontRef idx="minor"/>
        </p:style>
      </p:sp>
      <p:sp>
        <p:nvSpPr>
          <p:cNvPr id="253" name="Text 5"/>
          <p:cNvSpPr/>
          <p:nvPr/>
        </p:nvSpPr>
        <p:spPr>
          <a:xfrm>
            <a:off x="741960" y="1605960"/>
            <a:ext cx="5166000" cy="243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70" spc="-1" strike="noStrike">
                <a:solidFill>
                  <a:srgbClr val="2f3e3b"/>
                </a:solidFill>
                <a:latin typeface="Sorts Mill Goudy"/>
                <a:ea typeface="Sorts Mill Goudy"/>
              </a:rPr>
              <a:t>The Stress-Gradient Hypothesis</a:t>
            </a:r>
            <a:endParaRPr b="0" lang="en-HK" sz="1370" spc="-1" strike="noStrike">
              <a:latin typeface="Arial"/>
            </a:endParaRPr>
          </a:p>
        </p:txBody>
      </p:sp>
      <p:sp>
        <p:nvSpPr>
          <p:cNvPr id="254" name="Text 6"/>
          <p:cNvSpPr/>
          <p:nvPr/>
        </p:nvSpPr>
        <p:spPr>
          <a:xfrm>
            <a:off x="523800" y="1954800"/>
            <a:ext cx="5366520" cy="679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00" spc="-1" strike="noStrike">
                <a:solidFill>
                  <a:srgbClr val="1f2a28"/>
                </a:solidFill>
                <a:latin typeface="Quattrocento Sans"/>
                <a:ea typeface="Quattrocento Sans"/>
              </a:rPr>
              <a:t>The </a:t>
            </a:r>
            <a:r>
              <a:rPr b="1" lang="en-US" sz="1100" spc="-1" strike="noStrike">
                <a:solidFill>
                  <a:srgbClr val="1f2a28"/>
                </a:solidFill>
                <a:latin typeface="Quattrocento Sans"/>
                <a:ea typeface="Quattrocento Sans"/>
              </a:rPr>
              <a:t>stress-gradient hypothesis</a:t>
            </a:r>
            <a:r>
              <a:rPr b="0" lang="en-US" sz="1100" spc="-1" strike="noStrike">
                <a:solidFill>
                  <a:srgbClr val="1f2a28"/>
                </a:solidFill>
                <a:latin typeface="Quattrocento Sans"/>
                <a:ea typeface="Quattrocento Sans"/>
              </a:rPr>
              <a:t> predicts that </a:t>
            </a:r>
            <a:r>
              <a:rPr b="0" lang="en-US" sz="1100" spc="-1" strike="noStrike">
                <a:solidFill>
                  <a:srgbClr val="2f3e3b"/>
                </a:solidFill>
                <a:highlight>
                  <a:srgbClr val="8fb7ac"/>
                </a:highlight>
                <a:latin typeface="Quattrocento Sans"/>
                <a:ea typeface="Quattrocento Sans"/>
              </a:rPr>
              <a:t>competitive interactions decrease and facilitation increases under harsh environmental conditions </a:t>
            </a:r>
            <a:r>
              <a:rPr b="0" lang="en-US" sz="1100" spc="-1" strike="noStrike">
                <a:solidFill>
                  <a:srgbClr val="1f2a28"/>
                </a:solidFill>
                <a:latin typeface="Quattrocento Sans"/>
                <a:ea typeface="Quattrocento Sans"/>
              </a:rPr>
              <a:t>. This dynamic shift shapes community assembly across environmental gradients.</a:t>
            </a:r>
            <a:endParaRPr b="0" lang="en-HK" sz="1100" spc="-1" strike="noStrike">
              <a:latin typeface="Arial"/>
            </a:endParaRPr>
          </a:p>
        </p:txBody>
      </p:sp>
      <p:sp>
        <p:nvSpPr>
          <p:cNvPr id="255" name="Shape 7"/>
          <p:cNvSpPr/>
          <p:nvPr/>
        </p:nvSpPr>
        <p:spPr>
          <a:xfrm>
            <a:off x="523800" y="2775240"/>
            <a:ext cx="2574000" cy="906480"/>
          </a:xfrm>
          <a:custGeom>
            <a:avLst/>
            <a:gdLst/>
            <a:ahLst/>
            <a:rect l="l" t="t" r="r" b="b"/>
            <a:pathLst>
              <a:path w="2574545" h="907636">
                <a:moveTo>
                  <a:pt x="69815" y="0"/>
                </a:moveTo>
                <a:lnTo>
                  <a:pt x="2504730" y="0"/>
                </a:lnTo>
                <a:cubicBezTo>
                  <a:pt x="2543262" y="0"/>
                  <a:pt x="2574545" y="31283"/>
                  <a:pt x="2574545" y="69815"/>
                </a:cubicBezTo>
                <a:lnTo>
                  <a:pt x="2574545" y="837821"/>
                </a:lnTo>
                <a:cubicBezTo>
                  <a:pt x="2574545" y="876353"/>
                  <a:pt x="2543262" y="907636"/>
                  <a:pt x="2504730" y="907636"/>
                </a:cubicBezTo>
                <a:lnTo>
                  <a:pt x="69815" y="907636"/>
                </a:lnTo>
                <a:cubicBezTo>
                  <a:pt x="31283" y="907636"/>
                  <a:pt x="0" y="876353"/>
                  <a:pt x="0" y="837821"/>
                </a:cubicBezTo>
                <a:lnTo>
                  <a:pt x="0" y="69815"/>
                </a:lnTo>
                <a:cubicBezTo>
                  <a:pt x="0" y="31283"/>
                  <a:pt x="31283" y="0"/>
                  <a:pt x="69815" y="0"/>
                </a:cubicBezTo>
                <a:close/>
              </a:path>
            </a:pathLst>
          </a:custGeom>
          <a:solidFill>
            <a:srgbClr val="4c8a7a">
              <a:alpha val="10000"/>
            </a:srgbClr>
          </a:solidFill>
          <a:ln w="0">
            <a:noFill/>
          </a:ln>
        </p:spPr>
        <p:style>
          <a:lnRef idx="0"/>
          <a:fillRef idx="0"/>
          <a:effectRef idx="0"/>
          <a:fontRef idx="minor"/>
        </p:style>
      </p:sp>
      <p:sp>
        <p:nvSpPr>
          <p:cNvPr id="256" name="Text 8"/>
          <p:cNvSpPr/>
          <p:nvPr/>
        </p:nvSpPr>
        <p:spPr>
          <a:xfrm>
            <a:off x="663120" y="2914920"/>
            <a:ext cx="2364480" cy="208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00" spc="-1" strike="noStrike">
                <a:solidFill>
                  <a:srgbClr val="2f3e3b"/>
                </a:solidFill>
                <a:latin typeface="Quattrocento Sans"/>
                <a:ea typeface="Quattrocento Sans"/>
              </a:rPr>
              <a:t>Favorable Conditions</a:t>
            </a:r>
            <a:endParaRPr b="0" lang="en-HK" sz="1100" spc="-1" strike="noStrike">
              <a:latin typeface="Arial"/>
            </a:endParaRPr>
          </a:p>
        </p:txBody>
      </p:sp>
      <p:sp>
        <p:nvSpPr>
          <p:cNvPr id="257" name="Text 9"/>
          <p:cNvSpPr/>
          <p:nvPr/>
        </p:nvSpPr>
        <p:spPr>
          <a:xfrm>
            <a:off x="663120" y="3194280"/>
            <a:ext cx="2355480" cy="348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Competition dominates as species vie for abundant resources</a:t>
            </a:r>
            <a:endParaRPr b="0" lang="en-HK" sz="960" spc="-1" strike="noStrike">
              <a:latin typeface="Arial"/>
            </a:endParaRPr>
          </a:p>
        </p:txBody>
      </p:sp>
      <p:sp>
        <p:nvSpPr>
          <p:cNvPr id="258" name="Shape 10"/>
          <p:cNvSpPr/>
          <p:nvPr/>
        </p:nvSpPr>
        <p:spPr>
          <a:xfrm>
            <a:off x="3240720" y="2775240"/>
            <a:ext cx="2574000" cy="906480"/>
          </a:xfrm>
          <a:custGeom>
            <a:avLst/>
            <a:gdLst/>
            <a:ahLst/>
            <a:rect l="l" t="t" r="r" b="b"/>
            <a:pathLst>
              <a:path w="2574545" h="907636">
                <a:moveTo>
                  <a:pt x="69815" y="0"/>
                </a:moveTo>
                <a:lnTo>
                  <a:pt x="2504730" y="0"/>
                </a:lnTo>
                <a:cubicBezTo>
                  <a:pt x="2543262" y="0"/>
                  <a:pt x="2574545" y="31283"/>
                  <a:pt x="2574545" y="69815"/>
                </a:cubicBezTo>
                <a:lnTo>
                  <a:pt x="2574545" y="837821"/>
                </a:lnTo>
                <a:cubicBezTo>
                  <a:pt x="2574545" y="876353"/>
                  <a:pt x="2543262" y="907636"/>
                  <a:pt x="2504730" y="907636"/>
                </a:cubicBezTo>
                <a:lnTo>
                  <a:pt x="69815" y="907636"/>
                </a:lnTo>
                <a:cubicBezTo>
                  <a:pt x="31283" y="907636"/>
                  <a:pt x="0" y="876353"/>
                  <a:pt x="0" y="837821"/>
                </a:cubicBezTo>
                <a:lnTo>
                  <a:pt x="0" y="69815"/>
                </a:lnTo>
                <a:cubicBezTo>
                  <a:pt x="0" y="31283"/>
                  <a:pt x="31283" y="0"/>
                  <a:pt x="69815" y="0"/>
                </a:cubicBezTo>
                <a:close/>
              </a:path>
            </a:pathLst>
          </a:custGeom>
          <a:solidFill>
            <a:srgbClr val="8fb7ac">
              <a:alpha val="10000"/>
            </a:srgbClr>
          </a:solidFill>
          <a:ln w="0">
            <a:noFill/>
          </a:ln>
        </p:spPr>
        <p:style>
          <a:lnRef idx="0"/>
          <a:fillRef idx="0"/>
          <a:effectRef idx="0"/>
          <a:fontRef idx="minor"/>
        </p:style>
      </p:sp>
      <p:sp>
        <p:nvSpPr>
          <p:cNvPr id="259" name="Text 11"/>
          <p:cNvSpPr/>
          <p:nvPr/>
        </p:nvSpPr>
        <p:spPr>
          <a:xfrm>
            <a:off x="3380400" y="2914920"/>
            <a:ext cx="2364480" cy="208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00" spc="-1" strike="noStrike">
                <a:solidFill>
                  <a:srgbClr val="2f3e3b"/>
                </a:solidFill>
                <a:latin typeface="Quattrocento Sans"/>
                <a:ea typeface="Quattrocento Sans"/>
              </a:rPr>
              <a:t>Stressful Conditions</a:t>
            </a:r>
            <a:endParaRPr b="0" lang="en-HK" sz="1100" spc="-1" strike="noStrike">
              <a:latin typeface="Arial"/>
            </a:endParaRPr>
          </a:p>
        </p:txBody>
      </p:sp>
      <p:sp>
        <p:nvSpPr>
          <p:cNvPr id="260" name="Text 12"/>
          <p:cNvSpPr/>
          <p:nvPr/>
        </p:nvSpPr>
        <p:spPr>
          <a:xfrm>
            <a:off x="3380400" y="3194280"/>
            <a:ext cx="2355480" cy="348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Facilitation increases as species benefit from mutual support</a:t>
            </a:r>
            <a:endParaRPr b="0" lang="en-HK" sz="960" spc="-1" strike="noStrike">
              <a:latin typeface="Arial"/>
            </a:endParaRPr>
          </a:p>
        </p:txBody>
      </p:sp>
      <p:sp>
        <p:nvSpPr>
          <p:cNvPr id="261" name="Shape 13"/>
          <p:cNvSpPr/>
          <p:nvPr/>
        </p:nvSpPr>
        <p:spPr>
          <a:xfrm>
            <a:off x="349200" y="3997080"/>
            <a:ext cx="5645880" cy="2687040"/>
          </a:xfrm>
          <a:custGeom>
            <a:avLst/>
            <a:gdLst/>
            <a:ahLst/>
            <a:rect l="l" t="t" r="r" b="b"/>
            <a:pathLst>
              <a:path w="5646545" h="2688000">
                <a:moveTo>
                  <a:pt x="104724" y="0"/>
                </a:moveTo>
                <a:lnTo>
                  <a:pt x="5541821" y="0"/>
                </a:lnTo>
                <a:cubicBezTo>
                  <a:pt x="5599659" y="0"/>
                  <a:pt x="5646545" y="46887"/>
                  <a:pt x="5646545" y="104724"/>
                </a:cubicBezTo>
                <a:lnTo>
                  <a:pt x="5646545" y="2583276"/>
                </a:lnTo>
                <a:cubicBezTo>
                  <a:pt x="5646545" y="2641113"/>
                  <a:pt x="5599659" y="2688000"/>
                  <a:pt x="5541821" y="2688000"/>
                </a:cubicBezTo>
                <a:lnTo>
                  <a:pt x="104724" y="2688000"/>
                </a:lnTo>
                <a:cubicBezTo>
                  <a:pt x="46887" y="2688000"/>
                  <a:pt x="0" y="2641113"/>
                  <a:pt x="0" y="2583276"/>
                </a:cubicBezTo>
                <a:lnTo>
                  <a:pt x="0" y="104724"/>
                </a:lnTo>
                <a:cubicBezTo>
                  <a:pt x="0" y="46925"/>
                  <a:pt x="46925" y="0"/>
                  <a:pt x="104724"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262" name="Text 14"/>
          <p:cNvSpPr/>
          <p:nvPr/>
        </p:nvSpPr>
        <p:spPr>
          <a:xfrm>
            <a:off x="523800" y="4171680"/>
            <a:ext cx="5384160" cy="243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70" spc="-1" strike="noStrike">
                <a:solidFill>
                  <a:srgbClr val="2f3e3b"/>
                </a:solidFill>
                <a:latin typeface="Sorts Mill Goudy"/>
                <a:ea typeface="Sorts Mill Goudy"/>
              </a:rPr>
              <a:t>Interaction Types in Forests</a:t>
            </a:r>
            <a:endParaRPr b="0" lang="en-HK" sz="1370" spc="-1" strike="noStrike">
              <a:latin typeface="Arial"/>
            </a:endParaRPr>
          </a:p>
        </p:txBody>
      </p:sp>
      <p:sp>
        <p:nvSpPr>
          <p:cNvPr id="263" name="Shape 15"/>
          <p:cNvSpPr/>
          <p:nvPr/>
        </p:nvSpPr>
        <p:spPr>
          <a:xfrm>
            <a:off x="523800" y="4520880"/>
            <a:ext cx="5296680" cy="592200"/>
          </a:xfrm>
          <a:custGeom>
            <a:avLst/>
            <a:gdLst/>
            <a:ahLst/>
            <a:rect l="l" t="t" r="r" b="b"/>
            <a:pathLst>
              <a:path w="5297455" h="593455">
                <a:moveTo>
                  <a:pt x="69820" y="0"/>
                </a:moveTo>
                <a:lnTo>
                  <a:pt x="5227635" y="0"/>
                </a:lnTo>
                <a:cubicBezTo>
                  <a:pt x="5266195" y="0"/>
                  <a:pt x="5297455" y="31259"/>
                  <a:pt x="5297455" y="69820"/>
                </a:cubicBezTo>
                <a:lnTo>
                  <a:pt x="5297455" y="523635"/>
                </a:lnTo>
                <a:cubicBezTo>
                  <a:pt x="5297455" y="562195"/>
                  <a:pt x="5266195" y="593455"/>
                  <a:pt x="5227635" y="593455"/>
                </a:cubicBezTo>
                <a:lnTo>
                  <a:pt x="69820" y="593455"/>
                </a:lnTo>
                <a:cubicBezTo>
                  <a:pt x="31259" y="593455"/>
                  <a:pt x="0" y="562195"/>
                  <a:pt x="0" y="523635"/>
                </a:cubicBezTo>
                <a:lnTo>
                  <a:pt x="0" y="69820"/>
                </a:lnTo>
                <a:cubicBezTo>
                  <a:pt x="0" y="31285"/>
                  <a:pt x="31285" y="0"/>
                  <a:pt x="69820" y="0"/>
                </a:cubicBezTo>
                <a:close/>
              </a:path>
            </a:pathLst>
          </a:custGeom>
          <a:solidFill>
            <a:srgbClr val="f5f7f6"/>
          </a:solidFill>
          <a:ln w="0">
            <a:noFill/>
          </a:ln>
        </p:spPr>
        <p:style>
          <a:lnRef idx="0"/>
          <a:fillRef idx="0"/>
          <a:effectRef idx="0"/>
          <a:fontRef idx="minor"/>
        </p:style>
      </p:sp>
      <p:sp>
        <p:nvSpPr>
          <p:cNvPr id="264" name="Shape 16"/>
          <p:cNvSpPr/>
          <p:nvPr/>
        </p:nvSpPr>
        <p:spPr>
          <a:xfrm>
            <a:off x="628200" y="4625280"/>
            <a:ext cx="348120" cy="348120"/>
          </a:xfrm>
          <a:custGeom>
            <a:avLst/>
            <a:gdLst/>
            <a:ah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ffe2e2"/>
          </a:solidFill>
          <a:ln w="0">
            <a:noFill/>
          </a:ln>
        </p:spPr>
        <p:style>
          <a:lnRef idx="0"/>
          <a:fillRef idx="0"/>
          <a:effectRef idx="0"/>
          <a:fontRef idx="minor"/>
        </p:style>
      </p:sp>
      <p:sp>
        <p:nvSpPr>
          <p:cNvPr id="265" name="Shape 17"/>
          <p:cNvSpPr/>
          <p:nvPr/>
        </p:nvSpPr>
        <p:spPr>
          <a:xfrm>
            <a:off x="741960" y="4730040"/>
            <a:ext cx="120960" cy="138600"/>
          </a:xfrm>
          <a:custGeom>
            <a:avLst/>
            <a:gdLst/>
            <a:ahLst/>
            <a:rect l="l" t="t" r="r" b="b"/>
            <a:pathLst>
              <a:path w="122182" h="139636">
                <a:moveTo>
                  <a:pt x="0" y="69818"/>
                </a:moveTo>
                <a:cubicBezTo>
                  <a:pt x="0" y="64991"/>
                  <a:pt x="3900" y="61091"/>
                  <a:pt x="8727" y="61091"/>
                </a:cubicBezTo>
                <a:lnTo>
                  <a:pt x="113455" y="61091"/>
                </a:lnTo>
                <a:cubicBezTo>
                  <a:pt x="118282" y="61091"/>
                  <a:pt x="122182" y="64991"/>
                  <a:pt x="122182" y="69818"/>
                </a:cubicBezTo>
                <a:cubicBezTo>
                  <a:pt x="122182" y="74645"/>
                  <a:pt x="118282" y="78545"/>
                  <a:pt x="113455" y="78545"/>
                </a:cubicBezTo>
                <a:lnTo>
                  <a:pt x="8727" y="78545"/>
                </a:lnTo>
                <a:cubicBezTo>
                  <a:pt x="3900" y="78545"/>
                  <a:pt x="0" y="74645"/>
                  <a:pt x="0" y="69818"/>
                </a:cubicBezTo>
                <a:close/>
              </a:path>
            </a:pathLst>
          </a:custGeom>
          <a:solidFill>
            <a:srgbClr val="e7000b"/>
          </a:solidFill>
          <a:ln w="0">
            <a:noFill/>
          </a:ln>
        </p:spPr>
        <p:style>
          <a:lnRef idx="0"/>
          <a:fillRef idx="0"/>
          <a:effectRef idx="0"/>
          <a:fontRef idx="minor"/>
        </p:style>
      </p:sp>
      <p:sp>
        <p:nvSpPr>
          <p:cNvPr id="266" name="Text 18"/>
          <p:cNvSpPr/>
          <p:nvPr/>
        </p:nvSpPr>
        <p:spPr>
          <a:xfrm>
            <a:off x="1082160" y="4625280"/>
            <a:ext cx="3891600" cy="208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00" spc="-1" strike="noStrike">
                <a:solidFill>
                  <a:srgbClr val="2f3e3b"/>
                </a:solidFill>
                <a:latin typeface="Quattrocento Sans"/>
                <a:ea typeface="Quattrocento Sans"/>
              </a:rPr>
              <a:t>Competition</a:t>
            </a:r>
            <a:endParaRPr b="0" lang="en-HK" sz="1100" spc="-1" strike="noStrike">
              <a:latin typeface="Arial"/>
            </a:endParaRPr>
          </a:p>
        </p:txBody>
      </p:sp>
      <p:sp>
        <p:nvSpPr>
          <p:cNvPr id="267" name="Text 19"/>
          <p:cNvSpPr/>
          <p:nvPr/>
        </p:nvSpPr>
        <p:spPr>
          <a:xfrm>
            <a:off x="1082160" y="4834800"/>
            <a:ext cx="3882960" cy="173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Negative effects on growth/survival; strongest among similar-sized trees</a:t>
            </a:r>
            <a:endParaRPr b="0" lang="en-HK" sz="960" spc="-1" strike="noStrike">
              <a:latin typeface="Arial"/>
            </a:endParaRPr>
          </a:p>
        </p:txBody>
      </p:sp>
      <p:sp>
        <p:nvSpPr>
          <p:cNvPr id="268" name="Shape 20"/>
          <p:cNvSpPr/>
          <p:nvPr/>
        </p:nvSpPr>
        <p:spPr>
          <a:xfrm>
            <a:off x="523800" y="5218920"/>
            <a:ext cx="5296680" cy="592200"/>
          </a:xfrm>
          <a:custGeom>
            <a:avLst/>
            <a:gdLst/>
            <a:ahLst/>
            <a:rect l="l" t="t" r="r" b="b"/>
            <a:pathLst>
              <a:path w="5297455" h="593455">
                <a:moveTo>
                  <a:pt x="69820" y="0"/>
                </a:moveTo>
                <a:lnTo>
                  <a:pt x="5227635" y="0"/>
                </a:lnTo>
                <a:cubicBezTo>
                  <a:pt x="5266195" y="0"/>
                  <a:pt x="5297455" y="31259"/>
                  <a:pt x="5297455" y="69820"/>
                </a:cubicBezTo>
                <a:lnTo>
                  <a:pt x="5297455" y="523635"/>
                </a:lnTo>
                <a:cubicBezTo>
                  <a:pt x="5297455" y="562195"/>
                  <a:pt x="5266195" y="593455"/>
                  <a:pt x="5227635" y="593455"/>
                </a:cubicBezTo>
                <a:lnTo>
                  <a:pt x="69820" y="593455"/>
                </a:lnTo>
                <a:cubicBezTo>
                  <a:pt x="31259" y="593455"/>
                  <a:pt x="0" y="562195"/>
                  <a:pt x="0" y="523635"/>
                </a:cubicBezTo>
                <a:lnTo>
                  <a:pt x="0" y="69820"/>
                </a:lnTo>
                <a:cubicBezTo>
                  <a:pt x="0" y="31285"/>
                  <a:pt x="31285" y="0"/>
                  <a:pt x="69820" y="0"/>
                </a:cubicBezTo>
                <a:close/>
              </a:path>
            </a:pathLst>
          </a:custGeom>
          <a:solidFill>
            <a:srgbClr val="f5f7f6"/>
          </a:solidFill>
          <a:ln w="0">
            <a:noFill/>
          </a:ln>
        </p:spPr>
        <p:style>
          <a:lnRef idx="0"/>
          <a:fillRef idx="0"/>
          <a:effectRef idx="0"/>
          <a:fontRef idx="minor"/>
        </p:style>
      </p:sp>
      <p:sp>
        <p:nvSpPr>
          <p:cNvPr id="269" name="Shape 21"/>
          <p:cNvSpPr/>
          <p:nvPr/>
        </p:nvSpPr>
        <p:spPr>
          <a:xfrm>
            <a:off x="628200" y="5323680"/>
            <a:ext cx="348120" cy="348120"/>
          </a:xfrm>
          <a:custGeom>
            <a:avLst/>
            <a:gdLst/>
            <a:ah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dcfce7"/>
          </a:solidFill>
          <a:ln w="0">
            <a:noFill/>
          </a:ln>
        </p:spPr>
        <p:style>
          <a:lnRef idx="0"/>
          <a:fillRef idx="0"/>
          <a:effectRef idx="0"/>
          <a:fontRef idx="minor"/>
        </p:style>
      </p:sp>
      <p:sp>
        <p:nvSpPr>
          <p:cNvPr id="270" name="Shape 22"/>
          <p:cNvSpPr/>
          <p:nvPr/>
        </p:nvSpPr>
        <p:spPr>
          <a:xfrm>
            <a:off x="741960" y="5428440"/>
            <a:ext cx="120960" cy="138600"/>
          </a:xfrm>
          <a:custGeom>
            <a:avLst/>
            <a:gdLst/>
            <a:ahLst/>
            <a:rect l="l" t="t" r="r" b="b"/>
            <a:pathLst>
              <a:path w="122182" h="139636">
                <a:moveTo>
                  <a:pt x="69818" y="17455"/>
                </a:moveTo>
                <a:cubicBezTo>
                  <a:pt x="69818" y="12627"/>
                  <a:pt x="65918" y="8727"/>
                  <a:pt x="61091" y="8727"/>
                </a:cubicBezTo>
                <a:cubicBezTo>
                  <a:pt x="56264" y="8727"/>
                  <a:pt x="52364" y="12627"/>
                  <a:pt x="52364" y="17455"/>
                </a:cubicBezTo>
                <a:lnTo>
                  <a:pt x="52364" y="61091"/>
                </a:lnTo>
                <a:lnTo>
                  <a:pt x="8727" y="61091"/>
                </a:lnTo>
                <a:cubicBezTo>
                  <a:pt x="3900" y="61091"/>
                  <a:pt x="0" y="64991"/>
                  <a:pt x="0" y="69818"/>
                </a:cubicBezTo>
                <a:cubicBezTo>
                  <a:pt x="0" y="74645"/>
                  <a:pt x="3900" y="78545"/>
                  <a:pt x="8727" y="78545"/>
                </a:cubicBezTo>
                <a:lnTo>
                  <a:pt x="52364" y="78545"/>
                </a:lnTo>
                <a:lnTo>
                  <a:pt x="52364" y="122182"/>
                </a:lnTo>
                <a:cubicBezTo>
                  <a:pt x="52364" y="127009"/>
                  <a:pt x="56264" y="130909"/>
                  <a:pt x="61091" y="130909"/>
                </a:cubicBezTo>
                <a:cubicBezTo>
                  <a:pt x="65918" y="130909"/>
                  <a:pt x="69818" y="127009"/>
                  <a:pt x="69818" y="122182"/>
                </a:cubicBezTo>
                <a:lnTo>
                  <a:pt x="69818" y="78545"/>
                </a:lnTo>
                <a:lnTo>
                  <a:pt x="113455" y="78545"/>
                </a:lnTo>
                <a:cubicBezTo>
                  <a:pt x="118282" y="78545"/>
                  <a:pt x="122182" y="74645"/>
                  <a:pt x="122182" y="69818"/>
                </a:cubicBezTo>
                <a:cubicBezTo>
                  <a:pt x="122182" y="64991"/>
                  <a:pt x="118282" y="61091"/>
                  <a:pt x="113455" y="61091"/>
                </a:cubicBezTo>
                <a:lnTo>
                  <a:pt x="69818" y="61091"/>
                </a:lnTo>
                <a:lnTo>
                  <a:pt x="69818" y="17455"/>
                </a:lnTo>
                <a:close/>
              </a:path>
            </a:pathLst>
          </a:custGeom>
          <a:solidFill>
            <a:srgbClr val="00a63e"/>
          </a:solidFill>
          <a:ln w="0">
            <a:noFill/>
          </a:ln>
        </p:spPr>
        <p:style>
          <a:lnRef idx="0"/>
          <a:fillRef idx="0"/>
          <a:effectRef idx="0"/>
          <a:fontRef idx="minor"/>
        </p:style>
      </p:sp>
      <p:sp>
        <p:nvSpPr>
          <p:cNvPr id="271" name="Text 23"/>
          <p:cNvSpPr/>
          <p:nvPr/>
        </p:nvSpPr>
        <p:spPr>
          <a:xfrm>
            <a:off x="1082160" y="5323680"/>
            <a:ext cx="4101120" cy="208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00" spc="-1" strike="noStrike">
                <a:solidFill>
                  <a:srgbClr val="2f3e3b"/>
                </a:solidFill>
                <a:latin typeface="Quattrocento Sans"/>
                <a:ea typeface="Quattrocento Sans"/>
              </a:rPr>
              <a:t>Facilitation</a:t>
            </a:r>
            <a:endParaRPr b="0" lang="en-HK" sz="1100" spc="-1" strike="noStrike">
              <a:latin typeface="Arial"/>
            </a:endParaRPr>
          </a:p>
        </p:txBody>
      </p:sp>
      <p:sp>
        <p:nvSpPr>
          <p:cNvPr id="272" name="Text 24"/>
          <p:cNvSpPr/>
          <p:nvPr/>
        </p:nvSpPr>
        <p:spPr>
          <a:xfrm>
            <a:off x="1082160" y="5533200"/>
            <a:ext cx="4092480" cy="173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Positive effects; nurse plants, hydraulic redistribution, microclimate buffering</a:t>
            </a:r>
            <a:endParaRPr b="0" lang="en-HK" sz="960" spc="-1" strike="noStrike">
              <a:latin typeface="Arial"/>
            </a:endParaRPr>
          </a:p>
        </p:txBody>
      </p:sp>
      <p:sp>
        <p:nvSpPr>
          <p:cNvPr id="273" name="Shape 25"/>
          <p:cNvSpPr/>
          <p:nvPr/>
        </p:nvSpPr>
        <p:spPr>
          <a:xfrm>
            <a:off x="523800" y="5916960"/>
            <a:ext cx="5296680" cy="592200"/>
          </a:xfrm>
          <a:custGeom>
            <a:avLst/>
            <a:gdLst/>
            <a:ahLst/>
            <a:rect l="l" t="t" r="r" b="b"/>
            <a:pathLst>
              <a:path w="5297455" h="593455">
                <a:moveTo>
                  <a:pt x="69820" y="0"/>
                </a:moveTo>
                <a:lnTo>
                  <a:pt x="5227635" y="0"/>
                </a:lnTo>
                <a:cubicBezTo>
                  <a:pt x="5266195" y="0"/>
                  <a:pt x="5297455" y="31259"/>
                  <a:pt x="5297455" y="69820"/>
                </a:cubicBezTo>
                <a:lnTo>
                  <a:pt x="5297455" y="523635"/>
                </a:lnTo>
                <a:cubicBezTo>
                  <a:pt x="5297455" y="562195"/>
                  <a:pt x="5266195" y="593455"/>
                  <a:pt x="5227635" y="593455"/>
                </a:cubicBezTo>
                <a:lnTo>
                  <a:pt x="69820" y="593455"/>
                </a:lnTo>
                <a:cubicBezTo>
                  <a:pt x="31259" y="593455"/>
                  <a:pt x="0" y="562195"/>
                  <a:pt x="0" y="523635"/>
                </a:cubicBezTo>
                <a:lnTo>
                  <a:pt x="0" y="69820"/>
                </a:lnTo>
                <a:cubicBezTo>
                  <a:pt x="0" y="31285"/>
                  <a:pt x="31285" y="0"/>
                  <a:pt x="69820" y="0"/>
                </a:cubicBezTo>
                <a:close/>
              </a:path>
            </a:pathLst>
          </a:custGeom>
          <a:solidFill>
            <a:srgbClr val="f5f7f6"/>
          </a:solidFill>
          <a:ln w="0">
            <a:noFill/>
          </a:ln>
        </p:spPr>
        <p:style>
          <a:lnRef idx="0"/>
          <a:fillRef idx="0"/>
          <a:effectRef idx="0"/>
          <a:fontRef idx="minor"/>
        </p:style>
      </p:sp>
      <p:sp>
        <p:nvSpPr>
          <p:cNvPr id="274" name="Shape 26"/>
          <p:cNvSpPr/>
          <p:nvPr/>
        </p:nvSpPr>
        <p:spPr>
          <a:xfrm>
            <a:off x="628200" y="6021720"/>
            <a:ext cx="348120" cy="348120"/>
          </a:xfrm>
          <a:custGeom>
            <a:avLst/>
            <a:gdLst/>
            <a:ah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dbeafe"/>
          </a:solidFill>
          <a:ln w="0">
            <a:noFill/>
          </a:ln>
        </p:spPr>
        <p:style>
          <a:lnRef idx="0"/>
          <a:fillRef idx="0"/>
          <a:effectRef idx="0"/>
          <a:fontRef idx="minor"/>
        </p:style>
      </p:sp>
      <p:sp>
        <p:nvSpPr>
          <p:cNvPr id="275" name="Shape 27"/>
          <p:cNvSpPr/>
          <p:nvPr/>
        </p:nvSpPr>
        <p:spPr>
          <a:xfrm>
            <a:off x="732960" y="6126480"/>
            <a:ext cx="138600" cy="138600"/>
          </a:xfrm>
          <a:custGeom>
            <a:avLst/>
            <a:gdLst/>
            <a:ahLst/>
            <a:rect l="l" t="t" r="r" b="b"/>
            <a:pathLst>
              <a:path w="139636" h="139636">
                <a:moveTo>
                  <a:pt x="137073" y="41073"/>
                </a:moveTo>
                <a:lnTo>
                  <a:pt x="110891" y="67255"/>
                </a:lnTo>
                <a:cubicBezTo>
                  <a:pt x="108382" y="69764"/>
                  <a:pt x="104645" y="70500"/>
                  <a:pt x="101373" y="69136"/>
                </a:cubicBezTo>
                <a:cubicBezTo>
                  <a:pt x="98100" y="67773"/>
                  <a:pt x="96000" y="64609"/>
                  <a:pt x="96000" y="61091"/>
                </a:cubicBezTo>
                <a:lnTo>
                  <a:pt x="96000" y="43636"/>
                </a:lnTo>
                <a:lnTo>
                  <a:pt x="8727" y="43636"/>
                </a:lnTo>
                <a:cubicBezTo>
                  <a:pt x="3900" y="43636"/>
                  <a:pt x="0" y="39736"/>
                  <a:pt x="0" y="34909"/>
                </a:cubicBezTo>
                <a:cubicBezTo>
                  <a:pt x="0" y="30082"/>
                  <a:pt x="3900" y="26182"/>
                  <a:pt x="8727" y="26182"/>
                </a:cubicBezTo>
                <a:lnTo>
                  <a:pt x="96000" y="26182"/>
                </a:lnTo>
                <a:lnTo>
                  <a:pt x="96000" y="8727"/>
                </a:lnTo>
                <a:cubicBezTo>
                  <a:pt x="96000" y="5209"/>
                  <a:pt x="98127" y="2018"/>
                  <a:pt x="101400" y="655"/>
                </a:cubicBezTo>
                <a:cubicBezTo>
                  <a:pt x="104673" y="-709"/>
                  <a:pt x="108409" y="55"/>
                  <a:pt x="110918" y="2536"/>
                </a:cubicBezTo>
                <a:lnTo>
                  <a:pt x="137100" y="28718"/>
                </a:lnTo>
                <a:cubicBezTo>
                  <a:pt x="140509" y="32127"/>
                  <a:pt x="140509" y="37664"/>
                  <a:pt x="137100" y="41073"/>
                </a:cubicBezTo>
                <a:close/>
                <a:moveTo>
                  <a:pt x="28718" y="137073"/>
                </a:moveTo>
                <a:lnTo>
                  <a:pt x="2536" y="110891"/>
                </a:lnTo>
                <a:cubicBezTo>
                  <a:pt x="-873" y="107482"/>
                  <a:pt x="-873" y="101945"/>
                  <a:pt x="2536" y="98536"/>
                </a:cubicBezTo>
                <a:lnTo>
                  <a:pt x="28718" y="72355"/>
                </a:lnTo>
                <a:cubicBezTo>
                  <a:pt x="31227" y="69845"/>
                  <a:pt x="34964" y="69109"/>
                  <a:pt x="38236" y="70473"/>
                </a:cubicBezTo>
                <a:cubicBezTo>
                  <a:pt x="41509" y="71836"/>
                  <a:pt x="43636" y="75027"/>
                  <a:pt x="43636" y="78545"/>
                </a:cubicBezTo>
                <a:lnTo>
                  <a:pt x="43636" y="96000"/>
                </a:lnTo>
                <a:lnTo>
                  <a:pt x="130909" y="96000"/>
                </a:lnTo>
                <a:cubicBezTo>
                  <a:pt x="135736" y="96000"/>
                  <a:pt x="139636" y="99900"/>
                  <a:pt x="139636" y="104727"/>
                </a:cubicBezTo>
                <a:cubicBezTo>
                  <a:pt x="139636" y="109555"/>
                  <a:pt x="135736" y="113455"/>
                  <a:pt x="130909" y="113455"/>
                </a:cubicBezTo>
                <a:lnTo>
                  <a:pt x="43636" y="113455"/>
                </a:lnTo>
                <a:lnTo>
                  <a:pt x="43636" y="130909"/>
                </a:lnTo>
                <a:cubicBezTo>
                  <a:pt x="43636" y="134427"/>
                  <a:pt x="41509" y="137618"/>
                  <a:pt x="38236" y="138982"/>
                </a:cubicBezTo>
                <a:cubicBezTo>
                  <a:pt x="34964" y="140345"/>
                  <a:pt x="31227" y="139582"/>
                  <a:pt x="28718" y="137100"/>
                </a:cubicBezTo>
                <a:close/>
              </a:path>
            </a:pathLst>
          </a:custGeom>
          <a:solidFill>
            <a:srgbClr val="155dfc"/>
          </a:solidFill>
          <a:ln w="0">
            <a:noFill/>
          </a:ln>
        </p:spPr>
        <p:style>
          <a:lnRef idx="0"/>
          <a:fillRef idx="0"/>
          <a:effectRef idx="0"/>
          <a:fontRef idx="minor"/>
        </p:style>
      </p:sp>
      <p:sp>
        <p:nvSpPr>
          <p:cNvPr id="276" name="Text 28"/>
          <p:cNvSpPr/>
          <p:nvPr/>
        </p:nvSpPr>
        <p:spPr>
          <a:xfrm>
            <a:off x="1082160" y="6021720"/>
            <a:ext cx="3987720" cy="208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00" spc="-1" strike="noStrike">
                <a:solidFill>
                  <a:srgbClr val="2f3e3b"/>
                </a:solidFill>
                <a:latin typeface="Quattrocento Sans"/>
                <a:ea typeface="Quattrocento Sans"/>
              </a:rPr>
              <a:t>Competitive Reduction</a:t>
            </a:r>
            <a:endParaRPr b="0" lang="en-HK" sz="1100" spc="-1" strike="noStrike">
              <a:latin typeface="Arial"/>
            </a:endParaRPr>
          </a:p>
        </p:txBody>
      </p:sp>
      <p:sp>
        <p:nvSpPr>
          <p:cNvPr id="277" name="Text 29"/>
          <p:cNvSpPr/>
          <p:nvPr/>
        </p:nvSpPr>
        <p:spPr>
          <a:xfrm>
            <a:off x="1082160" y="6231240"/>
            <a:ext cx="3979080" cy="173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Interspecific competition less than intraspecific due to niche differentiation</a:t>
            </a:r>
            <a:endParaRPr b="0" lang="en-HK" sz="960" spc="-1" strike="noStrike">
              <a:latin typeface="Arial"/>
            </a:endParaRPr>
          </a:p>
        </p:txBody>
      </p:sp>
      <p:sp>
        <p:nvSpPr>
          <p:cNvPr id="278" name="Shape 30"/>
          <p:cNvSpPr/>
          <p:nvPr/>
        </p:nvSpPr>
        <p:spPr>
          <a:xfrm>
            <a:off x="6202440" y="1431360"/>
            <a:ext cx="5645880" cy="2233080"/>
          </a:xfrm>
          <a:custGeom>
            <a:avLst/>
            <a:gdLst/>
            <a:ahLst/>
            <a:rect l="l" t="t" r="r" b="b"/>
            <a:pathLst>
              <a:path w="5646545" h="2234182">
                <a:moveTo>
                  <a:pt x="104738" y="0"/>
                </a:moveTo>
                <a:lnTo>
                  <a:pt x="5541807" y="0"/>
                </a:lnTo>
                <a:cubicBezTo>
                  <a:pt x="5599652" y="0"/>
                  <a:pt x="5646545" y="46893"/>
                  <a:pt x="5646545" y="104738"/>
                </a:cubicBezTo>
                <a:lnTo>
                  <a:pt x="5646545" y="2129443"/>
                </a:lnTo>
                <a:cubicBezTo>
                  <a:pt x="5646545" y="2187289"/>
                  <a:pt x="5599652" y="2234182"/>
                  <a:pt x="5541807" y="2234182"/>
                </a:cubicBezTo>
                <a:lnTo>
                  <a:pt x="104738" y="2234182"/>
                </a:lnTo>
                <a:cubicBezTo>
                  <a:pt x="46893" y="2234182"/>
                  <a:pt x="0" y="2187289"/>
                  <a:pt x="0" y="2129443"/>
                </a:cubicBezTo>
                <a:lnTo>
                  <a:pt x="0" y="104738"/>
                </a:lnTo>
                <a:cubicBezTo>
                  <a:pt x="0" y="46932"/>
                  <a:pt x="46932" y="0"/>
                  <a:pt x="104738" y="0"/>
                </a:cubicBezTo>
                <a:close/>
              </a:path>
            </a:pathLst>
          </a:custGeom>
          <a:solidFill>
            <a:srgbClr val="2f3e3b"/>
          </a:solidFill>
          <a:ln w="0">
            <a:noFill/>
          </a:ln>
        </p:spPr>
        <p:style>
          <a:lnRef idx="0"/>
          <a:fillRef idx="0"/>
          <a:effectRef idx="0"/>
          <a:fontRef idx="minor"/>
        </p:style>
      </p:sp>
      <p:sp>
        <p:nvSpPr>
          <p:cNvPr id="279" name="Text 31"/>
          <p:cNvSpPr/>
          <p:nvPr/>
        </p:nvSpPr>
        <p:spPr>
          <a:xfrm>
            <a:off x="6377040" y="1605960"/>
            <a:ext cx="5375160" cy="243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40" spc="-1" strike="noStrike">
                <a:solidFill>
                  <a:srgbClr val="ffffff"/>
                </a:solidFill>
                <a:latin typeface="Sorts Mill Goudy"/>
                <a:ea typeface="Sorts Mill Goudy"/>
              </a:rPr>
              <a:t>Research Evidence: Boreal Forest</a:t>
            </a:r>
            <a:endParaRPr b="0" lang="en-HK" sz="1240" spc="-1" strike="noStrike">
              <a:latin typeface="Arial"/>
            </a:endParaRPr>
          </a:p>
        </p:txBody>
      </p:sp>
      <p:sp>
        <p:nvSpPr>
          <p:cNvPr id="280" name="Text 32"/>
          <p:cNvSpPr/>
          <p:nvPr/>
        </p:nvSpPr>
        <p:spPr>
          <a:xfrm>
            <a:off x="6377040" y="1954800"/>
            <a:ext cx="5366520" cy="452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00" spc="-1" strike="noStrike">
                <a:solidFill>
                  <a:srgbClr val="ffffff"/>
                </a:solidFill>
                <a:latin typeface="Quattrocento Sans"/>
                <a:ea typeface="Quattrocento Sans"/>
              </a:rPr>
              <a:t>Studies in Kanas boreal forest reveal that </a:t>
            </a:r>
            <a:r>
              <a:rPr b="1" lang="en-US" sz="1100" spc="-1" strike="noStrike">
                <a:solidFill>
                  <a:srgbClr val="ffffff"/>
                </a:solidFill>
                <a:latin typeface="Quattrocento Sans"/>
                <a:ea typeface="Quattrocento Sans"/>
              </a:rPr>
              <a:t>positive interactions are more common than competition</a:t>
            </a:r>
            <a:r>
              <a:rPr b="0" lang="en-US" sz="1100" spc="-1" strike="noStrike">
                <a:solidFill>
                  <a:srgbClr val="ffffff"/>
                </a:solidFill>
                <a:latin typeface="Quattrocento Sans"/>
                <a:ea typeface="Quattrocento Sans"/>
              </a:rPr>
              <a:t> for tree survival and growth:</a:t>
            </a:r>
            <a:endParaRPr b="0" lang="en-HK" sz="1100" spc="-1" strike="noStrike">
              <a:latin typeface="Arial"/>
            </a:endParaRPr>
          </a:p>
        </p:txBody>
      </p:sp>
      <p:sp>
        <p:nvSpPr>
          <p:cNvPr id="281" name="Shape 33"/>
          <p:cNvSpPr/>
          <p:nvPr/>
        </p:nvSpPr>
        <p:spPr>
          <a:xfrm>
            <a:off x="6390000" y="2548440"/>
            <a:ext cx="138600" cy="138600"/>
          </a:xfrm>
          <a:custGeom>
            <a:avLst/>
            <a:gdLst/>
            <a:ah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fb7ac"/>
          </a:solidFill>
          <a:ln w="0">
            <a:noFill/>
          </a:ln>
        </p:spPr>
        <p:style>
          <a:lnRef idx="0"/>
          <a:fillRef idx="0"/>
          <a:effectRef idx="0"/>
          <a:fontRef idx="minor"/>
        </p:style>
      </p:sp>
      <p:sp>
        <p:nvSpPr>
          <p:cNvPr id="282" name="Text 34"/>
          <p:cNvSpPr/>
          <p:nvPr/>
        </p:nvSpPr>
        <p:spPr>
          <a:xfrm>
            <a:off x="6616440" y="2513520"/>
            <a:ext cx="5122080" cy="417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00" spc="-1" strike="noStrike">
                <a:solidFill>
                  <a:srgbClr val="ffffff"/>
                </a:solidFill>
                <a:latin typeface="Quattrocento Sans"/>
                <a:ea typeface="Quattrocento Sans"/>
              </a:rPr>
              <a:t>Most intra- and interspecific interactions showed positive or no significant correlations</a:t>
            </a:r>
            <a:endParaRPr b="0" lang="en-HK" sz="1100" spc="-1" strike="noStrike">
              <a:latin typeface="Arial"/>
            </a:endParaRPr>
          </a:p>
        </p:txBody>
      </p:sp>
      <p:sp>
        <p:nvSpPr>
          <p:cNvPr id="283" name="Shape 35"/>
          <p:cNvSpPr/>
          <p:nvPr/>
        </p:nvSpPr>
        <p:spPr>
          <a:xfrm>
            <a:off x="6394680" y="3036960"/>
            <a:ext cx="138600" cy="138600"/>
          </a:xfrm>
          <a:custGeom>
            <a:avLst/>
            <a:gdLst/>
            <a:ah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fb7ac"/>
          </a:solidFill>
          <a:ln w="0">
            <a:noFill/>
          </a:ln>
        </p:spPr>
        <p:style>
          <a:lnRef idx="0"/>
          <a:fillRef idx="0"/>
          <a:effectRef idx="0"/>
          <a:fontRef idx="minor"/>
        </p:style>
      </p:sp>
      <p:sp>
        <p:nvSpPr>
          <p:cNvPr id="284" name="Text 36"/>
          <p:cNvSpPr/>
          <p:nvPr/>
        </p:nvSpPr>
        <p:spPr>
          <a:xfrm>
            <a:off x="6621480" y="3002040"/>
            <a:ext cx="4668480" cy="208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00" spc="-1" strike="noStrike">
                <a:solidFill>
                  <a:srgbClr val="ffffff"/>
                </a:solidFill>
                <a:latin typeface="Quattrocento Sans"/>
                <a:ea typeface="Quattrocento Sans"/>
              </a:rPr>
              <a:t>Facilitation mainly exists between individuals with different shade tolerances</a:t>
            </a:r>
            <a:endParaRPr b="0" lang="en-HK" sz="1100" spc="-1" strike="noStrike">
              <a:latin typeface="Arial"/>
            </a:endParaRPr>
          </a:p>
        </p:txBody>
      </p:sp>
      <p:sp>
        <p:nvSpPr>
          <p:cNvPr id="285" name="Shape 37"/>
          <p:cNvSpPr/>
          <p:nvPr/>
        </p:nvSpPr>
        <p:spPr>
          <a:xfrm>
            <a:off x="6394680" y="3316320"/>
            <a:ext cx="138600" cy="138600"/>
          </a:xfrm>
          <a:custGeom>
            <a:avLst/>
            <a:gdLst/>
            <a:ah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fb7ac"/>
          </a:solidFill>
          <a:ln w="0">
            <a:noFill/>
          </a:ln>
        </p:spPr>
        <p:style>
          <a:lnRef idx="0"/>
          <a:fillRef idx="0"/>
          <a:effectRef idx="0"/>
          <a:fontRef idx="minor"/>
        </p:style>
      </p:sp>
      <p:sp>
        <p:nvSpPr>
          <p:cNvPr id="286" name="Text 38"/>
          <p:cNvSpPr/>
          <p:nvPr/>
        </p:nvSpPr>
        <p:spPr>
          <a:xfrm>
            <a:off x="6621480" y="3281400"/>
            <a:ext cx="3778200" cy="208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00" spc="-1" strike="noStrike">
                <a:solidFill>
                  <a:srgbClr val="ffffff"/>
                </a:solidFill>
                <a:latin typeface="Quattrocento Sans"/>
                <a:ea typeface="Quattrocento Sans"/>
              </a:rPr>
              <a:t>Negative associations less common than positive associations</a:t>
            </a:r>
            <a:endParaRPr b="0" lang="en-HK" sz="1100" spc="-1" strike="noStrike">
              <a:latin typeface="Arial"/>
            </a:endParaRPr>
          </a:p>
        </p:txBody>
      </p:sp>
      <p:sp>
        <p:nvSpPr>
          <p:cNvPr id="287" name="Shape 39"/>
          <p:cNvSpPr/>
          <p:nvPr/>
        </p:nvSpPr>
        <p:spPr>
          <a:xfrm>
            <a:off x="6202440" y="3805200"/>
            <a:ext cx="5645880" cy="1866600"/>
          </a:xfrm>
          <a:custGeom>
            <a:avLst/>
            <a:gdLst/>
            <a:ahLst/>
            <a:rect l="l" t="t" r="r" b="b"/>
            <a:pathLst>
              <a:path w="5646545" h="1867636">
                <a:moveTo>
                  <a:pt x="104718" y="0"/>
                </a:moveTo>
                <a:lnTo>
                  <a:pt x="5541827" y="0"/>
                </a:lnTo>
                <a:cubicBezTo>
                  <a:pt x="5599661" y="0"/>
                  <a:pt x="5646545" y="46884"/>
                  <a:pt x="5646545" y="104718"/>
                </a:cubicBezTo>
                <a:lnTo>
                  <a:pt x="5646545" y="1762918"/>
                </a:lnTo>
                <a:cubicBezTo>
                  <a:pt x="5646545" y="1820752"/>
                  <a:pt x="5599661" y="1867636"/>
                  <a:pt x="5541827" y="1867636"/>
                </a:cubicBezTo>
                <a:lnTo>
                  <a:pt x="104718" y="1867636"/>
                </a:lnTo>
                <a:cubicBezTo>
                  <a:pt x="46884" y="1867636"/>
                  <a:pt x="0" y="1820752"/>
                  <a:pt x="0" y="1762918"/>
                </a:cubicBezTo>
                <a:lnTo>
                  <a:pt x="0" y="104718"/>
                </a:lnTo>
                <a:cubicBezTo>
                  <a:pt x="0" y="46923"/>
                  <a:pt x="46923" y="0"/>
                  <a:pt x="104718"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288" name="Text 40"/>
          <p:cNvSpPr/>
          <p:nvPr/>
        </p:nvSpPr>
        <p:spPr>
          <a:xfrm>
            <a:off x="6377040" y="3979800"/>
            <a:ext cx="5375160" cy="243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40" spc="-1" strike="noStrike">
                <a:solidFill>
                  <a:srgbClr val="2f3e3b"/>
                </a:solidFill>
                <a:latin typeface="Sorts Mill Goudy"/>
                <a:ea typeface="Sorts Mill Goudy"/>
              </a:rPr>
              <a:t>Hydraulic Redistribution Example</a:t>
            </a:r>
            <a:endParaRPr b="0" lang="en-HK" sz="1240" spc="-1" strike="noStrike">
              <a:latin typeface="Arial"/>
            </a:endParaRPr>
          </a:p>
        </p:txBody>
      </p:sp>
      <p:sp>
        <p:nvSpPr>
          <p:cNvPr id="289" name="Text 41"/>
          <p:cNvSpPr/>
          <p:nvPr/>
        </p:nvSpPr>
        <p:spPr>
          <a:xfrm>
            <a:off x="6377040" y="4328640"/>
            <a:ext cx="5366520" cy="679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00" spc="-1" strike="noStrike">
                <a:solidFill>
                  <a:srgbClr val="1f2a28"/>
                </a:solidFill>
                <a:latin typeface="Quattrocento Sans"/>
                <a:ea typeface="Quattrocento Sans"/>
              </a:rPr>
              <a:t>Oak species with deep taproots uptake water and release it in upper soil layers at night, providing additional water for shallow-rooted species like beech—a clear facilitation mechanism.</a:t>
            </a:r>
            <a:endParaRPr b="0" lang="en-HK" sz="1100" spc="-1" strike="noStrike">
              <a:latin typeface="Arial"/>
            </a:endParaRPr>
          </a:p>
        </p:txBody>
      </p:sp>
      <p:sp>
        <p:nvSpPr>
          <p:cNvPr id="290" name="Shape 42"/>
          <p:cNvSpPr/>
          <p:nvPr/>
        </p:nvSpPr>
        <p:spPr>
          <a:xfrm>
            <a:off x="6377040" y="5114160"/>
            <a:ext cx="5296680" cy="383040"/>
          </a:xfrm>
          <a:custGeom>
            <a:avLst/>
            <a:gdLst/>
            <a:ahLst/>
            <a:rect l="l" t="t" r="r" b="b"/>
            <a:pathLst>
              <a:path w="5297455" h="384000">
                <a:moveTo>
                  <a:pt x="69819" y="0"/>
                </a:moveTo>
                <a:lnTo>
                  <a:pt x="5227636" y="0"/>
                </a:lnTo>
                <a:cubicBezTo>
                  <a:pt x="5266196" y="0"/>
                  <a:pt x="5297455" y="31259"/>
                  <a:pt x="5297455" y="69819"/>
                </a:cubicBezTo>
                <a:lnTo>
                  <a:pt x="5297455" y="314181"/>
                </a:lnTo>
                <a:cubicBezTo>
                  <a:pt x="5297455" y="352741"/>
                  <a:pt x="5266196" y="384000"/>
                  <a:pt x="5227636" y="384000"/>
                </a:cubicBezTo>
                <a:lnTo>
                  <a:pt x="69819" y="384000"/>
                </a:lnTo>
                <a:cubicBezTo>
                  <a:pt x="31285" y="384000"/>
                  <a:pt x="0" y="352715"/>
                  <a:pt x="0" y="314181"/>
                </a:cubicBezTo>
                <a:lnTo>
                  <a:pt x="0" y="69819"/>
                </a:lnTo>
                <a:cubicBezTo>
                  <a:pt x="0" y="31285"/>
                  <a:pt x="31285" y="0"/>
                  <a:pt x="69819" y="0"/>
                </a:cubicBezTo>
                <a:close/>
              </a:path>
            </a:pathLst>
          </a:custGeom>
          <a:solidFill>
            <a:srgbClr val="f5f7f6"/>
          </a:solidFill>
          <a:ln w="0">
            <a:noFill/>
          </a:ln>
        </p:spPr>
        <p:style>
          <a:lnRef idx="0"/>
          <a:fillRef idx="0"/>
          <a:effectRef idx="0"/>
          <a:fontRef idx="minor"/>
        </p:style>
      </p:sp>
      <p:sp>
        <p:nvSpPr>
          <p:cNvPr id="291" name="Text 43"/>
          <p:cNvSpPr/>
          <p:nvPr/>
        </p:nvSpPr>
        <p:spPr>
          <a:xfrm>
            <a:off x="6481800" y="5218920"/>
            <a:ext cx="5148360" cy="173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Source: Caldwell &amp; Richards (1989); Loreau &amp; Hector (2001)</a:t>
            </a:r>
            <a:endParaRPr b="0" lang="en-HK" sz="960" spc="-1" strike="noStrike">
              <a:latin typeface="Arial"/>
            </a:endParaRPr>
          </a:p>
        </p:txBody>
      </p:sp>
      <p:sp>
        <p:nvSpPr>
          <p:cNvPr id="292" name="Shape 44"/>
          <p:cNvSpPr/>
          <p:nvPr/>
        </p:nvSpPr>
        <p:spPr>
          <a:xfrm>
            <a:off x="6202440" y="5812200"/>
            <a:ext cx="5645880" cy="836640"/>
          </a:xfrm>
          <a:custGeom>
            <a:avLst/>
            <a:gdLst/>
            <a:ahLst/>
            <a:rect l="l" t="t" r="r" b="b"/>
            <a:pathLst>
              <a:path w="5646545" h="837818">
                <a:moveTo>
                  <a:pt x="104727" y="0"/>
                </a:moveTo>
                <a:lnTo>
                  <a:pt x="5541818" y="0"/>
                </a:lnTo>
                <a:cubicBezTo>
                  <a:pt x="5599657" y="0"/>
                  <a:pt x="5646545" y="46888"/>
                  <a:pt x="5646545" y="104727"/>
                </a:cubicBezTo>
                <a:lnTo>
                  <a:pt x="5646545" y="733091"/>
                </a:lnTo>
                <a:cubicBezTo>
                  <a:pt x="5646545" y="790930"/>
                  <a:pt x="5599657" y="837818"/>
                  <a:pt x="5541818" y="837818"/>
                </a:cubicBezTo>
                <a:lnTo>
                  <a:pt x="104727" y="837818"/>
                </a:lnTo>
                <a:cubicBezTo>
                  <a:pt x="46888" y="837818"/>
                  <a:pt x="0" y="790930"/>
                  <a:pt x="0" y="733091"/>
                </a:cubicBezTo>
                <a:lnTo>
                  <a:pt x="0" y="104727"/>
                </a:lnTo>
                <a:cubicBezTo>
                  <a:pt x="0" y="46927"/>
                  <a:pt x="46927" y="0"/>
                  <a:pt x="104727" y="0"/>
                </a:cubicBezTo>
                <a:close/>
              </a:path>
            </a:pathLst>
          </a:custGeom>
          <a:solidFill>
            <a:srgbClr val="4c8a7a"/>
          </a:solidFill>
          <a:ln w="0">
            <a:noFill/>
          </a:ln>
        </p:spPr>
        <p:style>
          <a:lnRef idx="0"/>
          <a:fillRef idx="0"/>
          <a:effectRef idx="0"/>
          <a:fontRef idx="minor"/>
        </p:style>
      </p:sp>
      <p:sp>
        <p:nvSpPr>
          <p:cNvPr id="293" name="Text 45"/>
          <p:cNvSpPr/>
          <p:nvPr/>
        </p:nvSpPr>
        <p:spPr>
          <a:xfrm>
            <a:off x="6276600" y="5951880"/>
            <a:ext cx="5497560" cy="31320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2060" spc="-1" strike="noStrike">
                <a:solidFill>
                  <a:srgbClr val="ffffff"/>
                </a:solidFill>
                <a:latin typeface="Sorts Mill Goudy"/>
                <a:ea typeface="Sorts Mill Goudy"/>
              </a:rPr>
              <a:t>Co-regulation</a:t>
            </a:r>
            <a:endParaRPr b="0" lang="en-HK" sz="2060" spc="-1" strike="noStrike">
              <a:latin typeface="Arial"/>
            </a:endParaRPr>
          </a:p>
        </p:txBody>
      </p:sp>
      <p:sp>
        <p:nvSpPr>
          <p:cNvPr id="294" name="Text 46"/>
          <p:cNvSpPr/>
          <p:nvPr/>
        </p:nvSpPr>
        <p:spPr>
          <a:xfrm>
            <a:off x="6307200" y="6301080"/>
            <a:ext cx="5436360" cy="2084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100" spc="-1" strike="noStrike">
                <a:solidFill>
                  <a:srgbClr val="ffffff"/>
                </a:solidFill>
                <a:latin typeface="Quattrocento Sans"/>
                <a:ea typeface="Quattrocento Sans"/>
              </a:rPr>
              <a:t>Competition &amp; facilitation simultaneously influence spatial patterns</a:t>
            </a:r>
            <a:endParaRPr b="0" lang="en-HK" sz="11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295" name="Text 0"/>
          <p:cNvSpPr/>
          <p:nvPr/>
        </p:nvSpPr>
        <p:spPr>
          <a:xfrm>
            <a:off x="336240" y="336240"/>
            <a:ext cx="11578680" cy="167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86" strike="noStrike">
                <a:solidFill>
                  <a:srgbClr val="8fb7ac"/>
                </a:solidFill>
                <a:latin typeface="Quattrocento Sans"/>
                <a:ea typeface="Quattrocento Sans"/>
              </a:rPr>
              <a:t>03 • Species Interactions</a:t>
            </a:r>
            <a:endParaRPr b="0" lang="en-HK" sz="920" spc="-1" strike="noStrike">
              <a:latin typeface="Arial"/>
            </a:endParaRPr>
          </a:p>
        </p:txBody>
      </p:sp>
      <p:sp>
        <p:nvSpPr>
          <p:cNvPr id="296" name="Text 1"/>
          <p:cNvSpPr/>
          <p:nvPr/>
        </p:nvSpPr>
        <p:spPr>
          <a:xfrm>
            <a:off x="336240" y="571320"/>
            <a:ext cx="11671200" cy="3351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80" spc="-1" strike="noStrike">
                <a:solidFill>
                  <a:srgbClr val="2f3e3b"/>
                </a:solidFill>
                <a:latin typeface="Sorts Mill Goudy"/>
                <a:ea typeface="Sorts Mill Goudy"/>
              </a:rPr>
              <a:t>Community Assembly &amp; Coexistence Mechanisms</a:t>
            </a:r>
            <a:endParaRPr b="0" lang="en-HK" sz="2380" spc="-1" strike="noStrike">
              <a:latin typeface="Arial"/>
            </a:endParaRPr>
          </a:p>
        </p:txBody>
      </p:sp>
      <p:sp>
        <p:nvSpPr>
          <p:cNvPr id="297" name="Text 2"/>
          <p:cNvSpPr/>
          <p:nvPr/>
        </p:nvSpPr>
        <p:spPr>
          <a:xfrm>
            <a:off x="336240" y="974520"/>
            <a:ext cx="11595600" cy="234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90" spc="-1" strike="noStrike">
                <a:solidFill>
                  <a:srgbClr val="5f6f6b"/>
                </a:solidFill>
                <a:latin typeface="Quattrocento Sans"/>
                <a:ea typeface="Quattrocento Sans"/>
              </a:rPr>
              <a:t>How diverse species coexist in forest communities</a:t>
            </a:r>
            <a:endParaRPr b="0" lang="en-HK" sz="1190" spc="-1" strike="noStrike">
              <a:latin typeface="Arial"/>
            </a:endParaRPr>
          </a:p>
        </p:txBody>
      </p:sp>
      <p:sp>
        <p:nvSpPr>
          <p:cNvPr id="298" name="Shape 3"/>
          <p:cNvSpPr/>
          <p:nvPr/>
        </p:nvSpPr>
        <p:spPr>
          <a:xfrm>
            <a:off x="336240" y="1378080"/>
            <a:ext cx="7620840" cy="2284560"/>
          </a:xfrm>
          <a:custGeom>
            <a:avLst/>
            <a:gdLst/>
            <a:ahLst/>
            <a:rect l="l" t="t" r="r" b="b"/>
            <a:pathLst>
              <a:path w="7621050" h="2285475">
                <a:moveTo>
                  <a:pt x="100835" y="0"/>
                </a:moveTo>
                <a:lnTo>
                  <a:pt x="7520215" y="0"/>
                </a:lnTo>
                <a:cubicBezTo>
                  <a:pt x="7575905" y="0"/>
                  <a:pt x="7621050" y="45145"/>
                  <a:pt x="7621050" y="100835"/>
                </a:cubicBezTo>
                <a:lnTo>
                  <a:pt x="7621050" y="2184640"/>
                </a:lnTo>
                <a:cubicBezTo>
                  <a:pt x="7621050" y="2240329"/>
                  <a:pt x="7575905" y="2285475"/>
                  <a:pt x="7520215" y="2285475"/>
                </a:cubicBezTo>
                <a:lnTo>
                  <a:pt x="100835" y="2285475"/>
                </a:lnTo>
                <a:cubicBezTo>
                  <a:pt x="45145" y="2285475"/>
                  <a:pt x="0" y="2240329"/>
                  <a:pt x="0" y="2184640"/>
                </a:cubicBezTo>
                <a:lnTo>
                  <a:pt x="0" y="100835"/>
                </a:lnTo>
                <a:cubicBezTo>
                  <a:pt x="0" y="45145"/>
                  <a:pt x="45145" y="0"/>
                  <a:pt x="100835"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299" name="Text 4"/>
          <p:cNvSpPr/>
          <p:nvPr/>
        </p:nvSpPr>
        <p:spPr>
          <a:xfrm>
            <a:off x="504000" y="1546200"/>
            <a:ext cx="7368480" cy="234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2f3e3b"/>
                </a:solidFill>
                <a:latin typeface="Sorts Mill Goudy"/>
                <a:ea typeface="Sorts Mill Goudy"/>
              </a:rPr>
              <a:t>Niche Differentiation &amp; Resource Partitioning</a:t>
            </a:r>
            <a:endParaRPr b="0" lang="en-HK" sz="1320" spc="-1" strike="noStrike">
              <a:latin typeface="Arial"/>
            </a:endParaRPr>
          </a:p>
        </p:txBody>
      </p:sp>
      <p:sp>
        <p:nvSpPr>
          <p:cNvPr id="300" name="Text 5"/>
          <p:cNvSpPr/>
          <p:nvPr/>
        </p:nvSpPr>
        <p:spPr>
          <a:xfrm>
            <a:off x="504000" y="1882080"/>
            <a:ext cx="7351920" cy="435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1f2a28"/>
                </a:solidFill>
                <a:latin typeface="Quattrocento Sans"/>
                <a:ea typeface="Quattrocento Sans"/>
              </a:rPr>
              <a:t>Species coexistence is enabled through </a:t>
            </a:r>
            <a:r>
              <a:rPr b="0" lang="en-US" sz="1060" spc="-1" strike="noStrike">
                <a:solidFill>
                  <a:srgbClr val="2f3e3b"/>
                </a:solidFill>
                <a:highlight>
                  <a:srgbClr val="8fb7ac"/>
                </a:highlight>
                <a:latin typeface="Quattrocento Sans"/>
                <a:ea typeface="Quattrocento Sans"/>
              </a:rPr>
              <a:t>niche differentiation </a:t>
            </a:r>
            <a:r>
              <a:rPr b="0" lang="en-US" sz="1060" spc="-1" strike="noStrike">
                <a:solidFill>
                  <a:srgbClr val="1f2a28"/>
                </a:solidFill>
                <a:latin typeface="Quattrocento Sans"/>
                <a:ea typeface="Quattrocento Sans"/>
              </a:rPr>
              <a:t>—the partitioning of limited resources along multiple dimensions. This reduces competitive overlap and allows multiple species to occupy the same landscape.</a:t>
            </a:r>
            <a:endParaRPr b="0" lang="en-HK" sz="1060" spc="-1" strike="noStrike">
              <a:latin typeface="Arial"/>
            </a:endParaRPr>
          </a:p>
        </p:txBody>
      </p:sp>
      <p:sp>
        <p:nvSpPr>
          <p:cNvPr id="301" name="Shape 6"/>
          <p:cNvSpPr/>
          <p:nvPr/>
        </p:nvSpPr>
        <p:spPr>
          <a:xfrm>
            <a:off x="504000" y="2453400"/>
            <a:ext cx="2360520" cy="1040760"/>
          </a:xfrm>
          <a:custGeom>
            <a:avLst/>
            <a:gdLst/>
            <a:ahLst/>
            <a:rect l="l" t="t" r="r" b="b"/>
            <a:pathLst>
              <a:path w="2361097" h="1041908">
                <a:moveTo>
                  <a:pt x="67224" y="0"/>
                </a:moveTo>
                <a:lnTo>
                  <a:pt x="2293873" y="0"/>
                </a:lnTo>
                <a:cubicBezTo>
                  <a:pt x="2331000" y="0"/>
                  <a:pt x="2361097" y="30097"/>
                  <a:pt x="2361097" y="67224"/>
                </a:cubicBezTo>
                <a:lnTo>
                  <a:pt x="2361097" y="974684"/>
                </a:lnTo>
                <a:cubicBezTo>
                  <a:pt x="2361097" y="1011810"/>
                  <a:pt x="2331000" y="1041908"/>
                  <a:pt x="2293873" y="1041908"/>
                </a:cubicBezTo>
                <a:lnTo>
                  <a:pt x="67224" y="1041908"/>
                </a:lnTo>
                <a:cubicBezTo>
                  <a:pt x="30097" y="1041908"/>
                  <a:pt x="0" y="1011810"/>
                  <a:pt x="0" y="974684"/>
                </a:cubicBezTo>
                <a:lnTo>
                  <a:pt x="0" y="67224"/>
                </a:lnTo>
                <a:cubicBezTo>
                  <a:pt x="0" y="30097"/>
                  <a:pt x="30097" y="0"/>
                  <a:pt x="67224" y="0"/>
                </a:cubicBezTo>
                <a:close/>
              </a:path>
            </a:pathLst>
          </a:custGeom>
          <a:solidFill>
            <a:srgbClr val="4c8a7a">
              <a:alpha val="10000"/>
            </a:srgbClr>
          </a:solidFill>
          <a:ln w="0">
            <a:noFill/>
          </a:ln>
        </p:spPr>
        <p:style>
          <a:lnRef idx="0"/>
          <a:fillRef idx="0"/>
          <a:effectRef idx="0"/>
          <a:fontRef idx="minor"/>
        </p:style>
      </p:sp>
      <p:sp>
        <p:nvSpPr>
          <p:cNvPr id="302" name="Shape 7"/>
          <p:cNvSpPr/>
          <p:nvPr/>
        </p:nvSpPr>
        <p:spPr>
          <a:xfrm>
            <a:off x="1571400" y="2554200"/>
            <a:ext cx="225720" cy="200520"/>
          </a:xfrm>
          <a:custGeom>
            <a:avLst/>
            <a:gdLst/>
            <a:ahLst/>
            <a:rect l="l" t="t" r="r" b="b"/>
            <a:pathLst>
              <a:path w="226867" h="201660">
                <a:moveTo>
                  <a:pt x="70187" y="-3978"/>
                </a:moveTo>
                <a:cubicBezTo>
                  <a:pt x="73102" y="-5199"/>
                  <a:pt x="76410" y="-4845"/>
                  <a:pt x="79049" y="-3112"/>
                </a:cubicBezTo>
                <a:lnTo>
                  <a:pt x="113630" y="19811"/>
                </a:lnTo>
                <a:lnTo>
                  <a:pt x="148212" y="-3112"/>
                </a:lnTo>
                <a:cubicBezTo>
                  <a:pt x="150851" y="-4845"/>
                  <a:pt x="154159" y="-5160"/>
                  <a:pt x="157074" y="-3978"/>
                </a:cubicBezTo>
                <a:cubicBezTo>
                  <a:pt x="159988" y="-2796"/>
                  <a:pt x="162037" y="-197"/>
                  <a:pt x="162667" y="2875"/>
                </a:cubicBezTo>
                <a:lnTo>
                  <a:pt x="170899" y="43522"/>
                </a:lnTo>
                <a:lnTo>
                  <a:pt x="211546" y="51754"/>
                </a:lnTo>
                <a:cubicBezTo>
                  <a:pt x="214618" y="52384"/>
                  <a:pt x="217217" y="54511"/>
                  <a:pt x="218399" y="57386"/>
                </a:cubicBezTo>
                <a:cubicBezTo>
                  <a:pt x="219580" y="60262"/>
                  <a:pt x="219265" y="63609"/>
                  <a:pt x="217532" y="66248"/>
                </a:cubicBezTo>
                <a:lnTo>
                  <a:pt x="194609" y="100830"/>
                </a:lnTo>
                <a:lnTo>
                  <a:pt x="217532" y="135411"/>
                </a:lnTo>
                <a:cubicBezTo>
                  <a:pt x="219265" y="138050"/>
                  <a:pt x="219580" y="141359"/>
                  <a:pt x="218399" y="144273"/>
                </a:cubicBezTo>
                <a:cubicBezTo>
                  <a:pt x="217217" y="147188"/>
                  <a:pt x="214618" y="149315"/>
                  <a:pt x="211546" y="149906"/>
                </a:cubicBezTo>
                <a:lnTo>
                  <a:pt x="170859" y="158098"/>
                </a:lnTo>
                <a:lnTo>
                  <a:pt x="162667" y="198784"/>
                </a:lnTo>
                <a:cubicBezTo>
                  <a:pt x="162037" y="201856"/>
                  <a:pt x="159910" y="204456"/>
                  <a:pt x="157034" y="205638"/>
                </a:cubicBezTo>
                <a:cubicBezTo>
                  <a:pt x="154159" y="206819"/>
                  <a:pt x="150811" y="206504"/>
                  <a:pt x="148173" y="204771"/>
                </a:cubicBezTo>
                <a:lnTo>
                  <a:pt x="113591" y="181848"/>
                </a:lnTo>
                <a:lnTo>
                  <a:pt x="79010" y="204771"/>
                </a:lnTo>
                <a:cubicBezTo>
                  <a:pt x="76371" y="206504"/>
                  <a:pt x="73062" y="206819"/>
                  <a:pt x="70148" y="205638"/>
                </a:cubicBezTo>
                <a:cubicBezTo>
                  <a:pt x="67233" y="204456"/>
                  <a:pt x="65106" y="201856"/>
                  <a:pt x="64515" y="198784"/>
                </a:cubicBezTo>
                <a:lnTo>
                  <a:pt x="56323" y="158098"/>
                </a:lnTo>
                <a:lnTo>
                  <a:pt x="15636" y="149866"/>
                </a:lnTo>
                <a:cubicBezTo>
                  <a:pt x="12564" y="149236"/>
                  <a:pt x="9965" y="147109"/>
                  <a:pt x="8783" y="144234"/>
                </a:cubicBezTo>
                <a:cubicBezTo>
                  <a:pt x="7602" y="141359"/>
                  <a:pt x="7917" y="138011"/>
                  <a:pt x="9650" y="135372"/>
                </a:cubicBezTo>
                <a:lnTo>
                  <a:pt x="32573" y="100830"/>
                </a:lnTo>
                <a:lnTo>
                  <a:pt x="9650" y="66248"/>
                </a:lnTo>
                <a:cubicBezTo>
                  <a:pt x="7917" y="63609"/>
                  <a:pt x="7602" y="60301"/>
                  <a:pt x="8783" y="57386"/>
                </a:cubicBezTo>
                <a:cubicBezTo>
                  <a:pt x="9965" y="54472"/>
                  <a:pt x="12564" y="52345"/>
                  <a:pt x="15636" y="51754"/>
                </a:cubicBezTo>
                <a:lnTo>
                  <a:pt x="56323" y="43562"/>
                </a:lnTo>
                <a:lnTo>
                  <a:pt x="64555" y="2875"/>
                </a:lnTo>
                <a:cubicBezTo>
                  <a:pt x="65185" y="-197"/>
                  <a:pt x="67312" y="-2796"/>
                  <a:pt x="70187" y="-3978"/>
                </a:cubicBezTo>
                <a:close/>
                <a:moveTo>
                  <a:pt x="81767" y="100830"/>
                </a:moveTo>
                <a:cubicBezTo>
                  <a:pt x="81767" y="89516"/>
                  <a:pt x="87802" y="79062"/>
                  <a:pt x="97600" y="73405"/>
                </a:cubicBezTo>
                <a:cubicBezTo>
                  <a:pt x="107398" y="67749"/>
                  <a:pt x="119469" y="67749"/>
                  <a:pt x="129267" y="73405"/>
                </a:cubicBezTo>
                <a:cubicBezTo>
                  <a:pt x="139065" y="79062"/>
                  <a:pt x="145100" y="89516"/>
                  <a:pt x="145100" y="100830"/>
                </a:cubicBezTo>
                <a:cubicBezTo>
                  <a:pt x="145100" y="118307"/>
                  <a:pt x="130911" y="132497"/>
                  <a:pt x="113433" y="132497"/>
                </a:cubicBezTo>
                <a:cubicBezTo>
                  <a:pt x="95956" y="132497"/>
                  <a:pt x="81767" y="118307"/>
                  <a:pt x="81767" y="100830"/>
                </a:cubicBezTo>
                <a:close/>
                <a:moveTo>
                  <a:pt x="164006" y="100830"/>
                </a:moveTo>
                <a:cubicBezTo>
                  <a:pt x="164006" y="72918"/>
                  <a:pt x="141345" y="50257"/>
                  <a:pt x="113433" y="50257"/>
                </a:cubicBezTo>
                <a:cubicBezTo>
                  <a:pt x="85522" y="50257"/>
                  <a:pt x="62861" y="72918"/>
                  <a:pt x="62861" y="100830"/>
                </a:cubicBezTo>
                <a:cubicBezTo>
                  <a:pt x="62861" y="118898"/>
                  <a:pt x="72500" y="135593"/>
                  <a:pt x="88147" y="144627"/>
                </a:cubicBezTo>
                <a:cubicBezTo>
                  <a:pt x="103794" y="153661"/>
                  <a:pt x="123073" y="153661"/>
                  <a:pt x="138720" y="144627"/>
                </a:cubicBezTo>
                <a:cubicBezTo>
                  <a:pt x="154367" y="135593"/>
                  <a:pt x="164006" y="118898"/>
                  <a:pt x="164006" y="100830"/>
                </a:cubicBezTo>
                <a:close/>
              </a:path>
            </a:pathLst>
          </a:custGeom>
          <a:solidFill>
            <a:srgbClr val="4c8a7a"/>
          </a:solidFill>
          <a:ln w="0">
            <a:noFill/>
          </a:ln>
        </p:spPr>
        <p:style>
          <a:lnRef idx="0"/>
          <a:fillRef idx="0"/>
          <a:effectRef idx="0"/>
          <a:fontRef idx="minor"/>
        </p:style>
      </p:sp>
      <p:sp>
        <p:nvSpPr>
          <p:cNvPr id="303" name="Text 8"/>
          <p:cNvSpPr/>
          <p:nvPr/>
        </p:nvSpPr>
        <p:spPr>
          <a:xfrm>
            <a:off x="571320" y="2823120"/>
            <a:ext cx="2225880" cy="2005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60" spc="-1" strike="noStrike">
                <a:solidFill>
                  <a:srgbClr val="2f3e3b"/>
                </a:solidFill>
                <a:latin typeface="Quattrocento Sans"/>
                <a:ea typeface="Quattrocento Sans"/>
              </a:rPr>
              <a:t>Light</a:t>
            </a:r>
            <a:endParaRPr b="0" lang="en-HK" sz="1060" spc="-1" strike="noStrike">
              <a:latin typeface="Arial"/>
            </a:endParaRPr>
          </a:p>
        </p:txBody>
      </p:sp>
      <p:sp>
        <p:nvSpPr>
          <p:cNvPr id="304" name="Text 9"/>
          <p:cNvSpPr/>
          <p:nvPr/>
        </p:nvSpPr>
        <p:spPr>
          <a:xfrm>
            <a:off x="575640" y="3058560"/>
            <a:ext cx="2217600" cy="3351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Shade-tolerant vs. shade-intolerant species partition light gradients</a:t>
            </a:r>
            <a:endParaRPr b="0" lang="en-HK" sz="920" spc="-1" strike="noStrike">
              <a:latin typeface="Arial"/>
            </a:endParaRPr>
          </a:p>
        </p:txBody>
      </p:sp>
      <p:sp>
        <p:nvSpPr>
          <p:cNvPr id="305" name="Shape 10"/>
          <p:cNvSpPr/>
          <p:nvPr/>
        </p:nvSpPr>
        <p:spPr>
          <a:xfrm>
            <a:off x="2966400" y="2453400"/>
            <a:ext cx="2360520" cy="1040760"/>
          </a:xfrm>
          <a:custGeom>
            <a:avLst/>
            <a:gdLst/>
            <a:ahLst/>
            <a:rect l="l" t="t" r="r" b="b"/>
            <a:pathLst>
              <a:path w="2361097" h="1041908">
                <a:moveTo>
                  <a:pt x="67224" y="0"/>
                </a:moveTo>
                <a:lnTo>
                  <a:pt x="2293873" y="0"/>
                </a:lnTo>
                <a:cubicBezTo>
                  <a:pt x="2331000" y="0"/>
                  <a:pt x="2361097" y="30097"/>
                  <a:pt x="2361097" y="67224"/>
                </a:cubicBezTo>
                <a:lnTo>
                  <a:pt x="2361097" y="974684"/>
                </a:lnTo>
                <a:cubicBezTo>
                  <a:pt x="2361097" y="1011810"/>
                  <a:pt x="2331000" y="1041908"/>
                  <a:pt x="2293873" y="1041908"/>
                </a:cubicBezTo>
                <a:lnTo>
                  <a:pt x="67224" y="1041908"/>
                </a:lnTo>
                <a:cubicBezTo>
                  <a:pt x="30097" y="1041908"/>
                  <a:pt x="0" y="1011810"/>
                  <a:pt x="0" y="974684"/>
                </a:cubicBezTo>
                <a:lnTo>
                  <a:pt x="0" y="67224"/>
                </a:lnTo>
                <a:cubicBezTo>
                  <a:pt x="0" y="30097"/>
                  <a:pt x="30097" y="0"/>
                  <a:pt x="67224" y="0"/>
                </a:cubicBezTo>
                <a:close/>
              </a:path>
            </a:pathLst>
          </a:custGeom>
          <a:solidFill>
            <a:srgbClr val="8fb7ac">
              <a:alpha val="10000"/>
            </a:srgbClr>
          </a:solidFill>
          <a:ln w="0">
            <a:noFill/>
          </a:ln>
        </p:spPr>
        <p:style>
          <a:lnRef idx="0"/>
          <a:fillRef idx="0"/>
          <a:effectRef idx="0"/>
          <a:fontRef idx="minor"/>
        </p:style>
      </p:sp>
      <p:sp>
        <p:nvSpPr>
          <p:cNvPr id="306" name="Shape 11"/>
          <p:cNvSpPr/>
          <p:nvPr/>
        </p:nvSpPr>
        <p:spPr>
          <a:xfrm>
            <a:off x="4071600" y="2554200"/>
            <a:ext cx="150120" cy="200520"/>
          </a:xfrm>
          <a:custGeom>
            <a:avLst/>
            <a:gdLst/>
            <a:ahLst/>
            <a:rect l="l" t="t" r="r" b="b"/>
            <a:pathLst>
              <a:path w="151245" h="201660">
                <a:moveTo>
                  <a:pt x="75622" y="201660"/>
                </a:moveTo>
                <a:cubicBezTo>
                  <a:pt x="33873" y="201660"/>
                  <a:pt x="0" y="167787"/>
                  <a:pt x="0" y="126037"/>
                </a:cubicBezTo>
                <a:cubicBezTo>
                  <a:pt x="0" y="90117"/>
                  <a:pt x="51281" y="18078"/>
                  <a:pt x="65618" y="-1379"/>
                </a:cubicBezTo>
                <a:cubicBezTo>
                  <a:pt x="67942" y="-4529"/>
                  <a:pt x="71605" y="-6302"/>
                  <a:pt x="75544" y="-6302"/>
                </a:cubicBezTo>
                <a:lnTo>
                  <a:pt x="75701" y="-6302"/>
                </a:lnTo>
                <a:cubicBezTo>
                  <a:pt x="79640" y="-6302"/>
                  <a:pt x="83303" y="-4529"/>
                  <a:pt x="85627" y="-1379"/>
                </a:cubicBezTo>
                <a:cubicBezTo>
                  <a:pt x="99963" y="18078"/>
                  <a:pt x="151245" y="90117"/>
                  <a:pt x="151245" y="126037"/>
                </a:cubicBezTo>
                <a:cubicBezTo>
                  <a:pt x="151245" y="167787"/>
                  <a:pt x="117372" y="201660"/>
                  <a:pt x="75622" y="201660"/>
                </a:cubicBezTo>
                <a:close/>
                <a:moveTo>
                  <a:pt x="44113" y="122886"/>
                </a:moveTo>
                <a:cubicBezTo>
                  <a:pt x="44113" y="117648"/>
                  <a:pt x="39899" y="113433"/>
                  <a:pt x="34660" y="113433"/>
                </a:cubicBezTo>
                <a:cubicBezTo>
                  <a:pt x="29422" y="113433"/>
                  <a:pt x="25207" y="117648"/>
                  <a:pt x="25207" y="122886"/>
                </a:cubicBezTo>
                <a:cubicBezTo>
                  <a:pt x="25207" y="152466"/>
                  <a:pt x="49194" y="176452"/>
                  <a:pt x="78773" y="176452"/>
                </a:cubicBezTo>
                <a:cubicBezTo>
                  <a:pt x="84012" y="176452"/>
                  <a:pt x="88226" y="172238"/>
                  <a:pt x="88226" y="166999"/>
                </a:cubicBezTo>
                <a:cubicBezTo>
                  <a:pt x="88226" y="161761"/>
                  <a:pt x="84012" y="157547"/>
                  <a:pt x="78773" y="157547"/>
                </a:cubicBezTo>
                <a:cubicBezTo>
                  <a:pt x="59631" y="157547"/>
                  <a:pt x="44113" y="142028"/>
                  <a:pt x="44113" y="122886"/>
                </a:cubicBezTo>
                <a:close/>
              </a:path>
            </a:pathLst>
          </a:custGeom>
          <a:solidFill>
            <a:srgbClr val="8fb7ac"/>
          </a:solidFill>
          <a:ln w="0">
            <a:noFill/>
          </a:ln>
        </p:spPr>
        <p:style>
          <a:lnRef idx="0"/>
          <a:fillRef idx="0"/>
          <a:effectRef idx="0"/>
          <a:fontRef idx="minor"/>
        </p:style>
      </p:sp>
      <p:sp>
        <p:nvSpPr>
          <p:cNvPr id="307" name="Text 12"/>
          <p:cNvSpPr/>
          <p:nvPr/>
        </p:nvSpPr>
        <p:spPr>
          <a:xfrm>
            <a:off x="3033720" y="2823120"/>
            <a:ext cx="2225880" cy="2005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60" spc="-1" strike="noStrike">
                <a:solidFill>
                  <a:srgbClr val="2f3e3b"/>
                </a:solidFill>
                <a:latin typeface="Quattrocento Sans"/>
                <a:ea typeface="Quattrocento Sans"/>
              </a:rPr>
              <a:t>Water</a:t>
            </a:r>
            <a:endParaRPr b="0" lang="en-HK" sz="1060" spc="-1" strike="noStrike">
              <a:latin typeface="Arial"/>
            </a:endParaRPr>
          </a:p>
        </p:txBody>
      </p:sp>
      <p:sp>
        <p:nvSpPr>
          <p:cNvPr id="308" name="Text 13"/>
          <p:cNvSpPr/>
          <p:nvPr/>
        </p:nvSpPr>
        <p:spPr>
          <a:xfrm>
            <a:off x="3037680" y="3058560"/>
            <a:ext cx="2217600" cy="3351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Deep vs. shallow rooting strategies access different soil layers</a:t>
            </a:r>
            <a:endParaRPr b="0" lang="en-HK" sz="920" spc="-1" strike="noStrike">
              <a:latin typeface="Arial"/>
            </a:endParaRPr>
          </a:p>
        </p:txBody>
      </p:sp>
      <p:sp>
        <p:nvSpPr>
          <p:cNvPr id="309" name="Shape 14"/>
          <p:cNvSpPr/>
          <p:nvPr/>
        </p:nvSpPr>
        <p:spPr>
          <a:xfrm>
            <a:off x="5428800" y="2453400"/>
            <a:ext cx="2360520" cy="1040760"/>
          </a:xfrm>
          <a:custGeom>
            <a:avLst/>
            <a:gdLst/>
            <a:ahLst/>
            <a:rect l="l" t="t" r="r" b="b"/>
            <a:pathLst>
              <a:path w="2361097" h="1041908">
                <a:moveTo>
                  <a:pt x="67224" y="0"/>
                </a:moveTo>
                <a:lnTo>
                  <a:pt x="2293873" y="0"/>
                </a:lnTo>
                <a:cubicBezTo>
                  <a:pt x="2331000" y="0"/>
                  <a:pt x="2361097" y="30097"/>
                  <a:pt x="2361097" y="67224"/>
                </a:cubicBezTo>
                <a:lnTo>
                  <a:pt x="2361097" y="974684"/>
                </a:lnTo>
                <a:cubicBezTo>
                  <a:pt x="2361097" y="1011810"/>
                  <a:pt x="2331000" y="1041908"/>
                  <a:pt x="2293873" y="1041908"/>
                </a:cubicBezTo>
                <a:lnTo>
                  <a:pt x="67224" y="1041908"/>
                </a:lnTo>
                <a:cubicBezTo>
                  <a:pt x="30097" y="1041908"/>
                  <a:pt x="0" y="1011810"/>
                  <a:pt x="0" y="974684"/>
                </a:cubicBezTo>
                <a:lnTo>
                  <a:pt x="0" y="67224"/>
                </a:lnTo>
                <a:cubicBezTo>
                  <a:pt x="0" y="30097"/>
                  <a:pt x="30097" y="0"/>
                  <a:pt x="67224" y="0"/>
                </a:cubicBezTo>
                <a:close/>
              </a:path>
            </a:pathLst>
          </a:custGeom>
          <a:solidFill>
            <a:srgbClr val="5f6f6b">
              <a:alpha val="10000"/>
            </a:srgbClr>
          </a:solidFill>
          <a:ln w="0">
            <a:noFill/>
          </a:ln>
        </p:spPr>
        <p:style>
          <a:lnRef idx="0"/>
          <a:fillRef idx="0"/>
          <a:effectRef idx="0"/>
          <a:fontRef idx="minor"/>
        </p:style>
      </p:sp>
      <p:sp>
        <p:nvSpPr>
          <p:cNvPr id="310" name="Shape 15"/>
          <p:cNvSpPr/>
          <p:nvPr/>
        </p:nvSpPr>
        <p:spPr>
          <a:xfrm>
            <a:off x="6508800" y="2554200"/>
            <a:ext cx="200520" cy="200520"/>
          </a:xfrm>
          <a:custGeom>
            <a:avLst/>
            <a:gdLst/>
            <a:ahLst/>
            <a:rect l="l" t="t" r="r" b="b"/>
            <a:pathLst>
              <a:path w="201660" h="201660">
                <a:moveTo>
                  <a:pt x="201660" y="12604"/>
                </a:moveTo>
                <a:cubicBezTo>
                  <a:pt x="201660" y="55181"/>
                  <a:pt x="171489" y="90707"/>
                  <a:pt x="131394" y="99018"/>
                </a:cubicBezTo>
                <a:cubicBezTo>
                  <a:pt x="128282" y="76134"/>
                  <a:pt x="118002" y="55535"/>
                  <a:pt x="102838" y="39584"/>
                </a:cubicBezTo>
                <a:cubicBezTo>
                  <a:pt x="118633" y="15755"/>
                  <a:pt x="145691" y="0"/>
                  <a:pt x="176452" y="0"/>
                </a:cubicBezTo>
                <a:lnTo>
                  <a:pt x="189056" y="0"/>
                </a:lnTo>
                <a:cubicBezTo>
                  <a:pt x="196027" y="0"/>
                  <a:pt x="201660" y="5632"/>
                  <a:pt x="201660" y="12604"/>
                </a:cubicBezTo>
                <a:close/>
                <a:moveTo>
                  <a:pt x="0" y="37811"/>
                </a:moveTo>
                <a:cubicBezTo>
                  <a:pt x="0" y="30840"/>
                  <a:pt x="5632" y="25207"/>
                  <a:pt x="12604" y="25207"/>
                </a:cubicBezTo>
                <a:lnTo>
                  <a:pt x="25207" y="25207"/>
                </a:lnTo>
                <a:cubicBezTo>
                  <a:pt x="73929" y="25207"/>
                  <a:pt x="113433" y="64712"/>
                  <a:pt x="113433" y="113433"/>
                </a:cubicBezTo>
                <a:lnTo>
                  <a:pt x="113433" y="189056"/>
                </a:lnTo>
                <a:cubicBezTo>
                  <a:pt x="113433" y="196027"/>
                  <a:pt x="107801" y="201660"/>
                  <a:pt x="100830" y="201660"/>
                </a:cubicBezTo>
                <a:cubicBezTo>
                  <a:pt x="93858" y="201660"/>
                  <a:pt x="88226" y="196027"/>
                  <a:pt x="88226" y="189056"/>
                </a:cubicBezTo>
                <a:lnTo>
                  <a:pt x="88226" y="126037"/>
                </a:lnTo>
                <a:cubicBezTo>
                  <a:pt x="39505" y="126037"/>
                  <a:pt x="0" y="86532"/>
                  <a:pt x="0" y="37811"/>
                </a:cubicBezTo>
                <a:close/>
              </a:path>
            </a:pathLst>
          </a:custGeom>
          <a:solidFill>
            <a:srgbClr val="5f6f6b"/>
          </a:solidFill>
          <a:ln w="0">
            <a:noFill/>
          </a:ln>
        </p:spPr>
        <p:style>
          <a:lnRef idx="0"/>
          <a:fillRef idx="0"/>
          <a:effectRef idx="0"/>
          <a:fontRef idx="minor"/>
        </p:style>
      </p:sp>
      <p:sp>
        <p:nvSpPr>
          <p:cNvPr id="311" name="Text 16"/>
          <p:cNvSpPr/>
          <p:nvPr/>
        </p:nvSpPr>
        <p:spPr>
          <a:xfrm>
            <a:off x="5496120" y="2823120"/>
            <a:ext cx="2225880" cy="2005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60" spc="-1" strike="noStrike">
                <a:solidFill>
                  <a:srgbClr val="2f3e3b"/>
                </a:solidFill>
                <a:latin typeface="Quattrocento Sans"/>
                <a:ea typeface="Quattrocento Sans"/>
              </a:rPr>
              <a:t>Nutrients</a:t>
            </a:r>
            <a:endParaRPr b="0" lang="en-HK" sz="1060" spc="-1" strike="noStrike">
              <a:latin typeface="Arial"/>
            </a:endParaRPr>
          </a:p>
        </p:txBody>
      </p:sp>
      <p:sp>
        <p:nvSpPr>
          <p:cNvPr id="312" name="Text 17"/>
          <p:cNvSpPr/>
          <p:nvPr/>
        </p:nvSpPr>
        <p:spPr>
          <a:xfrm>
            <a:off x="5500440" y="3058560"/>
            <a:ext cx="2217600" cy="3351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Species vary in N, P requirements and use efficiency</a:t>
            </a:r>
            <a:endParaRPr b="0" lang="en-HK" sz="920" spc="-1" strike="noStrike">
              <a:latin typeface="Arial"/>
            </a:endParaRPr>
          </a:p>
        </p:txBody>
      </p:sp>
      <p:sp>
        <p:nvSpPr>
          <p:cNvPr id="313" name="Shape 18"/>
          <p:cNvSpPr/>
          <p:nvPr/>
        </p:nvSpPr>
        <p:spPr>
          <a:xfrm>
            <a:off x="336240" y="3798000"/>
            <a:ext cx="3746880" cy="2721240"/>
          </a:xfrm>
          <a:custGeom>
            <a:avLst/>
            <a:gdLst/>
            <a:ahLst/>
            <a:rect l="l" t="t" r="r" b="b"/>
            <a:pathLst>
              <a:path w="3747507" h="2722404">
                <a:moveTo>
                  <a:pt x="100838" y="0"/>
                </a:moveTo>
                <a:lnTo>
                  <a:pt x="3646669" y="0"/>
                </a:lnTo>
                <a:cubicBezTo>
                  <a:pt x="3702360" y="0"/>
                  <a:pt x="3747507" y="45147"/>
                  <a:pt x="3747507" y="100838"/>
                </a:cubicBezTo>
                <a:lnTo>
                  <a:pt x="3747507" y="2621566"/>
                </a:lnTo>
                <a:cubicBezTo>
                  <a:pt x="3747507" y="2677257"/>
                  <a:pt x="3702360" y="2722404"/>
                  <a:pt x="3646669" y="2722404"/>
                </a:cubicBezTo>
                <a:lnTo>
                  <a:pt x="100838" y="2722404"/>
                </a:lnTo>
                <a:cubicBezTo>
                  <a:pt x="45147" y="2722404"/>
                  <a:pt x="0" y="2677257"/>
                  <a:pt x="0" y="2621566"/>
                </a:cubicBezTo>
                <a:lnTo>
                  <a:pt x="0" y="100838"/>
                </a:lnTo>
                <a:cubicBezTo>
                  <a:pt x="0" y="45147"/>
                  <a:pt x="45147" y="0"/>
                  <a:pt x="100838"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314" name="Text 19"/>
          <p:cNvSpPr/>
          <p:nvPr/>
        </p:nvSpPr>
        <p:spPr>
          <a:xfrm>
            <a:off x="470520" y="3932280"/>
            <a:ext cx="3553560" cy="234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2f3e3b"/>
                </a:solidFill>
                <a:latin typeface="Sorts Mill Goudy"/>
                <a:ea typeface="Sorts Mill Goudy"/>
              </a:rPr>
              <a:t>Temporal Partitioning</a:t>
            </a:r>
            <a:endParaRPr b="0" lang="en-HK" sz="1190" spc="-1" strike="noStrike">
              <a:latin typeface="Arial"/>
            </a:endParaRPr>
          </a:p>
        </p:txBody>
      </p:sp>
      <p:sp>
        <p:nvSpPr>
          <p:cNvPr id="315" name="Text 20"/>
          <p:cNvSpPr/>
          <p:nvPr/>
        </p:nvSpPr>
        <p:spPr>
          <a:xfrm>
            <a:off x="470520" y="4268520"/>
            <a:ext cx="3545280" cy="435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60" spc="-1" strike="noStrike">
                <a:solidFill>
                  <a:srgbClr val="1f2a28"/>
                </a:solidFill>
                <a:latin typeface="Quattrocento Sans"/>
                <a:ea typeface="Quattrocento Sans"/>
              </a:rPr>
              <a:t>Phenological differences</a:t>
            </a:r>
            <a:r>
              <a:rPr b="0" lang="en-US" sz="1060" spc="-1" strike="noStrike">
                <a:solidFill>
                  <a:srgbClr val="1f2a28"/>
                </a:solidFill>
                <a:latin typeface="Quattrocento Sans"/>
                <a:ea typeface="Quattrocento Sans"/>
              </a:rPr>
              <a:t> reduce competition by separating resource demands in time:</a:t>
            </a:r>
            <a:endParaRPr b="0" lang="en-HK" sz="1060" spc="-1" strike="noStrike">
              <a:latin typeface="Arial"/>
            </a:endParaRPr>
          </a:p>
        </p:txBody>
      </p:sp>
      <p:sp>
        <p:nvSpPr>
          <p:cNvPr id="316" name="Text 21"/>
          <p:cNvSpPr/>
          <p:nvPr/>
        </p:nvSpPr>
        <p:spPr>
          <a:xfrm>
            <a:off x="470520" y="4806360"/>
            <a:ext cx="3545280" cy="200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Early vs. late growing season activity</a:t>
            </a:r>
            <a:endParaRPr b="0" lang="en-HK" sz="1060" spc="-1" strike="noStrike">
              <a:latin typeface="Arial"/>
            </a:endParaRPr>
          </a:p>
        </p:txBody>
      </p:sp>
      <p:sp>
        <p:nvSpPr>
          <p:cNvPr id="317" name="Text 22"/>
          <p:cNvSpPr/>
          <p:nvPr/>
        </p:nvSpPr>
        <p:spPr>
          <a:xfrm>
            <a:off x="470520" y="5058360"/>
            <a:ext cx="3545280" cy="200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Different flowering and fruiting times</a:t>
            </a:r>
            <a:endParaRPr b="0" lang="en-HK" sz="1060" spc="-1" strike="noStrike">
              <a:latin typeface="Arial"/>
            </a:endParaRPr>
          </a:p>
        </p:txBody>
      </p:sp>
      <p:sp>
        <p:nvSpPr>
          <p:cNvPr id="318" name="Text 23"/>
          <p:cNvSpPr/>
          <p:nvPr/>
        </p:nvSpPr>
        <p:spPr>
          <a:xfrm>
            <a:off x="470520" y="5310360"/>
            <a:ext cx="3545280" cy="200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Seasonal leaf senescence patterns</a:t>
            </a:r>
            <a:endParaRPr b="0" lang="en-HK" sz="1060" spc="-1" strike="noStrike">
              <a:latin typeface="Arial"/>
            </a:endParaRPr>
          </a:p>
        </p:txBody>
      </p:sp>
      <p:sp>
        <p:nvSpPr>
          <p:cNvPr id="319" name="Text 24"/>
          <p:cNvSpPr/>
          <p:nvPr/>
        </p:nvSpPr>
        <p:spPr>
          <a:xfrm>
            <a:off x="470520" y="5562360"/>
            <a:ext cx="3545280" cy="200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Staggered germination periods</a:t>
            </a:r>
            <a:endParaRPr b="0" lang="en-HK" sz="1060" spc="-1" strike="noStrike">
              <a:latin typeface="Arial"/>
            </a:endParaRPr>
          </a:p>
        </p:txBody>
      </p:sp>
      <p:sp>
        <p:nvSpPr>
          <p:cNvPr id="320" name="Shape 25"/>
          <p:cNvSpPr/>
          <p:nvPr/>
        </p:nvSpPr>
        <p:spPr>
          <a:xfrm>
            <a:off x="4214520" y="3798000"/>
            <a:ext cx="3746880" cy="2721240"/>
          </a:xfrm>
          <a:custGeom>
            <a:avLst/>
            <a:gdLst/>
            <a:ahLst/>
            <a:rect l="l" t="t" r="r" b="b"/>
            <a:pathLst>
              <a:path w="3747507" h="2722404">
                <a:moveTo>
                  <a:pt x="100838" y="0"/>
                </a:moveTo>
                <a:lnTo>
                  <a:pt x="3646669" y="0"/>
                </a:lnTo>
                <a:cubicBezTo>
                  <a:pt x="3702360" y="0"/>
                  <a:pt x="3747507" y="45147"/>
                  <a:pt x="3747507" y="100838"/>
                </a:cubicBezTo>
                <a:lnTo>
                  <a:pt x="3747507" y="2621566"/>
                </a:lnTo>
                <a:cubicBezTo>
                  <a:pt x="3747507" y="2677257"/>
                  <a:pt x="3702360" y="2722404"/>
                  <a:pt x="3646669" y="2722404"/>
                </a:cubicBezTo>
                <a:lnTo>
                  <a:pt x="100838" y="2722404"/>
                </a:lnTo>
                <a:cubicBezTo>
                  <a:pt x="45147" y="2722404"/>
                  <a:pt x="0" y="2677257"/>
                  <a:pt x="0" y="2621566"/>
                </a:cubicBezTo>
                <a:lnTo>
                  <a:pt x="0" y="100838"/>
                </a:lnTo>
                <a:cubicBezTo>
                  <a:pt x="0" y="45147"/>
                  <a:pt x="45147" y="0"/>
                  <a:pt x="100838"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321" name="Text 26"/>
          <p:cNvSpPr/>
          <p:nvPr/>
        </p:nvSpPr>
        <p:spPr>
          <a:xfrm>
            <a:off x="4349160" y="3932280"/>
            <a:ext cx="3553560" cy="234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2f3e3b"/>
                </a:solidFill>
                <a:latin typeface="Sorts Mill Goudy"/>
                <a:ea typeface="Sorts Mill Goudy"/>
              </a:rPr>
              <a:t>Spatial Partitioning</a:t>
            </a:r>
            <a:endParaRPr b="0" lang="en-HK" sz="1190" spc="-1" strike="noStrike">
              <a:latin typeface="Arial"/>
            </a:endParaRPr>
          </a:p>
        </p:txBody>
      </p:sp>
      <p:sp>
        <p:nvSpPr>
          <p:cNvPr id="322" name="Text 27"/>
          <p:cNvSpPr/>
          <p:nvPr/>
        </p:nvSpPr>
        <p:spPr>
          <a:xfrm>
            <a:off x="4349160" y="4268520"/>
            <a:ext cx="3545280" cy="435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60" spc="-1" strike="noStrike">
                <a:solidFill>
                  <a:srgbClr val="1f2a28"/>
                </a:solidFill>
                <a:latin typeface="Quattrocento Sans"/>
                <a:ea typeface="Quattrocento Sans"/>
              </a:rPr>
              <a:t>Microhabitat specialization</a:t>
            </a:r>
            <a:r>
              <a:rPr b="0" lang="en-US" sz="1060" spc="-1" strike="noStrike">
                <a:solidFill>
                  <a:srgbClr val="1f2a28"/>
                </a:solidFill>
                <a:latin typeface="Quattrocento Sans"/>
                <a:ea typeface="Quattrocento Sans"/>
              </a:rPr>
              <a:t> allows species to occupy distinct physical spaces:</a:t>
            </a:r>
            <a:endParaRPr b="0" lang="en-HK" sz="1060" spc="-1" strike="noStrike">
              <a:latin typeface="Arial"/>
            </a:endParaRPr>
          </a:p>
        </p:txBody>
      </p:sp>
      <p:sp>
        <p:nvSpPr>
          <p:cNvPr id="323" name="Text 28"/>
          <p:cNvSpPr/>
          <p:nvPr/>
        </p:nvSpPr>
        <p:spPr>
          <a:xfrm>
            <a:off x="4349160" y="4806360"/>
            <a:ext cx="3545280" cy="200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Topographic preferences (ridge vs. valley)</a:t>
            </a:r>
            <a:endParaRPr b="0" lang="en-HK" sz="1060" spc="-1" strike="noStrike">
              <a:latin typeface="Arial"/>
            </a:endParaRPr>
          </a:p>
        </p:txBody>
      </p:sp>
      <p:sp>
        <p:nvSpPr>
          <p:cNvPr id="324" name="Text 29"/>
          <p:cNvSpPr/>
          <p:nvPr/>
        </p:nvSpPr>
        <p:spPr>
          <a:xfrm>
            <a:off x="4349160" y="5058360"/>
            <a:ext cx="3545280" cy="200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Soil moisture gradients</a:t>
            </a:r>
            <a:endParaRPr b="0" lang="en-HK" sz="1060" spc="-1" strike="noStrike">
              <a:latin typeface="Arial"/>
            </a:endParaRPr>
          </a:p>
        </p:txBody>
      </p:sp>
      <p:sp>
        <p:nvSpPr>
          <p:cNvPr id="325" name="Text 30"/>
          <p:cNvSpPr/>
          <p:nvPr/>
        </p:nvSpPr>
        <p:spPr>
          <a:xfrm>
            <a:off x="4349160" y="5310360"/>
            <a:ext cx="3545280" cy="200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Distance to streams or gaps</a:t>
            </a:r>
            <a:endParaRPr b="0" lang="en-HK" sz="1060" spc="-1" strike="noStrike">
              <a:latin typeface="Arial"/>
            </a:endParaRPr>
          </a:p>
        </p:txBody>
      </p:sp>
      <p:sp>
        <p:nvSpPr>
          <p:cNvPr id="326" name="Text 31"/>
          <p:cNvSpPr/>
          <p:nvPr/>
        </p:nvSpPr>
        <p:spPr>
          <a:xfrm>
            <a:off x="4349160" y="5562360"/>
            <a:ext cx="3545280" cy="200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Vertical stratification niches</a:t>
            </a:r>
            <a:endParaRPr b="0" lang="en-HK" sz="1060" spc="-1" strike="noStrike">
              <a:latin typeface="Arial"/>
            </a:endParaRPr>
          </a:p>
        </p:txBody>
      </p:sp>
      <p:sp>
        <p:nvSpPr>
          <p:cNvPr id="327" name="Shape 32"/>
          <p:cNvSpPr/>
          <p:nvPr/>
        </p:nvSpPr>
        <p:spPr>
          <a:xfrm>
            <a:off x="8126640" y="1378080"/>
            <a:ext cx="3729960" cy="1679400"/>
          </a:xfrm>
          <a:custGeom>
            <a:avLst/>
            <a:gdLst/>
            <a:ahLst/>
            <a:rect l="l" t="t" r="r" b="b"/>
            <a:pathLst>
              <a:path w="3730702" h="1680496">
                <a:moveTo>
                  <a:pt x="100830" y="0"/>
                </a:moveTo>
                <a:lnTo>
                  <a:pt x="3629872" y="0"/>
                </a:lnTo>
                <a:cubicBezTo>
                  <a:pt x="3685559" y="0"/>
                  <a:pt x="3730702" y="45143"/>
                  <a:pt x="3730702" y="100830"/>
                </a:cubicBezTo>
                <a:lnTo>
                  <a:pt x="3730702" y="1579666"/>
                </a:lnTo>
                <a:cubicBezTo>
                  <a:pt x="3730702" y="1635353"/>
                  <a:pt x="3685559" y="1680496"/>
                  <a:pt x="3629872" y="1680496"/>
                </a:cubicBezTo>
                <a:lnTo>
                  <a:pt x="100830" y="1680496"/>
                </a:lnTo>
                <a:cubicBezTo>
                  <a:pt x="45143" y="1680496"/>
                  <a:pt x="0" y="1635353"/>
                  <a:pt x="0" y="1579666"/>
                </a:cubicBezTo>
                <a:lnTo>
                  <a:pt x="0" y="100830"/>
                </a:lnTo>
                <a:cubicBezTo>
                  <a:pt x="0" y="45180"/>
                  <a:pt x="45180" y="0"/>
                  <a:pt x="100830" y="0"/>
                </a:cubicBezTo>
                <a:close/>
              </a:path>
            </a:pathLst>
          </a:custGeom>
          <a:solidFill>
            <a:srgbClr val="4c8a7a"/>
          </a:solidFill>
          <a:ln w="0">
            <a:noFill/>
          </a:ln>
        </p:spPr>
        <p:style>
          <a:lnRef idx="0"/>
          <a:fillRef idx="0"/>
          <a:effectRef idx="0"/>
          <a:fontRef idx="minor"/>
        </p:style>
      </p:sp>
      <p:sp>
        <p:nvSpPr>
          <p:cNvPr id="328" name="Text 33"/>
          <p:cNvSpPr/>
          <p:nvPr/>
        </p:nvSpPr>
        <p:spPr>
          <a:xfrm>
            <a:off x="8294760" y="1546200"/>
            <a:ext cx="3469680" cy="234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ffffff"/>
                </a:solidFill>
                <a:latin typeface="Sorts Mill Goudy"/>
                <a:ea typeface="Sorts Mill Goudy"/>
              </a:rPr>
              <a:t>Mass-Ratio Hypothesis</a:t>
            </a:r>
            <a:endParaRPr b="0" lang="en-HK" sz="1190" spc="-1" strike="noStrike">
              <a:latin typeface="Arial"/>
            </a:endParaRPr>
          </a:p>
        </p:txBody>
      </p:sp>
      <p:sp>
        <p:nvSpPr>
          <p:cNvPr id="329" name="Text 34"/>
          <p:cNvSpPr/>
          <p:nvPr/>
        </p:nvSpPr>
        <p:spPr>
          <a:xfrm>
            <a:off x="8294760" y="1882080"/>
            <a:ext cx="3461040" cy="435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ffffff"/>
                </a:solidFill>
                <a:latin typeface="Quattrocento Sans"/>
                <a:ea typeface="Quattrocento Sans"/>
              </a:rPr>
              <a:t>Dominant species drive ecosystem processes through their traits. Species with:</a:t>
            </a:r>
            <a:endParaRPr b="0" lang="en-HK" sz="1060" spc="-1" strike="noStrike">
              <a:latin typeface="Arial"/>
            </a:endParaRPr>
          </a:p>
        </p:txBody>
      </p:sp>
      <p:sp>
        <p:nvSpPr>
          <p:cNvPr id="330" name="Shape 35"/>
          <p:cNvSpPr/>
          <p:nvPr/>
        </p:nvSpPr>
        <p:spPr>
          <a:xfrm>
            <a:off x="8311680" y="2453400"/>
            <a:ext cx="133200" cy="133200"/>
          </a:xfrm>
          <a:custGeom>
            <a:avLst/>
            <a:gdLst/>
            <a:ahLst/>
            <a:rect l="l" t="t" r="r" b="b"/>
            <a:pathLst>
              <a:path w="134440" h="134440">
                <a:moveTo>
                  <a:pt x="123753" y="1759"/>
                </a:moveTo>
                <a:cubicBezTo>
                  <a:pt x="125433" y="158"/>
                  <a:pt x="127875" y="-420"/>
                  <a:pt x="130133" y="315"/>
                </a:cubicBezTo>
                <a:cubicBezTo>
                  <a:pt x="132707" y="1182"/>
                  <a:pt x="134440" y="3597"/>
                  <a:pt x="134440" y="6302"/>
                </a:cubicBezTo>
                <a:lnTo>
                  <a:pt x="134440" y="55378"/>
                </a:lnTo>
                <a:cubicBezTo>
                  <a:pt x="134440" y="89828"/>
                  <a:pt x="106055" y="117635"/>
                  <a:pt x="71736" y="117635"/>
                </a:cubicBezTo>
                <a:cubicBezTo>
                  <a:pt x="51518" y="117635"/>
                  <a:pt x="34083" y="104637"/>
                  <a:pt x="27754" y="86467"/>
                </a:cubicBezTo>
                <a:cubicBezTo>
                  <a:pt x="18459" y="94554"/>
                  <a:pt x="12604" y="106449"/>
                  <a:pt x="12604" y="119735"/>
                </a:cubicBezTo>
                <a:cubicBezTo>
                  <a:pt x="12604" y="123228"/>
                  <a:pt x="9794" y="126037"/>
                  <a:pt x="6302" y="126037"/>
                </a:cubicBezTo>
                <a:cubicBezTo>
                  <a:pt x="2810" y="126037"/>
                  <a:pt x="0" y="123228"/>
                  <a:pt x="0" y="119735"/>
                </a:cubicBezTo>
                <a:cubicBezTo>
                  <a:pt x="0" y="100068"/>
                  <a:pt x="10030" y="82738"/>
                  <a:pt x="25234" y="72550"/>
                </a:cubicBezTo>
                <a:cubicBezTo>
                  <a:pt x="34503" y="66353"/>
                  <a:pt x="45557" y="63019"/>
                  <a:pt x="56717" y="63019"/>
                </a:cubicBezTo>
                <a:lnTo>
                  <a:pt x="77723" y="63019"/>
                </a:lnTo>
                <a:cubicBezTo>
                  <a:pt x="81215" y="63019"/>
                  <a:pt x="84025" y="60209"/>
                  <a:pt x="84025" y="56717"/>
                </a:cubicBezTo>
                <a:cubicBezTo>
                  <a:pt x="84025" y="53224"/>
                  <a:pt x="81215" y="50415"/>
                  <a:pt x="77723" y="50415"/>
                </a:cubicBezTo>
                <a:lnTo>
                  <a:pt x="56717" y="50415"/>
                </a:lnTo>
                <a:cubicBezTo>
                  <a:pt x="46292" y="50415"/>
                  <a:pt x="36420" y="52726"/>
                  <a:pt x="27571" y="56848"/>
                </a:cubicBezTo>
                <a:cubicBezTo>
                  <a:pt x="33689" y="38468"/>
                  <a:pt x="50993" y="25207"/>
                  <a:pt x="71421" y="25207"/>
                </a:cubicBezTo>
                <a:cubicBezTo>
                  <a:pt x="88856" y="25207"/>
                  <a:pt x="101828" y="19404"/>
                  <a:pt x="110466" y="13654"/>
                </a:cubicBezTo>
                <a:cubicBezTo>
                  <a:pt x="115508" y="10293"/>
                  <a:pt x="119788" y="6276"/>
                  <a:pt x="123779" y="1759"/>
                </a:cubicBezTo>
                <a:close/>
              </a:path>
            </a:pathLst>
          </a:custGeom>
          <a:solidFill>
            <a:srgbClr val="ffffff"/>
          </a:solidFill>
          <a:ln w="0">
            <a:noFill/>
          </a:ln>
        </p:spPr>
        <p:style>
          <a:lnRef idx="0"/>
          <a:fillRef idx="0"/>
          <a:effectRef idx="0"/>
          <a:fontRef idx="minor"/>
        </p:style>
      </p:sp>
      <p:sp>
        <p:nvSpPr>
          <p:cNvPr id="331" name="Text 36"/>
          <p:cNvSpPr/>
          <p:nvPr/>
        </p:nvSpPr>
        <p:spPr>
          <a:xfrm>
            <a:off x="8530200" y="2419920"/>
            <a:ext cx="2242800" cy="200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Acquisitive traits:</a:t>
            </a:r>
            <a:r>
              <a:rPr b="0" lang="en-US" sz="1060" spc="-1" strike="noStrike">
                <a:solidFill>
                  <a:srgbClr val="ffffff"/>
                </a:solidFill>
                <a:latin typeface="Quattrocento Sans"/>
                <a:ea typeface="Quattrocento Sans"/>
              </a:rPr>
              <a:t> Fast carbon capture</a:t>
            </a:r>
            <a:endParaRPr b="0" lang="en-HK" sz="1060" spc="-1" strike="noStrike">
              <a:latin typeface="Arial"/>
            </a:endParaRPr>
          </a:p>
        </p:txBody>
      </p:sp>
      <p:sp>
        <p:nvSpPr>
          <p:cNvPr id="332" name="Shape 37"/>
          <p:cNvSpPr/>
          <p:nvPr/>
        </p:nvSpPr>
        <p:spPr>
          <a:xfrm>
            <a:off x="8311680" y="2722320"/>
            <a:ext cx="133200" cy="133200"/>
          </a:xfrm>
          <a:custGeom>
            <a:avLst/>
            <a:gdLst/>
            <a:ahLst/>
            <a:rect l="l" t="t" r="r" b="b"/>
            <a:pathLst>
              <a:path w="134440" h="134440">
                <a:moveTo>
                  <a:pt x="123753" y="1759"/>
                </a:moveTo>
                <a:cubicBezTo>
                  <a:pt x="125433" y="158"/>
                  <a:pt x="127875" y="-420"/>
                  <a:pt x="130133" y="315"/>
                </a:cubicBezTo>
                <a:cubicBezTo>
                  <a:pt x="132707" y="1182"/>
                  <a:pt x="134440" y="3597"/>
                  <a:pt x="134440" y="6302"/>
                </a:cubicBezTo>
                <a:lnTo>
                  <a:pt x="134440" y="55378"/>
                </a:lnTo>
                <a:cubicBezTo>
                  <a:pt x="134440" y="89828"/>
                  <a:pt x="106055" y="117635"/>
                  <a:pt x="71736" y="117635"/>
                </a:cubicBezTo>
                <a:cubicBezTo>
                  <a:pt x="51518" y="117635"/>
                  <a:pt x="34083" y="104637"/>
                  <a:pt x="27754" y="86467"/>
                </a:cubicBezTo>
                <a:cubicBezTo>
                  <a:pt x="18459" y="94554"/>
                  <a:pt x="12604" y="106449"/>
                  <a:pt x="12604" y="119735"/>
                </a:cubicBezTo>
                <a:cubicBezTo>
                  <a:pt x="12604" y="123228"/>
                  <a:pt x="9794" y="126037"/>
                  <a:pt x="6302" y="126037"/>
                </a:cubicBezTo>
                <a:cubicBezTo>
                  <a:pt x="2810" y="126037"/>
                  <a:pt x="0" y="123228"/>
                  <a:pt x="0" y="119735"/>
                </a:cubicBezTo>
                <a:cubicBezTo>
                  <a:pt x="0" y="100068"/>
                  <a:pt x="10030" y="82738"/>
                  <a:pt x="25234" y="72550"/>
                </a:cubicBezTo>
                <a:cubicBezTo>
                  <a:pt x="34503" y="66353"/>
                  <a:pt x="45557" y="63019"/>
                  <a:pt x="56717" y="63019"/>
                </a:cubicBezTo>
                <a:lnTo>
                  <a:pt x="77723" y="63019"/>
                </a:lnTo>
                <a:cubicBezTo>
                  <a:pt x="81215" y="63019"/>
                  <a:pt x="84025" y="60209"/>
                  <a:pt x="84025" y="56717"/>
                </a:cubicBezTo>
                <a:cubicBezTo>
                  <a:pt x="84025" y="53224"/>
                  <a:pt x="81215" y="50415"/>
                  <a:pt x="77723" y="50415"/>
                </a:cubicBezTo>
                <a:lnTo>
                  <a:pt x="56717" y="50415"/>
                </a:lnTo>
                <a:cubicBezTo>
                  <a:pt x="46292" y="50415"/>
                  <a:pt x="36420" y="52726"/>
                  <a:pt x="27571" y="56848"/>
                </a:cubicBezTo>
                <a:cubicBezTo>
                  <a:pt x="33689" y="38468"/>
                  <a:pt x="50993" y="25207"/>
                  <a:pt x="71421" y="25207"/>
                </a:cubicBezTo>
                <a:cubicBezTo>
                  <a:pt x="88856" y="25207"/>
                  <a:pt x="101828" y="19404"/>
                  <a:pt x="110466" y="13654"/>
                </a:cubicBezTo>
                <a:cubicBezTo>
                  <a:pt x="115508" y="10293"/>
                  <a:pt x="119788" y="6276"/>
                  <a:pt x="123779" y="1759"/>
                </a:cubicBezTo>
                <a:close/>
              </a:path>
            </a:pathLst>
          </a:custGeom>
          <a:solidFill>
            <a:srgbClr val="ffffff"/>
          </a:solidFill>
          <a:ln w="0">
            <a:noFill/>
          </a:ln>
        </p:spPr>
        <p:style>
          <a:lnRef idx="0"/>
          <a:fillRef idx="0"/>
          <a:effectRef idx="0"/>
          <a:fontRef idx="minor"/>
        </p:style>
      </p:sp>
      <p:sp>
        <p:nvSpPr>
          <p:cNvPr id="333" name="Text 38"/>
          <p:cNvSpPr/>
          <p:nvPr/>
        </p:nvSpPr>
        <p:spPr>
          <a:xfrm>
            <a:off x="8530200" y="2688840"/>
            <a:ext cx="3099960" cy="200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Conservative traits:</a:t>
            </a:r>
            <a:r>
              <a:rPr b="0" lang="en-US" sz="1060" spc="-1" strike="noStrike">
                <a:solidFill>
                  <a:srgbClr val="ffffff"/>
                </a:solidFill>
                <a:latin typeface="Quattrocento Sans"/>
                <a:ea typeface="Quattrocento Sans"/>
              </a:rPr>
              <a:t> Long-term carbon sequestration</a:t>
            </a:r>
            <a:endParaRPr b="0" lang="en-HK" sz="1060" spc="-1" strike="noStrike">
              <a:latin typeface="Arial"/>
            </a:endParaRPr>
          </a:p>
        </p:txBody>
      </p:sp>
      <p:sp>
        <p:nvSpPr>
          <p:cNvPr id="334" name="Shape 39"/>
          <p:cNvSpPr/>
          <p:nvPr/>
        </p:nvSpPr>
        <p:spPr>
          <a:xfrm>
            <a:off x="8126640" y="3192840"/>
            <a:ext cx="3729960" cy="2149920"/>
          </a:xfrm>
          <a:custGeom>
            <a:avLst/>
            <a:gdLst/>
            <a:ahLst/>
            <a:rect l="l" t="t" r="r" b="b"/>
            <a:pathLst>
              <a:path w="3730702" h="2151035">
                <a:moveTo>
                  <a:pt x="100841" y="0"/>
                </a:moveTo>
                <a:lnTo>
                  <a:pt x="3629861" y="0"/>
                </a:lnTo>
                <a:cubicBezTo>
                  <a:pt x="3685554" y="0"/>
                  <a:pt x="3730702" y="45148"/>
                  <a:pt x="3730702" y="100841"/>
                </a:cubicBezTo>
                <a:lnTo>
                  <a:pt x="3730702" y="2050195"/>
                </a:lnTo>
                <a:cubicBezTo>
                  <a:pt x="3730702" y="2105887"/>
                  <a:pt x="3685554" y="2151035"/>
                  <a:pt x="3629861" y="2151035"/>
                </a:cubicBezTo>
                <a:lnTo>
                  <a:pt x="100841" y="2151035"/>
                </a:lnTo>
                <a:cubicBezTo>
                  <a:pt x="45148" y="2151035"/>
                  <a:pt x="0" y="2105887"/>
                  <a:pt x="0" y="2050195"/>
                </a:cubicBezTo>
                <a:lnTo>
                  <a:pt x="0" y="100841"/>
                </a:lnTo>
                <a:cubicBezTo>
                  <a:pt x="0" y="45185"/>
                  <a:pt x="45185" y="0"/>
                  <a:pt x="100841"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335" name="Text 40"/>
          <p:cNvSpPr/>
          <p:nvPr/>
        </p:nvSpPr>
        <p:spPr>
          <a:xfrm>
            <a:off x="8294760" y="3360960"/>
            <a:ext cx="3469680" cy="234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2f3e3b"/>
                </a:solidFill>
                <a:latin typeface="Sorts Mill Goudy"/>
                <a:ea typeface="Sorts Mill Goudy"/>
              </a:rPr>
              <a:t>Diversity Effects</a:t>
            </a:r>
            <a:endParaRPr b="0" lang="en-HK" sz="1190" spc="-1" strike="noStrike">
              <a:latin typeface="Arial"/>
            </a:endParaRPr>
          </a:p>
        </p:txBody>
      </p:sp>
      <p:sp>
        <p:nvSpPr>
          <p:cNvPr id="336" name="Shape 41"/>
          <p:cNvSpPr/>
          <p:nvPr/>
        </p:nvSpPr>
        <p:spPr>
          <a:xfrm>
            <a:off x="8294760" y="3697200"/>
            <a:ext cx="3393720" cy="603720"/>
          </a:xfrm>
          <a:custGeom>
            <a:avLst/>
            <a:gdLst/>
            <a:ahLst/>
            <a:rect l="l" t="t" r="r" b="b"/>
            <a:pathLst>
              <a:path w="3394602" h="604979">
                <a:moveTo>
                  <a:pt x="67219" y="0"/>
                </a:moveTo>
                <a:lnTo>
                  <a:pt x="3327383" y="0"/>
                </a:lnTo>
                <a:cubicBezTo>
                  <a:pt x="3364507" y="0"/>
                  <a:pt x="3394602" y="30095"/>
                  <a:pt x="3394602" y="67219"/>
                </a:cubicBezTo>
                <a:lnTo>
                  <a:pt x="3394602" y="537759"/>
                </a:lnTo>
                <a:cubicBezTo>
                  <a:pt x="3394602" y="574884"/>
                  <a:pt x="3364507" y="604979"/>
                  <a:pt x="3327383" y="604979"/>
                </a:cubicBezTo>
                <a:lnTo>
                  <a:pt x="67219" y="604979"/>
                </a:lnTo>
                <a:cubicBezTo>
                  <a:pt x="30095" y="604979"/>
                  <a:pt x="0" y="574884"/>
                  <a:pt x="0" y="537759"/>
                </a:cubicBezTo>
                <a:lnTo>
                  <a:pt x="0" y="67219"/>
                </a:lnTo>
                <a:cubicBezTo>
                  <a:pt x="0" y="30095"/>
                  <a:pt x="30095" y="0"/>
                  <a:pt x="67219" y="0"/>
                </a:cubicBezTo>
                <a:close/>
              </a:path>
            </a:pathLst>
          </a:custGeom>
          <a:solidFill>
            <a:srgbClr val="f5f7f6"/>
          </a:solidFill>
          <a:ln w="0">
            <a:noFill/>
          </a:ln>
        </p:spPr>
        <p:style>
          <a:lnRef idx="0"/>
          <a:fillRef idx="0"/>
          <a:effectRef idx="0"/>
          <a:fontRef idx="minor"/>
        </p:style>
      </p:sp>
      <p:sp>
        <p:nvSpPr>
          <p:cNvPr id="337" name="Text 42"/>
          <p:cNvSpPr/>
          <p:nvPr/>
        </p:nvSpPr>
        <p:spPr>
          <a:xfrm>
            <a:off x="8395560" y="3798000"/>
            <a:ext cx="3259440" cy="200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f3e3b"/>
                </a:solidFill>
                <a:latin typeface="Quattrocento Sans"/>
                <a:ea typeface="Quattrocento Sans"/>
              </a:rPr>
              <a:t>Complementarity Effect</a:t>
            </a:r>
            <a:endParaRPr b="0" lang="en-HK" sz="1060" spc="-1" strike="noStrike">
              <a:latin typeface="Arial"/>
            </a:endParaRPr>
          </a:p>
        </p:txBody>
      </p:sp>
      <p:sp>
        <p:nvSpPr>
          <p:cNvPr id="338" name="Text 43"/>
          <p:cNvSpPr/>
          <p:nvPr/>
        </p:nvSpPr>
        <p:spPr>
          <a:xfrm>
            <a:off x="8395560" y="4033080"/>
            <a:ext cx="3251160" cy="167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Resource partitioning and facilitation enhance productivity</a:t>
            </a:r>
            <a:endParaRPr b="0" lang="en-HK" sz="920" spc="-1" strike="noStrike">
              <a:latin typeface="Arial"/>
            </a:endParaRPr>
          </a:p>
        </p:txBody>
      </p:sp>
      <p:sp>
        <p:nvSpPr>
          <p:cNvPr id="339" name="Shape 44"/>
          <p:cNvSpPr/>
          <p:nvPr/>
        </p:nvSpPr>
        <p:spPr>
          <a:xfrm>
            <a:off x="8294760" y="4402800"/>
            <a:ext cx="3393720" cy="771840"/>
          </a:xfrm>
          <a:custGeom>
            <a:avLst/>
            <a:gdLst/>
            <a:ahLst/>
            <a:rect l="l" t="t" r="r" b="b"/>
            <a:pathLst>
              <a:path w="3394602" h="773028">
                <a:moveTo>
                  <a:pt x="67223" y="0"/>
                </a:moveTo>
                <a:lnTo>
                  <a:pt x="3327380" y="0"/>
                </a:lnTo>
                <a:cubicBezTo>
                  <a:pt x="3364506" y="0"/>
                  <a:pt x="3394602" y="30097"/>
                  <a:pt x="3394602" y="67223"/>
                </a:cubicBezTo>
                <a:lnTo>
                  <a:pt x="3394602" y="705806"/>
                </a:lnTo>
                <a:cubicBezTo>
                  <a:pt x="3394602" y="742932"/>
                  <a:pt x="3364506" y="773028"/>
                  <a:pt x="3327380" y="773028"/>
                </a:cubicBezTo>
                <a:lnTo>
                  <a:pt x="67223" y="773028"/>
                </a:lnTo>
                <a:cubicBezTo>
                  <a:pt x="30097" y="773028"/>
                  <a:pt x="0" y="742932"/>
                  <a:pt x="0" y="705806"/>
                </a:cubicBezTo>
                <a:lnTo>
                  <a:pt x="0" y="67223"/>
                </a:lnTo>
                <a:cubicBezTo>
                  <a:pt x="0" y="30121"/>
                  <a:pt x="30121" y="0"/>
                  <a:pt x="67223" y="0"/>
                </a:cubicBezTo>
                <a:close/>
              </a:path>
            </a:pathLst>
          </a:custGeom>
          <a:solidFill>
            <a:srgbClr val="f5f7f6"/>
          </a:solidFill>
          <a:ln w="0">
            <a:noFill/>
          </a:ln>
        </p:spPr>
        <p:style>
          <a:lnRef idx="0"/>
          <a:fillRef idx="0"/>
          <a:effectRef idx="0"/>
          <a:fontRef idx="minor"/>
        </p:style>
      </p:sp>
      <p:sp>
        <p:nvSpPr>
          <p:cNvPr id="340" name="Text 45"/>
          <p:cNvSpPr/>
          <p:nvPr/>
        </p:nvSpPr>
        <p:spPr>
          <a:xfrm>
            <a:off x="8395560" y="4503600"/>
            <a:ext cx="3259440" cy="200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f3e3b"/>
                </a:solidFill>
                <a:latin typeface="Quattrocento Sans"/>
                <a:ea typeface="Quattrocento Sans"/>
              </a:rPr>
              <a:t>Selection Effect</a:t>
            </a:r>
            <a:endParaRPr b="0" lang="en-HK" sz="1060" spc="-1" strike="noStrike">
              <a:latin typeface="Arial"/>
            </a:endParaRPr>
          </a:p>
        </p:txBody>
      </p:sp>
      <p:sp>
        <p:nvSpPr>
          <p:cNvPr id="341" name="Text 46"/>
          <p:cNvSpPr/>
          <p:nvPr/>
        </p:nvSpPr>
        <p:spPr>
          <a:xfrm>
            <a:off x="8395560" y="4739040"/>
            <a:ext cx="3251160" cy="335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Higher diversity increases probability of including productive species</a:t>
            </a:r>
            <a:endParaRPr b="0" lang="en-HK" sz="920" spc="-1" strike="noStrike">
              <a:latin typeface="Arial"/>
            </a:endParaRPr>
          </a:p>
        </p:txBody>
      </p:sp>
      <p:sp>
        <p:nvSpPr>
          <p:cNvPr id="342" name="Shape 47"/>
          <p:cNvSpPr/>
          <p:nvPr/>
        </p:nvSpPr>
        <p:spPr>
          <a:xfrm>
            <a:off x="8126640" y="5478480"/>
            <a:ext cx="3729960" cy="805680"/>
          </a:xfrm>
          <a:custGeom>
            <a:avLst/>
            <a:gdLst/>
            <a:ahLst/>
            <a:rect l="l" t="t" r="r" b="b"/>
            <a:pathLst>
              <a:path w="3730702" h="806638">
                <a:moveTo>
                  <a:pt x="100830" y="0"/>
                </a:moveTo>
                <a:lnTo>
                  <a:pt x="3629872" y="0"/>
                </a:lnTo>
                <a:cubicBezTo>
                  <a:pt x="3685559" y="0"/>
                  <a:pt x="3730702" y="45143"/>
                  <a:pt x="3730702" y="100830"/>
                </a:cubicBezTo>
                <a:lnTo>
                  <a:pt x="3730702" y="705808"/>
                </a:lnTo>
                <a:cubicBezTo>
                  <a:pt x="3730702" y="761495"/>
                  <a:pt x="3685559" y="806638"/>
                  <a:pt x="3629872" y="806638"/>
                </a:cubicBezTo>
                <a:lnTo>
                  <a:pt x="100830" y="806638"/>
                </a:lnTo>
                <a:cubicBezTo>
                  <a:pt x="45143" y="806638"/>
                  <a:pt x="0" y="761495"/>
                  <a:pt x="0" y="705808"/>
                </a:cubicBezTo>
                <a:lnTo>
                  <a:pt x="0" y="100830"/>
                </a:lnTo>
                <a:cubicBezTo>
                  <a:pt x="0" y="45180"/>
                  <a:pt x="45180" y="0"/>
                  <a:pt x="100830" y="0"/>
                </a:cubicBezTo>
                <a:close/>
              </a:path>
            </a:pathLst>
          </a:custGeom>
          <a:solidFill>
            <a:srgbClr val="2f3e3b"/>
          </a:solidFill>
          <a:ln w="0">
            <a:noFill/>
          </a:ln>
        </p:spPr>
        <p:style>
          <a:lnRef idx="0"/>
          <a:fillRef idx="0"/>
          <a:effectRef idx="0"/>
          <a:fontRef idx="minor"/>
        </p:style>
      </p:sp>
      <p:sp>
        <p:nvSpPr>
          <p:cNvPr id="343" name="Text 48"/>
          <p:cNvSpPr/>
          <p:nvPr/>
        </p:nvSpPr>
        <p:spPr>
          <a:xfrm>
            <a:off x="8198280" y="5612760"/>
            <a:ext cx="3587040" cy="30132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79" spc="-1" strike="noStrike">
                <a:solidFill>
                  <a:srgbClr val="ffffff"/>
                </a:solidFill>
                <a:latin typeface="Sorts Mill Goudy"/>
                <a:ea typeface="Sorts Mill Goudy"/>
              </a:rPr>
              <a:t>Phylogenetic Diversity</a:t>
            </a:r>
            <a:endParaRPr b="0" lang="en-HK" sz="1979" spc="-1" strike="noStrike">
              <a:latin typeface="Arial"/>
            </a:endParaRPr>
          </a:p>
        </p:txBody>
      </p:sp>
      <p:sp>
        <p:nvSpPr>
          <p:cNvPr id="344" name="Text 49"/>
          <p:cNvSpPr/>
          <p:nvPr/>
        </p:nvSpPr>
        <p:spPr>
          <a:xfrm>
            <a:off x="8227800" y="5949000"/>
            <a:ext cx="3528360" cy="2005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60" spc="-1" strike="noStrike">
                <a:solidFill>
                  <a:srgbClr val="ffffff"/>
                </a:solidFill>
                <a:latin typeface="Quattrocento Sans"/>
                <a:ea typeface="Quattrocento Sans"/>
              </a:rPr>
              <a:t>Stronger predictor of biomass than species richness alone</a:t>
            </a:r>
            <a:endParaRPr b="0" lang="en-HK" sz="106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345" name="Text 0"/>
          <p:cNvSpPr/>
          <p:nvPr/>
        </p:nvSpPr>
        <p:spPr>
          <a:xfrm>
            <a:off x="346320" y="346320"/>
            <a:ext cx="11559960" cy="172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60" spc="89" strike="noStrike">
                <a:solidFill>
                  <a:srgbClr val="8fb7ac"/>
                </a:solidFill>
                <a:latin typeface="Quattrocento Sans"/>
                <a:ea typeface="Quattrocento Sans"/>
              </a:rPr>
              <a:t>04 • Disturbance Regimes</a:t>
            </a:r>
            <a:endParaRPr b="0" lang="en-HK" sz="960" spc="-1" strike="noStrike">
              <a:latin typeface="Arial"/>
            </a:endParaRPr>
          </a:p>
        </p:txBody>
      </p:sp>
      <p:sp>
        <p:nvSpPr>
          <p:cNvPr id="346" name="Text 1"/>
          <p:cNvSpPr/>
          <p:nvPr/>
        </p:nvSpPr>
        <p:spPr>
          <a:xfrm>
            <a:off x="346320" y="588960"/>
            <a:ext cx="11655000" cy="3452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450" spc="-1" strike="noStrike">
                <a:solidFill>
                  <a:srgbClr val="2f3e3b"/>
                </a:solidFill>
                <a:latin typeface="Sorts Mill Goudy"/>
                <a:ea typeface="Sorts Mill Goudy"/>
              </a:rPr>
              <a:t>Gap Dynamics &amp; Forest Regeneration</a:t>
            </a:r>
            <a:endParaRPr b="0" lang="en-HK" sz="2450" spc="-1" strike="noStrike">
              <a:latin typeface="Arial"/>
            </a:endParaRPr>
          </a:p>
        </p:txBody>
      </p:sp>
      <p:sp>
        <p:nvSpPr>
          <p:cNvPr id="347" name="Text 2"/>
          <p:cNvSpPr/>
          <p:nvPr/>
        </p:nvSpPr>
        <p:spPr>
          <a:xfrm>
            <a:off x="346320" y="1004400"/>
            <a:ext cx="11577240" cy="241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20" spc="-1" strike="noStrike">
                <a:solidFill>
                  <a:srgbClr val="5f6f6b"/>
                </a:solidFill>
                <a:latin typeface="Quattrocento Sans"/>
                <a:ea typeface="Quattrocento Sans"/>
              </a:rPr>
              <a:t>Natural disturbances maintain diversity through regeneration opportunities</a:t>
            </a:r>
            <a:endParaRPr b="0" lang="en-HK" sz="1220" spc="-1" strike="noStrike">
              <a:latin typeface="Arial"/>
            </a:endParaRPr>
          </a:p>
        </p:txBody>
      </p:sp>
      <p:sp>
        <p:nvSpPr>
          <p:cNvPr id="348" name="Shape 3"/>
          <p:cNvSpPr/>
          <p:nvPr/>
        </p:nvSpPr>
        <p:spPr>
          <a:xfrm>
            <a:off x="346320" y="1420200"/>
            <a:ext cx="5645160" cy="2406240"/>
          </a:xfrm>
          <a:custGeom>
            <a:avLst/>
            <a:gdLst/>
            <a:ahLst/>
            <a:rect l="l" t="t" r="r" b="b"/>
            <a:pathLst>
              <a:path w="5645727" h="2407227">
                <a:moveTo>
                  <a:pt x="103920" y="0"/>
                </a:moveTo>
                <a:lnTo>
                  <a:pt x="5541807" y="0"/>
                </a:lnTo>
                <a:cubicBezTo>
                  <a:pt x="5599201" y="0"/>
                  <a:pt x="5645727" y="46527"/>
                  <a:pt x="5645727" y="103920"/>
                </a:cubicBezTo>
                <a:lnTo>
                  <a:pt x="5645727" y="2303307"/>
                </a:lnTo>
                <a:cubicBezTo>
                  <a:pt x="5645727" y="2360701"/>
                  <a:pt x="5599201" y="2407227"/>
                  <a:pt x="5541807" y="2407227"/>
                </a:cubicBezTo>
                <a:lnTo>
                  <a:pt x="103920" y="2407227"/>
                </a:lnTo>
                <a:cubicBezTo>
                  <a:pt x="46527" y="2407227"/>
                  <a:pt x="0" y="2360701"/>
                  <a:pt x="0" y="2303307"/>
                </a:cubicBezTo>
                <a:lnTo>
                  <a:pt x="0" y="103920"/>
                </a:lnTo>
                <a:cubicBezTo>
                  <a:pt x="0" y="46565"/>
                  <a:pt x="46565" y="0"/>
                  <a:pt x="103920" y="0"/>
                </a:cubicBezTo>
                <a:close/>
              </a:path>
            </a:pathLst>
          </a:custGeom>
          <a:solidFill>
            <a:srgbClr val="ffffff"/>
          </a:solidFill>
          <a:ln w="0">
            <a:noFill/>
          </a:ln>
          <a:effectLst>
            <a:outerShdw algn="bl" blurRad="25920" dir="5400000" dist="8640" kx="0" ky="0" rotWithShape="0" sx="100000" sy="100000">
              <a:srgbClr val="000000">
                <a:alpha val="10000"/>
              </a:srgbClr>
            </a:outerShdw>
          </a:effectLst>
        </p:spPr>
        <p:style>
          <a:lnRef idx="0"/>
          <a:fillRef idx="0"/>
          <a:effectRef idx="0"/>
          <a:fontRef idx="minor"/>
        </p:style>
      </p:sp>
      <p:sp>
        <p:nvSpPr>
          <p:cNvPr id="349" name="Text 4"/>
          <p:cNvSpPr/>
          <p:nvPr/>
        </p:nvSpPr>
        <p:spPr>
          <a:xfrm>
            <a:off x="519480" y="1593360"/>
            <a:ext cx="5385240" cy="241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70" spc="-1" strike="noStrike">
                <a:solidFill>
                  <a:srgbClr val="2f3e3b"/>
                </a:solidFill>
                <a:latin typeface="Sorts Mill Goudy"/>
                <a:ea typeface="Sorts Mill Goudy"/>
              </a:rPr>
              <a:t>Gap-Phase Regeneration Theory</a:t>
            </a:r>
            <a:endParaRPr b="0" lang="en-HK" sz="1370" spc="-1" strike="noStrike">
              <a:latin typeface="Arial"/>
            </a:endParaRPr>
          </a:p>
        </p:txBody>
      </p:sp>
      <p:sp>
        <p:nvSpPr>
          <p:cNvPr id="350" name="Text 5"/>
          <p:cNvSpPr/>
          <p:nvPr/>
        </p:nvSpPr>
        <p:spPr>
          <a:xfrm>
            <a:off x="519480" y="1939680"/>
            <a:ext cx="5367960" cy="6742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90" spc="-1" strike="noStrike">
                <a:solidFill>
                  <a:srgbClr val="1f2a28"/>
                </a:solidFill>
                <a:latin typeface="Quattrocento Sans"/>
                <a:ea typeface="Quattrocento Sans"/>
              </a:rPr>
              <a:t>First proposed by Watt (1947), the </a:t>
            </a:r>
            <a:r>
              <a:rPr b="1" lang="en-US" sz="1090" spc="-1" strike="noStrike">
                <a:solidFill>
                  <a:srgbClr val="1f2a28"/>
                </a:solidFill>
                <a:latin typeface="Quattrocento Sans"/>
                <a:ea typeface="Quattrocento Sans"/>
              </a:rPr>
              <a:t>gap-phase regeneration theory</a:t>
            </a:r>
            <a:r>
              <a:rPr b="0" lang="en-US" sz="1090" spc="-1" strike="noStrike">
                <a:solidFill>
                  <a:srgbClr val="1f2a28"/>
                </a:solidFill>
                <a:latin typeface="Quattrocento Sans"/>
                <a:ea typeface="Quattrocento Sans"/>
              </a:rPr>
              <a:t> explains how </a:t>
            </a:r>
            <a:r>
              <a:rPr b="0" lang="en-US" sz="1090" spc="-1" strike="noStrike">
                <a:solidFill>
                  <a:srgbClr val="2f3e3b"/>
                </a:solidFill>
                <a:highlight>
                  <a:srgbClr val="8fb7ac"/>
                </a:highlight>
                <a:latin typeface="Quattrocento Sans"/>
                <a:ea typeface="Quattrocento Sans"/>
              </a:rPr>
              <a:t>canopy gaps created by tree death drive forest dynamics </a:t>
            </a:r>
            <a:r>
              <a:rPr b="0" lang="en-US" sz="1090" spc="-1" strike="noStrike">
                <a:solidFill>
                  <a:srgbClr val="1f2a28"/>
                </a:solidFill>
                <a:latin typeface="Quattrocento Sans"/>
                <a:ea typeface="Quattrocento Sans"/>
              </a:rPr>
              <a:t>. These gaps initiate localized succession, preventing competitive exclusion and maintaining species diversity.</a:t>
            </a:r>
            <a:endParaRPr b="0" lang="en-HK" sz="1090" spc="-1" strike="noStrike">
              <a:latin typeface="Arial"/>
            </a:endParaRPr>
          </a:p>
        </p:txBody>
      </p:sp>
      <p:sp>
        <p:nvSpPr>
          <p:cNvPr id="351" name="Shape 6"/>
          <p:cNvSpPr/>
          <p:nvPr/>
        </p:nvSpPr>
        <p:spPr>
          <a:xfrm>
            <a:off x="519480" y="2753640"/>
            <a:ext cx="2579760" cy="899640"/>
          </a:xfrm>
          <a:custGeom>
            <a:avLst/>
            <a:gdLst/>
            <a:ahLst/>
            <a:rect l="l" t="t" r="r" b="b"/>
            <a:pathLst>
              <a:path w="2580409" h="900545">
                <a:moveTo>
                  <a:pt x="69270" y="0"/>
                </a:moveTo>
                <a:lnTo>
                  <a:pt x="2511139" y="0"/>
                </a:lnTo>
                <a:cubicBezTo>
                  <a:pt x="2549396" y="0"/>
                  <a:pt x="2580409" y="31013"/>
                  <a:pt x="2580409" y="69270"/>
                </a:cubicBezTo>
                <a:lnTo>
                  <a:pt x="2580409" y="831275"/>
                </a:lnTo>
                <a:cubicBezTo>
                  <a:pt x="2580409" y="869532"/>
                  <a:pt x="2549396" y="900545"/>
                  <a:pt x="2511139" y="900545"/>
                </a:cubicBezTo>
                <a:lnTo>
                  <a:pt x="69270" y="900545"/>
                </a:lnTo>
                <a:cubicBezTo>
                  <a:pt x="31013" y="900545"/>
                  <a:pt x="0" y="869532"/>
                  <a:pt x="0" y="831275"/>
                </a:cubicBezTo>
                <a:lnTo>
                  <a:pt x="0" y="69270"/>
                </a:lnTo>
                <a:cubicBezTo>
                  <a:pt x="0" y="31039"/>
                  <a:pt x="31039" y="0"/>
                  <a:pt x="69270" y="0"/>
                </a:cubicBezTo>
                <a:close/>
              </a:path>
            </a:pathLst>
          </a:custGeom>
          <a:solidFill>
            <a:srgbClr val="4c8a7a">
              <a:alpha val="10000"/>
            </a:srgbClr>
          </a:solidFill>
          <a:ln w="0">
            <a:noFill/>
          </a:ln>
        </p:spPr>
        <p:style>
          <a:lnRef idx="0"/>
          <a:fillRef idx="0"/>
          <a:effectRef idx="0"/>
          <a:fontRef idx="minor"/>
        </p:style>
      </p:sp>
      <p:sp>
        <p:nvSpPr>
          <p:cNvPr id="352" name="Text 7"/>
          <p:cNvSpPr/>
          <p:nvPr/>
        </p:nvSpPr>
        <p:spPr>
          <a:xfrm>
            <a:off x="658080" y="2892240"/>
            <a:ext cx="2372040" cy="206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90" spc="-1" strike="noStrike">
                <a:solidFill>
                  <a:srgbClr val="2f3e3b"/>
                </a:solidFill>
                <a:latin typeface="Quattrocento Sans"/>
                <a:ea typeface="Quattrocento Sans"/>
              </a:rPr>
              <a:t>Canopy Gap (CG)</a:t>
            </a:r>
            <a:endParaRPr b="0" lang="en-HK" sz="1090" spc="-1" strike="noStrike">
              <a:latin typeface="Arial"/>
            </a:endParaRPr>
          </a:p>
        </p:txBody>
      </p:sp>
      <p:sp>
        <p:nvSpPr>
          <p:cNvPr id="353" name="Text 8"/>
          <p:cNvSpPr/>
          <p:nvPr/>
        </p:nvSpPr>
        <p:spPr>
          <a:xfrm>
            <a:off x="658080" y="3169080"/>
            <a:ext cx="2363040" cy="345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Area directly under canopy opening. Average: 52-75 m²</a:t>
            </a:r>
            <a:endParaRPr b="0" lang="en-HK" sz="960" spc="-1" strike="noStrike">
              <a:latin typeface="Arial"/>
            </a:endParaRPr>
          </a:p>
        </p:txBody>
      </p:sp>
      <p:sp>
        <p:nvSpPr>
          <p:cNvPr id="354" name="Shape 9"/>
          <p:cNvSpPr/>
          <p:nvPr/>
        </p:nvSpPr>
        <p:spPr>
          <a:xfrm>
            <a:off x="3238560" y="2753640"/>
            <a:ext cx="2579760" cy="899640"/>
          </a:xfrm>
          <a:custGeom>
            <a:avLst/>
            <a:gdLst/>
            <a:ahLst/>
            <a:rect l="l" t="t" r="r" b="b"/>
            <a:pathLst>
              <a:path w="2580409" h="900545">
                <a:moveTo>
                  <a:pt x="69270" y="0"/>
                </a:moveTo>
                <a:lnTo>
                  <a:pt x="2511139" y="0"/>
                </a:lnTo>
                <a:cubicBezTo>
                  <a:pt x="2549396" y="0"/>
                  <a:pt x="2580409" y="31013"/>
                  <a:pt x="2580409" y="69270"/>
                </a:cubicBezTo>
                <a:lnTo>
                  <a:pt x="2580409" y="831275"/>
                </a:lnTo>
                <a:cubicBezTo>
                  <a:pt x="2580409" y="869532"/>
                  <a:pt x="2549396" y="900545"/>
                  <a:pt x="2511139" y="900545"/>
                </a:cubicBezTo>
                <a:lnTo>
                  <a:pt x="69270" y="900545"/>
                </a:lnTo>
                <a:cubicBezTo>
                  <a:pt x="31013" y="900545"/>
                  <a:pt x="0" y="869532"/>
                  <a:pt x="0" y="831275"/>
                </a:cubicBezTo>
                <a:lnTo>
                  <a:pt x="0" y="69270"/>
                </a:lnTo>
                <a:cubicBezTo>
                  <a:pt x="0" y="31039"/>
                  <a:pt x="31039" y="0"/>
                  <a:pt x="69270" y="0"/>
                </a:cubicBezTo>
                <a:close/>
              </a:path>
            </a:pathLst>
          </a:custGeom>
          <a:solidFill>
            <a:srgbClr val="8fb7ac">
              <a:alpha val="10000"/>
            </a:srgbClr>
          </a:solidFill>
          <a:ln w="0">
            <a:noFill/>
          </a:ln>
        </p:spPr>
        <p:style>
          <a:lnRef idx="0"/>
          <a:fillRef idx="0"/>
          <a:effectRef idx="0"/>
          <a:fontRef idx="minor"/>
        </p:style>
      </p:sp>
      <p:sp>
        <p:nvSpPr>
          <p:cNvPr id="355" name="Text 10"/>
          <p:cNvSpPr/>
          <p:nvPr/>
        </p:nvSpPr>
        <p:spPr>
          <a:xfrm>
            <a:off x="3377160" y="2892240"/>
            <a:ext cx="2372040" cy="206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90" spc="-1" strike="noStrike">
                <a:solidFill>
                  <a:srgbClr val="2f3e3b"/>
                </a:solidFill>
                <a:latin typeface="Quattrocento Sans"/>
                <a:ea typeface="Quattrocento Sans"/>
              </a:rPr>
              <a:t>Expanded Gap (EG)</a:t>
            </a:r>
            <a:endParaRPr b="0" lang="en-HK" sz="1090" spc="-1" strike="noStrike">
              <a:latin typeface="Arial"/>
            </a:endParaRPr>
          </a:p>
        </p:txBody>
      </p:sp>
      <p:sp>
        <p:nvSpPr>
          <p:cNvPr id="356" name="Text 11"/>
          <p:cNvSpPr/>
          <p:nvPr/>
        </p:nvSpPr>
        <p:spPr>
          <a:xfrm>
            <a:off x="3377160" y="3169080"/>
            <a:ext cx="2363040" cy="345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Includes CG plus area to surrounding tree trunks</a:t>
            </a:r>
            <a:endParaRPr b="0" lang="en-HK" sz="960" spc="-1" strike="noStrike">
              <a:latin typeface="Arial"/>
            </a:endParaRPr>
          </a:p>
        </p:txBody>
      </p:sp>
      <p:sp>
        <p:nvSpPr>
          <p:cNvPr id="357" name="Shape 12"/>
          <p:cNvSpPr/>
          <p:nvPr/>
        </p:nvSpPr>
        <p:spPr>
          <a:xfrm>
            <a:off x="346320" y="3965760"/>
            <a:ext cx="5645160" cy="2665800"/>
          </a:xfrm>
          <a:custGeom>
            <a:avLst/>
            <a:gdLst/>
            <a:ahLst/>
            <a:rect l="l" t="t" r="r" b="b"/>
            <a:pathLst>
              <a:path w="5645727" h="2667000">
                <a:moveTo>
                  <a:pt x="103906" y="0"/>
                </a:moveTo>
                <a:lnTo>
                  <a:pt x="5541821" y="0"/>
                </a:lnTo>
                <a:cubicBezTo>
                  <a:pt x="5599207" y="0"/>
                  <a:pt x="5645727" y="46520"/>
                  <a:pt x="5645727" y="103906"/>
                </a:cubicBezTo>
                <a:lnTo>
                  <a:pt x="5645727" y="2563094"/>
                </a:lnTo>
                <a:cubicBezTo>
                  <a:pt x="5645727" y="2620480"/>
                  <a:pt x="5599207" y="2667000"/>
                  <a:pt x="5541821" y="2667000"/>
                </a:cubicBezTo>
                <a:lnTo>
                  <a:pt x="103906" y="2667000"/>
                </a:lnTo>
                <a:cubicBezTo>
                  <a:pt x="46520" y="2667000"/>
                  <a:pt x="0" y="2620480"/>
                  <a:pt x="0" y="2563094"/>
                </a:cubicBezTo>
                <a:lnTo>
                  <a:pt x="0" y="103906"/>
                </a:lnTo>
                <a:cubicBezTo>
                  <a:pt x="0" y="46520"/>
                  <a:pt x="46520" y="0"/>
                  <a:pt x="103906" y="0"/>
                </a:cubicBezTo>
                <a:close/>
              </a:path>
            </a:pathLst>
          </a:custGeom>
          <a:solidFill>
            <a:srgbClr val="ffffff"/>
          </a:solidFill>
          <a:ln w="0">
            <a:noFill/>
          </a:ln>
          <a:effectLst>
            <a:outerShdw algn="bl" blurRad="25920" dir="5400000" dist="8640" kx="0" ky="0" rotWithShape="0" sx="100000" sy="100000">
              <a:srgbClr val="000000">
                <a:alpha val="10000"/>
              </a:srgbClr>
            </a:outerShdw>
          </a:effectLst>
        </p:spPr>
        <p:style>
          <a:lnRef idx="0"/>
          <a:fillRef idx="0"/>
          <a:effectRef idx="0"/>
          <a:fontRef idx="minor"/>
        </p:style>
      </p:sp>
      <p:sp>
        <p:nvSpPr>
          <p:cNvPr id="358" name="Text 13"/>
          <p:cNvSpPr/>
          <p:nvPr/>
        </p:nvSpPr>
        <p:spPr>
          <a:xfrm>
            <a:off x="519480" y="4138920"/>
            <a:ext cx="5385240" cy="241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70" spc="-1" strike="noStrike">
                <a:solidFill>
                  <a:srgbClr val="2f3e3b"/>
                </a:solidFill>
                <a:latin typeface="Sorts Mill Goudy"/>
                <a:ea typeface="Sorts Mill Goudy"/>
              </a:rPr>
              <a:t>Gap Formation Mechanisms</a:t>
            </a:r>
            <a:endParaRPr b="0" lang="en-HK" sz="1370" spc="-1" strike="noStrike">
              <a:latin typeface="Arial"/>
            </a:endParaRPr>
          </a:p>
        </p:txBody>
      </p:sp>
      <p:sp>
        <p:nvSpPr>
          <p:cNvPr id="359" name="Shape 14"/>
          <p:cNvSpPr/>
          <p:nvPr/>
        </p:nvSpPr>
        <p:spPr>
          <a:xfrm>
            <a:off x="519480" y="4485240"/>
            <a:ext cx="5298480" cy="587880"/>
          </a:xfrm>
          <a:custGeom>
            <a:avLst/>
            <a:gdLst/>
            <a:ahLst/>
            <a:rect l="l" t="t" r="r" b="b"/>
            <a:pathLst>
              <a:path w="5299364" h="588818">
                <a:moveTo>
                  <a:pt x="69274" y="0"/>
                </a:moveTo>
                <a:lnTo>
                  <a:pt x="5230089" y="0"/>
                </a:lnTo>
                <a:cubicBezTo>
                  <a:pt x="5268348" y="0"/>
                  <a:pt x="5299364" y="31015"/>
                  <a:pt x="5299364" y="69274"/>
                </a:cubicBezTo>
                <a:lnTo>
                  <a:pt x="5299364" y="519544"/>
                </a:lnTo>
                <a:cubicBezTo>
                  <a:pt x="5299364" y="557803"/>
                  <a:pt x="5268348" y="588818"/>
                  <a:pt x="5230089" y="588818"/>
                </a:cubicBezTo>
                <a:lnTo>
                  <a:pt x="69274" y="588818"/>
                </a:lnTo>
                <a:cubicBezTo>
                  <a:pt x="31041" y="588818"/>
                  <a:pt x="0" y="557777"/>
                  <a:pt x="0" y="519544"/>
                </a:cubicBezTo>
                <a:lnTo>
                  <a:pt x="0" y="69274"/>
                </a:lnTo>
                <a:cubicBezTo>
                  <a:pt x="0" y="31041"/>
                  <a:pt x="31041" y="0"/>
                  <a:pt x="69274" y="0"/>
                </a:cubicBezTo>
                <a:close/>
              </a:path>
            </a:pathLst>
          </a:custGeom>
          <a:solidFill>
            <a:srgbClr val="f5f7f6"/>
          </a:solidFill>
          <a:ln w="0">
            <a:noFill/>
          </a:ln>
        </p:spPr>
        <p:style>
          <a:lnRef idx="0"/>
          <a:fillRef idx="0"/>
          <a:effectRef idx="0"/>
          <a:fontRef idx="minor"/>
        </p:style>
      </p:sp>
      <p:sp>
        <p:nvSpPr>
          <p:cNvPr id="360" name="Shape 15"/>
          <p:cNvSpPr/>
          <p:nvPr/>
        </p:nvSpPr>
        <p:spPr>
          <a:xfrm>
            <a:off x="654840" y="4623840"/>
            <a:ext cx="135360" cy="154800"/>
          </a:xfrm>
          <a:custGeom>
            <a:avLst/>
            <a:gdLst/>
            <a:ahLst/>
            <a:rect l="l" t="t" r="r" b="b"/>
            <a:pathLst>
              <a:path w="136381" h="155864">
                <a:moveTo>
                  <a:pt x="68190" y="-9741"/>
                </a:moveTo>
                <a:cubicBezTo>
                  <a:pt x="70321" y="-9741"/>
                  <a:pt x="72361" y="-8798"/>
                  <a:pt x="73761" y="-7154"/>
                </a:cubicBezTo>
                <a:lnTo>
                  <a:pt x="115163" y="41553"/>
                </a:lnTo>
                <a:cubicBezTo>
                  <a:pt x="117019" y="43715"/>
                  <a:pt x="117415" y="46759"/>
                  <a:pt x="116228" y="49347"/>
                </a:cubicBezTo>
                <a:cubicBezTo>
                  <a:pt x="115041" y="51934"/>
                  <a:pt x="112453" y="53578"/>
                  <a:pt x="109592" y="53578"/>
                </a:cubicBezTo>
                <a:lnTo>
                  <a:pt x="102012" y="53578"/>
                </a:lnTo>
                <a:lnTo>
                  <a:pt x="124904" y="80519"/>
                </a:lnTo>
                <a:cubicBezTo>
                  <a:pt x="126761" y="82681"/>
                  <a:pt x="127157" y="85725"/>
                  <a:pt x="125969" y="88313"/>
                </a:cubicBezTo>
                <a:cubicBezTo>
                  <a:pt x="124782" y="90900"/>
                  <a:pt x="122195" y="92544"/>
                  <a:pt x="119333" y="92544"/>
                </a:cubicBezTo>
                <a:lnTo>
                  <a:pt x="107613" y="92544"/>
                </a:lnTo>
                <a:lnTo>
                  <a:pt x="134645" y="124356"/>
                </a:lnTo>
                <a:cubicBezTo>
                  <a:pt x="136502" y="126517"/>
                  <a:pt x="136898" y="129562"/>
                  <a:pt x="135711" y="132149"/>
                </a:cubicBezTo>
                <a:cubicBezTo>
                  <a:pt x="134524" y="134737"/>
                  <a:pt x="131936" y="136381"/>
                  <a:pt x="129075" y="136381"/>
                </a:cubicBezTo>
                <a:lnTo>
                  <a:pt x="77932" y="136381"/>
                </a:lnTo>
                <a:lnTo>
                  <a:pt x="77932" y="155864"/>
                </a:lnTo>
                <a:cubicBezTo>
                  <a:pt x="77932" y="161252"/>
                  <a:pt x="73579" y="165605"/>
                  <a:pt x="68190" y="165605"/>
                </a:cubicBezTo>
                <a:cubicBezTo>
                  <a:pt x="62802" y="165605"/>
                  <a:pt x="58449" y="161252"/>
                  <a:pt x="58449" y="155864"/>
                </a:cubicBezTo>
                <a:lnTo>
                  <a:pt x="58449" y="136381"/>
                </a:lnTo>
                <a:lnTo>
                  <a:pt x="7306" y="136381"/>
                </a:lnTo>
                <a:cubicBezTo>
                  <a:pt x="4445" y="136381"/>
                  <a:pt x="1857" y="134737"/>
                  <a:pt x="670" y="132149"/>
                </a:cubicBezTo>
                <a:cubicBezTo>
                  <a:pt x="-518" y="129562"/>
                  <a:pt x="-122" y="126517"/>
                  <a:pt x="1735" y="124356"/>
                </a:cubicBezTo>
                <a:lnTo>
                  <a:pt x="28768" y="92544"/>
                </a:lnTo>
                <a:lnTo>
                  <a:pt x="17048" y="92544"/>
                </a:lnTo>
                <a:cubicBezTo>
                  <a:pt x="14186" y="92544"/>
                  <a:pt x="11598" y="90900"/>
                  <a:pt x="10411" y="88313"/>
                </a:cubicBezTo>
                <a:cubicBezTo>
                  <a:pt x="9224" y="85725"/>
                  <a:pt x="9620" y="82681"/>
                  <a:pt x="11477" y="80519"/>
                </a:cubicBezTo>
                <a:lnTo>
                  <a:pt x="34369" y="53578"/>
                </a:lnTo>
                <a:lnTo>
                  <a:pt x="26789" y="53578"/>
                </a:lnTo>
                <a:cubicBezTo>
                  <a:pt x="23928" y="53578"/>
                  <a:pt x="21340" y="51934"/>
                  <a:pt x="20153" y="49347"/>
                </a:cubicBezTo>
                <a:cubicBezTo>
                  <a:pt x="18965" y="46759"/>
                  <a:pt x="19361" y="43715"/>
                  <a:pt x="21218" y="41553"/>
                </a:cubicBezTo>
                <a:lnTo>
                  <a:pt x="62619" y="-7154"/>
                </a:lnTo>
                <a:cubicBezTo>
                  <a:pt x="64020" y="-8798"/>
                  <a:pt x="66059" y="-9741"/>
                  <a:pt x="68190" y="-9741"/>
                </a:cubicBezTo>
                <a:close/>
              </a:path>
            </a:pathLst>
          </a:custGeom>
          <a:solidFill>
            <a:srgbClr val="4c8a7a"/>
          </a:solidFill>
          <a:ln w="0">
            <a:noFill/>
          </a:ln>
        </p:spPr>
        <p:style>
          <a:lnRef idx="0"/>
          <a:fillRef idx="0"/>
          <a:effectRef idx="0"/>
          <a:fontRef idx="minor"/>
        </p:style>
      </p:sp>
      <p:sp>
        <p:nvSpPr>
          <p:cNvPr id="361" name="Text 16"/>
          <p:cNvSpPr/>
          <p:nvPr/>
        </p:nvSpPr>
        <p:spPr>
          <a:xfrm>
            <a:off x="922320" y="4589280"/>
            <a:ext cx="2822040" cy="206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90" spc="-1" strike="noStrike">
                <a:solidFill>
                  <a:srgbClr val="2f3e3b"/>
                </a:solidFill>
                <a:latin typeface="Quattrocento Sans"/>
                <a:ea typeface="Quattrocento Sans"/>
              </a:rPr>
              <a:t>Uprooting</a:t>
            </a:r>
            <a:endParaRPr b="0" lang="en-HK" sz="1090" spc="-1" strike="noStrike">
              <a:latin typeface="Arial"/>
            </a:endParaRPr>
          </a:p>
        </p:txBody>
      </p:sp>
      <p:sp>
        <p:nvSpPr>
          <p:cNvPr id="362" name="Text 17"/>
          <p:cNvSpPr/>
          <p:nvPr/>
        </p:nvSpPr>
        <p:spPr>
          <a:xfrm>
            <a:off x="922320" y="4797000"/>
            <a:ext cx="2813400" cy="172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Creates pit-mound topography, exposes mineral soil</a:t>
            </a:r>
            <a:endParaRPr b="0" lang="en-HK" sz="960" spc="-1" strike="noStrike">
              <a:latin typeface="Arial"/>
            </a:endParaRPr>
          </a:p>
        </p:txBody>
      </p:sp>
      <p:sp>
        <p:nvSpPr>
          <p:cNvPr id="363" name="Shape 18"/>
          <p:cNvSpPr/>
          <p:nvPr/>
        </p:nvSpPr>
        <p:spPr>
          <a:xfrm>
            <a:off x="519480" y="5178240"/>
            <a:ext cx="5298480" cy="587880"/>
          </a:xfrm>
          <a:custGeom>
            <a:avLst/>
            <a:gdLst/>
            <a:ahLst/>
            <a:rect l="l" t="t" r="r" b="b"/>
            <a:pathLst>
              <a:path w="5299364" h="588818">
                <a:moveTo>
                  <a:pt x="69274" y="0"/>
                </a:moveTo>
                <a:lnTo>
                  <a:pt x="5230089" y="0"/>
                </a:lnTo>
                <a:cubicBezTo>
                  <a:pt x="5268348" y="0"/>
                  <a:pt x="5299364" y="31015"/>
                  <a:pt x="5299364" y="69274"/>
                </a:cubicBezTo>
                <a:lnTo>
                  <a:pt x="5299364" y="519544"/>
                </a:lnTo>
                <a:cubicBezTo>
                  <a:pt x="5299364" y="557803"/>
                  <a:pt x="5268348" y="588818"/>
                  <a:pt x="5230089" y="588818"/>
                </a:cubicBezTo>
                <a:lnTo>
                  <a:pt x="69274" y="588818"/>
                </a:lnTo>
                <a:cubicBezTo>
                  <a:pt x="31041" y="588818"/>
                  <a:pt x="0" y="557777"/>
                  <a:pt x="0" y="519544"/>
                </a:cubicBezTo>
                <a:lnTo>
                  <a:pt x="0" y="69274"/>
                </a:lnTo>
                <a:cubicBezTo>
                  <a:pt x="0" y="31041"/>
                  <a:pt x="31041" y="0"/>
                  <a:pt x="69274" y="0"/>
                </a:cubicBezTo>
                <a:close/>
              </a:path>
            </a:pathLst>
          </a:custGeom>
          <a:solidFill>
            <a:srgbClr val="f5f7f6"/>
          </a:solidFill>
          <a:ln w="0">
            <a:noFill/>
          </a:ln>
        </p:spPr>
        <p:style>
          <a:lnRef idx="0"/>
          <a:fillRef idx="0"/>
          <a:effectRef idx="0"/>
          <a:fontRef idx="minor"/>
        </p:style>
      </p:sp>
      <p:sp>
        <p:nvSpPr>
          <p:cNvPr id="364" name="Shape 19"/>
          <p:cNvSpPr/>
          <p:nvPr/>
        </p:nvSpPr>
        <p:spPr>
          <a:xfrm>
            <a:off x="654840" y="5316840"/>
            <a:ext cx="135360" cy="154800"/>
          </a:xfrm>
          <a:custGeom>
            <a:avLst/>
            <a:gdLst/>
            <a:ahLst/>
            <a:rect l="l" t="t" r="r" b="b"/>
            <a:pathLst>
              <a:path w="136381" h="155864">
                <a:moveTo>
                  <a:pt x="68190" y="-9741"/>
                </a:moveTo>
                <a:cubicBezTo>
                  <a:pt x="70321" y="-9741"/>
                  <a:pt x="72361" y="-8798"/>
                  <a:pt x="73761" y="-7154"/>
                </a:cubicBezTo>
                <a:lnTo>
                  <a:pt x="115163" y="41553"/>
                </a:lnTo>
                <a:cubicBezTo>
                  <a:pt x="117019" y="43715"/>
                  <a:pt x="117415" y="46759"/>
                  <a:pt x="116228" y="49347"/>
                </a:cubicBezTo>
                <a:cubicBezTo>
                  <a:pt x="115041" y="51934"/>
                  <a:pt x="112453" y="53578"/>
                  <a:pt x="109592" y="53578"/>
                </a:cubicBezTo>
                <a:lnTo>
                  <a:pt x="102012" y="53578"/>
                </a:lnTo>
                <a:lnTo>
                  <a:pt x="124904" y="80519"/>
                </a:lnTo>
                <a:cubicBezTo>
                  <a:pt x="126761" y="82681"/>
                  <a:pt x="127157" y="85725"/>
                  <a:pt x="125969" y="88313"/>
                </a:cubicBezTo>
                <a:cubicBezTo>
                  <a:pt x="124782" y="90900"/>
                  <a:pt x="122195" y="92544"/>
                  <a:pt x="119333" y="92544"/>
                </a:cubicBezTo>
                <a:lnTo>
                  <a:pt x="107613" y="92544"/>
                </a:lnTo>
                <a:lnTo>
                  <a:pt x="134645" y="124356"/>
                </a:lnTo>
                <a:cubicBezTo>
                  <a:pt x="136502" y="126517"/>
                  <a:pt x="136898" y="129562"/>
                  <a:pt x="135711" y="132149"/>
                </a:cubicBezTo>
                <a:cubicBezTo>
                  <a:pt x="134524" y="134737"/>
                  <a:pt x="131936" y="136381"/>
                  <a:pt x="129075" y="136381"/>
                </a:cubicBezTo>
                <a:lnTo>
                  <a:pt x="77932" y="136381"/>
                </a:lnTo>
                <a:lnTo>
                  <a:pt x="77932" y="155864"/>
                </a:lnTo>
                <a:cubicBezTo>
                  <a:pt x="77932" y="161252"/>
                  <a:pt x="73579" y="165605"/>
                  <a:pt x="68190" y="165605"/>
                </a:cubicBezTo>
                <a:cubicBezTo>
                  <a:pt x="62802" y="165605"/>
                  <a:pt x="58449" y="161252"/>
                  <a:pt x="58449" y="155864"/>
                </a:cubicBezTo>
                <a:lnTo>
                  <a:pt x="58449" y="136381"/>
                </a:lnTo>
                <a:lnTo>
                  <a:pt x="7306" y="136381"/>
                </a:lnTo>
                <a:cubicBezTo>
                  <a:pt x="4445" y="136381"/>
                  <a:pt x="1857" y="134737"/>
                  <a:pt x="670" y="132149"/>
                </a:cubicBezTo>
                <a:cubicBezTo>
                  <a:pt x="-518" y="129562"/>
                  <a:pt x="-122" y="126517"/>
                  <a:pt x="1735" y="124356"/>
                </a:cubicBezTo>
                <a:lnTo>
                  <a:pt x="28768" y="92544"/>
                </a:lnTo>
                <a:lnTo>
                  <a:pt x="17048" y="92544"/>
                </a:lnTo>
                <a:cubicBezTo>
                  <a:pt x="14186" y="92544"/>
                  <a:pt x="11598" y="90900"/>
                  <a:pt x="10411" y="88313"/>
                </a:cubicBezTo>
                <a:cubicBezTo>
                  <a:pt x="9224" y="85725"/>
                  <a:pt x="9620" y="82681"/>
                  <a:pt x="11477" y="80519"/>
                </a:cubicBezTo>
                <a:lnTo>
                  <a:pt x="34369" y="53578"/>
                </a:lnTo>
                <a:lnTo>
                  <a:pt x="26789" y="53578"/>
                </a:lnTo>
                <a:cubicBezTo>
                  <a:pt x="23928" y="53578"/>
                  <a:pt x="21340" y="51934"/>
                  <a:pt x="20153" y="49347"/>
                </a:cubicBezTo>
                <a:cubicBezTo>
                  <a:pt x="18965" y="46759"/>
                  <a:pt x="19361" y="43715"/>
                  <a:pt x="21218" y="41553"/>
                </a:cubicBezTo>
                <a:lnTo>
                  <a:pt x="62619" y="-7154"/>
                </a:lnTo>
                <a:cubicBezTo>
                  <a:pt x="64020" y="-8798"/>
                  <a:pt x="66059" y="-9741"/>
                  <a:pt x="68190" y="-9741"/>
                </a:cubicBezTo>
                <a:close/>
              </a:path>
            </a:pathLst>
          </a:custGeom>
          <a:solidFill>
            <a:srgbClr val="8fb7ac"/>
          </a:solidFill>
          <a:ln w="0">
            <a:noFill/>
          </a:ln>
        </p:spPr>
        <p:style>
          <a:lnRef idx="0"/>
          <a:fillRef idx="0"/>
          <a:effectRef idx="0"/>
          <a:fontRef idx="minor"/>
        </p:style>
      </p:sp>
      <p:sp>
        <p:nvSpPr>
          <p:cNvPr id="365" name="Text 20"/>
          <p:cNvSpPr/>
          <p:nvPr/>
        </p:nvSpPr>
        <p:spPr>
          <a:xfrm>
            <a:off x="922320" y="5281920"/>
            <a:ext cx="2727000" cy="206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90" spc="-1" strike="noStrike">
                <a:solidFill>
                  <a:srgbClr val="2f3e3b"/>
                </a:solidFill>
                <a:latin typeface="Quattrocento Sans"/>
                <a:ea typeface="Quattrocento Sans"/>
              </a:rPr>
              <a:t>Stem Breakage</a:t>
            </a:r>
            <a:endParaRPr b="0" lang="en-HK" sz="1090" spc="-1" strike="noStrike">
              <a:latin typeface="Arial"/>
            </a:endParaRPr>
          </a:p>
        </p:txBody>
      </p:sp>
      <p:sp>
        <p:nvSpPr>
          <p:cNvPr id="366" name="Text 21"/>
          <p:cNvSpPr/>
          <p:nvPr/>
        </p:nvSpPr>
        <p:spPr>
          <a:xfrm>
            <a:off x="922320" y="5490000"/>
            <a:ext cx="2718360" cy="172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Leaves standing dead wood (snags), creates debris</a:t>
            </a:r>
            <a:endParaRPr b="0" lang="en-HK" sz="960" spc="-1" strike="noStrike">
              <a:latin typeface="Arial"/>
            </a:endParaRPr>
          </a:p>
        </p:txBody>
      </p:sp>
      <p:sp>
        <p:nvSpPr>
          <p:cNvPr id="367" name="Shape 22"/>
          <p:cNvSpPr/>
          <p:nvPr/>
        </p:nvSpPr>
        <p:spPr>
          <a:xfrm>
            <a:off x="519480" y="5870880"/>
            <a:ext cx="5298480" cy="587880"/>
          </a:xfrm>
          <a:custGeom>
            <a:avLst/>
            <a:gdLst/>
            <a:ahLst/>
            <a:rect l="l" t="t" r="r" b="b"/>
            <a:pathLst>
              <a:path w="5299364" h="588818">
                <a:moveTo>
                  <a:pt x="69274" y="0"/>
                </a:moveTo>
                <a:lnTo>
                  <a:pt x="5230089" y="0"/>
                </a:lnTo>
                <a:cubicBezTo>
                  <a:pt x="5268348" y="0"/>
                  <a:pt x="5299364" y="31015"/>
                  <a:pt x="5299364" y="69274"/>
                </a:cubicBezTo>
                <a:lnTo>
                  <a:pt x="5299364" y="519544"/>
                </a:lnTo>
                <a:cubicBezTo>
                  <a:pt x="5299364" y="557803"/>
                  <a:pt x="5268348" y="588818"/>
                  <a:pt x="5230089" y="588818"/>
                </a:cubicBezTo>
                <a:lnTo>
                  <a:pt x="69274" y="588818"/>
                </a:lnTo>
                <a:cubicBezTo>
                  <a:pt x="31041" y="588818"/>
                  <a:pt x="0" y="557777"/>
                  <a:pt x="0" y="519544"/>
                </a:cubicBezTo>
                <a:lnTo>
                  <a:pt x="0" y="69274"/>
                </a:lnTo>
                <a:cubicBezTo>
                  <a:pt x="0" y="31041"/>
                  <a:pt x="31041" y="0"/>
                  <a:pt x="69274" y="0"/>
                </a:cubicBezTo>
                <a:close/>
              </a:path>
            </a:pathLst>
          </a:custGeom>
          <a:solidFill>
            <a:srgbClr val="f5f7f6"/>
          </a:solidFill>
          <a:ln w="0">
            <a:noFill/>
          </a:ln>
        </p:spPr>
        <p:style>
          <a:lnRef idx="0"/>
          <a:fillRef idx="0"/>
          <a:effectRef idx="0"/>
          <a:fontRef idx="minor"/>
        </p:style>
      </p:sp>
      <p:sp>
        <p:nvSpPr>
          <p:cNvPr id="368" name="Shape 23"/>
          <p:cNvSpPr/>
          <p:nvPr/>
        </p:nvSpPr>
        <p:spPr>
          <a:xfrm>
            <a:off x="654840" y="6009480"/>
            <a:ext cx="135360" cy="154800"/>
          </a:xfrm>
          <a:custGeom>
            <a:avLst/>
            <a:gdLst/>
            <a:ahLst/>
            <a:rect l="l" t="t" r="r" b="b"/>
            <a:pathLst>
              <a:path w="136381" h="155864">
                <a:moveTo>
                  <a:pt x="68190" y="-9741"/>
                </a:moveTo>
                <a:cubicBezTo>
                  <a:pt x="70321" y="-9741"/>
                  <a:pt x="72361" y="-8798"/>
                  <a:pt x="73761" y="-7154"/>
                </a:cubicBezTo>
                <a:lnTo>
                  <a:pt x="115163" y="41553"/>
                </a:lnTo>
                <a:cubicBezTo>
                  <a:pt x="117019" y="43715"/>
                  <a:pt x="117415" y="46759"/>
                  <a:pt x="116228" y="49347"/>
                </a:cubicBezTo>
                <a:cubicBezTo>
                  <a:pt x="115041" y="51934"/>
                  <a:pt x="112453" y="53578"/>
                  <a:pt x="109592" y="53578"/>
                </a:cubicBezTo>
                <a:lnTo>
                  <a:pt x="102012" y="53578"/>
                </a:lnTo>
                <a:lnTo>
                  <a:pt x="124904" y="80519"/>
                </a:lnTo>
                <a:cubicBezTo>
                  <a:pt x="126761" y="82681"/>
                  <a:pt x="127157" y="85725"/>
                  <a:pt x="125969" y="88313"/>
                </a:cubicBezTo>
                <a:cubicBezTo>
                  <a:pt x="124782" y="90900"/>
                  <a:pt x="122195" y="92544"/>
                  <a:pt x="119333" y="92544"/>
                </a:cubicBezTo>
                <a:lnTo>
                  <a:pt x="107613" y="92544"/>
                </a:lnTo>
                <a:lnTo>
                  <a:pt x="134645" y="124356"/>
                </a:lnTo>
                <a:cubicBezTo>
                  <a:pt x="136502" y="126517"/>
                  <a:pt x="136898" y="129562"/>
                  <a:pt x="135711" y="132149"/>
                </a:cubicBezTo>
                <a:cubicBezTo>
                  <a:pt x="134524" y="134737"/>
                  <a:pt x="131936" y="136381"/>
                  <a:pt x="129075" y="136381"/>
                </a:cubicBezTo>
                <a:lnTo>
                  <a:pt x="77932" y="136381"/>
                </a:lnTo>
                <a:lnTo>
                  <a:pt x="77932" y="155864"/>
                </a:lnTo>
                <a:cubicBezTo>
                  <a:pt x="77932" y="161252"/>
                  <a:pt x="73579" y="165605"/>
                  <a:pt x="68190" y="165605"/>
                </a:cubicBezTo>
                <a:cubicBezTo>
                  <a:pt x="62802" y="165605"/>
                  <a:pt x="58449" y="161252"/>
                  <a:pt x="58449" y="155864"/>
                </a:cubicBezTo>
                <a:lnTo>
                  <a:pt x="58449" y="136381"/>
                </a:lnTo>
                <a:lnTo>
                  <a:pt x="7306" y="136381"/>
                </a:lnTo>
                <a:cubicBezTo>
                  <a:pt x="4445" y="136381"/>
                  <a:pt x="1857" y="134737"/>
                  <a:pt x="670" y="132149"/>
                </a:cubicBezTo>
                <a:cubicBezTo>
                  <a:pt x="-518" y="129562"/>
                  <a:pt x="-122" y="126517"/>
                  <a:pt x="1735" y="124356"/>
                </a:cubicBezTo>
                <a:lnTo>
                  <a:pt x="28768" y="92544"/>
                </a:lnTo>
                <a:lnTo>
                  <a:pt x="17048" y="92544"/>
                </a:lnTo>
                <a:cubicBezTo>
                  <a:pt x="14186" y="92544"/>
                  <a:pt x="11598" y="90900"/>
                  <a:pt x="10411" y="88313"/>
                </a:cubicBezTo>
                <a:cubicBezTo>
                  <a:pt x="9224" y="85725"/>
                  <a:pt x="9620" y="82681"/>
                  <a:pt x="11477" y="80519"/>
                </a:cubicBezTo>
                <a:lnTo>
                  <a:pt x="34369" y="53578"/>
                </a:lnTo>
                <a:lnTo>
                  <a:pt x="26789" y="53578"/>
                </a:lnTo>
                <a:cubicBezTo>
                  <a:pt x="23928" y="53578"/>
                  <a:pt x="21340" y="51934"/>
                  <a:pt x="20153" y="49347"/>
                </a:cubicBezTo>
                <a:cubicBezTo>
                  <a:pt x="18965" y="46759"/>
                  <a:pt x="19361" y="43715"/>
                  <a:pt x="21218" y="41553"/>
                </a:cubicBezTo>
                <a:lnTo>
                  <a:pt x="62619" y="-7154"/>
                </a:lnTo>
                <a:cubicBezTo>
                  <a:pt x="64020" y="-8798"/>
                  <a:pt x="66059" y="-9741"/>
                  <a:pt x="68190" y="-9741"/>
                </a:cubicBezTo>
                <a:close/>
              </a:path>
            </a:pathLst>
          </a:custGeom>
          <a:solidFill>
            <a:srgbClr val="5f6f6b"/>
          </a:solidFill>
          <a:ln w="0">
            <a:noFill/>
          </a:ln>
        </p:spPr>
        <p:style>
          <a:lnRef idx="0"/>
          <a:fillRef idx="0"/>
          <a:effectRef idx="0"/>
          <a:fontRef idx="minor"/>
        </p:style>
      </p:sp>
      <p:sp>
        <p:nvSpPr>
          <p:cNvPr id="369" name="Text 24"/>
          <p:cNvSpPr/>
          <p:nvPr/>
        </p:nvSpPr>
        <p:spPr>
          <a:xfrm>
            <a:off x="922320" y="5974920"/>
            <a:ext cx="2094840" cy="206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90" spc="-1" strike="noStrike">
                <a:solidFill>
                  <a:srgbClr val="2f3e3b"/>
                </a:solidFill>
                <a:latin typeface="Quattrocento Sans"/>
                <a:ea typeface="Quattrocento Sans"/>
              </a:rPr>
              <a:t>Natural Mortality</a:t>
            </a:r>
            <a:endParaRPr b="0" lang="en-HK" sz="1090" spc="-1" strike="noStrike">
              <a:latin typeface="Arial"/>
            </a:endParaRPr>
          </a:p>
        </p:txBody>
      </p:sp>
      <p:sp>
        <p:nvSpPr>
          <p:cNvPr id="370" name="Text 25"/>
          <p:cNvSpPr/>
          <p:nvPr/>
        </p:nvSpPr>
        <p:spPr>
          <a:xfrm>
            <a:off x="922320" y="6182640"/>
            <a:ext cx="2086200" cy="172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Senescence, disease, or insect damage</a:t>
            </a:r>
            <a:endParaRPr b="0" lang="en-HK" sz="960" spc="-1" strike="noStrike">
              <a:latin typeface="Arial"/>
            </a:endParaRPr>
          </a:p>
        </p:txBody>
      </p:sp>
      <p:sp>
        <p:nvSpPr>
          <p:cNvPr id="371" name="Shape 26"/>
          <p:cNvSpPr/>
          <p:nvPr/>
        </p:nvSpPr>
        <p:spPr>
          <a:xfrm>
            <a:off x="6200280" y="1420200"/>
            <a:ext cx="5645160" cy="2111760"/>
          </a:xfrm>
          <a:custGeom>
            <a:avLst/>
            <a:gdLst/>
            <a:ahLst/>
            <a:rect l="l" t="t" r="r" b="b"/>
            <a:pathLst>
              <a:path w="5645727" h="2112818">
                <a:moveTo>
                  <a:pt x="103908" y="0"/>
                </a:moveTo>
                <a:lnTo>
                  <a:pt x="5541819" y="0"/>
                </a:lnTo>
                <a:cubicBezTo>
                  <a:pt x="5599206" y="0"/>
                  <a:pt x="5645727" y="46521"/>
                  <a:pt x="5645727" y="103908"/>
                </a:cubicBezTo>
                <a:lnTo>
                  <a:pt x="5645727" y="2008910"/>
                </a:lnTo>
                <a:cubicBezTo>
                  <a:pt x="5645727" y="2066297"/>
                  <a:pt x="5599206" y="2112818"/>
                  <a:pt x="5541819" y="2112818"/>
                </a:cubicBezTo>
                <a:lnTo>
                  <a:pt x="103908" y="2112818"/>
                </a:lnTo>
                <a:cubicBezTo>
                  <a:pt x="46521" y="2112818"/>
                  <a:pt x="0" y="2066297"/>
                  <a:pt x="0" y="2008910"/>
                </a:cubicBezTo>
                <a:lnTo>
                  <a:pt x="0" y="103908"/>
                </a:lnTo>
                <a:cubicBezTo>
                  <a:pt x="0" y="46521"/>
                  <a:pt x="46521" y="0"/>
                  <a:pt x="103908" y="0"/>
                </a:cubicBezTo>
                <a:close/>
              </a:path>
            </a:pathLst>
          </a:custGeom>
          <a:solidFill>
            <a:srgbClr val="2f3e3b"/>
          </a:solidFill>
          <a:ln w="0">
            <a:noFill/>
          </a:ln>
        </p:spPr>
        <p:style>
          <a:lnRef idx="0"/>
          <a:fillRef idx="0"/>
          <a:effectRef idx="0"/>
          <a:fontRef idx="minor"/>
        </p:style>
      </p:sp>
      <p:sp>
        <p:nvSpPr>
          <p:cNvPr id="372" name="Text 27"/>
          <p:cNvSpPr/>
          <p:nvPr/>
        </p:nvSpPr>
        <p:spPr>
          <a:xfrm>
            <a:off x="6373440" y="1593360"/>
            <a:ext cx="5376600" cy="241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20" spc="-1" strike="noStrike">
                <a:solidFill>
                  <a:srgbClr val="ffffff"/>
                </a:solidFill>
                <a:latin typeface="Sorts Mill Goudy"/>
                <a:ea typeface="Sorts Mill Goudy"/>
              </a:rPr>
              <a:t>Gap Characteristics: Korean Pine Forest</a:t>
            </a:r>
            <a:endParaRPr b="0" lang="en-HK" sz="1220" spc="-1" strike="noStrike">
              <a:latin typeface="Arial"/>
            </a:endParaRPr>
          </a:p>
        </p:txBody>
      </p:sp>
      <p:sp>
        <p:nvSpPr>
          <p:cNvPr id="373" name="Shape 28"/>
          <p:cNvSpPr/>
          <p:nvPr/>
        </p:nvSpPr>
        <p:spPr>
          <a:xfrm>
            <a:off x="6373440" y="1939680"/>
            <a:ext cx="2597040" cy="657000"/>
          </a:xfrm>
          <a:custGeom>
            <a:avLst/>
            <a:gdLst/>
            <a:ah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000"/>
            </a:srgbClr>
          </a:solidFill>
          <a:ln w="0">
            <a:noFill/>
          </a:ln>
        </p:spPr>
        <p:style>
          <a:lnRef idx="0"/>
          <a:fillRef idx="0"/>
          <a:effectRef idx="0"/>
          <a:fontRef idx="minor"/>
        </p:style>
      </p:sp>
      <p:sp>
        <p:nvSpPr>
          <p:cNvPr id="374" name="Text 29"/>
          <p:cNvSpPr/>
          <p:nvPr/>
        </p:nvSpPr>
        <p:spPr>
          <a:xfrm>
            <a:off x="6477480" y="2043720"/>
            <a:ext cx="2493000" cy="2761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40" spc="-1" strike="noStrike">
                <a:solidFill>
                  <a:srgbClr val="ffffff"/>
                </a:solidFill>
                <a:latin typeface="Sorts Mill Goudy"/>
                <a:ea typeface="Sorts Mill Goudy"/>
              </a:rPr>
              <a:t>18.1%</a:t>
            </a:r>
            <a:endParaRPr b="0" lang="en-HK" sz="1640" spc="-1" strike="noStrike">
              <a:latin typeface="Arial"/>
            </a:endParaRPr>
          </a:p>
        </p:txBody>
      </p:sp>
      <p:sp>
        <p:nvSpPr>
          <p:cNvPr id="375" name="Text 30"/>
          <p:cNvSpPr/>
          <p:nvPr/>
        </p:nvSpPr>
        <p:spPr>
          <a:xfrm>
            <a:off x="6477480" y="2320560"/>
            <a:ext cx="2449800" cy="172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ffffff">
                    <a:alpha val="90000"/>
                  </a:srgbClr>
                </a:solidFill>
                <a:latin typeface="Quattrocento Sans"/>
                <a:ea typeface="Quattrocento Sans"/>
              </a:rPr>
              <a:t>Expanded gaps in landscape</a:t>
            </a:r>
            <a:endParaRPr b="0" lang="en-HK" sz="960" spc="-1" strike="noStrike">
              <a:latin typeface="Arial"/>
            </a:endParaRPr>
          </a:p>
        </p:txBody>
      </p:sp>
      <p:sp>
        <p:nvSpPr>
          <p:cNvPr id="376" name="Shape 31"/>
          <p:cNvSpPr/>
          <p:nvPr/>
        </p:nvSpPr>
        <p:spPr>
          <a:xfrm>
            <a:off x="9075600" y="1939680"/>
            <a:ext cx="2597040" cy="657000"/>
          </a:xfrm>
          <a:custGeom>
            <a:avLst/>
            <a:gdLst/>
            <a:ah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000"/>
            </a:srgbClr>
          </a:solidFill>
          <a:ln w="0">
            <a:noFill/>
          </a:ln>
        </p:spPr>
        <p:style>
          <a:lnRef idx="0"/>
          <a:fillRef idx="0"/>
          <a:effectRef idx="0"/>
          <a:fontRef idx="minor"/>
        </p:style>
      </p:sp>
      <p:sp>
        <p:nvSpPr>
          <p:cNvPr id="377" name="Text 32"/>
          <p:cNvSpPr/>
          <p:nvPr/>
        </p:nvSpPr>
        <p:spPr>
          <a:xfrm>
            <a:off x="9179280" y="2043720"/>
            <a:ext cx="2493000" cy="2761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40" spc="-1" strike="noStrike">
                <a:solidFill>
                  <a:srgbClr val="ffffff"/>
                </a:solidFill>
                <a:latin typeface="Sorts Mill Goudy"/>
                <a:ea typeface="Sorts Mill Goudy"/>
              </a:rPr>
              <a:t>12.5%</a:t>
            </a:r>
            <a:endParaRPr b="0" lang="en-HK" sz="1640" spc="-1" strike="noStrike">
              <a:latin typeface="Arial"/>
            </a:endParaRPr>
          </a:p>
        </p:txBody>
      </p:sp>
      <p:sp>
        <p:nvSpPr>
          <p:cNvPr id="378" name="Text 33"/>
          <p:cNvSpPr/>
          <p:nvPr/>
        </p:nvSpPr>
        <p:spPr>
          <a:xfrm>
            <a:off x="9179280" y="2320560"/>
            <a:ext cx="2449800" cy="172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ffffff">
                    <a:alpha val="90000"/>
                  </a:srgbClr>
                </a:solidFill>
                <a:latin typeface="Quattrocento Sans"/>
                <a:ea typeface="Quattrocento Sans"/>
              </a:rPr>
              <a:t>Canopy gaps in landscape</a:t>
            </a:r>
            <a:endParaRPr b="0" lang="en-HK" sz="960" spc="-1" strike="noStrike">
              <a:latin typeface="Arial"/>
            </a:endParaRPr>
          </a:p>
        </p:txBody>
      </p:sp>
      <p:sp>
        <p:nvSpPr>
          <p:cNvPr id="379" name="Shape 34"/>
          <p:cNvSpPr/>
          <p:nvPr/>
        </p:nvSpPr>
        <p:spPr>
          <a:xfrm>
            <a:off x="6373440" y="2701800"/>
            <a:ext cx="2597040" cy="657000"/>
          </a:xfrm>
          <a:custGeom>
            <a:avLst/>
            <a:gdLst/>
            <a:ah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000"/>
            </a:srgbClr>
          </a:solidFill>
          <a:ln w="0">
            <a:noFill/>
          </a:ln>
        </p:spPr>
        <p:style>
          <a:lnRef idx="0"/>
          <a:fillRef idx="0"/>
          <a:effectRef idx="0"/>
          <a:fontRef idx="minor"/>
        </p:style>
      </p:sp>
      <p:sp>
        <p:nvSpPr>
          <p:cNvPr id="380" name="Text 35"/>
          <p:cNvSpPr/>
          <p:nvPr/>
        </p:nvSpPr>
        <p:spPr>
          <a:xfrm>
            <a:off x="6477480" y="2805480"/>
            <a:ext cx="2493000" cy="2761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40" spc="-1" strike="noStrike">
                <a:solidFill>
                  <a:srgbClr val="ffffff"/>
                </a:solidFill>
                <a:latin typeface="Sorts Mill Goudy"/>
                <a:ea typeface="Sorts Mill Goudy"/>
              </a:rPr>
              <a:t>~700 yr</a:t>
            </a:r>
            <a:endParaRPr b="0" lang="en-HK" sz="1640" spc="-1" strike="noStrike">
              <a:latin typeface="Arial"/>
            </a:endParaRPr>
          </a:p>
        </p:txBody>
      </p:sp>
      <p:sp>
        <p:nvSpPr>
          <p:cNvPr id="381" name="Text 36"/>
          <p:cNvSpPr/>
          <p:nvPr/>
        </p:nvSpPr>
        <p:spPr>
          <a:xfrm>
            <a:off x="6477480" y="3082680"/>
            <a:ext cx="2449800" cy="172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ffffff">
                    <a:alpha val="90000"/>
                  </a:srgbClr>
                </a:solidFill>
                <a:latin typeface="Quattrocento Sans"/>
                <a:ea typeface="Quattrocento Sans"/>
              </a:rPr>
              <a:t>Gap return interval</a:t>
            </a:r>
            <a:endParaRPr b="0" lang="en-HK" sz="960" spc="-1" strike="noStrike">
              <a:latin typeface="Arial"/>
            </a:endParaRPr>
          </a:p>
        </p:txBody>
      </p:sp>
      <p:sp>
        <p:nvSpPr>
          <p:cNvPr id="382" name="Shape 37"/>
          <p:cNvSpPr/>
          <p:nvPr/>
        </p:nvSpPr>
        <p:spPr>
          <a:xfrm>
            <a:off x="9075600" y="2701800"/>
            <a:ext cx="2597040" cy="657000"/>
          </a:xfrm>
          <a:custGeom>
            <a:avLst/>
            <a:gdLst/>
            <a:ah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000"/>
            </a:srgbClr>
          </a:solidFill>
          <a:ln w="0">
            <a:noFill/>
          </a:ln>
        </p:spPr>
        <p:style>
          <a:lnRef idx="0"/>
          <a:fillRef idx="0"/>
          <a:effectRef idx="0"/>
          <a:fontRef idx="minor"/>
        </p:style>
      </p:sp>
      <p:sp>
        <p:nvSpPr>
          <p:cNvPr id="383" name="Text 38"/>
          <p:cNvSpPr/>
          <p:nvPr/>
        </p:nvSpPr>
        <p:spPr>
          <a:xfrm>
            <a:off x="9179280" y="2805480"/>
            <a:ext cx="2493000" cy="2761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40" spc="-1" strike="noStrike">
                <a:solidFill>
                  <a:srgbClr val="ffffff"/>
                </a:solidFill>
                <a:latin typeface="Sorts Mill Goudy"/>
                <a:ea typeface="Sorts Mill Goudy"/>
              </a:rPr>
              <a:t>20-60%</a:t>
            </a:r>
            <a:endParaRPr b="0" lang="en-HK" sz="1640" spc="-1" strike="noStrike">
              <a:latin typeface="Arial"/>
            </a:endParaRPr>
          </a:p>
        </p:txBody>
      </p:sp>
      <p:sp>
        <p:nvSpPr>
          <p:cNvPr id="384" name="Text 39"/>
          <p:cNvSpPr/>
          <p:nvPr/>
        </p:nvSpPr>
        <p:spPr>
          <a:xfrm>
            <a:off x="9179280" y="3082680"/>
            <a:ext cx="2449800" cy="172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ffffff">
                    <a:alpha val="90000"/>
                  </a:srgbClr>
                </a:solidFill>
                <a:latin typeface="Quattrocento Sans"/>
                <a:ea typeface="Quattrocento Sans"/>
              </a:rPr>
              <a:t>Gap diameter/canopy height</a:t>
            </a:r>
            <a:endParaRPr b="0" lang="en-HK" sz="960" spc="-1" strike="noStrike">
              <a:latin typeface="Arial"/>
            </a:endParaRPr>
          </a:p>
        </p:txBody>
      </p:sp>
      <p:sp>
        <p:nvSpPr>
          <p:cNvPr id="385" name="Shape 40"/>
          <p:cNvSpPr/>
          <p:nvPr/>
        </p:nvSpPr>
        <p:spPr>
          <a:xfrm>
            <a:off x="6200280" y="3671280"/>
            <a:ext cx="5645160" cy="1592280"/>
          </a:xfrm>
          <a:custGeom>
            <a:avLst/>
            <a:gdLst/>
            <a:ahLst/>
            <a:rect l="l" t="t" r="r" b="b"/>
            <a:pathLst>
              <a:path w="5645727" h="1593273">
                <a:moveTo>
                  <a:pt x="103913" y="0"/>
                </a:moveTo>
                <a:lnTo>
                  <a:pt x="5541814" y="0"/>
                </a:lnTo>
                <a:cubicBezTo>
                  <a:pt x="5599204" y="0"/>
                  <a:pt x="5645727" y="46524"/>
                  <a:pt x="5645727" y="103913"/>
                </a:cubicBezTo>
                <a:lnTo>
                  <a:pt x="5645727" y="1489359"/>
                </a:lnTo>
                <a:cubicBezTo>
                  <a:pt x="5645727" y="1546749"/>
                  <a:pt x="5599204" y="1593273"/>
                  <a:pt x="5541814" y="1593273"/>
                </a:cubicBezTo>
                <a:lnTo>
                  <a:pt x="103913" y="1593273"/>
                </a:lnTo>
                <a:cubicBezTo>
                  <a:pt x="46524" y="1593273"/>
                  <a:pt x="0" y="1546749"/>
                  <a:pt x="0" y="1489359"/>
                </a:cubicBezTo>
                <a:lnTo>
                  <a:pt x="0" y="103913"/>
                </a:lnTo>
                <a:cubicBezTo>
                  <a:pt x="0" y="46562"/>
                  <a:pt x="46562" y="0"/>
                  <a:pt x="103913" y="0"/>
                </a:cubicBezTo>
                <a:close/>
              </a:path>
            </a:pathLst>
          </a:custGeom>
          <a:solidFill>
            <a:srgbClr val="ffffff"/>
          </a:solidFill>
          <a:ln w="0">
            <a:noFill/>
          </a:ln>
          <a:effectLst>
            <a:outerShdw algn="bl" blurRad="25920" dir="5400000" dist="8640" kx="0" ky="0" rotWithShape="0" sx="100000" sy="100000">
              <a:srgbClr val="000000">
                <a:alpha val="10000"/>
              </a:srgbClr>
            </a:outerShdw>
          </a:effectLst>
        </p:spPr>
        <p:style>
          <a:lnRef idx="0"/>
          <a:fillRef idx="0"/>
          <a:effectRef idx="0"/>
          <a:fontRef idx="minor"/>
        </p:style>
      </p:sp>
      <p:sp>
        <p:nvSpPr>
          <p:cNvPr id="386" name="Text 41"/>
          <p:cNvSpPr/>
          <p:nvPr/>
        </p:nvSpPr>
        <p:spPr>
          <a:xfrm>
            <a:off x="6373440" y="3844800"/>
            <a:ext cx="5376600" cy="241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20" spc="-1" strike="noStrike">
                <a:solidFill>
                  <a:srgbClr val="2f3e3b"/>
                </a:solidFill>
                <a:latin typeface="Sorts Mill Goudy"/>
                <a:ea typeface="Sorts Mill Goudy"/>
              </a:rPr>
              <a:t>Gap Closure Timeline</a:t>
            </a:r>
            <a:endParaRPr b="0" lang="en-HK" sz="1220" spc="-1" strike="noStrike">
              <a:latin typeface="Arial"/>
            </a:endParaRPr>
          </a:p>
        </p:txBody>
      </p:sp>
      <p:sp>
        <p:nvSpPr>
          <p:cNvPr id="387" name="Text 42"/>
          <p:cNvSpPr/>
          <p:nvPr/>
        </p:nvSpPr>
        <p:spPr>
          <a:xfrm>
            <a:off x="6373440" y="4191120"/>
            <a:ext cx="752400" cy="172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60" spc="-1" strike="noStrike">
                <a:solidFill>
                  <a:srgbClr val="2f3e3b"/>
                </a:solidFill>
                <a:latin typeface="Quattrocento Sans"/>
                <a:ea typeface="Quattrocento Sans"/>
              </a:rPr>
              <a:t>Small gaps</a:t>
            </a:r>
            <a:endParaRPr b="0" lang="en-HK" sz="960" spc="-1" strike="noStrike">
              <a:latin typeface="Arial"/>
            </a:endParaRPr>
          </a:p>
        </p:txBody>
      </p:sp>
      <p:sp>
        <p:nvSpPr>
          <p:cNvPr id="388" name="Shape 43"/>
          <p:cNvSpPr/>
          <p:nvPr/>
        </p:nvSpPr>
        <p:spPr>
          <a:xfrm>
            <a:off x="7170120" y="4208400"/>
            <a:ext cx="3566880" cy="137520"/>
          </a:xfrm>
          <a:custGeom>
            <a:avLst/>
            <a:gdLst/>
            <a:ahLst/>
            <a:rect l="l" t="t" r="r" b="b"/>
            <a:pathLst>
              <a:path w="3567545" h="138545">
                <a:moveTo>
                  <a:pt x="69273" y="0"/>
                </a:moveTo>
                <a:lnTo>
                  <a:pt x="3498273" y="0"/>
                </a:lnTo>
                <a:cubicBezTo>
                  <a:pt x="3536531" y="0"/>
                  <a:pt x="3567545" y="31014"/>
                  <a:pt x="3567545" y="69273"/>
                </a:cubicBezTo>
                <a:lnTo>
                  <a:pt x="3567545" y="69273"/>
                </a:lnTo>
                <a:cubicBezTo>
                  <a:pt x="3567545" y="107531"/>
                  <a:pt x="3536531" y="138545"/>
                  <a:pt x="3498273" y="138545"/>
                </a:cubicBezTo>
                <a:lnTo>
                  <a:pt x="69273" y="138545"/>
                </a:lnTo>
                <a:cubicBezTo>
                  <a:pt x="31040" y="138545"/>
                  <a:pt x="0" y="107505"/>
                  <a:pt x="0" y="69273"/>
                </a:cubicBezTo>
                <a:lnTo>
                  <a:pt x="0" y="69273"/>
                </a:lnTo>
                <a:cubicBezTo>
                  <a:pt x="0" y="31040"/>
                  <a:pt x="31040" y="0"/>
                  <a:pt x="69273" y="0"/>
                </a:cubicBezTo>
                <a:close/>
              </a:path>
            </a:pathLst>
          </a:custGeom>
          <a:solidFill>
            <a:srgbClr val="e3e7e5"/>
          </a:solidFill>
          <a:ln w="0">
            <a:noFill/>
          </a:ln>
        </p:spPr>
        <p:style>
          <a:lnRef idx="0"/>
          <a:fillRef idx="0"/>
          <a:effectRef idx="0"/>
          <a:fontRef idx="minor"/>
        </p:style>
      </p:sp>
      <p:sp>
        <p:nvSpPr>
          <p:cNvPr id="389" name="Shape 44"/>
          <p:cNvSpPr/>
          <p:nvPr/>
        </p:nvSpPr>
        <p:spPr>
          <a:xfrm>
            <a:off x="7170120" y="4208400"/>
            <a:ext cx="890640" cy="137520"/>
          </a:xfrm>
          <a:custGeom>
            <a:avLst/>
            <a:gdLst/>
            <a:ahLst/>
            <a:rect l="l" t="t" r="r" b="b"/>
            <a:pathLst>
              <a:path w="891886" h="138545">
                <a:moveTo>
                  <a:pt x="69273" y="0"/>
                </a:moveTo>
                <a:lnTo>
                  <a:pt x="822614" y="0"/>
                </a:lnTo>
                <a:cubicBezTo>
                  <a:pt x="860846" y="0"/>
                  <a:pt x="891886" y="31040"/>
                  <a:pt x="891886" y="69273"/>
                </a:cubicBezTo>
                <a:lnTo>
                  <a:pt x="891886" y="69273"/>
                </a:lnTo>
                <a:cubicBezTo>
                  <a:pt x="891886" y="107505"/>
                  <a:pt x="860846" y="138545"/>
                  <a:pt x="822614" y="138545"/>
                </a:cubicBezTo>
                <a:lnTo>
                  <a:pt x="69273" y="138545"/>
                </a:lnTo>
                <a:cubicBezTo>
                  <a:pt x="31040" y="138545"/>
                  <a:pt x="0" y="107505"/>
                  <a:pt x="0" y="69273"/>
                </a:cubicBezTo>
                <a:lnTo>
                  <a:pt x="0" y="69273"/>
                </a:lnTo>
                <a:cubicBezTo>
                  <a:pt x="0" y="31040"/>
                  <a:pt x="31040" y="0"/>
                  <a:pt x="69273" y="0"/>
                </a:cubicBezTo>
                <a:close/>
              </a:path>
            </a:pathLst>
          </a:custGeom>
          <a:solidFill>
            <a:srgbClr val="4c8a7a"/>
          </a:solidFill>
          <a:ln w="0">
            <a:noFill/>
          </a:ln>
        </p:spPr>
        <p:style>
          <a:lnRef idx="0"/>
          <a:fillRef idx="0"/>
          <a:effectRef idx="0"/>
          <a:fontRef idx="minor"/>
        </p:style>
      </p:sp>
      <p:sp>
        <p:nvSpPr>
          <p:cNvPr id="390" name="Text 45"/>
          <p:cNvSpPr/>
          <p:nvPr/>
        </p:nvSpPr>
        <p:spPr>
          <a:xfrm>
            <a:off x="10841760" y="4191120"/>
            <a:ext cx="890640" cy="172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a:t>
            </a:r>
            <a:r>
              <a:rPr b="0" lang="en-US" sz="960" spc="-1" strike="noStrike">
                <a:solidFill>
                  <a:srgbClr val="5f6f6b"/>
                </a:solidFill>
                <a:latin typeface="Quattrocento Sans"/>
                <a:ea typeface="Quattrocento Sans"/>
              </a:rPr>
              <a:t>10 years</a:t>
            </a:r>
            <a:endParaRPr b="0" lang="en-HK" sz="960" spc="-1" strike="noStrike">
              <a:latin typeface="Arial"/>
            </a:endParaRPr>
          </a:p>
        </p:txBody>
      </p:sp>
      <p:sp>
        <p:nvSpPr>
          <p:cNvPr id="391" name="Text 46"/>
          <p:cNvSpPr/>
          <p:nvPr/>
        </p:nvSpPr>
        <p:spPr>
          <a:xfrm>
            <a:off x="6373440" y="4467960"/>
            <a:ext cx="752400" cy="172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60" spc="-1" strike="noStrike">
                <a:solidFill>
                  <a:srgbClr val="2f3e3b"/>
                </a:solidFill>
                <a:latin typeface="Quattrocento Sans"/>
                <a:ea typeface="Quattrocento Sans"/>
              </a:rPr>
              <a:t>Large gaps</a:t>
            </a:r>
            <a:endParaRPr b="0" lang="en-HK" sz="960" spc="-1" strike="noStrike">
              <a:latin typeface="Arial"/>
            </a:endParaRPr>
          </a:p>
        </p:txBody>
      </p:sp>
      <p:sp>
        <p:nvSpPr>
          <p:cNvPr id="392" name="Shape 47"/>
          <p:cNvSpPr/>
          <p:nvPr/>
        </p:nvSpPr>
        <p:spPr>
          <a:xfrm>
            <a:off x="7170120" y="4485240"/>
            <a:ext cx="3566880" cy="137520"/>
          </a:xfrm>
          <a:custGeom>
            <a:avLst/>
            <a:gdLst/>
            <a:ahLst/>
            <a:rect l="l" t="t" r="r" b="b"/>
            <a:pathLst>
              <a:path w="3567545" h="138545">
                <a:moveTo>
                  <a:pt x="69273" y="0"/>
                </a:moveTo>
                <a:lnTo>
                  <a:pt x="3498273" y="0"/>
                </a:lnTo>
                <a:cubicBezTo>
                  <a:pt x="3536531" y="0"/>
                  <a:pt x="3567545" y="31014"/>
                  <a:pt x="3567545" y="69273"/>
                </a:cubicBezTo>
                <a:lnTo>
                  <a:pt x="3567545" y="69273"/>
                </a:lnTo>
                <a:cubicBezTo>
                  <a:pt x="3567545" y="107531"/>
                  <a:pt x="3536531" y="138545"/>
                  <a:pt x="3498273" y="138545"/>
                </a:cubicBezTo>
                <a:lnTo>
                  <a:pt x="69273" y="138545"/>
                </a:lnTo>
                <a:cubicBezTo>
                  <a:pt x="31040" y="138545"/>
                  <a:pt x="0" y="107505"/>
                  <a:pt x="0" y="69273"/>
                </a:cubicBezTo>
                <a:lnTo>
                  <a:pt x="0" y="69273"/>
                </a:lnTo>
                <a:cubicBezTo>
                  <a:pt x="0" y="31040"/>
                  <a:pt x="31040" y="0"/>
                  <a:pt x="69273" y="0"/>
                </a:cubicBezTo>
                <a:close/>
              </a:path>
            </a:pathLst>
          </a:custGeom>
          <a:solidFill>
            <a:srgbClr val="e3e7e5"/>
          </a:solidFill>
          <a:ln w="0">
            <a:noFill/>
          </a:ln>
        </p:spPr>
        <p:style>
          <a:lnRef idx="0"/>
          <a:fillRef idx="0"/>
          <a:effectRef idx="0"/>
          <a:fontRef idx="minor"/>
        </p:style>
      </p:sp>
      <p:sp>
        <p:nvSpPr>
          <p:cNvPr id="393" name="Shape 48"/>
          <p:cNvSpPr/>
          <p:nvPr/>
        </p:nvSpPr>
        <p:spPr>
          <a:xfrm>
            <a:off x="7170120" y="4485240"/>
            <a:ext cx="2674800" cy="137520"/>
          </a:xfrm>
          <a:custGeom>
            <a:avLst/>
            <a:gdLst/>
            <a:ahLst/>
            <a:rect l="l" t="t" r="r" b="b"/>
            <a:pathLst>
              <a:path w="2675659" h="138545">
                <a:moveTo>
                  <a:pt x="69273" y="0"/>
                </a:moveTo>
                <a:lnTo>
                  <a:pt x="2606386" y="0"/>
                </a:lnTo>
                <a:cubicBezTo>
                  <a:pt x="2644645" y="0"/>
                  <a:pt x="2675659" y="31014"/>
                  <a:pt x="2675659" y="69273"/>
                </a:cubicBezTo>
                <a:lnTo>
                  <a:pt x="2675659" y="69273"/>
                </a:lnTo>
                <a:cubicBezTo>
                  <a:pt x="2675659" y="107531"/>
                  <a:pt x="2644645" y="138545"/>
                  <a:pt x="2606386" y="138545"/>
                </a:cubicBezTo>
                <a:lnTo>
                  <a:pt x="69273" y="138545"/>
                </a:lnTo>
                <a:cubicBezTo>
                  <a:pt x="31040" y="138545"/>
                  <a:pt x="0" y="107505"/>
                  <a:pt x="0" y="69273"/>
                </a:cubicBezTo>
                <a:lnTo>
                  <a:pt x="0" y="69273"/>
                </a:lnTo>
                <a:cubicBezTo>
                  <a:pt x="0" y="31040"/>
                  <a:pt x="31040" y="0"/>
                  <a:pt x="69273" y="0"/>
                </a:cubicBezTo>
                <a:close/>
              </a:path>
            </a:pathLst>
          </a:custGeom>
          <a:solidFill>
            <a:srgbClr val="8fb7ac"/>
          </a:solidFill>
          <a:ln w="0">
            <a:noFill/>
          </a:ln>
        </p:spPr>
        <p:style>
          <a:lnRef idx="0"/>
          <a:fillRef idx="0"/>
          <a:effectRef idx="0"/>
          <a:fontRef idx="minor"/>
        </p:style>
      </p:sp>
      <p:sp>
        <p:nvSpPr>
          <p:cNvPr id="394" name="Text 49"/>
          <p:cNvSpPr/>
          <p:nvPr/>
        </p:nvSpPr>
        <p:spPr>
          <a:xfrm>
            <a:off x="10841760" y="4467960"/>
            <a:ext cx="890640" cy="172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30-40 years</a:t>
            </a:r>
            <a:endParaRPr b="0" lang="en-HK" sz="960" spc="-1" strike="noStrike">
              <a:latin typeface="Arial"/>
            </a:endParaRPr>
          </a:p>
        </p:txBody>
      </p:sp>
      <p:sp>
        <p:nvSpPr>
          <p:cNvPr id="395" name="Text 50"/>
          <p:cNvSpPr/>
          <p:nvPr/>
        </p:nvSpPr>
        <p:spPr>
          <a:xfrm>
            <a:off x="6373440" y="4745160"/>
            <a:ext cx="5359320" cy="345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Gap closure occurs through lateral canopy expansion of surrounding trees and vertical growth of gap-fillers.</a:t>
            </a:r>
            <a:endParaRPr b="0" lang="en-HK" sz="960" spc="-1" strike="noStrike">
              <a:latin typeface="Arial"/>
            </a:endParaRPr>
          </a:p>
        </p:txBody>
      </p:sp>
      <p:sp>
        <p:nvSpPr>
          <p:cNvPr id="396" name="Shape 51"/>
          <p:cNvSpPr/>
          <p:nvPr/>
        </p:nvSpPr>
        <p:spPr>
          <a:xfrm>
            <a:off x="6200280" y="5403240"/>
            <a:ext cx="5645160" cy="830160"/>
          </a:xfrm>
          <a:custGeom>
            <a:avLst/>
            <a:gdLst/>
            <a:ahLst/>
            <a:rect l="l" t="t" r="r" b="b"/>
            <a:pathLst>
              <a:path w="5645727" h="831273">
                <a:moveTo>
                  <a:pt x="103909" y="0"/>
                </a:moveTo>
                <a:lnTo>
                  <a:pt x="5541818" y="0"/>
                </a:lnTo>
                <a:cubicBezTo>
                  <a:pt x="5599206" y="0"/>
                  <a:pt x="5645727" y="46522"/>
                  <a:pt x="5645727" y="103909"/>
                </a:cubicBezTo>
                <a:lnTo>
                  <a:pt x="5645727" y="727364"/>
                </a:lnTo>
                <a:cubicBezTo>
                  <a:pt x="5645727" y="784751"/>
                  <a:pt x="5599206" y="831273"/>
                  <a:pt x="5541818" y="831273"/>
                </a:cubicBezTo>
                <a:lnTo>
                  <a:pt x="103909" y="831273"/>
                </a:lnTo>
                <a:cubicBezTo>
                  <a:pt x="46522" y="831273"/>
                  <a:pt x="0" y="784751"/>
                  <a:pt x="0" y="727364"/>
                </a:cubicBezTo>
                <a:lnTo>
                  <a:pt x="0" y="103909"/>
                </a:lnTo>
                <a:cubicBezTo>
                  <a:pt x="0" y="46560"/>
                  <a:pt x="46560" y="0"/>
                  <a:pt x="103909" y="0"/>
                </a:cubicBezTo>
                <a:close/>
              </a:path>
            </a:pathLst>
          </a:custGeom>
          <a:solidFill>
            <a:srgbClr val="4c8a7a"/>
          </a:solidFill>
          <a:ln w="0">
            <a:noFill/>
          </a:ln>
        </p:spPr>
        <p:style>
          <a:lnRef idx="0"/>
          <a:fillRef idx="0"/>
          <a:effectRef idx="0"/>
          <a:fontRef idx="minor"/>
        </p:style>
      </p:sp>
      <p:sp>
        <p:nvSpPr>
          <p:cNvPr id="397" name="Text 52"/>
          <p:cNvSpPr/>
          <p:nvPr/>
        </p:nvSpPr>
        <p:spPr>
          <a:xfrm>
            <a:off x="6273720" y="5541840"/>
            <a:ext cx="5497920" cy="31068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2040" spc="-1" strike="noStrike">
                <a:solidFill>
                  <a:srgbClr val="ffffff"/>
                </a:solidFill>
                <a:latin typeface="Sorts Mill Goudy"/>
                <a:ea typeface="Sorts Mill Goudy"/>
              </a:rPr>
              <a:t>Intermediate Disturbance</a:t>
            </a:r>
            <a:endParaRPr b="0" lang="en-HK" sz="2040" spc="-1" strike="noStrike">
              <a:latin typeface="Arial"/>
            </a:endParaRPr>
          </a:p>
        </p:txBody>
      </p:sp>
      <p:sp>
        <p:nvSpPr>
          <p:cNvPr id="398" name="Text 53"/>
          <p:cNvSpPr/>
          <p:nvPr/>
        </p:nvSpPr>
        <p:spPr>
          <a:xfrm>
            <a:off x="6304320" y="5888160"/>
            <a:ext cx="5437080" cy="2066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90" spc="-1" strike="noStrike">
                <a:solidFill>
                  <a:srgbClr val="ffffff"/>
                </a:solidFill>
                <a:latin typeface="Quattrocento Sans"/>
                <a:ea typeface="Quattrocento Sans"/>
              </a:rPr>
              <a:t>Maximizes diversity by preventing competitive exclusion</a:t>
            </a:r>
            <a:endParaRPr b="0" lang="en-HK" sz="109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399" name="Text 0"/>
          <p:cNvSpPr/>
          <p:nvPr/>
        </p:nvSpPr>
        <p:spPr>
          <a:xfrm>
            <a:off x="334440" y="334440"/>
            <a:ext cx="11581560" cy="166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83" strike="noStrike">
                <a:solidFill>
                  <a:srgbClr val="8fb7ac"/>
                </a:solidFill>
                <a:latin typeface="Quattrocento Sans"/>
                <a:ea typeface="Quattrocento Sans"/>
              </a:rPr>
              <a:t>04 • Disturbance Regimes</a:t>
            </a:r>
            <a:endParaRPr b="0" lang="en-HK" sz="920" spc="-1" strike="noStrike">
              <a:latin typeface="Arial"/>
            </a:endParaRPr>
          </a:p>
        </p:txBody>
      </p:sp>
      <p:sp>
        <p:nvSpPr>
          <p:cNvPr id="400" name="Text 1"/>
          <p:cNvSpPr/>
          <p:nvPr/>
        </p:nvSpPr>
        <p:spPr>
          <a:xfrm>
            <a:off x="334440" y="568800"/>
            <a:ext cx="11673720" cy="3333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70" spc="-1" strike="noStrike">
                <a:solidFill>
                  <a:srgbClr val="2f3e3b"/>
                </a:solidFill>
                <a:latin typeface="Sorts Mill Goudy"/>
                <a:ea typeface="Sorts Mill Goudy"/>
              </a:rPr>
              <a:t>Succession &amp; Regeneration Dynamics</a:t>
            </a:r>
            <a:endParaRPr b="0" lang="en-HK" sz="2370" spc="-1" strike="noStrike">
              <a:latin typeface="Arial"/>
            </a:endParaRPr>
          </a:p>
        </p:txBody>
      </p:sp>
      <p:sp>
        <p:nvSpPr>
          <p:cNvPr id="401" name="Text 2"/>
          <p:cNvSpPr/>
          <p:nvPr/>
        </p:nvSpPr>
        <p:spPr>
          <a:xfrm>
            <a:off x="334440" y="969840"/>
            <a:ext cx="11598120" cy="232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80" spc="-1" strike="noStrike">
                <a:solidFill>
                  <a:srgbClr val="5f6f6b"/>
                </a:solidFill>
                <a:latin typeface="Quattrocento Sans"/>
                <a:ea typeface="Quattrocento Sans"/>
              </a:rPr>
              <a:t>Forest development pathways maintain biodiversity over time</a:t>
            </a:r>
            <a:endParaRPr b="0" lang="en-HK" sz="1180" spc="-1" strike="noStrike">
              <a:latin typeface="Arial"/>
            </a:endParaRPr>
          </a:p>
        </p:txBody>
      </p:sp>
      <p:sp>
        <p:nvSpPr>
          <p:cNvPr id="402" name="Shape 3"/>
          <p:cNvSpPr/>
          <p:nvPr/>
        </p:nvSpPr>
        <p:spPr>
          <a:xfrm>
            <a:off x="334440" y="1371240"/>
            <a:ext cx="6848280" cy="2474280"/>
          </a:xfrm>
          <a:custGeom>
            <a:avLst/>
            <a:gdLst/>
            <a:ahLst/>
            <a:rect l="l" t="t" r="r" b="b"/>
            <a:pathLst>
              <a:path w="6848593" h="2475193">
                <a:moveTo>
                  <a:pt x="100344" y="0"/>
                </a:moveTo>
                <a:lnTo>
                  <a:pt x="6748248" y="0"/>
                </a:lnTo>
                <a:cubicBezTo>
                  <a:pt x="6803667" y="0"/>
                  <a:pt x="6848593" y="44926"/>
                  <a:pt x="6848593" y="100344"/>
                </a:cubicBezTo>
                <a:lnTo>
                  <a:pt x="6848593" y="2374849"/>
                </a:lnTo>
                <a:cubicBezTo>
                  <a:pt x="6848593" y="2430268"/>
                  <a:pt x="6803667" y="2475193"/>
                  <a:pt x="6748248" y="2475193"/>
                </a:cubicBezTo>
                <a:lnTo>
                  <a:pt x="100344" y="2475193"/>
                </a:lnTo>
                <a:cubicBezTo>
                  <a:pt x="44926" y="2475193"/>
                  <a:pt x="0" y="2430268"/>
                  <a:pt x="0" y="2374849"/>
                </a:cubicBezTo>
                <a:lnTo>
                  <a:pt x="0" y="100344"/>
                </a:lnTo>
                <a:cubicBezTo>
                  <a:pt x="0" y="44926"/>
                  <a:pt x="44926" y="0"/>
                  <a:pt x="100344"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403" name="Text 4"/>
          <p:cNvSpPr/>
          <p:nvPr/>
        </p:nvSpPr>
        <p:spPr>
          <a:xfrm>
            <a:off x="501840" y="1538640"/>
            <a:ext cx="6597360" cy="232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2f3e3b"/>
                </a:solidFill>
                <a:latin typeface="Sorts Mill Goudy"/>
                <a:ea typeface="Sorts Mill Goudy"/>
              </a:rPr>
              <a:t>Successional Pathways</a:t>
            </a:r>
            <a:endParaRPr b="0" lang="en-HK" sz="1320" spc="-1" strike="noStrike">
              <a:latin typeface="Arial"/>
            </a:endParaRPr>
          </a:p>
        </p:txBody>
      </p:sp>
      <p:sp>
        <p:nvSpPr>
          <p:cNvPr id="404" name="Text 5"/>
          <p:cNvSpPr/>
          <p:nvPr/>
        </p:nvSpPr>
        <p:spPr>
          <a:xfrm>
            <a:off x="501840" y="1873080"/>
            <a:ext cx="6580800" cy="433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50" spc="-1" strike="noStrike">
                <a:solidFill>
                  <a:srgbClr val="1f2a28"/>
                </a:solidFill>
                <a:latin typeface="Quattrocento Sans"/>
                <a:ea typeface="Quattrocento Sans"/>
              </a:rPr>
              <a:t>Forest succession progresses from </a:t>
            </a:r>
            <a:r>
              <a:rPr b="0" lang="en-US" sz="1050" spc="-1" strike="noStrike">
                <a:solidFill>
                  <a:srgbClr val="2f3e3b"/>
                </a:solidFill>
                <a:highlight>
                  <a:srgbClr val="8fb7ac"/>
                </a:highlight>
                <a:latin typeface="Quattrocento Sans"/>
                <a:ea typeface="Quattrocento Sans"/>
              </a:rPr>
              <a:t>pioneer to climax communities </a:t>
            </a:r>
            <a:r>
              <a:rPr b="0" lang="en-US" sz="1050" spc="-1" strike="noStrike">
                <a:solidFill>
                  <a:srgbClr val="1f2a28"/>
                </a:solidFill>
                <a:latin typeface="Quattrocento Sans"/>
                <a:ea typeface="Quattrocento Sans"/>
              </a:rPr>
              <a:t>, with gap dynamics creating a mosaic of successional stages that supports diverse species assemblages.</a:t>
            </a:r>
            <a:endParaRPr b="0" lang="en-HK" sz="1050" spc="-1" strike="noStrike">
              <a:latin typeface="Arial"/>
            </a:endParaRPr>
          </a:p>
        </p:txBody>
      </p:sp>
      <p:sp>
        <p:nvSpPr>
          <p:cNvPr id="405" name="Shape 6"/>
          <p:cNvSpPr/>
          <p:nvPr/>
        </p:nvSpPr>
        <p:spPr>
          <a:xfrm>
            <a:off x="501840" y="2441880"/>
            <a:ext cx="2106360" cy="1236600"/>
          </a:xfrm>
          <a:custGeom>
            <a:avLst/>
            <a:gdLst/>
            <a:ahLst/>
            <a:rect l="l" t="t" r="r" b="b"/>
            <a:pathLst>
              <a:path w="2107259" h="1237597">
                <a:moveTo>
                  <a:pt x="66892" y="0"/>
                </a:moveTo>
                <a:lnTo>
                  <a:pt x="2040367" y="0"/>
                </a:lnTo>
                <a:cubicBezTo>
                  <a:pt x="2077311" y="0"/>
                  <a:pt x="2107259" y="29949"/>
                  <a:pt x="2107259" y="66892"/>
                </a:cubicBezTo>
                <a:lnTo>
                  <a:pt x="2107259" y="1170705"/>
                </a:lnTo>
                <a:cubicBezTo>
                  <a:pt x="2107259" y="1207648"/>
                  <a:pt x="2077311" y="1237597"/>
                  <a:pt x="2040367" y="1237597"/>
                </a:cubicBezTo>
                <a:lnTo>
                  <a:pt x="66892" y="1237597"/>
                </a:lnTo>
                <a:cubicBezTo>
                  <a:pt x="29949" y="1237597"/>
                  <a:pt x="0" y="1207648"/>
                  <a:pt x="0" y="1170705"/>
                </a:cubicBezTo>
                <a:lnTo>
                  <a:pt x="0" y="66892"/>
                </a:lnTo>
                <a:cubicBezTo>
                  <a:pt x="0" y="29949"/>
                  <a:pt x="29949" y="0"/>
                  <a:pt x="66892" y="0"/>
                </a:cubicBezTo>
                <a:close/>
              </a:path>
            </a:pathLst>
          </a:custGeom>
          <a:solidFill>
            <a:srgbClr val="4c8a7a">
              <a:alpha val="10000"/>
            </a:srgbClr>
          </a:solidFill>
          <a:ln w="0">
            <a:noFill/>
          </a:ln>
        </p:spPr>
        <p:style>
          <a:lnRef idx="0"/>
          <a:fillRef idx="0"/>
          <a:effectRef idx="0"/>
          <a:fontRef idx="minor"/>
        </p:style>
      </p:sp>
      <p:sp>
        <p:nvSpPr>
          <p:cNvPr id="406" name="Shape 7"/>
          <p:cNvSpPr/>
          <p:nvPr/>
        </p:nvSpPr>
        <p:spPr>
          <a:xfrm>
            <a:off x="1352880" y="2541960"/>
            <a:ext cx="400320" cy="400320"/>
          </a:xfrm>
          <a:custGeom>
            <a:avLst/>
            <a:gdLst/>
            <a:ahLst/>
            <a:rect l="l" t="t" r="r" b="b"/>
            <a:pathLst>
              <a:path w="401383" h="401383">
                <a:moveTo>
                  <a:pt x="200691" y="0"/>
                </a:moveTo>
                <a:lnTo>
                  <a:pt x="200691" y="0"/>
                </a:lnTo>
                <a:cubicBezTo>
                  <a:pt x="311456" y="0"/>
                  <a:pt x="401383" y="89927"/>
                  <a:pt x="401383" y="200691"/>
                </a:cubicBezTo>
                <a:lnTo>
                  <a:pt x="401383" y="200691"/>
                </a:lnTo>
                <a:cubicBezTo>
                  <a:pt x="401383" y="311456"/>
                  <a:pt x="311456" y="401383"/>
                  <a:pt x="200691" y="401383"/>
                </a:cubicBezTo>
                <a:lnTo>
                  <a:pt x="200691" y="401383"/>
                </a:lnTo>
                <a:cubicBezTo>
                  <a:pt x="89927" y="401383"/>
                  <a:pt x="0" y="311456"/>
                  <a:pt x="0" y="200691"/>
                </a:cubicBezTo>
                <a:lnTo>
                  <a:pt x="0" y="200691"/>
                </a:lnTo>
                <a:cubicBezTo>
                  <a:pt x="0" y="89927"/>
                  <a:pt x="89927" y="0"/>
                  <a:pt x="200691" y="0"/>
                </a:cubicBezTo>
                <a:close/>
              </a:path>
            </a:pathLst>
          </a:custGeom>
          <a:solidFill>
            <a:srgbClr val="4c8a7a"/>
          </a:solidFill>
          <a:ln w="0">
            <a:noFill/>
          </a:ln>
        </p:spPr>
        <p:style>
          <a:lnRef idx="0"/>
          <a:fillRef idx="0"/>
          <a:effectRef idx="0"/>
          <a:fontRef idx="minor"/>
        </p:style>
      </p:sp>
      <p:sp>
        <p:nvSpPr>
          <p:cNvPr id="407" name="Shape 8"/>
          <p:cNvSpPr/>
          <p:nvPr/>
        </p:nvSpPr>
        <p:spPr>
          <a:xfrm>
            <a:off x="1469880" y="2659320"/>
            <a:ext cx="166320" cy="166320"/>
          </a:xfrm>
          <a:custGeom>
            <a:avLst/>
            <a:gdLst/>
            <a:ahLst/>
            <a:rect l="l" t="t" r="r" b="b"/>
            <a:pathLst>
              <a:path w="167243" h="167243">
                <a:moveTo>
                  <a:pt x="167243" y="10453"/>
                </a:moveTo>
                <a:cubicBezTo>
                  <a:pt x="167243" y="45763"/>
                  <a:pt x="142222" y="75227"/>
                  <a:pt x="108969" y="82119"/>
                </a:cubicBezTo>
                <a:cubicBezTo>
                  <a:pt x="106389" y="63141"/>
                  <a:pt x="97863" y="46057"/>
                  <a:pt x="85287" y="32828"/>
                </a:cubicBezTo>
                <a:cubicBezTo>
                  <a:pt x="98386" y="13066"/>
                  <a:pt x="120826" y="0"/>
                  <a:pt x="146337" y="0"/>
                </a:cubicBezTo>
                <a:lnTo>
                  <a:pt x="156790" y="0"/>
                </a:lnTo>
                <a:cubicBezTo>
                  <a:pt x="162572" y="0"/>
                  <a:pt x="167243" y="4671"/>
                  <a:pt x="167243" y="10453"/>
                </a:cubicBezTo>
                <a:close/>
                <a:moveTo>
                  <a:pt x="0" y="31358"/>
                </a:moveTo>
                <a:cubicBezTo>
                  <a:pt x="0" y="25576"/>
                  <a:pt x="4671" y="20905"/>
                  <a:pt x="10453" y="20905"/>
                </a:cubicBezTo>
                <a:lnTo>
                  <a:pt x="20905" y="20905"/>
                </a:lnTo>
                <a:cubicBezTo>
                  <a:pt x="61311" y="20905"/>
                  <a:pt x="94074" y="53668"/>
                  <a:pt x="94074" y="94074"/>
                </a:cubicBezTo>
                <a:lnTo>
                  <a:pt x="94074" y="156790"/>
                </a:lnTo>
                <a:cubicBezTo>
                  <a:pt x="94074" y="162572"/>
                  <a:pt x="89403" y="167243"/>
                  <a:pt x="83621" y="167243"/>
                </a:cubicBezTo>
                <a:cubicBezTo>
                  <a:pt x="77840" y="167243"/>
                  <a:pt x="73169" y="162572"/>
                  <a:pt x="73169" y="156790"/>
                </a:cubicBezTo>
                <a:lnTo>
                  <a:pt x="73169" y="104527"/>
                </a:lnTo>
                <a:cubicBezTo>
                  <a:pt x="32763" y="104527"/>
                  <a:pt x="0" y="71764"/>
                  <a:pt x="0" y="31358"/>
                </a:cubicBezTo>
                <a:close/>
              </a:path>
            </a:pathLst>
          </a:custGeom>
          <a:solidFill>
            <a:srgbClr val="ffffff"/>
          </a:solidFill>
          <a:ln w="0">
            <a:noFill/>
          </a:ln>
        </p:spPr>
        <p:style>
          <a:lnRef idx="0"/>
          <a:fillRef idx="0"/>
          <a:effectRef idx="0"/>
          <a:fontRef idx="minor"/>
        </p:style>
      </p:sp>
      <p:sp>
        <p:nvSpPr>
          <p:cNvPr id="408" name="Text 9"/>
          <p:cNvSpPr/>
          <p:nvPr/>
        </p:nvSpPr>
        <p:spPr>
          <a:xfrm>
            <a:off x="568800" y="3010320"/>
            <a:ext cx="1972440" cy="1994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50" spc="-1" strike="noStrike">
                <a:solidFill>
                  <a:srgbClr val="2f3e3b"/>
                </a:solidFill>
                <a:latin typeface="Quattrocento Sans"/>
                <a:ea typeface="Quattrocento Sans"/>
              </a:rPr>
              <a:t>Pioneer Stage</a:t>
            </a:r>
            <a:endParaRPr b="0" lang="en-HK" sz="1050" spc="-1" strike="noStrike">
              <a:latin typeface="Arial"/>
            </a:endParaRPr>
          </a:p>
        </p:txBody>
      </p:sp>
      <p:sp>
        <p:nvSpPr>
          <p:cNvPr id="409" name="Text 10"/>
          <p:cNvSpPr/>
          <p:nvPr/>
        </p:nvSpPr>
        <p:spPr>
          <a:xfrm>
            <a:off x="572760" y="3244680"/>
            <a:ext cx="1964160" cy="3333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Fast-growing, light-demanding species colonize gaps</a:t>
            </a:r>
            <a:endParaRPr b="0" lang="en-HK" sz="920" spc="-1" strike="noStrike">
              <a:latin typeface="Arial"/>
            </a:endParaRPr>
          </a:p>
        </p:txBody>
      </p:sp>
      <p:sp>
        <p:nvSpPr>
          <p:cNvPr id="410" name="Shape 11"/>
          <p:cNvSpPr/>
          <p:nvPr/>
        </p:nvSpPr>
        <p:spPr>
          <a:xfrm>
            <a:off x="2705760" y="2441880"/>
            <a:ext cx="2106360" cy="1236600"/>
          </a:xfrm>
          <a:custGeom>
            <a:avLst/>
            <a:gdLst/>
            <a:ahLst/>
            <a:rect l="l" t="t" r="r" b="b"/>
            <a:pathLst>
              <a:path w="2107259" h="1237597">
                <a:moveTo>
                  <a:pt x="66892" y="0"/>
                </a:moveTo>
                <a:lnTo>
                  <a:pt x="2040367" y="0"/>
                </a:lnTo>
                <a:cubicBezTo>
                  <a:pt x="2077311" y="0"/>
                  <a:pt x="2107259" y="29949"/>
                  <a:pt x="2107259" y="66892"/>
                </a:cubicBezTo>
                <a:lnTo>
                  <a:pt x="2107259" y="1170705"/>
                </a:lnTo>
                <a:cubicBezTo>
                  <a:pt x="2107259" y="1207648"/>
                  <a:pt x="2077311" y="1237597"/>
                  <a:pt x="2040367" y="1237597"/>
                </a:cubicBezTo>
                <a:lnTo>
                  <a:pt x="66892" y="1237597"/>
                </a:lnTo>
                <a:cubicBezTo>
                  <a:pt x="29949" y="1237597"/>
                  <a:pt x="0" y="1207648"/>
                  <a:pt x="0" y="1170705"/>
                </a:cubicBezTo>
                <a:lnTo>
                  <a:pt x="0" y="66892"/>
                </a:lnTo>
                <a:cubicBezTo>
                  <a:pt x="0" y="29949"/>
                  <a:pt x="29949" y="0"/>
                  <a:pt x="66892" y="0"/>
                </a:cubicBezTo>
                <a:close/>
              </a:path>
            </a:pathLst>
          </a:custGeom>
          <a:solidFill>
            <a:srgbClr val="8fb7ac">
              <a:alpha val="10000"/>
            </a:srgbClr>
          </a:solidFill>
          <a:ln w="0">
            <a:noFill/>
          </a:ln>
        </p:spPr>
        <p:style>
          <a:lnRef idx="0"/>
          <a:fillRef idx="0"/>
          <a:effectRef idx="0"/>
          <a:fontRef idx="minor"/>
        </p:style>
      </p:sp>
      <p:sp>
        <p:nvSpPr>
          <p:cNvPr id="411" name="Shape 12"/>
          <p:cNvSpPr/>
          <p:nvPr/>
        </p:nvSpPr>
        <p:spPr>
          <a:xfrm>
            <a:off x="3556800" y="2541960"/>
            <a:ext cx="400320" cy="400320"/>
          </a:xfrm>
          <a:custGeom>
            <a:avLst/>
            <a:gdLst/>
            <a:ahLst/>
            <a:rect l="l" t="t" r="r" b="b"/>
            <a:pathLst>
              <a:path w="401383" h="401383">
                <a:moveTo>
                  <a:pt x="200691" y="0"/>
                </a:moveTo>
                <a:lnTo>
                  <a:pt x="200691" y="0"/>
                </a:lnTo>
                <a:cubicBezTo>
                  <a:pt x="311456" y="0"/>
                  <a:pt x="401383" y="89927"/>
                  <a:pt x="401383" y="200691"/>
                </a:cubicBezTo>
                <a:lnTo>
                  <a:pt x="401383" y="200691"/>
                </a:lnTo>
                <a:cubicBezTo>
                  <a:pt x="401383" y="311456"/>
                  <a:pt x="311456" y="401383"/>
                  <a:pt x="200691" y="401383"/>
                </a:cubicBezTo>
                <a:lnTo>
                  <a:pt x="200691" y="401383"/>
                </a:lnTo>
                <a:cubicBezTo>
                  <a:pt x="89927" y="401383"/>
                  <a:pt x="0" y="311456"/>
                  <a:pt x="0" y="200691"/>
                </a:cubicBezTo>
                <a:lnTo>
                  <a:pt x="0" y="200691"/>
                </a:lnTo>
                <a:cubicBezTo>
                  <a:pt x="0" y="89927"/>
                  <a:pt x="89927" y="0"/>
                  <a:pt x="200691" y="0"/>
                </a:cubicBezTo>
                <a:close/>
              </a:path>
            </a:pathLst>
          </a:custGeom>
          <a:solidFill>
            <a:srgbClr val="8fb7ac"/>
          </a:solidFill>
          <a:ln w="0">
            <a:noFill/>
          </a:ln>
        </p:spPr>
        <p:style>
          <a:lnRef idx="0"/>
          <a:fillRef idx="0"/>
          <a:effectRef idx="0"/>
          <a:fontRef idx="minor"/>
        </p:style>
      </p:sp>
      <p:sp>
        <p:nvSpPr>
          <p:cNvPr id="412" name="Shape 13"/>
          <p:cNvSpPr/>
          <p:nvPr/>
        </p:nvSpPr>
        <p:spPr>
          <a:xfrm>
            <a:off x="3684240" y="2659320"/>
            <a:ext cx="145080" cy="166320"/>
          </a:xfrm>
          <a:custGeom>
            <a:avLst/>
            <a:gdLst/>
            <a:ahLst/>
            <a:rect l="l" t="t" r="r" b="b"/>
            <a:pathLst>
              <a:path w="146337" h="167243">
                <a:moveTo>
                  <a:pt x="73169" y="-10453"/>
                </a:moveTo>
                <a:cubicBezTo>
                  <a:pt x="75455" y="-10453"/>
                  <a:pt x="77644" y="-9440"/>
                  <a:pt x="79146" y="-7676"/>
                </a:cubicBezTo>
                <a:lnTo>
                  <a:pt x="123570" y="44587"/>
                </a:lnTo>
                <a:cubicBezTo>
                  <a:pt x="125563" y="46906"/>
                  <a:pt x="125987" y="50173"/>
                  <a:pt x="124713" y="52949"/>
                </a:cubicBezTo>
                <a:cubicBezTo>
                  <a:pt x="123440" y="55726"/>
                  <a:pt x="120663" y="57490"/>
                  <a:pt x="117593" y="57490"/>
                </a:cubicBezTo>
                <a:lnTo>
                  <a:pt x="109459" y="57490"/>
                </a:lnTo>
                <a:lnTo>
                  <a:pt x="134023" y="86398"/>
                </a:lnTo>
                <a:cubicBezTo>
                  <a:pt x="136015" y="88717"/>
                  <a:pt x="136440" y="91984"/>
                  <a:pt x="135166" y="94760"/>
                </a:cubicBezTo>
                <a:cubicBezTo>
                  <a:pt x="133892" y="97537"/>
                  <a:pt x="131116" y="99300"/>
                  <a:pt x="128045" y="99300"/>
                </a:cubicBezTo>
                <a:lnTo>
                  <a:pt x="115469" y="99300"/>
                </a:lnTo>
                <a:lnTo>
                  <a:pt x="144476" y="133435"/>
                </a:lnTo>
                <a:cubicBezTo>
                  <a:pt x="146468" y="135754"/>
                  <a:pt x="146893" y="139021"/>
                  <a:pt x="145619" y="141797"/>
                </a:cubicBezTo>
                <a:cubicBezTo>
                  <a:pt x="144345" y="144574"/>
                  <a:pt x="141568" y="146337"/>
                  <a:pt x="138498" y="146337"/>
                </a:cubicBezTo>
                <a:lnTo>
                  <a:pt x="83621" y="146337"/>
                </a:lnTo>
                <a:lnTo>
                  <a:pt x="83621" y="167243"/>
                </a:lnTo>
                <a:cubicBezTo>
                  <a:pt x="83621" y="173024"/>
                  <a:pt x="78950" y="177695"/>
                  <a:pt x="73169" y="177695"/>
                </a:cubicBezTo>
                <a:cubicBezTo>
                  <a:pt x="67387" y="177695"/>
                  <a:pt x="62716" y="173024"/>
                  <a:pt x="62716" y="167243"/>
                </a:cubicBezTo>
                <a:lnTo>
                  <a:pt x="62716" y="146337"/>
                </a:lnTo>
                <a:lnTo>
                  <a:pt x="7840" y="146337"/>
                </a:lnTo>
                <a:cubicBezTo>
                  <a:pt x="4769" y="146337"/>
                  <a:pt x="1993" y="144574"/>
                  <a:pt x="719" y="141797"/>
                </a:cubicBezTo>
                <a:cubicBezTo>
                  <a:pt x="-555" y="139021"/>
                  <a:pt x="-131" y="135754"/>
                  <a:pt x="1862" y="133435"/>
                </a:cubicBezTo>
                <a:lnTo>
                  <a:pt x="30868" y="99300"/>
                </a:lnTo>
                <a:lnTo>
                  <a:pt x="18292" y="99300"/>
                </a:lnTo>
                <a:cubicBezTo>
                  <a:pt x="15222" y="99300"/>
                  <a:pt x="12445" y="97537"/>
                  <a:pt x="11171" y="94760"/>
                </a:cubicBezTo>
                <a:cubicBezTo>
                  <a:pt x="9897" y="91984"/>
                  <a:pt x="10322" y="88717"/>
                  <a:pt x="12315" y="86398"/>
                </a:cubicBezTo>
                <a:lnTo>
                  <a:pt x="36878" y="57490"/>
                </a:lnTo>
                <a:lnTo>
                  <a:pt x="28745" y="57490"/>
                </a:lnTo>
                <a:cubicBezTo>
                  <a:pt x="25674" y="57490"/>
                  <a:pt x="22898" y="55726"/>
                  <a:pt x="21624" y="52949"/>
                </a:cubicBezTo>
                <a:cubicBezTo>
                  <a:pt x="20350" y="50173"/>
                  <a:pt x="20775" y="46906"/>
                  <a:pt x="22767" y="44587"/>
                </a:cubicBezTo>
                <a:lnTo>
                  <a:pt x="67191" y="-7676"/>
                </a:lnTo>
                <a:cubicBezTo>
                  <a:pt x="68694" y="-9440"/>
                  <a:pt x="70882" y="-10453"/>
                  <a:pt x="73169" y="-10453"/>
                </a:cubicBezTo>
                <a:close/>
              </a:path>
            </a:pathLst>
          </a:custGeom>
          <a:solidFill>
            <a:srgbClr val="ffffff"/>
          </a:solidFill>
          <a:ln w="0">
            <a:noFill/>
          </a:ln>
        </p:spPr>
        <p:style>
          <a:lnRef idx="0"/>
          <a:fillRef idx="0"/>
          <a:effectRef idx="0"/>
          <a:fontRef idx="minor"/>
        </p:style>
      </p:sp>
      <p:sp>
        <p:nvSpPr>
          <p:cNvPr id="413" name="Text 14"/>
          <p:cNvSpPr/>
          <p:nvPr/>
        </p:nvSpPr>
        <p:spPr>
          <a:xfrm>
            <a:off x="2772360" y="3010320"/>
            <a:ext cx="1972440" cy="1994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50" spc="-1" strike="noStrike">
                <a:solidFill>
                  <a:srgbClr val="2f3e3b"/>
                </a:solidFill>
                <a:latin typeface="Quattrocento Sans"/>
                <a:ea typeface="Quattrocento Sans"/>
              </a:rPr>
              <a:t>Mid-Successional</a:t>
            </a:r>
            <a:endParaRPr b="0" lang="en-HK" sz="1050" spc="-1" strike="noStrike">
              <a:latin typeface="Arial"/>
            </a:endParaRPr>
          </a:p>
        </p:txBody>
      </p:sp>
      <p:sp>
        <p:nvSpPr>
          <p:cNvPr id="414" name="Text 15"/>
          <p:cNvSpPr/>
          <p:nvPr/>
        </p:nvSpPr>
        <p:spPr>
          <a:xfrm>
            <a:off x="2776680" y="3244680"/>
            <a:ext cx="1964160" cy="3333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Intermediate shade-tolerant species establish</a:t>
            </a:r>
            <a:endParaRPr b="0" lang="en-HK" sz="920" spc="-1" strike="noStrike">
              <a:latin typeface="Arial"/>
            </a:endParaRPr>
          </a:p>
        </p:txBody>
      </p:sp>
      <p:sp>
        <p:nvSpPr>
          <p:cNvPr id="415" name="Shape 16"/>
          <p:cNvSpPr/>
          <p:nvPr/>
        </p:nvSpPr>
        <p:spPr>
          <a:xfrm>
            <a:off x="4909680" y="2441880"/>
            <a:ext cx="2106360" cy="1236600"/>
          </a:xfrm>
          <a:custGeom>
            <a:avLst/>
            <a:gdLst/>
            <a:ahLst/>
            <a:rect l="l" t="t" r="r" b="b"/>
            <a:pathLst>
              <a:path w="2107259" h="1237597">
                <a:moveTo>
                  <a:pt x="66892" y="0"/>
                </a:moveTo>
                <a:lnTo>
                  <a:pt x="2040367" y="0"/>
                </a:lnTo>
                <a:cubicBezTo>
                  <a:pt x="2077311" y="0"/>
                  <a:pt x="2107259" y="29949"/>
                  <a:pt x="2107259" y="66892"/>
                </a:cubicBezTo>
                <a:lnTo>
                  <a:pt x="2107259" y="1170705"/>
                </a:lnTo>
                <a:cubicBezTo>
                  <a:pt x="2107259" y="1207648"/>
                  <a:pt x="2077311" y="1237597"/>
                  <a:pt x="2040367" y="1237597"/>
                </a:cubicBezTo>
                <a:lnTo>
                  <a:pt x="66892" y="1237597"/>
                </a:lnTo>
                <a:cubicBezTo>
                  <a:pt x="29949" y="1237597"/>
                  <a:pt x="0" y="1207648"/>
                  <a:pt x="0" y="1170705"/>
                </a:cubicBezTo>
                <a:lnTo>
                  <a:pt x="0" y="66892"/>
                </a:lnTo>
                <a:cubicBezTo>
                  <a:pt x="0" y="29949"/>
                  <a:pt x="29949" y="0"/>
                  <a:pt x="66892" y="0"/>
                </a:cubicBezTo>
                <a:close/>
              </a:path>
            </a:pathLst>
          </a:custGeom>
          <a:solidFill>
            <a:srgbClr val="5f6f6b">
              <a:alpha val="10000"/>
            </a:srgbClr>
          </a:solidFill>
          <a:ln w="0">
            <a:noFill/>
          </a:ln>
        </p:spPr>
        <p:style>
          <a:lnRef idx="0"/>
          <a:fillRef idx="0"/>
          <a:effectRef idx="0"/>
          <a:fontRef idx="minor"/>
        </p:style>
      </p:sp>
      <p:sp>
        <p:nvSpPr>
          <p:cNvPr id="416" name="Shape 17"/>
          <p:cNvSpPr/>
          <p:nvPr/>
        </p:nvSpPr>
        <p:spPr>
          <a:xfrm>
            <a:off x="5760720" y="2541960"/>
            <a:ext cx="400320" cy="400320"/>
          </a:xfrm>
          <a:custGeom>
            <a:avLst/>
            <a:gdLst/>
            <a:ahLst/>
            <a:rect l="l" t="t" r="r" b="b"/>
            <a:pathLst>
              <a:path w="401383" h="401383">
                <a:moveTo>
                  <a:pt x="200691" y="0"/>
                </a:moveTo>
                <a:lnTo>
                  <a:pt x="200691" y="0"/>
                </a:lnTo>
                <a:cubicBezTo>
                  <a:pt x="311456" y="0"/>
                  <a:pt x="401383" y="89927"/>
                  <a:pt x="401383" y="200691"/>
                </a:cubicBezTo>
                <a:lnTo>
                  <a:pt x="401383" y="200691"/>
                </a:lnTo>
                <a:cubicBezTo>
                  <a:pt x="401383" y="311456"/>
                  <a:pt x="311456" y="401383"/>
                  <a:pt x="200691" y="401383"/>
                </a:cubicBezTo>
                <a:lnTo>
                  <a:pt x="200691" y="401383"/>
                </a:lnTo>
                <a:cubicBezTo>
                  <a:pt x="89927" y="401383"/>
                  <a:pt x="0" y="311456"/>
                  <a:pt x="0" y="200691"/>
                </a:cubicBezTo>
                <a:lnTo>
                  <a:pt x="0" y="200691"/>
                </a:lnTo>
                <a:cubicBezTo>
                  <a:pt x="0" y="89927"/>
                  <a:pt x="89927" y="0"/>
                  <a:pt x="200691" y="0"/>
                </a:cubicBezTo>
                <a:close/>
              </a:path>
            </a:pathLst>
          </a:custGeom>
          <a:solidFill>
            <a:srgbClr val="5f6f6b"/>
          </a:solidFill>
          <a:ln w="0">
            <a:noFill/>
          </a:ln>
        </p:spPr>
        <p:style>
          <a:lnRef idx="0"/>
          <a:fillRef idx="0"/>
          <a:effectRef idx="0"/>
          <a:fontRef idx="minor"/>
        </p:style>
      </p:sp>
      <p:sp>
        <p:nvSpPr>
          <p:cNvPr id="417" name="Shape 18"/>
          <p:cNvSpPr/>
          <p:nvPr/>
        </p:nvSpPr>
        <p:spPr>
          <a:xfrm>
            <a:off x="5878080" y="2659320"/>
            <a:ext cx="166320" cy="166320"/>
          </a:xfrm>
          <a:custGeom>
            <a:avLst/>
            <a:gdLst/>
            <a:ahLst/>
            <a:rect l="l" t="t" r="r" b="b"/>
            <a:pathLst>
              <a:path w="167243" h="167243">
                <a:moveTo>
                  <a:pt x="21526" y="74639"/>
                </a:moveTo>
                <a:cubicBezTo>
                  <a:pt x="25870" y="44261"/>
                  <a:pt x="52035" y="20905"/>
                  <a:pt x="83621" y="20905"/>
                </a:cubicBezTo>
                <a:cubicBezTo>
                  <a:pt x="100934" y="20905"/>
                  <a:pt x="116613" y="27928"/>
                  <a:pt x="127980" y="39263"/>
                </a:cubicBezTo>
                <a:cubicBezTo>
                  <a:pt x="128045" y="39328"/>
                  <a:pt x="128111" y="39394"/>
                  <a:pt x="128176" y="39459"/>
                </a:cubicBezTo>
                <a:lnTo>
                  <a:pt x="130658" y="41811"/>
                </a:lnTo>
                <a:lnTo>
                  <a:pt x="115012" y="41811"/>
                </a:lnTo>
                <a:cubicBezTo>
                  <a:pt x="109230" y="41811"/>
                  <a:pt x="104559" y="46482"/>
                  <a:pt x="104559" y="52263"/>
                </a:cubicBezTo>
                <a:cubicBezTo>
                  <a:pt x="104559" y="58045"/>
                  <a:pt x="109230" y="62716"/>
                  <a:pt x="115012" y="62716"/>
                </a:cubicBezTo>
                <a:lnTo>
                  <a:pt x="156823" y="62716"/>
                </a:lnTo>
                <a:cubicBezTo>
                  <a:pt x="162604" y="62716"/>
                  <a:pt x="167275" y="58045"/>
                  <a:pt x="167275" y="52263"/>
                </a:cubicBezTo>
                <a:lnTo>
                  <a:pt x="167275" y="10453"/>
                </a:lnTo>
                <a:cubicBezTo>
                  <a:pt x="167275" y="4671"/>
                  <a:pt x="162604" y="0"/>
                  <a:pt x="156823" y="0"/>
                </a:cubicBezTo>
                <a:cubicBezTo>
                  <a:pt x="151041" y="0"/>
                  <a:pt x="146370" y="4671"/>
                  <a:pt x="146370" y="10453"/>
                </a:cubicBezTo>
                <a:lnTo>
                  <a:pt x="146370" y="27896"/>
                </a:lnTo>
                <a:lnTo>
                  <a:pt x="142679" y="24400"/>
                </a:lnTo>
                <a:cubicBezTo>
                  <a:pt x="127555" y="9342"/>
                  <a:pt x="106650" y="0"/>
                  <a:pt x="83621" y="0"/>
                </a:cubicBezTo>
                <a:cubicBezTo>
                  <a:pt x="41484" y="0"/>
                  <a:pt x="6631" y="31162"/>
                  <a:pt x="849" y="71699"/>
                </a:cubicBezTo>
                <a:cubicBezTo>
                  <a:pt x="33" y="77415"/>
                  <a:pt x="3985" y="82707"/>
                  <a:pt x="9701" y="83523"/>
                </a:cubicBezTo>
                <a:cubicBezTo>
                  <a:pt x="15418" y="84340"/>
                  <a:pt x="20709" y="80355"/>
                  <a:pt x="21526" y="74671"/>
                </a:cubicBezTo>
                <a:close/>
                <a:moveTo>
                  <a:pt x="166394" y="95544"/>
                </a:moveTo>
                <a:cubicBezTo>
                  <a:pt x="167210" y="89828"/>
                  <a:pt x="163225" y="84536"/>
                  <a:pt x="157541" y="83719"/>
                </a:cubicBezTo>
                <a:cubicBezTo>
                  <a:pt x="151858" y="82903"/>
                  <a:pt x="146533" y="86888"/>
                  <a:pt x="145717" y="92572"/>
                </a:cubicBezTo>
                <a:cubicBezTo>
                  <a:pt x="141372" y="122950"/>
                  <a:pt x="115208" y="146305"/>
                  <a:pt x="83621" y="146305"/>
                </a:cubicBezTo>
                <a:cubicBezTo>
                  <a:pt x="66309" y="146305"/>
                  <a:pt x="50630" y="139282"/>
                  <a:pt x="39263" y="127947"/>
                </a:cubicBezTo>
                <a:cubicBezTo>
                  <a:pt x="39198" y="127882"/>
                  <a:pt x="39132" y="127817"/>
                  <a:pt x="39067" y="127751"/>
                </a:cubicBezTo>
                <a:lnTo>
                  <a:pt x="36584" y="125399"/>
                </a:lnTo>
                <a:lnTo>
                  <a:pt x="52231" y="125399"/>
                </a:lnTo>
                <a:cubicBezTo>
                  <a:pt x="58012" y="125399"/>
                  <a:pt x="62683" y="120728"/>
                  <a:pt x="62683" y="114947"/>
                </a:cubicBezTo>
                <a:cubicBezTo>
                  <a:pt x="62683" y="109165"/>
                  <a:pt x="58012" y="104494"/>
                  <a:pt x="52231" y="104494"/>
                </a:cubicBezTo>
                <a:lnTo>
                  <a:pt x="10453" y="104527"/>
                </a:lnTo>
                <a:cubicBezTo>
                  <a:pt x="7676" y="104527"/>
                  <a:pt x="4998" y="105637"/>
                  <a:pt x="3038" y="107630"/>
                </a:cubicBezTo>
                <a:cubicBezTo>
                  <a:pt x="1078" y="109622"/>
                  <a:pt x="-33" y="112268"/>
                  <a:pt x="0" y="115077"/>
                </a:cubicBezTo>
                <a:lnTo>
                  <a:pt x="327" y="156561"/>
                </a:lnTo>
                <a:cubicBezTo>
                  <a:pt x="359" y="162343"/>
                  <a:pt x="5096" y="166981"/>
                  <a:pt x="10877" y="166916"/>
                </a:cubicBezTo>
                <a:cubicBezTo>
                  <a:pt x="16659" y="166851"/>
                  <a:pt x="21297" y="162147"/>
                  <a:pt x="21232" y="156365"/>
                </a:cubicBezTo>
                <a:lnTo>
                  <a:pt x="21101" y="139543"/>
                </a:lnTo>
                <a:lnTo>
                  <a:pt x="24596" y="142842"/>
                </a:lnTo>
                <a:cubicBezTo>
                  <a:pt x="39720" y="157901"/>
                  <a:pt x="60593" y="167243"/>
                  <a:pt x="83621" y="167243"/>
                </a:cubicBezTo>
                <a:cubicBezTo>
                  <a:pt x="125759" y="167243"/>
                  <a:pt x="160612" y="136081"/>
                  <a:pt x="166394" y="95544"/>
                </a:cubicBezTo>
                <a:close/>
              </a:path>
            </a:pathLst>
          </a:custGeom>
          <a:solidFill>
            <a:srgbClr val="ffffff"/>
          </a:solidFill>
          <a:ln w="0">
            <a:noFill/>
          </a:ln>
        </p:spPr>
        <p:style>
          <a:lnRef idx="0"/>
          <a:fillRef idx="0"/>
          <a:effectRef idx="0"/>
          <a:fontRef idx="minor"/>
        </p:style>
      </p:sp>
      <p:sp>
        <p:nvSpPr>
          <p:cNvPr id="418" name="Text 19"/>
          <p:cNvSpPr/>
          <p:nvPr/>
        </p:nvSpPr>
        <p:spPr>
          <a:xfrm>
            <a:off x="4976640" y="3010320"/>
            <a:ext cx="1972440" cy="1994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50" spc="-1" strike="noStrike">
                <a:solidFill>
                  <a:srgbClr val="2f3e3b"/>
                </a:solidFill>
                <a:latin typeface="Quattrocento Sans"/>
                <a:ea typeface="Quattrocento Sans"/>
              </a:rPr>
              <a:t>Late-Successional</a:t>
            </a:r>
            <a:endParaRPr b="0" lang="en-HK" sz="1050" spc="-1" strike="noStrike">
              <a:latin typeface="Arial"/>
            </a:endParaRPr>
          </a:p>
        </p:txBody>
      </p:sp>
      <p:sp>
        <p:nvSpPr>
          <p:cNvPr id="419" name="Text 20"/>
          <p:cNvSpPr/>
          <p:nvPr/>
        </p:nvSpPr>
        <p:spPr>
          <a:xfrm>
            <a:off x="4980960" y="3244680"/>
            <a:ext cx="1964160" cy="3333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Shade-tolerant climax species dominate</a:t>
            </a:r>
            <a:endParaRPr b="0" lang="en-HK" sz="920" spc="-1" strike="noStrike">
              <a:latin typeface="Arial"/>
            </a:endParaRPr>
          </a:p>
        </p:txBody>
      </p:sp>
      <p:sp>
        <p:nvSpPr>
          <p:cNvPr id="420" name="Shape 21"/>
          <p:cNvSpPr/>
          <p:nvPr/>
        </p:nvSpPr>
        <p:spPr>
          <a:xfrm>
            <a:off x="334440" y="3980520"/>
            <a:ext cx="6848280" cy="2683080"/>
          </a:xfrm>
          <a:custGeom>
            <a:avLst/>
            <a:gdLst/>
            <a:ahLst/>
            <a:rect l="l" t="t" r="r" b="b"/>
            <a:pathLst>
              <a:path w="6848593" h="2684247">
                <a:moveTo>
                  <a:pt x="100337" y="0"/>
                </a:moveTo>
                <a:lnTo>
                  <a:pt x="6748255" y="0"/>
                </a:lnTo>
                <a:cubicBezTo>
                  <a:pt x="6803670" y="0"/>
                  <a:pt x="6848593" y="44922"/>
                  <a:pt x="6848593" y="100337"/>
                </a:cubicBezTo>
                <a:lnTo>
                  <a:pt x="6848593" y="2583910"/>
                </a:lnTo>
                <a:cubicBezTo>
                  <a:pt x="6848593" y="2639324"/>
                  <a:pt x="6803670" y="2684247"/>
                  <a:pt x="6748255" y="2684247"/>
                </a:cubicBezTo>
                <a:lnTo>
                  <a:pt x="100337" y="2684247"/>
                </a:lnTo>
                <a:cubicBezTo>
                  <a:pt x="44922" y="2684247"/>
                  <a:pt x="0" y="2639324"/>
                  <a:pt x="0" y="2583910"/>
                </a:cubicBezTo>
                <a:lnTo>
                  <a:pt x="0" y="100337"/>
                </a:lnTo>
                <a:cubicBezTo>
                  <a:pt x="0" y="44960"/>
                  <a:pt x="44960" y="0"/>
                  <a:pt x="100337"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421" name="Text 22"/>
          <p:cNvSpPr/>
          <p:nvPr/>
        </p:nvSpPr>
        <p:spPr>
          <a:xfrm>
            <a:off x="501840" y="4147560"/>
            <a:ext cx="6597360" cy="232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2f3e3b"/>
                </a:solidFill>
                <a:latin typeface="Sorts Mill Goudy"/>
                <a:ea typeface="Sorts Mill Goudy"/>
              </a:rPr>
              <a:t>Ontogenetic Strategies</a:t>
            </a:r>
            <a:endParaRPr b="0" lang="en-HK" sz="1320" spc="-1" strike="noStrike">
              <a:latin typeface="Arial"/>
            </a:endParaRPr>
          </a:p>
        </p:txBody>
      </p:sp>
      <p:sp>
        <p:nvSpPr>
          <p:cNvPr id="422" name="Text 23"/>
          <p:cNvSpPr/>
          <p:nvPr/>
        </p:nvSpPr>
        <p:spPr>
          <a:xfrm>
            <a:off x="501840" y="4482000"/>
            <a:ext cx="6580800" cy="216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50" spc="-1" strike="noStrike">
                <a:solidFill>
                  <a:srgbClr val="1f2a28"/>
                </a:solidFill>
                <a:latin typeface="Quattrocento Sans"/>
                <a:ea typeface="Quattrocento Sans"/>
              </a:rPr>
              <a:t>Tree species employ different regeneration strategies based on their shade tolerance and growth patterns:</a:t>
            </a:r>
            <a:endParaRPr b="0" lang="en-HK" sz="1050" spc="-1" strike="noStrike">
              <a:latin typeface="Arial"/>
            </a:endParaRPr>
          </a:p>
        </p:txBody>
      </p:sp>
      <p:sp>
        <p:nvSpPr>
          <p:cNvPr id="423" name="Shape 24"/>
          <p:cNvSpPr/>
          <p:nvPr/>
        </p:nvSpPr>
        <p:spPr>
          <a:xfrm>
            <a:off x="501840" y="4833360"/>
            <a:ext cx="3185280" cy="1303560"/>
          </a:xfrm>
          <a:custGeom>
            <a:avLst/>
            <a:gdLst/>
            <a:ahLst/>
            <a:rect l="l" t="t" r="r" b="b"/>
            <a:pathLst>
              <a:path w="3185975" h="1304494">
                <a:moveTo>
                  <a:pt x="66894" y="0"/>
                </a:moveTo>
                <a:lnTo>
                  <a:pt x="3119081" y="0"/>
                </a:lnTo>
                <a:cubicBezTo>
                  <a:pt x="3156026" y="0"/>
                  <a:pt x="3185975" y="29950"/>
                  <a:pt x="3185975" y="66894"/>
                </a:cubicBezTo>
                <a:lnTo>
                  <a:pt x="3185975" y="1237599"/>
                </a:lnTo>
                <a:cubicBezTo>
                  <a:pt x="3185975" y="1274544"/>
                  <a:pt x="3156026" y="1304494"/>
                  <a:pt x="3119081" y="1304494"/>
                </a:cubicBezTo>
                <a:lnTo>
                  <a:pt x="66894" y="1304494"/>
                </a:lnTo>
                <a:cubicBezTo>
                  <a:pt x="29950" y="1304494"/>
                  <a:pt x="0" y="1274544"/>
                  <a:pt x="0" y="1237599"/>
                </a:cubicBezTo>
                <a:lnTo>
                  <a:pt x="0" y="66894"/>
                </a:lnTo>
                <a:cubicBezTo>
                  <a:pt x="0" y="29950"/>
                  <a:pt x="29950" y="0"/>
                  <a:pt x="66894" y="0"/>
                </a:cubicBezTo>
                <a:close/>
              </a:path>
            </a:pathLst>
          </a:custGeom>
          <a:solidFill>
            <a:srgbClr val="4c8a7a">
              <a:alpha val="10000"/>
            </a:srgbClr>
          </a:solidFill>
          <a:ln w="0">
            <a:noFill/>
          </a:ln>
        </p:spPr>
        <p:style>
          <a:lnRef idx="0"/>
          <a:fillRef idx="0"/>
          <a:effectRef idx="0"/>
          <a:fontRef idx="minor"/>
        </p:style>
      </p:sp>
      <p:sp>
        <p:nvSpPr>
          <p:cNvPr id="424" name="Shape 25"/>
          <p:cNvSpPr/>
          <p:nvPr/>
        </p:nvSpPr>
        <p:spPr>
          <a:xfrm>
            <a:off x="644040" y="5000400"/>
            <a:ext cx="149400" cy="132840"/>
          </a:xfrm>
          <a:custGeom>
            <a:avLst/>
            <a:gdLst/>
            <a:ahLst/>
            <a:rect l="l" t="t" r="r" b="b"/>
            <a:pathLst>
              <a:path w="150519" h="133794">
                <a:moveTo>
                  <a:pt x="46567" y="-2639"/>
                </a:moveTo>
                <a:cubicBezTo>
                  <a:pt x="48500" y="-3449"/>
                  <a:pt x="50695" y="-3214"/>
                  <a:pt x="52446" y="-2064"/>
                </a:cubicBezTo>
                <a:lnTo>
                  <a:pt x="75390" y="13144"/>
                </a:lnTo>
                <a:lnTo>
                  <a:pt x="98334" y="-2064"/>
                </a:lnTo>
                <a:cubicBezTo>
                  <a:pt x="100084" y="-3214"/>
                  <a:pt x="102279" y="-3423"/>
                  <a:pt x="104213" y="-2639"/>
                </a:cubicBezTo>
                <a:cubicBezTo>
                  <a:pt x="106147" y="-1855"/>
                  <a:pt x="107506" y="-131"/>
                  <a:pt x="107924" y="1908"/>
                </a:cubicBezTo>
                <a:lnTo>
                  <a:pt x="113385" y="28876"/>
                </a:lnTo>
                <a:lnTo>
                  <a:pt x="140353" y="34337"/>
                </a:lnTo>
                <a:cubicBezTo>
                  <a:pt x="142392" y="34755"/>
                  <a:pt x="144116" y="36166"/>
                  <a:pt x="144900" y="38074"/>
                </a:cubicBezTo>
                <a:cubicBezTo>
                  <a:pt x="145684" y="39981"/>
                  <a:pt x="145475" y="42203"/>
                  <a:pt x="144325" y="43953"/>
                </a:cubicBezTo>
                <a:lnTo>
                  <a:pt x="129117" y="66897"/>
                </a:lnTo>
                <a:lnTo>
                  <a:pt x="144325" y="89841"/>
                </a:lnTo>
                <a:cubicBezTo>
                  <a:pt x="145475" y="91592"/>
                  <a:pt x="145684" y="93787"/>
                  <a:pt x="144900" y="95720"/>
                </a:cubicBezTo>
                <a:cubicBezTo>
                  <a:pt x="144116" y="97654"/>
                  <a:pt x="142392" y="99065"/>
                  <a:pt x="140353" y="99457"/>
                </a:cubicBezTo>
                <a:lnTo>
                  <a:pt x="113359" y="104893"/>
                </a:lnTo>
                <a:lnTo>
                  <a:pt x="107924" y="131887"/>
                </a:lnTo>
                <a:cubicBezTo>
                  <a:pt x="107506" y="133925"/>
                  <a:pt x="106095" y="135650"/>
                  <a:pt x="104187" y="136434"/>
                </a:cubicBezTo>
                <a:cubicBezTo>
                  <a:pt x="102279" y="137217"/>
                  <a:pt x="100058" y="137008"/>
                  <a:pt x="98307" y="135859"/>
                </a:cubicBezTo>
                <a:lnTo>
                  <a:pt x="75364" y="120650"/>
                </a:lnTo>
                <a:lnTo>
                  <a:pt x="52420" y="135859"/>
                </a:lnTo>
                <a:cubicBezTo>
                  <a:pt x="50669" y="137008"/>
                  <a:pt x="48474" y="137217"/>
                  <a:pt x="46541" y="136434"/>
                </a:cubicBezTo>
                <a:cubicBezTo>
                  <a:pt x="44607" y="135650"/>
                  <a:pt x="43196" y="133925"/>
                  <a:pt x="42804" y="131887"/>
                </a:cubicBezTo>
                <a:lnTo>
                  <a:pt x="37368" y="104893"/>
                </a:lnTo>
                <a:lnTo>
                  <a:pt x="10374" y="99431"/>
                </a:lnTo>
                <a:cubicBezTo>
                  <a:pt x="8336" y="99013"/>
                  <a:pt x="6611" y="97602"/>
                  <a:pt x="5827" y="95694"/>
                </a:cubicBezTo>
                <a:cubicBezTo>
                  <a:pt x="5043" y="93787"/>
                  <a:pt x="5252" y="91565"/>
                  <a:pt x="6402" y="89815"/>
                </a:cubicBezTo>
                <a:lnTo>
                  <a:pt x="21611" y="66897"/>
                </a:lnTo>
                <a:lnTo>
                  <a:pt x="6402" y="43953"/>
                </a:lnTo>
                <a:cubicBezTo>
                  <a:pt x="5252" y="42203"/>
                  <a:pt x="5043" y="40008"/>
                  <a:pt x="5827" y="38074"/>
                </a:cubicBezTo>
                <a:cubicBezTo>
                  <a:pt x="6611" y="36140"/>
                  <a:pt x="8336" y="34729"/>
                  <a:pt x="10374" y="34337"/>
                </a:cubicBezTo>
                <a:lnTo>
                  <a:pt x="37368" y="28902"/>
                </a:lnTo>
                <a:lnTo>
                  <a:pt x="42830" y="1908"/>
                </a:lnTo>
                <a:cubicBezTo>
                  <a:pt x="43248" y="-131"/>
                  <a:pt x="44659" y="-1855"/>
                  <a:pt x="46567" y="-2639"/>
                </a:cubicBezTo>
                <a:close/>
                <a:moveTo>
                  <a:pt x="54249" y="66897"/>
                </a:moveTo>
                <a:cubicBezTo>
                  <a:pt x="54249" y="59391"/>
                  <a:pt x="58254" y="52455"/>
                  <a:pt x="64754" y="48702"/>
                </a:cubicBezTo>
                <a:cubicBezTo>
                  <a:pt x="71255" y="44949"/>
                  <a:pt x="79264" y="44949"/>
                  <a:pt x="85764" y="48702"/>
                </a:cubicBezTo>
                <a:cubicBezTo>
                  <a:pt x="92265" y="52455"/>
                  <a:pt x="96269" y="59391"/>
                  <a:pt x="96269" y="66897"/>
                </a:cubicBezTo>
                <a:cubicBezTo>
                  <a:pt x="96269" y="78493"/>
                  <a:pt x="86855" y="87907"/>
                  <a:pt x="75259" y="87907"/>
                </a:cubicBezTo>
                <a:cubicBezTo>
                  <a:pt x="63664" y="87907"/>
                  <a:pt x="54249" y="78493"/>
                  <a:pt x="54249" y="66897"/>
                </a:cubicBezTo>
                <a:close/>
                <a:moveTo>
                  <a:pt x="108812" y="66897"/>
                </a:moveTo>
                <a:cubicBezTo>
                  <a:pt x="108812" y="48379"/>
                  <a:pt x="93778" y="33344"/>
                  <a:pt x="75259" y="33344"/>
                </a:cubicBezTo>
                <a:cubicBezTo>
                  <a:pt x="56741" y="33344"/>
                  <a:pt x="41706" y="48379"/>
                  <a:pt x="41706" y="66897"/>
                </a:cubicBezTo>
                <a:cubicBezTo>
                  <a:pt x="41706" y="78884"/>
                  <a:pt x="48101" y="89961"/>
                  <a:pt x="58483" y="95955"/>
                </a:cubicBezTo>
                <a:cubicBezTo>
                  <a:pt x="68864" y="101949"/>
                  <a:pt x="81654" y="101949"/>
                  <a:pt x="92036" y="95955"/>
                </a:cubicBezTo>
                <a:cubicBezTo>
                  <a:pt x="102417" y="89961"/>
                  <a:pt x="108812" y="78884"/>
                  <a:pt x="108812" y="66897"/>
                </a:cubicBezTo>
                <a:close/>
              </a:path>
            </a:pathLst>
          </a:custGeom>
          <a:solidFill>
            <a:srgbClr val="4c8a7a"/>
          </a:solidFill>
          <a:ln w="0">
            <a:noFill/>
          </a:ln>
        </p:spPr>
        <p:style>
          <a:lnRef idx="0"/>
          <a:fillRef idx="0"/>
          <a:effectRef idx="0"/>
          <a:fontRef idx="minor"/>
        </p:style>
      </p:sp>
      <p:sp>
        <p:nvSpPr>
          <p:cNvPr id="425" name="Text 26"/>
          <p:cNvSpPr/>
          <p:nvPr/>
        </p:nvSpPr>
        <p:spPr>
          <a:xfrm>
            <a:off x="802800" y="4967280"/>
            <a:ext cx="2817360" cy="199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 strike="noStrike">
                <a:solidFill>
                  <a:srgbClr val="2f3e3b"/>
                </a:solidFill>
                <a:latin typeface="Quattrocento Sans"/>
                <a:ea typeface="Quattrocento Sans"/>
              </a:rPr>
              <a:t>Shade-Intolerant</a:t>
            </a:r>
            <a:endParaRPr b="0" lang="en-HK" sz="1050" spc="-1" strike="noStrike">
              <a:latin typeface="Arial"/>
            </a:endParaRPr>
          </a:p>
        </p:txBody>
      </p:sp>
      <p:sp>
        <p:nvSpPr>
          <p:cNvPr id="426" name="Text 27"/>
          <p:cNvSpPr/>
          <p:nvPr/>
        </p:nvSpPr>
        <p:spPr>
          <a:xfrm>
            <a:off x="635400" y="5234760"/>
            <a:ext cx="2976120" cy="166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Require full light for establishment</a:t>
            </a:r>
            <a:endParaRPr b="0" lang="en-HK" sz="920" spc="-1" strike="noStrike">
              <a:latin typeface="Arial"/>
            </a:endParaRPr>
          </a:p>
        </p:txBody>
      </p:sp>
      <p:sp>
        <p:nvSpPr>
          <p:cNvPr id="427" name="Text 28"/>
          <p:cNvSpPr/>
          <p:nvPr/>
        </p:nvSpPr>
        <p:spPr>
          <a:xfrm>
            <a:off x="635400" y="5435280"/>
            <a:ext cx="2976120" cy="166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Fast initial growth rates</a:t>
            </a:r>
            <a:endParaRPr b="0" lang="en-HK" sz="920" spc="-1" strike="noStrike">
              <a:latin typeface="Arial"/>
            </a:endParaRPr>
          </a:p>
        </p:txBody>
      </p:sp>
      <p:sp>
        <p:nvSpPr>
          <p:cNvPr id="428" name="Text 29"/>
          <p:cNvSpPr/>
          <p:nvPr/>
        </p:nvSpPr>
        <p:spPr>
          <a:xfrm>
            <a:off x="635400" y="5636160"/>
            <a:ext cx="2976120" cy="166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Depend on large gaps</a:t>
            </a:r>
            <a:endParaRPr b="0" lang="en-HK" sz="920" spc="-1" strike="noStrike">
              <a:latin typeface="Arial"/>
            </a:endParaRPr>
          </a:p>
        </p:txBody>
      </p:sp>
      <p:sp>
        <p:nvSpPr>
          <p:cNvPr id="429" name="Text 30"/>
          <p:cNvSpPr/>
          <p:nvPr/>
        </p:nvSpPr>
        <p:spPr>
          <a:xfrm>
            <a:off x="635400" y="5836680"/>
            <a:ext cx="2976120" cy="166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Early successional species</a:t>
            </a:r>
            <a:endParaRPr b="0" lang="en-HK" sz="920" spc="-1" strike="noStrike">
              <a:latin typeface="Arial"/>
            </a:endParaRPr>
          </a:p>
        </p:txBody>
      </p:sp>
      <p:sp>
        <p:nvSpPr>
          <p:cNvPr id="430" name="Shape 31"/>
          <p:cNvSpPr/>
          <p:nvPr/>
        </p:nvSpPr>
        <p:spPr>
          <a:xfrm>
            <a:off x="3824280" y="4833360"/>
            <a:ext cx="3185280" cy="1303560"/>
          </a:xfrm>
          <a:custGeom>
            <a:avLst/>
            <a:gdLst/>
            <a:ahLst/>
            <a:rect l="l" t="t" r="r" b="b"/>
            <a:pathLst>
              <a:path w="3185975" h="1304494">
                <a:moveTo>
                  <a:pt x="66894" y="0"/>
                </a:moveTo>
                <a:lnTo>
                  <a:pt x="3119081" y="0"/>
                </a:lnTo>
                <a:cubicBezTo>
                  <a:pt x="3156026" y="0"/>
                  <a:pt x="3185975" y="29950"/>
                  <a:pt x="3185975" y="66894"/>
                </a:cubicBezTo>
                <a:lnTo>
                  <a:pt x="3185975" y="1237599"/>
                </a:lnTo>
                <a:cubicBezTo>
                  <a:pt x="3185975" y="1274544"/>
                  <a:pt x="3156026" y="1304494"/>
                  <a:pt x="3119081" y="1304494"/>
                </a:cubicBezTo>
                <a:lnTo>
                  <a:pt x="66894" y="1304494"/>
                </a:lnTo>
                <a:cubicBezTo>
                  <a:pt x="29950" y="1304494"/>
                  <a:pt x="0" y="1274544"/>
                  <a:pt x="0" y="1237599"/>
                </a:cubicBezTo>
                <a:lnTo>
                  <a:pt x="0" y="66894"/>
                </a:lnTo>
                <a:cubicBezTo>
                  <a:pt x="0" y="29950"/>
                  <a:pt x="29950" y="0"/>
                  <a:pt x="66894" y="0"/>
                </a:cubicBezTo>
                <a:close/>
              </a:path>
            </a:pathLst>
          </a:custGeom>
          <a:solidFill>
            <a:srgbClr val="8fb7ac">
              <a:alpha val="10000"/>
            </a:srgbClr>
          </a:solidFill>
          <a:ln w="0">
            <a:noFill/>
          </a:ln>
        </p:spPr>
        <p:style>
          <a:lnRef idx="0"/>
          <a:fillRef idx="0"/>
          <a:effectRef idx="0"/>
          <a:fontRef idx="minor"/>
        </p:style>
      </p:sp>
      <p:sp>
        <p:nvSpPr>
          <p:cNvPr id="431" name="Shape 32"/>
          <p:cNvSpPr/>
          <p:nvPr/>
        </p:nvSpPr>
        <p:spPr>
          <a:xfrm>
            <a:off x="3966480" y="5000400"/>
            <a:ext cx="149400" cy="132840"/>
          </a:xfrm>
          <a:custGeom>
            <a:avLst/>
            <a:gdLst/>
            <a:ahLst/>
            <a:rect l="l" t="t" r="r" b="b"/>
            <a:pathLst>
              <a:path w="150519" h="133794">
                <a:moveTo>
                  <a:pt x="0" y="87802"/>
                </a:moveTo>
                <a:cubicBezTo>
                  <a:pt x="0" y="108577"/>
                  <a:pt x="16855" y="125432"/>
                  <a:pt x="37630" y="125432"/>
                </a:cubicBezTo>
                <a:lnTo>
                  <a:pt x="117070" y="125432"/>
                </a:lnTo>
                <a:cubicBezTo>
                  <a:pt x="135545" y="125432"/>
                  <a:pt x="150519" y="110459"/>
                  <a:pt x="150519" y="91984"/>
                </a:cubicBezTo>
                <a:cubicBezTo>
                  <a:pt x="150519" y="78500"/>
                  <a:pt x="142548" y="66871"/>
                  <a:pt x="131050" y="61592"/>
                </a:cubicBezTo>
                <a:cubicBezTo>
                  <a:pt x="132801" y="58169"/>
                  <a:pt x="133794" y="54276"/>
                  <a:pt x="133794" y="50173"/>
                </a:cubicBezTo>
                <a:cubicBezTo>
                  <a:pt x="133794" y="36323"/>
                  <a:pt x="122558" y="25086"/>
                  <a:pt x="108708" y="25086"/>
                </a:cubicBezTo>
                <a:cubicBezTo>
                  <a:pt x="104083" y="25086"/>
                  <a:pt x="99771" y="26341"/>
                  <a:pt x="96060" y="28510"/>
                </a:cubicBezTo>
                <a:cubicBezTo>
                  <a:pt x="89762" y="16541"/>
                  <a:pt x="77193" y="8362"/>
                  <a:pt x="62716" y="8362"/>
                </a:cubicBezTo>
                <a:cubicBezTo>
                  <a:pt x="41941" y="8362"/>
                  <a:pt x="25086" y="25217"/>
                  <a:pt x="25086" y="45992"/>
                </a:cubicBezTo>
                <a:cubicBezTo>
                  <a:pt x="25086" y="48082"/>
                  <a:pt x="25269" y="50147"/>
                  <a:pt x="25583" y="52133"/>
                </a:cubicBezTo>
                <a:cubicBezTo>
                  <a:pt x="10714" y="57150"/>
                  <a:pt x="0" y="71235"/>
                  <a:pt x="0" y="87802"/>
                </a:cubicBezTo>
                <a:close/>
              </a:path>
            </a:pathLst>
          </a:custGeom>
          <a:solidFill>
            <a:srgbClr val="8fb7ac"/>
          </a:solidFill>
          <a:ln w="0">
            <a:noFill/>
          </a:ln>
        </p:spPr>
        <p:style>
          <a:lnRef idx="0"/>
          <a:fillRef idx="0"/>
          <a:effectRef idx="0"/>
          <a:fontRef idx="minor"/>
        </p:style>
      </p:sp>
      <p:sp>
        <p:nvSpPr>
          <p:cNvPr id="432" name="Text 33"/>
          <p:cNvSpPr/>
          <p:nvPr/>
        </p:nvSpPr>
        <p:spPr>
          <a:xfrm>
            <a:off x="4125600" y="4967280"/>
            <a:ext cx="2817360" cy="199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 strike="noStrike">
                <a:solidFill>
                  <a:srgbClr val="2f3e3b"/>
                </a:solidFill>
                <a:latin typeface="Quattrocento Sans"/>
                <a:ea typeface="Quattrocento Sans"/>
              </a:rPr>
              <a:t>Shade-Tolerant</a:t>
            </a:r>
            <a:endParaRPr b="0" lang="en-HK" sz="1050" spc="-1" strike="noStrike">
              <a:latin typeface="Arial"/>
            </a:endParaRPr>
          </a:p>
        </p:txBody>
      </p:sp>
      <p:sp>
        <p:nvSpPr>
          <p:cNvPr id="433" name="Text 34"/>
          <p:cNvSpPr/>
          <p:nvPr/>
        </p:nvSpPr>
        <p:spPr>
          <a:xfrm>
            <a:off x="3958200" y="5234760"/>
            <a:ext cx="2976120" cy="166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Can establish under canopy</a:t>
            </a:r>
            <a:endParaRPr b="0" lang="en-HK" sz="920" spc="-1" strike="noStrike">
              <a:latin typeface="Arial"/>
            </a:endParaRPr>
          </a:p>
        </p:txBody>
      </p:sp>
      <p:sp>
        <p:nvSpPr>
          <p:cNvPr id="434" name="Text 35"/>
          <p:cNvSpPr/>
          <p:nvPr/>
        </p:nvSpPr>
        <p:spPr>
          <a:xfrm>
            <a:off x="3958200" y="5435280"/>
            <a:ext cx="2976120" cy="166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Slow but sustained growth</a:t>
            </a:r>
            <a:endParaRPr b="0" lang="en-HK" sz="920" spc="-1" strike="noStrike">
              <a:latin typeface="Arial"/>
            </a:endParaRPr>
          </a:p>
        </p:txBody>
      </p:sp>
      <p:sp>
        <p:nvSpPr>
          <p:cNvPr id="435" name="Text 36"/>
          <p:cNvSpPr/>
          <p:nvPr/>
        </p:nvSpPr>
        <p:spPr>
          <a:xfrm>
            <a:off x="3958200" y="5636160"/>
            <a:ext cx="2976120" cy="166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Survive in small gaps</a:t>
            </a:r>
            <a:endParaRPr b="0" lang="en-HK" sz="920" spc="-1" strike="noStrike">
              <a:latin typeface="Arial"/>
            </a:endParaRPr>
          </a:p>
        </p:txBody>
      </p:sp>
      <p:sp>
        <p:nvSpPr>
          <p:cNvPr id="436" name="Text 37"/>
          <p:cNvSpPr/>
          <p:nvPr/>
        </p:nvSpPr>
        <p:spPr>
          <a:xfrm>
            <a:off x="3958200" y="5836680"/>
            <a:ext cx="2976120" cy="166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Late successional species</a:t>
            </a:r>
            <a:endParaRPr b="0" lang="en-HK" sz="920" spc="-1" strike="noStrike">
              <a:latin typeface="Arial"/>
            </a:endParaRPr>
          </a:p>
        </p:txBody>
      </p:sp>
      <p:sp>
        <p:nvSpPr>
          <p:cNvPr id="437" name="Shape 38"/>
          <p:cNvSpPr/>
          <p:nvPr/>
        </p:nvSpPr>
        <p:spPr>
          <a:xfrm>
            <a:off x="7347960" y="1371240"/>
            <a:ext cx="4506480" cy="1989000"/>
          </a:xfrm>
          <a:custGeom>
            <a:avLst/>
            <a:gdLst/>
            <a:ahLst/>
            <a:rect l="l" t="t" r="r" b="b"/>
            <a:pathLst>
              <a:path w="4507193" h="1990189">
                <a:moveTo>
                  <a:pt x="100345" y="0"/>
                </a:moveTo>
                <a:lnTo>
                  <a:pt x="4406848" y="0"/>
                </a:lnTo>
                <a:cubicBezTo>
                  <a:pt x="4462267" y="0"/>
                  <a:pt x="4507193" y="44926"/>
                  <a:pt x="4507193" y="100345"/>
                </a:cubicBezTo>
                <a:lnTo>
                  <a:pt x="4507193" y="1889844"/>
                </a:lnTo>
                <a:cubicBezTo>
                  <a:pt x="4507193" y="1945263"/>
                  <a:pt x="4462267" y="1990189"/>
                  <a:pt x="4406848" y="1990189"/>
                </a:cubicBezTo>
                <a:lnTo>
                  <a:pt x="100345" y="1990189"/>
                </a:lnTo>
                <a:cubicBezTo>
                  <a:pt x="44926" y="1990189"/>
                  <a:pt x="0" y="1945263"/>
                  <a:pt x="0" y="1889844"/>
                </a:cubicBezTo>
                <a:lnTo>
                  <a:pt x="0" y="100345"/>
                </a:lnTo>
                <a:cubicBezTo>
                  <a:pt x="0" y="44963"/>
                  <a:pt x="44963" y="0"/>
                  <a:pt x="100345" y="0"/>
                </a:cubicBezTo>
                <a:close/>
              </a:path>
            </a:pathLst>
          </a:custGeom>
          <a:solidFill>
            <a:srgbClr val="4c8a7a"/>
          </a:solidFill>
          <a:ln w="0">
            <a:noFill/>
          </a:ln>
        </p:spPr>
        <p:style>
          <a:lnRef idx="0"/>
          <a:fillRef idx="0"/>
          <a:effectRef idx="0"/>
          <a:fontRef idx="minor"/>
        </p:style>
      </p:sp>
      <p:sp>
        <p:nvSpPr>
          <p:cNvPr id="438" name="Text 39"/>
          <p:cNvSpPr/>
          <p:nvPr/>
        </p:nvSpPr>
        <p:spPr>
          <a:xfrm>
            <a:off x="7515000" y="1538640"/>
            <a:ext cx="4247280" cy="232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ffffff"/>
                </a:solidFill>
                <a:latin typeface="Sorts Mill Goudy"/>
                <a:ea typeface="Sorts Mill Goudy"/>
              </a:rPr>
              <a:t>Diversity Maintenance</a:t>
            </a:r>
            <a:endParaRPr b="0" lang="en-HK" sz="1180" spc="-1" strike="noStrike">
              <a:latin typeface="Arial"/>
            </a:endParaRPr>
          </a:p>
        </p:txBody>
      </p:sp>
      <p:sp>
        <p:nvSpPr>
          <p:cNvPr id="439" name="Text 40"/>
          <p:cNvSpPr/>
          <p:nvPr/>
        </p:nvSpPr>
        <p:spPr>
          <a:xfrm>
            <a:off x="7515000" y="1873080"/>
            <a:ext cx="4239000" cy="216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50" spc="-1" strike="noStrike">
                <a:solidFill>
                  <a:srgbClr val="ffffff"/>
                </a:solidFill>
                <a:latin typeface="Quattrocento Sans"/>
                <a:ea typeface="Quattrocento Sans"/>
              </a:rPr>
              <a:t>Gap dynamics prevent competitive exclusion by:</a:t>
            </a:r>
            <a:endParaRPr b="0" lang="en-HK" sz="1050" spc="-1" strike="noStrike">
              <a:latin typeface="Arial"/>
            </a:endParaRPr>
          </a:p>
        </p:txBody>
      </p:sp>
      <p:sp>
        <p:nvSpPr>
          <p:cNvPr id="440" name="Shape 41"/>
          <p:cNvSpPr/>
          <p:nvPr/>
        </p:nvSpPr>
        <p:spPr>
          <a:xfrm>
            <a:off x="7531920" y="2224440"/>
            <a:ext cx="132840" cy="132840"/>
          </a:xfrm>
          <a:custGeom>
            <a:avLst/>
            <a:gdLst/>
            <a:ah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w="0">
            <a:noFill/>
          </a:ln>
        </p:spPr>
        <p:style>
          <a:lnRef idx="0"/>
          <a:fillRef idx="0"/>
          <a:effectRef idx="0"/>
          <a:fontRef idx="minor"/>
        </p:style>
      </p:sp>
      <p:sp>
        <p:nvSpPr>
          <p:cNvPr id="441" name="Text 42"/>
          <p:cNvSpPr/>
          <p:nvPr/>
        </p:nvSpPr>
        <p:spPr>
          <a:xfrm>
            <a:off x="7749360" y="2190960"/>
            <a:ext cx="2482920" cy="199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solidFill>
                <a:latin typeface="Quattrocento Sans"/>
                <a:ea typeface="Quattrocento Sans"/>
              </a:rPr>
              <a:t>Creating opportunities for pioneer species</a:t>
            </a:r>
            <a:endParaRPr b="0" lang="en-HK" sz="1050" spc="-1" strike="noStrike">
              <a:latin typeface="Arial"/>
            </a:endParaRPr>
          </a:p>
        </p:txBody>
      </p:sp>
      <p:sp>
        <p:nvSpPr>
          <p:cNvPr id="442" name="Shape 43"/>
          <p:cNvSpPr/>
          <p:nvPr/>
        </p:nvSpPr>
        <p:spPr>
          <a:xfrm>
            <a:off x="7531920" y="2491920"/>
            <a:ext cx="132840" cy="132840"/>
          </a:xfrm>
          <a:custGeom>
            <a:avLst/>
            <a:gdLst/>
            <a:ah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w="0">
            <a:noFill/>
          </a:ln>
        </p:spPr>
        <p:style>
          <a:lnRef idx="0"/>
          <a:fillRef idx="0"/>
          <a:effectRef idx="0"/>
          <a:fontRef idx="minor"/>
        </p:style>
      </p:sp>
      <p:sp>
        <p:nvSpPr>
          <p:cNvPr id="443" name="Text 44"/>
          <p:cNvSpPr/>
          <p:nvPr/>
        </p:nvSpPr>
        <p:spPr>
          <a:xfrm>
            <a:off x="7749360" y="2458440"/>
            <a:ext cx="3034800" cy="199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solidFill>
                <a:latin typeface="Quattrocento Sans"/>
                <a:ea typeface="Quattrocento Sans"/>
              </a:rPr>
              <a:t>Allowing late-successional species to reach canopy</a:t>
            </a:r>
            <a:endParaRPr b="0" lang="en-HK" sz="1050" spc="-1" strike="noStrike">
              <a:latin typeface="Arial"/>
            </a:endParaRPr>
          </a:p>
        </p:txBody>
      </p:sp>
      <p:sp>
        <p:nvSpPr>
          <p:cNvPr id="444" name="Shape 45"/>
          <p:cNvSpPr/>
          <p:nvPr/>
        </p:nvSpPr>
        <p:spPr>
          <a:xfrm>
            <a:off x="7531920" y="2759400"/>
            <a:ext cx="132840" cy="132840"/>
          </a:xfrm>
          <a:custGeom>
            <a:avLst/>
            <a:gdLst/>
            <a:ah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w="0">
            <a:noFill/>
          </a:ln>
        </p:spPr>
        <p:style>
          <a:lnRef idx="0"/>
          <a:fillRef idx="0"/>
          <a:effectRef idx="0"/>
          <a:fontRef idx="minor"/>
        </p:style>
      </p:sp>
      <p:sp>
        <p:nvSpPr>
          <p:cNvPr id="445" name="Text 46"/>
          <p:cNvSpPr/>
          <p:nvPr/>
        </p:nvSpPr>
        <p:spPr>
          <a:xfrm>
            <a:off x="7749360" y="2725920"/>
            <a:ext cx="2098080" cy="199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solidFill>
                <a:latin typeface="Quattrocento Sans"/>
                <a:ea typeface="Quattrocento Sans"/>
              </a:rPr>
              <a:t>Maintaining resource heterogeneity</a:t>
            </a:r>
            <a:endParaRPr b="0" lang="en-HK" sz="1050" spc="-1" strike="noStrike">
              <a:latin typeface="Arial"/>
            </a:endParaRPr>
          </a:p>
        </p:txBody>
      </p:sp>
      <p:sp>
        <p:nvSpPr>
          <p:cNvPr id="446" name="Shape 47"/>
          <p:cNvSpPr/>
          <p:nvPr/>
        </p:nvSpPr>
        <p:spPr>
          <a:xfrm>
            <a:off x="7531920" y="3027240"/>
            <a:ext cx="132840" cy="132840"/>
          </a:xfrm>
          <a:custGeom>
            <a:avLst/>
            <a:gdLst/>
            <a:ah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w="0">
            <a:noFill/>
          </a:ln>
        </p:spPr>
        <p:style>
          <a:lnRef idx="0"/>
          <a:fillRef idx="0"/>
          <a:effectRef idx="0"/>
          <a:fontRef idx="minor"/>
        </p:style>
      </p:sp>
      <p:sp>
        <p:nvSpPr>
          <p:cNvPr id="447" name="Text 48"/>
          <p:cNvSpPr/>
          <p:nvPr/>
        </p:nvSpPr>
        <p:spPr>
          <a:xfrm>
            <a:off x="7749360" y="2993760"/>
            <a:ext cx="2691720" cy="199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solidFill>
                <a:latin typeface="Quattrocento Sans"/>
                <a:ea typeface="Quattrocento Sans"/>
              </a:rPr>
              <a:t>Supporting species with different life histories</a:t>
            </a:r>
            <a:endParaRPr b="0" lang="en-HK" sz="1050" spc="-1" strike="noStrike">
              <a:latin typeface="Arial"/>
            </a:endParaRPr>
          </a:p>
        </p:txBody>
      </p:sp>
      <p:sp>
        <p:nvSpPr>
          <p:cNvPr id="448" name="Shape 49"/>
          <p:cNvSpPr/>
          <p:nvPr/>
        </p:nvSpPr>
        <p:spPr>
          <a:xfrm>
            <a:off x="7347960" y="3495240"/>
            <a:ext cx="4506480" cy="2231640"/>
          </a:xfrm>
          <a:custGeom>
            <a:avLst/>
            <a:gdLst/>
            <a:ahLst/>
            <a:rect l="l" t="t" r="r" b="b"/>
            <a:pathLst>
              <a:path w="4507193" h="2232691">
                <a:moveTo>
                  <a:pt x="100337" y="0"/>
                </a:moveTo>
                <a:lnTo>
                  <a:pt x="4406856" y="0"/>
                </a:lnTo>
                <a:cubicBezTo>
                  <a:pt x="4462271" y="0"/>
                  <a:pt x="4507193" y="44922"/>
                  <a:pt x="4507193" y="100337"/>
                </a:cubicBezTo>
                <a:lnTo>
                  <a:pt x="4507193" y="2132354"/>
                </a:lnTo>
                <a:cubicBezTo>
                  <a:pt x="4507193" y="2187769"/>
                  <a:pt x="4462271" y="2232691"/>
                  <a:pt x="4406856" y="2232691"/>
                </a:cubicBezTo>
                <a:lnTo>
                  <a:pt x="100337" y="2232691"/>
                </a:lnTo>
                <a:cubicBezTo>
                  <a:pt x="44922" y="2232691"/>
                  <a:pt x="0" y="2187769"/>
                  <a:pt x="0" y="2132354"/>
                </a:cubicBezTo>
                <a:lnTo>
                  <a:pt x="0" y="100337"/>
                </a:lnTo>
                <a:cubicBezTo>
                  <a:pt x="0" y="44960"/>
                  <a:pt x="44960" y="0"/>
                  <a:pt x="100337"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449" name="Text 50"/>
          <p:cNvSpPr/>
          <p:nvPr/>
        </p:nvSpPr>
        <p:spPr>
          <a:xfrm>
            <a:off x="7515000" y="3662640"/>
            <a:ext cx="4247280" cy="232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2f3e3b"/>
                </a:solidFill>
                <a:latin typeface="Sorts Mill Goudy"/>
                <a:ea typeface="Sorts Mill Goudy"/>
              </a:rPr>
              <a:t>Research Findings</a:t>
            </a:r>
            <a:endParaRPr b="0" lang="en-HK" sz="1180" spc="-1" strike="noStrike">
              <a:latin typeface="Arial"/>
            </a:endParaRPr>
          </a:p>
        </p:txBody>
      </p:sp>
      <p:sp>
        <p:nvSpPr>
          <p:cNvPr id="450" name="Shape 51"/>
          <p:cNvSpPr/>
          <p:nvPr/>
        </p:nvSpPr>
        <p:spPr>
          <a:xfrm>
            <a:off x="7515000" y="3997080"/>
            <a:ext cx="4172040" cy="584280"/>
          </a:xfrm>
          <a:custGeom>
            <a:avLst/>
            <a:gdLst/>
            <a:ahLst/>
            <a:rect l="l" t="t" r="r" b="b"/>
            <a:pathLst>
              <a:path w="4172708" h="585350">
                <a:moveTo>
                  <a:pt x="66900" y="0"/>
                </a:moveTo>
                <a:lnTo>
                  <a:pt x="4105808" y="0"/>
                </a:lnTo>
                <a:cubicBezTo>
                  <a:pt x="4142756" y="0"/>
                  <a:pt x="4172708" y="29952"/>
                  <a:pt x="4172708" y="66900"/>
                </a:cubicBezTo>
                <a:lnTo>
                  <a:pt x="4172708" y="518450"/>
                </a:lnTo>
                <a:cubicBezTo>
                  <a:pt x="4172708" y="555398"/>
                  <a:pt x="4142756" y="585350"/>
                  <a:pt x="4105808" y="585350"/>
                </a:cubicBezTo>
                <a:lnTo>
                  <a:pt x="66900" y="585350"/>
                </a:lnTo>
                <a:cubicBezTo>
                  <a:pt x="29977" y="585350"/>
                  <a:pt x="0" y="555373"/>
                  <a:pt x="0" y="518450"/>
                </a:cubicBezTo>
                <a:lnTo>
                  <a:pt x="0" y="66900"/>
                </a:lnTo>
                <a:cubicBezTo>
                  <a:pt x="0" y="29952"/>
                  <a:pt x="29952" y="0"/>
                  <a:pt x="66900" y="0"/>
                </a:cubicBezTo>
                <a:close/>
              </a:path>
            </a:pathLst>
          </a:custGeom>
          <a:solidFill>
            <a:srgbClr val="f5f7f6"/>
          </a:solidFill>
          <a:ln w="0">
            <a:noFill/>
          </a:ln>
        </p:spPr>
        <p:style>
          <a:lnRef idx="0"/>
          <a:fillRef idx="0"/>
          <a:effectRef idx="0"/>
          <a:fontRef idx="minor"/>
        </p:style>
      </p:sp>
      <p:sp>
        <p:nvSpPr>
          <p:cNvPr id="451" name="Text 52"/>
          <p:cNvSpPr/>
          <p:nvPr/>
        </p:nvSpPr>
        <p:spPr>
          <a:xfrm>
            <a:off x="7615440" y="4097520"/>
            <a:ext cx="4029840" cy="383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920" spc="-1" strike="noStrike">
                <a:solidFill>
                  <a:srgbClr val="5f6f6b"/>
                </a:solidFill>
                <a:latin typeface="Quattrocento Sans"/>
                <a:ea typeface="Quattrocento Sans"/>
              </a:rPr>
              <a:t>Gap regeneration promotes renewal</a:t>
            </a:r>
            <a:r>
              <a:rPr b="0" lang="en-US" sz="920" spc="-1" strike="noStrike">
                <a:solidFill>
                  <a:srgbClr val="5f6f6b"/>
                </a:solidFill>
                <a:latin typeface="Quattrocento Sans"/>
                <a:ea typeface="Quattrocento Sans"/>
              </a:rPr>
              <a:t> of late-successional species in secondary forests</a:t>
            </a:r>
            <a:endParaRPr b="0" lang="en-HK" sz="920" spc="-1" strike="noStrike">
              <a:latin typeface="Arial"/>
            </a:endParaRPr>
          </a:p>
        </p:txBody>
      </p:sp>
      <p:sp>
        <p:nvSpPr>
          <p:cNvPr id="452" name="Shape 53"/>
          <p:cNvSpPr/>
          <p:nvPr/>
        </p:nvSpPr>
        <p:spPr>
          <a:xfrm>
            <a:off x="7515000" y="4678560"/>
            <a:ext cx="4172040" cy="392040"/>
          </a:xfrm>
          <a:custGeom>
            <a:avLst/>
            <a:gdLst/>
            <a:ahLst/>
            <a:rect l="l" t="t" r="r" b="b"/>
            <a:pathLst>
              <a:path w="4172708" h="393021">
                <a:moveTo>
                  <a:pt x="66896" y="0"/>
                </a:moveTo>
                <a:lnTo>
                  <a:pt x="4105812" y="0"/>
                </a:lnTo>
                <a:cubicBezTo>
                  <a:pt x="4142757" y="0"/>
                  <a:pt x="4172708" y="29950"/>
                  <a:pt x="4172708" y="66896"/>
                </a:cubicBezTo>
                <a:lnTo>
                  <a:pt x="4172708" y="326125"/>
                </a:lnTo>
                <a:cubicBezTo>
                  <a:pt x="4172708" y="363070"/>
                  <a:pt x="4142757" y="393021"/>
                  <a:pt x="4105812" y="393021"/>
                </a:cubicBezTo>
                <a:lnTo>
                  <a:pt x="66896" y="393021"/>
                </a:lnTo>
                <a:cubicBezTo>
                  <a:pt x="29975" y="393021"/>
                  <a:pt x="0" y="363045"/>
                  <a:pt x="0" y="326125"/>
                </a:cubicBezTo>
                <a:lnTo>
                  <a:pt x="0" y="66896"/>
                </a:lnTo>
                <a:cubicBezTo>
                  <a:pt x="0" y="29975"/>
                  <a:pt x="29975" y="0"/>
                  <a:pt x="66896" y="0"/>
                </a:cubicBezTo>
                <a:close/>
              </a:path>
            </a:pathLst>
          </a:custGeom>
          <a:solidFill>
            <a:srgbClr val="f5f7f6"/>
          </a:solidFill>
          <a:ln w="0">
            <a:noFill/>
          </a:ln>
        </p:spPr>
        <p:style>
          <a:lnRef idx="0"/>
          <a:fillRef idx="0"/>
          <a:effectRef idx="0"/>
          <a:fontRef idx="minor"/>
        </p:style>
      </p:sp>
      <p:sp>
        <p:nvSpPr>
          <p:cNvPr id="453" name="Text 54"/>
          <p:cNvSpPr/>
          <p:nvPr/>
        </p:nvSpPr>
        <p:spPr>
          <a:xfrm>
            <a:off x="7615440" y="4779000"/>
            <a:ext cx="4029840" cy="191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920" spc="-1" strike="noStrike">
                <a:solidFill>
                  <a:srgbClr val="5f6f6b"/>
                </a:solidFill>
                <a:latin typeface="Quattrocento Sans"/>
                <a:ea typeface="Quattrocento Sans"/>
              </a:rPr>
              <a:t>Resource heterogeneity</a:t>
            </a:r>
            <a:r>
              <a:rPr b="0" lang="en-US" sz="920" spc="-1" strike="noStrike">
                <a:solidFill>
                  <a:srgbClr val="5f6f6b"/>
                </a:solidFill>
                <a:latin typeface="Quattrocento Sans"/>
                <a:ea typeface="Quattrocento Sans"/>
              </a:rPr>
              <a:t> allows early- and late-successional species to coexist</a:t>
            </a:r>
            <a:endParaRPr b="0" lang="en-HK" sz="920" spc="-1" strike="noStrike">
              <a:latin typeface="Arial"/>
            </a:endParaRPr>
          </a:p>
        </p:txBody>
      </p:sp>
      <p:sp>
        <p:nvSpPr>
          <p:cNvPr id="454" name="Shape 55"/>
          <p:cNvSpPr/>
          <p:nvPr/>
        </p:nvSpPr>
        <p:spPr>
          <a:xfrm>
            <a:off x="7515000" y="5169960"/>
            <a:ext cx="4172040" cy="392040"/>
          </a:xfrm>
          <a:custGeom>
            <a:avLst/>
            <a:gdLst/>
            <a:ahLst/>
            <a:rect l="l" t="t" r="r" b="b"/>
            <a:pathLst>
              <a:path w="4172708" h="393021">
                <a:moveTo>
                  <a:pt x="66896" y="0"/>
                </a:moveTo>
                <a:lnTo>
                  <a:pt x="4105812" y="0"/>
                </a:lnTo>
                <a:cubicBezTo>
                  <a:pt x="4142757" y="0"/>
                  <a:pt x="4172708" y="29950"/>
                  <a:pt x="4172708" y="66896"/>
                </a:cubicBezTo>
                <a:lnTo>
                  <a:pt x="4172708" y="326125"/>
                </a:lnTo>
                <a:cubicBezTo>
                  <a:pt x="4172708" y="363070"/>
                  <a:pt x="4142757" y="393021"/>
                  <a:pt x="4105812" y="393021"/>
                </a:cubicBezTo>
                <a:lnTo>
                  <a:pt x="66896" y="393021"/>
                </a:lnTo>
                <a:cubicBezTo>
                  <a:pt x="29975" y="393021"/>
                  <a:pt x="0" y="363045"/>
                  <a:pt x="0" y="326125"/>
                </a:cubicBezTo>
                <a:lnTo>
                  <a:pt x="0" y="66896"/>
                </a:lnTo>
                <a:cubicBezTo>
                  <a:pt x="0" y="29975"/>
                  <a:pt x="29975" y="0"/>
                  <a:pt x="66896" y="0"/>
                </a:cubicBezTo>
                <a:close/>
              </a:path>
            </a:pathLst>
          </a:custGeom>
          <a:solidFill>
            <a:srgbClr val="f5f7f6"/>
          </a:solidFill>
          <a:ln w="0">
            <a:noFill/>
          </a:ln>
        </p:spPr>
        <p:style>
          <a:lnRef idx="0"/>
          <a:fillRef idx="0"/>
          <a:effectRef idx="0"/>
          <a:fontRef idx="minor"/>
        </p:style>
      </p:sp>
      <p:sp>
        <p:nvSpPr>
          <p:cNvPr id="455" name="Text 56"/>
          <p:cNvSpPr/>
          <p:nvPr/>
        </p:nvSpPr>
        <p:spPr>
          <a:xfrm>
            <a:off x="7615440" y="5270400"/>
            <a:ext cx="4029840" cy="191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920" spc="-1" strike="noStrike">
                <a:solidFill>
                  <a:srgbClr val="5f6f6b"/>
                </a:solidFill>
                <a:latin typeface="Quattrocento Sans"/>
                <a:ea typeface="Quattrocento Sans"/>
              </a:rPr>
              <a:t>Functional traits</a:t>
            </a:r>
            <a:r>
              <a:rPr b="0" lang="en-US" sz="920" spc="-1" strike="noStrike">
                <a:solidFill>
                  <a:srgbClr val="5f6f6b"/>
                </a:solidFill>
                <a:latin typeface="Quattrocento Sans"/>
                <a:ea typeface="Quattrocento Sans"/>
              </a:rPr>
              <a:t> of shade-tolerant species shift less under drought</a:t>
            </a:r>
            <a:endParaRPr b="0" lang="en-HK" sz="920" spc="-1" strike="noStrike">
              <a:latin typeface="Arial"/>
            </a:endParaRPr>
          </a:p>
        </p:txBody>
      </p:sp>
      <p:sp>
        <p:nvSpPr>
          <p:cNvPr id="456" name="Shape 57"/>
          <p:cNvSpPr/>
          <p:nvPr/>
        </p:nvSpPr>
        <p:spPr>
          <a:xfrm>
            <a:off x="7347960" y="5861880"/>
            <a:ext cx="4506480" cy="801720"/>
          </a:xfrm>
          <a:custGeom>
            <a:avLst/>
            <a:gdLst/>
            <a:ahLst/>
            <a:rect l="l" t="t" r="r" b="b"/>
            <a:pathLst>
              <a:path w="4507193" h="802765">
                <a:moveTo>
                  <a:pt x="100346" y="0"/>
                </a:moveTo>
                <a:lnTo>
                  <a:pt x="4406848" y="0"/>
                </a:lnTo>
                <a:cubicBezTo>
                  <a:pt x="4462267" y="0"/>
                  <a:pt x="4507193" y="44926"/>
                  <a:pt x="4507193" y="100346"/>
                </a:cubicBezTo>
                <a:lnTo>
                  <a:pt x="4507193" y="702420"/>
                </a:lnTo>
                <a:cubicBezTo>
                  <a:pt x="4507193" y="757839"/>
                  <a:pt x="4462267" y="802765"/>
                  <a:pt x="4406848" y="802765"/>
                </a:cubicBezTo>
                <a:lnTo>
                  <a:pt x="100346" y="802765"/>
                </a:lnTo>
                <a:cubicBezTo>
                  <a:pt x="44926" y="802765"/>
                  <a:pt x="0" y="757839"/>
                  <a:pt x="0" y="702420"/>
                </a:cubicBezTo>
                <a:lnTo>
                  <a:pt x="0" y="100346"/>
                </a:lnTo>
                <a:cubicBezTo>
                  <a:pt x="0" y="44963"/>
                  <a:pt x="44963" y="0"/>
                  <a:pt x="100346" y="0"/>
                </a:cubicBezTo>
                <a:close/>
              </a:path>
            </a:pathLst>
          </a:custGeom>
          <a:solidFill>
            <a:srgbClr val="2f3e3b"/>
          </a:solidFill>
          <a:ln w="0">
            <a:noFill/>
          </a:ln>
        </p:spPr>
        <p:style>
          <a:lnRef idx="0"/>
          <a:fillRef idx="0"/>
          <a:effectRef idx="0"/>
          <a:fontRef idx="minor"/>
        </p:style>
      </p:sp>
      <p:sp>
        <p:nvSpPr>
          <p:cNvPr id="457" name="Text 58"/>
          <p:cNvSpPr/>
          <p:nvPr/>
        </p:nvSpPr>
        <p:spPr>
          <a:xfrm>
            <a:off x="7418880" y="5995800"/>
            <a:ext cx="4364280" cy="29988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79" spc="-1" strike="noStrike">
                <a:solidFill>
                  <a:srgbClr val="ffffff"/>
                </a:solidFill>
                <a:latin typeface="Sorts Mill Goudy"/>
                <a:ea typeface="Sorts Mill Goudy"/>
              </a:rPr>
              <a:t>Mosaic Structure</a:t>
            </a:r>
            <a:endParaRPr b="0" lang="en-HK" sz="1979" spc="-1" strike="noStrike">
              <a:latin typeface="Arial"/>
            </a:endParaRPr>
          </a:p>
        </p:txBody>
      </p:sp>
      <p:sp>
        <p:nvSpPr>
          <p:cNvPr id="458" name="Text 59"/>
          <p:cNvSpPr/>
          <p:nvPr/>
        </p:nvSpPr>
        <p:spPr>
          <a:xfrm>
            <a:off x="7448040" y="6330240"/>
            <a:ext cx="4305960" cy="1994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50" spc="-1" strike="noStrike">
                <a:solidFill>
                  <a:srgbClr val="ffffff"/>
                </a:solidFill>
                <a:latin typeface="Quattrocento Sans"/>
                <a:ea typeface="Quattrocento Sans"/>
              </a:rPr>
              <a:t>Multiple successional stages support higher diversity</a:t>
            </a:r>
            <a:endParaRPr b="0" lang="en-HK" sz="105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459" name="Text 0"/>
          <p:cNvSpPr/>
          <p:nvPr/>
        </p:nvSpPr>
        <p:spPr>
          <a:xfrm>
            <a:off x="317520" y="317520"/>
            <a:ext cx="1161252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0" strike="noStrike">
                <a:solidFill>
                  <a:srgbClr val="5f6f6b"/>
                </a:solidFill>
                <a:latin typeface="Quattrocento Sans"/>
                <a:ea typeface="Quattrocento Sans"/>
              </a:rPr>
              <a:t>05 • Belowground Processes</a:t>
            </a:r>
            <a:endParaRPr b="0" lang="en-HK" sz="880" spc="-1" strike="noStrike">
              <a:latin typeface="Arial"/>
            </a:endParaRPr>
          </a:p>
        </p:txBody>
      </p:sp>
      <p:sp>
        <p:nvSpPr>
          <p:cNvPr id="460" name="Text 1"/>
          <p:cNvSpPr/>
          <p:nvPr/>
        </p:nvSpPr>
        <p:spPr>
          <a:xfrm>
            <a:off x="317520" y="539640"/>
            <a:ext cx="11700000" cy="3164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50" spc="-1" strike="noStrike">
                <a:solidFill>
                  <a:srgbClr val="2f3e3b"/>
                </a:solidFill>
                <a:latin typeface="Sorts Mill Goudy"/>
                <a:ea typeface="Sorts Mill Goudy"/>
              </a:rPr>
              <a:t>Mycorrhizal Networks: The Wood Wide Web</a:t>
            </a:r>
            <a:endParaRPr b="0" lang="en-HK" sz="2250" spc="-1" strike="noStrike">
              <a:latin typeface="Arial"/>
            </a:endParaRPr>
          </a:p>
        </p:txBody>
      </p:sp>
      <p:sp>
        <p:nvSpPr>
          <p:cNvPr id="461" name="Text 2"/>
          <p:cNvSpPr/>
          <p:nvPr/>
        </p:nvSpPr>
        <p:spPr>
          <a:xfrm>
            <a:off x="317520" y="920880"/>
            <a:ext cx="1162836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30" spc="-1" strike="noStrike">
                <a:solidFill>
                  <a:srgbClr val="5f6f6b"/>
                </a:solidFill>
                <a:latin typeface="Quattrocento Sans"/>
                <a:ea typeface="Quattrocento Sans"/>
              </a:rPr>
              <a:t>Belowground fungal connections facilitate inter-plant communication and resource sharing</a:t>
            </a:r>
            <a:endParaRPr b="0" lang="en-HK" sz="1130" spc="-1" strike="noStrike">
              <a:latin typeface="Arial"/>
            </a:endParaRPr>
          </a:p>
        </p:txBody>
      </p:sp>
      <p:sp>
        <p:nvSpPr>
          <p:cNvPr id="462" name="Shape 3"/>
          <p:cNvSpPr/>
          <p:nvPr/>
        </p:nvSpPr>
        <p:spPr>
          <a:xfrm>
            <a:off x="317520" y="1301760"/>
            <a:ext cx="5682600" cy="2681640"/>
          </a:xfrm>
          <a:custGeom>
            <a:avLst/>
            <a:gdLst/>
            <a:ahLst/>
            <a:rect l="l" t="t" r="r" b="b"/>
            <a:pathLst>
              <a:path w="5683250" h="2682875">
                <a:moveTo>
                  <a:pt x="95242" y="0"/>
                </a:moveTo>
                <a:lnTo>
                  <a:pt x="5588008" y="0"/>
                </a:lnTo>
                <a:cubicBezTo>
                  <a:pt x="5640609" y="0"/>
                  <a:pt x="5683250" y="42641"/>
                  <a:pt x="5683250" y="95242"/>
                </a:cubicBezTo>
                <a:lnTo>
                  <a:pt x="5683250" y="2587633"/>
                </a:lnTo>
                <a:cubicBezTo>
                  <a:pt x="5683250" y="2640234"/>
                  <a:pt x="5640609" y="2682875"/>
                  <a:pt x="5588008" y="2682875"/>
                </a:cubicBezTo>
                <a:lnTo>
                  <a:pt x="95242" y="2682875"/>
                </a:lnTo>
                <a:cubicBezTo>
                  <a:pt x="42641" y="2682875"/>
                  <a:pt x="0" y="2640234"/>
                  <a:pt x="0" y="2587633"/>
                </a:cubicBezTo>
                <a:lnTo>
                  <a:pt x="0" y="95242"/>
                </a:lnTo>
                <a:cubicBezTo>
                  <a:pt x="0" y="42677"/>
                  <a:pt x="42677" y="0"/>
                  <a:pt x="95242"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463" name="Text 4"/>
          <p:cNvSpPr/>
          <p:nvPr/>
        </p:nvSpPr>
        <p:spPr>
          <a:xfrm>
            <a:off x="476280" y="1460520"/>
            <a:ext cx="5444280" cy="221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2f3e3b"/>
                </a:solidFill>
                <a:latin typeface="Sorts Mill Goudy"/>
                <a:ea typeface="Sorts Mill Goudy"/>
              </a:rPr>
              <a:t>The Hidden Network</a:t>
            </a:r>
            <a:endParaRPr b="0" lang="en-HK" sz="1250" spc="-1" strike="noStrike">
              <a:latin typeface="Arial"/>
            </a:endParaRPr>
          </a:p>
        </p:txBody>
      </p:sp>
      <p:sp>
        <p:nvSpPr>
          <p:cNvPr id="464" name="Text 5"/>
          <p:cNvSpPr/>
          <p:nvPr/>
        </p:nvSpPr>
        <p:spPr>
          <a:xfrm>
            <a:off x="476280" y="1778040"/>
            <a:ext cx="5428440" cy="824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1f2a28"/>
                </a:solidFill>
                <a:latin typeface="Quattrocento Sans"/>
                <a:ea typeface="Quattrocento Sans"/>
              </a:rPr>
              <a:t>Research by Simard et al. (1997) revealed that </a:t>
            </a:r>
            <a:r>
              <a:rPr b="0" lang="en-US" sz="1000" spc="-1" strike="noStrike">
                <a:solidFill>
                  <a:srgbClr val="2f3e3b"/>
                </a:solidFill>
                <a:highlight>
                  <a:srgbClr val="8fb7ac"/>
                </a:highlight>
                <a:latin typeface="Quattrocento Sans"/>
                <a:ea typeface="Quattrocento Sans"/>
              </a:rPr>
              <a:t>trees communicate and share resources through mycorrhizal fungal networks </a:t>
            </a:r>
            <a:r>
              <a:rPr b="0" lang="en-US" sz="1000" spc="-1" strike="noStrike">
                <a:solidFill>
                  <a:srgbClr val="1f2a28"/>
                </a:solidFill>
                <a:latin typeface="Quattrocento Sans"/>
                <a:ea typeface="Quattrocento Sans"/>
              </a:rPr>
              <a:t>—the "wood wide web." These belowground connections enable carbon and nutrient transfer between plants, fundamentally changing our understanding of forest communities.</a:t>
            </a:r>
            <a:endParaRPr b="0" lang="en-HK" sz="1000" spc="-1" strike="noStrike">
              <a:latin typeface="Arial"/>
            </a:endParaRPr>
          </a:p>
        </p:txBody>
      </p:sp>
      <p:sp>
        <p:nvSpPr>
          <p:cNvPr id="465" name="Shape 6"/>
          <p:cNvSpPr/>
          <p:nvPr/>
        </p:nvSpPr>
        <p:spPr>
          <a:xfrm>
            <a:off x="476280" y="2730600"/>
            <a:ext cx="5365080" cy="1094400"/>
          </a:xfrm>
          <a:custGeom>
            <a:avLst/>
            <a:gdLst/>
            <a:ahLst/>
            <a:rect l="l" t="t" r="r" b="b"/>
            <a:pathLst>
              <a:path w="5365750" h="1095375">
                <a:moveTo>
                  <a:pt x="63499" y="0"/>
                </a:moveTo>
                <a:lnTo>
                  <a:pt x="5302251" y="0"/>
                </a:lnTo>
                <a:cubicBezTo>
                  <a:pt x="5337321" y="0"/>
                  <a:pt x="5365750" y="28429"/>
                  <a:pt x="5365750" y="63499"/>
                </a:cubicBezTo>
                <a:lnTo>
                  <a:pt x="5365750" y="1031876"/>
                </a:lnTo>
                <a:cubicBezTo>
                  <a:pt x="5365750" y="1066946"/>
                  <a:pt x="5337321" y="1095375"/>
                  <a:pt x="5302251" y="1095375"/>
                </a:cubicBezTo>
                <a:lnTo>
                  <a:pt x="63499" y="1095375"/>
                </a:lnTo>
                <a:cubicBezTo>
                  <a:pt x="28429" y="1095375"/>
                  <a:pt x="0" y="1066946"/>
                  <a:pt x="0" y="1031876"/>
                </a:cubicBezTo>
                <a:lnTo>
                  <a:pt x="0" y="63499"/>
                </a:lnTo>
                <a:cubicBezTo>
                  <a:pt x="0" y="28453"/>
                  <a:pt x="28453" y="0"/>
                  <a:pt x="63499" y="0"/>
                </a:cubicBezTo>
                <a:close/>
              </a:path>
            </a:pathLst>
          </a:custGeom>
          <a:solidFill>
            <a:srgbClr val="f5f7f6"/>
          </a:solidFill>
          <a:ln w="0">
            <a:noFill/>
          </a:ln>
        </p:spPr>
        <p:style>
          <a:lnRef idx="0"/>
          <a:fillRef idx="0"/>
          <a:effectRef idx="0"/>
          <a:fontRef idx="minor"/>
        </p:style>
      </p:sp>
      <p:sp>
        <p:nvSpPr>
          <p:cNvPr id="466" name="Text 7"/>
          <p:cNvSpPr/>
          <p:nvPr/>
        </p:nvSpPr>
        <p:spPr>
          <a:xfrm>
            <a:off x="603360" y="2857680"/>
            <a:ext cx="5174640" cy="618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5f6f6b"/>
                </a:solidFill>
                <a:latin typeface="Quattrocento Sans"/>
                <a:ea typeface="Quattrocento Sans"/>
              </a:rPr>
              <a:t>"A more even distribution of carbon among plants as a result of belowground transfer may have implications for local interspecific interactions, maintenance of biodiversity, and therefore for ecosystem productivity, stability and sustainability."</a:t>
            </a:r>
            <a:endParaRPr b="0" lang="en-HK" sz="1000" spc="-1" strike="noStrike">
              <a:latin typeface="Arial"/>
            </a:endParaRPr>
          </a:p>
        </p:txBody>
      </p:sp>
      <p:sp>
        <p:nvSpPr>
          <p:cNvPr id="467" name="Text 8"/>
          <p:cNvSpPr/>
          <p:nvPr/>
        </p:nvSpPr>
        <p:spPr>
          <a:xfrm>
            <a:off x="603360" y="3540240"/>
            <a:ext cx="516672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Simard et al. (1997)</a:t>
            </a:r>
            <a:endParaRPr b="0" lang="en-HK" sz="880" spc="-1" strike="noStrike">
              <a:latin typeface="Arial"/>
            </a:endParaRPr>
          </a:p>
        </p:txBody>
      </p:sp>
      <p:sp>
        <p:nvSpPr>
          <p:cNvPr id="468" name="Shape 9"/>
          <p:cNvSpPr/>
          <p:nvPr/>
        </p:nvSpPr>
        <p:spPr>
          <a:xfrm>
            <a:off x="317520" y="4111560"/>
            <a:ext cx="5682600" cy="3578760"/>
          </a:xfrm>
          <a:custGeom>
            <a:avLst/>
            <a:gdLst/>
            <a:ahLst/>
            <a:rect l="l" t="t" r="r" b="b"/>
            <a:pathLst>
              <a:path w="5683250" h="3579813">
                <a:moveTo>
                  <a:pt x="95259" y="0"/>
                </a:moveTo>
                <a:lnTo>
                  <a:pt x="5587991" y="0"/>
                </a:lnTo>
                <a:cubicBezTo>
                  <a:pt x="5640601" y="0"/>
                  <a:pt x="5683250" y="42649"/>
                  <a:pt x="5683250" y="95259"/>
                </a:cubicBezTo>
                <a:lnTo>
                  <a:pt x="5683250" y="3484554"/>
                </a:lnTo>
                <a:cubicBezTo>
                  <a:pt x="5683250" y="3537164"/>
                  <a:pt x="5640601" y="3579813"/>
                  <a:pt x="5587991" y="3579813"/>
                </a:cubicBezTo>
                <a:lnTo>
                  <a:pt x="95259" y="3579813"/>
                </a:lnTo>
                <a:cubicBezTo>
                  <a:pt x="42649" y="3579813"/>
                  <a:pt x="0" y="3537164"/>
                  <a:pt x="0" y="3484554"/>
                </a:cubicBezTo>
                <a:lnTo>
                  <a:pt x="0" y="95259"/>
                </a:lnTo>
                <a:cubicBezTo>
                  <a:pt x="0" y="42684"/>
                  <a:pt x="42684" y="0"/>
                  <a:pt x="95259"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469" name="Text 10"/>
          <p:cNvSpPr/>
          <p:nvPr/>
        </p:nvSpPr>
        <p:spPr>
          <a:xfrm>
            <a:off x="476280" y="4270320"/>
            <a:ext cx="5444280" cy="221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2f3e3b"/>
                </a:solidFill>
                <a:latin typeface="Sorts Mill Goudy"/>
                <a:ea typeface="Sorts Mill Goudy"/>
              </a:rPr>
              <a:t>Mycorrhizal Types</a:t>
            </a:r>
            <a:endParaRPr b="0" lang="en-HK" sz="1250" spc="-1" strike="noStrike">
              <a:latin typeface="Arial"/>
            </a:endParaRPr>
          </a:p>
        </p:txBody>
      </p:sp>
      <p:sp>
        <p:nvSpPr>
          <p:cNvPr id="470" name="Shape 11"/>
          <p:cNvSpPr/>
          <p:nvPr/>
        </p:nvSpPr>
        <p:spPr>
          <a:xfrm>
            <a:off x="476280" y="4587840"/>
            <a:ext cx="5365080" cy="538560"/>
          </a:xfrm>
          <a:custGeom>
            <a:avLst/>
            <a:gdLst/>
            <a:ah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4c8a7a">
              <a:alpha val="10000"/>
            </a:srgbClr>
          </a:solidFill>
          <a:ln w="0">
            <a:noFill/>
          </a:ln>
        </p:spPr>
        <p:style>
          <a:lnRef idx="0"/>
          <a:fillRef idx="0"/>
          <a:effectRef idx="0"/>
          <a:fontRef idx="minor"/>
        </p:style>
      </p:sp>
      <p:sp>
        <p:nvSpPr>
          <p:cNvPr id="471" name="Shape 12"/>
          <p:cNvSpPr/>
          <p:nvPr/>
        </p:nvSpPr>
        <p:spPr>
          <a:xfrm>
            <a:off x="571680" y="4683240"/>
            <a:ext cx="316440" cy="316440"/>
          </a:xfrm>
          <a:custGeom>
            <a:avLst/>
            <a:gdLst/>
            <a:ah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4c8a7a"/>
          </a:solidFill>
          <a:ln w="0">
            <a:noFill/>
          </a:ln>
        </p:spPr>
        <p:style>
          <a:lnRef idx="0"/>
          <a:fillRef idx="0"/>
          <a:effectRef idx="0"/>
          <a:fontRef idx="minor"/>
        </p:style>
      </p:sp>
      <p:sp>
        <p:nvSpPr>
          <p:cNvPr id="472" name="Text 13"/>
          <p:cNvSpPr/>
          <p:nvPr/>
        </p:nvSpPr>
        <p:spPr>
          <a:xfrm>
            <a:off x="539640" y="4683240"/>
            <a:ext cx="379800" cy="3164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00" spc="-1" strike="noStrike">
                <a:solidFill>
                  <a:srgbClr val="ffffff"/>
                </a:solidFill>
                <a:latin typeface="Quattrocento Sans"/>
                <a:ea typeface="Quattrocento Sans"/>
              </a:rPr>
              <a:t>AM</a:t>
            </a:r>
            <a:endParaRPr b="0" lang="en-HK" sz="1000" spc="-1" strike="noStrike">
              <a:latin typeface="Arial"/>
            </a:endParaRPr>
          </a:p>
        </p:txBody>
      </p:sp>
      <p:sp>
        <p:nvSpPr>
          <p:cNvPr id="473" name="Text 14"/>
          <p:cNvSpPr/>
          <p:nvPr/>
        </p:nvSpPr>
        <p:spPr>
          <a:xfrm>
            <a:off x="984240" y="4683240"/>
            <a:ext cx="406332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2f3e3b"/>
                </a:solidFill>
                <a:latin typeface="Quattrocento Sans"/>
                <a:ea typeface="Quattrocento Sans"/>
              </a:rPr>
              <a:t>Arbuscular Mycorrhizal</a:t>
            </a:r>
            <a:endParaRPr b="0" lang="en-HK" sz="1000" spc="-1" strike="noStrike">
              <a:latin typeface="Arial"/>
            </a:endParaRPr>
          </a:p>
        </p:txBody>
      </p:sp>
      <p:sp>
        <p:nvSpPr>
          <p:cNvPr id="474" name="Text 15"/>
          <p:cNvSpPr/>
          <p:nvPr/>
        </p:nvSpPr>
        <p:spPr>
          <a:xfrm>
            <a:off x="984240" y="4873680"/>
            <a:ext cx="405540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Most common; penetrate root cells. Associated with tropical diversity maintenance.</a:t>
            </a:r>
            <a:endParaRPr b="0" lang="en-HK" sz="880" spc="-1" strike="noStrike">
              <a:latin typeface="Arial"/>
            </a:endParaRPr>
          </a:p>
        </p:txBody>
      </p:sp>
      <p:sp>
        <p:nvSpPr>
          <p:cNvPr id="475" name="Shape 16"/>
          <p:cNvSpPr/>
          <p:nvPr/>
        </p:nvSpPr>
        <p:spPr>
          <a:xfrm>
            <a:off x="476280" y="5222880"/>
            <a:ext cx="5365080" cy="538560"/>
          </a:xfrm>
          <a:custGeom>
            <a:avLst/>
            <a:gdLst/>
            <a:ah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8fb7ac">
              <a:alpha val="10000"/>
            </a:srgbClr>
          </a:solidFill>
          <a:ln w="0">
            <a:noFill/>
          </a:ln>
        </p:spPr>
        <p:style>
          <a:lnRef idx="0"/>
          <a:fillRef idx="0"/>
          <a:effectRef idx="0"/>
          <a:fontRef idx="minor"/>
        </p:style>
      </p:sp>
      <p:sp>
        <p:nvSpPr>
          <p:cNvPr id="476" name="Shape 17"/>
          <p:cNvSpPr/>
          <p:nvPr/>
        </p:nvSpPr>
        <p:spPr>
          <a:xfrm>
            <a:off x="571680" y="5318280"/>
            <a:ext cx="316440" cy="316440"/>
          </a:xfrm>
          <a:custGeom>
            <a:avLst/>
            <a:gdLst/>
            <a:ah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8fb7ac"/>
          </a:solidFill>
          <a:ln w="0">
            <a:noFill/>
          </a:ln>
        </p:spPr>
        <p:style>
          <a:lnRef idx="0"/>
          <a:fillRef idx="0"/>
          <a:effectRef idx="0"/>
          <a:fontRef idx="minor"/>
        </p:style>
      </p:sp>
      <p:sp>
        <p:nvSpPr>
          <p:cNvPr id="477" name="Text 18"/>
          <p:cNvSpPr/>
          <p:nvPr/>
        </p:nvSpPr>
        <p:spPr>
          <a:xfrm>
            <a:off x="539640" y="5318280"/>
            <a:ext cx="379800" cy="3164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00" spc="-1" strike="noStrike">
                <a:solidFill>
                  <a:srgbClr val="ffffff"/>
                </a:solidFill>
                <a:latin typeface="Quattrocento Sans"/>
                <a:ea typeface="Quattrocento Sans"/>
              </a:rPr>
              <a:t>ECM</a:t>
            </a:r>
            <a:endParaRPr b="0" lang="en-HK" sz="1000" spc="-1" strike="noStrike">
              <a:latin typeface="Arial"/>
            </a:endParaRPr>
          </a:p>
        </p:txBody>
      </p:sp>
      <p:sp>
        <p:nvSpPr>
          <p:cNvPr id="478" name="Text 19"/>
          <p:cNvSpPr/>
          <p:nvPr/>
        </p:nvSpPr>
        <p:spPr>
          <a:xfrm>
            <a:off x="984240" y="5318280"/>
            <a:ext cx="453168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2f3e3b"/>
                </a:solidFill>
                <a:latin typeface="Quattrocento Sans"/>
                <a:ea typeface="Quattrocento Sans"/>
              </a:rPr>
              <a:t>Ectomycorrhizal</a:t>
            </a:r>
            <a:endParaRPr b="0" lang="en-HK" sz="1000" spc="-1" strike="noStrike">
              <a:latin typeface="Arial"/>
            </a:endParaRPr>
          </a:p>
        </p:txBody>
      </p:sp>
      <p:sp>
        <p:nvSpPr>
          <p:cNvPr id="479" name="Text 20"/>
          <p:cNvSpPr/>
          <p:nvPr/>
        </p:nvSpPr>
        <p:spPr>
          <a:xfrm>
            <a:off x="984240" y="5508720"/>
            <a:ext cx="452376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Form sheath around roots; dominate temperate/boreal forests. Protect hosts from pathogens.</a:t>
            </a:r>
            <a:endParaRPr b="0" lang="en-HK" sz="880" spc="-1" strike="noStrike">
              <a:latin typeface="Arial"/>
            </a:endParaRPr>
          </a:p>
        </p:txBody>
      </p:sp>
      <p:sp>
        <p:nvSpPr>
          <p:cNvPr id="480" name="Shape 21"/>
          <p:cNvSpPr/>
          <p:nvPr/>
        </p:nvSpPr>
        <p:spPr>
          <a:xfrm>
            <a:off x="6191640" y="1301760"/>
            <a:ext cx="5682600" cy="3785040"/>
          </a:xfrm>
          <a:custGeom>
            <a:avLst/>
            <a:gdLst/>
            <a:ahLst/>
            <a:rect l="l" t="t" r="r" b="b"/>
            <a:pathLst>
              <a:path w="5683250" h="3786188">
                <a:moveTo>
                  <a:pt x="95260" y="0"/>
                </a:moveTo>
                <a:lnTo>
                  <a:pt x="5587990" y="0"/>
                </a:lnTo>
                <a:cubicBezTo>
                  <a:pt x="5640600" y="0"/>
                  <a:pt x="5683250" y="42650"/>
                  <a:pt x="5683250" y="95260"/>
                </a:cubicBezTo>
                <a:lnTo>
                  <a:pt x="5683250" y="3690927"/>
                </a:lnTo>
                <a:cubicBezTo>
                  <a:pt x="5683250" y="3743538"/>
                  <a:pt x="5640600" y="3786188"/>
                  <a:pt x="5587990" y="3786188"/>
                </a:cubicBezTo>
                <a:lnTo>
                  <a:pt x="95260" y="3786188"/>
                </a:lnTo>
                <a:cubicBezTo>
                  <a:pt x="42650" y="3786188"/>
                  <a:pt x="0" y="3743538"/>
                  <a:pt x="0" y="3690927"/>
                </a:cubicBezTo>
                <a:lnTo>
                  <a:pt x="0" y="95260"/>
                </a:lnTo>
                <a:cubicBezTo>
                  <a:pt x="0" y="42650"/>
                  <a:pt x="42650" y="0"/>
                  <a:pt x="95260"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481" name="Image 0"/>
          <p:cNvSpPr/>
          <p:nvPr/>
        </p:nvSpPr>
        <p:spPr>
          <a:xfrm>
            <a:off x="6191640" y="1301760"/>
            <a:ext cx="5682600" cy="3785040"/>
          </a:xfrm>
          <a:prstGeom prst="roundRect">
            <a:avLst>
              <a:gd name="adj" fmla="val 2516"/>
            </a:avLst>
          </a:prstGeom>
          <a:blipFill rotWithShape="0">
            <a:blip r:embed="rId1"/>
            <a:srcRect/>
            <a:stretch/>
          </a:blipFill>
          <a:ln w="0">
            <a:noFill/>
          </a:ln>
        </p:spPr>
        <p:style>
          <a:lnRef idx="0"/>
          <a:fillRef idx="0"/>
          <a:effectRef idx="0"/>
          <a:fontRef idx="minor"/>
        </p:style>
      </p:sp>
      <p:sp>
        <p:nvSpPr>
          <p:cNvPr id="482" name="Shape 22"/>
          <p:cNvSpPr/>
          <p:nvPr/>
        </p:nvSpPr>
        <p:spPr>
          <a:xfrm>
            <a:off x="6191640" y="5217480"/>
            <a:ext cx="5682600" cy="1586520"/>
          </a:xfrm>
          <a:custGeom>
            <a:avLst/>
            <a:gdLst/>
            <a:ahLst/>
            <a:rect l="l" t="t" r="r" b="b"/>
            <a:pathLst>
              <a:path w="5683250" h="1587500">
                <a:moveTo>
                  <a:pt x="95250" y="0"/>
                </a:moveTo>
                <a:lnTo>
                  <a:pt x="5588000" y="0"/>
                </a:lnTo>
                <a:cubicBezTo>
                  <a:pt x="5640570" y="0"/>
                  <a:pt x="5683250" y="42680"/>
                  <a:pt x="5683250" y="95250"/>
                </a:cubicBezTo>
                <a:lnTo>
                  <a:pt x="5683250" y="1492250"/>
                </a:lnTo>
                <a:cubicBezTo>
                  <a:pt x="5683250" y="1544820"/>
                  <a:pt x="5640570" y="1587500"/>
                  <a:pt x="5588000" y="1587500"/>
                </a:cubicBezTo>
                <a:lnTo>
                  <a:pt x="95250" y="1587500"/>
                </a:lnTo>
                <a:cubicBezTo>
                  <a:pt x="42680" y="1587500"/>
                  <a:pt x="0" y="1544820"/>
                  <a:pt x="0" y="1492250"/>
                </a:cubicBezTo>
                <a:lnTo>
                  <a:pt x="0" y="95250"/>
                </a:lnTo>
                <a:cubicBezTo>
                  <a:pt x="0" y="42680"/>
                  <a:pt x="42680" y="0"/>
                  <a:pt x="95250" y="0"/>
                </a:cubicBezTo>
                <a:close/>
              </a:path>
            </a:pathLst>
          </a:custGeom>
          <a:solidFill>
            <a:srgbClr val="2f3e3b"/>
          </a:solidFill>
          <a:ln w="0">
            <a:noFill/>
          </a:ln>
        </p:spPr>
        <p:style>
          <a:lnRef idx="0"/>
          <a:fillRef idx="0"/>
          <a:effectRef idx="0"/>
          <a:fontRef idx="minor"/>
        </p:style>
      </p:sp>
      <p:sp>
        <p:nvSpPr>
          <p:cNvPr id="483" name="Text 23"/>
          <p:cNvSpPr/>
          <p:nvPr/>
        </p:nvSpPr>
        <p:spPr>
          <a:xfrm>
            <a:off x="6350400" y="5376240"/>
            <a:ext cx="543636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Sorts Mill Goudy"/>
                <a:ea typeface="Sorts Mill Goudy"/>
              </a:rPr>
              <a:t>Network Functions</a:t>
            </a:r>
            <a:endParaRPr b="0" lang="en-HK" sz="1130" spc="-1" strike="noStrike">
              <a:latin typeface="Arial"/>
            </a:endParaRPr>
          </a:p>
        </p:txBody>
      </p:sp>
      <p:sp>
        <p:nvSpPr>
          <p:cNvPr id="484" name="Shape 24"/>
          <p:cNvSpPr/>
          <p:nvPr/>
        </p:nvSpPr>
        <p:spPr>
          <a:xfrm>
            <a:off x="6366240" y="5725440"/>
            <a:ext cx="126000" cy="126000"/>
          </a:xfrm>
          <a:custGeom>
            <a:avLst/>
            <a:gdLst/>
            <a:ahLst/>
            <a:rect l="l" t="t" r="r" b="b"/>
            <a:pathLst>
              <a:path w="127000" h="127000">
                <a:moveTo>
                  <a:pt x="124668" y="37356"/>
                </a:moveTo>
                <a:lnTo>
                  <a:pt x="100856" y="61168"/>
                </a:lnTo>
                <a:cubicBezTo>
                  <a:pt x="98574" y="63450"/>
                  <a:pt x="95176" y="64120"/>
                  <a:pt x="92199" y="62880"/>
                </a:cubicBezTo>
                <a:cubicBezTo>
                  <a:pt x="89222" y="61640"/>
                  <a:pt x="87313" y="58762"/>
                  <a:pt x="87313" y="55563"/>
                </a:cubicBezTo>
                <a:lnTo>
                  <a:pt x="87313" y="39688"/>
                </a:lnTo>
                <a:lnTo>
                  <a:pt x="7938" y="39688"/>
                </a:lnTo>
                <a:cubicBezTo>
                  <a:pt x="3547" y="39688"/>
                  <a:pt x="0" y="36140"/>
                  <a:pt x="0" y="31750"/>
                </a:cubicBezTo>
                <a:cubicBezTo>
                  <a:pt x="0" y="27360"/>
                  <a:pt x="3547" y="23812"/>
                  <a:pt x="7938" y="23812"/>
                </a:cubicBezTo>
                <a:lnTo>
                  <a:pt x="87313" y="23812"/>
                </a:lnTo>
                <a:lnTo>
                  <a:pt x="87313" y="7938"/>
                </a:lnTo>
                <a:cubicBezTo>
                  <a:pt x="87313" y="4738"/>
                  <a:pt x="89247" y="1836"/>
                  <a:pt x="92224" y="595"/>
                </a:cubicBezTo>
                <a:cubicBezTo>
                  <a:pt x="95200" y="-645"/>
                  <a:pt x="98599" y="50"/>
                  <a:pt x="100881" y="2307"/>
                </a:cubicBezTo>
                <a:lnTo>
                  <a:pt x="124693" y="26119"/>
                </a:lnTo>
                <a:cubicBezTo>
                  <a:pt x="127794" y="29220"/>
                  <a:pt x="127794" y="34255"/>
                  <a:pt x="124693" y="37356"/>
                </a:cubicBezTo>
                <a:close/>
                <a:moveTo>
                  <a:pt x="26119" y="124668"/>
                </a:moveTo>
                <a:lnTo>
                  <a:pt x="2307" y="100856"/>
                </a:lnTo>
                <a:cubicBezTo>
                  <a:pt x="-794" y="97755"/>
                  <a:pt x="-794" y="92720"/>
                  <a:pt x="2307" y="89619"/>
                </a:cubicBezTo>
                <a:lnTo>
                  <a:pt x="26119" y="65807"/>
                </a:lnTo>
                <a:cubicBezTo>
                  <a:pt x="28401" y="63525"/>
                  <a:pt x="31800" y="62855"/>
                  <a:pt x="34776" y="64095"/>
                </a:cubicBezTo>
                <a:cubicBezTo>
                  <a:pt x="37753" y="65336"/>
                  <a:pt x="39688" y="68238"/>
                  <a:pt x="39688" y="71438"/>
                </a:cubicBezTo>
                <a:lnTo>
                  <a:pt x="39688" y="87313"/>
                </a:lnTo>
                <a:lnTo>
                  <a:pt x="119063" y="87313"/>
                </a:lnTo>
                <a:cubicBezTo>
                  <a:pt x="123453" y="87313"/>
                  <a:pt x="127000" y="90860"/>
                  <a:pt x="127000" y="95250"/>
                </a:cubicBezTo>
                <a:cubicBezTo>
                  <a:pt x="127000" y="99640"/>
                  <a:pt x="123453" y="103188"/>
                  <a:pt x="119063" y="103188"/>
                </a:cubicBezTo>
                <a:lnTo>
                  <a:pt x="39688" y="103188"/>
                </a:lnTo>
                <a:lnTo>
                  <a:pt x="39688" y="119063"/>
                </a:lnTo>
                <a:cubicBezTo>
                  <a:pt x="39688" y="122262"/>
                  <a:pt x="37753" y="125164"/>
                  <a:pt x="34776" y="126405"/>
                </a:cubicBezTo>
                <a:cubicBezTo>
                  <a:pt x="31800" y="127645"/>
                  <a:pt x="28401" y="126950"/>
                  <a:pt x="26119" y="124693"/>
                </a:cubicBezTo>
                <a:close/>
              </a:path>
            </a:pathLst>
          </a:custGeom>
          <a:solidFill>
            <a:srgbClr val="8fb7ac"/>
          </a:solidFill>
          <a:ln w="0">
            <a:noFill/>
          </a:ln>
        </p:spPr>
        <p:style>
          <a:lnRef idx="0"/>
          <a:fillRef idx="0"/>
          <a:effectRef idx="0"/>
          <a:fontRef idx="minor"/>
        </p:style>
      </p:sp>
      <p:sp>
        <p:nvSpPr>
          <p:cNvPr id="485" name="Text 25"/>
          <p:cNvSpPr/>
          <p:nvPr/>
        </p:nvSpPr>
        <p:spPr>
          <a:xfrm>
            <a:off x="6572520" y="5693760"/>
            <a:ext cx="400788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Carbon Transfer:</a:t>
            </a:r>
            <a:r>
              <a:rPr b="0" lang="en-US" sz="1000" spc="-1" strike="noStrike">
                <a:solidFill>
                  <a:srgbClr val="ffffff"/>
                </a:solidFill>
                <a:latin typeface="Quattrocento Sans"/>
                <a:ea typeface="Quattrocento Sans"/>
              </a:rPr>
              <a:t> Photosynthates move between trees via fungal hyphae</a:t>
            </a:r>
            <a:endParaRPr b="0" lang="en-HK" sz="1000" spc="-1" strike="noStrike">
              <a:latin typeface="Arial"/>
            </a:endParaRPr>
          </a:p>
        </p:txBody>
      </p:sp>
      <p:sp>
        <p:nvSpPr>
          <p:cNvPr id="486" name="Shape 26"/>
          <p:cNvSpPr/>
          <p:nvPr/>
        </p:nvSpPr>
        <p:spPr>
          <a:xfrm>
            <a:off x="6366240" y="5979600"/>
            <a:ext cx="126000" cy="126000"/>
          </a:xfrm>
          <a:custGeom>
            <a:avLst/>
            <a:gdLst/>
            <a:ahLst/>
            <a:rect l="l" t="t" r="r" b="b"/>
            <a:pathLst>
              <a:path w="127000" h="127000">
                <a:moveTo>
                  <a:pt x="63500" y="0"/>
                </a:moveTo>
                <a:cubicBezTo>
                  <a:pt x="64641" y="0"/>
                  <a:pt x="65782" y="248"/>
                  <a:pt x="66824" y="719"/>
                </a:cubicBezTo>
                <a:lnTo>
                  <a:pt x="113556" y="20538"/>
                </a:lnTo>
                <a:cubicBezTo>
                  <a:pt x="119013" y="22845"/>
                  <a:pt x="123081" y="28228"/>
                  <a:pt x="123056" y="34727"/>
                </a:cubicBezTo>
                <a:cubicBezTo>
                  <a:pt x="122932" y="59333"/>
                  <a:pt x="112812" y="104353"/>
                  <a:pt x="70073" y="124817"/>
                </a:cubicBezTo>
                <a:cubicBezTo>
                  <a:pt x="65931" y="126802"/>
                  <a:pt x="61119" y="126802"/>
                  <a:pt x="56976" y="124817"/>
                </a:cubicBezTo>
                <a:cubicBezTo>
                  <a:pt x="14213" y="104353"/>
                  <a:pt x="4118" y="59333"/>
                  <a:pt x="3994" y="34727"/>
                </a:cubicBezTo>
                <a:cubicBezTo>
                  <a:pt x="3969" y="28228"/>
                  <a:pt x="8037" y="22845"/>
                  <a:pt x="13494" y="20538"/>
                </a:cubicBezTo>
                <a:lnTo>
                  <a:pt x="60201" y="719"/>
                </a:lnTo>
                <a:cubicBezTo>
                  <a:pt x="61243" y="248"/>
                  <a:pt x="62359" y="0"/>
                  <a:pt x="63500" y="0"/>
                </a:cubicBezTo>
                <a:close/>
                <a:moveTo>
                  <a:pt x="63500" y="16570"/>
                </a:moveTo>
                <a:lnTo>
                  <a:pt x="63500" y="110356"/>
                </a:lnTo>
                <a:cubicBezTo>
                  <a:pt x="97730" y="93787"/>
                  <a:pt x="106933" y="57076"/>
                  <a:pt x="107156" y="35099"/>
                </a:cubicBezTo>
                <a:lnTo>
                  <a:pt x="63500" y="16594"/>
                </a:lnTo>
                <a:lnTo>
                  <a:pt x="63500" y="16594"/>
                </a:lnTo>
                <a:close/>
              </a:path>
            </a:pathLst>
          </a:custGeom>
          <a:solidFill>
            <a:srgbClr val="8fb7ac"/>
          </a:solidFill>
          <a:ln w="0">
            <a:noFill/>
          </a:ln>
        </p:spPr>
        <p:style>
          <a:lnRef idx="0"/>
          <a:fillRef idx="0"/>
          <a:effectRef idx="0"/>
          <a:fontRef idx="minor"/>
        </p:style>
      </p:sp>
      <p:sp>
        <p:nvSpPr>
          <p:cNvPr id="487" name="Text 27"/>
          <p:cNvSpPr/>
          <p:nvPr/>
        </p:nvSpPr>
        <p:spPr>
          <a:xfrm>
            <a:off x="6572520" y="5947920"/>
            <a:ext cx="422208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Pathogen Protection:</a:t>
            </a:r>
            <a:r>
              <a:rPr b="0" lang="en-US" sz="1000" spc="-1" strike="noStrike">
                <a:solidFill>
                  <a:srgbClr val="ffffff"/>
                </a:solidFill>
                <a:latin typeface="Quattrocento Sans"/>
                <a:ea typeface="Quattrocento Sans"/>
              </a:rPr>
              <a:t> ECM fungi defend host plants from soil-borne diseases</a:t>
            </a:r>
            <a:endParaRPr b="0" lang="en-HK" sz="1000" spc="-1" strike="noStrike">
              <a:latin typeface="Arial"/>
            </a:endParaRPr>
          </a:p>
        </p:txBody>
      </p:sp>
      <p:sp>
        <p:nvSpPr>
          <p:cNvPr id="488" name="Shape 28"/>
          <p:cNvSpPr/>
          <p:nvPr/>
        </p:nvSpPr>
        <p:spPr>
          <a:xfrm>
            <a:off x="6374160" y="6233400"/>
            <a:ext cx="110160" cy="126000"/>
          </a:xfrm>
          <a:custGeom>
            <a:avLst/>
            <a:gdLst/>
            <a:ahLst/>
            <a:rect l="l" t="t" r="r" b="b"/>
            <a:pathLst>
              <a:path w="111125" h="127000">
                <a:moveTo>
                  <a:pt x="55563" y="0"/>
                </a:moveTo>
                <a:cubicBezTo>
                  <a:pt x="51172" y="0"/>
                  <a:pt x="47625" y="3547"/>
                  <a:pt x="47625" y="7938"/>
                </a:cubicBezTo>
                <a:lnTo>
                  <a:pt x="47625" y="8731"/>
                </a:lnTo>
                <a:cubicBezTo>
                  <a:pt x="29518" y="12402"/>
                  <a:pt x="15875" y="28426"/>
                  <a:pt x="15875" y="47625"/>
                </a:cubicBezTo>
                <a:lnTo>
                  <a:pt x="15875" y="53008"/>
                </a:lnTo>
                <a:cubicBezTo>
                  <a:pt x="15875" y="64939"/>
                  <a:pt x="11807" y="76522"/>
                  <a:pt x="4366" y="85849"/>
                </a:cubicBezTo>
                <a:lnTo>
                  <a:pt x="1935" y="88875"/>
                </a:lnTo>
                <a:cubicBezTo>
                  <a:pt x="670" y="90438"/>
                  <a:pt x="0" y="92373"/>
                  <a:pt x="0" y="94382"/>
                </a:cubicBezTo>
                <a:cubicBezTo>
                  <a:pt x="0" y="99244"/>
                  <a:pt x="3944" y="103188"/>
                  <a:pt x="8806" y="103188"/>
                </a:cubicBezTo>
                <a:lnTo>
                  <a:pt x="102295" y="103188"/>
                </a:lnTo>
                <a:cubicBezTo>
                  <a:pt x="107156" y="103188"/>
                  <a:pt x="111100" y="99244"/>
                  <a:pt x="111100" y="94382"/>
                </a:cubicBezTo>
                <a:cubicBezTo>
                  <a:pt x="111100" y="92373"/>
                  <a:pt x="110430" y="90438"/>
                  <a:pt x="109165" y="88875"/>
                </a:cubicBezTo>
                <a:lnTo>
                  <a:pt x="106735" y="85849"/>
                </a:lnTo>
                <a:cubicBezTo>
                  <a:pt x="99318" y="76522"/>
                  <a:pt x="95250" y="64939"/>
                  <a:pt x="95250" y="53008"/>
                </a:cubicBezTo>
                <a:lnTo>
                  <a:pt x="95250" y="47625"/>
                </a:lnTo>
                <a:cubicBezTo>
                  <a:pt x="95250" y="28426"/>
                  <a:pt x="81607" y="12402"/>
                  <a:pt x="63500" y="8731"/>
                </a:cubicBezTo>
                <a:lnTo>
                  <a:pt x="63500" y="7937"/>
                </a:lnTo>
                <a:cubicBezTo>
                  <a:pt x="63500" y="3547"/>
                  <a:pt x="59953" y="0"/>
                  <a:pt x="55563" y="0"/>
                </a:cubicBezTo>
                <a:close/>
                <a:moveTo>
                  <a:pt x="40184" y="115094"/>
                </a:moveTo>
                <a:cubicBezTo>
                  <a:pt x="41945" y="121940"/>
                  <a:pt x="48171" y="127000"/>
                  <a:pt x="55563" y="127000"/>
                </a:cubicBezTo>
                <a:cubicBezTo>
                  <a:pt x="62954" y="127000"/>
                  <a:pt x="69180" y="121940"/>
                  <a:pt x="70941" y="115094"/>
                </a:cubicBezTo>
                <a:lnTo>
                  <a:pt x="40184" y="115094"/>
                </a:lnTo>
                <a:close/>
              </a:path>
            </a:pathLst>
          </a:custGeom>
          <a:solidFill>
            <a:srgbClr val="8fb7ac"/>
          </a:solidFill>
          <a:ln w="0">
            <a:noFill/>
          </a:ln>
        </p:spPr>
        <p:style>
          <a:lnRef idx="0"/>
          <a:fillRef idx="0"/>
          <a:effectRef idx="0"/>
          <a:fontRef idx="minor"/>
        </p:style>
      </p:sp>
      <p:sp>
        <p:nvSpPr>
          <p:cNvPr id="489" name="Text 29"/>
          <p:cNvSpPr/>
          <p:nvPr/>
        </p:nvSpPr>
        <p:spPr>
          <a:xfrm>
            <a:off x="6572520" y="6201720"/>
            <a:ext cx="366624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Warning Signals:</a:t>
            </a:r>
            <a:r>
              <a:rPr b="0" lang="en-US" sz="1000" spc="-1" strike="noStrike">
                <a:solidFill>
                  <a:srgbClr val="ffffff"/>
                </a:solidFill>
                <a:latin typeface="Quattrocento Sans"/>
                <a:ea typeface="Quattrocento Sans"/>
              </a:rPr>
              <a:t> Trees communicate stress and herbivore attacks</a:t>
            </a:r>
            <a:endParaRPr b="0" lang="en-HK" sz="1000" spc="-1" strike="noStrike">
              <a:latin typeface="Arial"/>
            </a:endParaRPr>
          </a:p>
        </p:txBody>
      </p:sp>
      <p:sp>
        <p:nvSpPr>
          <p:cNvPr id="490" name="Shape 30"/>
          <p:cNvSpPr/>
          <p:nvPr/>
        </p:nvSpPr>
        <p:spPr>
          <a:xfrm>
            <a:off x="6350400" y="6487560"/>
            <a:ext cx="157680" cy="126000"/>
          </a:xfrm>
          <a:custGeom>
            <a:avLst/>
            <a:gdLst/>
            <a:ahLst/>
            <a:rect l="l" t="t" r="r" b="b"/>
            <a:pathLst>
              <a:path w="158750" h="127000">
                <a:moveTo>
                  <a:pt x="95250" y="7938"/>
                </a:moveTo>
                <a:lnTo>
                  <a:pt x="127000" y="7938"/>
                </a:lnTo>
                <a:cubicBezTo>
                  <a:pt x="131390" y="7938"/>
                  <a:pt x="134938" y="11485"/>
                  <a:pt x="134938" y="15875"/>
                </a:cubicBezTo>
                <a:cubicBezTo>
                  <a:pt x="134938" y="20265"/>
                  <a:pt x="131390" y="23812"/>
                  <a:pt x="127000" y="23812"/>
                </a:cubicBezTo>
                <a:lnTo>
                  <a:pt x="98822" y="23812"/>
                </a:lnTo>
                <a:cubicBezTo>
                  <a:pt x="97532" y="30212"/>
                  <a:pt x="93142" y="35496"/>
                  <a:pt x="87313" y="38026"/>
                </a:cubicBezTo>
                <a:lnTo>
                  <a:pt x="87313" y="111125"/>
                </a:lnTo>
                <a:lnTo>
                  <a:pt x="127000" y="111125"/>
                </a:lnTo>
                <a:cubicBezTo>
                  <a:pt x="131390" y="111125"/>
                  <a:pt x="134938" y="114672"/>
                  <a:pt x="134938" y="119063"/>
                </a:cubicBezTo>
                <a:cubicBezTo>
                  <a:pt x="134938" y="123453"/>
                  <a:pt x="131390" y="127000"/>
                  <a:pt x="127000" y="127000"/>
                </a:cubicBezTo>
                <a:lnTo>
                  <a:pt x="31750" y="127000"/>
                </a:lnTo>
                <a:cubicBezTo>
                  <a:pt x="27360" y="127000"/>
                  <a:pt x="23812" y="123453"/>
                  <a:pt x="23812" y="119063"/>
                </a:cubicBezTo>
                <a:cubicBezTo>
                  <a:pt x="23812" y="114672"/>
                  <a:pt x="27360" y="111125"/>
                  <a:pt x="31750" y="111125"/>
                </a:cubicBezTo>
                <a:lnTo>
                  <a:pt x="71438" y="111125"/>
                </a:lnTo>
                <a:lnTo>
                  <a:pt x="71438" y="38026"/>
                </a:lnTo>
                <a:cubicBezTo>
                  <a:pt x="65608" y="35471"/>
                  <a:pt x="61218" y="30187"/>
                  <a:pt x="59928" y="23813"/>
                </a:cubicBezTo>
                <a:lnTo>
                  <a:pt x="31750" y="23812"/>
                </a:lnTo>
                <a:cubicBezTo>
                  <a:pt x="27360" y="23812"/>
                  <a:pt x="23812" y="20265"/>
                  <a:pt x="23812" y="15875"/>
                </a:cubicBezTo>
                <a:cubicBezTo>
                  <a:pt x="23812" y="11485"/>
                  <a:pt x="27360" y="7938"/>
                  <a:pt x="31750" y="7938"/>
                </a:cubicBezTo>
                <a:lnTo>
                  <a:pt x="63500" y="7938"/>
                </a:lnTo>
                <a:cubicBezTo>
                  <a:pt x="67121" y="3125"/>
                  <a:pt x="72876" y="0"/>
                  <a:pt x="79375" y="0"/>
                </a:cubicBezTo>
                <a:cubicBezTo>
                  <a:pt x="85874" y="0"/>
                  <a:pt x="91629" y="3125"/>
                  <a:pt x="95250" y="7938"/>
                </a:cubicBezTo>
                <a:close/>
                <a:moveTo>
                  <a:pt x="109041" y="79375"/>
                </a:moveTo>
                <a:lnTo>
                  <a:pt x="144959" y="79375"/>
                </a:lnTo>
                <a:lnTo>
                  <a:pt x="127000" y="48568"/>
                </a:lnTo>
                <a:lnTo>
                  <a:pt x="109041" y="79375"/>
                </a:lnTo>
                <a:close/>
                <a:moveTo>
                  <a:pt x="127000" y="103188"/>
                </a:moveTo>
                <a:cubicBezTo>
                  <a:pt x="111398" y="103188"/>
                  <a:pt x="98425" y="94754"/>
                  <a:pt x="95746" y="83617"/>
                </a:cubicBezTo>
                <a:cubicBezTo>
                  <a:pt x="95101" y="80888"/>
                  <a:pt x="95994" y="78085"/>
                  <a:pt x="97408" y="75654"/>
                </a:cubicBezTo>
                <a:lnTo>
                  <a:pt x="121022" y="35173"/>
                </a:lnTo>
                <a:cubicBezTo>
                  <a:pt x="122262" y="33040"/>
                  <a:pt x="124544" y="31750"/>
                  <a:pt x="127000" y="31750"/>
                </a:cubicBezTo>
                <a:cubicBezTo>
                  <a:pt x="129456" y="31750"/>
                  <a:pt x="131738" y="33065"/>
                  <a:pt x="132978" y="35173"/>
                </a:cubicBezTo>
                <a:lnTo>
                  <a:pt x="156592" y="75654"/>
                </a:lnTo>
                <a:cubicBezTo>
                  <a:pt x="158006" y="78085"/>
                  <a:pt x="158899" y="80888"/>
                  <a:pt x="158254" y="83617"/>
                </a:cubicBezTo>
                <a:cubicBezTo>
                  <a:pt x="155575" y="94729"/>
                  <a:pt x="142602" y="103188"/>
                  <a:pt x="127000" y="103188"/>
                </a:cubicBezTo>
                <a:close/>
                <a:moveTo>
                  <a:pt x="31452" y="48568"/>
                </a:moveTo>
                <a:lnTo>
                  <a:pt x="13494" y="79375"/>
                </a:lnTo>
                <a:lnTo>
                  <a:pt x="49436" y="79375"/>
                </a:lnTo>
                <a:lnTo>
                  <a:pt x="31452" y="48568"/>
                </a:lnTo>
                <a:close/>
                <a:moveTo>
                  <a:pt x="223" y="83617"/>
                </a:moveTo>
                <a:cubicBezTo>
                  <a:pt x="-422" y="80888"/>
                  <a:pt x="471" y="78085"/>
                  <a:pt x="1885" y="75654"/>
                </a:cubicBezTo>
                <a:lnTo>
                  <a:pt x="25499" y="35173"/>
                </a:lnTo>
                <a:cubicBezTo>
                  <a:pt x="26739" y="33040"/>
                  <a:pt x="29021" y="31750"/>
                  <a:pt x="31477" y="31750"/>
                </a:cubicBezTo>
                <a:cubicBezTo>
                  <a:pt x="33933" y="31750"/>
                  <a:pt x="36215" y="33065"/>
                  <a:pt x="37455" y="35173"/>
                </a:cubicBezTo>
                <a:lnTo>
                  <a:pt x="61069" y="75654"/>
                </a:lnTo>
                <a:cubicBezTo>
                  <a:pt x="62483" y="78085"/>
                  <a:pt x="63376" y="80888"/>
                  <a:pt x="62731" y="83617"/>
                </a:cubicBezTo>
                <a:cubicBezTo>
                  <a:pt x="60052" y="94729"/>
                  <a:pt x="47079" y="103188"/>
                  <a:pt x="31477" y="103188"/>
                </a:cubicBezTo>
                <a:cubicBezTo>
                  <a:pt x="15875" y="103188"/>
                  <a:pt x="2902" y="94754"/>
                  <a:pt x="223" y="83617"/>
                </a:cubicBezTo>
                <a:close/>
              </a:path>
            </a:pathLst>
          </a:custGeom>
          <a:solidFill>
            <a:srgbClr val="8fb7ac"/>
          </a:solidFill>
          <a:ln w="0">
            <a:noFill/>
          </a:ln>
        </p:spPr>
        <p:style>
          <a:lnRef idx="0"/>
          <a:fillRef idx="0"/>
          <a:effectRef idx="0"/>
          <a:fontRef idx="minor"/>
        </p:style>
      </p:sp>
      <p:sp>
        <p:nvSpPr>
          <p:cNvPr id="491" name="Text 31"/>
          <p:cNvSpPr/>
          <p:nvPr/>
        </p:nvSpPr>
        <p:spPr>
          <a:xfrm>
            <a:off x="6572520" y="6455880"/>
            <a:ext cx="3761640" cy="189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Resource Sharing:</a:t>
            </a:r>
            <a:r>
              <a:rPr b="0" lang="en-US" sz="1000" spc="-1" strike="noStrike">
                <a:solidFill>
                  <a:srgbClr val="ffffff"/>
                </a:solidFill>
                <a:latin typeface="Quattrocento Sans"/>
                <a:ea typeface="Quattrocento Sans"/>
              </a:rPr>
              <a:t> Nutrients redistributed from source to sink plants</a:t>
            </a:r>
            <a:endParaRPr b="0" lang="en-HK" sz="1000" spc="-1" strike="noStrike">
              <a:latin typeface="Arial"/>
            </a:endParaRPr>
          </a:p>
        </p:txBody>
      </p:sp>
      <p:sp>
        <p:nvSpPr>
          <p:cNvPr id="492" name="Shape 32"/>
          <p:cNvSpPr/>
          <p:nvPr/>
        </p:nvSpPr>
        <p:spPr>
          <a:xfrm>
            <a:off x="6191640" y="6932160"/>
            <a:ext cx="5682600" cy="761040"/>
          </a:xfrm>
          <a:custGeom>
            <a:avLst/>
            <a:gdLst/>
            <a:ahLst/>
            <a:rect l="l" t="t" r="r" b="b"/>
            <a:pathLst>
              <a:path w="5683250" h="762000">
                <a:moveTo>
                  <a:pt x="95250" y="0"/>
                </a:moveTo>
                <a:lnTo>
                  <a:pt x="5588000" y="0"/>
                </a:lnTo>
                <a:cubicBezTo>
                  <a:pt x="5640570" y="0"/>
                  <a:pt x="5683250" y="42680"/>
                  <a:pt x="5683250" y="95250"/>
                </a:cubicBezTo>
                <a:lnTo>
                  <a:pt x="5683250" y="666750"/>
                </a:lnTo>
                <a:cubicBezTo>
                  <a:pt x="5683250" y="719320"/>
                  <a:pt x="5640570" y="762000"/>
                  <a:pt x="5588000" y="762000"/>
                </a:cubicBezTo>
                <a:lnTo>
                  <a:pt x="95250" y="762000"/>
                </a:lnTo>
                <a:cubicBezTo>
                  <a:pt x="42680" y="762000"/>
                  <a:pt x="0" y="719320"/>
                  <a:pt x="0" y="666750"/>
                </a:cubicBezTo>
                <a:lnTo>
                  <a:pt x="0" y="95250"/>
                </a:lnTo>
                <a:cubicBezTo>
                  <a:pt x="0" y="42680"/>
                  <a:pt x="42680" y="0"/>
                  <a:pt x="95250" y="0"/>
                </a:cubicBezTo>
                <a:close/>
              </a:path>
            </a:pathLst>
          </a:custGeom>
          <a:solidFill>
            <a:srgbClr val="4c8a7a"/>
          </a:solidFill>
          <a:ln w="0">
            <a:noFill/>
          </a:ln>
        </p:spPr>
        <p:style>
          <a:lnRef idx="0"/>
          <a:fillRef idx="0"/>
          <a:effectRef idx="0"/>
          <a:fontRef idx="minor"/>
        </p:style>
      </p:sp>
      <p:sp>
        <p:nvSpPr>
          <p:cNvPr id="493" name="Text 33"/>
          <p:cNvSpPr/>
          <p:nvPr/>
        </p:nvSpPr>
        <p:spPr>
          <a:xfrm>
            <a:off x="6258960" y="7058880"/>
            <a:ext cx="5547600" cy="28476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870" spc="-1" strike="noStrike">
                <a:solidFill>
                  <a:srgbClr val="ffffff"/>
                </a:solidFill>
                <a:latin typeface="Sorts Mill Goudy"/>
                <a:ea typeface="Sorts Mill Goudy"/>
              </a:rPr>
              <a:t>Latitudinal Variation</a:t>
            </a:r>
            <a:endParaRPr b="0" lang="en-HK" sz="1870" spc="-1" strike="noStrike">
              <a:latin typeface="Arial"/>
            </a:endParaRPr>
          </a:p>
        </p:txBody>
      </p:sp>
      <p:sp>
        <p:nvSpPr>
          <p:cNvPr id="494" name="Text 34"/>
          <p:cNvSpPr/>
          <p:nvPr/>
        </p:nvSpPr>
        <p:spPr>
          <a:xfrm>
            <a:off x="6287040" y="7376400"/>
            <a:ext cx="5492160" cy="1893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00" spc="-1" strike="noStrike">
                <a:solidFill>
                  <a:srgbClr val="ffffff"/>
                </a:solidFill>
                <a:latin typeface="Quattrocento Sans"/>
                <a:ea typeface="Quattrocento Sans"/>
              </a:rPr>
              <a:t>AM-tropical, ECM-temperate associations explain biodiversity patterns</a:t>
            </a:r>
            <a:endParaRPr b="0" lang="en-HK" sz="10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495" name="Text 0"/>
          <p:cNvSpPr/>
          <p:nvPr/>
        </p:nvSpPr>
        <p:spPr>
          <a:xfrm>
            <a:off x="352800" y="352800"/>
            <a:ext cx="11548440" cy="17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89" strike="noStrike">
                <a:solidFill>
                  <a:srgbClr val="5f6f6b"/>
                </a:solidFill>
                <a:latin typeface="Quattrocento Sans"/>
                <a:ea typeface="Quattrocento Sans"/>
              </a:rPr>
              <a:t>05 • Belowground Processes</a:t>
            </a:r>
            <a:endParaRPr b="0" lang="en-HK" sz="970" spc="-1" strike="noStrike">
              <a:latin typeface="Arial"/>
            </a:endParaRPr>
          </a:p>
        </p:txBody>
      </p:sp>
      <p:sp>
        <p:nvSpPr>
          <p:cNvPr id="496" name="Text 1"/>
          <p:cNvSpPr/>
          <p:nvPr/>
        </p:nvSpPr>
        <p:spPr>
          <a:xfrm>
            <a:off x="352800" y="599400"/>
            <a:ext cx="11645280" cy="35172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500" spc="-1" strike="noStrike">
                <a:solidFill>
                  <a:srgbClr val="2f3e3b"/>
                </a:solidFill>
                <a:latin typeface="Sorts Mill Goudy"/>
                <a:ea typeface="Sorts Mill Goudy"/>
              </a:rPr>
              <a:t>Nutrient Cycling &amp; Resource Partitioning</a:t>
            </a:r>
            <a:endParaRPr b="0" lang="en-HK" sz="2500" spc="-1" strike="noStrike">
              <a:latin typeface="Arial"/>
            </a:endParaRPr>
          </a:p>
        </p:txBody>
      </p:sp>
      <p:sp>
        <p:nvSpPr>
          <p:cNvPr id="497" name="Text 2"/>
          <p:cNvSpPr/>
          <p:nvPr/>
        </p:nvSpPr>
        <p:spPr>
          <a:xfrm>
            <a:off x="352800" y="1022760"/>
            <a:ext cx="11566080" cy="245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50" spc="-1" strike="noStrike">
                <a:solidFill>
                  <a:srgbClr val="5f6f6b"/>
                </a:solidFill>
                <a:latin typeface="Quattrocento Sans"/>
                <a:ea typeface="Quattrocento Sans"/>
              </a:rPr>
              <a:t>Biogeochemical processes support diverse forest communities</a:t>
            </a:r>
            <a:endParaRPr b="0" lang="en-HK" sz="1250" spc="-1" strike="noStrike">
              <a:latin typeface="Arial"/>
            </a:endParaRPr>
          </a:p>
        </p:txBody>
      </p:sp>
      <p:sp>
        <p:nvSpPr>
          <p:cNvPr id="498" name="Shape 3"/>
          <p:cNvSpPr/>
          <p:nvPr/>
        </p:nvSpPr>
        <p:spPr>
          <a:xfrm>
            <a:off x="352800" y="1445760"/>
            <a:ext cx="7598880" cy="2220480"/>
          </a:xfrm>
          <a:custGeom>
            <a:avLst/>
            <a:gdLst/>
            <a:ahLst/>
            <a:rect l="l" t="t" r="r" b="b"/>
            <a:pathLst>
              <a:path w="7599063" h="2221536">
                <a:moveTo>
                  <a:pt x="105790" y="0"/>
                </a:moveTo>
                <a:lnTo>
                  <a:pt x="7493273" y="0"/>
                </a:lnTo>
                <a:cubicBezTo>
                  <a:pt x="7551699" y="0"/>
                  <a:pt x="7599063" y="47364"/>
                  <a:pt x="7599063" y="105790"/>
                </a:cubicBezTo>
                <a:lnTo>
                  <a:pt x="7599063" y="2115746"/>
                </a:lnTo>
                <a:cubicBezTo>
                  <a:pt x="7599063" y="2174172"/>
                  <a:pt x="7551699" y="2221536"/>
                  <a:pt x="7493273" y="2221536"/>
                </a:cubicBezTo>
                <a:lnTo>
                  <a:pt x="105790" y="2221536"/>
                </a:lnTo>
                <a:cubicBezTo>
                  <a:pt x="47364" y="2221536"/>
                  <a:pt x="0" y="2174172"/>
                  <a:pt x="0" y="2115746"/>
                </a:cubicBezTo>
                <a:lnTo>
                  <a:pt x="0" y="105790"/>
                </a:lnTo>
                <a:cubicBezTo>
                  <a:pt x="0" y="47364"/>
                  <a:pt x="47364" y="0"/>
                  <a:pt x="105790"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499" name="Text 4"/>
          <p:cNvSpPr/>
          <p:nvPr/>
        </p:nvSpPr>
        <p:spPr>
          <a:xfrm>
            <a:off x="528840" y="1622160"/>
            <a:ext cx="7334280" cy="24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90" spc="-1" strike="noStrike">
                <a:solidFill>
                  <a:srgbClr val="2f3e3b"/>
                </a:solidFill>
                <a:latin typeface="Sorts Mill Goudy"/>
                <a:ea typeface="Sorts Mill Goudy"/>
              </a:rPr>
              <a:t>Forest Nutrient Cycling</a:t>
            </a:r>
            <a:endParaRPr b="0" lang="en-HK" sz="1390" spc="-1" strike="noStrike">
              <a:latin typeface="Arial"/>
            </a:endParaRPr>
          </a:p>
        </p:txBody>
      </p:sp>
      <p:sp>
        <p:nvSpPr>
          <p:cNvPr id="500" name="Text 5"/>
          <p:cNvSpPr/>
          <p:nvPr/>
        </p:nvSpPr>
        <p:spPr>
          <a:xfrm>
            <a:off x="528840" y="1974600"/>
            <a:ext cx="7316640" cy="457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1f2a28"/>
                </a:solidFill>
                <a:latin typeface="Quattrocento Sans"/>
                <a:ea typeface="Quattrocento Sans"/>
              </a:rPr>
              <a:t>Nutrient cycling is the exchange of elements between living and non-living components of ecosystems. </a:t>
            </a:r>
            <a:r>
              <a:rPr b="0" lang="en-US" sz="1110" spc="-1" strike="noStrike">
                <a:solidFill>
                  <a:srgbClr val="2f3e3b"/>
                </a:solidFill>
                <a:highlight>
                  <a:srgbClr val="8fb7ac"/>
                </a:highlight>
                <a:latin typeface="Quattrocento Sans"/>
                <a:ea typeface="Quattrocento Sans"/>
              </a:rPr>
              <a:t>Different tree species have varying nutrient requirements and strategies </a:t>
            </a:r>
            <a:r>
              <a:rPr b="0" lang="en-US" sz="1110" spc="-1" strike="noStrike">
                <a:solidFill>
                  <a:srgbClr val="1f2a28"/>
                </a:solidFill>
                <a:latin typeface="Quattrocento Sans"/>
                <a:ea typeface="Quattrocento Sans"/>
              </a:rPr>
              <a:t>, enabling coexistence through resource partitioning.</a:t>
            </a:r>
            <a:endParaRPr b="0" lang="en-HK" sz="1110" spc="-1" strike="noStrike">
              <a:latin typeface="Arial"/>
            </a:endParaRPr>
          </a:p>
        </p:txBody>
      </p:sp>
      <p:sp>
        <p:nvSpPr>
          <p:cNvPr id="501" name="Shape 6"/>
          <p:cNvSpPr/>
          <p:nvPr/>
        </p:nvSpPr>
        <p:spPr>
          <a:xfrm>
            <a:off x="528840" y="2574000"/>
            <a:ext cx="2344320" cy="915840"/>
          </a:xfrm>
          <a:custGeom>
            <a:avLst/>
            <a:gdLst/>
            <a:ahLst/>
            <a:rect l="l" t="t" r="r" b="b"/>
            <a:pathLst>
              <a:path w="2344954" h="916824">
                <a:moveTo>
                  <a:pt x="70522" y="0"/>
                </a:moveTo>
                <a:lnTo>
                  <a:pt x="2274432" y="0"/>
                </a:lnTo>
                <a:cubicBezTo>
                  <a:pt x="2313381" y="0"/>
                  <a:pt x="2344954" y="31574"/>
                  <a:pt x="2344954" y="70522"/>
                </a:cubicBezTo>
                <a:lnTo>
                  <a:pt x="2344954" y="846302"/>
                </a:lnTo>
                <a:cubicBezTo>
                  <a:pt x="2344954" y="885250"/>
                  <a:pt x="2313381" y="916824"/>
                  <a:pt x="2274432" y="916824"/>
                </a:cubicBezTo>
                <a:lnTo>
                  <a:pt x="70522" y="916824"/>
                </a:lnTo>
                <a:cubicBezTo>
                  <a:pt x="31600" y="916824"/>
                  <a:pt x="0" y="885224"/>
                  <a:pt x="0" y="846302"/>
                </a:cubicBezTo>
                <a:lnTo>
                  <a:pt x="0" y="70522"/>
                </a:lnTo>
                <a:cubicBezTo>
                  <a:pt x="0" y="31600"/>
                  <a:pt x="31600" y="0"/>
                  <a:pt x="70522" y="0"/>
                </a:cubicBezTo>
                <a:close/>
              </a:path>
            </a:pathLst>
          </a:custGeom>
          <a:solidFill>
            <a:srgbClr val="4c8a7a">
              <a:alpha val="10000"/>
            </a:srgbClr>
          </a:solidFill>
          <a:ln w="0">
            <a:noFill/>
          </a:ln>
        </p:spPr>
        <p:style>
          <a:lnRef idx="0"/>
          <a:fillRef idx="0"/>
          <a:effectRef idx="0"/>
          <a:fontRef idx="minor"/>
        </p:style>
      </p:sp>
      <p:sp>
        <p:nvSpPr>
          <p:cNvPr id="502" name="Shape 7"/>
          <p:cNvSpPr/>
          <p:nvPr/>
        </p:nvSpPr>
        <p:spPr>
          <a:xfrm>
            <a:off x="1595520" y="2679840"/>
            <a:ext cx="210600" cy="210600"/>
          </a:xfrm>
          <a:custGeom>
            <a:avLst/>
            <a:gdLst/>
            <a:ahLst/>
            <a:rect l="l" t="t" r="r" b="b"/>
            <a:pathLst>
              <a:path w="211575" h="211575">
                <a:moveTo>
                  <a:pt x="194756" y="2769"/>
                </a:moveTo>
                <a:cubicBezTo>
                  <a:pt x="197401" y="248"/>
                  <a:pt x="201244" y="-661"/>
                  <a:pt x="204798" y="496"/>
                </a:cubicBezTo>
                <a:cubicBezTo>
                  <a:pt x="208848" y="1860"/>
                  <a:pt x="211575" y="5661"/>
                  <a:pt x="211575" y="9918"/>
                </a:cubicBezTo>
                <a:lnTo>
                  <a:pt x="211575" y="87151"/>
                </a:lnTo>
                <a:cubicBezTo>
                  <a:pt x="211575" y="141367"/>
                  <a:pt x="166904" y="185128"/>
                  <a:pt x="112895" y="185128"/>
                </a:cubicBezTo>
                <a:cubicBezTo>
                  <a:pt x="81076" y="185128"/>
                  <a:pt x="53638" y="164673"/>
                  <a:pt x="43679" y="136077"/>
                </a:cubicBezTo>
                <a:cubicBezTo>
                  <a:pt x="29050" y="148805"/>
                  <a:pt x="19835" y="167524"/>
                  <a:pt x="19835" y="188434"/>
                </a:cubicBezTo>
                <a:cubicBezTo>
                  <a:pt x="19835" y="193930"/>
                  <a:pt x="15414" y="198351"/>
                  <a:pt x="9918" y="198351"/>
                </a:cubicBezTo>
                <a:cubicBezTo>
                  <a:pt x="4422" y="198351"/>
                  <a:pt x="0" y="193930"/>
                  <a:pt x="0" y="188434"/>
                </a:cubicBezTo>
                <a:cubicBezTo>
                  <a:pt x="0" y="157483"/>
                  <a:pt x="15785" y="130209"/>
                  <a:pt x="39712" y="114176"/>
                </a:cubicBezTo>
                <a:cubicBezTo>
                  <a:pt x="54299" y="104424"/>
                  <a:pt x="71696" y="99176"/>
                  <a:pt x="89258" y="99176"/>
                </a:cubicBezTo>
                <a:lnTo>
                  <a:pt x="122317" y="99176"/>
                </a:lnTo>
                <a:cubicBezTo>
                  <a:pt x="127813" y="99176"/>
                  <a:pt x="132234" y="94754"/>
                  <a:pt x="132234" y="89258"/>
                </a:cubicBezTo>
                <a:cubicBezTo>
                  <a:pt x="132234" y="83762"/>
                  <a:pt x="127813" y="79341"/>
                  <a:pt x="122317" y="79341"/>
                </a:cubicBezTo>
                <a:lnTo>
                  <a:pt x="89258" y="79341"/>
                </a:lnTo>
                <a:cubicBezTo>
                  <a:pt x="72853" y="79341"/>
                  <a:pt x="57315" y="82977"/>
                  <a:pt x="43389" y="89465"/>
                </a:cubicBezTo>
                <a:cubicBezTo>
                  <a:pt x="53018" y="60539"/>
                  <a:pt x="80250" y="39670"/>
                  <a:pt x="112399" y="39670"/>
                </a:cubicBezTo>
                <a:cubicBezTo>
                  <a:pt x="139838" y="39670"/>
                  <a:pt x="160251" y="30538"/>
                  <a:pt x="173847" y="21488"/>
                </a:cubicBezTo>
                <a:cubicBezTo>
                  <a:pt x="181781" y="16199"/>
                  <a:pt x="188516" y="9876"/>
                  <a:pt x="194798" y="2769"/>
                </a:cubicBezTo>
                <a:close/>
              </a:path>
            </a:pathLst>
          </a:custGeom>
          <a:solidFill>
            <a:srgbClr val="4c8a7a"/>
          </a:solidFill>
          <a:ln w="0">
            <a:noFill/>
          </a:ln>
        </p:spPr>
        <p:style>
          <a:lnRef idx="0"/>
          <a:fillRef idx="0"/>
          <a:effectRef idx="0"/>
          <a:fontRef idx="minor"/>
        </p:style>
      </p:sp>
      <p:sp>
        <p:nvSpPr>
          <p:cNvPr id="503" name="Text 8"/>
          <p:cNvSpPr/>
          <p:nvPr/>
        </p:nvSpPr>
        <p:spPr>
          <a:xfrm>
            <a:off x="599400" y="2962080"/>
            <a:ext cx="2203200" cy="2106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10" spc="-1" strike="noStrike">
                <a:solidFill>
                  <a:srgbClr val="2f3e3b"/>
                </a:solidFill>
                <a:latin typeface="Quattrocento Sans"/>
                <a:ea typeface="Quattrocento Sans"/>
              </a:rPr>
              <a:t>Uptake</a:t>
            </a:r>
            <a:endParaRPr b="0" lang="en-HK" sz="1110" spc="-1" strike="noStrike">
              <a:latin typeface="Arial"/>
            </a:endParaRPr>
          </a:p>
        </p:txBody>
      </p:sp>
      <p:sp>
        <p:nvSpPr>
          <p:cNvPr id="504" name="Text 9"/>
          <p:cNvSpPr/>
          <p:nvPr/>
        </p:nvSpPr>
        <p:spPr>
          <a:xfrm>
            <a:off x="603720" y="3209040"/>
            <a:ext cx="2194200" cy="1753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70" spc="-1" strike="noStrike">
                <a:solidFill>
                  <a:srgbClr val="5f6f6b"/>
                </a:solidFill>
                <a:latin typeface="Quattrocento Sans"/>
                <a:ea typeface="Quattrocento Sans"/>
              </a:rPr>
              <a:t>Root absorption of N, P, K from soil</a:t>
            </a:r>
            <a:endParaRPr b="0" lang="en-HK" sz="970" spc="-1" strike="noStrike">
              <a:latin typeface="Arial"/>
            </a:endParaRPr>
          </a:p>
        </p:txBody>
      </p:sp>
      <p:sp>
        <p:nvSpPr>
          <p:cNvPr id="505" name="Shape 10"/>
          <p:cNvSpPr/>
          <p:nvPr/>
        </p:nvSpPr>
        <p:spPr>
          <a:xfrm>
            <a:off x="2979720" y="2574000"/>
            <a:ext cx="2344320" cy="915840"/>
          </a:xfrm>
          <a:custGeom>
            <a:avLst/>
            <a:gdLst/>
            <a:ahLst/>
            <a:rect l="l" t="t" r="r" b="b"/>
            <a:pathLst>
              <a:path w="2344954" h="916824">
                <a:moveTo>
                  <a:pt x="70522" y="0"/>
                </a:moveTo>
                <a:lnTo>
                  <a:pt x="2274432" y="0"/>
                </a:lnTo>
                <a:cubicBezTo>
                  <a:pt x="2313381" y="0"/>
                  <a:pt x="2344954" y="31574"/>
                  <a:pt x="2344954" y="70522"/>
                </a:cubicBezTo>
                <a:lnTo>
                  <a:pt x="2344954" y="846302"/>
                </a:lnTo>
                <a:cubicBezTo>
                  <a:pt x="2344954" y="885250"/>
                  <a:pt x="2313381" y="916824"/>
                  <a:pt x="2274432" y="916824"/>
                </a:cubicBezTo>
                <a:lnTo>
                  <a:pt x="70522" y="916824"/>
                </a:lnTo>
                <a:cubicBezTo>
                  <a:pt x="31600" y="916824"/>
                  <a:pt x="0" y="885224"/>
                  <a:pt x="0" y="846302"/>
                </a:cubicBezTo>
                <a:lnTo>
                  <a:pt x="0" y="70522"/>
                </a:lnTo>
                <a:cubicBezTo>
                  <a:pt x="0" y="31600"/>
                  <a:pt x="31600" y="0"/>
                  <a:pt x="70522" y="0"/>
                </a:cubicBezTo>
                <a:close/>
              </a:path>
            </a:pathLst>
          </a:custGeom>
          <a:solidFill>
            <a:srgbClr val="8fb7ac">
              <a:alpha val="10000"/>
            </a:srgbClr>
          </a:solidFill>
          <a:ln w="0">
            <a:noFill/>
          </a:ln>
        </p:spPr>
        <p:style>
          <a:lnRef idx="0"/>
          <a:fillRef idx="0"/>
          <a:effectRef idx="0"/>
          <a:fontRef idx="minor"/>
        </p:style>
      </p:sp>
      <p:sp>
        <p:nvSpPr>
          <p:cNvPr id="506" name="Shape 11"/>
          <p:cNvSpPr/>
          <p:nvPr/>
        </p:nvSpPr>
        <p:spPr>
          <a:xfrm>
            <a:off x="4046760" y="2679840"/>
            <a:ext cx="210600" cy="210600"/>
          </a:xfrm>
          <a:custGeom>
            <a:avLst/>
            <a:gdLst/>
            <a:ahLst/>
            <a:rect l="l" t="t" r="r" b="b"/>
            <a:pathLst>
              <a:path w="211575" h="211575">
                <a:moveTo>
                  <a:pt x="62935" y="24794"/>
                </a:moveTo>
                <a:cubicBezTo>
                  <a:pt x="82027" y="-8265"/>
                  <a:pt x="129755" y="-8265"/>
                  <a:pt x="148846" y="24794"/>
                </a:cubicBezTo>
                <a:lnTo>
                  <a:pt x="164260" y="51489"/>
                </a:lnTo>
                <a:lnTo>
                  <a:pt x="175706" y="44877"/>
                </a:lnTo>
                <a:cubicBezTo>
                  <a:pt x="179177" y="42852"/>
                  <a:pt x="183516" y="43141"/>
                  <a:pt x="186698" y="45580"/>
                </a:cubicBezTo>
                <a:cubicBezTo>
                  <a:pt x="189880" y="48018"/>
                  <a:pt x="191285" y="52150"/>
                  <a:pt x="190252" y="56034"/>
                </a:cubicBezTo>
                <a:lnTo>
                  <a:pt x="180541" y="92151"/>
                </a:lnTo>
                <a:cubicBezTo>
                  <a:pt x="179136" y="97440"/>
                  <a:pt x="173681" y="100581"/>
                  <a:pt x="168392" y="99176"/>
                </a:cubicBezTo>
                <a:lnTo>
                  <a:pt x="132276" y="89506"/>
                </a:lnTo>
                <a:cubicBezTo>
                  <a:pt x="128391" y="88473"/>
                  <a:pt x="125540" y="85208"/>
                  <a:pt x="125003" y="81241"/>
                </a:cubicBezTo>
                <a:cubicBezTo>
                  <a:pt x="124466" y="77274"/>
                  <a:pt x="126408" y="73349"/>
                  <a:pt x="129879" y="71365"/>
                </a:cubicBezTo>
                <a:lnTo>
                  <a:pt x="141325" y="64753"/>
                </a:lnTo>
                <a:lnTo>
                  <a:pt x="125912" y="38059"/>
                </a:lnTo>
                <a:cubicBezTo>
                  <a:pt x="116986" y="22645"/>
                  <a:pt x="94754" y="22645"/>
                  <a:pt x="85828" y="38059"/>
                </a:cubicBezTo>
                <a:lnTo>
                  <a:pt x="83638" y="41819"/>
                </a:lnTo>
                <a:cubicBezTo>
                  <a:pt x="80002" y="48142"/>
                  <a:pt x="71902" y="50290"/>
                  <a:pt x="65580" y="46654"/>
                </a:cubicBezTo>
                <a:cubicBezTo>
                  <a:pt x="59257" y="43017"/>
                  <a:pt x="57109" y="34918"/>
                  <a:pt x="60745" y="28554"/>
                </a:cubicBezTo>
                <a:lnTo>
                  <a:pt x="62935" y="24794"/>
                </a:lnTo>
                <a:close/>
                <a:moveTo>
                  <a:pt x="185830" y="115333"/>
                </a:moveTo>
                <a:cubicBezTo>
                  <a:pt x="192153" y="111697"/>
                  <a:pt x="200252" y="113845"/>
                  <a:pt x="203889" y="120168"/>
                </a:cubicBezTo>
                <a:lnTo>
                  <a:pt x="206079" y="123928"/>
                </a:lnTo>
                <a:cubicBezTo>
                  <a:pt x="225170" y="156987"/>
                  <a:pt x="201327" y="198310"/>
                  <a:pt x="163144" y="198310"/>
                </a:cubicBezTo>
                <a:lnTo>
                  <a:pt x="132317" y="198310"/>
                </a:lnTo>
                <a:lnTo>
                  <a:pt x="132317" y="211534"/>
                </a:lnTo>
                <a:cubicBezTo>
                  <a:pt x="132317" y="215542"/>
                  <a:pt x="129920" y="219178"/>
                  <a:pt x="126201" y="220707"/>
                </a:cubicBezTo>
                <a:cubicBezTo>
                  <a:pt x="122482" y="222236"/>
                  <a:pt x="118226" y="221410"/>
                  <a:pt x="115374" y="218558"/>
                </a:cubicBezTo>
                <a:lnTo>
                  <a:pt x="88928" y="192112"/>
                </a:lnTo>
                <a:cubicBezTo>
                  <a:pt x="85043" y="188227"/>
                  <a:pt x="85043" y="181946"/>
                  <a:pt x="88928" y="178103"/>
                </a:cubicBezTo>
                <a:lnTo>
                  <a:pt x="115374" y="151656"/>
                </a:lnTo>
                <a:cubicBezTo>
                  <a:pt x="118226" y="148805"/>
                  <a:pt x="122482" y="147978"/>
                  <a:pt x="126201" y="149507"/>
                </a:cubicBezTo>
                <a:cubicBezTo>
                  <a:pt x="129920" y="151036"/>
                  <a:pt x="132317" y="154673"/>
                  <a:pt x="132317" y="158681"/>
                </a:cubicBezTo>
                <a:lnTo>
                  <a:pt x="132317" y="171905"/>
                </a:lnTo>
                <a:lnTo>
                  <a:pt x="163144" y="171905"/>
                </a:lnTo>
                <a:cubicBezTo>
                  <a:pt x="180954" y="171905"/>
                  <a:pt x="192112" y="152607"/>
                  <a:pt x="183186" y="137193"/>
                </a:cubicBezTo>
                <a:lnTo>
                  <a:pt x="180996" y="133433"/>
                </a:lnTo>
                <a:cubicBezTo>
                  <a:pt x="177359" y="127110"/>
                  <a:pt x="179508" y="119011"/>
                  <a:pt x="185830" y="115374"/>
                </a:cubicBezTo>
                <a:close/>
                <a:moveTo>
                  <a:pt x="21075" y="97275"/>
                </a:moveTo>
                <a:lnTo>
                  <a:pt x="9628" y="90663"/>
                </a:lnTo>
                <a:cubicBezTo>
                  <a:pt x="6157" y="88638"/>
                  <a:pt x="4215" y="84754"/>
                  <a:pt x="4752" y="80787"/>
                </a:cubicBezTo>
                <a:cubicBezTo>
                  <a:pt x="5289" y="76820"/>
                  <a:pt x="8141" y="73555"/>
                  <a:pt x="12025" y="72522"/>
                </a:cubicBezTo>
                <a:lnTo>
                  <a:pt x="48142" y="62811"/>
                </a:lnTo>
                <a:cubicBezTo>
                  <a:pt x="53431" y="61406"/>
                  <a:pt x="58886" y="64547"/>
                  <a:pt x="60291" y="69836"/>
                </a:cubicBezTo>
                <a:lnTo>
                  <a:pt x="69960" y="105953"/>
                </a:lnTo>
                <a:cubicBezTo>
                  <a:pt x="70993" y="109837"/>
                  <a:pt x="69588" y="113928"/>
                  <a:pt x="66406" y="116407"/>
                </a:cubicBezTo>
                <a:cubicBezTo>
                  <a:pt x="63225" y="118887"/>
                  <a:pt x="58886" y="119135"/>
                  <a:pt x="55414" y="117110"/>
                </a:cubicBezTo>
                <a:lnTo>
                  <a:pt x="43968" y="110498"/>
                </a:lnTo>
                <a:lnTo>
                  <a:pt x="28554" y="137193"/>
                </a:lnTo>
                <a:cubicBezTo>
                  <a:pt x="19629" y="152607"/>
                  <a:pt x="30786" y="171905"/>
                  <a:pt x="48596" y="171905"/>
                </a:cubicBezTo>
                <a:lnTo>
                  <a:pt x="52976" y="171905"/>
                </a:lnTo>
                <a:cubicBezTo>
                  <a:pt x="60291" y="171905"/>
                  <a:pt x="66200" y="177814"/>
                  <a:pt x="66200" y="185128"/>
                </a:cubicBezTo>
                <a:cubicBezTo>
                  <a:pt x="66200" y="192442"/>
                  <a:pt x="60291" y="198351"/>
                  <a:pt x="52976" y="198351"/>
                </a:cubicBezTo>
                <a:lnTo>
                  <a:pt x="48596" y="198351"/>
                </a:lnTo>
                <a:cubicBezTo>
                  <a:pt x="10455" y="198351"/>
                  <a:pt x="-13389" y="157028"/>
                  <a:pt x="5703" y="123970"/>
                </a:cubicBezTo>
                <a:lnTo>
                  <a:pt x="21075" y="97275"/>
                </a:lnTo>
                <a:close/>
              </a:path>
            </a:pathLst>
          </a:custGeom>
          <a:solidFill>
            <a:srgbClr val="8fb7ac"/>
          </a:solidFill>
          <a:ln w="0">
            <a:noFill/>
          </a:ln>
        </p:spPr>
        <p:style>
          <a:lnRef idx="0"/>
          <a:fillRef idx="0"/>
          <a:effectRef idx="0"/>
          <a:fontRef idx="minor"/>
        </p:style>
      </p:sp>
      <p:sp>
        <p:nvSpPr>
          <p:cNvPr id="507" name="Text 12"/>
          <p:cNvSpPr/>
          <p:nvPr/>
        </p:nvSpPr>
        <p:spPr>
          <a:xfrm>
            <a:off x="3050280" y="2962080"/>
            <a:ext cx="2203200" cy="2106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10" spc="-1" strike="noStrike">
                <a:solidFill>
                  <a:srgbClr val="2f3e3b"/>
                </a:solidFill>
                <a:latin typeface="Quattrocento Sans"/>
                <a:ea typeface="Quattrocento Sans"/>
              </a:rPr>
              <a:t>Cycling</a:t>
            </a:r>
            <a:endParaRPr b="0" lang="en-HK" sz="1110" spc="-1" strike="noStrike">
              <a:latin typeface="Arial"/>
            </a:endParaRPr>
          </a:p>
        </p:txBody>
      </p:sp>
      <p:sp>
        <p:nvSpPr>
          <p:cNvPr id="508" name="Text 13"/>
          <p:cNvSpPr/>
          <p:nvPr/>
        </p:nvSpPr>
        <p:spPr>
          <a:xfrm>
            <a:off x="3054960" y="3209040"/>
            <a:ext cx="2194200" cy="1753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70" spc="-1" strike="noStrike">
                <a:solidFill>
                  <a:srgbClr val="5f6f6b"/>
                </a:solidFill>
                <a:latin typeface="Quattrocento Sans"/>
                <a:ea typeface="Quattrocento Sans"/>
              </a:rPr>
              <a:t>Litter decomposition, mineralization</a:t>
            </a:r>
            <a:endParaRPr b="0" lang="en-HK" sz="970" spc="-1" strike="noStrike">
              <a:latin typeface="Arial"/>
            </a:endParaRPr>
          </a:p>
        </p:txBody>
      </p:sp>
      <p:sp>
        <p:nvSpPr>
          <p:cNvPr id="509" name="Shape 14"/>
          <p:cNvSpPr/>
          <p:nvPr/>
        </p:nvSpPr>
        <p:spPr>
          <a:xfrm>
            <a:off x="5431320" y="2574000"/>
            <a:ext cx="2344320" cy="915840"/>
          </a:xfrm>
          <a:custGeom>
            <a:avLst/>
            <a:gdLst/>
            <a:ahLst/>
            <a:rect l="l" t="t" r="r" b="b"/>
            <a:pathLst>
              <a:path w="2344954" h="916824">
                <a:moveTo>
                  <a:pt x="70522" y="0"/>
                </a:moveTo>
                <a:lnTo>
                  <a:pt x="2274432" y="0"/>
                </a:lnTo>
                <a:cubicBezTo>
                  <a:pt x="2313381" y="0"/>
                  <a:pt x="2344954" y="31574"/>
                  <a:pt x="2344954" y="70522"/>
                </a:cubicBezTo>
                <a:lnTo>
                  <a:pt x="2344954" y="846302"/>
                </a:lnTo>
                <a:cubicBezTo>
                  <a:pt x="2344954" y="885250"/>
                  <a:pt x="2313381" y="916824"/>
                  <a:pt x="2274432" y="916824"/>
                </a:cubicBezTo>
                <a:lnTo>
                  <a:pt x="70522" y="916824"/>
                </a:lnTo>
                <a:cubicBezTo>
                  <a:pt x="31600" y="916824"/>
                  <a:pt x="0" y="885224"/>
                  <a:pt x="0" y="846302"/>
                </a:cubicBezTo>
                <a:lnTo>
                  <a:pt x="0" y="70522"/>
                </a:lnTo>
                <a:cubicBezTo>
                  <a:pt x="0" y="31600"/>
                  <a:pt x="31600" y="0"/>
                  <a:pt x="70522" y="0"/>
                </a:cubicBezTo>
                <a:close/>
              </a:path>
            </a:pathLst>
          </a:custGeom>
          <a:solidFill>
            <a:srgbClr val="5f6f6b">
              <a:alpha val="10000"/>
            </a:srgbClr>
          </a:solidFill>
          <a:ln w="0">
            <a:noFill/>
          </a:ln>
        </p:spPr>
        <p:style>
          <a:lnRef idx="0"/>
          <a:fillRef idx="0"/>
          <a:effectRef idx="0"/>
          <a:fontRef idx="minor"/>
        </p:style>
      </p:sp>
      <p:sp>
        <p:nvSpPr>
          <p:cNvPr id="510" name="Shape 15"/>
          <p:cNvSpPr/>
          <p:nvPr/>
        </p:nvSpPr>
        <p:spPr>
          <a:xfrm>
            <a:off x="6498000" y="2679840"/>
            <a:ext cx="210600" cy="210600"/>
          </a:xfrm>
          <a:custGeom>
            <a:avLst/>
            <a:gdLst/>
            <a:ahLst/>
            <a:rect l="l" t="t" r="r" b="b"/>
            <a:pathLst>
              <a:path w="211575" h="211575">
                <a:moveTo>
                  <a:pt x="211575" y="13223"/>
                </a:moveTo>
                <a:cubicBezTo>
                  <a:pt x="211575" y="57894"/>
                  <a:pt x="179921" y="95167"/>
                  <a:pt x="137854" y="103887"/>
                </a:cubicBezTo>
                <a:cubicBezTo>
                  <a:pt x="134590" y="79878"/>
                  <a:pt x="123804" y="58266"/>
                  <a:pt x="107895" y="41530"/>
                </a:cubicBezTo>
                <a:cubicBezTo>
                  <a:pt x="124466" y="16529"/>
                  <a:pt x="152855" y="0"/>
                  <a:pt x="185128" y="0"/>
                </a:cubicBezTo>
                <a:lnTo>
                  <a:pt x="198351" y="0"/>
                </a:lnTo>
                <a:cubicBezTo>
                  <a:pt x="205666" y="0"/>
                  <a:pt x="211575" y="5909"/>
                  <a:pt x="211575" y="13223"/>
                </a:cubicBezTo>
                <a:close/>
                <a:moveTo>
                  <a:pt x="0" y="39670"/>
                </a:moveTo>
                <a:cubicBezTo>
                  <a:pt x="0" y="32356"/>
                  <a:pt x="5909" y="26447"/>
                  <a:pt x="13223" y="26447"/>
                </a:cubicBezTo>
                <a:lnTo>
                  <a:pt x="26447" y="26447"/>
                </a:lnTo>
                <a:cubicBezTo>
                  <a:pt x="77564" y="26447"/>
                  <a:pt x="119011" y="67894"/>
                  <a:pt x="119011" y="119011"/>
                </a:cubicBezTo>
                <a:lnTo>
                  <a:pt x="119011" y="198351"/>
                </a:lnTo>
                <a:cubicBezTo>
                  <a:pt x="119011" y="205666"/>
                  <a:pt x="113102" y="211575"/>
                  <a:pt x="105787" y="211575"/>
                </a:cubicBezTo>
                <a:cubicBezTo>
                  <a:pt x="98473" y="211575"/>
                  <a:pt x="92564" y="205666"/>
                  <a:pt x="92564" y="198351"/>
                </a:cubicBezTo>
                <a:lnTo>
                  <a:pt x="92564" y="132234"/>
                </a:lnTo>
                <a:cubicBezTo>
                  <a:pt x="41447" y="132234"/>
                  <a:pt x="0" y="90787"/>
                  <a:pt x="0" y="39670"/>
                </a:cubicBezTo>
                <a:close/>
              </a:path>
            </a:pathLst>
          </a:custGeom>
          <a:solidFill>
            <a:srgbClr val="5f6f6b"/>
          </a:solidFill>
          <a:ln w="0">
            <a:noFill/>
          </a:ln>
        </p:spPr>
        <p:style>
          <a:lnRef idx="0"/>
          <a:fillRef idx="0"/>
          <a:effectRef idx="0"/>
          <a:fontRef idx="minor"/>
        </p:style>
      </p:sp>
      <p:sp>
        <p:nvSpPr>
          <p:cNvPr id="511" name="Text 16"/>
          <p:cNvSpPr/>
          <p:nvPr/>
        </p:nvSpPr>
        <p:spPr>
          <a:xfrm>
            <a:off x="5501880" y="2962080"/>
            <a:ext cx="2203200" cy="2106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10" spc="-1" strike="noStrike">
                <a:solidFill>
                  <a:srgbClr val="2f3e3b"/>
                </a:solidFill>
                <a:latin typeface="Quattrocento Sans"/>
                <a:ea typeface="Quattrocento Sans"/>
              </a:rPr>
              <a:t>Return</a:t>
            </a:r>
            <a:endParaRPr b="0" lang="en-HK" sz="1110" spc="-1" strike="noStrike">
              <a:latin typeface="Arial"/>
            </a:endParaRPr>
          </a:p>
        </p:txBody>
      </p:sp>
      <p:sp>
        <p:nvSpPr>
          <p:cNvPr id="512" name="Text 17"/>
          <p:cNvSpPr/>
          <p:nvPr/>
        </p:nvSpPr>
        <p:spPr>
          <a:xfrm>
            <a:off x="5506200" y="3209040"/>
            <a:ext cx="2194200" cy="1753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70" spc="-1" strike="noStrike">
                <a:solidFill>
                  <a:srgbClr val="5f6f6b"/>
                </a:solidFill>
                <a:latin typeface="Quattrocento Sans"/>
                <a:ea typeface="Quattrocento Sans"/>
              </a:rPr>
              <a:t>Nutrient release to soil for reuse</a:t>
            </a:r>
            <a:endParaRPr b="0" lang="en-HK" sz="970" spc="-1" strike="noStrike">
              <a:latin typeface="Arial"/>
            </a:endParaRPr>
          </a:p>
        </p:txBody>
      </p:sp>
      <p:sp>
        <p:nvSpPr>
          <p:cNvPr id="513" name="Shape 18"/>
          <p:cNvSpPr/>
          <p:nvPr/>
        </p:nvSpPr>
        <p:spPr>
          <a:xfrm>
            <a:off x="352800" y="3808440"/>
            <a:ext cx="3728160" cy="3049200"/>
          </a:xfrm>
          <a:custGeom>
            <a:avLst/>
            <a:gdLst/>
            <a:ahLst/>
            <a:rect l="l" t="t" r="r" b="b"/>
            <a:pathLst>
              <a:path w="3729007" h="3050204">
                <a:moveTo>
                  <a:pt x="105781" y="0"/>
                </a:moveTo>
                <a:lnTo>
                  <a:pt x="3623225" y="0"/>
                </a:lnTo>
                <a:cubicBezTo>
                  <a:pt x="3681647" y="0"/>
                  <a:pt x="3729007" y="47360"/>
                  <a:pt x="3729007" y="105781"/>
                </a:cubicBezTo>
                <a:lnTo>
                  <a:pt x="3729007" y="2944423"/>
                </a:lnTo>
                <a:cubicBezTo>
                  <a:pt x="3729007" y="3002844"/>
                  <a:pt x="3681647" y="3050204"/>
                  <a:pt x="3623225" y="3050204"/>
                </a:cubicBezTo>
                <a:lnTo>
                  <a:pt x="105781" y="3050204"/>
                </a:lnTo>
                <a:cubicBezTo>
                  <a:pt x="47360" y="3050204"/>
                  <a:pt x="0" y="3002844"/>
                  <a:pt x="0" y="2944423"/>
                </a:cubicBezTo>
                <a:lnTo>
                  <a:pt x="0" y="105781"/>
                </a:lnTo>
                <a:cubicBezTo>
                  <a:pt x="0" y="47399"/>
                  <a:pt x="47399" y="0"/>
                  <a:pt x="105781"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514" name="Text 19"/>
          <p:cNvSpPr/>
          <p:nvPr/>
        </p:nvSpPr>
        <p:spPr>
          <a:xfrm>
            <a:off x="493560" y="3949560"/>
            <a:ext cx="3525480" cy="245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2f3e3b"/>
                </a:solidFill>
                <a:latin typeface="Sorts Mill Goudy"/>
                <a:ea typeface="Sorts Mill Goudy"/>
              </a:rPr>
              <a:t>Species-Specific Strategies</a:t>
            </a:r>
            <a:endParaRPr b="0" lang="en-HK" sz="1250" spc="-1" strike="noStrike">
              <a:latin typeface="Arial"/>
            </a:endParaRPr>
          </a:p>
        </p:txBody>
      </p:sp>
      <p:sp>
        <p:nvSpPr>
          <p:cNvPr id="515" name="Shape 20"/>
          <p:cNvSpPr/>
          <p:nvPr/>
        </p:nvSpPr>
        <p:spPr>
          <a:xfrm>
            <a:off x="493560" y="4302000"/>
            <a:ext cx="3446280" cy="457200"/>
          </a:xfrm>
          <a:custGeom>
            <a:avLst/>
            <a:gdLst/>
            <a:ahLst/>
            <a:rect l="l" t="t" r="r" b="b"/>
            <a:pathLst>
              <a:path w="3446907" h="458412">
                <a:moveTo>
                  <a:pt x="70527" y="0"/>
                </a:moveTo>
                <a:lnTo>
                  <a:pt x="3376380" y="0"/>
                </a:lnTo>
                <a:cubicBezTo>
                  <a:pt x="3415331" y="0"/>
                  <a:pt x="3446907" y="31576"/>
                  <a:pt x="3446907" y="70527"/>
                </a:cubicBezTo>
                <a:lnTo>
                  <a:pt x="3446907" y="387885"/>
                </a:lnTo>
                <a:cubicBezTo>
                  <a:pt x="3446907" y="426836"/>
                  <a:pt x="3415331" y="458412"/>
                  <a:pt x="3376380" y="458412"/>
                </a:cubicBezTo>
                <a:lnTo>
                  <a:pt x="70527" y="458412"/>
                </a:lnTo>
                <a:cubicBezTo>
                  <a:pt x="31602" y="458412"/>
                  <a:pt x="0" y="426810"/>
                  <a:pt x="0" y="387885"/>
                </a:cubicBezTo>
                <a:lnTo>
                  <a:pt x="0" y="70527"/>
                </a:lnTo>
                <a:cubicBezTo>
                  <a:pt x="0" y="31602"/>
                  <a:pt x="31602" y="0"/>
                  <a:pt x="70527" y="0"/>
                </a:cubicBezTo>
                <a:close/>
              </a:path>
            </a:pathLst>
          </a:custGeom>
          <a:solidFill>
            <a:srgbClr val="4c8a7a">
              <a:alpha val="10000"/>
            </a:srgbClr>
          </a:solidFill>
          <a:ln w="0">
            <a:noFill/>
          </a:ln>
        </p:spPr>
        <p:style>
          <a:lnRef idx="0"/>
          <a:fillRef idx="0"/>
          <a:effectRef idx="0"/>
          <a:fontRef idx="minor"/>
        </p:style>
      </p:sp>
      <p:sp>
        <p:nvSpPr>
          <p:cNvPr id="516" name="Text 21"/>
          <p:cNvSpPr/>
          <p:nvPr/>
        </p:nvSpPr>
        <p:spPr>
          <a:xfrm>
            <a:off x="564120" y="4372560"/>
            <a:ext cx="3366720" cy="17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Nitrogen Fixers</a:t>
            </a:r>
            <a:endParaRPr b="0" lang="en-HK" sz="970" spc="-1" strike="noStrike">
              <a:latin typeface="Arial"/>
            </a:endParaRPr>
          </a:p>
        </p:txBody>
      </p:sp>
      <p:sp>
        <p:nvSpPr>
          <p:cNvPr id="517" name="Text 22"/>
          <p:cNvSpPr/>
          <p:nvPr/>
        </p:nvSpPr>
        <p:spPr>
          <a:xfrm>
            <a:off x="564120" y="4548960"/>
            <a:ext cx="3358080" cy="140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839" spc="-1" strike="noStrike">
                <a:solidFill>
                  <a:srgbClr val="5f6f6b"/>
                </a:solidFill>
                <a:latin typeface="Quattrocento Sans"/>
                <a:ea typeface="Quattrocento Sans"/>
              </a:rPr>
              <a:t>Legumes enhance soil N availability for neighbors</a:t>
            </a:r>
            <a:endParaRPr b="0" lang="en-HK" sz="839" spc="-1" strike="noStrike">
              <a:latin typeface="Arial"/>
            </a:endParaRPr>
          </a:p>
        </p:txBody>
      </p:sp>
      <p:sp>
        <p:nvSpPr>
          <p:cNvPr id="518" name="Shape 23"/>
          <p:cNvSpPr/>
          <p:nvPr/>
        </p:nvSpPr>
        <p:spPr>
          <a:xfrm>
            <a:off x="493560" y="4830840"/>
            <a:ext cx="3446280" cy="457200"/>
          </a:xfrm>
          <a:custGeom>
            <a:avLst/>
            <a:gdLst/>
            <a:ahLst/>
            <a:rect l="l" t="t" r="r" b="b"/>
            <a:pathLst>
              <a:path w="3446907" h="458412">
                <a:moveTo>
                  <a:pt x="70527" y="0"/>
                </a:moveTo>
                <a:lnTo>
                  <a:pt x="3376380" y="0"/>
                </a:lnTo>
                <a:cubicBezTo>
                  <a:pt x="3415331" y="0"/>
                  <a:pt x="3446907" y="31576"/>
                  <a:pt x="3446907" y="70527"/>
                </a:cubicBezTo>
                <a:lnTo>
                  <a:pt x="3446907" y="387885"/>
                </a:lnTo>
                <a:cubicBezTo>
                  <a:pt x="3446907" y="426836"/>
                  <a:pt x="3415331" y="458412"/>
                  <a:pt x="3376380" y="458412"/>
                </a:cubicBezTo>
                <a:lnTo>
                  <a:pt x="70527" y="458412"/>
                </a:lnTo>
                <a:cubicBezTo>
                  <a:pt x="31602" y="458412"/>
                  <a:pt x="0" y="426810"/>
                  <a:pt x="0" y="387885"/>
                </a:cubicBezTo>
                <a:lnTo>
                  <a:pt x="0" y="70527"/>
                </a:lnTo>
                <a:cubicBezTo>
                  <a:pt x="0" y="31602"/>
                  <a:pt x="31602" y="0"/>
                  <a:pt x="70527" y="0"/>
                </a:cubicBezTo>
                <a:close/>
              </a:path>
            </a:pathLst>
          </a:custGeom>
          <a:solidFill>
            <a:srgbClr val="8fb7ac">
              <a:alpha val="10000"/>
            </a:srgbClr>
          </a:solidFill>
          <a:ln w="0">
            <a:noFill/>
          </a:ln>
        </p:spPr>
        <p:style>
          <a:lnRef idx="0"/>
          <a:fillRef idx="0"/>
          <a:effectRef idx="0"/>
          <a:fontRef idx="minor"/>
        </p:style>
      </p:sp>
      <p:sp>
        <p:nvSpPr>
          <p:cNvPr id="519" name="Text 24"/>
          <p:cNvSpPr/>
          <p:nvPr/>
        </p:nvSpPr>
        <p:spPr>
          <a:xfrm>
            <a:off x="564120" y="4901400"/>
            <a:ext cx="3366720" cy="17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Phosphorus Specialists</a:t>
            </a:r>
            <a:endParaRPr b="0" lang="en-HK" sz="970" spc="-1" strike="noStrike">
              <a:latin typeface="Arial"/>
            </a:endParaRPr>
          </a:p>
        </p:txBody>
      </p:sp>
      <p:sp>
        <p:nvSpPr>
          <p:cNvPr id="520" name="Text 25"/>
          <p:cNvSpPr/>
          <p:nvPr/>
        </p:nvSpPr>
        <p:spPr>
          <a:xfrm>
            <a:off x="564120" y="5077800"/>
            <a:ext cx="3358080" cy="140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839" spc="-1" strike="noStrike">
                <a:solidFill>
                  <a:srgbClr val="5f6f6b"/>
                </a:solidFill>
                <a:latin typeface="Quattrocento Sans"/>
                <a:ea typeface="Quattrocento Sans"/>
              </a:rPr>
              <a:t>Mycorrhizal associations improve P uptake</a:t>
            </a:r>
            <a:endParaRPr b="0" lang="en-HK" sz="839" spc="-1" strike="noStrike">
              <a:latin typeface="Arial"/>
            </a:endParaRPr>
          </a:p>
        </p:txBody>
      </p:sp>
      <p:sp>
        <p:nvSpPr>
          <p:cNvPr id="521" name="Shape 26"/>
          <p:cNvSpPr/>
          <p:nvPr/>
        </p:nvSpPr>
        <p:spPr>
          <a:xfrm>
            <a:off x="493560" y="5360040"/>
            <a:ext cx="3446280" cy="457200"/>
          </a:xfrm>
          <a:custGeom>
            <a:avLst/>
            <a:gdLst/>
            <a:ahLst/>
            <a:rect l="l" t="t" r="r" b="b"/>
            <a:pathLst>
              <a:path w="3446907" h="458412">
                <a:moveTo>
                  <a:pt x="70527" y="0"/>
                </a:moveTo>
                <a:lnTo>
                  <a:pt x="3376380" y="0"/>
                </a:lnTo>
                <a:cubicBezTo>
                  <a:pt x="3415331" y="0"/>
                  <a:pt x="3446907" y="31576"/>
                  <a:pt x="3446907" y="70527"/>
                </a:cubicBezTo>
                <a:lnTo>
                  <a:pt x="3446907" y="387885"/>
                </a:lnTo>
                <a:cubicBezTo>
                  <a:pt x="3446907" y="426836"/>
                  <a:pt x="3415331" y="458412"/>
                  <a:pt x="3376380" y="458412"/>
                </a:cubicBezTo>
                <a:lnTo>
                  <a:pt x="70527" y="458412"/>
                </a:lnTo>
                <a:cubicBezTo>
                  <a:pt x="31602" y="458412"/>
                  <a:pt x="0" y="426810"/>
                  <a:pt x="0" y="387885"/>
                </a:cubicBezTo>
                <a:lnTo>
                  <a:pt x="0" y="70527"/>
                </a:lnTo>
                <a:cubicBezTo>
                  <a:pt x="0" y="31602"/>
                  <a:pt x="31602" y="0"/>
                  <a:pt x="70527" y="0"/>
                </a:cubicBezTo>
                <a:close/>
              </a:path>
            </a:pathLst>
          </a:custGeom>
          <a:solidFill>
            <a:srgbClr val="5f6f6b">
              <a:alpha val="10000"/>
            </a:srgbClr>
          </a:solidFill>
          <a:ln w="0">
            <a:noFill/>
          </a:ln>
        </p:spPr>
        <p:style>
          <a:lnRef idx="0"/>
          <a:fillRef idx="0"/>
          <a:effectRef idx="0"/>
          <a:fontRef idx="minor"/>
        </p:style>
      </p:sp>
      <p:sp>
        <p:nvSpPr>
          <p:cNvPr id="522" name="Text 27"/>
          <p:cNvSpPr/>
          <p:nvPr/>
        </p:nvSpPr>
        <p:spPr>
          <a:xfrm>
            <a:off x="564120" y="5430600"/>
            <a:ext cx="3366720" cy="17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Conservative Species</a:t>
            </a:r>
            <a:endParaRPr b="0" lang="en-HK" sz="970" spc="-1" strike="noStrike">
              <a:latin typeface="Arial"/>
            </a:endParaRPr>
          </a:p>
        </p:txBody>
      </p:sp>
      <p:sp>
        <p:nvSpPr>
          <p:cNvPr id="523" name="Text 28"/>
          <p:cNvSpPr/>
          <p:nvPr/>
        </p:nvSpPr>
        <p:spPr>
          <a:xfrm>
            <a:off x="564120" y="5606640"/>
            <a:ext cx="3358080" cy="140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839" spc="-1" strike="noStrike">
                <a:solidFill>
                  <a:srgbClr val="5f6f6b"/>
                </a:solidFill>
                <a:latin typeface="Quattrocento Sans"/>
                <a:ea typeface="Quattrocento Sans"/>
              </a:rPr>
              <a:t>Slow growth, nutrient retention, high lignin litter</a:t>
            </a:r>
            <a:endParaRPr b="0" lang="en-HK" sz="839" spc="-1" strike="noStrike">
              <a:latin typeface="Arial"/>
            </a:endParaRPr>
          </a:p>
        </p:txBody>
      </p:sp>
      <p:sp>
        <p:nvSpPr>
          <p:cNvPr id="524" name="Shape 29"/>
          <p:cNvSpPr/>
          <p:nvPr/>
        </p:nvSpPr>
        <p:spPr>
          <a:xfrm>
            <a:off x="4223160" y="3808440"/>
            <a:ext cx="3728160" cy="3049200"/>
          </a:xfrm>
          <a:custGeom>
            <a:avLst/>
            <a:gdLst/>
            <a:ahLst/>
            <a:rect l="l" t="t" r="r" b="b"/>
            <a:pathLst>
              <a:path w="3729007" h="3050204">
                <a:moveTo>
                  <a:pt x="105781" y="0"/>
                </a:moveTo>
                <a:lnTo>
                  <a:pt x="3623225" y="0"/>
                </a:lnTo>
                <a:cubicBezTo>
                  <a:pt x="3681647" y="0"/>
                  <a:pt x="3729007" y="47360"/>
                  <a:pt x="3729007" y="105781"/>
                </a:cubicBezTo>
                <a:lnTo>
                  <a:pt x="3729007" y="2944423"/>
                </a:lnTo>
                <a:cubicBezTo>
                  <a:pt x="3729007" y="3002844"/>
                  <a:pt x="3681647" y="3050204"/>
                  <a:pt x="3623225" y="3050204"/>
                </a:cubicBezTo>
                <a:lnTo>
                  <a:pt x="105781" y="3050204"/>
                </a:lnTo>
                <a:cubicBezTo>
                  <a:pt x="47360" y="3050204"/>
                  <a:pt x="0" y="3002844"/>
                  <a:pt x="0" y="2944423"/>
                </a:cubicBezTo>
                <a:lnTo>
                  <a:pt x="0" y="105781"/>
                </a:lnTo>
                <a:cubicBezTo>
                  <a:pt x="0" y="47399"/>
                  <a:pt x="47399" y="0"/>
                  <a:pt x="105781"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525" name="Text 30"/>
          <p:cNvSpPr/>
          <p:nvPr/>
        </p:nvSpPr>
        <p:spPr>
          <a:xfrm>
            <a:off x="4364280" y="3949560"/>
            <a:ext cx="3525480" cy="245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2f3e3b"/>
                </a:solidFill>
                <a:latin typeface="Sorts Mill Goudy"/>
                <a:ea typeface="Sorts Mill Goudy"/>
              </a:rPr>
              <a:t>Biome Variation</a:t>
            </a:r>
            <a:endParaRPr b="0" lang="en-HK" sz="1250" spc="-1" strike="noStrike">
              <a:latin typeface="Arial"/>
            </a:endParaRPr>
          </a:p>
        </p:txBody>
      </p:sp>
      <p:sp>
        <p:nvSpPr>
          <p:cNvPr id="526" name="Shape 31"/>
          <p:cNvSpPr/>
          <p:nvPr/>
        </p:nvSpPr>
        <p:spPr>
          <a:xfrm>
            <a:off x="4364280" y="4302000"/>
            <a:ext cx="3446280" cy="316440"/>
          </a:xfrm>
          <a:custGeom>
            <a:avLst/>
            <a:gdLst/>
            <a:ahLst/>
            <a:rect l="l" t="t" r="r" b="b"/>
            <a:pathLst>
              <a:path w="3446907" h="317362">
                <a:moveTo>
                  <a:pt x="70524" y="0"/>
                </a:moveTo>
                <a:lnTo>
                  <a:pt x="3376382" y="0"/>
                </a:lnTo>
                <a:cubicBezTo>
                  <a:pt x="3415332" y="0"/>
                  <a:pt x="3446907" y="31575"/>
                  <a:pt x="3446907" y="70524"/>
                </a:cubicBezTo>
                <a:lnTo>
                  <a:pt x="3446907" y="246838"/>
                </a:lnTo>
                <a:cubicBezTo>
                  <a:pt x="3446907" y="285787"/>
                  <a:pt x="3415332" y="317362"/>
                  <a:pt x="3376382" y="317362"/>
                </a:cubicBezTo>
                <a:lnTo>
                  <a:pt x="70524" y="317362"/>
                </a:lnTo>
                <a:cubicBezTo>
                  <a:pt x="31575" y="317362"/>
                  <a:pt x="0" y="285787"/>
                  <a:pt x="0" y="246838"/>
                </a:cubicBezTo>
                <a:lnTo>
                  <a:pt x="0" y="70524"/>
                </a:lnTo>
                <a:cubicBezTo>
                  <a:pt x="0" y="31601"/>
                  <a:pt x="31601" y="0"/>
                  <a:pt x="70524" y="0"/>
                </a:cubicBezTo>
                <a:close/>
              </a:path>
            </a:pathLst>
          </a:custGeom>
          <a:solidFill>
            <a:srgbClr val="f5f7f6"/>
          </a:solidFill>
          <a:ln w="0">
            <a:noFill/>
          </a:ln>
        </p:spPr>
        <p:style>
          <a:lnRef idx="0"/>
          <a:fillRef idx="0"/>
          <a:effectRef idx="0"/>
          <a:fontRef idx="minor"/>
        </p:style>
      </p:sp>
      <p:sp>
        <p:nvSpPr>
          <p:cNvPr id="527" name="Text 32"/>
          <p:cNvSpPr/>
          <p:nvPr/>
        </p:nvSpPr>
        <p:spPr>
          <a:xfrm>
            <a:off x="4434840" y="4372560"/>
            <a:ext cx="492480" cy="17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Tropical</a:t>
            </a:r>
            <a:endParaRPr b="0" lang="en-HK" sz="970" spc="-1" strike="noStrike">
              <a:latin typeface="Arial"/>
            </a:endParaRPr>
          </a:p>
        </p:txBody>
      </p:sp>
      <p:sp>
        <p:nvSpPr>
          <p:cNvPr id="528" name="Text 33"/>
          <p:cNvSpPr/>
          <p:nvPr/>
        </p:nvSpPr>
        <p:spPr>
          <a:xfrm>
            <a:off x="6060600" y="4372560"/>
            <a:ext cx="1744560" cy="17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70" spc="-1" strike="noStrike">
                <a:solidFill>
                  <a:srgbClr val="5f6f6b"/>
                </a:solidFill>
                <a:latin typeface="Quattrocento Sans"/>
                <a:ea typeface="Quattrocento Sans"/>
              </a:rPr>
              <a:t>Rapid cycling, low soil nutrients</a:t>
            </a:r>
            <a:endParaRPr b="0" lang="en-HK" sz="970" spc="-1" strike="noStrike">
              <a:latin typeface="Arial"/>
            </a:endParaRPr>
          </a:p>
        </p:txBody>
      </p:sp>
      <p:sp>
        <p:nvSpPr>
          <p:cNvPr id="529" name="Shape 34"/>
          <p:cNvSpPr/>
          <p:nvPr/>
        </p:nvSpPr>
        <p:spPr>
          <a:xfrm>
            <a:off x="4364280" y="4725000"/>
            <a:ext cx="3446280" cy="316440"/>
          </a:xfrm>
          <a:custGeom>
            <a:avLst/>
            <a:gdLst/>
            <a:ahLst/>
            <a:rect l="l" t="t" r="r" b="b"/>
            <a:pathLst>
              <a:path w="3446907" h="317362">
                <a:moveTo>
                  <a:pt x="70524" y="0"/>
                </a:moveTo>
                <a:lnTo>
                  <a:pt x="3376382" y="0"/>
                </a:lnTo>
                <a:cubicBezTo>
                  <a:pt x="3415332" y="0"/>
                  <a:pt x="3446907" y="31575"/>
                  <a:pt x="3446907" y="70524"/>
                </a:cubicBezTo>
                <a:lnTo>
                  <a:pt x="3446907" y="246838"/>
                </a:lnTo>
                <a:cubicBezTo>
                  <a:pt x="3446907" y="285787"/>
                  <a:pt x="3415332" y="317362"/>
                  <a:pt x="3376382" y="317362"/>
                </a:cubicBezTo>
                <a:lnTo>
                  <a:pt x="70524" y="317362"/>
                </a:lnTo>
                <a:cubicBezTo>
                  <a:pt x="31575" y="317362"/>
                  <a:pt x="0" y="285787"/>
                  <a:pt x="0" y="246838"/>
                </a:cubicBezTo>
                <a:lnTo>
                  <a:pt x="0" y="70524"/>
                </a:lnTo>
                <a:cubicBezTo>
                  <a:pt x="0" y="31601"/>
                  <a:pt x="31601" y="0"/>
                  <a:pt x="70524" y="0"/>
                </a:cubicBezTo>
                <a:close/>
              </a:path>
            </a:pathLst>
          </a:custGeom>
          <a:solidFill>
            <a:srgbClr val="f5f7f6"/>
          </a:solidFill>
          <a:ln w="0">
            <a:noFill/>
          </a:ln>
        </p:spPr>
        <p:style>
          <a:lnRef idx="0"/>
          <a:fillRef idx="0"/>
          <a:effectRef idx="0"/>
          <a:fontRef idx="minor"/>
        </p:style>
      </p:sp>
      <p:sp>
        <p:nvSpPr>
          <p:cNvPr id="530" name="Text 35"/>
          <p:cNvSpPr/>
          <p:nvPr/>
        </p:nvSpPr>
        <p:spPr>
          <a:xfrm>
            <a:off x="4434840" y="4795560"/>
            <a:ext cx="642600" cy="17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Temperate</a:t>
            </a:r>
            <a:endParaRPr b="0" lang="en-HK" sz="970" spc="-1" strike="noStrike">
              <a:latin typeface="Arial"/>
            </a:endParaRPr>
          </a:p>
        </p:txBody>
      </p:sp>
      <p:sp>
        <p:nvSpPr>
          <p:cNvPr id="531" name="Text 36"/>
          <p:cNvSpPr/>
          <p:nvPr/>
        </p:nvSpPr>
        <p:spPr>
          <a:xfrm>
            <a:off x="5828760" y="4795560"/>
            <a:ext cx="1973520" cy="17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70" spc="-1" strike="noStrike">
                <a:solidFill>
                  <a:srgbClr val="5f6f6b"/>
                </a:solidFill>
                <a:latin typeface="Quattrocento Sans"/>
                <a:ea typeface="Quattrocento Sans"/>
              </a:rPr>
              <a:t>Moderate cycling, seasonal patterns</a:t>
            </a:r>
            <a:endParaRPr b="0" lang="en-HK" sz="970" spc="-1" strike="noStrike">
              <a:latin typeface="Arial"/>
            </a:endParaRPr>
          </a:p>
        </p:txBody>
      </p:sp>
      <p:sp>
        <p:nvSpPr>
          <p:cNvPr id="532" name="Shape 37"/>
          <p:cNvSpPr/>
          <p:nvPr/>
        </p:nvSpPr>
        <p:spPr>
          <a:xfrm>
            <a:off x="4364280" y="5148360"/>
            <a:ext cx="3446280" cy="316440"/>
          </a:xfrm>
          <a:custGeom>
            <a:avLst/>
            <a:gdLst/>
            <a:ahLst/>
            <a:rect l="l" t="t" r="r" b="b"/>
            <a:pathLst>
              <a:path w="3446907" h="317362">
                <a:moveTo>
                  <a:pt x="70524" y="0"/>
                </a:moveTo>
                <a:lnTo>
                  <a:pt x="3376382" y="0"/>
                </a:lnTo>
                <a:cubicBezTo>
                  <a:pt x="3415332" y="0"/>
                  <a:pt x="3446907" y="31575"/>
                  <a:pt x="3446907" y="70524"/>
                </a:cubicBezTo>
                <a:lnTo>
                  <a:pt x="3446907" y="246838"/>
                </a:lnTo>
                <a:cubicBezTo>
                  <a:pt x="3446907" y="285787"/>
                  <a:pt x="3415332" y="317362"/>
                  <a:pt x="3376382" y="317362"/>
                </a:cubicBezTo>
                <a:lnTo>
                  <a:pt x="70524" y="317362"/>
                </a:lnTo>
                <a:cubicBezTo>
                  <a:pt x="31575" y="317362"/>
                  <a:pt x="0" y="285787"/>
                  <a:pt x="0" y="246838"/>
                </a:cubicBezTo>
                <a:lnTo>
                  <a:pt x="0" y="70524"/>
                </a:lnTo>
                <a:cubicBezTo>
                  <a:pt x="0" y="31601"/>
                  <a:pt x="31601" y="0"/>
                  <a:pt x="70524" y="0"/>
                </a:cubicBezTo>
                <a:close/>
              </a:path>
            </a:pathLst>
          </a:custGeom>
          <a:solidFill>
            <a:srgbClr val="f5f7f6"/>
          </a:solidFill>
          <a:ln w="0">
            <a:noFill/>
          </a:ln>
        </p:spPr>
        <p:style>
          <a:lnRef idx="0"/>
          <a:fillRef idx="0"/>
          <a:effectRef idx="0"/>
          <a:fontRef idx="minor"/>
        </p:style>
      </p:sp>
      <p:sp>
        <p:nvSpPr>
          <p:cNvPr id="533" name="Text 38"/>
          <p:cNvSpPr/>
          <p:nvPr/>
        </p:nvSpPr>
        <p:spPr>
          <a:xfrm>
            <a:off x="4434840" y="5218920"/>
            <a:ext cx="395640" cy="17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Boreal</a:t>
            </a:r>
            <a:endParaRPr b="0" lang="en-HK" sz="970" spc="-1" strike="noStrike">
              <a:latin typeface="Arial"/>
            </a:endParaRPr>
          </a:p>
        </p:txBody>
      </p:sp>
      <p:sp>
        <p:nvSpPr>
          <p:cNvPr id="534" name="Text 39"/>
          <p:cNvSpPr/>
          <p:nvPr/>
        </p:nvSpPr>
        <p:spPr>
          <a:xfrm>
            <a:off x="5975280" y="5218920"/>
            <a:ext cx="1823760" cy="17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70" spc="-1" strike="noStrike">
                <a:solidFill>
                  <a:srgbClr val="5f6f6b"/>
                </a:solidFill>
                <a:latin typeface="Quattrocento Sans"/>
                <a:ea typeface="Quattrocento Sans"/>
              </a:rPr>
              <a:t>Slow cycling, high organic matter</a:t>
            </a:r>
            <a:endParaRPr b="0" lang="en-HK" sz="970" spc="-1" strike="noStrike">
              <a:latin typeface="Arial"/>
            </a:endParaRPr>
          </a:p>
        </p:txBody>
      </p:sp>
      <p:sp>
        <p:nvSpPr>
          <p:cNvPr id="535" name="Text 40"/>
          <p:cNvSpPr/>
          <p:nvPr/>
        </p:nvSpPr>
        <p:spPr>
          <a:xfrm>
            <a:off x="4364280" y="5571360"/>
            <a:ext cx="3499200" cy="140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839" spc="-1" strike="noStrike">
                <a:solidFill>
                  <a:srgbClr val="5f6f6b"/>
                </a:solidFill>
                <a:latin typeface="Quattrocento Sans"/>
                <a:ea typeface="Quattrocento Sans"/>
              </a:rPr>
              <a:t>Climate is the primary driver of nutrient cycling rates</a:t>
            </a:r>
            <a:endParaRPr b="0" lang="en-HK" sz="839" spc="-1" strike="noStrike">
              <a:latin typeface="Arial"/>
            </a:endParaRPr>
          </a:p>
        </p:txBody>
      </p:sp>
      <p:sp>
        <p:nvSpPr>
          <p:cNvPr id="536" name="Shape 41"/>
          <p:cNvSpPr/>
          <p:nvPr/>
        </p:nvSpPr>
        <p:spPr>
          <a:xfrm>
            <a:off x="8129520" y="1445760"/>
            <a:ext cx="3710520" cy="1955880"/>
          </a:xfrm>
          <a:custGeom>
            <a:avLst/>
            <a:gdLst/>
            <a:ahLst/>
            <a:rect l="l" t="t" r="r" b="b"/>
            <a:pathLst>
              <a:path w="3711375" h="1957067">
                <a:moveTo>
                  <a:pt x="105779" y="0"/>
                </a:moveTo>
                <a:lnTo>
                  <a:pt x="3605596" y="0"/>
                </a:lnTo>
                <a:cubicBezTo>
                  <a:pt x="3664016" y="0"/>
                  <a:pt x="3711375" y="47359"/>
                  <a:pt x="3711375" y="105779"/>
                </a:cubicBezTo>
                <a:lnTo>
                  <a:pt x="3711375" y="1851288"/>
                </a:lnTo>
                <a:cubicBezTo>
                  <a:pt x="3711375" y="1909708"/>
                  <a:pt x="3664016" y="1957067"/>
                  <a:pt x="3605596" y="1957067"/>
                </a:cubicBezTo>
                <a:lnTo>
                  <a:pt x="105779" y="1957067"/>
                </a:lnTo>
                <a:cubicBezTo>
                  <a:pt x="47359" y="1957067"/>
                  <a:pt x="0" y="1909708"/>
                  <a:pt x="0" y="1851288"/>
                </a:cubicBezTo>
                <a:lnTo>
                  <a:pt x="0" y="105779"/>
                </a:lnTo>
                <a:cubicBezTo>
                  <a:pt x="0" y="47398"/>
                  <a:pt x="47398" y="0"/>
                  <a:pt x="105779" y="0"/>
                </a:cubicBezTo>
                <a:close/>
              </a:path>
            </a:pathLst>
          </a:custGeom>
          <a:solidFill>
            <a:srgbClr val="4c8a7a"/>
          </a:solidFill>
          <a:ln w="0">
            <a:noFill/>
          </a:ln>
        </p:spPr>
        <p:style>
          <a:lnRef idx="0"/>
          <a:fillRef idx="0"/>
          <a:effectRef idx="0"/>
          <a:fontRef idx="minor"/>
        </p:style>
      </p:sp>
      <p:sp>
        <p:nvSpPr>
          <p:cNvPr id="537" name="Text 42"/>
          <p:cNvSpPr/>
          <p:nvPr/>
        </p:nvSpPr>
        <p:spPr>
          <a:xfrm>
            <a:off x="8305560" y="1622160"/>
            <a:ext cx="3437280" cy="245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ffffff"/>
                </a:solidFill>
                <a:latin typeface="Sorts Mill Goudy"/>
                <a:ea typeface="Sorts Mill Goudy"/>
              </a:rPr>
              <a:t>Litter Quality Effects</a:t>
            </a:r>
            <a:endParaRPr b="0" lang="en-HK" sz="1250" spc="-1" strike="noStrike">
              <a:latin typeface="Arial"/>
            </a:endParaRPr>
          </a:p>
        </p:txBody>
      </p:sp>
      <p:sp>
        <p:nvSpPr>
          <p:cNvPr id="538" name="Text 43"/>
          <p:cNvSpPr/>
          <p:nvPr/>
        </p:nvSpPr>
        <p:spPr>
          <a:xfrm>
            <a:off x="8305560" y="1974600"/>
            <a:ext cx="3428640" cy="228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ffffff"/>
                </a:solidFill>
                <a:latin typeface="Quattrocento Sans"/>
                <a:ea typeface="Quattrocento Sans"/>
              </a:rPr>
              <a:t>Litter chemistry determines decomposition rates:</a:t>
            </a:r>
            <a:endParaRPr b="0" lang="en-HK" sz="1110" spc="-1" strike="noStrike">
              <a:latin typeface="Arial"/>
            </a:endParaRPr>
          </a:p>
        </p:txBody>
      </p:sp>
      <p:sp>
        <p:nvSpPr>
          <p:cNvPr id="539" name="Shape 44"/>
          <p:cNvSpPr/>
          <p:nvPr/>
        </p:nvSpPr>
        <p:spPr>
          <a:xfrm>
            <a:off x="8318880" y="2345040"/>
            <a:ext cx="122400" cy="140040"/>
          </a:xfrm>
          <a:custGeom>
            <a:avLst/>
            <a:gdLst/>
            <a:ahLst/>
            <a:rect l="l" t="t" r="r" b="b"/>
            <a:pathLst>
              <a:path w="123419" h="141050">
                <a:moveTo>
                  <a:pt x="93335" y="-2727"/>
                </a:moveTo>
                <a:cubicBezTo>
                  <a:pt x="96614" y="-358"/>
                  <a:pt x="97826" y="3939"/>
                  <a:pt x="96338" y="7686"/>
                </a:cubicBezTo>
                <a:lnTo>
                  <a:pt x="74740" y="61709"/>
                </a:lnTo>
                <a:lnTo>
                  <a:pt x="114603" y="61709"/>
                </a:lnTo>
                <a:cubicBezTo>
                  <a:pt x="118322" y="61709"/>
                  <a:pt x="121628" y="64023"/>
                  <a:pt x="122895" y="67522"/>
                </a:cubicBezTo>
                <a:cubicBezTo>
                  <a:pt x="124162" y="71021"/>
                  <a:pt x="123088" y="74933"/>
                  <a:pt x="120251" y="77302"/>
                </a:cubicBezTo>
                <a:lnTo>
                  <a:pt x="40910" y="143419"/>
                </a:lnTo>
                <a:cubicBezTo>
                  <a:pt x="37797" y="146009"/>
                  <a:pt x="33362" y="146146"/>
                  <a:pt x="30083" y="143777"/>
                </a:cubicBezTo>
                <a:cubicBezTo>
                  <a:pt x="26805" y="141408"/>
                  <a:pt x="25593" y="137110"/>
                  <a:pt x="27080" y="133364"/>
                </a:cubicBezTo>
                <a:lnTo>
                  <a:pt x="48679" y="79341"/>
                </a:lnTo>
                <a:lnTo>
                  <a:pt x="8816" y="79341"/>
                </a:lnTo>
                <a:cubicBezTo>
                  <a:pt x="5097" y="79341"/>
                  <a:pt x="1791" y="77026"/>
                  <a:pt x="523" y="73528"/>
                </a:cubicBezTo>
                <a:cubicBezTo>
                  <a:pt x="-744" y="70029"/>
                  <a:pt x="331" y="66117"/>
                  <a:pt x="3168" y="63748"/>
                </a:cubicBezTo>
                <a:lnTo>
                  <a:pt x="82509" y="-2369"/>
                </a:lnTo>
                <a:cubicBezTo>
                  <a:pt x="85622" y="-4959"/>
                  <a:pt x="90057" y="-5097"/>
                  <a:pt x="93335" y="-2727"/>
                </a:cubicBezTo>
                <a:close/>
              </a:path>
            </a:pathLst>
          </a:custGeom>
          <a:solidFill>
            <a:srgbClr val="ffffff"/>
          </a:solidFill>
          <a:ln w="0">
            <a:noFill/>
          </a:ln>
        </p:spPr>
        <p:style>
          <a:lnRef idx="0"/>
          <a:fillRef idx="0"/>
          <a:effectRef idx="0"/>
          <a:fontRef idx="minor"/>
        </p:style>
      </p:sp>
      <p:sp>
        <p:nvSpPr>
          <p:cNvPr id="540" name="Text 45"/>
          <p:cNvSpPr/>
          <p:nvPr/>
        </p:nvSpPr>
        <p:spPr>
          <a:xfrm>
            <a:off x="8526240" y="2309760"/>
            <a:ext cx="3208320" cy="421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ffffff"/>
                </a:solidFill>
                <a:latin typeface="Quattrocento Sans"/>
                <a:ea typeface="Quattrocento Sans"/>
              </a:rPr>
              <a:t>High-quality litter:</a:t>
            </a:r>
            <a:r>
              <a:rPr b="0" lang="en-US" sz="1110" spc="-1" strike="noStrike">
                <a:solidFill>
                  <a:srgbClr val="ffffff"/>
                </a:solidFill>
                <a:latin typeface="Quattrocento Sans"/>
                <a:ea typeface="Quattrocento Sans"/>
              </a:rPr>
              <a:t> Fast decomposition, rapid nutrient release</a:t>
            </a:r>
            <a:endParaRPr b="0" lang="en-HK" sz="1110" spc="-1" strike="noStrike">
              <a:latin typeface="Arial"/>
            </a:endParaRPr>
          </a:p>
        </p:txBody>
      </p:sp>
      <p:sp>
        <p:nvSpPr>
          <p:cNvPr id="541" name="Shape 46"/>
          <p:cNvSpPr/>
          <p:nvPr/>
        </p:nvSpPr>
        <p:spPr>
          <a:xfrm>
            <a:off x="8323200" y="2838600"/>
            <a:ext cx="104760" cy="140040"/>
          </a:xfrm>
          <a:custGeom>
            <a:avLst/>
            <a:gdLst/>
            <a:ahLst/>
            <a:rect l="l" t="t" r="r" b="b"/>
            <a:pathLst>
              <a:path w="105787" h="141050">
                <a:moveTo>
                  <a:pt x="8816" y="0"/>
                </a:moveTo>
                <a:cubicBezTo>
                  <a:pt x="3939" y="0"/>
                  <a:pt x="0" y="3939"/>
                  <a:pt x="0" y="8816"/>
                </a:cubicBezTo>
                <a:cubicBezTo>
                  <a:pt x="0" y="13692"/>
                  <a:pt x="3939" y="17631"/>
                  <a:pt x="8816" y="17631"/>
                </a:cubicBezTo>
                <a:lnTo>
                  <a:pt x="8816" y="20662"/>
                </a:lnTo>
                <a:cubicBezTo>
                  <a:pt x="8816" y="32342"/>
                  <a:pt x="13471" y="43555"/>
                  <a:pt x="21736" y="51819"/>
                </a:cubicBezTo>
                <a:lnTo>
                  <a:pt x="40442" y="70525"/>
                </a:lnTo>
                <a:lnTo>
                  <a:pt x="21736" y="89231"/>
                </a:lnTo>
                <a:cubicBezTo>
                  <a:pt x="13471" y="97495"/>
                  <a:pt x="8816" y="108708"/>
                  <a:pt x="8816" y="120388"/>
                </a:cubicBezTo>
                <a:lnTo>
                  <a:pt x="8816" y="123419"/>
                </a:lnTo>
                <a:cubicBezTo>
                  <a:pt x="3939" y="123419"/>
                  <a:pt x="0" y="127358"/>
                  <a:pt x="0" y="132234"/>
                </a:cubicBezTo>
                <a:cubicBezTo>
                  <a:pt x="0" y="137110"/>
                  <a:pt x="3939" y="141050"/>
                  <a:pt x="8816" y="141050"/>
                </a:cubicBezTo>
                <a:lnTo>
                  <a:pt x="96972" y="141050"/>
                </a:lnTo>
                <a:cubicBezTo>
                  <a:pt x="101848" y="141050"/>
                  <a:pt x="105787" y="137110"/>
                  <a:pt x="105787" y="132234"/>
                </a:cubicBezTo>
                <a:cubicBezTo>
                  <a:pt x="105787" y="127358"/>
                  <a:pt x="101848" y="123419"/>
                  <a:pt x="96972" y="123419"/>
                </a:cubicBezTo>
                <a:lnTo>
                  <a:pt x="96972" y="120388"/>
                </a:lnTo>
                <a:cubicBezTo>
                  <a:pt x="96972" y="108708"/>
                  <a:pt x="92316" y="97495"/>
                  <a:pt x="84051" y="89231"/>
                </a:cubicBezTo>
                <a:lnTo>
                  <a:pt x="65346" y="70525"/>
                </a:lnTo>
                <a:lnTo>
                  <a:pt x="84051" y="51819"/>
                </a:lnTo>
                <a:cubicBezTo>
                  <a:pt x="92316" y="43555"/>
                  <a:pt x="96972" y="32342"/>
                  <a:pt x="96972" y="20662"/>
                </a:cubicBezTo>
                <a:lnTo>
                  <a:pt x="96972" y="17631"/>
                </a:lnTo>
                <a:cubicBezTo>
                  <a:pt x="101848" y="17631"/>
                  <a:pt x="105787" y="13692"/>
                  <a:pt x="105787" y="8816"/>
                </a:cubicBezTo>
                <a:cubicBezTo>
                  <a:pt x="105787" y="3939"/>
                  <a:pt x="101848" y="0"/>
                  <a:pt x="96972" y="0"/>
                </a:cubicBezTo>
                <a:lnTo>
                  <a:pt x="8816" y="0"/>
                </a:lnTo>
                <a:close/>
                <a:moveTo>
                  <a:pt x="26447" y="20662"/>
                </a:moveTo>
                <a:lnTo>
                  <a:pt x="26447" y="17631"/>
                </a:lnTo>
                <a:lnTo>
                  <a:pt x="79341" y="17631"/>
                </a:lnTo>
                <a:lnTo>
                  <a:pt x="79341" y="20662"/>
                </a:lnTo>
                <a:cubicBezTo>
                  <a:pt x="79341" y="25896"/>
                  <a:pt x="77798" y="30965"/>
                  <a:pt x="74933" y="35262"/>
                </a:cubicBezTo>
                <a:lnTo>
                  <a:pt x="30855" y="35262"/>
                </a:lnTo>
                <a:cubicBezTo>
                  <a:pt x="28017" y="30965"/>
                  <a:pt x="26447" y="25896"/>
                  <a:pt x="26447" y="20662"/>
                </a:cubicBezTo>
                <a:close/>
                <a:moveTo>
                  <a:pt x="30855" y="105787"/>
                </a:moveTo>
                <a:cubicBezTo>
                  <a:pt x="31819" y="104327"/>
                  <a:pt x="32948" y="102950"/>
                  <a:pt x="34188" y="101683"/>
                </a:cubicBezTo>
                <a:lnTo>
                  <a:pt x="52894" y="82977"/>
                </a:lnTo>
                <a:lnTo>
                  <a:pt x="71599" y="101683"/>
                </a:lnTo>
                <a:cubicBezTo>
                  <a:pt x="72867" y="102950"/>
                  <a:pt x="73969" y="104327"/>
                  <a:pt x="74960" y="105787"/>
                </a:cubicBezTo>
                <a:lnTo>
                  <a:pt x="30855" y="105787"/>
                </a:lnTo>
                <a:close/>
              </a:path>
            </a:pathLst>
          </a:custGeom>
          <a:solidFill>
            <a:srgbClr val="ffffff"/>
          </a:solidFill>
          <a:ln w="0">
            <a:noFill/>
          </a:ln>
        </p:spPr>
        <p:style>
          <a:lnRef idx="0"/>
          <a:fillRef idx="0"/>
          <a:effectRef idx="0"/>
          <a:fontRef idx="minor"/>
        </p:style>
      </p:sp>
      <p:sp>
        <p:nvSpPr>
          <p:cNvPr id="542" name="Text 47"/>
          <p:cNvSpPr/>
          <p:nvPr/>
        </p:nvSpPr>
        <p:spPr>
          <a:xfrm>
            <a:off x="8520480" y="2803320"/>
            <a:ext cx="3216960" cy="421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ffffff"/>
                </a:solidFill>
                <a:latin typeface="Quattrocento Sans"/>
                <a:ea typeface="Quattrocento Sans"/>
              </a:rPr>
              <a:t>Low-quality litter:</a:t>
            </a:r>
            <a:r>
              <a:rPr b="0" lang="en-US" sz="1110" spc="-1" strike="noStrike">
                <a:solidFill>
                  <a:srgbClr val="ffffff"/>
                </a:solidFill>
                <a:latin typeface="Quattrocento Sans"/>
                <a:ea typeface="Quattrocento Sans"/>
              </a:rPr>
              <a:t> Slow decomposition, nutrient immobilization</a:t>
            </a:r>
            <a:endParaRPr b="0" lang="en-HK" sz="1110" spc="-1" strike="noStrike">
              <a:latin typeface="Arial"/>
            </a:endParaRPr>
          </a:p>
        </p:txBody>
      </p:sp>
      <p:sp>
        <p:nvSpPr>
          <p:cNvPr id="543" name="Shape 48"/>
          <p:cNvSpPr/>
          <p:nvPr/>
        </p:nvSpPr>
        <p:spPr>
          <a:xfrm>
            <a:off x="8129160" y="3543840"/>
            <a:ext cx="3710520" cy="2326320"/>
          </a:xfrm>
          <a:custGeom>
            <a:avLst/>
            <a:gdLst/>
            <a:ahLst/>
            <a:rect l="l" t="t" r="r" b="b"/>
            <a:pathLst>
              <a:path w="3711375" h="2327323">
                <a:moveTo>
                  <a:pt x="105777" y="0"/>
                </a:moveTo>
                <a:lnTo>
                  <a:pt x="3605598" y="0"/>
                </a:lnTo>
                <a:cubicBezTo>
                  <a:pt x="3664017" y="0"/>
                  <a:pt x="3711375" y="47358"/>
                  <a:pt x="3711375" y="105777"/>
                </a:cubicBezTo>
                <a:lnTo>
                  <a:pt x="3711375" y="2221546"/>
                </a:lnTo>
                <a:cubicBezTo>
                  <a:pt x="3711375" y="2279965"/>
                  <a:pt x="3664017" y="2327323"/>
                  <a:pt x="3605598" y="2327323"/>
                </a:cubicBezTo>
                <a:lnTo>
                  <a:pt x="105777" y="2327323"/>
                </a:lnTo>
                <a:cubicBezTo>
                  <a:pt x="47358" y="2327323"/>
                  <a:pt x="0" y="2279965"/>
                  <a:pt x="0" y="2221546"/>
                </a:cubicBezTo>
                <a:lnTo>
                  <a:pt x="0" y="105777"/>
                </a:lnTo>
                <a:cubicBezTo>
                  <a:pt x="0" y="47397"/>
                  <a:pt x="47397" y="0"/>
                  <a:pt x="105777"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544" name="Text 49"/>
          <p:cNvSpPr/>
          <p:nvPr/>
        </p:nvSpPr>
        <p:spPr>
          <a:xfrm>
            <a:off x="8305560" y="3720240"/>
            <a:ext cx="3437280" cy="245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2f3e3b"/>
                </a:solidFill>
                <a:latin typeface="Sorts Mill Goudy"/>
                <a:ea typeface="Sorts Mill Goudy"/>
              </a:rPr>
              <a:t>Microbial Diversity</a:t>
            </a:r>
            <a:endParaRPr b="0" lang="en-HK" sz="1250" spc="-1" strike="noStrike">
              <a:latin typeface="Arial"/>
            </a:endParaRPr>
          </a:p>
        </p:txBody>
      </p:sp>
      <p:sp>
        <p:nvSpPr>
          <p:cNvPr id="545" name="Text 50"/>
          <p:cNvSpPr/>
          <p:nvPr/>
        </p:nvSpPr>
        <p:spPr>
          <a:xfrm>
            <a:off x="8305560" y="4072680"/>
            <a:ext cx="3428640" cy="457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1f2a28"/>
                </a:solidFill>
                <a:latin typeface="Quattrocento Sans"/>
                <a:ea typeface="Quattrocento Sans"/>
              </a:rPr>
              <a:t>Diverse forests support more diverse soil microbial communities, which:</a:t>
            </a:r>
            <a:endParaRPr b="0" lang="en-HK" sz="1110" spc="-1" strike="noStrike">
              <a:latin typeface="Arial"/>
            </a:endParaRPr>
          </a:p>
        </p:txBody>
      </p:sp>
      <p:sp>
        <p:nvSpPr>
          <p:cNvPr id="546" name="Shape 51"/>
          <p:cNvSpPr/>
          <p:nvPr/>
        </p:nvSpPr>
        <p:spPr>
          <a:xfrm>
            <a:off x="8332200" y="4672440"/>
            <a:ext cx="122400" cy="140040"/>
          </a:xfrm>
          <a:custGeom>
            <a:avLst/>
            <a:gdLst/>
            <a:ah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w="0">
            <a:noFill/>
          </a:ln>
        </p:spPr>
        <p:style>
          <a:lnRef idx="0"/>
          <a:fillRef idx="0"/>
          <a:effectRef idx="0"/>
          <a:fontRef idx="minor"/>
        </p:style>
      </p:sp>
      <p:sp>
        <p:nvSpPr>
          <p:cNvPr id="547" name="Text 52"/>
          <p:cNvSpPr/>
          <p:nvPr/>
        </p:nvSpPr>
        <p:spPr>
          <a:xfrm>
            <a:off x="8552520" y="4637160"/>
            <a:ext cx="1859040" cy="210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Control nitrogen cycling rates</a:t>
            </a:r>
            <a:endParaRPr b="0" lang="en-HK" sz="1110" spc="-1" strike="noStrike">
              <a:latin typeface="Arial"/>
            </a:endParaRPr>
          </a:p>
        </p:txBody>
      </p:sp>
      <p:sp>
        <p:nvSpPr>
          <p:cNvPr id="548" name="Shape 53"/>
          <p:cNvSpPr/>
          <p:nvPr/>
        </p:nvSpPr>
        <p:spPr>
          <a:xfrm>
            <a:off x="8332200" y="4954320"/>
            <a:ext cx="122400" cy="140040"/>
          </a:xfrm>
          <a:custGeom>
            <a:avLst/>
            <a:gdLst/>
            <a:ah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w="0">
            <a:noFill/>
          </a:ln>
        </p:spPr>
        <p:style>
          <a:lnRef idx="0"/>
          <a:fillRef idx="0"/>
          <a:effectRef idx="0"/>
          <a:fontRef idx="minor"/>
        </p:style>
      </p:sp>
      <p:sp>
        <p:nvSpPr>
          <p:cNvPr id="549" name="Text 54"/>
          <p:cNvSpPr/>
          <p:nvPr/>
        </p:nvSpPr>
        <p:spPr>
          <a:xfrm>
            <a:off x="8552520" y="4919040"/>
            <a:ext cx="1841400" cy="210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Enhance litter decomposition</a:t>
            </a:r>
            <a:endParaRPr b="0" lang="en-HK" sz="1110" spc="-1" strike="noStrike">
              <a:latin typeface="Arial"/>
            </a:endParaRPr>
          </a:p>
        </p:txBody>
      </p:sp>
      <p:sp>
        <p:nvSpPr>
          <p:cNvPr id="550" name="Shape 55"/>
          <p:cNvSpPr/>
          <p:nvPr/>
        </p:nvSpPr>
        <p:spPr>
          <a:xfrm>
            <a:off x="8332200" y="5236560"/>
            <a:ext cx="122400" cy="140040"/>
          </a:xfrm>
          <a:custGeom>
            <a:avLst/>
            <a:gdLst/>
            <a:ah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w="0">
            <a:noFill/>
          </a:ln>
        </p:spPr>
        <p:style>
          <a:lnRef idx="0"/>
          <a:fillRef idx="0"/>
          <a:effectRef idx="0"/>
          <a:fontRef idx="minor"/>
        </p:style>
      </p:sp>
      <p:sp>
        <p:nvSpPr>
          <p:cNvPr id="551" name="Text 56"/>
          <p:cNvSpPr/>
          <p:nvPr/>
        </p:nvSpPr>
        <p:spPr>
          <a:xfrm>
            <a:off x="8552520" y="5201280"/>
            <a:ext cx="1285920" cy="210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Increase soil fertility</a:t>
            </a:r>
            <a:endParaRPr b="0" lang="en-HK" sz="1110" spc="-1" strike="noStrike">
              <a:latin typeface="Arial"/>
            </a:endParaRPr>
          </a:p>
        </p:txBody>
      </p:sp>
      <p:sp>
        <p:nvSpPr>
          <p:cNvPr id="552" name="Shape 57"/>
          <p:cNvSpPr/>
          <p:nvPr/>
        </p:nvSpPr>
        <p:spPr>
          <a:xfrm>
            <a:off x="8332200" y="5518440"/>
            <a:ext cx="122400" cy="140040"/>
          </a:xfrm>
          <a:custGeom>
            <a:avLst/>
            <a:gdLst/>
            <a:ah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w="0">
            <a:noFill/>
          </a:ln>
        </p:spPr>
        <p:style>
          <a:lnRef idx="0"/>
          <a:fillRef idx="0"/>
          <a:effectRef idx="0"/>
          <a:fontRef idx="minor"/>
        </p:style>
      </p:sp>
      <p:sp>
        <p:nvSpPr>
          <p:cNvPr id="553" name="Text 58"/>
          <p:cNvSpPr/>
          <p:nvPr/>
        </p:nvSpPr>
        <p:spPr>
          <a:xfrm>
            <a:off x="8552520" y="5483160"/>
            <a:ext cx="1947240" cy="210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Create positive feedback loops</a:t>
            </a:r>
            <a:endParaRPr b="0" lang="en-HK" sz="1110" spc="-1" strike="noStrike">
              <a:latin typeface="Arial"/>
            </a:endParaRPr>
          </a:p>
        </p:txBody>
      </p:sp>
      <p:sp>
        <p:nvSpPr>
          <p:cNvPr id="554" name="Shape 59"/>
          <p:cNvSpPr/>
          <p:nvPr/>
        </p:nvSpPr>
        <p:spPr>
          <a:xfrm>
            <a:off x="8129520" y="6012360"/>
            <a:ext cx="3710520" cy="845280"/>
          </a:xfrm>
          <a:custGeom>
            <a:avLst/>
            <a:gdLst/>
            <a:ahLst/>
            <a:rect l="l" t="t" r="r" b="b"/>
            <a:pathLst>
              <a:path w="3711375" h="846299">
                <a:moveTo>
                  <a:pt x="105787" y="0"/>
                </a:moveTo>
                <a:lnTo>
                  <a:pt x="3605588" y="0"/>
                </a:lnTo>
                <a:cubicBezTo>
                  <a:pt x="3664013" y="0"/>
                  <a:pt x="3711375" y="47363"/>
                  <a:pt x="3711375" y="105787"/>
                </a:cubicBezTo>
                <a:lnTo>
                  <a:pt x="3711375" y="740512"/>
                </a:lnTo>
                <a:cubicBezTo>
                  <a:pt x="3711375" y="798937"/>
                  <a:pt x="3664013" y="846299"/>
                  <a:pt x="3605588" y="846299"/>
                </a:cubicBezTo>
                <a:lnTo>
                  <a:pt x="105787" y="846299"/>
                </a:lnTo>
                <a:cubicBezTo>
                  <a:pt x="47363" y="846299"/>
                  <a:pt x="0" y="798937"/>
                  <a:pt x="0" y="740512"/>
                </a:cubicBezTo>
                <a:lnTo>
                  <a:pt x="0" y="105787"/>
                </a:lnTo>
                <a:cubicBezTo>
                  <a:pt x="0" y="47402"/>
                  <a:pt x="47402" y="0"/>
                  <a:pt x="105787" y="0"/>
                </a:cubicBezTo>
                <a:close/>
              </a:path>
            </a:pathLst>
          </a:custGeom>
          <a:solidFill>
            <a:srgbClr val="2f3e3b"/>
          </a:solidFill>
          <a:ln w="0">
            <a:noFill/>
          </a:ln>
        </p:spPr>
        <p:style>
          <a:lnRef idx="0"/>
          <a:fillRef idx="0"/>
          <a:effectRef idx="0"/>
          <a:fontRef idx="minor"/>
        </p:style>
      </p:sp>
      <p:sp>
        <p:nvSpPr>
          <p:cNvPr id="555" name="Text 60"/>
          <p:cNvSpPr/>
          <p:nvPr/>
        </p:nvSpPr>
        <p:spPr>
          <a:xfrm>
            <a:off x="8204400" y="6153480"/>
            <a:ext cx="3560760" cy="31644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2080" spc="-1" strike="noStrike">
                <a:solidFill>
                  <a:srgbClr val="ffffff"/>
                </a:solidFill>
                <a:latin typeface="Sorts Mill Goudy"/>
                <a:ea typeface="Sorts Mill Goudy"/>
              </a:rPr>
              <a:t>Key Drivers</a:t>
            </a:r>
            <a:endParaRPr b="0" lang="en-HK" sz="2080" spc="-1" strike="noStrike">
              <a:latin typeface="Arial"/>
            </a:endParaRPr>
          </a:p>
        </p:txBody>
      </p:sp>
      <p:sp>
        <p:nvSpPr>
          <p:cNvPr id="556" name="Text 61"/>
          <p:cNvSpPr/>
          <p:nvPr/>
        </p:nvSpPr>
        <p:spPr>
          <a:xfrm>
            <a:off x="8235000" y="6505920"/>
            <a:ext cx="3499200" cy="2106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110" spc="-1" strike="noStrike">
                <a:solidFill>
                  <a:srgbClr val="ffffff"/>
                </a:solidFill>
                <a:latin typeface="Quattrocento Sans"/>
                <a:ea typeface="Quattrocento Sans"/>
              </a:rPr>
              <a:t>Climate &gt; Species composition &gt; Soil properties</a:t>
            </a:r>
            <a:endParaRPr b="0" lang="en-HK" sz="111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557" name="Text 0"/>
          <p:cNvSpPr/>
          <p:nvPr/>
        </p:nvSpPr>
        <p:spPr>
          <a:xfrm>
            <a:off x="320760" y="320760"/>
            <a:ext cx="11606400" cy="1594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0" strike="noStrike">
                <a:solidFill>
                  <a:srgbClr val="5f6f6b"/>
                </a:solidFill>
                <a:latin typeface="Quattrocento Sans"/>
                <a:ea typeface="Quattrocento Sans"/>
              </a:rPr>
              <a:t>06 • Animal-Mediated Processes</a:t>
            </a:r>
            <a:endParaRPr b="0" lang="en-HK" sz="880" spc="-1" strike="noStrike">
              <a:latin typeface="Arial"/>
            </a:endParaRPr>
          </a:p>
        </p:txBody>
      </p:sp>
      <p:sp>
        <p:nvSpPr>
          <p:cNvPr id="558" name="Text 1"/>
          <p:cNvSpPr/>
          <p:nvPr/>
        </p:nvSpPr>
        <p:spPr>
          <a:xfrm>
            <a:off x="320760" y="545400"/>
            <a:ext cx="11694600" cy="31968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80" spc="-1" strike="noStrike">
                <a:solidFill>
                  <a:srgbClr val="2f3e3b"/>
                </a:solidFill>
                <a:latin typeface="Sorts Mill Goudy"/>
                <a:ea typeface="Sorts Mill Goudy"/>
              </a:rPr>
              <a:t>Animal-Mediated Seed Dispersal</a:t>
            </a:r>
            <a:endParaRPr b="0" lang="en-HK" sz="2280" spc="-1" strike="noStrike">
              <a:latin typeface="Arial"/>
            </a:endParaRPr>
          </a:p>
        </p:txBody>
      </p:sp>
      <p:sp>
        <p:nvSpPr>
          <p:cNvPr id="559" name="Text 2"/>
          <p:cNvSpPr/>
          <p:nvPr/>
        </p:nvSpPr>
        <p:spPr>
          <a:xfrm>
            <a:off x="320760" y="930600"/>
            <a:ext cx="11622600" cy="223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30" spc="-1" strike="noStrike">
                <a:solidFill>
                  <a:srgbClr val="5f6f6b"/>
                </a:solidFill>
                <a:latin typeface="Quattrocento Sans"/>
                <a:ea typeface="Quattrocento Sans"/>
              </a:rPr>
              <a:t>Critical role of animals in forest regeneration and diversity maintenance</a:t>
            </a:r>
            <a:endParaRPr b="0" lang="en-HK" sz="1130" spc="-1" strike="noStrike">
              <a:latin typeface="Arial"/>
            </a:endParaRPr>
          </a:p>
        </p:txBody>
      </p:sp>
      <p:sp>
        <p:nvSpPr>
          <p:cNvPr id="560" name="Shape 3"/>
          <p:cNvSpPr/>
          <p:nvPr/>
        </p:nvSpPr>
        <p:spPr>
          <a:xfrm>
            <a:off x="320760" y="1315440"/>
            <a:ext cx="5678280" cy="2292840"/>
          </a:xfrm>
          <a:custGeom>
            <a:avLst/>
            <a:gdLst/>
            <a:ahLst/>
            <a:rect l="l" t="t" r="r" b="b"/>
            <a:pathLst>
              <a:path w="5678905" h="2294021">
                <a:moveTo>
                  <a:pt x="96257" y="0"/>
                </a:moveTo>
                <a:lnTo>
                  <a:pt x="5582648" y="0"/>
                </a:lnTo>
                <a:cubicBezTo>
                  <a:pt x="5635809" y="0"/>
                  <a:pt x="5678905" y="43096"/>
                  <a:pt x="5678905" y="96257"/>
                </a:cubicBezTo>
                <a:lnTo>
                  <a:pt x="5678905" y="2197764"/>
                </a:lnTo>
                <a:cubicBezTo>
                  <a:pt x="5678905" y="2250890"/>
                  <a:pt x="5635774" y="2294021"/>
                  <a:pt x="5582648" y="2294021"/>
                </a:cubicBezTo>
                <a:lnTo>
                  <a:pt x="96257" y="2294021"/>
                </a:lnTo>
                <a:cubicBezTo>
                  <a:pt x="43096" y="2294021"/>
                  <a:pt x="0" y="2250925"/>
                  <a:pt x="0" y="2197764"/>
                </a:cubicBezTo>
                <a:lnTo>
                  <a:pt x="0" y="96257"/>
                </a:lnTo>
                <a:cubicBezTo>
                  <a:pt x="0" y="43096"/>
                  <a:pt x="43096" y="0"/>
                  <a:pt x="96257" y="0"/>
                </a:cubicBezTo>
                <a:close/>
              </a:path>
            </a:pathLst>
          </a:custGeom>
          <a:solidFill>
            <a:srgbClr val="ffffff"/>
          </a:solidFill>
          <a:ln w="0">
            <a:noFill/>
          </a:ln>
          <a:effectLst>
            <a:outerShdw algn="bl" blurRad="24120" dir="5400000" dist="7920" kx="0" ky="0" rotWithShape="0" sx="100000" sy="100000">
              <a:srgbClr val="000000">
                <a:alpha val="10000"/>
              </a:srgbClr>
            </a:outerShdw>
          </a:effectLst>
        </p:spPr>
        <p:style>
          <a:lnRef idx="0"/>
          <a:fillRef idx="0"/>
          <a:effectRef idx="0"/>
          <a:fontRef idx="minor"/>
        </p:style>
      </p:sp>
      <p:sp>
        <p:nvSpPr>
          <p:cNvPr id="561" name="Shape 4"/>
          <p:cNvSpPr/>
          <p:nvPr/>
        </p:nvSpPr>
        <p:spPr>
          <a:xfrm>
            <a:off x="501480" y="1508040"/>
            <a:ext cx="159480" cy="159480"/>
          </a:xfrm>
          <a:custGeom>
            <a:avLst/>
            <a:gdLst/>
            <a:ahLst/>
            <a:rect l="l" t="t" r="r" b="b"/>
            <a:pathLst>
              <a:path w="160421" h="160421">
                <a:moveTo>
                  <a:pt x="155408" y="20053"/>
                </a:moveTo>
                <a:cubicBezTo>
                  <a:pt x="159544" y="20053"/>
                  <a:pt x="161894" y="24784"/>
                  <a:pt x="159418" y="28074"/>
                </a:cubicBezTo>
                <a:lnTo>
                  <a:pt x="150395" y="40105"/>
                </a:lnTo>
                <a:lnTo>
                  <a:pt x="150395" y="95250"/>
                </a:lnTo>
                <a:cubicBezTo>
                  <a:pt x="150395" y="120159"/>
                  <a:pt x="130185" y="140368"/>
                  <a:pt x="105276" y="140368"/>
                </a:cubicBezTo>
                <a:lnTo>
                  <a:pt x="70184" y="140368"/>
                </a:lnTo>
                <a:lnTo>
                  <a:pt x="55677" y="154875"/>
                </a:lnTo>
                <a:cubicBezTo>
                  <a:pt x="52419" y="158134"/>
                  <a:pt x="47374" y="158760"/>
                  <a:pt x="43426" y="156379"/>
                </a:cubicBezTo>
                <a:lnTo>
                  <a:pt x="13003" y="138144"/>
                </a:lnTo>
                <a:cubicBezTo>
                  <a:pt x="7676" y="134948"/>
                  <a:pt x="8303" y="127021"/>
                  <a:pt x="14068" y="124702"/>
                </a:cubicBezTo>
                <a:lnTo>
                  <a:pt x="50132" y="110289"/>
                </a:lnTo>
                <a:cubicBezTo>
                  <a:pt x="7457" y="97475"/>
                  <a:pt x="2350" y="53202"/>
                  <a:pt x="6893" y="29985"/>
                </a:cubicBezTo>
                <a:cubicBezTo>
                  <a:pt x="8021" y="24408"/>
                  <a:pt x="14194" y="22371"/>
                  <a:pt x="19207" y="25128"/>
                </a:cubicBezTo>
                <a:lnTo>
                  <a:pt x="100263" y="70184"/>
                </a:lnTo>
                <a:lnTo>
                  <a:pt x="100263" y="45118"/>
                </a:lnTo>
                <a:cubicBezTo>
                  <a:pt x="100263" y="31270"/>
                  <a:pt x="111480" y="20053"/>
                  <a:pt x="125329" y="20053"/>
                </a:cubicBezTo>
                <a:lnTo>
                  <a:pt x="155408" y="20053"/>
                </a:lnTo>
                <a:close/>
                <a:moveTo>
                  <a:pt x="125329" y="37599"/>
                </a:moveTo>
                <a:cubicBezTo>
                  <a:pt x="121179" y="37599"/>
                  <a:pt x="117809" y="40968"/>
                  <a:pt x="117809" y="45118"/>
                </a:cubicBezTo>
                <a:cubicBezTo>
                  <a:pt x="117809" y="49269"/>
                  <a:pt x="121179" y="52638"/>
                  <a:pt x="125329" y="52638"/>
                </a:cubicBezTo>
                <a:cubicBezTo>
                  <a:pt x="129479" y="52638"/>
                  <a:pt x="132849" y="49269"/>
                  <a:pt x="132849" y="45118"/>
                </a:cubicBezTo>
                <a:cubicBezTo>
                  <a:pt x="132849" y="40968"/>
                  <a:pt x="129479" y="37599"/>
                  <a:pt x="125329" y="37599"/>
                </a:cubicBezTo>
                <a:close/>
                <a:moveTo>
                  <a:pt x="57181" y="-3008"/>
                </a:moveTo>
                <a:cubicBezTo>
                  <a:pt x="61067" y="-7300"/>
                  <a:pt x="67615" y="-5796"/>
                  <a:pt x="70498" y="-783"/>
                </a:cubicBezTo>
                <a:lnTo>
                  <a:pt x="88169" y="30016"/>
                </a:lnTo>
                <a:cubicBezTo>
                  <a:pt x="86352" y="34528"/>
                  <a:pt x="85286" y="39447"/>
                  <a:pt x="85224" y="44586"/>
                </a:cubicBezTo>
                <a:lnTo>
                  <a:pt x="43270" y="21306"/>
                </a:lnTo>
                <a:cubicBezTo>
                  <a:pt x="46434" y="11405"/>
                  <a:pt x="51730" y="3008"/>
                  <a:pt x="57181" y="-3008"/>
                </a:cubicBezTo>
                <a:close/>
              </a:path>
            </a:pathLst>
          </a:custGeom>
          <a:solidFill>
            <a:srgbClr val="4c8a7a"/>
          </a:solidFill>
          <a:ln w="0">
            <a:noFill/>
          </a:ln>
        </p:spPr>
        <p:style>
          <a:lnRef idx="0"/>
          <a:fillRef idx="0"/>
          <a:effectRef idx="0"/>
          <a:fontRef idx="minor"/>
        </p:style>
      </p:sp>
      <p:sp>
        <p:nvSpPr>
          <p:cNvPr id="562" name="Text 5"/>
          <p:cNvSpPr/>
          <p:nvPr/>
        </p:nvSpPr>
        <p:spPr>
          <a:xfrm>
            <a:off x="681840" y="1476000"/>
            <a:ext cx="5236920" cy="223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60" spc="-1" strike="noStrike">
                <a:solidFill>
                  <a:srgbClr val="2f3e3b"/>
                </a:solidFill>
                <a:latin typeface="Sorts Mill Goudy"/>
                <a:ea typeface="Sorts Mill Goudy"/>
              </a:rPr>
              <a:t>The 81% Finding</a:t>
            </a:r>
            <a:endParaRPr b="0" lang="en-HK" sz="1260" spc="-1" strike="noStrike">
              <a:latin typeface="Arial"/>
            </a:endParaRPr>
          </a:p>
        </p:txBody>
      </p:sp>
      <p:sp>
        <p:nvSpPr>
          <p:cNvPr id="563" name="Text 6"/>
          <p:cNvSpPr/>
          <p:nvPr/>
        </p:nvSpPr>
        <p:spPr>
          <a:xfrm>
            <a:off x="481320" y="1796760"/>
            <a:ext cx="5421600" cy="624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1f2a28"/>
                </a:solidFill>
                <a:latin typeface="Quattrocento Sans"/>
                <a:ea typeface="Quattrocento Sans"/>
              </a:rPr>
              <a:t>Recent research reveals that </a:t>
            </a:r>
            <a:r>
              <a:rPr b="0" lang="en-US" sz="1010" spc="-1" strike="noStrike">
                <a:solidFill>
                  <a:srgbClr val="2f3e3b"/>
                </a:solidFill>
                <a:highlight>
                  <a:srgbClr val="8fb7ac"/>
                </a:highlight>
                <a:latin typeface="Quattrocento Sans"/>
                <a:ea typeface="Quattrocento Sans"/>
              </a:rPr>
              <a:t>81% of tropical tree species depend on animals for seed dispersal </a:t>
            </a:r>
            <a:r>
              <a:rPr b="0" lang="en-US" sz="1010" spc="-1" strike="noStrike">
                <a:solidFill>
                  <a:srgbClr val="1f2a28"/>
                </a:solidFill>
                <a:latin typeface="Quattrocento Sans"/>
                <a:ea typeface="Quattrocento Sans"/>
              </a:rPr>
              <a:t>. This mutualistic interaction is fundamental to forest dynamics, with frugivores increasing seed rain diversity and accelerating community turnover during succession.</a:t>
            </a:r>
            <a:endParaRPr b="0" lang="en-HK" sz="1010" spc="-1" strike="noStrike">
              <a:latin typeface="Arial"/>
            </a:endParaRPr>
          </a:p>
        </p:txBody>
      </p:sp>
      <p:sp>
        <p:nvSpPr>
          <p:cNvPr id="564" name="Shape 7"/>
          <p:cNvSpPr/>
          <p:nvPr/>
        </p:nvSpPr>
        <p:spPr>
          <a:xfrm>
            <a:off x="481320" y="2550600"/>
            <a:ext cx="5357520" cy="897120"/>
          </a:xfrm>
          <a:custGeom>
            <a:avLst/>
            <a:gdLst/>
            <a:ahLst/>
            <a:rect l="l" t="t" r="r" b="b"/>
            <a:pathLst>
              <a:path w="5358063" h="898358">
                <a:moveTo>
                  <a:pt x="64170" y="0"/>
                </a:moveTo>
                <a:lnTo>
                  <a:pt x="5293893" y="0"/>
                </a:lnTo>
                <a:cubicBezTo>
                  <a:pt x="5329333" y="0"/>
                  <a:pt x="5358063" y="28730"/>
                  <a:pt x="5358063" y="64170"/>
                </a:cubicBezTo>
                <a:lnTo>
                  <a:pt x="5358063" y="834188"/>
                </a:lnTo>
                <a:cubicBezTo>
                  <a:pt x="5358063" y="869628"/>
                  <a:pt x="5329333" y="898358"/>
                  <a:pt x="5293893" y="898358"/>
                </a:cubicBezTo>
                <a:lnTo>
                  <a:pt x="64170" y="898358"/>
                </a:lnTo>
                <a:cubicBezTo>
                  <a:pt x="28753" y="898358"/>
                  <a:pt x="0" y="869604"/>
                  <a:pt x="0" y="834188"/>
                </a:cubicBezTo>
                <a:lnTo>
                  <a:pt x="0" y="64170"/>
                </a:lnTo>
                <a:cubicBezTo>
                  <a:pt x="0" y="28753"/>
                  <a:pt x="28753" y="0"/>
                  <a:pt x="64170" y="0"/>
                </a:cubicBezTo>
                <a:close/>
              </a:path>
            </a:pathLst>
          </a:custGeom>
          <a:solidFill>
            <a:srgbClr val="f5f7f6"/>
          </a:solidFill>
          <a:ln w="0">
            <a:noFill/>
          </a:ln>
        </p:spPr>
        <p:style>
          <a:lnRef idx="0"/>
          <a:fillRef idx="0"/>
          <a:effectRef idx="0"/>
          <a:fontRef idx="minor"/>
        </p:style>
      </p:sp>
      <p:sp>
        <p:nvSpPr>
          <p:cNvPr id="565" name="Text 8"/>
          <p:cNvSpPr/>
          <p:nvPr/>
        </p:nvSpPr>
        <p:spPr>
          <a:xfrm>
            <a:off x="609480" y="2679120"/>
            <a:ext cx="5164920" cy="416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5f6f6b"/>
                </a:solidFill>
                <a:latin typeface="Quattrocento Sans"/>
                <a:ea typeface="Quattrocento Sans"/>
              </a:rPr>
              <a:t>"Without animal seed dispersal, trees have lower survival rates and a harder time keeping up with environmental changes."</a:t>
            </a:r>
            <a:endParaRPr b="0" lang="en-HK" sz="1010" spc="-1" strike="noStrike">
              <a:latin typeface="Arial"/>
            </a:endParaRPr>
          </a:p>
        </p:txBody>
      </p:sp>
      <p:sp>
        <p:nvSpPr>
          <p:cNvPr id="566" name="Text 9"/>
          <p:cNvSpPr/>
          <p:nvPr/>
        </p:nvSpPr>
        <p:spPr>
          <a:xfrm>
            <a:off x="609480" y="3160440"/>
            <a:ext cx="5156640" cy="1594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Fricke et al. (2025)</a:t>
            </a:r>
            <a:endParaRPr b="0" lang="en-HK" sz="880" spc="-1" strike="noStrike">
              <a:latin typeface="Arial"/>
            </a:endParaRPr>
          </a:p>
        </p:txBody>
      </p:sp>
      <p:sp>
        <p:nvSpPr>
          <p:cNvPr id="567" name="Shape 10"/>
          <p:cNvSpPr/>
          <p:nvPr/>
        </p:nvSpPr>
        <p:spPr>
          <a:xfrm>
            <a:off x="320760" y="3737880"/>
            <a:ext cx="5678280" cy="3656520"/>
          </a:xfrm>
          <a:custGeom>
            <a:avLst/>
            <a:gdLst/>
            <a:ahLst/>
            <a:rect l="l" t="t" r="r" b="b"/>
            <a:pathLst>
              <a:path w="5678905" h="3657600">
                <a:moveTo>
                  <a:pt x="96268" y="0"/>
                </a:moveTo>
                <a:lnTo>
                  <a:pt x="5582637" y="0"/>
                </a:lnTo>
                <a:cubicBezTo>
                  <a:pt x="5635805" y="0"/>
                  <a:pt x="5678905" y="43101"/>
                  <a:pt x="5678905" y="96268"/>
                </a:cubicBezTo>
                <a:lnTo>
                  <a:pt x="5678905" y="3561332"/>
                </a:lnTo>
                <a:cubicBezTo>
                  <a:pt x="5678905" y="3614499"/>
                  <a:pt x="5635805" y="3657600"/>
                  <a:pt x="5582637" y="3657600"/>
                </a:cubicBezTo>
                <a:lnTo>
                  <a:pt x="96268" y="3657600"/>
                </a:lnTo>
                <a:cubicBezTo>
                  <a:pt x="43101" y="3657600"/>
                  <a:pt x="0" y="3614499"/>
                  <a:pt x="0" y="3561332"/>
                </a:cubicBezTo>
                <a:lnTo>
                  <a:pt x="0" y="96268"/>
                </a:lnTo>
                <a:cubicBezTo>
                  <a:pt x="0" y="43101"/>
                  <a:pt x="43101" y="0"/>
                  <a:pt x="96268" y="0"/>
                </a:cubicBezTo>
                <a:close/>
              </a:path>
            </a:pathLst>
          </a:custGeom>
          <a:solidFill>
            <a:srgbClr val="ffffff"/>
          </a:solidFill>
          <a:ln w="0">
            <a:noFill/>
          </a:ln>
          <a:effectLst>
            <a:outerShdw algn="bl" blurRad="24120" dir="5400000" dist="7920" kx="0" ky="0" rotWithShape="0" sx="100000" sy="100000">
              <a:srgbClr val="000000">
                <a:alpha val="10000"/>
              </a:srgbClr>
            </a:outerShdw>
          </a:effectLst>
        </p:spPr>
        <p:style>
          <a:lnRef idx="0"/>
          <a:fillRef idx="0"/>
          <a:effectRef idx="0"/>
          <a:fontRef idx="minor"/>
        </p:style>
      </p:sp>
      <p:sp>
        <p:nvSpPr>
          <p:cNvPr id="568" name="Text 11"/>
          <p:cNvSpPr/>
          <p:nvPr/>
        </p:nvSpPr>
        <p:spPr>
          <a:xfrm>
            <a:off x="481320" y="3898080"/>
            <a:ext cx="5437440" cy="223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60" spc="-1" strike="noStrike">
                <a:solidFill>
                  <a:srgbClr val="2f3e3b"/>
                </a:solidFill>
                <a:latin typeface="Sorts Mill Goudy"/>
                <a:ea typeface="Sorts Mill Goudy"/>
              </a:rPr>
              <a:t>Disperser Groups</a:t>
            </a:r>
            <a:endParaRPr b="0" lang="en-HK" sz="1260" spc="-1" strike="noStrike">
              <a:latin typeface="Arial"/>
            </a:endParaRPr>
          </a:p>
        </p:txBody>
      </p:sp>
      <p:sp>
        <p:nvSpPr>
          <p:cNvPr id="569" name="Shape 12"/>
          <p:cNvSpPr/>
          <p:nvPr/>
        </p:nvSpPr>
        <p:spPr>
          <a:xfrm>
            <a:off x="481320" y="4219200"/>
            <a:ext cx="5357520" cy="704880"/>
          </a:xfrm>
          <a:custGeom>
            <a:avLst/>
            <a:gdLst/>
            <a:ahLst/>
            <a:rect l="l" t="t" r="r" b="b"/>
            <a:pathLst>
              <a:path w="5358063" h="705853">
                <a:moveTo>
                  <a:pt x="64169" y="0"/>
                </a:moveTo>
                <a:lnTo>
                  <a:pt x="5293894" y="0"/>
                </a:lnTo>
                <a:cubicBezTo>
                  <a:pt x="5329310" y="0"/>
                  <a:pt x="5358063" y="28753"/>
                  <a:pt x="5358063" y="64169"/>
                </a:cubicBezTo>
                <a:lnTo>
                  <a:pt x="5358063" y="641684"/>
                </a:lnTo>
                <a:cubicBezTo>
                  <a:pt x="5358063" y="677123"/>
                  <a:pt x="5329334" y="705853"/>
                  <a:pt x="5293894" y="705853"/>
                </a:cubicBezTo>
                <a:lnTo>
                  <a:pt x="64169" y="705853"/>
                </a:lnTo>
                <a:cubicBezTo>
                  <a:pt x="28729" y="705853"/>
                  <a:pt x="0" y="677123"/>
                  <a:pt x="0" y="641684"/>
                </a:cubicBezTo>
                <a:lnTo>
                  <a:pt x="0" y="64169"/>
                </a:lnTo>
                <a:cubicBezTo>
                  <a:pt x="0" y="28753"/>
                  <a:pt x="28753" y="0"/>
                  <a:pt x="64169" y="0"/>
                </a:cubicBezTo>
                <a:close/>
              </a:path>
            </a:pathLst>
          </a:custGeom>
          <a:solidFill>
            <a:srgbClr val="4c8a7a">
              <a:alpha val="10000"/>
            </a:srgbClr>
          </a:solidFill>
          <a:ln w="0">
            <a:noFill/>
          </a:ln>
        </p:spPr>
        <p:style>
          <a:lnRef idx="0"/>
          <a:fillRef idx="0"/>
          <a:effectRef idx="0"/>
          <a:fontRef idx="minor"/>
        </p:style>
      </p:sp>
      <p:sp>
        <p:nvSpPr>
          <p:cNvPr id="570" name="Shape 13"/>
          <p:cNvSpPr/>
          <p:nvPr/>
        </p:nvSpPr>
        <p:spPr>
          <a:xfrm>
            <a:off x="577440" y="4347360"/>
            <a:ext cx="199440" cy="159480"/>
          </a:xfrm>
          <a:custGeom>
            <a:avLst/>
            <a:gdLst/>
            <a:ahLst/>
            <a:rect l="l" t="t" r="r" b="b"/>
            <a:pathLst>
              <a:path w="200526" h="160421">
                <a:moveTo>
                  <a:pt x="143032" y="0"/>
                </a:moveTo>
                <a:cubicBezTo>
                  <a:pt x="127804" y="0"/>
                  <a:pt x="115459" y="12345"/>
                  <a:pt x="115459" y="27572"/>
                </a:cubicBezTo>
                <a:lnTo>
                  <a:pt x="115459" y="38852"/>
                </a:lnTo>
                <a:lnTo>
                  <a:pt x="4167" y="122321"/>
                </a:lnTo>
                <a:cubicBezTo>
                  <a:pt x="-251" y="125642"/>
                  <a:pt x="-1159" y="131909"/>
                  <a:pt x="2162" y="136358"/>
                </a:cubicBezTo>
                <a:cubicBezTo>
                  <a:pt x="5483" y="140807"/>
                  <a:pt x="11750" y="141684"/>
                  <a:pt x="16199" y="138363"/>
                </a:cubicBezTo>
                <a:lnTo>
                  <a:pt x="40262" y="120316"/>
                </a:lnTo>
                <a:lnTo>
                  <a:pt x="81401" y="120316"/>
                </a:lnTo>
                <a:lnTo>
                  <a:pt x="96002" y="155753"/>
                </a:lnTo>
                <a:lnTo>
                  <a:pt x="96315" y="156442"/>
                </a:lnTo>
                <a:cubicBezTo>
                  <a:pt x="98101" y="159794"/>
                  <a:pt x="102206" y="161298"/>
                  <a:pt x="105809" y="159826"/>
                </a:cubicBezTo>
                <a:cubicBezTo>
                  <a:pt x="109412" y="158353"/>
                  <a:pt x="111229" y="154405"/>
                  <a:pt x="110164" y="150739"/>
                </a:cubicBezTo>
                <a:lnTo>
                  <a:pt x="109913" y="150019"/>
                </a:lnTo>
                <a:lnTo>
                  <a:pt x="97663" y="120284"/>
                </a:lnTo>
                <a:lnTo>
                  <a:pt x="110477" y="120284"/>
                </a:lnTo>
                <a:cubicBezTo>
                  <a:pt x="110822" y="120284"/>
                  <a:pt x="111167" y="120284"/>
                  <a:pt x="111480" y="120284"/>
                </a:cubicBezTo>
                <a:lnTo>
                  <a:pt x="126081" y="155753"/>
                </a:lnTo>
                <a:lnTo>
                  <a:pt x="126394" y="156442"/>
                </a:lnTo>
                <a:cubicBezTo>
                  <a:pt x="128180" y="159794"/>
                  <a:pt x="132285" y="161298"/>
                  <a:pt x="135888" y="159826"/>
                </a:cubicBezTo>
                <a:cubicBezTo>
                  <a:pt x="139491" y="158353"/>
                  <a:pt x="141308" y="154405"/>
                  <a:pt x="140243" y="150739"/>
                </a:cubicBezTo>
                <a:lnTo>
                  <a:pt x="139992" y="150019"/>
                </a:lnTo>
                <a:lnTo>
                  <a:pt x="126833" y="118060"/>
                </a:lnTo>
                <a:cubicBezTo>
                  <a:pt x="152055" y="110947"/>
                  <a:pt x="170604" y="87730"/>
                  <a:pt x="170604" y="60158"/>
                </a:cubicBezTo>
                <a:lnTo>
                  <a:pt x="170604" y="37599"/>
                </a:lnTo>
                <a:lnTo>
                  <a:pt x="195826" y="31301"/>
                </a:lnTo>
                <a:cubicBezTo>
                  <a:pt x="198521" y="30643"/>
                  <a:pt x="200150" y="27917"/>
                  <a:pt x="199461" y="25222"/>
                </a:cubicBezTo>
                <a:cubicBezTo>
                  <a:pt x="197236" y="16293"/>
                  <a:pt x="189215" y="10026"/>
                  <a:pt x="180004" y="10026"/>
                </a:cubicBezTo>
                <a:lnTo>
                  <a:pt x="164306" y="10026"/>
                </a:lnTo>
                <a:cubicBezTo>
                  <a:pt x="159230" y="3917"/>
                  <a:pt x="151585" y="0"/>
                  <a:pt x="143032" y="0"/>
                </a:cubicBezTo>
                <a:close/>
                <a:moveTo>
                  <a:pt x="143032" y="20053"/>
                </a:moveTo>
                <a:cubicBezTo>
                  <a:pt x="147182" y="20053"/>
                  <a:pt x="150551" y="23422"/>
                  <a:pt x="150551" y="27572"/>
                </a:cubicBezTo>
                <a:cubicBezTo>
                  <a:pt x="150551" y="31723"/>
                  <a:pt x="147182" y="35092"/>
                  <a:pt x="143032" y="35092"/>
                </a:cubicBezTo>
                <a:cubicBezTo>
                  <a:pt x="138881" y="35092"/>
                  <a:pt x="135512" y="31723"/>
                  <a:pt x="135512" y="27572"/>
                </a:cubicBezTo>
                <a:cubicBezTo>
                  <a:pt x="135512" y="23422"/>
                  <a:pt x="138881" y="20053"/>
                  <a:pt x="143032" y="20053"/>
                </a:cubicBezTo>
                <a:close/>
              </a:path>
            </a:pathLst>
          </a:custGeom>
          <a:solidFill>
            <a:srgbClr val="4c8a7a"/>
          </a:solidFill>
          <a:ln w="0">
            <a:noFill/>
          </a:ln>
        </p:spPr>
        <p:style>
          <a:lnRef idx="0"/>
          <a:fillRef idx="0"/>
          <a:effectRef idx="0"/>
          <a:fontRef idx="minor"/>
        </p:style>
      </p:sp>
      <p:sp>
        <p:nvSpPr>
          <p:cNvPr id="571" name="Text 14"/>
          <p:cNvSpPr/>
          <p:nvPr/>
        </p:nvSpPr>
        <p:spPr>
          <a:xfrm>
            <a:off x="873000" y="4315320"/>
            <a:ext cx="4932360" cy="191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Birds</a:t>
            </a:r>
            <a:endParaRPr b="0" lang="en-HK" sz="1010" spc="-1" strike="noStrike">
              <a:latin typeface="Arial"/>
            </a:endParaRPr>
          </a:p>
        </p:txBody>
      </p:sp>
      <p:sp>
        <p:nvSpPr>
          <p:cNvPr id="572" name="Text 15"/>
          <p:cNvSpPr/>
          <p:nvPr/>
        </p:nvSpPr>
        <p:spPr>
          <a:xfrm>
            <a:off x="873000" y="4507920"/>
            <a:ext cx="4924080" cy="319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Small birds colonize early; large birds increase in older forests. Generalist species play keystone roles.</a:t>
            </a:r>
            <a:endParaRPr b="0" lang="en-HK" sz="880" spc="-1" strike="noStrike">
              <a:latin typeface="Arial"/>
            </a:endParaRPr>
          </a:p>
        </p:txBody>
      </p:sp>
      <p:sp>
        <p:nvSpPr>
          <p:cNvPr id="573" name="Shape 16"/>
          <p:cNvSpPr/>
          <p:nvPr/>
        </p:nvSpPr>
        <p:spPr>
          <a:xfrm>
            <a:off x="481320" y="5021280"/>
            <a:ext cx="5357520" cy="704880"/>
          </a:xfrm>
          <a:custGeom>
            <a:avLst/>
            <a:gdLst/>
            <a:ahLst/>
            <a:rect l="l" t="t" r="r" b="b"/>
            <a:pathLst>
              <a:path w="5358063" h="705853">
                <a:moveTo>
                  <a:pt x="64169" y="0"/>
                </a:moveTo>
                <a:lnTo>
                  <a:pt x="5293894" y="0"/>
                </a:lnTo>
                <a:cubicBezTo>
                  <a:pt x="5329310" y="0"/>
                  <a:pt x="5358063" y="28753"/>
                  <a:pt x="5358063" y="64169"/>
                </a:cubicBezTo>
                <a:lnTo>
                  <a:pt x="5358063" y="641684"/>
                </a:lnTo>
                <a:cubicBezTo>
                  <a:pt x="5358063" y="677123"/>
                  <a:pt x="5329334" y="705853"/>
                  <a:pt x="5293894" y="705853"/>
                </a:cubicBezTo>
                <a:lnTo>
                  <a:pt x="64169" y="705853"/>
                </a:lnTo>
                <a:cubicBezTo>
                  <a:pt x="28729" y="705853"/>
                  <a:pt x="0" y="677123"/>
                  <a:pt x="0" y="641684"/>
                </a:cubicBezTo>
                <a:lnTo>
                  <a:pt x="0" y="64169"/>
                </a:lnTo>
                <a:cubicBezTo>
                  <a:pt x="0" y="28753"/>
                  <a:pt x="28753" y="0"/>
                  <a:pt x="64169" y="0"/>
                </a:cubicBezTo>
                <a:close/>
              </a:path>
            </a:pathLst>
          </a:custGeom>
          <a:solidFill>
            <a:srgbClr val="8fb7ac">
              <a:alpha val="10000"/>
            </a:srgbClr>
          </a:solidFill>
          <a:ln w="0">
            <a:noFill/>
          </a:ln>
        </p:spPr>
        <p:style>
          <a:lnRef idx="0"/>
          <a:fillRef idx="0"/>
          <a:effectRef idx="0"/>
          <a:fontRef idx="minor"/>
        </p:style>
      </p:sp>
      <p:sp>
        <p:nvSpPr>
          <p:cNvPr id="574" name="Shape 17"/>
          <p:cNvSpPr/>
          <p:nvPr/>
        </p:nvSpPr>
        <p:spPr>
          <a:xfrm>
            <a:off x="597600" y="5149440"/>
            <a:ext cx="159480" cy="159480"/>
          </a:xfrm>
          <a:custGeom>
            <a:avLst/>
            <a:gdLst/>
            <a:ahLst/>
            <a:rect l="l" t="t" r="r" b="b"/>
            <a:pathLst>
              <a:path w="160421" h="160421">
                <a:moveTo>
                  <a:pt x="73474" y="29108"/>
                </a:moveTo>
                <a:cubicBezTo>
                  <a:pt x="77955" y="42549"/>
                  <a:pt x="73380" y="56116"/>
                  <a:pt x="63260" y="59437"/>
                </a:cubicBezTo>
                <a:cubicBezTo>
                  <a:pt x="53139" y="62758"/>
                  <a:pt x="41296" y="54549"/>
                  <a:pt x="36815" y="41108"/>
                </a:cubicBezTo>
                <a:cubicBezTo>
                  <a:pt x="32335" y="27666"/>
                  <a:pt x="36909" y="14100"/>
                  <a:pt x="47030" y="10778"/>
                </a:cubicBezTo>
                <a:cubicBezTo>
                  <a:pt x="57150" y="7457"/>
                  <a:pt x="68994" y="15666"/>
                  <a:pt x="73474" y="29108"/>
                </a:cubicBezTo>
                <a:close/>
                <a:moveTo>
                  <a:pt x="31458" y="62226"/>
                </a:moveTo>
                <a:cubicBezTo>
                  <a:pt x="37379" y="72377"/>
                  <a:pt x="35938" y="84190"/>
                  <a:pt x="28262" y="88576"/>
                </a:cubicBezTo>
                <a:cubicBezTo>
                  <a:pt x="20585" y="92963"/>
                  <a:pt x="9556" y="88294"/>
                  <a:pt x="3666" y="78143"/>
                </a:cubicBezTo>
                <a:cubicBezTo>
                  <a:pt x="-2225" y="67991"/>
                  <a:pt x="-815" y="56179"/>
                  <a:pt x="6862" y="51792"/>
                </a:cubicBezTo>
                <a:cubicBezTo>
                  <a:pt x="14538" y="47406"/>
                  <a:pt x="25567" y="52074"/>
                  <a:pt x="31458" y="62226"/>
                </a:cubicBezTo>
                <a:close/>
                <a:moveTo>
                  <a:pt x="21682" y="125705"/>
                </a:moveTo>
                <a:cubicBezTo>
                  <a:pt x="38100" y="81432"/>
                  <a:pt x="67270" y="70184"/>
                  <a:pt x="80211" y="70184"/>
                </a:cubicBezTo>
                <a:cubicBezTo>
                  <a:pt x="93151" y="70184"/>
                  <a:pt x="122321" y="81432"/>
                  <a:pt x="138739" y="125705"/>
                </a:cubicBezTo>
                <a:cubicBezTo>
                  <a:pt x="139867" y="128744"/>
                  <a:pt x="140368" y="132003"/>
                  <a:pt x="140368" y="135261"/>
                </a:cubicBezTo>
                <a:lnTo>
                  <a:pt x="140368" y="135763"/>
                </a:lnTo>
                <a:cubicBezTo>
                  <a:pt x="140368" y="143846"/>
                  <a:pt x="133820" y="150395"/>
                  <a:pt x="125736" y="150395"/>
                </a:cubicBezTo>
                <a:cubicBezTo>
                  <a:pt x="122133" y="150395"/>
                  <a:pt x="118561" y="149956"/>
                  <a:pt x="115083" y="149079"/>
                </a:cubicBezTo>
                <a:lnTo>
                  <a:pt x="87511" y="142186"/>
                </a:lnTo>
                <a:cubicBezTo>
                  <a:pt x="82717" y="140995"/>
                  <a:pt x="77704" y="140995"/>
                  <a:pt x="72910" y="142186"/>
                </a:cubicBezTo>
                <a:lnTo>
                  <a:pt x="45338" y="149079"/>
                </a:lnTo>
                <a:cubicBezTo>
                  <a:pt x="41860" y="149956"/>
                  <a:pt x="38288" y="150395"/>
                  <a:pt x="34685" y="150395"/>
                </a:cubicBezTo>
                <a:cubicBezTo>
                  <a:pt x="26601" y="150395"/>
                  <a:pt x="20053" y="143846"/>
                  <a:pt x="20053" y="135763"/>
                </a:cubicBezTo>
                <a:lnTo>
                  <a:pt x="20053" y="135261"/>
                </a:lnTo>
                <a:cubicBezTo>
                  <a:pt x="20053" y="132003"/>
                  <a:pt x="20554" y="128744"/>
                  <a:pt x="21682" y="125705"/>
                </a:cubicBezTo>
                <a:close/>
                <a:moveTo>
                  <a:pt x="132159" y="88576"/>
                </a:moveTo>
                <a:cubicBezTo>
                  <a:pt x="124483" y="84190"/>
                  <a:pt x="123042" y="72377"/>
                  <a:pt x="128963" y="62226"/>
                </a:cubicBezTo>
                <a:cubicBezTo>
                  <a:pt x="134885" y="52074"/>
                  <a:pt x="145883" y="47406"/>
                  <a:pt x="153559" y="51792"/>
                </a:cubicBezTo>
                <a:cubicBezTo>
                  <a:pt x="161236" y="56179"/>
                  <a:pt x="162677" y="67991"/>
                  <a:pt x="156755" y="78143"/>
                </a:cubicBezTo>
                <a:cubicBezTo>
                  <a:pt x="150833" y="88294"/>
                  <a:pt x="139836" y="92963"/>
                  <a:pt x="132159" y="88576"/>
                </a:cubicBezTo>
                <a:close/>
                <a:moveTo>
                  <a:pt x="97161" y="59437"/>
                </a:moveTo>
                <a:cubicBezTo>
                  <a:pt x="87041" y="56116"/>
                  <a:pt x="82466" y="42549"/>
                  <a:pt x="86947" y="29108"/>
                </a:cubicBezTo>
                <a:cubicBezTo>
                  <a:pt x="91427" y="15666"/>
                  <a:pt x="103271" y="7457"/>
                  <a:pt x="113391" y="10778"/>
                </a:cubicBezTo>
                <a:cubicBezTo>
                  <a:pt x="123512" y="14100"/>
                  <a:pt x="128086" y="27666"/>
                  <a:pt x="123606" y="41108"/>
                </a:cubicBezTo>
                <a:cubicBezTo>
                  <a:pt x="119125" y="54549"/>
                  <a:pt x="107282" y="62758"/>
                  <a:pt x="97161" y="59437"/>
                </a:cubicBezTo>
                <a:close/>
              </a:path>
            </a:pathLst>
          </a:custGeom>
          <a:solidFill>
            <a:srgbClr val="8fb7ac"/>
          </a:solidFill>
          <a:ln w="0">
            <a:noFill/>
          </a:ln>
        </p:spPr>
        <p:style>
          <a:lnRef idx="0"/>
          <a:fillRef idx="0"/>
          <a:effectRef idx="0"/>
          <a:fontRef idx="minor"/>
        </p:style>
      </p:sp>
      <p:sp>
        <p:nvSpPr>
          <p:cNvPr id="575" name="Text 18"/>
          <p:cNvSpPr/>
          <p:nvPr/>
        </p:nvSpPr>
        <p:spPr>
          <a:xfrm>
            <a:off x="870840" y="5117400"/>
            <a:ext cx="4932360" cy="191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Mammals</a:t>
            </a:r>
            <a:endParaRPr b="0" lang="en-HK" sz="1010" spc="-1" strike="noStrike">
              <a:latin typeface="Arial"/>
            </a:endParaRPr>
          </a:p>
        </p:txBody>
      </p:sp>
      <p:sp>
        <p:nvSpPr>
          <p:cNvPr id="576" name="Text 19"/>
          <p:cNvSpPr/>
          <p:nvPr/>
        </p:nvSpPr>
        <p:spPr>
          <a:xfrm>
            <a:off x="870840" y="5310000"/>
            <a:ext cx="4924080" cy="319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Flightless mammals dominate in well-preserved landscapes. Dispersal of large-seeded species critical.</a:t>
            </a:r>
            <a:endParaRPr b="0" lang="en-HK" sz="880" spc="-1" strike="noStrike">
              <a:latin typeface="Arial"/>
            </a:endParaRPr>
          </a:p>
        </p:txBody>
      </p:sp>
      <p:sp>
        <p:nvSpPr>
          <p:cNvPr id="577" name="Shape 20"/>
          <p:cNvSpPr/>
          <p:nvPr/>
        </p:nvSpPr>
        <p:spPr>
          <a:xfrm>
            <a:off x="481320" y="5823360"/>
            <a:ext cx="5357520" cy="544320"/>
          </a:xfrm>
          <a:custGeom>
            <a:avLst/>
            <a:gdLst/>
            <a:ahLst/>
            <a:rect l="l" t="t" r="r" b="b"/>
            <a:pathLst>
              <a:path w="5358063" h="545432">
                <a:moveTo>
                  <a:pt x="64170" y="0"/>
                </a:moveTo>
                <a:lnTo>
                  <a:pt x="5293893" y="0"/>
                </a:lnTo>
                <a:cubicBezTo>
                  <a:pt x="5329333" y="0"/>
                  <a:pt x="5358063" y="28730"/>
                  <a:pt x="5358063" y="64170"/>
                </a:cubicBezTo>
                <a:lnTo>
                  <a:pt x="5358063" y="481262"/>
                </a:lnTo>
                <a:cubicBezTo>
                  <a:pt x="5358063" y="516702"/>
                  <a:pt x="5329333" y="545432"/>
                  <a:pt x="5293893" y="545432"/>
                </a:cubicBezTo>
                <a:lnTo>
                  <a:pt x="64170" y="545432"/>
                </a:lnTo>
                <a:cubicBezTo>
                  <a:pt x="28754" y="545432"/>
                  <a:pt x="0" y="516678"/>
                  <a:pt x="0" y="481262"/>
                </a:cubicBezTo>
                <a:lnTo>
                  <a:pt x="0" y="64170"/>
                </a:lnTo>
                <a:cubicBezTo>
                  <a:pt x="0" y="28754"/>
                  <a:pt x="28754" y="0"/>
                  <a:pt x="64170" y="0"/>
                </a:cubicBezTo>
                <a:close/>
              </a:path>
            </a:pathLst>
          </a:custGeom>
          <a:solidFill>
            <a:srgbClr val="5f6f6b">
              <a:alpha val="10000"/>
            </a:srgbClr>
          </a:solidFill>
          <a:ln w="0">
            <a:noFill/>
          </a:ln>
        </p:spPr>
        <p:style>
          <a:lnRef idx="0"/>
          <a:fillRef idx="0"/>
          <a:effectRef idx="0"/>
          <a:fontRef idx="minor"/>
        </p:style>
      </p:sp>
      <p:sp>
        <p:nvSpPr>
          <p:cNvPr id="578" name="Shape 21"/>
          <p:cNvSpPr/>
          <p:nvPr/>
        </p:nvSpPr>
        <p:spPr>
          <a:xfrm>
            <a:off x="577440" y="5951520"/>
            <a:ext cx="199440" cy="159480"/>
          </a:xfrm>
          <a:custGeom>
            <a:avLst/>
            <a:gdLst/>
            <a:ahLst/>
            <a:rect l="l" t="t" r="r" b="b"/>
            <a:pathLst>
              <a:path w="200526" h="160421">
                <a:moveTo>
                  <a:pt x="110289" y="39009"/>
                </a:moveTo>
                <a:lnTo>
                  <a:pt x="94028" y="34935"/>
                </a:lnTo>
                <a:cubicBezTo>
                  <a:pt x="91991" y="34434"/>
                  <a:pt x="90488" y="32711"/>
                  <a:pt x="90268" y="30612"/>
                </a:cubicBezTo>
                <a:cubicBezTo>
                  <a:pt x="90049" y="28512"/>
                  <a:pt x="91145" y="26507"/>
                  <a:pt x="92994" y="25567"/>
                </a:cubicBezTo>
                <a:lnTo>
                  <a:pt x="105778" y="19175"/>
                </a:lnTo>
                <a:lnTo>
                  <a:pt x="92211" y="8992"/>
                </a:lnTo>
                <a:cubicBezTo>
                  <a:pt x="90488" y="7708"/>
                  <a:pt x="89767" y="5452"/>
                  <a:pt x="90456" y="3384"/>
                </a:cubicBezTo>
                <a:cubicBezTo>
                  <a:pt x="91145" y="1316"/>
                  <a:pt x="93088" y="0"/>
                  <a:pt x="95250" y="0"/>
                </a:cubicBezTo>
                <a:lnTo>
                  <a:pt x="145382" y="0"/>
                </a:lnTo>
                <a:cubicBezTo>
                  <a:pt x="154844" y="0"/>
                  <a:pt x="163774" y="4449"/>
                  <a:pt x="169445" y="12032"/>
                </a:cubicBezTo>
                <a:lnTo>
                  <a:pt x="187492" y="36095"/>
                </a:lnTo>
                <a:cubicBezTo>
                  <a:pt x="189435" y="38695"/>
                  <a:pt x="190500" y="41860"/>
                  <a:pt x="190500" y="45118"/>
                </a:cubicBezTo>
                <a:cubicBezTo>
                  <a:pt x="190500" y="53421"/>
                  <a:pt x="183764" y="60158"/>
                  <a:pt x="175461" y="60158"/>
                </a:cubicBezTo>
                <a:lnTo>
                  <a:pt x="168724" y="60158"/>
                </a:lnTo>
                <a:cubicBezTo>
                  <a:pt x="163398" y="60158"/>
                  <a:pt x="158290" y="58059"/>
                  <a:pt x="154531" y="54299"/>
                </a:cubicBezTo>
                <a:lnTo>
                  <a:pt x="150363" y="50132"/>
                </a:lnTo>
                <a:lnTo>
                  <a:pt x="140337" y="50132"/>
                </a:lnTo>
                <a:lnTo>
                  <a:pt x="140337" y="56868"/>
                </a:lnTo>
                <a:cubicBezTo>
                  <a:pt x="140337" y="64638"/>
                  <a:pt x="144348" y="71876"/>
                  <a:pt x="150927" y="76012"/>
                </a:cubicBezTo>
                <a:lnTo>
                  <a:pt x="184328" y="96879"/>
                </a:lnTo>
                <a:cubicBezTo>
                  <a:pt x="194385" y="103177"/>
                  <a:pt x="200495" y="114175"/>
                  <a:pt x="200495" y="126050"/>
                </a:cubicBezTo>
                <a:cubicBezTo>
                  <a:pt x="200495" y="145037"/>
                  <a:pt x="185111" y="160452"/>
                  <a:pt x="166092" y="160452"/>
                </a:cubicBezTo>
                <a:lnTo>
                  <a:pt x="10120" y="160421"/>
                </a:lnTo>
                <a:cubicBezTo>
                  <a:pt x="9086" y="160421"/>
                  <a:pt x="8052" y="160296"/>
                  <a:pt x="7112" y="159982"/>
                </a:cubicBezTo>
                <a:cubicBezTo>
                  <a:pt x="4230" y="159105"/>
                  <a:pt x="1880" y="156975"/>
                  <a:pt x="721" y="154155"/>
                </a:cubicBezTo>
                <a:cubicBezTo>
                  <a:pt x="313" y="153121"/>
                  <a:pt x="31" y="151993"/>
                  <a:pt x="0" y="150802"/>
                </a:cubicBezTo>
                <a:cubicBezTo>
                  <a:pt x="-63" y="149643"/>
                  <a:pt x="94" y="148515"/>
                  <a:pt x="407" y="147450"/>
                </a:cubicBezTo>
                <a:cubicBezTo>
                  <a:pt x="1285" y="144567"/>
                  <a:pt x="3415" y="142217"/>
                  <a:pt x="6235" y="141058"/>
                </a:cubicBezTo>
                <a:cubicBezTo>
                  <a:pt x="7175" y="140682"/>
                  <a:pt x="8178" y="140431"/>
                  <a:pt x="9212" y="140368"/>
                </a:cubicBezTo>
                <a:lnTo>
                  <a:pt x="135763" y="129089"/>
                </a:lnTo>
                <a:cubicBezTo>
                  <a:pt x="138363" y="128869"/>
                  <a:pt x="140368" y="126676"/>
                  <a:pt x="140368" y="124044"/>
                </a:cubicBezTo>
                <a:cubicBezTo>
                  <a:pt x="140368" y="122697"/>
                  <a:pt x="139836" y="121412"/>
                  <a:pt x="138896" y="120472"/>
                </a:cubicBezTo>
                <a:lnTo>
                  <a:pt x="124984" y="106561"/>
                </a:lnTo>
                <a:cubicBezTo>
                  <a:pt x="115585" y="97161"/>
                  <a:pt x="110289" y="84409"/>
                  <a:pt x="110289" y="71124"/>
                </a:cubicBezTo>
                <a:lnTo>
                  <a:pt x="110289" y="39009"/>
                </a:lnTo>
                <a:close/>
                <a:moveTo>
                  <a:pt x="160421" y="22653"/>
                </a:moveTo>
                <a:cubicBezTo>
                  <a:pt x="160421" y="22622"/>
                  <a:pt x="160421" y="22591"/>
                  <a:pt x="160421" y="22559"/>
                </a:cubicBezTo>
                <a:cubicBezTo>
                  <a:pt x="160421" y="22528"/>
                  <a:pt x="160421" y="22497"/>
                  <a:pt x="160421" y="22465"/>
                </a:cubicBezTo>
                <a:lnTo>
                  <a:pt x="160421" y="22653"/>
                </a:lnTo>
                <a:close/>
                <a:moveTo>
                  <a:pt x="160014" y="24972"/>
                </a:moveTo>
                <a:lnTo>
                  <a:pt x="145476" y="21337"/>
                </a:lnTo>
                <a:cubicBezTo>
                  <a:pt x="145413" y="21745"/>
                  <a:pt x="145382" y="22152"/>
                  <a:pt x="145382" y="22559"/>
                </a:cubicBezTo>
                <a:cubicBezTo>
                  <a:pt x="145382" y="26726"/>
                  <a:pt x="148734" y="30079"/>
                  <a:pt x="152901" y="30079"/>
                </a:cubicBezTo>
                <a:cubicBezTo>
                  <a:pt x="156223" y="30079"/>
                  <a:pt x="159011" y="27948"/>
                  <a:pt x="160014" y="24972"/>
                </a:cubicBezTo>
                <a:close/>
                <a:moveTo>
                  <a:pt x="41014" y="36502"/>
                </a:moveTo>
                <a:cubicBezTo>
                  <a:pt x="46121" y="31959"/>
                  <a:pt x="53672" y="31426"/>
                  <a:pt x="59343" y="35217"/>
                </a:cubicBezTo>
                <a:lnTo>
                  <a:pt x="100263" y="62476"/>
                </a:lnTo>
                <a:lnTo>
                  <a:pt x="100263" y="71093"/>
                </a:lnTo>
                <a:cubicBezTo>
                  <a:pt x="100263" y="81370"/>
                  <a:pt x="102895" y="91396"/>
                  <a:pt x="107783" y="100232"/>
                </a:cubicBezTo>
                <a:lnTo>
                  <a:pt x="35092" y="100232"/>
                </a:lnTo>
                <a:cubicBezTo>
                  <a:pt x="32993" y="100232"/>
                  <a:pt x="31113" y="98916"/>
                  <a:pt x="30392" y="96973"/>
                </a:cubicBezTo>
                <a:cubicBezTo>
                  <a:pt x="29672" y="95031"/>
                  <a:pt x="30236" y="92806"/>
                  <a:pt x="31834" y="91427"/>
                </a:cubicBezTo>
                <a:lnTo>
                  <a:pt x="53578" y="72785"/>
                </a:lnTo>
                <a:lnTo>
                  <a:pt x="5765" y="80148"/>
                </a:lnTo>
                <a:cubicBezTo>
                  <a:pt x="3572" y="80493"/>
                  <a:pt x="1410" y="79333"/>
                  <a:pt x="470" y="77328"/>
                </a:cubicBezTo>
                <a:cubicBezTo>
                  <a:pt x="-470" y="75323"/>
                  <a:pt x="31" y="72941"/>
                  <a:pt x="1692" y="71438"/>
                </a:cubicBezTo>
                <a:lnTo>
                  <a:pt x="41014" y="36502"/>
                </a:lnTo>
                <a:close/>
              </a:path>
            </a:pathLst>
          </a:custGeom>
          <a:solidFill>
            <a:srgbClr val="5f6f6b"/>
          </a:solidFill>
          <a:ln w="0">
            <a:noFill/>
          </a:ln>
        </p:spPr>
        <p:style>
          <a:lnRef idx="0"/>
          <a:fillRef idx="0"/>
          <a:effectRef idx="0"/>
          <a:fontRef idx="minor"/>
        </p:style>
      </p:sp>
      <p:sp>
        <p:nvSpPr>
          <p:cNvPr id="579" name="Text 22"/>
          <p:cNvSpPr/>
          <p:nvPr/>
        </p:nvSpPr>
        <p:spPr>
          <a:xfrm>
            <a:off x="874440" y="5919480"/>
            <a:ext cx="3416400" cy="191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Bats</a:t>
            </a:r>
            <a:endParaRPr b="0" lang="en-HK" sz="1010" spc="-1" strike="noStrike">
              <a:latin typeface="Arial"/>
            </a:endParaRPr>
          </a:p>
        </p:txBody>
      </p:sp>
      <p:sp>
        <p:nvSpPr>
          <p:cNvPr id="580" name="Text 23"/>
          <p:cNvSpPr/>
          <p:nvPr/>
        </p:nvSpPr>
        <p:spPr>
          <a:xfrm>
            <a:off x="874440" y="6112080"/>
            <a:ext cx="3408120" cy="1594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Key during early succession. Decline in importance as forests mature.</a:t>
            </a:r>
            <a:endParaRPr b="0" lang="en-HK" sz="880" spc="-1" strike="noStrike">
              <a:latin typeface="Arial"/>
            </a:endParaRPr>
          </a:p>
        </p:txBody>
      </p:sp>
      <p:sp>
        <p:nvSpPr>
          <p:cNvPr id="581" name="Shape 24"/>
          <p:cNvSpPr/>
          <p:nvPr/>
        </p:nvSpPr>
        <p:spPr>
          <a:xfrm>
            <a:off x="6192720" y="1315440"/>
            <a:ext cx="5678280" cy="3191400"/>
          </a:xfrm>
          <a:custGeom>
            <a:avLst/>
            <a:gdLst/>
            <a:ahLst/>
            <a:rect l="l" t="t" r="r" b="b"/>
            <a:pathLst>
              <a:path w="5678905" h="3192379">
                <a:moveTo>
                  <a:pt x="96250" y="0"/>
                </a:moveTo>
                <a:lnTo>
                  <a:pt x="5582655" y="0"/>
                </a:lnTo>
                <a:cubicBezTo>
                  <a:pt x="5635813" y="0"/>
                  <a:pt x="5678905" y="43093"/>
                  <a:pt x="5678905" y="96250"/>
                </a:cubicBezTo>
                <a:lnTo>
                  <a:pt x="5678905" y="3096129"/>
                </a:lnTo>
                <a:cubicBezTo>
                  <a:pt x="5678905" y="3149286"/>
                  <a:pt x="5635813" y="3192379"/>
                  <a:pt x="5582655" y="3192379"/>
                </a:cubicBezTo>
                <a:lnTo>
                  <a:pt x="96250" y="3192379"/>
                </a:lnTo>
                <a:cubicBezTo>
                  <a:pt x="43093" y="3192379"/>
                  <a:pt x="0" y="3149286"/>
                  <a:pt x="0" y="3096129"/>
                </a:cubicBezTo>
                <a:lnTo>
                  <a:pt x="0" y="96250"/>
                </a:lnTo>
                <a:cubicBezTo>
                  <a:pt x="0" y="43093"/>
                  <a:pt x="43093" y="0"/>
                  <a:pt x="96250" y="0"/>
                </a:cubicBezTo>
                <a:close/>
              </a:path>
            </a:pathLst>
          </a:custGeom>
          <a:solidFill>
            <a:srgbClr val="ffffff"/>
          </a:solidFill>
          <a:ln w="0">
            <a:noFill/>
          </a:ln>
          <a:effectLst>
            <a:outerShdw algn="bl" blurRad="24120" dir="5400000" dist="7920" kx="0" ky="0" rotWithShape="0" sx="100000" sy="100000">
              <a:srgbClr val="000000">
                <a:alpha val="10000"/>
              </a:srgbClr>
            </a:outerShdw>
          </a:effectLst>
        </p:spPr>
        <p:style>
          <a:lnRef idx="0"/>
          <a:fillRef idx="0"/>
          <a:effectRef idx="0"/>
          <a:fontRef idx="minor"/>
        </p:style>
      </p:sp>
      <p:sp>
        <p:nvSpPr>
          <p:cNvPr id="582" name="Image 0"/>
          <p:cNvSpPr/>
          <p:nvPr/>
        </p:nvSpPr>
        <p:spPr>
          <a:xfrm>
            <a:off x="6192720" y="1315440"/>
            <a:ext cx="5678280" cy="3191400"/>
          </a:xfrm>
          <a:prstGeom prst="roundRect">
            <a:avLst>
              <a:gd name="adj" fmla="val 3015"/>
            </a:avLst>
          </a:prstGeom>
          <a:blipFill rotWithShape="0">
            <a:blip r:embed="rId1"/>
            <a:srcRect/>
            <a:stretch/>
          </a:blipFill>
          <a:ln w="0">
            <a:noFill/>
          </a:ln>
        </p:spPr>
        <p:style>
          <a:lnRef idx="0"/>
          <a:fillRef idx="0"/>
          <a:effectRef idx="0"/>
          <a:fontRef idx="minor"/>
        </p:style>
      </p:sp>
      <p:sp>
        <p:nvSpPr>
          <p:cNvPr id="583" name="Shape 25"/>
          <p:cNvSpPr/>
          <p:nvPr/>
        </p:nvSpPr>
        <p:spPr>
          <a:xfrm>
            <a:off x="6192720" y="4638240"/>
            <a:ext cx="5678280" cy="1859760"/>
          </a:xfrm>
          <a:custGeom>
            <a:avLst/>
            <a:gdLst/>
            <a:ahLst/>
            <a:rect l="l" t="t" r="r" b="b"/>
            <a:pathLst>
              <a:path w="5678905" h="1860884">
                <a:moveTo>
                  <a:pt x="96245" y="0"/>
                </a:moveTo>
                <a:lnTo>
                  <a:pt x="5582660" y="0"/>
                </a:lnTo>
                <a:cubicBezTo>
                  <a:pt x="5635815" y="0"/>
                  <a:pt x="5678905" y="43090"/>
                  <a:pt x="5678905" y="96245"/>
                </a:cubicBezTo>
                <a:lnTo>
                  <a:pt x="5678905" y="1764639"/>
                </a:lnTo>
                <a:cubicBezTo>
                  <a:pt x="5678905" y="1817794"/>
                  <a:pt x="5635815" y="1860884"/>
                  <a:pt x="5582660" y="1860884"/>
                </a:cubicBezTo>
                <a:lnTo>
                  <a:pt x="96245" y="1860884"/>
                </a:lnTo>
                <a:cubicBezTo>
                  <a:pt x="43090" y="1860884"/>
                  <a:pt x="0" y="1817794"/>
                  <a:pt x="0" y="1764639"/>
                </a:cubicBezTo>
                <a:lnTo>
                  <a:pt x="0" y="96245"/>
                </a:lnTo>
                <a:cubicBezTo>
                  <a:pt x="0" y="43126"/>
                  <a:pt x="43126" y="0"/>
                  <a:pt x="96245" y="0"/>
                </a:cubicBezTo>
                <a:close/>
              </a:path>
            </a:pathLst>
          </a:custGeom>
          <a:solidFill>
            <a:srgbClr val="2f3e3b"/>
          </a:solidFill>
          <a:ln w="0">
            <a:noFill/>
          </a:ln>
        </p:spPr>
        <p:style>
          <a:lnRef idx="0"/>
          <a:fillRef idx="0"/>
          <a:effectRef idx="0"/>
          <a:fontRef idx="minor"/>
        </p:style>
      </p:sp>
      <p:sp>
        <p:nvSpPr>
          <p:cNvPr id="584" name="Text 26"/>
          <p:cNvSpPr/>
          <p:nvPr/>
        </p:nvSpPr>
        <p:spPr>
          <a:xfrm>
            <a:off x="6352920" y="4798440"/>
            <a:ext cx="5429520" cy="223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Sorts Mill Goudy"/>
                <a:ea typeface="Sorts Mill Goudy"/>
              </a:rPr>
              <a:t>Rare-Biased Dispersal</a:t>
            </a:r>
            <a:endParaRPr b="0" lang="en-HK" sz="1130" spc="-1" strike="noStrike">
              <a:latin typeface="Arial"/>
            </a:endParaRPr>
          </a:p>
        </p:txBody>
      </p:sp>
      <p:sp>
        <p:nvSpPr>
          <p:cNvPr id="585" name="Text 27"/>
          <p:cNvSpPr/>
          <p:nvPr/>
        </p:nvSpPr>
        <p:spPr>
          <a:xfrm>
            <a:off x="6352920" y="5119560"/>
            <a:ext cx="5421600" cy="416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ffffff"/>
                </a:solidFill>
                <a:latin typeface="Quattrocento Sans"/>
                <a:ea typeface="Quattrocento Sans"/>
              </a:rPr>
              <a:t>Generalist birds increase plant diversity through </a:t>
            </a:r>
            <a:r>
              <a:rPr b="1" lang="en-US" sz="1010" spc="-1" strike="noStrike">
                <a:solidFill>
                  <a:srgbClr val="ffffff"/>
                </a:solidFill>
                <a:latin typeface="Quattrocento Sans"/>
                <a:ea typeface="Quattrocento Sans"/>
              </a:rPr>
              <a:t>antiapostatic foraging</a:t>
            </a:r>
            <a:r>
              <a:rPr b="0" lang="en-US" sz="1010" spc="-1" strike="noStrike">
                <a:solidFill>
                  <a:srgbClr val="ffffff"/>
                </a:solidFill>
                <a:latin typeface="Quattrocento Sans"/>
                <a:ea typeface="Quattrocento Sans"/>
              </a:rPr>
              <a:t>—preferentially consuming fruits of rare species:</a:t>
            </a:r>
            <a:endParaRPr b="0" lang="en-HK" sz="1010" spc="-1" strike="noStrike">
              <a:latin typeface="Arial"/>
            </a:endParaRPr>
          </a:p>
        </p:txBody>
      </p:sp>
      <p:sp>
        <p:nvSpPr>
          <p:cNvPr id="586" name="Shape 28"/>
          <p:cNvSpPr/>
          <p:nvPr/>
        </p:nvSpPr>
        <p:spPr>
          <a:xfrm>
            <a:off x="6384960" y="5664960"/>
            <a:ext cx="95040" cy="127080"/>
          </a:xfrm>
          <a:custGeom>
            <a:avLst/>
            <a:gdLst/>
            <a:ahLst/>
            <a:rect l="l" t="t" r="r" b="b"/>
            <a:pathLst>
              <a:path w="96253" h="128337">
                <a:moveTo>
                  <a:pt x="53791" y="4361"/>
                </a:moveTo>
                <a:cubicBezTo>
                  <a:pt x="50658" y="1228"/>
                  <a:pt x="45570" y="1228"/>
                  <a:pt x="42436" y="4361"/>
                </a:cubicBezTo>
                <a:lnTo>
                  <a:pt x="2331" y="44467"/>
                </a:lnTo>
                <a:cubicBezTo>
                  <a:pt x="-802" y="47600"/>
                  <a:pt x="-802" y="52688"/>
                  <a:pt x="2331" y="55822"/>
                </a:cubicBezTo>
                <a:cubicBezTo>
                  <a:pt x="5464" y="58955"/>
                  <a:pt x="10553" y="58955"/>
                  <a:pt x="13686" y="55822"/>
                </a:cubicBezTo>
                <a:lnTo>
                  <a:pt x="40105" y="29402"/>
                </a:lnTo>
                <a:lnTo>
                  <a:pt x="40105" y="122321"/>
                </a:lnTo>
                <a:cubicBezTo>
                  <a:pt x="40105" y="126758"/>
                  <a:pt x="43690" y="130342"/>
                  <a:pt x="48126" y="130342"/>
                </a:cubicBezTo>
                <a:cubicBezTo>
                  <a:pt x="52563" y="130342"/>
                  <a:pt x="56147" y="126758"/>
                  <a:pt x="56147" y="122321"/>
                </a:cubicBezTo>
                <a:lnTo>
                  <a:pt x="56147" y="29402"/>
                </a:lnTo>
                <a:lnTo>
                  <a:pt x="82567" y="55822"/>
                </a:lnTo>
                <a:cubicBezTo>
                  <a:pt x="85700" y="58955"/>
                  <a:pt x="90788" y="58955"/>
                  <a:pt x="93922" y="55822"/>
                </a:cubicBezTo>
                <a:cubicBezTo>
                  <a:pt x="97055" y="52688"/>
                  <a:pt x="97055" y="47600"/>
                  <a:pt x="93922" y="44467"/>
                </a:cubicBezTo>
                <a:lnTo>
                  <a:pt x="53816" y="4361"/>
                </a:lnTo>
                <a:close/>
              </a:path>
            </a:pathLst>
          </a:custGeom>
          <a:solidFill>
            <a:srgbClr val="8fb7ac"/>
          </a:solidFill>
          <a:ln w="0">
            <a:noFill/>
          </a:ln>
        </p:spPr>
        <p:style>
          <a:lnRef idx="0"/>
          <a:fillRef idx="0"/>
          <a:effectRef idx="0"/>
          <a:fontRef idx="minor"/>
        </p:style>
      </p:sp>
      <p:sp>
        <p:nvSpPr>
          <p:cNvPr id="587" name="Text 29"/>
          <p:cNvSpPr/>
          <p:nvPr/>
        </p:nvSpPr>
        <p:spPr>
          <a:xfrm>
            <a:off x="6577560" y="5632920"/>
            <a:ext cx="2590200" cy="191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solidFill>
                <a:latin typeface="Quattrocento Sans"/>
                <a:ea typeface="Quattrocento Sans"/>
              </a:rPr>
              <a:t>Increases odds for rare species establishment</a:t>
            </a:r>
            <a:endParaRPr b="0" lang="en-HK" sz="1010" spc="-1" strike="noStrike">
              <a:latin typeface="Arial"/>
            </a:endParaRPr>
          </a:p>
        </p:txBody>
      </p:sp>
      <p:sp>
        <p:nvSpPr>
          <p:cNvPr id="588" name="Shape 30"/>
          <p:cNvSpPr/>
          <p:nvPr/>
        </p:nvSpPr>
        <p:spPr>
          <a:xfrm>
            <a:off x="6384960" y="5921640"/>
            <a:ext cx="95040" cy="127080"/>
          </a:xfrm>
          <a:custGeom>
            <a:avLst/>
            <a:gdLst/>
            <a:ahLst/>
            <a:rect l="l" t="t" r="r" b="b"/>
            <a:pathLst>
              <a:path w="96253" h="128337">
                <a:moveTo>
                  <a:pt x="53791" y="4361"/>
                </a:moveTo>
                <a:cubicBezTo>
                  <a:pt x="50658" y="1228"/>
                  <a:pt x="45570" y="1228"/>
                  <a:pt x="42436" y="4361"/>
                </a:cubicBezTo>
                <a:lnTo>
                  <a:pt x="2331" y="44467"/>
                </a:lnTo>
                <a:cubicBezTo>
                  <a:pt x="-802" y="47600"/>
                  <a:pt x="-802" y="52688"/>
                  <a:pt x="2331" y="55822"/>
                </a:cubicBezTo>
                <a:cubicBezTo>
                  <a:pt x="5464" y="58955"/>
                  <a:pt x="10553" y="58955"/>
                  <a:pt x="13686" y="55822"/>
                </a:cubicBezTo>
                <a:lnTo>
                  <a:pt x="40105" y="29402"/>
                </a:lnTo>
                <a:lnTo>
                  <a:pt x="40105" y="122321"/>
                </a:lnTo>
                <a:cubicBezTo>
                  <a:pt x="40105" y="126758"/>
                  <a:pt x="43690" y="130342"/>
                  <a:pt x="48126" y="130342"/>
                </a:cubicBezTo>
                <a:cubicBezTo>
                  <a:pt x="52563" y="130342"/>
                  <a:pt x="56147" y="126758"/>
                  <a:pt x="56147" y="122321"/>
                </a:cubicBezTo>
                <a:lnTo>
                  <a:pt x="56147" y="29402"/>
                </a:lnTo>
                <a:lnTo>
                  <a:pt x="82567" y="55822"/>
                </a:lnTo>
                <a:cubicBezTo>
                  <a:pt x="85700" y="58955"/>
                  <a:pt x="90788" y="58955"/>
                  <a:pt x="93922" y="55822"/>
                </a:cubicBezTo>
                <a:cubicBezTo>
                  <a:pt x="97055" y="52688"/>
                  <a:pt x="97055" y="47600"/>
                  <a:pt x="93922" y="44467"/>
                </a:cubicBezTo>
                <a:lnTo>
                  <a:pt x="53816" y="4361"/>
                </a:lnTo>
                <a:close/>
              </a:path>
            </a:pathLst>
          </a:custGeom>
          <a:solidFill>
            <a:srgbClr val="8fb7ac"/>
          </a:solidFill>
          <a:ln w="0">
            <a:noFill/>
          </a:ln>
        </p:spPr>
        <p:style>
          <a:lnRef idx="0"/>
          <a:fillRef idx="0"/>
          <a:effectRef idx="0"/>
          <a:fontRef idx="minor"/>
        </p:style>
      </p:sp>
      <p:sp>
        <p:nvSpPr>
          <p:cNvPr id="589" name="Text 31"/>
          <p:cNvSpPr/>
          <p:nvPr/>
        </p:nvSpPr>
        <p:spPr>
          <a:xfrm>
            <a:off x="6577560" y="5889600"/>
            <a:ext cx="2935080" cy="191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solidFill>
                <a:latin typeface="Quattrocento Sans"/>
                <a:ea typeface="Quattrocento Sans"/>
              </a:rPr>
              <a:t>Prevents competitive exclusion by common species</a:t>
            </a:r>
            <a:endParaRPr b="0" lang="en-HK" sz="1010" spc="-1" strike="noStrike">
              <a:latin typeface="Arial"/>
            </a:endParaRPr>
          </a:p>
        </p:txBody>
      </p:sp>
      <p:sp>
        <p:nvSpPr>
          <p:cNvPr id="590" name="Shape 32"/>
          <p:cNvSpPr/>
          <p:nvPr/>
        </p:nvSpPr>
        <p:spPr>
          <a:xfrm>
            <a:off x="6384960" y="6178320"/>
            <a:ext cx="95040" cy="127080"/>
          </a:xfrm>
          <a:custGeom>
            <a:avLst/>
            <a:gdLst/>
            <a:ahLst/>
            <a:rect l="l" t="t" r="r" b="b"/>
            <a:pathLst>
              <a:path w="96253" h="128337">
                <a:moveTo>
                  <a:pt x="53791" y="4361"/>
                </a:moveTo>
                <a:cubicBezTo>
                  <a:pt x="50658" y="1228"/>
                  <a:pt x="45570" y="1228"/>
                  <a:pt x="42436" y="4361"/>
                </a:cubicBezTo>
                <a:lnTo>
                  <a:pt x="2331" y="44467"/>
                </a:lnTo>
                <a:cubicBezTo>
                  <a:pt x="-802" y="47600"/>
                  <a:pt x="-802" y="52688"/>
                  <a:pt x="2331" y="55822"/>
                </a:cubicBezTo>
                <a:cubicBezTo>
                  <a:pt x="5464" y="58955"/>
                  <a:pt x="10553" y="58955"/>
                  <a:pt x="13686" y="55822"/>
                </a:cubicBezTo>
                <a:lnTo>
                  <a:pt x="40105" y="29402"/>
                </a:lnTo>
                <a:lnTo>
                  <a:pt x="40105" y="122321"/>
                </a:lnTo>
                <a:cubicBezTo>
                  <a:pt x="40105" y="126758"/>
                  <a:pt x="43690" y="130342"/>
                  <a:pt x="48126" y="130342"/>
                </a:cubicBezTo>
                <a:cubicBezTo>
                  <a:pt x="52563" y="130342"/>
                  <a:pt x="56147" y="126758"/>
                  <a:pt x="56147" y="122321"/>
                </a:cubicBezTo>
                <a:lnTo>
                  <a:pt x="56147" y="29402"/>
                </a:lnTo>
                <a:lnTo>
                  <a:pt x="82567" y="55822"/>
                </a:lnTo>
                <a:cubicBezTo>
                  <a:pt x="85700" y="58955"/>
                  <a:pt x="90788" y="58955"/>
                  <a:pt x="93922" y="55822"/>
                </a:cubicBezTo>
                <a:cubicBezTo>
                  <a:pt x="97055" y="52688"/>
                  <a:pt x="97055" y="47600"/>
                  <a:pt x="93922" y="44467"/>
                </a:cubicBezTo>
                <a:lnTo>
                  <a:pt x="53816" y="4361"/>
                </a:lnTo>
                <a:close/>
              </a:path>
            </a:pathLst>
          </a:custGeom>
          <a:solidFill>
            <a:srgbClr val="8fb7ac"/>
          </a:solidFill>
          <a:ln w="0">
            <a:noFill/>
          </a:ln>
        </p:spPr>
        <p:style>
          <a:lnRef idx="0"/>
          <a:fillRef idx="0"/>
          <a:effectRef idx="0"/>
          <a:fontRef idx="minor"/>
        </p:style>
      </p:sp>
      <p:sp>
        <p:nvSpPr>
          <p:cNvPr id="591" name="Text 33"/>
          <p:cNvSpPr/>
          <p:nvPr/>
        </p:nvSpPr>
        <p:spPr>
          <a:xfrm>
            <a:off x="6577560" y="6146280"/>
            <a:ext cx="2702520" cy="191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solidFill>
                <a:latin typeface="Quattrocento Sans"/>
                <a:ea typeface="Quattrocento Sans"/>
              </a:rPr>
              <a:t>Maintains diversity in regenerating communities</a:t>
            </a:r>
            <a:endParaRPr b="0" lang="en-HK" sz="1010" spc="-1" strike="noStrike">
              <a:latin typeface="Arial"/>
            </a:endParaRPr>
          </a:p>
        </p:txBody>
      </p:sp>
      <p:sp>
        <p:nvSpPr>
          <p:cNvPr id="592" name="Shape 34"/>
          <p:cNvSpPr/>
          <p:nvPr/>
        </p:nvSpPr>
        <p:spPr>
          <a:xfrm>
            <a:off x="6192720" y="6627240"/>
            <a:ext cx="5678280" cy="768960"/>
          </a:xfrm>
          <a:custGeom>
            <a:avLst/>
            <a:gdLst/>
            <a:ahLst/>
            <a:rect l="l" t="t" r="r" b="b"/>
            <a:pathLst>
              <a:path w="5678905" h="770021">
                <a:moveTo>
                  <a:pt x="96253" y="0"/>
                </a:moveTo>
                <a:lnTo>
                  <a:pt x="5582653" y="0"/>
                </a:lnTo>
                <a:cubicBezTo>
                  <a:pt x="5635811" y="0"/>
                  <a:pt x="5678905" y="43094"/>
                  <a:pt x="5678905" y="96253"/>
                </a:cubicBezTo>
                <a:lnTo>
                  <a:pt x="5678905" y="673768"/>
                </a:lnTo>
                <a:cubicBezTo>
                  <a:pt x="5678905" y="726927"/>
                  <a:pt x="5635811" y="770021"/>
                  <a:pt x="5582653" y="770021"/>
                </a:cubicBezTo>
                <a:lnTo>
                  <a:pt x="96253" y="770021"/>
                </a:lnTo>
                <a:cubicBezTo>
                  <a:pt x="43094" y="770021"/>
                  <a:pt x="0" y="726927"/>
                  <a:pt x="0" y="673768"/>
                </a:cubicBezTo>
                <a:lnTo>
                  <a:pt x="0" y="96253"/>
                </a:lnTo>
                <a:cubicBezTo>
                  <a:pt x="0" y="43129"/>
                  <a:pt x="43129" y="0"/>
                  <a:pt x="96253" y="0"/>
                </a:cubicBezTo>
                <a:close/>
              </a:path>
            </a:pathLst>
          </a:custGeom>
          <a:solidFill>
            <a:srgbClr val="4c8a7a"/>
          </a:solidFill>
          <a:ln w="0">
            <a:noFill/>
          </a:ln>
        </p:spPr>
        <p:style>
          <a:lnRef idx="0"/>
          <a:fillRef idx="0"/>
          <a:effectRef idx="0"/>
          <a:fontRef idx="minor"/>
        </p:style>
      </p:sp>
      <p:sp>
        <p:nvSpPr>
          <p:cNvPr id="593" name="Text 35"/>
          <p:cNvSpPr/>
          <p:nvPr/>
        </p:nvSpPr>
        <p:spPr>
          <a:xfrm>
            <a:off x="6260760" y="6755760"/>
            <a:ext cx="5541840" cy="28764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00" spc="-1" strike="noStrike">
                <a:solidFill>
                  <a:srgbClr val="ffffff"/>
                </a:solidFill>
                <a:latin typeface="Sorts Mill Goudy"/>
                <a:ea typeface="Sorts Mill Goudy"/>
              </a:rPr>
              <a:t>Carbon Connection</a:t>
            </a:r>
            <a:endParaRPr b="0" lang="en-HK" sz="1900" spc="-1" strike="noStrike">
              <a:latin typeface="Arial"/>
            </a:endParaRPr>
          </a:p>
        </p:txBody>
      </p:sp>
      <p:sp>
        <p:nvSpPr>
          <p:cNvPr id="594" name="Text 36"/>
          <p:cNvSpPr/>
          <p:nvPr/>
        </p:nvSpPr>
        <p:spPr>
          <a:xfrm>
            <a:off x="6288840" y="7076520"/>
            <a:ext cx="5485680" cy="1915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10" spc="-1" strike="noStrike">
                <a:solidFill>
                  <a:srgbClr val="ffffff"/>
                </a:solidFill>
                <a:latin typeface="Quattrocento Sans"/>
                <a:ea typeface="Quattrocento Sans"/>
              </a:rPr>
              <a:t>Seed dispersal affects forest carbon storage capacity</a:t>
            </a:r>
            <a:endParaRPr b="0" lang="en-HK" sz="101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595" name="Text 0"/>
          <p:cNvSpPr/>
          <p:nvPr/>
        </p:nvSpPr>
        <p:spPr>
          <a:xfrm>
            <a:off x="336240" y="336240"/>
            <a:ext cx="11578680" cy="167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86" strike="noStrike">
                <a:solidFill>
                  <a:srgbClr val="5f6f6b"/>
                </a:solidFill>
                <a:latin typeface="Quattrocento Sans"/>
                <a:ea typeface="Quattrocento Sans"/>
              </a:rPr>
              <a:t>06 • Animal-Mediated Processes</a:t>
            </a:r>
            <a:endParaRPr b="0" lang="en-HK" sz="920" spc="-1" strike="noStrike">
              <a:latin typeface="Arial"/>
            </a:endParaRPr>
          </a:p>
        </p:txBody>
      </p:sp>
      <p:sp>
        <p:nvSpPr>
          <p:cNvPr id="596" name="Text 1"/>
          <p:cNvSpPr/>
          <p:nvPr/>
        </p:nvSpPr>
        <p:spPr>
          <a:xfrm>
            <a:off x="336240" y="571320"/>
            <a:ext cx="11671200" cy="3351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80" spc="-1" strike="noStrike">
                <a:solidFill>
                  <a:srgbClr val="2f3e3b"/>
                </a:solidFill>
                <a:latin typeface="Sorts Mill Goudy"/>
                <a:ea typeface="Sorts Mill Goudy"/>
              </a:rPr>
              <a:t>Keystone Species &amp; Ecosystem Engineers</a:t>
            </a:r>
            <a:endParaRPr b="0" lang="en-HK" sz="2380" spc="-1" strike="noStrike">
              <a:latin typeface="Arial"/>
            </a:endParaRPr>
          </a:p>
        </p:txBody>
      </p:sp>
      <p:sp>
        <p:nvSpPr>
          <p:cNvPr id="597" name="Text 2"/>
          <p:cNvSpPr/>
          <p:nvPr/>
        </p:nvSpPr>
        <p:spPr>
          <a:xfrm>
            <a:off x="336240" y="974520"/>
            <a:ext cx="11595600" cy="234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90" spc="-1" strike="noStrike">
                <a:solidFill>
                  <a:srgbClr val="5f6f6b"/>
                </a:solidFill>
                <a:latin typeface="Quattrocento Sans"/>
                <a:ea typeface="Quattrocento Sans"/>
              </a:rPr>
              <a:t>Species with disproportionate impacts on forest biodiversity</a:t>
            </a:r>
            <a:endParaRPr b="0" lang="en-HK" sz="1190" spc="-1" strike="noStrike">
              <a:latin typeface="Arial"/>
            </a:endParaRPr>
          </a:p>
        </p:txBody>
      </p:sp>
      <p:sp>
        <p:nvSpPr>
          <p:cNvPr id="598" name="Shape 3"/>
          <p:cNvSpPr/>
          <p:nvPr/>
        </p:nvSpPr>
        <p:spPr>
          <a:xfrm>
            <a:off x="336240" y="1378080"/>
            <a:ext cx="7620840" cy="2166840"/>
          </a:xfrm>
          <a:custGeom>
            <a:avLst/>
            <a:gdLst/>
            <a:ahLst/>
            <a:rect l="l" t="t" r="r" b="b"/>
            <a:pathLst>
              <a:path w="7621050" h="2167840">
                <a:moveTo>
                  <a:pt x="100826" y="0"/>
                </a:moveTo>
                <a:lnTo>
                  <a:pt x="7520224" y="0"/>
                </a:lnTo>
                <a:cubicBezTo>
                  <a:pt x="7575909" y="0"/>
                  <a:pt x="7621050" y="45141"/>
                  <a:pt x="7621050" y="100826"/>
                </a:cubicBezTo>
                <a:lnTo>
                  <a:pt x="7621050" y="2067014"/>
                </a:lnTo>
                <a:cubicBezTo>
                  <a:pt x="7621050" y="2122699"/>
                  <a:pt x="7575909" y="2167840"/>
                  <a:pt x="7520224" y="2167840"/>
                </a:cubicBezTo>
                <a:lnTo>
                  <a:pt x="100826" y="2167840"/>
                </a:lnTo>
                <a:cubicBezTo>
                  <a:pt x="45141" y="2167840"/>
                  <a:pt x="0" y="2122699"/>
                  <a:pt x="0" y="2067014"/>
                </a:cubicBezTo>
                <a:lnTo>
                  <a:pt x="0" y="100826"/>
                </a:lnTo>
                <a:cubicBezTo>
                  <a:pt x="0" y="45179"/>
                  <a:pt x="45179" y="0"/>
                  <a:pt x="100826"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599" name="Text 4"/>
          <p:cNvSpPr/>
          <p:nvPr/>
        </p:nvSpPr>
        <p:spPr>
          <a:xfrm>
            <a:off x="504000" y="1546200"/>
            <a:ext cx="7368480" cy="234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2f3e3b"/>
                </a:solidFill>
                <a:latin typeface="Sorts Mill Goudy"/>
                <a:ea typeface="Sorts Mill Goudy"/>
              </a:rPr>
              <a:t>Defining Keystone Species</a:t>
            </a:r>
            <a:endParaRPr b="0" lang="en-HK" sz="1320" spc="-1" strike="noStrike">
              <a:latin typeface="Arial"/>
            </a:endParaRPr>
          </a:p>
        </p:txBody>
      </p:sp>
      <p:sp>
        <p:nvSpPr>
          <p:cNvPr id="600" name="Text 5"/>
          <p:cNvSpPr/>
          <p:nvPr/>
        </p:nvSpPr>
        <p:spPr>
          <a:xfrm>
            <a:off x="504000" y="1882080"/>
            <a:ext cx="7351920" cy="435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60" spc="-1" strike="noStrike">
                <a:solidFill>
                  <a:srgbClr val="1f2a28"/>
                </a:solidFill>
                <a:latin typeface="Quattrocento Sans"/>
                <a:ea typeface="Quattrocento Sans"/>
              </a:rPr>
              <a:t>Keystone species</a:t>
            </a:r>
            <a:r>
              <a:rPr b="0" lang="en-US" sz="1060" spc="-1" strike="noStrike">
                <a:solidFill>
                  <a:srgbClr val="1f2a28"/>
                </a:solidFill>
                <a:latin typeface="Quattrocento Sans"/>
                <a:ea typeface="Quattrocento Sans"/>
              </a:rPr>
              <a:t> have a disproportionate impact on ecosystem structure and function relative to their abundance. Their presence or absence can cause </a:t>
            </a:r>
            <a:r>
              <a:rPr b="0" lang="en-US" sz="1060" spc="-1" strike="noStrike">
                <a:solidFill>
                  <a:srgbClr val="2f3e3b"/>
                </a:solidFill>
                <a:highlight>
                  <a:srgbClr val="8fb7ac"/>
                </a:highlight>
                <a:latin typeface="Quattrocento Sans"/>
                <a:ea typeface="Quattrocento Sans"/>
              </a:rPr>
              <a:t>cascading effects on community composition and ecosystem processes </a:t>
            </a:r>
            <a:r>
              <a:rPr b="0" lang="en-US" sz="1060" spc="-1" strike="noStrike">
                <a:solidFill>
                  <a:srgbClr val="1f2a28"/>
                </a:solidFill>
                <a:latin typeface="Quattrocento Sans"/>
                <a:ea typeface="Quattrocento Sans"/>
              </a:rPr>
              <a:t>.</a:t>
            </a:r>
            <a:endParaRPr b="0" lang="en-HK" sz="1060" spc="-1" strike="noStrike">
              <a:latin typeface="Arial"/>
            </a:endParaRPr>
          </a:p>
        </p:txBody>
      </p:sp>
      <p:sp>
        <p:nvSpPr>
          <p:cNvPr id="601" name="Shape 6"/>
          <p:cNvSpPr/>
          <p:nvPr/>
        </p:nvSpPr>
        <p:spPr>
          <a:xfrm>
            <a:off x="504000" y="2453400"/>
            <a:ext cx="3578760" cy="923040"/>
          </a:xfrm>
          <a:custGeom>
            <a:avLst/>
            <a:gdLst/>
            <a:ahLst/>
            <a:rect l="l" t="t" r="r" b="b"/>
            <a:pathLst>
              <a:path w="3579457" h="924273">
                <a:moveTo>
                  <a:pt x="67222" y="0"/>
                </a:moveTo>
                <a:lnTo>
                  <a:pt x="3512235" y="0"/>
                </a:lnTo>
                <a:cubicBezTo>
                  <a:pt x="3549360" y="0"/>
                  <a:pt x="3579457" y="30096"/>
                  <a:pt x="3579457" y="67222"/>
                </a:cubicBezTo>
                <a:lnTo>
                  <a:pt x="3579457" y="857051"/>
                </a:lnTo>
                <a:cubicBezTo>
                  <a:pt x="3579457" y="894176"/>
                  <a:pt x="3549360" y="924273"/>
                  <a:pt x="3512235" y="924273"/>
                </a:cubicBezTo>
                <a:lnTo>
                  <a:pt x="67222" y="924273"/>
                </a:lnTo>
                <a:cubicBezTo>
                  <a:pt x="30121" y="924273"/>
                  <a:pt x="0" y="894152"/>
                  <a:pt x="0" y="857051"/>
                </a:cubicBezTo>
                <a:lnTo>
                  <a:pt x="0" y="67222"/>
                </a:lnTo>
                <a:cubicBezTo>
                  <a:pt x="0" y="30096"/>
                  <a:pt x="30096" y="0"/>
                  <a:pt x="67222" y="0"/>
                </a:cubicBezTo>
                <a:close/>
              </a:path>
            </a:pathLst>
          </a:custGeom>
          <a:solidFill>
            <a:srgbClr val="4c8a7a">
              <a:alpha val="10000"/>
            </a:srgbClr>
          </a:solidFill>
          <a:ln w="0">
            <a:noFill/>
          </a:ln>
        </p:spPr>
        <p:style>
          <a:lnRef idx="0"/>
          <a:fillRef idx="0"/>
          <a:effectRef idx="0"/>
          <a:fontRef idx="minor"/>
        </p:style>
      </p:sp>
      <p:sp>
        <p:nvSpPr>
          <p:cNvPr id="602" name="Text 7"/>
          <p:cNvSpPr/>
          <p:nvPr/>
        </p:nvSpPr>
        <p:spPr>
          <a:xfrm>
            <a:off x="638640" y="2588040"/>
            <a:ext cx="3377160" cy="200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f3e3b"/>
                </a:solidFill>
                <a:latin typeface="Quattrocento Sans"/>
                <a:ea typeface="Quattrocento Sans"/>
              </a:rPr>
              <a:t>Keystone vs. Dominant</a:t>
            </a:r>
            <a:endParaRPr b="0" lang="en-HK" sz="1060" spc="-1" strike="noStrike">
              <a:latin typeface="Arial"/>
            </a:endParaRPr>
          </a:p>
        </p:txBody>
      </p:sp>
      <p:sp>
        <p:nvSpPr>
          <p:cNvPr id="603" name="Text 8"/>
          <p:cNvSpPr/>
          <p:nvPr/>
        </p:nvSpPr>
        <p:spPr>
          <a:xfrm>
            <a:off x="638640" y="2856960"/>
            <a:ext cx="3368520" cy="385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920" spc="-1" strike="noStrike">
                <a:solidFill>
                  <a:srgbClr val="5f6f6b"/>
                </a:solidFill>
                <a:latin typeface="Quattrocento Sans"/>
                <a:ea typeface="Quattrocento Sans"/>
              </a:rPr>
              <a:t>Keystone:</a:t>
            </a:r>
            <a:r>
              <a:rPr b="0" lang="en-US" sz="920" spc="-1" strike="noStrike">
                <a:solidFill>
                  <a:srgbClr val="5f6f6b"/>
                </a:solidFill>
                <a:latin typeface="Quattrocento Sans"/>
                <a:ea typeface="Quattrocento Sans"/>
              </a:rPr>
              <a:t> Low abundance, high impact</a:t>
            </a:r>
            <a:endParaRPr b="0" lang="en-HK" sz="920" spc="-1" strike="noStrike">
              <a:latin typeface="Arial"/>
            </a:endParaRPr>
          </a:p>
          <a:p>
            <a:pPr>
              <a:lnSpc>
                <a:spcPct val="140000"/>
              </a:lnSpc>
              <a:buNone/>
            </a:pPr>
            <a:r>
              <a:rPr b="1" lang="en-US" sz="920" spc="-1" strike="noStrike">
                <a:solidFill>
                  <a:srgbClr val="5f6f6b"/>
                </a:solidFill>
                <a:latin typeface="Quattrocento Sans"/>
                <a:ea typeface="Quattrocento Sans"/>
              </a:rPr>
              <a:t>Dominant:</a:t>
            </a:r>
            <a:r>
              <a:rPr b="0" lang="en-US" sz="920" spc="-1" strike="noStrike">
                <a:solidFill>
                  <a:srgbClr val="5f6f6b"/>
                </a:solidFill>
                <a:latin typeface="Quattrocento Sans"/>
                <a:ea typeface="Quattrocento Sans"/>
              </a:rPr>
              <a:t> High abundance, proportional impact</a:t>
            </a:r>
            <a:endParaRPr b="0" lang="en-HK" sz="920" spc="-1" strike="noStrike">
              <a:latin typeface="Arial"/>
            </a:endParaRPr>
          </a:p>
        </p:txBody>
      </p:sp>
      <p:sp>
        <p:nvSpPr>
          <p:cNvPr id="604" name="Shape 9"/>
          <p:cNvSpPr/>
          <p:nvPr/>
        </p:nvSpPr>
        <p:spPr>
          <a:xfrm>
            <a:off x="4214520" y="2453400"/>
            <a:ext cx="3578760" cy="923040"/>
          </a:xfrm>
          <a:custGeom>
            <a:avLst/>
            <a:gdLst/>
            <a:ahLst/>
            <a:rect l="l" t="t" r="r" b="b"/>
            <a:pathLst>
              <a:path w="3579457" h="924273">
                <a:moveTo>
                  <a:pt x="67222" y="0"/>
                </a:moveTo>
                <a:lnTo>
                  <a:pt x="3512235" y="0"/>
                </a:lnTo>
                <a:cubicBezTo>
                  <a:pt x="3549360" y="0"/>
                  <a:pt x="3579457" y="30096"/>
                  <a:pt x="3579457" y="67222"/>
                </a:cubicBezTo>
                <a:lnTo>
                  <a:pt x="3579457" y="857051"/>
                </a:lnTo>
                <a:cubicBezTo>
                  <a:pt x="3579457" y="894176"/>
                  <a:pt x="3549360" y="924273"/>
                  <a:pt x="3512235" y="924273"/>
                </a:cubicBezTo>
                <a:lnTo>
                  <a:pt x="67222" y="924273"/>
                </a:lnTo>
                <a:cubicBezTo>
                  <a:pt x="30121" y="924273"/>
                  <a:pt x="0" y="894152"/>
                  <a:pt x="0" y="857051"/>
                </a:cubicBezTo>
                <a:lnTo>
                  <a:pt x="0" y="67222"/>
                </a:lnTo>
                <a:cubicBezTo>
                  <a:pt x="0" y="30096"/>
                  <a:pt x="30096" y="0"/>
                  <a:pt x="67222" y="0"/>
                </a:cubicBezTo>
                <a:close/>
              </a:path>
            </a:pathLst>
          </a:custGeom>
          <a:solidFill>
            <a:srgbClr val="8fb7ac">
              <a:alpha val="10000"/>
            </a:srgbClr>
          </a:solidFill>
          <a:ln w="0">
            <a:noFill/>
          </a:ln>
        </p:spPr>
        <p:style>
          <a:lnRef idx="0"/>
          <a:fillRef idx="0"/>
          <a:effectRef idx="0"/>
          <a:fontRef idx="minor"/>
        </p:style>
      </p:sp>
      <p:sp>
        <p:nvSpPr>
          <p:cNvPr id="605" name="Text 10"/>
          <p:cNvSpPr/>
          <p:nvPr/>
        </p:nvSpPr>
        <p:spPr>
          <a:xfrm>
            <a:off x="4349160" y="2588040"/>
            <a:ext cx="3377160" cy="200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f3e3b"/>
                </a:solidFill>
                <a:latin typeface="Quattrocento Sans"/>
                <a:ea typeface="Quattrocento Sans"/>
              </a:rPr>
              <a:t>Ecosystem Engineers</a:t>
            </a:r>
            <a:endParaRPr b="0" lang="en-HK" sz="1060" spc="-1" strike="noStrike">
              <a:latin typeface="Arial"/>
            </a:endParaRPr>
          </a:p>
        </p:txBody>
      </p:sp>
      <p:sp>
        <p:nvSpPr>
          <p:cNvPr id="606" name="Text 11"/>
          <p:cNvSpPr/>
          <p:nvPr/>
        </p:nvSpPr>
        <p:spPr>
          <a:xfrm>
            <a:off x="4349160" y="2856960"/>
            <a:ext cx="3368520" cy="385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920" spc="-1" strike="noStrike">
                <a:solidFill>
                  <a:srgbClr val="5f6f6b"/>
                </a:solidFill>
                <a:latin typeface="Quattrocento Sans"/>
                <a:ea typeface="Quattrocento Sans"/>
              </a:rPr>
              <a:t>Species that physically modify habitats, creating resources for other species</a:t>
            </a:r>
            <a:endParaRPr b="0" lang="en-HK" sz="920" spc="-1" strike="noStrike">
              <a:latin typeface="Arial"/>
            </a:endParaRPr>
          </a:p>
        </p:txBody>
      </p:sp>
      <p:sp>
        <p:nvSpPr>
          <p:cNvPr id="607" name="Shape 12"/>
          <p:cNvSpPr/>
          <p:nvPr/>
        </p:nvSpPr>
        <p:spPr>
          <a:xfrm>
            <a:off x="336240" y="3692880"/>
            <a:ext cx="3746880" cy="2964960"/>
          </a:xfrm>
          <a:custGeom>
            <a:avLst/>
            <a:gdLst/>
            <a:ahLst/>
            <a:rect l="l" t="t" r="r" b="b"/>
            <a:pathLst>
              <a:path w="3747507" h="2966076">
                <a:moveTo>
                  <a:pt x="33610" y="0"/>
                </a:moveTo>
                <a:lnTo>
                  <a:pt x="3713897" y="0"/>
                </a:lnTo>
                <a:cubicBezTo>
                  <a:pt x="3732459" y="0"/>
                  <a:pt x="3747507" y="15048"/>
                  <a:pt x="3747507" y="33610"/>
                </a:cubicBezTo>
                <a:lnTo>
                  <a:pt x="3747507" y="2865259"/>
                </a:lnTo>
                <a:cubicBezTo>
                  <a:pt x="3747507" y="2920939"/>
                  <a:pt x="3702369" y="2966076"/>
                  <a:pt x="3646690" y="2966076"/>
                </a:cubicBezTo>
                <a:lnTo>
                  <a:pt x="100817" y="2966076"/>
                </a:lnTo>
                <a:cubicBezTo>
                  <a:pt x="45137" y="2966076"/>
                  <a:pt x="0" y="2920939"/>
                  <a:pt x="0" y="2865259"/>
                </a:cubicBezTo>
                <a:lnTo>
                  <a:pt x="0" y="33610"/>
                </a:lnTo>
                <a:cubicBezTo>
                  <a:pt x="0" y="15048"/>
                  <a:pt x="15048" y="0"/>
                  <a:pt x="33610"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608" name="Shape 13"/>
          <p:cNvSpPr/>
          <p:nvPr/>
        </p:nvSpPr>
        <p:spPr>
          <a:xfrm>
            <a:off x="336240" y="3692880"/>
            <a:ext cx="3746880" cy="32400"/>
          </a:xfrm>
          <a:custGeom>
            <a:avLst/>
            <a:gdLst/>
            <a:ahLst/>
            <a:rect l="l" t="t" r="r" b="b"/>
            <a:pathLst>
              <a:path w="3747507" h="33610">
                <a:moveTo>
                  <a:pt x="33610" y="0"/>
                </a:moveTo>
                <a:lnTo>
                  <a:pt x="3713897" y="0"/>
                </a:lnTo>
                <a:cubicBezTo>
                  <a:pt x="3732459" y="0"/>
                  <a:pt x="3747507" y="15048"/>
                  <a:pt x="3747507" y="33610"/>
                </a:cubicBezTo>
                <a:lnTo>
                  <a:pt x="3747507" y="33610"/>
                </a:lnTo>
                <a:lnTo>
                  <a:pt x="0" y="33610"/>
                </a:lnTo>
                <a:lnTo>
                  <a:pt x="0" y="33610"/>
                </a:lnTo>
                <a:cubicBezTo>
                  <a:pt x="0" y="15048"/>
                  <a:pt x="15048" y="0"/>
                  <a:pt x="33610" y="0"/>
                </a:cubicBezTo>
                <a:close/>
              </a:path>
            </a:pathLst>
          </a:custGeom>
          <a:solidFill>
            <a:srgbClr val="4c8a7a"/>
          </a:solidFill>
          <a:ln w="0">
            <a:noFill/>
          </a:ln>
        </p:spPr>
        <p:style>
          <a:lnRef idx="0"/>
          <a:fillRef idx="0"/>
          <a:effectRef idx="0"/>
          <a:fontRef idx="minor"/>
        </p:style>
      </p:sp>
      <p:sp>
        <p:nvSpPr>
          <p:cNvPr id="609" name="Shape 14"/>
          <p:cNvSpPr/>
          <p:nvPr/>
        </p:nvSpPr>
        <p:spPr>
          <a:xfrm>
            <a:off x="502200" y="3877920"/>
            <a:ext cx="145800" cy="167040"/>
          </a:xfrm>
          <a:custGeom>
            <a:avLst/>
            <a:gdLst/>
            <a:ahLst/>
            <a:rect l="l" t="t" r="r" b="b"/>
            <a:pathLst>
              <a:path w="147043" h="168050">
                <a:moveTo>
                  <a:pt x="73522" y="-10503"/>
                </a:moveTo>
                <a:cubicBezTo>
                  <a:pt x="75819" y="-10503"/>
                  <a:pt x="78018" y="-9486"/>
                  <a:pt x="79528" y="-7713"/>
                </a:cubicBezTo>
                <a:lnTo>
                  <a:pt x="124166" y="44802"/>
                </a:lnTo>
                <a:cubicBezTo>
                  <a:pt x="126169" y="47133"/>
                  <a:pt x="126595" y="50415"/>
                  <a:pt x="125315" y="53205"/>
                </a:cubicBezTo>
                <a:cubicBezTo>
                  <a:pt x="124035" y="55995"/>
                  <a:pt x="121245" y="57767"/>
                  <a:pt x="118160" y="57767"/>
                </a:cubicBezTo>
                <a:lnTo>
                  <a:pt x="109987" y="57767"/>
                </a:lnTo>
                <a:lnTo>
                  <a:pt x="134669" y="86815"/>
                </a:lnTo>
                <a:cubicBezTo>
                  <a:pt x="136672" y="89145"/>
                  <a:pt x="137098" y="92427"/>
                  <a:pt x="135818" y="95217"/>
                </a:cubicBezTo>
                <a:cubicBezTo>
                  <a:pt x="134538" y="98007"/>
                  <a:pt x="131748" y="99779"/>
                  <a:pt x="128663" y="99779"/>
                </a:cubicBezTo>
                <a:lnTo>
                  <a:pt x="116026" y="99779"/>
                </a:lnTo>
                <a:lnTo>
                  <a:pt x="145173" y="134079"/>
                </a:lnTo>
                <a:cubicBezTo>
                  <a:pt x="147175" y="136409"/>
                  <a:pt x="147601" y="139691"/>
                  <a:pt x="146321" y="142481"/>
                </a:cubicBezTo>
                <a:cubicBezTo>
                  <a:pt x="145041" y="145271"/>
                  <a:pt x="142251" y="147043"/>
                  <a:pt x="139166" y="147043"/>
                </a:cubicBezTo>
                <a:lnTo>
                  <a:pt x="84025" y="147043"/>
                </a:lnTo>
                <a:lnTo>
                  <a:pt x="84025" y="168050"/>
                </a:lnTo>
                <a:cubicBezTo>
                  <a:pt x="84025" y="173859"/>
                  <a:pt x="79331" y="178553"/>
                  <a:pt x="73522" y="178553"/>
                </a:cubicBezTo>
                <a:cubicBezTo>
                  <a:pt x="67712" y="178553"/>
                  <a:pt x="63019" y="173859"/>
                  <a:pt x="63019" y="168050"/>
                </a:cubicBezTo>
                <a:lnTo>
                  <a:pt x="63019" y="147043"/>
                </a:lnTo>
                <a:lnTo>
                  <a:pt x="7877" y="147043"/>
                </a:lnTo>
                <a:cubicBezTo>
                  <a:pt x="4792" y="147043"/>
                  <a:pt x="2002" y="145271"/>
                  <a:pt x="722" y="142481"/>
                </a:cubicBezTo>
                <a:cubicBezTo>
                  <a:pt x="-558" y="139691"/>
                  <a:pt x="-131" y="136409"/>
                  <a:pt x="1871" y="134079"/>
                </a:cubicBezTo>
                <a:lnTo>
                  <a:pt x="31017" y="99779"/>
                </a:lnTo>
                <a:lnTo>
                  <a:pt x="18380" y="99779"/>
                </a:lnTo>
                <a:cubicBezTo>
                  <a:pt x="15295" y="99779"/>
                  <a:pt x="12505" y="98007"/>
                  <a:pt x="11225" y="95217"/>
                </a:cubicBezTo>
                <a:cubicBezTo>
                  <a:pt x="9945" y="92427"/>
                  <a:pt x="10372" y="89145"/>
                  <a:pt x="12374" y="86815"/>
                </a:cubicBezTo>
                <a:lnTo>
                  <a:pt x="37056" y="57767"/>
                </a:lnTo>
                <a:lnTo>
                  <a:pt x="28884" y="57767"/>
                </a:lnTo>
                <a:cubicBezTo>
                  <a:pt x="25798" y="57767"/>
                  <a:pt x="23008" y="55995"/>
                  <a:pt x="21728" y="53205"/>
                </a:cubicBezTo>
                <a:cubicBezTo>
                  <a:pt x="20448" y="50415"/>
                  <a:pt x="20875" y="47133"/>
                  <a:pt x="22877" y="44802"/>
                </a:cubicBezTo>
                <a:lnTo>
                  <a:pt x="67515" y="-7713"/>
                </a:lnTo>
                <a:cubicBezTo>
                  <a:pt x="69025" y="-9486"/>
                  <a:pt x="71224" y="-10503"/>
                  <a:pt x="73522" y="-10503"/>
                </a:cubicBezTo>
                <a:close/>
              </a:path>
            </a:pathLst>
          </a:custGeom>
          <a:solidFill>
            <a:srgbClr val="4c8a7a"/>
          </a:solidFill>
          <a:ln w="0">
            <a:noFill/>
          </a:ln>
        </p:spPr>
        <p:style>
          <a:lnRef idx="0"/>
          <a:fillRef idx="0"/>
          <a:effectRef idx="0"/>
          <a:fontRef idx="minor"/>
        </p:style>
      </p:sp>
      <p:sp>
        <p:nvSpPr>
          <p:cNvPr id="610" name="Text 15"/>
          <p:cNvSpPr/>
          <p:nvPr/>
        </p:nvSpPr>
        <p:spPr>
          <a:xfrm>
            <a:off x="781560" y="3844080"/>
            <a:ext cx="1141560" cy="234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2f3e3b"/>
                </a:solidFill>
                <a:latin typeface="Sorts Mill Goudy"/>
                <a:ea typeface="Sorts Mill Goudy"/>
              </a:rPr>
              <a:t>Fig Trees (Ficus)</a:t>
            </a:r>
            <a:endParaRPr b="0" lang="en-HK" sz="1190" spc="-1" strike="noStrike">
              <a:latin typeface="Arial"/>
            </a:endParaRPr>
          </a:p>
        </p:txBody>
      </p:sp>
      <p:sp>
        <p:nvSpPr>
          <p:cNvPr id="611" name="Text 16"/>
          <p:cNvSpPr/>
          <p:nvPr/>
        </p:nvSpPr>
        <p:spPr>
          <a:xfrm>
            <a:off x="470520" y="4180320"/>
            <a:ext cx="3545280" cy="435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1f2a28"/>
                </a:solidFill>
                <a:latin typeface="Quattrocento Sans"/>
                <a:ea typeface="Quattrocento Sans"/>
              </a:rPr>
              <a:t>Keystone resource in tropical forests. Fruit available year-round when other foods are scarce.</a:t>
            </a:r>
            <a:endParaRPr b="0" lang="en-HK" sz="1060" spc="-1" strike="noStrike">
              <a:latin typeface="Arial"/>
            </a:endParaRPr>
          </a:p>
        </p:txBody>
      </p:sp>
      <p:sp>
        <p:nvSpPr>
          <p:cNvPr id="612" name="Text 17"/>
          <p:cNvSpPr/>
          <p:nvPr/>
        </p:nvSpPr>
        <p:spPr>
          <a:xfrm>
            <a:off x="470520" y="4684320"/>
            <a:ext cx="3536640" cy="167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5f6f6b"/>
                </a:solidFill>
                <a:latin typeface="Quattrocento Sans"/>
                <a:ea typeface="Quattrocento Sans"/>
              </a:rPr>
              <a:t>Mutualists:</a:t>
            </a:r>
            <a:r>
              <a:rPr b="0" lang="en-US" sz="920" spc="-1" strike="noStrike">
                <a:solidFill>
                  <a:srgbClr val="5f6f6b"/>
                </a:solidFill>
                <a:latin typeface="Quattrocento Sans"/>
                <a:ea typeface="Quattrocento Sans"/>
              </a:rPr>
              <a:t> Fig wasps (pollinators), fruit bats, primates, birds</a:t>
            </a:r>
            <a:endParaRPr b="0" lang="en-HK" sz="920" spc="-1" strike="noStrike">
              <a:latin typeface="Arial"/>
            </a:endParaRPr>
          </a:p>
        </p:txBody>
      </p:sp>
      <p:sp>
        <p:nvSpPr>
          <p:cNvPr id="613" name="Shape 18"/>
          <p:cNvSpPr/>
          <p:nvPr/>
        </p:nvSpPr>
        <p:spPr>
          <a:xfrm>
            <a:off x="4214520" y="3692880"/>
            <a:ext cx="3746880" cy="2964960"/>
          </a:xfrm>
          <a:custGeom>
            <a:avLst/>
            <a:gdLst/>
            <a:ahLst/>
            <a:rect l="l" t="t" r="r" b="b"/>
            <a:pathLst>
              <a:path w="3747507" h="2966076">
                <a:moveTo>
                  <a:pt x="33610" y="0"/>
                </a:moveTo>
                <a:lnTo>
                  <a:pt x="3713897" y="0"/>
                </a:lnTo>
                <a:cubicBezTo>
                  <a:pt x="3732459" y="0"/>
                  <a:pt x="3747507" y="15048"/>
                  <a:pt x="3747507" y="33610"/>
                </a:cubicBezTo>
                <a:lnTo>
                  <a:pt x="3747507" y="2865259"/>
                </a:lnTo>
                <a:cubicBezTo>
                  <a:pt x="3747507" y="2920939"/>
                  <a:pt x="3702369" y="2966076"/>
                  <a:pt x="3646690" y="2966076"/>
                </a:cubicBezTo>
                <a:lnTo>
                  <a:pt x="100817" y="2966076"/>
                </a:lnTo>
                <a:cubicBezTo>
                  <a:pt x="45137" y="2966076"/>
                  <a:pt x="0" y="2920939"/>
                  <a:pt x="0" y="2865259"/>
                </a:cubicBezTo>
                <a:lnTo>
                  <a:pt x="0" y="33610"/>
                </a:lnTo>
                <a:cubicBezTo>
                  <a:pt x="0" y="15048"/>
                  <a:pt x="15048" y="0"/>
                  <a:pt x="33610"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614" name="Shape 19"/>
          <p:cNvSpPr/>
          <p:nvPr/>
        </p:nvSpPr>
        <p:spPr>
          <a:xfrm>
            <a:off x="4214520" y="3692880"/>
            <a:ext cx="3746880" cy="32400"/>
          </a:xfrm>
          <a:custGeom>
            <a:avLst/>
            <a:gdLst/>
            <a:ahLst/>
            <a:rect l="l" t="t" r="r" b="b"/>
            <a:pathLst>
              <a:path w="3747507" h="33610">
                <a:moveTo>
                  <a:pt x="33610" y="0"/>
                </a:moveTo>
                <a:lnTo>
                  <a:pt x="3713897" y="0"/>
                </a:lnTo>
                <a:cubicBezTo>
                  <a:pt x="3732459" y="0"/>
                  <a:pt x="3747507" y="15048"/>
                  <a:pt x="3747507" y="33610"/>
                </a:cubicBezTo>
                <a:lnTo>
                  <a:pt x="3747507" y="33610"/>
                </a:lnTo>
                <a:lnTo>
                  <a:pt x="0" y="33610"/>
                </a:lnTo>
                <a:lnTo>
                  <a:pt x="0" y="33610"/>
                </a:lnTo>
                <a:cubicBezTo>
                  <a:pt x="0" y="15048"/>
                  <a:pt x="15048" y="0"/>
                  <a:pt x="33610" y="0"/>
                </a:cubicBezTo>
                <a:close/>
              </a:path>
            </a:pathLst>
          </a:custGeom>
          <a:solidFill>
            <a:srgbClr val="8fb7ac"/>
          </a:solidFill>
          <a:ln w="0">
            <a:noFill/>
          </a:ln>
        </p:spPr>
        <p:style>
          <a:lnRef idx="0"/>
          <a:fillRef idx="0"/>
          <a:effectRef idx="0"/>
          <a:fontRef idx="minor"/>
        </p:style>
      </p:sp>
      <p:sp>
        <p:nvSpPr>
          <p:cNvPr id="615" name="Shape 20"/>
          <p:cNvSpPr/>
          <p:nvPr/>
        </p:nvSpPr>
        <p:spPr>
          <a:xfrm>
            <a:off x="4359600" y="3877920"/>
            <a:ext cx="187920" cy="167040"/>
          </a:xfrm>
          <a:custGeom>
            <a:avLst/>
            <a:gdLst/>
            <a:ahLst/>
            <a:rect l="l" t="t" r="r" b="b"/>
            <a:pathLst>
              <a:path w="189056" h="168050">
                <a:moveTo>
                  <a:pt x="73555" y="31870"/>
                </a:moveTo>
                <a:lnTo>
                  <a:pt x="73555" y="48150"/>
                </a:lnTo>
                <a:lnTo>
                  <a:pt x="73719" y="48314"/>
                </a:lnTo>
                <a:cubicBezTo>
                  <a:pt x="75852" y="21269"/>
                  <a:pt x="98467" y="0"/>
                  <a:pt x="126070" y="0"/>
                </a:cubicBezTo>
                <a:cubicBezTo>
                  <a:pt x="132667" y="0"/>
                  <a:pt x="139002" y="1214"/>
                  <a:pt x="144812" y="3446"/>
                </a:cubicBezTo>
                <a:cubicBezTo>
                  <a:pt x="148094" y="4694"/>
                  <a:pt x="148685" y="8862"/>
                  <a:pt x="146223" y="11356"/>
                </a:cubicBezTo>
                <a:lnTo>
                  <a:pt x="117110" y="40470"/>
                </a:lnTo>
                <a:cubicBezTo>
                  <a:pt x="116125" y="41454"/>
                  <a:pt x="115567" y="42800"/>
                  <a:pt x="115567" y="44179"/>
                </a:cubicBezTo>
                <a:lnTo>
                  <a:pt x="115567" y="57767"/>
                </a:lnTo>
                <a:cubicBezTo>
                  <a:pt x="115567" y="60655"/>
                  <a:pt x="117930" y="63019"/>
                  <a:pt x="120818" y="63019"/>
                </a:cubicBezTo>
                <a:lnTo>
                  <a:pt x="134407" y="63019"/>
                </a:lnTo>
                <a:cubicBezTo>
                  <a:pt x="135785" y="63019"/>
                  <a:pt x="137131" y="62461"/>
                  <a:pt x="138116" y="61476"/>
                </a:cubicBezTo>
                <a:lnTo>
                  <a:pt x="167229" y="32363"/>
                </a:lnTo>
                <a:cubicBezTo>
                  <a:pt x="169724" y="29868"/>
                  <a:pt x="173892" y="30492"/>
                  <a:pt x="175139" y="33774"/>
                </a:cubicBezTo>
                <a:cubicBezTo>
                  <a:pt x="177371" y="39584"/>
                  <a:pt x="178586" y="45918"/>
                  <a:pt x="178586" y="52516"/>
                </a:cubicBezTo>
                <a:cubicBezTo>
                  <a:pt x="178586" y="72406"/>
                  <a:pt x="167524" y="89736"/>
                  <a:pt x="151179" y="98631"/>
                </a:cubicBezTo>
                <a:lnTo>
                  <a:pt x="177929" y="125381"/>
                </a:lnTo>
                <a:cubicBezTo>
                  <a:pt x="184067" y="131519"/>
                  <a:pt x="184067" y="141496"/>
                  <a:pt x="177929" y="147667"/>
                </a:cubicBezTo>
                <a:lnTo>
                  <a:pt x="158203" y="167393"/>
                </a:lnTo>
                <a:cubicBezTo>
                  <a:pt x="152065" y="173531"/>
                  <a:pt x="142087" y="173531"/>
                  <a:pt x="135917" y="167393"/>
                </a:cubicBezTo>
                <a:lnTo>
                  <a:pt x="94561" y="126037"/>
                </a:lnTo>
                <a:cubicBezTo>
                  <a:pt x="85567" y="117044"/>
                  <a:pt x="83532" y="103751"/>
                  <a:pt x="88489" y="92788"/>
                </a:cubicBezTo>
                <a:lnTo>
                  <a:pt x="58719" y="63019"/>
                </a:lnTo>
                <a:lnTo>
                  <a:pt x="42439" y="63019"/>
                </a:lnTo>
                <a:cubicBezTo>
                  <a:pt x="38927" y="63019"/>
                  <a:pt x="35645" y="61279"/>
                  <a:pt x="33708" y="58358"/>
                </a:cubicBezTo>
                <a:lnTo>
                  <a:pt x="7680" y="19332"/>
                </a:lnTo>
                <a:cubicBezTo>
                  <a:pt x="6302" y="17264"/>
                  <a:pt x="6564" y="14475"/>
                  <a:pt x="8337" y="12702"/>
                </a:cubicBezTo>
                <a:lnTo>
                  <a:pt x="23238" y="-2199"/>
                </a:lnTo>
                <a:cubicBezTo>
                  <a:pt x="25011" y="-3971"/>
                  <a:pt x="27768" y="-4234"/>
                  <a:pt x="29868" y="-2856"/>
                </a:cubicBezTo>
                <a:lnTo>
                  <a:pt x="68894" y="23140"/>
                </a:lnTo>
                <a:cubicBezTo>
                  <a:pt x="71815" y="25076"/>
                  <a:pt x="73555" y="28358"/>
                  <a:pt x="73555" y="31870"/>
                </a:cubicBezTo>
                <a:close/>
                <a:moveTo>
                  <a:pt x="70765" y="97351"/>
                </a:moveTo>
                <a:cubicBezTo>
                  <a:pt x="68697" y="109495"/>
                  <a:pt x="71552" y="122328"/>
                  <a:pt x="79430" y="132602"/>
                </a:cubicBezTo>
                <a:lnTo>
                  <a:pt x="48249" y="163750"/>
                </a:lnTo>
                <a:cubicBezTo>
                  <a:pt x="39026" y="172973"/>
                  <a:pt x="24059" y="172973"/>
                  <a:pt x="14836" y="163750"/>
                </a:cubicBezTo>
                <a:cubicBezTo>
                  <a:pt x="5613" y="154527"/>
                  <a:pt x="5613" y="139560"/>
                  <a:pt x="14836" y="130337"/>
                </a:cubicBezTo>
                <a:lnTo>
                  <a:pt x="59277" y="85896"/>
                </a:lnTo>
                <a:lnTo>
                  <a:pt x="70765" y="97383"/>
                </a:lnTo>
                <a:close/>
              </a:path>
            </a:pathLst>
          </a:custGeom>
          <a:solidFill>
            <a:srgbClr val="8fb7ac"/>
          </a:solidFill>
          <a:ln w="0">
            <a:noFill/>
          </a:ln>
        </p:spPr>
        <p:style>
          <a:lnRef idx="0"/>
          <a:fillRef idx="0"/>
          <a:effectRef idx="0"/>
          <a:fontRef idx="minor"/>
        </p:style>
      </p:sp>
      <p:sp>
        <p:nvSpPr>
          <p:cNvPr id="616" name="Text 21"/>
          <p:cNvSpPr/>
          <p:nvPr/>
        </p:nvSpPr>
        <p:spPr>
          <a:xfrm>
            <a:off x="4659840" y="3844080"/>
            <a:ext cx="982080" cy="234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2f3e3b"/>
                </a:solidFill>
                <a:latin typeface="Sorts Mill Goudy"/>
                <a:ea typeface="Sorts Mill Goudy"/>
              </a:rPr>
              <a:t>Woodpeckers</a:t>
            </a:r>
            <a:endParaRPr b="0" lang="en-HK" sz="1190" spc="-1" strike="noStrike">
              <a:latin typeface="Arial"/>
            </a:endParaRPr>
          </a:p>
        </p:txBody>
      </p:sp>
      <p:sp>
        <p:nvSpPr>
          <p:cNvPr id="617" name="Text 22"/>
          <p:cNvSpPr/>
          <p:nvPr/>
        </p:nvSpPr>
        <p:spPr>
          <a:xfrm>
            <a:off x="4349160" y="4180320"/>
            <a:ext cx="3545280" cy="435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1f2a28"/>
                </a:solidFill>
                <a:latin typeface="Quattrocento Sans"/>
                <a:ea typeface="Quattrocento Sans"/>
              </a:rPr>
              <a:t>Ecosystem engineers creating cavities used by birds, mammals, insects, and amphibians.</a:t>
            </a:r>
            <a:endParaRPr b="0" lang="en-HK" sz="1060" spc="-1" strike="noStrike">
              <a:latin typeface="Arial"/>
            </a:endParaRPr>
          </a:p>
        </p:txBody>
      </p:sp>
      <p:sp>
        <p:nvSpPr>
          <p:cNvPr id="618" name="Text 23"/>
          <p:cNvSpPr/>
          <p:nvPr/>
        </p:nvSpPr>
        <p:spPr>
          <a:xfrm>
            <a:off x="4349160" y="4684320"/>
            <a:ext cx="3536640" cy="167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5f6f6b"/>
                </a:solidFill>
                <a:latin typeface="Quattrocento Sans"/>
                <a:ea typeface="Quattrocento Sans"/>
              </a:rPr>
              <a:t>Cavity users:</a:t>
            </a:r>
            <a:r>
              <a:rPr b="0" lang="en-US" sz="920" spc="-1" strike="noStrike">
                <a:solidFill>
                  <a:srgbClr val="5f6f6b"/>
                </a:solidFill>
                <a:latin typeface="Quattrocento Sans"/>
                <a:ea typeface="Quattrocento Sans"/>
              </a:rPr>
              <a:t> Owls, squirrels, bats, bees</a:t>
            </a:r>
            <a:endParaRPr b="0" lang="en-HK" sz="920" spc="-1" strike="noStrike">
              <a:latin typeface="Arial"/>
            </a:endParaRPr>
          </a:p>
        </p:txBody>
      </p:sp>
      <p:sp>
        <p:nvSpPr>
          <p:cNvPr id="619" name="Shape 24"/>
          <p:cNvSpPr/>
          <p:nvPr/>
        </p:nvSpPr>
        <p:spPr>
          <a:xfrm>
            <a:off x="8126640" y="1378080"/>
            <a:ext cx="3729960" cy="1612080"/>
          </a:xfrm>
          <a:custGeom>
            <a:avLst/>
            <a:gdLst/>
            <a:ahLst/>
            <a:rect l="l" t="t" r="r" b="b"/>
            <a:pathLst>
              <a:path w="3730702" h="1613276">
                <a:moveTo>
                  <a:pt x="100830" y="0"/>
                </a:moveTo>
                <a:lnTo>
                  <a:pt x="3629872" y="0"/>
                </a:lnTo>
                <a:cubicBezTo>
                  <a:pt x="3685559" y="0"/>
                  <a:pt x="3730702" y="45143"/>
                  <a:pt x="3730702" y="100830"/>
                </a:cubicBezTo>
                <a:lnTo>
                  <a:pt x="3730702" y="1512447"/>
                </a:lnTo>
                <a:cubicBezTo>
                  <a:pt x="3730702" y="1568133"/>
                  <a:pt x="3685559" y="1613276"/>
                  <a:pt x="3629872" y="1613276"/>
                </a:cubicBezTo>
                <a:lnTo>
                  <a:pt x="100830" y="1613276"/>
                </a:lnTo>
                <a:cubicBezTo>
                  <a:pt x="45143" y="1613276"/>
                  <a:pt x="0" y="1568133"/>
                  <a:pt x="0" y="1512447"/>
                </a:cubicBezTo>
                <a:lnTo>
                  <a:pt x="0" y="100830"/>
                </a:lnTo>
                <a:cubicBezTo>
                  <a:pt x="0" y="45180"/>
                  <a:pt x="45180" y="0"/>
                  <a:pt x="100830"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620" name="Image 0"/>
          <p:cNvSpPr/>
          <p:nvPr/>
        </p:nvSpPr>
        <p:spPr>
          <a:xfrm>
            <a:off x="8126640" y="1378080"/>
            <a:ext cx="3729960" cy="1612080"/>
          </a:xfrm>
          <a:prstGeom prst="roundRect">
            <a:avLst>
              <a:gd name="adj" fmla="val 6250"/>
            </a:avLst>
          </a:prstGeom>
          <a:blipFill rotWithShape="0">
            <a:blip r:embed="rId1"/>
            <a:srcRect/>
            <a:stretch/>
          </a:blipFill>
          <a:ln w="0">
            <a:noFill/>
          </a:ln>
        </p:spPr>
        <p:style>
          <a:lnRef idx="0"/>
          <a:fillRef idx="0"/>
          <a:effectRef idx="0"/>
          <a:fontRef idx="minor"/>
        </p:style>
      </p:sp>
      <p:sp>
        <p:nvSpPr>
          <p:cNvPr id="621" name="Shape 25"/>
          <p:cNvSpPr/>
          <p:nvPr/>
        </p:nvSpPr>
        <p:spPr>
          <a:xfrm>
            <a:off x="8126640" y="3125880"/>
            <a:ext cx="3729960" cy="2586960"/>
          </a:xfrm>
          <a:custGeom>
            <a:avLst/>
            <a:gdLst/>
            <a:ahLst/>
            <a:rect l="l" t="t" r="r" b="b"/>
            <a:pathLst>
              <a:path w="3730702" h="2587964">
                <a:moveTo>
                  <a:pt x="100827" y="0"/>
                </a:moveTo>
                <a:lnTo>
                  <a:pt x="3629875" y="0"/>
                </a:lnTo>
                <a:cubicBezTo>
                  <a:pt x="3685560" y="0"/>
                  <a:pt x="3730702" y="45142"/>
                  <a:pt x="3730702" y="100827"/>
                </a:cubicBezTo>
                <a:lnTo>
                  <a:pt x="3730702" y="2487137"/>
                </a:lnTo>
                <a:cubicBezTo>
                  <a:pt x="3730702" y="2542822"/>
                  <a:pt x="3685560" y="2587964"/>
                  <a:pt x="3629875" y="2587964"/>
                </a:cubicBezTo>
                <a:lnTo>
                  <a:pt x="100827" y="2587964"/>
                </a:lnTo>
                <a:cubicBezTo>
                  <a:pt x="45142" y="2587964"/>
                  <a:pt x="0" y="2542822"/>
                  <a:pt x="0" y="2487137"/>
                </a:cubicBezTo>
                <a:lnTo>
                  <a:pt x="0" y="100827"/>
                </a:lnTo>
                <a:cubicBezTo>
                  <a:pt x="0" y="45142"/>
                  <a:pt x="45142" y="0"/>
                  <a:pt x="100827" y="0"/>
                </a:cubicBezTo>
                <a:close/>
              </a:path>
            </a:pathLst>
          </a:custGeom>
          <a:solidFill>
            <a:srgbClr val="2f3e3b"/>
          </a:solidFill>
          <a:ln w="0">
            <a:noFill/>
          </a:ln>
        </p:spPr>
        <p:style>
          <a:lnRef idx="0"/>
          <a:fillRef idx="0"/>
          <a:effectRef idx="0"/>
          <a:fontRef idx="minor"/>
        </p:style>
      </p:sp>
      <p:sp>
        <p:nvSpPr>
          <p:cNvPr id="622" name="Text 26"/>
          <p:cNvSpPr/>
          <p:nvPr/>
        </p:nvSpPr>
        <p:spPr>
          <a:xfrm>
            <a:off x="8294760" y="3293640"/>
            <a:ext cx="3469680" cy="234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ffffff"/>
                </a:solidFill>
                <a:latin typeface="Sorts Mill Goudy"/>
                <a:ea typeface="Sorts Mill Goudy"/>
              </a:rPr>
              <a:t>Additional Examples</a:t>
            </a:r>
            <a:endParaRPr b="0" lang="en-HK" sz="1190" spc="-1" strike="noStrike">
              <a:latin typeface="Arial"/>
            </a:endParaRPr>
          </a:p>
        </p:txBody>
      </p:sp>
      <p:sp>
        <p:nvSpPr>
          <p:cNvPr id="623" name="Shape 27"/>
          <p:cNvSpPr/>
          <p:nvPr/>
        </p:nvSpPr>
        <p:spPr>
          <a:xfrm>
            <a:off x="8286480" y="3663360"/>
            <a:ext cx="150120" cy="133200"/>
          </a:xfrm>
          <a:custGeom>
            <a:avLst/>
            <a:gdLst/>
            <a:ah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w="0">
            <a:noFill/>
          </a:ln>
        </p:spPr>
        <p:style>
          <a:lnRef idx="0"/>
          <a:fillRef idx="0"/>
          <a:effectRef idx="0"/>
          <a:fontRef idx="minor"/>
        </p:style>
      </p:sp>
      <p:sp>
        <p:nvSpPr>
          <p:cNvPr id="624" name="Text 28"/>
          <p:cNvSpPr/>
          <p:nvPr/>
        </p:nvSpPr>
        <p:spPr>
          <a:xfrm>
            <a:off x="8529480" y="3629880"/>
            <a:ext cx="3225960" cy="402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Old-Growth Trees:</a:t>
            </a:r>
            <a:r>
              <a:rPr b="0" lang="en-US" sz="1060" spc="-1" strike="noStrike">
                <a:solidFill>
                  <a:srgbClr val="ffffff"/>
                </a:solidFill>
                <a:latin typeface="Quattrocento Sans"/>
                <a:ea typeface="Quattrocento Sans"/>
              </a:rPr>
              <a:t> Support epiphytes, lichens, saproxylic organisms</a:t>
            </a:r>
            <a:endParaRPr b="0" lang="en-HK" sz="1060" spc="-1" strike="noStrike">
              <a:latin typeface="Arial"/>
            </a:endParaRPr>
          </a:p>
        </p:txBody>
      </p:sp>
      <p:sp>
        <p:nvSpPr>
          <p:cNvPr id="625" name="Shape 29"/>
          <p:cNvSpPr/>
          <p:nvPr/>
        </p:nvSpPr>
        <p:spPr>
          <a:xfrm>
            <a:off x="8290800" y="4167720"/>
            <a:ext cx="150120" cy="133200"/>
          </a:xfrm>
          <a:custGeom>
            <a:avLst/>
            <a:gdLst/>
            <a:ah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w="0">
            <a:noFill/>
          </a:ln>
        </p:spPr>
        <p:style>
          <a:lnRef idx="0"/>
          <a:fillRef idx="0"/>
          <a:effectRef idx="0"/>
          <a:fontRef idx="minor"/>
        </p:style>
      </p:sp>
      <p:sp>
        <p:nvSpPr>
          <p:cNvPr id="626" name="Text 30"/>
          <p:cNvSpPr/>
          <p:nvPr/>
        </p:nvSpPr>
        <p:spPr>
          <a:xfrm>
            <a:off x="8541720" y="4133880"/>
            <a:ext cx="3209040" cy="402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Large Mammals:</a:t>
            </a:r>
            <a:r>
              <a:rPr b="0" lang="en-US" sz="1060" spc="-1" strike="noStrike">
                <a:solidFill>
                  <a:srgbClr val="ffffff"/>
                </a:solidFill>
                <a:latin typeface="Quattrocento Sans"/>
                <a:ea typeface="Quattrocento Sans"/>
              </a:rPr>
              <a:t> Dispersers of large-seeded trees, create trails</a:t>
            </a:r>
            <a:endParaRPr b="0" lang="en-HK" sz="1060" spc="-1" strike="noStrike">
              <a:latin typeface="Arial"/>
            </a:endParaRPr>
          </a:p>
        </p:txBody>
      </p:sp>
      <p:sp>
        <p:nvSpPr>
          <p:cNvPr id="627" name="Shape 31"/>
          <p:cNvSpPr/>
          <p:nvPr/>
        </p:nvSpPr>
        <p:spPr>
          <a:xfrm>
            <a:off x="8286480" y="4671720"/>
            <a:ext cx="150120" cy="133200"/>
          </a:xfrm>
          <a:custGeom>
            <a:avLst/>
            <a:gdLst/>
            <a:ah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w="0">
            <a:noFill/>
          </a:ln>
        </p:spPr>
        <p:style>
          <a:lnRef idx="0"/>
          <a:fillRef idx="0"/>
          <a:effectRef idx="0"/>
          <a:fontRef idx="minor"/>
        </p:style>
      </p:sp>
      <p:sp>
        <p:nvSpPr>
          <p:cNvPr id="628" name="Text 32"/>
          <p:cNvSpPr/>
          <p:nvPr/>
        </p:nvSpPr>
        <p:spPr>
          <a:xfrm>
            <a:off x="8530560" y="4638240"/>
            <a:ext cx="3217320" cy="402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Beavers:</a:t>
            </a:r>
            <a:r>
              <a:rPr b="0" lang="en-US" sz="1060" spc="-1" strike="noStrike">
                <a:solidFill>
                  <a:srgbClr val="ffffff"/>
                </a:solidFill>
                <a:latin typeface="Quattrocento Sans"/>
                <a:ea typeface="Quattrocento Sans"/>
              </a:rPr>
              <a:t> Create wetlands, alter hydrology, increase habitat diversity</a:t>
            </a:r>
            <a:endParaRPr b="0" lang="en-HK" sz="1060" spc="-1" strike="noStrike">
              <a:latin typeface="Arial"/>
            </a:endParaRPr>
          </a:p>
        </p:txBody>
      </p:sp>
      <p:sp>
        <p:nvSpPr>
          <p:cNvPr id="629" name="Shape 33"/>
          <p:cNvSpPr/>
          <p:nvPr/>
        </p:nvSpPr>
        <p:spPr>
          <a:xfrm>
            <a:off x="8299080" y="5176080"/>
            <a:ext cx="150120" cy="133200"/>
          </a:xfrm>
          <a:custGeom>
            <a:avLst/>
            <a:gdLst/>
            <a:ah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w="0">
            <a:noFill/>
          </a:ln>
        </p:spPr>
        <p:style>
          <a:lnRef idx="0"/>
          <a:fillRef idx="0"/>
          <a:effectRef idx="0"/>
          <a:fontRef idx="minor"/>
        </p:style>
      </p:sp>
      <p:sp>
        <p:nvSpPr>
          <p:cNvPr id="630" name="Text 34"/>
          <p:cNvSpPr/>
          <p:nvPr/>
        </p:nvSpPr>
        <p:spPr>
          <a:xfrm>
            <a:off x="8552520" y="5142240"/>
            <a:ext cx="3200760" cy="402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Acacia Trees:</a:t>
            </a:r>
            <a:r>
              <a:rPr b="0" lang="en-US" sz="1060" spc="-1" strike="noStrike">
                <a:solidFill>
                  <a:srgbClr val="ffffff"/>
                </a:solidFill>
                <a:latin typeface="Quattrocento Sans"/>
                <a:ea typeface="Quattrocento Sans"/>
              </a:rPr>
              <a:t> Provide specialized niches for ant mutualists</a:t>
            </a:r>
            <a:endParaRPr b="0" lang="en-HK" sz="1060" spc="-1" strike="noStrike">
              <a:latin typeface="Arial"/>
            </a:endParaRPr>
          </a:p>
        </p:txBody>
      </p:sp>
      <p:sp>
        <p:nvSpPr>
          <p:cNvPr id="631" name="Shape 35"/>
          <p:cNvSpPr/>
          <p:nvPr/>
        </p:nvSpPr>
        <p:spPr>
          <a:xfrm>
            <a:off x="8126640" y="5848200"/>
            <a:ext cx="3729960" cy="805680"/>
          </a:xfrm>
          <a:custGeom>
            <a:avLst/>
            <a:gdLst/>
            <a:ahLst/>
            <a:rect l="l" t="t" r="r" b="b"/>
            <a:pathLst>
              <a:path w="3730702" h="806638">
                <a:moveTo>
                  <a:pt x="100830" y="0"/>
                </a:moveTo>
                <a:lnTo>
                  <a:pt x="3629872" y="0"/>
                </a:lnTo>
                <a:cubicBezTo>
                  <a:pt x="3685559" y="0"/>
                  <a:pt x="3730702" y="45143"/>
                  <a:pt x="3730702" y="100830"/>
                </a:cubicBezTo>
                <a:lnTo>
                  <a:pt x="3730702" y="705808"/>
                </a:lnTo>
                <a:cubicBezTo>
                  <a:pt x="3730702" y="761495"/>
                  <a:pt x="3685559" y="806638"/>
                  <a:pt x="3629872" y="806638"/>
                </a:cubicBezTo>
                <a:lnTo>
                  <a:pt x="100830" y="806638"/>
                </a:lnTo>
                <a:cubicBezTo>
                  <a:pt x="45143" y="806638"/>
                  <a:pt x="0" y="761495"/>
                  <a:pt x="0" y="705808"/>
                </a:cubicBezTo>
                <a:lnTo>
                  <a:pt x="0" y="100830"/>
                </a:lnTo>
                <a:cubicBezTo>
                  <a:pt x="0" y="45180"/>
                  <a:pt x="45180" y="0"/>
                  <a:pt x="100830" y="0"/>
                </a:cubicBezTo>
                <a:close/>
              </a:path>
            </a:pathLst>
          </a:custGeom>
          <a:solidFill>
            <a:srgbClr val="4c8a7a"/>
          </a:solidFill>
          <a:ln w="0">
            <a:noFill/>
          </a:ln>
        </p:spPr>
        <p:style>
          <a:lnRef idx="0"/>
          <a:fillRef idx="0"/>
          <a:effectRef idx="0"/>
          <a:fontRef idx="minor"/>
        </p:style>
      </p:sp>
      <p:sp>
        <p:nvSpPr>
          <p:cNvPr id="632" name="Text 36"/>
          <p:cNvSpPr/>
          <p:nvPr/>
        </p:nvSpPr>
        <p:spPr>
          <a:xfrm>
            <a:off x="8198280" y="5982480"/>
            <a:ext cx="3587040" cy="30132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79" spc="-1" strike="noStrike">
                <a:solidFill>
                  <a:srgbClr val="ffffff"/>
                </a:solidFill>
                <a:latin typeface="Sorts Mill Goudy"/>
                <a:ea typeface="Sorts Mill Goudy"/>
              </a:rPr>
              <a:t>Cascading Effects</a:t>
            </a:r>
            <a:endParaRPr b="0" lang="en-HK" sz="1979" spc="-1" strike="noStrike">
              <a:latin typeface="Arial"/>
            </a:endParaRPr>
          </a:p>
        </p:txBody>
      </p:sp>
      <p:sp>
        <p:nvSpPr>
          <p:cNvPr id="633" name="Text 37"/>
          <p:cNvSpPr/>
          <p:nvPr/>
        </p:nvSpPr>
        <p:spPr>
          <a:xfrm>
            <a:off x="8227800" y="6318720"/>
            <a:ext cx="3528360" cy="2005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60" spc="-1" strike="noStrike">
                <a:solidFill>
                  <a:srgbClr val="ffffff"/>
                </a:solidFill>
                <a:latin typeface="Quattrocento Sans"/>
                <a:ea typeface="Quattrocento Sans"/>
              </a:rPr>
              <a:t>Loss of keystone species triggers community-wide changes</a:t>
            </a:r>
            <a:endParaRPr b="0" lang="en-HK" sz="106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634" name="Text 0"/>
          <p:cNvSpPr/>
          <p:nvPr/>
        </p:nvSpPr>
        <p:spPr>
          <a:xfrm>
            <a:off x="323280" y="323280"/>
            <a:ext cx="11601720" cy="160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80" strike="noStrike">
                <a:solidFill>
                  <a:srgbClr val="2f3e3b"/>
                </a:solidFill>
                <a:latin typeface="Quattrocento Sans"/>
                <a:ea typeface="Quattrocento Sans"/>
              </a:rPr>
              <a:t>07 • Latitudinal Gradients</a:t>
            </a:r>
            <a:endParaRPr b="0" lang="en-HK" sz="889" spc="-1" strike="noStrike">
              <a:latin typeface="Arial"/>
            </a:endParaRPr>
          </a:p>
        </p:txBody>
      </p:sp>
      <p:sp>
        <p:nvSpPr>
          <p:cNvPr id="635" name="Text 1"/>
          <p:cNvSpPr/>
          <p:nvPr/>
        </p:nvSpPr>
        <p:spPr>
          <a:xfrm>
            <a:off x="323280" y="549720"/>
            <a:ext cx="11690640" cy="3222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90" spc="-1" strike="noStrike">
                <a:solidFill>
                  <a:srgbClr val="2f3e3b"/>
                </a:solidFill>
                <a:latin typeface="Sorts Mill Goudy"/>
                <a:ea typeface="Sorts Mill Goudy"/>
              </a:rPr>
              <a:t>Tropical to Boreal: Biome Variation</a:t>
            </a:r>
            <a:endParaRPr b="0" lang="en-HK" sz="2290" spc="-1" strike="noStrike">
              <a:latin typeface="Arial"/>
            </a:endParaRPr>
          </a:p>
        </p:txBody>
      </p:sp>
      <p:sp>
        <p:nvSpPr>
          <p:cNvPr id="636" name="Text 2"/>
          <p:cNvSpPr/>
          <p:nvPr/>
        </p:nvSpPr>
        <p:spPr>
          <a:xfrm>
            <a:off x="323280" y="937800"/>
            <a:ext cx="11617920" cy="225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50" spc="-1" strike="noStrike">
                <a:solidFill>
                  <a:srgbClr val="5f6f6b"/>
                </a:solidFill>
                <a:latin typeface="Quattrocento Sans"/>
                <a:ea typeface="Quattrocento Sans"/>
              </a:rPr>
              <a:t>Different mechanisms dominate across forest biomes</a:t>
            </a:r>
            <a:endParaRPr b="0" lang="en-HK" sz="1150" spc="-1" strike="noStrike">
              <a:latin typeface="Arial"/>
            </a:endParaRPr>
          </a:p>
        </p:txBody>
      </p:sp>
      <p:sp>
        <p:nvSpPr>
          <p:cNvPr id="637" name="Shape 3"/>
          <p:cNvSpPr/>
          <p:nvPr/>
        </p:nvSpPr>
        <p:spPr>
          <a:xfrm>
            <a:off x="323280" y="1325880"/>
            <a:ext cx="5675040" cy="2521440"/>
          </a:xfrm>
          <a:custGeom>
            <a:avLst/>
            <a:gdLst/>
            <a:ahLst/>
            <a:rect l="l" t="t" r="r" b="b"/>
            <a:pathLst>
              <a:path w="5675586" h="2522483">
                <a:moveTo>
                  <a:pt x="97015" y="0"/>
                </a:moveTo>
                <a:lnTo>
                  <a:pt x="5578572" y="0"/>
                </a:lnTo>
                <a:cubicBezTo>
                  <a:pt x="5632151" y="0"/>
                  <a:pt x="5675586" y="43435"/>
                  <a:pt x="5675586" y="97015"/>
                </a:cubicBezTo>
                <a:lnTo>
                  <a:pt x="5675586" y="2425468"/>
                </a:lnTo>
                <a:cubicBezTo>
                  <a:pt x="5675586" y="2479048"/>
                  <a:pt x="5632151" y="2522483"/>
                  <a:pt x="5578572" y="2522483"/>
                </a:cubicBezTo>
                <a:lnTo>
                  <a:pt x="97015" y="2522483"/>
                </a:lnTo>
                <a:cubicBezTo>
                  <a:pt x="43435" y="2522483"/>
                  <a:pt x="0" y="2479048"/>
                  <a:pt x="0" y="2425468"/>
                </a:cubicBezTo>
                <a:lnTo>
                  <a:pt x="0" y="97015"/>
                </a:lnTo>
                <a:cubicBezTo>
                  <a:pt x="0" y="43435"/>
                  <a:pt x="43435" y="0"/>
                  <a:pt x="97015" y="0"/>
                </a:cubicBezTo>
                <a:close/>
              </a:path>
            </a:pathLst>
          </a:custGeom>
          <a:solidFill>
            <a:srgbClr val="ffffff"/>
          </a:solidFill>
          <a:ln w="0">
            <a:noFill/>
          </a:ln>
          <a:effectLst>
            <a:outerShdw algn="bl" blurRad="24120" dir="5400000" dist="7920" kx="0" ky="0" rotWithShape="0" sx="100000" sy="100000">
              <a:srgbClr val="000000">
                <a:alpha val="10000"/>
              </a:srgbClr>
            </a:outerShdw>
          </a:effectLst>
        </p:spPr>
        <p:style>
          <a:lnRef idx="0"/>
          <a:fillRef idx="0"/>
          <a:effectRef idx="0"/>
          <a:fontRef idx="minor"/>
        </p:style>
      </p:sp>
      <p:sp>
        <p:nvSpPr>
          <p:cNvPr id="638" name="Text 4"/>
          <p:cNvSpPr/>
          <p:nvPr/>
        </p:nvSpPr>
        <p:spPr>
          <a:xfrm>
            <a:off x="484920" y="1487520"/>
            <a:ext cx="5432400" cy="225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80" spc="-1" strike="noStrike">
                <a:solidFill>
                  <a:srgbClr val="2f3e3b"/>
                </a:solidFill>
                <a:latin typeface="Sorts Mill Goudy"/>
                <a:ea typeface="Sorts Mill Goudy"/>
              </a:rPr>
              <a:t>The Latitudinal Diversity Gradient</a:t>
            </a:r>
            <a:endParaRPr b="0" lang="en-HK" sz="1280" spc="-1" strike="noStrike">
              <a:latin typeface="Arial"/>
            </a:endParaRPr>
          </a:p>
        </p:txBody>
      </p:sp>
      <p:sp>
        <p:nvSpPr>
          <p:cNvPr id="639" name="Text 5"/>
          <p:cNvSpPr/>
          <p:nvPr/>
        </p:nvSpPr>
        <p:spPr>
          <a:xfrm>
            <a:off x="484920" y="1811160"/>
            <a:ext cx="5416200" cy="629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1f2a28"/>
                </a:solidFill>
                <a:latin typeface="Quattrocento Sans"/>
                <a:ea typeface="Quattrocento Sans"/>
              </a:rPr>
              <a:t>One of ecology's most consistent patterns: </a:t>
            </a:r>
            <a:r>
              <a:rPr b="0" lang="en-US" sz="1020" spc="-1" strike="noStrike">
                <a:solidFill>
                  <a:srgbClr val="2f3e3b"/>
                </a:solidFill>
                <a:highlight>
                  <a:srgbClr val="8fb7ac"/>
                </a:highlight>
                <a:latin typeface="Quattrocento Sans"/>
                <a:ea typeface="Quattrocento Sans"/>
              </a:rPr>
              <a:t>species diversity declines from tropics to poles </a:t>
            </a:r>
            <a:r>
              <a:rPr b="0" lang="en-US" sz="1020" spc="-1" strike="noStrike">
                <a:solidFill>
                  <a:srgbClr val="1f2a28"/>
                </a:solidFill>
                <a:latin typeface="Quattrocento Sans"/>
                <a:ea typeface="Quattrocento Sans"/>
              </a:rPr>
              <a:t>. Recent research reveals that different mechanisms maintain biodiversity in tropical vs. temperate forests.</a:t>
            </a:r>
            <a:endParaRPr b="0" lang="en-HK" sz="1020" spc="-1" strike="noStrike">
              <a:latin typeface="Arial"/>
            </a:endParaRPr>
          </a:p>
        </p:txBody>
      </p:sp>
      <p:sp>
        <p:nvSpPr>
          <p:cNvPr id="640" name="Shape 6"/>
          <p:cNvSpPr/>
          <p:nvPr/>
        </p:nvSpPr>
        <p:spPr>
          <a:xfrm>
            <a:off x="484920" y="2571120"/>
            <a:ext cx="5351400" cy="1114560"/>
          </a:xfrm>
          <a:custGeom>
            <a:avLst/>
            <a:gdLst/>
            <a:ahLst/>
            <a:rect l="l" t="t" r="r" b="b"/>
            <a:pathLst>
              <a:path w="5352191" h="1115714">
                <a:moveTo>
                  <a:pt x="64678" y="0"/>
                </a:moveTo>
                <a:lnTo>
                  <a:pt x="5287513" y="0"/>
                </a:lnTo>
                <a:cubicBezTo>
                  <a:pt x="5323234" y="0"/>
                  <a:pt x="5352191" y="28957"/>
                  <a:pt x="5352191" y="64678"/>
                </a:cubicBezTo>
                <a:lnTo>
                  <a:pt x="5352191" y="1051036"/>
                </a:lnTo>
                <a:cubicBezTo>
                  <a:pt x="5352191" y="1086756"/>
                  <a:pt x="5323234" y="1115714"/>
                  <a:pt x="5287513" y="1115714"/>
                </a:cubicBezTo>
                <a:lnTo>
                  <a:pt x="64678" y="1115714"/>
                </a:lnTo>
                <a:cubicBezTo>
                  <a:pt x="28957" y="1115714"/>
                  <a:pt x="0" y="1086756"/>
                  <a:pt x="0" y="1051036"/>
                </a:cubicBezTo>
                <a:lnTo>
                  <a:pt x="0" y="64678"/>
                </a:lnTo>
                <a:cubicBezTo>
                  <a:pt x="0" y="28981"/>
                  <a:pt x="28981" y="0"/>
                  <a:pt x="64678" y="0"/>
                </a:cubicBezTo>
                <a:close/>
              </a:path>
            </a:pathLst>
          </a:custGeom>
          <a:solidFill>
            <a:srgbClr val="f5f7f6"/>
          </a:solidFill>
          <a:ln w="0">
            <a:noFill/>
          </a:ln>
        </p:spPr>
        <p:style>
          <a:lnRef idx="0"/>
          <a:fillRef idx="0"/>
          <a:effectRef idx="0"/>
          <a:fontRef idx="minor"/>
        </p:style>
      </p:sp>
      <p:sp>
        <p:nvSpPr>
          <p:cNvPr id="641" name="Text 7"/>
          <p:cNvSpPr/>
          <p:nvPr/>
        </p:nvSpPr>
        <p:spPr>
          <a:xfrm>
            <a:off x="614520" y="2700360"/>
            <a:ext cx="5157360" cy="629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5f6f6b"/>
                </a:solidFill>
                <a:latin typeface="Quattrocento Sans"/>
                <a:ea typeface="Quattrocento Sans"/>
              </a:rPr>
              <a:t>"The combination of animal seed dispersal and mycorrhizal associations underpins the negative aggregation–abundance relationship and supports biodiversity maintenance across forest biomes."</a:t>
            </a:r>
            <a:endParaRPr b="0" lang="en-HK" sz="1020" spc="-1" strike="noStrike">
              <a:latin typeface="Arial"/>
            </a:endParaRPr>
          </a:p>
        </p:txBody>
      </p:sp>
      <p:sp>
        <p:nvSpPr>
          <p:cNvPr id="642" name="Text 8"/>
          <p:cNvSpPr/>
          <p:nvPr/>
        </p:nvSpPr>
        <p:spPr>
          <a:xfrm>
            <a:off x="614520" y="3395520"/>
            <a:ext cx="5149440" cy="160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 </a:t>
            </a:r>
            <a:r>
              <a:rPr b="0" lang="en-US" sz="889" spc="-1" strike="noStrike">
                <a:solidFill>
                  <a:srgbClr val="5f6f6b"/>
                </a:solidFill>
                <a:latin typeface="Quattrocento Sans"/>
                <a:ea typeface="Quattrocento Sans"/>
              </a:rPr>
              <a:t>Wang et al. (2025), Nature</a:t>
            </a:r>
            <a:endParaRPr b="0" lang="en-HK" sz="889" spc="-1" strike="noStrike">
              <a:latin typeface="Arial"/>
            </a:endParaRPr>
          </a:p>
        </p:txBody>
      </p:sp>
      <p:sp>
        <p:nvSpPr>
          <p:cNvPr id="643" name="Shape 9"/>
          <p:cNvSpPr/>
          <p:nvPr/>
        </p:nvSpPr>
        <p:spPr>
          <a:xfrm>
            <a:off x="323280" y="3993840"/>
            <a:ext cx="1826280" cy="3459240"/>
          </a:xfrm>
          <a:custGeom>
            <a:avLst/>
            <a:gdLst/>
            <a:ahLst/>
            <a:rect l="l" t="t" r="r" b="b"/>
            <a:pathLst>
              <a:path w="1827183" h="3460329">
                <a:moveTo>
                  <a:pt x="32340" y="0"/>
                </a:moveTo>
                <a:lnTo>
                  <a:pt x="1794844" y="0"/>
                </a:lnTo>
                <a:cubicBezTo>
                  <a:pt x="1812704" y="0"/>
                  <a:pt x="1827183" y="14479"/>
                  <a:pt x="1827183" y="32340"/>
                </a:cubicBezTo>
                <a:lnTo>
                  <a:pt x="1827183" y="3395647"/>
                </a:lnTo>
                <a:cubicBezTo>
                  <a:pt x="1827183" y="3431370"/>
                  <a:pt x="1798224" y="3460329"/>
                  <a:pt x="1762501" y="3460329"/>
                </a:cubicBezTo>
                <a:lnTo>
                  <a:pt x="64682" y="3460329"/>
                </a:lnTo>
                <a:cubicBezTo>
                  <a:pt x="28959" y="3460329"/>
                  <a:pt x="0" y="3431370"/>
                  <a:pt x="0" y="3395647"/>
                </a:cubicBezTo>
                <a:lnTo>
                  <a:pt x="0" y="32340"/>
                </a:lnTo>
                <a:cubicBezTo>
                  <a:pt x="0" y="14491"/>
                  <a:pt x="14491" y="0"/>
                  <a:pt x="32340" y="0"/>
                </a:cubicBezTo>
                <a:close/>
              </a:path>
            </a:pathLst>
          </a:custGeom>
          <a:solidFill>
            <a:srgbClr val="4c8a7a">
              <a:alpha val="10000"/>
            </a:srgbClr>
          </a:solidFill>
          <a:ln w="0">
            <a:noFill/>
          </a:ln>
        </p:spPr>
        <p:style>
          <a:lnRef idx="0"/>
          <a:fillRef idx="0"/>
          <a:effectRef idx="0"/>
          <a:fontRef idx="minor"/>
        </p:style>
      </p:sp>
      <p:sp>
        <p:nvSpPr>
          <p:cNvPr id="644" name="Shape 10"/>
          <p:cNvSpPr/>
          <p:nvPr/>
        </p:nvSpPr>
        <p:spPr>
          <a:xfrm>
            <a:off x="323280" y="3993840"/>
            <a:ext cx="1826280" cy="31320"/>
          </a:xfrm>
          <a:custGeom>
            <a:avLst/>
            <a:gdLst/>
            <a:ahLst/>
            <a:rect l="l" t="t" r="r" b="b"/>
            <a:pathLst>
              <a:path w="1827183" h="32340">
                <a:moveTo>
                  <a:pt x="32340" y="0"/>
                </a:moveTo>
                <a:lnTo>
                  <a:pt x="1794844" y="0"/>
                </a:lnTo>
                <a:cubicBezTo>
                  <a:pt x="1812704" y="0"/>
                  <a:pt x="1827183" y="14479"/>
                  <a:pt x="1827183" y="32340"/>
                </a:cubicBezTo>
                <a:lnTo>
                  <a:pt x="1827183" y="32340"/>
                </a:lnTo>
                <a:lnTo>
                  <a:pt x="0" y="32340"/>
                </a:lnTo>
                <a:lnTo>
                  <a:pt x="0" y="32340"/>
                </a:lnTo>
                <a:cubicBezTo>
                  <a:pt x="0" y="14491"/>
                  <a:pt x="14491" y="0"/>
                  <a:pt x="32340" y="0"/>
                </a:cubicBezTo>
                <a:close/>
              </a:path>
            </a:pathLst>
          </a:custGeom>
          <a:solidFill>
            <a:srgbClr val="4c8a7a"/>
          </a:solidFill>
          <a:ln w="0">
            <a:noFill/>
          </a:ln>
        </p:spPr>
        <p:style>
          <a:lnRef idx="0"/>
          <a:fillRef idx="0"/>
          <a:effectRef idx="0"/>
          <a:fontRef idx="minor"/>
        </p:style>
      </p:sp>
      <p:sp>
        <p:nvSpPr>
          <p:cNvPr id="645" name="Text 11"/>
          <p:cNvSpPr/>
          <p:nvPr/>
        </p:nvSpPr>
        <p:spPr>
          <a:xfrm>
            <a:off x="416520" y="4139280"/>
            <a:ext cx="1640160" cy="2253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50" spc="-1" strike="noStrike">
                <a:solidFill>
                  <a:srgbClr val="2f3e3b"/>
                </a:solidFill>
                <a:latin typeface="Sorts Mill Goudy"/>
                <a:ea typeface="Sorts Mill Goudy"/>
              </a:rPr>
              <a:t>Tropical</a:t>
            </a:r>
            <a:endParaRPr b="0" lang="en-HK" sz="1150" spc="-1" strike="noStrike">
              <a:latin typeface="Arial"/>
            </a:endParaRPr>
          </a:p>
        </p:txBody>
      </p:sp>
      <p:sp>
        <p:nvSpPr>
          <p:cNvPr id="646" name="Text 12"/>
          <p:cNvSpPr/>
          <p:nvPr/>
        </p:nvSpPr>
        <p:spPr>
          <a:xfrm>
            <a:off x="452880" y="4446720"/>
            <a:ext cx="1154880" cy="124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Dominant Mechanism:</a:t>
            </a:r>
            <a:endParaRPr b="0" lang="en-HK" sz="889" spc="-1" strike="noStrike">
              <a:latin typeface="Arial"/>
            </a:endParaRPr>
          </a:p>
        </p:txBody>
      </p:sp>
      <p:sp>
        <p:nvSpPr>
          <p:cNvPr id="647" name="Text 13"/>
          <p:cNvSpPr/>
          <p:nvPr/>
        </p:nvSpPr>
        <p:spPr>
          <a:xfrm>
            <a:off x="452880" y="4656960"/>
            <a:ext cx="1623960" cy="160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Animal seed dispersal</a:t>
            </a:r>
            <a:endParaRPr b="0" lang="en-HK" sz="889" spc="-1" strike="noStrike">
              <a:latin typeface="Arial"/>
            </a:endParaRPr>
          </a:p>
        </p:txBody>
      </p:sp>
      <p:sp>
        <p:nvSpPr>
          <p:cNvPr id="648" name="Text 14"/>
          <p:cNvSpPr/>
          <p:nvPr/>
        </p:nvSpPr>
        <p:spPr>
          <a:xfrm>
            <a:off x="452880" y="4899600"/>
            <a:ext cx="655920" cy="124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Mycorrhizal:</a:t>
            </a:r>
            <a:endParaRPr b="0" lang="en-HK" sz="889" spc="-1" strike="noStrike">
              <a:latin typeface="Arial"/>
            </a:endParaRPr>
          </a:p>
        </p:txBody>
      </p:sp>
      <p:sp>
        <p:nvSpPr>
          <p:cNvPr id="649" name="Text 15"/>
          <p:cNvSpPr/>
          <p:nvPr/>
        </p:nvSpPr>
        <p:spPr>
          <a:xfrm>
            <a:off x="452880" y="5109480"/>
            <a:ext cx="1623960" cy="160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Arbuscular (AM)</a:t>
            </a:r>
            <a:endParaRPr b="0" lang="en-HK" sz="889" spc="-1" strike="noStrike">
              <a:latin typeface="Arial"/>
            </a:endParaRPr>
          </a:p>
        </p:txBody>
      </p:sp>
      <p:sp>
        <p:nvSpPr>
          <p:cNvPr id="650" name="Text 16"/>
          <p:cNvSpPr/>
          <p:nvPr/>
        </p:nvSpPr>
        <p:spPr>
          <a:xfrm>
            <a:off x="452880" y="5352120"/>
            <a:ext cx="515880" cy="124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Diversity:</a:t>
            </a:r>
            <a:endParaRPr b="0" lang="en-HK" sz="889" spc="-1" strike="noStrike">
              <a:latin typeface="Arial"/>
            </a:endParaRPr>
          </a:p>
        </p:txBody>
      </p:sp>
      <p:sp>
        <p:nvSpPr>
          <p:cNvPr id="651" name="Text 17"/>
          <p:cNvSpPr/>
          <p:nvPr/>
        </p:nvSpPr>
        <p:spPr>
          <a:xfrm>
            <a:off x="452880" y="5562360"/>
            <a:ext cx="1623960" cy="160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Highest (&gt;200 tree species/ha)</a:t>
            </a:r>
            <a:endParaRPr b="0" lang="en-HK" sz="889" spc="-1" strike="noStrike">
              <a:latin typeface="Arial"/>
            </a:endParaRPr>
          </a:p>
        </p:txBody>
      </p:sp>
      <p:sp>
        <p:nvSpPr>
          <p:cNvPr id="652" name="Shape 18"/>
          <p:cNvSpPr/>
          <p:nvPr/>
        </p:nvSpPr>
        <p:spPr>
          <a:xfrm>
            <a:off x="2247120" y="3993840"/>
            <a:ext cx="1826280" cy="3459240"/>
          </a:xfrm>
          <a:custGeom>
            <a:avLst/>
            <a:gdLst/>
            <a:ahLst/>
            <a:rect l="l" t="t" r="r" b="b"/>
            <a:pathLst>
              <a:path w="1827183" h="3460329">
                <a:moveTo>
                  <a:pt x="32340" y="0"/>
                </a:moveTo>
                <a:lnTo>
                  <a:pt x="1794844" y="0"/>
                </a:lnTo>
                <a:cubicBezTo>
                  <a:pt x="1812704" y="0"/>
                  <a:pt x="1827183" y="14479"/>
                  <a:pt x="1827183" y="32340"/>
                </a:cubicBezTo>
                <a:lnTo>
                  <a:pt x="1827183" y="3395647"/>
                </a:lnTo>
                <a:cubicBezTo>
                  <a:pt x="1827183" y="3431370"/>
                  <a:pt x="1798224" y="3460329"/>
                  <a:pt x="1762501" y="3460329"/>
                </a:cubicBezTo>
                <a:lnTo>
                  <a:pt x="64682" y="3460329"/>
                </a:lnTo>
                <a:cubicBezTo>
                  <a:pt x="28959" y="3460329"/>
                  <a:pt x="0" y="3431370"/>
                  <a:pt x="0" y="3395647"/>
                </a:cubicBezTo>
                <a:lnTo>
                  <a:pt x="0" y="32340"/>
                </a:lnTo>
                <a:cubicBezTo>
                  <a:pt x="0" y="14491"/>
                  <a:pt x="14491" y="0"/>
                  <a:pt x="32340" y="0"/>
                </a:cubicBezTo>
                <a:close/>
              </a:path>
            </a:pathLst>
          </a:custGeom>
          <a:solidFill>
            <a:srgbClr val="8fb7ac">
              <a:alpha val="10000"/>
            </a:srgbClr>
          </a:solidFill>
          <a:ln w="0">
            <a:noFill/>
          </a:ln>
        </p:spPr>
        <p:style>
          <a:lnRef idx="0"/>
          <a:fillRef idx="0"/>
          <a:effectRef idx="0"/>
          <a:fontRef idx="minor"/>
        </p:style>
      </p:sp>
      <p:sp>
        <p:nvSpPr>
          <p:cNvPr id="653" name="Shape 19"/>
          <p:cNvSpPr/>
          <p:nvPr/>
        </p:nvSpPr>
        <p:spPr>
          <a:xfrm>
            <a:off x="2247120" y="3993840"/>
            <a:ext cx="1826280" cy="31320"/>
          </a:xfrm>
          <a:custGeom>
            <a:avLst/>
            <a:gdLst/>
            <a:ahLst/>
            <a:rect l="l" t="t" r="r" b="b"/>
            <a:pathLst>
              <a:path w="1827183" h="32340">
                <a:moveTo>
                  <a:pt x="32340" y="0"/>
                </a:moveTo>
                <a:lnTo>
                  <a:pt x="1794844" y="0"/>
                </a:lnTo>
                <a:cubicBezTo>
                  <a:pt x="1812704" y="0"/>
                  <a:pt x="1827183" y="14479"/>
                  <a:pt x="1827183" y="32340"/>
                </a:cubicBezTo>
                <a:lnTo>
                  <a:pt x="1827183" y="32340"/>
                </a:lnTo>
                <a:lnTo>
                  <a:pt x="0" y="32340"/>
                </a:lnTo>
                <a:lnTo>
                  <a:pt x="0" y="32340"/>
                </a:lnTo>
                <a:cubicBezTo>
                  <a:pt x="0" y="14491"/>
                  <a:pt x="14491" y="0"/>
                  <a:pt x="32340" y="0"/>
                </a:cubicBezTo>
                <a:close/>
              </a:path>
            </a:pathLst>
          </a:custGeom>
          <a:solidFill>
            <a:srgbClr val="8fb7ac"/>
          </a:solidFill>
          <a:ln w="0">
            <a:noFill/>
          </a:ln>
        </p:spPr>
        <p:style>
          <a:lnRef idx="0"/>
          <a:fillRef idx="0"/>
          <a:effectRef idx="0"/>
          <a:fontRef idx="minor"/>
        </p:style>
      </p:sp>
      <p:sp>
        <p:nvSpPr>
          <p:cNvPr id="654" name="Text 20"/>
          <p:cNvSpPr/>
          <p:nvPr/>
        </p:nvSpPr>
        <p:spPr>
          <a:xfrm>
            <a:off x="2340000" y="4139280"/>
            <a:ext cx="1640160" cy="2253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50" spc="-1" strike="noStrike">
                <a:solidFill>
                  <a:srgbClr val="2f3e3b"/>
                </a:solidFill>
                <a:latin typeface="Sorts Mill Goudy"/>
                <a:ea typeface="Sorts Mill Goudy"/>
              </a:rPr>
              <a:t>Temperate</a:t>
            </a:r>
            <a:endParaRPr b="0" lang="en-HK" sz="1150" spc="-1" strike="noStrike">
              <a:latin typeface="Arial"/>
            </a:endParaRPr>
          </a:p>
        </p:txBody>
      </p:sp>
      <p:sp>
        <p:nvSpPr>
          <p:cNvPr id="655" name="Text 21"/>
          <p:cNvSpPr/>
          <p:nvPr/>
        </p:nvSpPr>
        <p:spPr>
          <a:xfrm>
            <a:off x="2376360" y="4446720"/>
            <a:ext cx="1154880" cy="124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Dominant Mechanism:</a:t>
            </a:r>
            <a:endParaRPr b="0" lang="en-HK" sz="889" spc="-1" strike="noStrike">
              <a:latin typeface="Arial"/>
            </a:endParaRPr>
          </a:p>
        </p:txBody>
      </p:sp>
      <p:sp>
        <p:nvSpPr>
          <p:cNvPr id="656" name="Text 22"/>
          <p:cNvSpPr/>
          <p:nvPr/>
        </p:nvSpPr>
        <p:spPr>
          <a:xfrm>
            <a:off x="2376360" y="4656960"/>
            <a:ext cx="1623960" cy="160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Mycorrhizal associations</a:t>
            </a:r>
            <a:endParaRPr b="0" lang="en-HK" sz="889" spc="-1" strike="noStrike">
              <a:latin typeface="Arial"/>
            </a:endParaRPr>
          </a:p>
        </p:txBody>
      </p:sp>
      <p:sp>
        <p:nvSpPr>
          <p:cNvPr id="657" name="Text 23"/>
          <p:cNvSpPr/>
          <p:nvPr/>
        </p:nvSpPr>
        <p:spPr>
          <a:xfrm>
            <a:off x="2376360" y="4899600"/>
            <a:ext cx="655920" cy="124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Mycorrhizal:</a:t>
            </a:r>
            <a:endParaRPr b="0" lang="en-HK" sz="889" spc="-1" strike="noStrike">
              <a:latin typeface="Arial"/>
            </a:endParaRPr>
          </a:p>
        </p:txBody>
      </p:sp>
      <p:sp>
        <p:nvSpPr>
          <p:cNvPr id="658" name="Text 24"/>
          <p:cNvSpPr/>
          <p:nvPr/>
        </p:nvSpPr>
        <p:spPr>
          <a:xfrm>
            <a:off x="2376360" y="5109480"/>
            <a:ext cx="1623960" cy="160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Ectomycorrhizal (ECM)</a:t>
            </a:r>
            <a:endParaRPr b="0" lang="en-HK" sz="889" spc="-1" strike="noStrike">
              <a:latin typeface="Arial"/>
            </a:endParaRPr>
          </a:p>
        </p:txBody>
      </p:sp>
      <p:sp>
        <p:nvSpPr>
          <p:cNvPr id="659" name="Text 25"/>
          <p:cNvSpPr/>
          <p:nvPr/>
        </p:nvSpPr>
        <p:spPr>
          <a:xfrm>
            <a:off x="2376360" y="5352120"/>
            <a:ext cx="515880" cy="124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Diversity:</a:t>
            </a:r>
            <a:endParaRPr b="0" lang="en-HK" sz="889" spc="-1" strike="noStrike">
              <a:latin typeface="Arial"/>
            </a:endParaRPr>
          </a:p>
        </p:txBody>
      </p:sp>
      <p:sp>
        <p:nvSpPr>
          <p:cNvPr id="660" name="Text 26"/>
          <p:cNvSpPr/>
          <p:nvPr/>
        </p:nvSpPr>
        <p:spPr>
          <a:xfrm>
            <a:off x="2376360" y="5562360"/>
            <a:ext cx="1623960" cy="160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Moderate (10-30 species/ha)</a:t>
            </a:r>
            <a:endParaRPr b="0" lang="en-HK" sz="889" spc="-1" strike="noStrike">
              <a:latin typeface="Arial"/>
            </a:endParaRPr>
          </a:p>
        </p:txBody>
      </p:sp>
      <p:sp>
        <p:nvSpPr>
          <p:cNvPr id="661" name="Shape 27"/>
          <p:cNvSpPr/>
          <p:nvPr/>
        </p:nvSpPr>
        <p:spPr>
          <a:xfrm>
            <a:off x="4170960" y="3993840"/>
            <a:ext cx="1826280" cy="3459240"/>
          </a:xfrm>
          <a:custGeom>
            <a:avLst/>
            <a:gdLst/>
            <a:ahLst/>
            <a:rect l="l" t="t" r="r" b="b"/>
            <a:pathLst>
              <a:path w="1827183" h="3460329">
                <a:moveTo>
                  <a:pt x="32340" y="0"/>
                </a:moveTo>
                <a:lnTo>
                  <a:pt x="1794844" y="0"/>
                </a:lnTo>
                <a:cubicBezTo>
                  <a:pt x="1812704" y="0"/>
                  <a:pt x="1827183" y="14479"/>
                  <a:pt x="1827183" y="32340"/>
                </a:cubicBezTo>
                <a:lnTo>
                  <a:pt x="1827183" y="3395647"/>
                </a:lnTo>
                <a:cubicBezTo>
                  <a:pt x="1827183" y="3431370"/>
                  <a:pt x="1798224" y="3460329"/>
                  <a:pt x="1762501" y="3460329"/>
                </a:cubicBezTo>
                <a:lnTo>
                  <a:pt x="64682" y="3460329"/>
                </a:lnTo>
                <a:cubicBezTo>
                  <a:pt x="28959" y="3460329"/>
                  <a:pt x="0" y="3431370"/>
                  <a:pt x="0" y="3395647"/>
                </a:cubicBezTo>
                <a:lnTo>
                  <a:pt x="0" y="32340"/>
                </a:lnTo>
                <a:cubicBezTo>
                  <a:pt x="0" y="14491"/>
                  <a:pt x="14491" y="0"/>
                  <a:pt x="32340" y="0"/>
                </a:cubicBezTo>
                <a:close/>
              </a:path>
            </a:pathLst>
          </a:custGeom>
          <a:solidFill>
            <a:srgbClr val="5f6f6b">
              <a:alpha val="10000"/>
            </a:srgbClr>
          </a:solidFill>
          <a:ln w="0">
            <a:noFill/>
          </a:ln>
        </p:spPr>
        <p:style>
          <a:lnRef idx="0"/>
          <a:fillRef idx="0"/>
          <a:effectRef idx="0"/>
          <a:fontRef idx="minor"/>
        </p:style>
      </p:sp>
      <p:sp>
        <p:nvSpPr>
          <p:cNvPr id="662" name="Shape 28"/>
          <p:cNvSpPr/>
          <p:nvPr/>
        </p:nvSpPr>
        <p:spPr>
          <a:xfrm>
            <a:off x="4170960" y="3993840"/>
            <a:ext cx="1826280" cy="31320"/>
          </a:xfrm>
          <a:custGeom>
            <a:avLst/>
            <a:gdLst/>
            <a:ahLst/>
            <a:rect l="l" t="t" r="r" b="b"/>
            <a:pathLst>
              <a:path w="1827183" h="32340">
                <a:moveTo>
                  <a:pt x="32340" y="0"/>
                </a:moveTo>
                <a:lnTo>
                  <a:pt x="1794844" y="0"/>
                </a:lnTo>
                <a:cubicBezTo>
                  <a:pt x="1812704" y="0"/>
                  <a:pt x="1827183" y="14479"/>
                  <a:pt x="1827183" y="32340"/>
                </a:cubicBezTo>
                <a:lnTo>
                  <a:pt x="1827183" y="32340"/>
                </a:lnTo>
                <a:lnTo>
                  <a:pt x="0" y="32340"/>
                </a:lnTo>
                <a:lnTo>
                  <a:pt x="0" y="32340"/>
                </a:lnTo>
                <a:cubicBezTo>
                  <a:pt x="0" y="14491"/>
                  <a:pt x="14491" y="0"/>
                  <a:pt x="32340" y="0"/>
                </a:cubicBezTo>
                <a:close/>
              </a:path>
            </a:pathLst>
          </a:custGeom>
          <a:solidFill>
            <a:srgbClr val="5f6f6b"/>
          </a:solidFill>
          <a:ln w="0">
            <a:noFill/>
          </a:ln>
        </p:spPr>
        <p:style>
          <a:lnRef idx="0"/>
          <a:fillRef idx="0"/>
          <a:effectRef idx="0"/>
          <a:fontRef idx="minor"/>
        </p:style>
      </p:sp>
      <p:sp>
        <p:nvSpPr>
          <p:cNvPr id="663" name="Text 29"/>
          <p:cNvSpPr/>
          <p:nvPr/>
        </p:nvSpPr>
        <p:spPr>
          <a:xfrm>
            <a:off x="4263840" y="4139280"/>
            <a:ext cx="1640160" cy="2253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50" spc="-1" strike="noStrike">
                <a:solidFill>
                  <a:srgbClr val="2f3e3b"/>
                </a:solidFill>
                <a:latin typeface="Sorts Mill Goudy"/>
                <a:ea typeface="Sorts Mill Goudy"/>
              </a:rPr>
              <a:t>Boreal</a:t>
            </a:r>
            <a:endParaRPr b="0" lang="en-HK" sz="1150" spc="-1" strike="noStrike">
              <a:latin typeface="Arial"/>
            </a:endParaRPr>
          </a:p>
        </p:txBody>
      </p:sp>
      <p:sp>
        <p:nvSpPr>
          <p:cNvPr id="664" name="Text 30"/>
          <p:cNvSpPr/>
          <p:nvPr/>
        </p:nvSpPr>
        <p:spPr>
          <a:xfrm>
            <a:off x="4300200" y="4446720"/>
            <a:ext cx="1154880" cy="124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Dominant Mechanism:</a:t>
            </a:r>
            <a:endParaRPr b="0" lang="en-HK" sz="889" spc="-1" strike="noStrike">
              <a:latin typeface="Arial"/>
            </a:endParaRPr>
          </a:p>
        </p:txBody>
      </p:sp>
      <p:sp>
        <p:nvSpPr>
          <p:cNvPr id="665" name="Text 31"/>
          <p:cNvSpPr/>
          <p:nvPr/>
        </p:nvSpPr>
        <p:spPr>
          <a:xfrm>
            <a:off x="4300200" y="4656960"/>
            <a:ext cx="1623960" cy="160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Disturbance regimes</a:t>
            </a:r>
            <a:endParaRPr b="0" lang="en-HK" sz="889" spc="-1" strike="noStrike">
              <a:latin typeface="Arial"/>
            </a:endParaRPr>
          </a:p>
        </p:txBody>
      </p:sp>
      <p:sp>
        <p:nvSpPr>
          <p:cNvPr id="666" name="Text 32"/>
          <p:cNvSpPr/>
          <p:nvPr/>
        </p:nvSpPr>
        <p:spPr>
          <a:xfrm>
            <a:off x="4300200" y="4899600"/>
            <a:ext cx="655920" cy="124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Mycorrhizal:</a:t>
            </a:r>
            <a:endParaRPr b="0" lang="en-HK" sz="889" spc="-1" strike="noStrike">
              <a:latin typeface="Arial"/>
            </a:endParaRPr>
          </a:p>
        </p:txBody>
      </p:sp>
      <p:sp>
        <p:nvSpPr>
          <p:cNvPr id="667" name="Text 33"/>
          <p:cNvSpPr/>
          <p:nvPr/>
        </p:nvSpPr>
        <p:spPr>
          <a:xfrm>
            <a:off x="4300200" y="5109480"/>
            <a:ext cx="1623960" cy="160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Ectomycorrhizal (ECM)</a:t>
            </a:r>
            <a:endParaRPr b="0" lang="en-HK" sz="889" spc="-1" strike="noStrike">
              <a:latin typeface="Arial"/>
            </a:endParaRPr>
          </a:p>
        </p:txBody>
      </p:sp>
      <p:sp>
        <p:nvSpPr>
          <p:cNvPr id="668" name="Text 34"/>
          <p:cNvSpPr/>
          <p:nvPr/>
        </p:nvSpPr>
        <p:spPr>
          <a:xfrm>
            <a:off x="4300200" y="5352120"/>
            <a:ext cx="515880" cy="124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Diversity:</a:t>
            </a:r>
            <a:endParaRPr b="0" lang="en-HK" sz="889" spc="-1" strike="noStrike">
              <a:latin typeface="Arial"/>
            </a:endParaRPr>
          </a:p>
        </p:txBody>
      </p:sp>
      <p:sp>
        <p:nvSpPr>
          <p:cNvPr id="669" name="Text 35"/>
          <p:cNvSpPr/>
          <p:nvPr/>
        </p:nvSpPr>
        <p:spPr>
          <a:xfrm>
            <a:off x="4300200" y="5562360"/>
            <a:ext cx="1623960" cy="160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Lowest (1-5 species/ha)</a:t>
            </a:r>
            <a:endParaRPr b="0" lang="en-HK" sz="889" spc="-1" strike="noStrike">
              <a:latin typeface="Arial"/>
            </a:endParaRPr>
          </a:p>
        </p:txBody>
      </p:sp>
      <p:sp>
        <p:nvSpPr>
          <p:cNvPr id="670" name="Shape 36"/>
          <p:cNvSpPr/>
          <p:nvPr/>
        </p:nvSpPr>
        <p:spPr>
          <a:xfrm>
            <a:off x="6191640" y="1325880"/>
            <a:ext cx="5675040" cy="3685680"/>
          </a:xfrm>
          <a:custGeom>
            <a:avLst/>
            <a:gdLst/>
            <a:ahLst/>
            <a:rect l="l" t="t" r="r" b="b"/>
            <a:pathLst>
              <a:path w="5675586" h="3686706">
                <a:moveTo>
                  <a:pt x="97034" y="0"/>
                </a:moveTo>
                <a:lnTo>
                  <a:pt x="5578552" y="0"/>
                </a:lnTo>
                <a:cubicBezTo>
                  <a:pt x="5632143" y="0"/>
                  <a:pt x="5675586" y="43444"/>
                  <a:pt x="5675586" y="97034"/>
                </a:cubicBezTo>
                <a:lnTo>
                  <a:pt x="5675586" y="3589671"/>
                </a:lnTo>
                <a:cubicBezTo>
                  <a:pt x="5675586" y="3643262"/>
                  <a:pt x="5632143" y="3686706"/>
                  <a:pt x="5578552" y="3686706"/>
                </a:cubicBezTo>
                <a:lnTo>
                  <a:pt x="97034" y="3686706"/>
                </a:lnTo>
                <a:cubicBezTo>
                  <a:pt x="43444" y="3686706"/>
                  <a:pt x="0" y="3643262"/>
                  <a:pt x="0" y="3589671"/>
                </a:cubicBezTo>
                <a:lnTo>
                  <a:pt x="0" y="97034"/>
                </a:lnTo>
                <a:cubicBezTo>
                  <a:pt x="0" y="43444"/>
                  <a:pt x="43444" y="0"/>
                  <a:pt x="97034" y="0"/>
                </a:cubicBezTo>
                <a:close/>
              </a:path>
            </a:pathLst>
          </a:custGeom>
          <a:solidFill>
            <a:srgbClr val="ffffff"/>
          </a:solidFill>
          <a:ln w="0">
            <a:noFill/>
          </a:ln>
          <a:effectLst>
            <a:outerShdw algn="bl" blurRad="24120" dir="5400000" dist="7920" kx="0" ky="0" rotWithShape="0" sx="100000" sy="100000">
              <a:srgbClr val="000000">
                <a:alpha val="10000"/>
              </a:srgbClr>
            </a:outerShdw>
          </a:effectLst>
        </p:spPr>
        <p:style>
          <a:lnRef idx="0"/>
          <a:fillRef idx="0"/>
          <a:effectRef idx="0"/>
          <a:fontRef idx="minor"/>
        </p:style>
      </p:sp>
      <p:sp>
        <p:nvSpPr>
          <p:cNvPr id="671" name="Image 0"/>
          <p:cNvSpPr/>
          <p:nvPr/>
        </p:nvSpPr>
        <p:spPr>
          <a:xfrm>
            <a:off x="6191640" y="1325880"/>
            <a:ext cx="5675040" cy="3685680"/>
          </a:xfrm>
          <a:prstGeom prst="roundRect">
            <a:avLst>
              <a:gd name="adj" fmla="val 2632"/>
            </a:avLst>
          </a:prstGeom>
          <a:blipFill rotWithShape="0">
            <a:blip r:embed="rId1"/>
            <a:srcRect/>
            <a:stretch/>
          </a:blipFill>
          <a:ln w="0">
            <a:noFill/>
          </a:ln>
        </p:spPr>
        <p:style>
          <a:lnRef idx="0"/>
          <a:fillRef idx="0"/>
          <a:effectRef idx="0"/>
          <a:fontRef idx="minor"/>
        </p:style>
      </p:sp>
      <p:sp>
        <p:nvSpPr>
          <p:cNvPr id="672" name="Shape 37"/>
          <p:cNvSpPr/>
          <p:nvPr/>
        </p:nvSpPr>
        <p:spPr>
          <a:xfrm>
            <a:off x="6191640" y="5138640"/>
            <a:ext cx="5675040" cy="1405800"/>
          </a:xfrm>
          <a:custGeom>
            <a:avLst/>
            <a:gdLst/>
            <a:ahLst/>
            <a:rect l="l" t="t" r="r" b="b"/>
            <a:pathLst>
              <a:path w="5675586" h="1406769">
                <a:moveTo>
                  <a:pt x="97025" y="0"/>
                </a:moveTo>
                <a:lnTo>
                  <a:pt x="5578561" y="0"/>
                </a:lnTo>
                <a:cubicBezTo>
                  <a:pt x="5632147" y="0"/>
                  <a:pt x="5675586" y="43440"/>
                  <a:pt x="5675586" y="97025"/>
                </a:cubicBezTo>
                <a:lnTo>
                  <a:pt x="5675586" y="1309744"/>
                </a:lnTo>
                <a:cubicBezTo>
                  <a:pt x="5675586" y="1363330"/>
                  <a:pt x="5632147" y="1406769"/>
                  <a:pt x="5578561" y="1406769"/>
                </a:cubicBezTo>
                <a:lnTo>
                  <a:pt x="97025" y="1406769"/>
                </a:lnTo>
                <a:cubicBezTo>
                  <a:pt x="43440" y="1406769"/>
                  <a:pt x="0" y="1363330"/>
                  <a:pt x="0" y="1309744"/>
                </a:cubicBezTo>
                <a:lnTo>
                  <a:pt x="0" y="97025"/>
                </a:lnTo>
                <a:cubicBezTo>
                  <a:pt x="0" y="43475"/>
                  <a:pt x="43475" y="0"/>
                  <a:pt x="97025" y="0"/>
                </a:cubicBezTo>
                <a:close/>
              </a:path>
            </a:pathLst>
          </a:custGeom>
          <a:solidFill>
            <a:srgbClr val="2f3e3b"/>
          </a:solidFill>
          <a:ln w="0">
            <a:noFill/>
          </a:ln>
        </p:spPr>
        <p:style>
          <a:lnRef idx="0"/>
          <a:fillRef idx="0"/>
          <a:effectRef idx="0"/>
          <a:fontRef idx="minor"/>
        </p:style>
      </p:sp>
      <p:sp>
        <p:nvSpPr>
          <p:cNvPr id="673" name="Text 38"/>
          <p:cNvSpPr/>
          <p:nvPr/>
        </p:nvSpPr>
        <p:spPr>
          <a:xfrm>
            <a:off x="6353280" y="5300640"/>
            <a:ext cx="5424120" cy="225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ffffff"/>
                </a:solidFill>
                <a:latin typeface="Sorts Mill Goudy"/>
                <a:ea typeface="Sorts Mill Goudy"/>
              </a:rPr>
              <a:t>Aggregation-Abundance Relationship</a:t>
            </a:r>
            <a:endParaRPr b="0" lang="en-HK" sz="1150" spc="-1" strike="noStrike">
              <a:latin typeface="Arial"/>
            </a:endParaRPr>
          </a:p>
        </p:txBody>
      </p:sp>
      <p:sp>
        <p:nvSpPr>
          <p:cNvPr id="674" name="Text 39"/>
          <p:cNvSpPr/>
          <p:nvPr/>
        </p:nvSpPr>
        <p:spPr>
          <a:xfrm>
            <a:off x="6353280" y="5623920"/>
            <a:ext cx="5416200" cy="209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ffffff"/>
                </a:solidFill>
                <a:latin typeface="Quattrocento Sans"/>
                <a:ea typeface="Quattrocento Sans"/>
              </a:rPr>
              <a:t>Abundant species tend to be less spatially aggregated than rare species:</a:t>
            </a:r>
            <a:endParaRPr b="0" lang="en-HK" sz="1020" spc="-1" strike="noStrike">
              <a:latin typeface="Arial"/>
            </a:endParaRPr>
          </a:p>
        </p:txBody>
      </p:sp>
      <p:sp>
        <p:nvSpPr>
          <p:cNvPr id="675" name="Shape 40"/>
          <p:cNvSpPr/>
          <p:nvPr/>
        </p:nvSpPr>
        <p:spPr>
          <a:xfrm>
            <a:off x="6369480" y="5963400"/>
            <a:ext cx="128160" cy="128160"/>
          </a:xfrm>
          <a:custGeom>
            <a:avLst/>
            <a:gdLst/>
            <a:ahLst/>
            <a:rect l="l" t="t" r="r" b="b"/>
            <a:pathLst>
              <a:path w="129358" h="129358">
                <a:moveTo>
                  <a:pt x="126983" y="70389"/>
                </a:moveTo>
                <a:cubicBezTo>
                  <a:pt x="130141" y="67231"/>
                  <a:pt x="130141" y="62102"/>
                  <a:pt x="126983" y="58944"/>
                </a:cubicBezTo>
                <a:lnTo>
                  <a:pt x="86559" y="18519"/>
                </a:lnTo>
                <a:cubicBezTo>
                  <a:pt x="83401" y="15361"/>
                  <a:pt x="78272" y="15361"/>
                  <a:pt x="75114" y="18519"/>
                </a:cubicBezTo>
                <a:cubicBezTo>
                  <a:pt x="71955" y="21678"/>
                  <a:pt x="71955" y="26806"/>
                  <a:pt x="75114" y="29965"/>
                </a:cubicBezTo>
                <a:lnTo>
                  <a:pt x="101743" y="56594"/>
                </a:lnTo>
                <a:lnTo>
                  <a:pt x="8085" y="56594"/>
                </a:lnTo>
                <a:cubicBezTo>
                  <a:pt x="3613" y="56594"/>
                  <a:pt x="0" y="60207"/>
                  <a:pt x="0" y="64679"/>
                </a:cubicBezTo>
                <a:cubicBezTo>
                  <a:pt x="0" y="69151"/>
                  <a:pt x="3613" y="72764"/>
                  <a:pt x="8085" y="72764"/>
                </a:cubicBezTo>
                <a:lnTo>
                  <a:pt x="101743" y="72764"/>
                </a:lnTo>
                <a:lnTo>
                  <a:pt x="75114" y="99394"/>
                </a:lnTo>
                <a:cubicBezTo>
                  <a:pt x="71955" y="102552"/>
                  <a:pt x="71955" y="107681"/>
                  <a:pt x="75114" y="110839"/>
                </a:cubicBezTo>
                <a:cubicBezTo>
                  <a:pt x="78272" y="113997"/>
                  <a:pt x="83401" y="113997"/>
                  <a:pt x="86559" y="110839"/>
                </a:cubicBezTo>
                <a:lnTo>
                  <a:pt x="126983" y="70414"/>
                </a:lnTo>
                <a:close/>
              </a:path>
            </a:pathLst>
          </a:custGeom>
          <a:solidFill>
            <a:srgbClr val="8fb7ac"/>
          </a:solidFill>
          <a:ln w="0">
            <a:noFill/>
          </a:ln>
        </p:spPr>
        <p:style>
          <a:lnRef idx="0"/>
          <a:fillRef idx="0"/>
          <a:effectRef idx="0"/>
          <a:fontRef idx="minor"/>
        </p:style>
      </p:sp>
      <p:sp>
        <p:nvSpPr>
          <p:cNvPr id="676" name="Text 41"/>
          <p:cNvSpPr/>
          <p:nvPr/>
        </p:nvSpPr>
        <p:spPr>
          <a:xfrm>
            <a:off x="6579720" y="5931000"/>
            <a:ext cx="4154760" cy="192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20" spc="-1" strike="noStrike">
                <a:solidFill>
                  <a:srgbClr val="ffffff"/>
                </a:solidFill>
                <a:latin typeface="Quattrocento Sans"/>
                <a:ea typeface="Quattrocento Sans"/>
              </a:rPr>
              <a:t>Temperate:</a:t>
            </a:r>
            <a:r>
              <a:rPr b="0" lang="en-US" sz="1020" spc="-1" strike="noStrike">
                <a:solidFill>
                  <a:srgbClr val="ffffff"/>
                </a:solidFill>
                <a:latin typeface="Quattrocento Sans"/>
                <a:ea typeface="Quattrocento Sans"/>
              </a:rPr>
              <a:t> Stronger negative relationship—ECM fungi promote clustering</a:t>
            </a:r>
            <a:endParaRPr b="0" lang="en-HK" sz="1020" spc="-1" strike="noStrike">
              <a:latin typeface="Arial"/>
            </a:endParaRPr>
          </a:p>
        </p:txBody>
      </p:sp>
      <p:sp>
        <p:nvSpPr>
          <p:cNvPr id="677" name="Shape 42"/>
          <p:cNvSpPr/>
          <p:nvPr/>
        </p:nvSpPr>
        <p:spPr>
          <a:xfrm>
            <a:off x="6369480" y="6222240"/>
            <a:ext cx="128160" cy="128160"/>
          </a:xfrm>
          <a:custGeom>
            <a:avLst/>
            <a:gdLst/>
            <a:ahLst/>
            <a:rect l="l" t="t" r="r" b="b"/>
            <a:pathLst>
              <a:path w="129358" h="129358">
                <a:moveTo>
                  <a:pt x="126983" y="70389"/>
                </a:moveTo>
                <a:cubicBezTo>
                  <a:pt x="130141" y="67231"/>
                  <a:pt x="130141" y="62102"/>
                  <a:pt x="126983" y="58944"/>
                </a:cubicBezTo>
                <a:lnTo>
                  <a:pt x="86559" y="18519"/>
                </a:lnTo>
                <a:cubicBezTo>
                  <a:pt x="83401" y="15361"/>
                  <a:pt x="78272" y="15361"/>
                  <a:pt x="75114" y="18519"/>
                </a:cubicBezTo>
                <a:cubicBezTo>
                  <a:pt x="71955" y="21678"/>
                  <a:pt x="71955" y="26806"/>
                  <a:pt x="75114" y="29965"/>
                </a:cubicBezTo>
                <a:lnTo>
                  <a:pt x="101743" y="56594"/>
                </a:lnTo>
                <a:lnTo>
                  <a:pt x="8085" y="56594"/>
                </a:lnTo>
                <a:cubicBezTo>
                  <a:pt x="3613" y="56594"/>
                  <a:pt x="0" y="60207"/>
                  <a:pt x="0" y="64679"/>
                </a:cubicBezTo>
                <a:cubicBezTo>
                  <a:pt x="0" y="69151"/>
                  <a:pt x="3613" y="72764"/>
                  <a:pt x="8085" y="72764"/>
                </a:cubicBezTo>
                <a:lnTo>
                  <a:pt x="101743" y="72764"/>
                </a:lnTo>
                <a:lnTo>
                  <a:pt x="75114" y="99394"/>
                </a:lnTo>
                <a:cubicBezTo>
                  <a:pt x="71955" y="102552"/>
                  <a:pt x="71955" y="107681"/>
                  <a:pt x="75114" y="110839"/>
                </a:cubicBezTo>
                <a:cubicBezTo>
                  <a:pt x="78272" y="113997"/>
                  <a:pt x="83401" y="113997"/>
                  <a:pt x="86559" y="110839"/>
                </a:cubicBezTo>
                <a:lnTo>
                  <a:pt x="126983" y="70414"/>
                </a:lnTo>
                <a:close/>
              </a:path>
            </a:pathLst>
          </a:custGeom>
          <a:solidFill>
            <a:srgbClr val="8fb7ac"/>
          </a:solidFill>
          <a:ln w="0">
            <a:noFill/>
          </a:ln>
        </p:spPr>
        <p:style>
          <a:lnRef idx="0"/>
          <a:fillRef idx="0"/>
          <a:effectRef idx="0"/>
          <a:fontRef idx="minor"/>
        </p:style>
      </p:sp>
      <p:sp>
        <p:nvSpPr>
          <p:cNvPr id="678" name="Text 43"/>
          <p:cNvSpPr/>
          <p:nvPr/>
        </p:nvSpPr>
        <p:spPr>
          <a:xfrm>
            <a:off x="6579720" y="6189840"/>
            <a:ext cx="3944880" cy="192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20" spc="-1" strike="noStrike">
                <a:solidFill>
                  <a:srgbClr val="ffffff"/>
                </a:solidFill>
                <a:latin typeface="Quattrocento Sans"/>
                <a:ea typeface="Quattrocento Sans"/>
              </a:rPr>
              <a:t>Tropical:</a:t>
            </a:r>
            <a:r>
              <a:rPr b="0" lang="en-US" sz="1020" spc="-1" strike="noStrike">
                <a:solidFill>
                  <a:srgbClr val="ffffff"/>
                </a:solidFill>
                <a:latin typeface="Quattrocento Sans"/>
                <a:ea typeface="Quattrocento Sans"/>
              </a:rPr>
              <a:t> Weaker relationship—animal dispersal stabilizes coexistence</a:t>
            </a:r>
            <a:endParaRPr b="0" lang="en-HK" sz="1020" spc="-1" strike="noStrike">
              <a:latin typeface="Arial"/>
            </a:endParaRPr>
          </a:p>
        </p:txBody>
      </p:sp>
      <p:sp>
        <p:nvSpPr>
          <p:cNvPr id="679" name="Shape 44"/>
          <p:cNvSpPr/>
          <p:nvPr/>
        </p:nvSpPr>
        <p:spPr>
          <a:xfrm>
            <a:off x="6191640" y="6674760"/>
            <a:ext cx="5675040" cy="775080"/>
          </a:xfrm>
          <a:custGeom>
            <a:avLst/>
            <a:gdLst/>
            <a:ahLst/>
            <a:rect l="l" t="t" r="r" b="b"/>
            <a:pathLst>
              <a:path w="5675586" h="776149">
                <a:moveTo>
                  <a:pt x="97019" y="0"/>
                </a:moveTo>
                <a:lnTo>
                  <a:pt x="5578568" y="0"/>
                </a:lnTo>
                <a:cubicBezTo>
                  <a:pt x="5632150" y="0"/>
                  <a:pt x="5675586" y="43437"/>
                  <a:pt x="5675586" y="97019"/>
                </a:cubicBezTo>
                <a:lnTo>
                  <a:pt x="5675586" y="679130"/>
                </a:lnTo>
                <a:cubicBezTo>
                  <a:pt x="5675586" y="732712"/>
                  <a:pt x="5632150" y="776149"/>
                  <a:pt x="5578568" y="776149"/>
                </a:cubicBezTo>
                <a:lnTo>
                  <a:pt x="97019" y="776149"/>
                </a:lnTo>
                <a:cubicBezTo>
                  <a:pt x="43437" y="776149"/>
                  <a:pt x="0" y="732712"/>
                  <a:pt x="0" y="679130"/>
                </a:cubicBezTo>
                <a:lnTo>
                  <a:pt x="0" y="97019"/>
                </a:lnTo>
                <a:cubicBezTo>
                  <a:pt x="0" y="43473"/>
                  <a:pt x="43473" y="0"/>
                  <a:pt x="97019" y="0"/>
                </a:cubicBezTo>
                <a:close/>
              </a:path>
            </a:pathLst>
          </a:custGeom>
          <a:solidFill>
            <a:srgbClr val="4c8a7a"/>
          </a:solidFill>
          <a:ln w="0">
            <a:noFill/>
          </a:ln>
        </p:spPr>
        <p:style>
          <a:lnRef idx="0"/>
          <a:fillRef idx="0"/>
          <a:effectRef idx="0"/>
          <a:fontRef idx="minor"/>
        </p:style>
      </p:sp>
      <p:sp>
        <p:nvSpPr>
          <p:cNvPr id="680" name="Text 45"/>
          <p:cNvSpPr/>
          <p:nvPr/>
        </p:nvSpPr>
        <p:spPr>
          <a:xfrm>
            <a:off x="6260400" y="6804360"/>
            <a:ext cx="5537520" cy="28980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10" spc="-1" strike="noStrike">
                <a:solidFill>
                  <a:srgbClr val="ffffff"/>
                </a:solidFill>
                <a:latin typeface="Sorts Mill Goudy"/>
                <a:ea typeface="Sorts Mill Goudy"/>
              </a:rPr>
              <a:t>Biome-Specific</a:t>
            </a:r>
            <a:endParaRPr b="0" lang="en-HK" sz="1910" spc="-1" strike="noStrike">
              <a:latin typeface="Arial"/>
            </a:endParaRPr>
          </a:p>
        </p:txBody>
      </p:sp>
      <p:sp>
        <p:nvSpPr>
          <p:cNvPr id="681" name="Text 46"/>
          <p:cNvSpPr/>
          <p:nvPr/>
        </p:nvSpPr>
        <p:spPr>
          <a:xfrm>
            <a:off x="6288480" y="7127640"/>
            <a:ext cx="5481000" cy="1929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20" spc="-1" strike="noStrike">
                <a:solidFill>
                  <a:srgbClr val="ffffff"/>
                </a:solidFill>
                <a:latin typeface="Quattrocento Sans"/>
                <a:ea typeface="Quattrocento Sans"/>
              </a:rPr>
              <a:t>Conservation must account for regional mechanisms</a:t>
            </a:r>
            <a:endParaRPr b="0" lang="en-HK" sz="102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682" name="Text 0"/>
          <p:cNvSpPr/>
          <p:nvPr/>
        </p:nvSpPr>
        <p:spPr>
          <a:xfrm>
            <a:off x="329760" y="329760"/>
            <a:ext cx="11590200" cy="163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10" spc="83" strike="noStrike">
                <a:solidFill>
                  <a:srgbClr val="2f3e3b"/>
                </a:solidFill>
                <a:latin typeface="Quattrocento Sans"/>
                <a:ea typeface="Quattrocento Sans"/>
              </a:rPr>
              <a:t>08 • Conservation Implications</a:t>
            </a:r>
            <a:endParaRPr b="0" lang="en-HK" sz="910" spc="-1" strike="noStrike">
              <a:latin typeface="Arial"/>
            </a:endParaRPr>
          </a:p>
        </p:txBody>
      </p:sp>
      <p:sp>
        <p:nvSpPr>
          <p:cNvPr id="683" name="Text 1"/>
          <p:cNvSpPr/>
          <p:nvPr/>
        </p:nvSpPr>
        <p:spPr>
          <a:xfrm>
            <a:off x="329760" y="560520"/>
            <a:ext cx="11680920" cy="32868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40" spc="-1" strike="noStrike">
                <a:solidFill>
                  <a:srgbClr val="2f3e3b"/>
                </a:solidFill>
                <a:latin typeface="Sorts Mill Goudy"/>
                <a:ea typeface="Sorts Mill Goudy"/>
              </a:rPr>
              <a:t>Climate Change &amp; Biodiversity Trade-offs</a:t>
            </a:r>
            <a:endParaRPr b="0" lang="en-HK" sz="2340" spc="-1" strike="noStrike">
              <a:latin typeface="Arial"/>
            </a:endParaRPr>
          </a:p>
        </p:txBody>
      </p:sp>
      <p:sp>
        <p:nvSpPr>
          <p:cNvPr id="684" name="Text 2"/>
          <p:cNvSpPr/>
          <p:nvPr/>
        </p:nvSpPr>
        <p:spPr>
          <a:xfrm>
            <a:off x="329760" y="956160"/>
            <a:ext cx="11606760" cy="229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70" spc="-1" strike="noStrike">
                <a:solidFill>
                  <a:srgbClr val="5f6f6b"/>
                </a:solidFill>
                <a:latin typeface="Quattrocento Sans"/>
                <a:ea typeface="Quattrocento Sans"/>
              </a:rPr>
              <a:t>Emerging challenges to forest biodiversity maintenance</a:t>
            </a:r>
            <a:endParaRPr b="0" lang="en-HK" sz="1170" spc="-1" strike="noStrike">
              <a:latin typeface="Arial"/>
            </a:endParaRPr>
          </a:p>
        </p:txBody>
      </p:sp>
      <p:sp>
        <p:nvSpPr>
          <p:cNvPr id="685" name="Shape 3"/>
          <p:cNvSpPr/>
          <p:nvPr/>
        </p:nvSpPr>
        <p:spPr>
          <a:xfrm>
            <a:off x="329760" y="1351800"/>
            <a:ext cx="5670720" cy="3312720"/>
          </a:xfrm>
          <a:custGeom>
            <a:avLst/>
            <a:gdLst/>
            <a:ahLst/>
            <a:rect l="l" t="t" r="r" b="b"/>
            <a:pathLst>
              <a:path w="5671465" h="3313850">
                <a:moveTo>
                  <a:pt x="98918" y="0"/>
                </a:moveTo>
                <a:lnTo>
                  <a:pt x="5572546" y="0"/>
                </a:lnTo>
                <a:cubicBezTo>
                  <a:pt x="5627177" y="0"/>
                  <a:pt x="5671465" y="44287"/>
                  <a:pt x="5671465" y="98918"/>
                </a:cubicBezTo>
                <a:lnTo>
                  <a:pt x="5671465" y="3214931"/>
                </a:lnTo>
                <a:cubicBezTo>
                  <a:pt x="5671465" y="3269563"/>
                  <a:pt x="5627177" y="3313850"/>
                  <a:pt x="5572546" y="3313850"/>
                </a:cubicBezTo>
                <a:lnTo>
                  <a:pt x="98918" y="3313850"/>
                </a:lnTo>
                <a:cubicBezTo>
                  <a:pt x="44287" y="3313850"/>
                  <a:pt x="0" y="3269563"/>
                  <a:pt x="0" y="3214931"/>
                </a:cubicBezTo>
                <a:lnTo>
                  <a:pt x="0" y="98918"/>
                </a:lnTo>
                <a:cubicBezTo>
                  <a:pt x="0" y="44287"/>
                  <a:pt x="44287" y="0"/>
                  <a:pt x="98918" y="0"/>
                </a:cubicBezTo>
                <a:close/>
              </a:path>
            </a:pathLst>
          </a:custGeom>
          <a:solidFill>
            <a:srgbClr val="ffffff"/>
          </a:solidFill>
          <a:ln w="0">
            <a:noFill/>
          </a:ln>
          <a:effectLst>
            <a:outerShdw algn="bl" blurRad="24840" dir="5400000" dist="8280" kx="0" ky="0" rotWithShape="0" sx="100000" sy="100000">
              <a:srgbClr val="000000">
                <a:alpha val="10000"/>
              </a:srgbClr>
            </a:outerShdw>
          </a:effectLst>
        </p:spPr>
        <p:style>
          <a:lnRef idx="0"/>
          <a:fillRef idx="0"/>
          <a:effectRef idx="0"/>
          <a:fontRef idx="minor"/>
        </p:style>
      </p:sp>
      <p:sp>
        <p:nvSpPr>
          <p:cNvPr id="686" name="Text 4"/>
          <p:cNvSpPr/>
          <p:nvPr/>
        </p:nvSpPr>
        <p:spPr>
          <a:xfrm>
            <a:off x="494640" y="1516680"/>
            <a:ext cx="5423400" cy="229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00" spc="-1" strike="noStrike">
                <a:solidFill>
                  <a:srgbClr val="2f3e3b"/>
                </a:solidFill>
                <a:latin typeface="Sorts Mill Goudy"/>
                <a:ea typeface="Sorts Mill Goudy"/>
              </a:rPr>
              <a:t>Climate Change Impacts</a:t>
            </a:r>
            <a:endParaRPr b="0" lang="en-HK" sz="1300" spc="-1" strike="noStrike">
              <a:latin typeface="Arial"/>
            </a:endParaRPr>
          </a:p>
        </p:txBody>
      </p:sp>
      <p:sp>
        <p:nvSpPr>
          <p:cNvPr id="687" name="Text 5"/>
          <p:cNvSpPr/>
          <p:nvPr/>
        </p:nvSpPr>
        <p:spPr>
          <a:xfrm>
            <a:off x="494640" y="1846440"/>
            <a:ext cx="5406840" cy="641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1f2a28"/>
                </a:solidFill>
                <a:latin typeface="Quattrocento Sans"/>
                <a:ea typeface="Quattrocento Sans"/>
              </a:rPr>
              <a:t>Climate change threatens forest biodiversity through </a:t>
            </a:r>
            <a:r>
              <a:rPr b="0" lang="en-US" sz="1040" spc="-1" strike="noStrike">
                <a:solidFill>
                  <a:srgbClr val="2f3e3b"/>
                </a:solidFill>
                <a:highlight>
                  <a:srgbClr val="8fb7ac"/>
                </a:highlight>
                <a:latin typeface="Quattrocento Sans"/>
                <a:ea typeface="Quattrocento Sans"/>
              </a:rPr>
              <a:t>altered disturbance regimes, shifting species distributions, and changing ecosystem stability </a:t>
            </a:r>
            <a:r>
              <a:rPr b="0" lang="en-US" sz="1040" spc="-1" strike="noStrike">
                <a:solidFill>
                  <a:srgbClr val="1f2a28"/>
                </a:solidFill>
                <a:latin typeface="Quattrocento Sans"/>
                <a:ea typeface="Quattrocento Sans"/>
              </a:rPr>
              <a:t>. Understanding these impacts is critical for conservation planning.</a:t>
            </a:r>
            <a:endParaRPr b="0" lang="en-HK" sz="1040" spc="-1" strike="noStrike">
              <a:latin typeface="Arial"/>
            </a:endParaRPr>
          </a:p>
        </p:txBody>
      </p:sp>
      <p:sp>
        <p:nvSpPr>
          <p:cNvPr id="688" name="Shape 6"/>
          <p:cNvSpPr/>
          <p:nvPr/>
        </p:nvSpPr>
        <p:spPr>
          <a:xfrm>
            <a:off x="494640" y="2621520"/>
            <a:ext cx="5340960" cy="559440"/>
          </a:xfrm>
          <a:custGeom>
            <a:avLst/>
            <a:gdLst/>
            <a:ahLst/>
            <a:rect l="l" t="t" r="r" b="b"/>
            <a:pathLst>
              <a:path w="5341728" h="560552">
                <a:moveTo>
                  <a:pt x="65949" y="0"/>
                </a:moveTo>
                <a:lnTo>
                  <a:pt x="5275779" y="0"/>
                </a:lnTo>
                <a:cubicBezTo>
                  <a:pt x="5312202" y="0"/>
                  <a:pt x="5341728" y="29526"/>
                  <a:pt x="5341728" y="65949"/>
                </a:cubicBezTo>
                <a:lnTo>
                  <a:pt x="5341728" y="494603"/>
                </a:lnTo>
                <a:cubicBezTo>
                  <a:pt x="5341728" y="531025"/>
                  <a:pt x="5312202" y="560552"/>
                  <a:pt x="5275779" y="560552"/>
                </a:cubicBezTo>
                <a:lnTo>
                  <a:pt x="65949" y="560552"/>
                </a:lnTo>
                <a:cubicBezTo>
                  <a:pt x="29551" y="560552"/>
                  <a:pt x="0" y="531001"/>
                  <a:pt x="0" y="494603"/>
                </a:cubicBezTo>
                <a:lnTo>
                  <a:pt x="0" y="65949"/>
                </a:lnTo>
                <a:cubicBezTo>
                  <a:pt x="0" y="29526"/>
                  <a:pt x="29526" y="0"/>
                  <a:pt x="65949" y="0"/>
                </a:cubicBezTo>
                <a:close/>
              </a:path>
            </a:pathLst>
          </a:custGeom>
          <a:solidFill>
            <a:srgbClr val="4c8a7a">
              <a:alpha val="10000"/>
            </a:srgbClr>
          </a:solidFill>
          <a:ln w="0">
            <a:noFill/>
          </a:ln>
        </p:spPr>
        <p:style>
          <a:lnRef idx="0"/>
          <a:fillRef idx="0"/>
          <a:effectRef idx="0"/>
          <a:fontRef idx="minor"/>
        </p:style>
      </p:sp>
      <p:sp>
        <p:nvSpPr>
          <p:cNvPr id="689" name="Shape 7"/>
          <p:cNvSpPr/>
          <p:nvPr/>
        </p:nvSpPr>
        <p:spPr>
          <a:xfrm>
            <a:off x="623520" y="2753280"/>
            <a:ext cx="128880" cy="147240"/>
          </a:xfrm>
          <a:custGeom>
            <a:avLst/>
            <a:gdLst/>
            <a:ahLst/>
            <a:rect l="l" t="t" r="r" b="b"/>
            <a:pathLst>
              <a:path w="129834" h="148381">
                <a:moveTo>
                  <a:pt x="46514" y="-7651"/>
                </a:moveTo>
                <a:cubicBezTo>
                  <a:pt x="49209" y="-9911"/>
                  <a:pt x="53180" y="-9824"/>
                  <a:pt x="55759" y="-7390"/>
                </a:cubicBezTo>
                <a:cubicBezTo>
                  <a:pt x="59324" y="-4028"/>
                  <a:pt x="62511" y="-319"/>
                  <a:pt x="65583" y="3449"/>
                </a:cubicBezTo>
                <a:cubicBezTo>
                  <a:pt x="69496" y="8231"/>
                  <a:pt x="74191" y="14548"/>
                  <a:pt x="78712" y="22054"/>
                </a:cubicBezTo>
                <a:cubicBezTo>
                  <a:pt x="80219" y="20084"/>
                  <a:pt x="81610" y="18345"/>
                  <a:pt x="82827" y="16867"/>
                </a:cubicBezTo>
                <a:cubicBezTo>
                  <a:pt x="83146" y="16490"/>
                  <a:pt x="83465" y="16084"/>
                  <a:pt x="83783" y="15679"/>
                </a:cubicBezTo>
                <a:cubicBezTo>
                  <a:pt x="86073" y="12838"/>
                  <a:pt x="88913" y="9274"/>
                  <a:pt x="92709" y="9274"/>
                </a:cubicBezTo>
                <a:cubicBezTo>
                  <a:pt x="96593" y="9274"/>
                  <a:pt x="99317" y="12723"/>
                  <a:pt x="101635" y="15679"/>
                </a:cubicBezTo>
                <a:cubicBezTo>
                  <a:pt x="102012" y="16171"/>
                  <a:pt x="102389" y="16635"/>
                  <a:pt x="102766" y="17070"/>
                </a:cubicBezTo>
                <a:cubicBezTo>
                  <a:pt x="105751" y="20663"/>
                  <a:pt x="109721" y="25851"/>
                  <a:pt x="113691" y="32256"/>
                </a:cubicBezTo>
                <a:cubicBezTo>
                  <a:pt x="121574" y="44978"/>
                  <a:pt x="129805" y="63091"/>
                  <a:pt x="129805" y="83436"/>
                </a:cubicBezTo>
                <a:cubicBezTo>
                  <a:pt x="129805" y="119285"/>
                  <a:pt x="100737" y="148352"/>
                  <a:pt x="64888" y="148352"/>
                </a:cubicBezTo>
                <a:cubicBezTo>
                  <a:pt x="29039" y="148352"/>
                  <a:pt x="0" y="119314"/>
                  <a:pt x="0" y="83465"/>
                </a:cubicBezTo>
                <a:cubicBezTo>
                  <a:pt x="0" y="57063"/>
                  <a:pt x="11911" y="34197"/>
                  <a:pt x="23329" y="18258"/>
                </a:cubicBezTo>
                <a:cubicBezTo>
                  <a:pt x="29097" y="10230"/>
                  <a:pt x="34835" y="3796"/>
                  <a:pt x="39153" y="-609"/>
                </a:cubicBezTo>
                <a:cubicBezTo>
                  <a:pt x="41529" y="-3043"/>
                  <a:pt x="43935" y="-5448"/>
                  <a:pt x="46543" y="-7622"/>
                </a:cubicBezTo>
                <a:close/>
                <a:moveTo>
                  <a:pt x="65410" y="120560"/>
                </a:moveTo>
                <a:cubicBezTo>
                  <a:pt x="72742" y="120560"/>
                  <a:pt x="79233" y="118531"/>
                  <a:pt x="85348" y="114474"/>
                </a:cubicBezTo>
                <a:cubicBezTo>
                  <a:pt x="97549" y="105954"/>
                  <a:pt x="100824" y="88913"/>
                  <a:pt x="93492" y="75524"/>
                </a:cubicBezTo>
                <a:cubicBezTo>
                  <a:pt x="92188" y="72916"/>
                  <a:pt x="88855" y="72742"/>
                  <a:pt x="86971" y="74944"/>
                </a:cubicBezTo>
                <a:lnTo>
                  <a:pt x="79668" y="83436"/>
                </a:lnTo>
                <a:cubicBezTo>
                  <a:pt x="77755" y="85638"/>
                  <a:pt x="74307" y="85580"/>
                  <a:pt x="72510" y="83291"/>
                </a:cubicBezTo>
                <a:cubicBezTo>
                  <a:pt x="67496" y="76886"/>
                  <a:pt x="58280" y="65207"/>
                  <a:pt x="53585" y="59237"/>
                </a:cubicBezTo>
                <a:cubicBezTo>
                  <a:pt x="52020" y="57237"/>
                  <a:pt x="49180" y="56918"/>
                  <a:pt x="47355" y="58686"/>
                </a:cubicBezTo>
                <a:cubicBezTo>
                  <a:pt x="42051" y="63845"/>
                  <a:pt x="32429" y="75147"/>
                  <a:pt x="32429" y="88913"/>
                </a:cubicBezTo>
                <a:cubicBezTo>
                  <a:pt x="32429" y="108794"/>
                  <a:pt x="47094" y="120560"/>
                  <a:pt x="65381" y="120560"/>
                </a:cubicBezTo>
                <a:close/>
              </a:path>
            </a:pathLst>
          </a:custGeom>
          <a:solidFill>
            <a:srgbClr val="4c8a7a"/>
          </a:solidFill>
          <a:ln w="0">
            <a:noFill/>
          </a:ln>
        </p:spPr>
        <p:style>
          <a:lnRef idx="0"/>
          <a:fillRef idx="0"/>
          <a:effectRef idx="0"/>
          <a:fontRef idx="minor"/>
        </p:style>
      </p:sp>
      <p:sp>
        <p:nvSpPr>
          <p:cNvPr id="690" name="Text 8"/>
          <p:cNvSpPr/>
          <p:nvPr/>
        </p:nvSpPr>
        <p:spPr>
          <a:xfrm>
            <a:off x="878040" y="2720160"/>
            <a:ext cx="3337920" cy="196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2f3e3b"/>
                </a:solidFill>
                <a:latin typeface="Quattrocento Sans"/>
                <a:ea typeface="Quattrocento Sans"/>
              </a:rPr>
              <a:t>Altered Disturbance Regimes</a:t>
            </a:r>
            <a:endParaRPr b="0" lang="en-HK" sz="1040" spc="-1" strike="noStrike">
              <a:latin typeface="Arial"/>
            </a:endParaRPr>
          </a:p>
        </p:txBody>
      </p:sp>
      <p:sp>
        <p:nvSpPr>
          <p:cNvPr id="691" name="Text 9"/>
          <p:cNvSpPr/>
          <p:nvPr/>
        </p:nvSpPr>
        <p:spPr>
          <a:xfrm>
            <a:off x="878040" y="2918160"/>
            <a:ext cx="3329640" cy="163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Increased fire frequency, extreme weather events, pest outbreaks</a:t>
            </a:r>
            <a:endParaRPr b="0" lang="en-HK" sz="910" spc="-1" strike="noStrike">
              <a:latin typeface="Arial"/>
            </a:endParaRPr>
          </a:p>
        </p:txBody>
      </p:sp>
      <p:sp>
        <p:nvSpPr>
          <p:cNvPr id="692" name="Shape 10"/>
          <p:cNvSpPr/>
          <p:nvPr/>
        </p:nvSpPr>
        <p:spPr>
          <a:xfrm>
            <a:off x="494640" y="3281040"/>
            <a:ext cx="5340960" cy="559440"/>
          </a:xfrm>
          <a:custGeom>
            <a:avLst/>
            <a:gdLst/>
            <a:ahLst/>
            <a:rect l="l" t="t" r="r" b="b"/>
            <a:pathLst>
              <a:path w="5341728" h="560552">
                <a:moveTo>
                  <a:pt x="65949" y="0"/>
                </a:moveTo>
                <a:lnTo>
                  <a:pt x="5275779" y="0"/>
                </a:lnTo>
                <a:cubicBezTo>
                  <a:pt x="5312202" y="0"/>
                  <a:pt x="5341728" y="29526"/>
                  <a:pt x="5341728" y="65949"/>
                </a:cubicBezTo>
                <a:lnTo>
                  <a:pt x="5341728" y="494603"/>
                </a:lnTo>
                <a:cubicBezTo>
                  <a:pt x="5341728" y="531025"/>
                  <a:pt x="5312202" y="560552"/>
                  <a:pt x="5275779" y="560552"/>
                </a:cubicBezTo>
                <a:lnTo>
                  <a:pt x="65949" y="560552"/>
                </a:lnTo>
                <a:cubicBezTo>
                  <a:pt x="29551" y="560552"/>
                  <a:pt x="0" y="531001"/>
                  <a:pt x="0" y="494603"/>
                </a:cubicBezTo>
                <a:lnTo>
                  <a:pt x="0" y="65949"/>
                </a:lnTo>
                <a:cubicBezTo>
                  <a:pt x="0" y="29526"/>
                  <a:pt x="29526" y="0"/>
                  <a:pt x="65949" y="0"/>
                </a:cubicBezTo>
                <a:close/>
              </a:path>
            </a:pathLst>
          </a:custGeom>
          <a:solidFill>
            <a:srgbClr val="8fb7ac">
              <a:alpha val="10000"/>
            </a:srgbClr>
          </a:solidFill>
          <a:ln w="0">
            <a:noFill/>
          </a:ln>
        </p:spPr>
        <p:style>
          <a:lnRef idx="0"/>
          <a:fillRef idx="0"/>
          <a:effectRef idx="0"/>
          <a:fontRef idx="minor"/>
        </p:style>
      </p:sp>
      <p:sp>
        <p:nvSpPr>
          <p:cNvPr id="693" name="Shape 11"/>
          <p:cNvSpPr/>
          <p:nvPr/>
        </p:nvSpPr>
        <p:spPr>
          <a:xfrm>
            <a:off x="614160" y="3412800"/>
            <a:ext cx="147240" cy="147240"/>
          </a:xfrm>
          <a:custGeom>
            <a:avLst/>
            <a:gdLst/>
            <a:ahLst/>
            <a:rect l="l" t="t" r="r" b="b"/>
            <a:pathLst>
              <a:path w="148381" h="148381">
                <a:moveTo>
                  <a:pt x="27822" y="27822"/>
                </a:moveTo>
                <a:cubicBezTo>
                  <a:pt x="27822" y="12462"/>
                  <a:pt x="40283" y="0"/>
                  <a:pt x="55643" y="0"/>
                </a:cubicBezTo>
                <a:cubicBezTo>
                  <a:pt x="71003" y="0"/>
                  <a:pt x="83465" y="12462"/>
                  <a:pt x="83465" y="27822"/>
                </a:cubicBezTo>
                <a:lnTo>
                  <a:pt x="83465" y="75553"/>
                </a:lnTo>
                <a:cubicBezTo>
                  <a:pt x="92014" y="83204"/>
                  <a:pt x="97375" y="94303"/>
                  <a:pt x="97375" y="106649"/>
                </a:cubicBezTo>
                <a:cubicBezTo>
                  <a:pt x="97375" y="129689"/>
                  <a:pt x="78683" y="148381"/>
                  <a:pt x="55643" y="148381"/>
                </a:cubicBezTo>
                <a:cubicBezTo>
                  <a:pt x="32603" y="148381"/>
                  <a:pt x="13911" y="129689"/>
                  <a:pt x="13911" y="106649"/>
                </a:cubicBezTo>
                <a:cubicBezTo>
                  <a:pt x="13911" y="94303"/>
                  <a:pt x="19272" y="83175"/>
                  <a:pt x="27822" y="75553"/>
                </a:cubicBezTo>
                <a:lnTo>
                  <a:pt x="27822" y="27822"/>
                </a:lnTo>
                <a:close/>
                <a:moveTo>
                  <a:pt x="55643" y="125197"/>
                </a:moveTo>
                <a:cubicBezTo>
                  <a:pt x="65873" y="125197"/>
                  <a:pt x="74191" y="116879"/>
                  <a:pt x="74191" y="106649"/>
                </a:cubicBezTo>
                <a:cubicBezTo>
                  <a:pt x="74191" y="98853"/>
                  <a:pt x="69409" y="92188"/>
                  <a:pt x="62598" y="89464"/>
                </a:cubicBezTo>
                <a:lnTo>
                  <a:pt x="62598" y="27822"/>
                </a:lnTo>
                <a:cubicBezTo>
                  <a:pt x="62598" y="23967"/>
                  <a:pt x="59497" y="20866"/>
                  <a:pt x="55643" y="20866"/>
                </a:cubicBezTo>
                <a:cubicBezTo>
                  <a:pt x="51789" y="20866"/>
                  <a:pt x="48688" y="23967"/>
                  <a:pt x="48688" y="27822"/>
                </a:cubicBezTo>
                <a:lnTo>
                  <a:pt x="48688" y="89464"/>
                </a:lnTo>
                <a:cubicBezTo>
                  <a:pt x="41877" y="92217"/>
                  <a:pt x="37095" y="98882"/>
                  <a:pt x="37095" y="106649"/>
                </a:cubicBezTo>
                <a:cubicBezTo>
                  <a:pt x="37095" y="116879"/>
                  <a:pt x="45413" y="125197"/>
                  <a:pt x="55643" y="125197"/>
                </a:cubicBezTo>
                <a:close/>
                <a:moveTo>
                  <a:pt x="134471" y="23185"/>
                </a:moveTo>
                <a:cubicBezTo>
                  <a:pt x="134471" y="18066"/>
                  <a:pt x="130315" y="13911"/>
                  <a:pt x="125197" y="13911"/>
                </a:cubicBezTo>
                <a:cubicBezTo>
                  <a:pt x="120078" y="13911"/>
                  <a:pt x="115923" y="18066"/>
                  <a:pt x="115923" y="23185"/>
                </a:cubicBezTo>
                <a:cubicBezTo>
                  <a:pt x="115923" y="28303"/>
                  <a:pt x="120078" y="32458"/>
                  <a:pt x="125197" y="32458"/>
                </a:cubicBezTo>
                <a:cubicBezTo>
                  <a:pt x="130315" y="32458"/>
                  <a:pt x="134471" y="28303"/>
                  <a:pt x="134471" y="23185"/>
                </a:cubicBezTo>
                <a:close/>
                <a:moveTo>
                  <a:pt x="102012" y="23185"/>
                </a:moveTo>
                <a:cubicBezTo>
                  <a:pt x="102012" y="10389"/>
                  <a:pt x="112401" y="0"/>
                  <a:pt x="125197" y="0"/>
                </a:cubicBezTo>
                <a:cubicBezTo>
                  <a:pt x="137993" y="0"/>
                  <a:pt x="148381" y="10389"/>
                  <a:pt x="148381" y="23185"/>
                </a:cubicBezTo>
                <a:cubicBezTo>
                  <a:pt x="148381" y="35981"/>
                  <a:pt x="137993" y="46369"/>
                  <a:pt x="125197" y="46369"/>
                </a:cubicBezTo>
                <a:cubicBezTo>
                  <a:pt x="112401" y="46369"/>
                  <a:pt x="102012" y="35981"/>
                  <a:pt x="102012" y="23185"/>
                </a:cubicBezTo>
                <a:close/>
              </a:path>
            </a:pathLst>
          </a:custGeom>
          <a:solidFill>
            <a:srgbClr val="8fb7ac"/>
          </a:solidFill>
          <a:ln w="0">
            <a:noFill/>
          </a:ln>
        </p:spPr>
        <p:style>
          <a:lnRef idx="0"/>
          <a:fillRef idx="0"/>
          <a:effectRef idx="0"/>
          <a:fontRef idx="minor"/>
        </p:style>
      </p:sp>
      <p:sp>
        <p:nvSpPr>
          <p:cNvPr id="694" name="Text 12"/>
          <p:cNvSpPr/>
          <p:nvPr/>
        </p:nvSpPr>
        <p:spPr>
          <a:xfrm>
            <a:off x="878040" y="3379680"/>
            <a:ext cx="3675960" cy="196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2f3e3b"/>
                </a:solidFill>
                <a:latin typeface="Quattrocento Sans"/>
                <a:ea typeface="Quattrocento Sans"/>
              </a:rPr>
              <a:t>Range Shifts</a:t>
            </a:r>
            <a:endParaRPr b="0" lang="en-HK" sz="1040" spc="-1" strike="noStrike">
              <a:latin typeface="Arial"/>
            </a:endParaRPr>
          </a:p>
        </p:txBody>
      </p:sp>
      <p:sp>
        <p:nvSpPr>
          <p:cNvPr id="695" name="Text 13"/>
          <p:cNvSpPr/>
          <p:nvPr/>
        </p:nvSpPr>
        <p:spPr>
          <a:xfrm>
            <a:off x="878040" y="3577680"/>
            <a:ext cx="3667680" cy="163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Species migrate poleward and upslope; trailing edge populations decline</a:t>
            </a:r>
            <a:endParaRPr b="0" lang="en-HK" sz="910" spc="-1" strike="noStrike">
              <a:latin typeface="Arial"/>
            </a:endParaRPr>
          </a:p>
        </p:txBody>
      </p:sp>
      <p:sp>
        <p:nvSpPr>
          <p:cNvPr id="696" name="Shape 14"/>
          <p:cNvSpPr/>
          <p:nvPr/>
        </p:nvSpPr>
        <p:spPr>
          <a:xfrm>
            <a:off x="494640" y="3940200"/>
            <a:ext cx="5340960" cy="559440"/>
          </a:xfrm>
          <a:custGeom>
            <a:avLst/>
            <a:gdLst/>
            <a:ahLst/>
            <a:rect l="l" t="t" r="r" b="b"/>
            <a:pathLst>
              <a:path w="5341728" h="560552">
                <a:moveTo>
                  <a:pt x="65949" y="0"/>
                </a:moveTo>
                <a:lnTo>
                  <a:pt x="5275779" y="0"/>
                </a:lnTo>
                <a:cubicBezTo>
                  <a:pt x="5312202" y="0"/>
                  <a:pt x="5341728" y="29526"/>
                  <a:pt x="5341728" y="65949"/>
                </a:cubicBezTo>
                <a:lnTo>
                  <a:pt x="5341728" y="494603"/>
                </a:lnTo>
                <a:cubicBezTo>
                  <a:pt x="5341728" y="531025"/>
                  <a:pt x="5312202" y="560552"/>
                  <a:pt x="5275779" y="560552"/>
                </a:cubicBezTo>
                <a:lnTo>
                  <a:pt x="65949" y="560552"/>
                </a:lnTo>
                <a:cubicBezTo>
                  <a:pt x="29551" y="560552"/>
                  <a:pt x="0" y="531001"/>
                  <a:pt x="0" y="494603"/>
                </a:cubicBezTo>
                <a:lnTo>
                  <a:pt x="0" y="65949"/>
                </a:lnTo>
                <a:cubicBezTo>
                  <a:pt x="0" y="29526"/>
                  <a:pt x="29526" y="0"/>
                  <a:pt x="65949" y="0"/>
                </a:cubicBezTo>
                <a:close/>
              </a:path>
            </a:pathLst>
          </a:custGeom>
          <a:solidFill>
            <a:srgbClr val="5f6f6b">
              <a:alpha val="10000"/>
            </a:srgbClr>
          </a:solidFill>
          <a:ln w="0">
            <a:noFill/>
          </a:ln>
        </p:spPr>
        <p:style>
          <a:lnRef idx="0"/>
          <a:fillRef idx="0"/>
          <a:effectRef idx="0"/>
          <a:fontRef idx="minor"/>
        </p:style>
      </p:sp>
      <p:sp>
        <p:nvSpPr>
          <p:cNvPr id="697" name="Shape 15"/>
          <p:cNvSpPr/>
          <p:nvPr/>
        </p:nvSpPr>
        <p:spPr>
          <a:xfrm>
            <a:off x="614160" y="4072320"/>
            <a:ext cx="147240" cy="147240"/>
          </a:xfrm>
          <a:custGeom>
            <a:avLst/>
            <a:gdLst/>
            <a:ahLst/>
            <a:rect l="l" t="t" r="r" b="b"/>
            <a:pathLst>
              <a:path w="148381" h="148381">
                <a:moveTo>
                  <a:pt x="18548" y="18548"/>
                </a:moveTo>
                <a:cubicBezTo>
                  <a:pt x="18548" y="13418"/>
                  <a:pt x="14403" y="9274"/>
                  <a:pt x="9274" y="9274"/>
                </a:cubicBezTo>
                <a:cubicBezTo>
                  <a:pt x="4144" y="9274"/>
                  <a:pt x="0" y="13418"/>
                  <a:pt x="0" y="18548"/>
                </a:cubicBezTo>
                <a:lnTo>
                  <a:pt x="0" y="115923"/>
                </a:lnTo>
                <a:cubicBezTo>
                  <a:pt x="0" y="128732"/>
                  <a:pt x="10375" y="139108"/>
                  <a:pt x="23185" y="139108"/>
                </a:cubicBezTo>
                <a:lnTo>
                  <a:pt x="139108" y="139108"/>
                </a:lnTo>
                <a:cubicBezTo>
                  <a:pt x="144237" y="139108"/>
                  <a:pt x="148381" y="134963"/>
                  <a:pt x="148381" y="129834"/>
                </a:cubicBezTo>
                <a:cubicBezTo>
                  <a:pt x="148381" y="124704"/>
                  <a:pt x="144237" y="120560"/>
                  <a:pt x="139108" y="120560"/>
                </a:cubicBezTo>
                <a:lnTo>
                  <a:pt x="23185" y="120560"/>
                </a:lnTo>
                <a:cubicBezTo>
                  <a:pt x="20634" y="120560"/>
                  <a:pt x="18548" y="118473"/>
                  <a:pt x="18548" y="115923"/>
                </a:cubicBezTo>
                <a:lnTo>
                  <a:pt x="18548" y="18548"/>
                </a:lnTo>
                <a:close/>
                <a:moveTo>
                  <a:pt x="136383" y="43645"/>
                </a:moveTo>
                <a:cubicBezTo>
                  <a:pt x="140006" y="40022"/>
                  <a:pt x="140006" y="34139"/>
                  <a:pt x="136383" y="30517"/>
                </a:cubicBezTo>
                <a:cubicBezTo>
                  <a:pt x="132761" y="26894"/>
                  <a:pt x="126878" y="26894"/>
                  <a:pt x="123255" y="30517"/>
                </a:cubicBezTo>
                <a:lnTo>
                  <a:pt x="92738" y="61062"/>
                </a:lnTo>
                <a:lnTo>
                  <a:pt x="76103" y="44456"/>
                </a:lnTo>
                <a:cubicBezTo>
                  <a:pt x="72481" y="40834"/>
                  <a:pt x="66598" y="40834"/>
                  <a:pt x="62975" y="44456"/>
                </a:cubicBezTo>
                <a:lnTo>
                  <a:pt x="35154" y="72278"/>
                </a:lnTo>
                <a:cubicBezTo>
                  <a:pt x="31531" y="75901"/>
                  <a:pt x="31531" y="81784"/>
                  <a:pt x="35154" y="85406"/>
                </a:cubicBezTo>
                <a:cubicBezTo>
                  <a:pt x="38776" y="89029"/>
                  <a:pt x="44659" y="89029"/>
                  <a:pt x="48282" y="85406"/>
                </a:cubicBezTo>
                <a:lnTo>
                  <a:pt x="69554" y="64134"/>
                </a:lnTo>
                <a:lnTo>
                  <a:pt x="86189" y="80769"/>
                </a:lnTo>
                <a:cubicBezTo>
                  <a:pt x="89811" y="84392"/>
                  <a:pt x="95694" y="84392"/>
                  <a:pt x="99317" y="80769"/>
                </a:cubicBezTo>
                <a:lnTo>
                  <a:pt x="136412" y="43674"/>
                </a:lnTo>
                <a:close/>
              </a:path>
            </a:pathLst>
          </a:custGeom>
          <a:solidFill>
            <a:srgbClr val="5f6f6b"/>
          </a:solidFill>
          <a:ln w="0">
            <a:noFill/>
          </a:ln>
        </p:spPr>
        <p:style>
          <a:lnRef idx="0"/>
          <a:fillRef idx="0"/>
          <a:effectRef idx="0"/>
          <a:fontRef idx="minor"/>
        </p:style>
      </p:sp>
      <p:sp>
        <p:nvSpPr>
          <p:cNvPr id="698" name="Text 16"/>
          <p:cNvSpPr/>
          <p:nvPr/>
        </p:nvSpPr>
        <p:spPr>
          <a:xfrm>
            <a:off x="878040" y="4039200"/>
            <a:ext cx="4772160" cy="196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2f3e3b"/>
                </a:solidFill>
                <a:latin typeface="Quattrocento Sans"/>
                <a:ea typeface="Quattrocento Sans"/>
              </a:rPr>
              <a:t>Ecosystem Stability</a:t>
            </a:r>
            <a:endParaRPr b="0" lang="en-HK" sz="1040" spc="-1" strike="noStrike">
              <a:latin typeface="Arial"/>
            </a:endParaRPr>
          </a:p>
        </p:txBody>
      </p:sp>
      <p:sp>
        <p:nvSpPr>
          <p:cNvPr id="699" name="Text 17"/>
          <p:cNvSpPr/>
          <p:nvPr/>
        </p:nvSpPr>
        <p:spPr>
          <a:xfrm>
            <a:off x="878040" y="4237200"/>
            <a:ext cx="4763880" cy="163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Forest stability increases with climate predictability; low stability areas need protection priority</a:t>
            </a:r>
            <a:endParaRPr b="0" lang="en-HK" sz="910" spc="-1" strike="noStrike">
              <a:latin typeface="Arial"/>
            </a:endParaRPr>
          </a:p>
        </p:txBody>
      </p:sp>
      <p:sp>
        <p:nvSpPr>
          <p:cNvPr id="700" name="Shape 18"/>
          <p:cNvSpPr/>
          <p:nvPr/>
        </p:nvSpPr>
        <p:spPr>
          <a:xfrm>
            <a:off x="329760" y="4797720"/>
            <a:ext cx="5670720" cy="2059920"/>
          </a:xfrm>
          <a:custGeom>
            <a:avLst/>
            <a:gdLst/>
            <a:ahLst/>
            <a:rect l="l" t="t" r="r" b="b"/>
            <a:pathLst>
              <a:path w="5671465" h="2060852">
                <a:moveTo>
                  <a:pt x="98921" y="0"/>
                </a:moveTo>
                <a:lnTo>
                  <a:pt x="5572544" y="0"/>
                </a:lnTo>
                <a:cubicBezTo>
                  <a:pt x="5627176" y="0"/>
                  <a:pt x="5671465" y="44288"/>
                  <a:pt x="5671465" y="98921"/>
                </a:cubicBezTo>
                <a:lnTo>
                  <a:pt x="5671465" y="1961931"/>
                </a:lnTo>
                <a:cubicBezTo>
                  <a:pt x="5671465" y="2016564"/>
                  <a:pt x="5627176" y="2060852"/>
                  <a:pt x="5572544" y="2060852"/>
                </a:cubicBezTo>
                <a:lnTo>
                  <a:pt x="98921" y="2060852"/>
                </a:lnTo>
                <a:cubicBezTo>
                  <a:pt x="44288" y="2060852"/>
                  <a:pt x="0" y="2016564"/>
                  <a:pt x="0" y="1961931"/>
                </a:cubicBezTo>
                <a:lnTo>
                  <a:pt x="0" y="98921"/>
                </a:lnTo>
                <a:cubicBezTo>
                  <a:pt x="0" y="44325"/>
                  <a:pt x="44325" y="0"/>
                  <a:pt x="98921" y="0"/>
                </a:cubicBezTo>
                <a:close/>
              </a:path>
            </a:pathLst>
          </a:custGeom>
          <a:solidFill>
            <a:srgbClr val="ffffff"/>
          </a:solidFill>
          <a:ln w="0">
            <a:noFill/>
          </a:ln>
          <a:effectLst>
            <a:outerShdw algn="bl" blurRad="24840" dir="5400000" dist="8280" kx="0" ky="0" rotWithShape="0" sx="100000" sy="100000">
              <a:srgbClr val="000000">
                <a:alpha val="10000"/>
              </a:srgbClr>
            </a:outerShdw>
          </a:effectLst>
        </p:spPr>
        <p:style>
          <a:lnRef idx="0"/>
          <a:fillRef idx="0"/>
          <a:effectRef idx="0"/>
          <a:fontRef idx="minor"/>
        </p:style>
      </p:sp>
      <p:sp>
        <p:nvSpPr>
          <p:cNvPr id="701" name="Text 19"/>
          <p:cNvSpPr/>
          <p:nvPr/>
        </p:nvSpPr>
        <p:spPr>
          <a:xfrm>
            <a:off x="494640" y="4962600"/>
            <a:ext cx="5423400" cy="229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00" spc="-1" strike="noStrike">
                <a:solidFill>
                  <a:srgbClr val="2f3e3b"/>
                </a:solidFill>
                <a:latin typeface="Sorts Mill Goudy"/>
                <a:ea typeface="Sorts Mill Goudy"/>
              </a:rPr>
              <a:t>The Vicious Cycle</a:t>
            </a:r>
            <a:endParaRPr b="0" lang="en-HK" sz="1300" spc="-1" strike="noStrike">
              <a:latin typeface="Arial"/>
            </a:endParaRPr>
          </a:p>
        </p:txBody>
      </p:sp>
      <p:sp>
        <p:nvSpPr>
          <p:cNvPr id="702" name="Text 20"/>
          <p:cNvSpPr/>
          <p:nvPr/>
        </p:nvSpPr>
        <p:spPr>
          <a:xfrm>
            <a:off x="494640" y="5292360"/>
            <a:ext cx="5406840" cy="213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1f2a28"/>
                </a:solidFill>
                <a:latin typeface="Quattrocento Sans"/>
                <a:ea typeface="Quattrocento Sans"/>
              </a:rPr>
              <a:t>Biodiversity loss and climate change form a </a:t>
            </a:r>
            <a:r>
              <a:rPr b="1" lang="en-US" sz="1040" spc="-1" strike="noStrike">
                <a:solidFill>
                  <a:srgbClr val="1f2a28"/>
                </a:solidFill>
                <a:latin typeface="Quattrocento Sans"/>
                <a:ea typeface="Quattrocento Sans"/>
              </a:rPr>
              <a:t>positive feedback loop</a:t>
            </a:r>
            <a:r>
              <a:rPr b="0" lang="en-US" sz="1040" spc="-1" strike="noStrike">
                <a:solidFill>
                  <a:srgbClr val="1f2a28"/>
                </a:solidFill>
                <a:latin typeface="Quattrocento Sans"/>
                <a:ea typeface="Quattrocento Sans"/>
              </a:rPr>
              <a:t>:</a:t>
            </a:r>
            <a:endParaRPr b="0" lang="en-HK" sz="1040" spc="-1" strike="noStrike">
              <a:latin typeface="Arial"/>
            </a:endParaRPr>
          </a:p>
        </p:txBody>
      </p:sp>
      <p:sp>
        <p:nvSpPr>
          <p:cNvPr id="703" name="Shape 21"/>
          <p:cNvSpPr/>
          <p:nvPr/>
        </p:nvSpPr>
        <p:spPr>
          <a:xfrm>
            <a:off x="1051920" y="5605560"/>
            <a:ext cx="526320" cy="526320"/>
          </a:xfrm>
          <a:custGeom>
            <a:avLst/>
            <a:gdLst/>
            <a:ahLst/>
            <a:rect l="l" t="t" r="r" b="b"/>
            <a:pathLst>
              <a:path w="527578" h="527578">
                <a:moveTo>
                  <a:pt x="263789" y="0"/>
                </a:moveTo>
                <a:lnTo>
                  <a:pt x="263789" y="0"/>
                </a:lnTo>
                <a:cubicBezTo>
                  <a:pt x="409378" y="0"/>
                  <a:pt x="527578" y="118200"/>
                  <a:pt x="527578" y="263789"/>
                </a:cubicBezTo>
                <a:lnTo>
                  <a:pt x="527578" y="263789"/>
                </a:lnTo>
                <a:cubicBezTo>
                  <a:pt x="527578" y="409378"/>
                  <a:pt x="409378" y="527578"/>
                  <a:pt x="263789" y="527578"/>
                </a:cubicBezTo>
                <a:lnTo>
                  <a:pt x="263789" y="527578"/>
                </a:lnTo>
                <a:cubicBezTo>
                  <a:pt x="118200" y="527578"/>
                  <a:pt x="0" y="409378"/>
                  <a:pt x="0" y="263789"/>
                </a:cubicBezTo>
                <a:lnTo>
                  <a:pt x="0" y="263789"/>
                </a:lnTo>
                <a:cubicBezTo>
                  <a:pt x="0" y="118200"/>
                  <a:pt x="118200" y="0"/>
                  <a:pt x="263789" y="0"/>
                </a:cubicBezTo>
                <a:close/>
              </a:path>
            </a:pathLst>
          </a:custGeom>
          <a:solidFill>
            <a:srgbClr val="ffe2e2"/>
          </a:solidFill>
          <a:ln w="0">
            <a:noFill/>
          </a:ln>
        </p:spPr>
        <p:style>
          <a:lnRef idx="0"/>
          <a:fillRef idx="0"/>
          <a:effectRef idx="0"/>
          <a:fontRef idx="minor"/>
        </p:style>
      </p:sp>
      <p:sp>
        <p:nvSpPr>
          <p:cNvPr id="704" name="Shape 22"/>
          <p:cNvSpPr/>
          <p:nvPr/>
        </p:nvSpPr>
        <p:spPr>
          <a:xfrm>
            <a:off x="1216440" y="5770440"/>
            <a:ext cx="196920" cy="196920"/>
          </a:xfrm>
          <a:custGeom>
            <a:avLst/>
            <a:gdLst/>
            <a:ahLst/>
            <a:rect l="l" t="t" r="r" b="b"/>
            <a:pathLst>
              <a:path w="197842" h="197842">
                <a:moveTo>
                  <a:pt x="90613" y="35897"/>
                </a:moveTo>
                <a:cubicBezTo>
                  <a:pt x="96139" y="52474"/>
                  <a:pt x="90497" y="69206"/>
                  <a:pt x="78016" y="73302"/>
                </a:cubicBezTo>
                <a:cubicBezTo>
                  <a:pt x="65535" y="77398"/>
                  <a:pt x="50929" y="67274"/>
                  <a:pt x="45403" y="50697"/>
                </a:cubicBezTo>
                <a:cubicBezTo>
                  <a:pt x="39877" y="34120"/>
                  <a:pt x="45519" y="17388"/>
                  <a:pt x="58000" y="13292"/>
                </a:cubicBezTo>
                <a:cubicBezTo>
                  <a:pt x="70481" y="9197"/>
                  <a:pt x="85087" y="19320"/>
                  <a:pt x="90613" y="35897"/>
                </a:cubicBezTo>
                <a:close/>
                <a:moveTo>
                  <a:pt x="38796" y="76741"/>
                </a:moveTo>
                <a:cubicBezTo>
                  <a:pt x="46099" y="89261"/>
                  <a:pt x="44321" y="103828"/>
                  <a:pt x="34854" y="109238"/>
                </a:cubicBezTo>
                <a:cubicBezTo>
                  <a:pt x="25387" y="114648"/>
                  <a:pt x="11785" y="108890"/>
                  <a:pt x="4521" y="96371"/>
                </a:cubicBezTo>
                <a:cubicBezTo>
                  <a:pt x="-2744" y="83851"/>
                  <a:pt x="-1005" y="69283"/>
                  <a:pt x="8462" y="63874"/>
                </a:cubicBezTo>
                <a:cubicBezTo>
                  <a:pt x="17929" y="58464"/>
                  <a:pt x="31531" y="64221"/>
                  <a:pt x="38796" y="76741"/>
                </a:cubicBezTo>
                <a:close/>
                <a:moveTo>
                  <a:pt x="26740" y="155028"/>
                </a:moveTo>
                <a:cubicBezTo>
                  <a:pt x="46987" y="100428"/>
                  <a:pt x="82962" y="86556"/>
                  <a:pt x="98921" y="86556"/>
                </a:cubicBezTo>
                <a:cubicBezTo>
                  <a:pt x="114880" y="86556"/>
                  <a:pt x="150854" y="100428"/>
                  <a:pt x="171102" y="155028"/>
                </a:cubicBezTo>
                <a:cubicBezTo>
                  <a:pt x="172493" y="158776"/>
                  <a:pt x="173112" y="162794"/>
                  <a:pt x="173112" y="166813"/>
                </a:cubicBezTo>
                <a:lnTo>
                  <a:pt x="173112" y="167431"/>
                </a:lnTo>
                <a:cubicBezTo>
                  <a:pt x="173112" y="177401"/>
                  <a:pt x="165036" y="185477"/>
                  <a:pt x="155066" y="185477"/>
                </a:cubicBezTo>
                <a:cubicBezTo>
                  <a:pt x="150623" y="185477"/>
                  <a:pt x="146217" y="184936"/>
                  <a:pt x="141928" y="183854"/>
                </a:cubicBezTo>
                <a:lnTo>
                  <a:pt x="107924" y="175353"/>
                </a:lnTo>
                <a:cubicBezTo>
                  <a:pt x="102012" y="173884"/>
                  <a:pt x="95830" y="173884"/>
                  <a:pt x="89918" y="175353"/>
                </a:cubicBezTo>
                <a:lnTo>
                  <a:pt x="55913" y="183854"/>
                </a:lnTo>
                <a:cubicBezTo>
                  <a:pt x="51624" y="184936"/>
                  <a:pt x="47219" y="185477"/>
                  <a:pt x="42776" y="185477"/>
                </a:cubicBezTo>
                <a:cubicBezTo>
                  <a:pt x="32806" y="185477"/>
                  <a:pt x="24730" y="177401"/>
                  <a:pt x="24730" y="167431"/>
                </a:cubicBezTo>
                <a:lnTo>
                  <a:pt x="24730" y="166813"/>
                </a:lnTo>
                <a:cubicBezTo>
                  <a:pt x="24730" y="162794"/>
                  <a:pt x="25348" y="158776"/>
                  <a:pt x="26740" y="155028"/>
                </a:cubicBezTo>
                <a:close/>
                <a:moveTo>
                  <a:pt x="162988" y="109238"/>
                </a:moveTo>
                <a:cubicBezTo>
                  <a:pt x="153521" y="103828"/>
                  <a:pt x="151743" y="89261"/>
                  <a:pt x="159046" y="76741"/>
                </a:cubicBezTo>
                <a:cubicBezTo>
                  <a:pt x="166349" y="64221"/>
                  <a:pt x="179912" y="58464"/>
                  <a:pt x="189379" y="63874"/>
                </a:cubicBezTo>
                <a:cubicBezTo>
                  <a:pt x="198846" y="69283"/>
                  <a:pt x="200624" y="83851"/>
                  <a:pt x="193321" y="96371"/>
                </a:cubicBezTo>
                <a:cubicBezTo>
                  <a:pt x="186018" y="108890"/>
                  <a:pt x="172455" y="114648"/>
                  <a:pt x="162988" y="109238"/>
                </a:cubicBezTo>
                <a:close/>
                <a:moveTo>
                  <a:pt x="119826" y="73302"/>
                </a:moveTo>
                <a:cubicBezTo>
                  <a:pt x="107345" y="69206"/>
                  <a:pt x="101703" y="52474"/>
                  <a:pt x="107229" y="35897"/>
                </a:cubicBezTo>
                <a:cubicBezTo>
                  <a:pt x="112754" y="19320"/>
                  <a:pt x="127361" y="9197"/>
                  <a:pt x="139842" y="13292"/>
                </a:cubicBezTo>
                <a:cubicBezTo>
                  <a:pt x="152323" y="17388"/>
                  <a:pt x="157964" y="34120"/>
                  <a:pt x="152439" y="50697"/>
                </a:cubicBezTo>
                <a:cubicBezTo>
                  <a:pt x="146913" y="67274"/>
                  <a:pt x="132307" y="77398"/>
                  <a:pt x="119826" y="73302"/>
                </a:cubicBezTo>
                <a:close/>
              </a:path>
            </a:pathLst>
          </a:custGeom>
          <a:solidFill>
            <a:srgbClr val="e7000b"/>
          </a:solidFill>
          <a:ln w="0">
            <a:noFill/>
          </a:ln>
        </p:spPr>
        <p:style>
          <a:lnRef idx="0"/>
          <a:fillRef idx="0"/>
          <a:effectRef idx="0"/>
          <a:fontRef idx="minor"/>
        </p:style>
      </p:sp>
      <p:sp>
        <p:nvSpPr>
          <p:cNvPr id="705" name="Text 23"/>
          <p:cNvSpPr/>
          <p:nvPr/>
        </p:nvSpPr>
        <p:spPr>
          <a:xfrm>
            <a:off x="465840" y="6199200"/>
            <a:ext cx="1697040" cy="1638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10" spc="-1" strike="noStrike">
                <a:solidFill>
                  <a:srgbClr val="2f3e3b"/>
                </a:solidFill>
                <a:latin typeface="Quattrocento Sans"/>
                <a:ea typeface="Quattrocento Sans"/>
              </a:rPr>
              <a:t>Biodiversity Loss</a:t>
            </a:r>
            <a:endParaRPr b="0" lang="en-HK" sz="910" spc="-1" strike="noStrike">
              <a:latin typeface="Arial"/>
            </a:endParaRPr>
          </a:p>
        </p:txBody>
      </p:sp>
      <p:sp>
        <p:nvSpPr>
          <p:cNvPr id="706" name="Shape 24"/>
          <p:cNvSpPr/>
          <p:nvPr/>
        </p:nvSpPr>
        <p:spPr>
          <a:xfrm>
            <a:off x="2157120" y="5902200"/>
            <a:ext cx="163800" cy="163800"/>
          </a:xfrm>
          <a:custGeom>
            <a:avLst/>
            <a:gdLst/>
            <a:ahLst/>
            <a:rect l="l" t="t" r="r" b="b"/>
            <a:pathLst>
              <a:path w="164868" h="164868">
                <a:moveTo>
                  <a:pt x="161841" y="89711"/>
                </a:moveTo>
                <a:cubicBezTo>
                  <a:pt x="165866" y="85686"/>
                  <a:pt x="165866" y="79150"/>
                  <a:pt x="161841" y="75124"/>
                </a:cubicBezTo>
                <a:lnTo>
                  <a:pt x="110320" y="23603"/>
                </a:lnTo>
                <a:cubicBezTo>
                  <a:pt x="106295" y="19578"/>
                  <a:pt x="99758" y="19578"/>
                  <a:pt x="95733" y="23603"/>
                </a:cubicBezTo>
                <a:cubicBezTo>
                  <a:pt x="91708" y="27628"/>
                  <a:pt x="91708" y="34165"/>
                  <a:pt x="95733" y="38190"/>
                </a:cubicBezTo>
                <a:lnTo>
                  <a:pt x="129673" y="72130"/>
                </a:lnTo>
                <a:lnTo>
                  <a:pt x="10304" y="72130"/>
                </a:lnTo>
                <a:cubicBezTo>
                  <a:pt x="4605" y="72130"/>
                  <a:pt x="0" y="76735"/>
                  <a:pt x="0" y="82434"/>
                </a:cubicBezTo>
                <a:cubicBezTo>
                  <a:pt x="0" y="88134"/>
                  <a:pt x="4605" y="92738"/>
                  <a:pt x="10304" y="92738"/>
                </a:cubicBezTo>
                <a:lnTo>
                  <a:pt x="129673" y="92738"/>
                </a:lnTo>
                <a:lnTo>
                  <a:pt x="95733" y="126678"/>
                </a:lnTo>
                <a:cubicBezTo>
                  <a:pt x="91708" y="130703"/>
                  <a:pt x="91708" y="137240"/>
                  <a:pt x="95733" y="141265"/>
                </a:cubicBezTo>
                <a:cubicBezTo>
                  <a:pt x="99758" y="145290"/>
                  <a:pt x="106295" y="145290"/>
                  <a:pt x="110320" y="141265"/>
                </a:cubicBezTo>
                <a:lnTo>
                  <a:pt x="161841" y="89744"/>
                </a:lnTo>
                <a:close/>
              </a:path>
            </a:pathLst>
          </a:custGeom>
          <a:solidFill>
            <a:srgbClr val="5f6f6b"/>
          </a:solidFill>
          <a:ln w="0">
            <a:noFill/>
          </a:ln>
        </p:spPr>
        <p:style>
          <a:lnRef idx="0"/>
          <a:fillRef idx="0"/>
          <a:effectRef idx="0"/>
          <a:fontRef idx="minor"/>
        </p:style>
      </p:sp>
      <p:sp>
        <p:nvSpPr>
          <p:cNvPr id="707" name="Shape 25"/>
          <p:cNvSpPr/>
          <p:nvPr/>
        </p:nvSpPr>
        <p:spPr>
          <a:xfrm>
            <a:off x="2899800" y="5605560"/>
            <a:ext cx="526320" cy="526320"/>
          </a:xfrm>
          <a:custGeom>
            <a:avLst/>
            <a:gdLst/>
            <a:ahLst/>
            <a:rect l="l" t="t" r="r" b="b"/>
            <a:pathLst>
              <a:path w="527578" h="527578">
                <a:moveTo>
                  <a:pt x="263789" y="0"/>
                </a:moveTo>
                <a:lnTo>
                  <a:pt x="263789" y="0"/>
                </a:lnTo>
                <a:cubicBezTo>
                  <a:pt x="409378" y="0"/>
                  <a:pt x="527578" y="118200"/>
                  <a:pt x="527578" y="263789"/>
                </a:cubicBezTo>
                <a:lnTo>
                  <a:pt x="527578" y="263789"/>
                </a:lnTo>
                <a:cubicBezTo>
                  <a:pt x="527578" y="409378"/>
                  <a:pt x="409378" y="527578"/>
                  <a:pt x="263789" y="527578"/>
                </a:cubicBezTo>
                <a:lnTo>
                  <a:pt x="263789" y="527578"/>
                </a:lnTo>
                <a:cubicBezTo>
                  <a:pt x="118200" y="527578"/>
                  <a:pt x="0" y="409378"/>
                  <a:pt x="0" y="263789"/>
                </a:cubicBezTo>
                <a:lnTo>
                  <a:pt x="0" y="263789"/>
                </a:lnTo>
                <a:cubicBezTo>
                  <a:pt x="0" y="118200"/>
                  <a:pt x="118200" y="0"/>
                  <a:pt x="263789" y="0"/>
                </a:cubicBezTo>
                <a:close/>
              </a:path>
            </a:pathLst>
          </a:custGeom>
          <a:solidFill>
            <a:srgbClr val="ffedd4"/>
          </a:solidFill>
          <a:ln w="0">
            <a:noFill/>
          </a:ln>
        </p:spPr>
        <p:style>
          <a:lnRef idx="0"/>
          <a:fillRef idx="0"/>
          <a:effectRef idx="0"/>
          <a:fontRef idx="minor"/>
        </p:style>
      </p:sp>
      <p:sp>
        <p:nvSpPr>
          <p:cNvPr id="708" name="Shape 26"/>
          <p:cNvSpPr/>
          <p:nvPr/>
        </p:nvSpPr>
        <p:spPr>
          <a:xfrm>
            <a:off x="3052440" y="5770440"/>
            <a:ext cx="221400" cy="196920"/>
          </a:xfrm>
          <a:custGeom>
            <a:avLst/>
            <a:gdLst/>
            <a:ahLst/>
            <a:rect l="l" t="t" r="r" b="b"/>
            <a:pathLst>
              <a:path w="222572" h="197842">
                <a:moveTo>
                  <a:pt x="0" y="129834"/>
                </a:moveTo>
                <a:cubicBezTo>
                  <a:pt x="0" y="160553"/>
                  <a:pt x="24923" y="185477"/>
                  <a:pt x="55643" y="185477"/>
                </a:cubicBezTo>
                <a:lnTo>
                  <a:pt x="173112" y="185477"/>
                </a:lnTo>
                <a:cubicBezTo>
                  <a:pt x="200431" y="185477"/>
                  <a:pt x="222572" y="163335"/>
                  <a:pt x="222572" y="136016"/>
                </a:cubicBezTo>
                <a:cubicBezTo>
                  <a:pt x="222572" y="116077"/>
                  <a:pt x="210787" y="98882"/>
                  <a:pt x="193784" y="91077"/>
                </a:cubicBezTo>
                <a:cubicBezTo>
                  <a:pt x="196373" y="86015"/>
                  <a:pt x="197842" y="80257"/>
                  <a:pt x="197842" y="74191"/>
                </a:cubicBezTo>
                <a:cubicBezTo>
                  <a:pt x="197842" y="53711"/>
                  <a:pt x="181226" y="37095"/>
                  <a:pt x="160746" y="37095"/>
                </a:cubicBezTo>
                <a:cubicBezTo>
                  <a:pt x="153907" y="37095"/>
                  <a:pt x="147531" y="38950"/>
                  <a:pt x="142044" y="42157"/>
                </a:cubicBezTo>
                <a:cubicBezTo>
                  <a:pt x="132732" y="24460"/>
                  <a:pt x="114145" y="12365"/>
                  <a:pt x="92738" y="12365"/>
                </a:cubicBezTo>
                <a:cubicBezTo>
                  <a:pt x="62019" y="12365"/>
                  <a:pt x="37095" y="37289"/>
                  <a:pt x="37095" y="68008"/>
                </a:cubicBezTo>
                <a:cubicBezTo>
                  <a:pt x="37095" y="71099"/>
                  <a:pt x="37366" y="74152"/>
                  <a:pt x="37830" y="77089"/>
                </a:cubicBezTo>
                <a:cubicBezTo>
                  <a:pt x="15843" y="84508"/>
                  <a:pt x="0" y="105335"/>
                  <a:pt x="0" y="129834"/>
                </a:cubicBezTo>
                <a:close/>
              </a:path>
            </a:pathLst>
          </a:custGeom>
          <a:solidFill>
            <a:srgbClr val="f54900"/>
          </a:solidFill>
          <a:ln w="0">
            <a:noFill/>
          </a:ln>
        </p:spPr>
        <p:style>
          <a:lnRef idx="0"/>
          <a:fillRef idx="0"/>
          <a:effectRef idx="0"/>
          <a:fontRef idx="minor"/>
        </p:style>
      </p:sp>
      <p:sp>
        <p:nvSpPr>
          <p:cNvPr id="709" name="Text 27"/>
          <p:cNvSpPr/>
          <p:nvPr/>
        </p:nvSpPr>
        <p:spPr>
          <a:xfrm>
            <a:off x="2313720" y="6199200"/>
            <a:ext cx="1697040" cy="1638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10" spc="-1" strike="noStrike">
                <a:solidFill>
                  <a:srgbClr val="2f3e3b"/>
                </a:solidFill>
                <a:latin typeface="Quattrocento Sans"/>
                <a:ea typeface="Quattrocento Sans"/>
              </a:rPr>
              <a:t>Reduced Carbon Storage</a:t>
            </a:r>
            <a:endParaRPr b="0" lang="en-HK" sz="910" spc="-1" strike="noStrike">
              <a:latin typeface="Arial"/>
            </a:endParaRPr>
          </a:p>
        </p:txBody>
      </p:sp>
      <p:sp>
        <p:nvSpPr>
          <p:cNvPr id="710" name="Shape 28"/>
          <p:cNvSpPr/>
          <p:nvPr/>
        </p:nvSpPr>
        <p:spPr>
          <a:xfrm>
            <a:off x="4005360" y="5902200"/>
            <a:ext cx="163800" cy="163800"/>
          </a:xfrm>
          <a:custGeom>
            <a:avLst/>
            <a:gdLst/>
            <a:ahLst/>
            <a:rect l="l" t="t" r="r" b="b"/>
            <a:pathLst>
              <a:path w="164868" h="164868">
                <a:moveTo>
                  <a:pt x="161841" y="89711"/>
                </a:moveTo>
                <a:cubicBezTo>
                  <a:pt x="165866" y="85686"/>
                  <a:pt x="165866" y="79150"/>
                  <a:pt x="161841" y="75124"/>
                </a:cubicBezTo>
                <a:lnTo>
                  <a:pt x="110320" y="23603"/>
                </a:lnTo>
                <a:cubicBezTo>
                  <a:pt x="106295" y="19578"/>
                  <a:pt x="99758" y="19578"/>
                  <a:pt x="95733" y="23603"/>
                </a:cubicBezTo>
                <a:cubicBezTo>
                  <a:pt x="91708" y="27628"/>
                  <a:pt x="91708" y="34165"/>
                  <a:pt x="95733" y="38190"/>
                </a:cubicBezTo>
                <a:lnTo>
                  <a:pt x="129673" y="72130"/>
                </a:lnTo>
                <a:lnTo>
                  <a:pt x="10304" y="72130"/>
                </a:lnTo>
                <a:cubicBezTo>
                  <a:pt x="4605" y="72130"/>
                  <a:pt x="0" y="76735"/>
                  <a:pt x="0" y="82434"/>
                </a:cubicBezTo>
                <a:cubicBezTo>
                  <a:pt x="0" y="88134"/>
                  <a:pt x="4605" y="92738"/>
                  <a:pt x="10304" y="92738"/>
                </a:cubicBezTo>
                <a:lnTo>
                  <a:pt x="129673" y="92738"/>
                </a:lnTo>
                <a:lnTo>
                  <a:pt x="95733" y="126678"/>
                </a:lnTo>
                <a:cubicBezTo>
                  <a:pt x="91708" y="130703"/>
                  <a:pt x="91708" y="137240"/>
                  <a:pt x="95733" y="141265"/>
                </a:cubicBezTo>
                <a:cubicBezTo>
                  <a:pt x="99758" y="145290"/>
                  <a:pt x="106295" y="145290"/>
                  <a:pt x="110320" y="141265"/>
                </a:cubicBezTo>
                <a:lnTo>
                  <a:pt x="161841" y="89744"/>
                </a:lnTo>
                <a:close/>
              </a:path>
            </a:pathLst>
          </a:custGeom>
          <a:solidFill>
            <a:srgbClr val="5f6f6b"/>
          </a:solidFill>
          <a:ln w="0">
            <a:noFill/>
          </a:ln>
        </p:spPr>
        <p:style>
          <a:lnRef idx="0"/>
          <a:fillRef idx="0"/>
          <a:effectRef idx="0"/>
          <a:fontRef idx="minor"/>
        </p:style>
      </p:sp>
      <p:sp>
        <p:nvSpPr>
          <p:cNvPr id="711" name="Shape 29"/>
          <p:cNvSpPr/>
          <p:nvPr/>
        </p:nvSpPr>
        <p:spPr>
          <a:xfrm>
            <a:off x="4748400" y="5605560"/>
            <a:ext cx="526320" cy="526320"/>
          </a:xfrm>
          <a:custGeom>
            <a:avLst/>
            <a:gdLst/>
            <a:ahLst/>
            <a:rect l="l" t="t" r="r" b="b"/>
            <a:pathLst>
              <a:path w="527578" h="527578">
                <a:moveTo>
                  <a:pt x="263789" y="0"/>
                </a:moveTo>
                <a:lnTo>
                  <a:pt x="263789" y="0"/>
                </a:lnTo>
                <a:cubicBezTo>
                  <a:pt x="409378" y="0"/>
                  <a:pt x="527578" y="118200"/>
                  <a:pt x="527578" y="263789"/>
                </a:cubicBezTo>
                <a:lnTo>
                  <a:pt x="527578" y="263789"/>
                </a:lnTo>
                <a:cubicBezTo>
                  <a:pt x="527578" y="409378"/>
                  <a:pt x="409378" y="527578"/>
                  <a:pt x="263789" y="527578"/>
                </a:cubicBezTo>
                <a:lnTo>
                  <a:pt x="263789" y="527578"/>
                </a:lnTo>
                <a:cubicBezTo>
                  <a:pt x="118200" y="527578"/>
                  <a:pt x="0" y="409378"/>
                  <a:pt x="0" y="263789"/>
                </a:cubicBezTo>
                <a:lnTo>
                  <a:pt x="0" y="263789"/>
                </a:lnTo>
                <a:cubicBezTo>
                  <a:pt x="0" y="118200"/>
                  <a:pt x="118200" y="0"/>
                  <a:pt x="263789" y="0"/>
                </a:cubicBezTo>
                <a:close/>
              </a:path>
            </a:pathLst>
          </a:custGeom>
          <a:solidFill>
            <a:srgbClr val="ffe2e2"/>
          </a:solidFill>
          <a:ln w="0">
            <a:noFill/>
          </a:ln>
        </p:spPr>
        <p:style>
          <a:lnRef idx="0"/>
          <a:fillRef idx="0"/>
          <a:effectRef idx="0"/>
          <a:fontRef idx="minor"/>
        </p:style>
      </p:sp>
      <p:sp>
        <p:nvSpPr>
          <p:cNvPr id="712" name="Shape 30"/>
          <p:cNvSpPr/>
          <p:nvPr/>
        </p:nvSpPr>
        <p:spPr>
          <a:xfrm>
            <a:off x="4913280" y="5770440"/>
            <a:ext cx="196920" cy="196920"/>
          </a:xfrm>
          <a:custGeom>
            <a:avLst/>
            <a:gdLst/>
            <a:ahLst/>
            <a:rect l="l" t="t" r="r" b="b"/>
            <a:pathLst>
              <a:path w="197842" h="197842">
                <a:moveTo>
                  <a:pt x="37095" y="37095"/>
                </a:moveTo>
                <a:cubicBezTo>
                  <a:pt x="37095" y="16616"/>
                  <a:pt x="53711" y="0"/>
                  <a:pt x="74191" y="0"/>
                </a:cubicBezTo>
                <a:cubicBezTo>
                  <a:pt x="94670" y="0"/>
                  <a:pt x="111286" y="16616"/>
                  <a:pt x="111286" y="37095"/>
                </a:cubicBezTo>
                <a:lnTo>
                  <a:pt x="111286" y="100737"/>
                </a:lnTo>
                <a:cubicBezTo>
                  <a:pt x="122685" y="110938"/>
                  <a:pt x="129834" y="125738"/>
                  <a:pt x="129834" y="142199"/>
                </a:cubicBezTo>
                <a:cubicBezTo>
                  <a:pt x="129834" y="172918"/>
                  <a:pt x="104910" y="197842"/>
                  <a:pt x="74191" y="197842"/>
                </a:cubicBezTo>
                <a:cubicBezTo>
                  <a:pt x="43471" y="197842"/>
                  <a:pt x="18548" y="172918"/>
                  <a:pt x="18548" y="142199"/>
                </a:cubicBezTo>
                <a:cubicBezTo>
                  <a:pt x="18548" y="125738"/>
                  <a:pt x="25696" y="110900"/>
                  <a:pt x="37095" y="100737"/>
                </a:cubicBezTo>
                <a:lnTo>
                  <a:pt x="37095" y="37095"/>
                </a:lnTo>
                <a:close/>
                <a:moveTo>
                  <a:pt x="74191" y="166929"/>
                </a:moveTo>
                <a:cubicBezTo>
                  <a:pt x="87831" y="166929"/>
                  <a:pt x="98921" y="155839"/>
                  <a:pt x="98921" y="142199"/>
                </a:cubicBezTo>
                <a:cubicBezTo>
                  <a:pt x="98921" y="131804"/>
                  <a:pt x="92545" y="122917"/>
                  <a:pt x="83465" y="119285"/>
                </a:cubicBezTo>
                <a:lnTo>
                  <a:pt x="83465" y="37095"/>
                </a:lnTo>
                <a:cubicBezTo>
                  <a:pt x="83465" y="31956"/>
                  <a:pt x="79330" y="27822"/>
                  <a:pt x="74191" y="27822"/>
                </a:cubicBezTo>
                <a:cubicBezTo>
                  <a:pt x="69051" y="27822"/>
                  <a:pt x="64917" y="31956"/>
                  <a:pt x="64917" y="37095"/>
                </a:cubicBezTo>
                <a:lnTo>
                  <a:pt x="64917" y="119285"/>
                </a:lnTo>
                <a:cubicBezTo>
                  <a:pt x="55836" y="122956"/>
                  <a:pt x="49460" y="131843"/>
                  <a:pt x="49460" y="142199"/>
                </a:cubicBezTo>
                <a:cubicBezTo>
                  <a:pt x="49460" y="155839"/>
                  <a:pt x="60550" y="166929"/>
                  <a:pt x="74191" y="166929"/>
                </a:cubicBezTo>
                <a:close/>
                <a:moveTo>
                  <a:pt x="179294" y="30913"/>
                </a:moveTo>
                <a:cubicBezTo>
                  <a:pt x="179294" y="24088"/>
                  <a:pt x="173753" y="18548"/>
                  <a:pt x="166929" y="18548"/>
                </a:cubicBezTo>
                <a:cubicBezTo>
                  <a:pt x="160105" y="18548"/>
                  <a:pt x="154564" y="24088"/>
                  <a:pt x="154564" y="30913"/>
                </a:cubicBezTo>
                <a:cubicBezTo>
                  <a:pt x="154564" y="37737"/>
                  <a:pt x="160105" y="43278"/>
                  <a:pt x="166929" y="43278"/>
                </a:cubicBezTo>
                <a:cubicBezTo>
                  <a:pt x="173753" y="43278"/>
                  <a:pt x="179294" y="37737"/>
                  <a:pt x="179294" y="30913"/>
                </a:cubicBezTo>
                <a:close/>
                <a:moveTo>
                  <a:pt x="136016" y="30913"/>
                </a:moveTo>
                <a:cubicBezTo>
                  <a:pt x="136016" y="13852"/>
                  <a:pt x="149868" y="0"/>
                  <a:pt x="166929" y="0"/>
                </a:cubicBezTo>
                <a:cubicBezTo>
                  <a:pt x="183990" y="0"/>
                  <a:pt x="197842" y="13852"/>
                  <a:pt x="197842" y="30913"/>
                </a:cubicBezTo>
                <a:cubicBezTo>
                  <a:pt x="197842" y="47974"/>
                  <a:pt x="183990" y="61826"/>
                  <a:pt x="166929" y="61826"/>
                </a:cubicBezTo>
                <a:cubicBezTo>
                  <a:pt x="149868" y="61826"/>
                  <a:pt x="136016" y="47974"/>
                  <a:pt x="136016" y="30913"/>
                </a:cubicBezTo>
                <a:close/>
              </a:path>
            </a:pathLst>
          </a:custGeom>
          <a:solidFill>
            <a:srgbClr val="e7000b"/>
          </a:solidFill>
          <a:ln w="0">
            <a:noFill/>
          </a:ln>
        </p:spPr>
        <p:style>
          <a:lnRef idx="0"/>
          <a:fillRef idx="0"/>
          <a:effectRef idx="0"/>
          <a:fontRef idx="minor"/>
        </p:style>
      </p:sp>
      <p:sp>
        <p:nvSpPr>
          <p:cNvPr id="713" name="Text 31"/>
          <p:cNvSpPr/>
          <p:nvPr/>
        </p:nvSpPr>
        <p:spPr>
          <a:xfrm>
            <a:off x="4162320" y="6199200"/>
            <a:ext cx="1697040" cy="1638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10" spc="-1" strike="noStrike">
                <a:solidFill>
                  <a:srgbClr val="2f3e3b"/>
                </a:solidFill>
                <a:latin typeface="Quattrocento Sans"/>
                <a:ea typeface="Quattrocento Sans"/>
              </a:rPr>
              <a:t>Climate Change</a:t>
            </a:r>
            <a:endParaRPr b="0" lang="en-HK" sz="910" spc="-1" strike="noStrike">
              <a:latin typeface="Arial"/>
            </a:endParaRPr>
          </a:p>
        </p:txBody>
      </p:sp>
      <p:sp>
        <p:nvSpPr>
          <p:cNvPr id="714" name="Shape 32"/>
          <p:cNvSpPr/>
          <p:nvPr/>
        </p:nvSpPr>
        <p:spPr>
          <a:xfrm>
            <a:off x="6195600" y="1351800"/>
            <a:ext cx="5670720" cy="1911240"/>
          </a:xfrm>
          <a:custGeom>
            <a:avLst/>
            <a:gdLst/>
            <a:ahLst/>
            <a:rect l="l" t="t" r="r" b="b"/>
            <a:pathLst>
              <a:path w="5671465" h="1912471">
                <a:moveTo>
                  <a:pt x="98913" y="0"/>
                </a:moveTo>
                <a:lnTo>
                  <a:pt x="5572552" y="0"/>
                </a:lnTo>
                <a:cubicBezTo>
                  <a:pt x="5627180" y="0"/>
                  <a:pt x="5671465" y="44285"/>
                  <a:pt x="5671465" y="98913"/>
                </a:cubicBezTo>
                <a:lnTo>
                  <a:pt x="5671465" y="1813558"/>
                </a:lnTo>
                <a:cubicBezTo>
                  <a:pt x="5671465" y="1868186"/>
                  <a:pt x="5627180" y="1912471"/>
                  <a:pt x="5572552" y="1912471"/>
                </a:cubicBezTo>
                <a:lnTo>
                  <a:pt x="98913" y="1912471"/>
                </a:lnTo>
                <a:cubicBezTo>
                  <a:pt x="44285" y="1912471"/>
                  <a:pt x="0" y="1868186"/>
                  <a:pt x="0" y="1813558"/>
                </a:cubicBezTo>
                <a:lnTo>
                  <a:pt x="0" y="98913"/>
                </a:lnTo>
                <a:cubicBezTo>
                  <a:pt x="0" y="44285"/>
                  <a:pt x="44285" y="0"/>
                  <a:pt x="98913" y="0"/>
                </a:cubicBezTo>
                <a:close/>
              </a:path>
            </a:pathLst>
          </a:custGeom>
          <a:solidFill>
            <a:srgbClr val="2f3e3b"/>
          </a:solidFill>
          <a:ln w="0">
            <a:noFill/>
          </a:ln>
        </p:spPr>
        <p:style>
          <a:lnRef idx="0"/>
          <a:fillRef idx="0"/>
          <a:effectRef idx="0"/>
          <a:fontRef idx="minor"/>
        </p:style>
      </p:sp>
      <p:sp>
        <p:nvSpPr>
          <p:cNvPr id="715" name="Text 33"/>
          <p:cNvSpPr/>
          <p:nvPr/>
        </p:nvSpPr>
        <p:spPr>
          <a:xfrm>
            <a:off x="6360480" y="1516680"/>
            <a:ext cx="5415120" cy="229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ffffff"/>
                </a:solidFill>
                <a:latin typeface="Sorts Mill Goudy"/>
                <a:ea typeface="Sorts Mill Goudy"/>
              </a:rPr>
              <a:t>The Mitigation-Conservation Trade-off</a:t>
            </a:r>
            <a:endParaRPr b="0" lang="en-HK" sz="1170" spc="-1" strike="noStrike">
              <a:latin typeface="Arial"/>
            </a:endParaRPr>
          </a:p>
        </p:txBody>
      </p:sp>
      <p:sp>
        <p:nvSpPr>
          <p:cNvPr id="716" name="Text 34"/>
          <p:cNvSpPr/>
          <p:nvPr/>
        </p:nvSpPr>
        <p:spPr>
          <a:xfrm>
            <a:off x="6360480" y="1846440"/>
            <a:ext cx="5406840" cy="427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ffffff"/>
                </a:solidFill>
                <a:latin typeface="Quattrocento Sans"/>
                <a:ea typeface="Quattrocento Sans"/>
              </a:rPr>
              <a:t>Higher climate change mitigation scenarios (RCP1.9) show </a:t>
            </a:r>
            <a:r>
              <a:rPr b="1" lang="en-US" sz="1040" spc="-1" strike="noStrike">
                <a:solidFill>
                  <a:srgbClr val="ffffff"/>
                </a:solidFill>
                <a:latin typeface="Quattrocento Sans"/>
                <a:ea typeface="Quattrocento Sans"/>
              </a:rPr>
              <a:t>more biodiversity loss</a:t>
            </a:r>
            <a:r>
              <a:rPr b="0" lang="en-US" sz="1040" spc="-1" strike="noStrike">
                <a:solidFill>
                  <a:srgbClr val="ffffff"/>
                </a:solidFill>
                <a:latin typeface="Quattrocento Sans"/>
                <a:ea typeface="Quattrocento Sans"/>
              </a:rPr>
              <a:t> than reference scenarios (RCP7.0) due to:</a:t>
            </a:r>
            <a:endParaRPr b="0" lang="en-HK" sz="1040" spc="-1" strike="noStrike">
              <a:latin typeface="Arial"/>
            </a:endParaRPr>
          </a:p>
        </p:txBody>
      </p:sp>
      <p:sp>
        <p:nvSpPr>
          <p:cNvPr id="717" name="Shape 35"/>
          <p:cNvSpPr/>
          <p:nvPr/>
        </p:nvSpPr>
        <p:spPr>
          <a:xfrm>
            <a:off x="6377040" y="2406960"/>
            <a:ext cx="130680" cy="130680"/>
          </a:xfrm>
          <a:custGeom>
            <a:avLst/>
            <a:gdLst/>
            <a:ahLst/>
            <a:rect l="l" t="t" r="r" b="b"/>
            <a:pathLst>
              <a:path w="131895" h="131895">
                <a:moveTo>
                  <a:pt x="65947" y="0"/>
                </a:moveTo>
                <a:cubicBezTo>
                  <a:pt x="69734" y="0"/>
                  <a:pt x="73212" y="2087"/>
                  <a:pt x="75015" y="5410"/>
                </a:cubicBezTo>
                <a:lnTo>
                  <a:pt x="130658" y="108452"/>
                </a:lnTo>
                <a:cubicBezTo>
                  <a:pt x="132384" y="111647"/>
                  <a:pt x="132307" y="115511"/>
                  <a:pt x="130452" y="118628"/>
                </a:cubicBezTo>
                <a:cubicBezTo>
                  <a:pt x="128597" y="121745"/>
                  <a:pt x="125223" y="123651"/>
                  <a:pt x="121590" y="123651"/>
                </a:cubicBezTo>
                <a:lnTo>
                  <a:pt x="10304" y="123651"/>
                </a:lnTo>
                <a:cubicBezTo>
                  <a:pt x="6672" y="123651"/>
                  <a:pt x="3323" y="121745"/>
                  <a:pt x="1443" y="118628"/>
                </a:cubicBezTo>
                <a:cubicBezTo>
                  <a:pt x="-438" y="115511"/>
                  <a:pt x="-489" y="111647"/>
                  <a:pt x="1237" y="108452"/>
                </a:cubicBezTo>
                <a:lnTo>
                  <a:pt x="56880" y="5410"/>
                </a:lnTo>
                <a:cubicBezTo>
                  <a:pt x="58683" y="2087"/>
                  <a:pt x="62160" y="0"/>
                  <a:pt x="65947" y="0"/>
                </a:cubicBezTo>
                <a:close/>
                <a:moveTo>
                  <a:pt x="65947" y="43278"/>
                </a:moveTo>
                <a:cubicBezTo>
                  <a:pt x="62521" y="43278"/>
                  <a:pt x="59765" y="46034"/>
                  <a:pt x="59765" y="49460"/>
                </a:cubicBezTo>
                <a:lnTo>
                  <a:pt x="59765" y="78312"/>
                </a:lnTo>
                <a:cubicBezTo>
                  <a:pt x="59765" y="81739"/>
                  <a:pt x="62521" y="84495"/>
                  <a:pt x="65947" y="84495"/>
                </a:cubicBezTo>
                <a:cubicBezTo>
                  <a:pt x="69373" y="84495"/>
                  <a:pt x="72130" y="81739"/>
                  <a:pt x="72130" y="78312"/>
                </a:cubicBezTo>
                <a:lnTo>
                  <a:pt x="72130" y="49460"/>
                </a:lnTo>
                <a:cubicBezTo>
                  <a:pt x="72130" y="46034"/>
                  <a:pt x="69373" y="43278"/>
                  <a:pt x="65947" y="43278"/>
                </a:cubicBezTo>
                <a:close/>
                <a:moveTo>
                  <a:pt x="72825" y="98921"/>
                </a:moveTo>
                <a:cubicBezTo>
                  <a:pt x="72982" y="96368"/>
                  <a:pt x="71709" y="93939"/>
                  <a:pt x="69520" y="92615"/>
                </a:cubicBezTo>
                <a:cubicBezTo>
                  <a:pt x="67331" y="91291"/>
                  <a:pt x="64589" y="91291"/>
                  <a:pt x="62400" y="92615"/>
                </a:cubicBezTo>
                <a:cubicBezTo>
                  <a:pt x="60212" y="93939"/>
                  <a:pt x="58938" y="96368"/>
                  <a:pt x="59095" y="98921"/>
                </a:cubicBezTo>
                <a:cubicBezTo>
                  <a:pt x="58938" y="101474"/>
                  <a:pt x="60212" y="103903"/>
                  <a:pt x="62400" y="105227"/>
                </a:cubicBezTo>
                <a:cubicBezTo>
                  <a:pt x="64589" y="106551"/>
                  <a:pt x="67331" y="106551"/>
                  <a:pt x="69520" y="105227"/>
                </a:cubicBezTo>
                <a:cubicBezTo>
                  <a:pt x="71709" y="103903"/>
                  <a:pt x="72982" y="101474"/>
                  <a:pt x="72825" y="98921"/>
                </a:cubicBezTo>
                <a:close/>
              </a:path>
            </a:pathLst>
          </a:custGeom>
          <a:solidFill>
            <a:srgbClr val="8fb7ac"/>
          </a:solidFill>
          <a:ln w="0">
            <a:noFill/>
          </a:ln>
        </p:spPr>
        <p:style>
          <a:lnRef idx="0"/>
          <a:fillRef idx="0"/>
          <a:effectRef idx="0"/>
          <a:fontRef idx="minor"/>
        </p:style>
      </p:sp>
      <p:sp>
        <p:nvSpPr>
          <p:cNvPr id="718" name="Text 36"/>
          <p:cNvSpPr/>
          <p:nvPr/>
        </p:nvSpPr>
        <p:spPr>
          <a:xfrm>
            <a:off x="6591240" y="2374200"/>
            <a:ext cx="1730160" cy="196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40" spc="-1" strike="noStrike">
                <a:solidFill>
                  <a:srgbClr val="ffffff"/>
                </a:solidFill>
                <a:latin typeface="Quattrocento Sans"/>
                <a:ea typeface="Quattrocento Sans"/>
              </a:rPr>
              <a:t>Increased bioenergy demand</a:t>
            </a:r>
            <a:endParaRPr b="0" lang="en-HK" sz="1040" spc="-1" strike="noStrike">
              <a:latin typeface="Arial"/>
            </a:endParaRPr>
          </a:p>
        </p:txBody>
      </p:sp>
      <p:sp>
        <p:nvSpPr>
          <p:cNvPr id="719" name="Shape 37"/>
          <p:cNvSpPr/>
          <p:nvPr/>
        </p:nvSpPr>
        <p:spPr>
          <a:xfrm>
            <a:off x="6377040" y="2670840"/>
            <a:ext cx="130680" cy="130680"/>
          </a:xfrm>
          <a:custGeom>
            <a:avLst/>
            <a:gdLst/>
            <a:ahLst/>
            <a:rect l="l" t="t" r="r" b="b"/>
            <a:pathLst>
              <a:path w="131895" h="131895">
                <a:moveTo>
                  <a:pt x="65947" y="0"/>
                </a:moveTo>
                <a:cubicBezTo>
                  <a:pt x="69734" y="0"/>
                  <a:pt x="73212" y="2087"/>
                  <a:pt x="75015" y="5410"/>
                </a:cubicBezTo>
                <a:lnTo>
                  <a:pt x="130658" y="108452"/>
                </a:lnTo>
                <a:cubicBezTo>
                  <a:pt x="132384" y="111647"/>
                  <a:pt x="132307" y="115511"/>
                  <a:pt x="130452" y="118628"/>
                </a:cubicBezTo>
                <a:cubicBezTo>
                  <a:pt x="128597" y="121745"/>
                  <a:pt x="125223" y="123651"/>
                  <a:pt x="121590" y="123651"/>
                </a:cubicBezTo>
                <a:lnTo>
                  <a:pt x="10304" y="123651"/>
                </a:lnTo>
                <a:cubicBezTo>
                  <a:pt x="6672" y="123651"/>
                  <a:pt x="3323" y="121745"/>
                  <a:pt x="1443" y="118628"/>
                </a:cubicBezTo>
                <a:cubicBezTo>
                  <a:pt x="-438" y="115511"/>
                  <a:pt x="-489" y="111647"/>
                  <a:pt x="1237" y="108452"/>
                </a:cubicBezTo>
                <a:lnTo>
                  <a:pt x="56880" y="5410"/>
                </a:lnTo>
                <a:cubicBezTo>
                  <a:pt x="58683" y="2087"/>
                  <a:pt x="62160" y="0"/>
                  <a:pt x="65947" y="0"/>
                </a:cubicBezTo>
                <a:close/>
                <a:moveTo>
                  <a:pt x="65947" y="43278"/>
                </a:moveTo>
                <a:cubicBezTo>
                  <a:pt x="62521" y="43278"/>
                  <a:pt x="59765" y="46034"/>
                  <a:pt x="59765" y="49460"/>
                </a:cubicBezTo>
                <a:lnTo>
                  <a:pt x="59765" y="78312"/>
                </a:lnTo>
                <a:cubicBezTo>
                  <a:pt x="59765" y="81739"/>
                  <a:pt x="62521" y="84495"/>
                  <a:pt x="65947" y="84495"/>
                </a:cubicBezTo>
                <a:cubicBezTo>
                  <a:pt x="69373" y="84495"/>
                  <a:pt x="72130" y="81739"/>
                  <a:pt x="72130" y="78312"/>
                </a:cubicBezTo>
                <a:lnTo>
                  <a:pt x="72130" y="49460"/>
                </a:lnTo>
                <a:cubicBezTo>
                  <a:pt x="72130" y="46034"/>
                  <a:pt x="69373" y="43278"/>
                  <a:pt x="65947" y="43278"/>
                </a:cubicBezTo>
                <a:close/>
                <a:moveTo>
                  <a:pt x="72825" y="98921"/>
                </a:moveTo>
                <a:cubicBezTo>
                  <a:pt x="72982" y="96368"/>
                  <a:pt x="71709" y="93939"/>
                  <a:pt x="69520" y="92615"/>
                </a:cubicBezTo>
                <a:cubicBezTo>
                  <a:pt x="67331" y="91291"/>
                  <a:pt x="64589" y="91291"/>
                  <a:pt x="62400" y="92615"/>
                </a:cubicBezTo>
                <a:cubicBezTo>
                  <a:pt x="60212" y="93939"/>
                  <a:pt x="58938" y="96368"/>
                  <a:pt x="59095" y="98921"/>
                </a:cubicBezTo>
                <a:cubicBezTo>
                  <a:pt x="58938" y="101474"/>
                  <a:pt x="60212" y="103903"/>
                  <a:pt x="62400" y="105227"/>
                </a:cubicBezTo>
                <a:cubicBezTo>
                  <a:pt x="64589" y="106551"/>
                  <a:pt x="67331" y="106551"/>
                  <a:pt x="69520" y="105227"/>
                </a:cubicBezTo>
                <a:cubicBezTo>
                  <a:pt x="71709" y="103903"/>
                  <a:pt x="72982" y="101474"/>
                  <a:pt x="72825" y="98921"/>
                </a:cubicBezTo>
                <a:close/>
              </a:path>
            </a:pathLst>
          </a:custGeom>
          <a:solidFill>
            <a:srgbClr val="8fb7ac"/>
          </a:solidFill>
          <a:ln w="0">
            <a:noFill/>
          </a:ln>
        </p:spPr>
        <p:style>
          <a:lnRef idx="0"/>
          <a:fillRef idx="0"/>
          <a:effectRef idx="0"/>
          <a:fontRef idx="minor"/>
        </p:style>
      </p:sp>
      <p:sp>
        <p:nvSpPr>
          <p:cNvPr id="720" name="Text 38"/>
          <p:cNvSpPr/>
          <p:nvPr/>
        </p:nvSpPr>
        <p:spPr>
          <a:xfrm>
            <a:off x="6591240" y="2637720"/>
            <a:ext cx="1796040" cy="196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40" spc="-1" strike="noStrike">
                <a:solidFill>
                  <a:srgbClr val="ffffff"/>
                </a:solidFill>
                <a:latin typeface="Quattrocento Sans"/>
                <a:ea typeface="Quattrocento Sans"/>
              </a:rPr>
              <a:t>Intensified forest management</a:t>
            </a:r>
            <a:endParaRPr b="0" lang="en-HK" sz="1040" spc="-1" strike="noStrike">
              <a:latin typeface="Arial"/>
            </a:endParaRPr>
          </a:p>
        </p:txBody>
      </p:sp>
      <p:sp>
        <p:nvSpPr>
          <p:cNvPr id="721" name="Shape 39"/>
          <p:cNvSpPr/>
          <p:nvPr/>
        </p:nvSpPr>
        <p:spPr>
          <a:xfrm>
            <a:off x="6377040" y="2934720"/>
            <a:ext cx="130680" cy="130680"/>
          </a:xfrm>
          <a:custGeom>
            <a:avLst/>
            <a:gdLst/>
            <a:ahLst/>
            <a:rect l="l" t="t" r="r" b="b"/>
            <a:pathLst>
              <a:path w="131895" h="131895">
                <a:moveTo>
                  <a:pt x="65947" y="0"/>
                </a:moveTo>
                <a:cubicBezTo>
                  <a:pt x="69734" y="0"/>
                  <a:pt x="73212" y="2087"/>
                  <a:pt x="75015" y="5410"/>
                </a:cubicBezTo>
                <a:lnTo>
                  <a:pt x="130658" y="108452"/>
                </a:lnTo>
                <a:cubicBezTo>
                  <a:pt x="132384" y="111647"/>
                  <a:pt x="132307" y="115511"/>
                  <a:pt x="130452" y="118628"/>
                </a:cubicBezTo>
                <a:cubicBezTo>
                  <a:pt x="128597" y="121745"/>
                  <a:pt x="125223" y="123651"/>
                  <a:pt x="121590" y="123651"/>
                </a:cubicBezTo>
                <a:lnTo>
                  <a:pt x="10304" y="123651"/>
                </a:lnTo>
                <a:cubicBezTo>
                  <a:pt x="6672" y="123651"/>
                  <a:pt x="3323" y="121745"/>
                  <a:pt x="1443" y="118628"/>
                </a:cubicBezTo>
                <a:cubicBezTo>
                  <a:pt x="-438" y="115511"/>
                  <a:pt x="-489" y="111647"/>
                  <a:pt x="1237" y="108452"/>
                </a:cubicBezTo>
                <a:lnTo>
                  <a:pt x="56880" y="5410"/>
                </a:lnTo>
                <a:cubicBezTo>
                  <a:pt x="58683" y="2087"/>
                  <a:pt x="62160" y="0"/>
                  <a:pt x="65947" y="0"/>
                </a:cubicBezTo>
                <a:close/>
                <a:moveTo>
                  <a:pt x="65947" y="43278"/>
                </a:moveTo>
                <a:cubicBezTo>
                  <a:pt x="62521" y="43278"/>
                  <a:pt x="59765" y="46034"/>
                  <a:pt x="59765" y="49460"/>
                </a:cubicBezTo>
                <a:lnTo>
                  <a:pt x="59765" y="78312"/>
                </a:lnTo>
                <a:cubicBezTo>
                  <a:pt x="59765" y="81739"/>
                  <a:pt x="62521" y="84495"/>
                  <a:pt x="65947" y="84495"/>
                </a:cubicBezTo>
                <a:cubicBezTo>
                  <a:pt x="69373" y="84495"/>
                  <a:pt x="72130" y="81739"/>
                  <a:pt x="72130" y="78312"/>
                </a:cubicBezTo>
                <a:lnTo>
                  <a:pt x="72130" y="49460"/>
                </a:lnTo>
                <a:cubicBezTo>
                  <a:pt x="72130" y="46034"/>
                  <a:pt x="69373" y="43278"/>
                  <a:pt x="65947" y="43278"/>
                </a:cubicBezTo>
                <a:close/>
                <a:moveTo>
                  <a:pt x="72825" y="98921"/>
                </a:moveTo>
                <a:cubicBezTo>
                  <a:pt x="72982" y="96368"/>
                  <a:pt x="71709" y="93939"/>
                  <a:pt x="69520" y="92615"/>
                </a:cubicBezTo>
                <a:cubicBezTo>
                  <a:pt x="67331" y="91291"/>
                  <a:pt x="64589" y="91291"/>
                  <a:pt x="62400" y="92615"/>
                </a:cubicBezTo>
                <a:cubicBezTo>
                  <a:pt x="60212" y="93939"/>
                  <a:pt x="58938" y="96368"/>
                  <a:pt x="59095" y="98921"/>
                </a:cubicBezTo>
                <a:cubicBezTo>
                  <a:pt x="58938" y="101474"/>
                  <a:pt x="60212" y="103903"/>
                  <a:pt x="62400" y="105227"/>
                </a:cubicBezTo>
                <a:cubicBezTo>
                  <a:pt x="64589" y="106551"/>
                  <a:pt x="67331" y="106551"/>
                  <a:pt x="69520" y="105227"/>
                </a:cubicBezTo>
                <a:cubicBezTo>
                  <a:pt x="71709" y="103903"/>
                  <a:pt x="72982" y="101474"/>
                  <a:pt x="72825" y="98921"/>
                </a:cubicBezTo>
                <a:close/>
              </a:path>
            </a:pathLst>
          </a:custGeom>
          <a:solidFill>
            <a:srgbClr val="8fb7ac"/>
          </a:solidFill>
          <a:ln w="0">
            <a:noFill/>
          </a:ln>
        </p:spPr>
        <p:style>
          <a:lnRef idx="0"/>
          <a:fillRef idx="0"/>
          <a:effectRef idx="0"/>
          <a:fontRef idx="minor"/>
        </p:style>
      </p:sp>
      <p:sp>
        <p:nvSpPr>
          <p:cNvPr id="722" name="Text 40"/>
          <p:cNvSpPr/>
          <p:nvPr/>
        </p:nvSpPr>
        <p:spPr>
          <a:xfrm>
            <a:off x="6591240" y="2901600"/>
            <a:ext cx="1944360" cy="196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40" spc="-1" strike="noStrike">
                <a:solidFill>
                  <a:srgbClr val="ffffff"/>
                </a:solidFill>
                <a:latin typeface="Quattrocento Sans"/>
                <a:ea typeface="Quattrocento Sans"/>
              </a:rPr>
              <a:t>Habitat conversion to plantations</a:t>
            </a:r>
            <a:endParaRPr b="0" lang="en-HK" sz="1040" spc="-1" strike="noStrike">
              <a:latin typeface="Arial"/>
            </a:endParaRPr>
          </a:p>
        </p:txBody>
      </p:sp>
      <p:sp>
        <p:nvSpPr>
          <p:cNvPr id="723" name="Shape 41"/>
          <p:cNvSpPr/>
          <p:nvPr/>
        </p:nvSpPr>
        <p:spPr>
          <a:xfrm>
            <a:off x="6195600" y="3396240"/>
            <a:ext cx="5670720" cy="2538000"/>
          </a:xfrm>
          <a:custGeom>
            <a:avLst/>
            <a:gdLst/>
            <a:ahLst/>
            <a:rect l="l" t="t" r="r" b="b"/>
            <a:pathLst>
              <a:path w="5671465" h="2538970">
                <a:moveTo>
                  <a:pt x="98918" y="0"/>
                </a:moveTo>
                <a:lnTo>
                  <a:pt x="5572546" y="0"/>
                </a:lnTo>
                <a:cubicBezTo>
                  <a:pt x="5627177" y="0"/>
                  <a:pt x="5671465" y="44287"/>
                  <a:pt x="5671465" y="98918"/>
                </a:cubicBezTo>
                <a:lnTo>
                  <a:pt x="5671465" y="2440051"/>
                </a:lnTo>
                <a:cubicBezTo>
                  <a:pt x="5671465" y="2494682"/>
                  <a:pt x="5627177" y="2538970"/>
                  <a:pt x="5572546" y="2538970"/>
                </a:cubicBezTo>
                <a:lnTo>
                  <a:pt x="98918" y="2538970"/>
                </a:lnTo>
                <a:cubicBezTo>
                  <a:pt x="44287" y="2538970"/>
                  <a:pt x="0" y="2494682"/>
                  <a:pt x="0" y="2440051"/>
                </a:cubicBezTo>
                <a:lnTo>
                  <a:pt x="0" y="98918"/>
                </a:lnTo>
                <a:cubicBezTo>
                  <a:pt x="0" y="44287"/>
                  <a:pt x="44287" y="0"/>
                  <a:pt x="98918" y="0"/>
                </a:cubicBezTo>
                <a:close/>
              </a:path>
            </a:pathLst>
          </a:custGeom>
          <a:solidFill>
            <a:srgbClr val="ffffff"/>
          </a:solidFill>
          <a:ln w="0">
            <a:noFill/>
          </a:ln>
          <a:effectLst>
            <a:outerShdw algn="bl" blurRad="24840" dir="5400000" dist="8280" kx="0" ky="0" rotWithShape="0" sx="100000" sy="100000">
              <a:srgbClr val="000000">
                <a:alpha val="10000"/>
              </a:srgbClr>
            </a:outerShdw>
          </a:effectLst>
        </p:spPr>
        <p:style>
          <a:lnRef idx="0"/>
          <a:fillRef idx="0"/>
          <a:effectRef idx="0"/>
          <a:fontRef idx="minor"/>
        </p:style>
      </p:sp>
      <p:sp>
        <p:nvSpPr>
          <p:cNvPr id="724" name="Text 42"/>
          <p:cNvSpPr/>
          <p:nvPr/>
        </p:nvSpPr>
        <p:spPr>
          <a:xfrm>
            <a:off x="6360480" y="3561120"/>
            <a:ext cx="5415120" cy="229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2f3e3b"/>
                </a:solidFill>
                <a:latin typeface="Sorts Mill Goudy"/>
                <a:ea typeface="Sorts Mill Goudy"/>
              </a:rPr>
              <a:t>Solutions</a:t>
            </a:r>
            <a:endParaRPr b="0" lang="en-HK" sz="1170" spc="-1" strike="noStrike">
              <a:latin typeface="Arial"/>
            </a:endParaRPr>
          </a:p>
        </p:txBody>
      </p:sp>
      <p:sp>
        <p:nvSpPr>
          <p:cNvPr id="725" name="Shape 43"/>
          <p:cNvSpPr/>
          <p:nvPr/>
        </p:nvSpPr>
        <p:spPr>
          <a:xfrm>
            <a:off x="6360480" y="3890880"/>
            <a:ext cx="5340960" cy="592560"/>
          </a:xfrm>
          <a:custGeom>
            <a:avLst/>
            <a:gdLst/>
            <a:ahLst/>
            <a:rect l="l" t="t" r="r" b="b"/>
            <a:pathLst>
              <a:path w="5341728" h="593525">
                <a:moveTo>
                  <a:pt x="65947" y="0"/>
                </a:moveTo>
                <a:lnTo>
                  <a:pt x="5275782" y="0"/>
                </a:lnTo>
                <a:cubicBezTo>
                  <a:pt x="5312203" y="0"/>
                  <a:pt x="5341728" y="29525"/>
                  <a:pt x="5341728" y="65947"/>
                </a:cubicBezTo>
                <a:lnTo>
                  <a:pt x="5341728" y="527579"/>
                </a:lnTo>
                <a:cubicBezTo>
                  <a:pt x="5341728" y="564000"/>
                  <a:pt x="5312203" y="593525"/>
                  <a:pt x="5275782" y="593525"/>
                </a:cubicBezTo>
                <a:lnTo>
                  <a:pt x="65947" y="593525"/>
                </a:lnTo>
                <a:cubicBezTo>
                  <a:pt x="29525" y="593525"/>
                  <a:pt x="0" y="564000"/>
                  <a:pt x="0" y="527579"/>
                </a:cubicBezTo>
                <a:lnTo>
                  <a:pt x="0" y="65947"/>
                </a:lnTo>
                <a:cubicBezTo>
                  <a:pt x="0" y="29550"/>
                  <a:pt x="29550" y="0"/>
                  <a:pt x="65947" y="0"/>
                </a:cubicBezTo>
                <a:close/>
              </a:path>
            </a:pathLst>
          </a:custGeom>
          <a:solidFill>
            <a:srgbClr val="4c8a7a">
              <a:alpha val="10000"/>
            </a:srgbClr>
          </a:solidFill>
          <a:ln w="0">
            <a:noFill/>
          </a:ln>
        </p:spPr>
        <p:style>
          <a:lnRef idx="0"/>
          <a:fillRef idx="0"/>
          <a:effectRef idx="0"/>
          <a:fontRef idx="minor"/>
        </p:style>
      </p:sp>
      <p:sp>
        <p:nvSpPr>
          <p:cNvPr id="726" name="Text 44"/>
          <p:cNvSpPr/>
          <p:nvPr/>
        </p:nvSpPr>
        <p:spPr>
          <a:xfrm>
            <a:off x="6459480" y="3989880"/>
            <a:ext cx="5209200" cy="196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2f3e3b"/>
                </a:solidFill>
                <a:latin typeface="Quattrocento Sans"/>
                <a:ea typeface="Quattrocento Sans"/>
              </a:rPr>
              <a:t>Biodiversity-Conscious Management</a:t>
            </a:r>
            <a:endParaRPr b="0" lang="en-HK" sz="1040" spc="-1" strike="noStrike">
              <a:latin typeface="Arial"/>
            </a:endParaRPr>
          </a:p>
        </p:txBody>
      </p:sp>
      <p:sp>
        <p:nvSpPr>
          <p:cNvPr id="727" name="Text 45"/>
          <p:cNvSpPr/>
          <p:nvPr/>
        </p:nvSpPr>
        <p:spPr>
          <a:xfrm>
            <a:off x="6459480" y="4220640"/>
            <a:ext cx="5200920" cy="163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Can reduce global biodiversity loss by 10% with minor economic changes</a:t>
            </a:r>
            <a:endParaRPr b="0" lang="en-HK" sz="910" spc="-1" strike="noStrike">
              <a:latin typeface="Arial"/>
            </a:endParaRPr>
          </a:p>
        </p:txBody>
      </p:sp>
      <p:sp>
        <p:nvSpPr>
          <p:cNvPr id="728" name="Shape 46"/>
          <p:cNvSpPr/>
          <p:nvPr/>
        </p:nvSpPr>
        <p:spPr>
          <a:xfrm>
            <a:off x="6360480" y="4583160"/>
            <a:ext cx="5340960" cy="1185840"/>
          </a:xfrm>
          <a:custGeom>
            <a:avLst/>
            <a:gdLst/>
            <a:ahLst/>
            <a:rect l="l" t="t" r="r" b="b"/>
            <a:pathLst>
              <a:path w="5341728" h="1187051">
                <a:moveTo>
                  <a:pt x="65953" y="0"/>
                </a:moveTo>
                <a:lnTo>
                  <a:pt x="5275776" y="0"/>
                </a:lnTo>
                <a:cubicBezTo>
                  <a:pt x="5312200" y="0"/>
                  <a:pt x="5341728" y="29528"/>
                  <a:pt x="5341728" y="65953"/>
                </a:cubicBezTo>
                <a:lnTo>
                  <a:pt x="5341728" y="1121098"/>
                </a:lnTo>
                <a:cubicBezTo>
                  <a:pt x="5341728" y="1157523"/>
                  <a:pt x="5312200" y="1187051"/>
                  <a:pt x="5275776" y="1187051"/>
                </a:cubicBezTo>
                <a:lnTo>
                  <a:pt x="65953" y="1187051"/>
                </a:lnTo>
                <a:cubicBezTo>
                  <a:pt x="29552" y="1187051"/>
                  <a:pt x="0" y="1157498"/>
                  <a:pt x="0" y="1121098"/>
                </a:cubicBezTo>
                <a:lnTo>
                  <a:pt x="0" y="65953"/>
                </a:lnTo>
                <a:cubicBezTo>
                  <a:pt x="0" y="29528"/>
                  <a:pt x="29528" y="0"/>
                  <a:pt x="65953" y="0"/>
                </a:cubicBezTo>
                <a:close/>
              </a:path>
            </a:pathLst>
          </a:custGeom>
          <a:solidFill>
            <a:srgbClr val="8fb7ac">
              <a:alpha val="10000"/>
            </a:srgbClr>
          </a:solidFill>
          <a:ln w="0">
            <a:noFill/>
          </a:ln>
        </p:spPr>
        <p:style>
          <a:lnRef idx="0"/>
          <a:fillRef idx="0"/>
          <a:effectRef idx="0"/>
          <a:fontRef idx="minor"/>
        </p:style>
      </p:sp>
      <p:sp>
        <p:nvSpPr>
          <p:cNvPr id="729" name="Text 47"/>
          <p:cNvSpPr/>
          <p:nvPr/>
        </p:nvSpPr>
        <p:spPr>
          <a:xfrm>
            <a:off x="6459480" y="4682160"/>
            <a:ext cx="5209200" cy="196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2f3e3b"/>
                </a:solidFill>
                <a:latin typeface="Quattrocento Sans"/>
                <a:ea typeface="Quattrocento Sans"/>
              </a:rPr>
              <a:t>Strategic Approaches</a:t>
            </a:r>
            <a:endParaRPr b="0" lang="en-HK" sz="1040" spc="-1" strike="noStrike">
              <a:latin typeface="Arial"/>
            </a:endParaRPr>
          </a:p>
        </p:txBody>
      </p:sp>
      <p:sp>
        <p:nvSpPr>
          <p:cNvPr id="730" name="Text 48"/>
          <p:cNvSpPr/>
          <p:nvPr/>
        </p:nvSpPr>
        <p:spPr>
          <a:xfrm>
            <a:off x="6459480" y="4912920"/>
            <a:ext cx="5200920" cy="163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 </a:t>
            </a:r>
            <a:r>
              <a:rPr b="0" lang="en-US" sz="910" spc="-1" strike="noStrike">
                <a:solidFill>
                  <a:srgbClr val="5f6f6b"/>
                </a:solidFill>
                <a:latin typeface="Quattrocento Sans"/>
                <a:ea typeface="Quattrocento Sans"/>
              </a:rPr>
              <a:t>Shift bioenergy production to energy crops</a:t>
            </a:r>
            <a:endParaRPr b="0" lang="en-HK" sz="910" spc="-1" strike="noStrike">
              <a:latin typeface="Arial"/>
            </a:endParaRPr>
          </a:p>
        </p:txBody>
      </p:sp>
      <p:sp>
        <p:nvSpPr>
          <p:cNvPr id="731" name="Text 49"/>
          <p:cNvSpPr/>
          <p:nvPr/>
        </p:nvSpPr>
        <p:spPr>
          <a:xfrm>
            <a:off x="6459480" y="5110920"/>
            <a:ext cx="5200920" cy="163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 </a:t>
            </a:r>
            <a:r>
              <a:rPr b="0" lang="en-US" sz="910" spc="-1" strike="noStrike">
                <a:solidFill>
                  <a:srgbClr val="5f6f6b"/>
                </a:solidFill>
                <a:latin typeface="Quattrocento Sans"/>
                <a:ea typeface="Quattrocento Sans"/>
              </a:rPr>
              <a:t>Increase unmanaged secondary forest areas</a:t>
            </a:r>
            <a:endParaRPr b="0" lang="en-HK" sz="910" spc="-1" strike="noStrike">
              <a:latin typeface="Arial"/>
            </a:endParaRPr>
          </a:p>
        </p:txBody>
      </p:sp>
      <p:sp>
        <p:nvSpPr>
          <p:cNvPr id="732" name="Text 50"/>
          <p:cNvSpPr/>
          <p:nvPr/>
        </p:nvSpPr>
        <p:spPr>
          <a:xfrm>
            <a:off x="6459480" y="5308920"/>
            <a:ext cx="5200920" cy="163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 </a:t>
            </a:r>
            <a:r>
              <a:rPr b="0" lang="en-US" sz="910" spc="-1" strike="noStrike">
                <a:solidFill>
                  <a:srgbClr val="5f6f6b"/>
                </a:solidFill>
                <a:latin typeface="Quattrocento Sans"/>
                <a:ea typeface="Quattrocento Sans"/>
              </a:rPr>
              <a:t>Reduce management intensity</a:t>
            </a:r>
            <a:endParaRPr b="0" lang="en-HK" sz="910" spc="-1" strike="noStrike">
              <a:latin typeface="Arial"/>
            </a:endParaRPr>
          </a:p>
        </p:txBody>
      </p:sp>
      <p:sp>
        <p:nvSpPr>
          <p:cNvPr id="733" name="Text 51"/>
          <p:cNvSpPr/>
          <p:nvPr/>
        </p:nvSpPr>
        <p:spPr>
          <a:xfrm>
            <a:off x="6459480" y="5506560"/>
            <a:ext cx="5200920" cy="163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 </a:t>
            </a:r>
            <a:r>
              <a:rPr b="0" lang="en-US" sz="910" spc="-1" strike="noStrike">
                <a:solidFill>
                  <a:srgbClr val="5f6f6b"/>
                </a:solidFill>
                <a:latin typeface="Quattrocento Sans"/>
                <a:ea typeface="Quattrocento Sans"/>
              </a:rPr>
              <a:t>Reallocate biomass production regionally</a:t>
            </a:r>
            <a:endParaRPr b="0" lang="en-HK" sz="910" spc="-1" strike="noStrike">
              <a:latin typeface="Arial"/>
            </a:endParaRPr>
          </a:p>
        </p:txBody>
      </p:sp>
      <p:sp>
        <p:nvSpPr>
          <p:cNvPr id="734" name="Shape 52"/>
          <p:cNvSpPr/>
          <p:nvPr/>
        </p:nvSpPr>
        <p:spPr>
          <a:xfrm>
            <a:off x="6195600" y="6067080"/>
            <a:ext cx="5670720" cy="790200"/>
          </a:xfrm>
          <a:custGeom>
            <a:avLst/>
            <a:gdLst/>
            <a:ahLst/>
            <a:rect l="l" t="t" r="r" b="b"/>
            <a:pathLst>
              <a:path w="5671465" h="791367">
                <a:moveTo>
                  <a:pt x="98921" y="0"/>
                </a:moveTo>
                <a:lnTo>
                  <a:pt x="5572544" y="0"/>
                </a:lnTo>
                <a:cubicBezTo>
                  <a:pt x="5627176" y="0"/>
                  <a:pt x="5671465" y="44288"/>
                  <a:pt x="5671465" y="98921"/>
                </a:cubicBezTo>
                <a:lnTo>
                  <a:pt x="5671465" y="692446"/>
                </a:lnTo>
                <a:cubicBezTo>
                  <a:pt x="5671465" y="747079"/>
                  <a:pt x="5627176" y="791367"/>
                  <a:pt x="5572544" y="791367"/>
                </a:cubicBezTo>
                <a:lnTo>
                  <a:pt x="98921" y="791367"/>
                </a:lnTo>
                <a:cubicBezTo>
                  <a:pt x="44288" y="791367"/>
                  <a:pt x="0" y="747079"/>
                  <a:pt x="0" y="692446"/>
                </a:cubicBezTo>
                <a:lnTo>
                  <a:pt x="0" y="98921"/>
                </a:lnTo>
                <a:cubicBezTo>
                  <a:pt x="0" y="44325"/>
                  <a:pt x="44325" y="0"/>
                  <a:pt x="98921" y="0"/>
                </a:cubicBezTo>
                <a:close/>
              </a:path>
            </a:pathLst>
          </a:custGeom>
          <a:solidFill>
            <a:srgbClr val="4c8a7a"/>
          </a:solidFill>
          <a:ln w="0">
            <a:noFill/>
          </a:ln>
        </p:spPr>
        <p:style>
          <a:lnRef idx="0"/>
          <a:fillRef idx="0"/>
          <a:effectRef idx="0"/>
          <a:fontRef idx="minor"/>
        </p:style>
      </p:sp>
      <p:sp>
        <p:nvSpPr>
          <p:cNvPr id="735" name="Text 53"/>
          <p:cNvSpPr/>
          <p:nvPr/>
        </p:nvSpPr>
        <p:spPr>
          <a:xfrm>
            <a:off x="6265800" y="6199200"/>
            <a:ext cx="5530680" cy="29556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40" spc="-1" strike="noStrike">
                <a:solidFill>
                  <a:srgbClr val="ffffff"/>
                </a:solidFill>
                <a:latin typeface="Sorts Mill Goudy"/>
                <a:ea typeface="Sorts Mill Goudy"/>
              </a:rPr>
              <a:t>Integrated Solutions</a:t>
            </a:r>
            <a:endParaRPr b="0" lang="en-HK" sz="1940" spc="-1" strike="noStrike">
              <a:latin typeface="Arial"/>
            </a:endParaRPr>
          </a:p>
        </p:txBody>
      </p:sp>
      <p:sp>
        <p:nvSpPr>
          <p:cNvPr id="736" name="Text 54"/>
          <p:cNvSpPr/>
          <p:nvPr/>
        </p:nvSpPr>
        <p:spPr>
          <a:xfrm>
            <a:off x="6294600" y="6528600"/>
            <a:ext cx="5473080" cy="1969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40" spc="-1" strike="noStrike">
                <a:solidFill>
                  <a:srgbClr val="ffffff"/>
                </a:solidFill>
                <a:latin typeface="Quattrocento Sans"/>
                <a:ea typeface="Quattrocento Sans"/>
              </a:rPr>
              <a:t>Address biodiversity and climate together</a:t>
            </a:r>
            <a:endParaRPr b="0" lang="en-HK" sz="104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737" name="Text 0"/>
          <p:cNvSpPr/>
          <p:nvPr/>
        </p:nvSpPr>
        <p:spPr>
          <a:xfrm>
            <a:off x="318960" y="318960"/>
            <a:ext cx="1161000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80" strike="noStrike">
                <a:solidFill>
                  <a:srgbClr val="2f3e3b"/>
                </a:solidFill>
                <a:latin typeface="Quattrocento Sans"/>
                <a:ea typeface="Quattrocento Sans"/>
              </a:rPr>
              <a:t>08 • Conservation Implications</a:t>
            </a:r>
            <a:endParaRPr b="0" lang="en-HK" sz="880" spc="-1" strike="noStrike">
              <a:latin typeface="Arial"/>
            </a:endParaRPr>
          </a:p>
        </p:txBody>
      </p:sp>
      <p:sp>
        <p:nvSpPr>
          <p:cNvPr id="738" name="Text 1"/>
          <p:cNvSpPr/>
          <p:nvPr/>
        </p:nvSpPr>
        <p:spPr>
          <a:xfrm>
            <a:off x="318960" y="542160"/>
            <a:ext cx="11697480" cy="31788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60" spc="-1" strike="noStrike">
                <a:solidFill>
                  <a:srgbClr val="2f3e3b"/>
                </a:solidFill>
                <a:latin typeface="Sorts Mill Goudy"/>
                <a:ea typeface="Sorts Mill Goudy"/>
              </a:rPr>
              <a:t>Conservation Strategies &amp; Management</a:t>
            </a:r>
            <a:endParaRPr b="0" lang="en-HK" sz="2260" spc="-1" strike="noStrike">
              <a:latin typeface="Arial"/>
            </a:endParaRPr>
          </a:p>
        </p:txBody>
      </p:sp>
      <p:sp>
        <p:nvSpPr>
          <p:cNvPr id="739" name="Text 2"/>
          <p:cNvSpPr/>
          <p:nvPr/>
        </p:nvSpPr>
        <p:spPr>
          <a:xfrm>
            <a:off x="318960" y="924840"/>
            <a:ext cx="11625840" cy="222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30" spc="-1" strike="noStrike">
                <a:solidFill>
                  <a:srgbClr val="5f6f6b"/>
                </a:solidFill>
                <a:latin typeface="Quattrocento Sans"/>
                <a:ea typeface="Quattrocento Sans"/>
              </a:rPr>
              <a:t>Translating ecological mechanisms into practical approaches</a:t>
            </a:r>
            <a:endParaRPr b="0" lang="en-HK" sz="1130" spc="-1" strike="noStrike">
              <a:latin typeface="Arial"/>
            </a:endParaRPr>
          </a:p>
        </p:txBody>
      </p:sp>
      <p:sp>
        <p:nvSpPr>
          <p:cNvPr id="740" name="Shape 3"/>
          <p:cNvSpPr/>
          <p:nvPr/>
        </p:nvSpPr>
        <p:spPr>
          <a:xfrm>
            <a:off x="318960" y="1307880"/>
            <a:ext cx="7646400" cy="2422800"/>
          </a:xfrm>
          <a:custGeom>
            <a:avLst/>
            <a:gdLst/>
            <a:ahLst/>
            <a:rect l="l" t="t" r="r" b="b"/>
            <a:pathLst>
              <a:path w="7646912" h="2424047">
                <a:moveTo>
                  <a:pt x="95677" y="0"/>
                </a:moveTo>
                <a:lnTo>
                  <a:pt x="7551235" y="0"/>
                </a:lnTo>
                <a:cubicBezTo>
                  <a:pt x="7604040" y="0"/>
                  <a:pt x="7646912" y="42871"/>
                  <a:pt x="7646912" y="95677"/>
                </a:cubicBezTo>
                <a:lnTo>
                  <a:pt x="7646912" y="2328370"/>
                </a:lnTo>
                <a:cubicBezTo>
                  <a:pt x="7646912" y="2381176"/>
                  <a:pt x="7604040" y="2424047"/>
                  <a:pt x="7551235" y="2424047"/>
                </a:cubicBezTo>
                <a:lnTo>
                  <a:pt x="95677" y="2424047"/>
                </a:lnTo>
                <a:cubicBezTo>
                  <a:pt x="42871" y="2424047"/>
                  <a:pt x="0" y="2381176"/>
                  <a:pt x="0" y="2328370"/>
                </a:cubicBezTo>
                <a:lnTo>
                  <a:pt x="0" y="95677"/>
                </a:lnTo>
                <a:cubicBezTo>
                  <a:pt x="0" y="42871"/>
                  <a:pt x="42871" y="0"/>
                  <a:pt x="95677"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741" name="Text 4"/>
          <p:cNvSpPr/>
          <p:nvPr/>
        </p:nvSpPr>
        <p:spPr>
          <a:xfrm>
            <a:off x="478440" y="1467360"/>
            <a:ext cx="7407360" cy="222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60" spc="-1" strike="noStrike">
                <a:solidFill>
                  <a:srgbClr val="2f3e3b"/>
                </a:solidFill>
                <a:latin typeface="Sorts Mill Goudy"/>
                <a:ea typeface="Sorts Mill Goudy"/>
              </a:rPr>
              <a:t>Ecosystem-Based Management Strategies</a:t>
            </a:r>
            <a:endParaRPr b="0" lang="en-HK" sz="1260" spc="-1" strike="noStrike">
              <a:latin typeface="Arial"/>
            </a:endParaRPr>
          </a:p>
        </p:txBody>
      </p:sp>
      <p:sp>
        <p:nvSpPr>
          <p:cNvPr id="742" name="Text 5"/>
          <p:cNvSpPr/>
          <p:nvPr/>
        </p:nvSpPr>
        <p:spPr>
          <a:xfrm>
            <a:off x="478440" y="1786320"/>
            <a:ext cx="7391520" cy="413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1f2a28"/>
                </a:solidFill>
                <a:latin typeface="Quattrocento Sans"/>
                <a:ea typeface="Quattrocento Sans"/>
              </a:rPr>
              <a:t>Effective forest conservation requires </a:t>
            </a:r>
            <a:r>
              <a:rPr b="0" lang="en-US" sz="1010" spc="-1" strike="noStrike">
                <a:solidFill>
                  <a:srgbClr val="2f3e3b"/>
                </a:solidFill>
                <a:highlight>
                  <a:srgbClr val="8fb7ac"/>
                </a:highlight>
                <a:latin typeface="Quattrocento Sans"/>
                <a:ea typeface="Quattrocento Sans"/>
              </a:rPr>
              <a:t>management approaches that maintain the ecological mechanisms sustaining biodiversity </a:t>
            </a:r>
            <a:r>
              <a:rPr b="0" lang="en-US" sz="1010" spc="-1" strike="noStrike">
                <a:solidFill>
                  <a:srgbClr val="1f2a28"/>
                </a:solidFill>
                <a:latin typeface="Quattrocento Sans"/>
                <a:ea typeface="Quattrocento Sans"/>
              </a:rPr>
              <a:t>. Close-to-nature forestry and retention forestry aim to preserve structural complexity and natural processes.</a:t>
            </a:r>
            <a:endParaRPr b="0" lang="en-HK" sz="1010" spc="-1" strike="noStrike">
              <a:latin typeface="Arial"/>
            </a:endParaRPr>
          </a:p>
        </p:txBody>
      </p:sp>
      <p:sp>
        <p:nvSpPr>
          <p:cNvPr id="743" name="Shape 6"/>
          <p:cNvSpPr/>
          <p:nvPr/>
        </p:nvSpPr>
        <p:spPr>
          <a:xfrm>
            <a:off x="478440" y="2328480"/>
            <a:ext cx="3603600" cy="1242720"/>
          </a:xfrm>
          <a:custGeom>
            <a:avLst/>
            <a:gdLst/>
            <a:ahLst/>
            <a:rect l="l" t="t" r="r" b="b"/>
            <a:pathLst>
              <a:path w="3604175" h="1243919">
                <a:moveTo>
                  <a:pt x="63788" y="0"/>
                </a:moveTo>
                <a:lnTo>
                  <a:pt x="3540387" y="0"/>
                </a:lnTo>
                <a:cubicBezTo>
                  <a:pt x="3575616" y="0"/>
                  <a:pt x="3604175" y="28559"/>
                  <a:pt x="3604175" y="63788"/>
                </a:cubicBezTo>
                <a:lnTo>
                  <a:pt x="3604175" y="1180131"/>
                </a:lnTo>
                <a:cubicBezTo>
                  <a:pt x="3604175" y="1215360"/>
                  <a:pt x="3575616" y="1243919"/>
                  <a:pt x="3540387" y="1243919"/>
                </a:cubicBezTo>
                <a:lnTo>
                  <a:pt x="63788" y="1243919"/>
                </a:lnTo>
                <a:cubicBezTo>
                  <a:pt x="28559" y="1243919"/>
                  <a:pt x="0" y="1215360"/>
                  <a:pt x="0" y="1180131"/>
                </a:cubicBezTo>
                <a:lnTo>
                  <a:pt x="0" y="63788"/>
                </a:lnTo>
                <a:cubicBezTo>
                  <a:pt x="0" y="28583"/>
                  <a:pt x="28583" y="0"/>
                  <a:pt x="63788" y="0"/>
                </a:cubicBezTo>
                <a:close/>
              </a:path>
            </a:pathLst>
          </a:custGeom>
          <a:solidFill>
            <a:srgbClr val="4c8a7a">
              <a:alpha val="10000"/>
            </a:srgbClr>
          </a:solidFill>
          <a:ln w="0">
            <a:noFill/>
          </a:ln>
        </p:spPr>
        <p:style>
          <a:lnRef idx="0"/>
          <a:fillRef idx="0"/>
          <a:effectRef idx="0"/>
          <a:fontRef idx="minor"/>
        </p:style>
      </p:sp>
      <p:sp>
        <p:nvSpPr>
          <p:cNvPr id="744" name="Shape 7"/>
          <p:cNvSpPr/>
          <p:nvPr/>
        </p:nvSpPr>
        <p:spPr>
          <a:xfrm>
            <a:off x="630000" y="2487960"/>
            <a:ext cx="110520" cy="126360"/>
          </a:xfrm>
          <a:custGeom>
            <a:avLst/>
            <a:gdLst/>
            <a:ahLst/>
            <a:rect l="l" t="t" r="r" b="b"/>
            <a:pathLst>
              <a:path w="111634" h="127581">
                <a:moveTo>
                  <a:pt x="55817" y="-7974"/>
                </a:moveTo>
                <a:cubicBezTo>
                  <a:pt x="57561" y="-7974"/>
                  <a:pt x="59231" y="-7201"/>
                  <a:pt x="60377" y="-5856"/>
                </a:cubicBezTo>
                <a:lnTo>
                  <a:pt x="94266" y="34013"/>
                </a:lnTo>
                <a:cubicBezTo>
                  <a:pt x="95786" y="35783"/>
                  <a:pt x="96110" y="38274"/>
                  <a:pt x="95138" y="40392"/>
                </a:cubicBezTo>
                <a:cubicBezTo>
                  <a:pt x="94166" y="42511"/>
                  <a:pt x="92048" y="43856"/>
                  <a:pt x="89706" y="43856"/>
                </a:cubicBezTo>
                <a:lnTo>
                  <a:pt x="83501" y="43856"/>
                </a:lnTo>
                <a:lnTo>
                  <a:pt x="102240" y="65909"/>
                </a:lnTo>
                <a:cubicBezTo>
                  <a:pt x="103760" y="67678"/>
                  <a:pt x="104084" y="70170"/>
                  <a:pt x="103112" y="72288"/>
                </a:cubicBezTo>
                <a:cubicBezTo>
                  <a:pt x="102140" y="74406"/>
                  <a:pt x="100022" y="75751"/>
                  <a:pt x="97680" y="75751"/>
                </a:cubicBezTo>
                <a:lnTo>
                  <a:pt x="88086" y="75751"/>
                </a:lnTo>
                <a:lnTo>
                  <a:pt x="110213" y="101791"/>
                </a:lnTo>
                <a:cubicBezTo>
                  <a:pt x="111733" y="103560"/>
                  <a:pt x="112057" y="106052"/>
                  <a:pt x="111086" y="108170"/>
                </a:cubicBezTo>
                <a:cubicBezTo>
                  <a:pt x="110114" y="110288"/>
                  <a:pt x="107996" y="111634"/>
                  <a:pt x="105653" y="111634"/>
                </a:cubicBezTo>
                <a:lnTo>
                  <a:pt x="63791" y="111634"/>
                </a:lnTo>
                <a:lnTo>
                  <a:pt x="63791" y="127581"/>
                </a:lnTo>
                <a:cubicBezTo>
                  <a:pt x="63791" y="131992"/>
                  <a:pt x="60227" y="135555"/>
                  <a:pt x="55817" y="135555"/>
                </a:cubicBezTo>
                <a:cubicBezTo>
                  <a:pt x="51406" y="135555"/>
                  <a:pt x="47843" y="131992"/>
                  <a:pt x="47843" y="127581"/>
                </a:cubicBezTo>
                <a:lnTo>
                  <a:pt x="47843" y="111634"/>
                </a:lnTo>
                <a:lnTo>
                  <a:pt x="5980" y="111634"/>
                </a:lnTo>
                <a:cubicBezTo>
                  <a:pt x="3638" y="111634"/>
                  <a:pt x="1520" y="110288"/>
                  <a:pt x="548" y="108170"/>
                </a:cubicBezTo>
                <a:cubicBezTo>
                  <a:pt x="-424" y="106052"/>
                  <a:pt x="-100" y="103560"/>
                  <a:pt x="1420" y="101791"/>
                </a:cubicBezTo>
                <a:lnTo>
                  <a:pt x="23548" y="75751"/>
                </a:lnTo>
                <a:lnTo>
                  <a:pt x="13954" y="75751"/>
                </a:lnTo>
                <a:cubicBezTo>
                  <a:pt x="11612" y="75751"/>
                  <a:pt x="9494" y="74406"/>
                  <a:pt x="8522" y="72288"/>
                </a:cubicBezTo>
                <a:cubicBezTo>
                  <a:pt x="7550" y="70170"/>
                  <a:pt x="7874" y="67678"/>
                  <a:pt x="9394" y="65909"/>
                </a:cubicBezTo>
                <a:lnTo>
                  <a:pt x="28133" y="43856"/>
                </a:lnTo>
                <a:lnTo>
                  <a:pt x="21928" y="43856"/>
                </a:lnTo>
                <a:cubicBezTo>
                  <a:pt x="19586" y="43856"/>
                  <a:pt x="17468" y="42511"/>
                  <a:pt x="16496" y="40392"/>
                </a:cubicBezTo>
                <a:cubicBezTo>
                  <a:pt x="15524" y="38274"/>
                  <a:pt x="15848" y="35783"/>
                  <a:pt x="17368" y="34013"/>
                </a:cubicBezTo>
                <a:lnTo>
                  <a:pt x="51257" y="-5856"/>
                </a:lnTo>
                <a:cubicBezTo>
                  <a:pt x="52403" y="-7201"/>
                  <a:pt x="54073" y="-7974"/>
                  <a:pt x="55817" y="-7974"/>
                </a:cubicBezTo>
                <a:close/>
              </a:path>
            </a:pathLst>
          </a:custGeom>
          <a:solidFill>
            <a:srgbClr val="4c8a7a"/>
          </a:solidFill>
          <a:ln w="0">
            <a:noFill/>
          </a:ln>
        </p:spPr>
        <p:style>
          <a:lnRef idx="0"/>
          <a:fillRef idx="0"/>
          <a:effectRef idx="0"/>
          <a:fontRef idx="minor"/>
        </p:style>
      </p:sp>
      <p:sp>
        <p:nvSpPr>
          <p:cNvPr id="745" name="Text 8"/>
          <p:cNvSpPr/>
          <p:nvPr/>
        </p:nvSpPr>
        <p:spPr>
          <a:xfrm>
            <a:off x="765360" y="2455920"/>
            <a:ext cx="3252600" cy="190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Structural Complexity</a:t>
            </a:r>
            <a:endParaRPr b="0" lang="en-HK" sz="1010" spc="-1" strike="noStrike">
              <a:latin typeface="Arial"/>
            </a:endParaRPr>
          </a:p>
        </p:txBody>
      </p:sp>
      <p:sp>
        <p:nvSpPr>
          <p:cNvPr id="746" name="Text 9"/>
          <p:cNvSpPr/>
          <p:nvPr/>
        </p:nvSpPr>
        <p:spPr>
          <a:xfrm>
            <a:off x="605880" y="2711160"/>
            <a:ext cx="34041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Maintain vertical layering</a:t>
            </a:r>
            <a:endParaRPr b="0" lang="en-HK" sz="880" spc="-1" strike="noStrike">
              <a:latin typeface="Arial"/>
            </a:endParaRPr>
          </a:p>
        </p:txBody>
      </p:sp>
      <p:sp>
        <p:nvSpPr>
          <p:cNvPr id="747" name="Text 10"/>
          <p:cNvSpPr/>
          <p:nvPr/>
        </p:nvSpPr>
        <p:spPr>
          <a:xfrm>
            <a:off x="605880" y="2902320"/>
            <a:ext cx="34041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Retain dead wood and snags</a:t>
            </a:r>
            <a:endParaRPr b="0" lang="en-HK" sz="880" spc="-1" strike="noStrike">
              <a:latin typeface="Arial"/>
            </a:endParaRPr>
          </a:p>
        </p:txBody>
      </p:sp>
      <p:sp>
        <p:nvSpPr>
          <p:cNvPr id="748" name="Text 11"/>
          <p:cNvSpPr/>
          <p:nvPr/>
        </p:nvSpPr>
        <p:spPr>
          <a:xfrm>
            <a:off x="605880" y="3093840"/>
            <a:ext cx="34041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Preserve veteran trees</a:t>
            </a:r>
            <a:endParaRPr b="0" lang="en-HK" sz="880" spc="-1" strike="noStrike">
              <a:latin typeface="Arial"/>
            </a:endParaRPr>
          </a:p>
        </p:txBody>
      </p:sp>
      <p:sp>
        <p:nvSpPr>
          <p:cNvPr id="749" name="Text 12"/>
          <p:cNvSpPr/>
          <p:nvPr/>
        </p:nvSpPr>
        <p:spPr>
          <a:xfrm>
            <a:off x="605880" y="3285360"/>
            <a:ext cx="34041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Create canopy gaps</a:t>
            </a:r>
            <a:endParaRPr b="0" lang="en-HK" sz="880" spc="-1" strike="noStrike">
              <a:latin typeface="Arial"/>
            </a:endParaRPr>
          </a:p>
        </p:txBody>
      </p:sp>
      <p:sp>
        <p:nvSpPr>
          <p:cNvPr id="750" name="Shape 13"/>
          <p:cNvSpPr/>
          <p:nvPr/>
        </p:nvSpPr>
        <p:spPr>
          <a:xfrm>
            <a:off x="4207680" y="2328480"/>
            <a:ext cx="3603600" cy="1242720"/>
          </a:xfrm>
          <a:custGeom>
            <a:avLst/>
            <a:gdLst/>
            <a:ahLst/>
            <a:rect l="l" t="t" r="r" b="b"/>
            <a:pathLst>
              <a:path w="3604175" h="1243919">
                <a:moveTo>
                  <a:pt x="63788" y="0"/>
                </a:moveTo>
                <a:lnTo>
                  <a:pt x="3540387" y="0"/>
                </a:lnTo>
                <a:cubicBezTo>
                  <a:pt x="3575616" y="0"/>
                  <a:pt x="3604175" y="28559"/>
                  <a:pt x="3604175" y="63788"/>
                </a:cubicBezTo>
                <a:lnTo>
                  <a:pt x="3604175" y="1180131"/>
                </a:lnTo>
                <a:cubicBezTo>
                  <a:pt x="3604175" y="1215360"/>
                  <a:pt x="3575616" y="1243919"/>
                  <a:pt x="3540387" y="1243919"/>
                </a:cubicBezTo>
                <a:lnTo>
                  <a:pt x="63788" y="1243919"/>
                </a:lnTo>
                <a:cubicBezTo>
                  <a:pt x="28559" y="1243919"/>
                  <a:pt x="0" y="1215360"/>
                  <a:pt x="0" y="1180131"/>
                </a:cubicBezTo>
                <a:lnTo>
                  <a:pt x="0" y="63788"/>
                </a:lnTo>
                <a:cubicBezTo>
                  <a:pt x="0" y="28583"/>
                  <a:pt x="28583" y="0"/>
                  <a:pt x="63788" y="0"/>
                </a:cubicBezTo>
                <a:close/>
              </a:path>
            </a:pathLst>
          </a:custGeom>
          <a:solidFill>
            <a:srgbClr val="8fb7ac">
              <a:alpha val="10000"/>
            </a:srgbClr>
          </a:solidFill>
          <a:ln w="0">
            <a:noFill/>
          </a:ln>
        </p:spPr>
        <p:style>
          <a:lnRef idx="0"/>
          <a:fillRef idx="0"/>
          <a:effectRef idx="0"/>
          <a:fontRef idx="minor"/>
        </p:style>
      </p:sp>
      <p:sp>
        <p:nvSpPr>
          <p:cNvPr id="751" name="Shape 14"/>
          <p:cNvSpPr/>
          <p:nvPr/>
        </p:nvSpPr>
        <p:spPr>
          <a:xfrm>
            <a:off x="4350960" y="2487960"/>
            <a:ext cx="126360" cy="126360"/>
          </a:xfrm>
          <a:custGeom>
            <a:avLst/>
            <a:gdLst/>
            <a:ahLst/>
            <a:rect l="l" t="t" r="r" b="b"/>
            <a:pathLst>
              <a:path w="127581" h="127581">
                <a:moveTo>
                  <a:pt x="127581" y="7974"/>
                </a:moveTo>
                <a:cubicBezTo>
                  <a:pt x="127581" y="34910"/>
                  <a:pt x="108494" y="57387"/>
                  <a:pt x="83127" y="62644"/>
                </a:cubicBezTo>
                <a:cubicBezTo>
                  <a:pt x="81159" y="48167"/>
                  <a:pt x="74655" y="35135"/>
                  <a:pt x="65062" y="25043"/>
                </a:cubicBezTo>
                <a:cubicBezTo>
                  <a:pt x="75054" y="9967"/>
                  <a:pt x="92173" y="0"/>
                  <a:pt x="111634" y="0"/>
                </a:cubicBezTo>
                <a:lnTo>
                  <a:pt x="119608" y="0"/>
                </a:lnTo>
                <a:cubicBezTo>
                  <a:pt x="124018" y="0"/>
                  <a:pt x="127581" y="3563"/>
                  <a:pt x="127581" y="7974"/>
                </a:cubicBezTo>
                <a:close/>
                <a:moveTo>
                  <a:pt x="0" y="23922"/>
                </a:moveTo>
                <a:cubicBezTo>
                  <a:pt x="0" y="19511"/>
                  <a:pt x="3563" y="15948"/>
                  <a:pt x="7974" y="15948"/>
                </a:cubicBezTo>
                <a:lnTo>
                  <a:pt x="15948" y="15948"/>
                </a:lnTo>
                <a:cubicBezTo>
                  <a:pt x="46772" y="15948"/>
                  <a:pt x="71765" y="40941"/>
                  <a:pt x="71765" y="71765"/>
                </a:cubicBezTo>
                <a:lnTo>
                  <a:pt x="71765" y="119608"/>
                </a:lnTo>
                <a:cubicBezTo>
                  <a:pt x="71765" y="124018"/>
                  <a:pt x="68201" y="127581"/>
                  <a:pt x="63791" y="127581"/>
                </a:cubicBezTo>
                <a:cubicBezTo>
                  <a:pt x="59380" y="127581"/>
                  <a:pt x="55817" y="124018"/>
                  <a:pt x="55817" y="119608"/>
                </a:cubicBezTo>
                <a:lnTo>
                  <a:pt x="55817" y="79738"/>
                </a:lnTo>
                <a:cubicBezTo>
                  <a:pt x="24993" y="79738"/>
                  <a:pt x="0" y="54745"/>
                  <a:pt x="0" y="23922"/>
                </a:cubicBezTo>
                <a:close/>
              </a:path>
            </a:pathLst>
          </a:custGeom>
          <a:solidFill>
            <a:srgbClr val="8fb7ac"/>
          </a:solidFill>
          <a:ln w="0">
            <a:noFill/>
          </a:ln>
        </p:spPr>
        <p:style>
          <a:lnRef idx="0"/>
          <a:fillRef idx="0"/>
          <a:effectRef idx="0"/>
          <a:fontRef idx="minor"/>
        </p:style>
      </p:sp>
      <p:sp>
        <p:nvSpPr>
          <p:cNvPr id="752" name="Text 15"/>
          <p:cNvSpPr/>
          <p:nvPr/>
        </p:nvSpPr>
        <p:spPr>
          <a:xfrm>
            <a:off x="4494600" y="2455920"/>
            <a:ext cx="3252600" cy="190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Natural Regeneration</a:t>
            </a:r>
            <a:endParaRPr b="0" lang="en-HK" sz="1010" spc="-1" strike="noStrike">
              <a:latin typeface="Arial"/>
            </a:endParaRPr>
          </a:p>
        </p:txBody>
      </p:sp>
      <p:sp>
        <p:nvSpPr>
          <p:cNvPr id="753" name="Text 16"/>
          <p:cNvSpPr/>
          <p:nvPr/>
        </p:nvSpPr>
        <p:spPr>
          <a:xfrm>
            <a:off x="4335120" y="2711160"/>
            <a:ext cx="34041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Promote native species</a:t>
            </a:r>
            <a:endParaRPr b="0" lang="en-HK" sz="880" spc="-1" strike="noStrike">
              <a:latin typeface="Arial"/>
            </a:endParaRPr>
          </a:p>
        </p:txBody>
      </p:sp>
      <p:sp>
        <p:nvSpPr>
          <p:cNvPr id="754" name="Text 17"/>
          <p:cNvSpPr/>
          <p:nvPr/>
        </p:nvSpPr>
        <p:spPr>
          <a:xfrm>
            <a:off x="4335120" y="2902320"/>
            <a:ext cx="34041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Maintain seed sources</a:t>
            </a:r>
            <a:endParaRPr b="0" lang="en-HK" sz="880" spc="-1" strike="noStrike">
              <a:latin typeface="Arial"/>
            </a:endParaRPr>
          </a:p>
        </p:txBody>
      </p:sp>
      <p:sp>
        <p:nvSpPr>
          <p:cNvPr id="755" name="Text 18"/>
          <p:cNvSpPr/>
          <p:nvPr/>
        </p:nvSpPr>
        <p:spPr>
          <a:xfrm>
            <a:off x="4335120" y="3093840"/>
            <a:ext cx="34041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Protect dispersers</a:t>
            </a:r>
            <a:endParaRPr b="0" lang="en-HK" sz="880" spc="-1" strike="noStrike">
              <a:latin typeface="Arial"/>
            </a:endParaRPr>
          </a:p>
        </p:txBody>
      </p:sp>
      <p:sp>
        <p:nvSpPr>
          <p:cNvPr id="756" name="Text 19"/>
          <p:cNvSpPr/>
          <p:nvPr/>
        </p:nvSpPr>
        <p:spPr>
          <a:xfrm>
            <a:off x="4335120" y="3285360"/>
            <a:ext cx="34041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Minimize soil disturbance</a:t>
            </a:r>
            <a:endParaRPr b="0" lang="en-HK" sz="880" spc="-1" strike="noStrike">
              <a:latin typeface="Arial"/>
            </a:endParaRPr>
          </a:p>
        </p:txBody>
      </p:sp>
      <p:sp>
        <p:nvSpPr>
          <p:cNvPr id="757" name="Shape 20"/>
          <p:cNvSpPr/>
          <p:nvPr/>
        </p:nvSpPr>
        <p:spPr>
          <a:xfrm>
            <a:off x="318960" y="3859200"/>
            <a:ext cx="3763080" cy="2997000"/>
          </a:xfrm>
          <a:custGeom>
            <a:avLst/>
            <a:gdLst/>
            <a:ahLst/>
            <a:rect l="l" t="t" r="r" b="b"/>
            <a:pathLst>
              <a:path w="3763652" h="2998164">
                <a:moveTo>
                  <a:pt x="95671" y="0"/>
                </a:moveTo>
                <a:lnTo>
                  <a:pt x="3667981" y="0"/>
                </a:lnTo>
                <a:cubicBezTo>
                  <a:pt x="3720819" y="0"/>
                  <a:pt x="3763652" y="42834"/>
                  <a:pt x="3763652" y="95671"/>
                </a:cubicBezTo>
                <a:lnTo>
                  <a:pt x="3763652" y="2902492"/>
                </a:lnTo>
                <a:cubicBezTo>
                  <a:pt x="3763652" y="2955330"/>
                  <a:pt x="3720819" y="2998164"/>
                  <a:pt x="3667981" y="2998164"/>
                </a:cubicBezTo>
                <a:lnTo>
                  <a:pt x="95671" y="2998164"/>
                </a:lnTo>
                <a:cubicBezTo>
                  <a:pt x="42834" y="2998164"/>
                  <a:pt x="0" y="2955330"/>
                  <a:pt x="0" y="2902492"/>
                </a:cubicBezTo>
                <a:lnTo>
                  <a:pt x="0" y="95671"/>
                </a:lnTo>
                <a:cubicBezTo>
                  <a:pt x="0" y="42869"/>
                  <a:pt x="42869" y="0"/>
                  <a:pt x="95671"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758" name="Text 21"/>
          <p:cNvSpPr/>
          <p:nvPr/>
        </p:nvSpPr>
        <p:spPr>
          <a:xfrm>
            <a:off x="446400" y="3987000"/>
            <a:ext cx="3579480" cy="222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2f3e3b"/>
                </a:solidFill>
                <a:latin typeface="Sorts Mill Goudy"/>
                <a:ea typeface="Sorts Mill Goudy"/>
              </a:rPr>
              <a:t>Certification Schemes</a:t>
            </a:r>
            <a:endParaRPr b="0" lang="en-HK" sz="1130" spc="-1" strike="noStrike">
              <a:latin typeface="Arial"/>
            </a:endParaRPr>
          </a:p>
        </p:txBody>
      </p:sp>
      <p:sp>
        <p:nvSpPr>
          <p:cNvPr id="759" name="Shape 22"/>
          <p:cNvSpPr/>
          <p:nvPr/>
        </p:nvSpPr>
        <p:spPr>
          <a:xfrm>
            <a:off x="446400" y="4305960"/>
            <a:ext cx="3507840" cy="700560"/>
          </a:xfrm>
          <a:custGeom>
            <a:avLst/>
            <a:gdLst/>
            <a:ahLst/>
            <a:rect l="l" t="t" r="r" b="b"/>
            <a:pathLst>
              <a:path w="3508489" h="701698">
                <a:moveTo>
                  <a:pt x="63791" y="0"/>
                </a:moveTo>
                <a:lnTo>
                  <a:pt x="3444698" y="0"/>
                </a:lnTo>
                <a:cubicBezTo>
                  <a:pt x="3479929" y="0"/>
                  <a:pt x="3508489" y="28560"/>
                  <a:pt x="3508489" y="63791"/>
                </a:cubicBezTo>
                <a:lnTo>
                  <a:pt x="3508489" y="637906"/>
                </a:lnTo>
                <a:cubicBezTo>
                  <a:pt x="3508489" y="673137"/>
                  <a:pt x="3479929" y="701698"/>
                  <a:pt x="3444698" y="701698"/>
                </a:cubicBezTo>
                <a:lnTo>
                  <a:pt x="63791" y="701698"/>
                </a:lnTo>
                <a:cubicBezTo>
                  <a:pt x="28560" y="701698"/>
                  <a:pt x="0" y="673137"/>
                  <a:pt x="0" y="637906"/>
                </a:cubicBezTo>
                <a:lnTo>
                  <a:pt x="0" y="63791"/>
                </a:lnTo>
                <a:cubicBezTo>
                  <a:pt x="0" y="28560"/>
                  <a:pt x="28560" y="0"/>
                  <a:pt x="63791" y="0"/>
                </a:cubicBezTo>
                <a:close/>
              </a:path>
            </a:pathLst>
          </a:custGeom>
          <a:solidFill>
            <a:srgbClr val="f5f7f6"/>
          </a:solidFill>
          <a:ln w="0">
            <a:noFill/>
          </a:ln>
        </p:spPr>
        <p:style>
          <a:lnRef idx="0"/>
          <a:fillRef idx="0"/>
          <a:effectRef idx="0"/>
          <a:fontRef idx="minor"/>
        </p:style>
      </p:sp>
      <p:sp>
        <p:nvSpPr>
          <p:cNvPr id="760" name="Text 23"/>
          <p:cNvSpPr/>
          <p:nvPr/>
        </p:nvSpPr>
        <p:spPr>
          <a:xfrm>
            <a:off x="542160" y="4401720"/>
            <a:ext cx="3380040" cy="190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FSC (Forest Stewardship Council)</a:t>
            </a:r>
            <a:endParaRPr b="0" lang="en-HK" sz="1010" spc="-1" strike="noStrike">
              <a:latin typeface="Arial"/>
            </a:endParaRPr>
          </a:p>
        </p:txBody>
      </p:sp>
      <p:sp>
        <p:nvSpPr>
          <p:cNvPr id="761" name="Text 24"/>
          <p:cNvSpPr/>
          <p:nvPr/>
        </p:nvSpPr>
        <p:spPr>
          <a:xfrm>
            <a:off x="542160" y="4592880"/>
            <a:ext cx="3372120" cy="317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Environmental, social, economic standards for responsible management</a:t>
            </a:r>
            <a:endParaRPr b="0" lang="en-HK" sz="880" spc="-1" strike="noStrike">
              <a:latin typeface="Arial"/>
            </a:endParaRPr>
          </a:p>
        </p:txBody>
      </p:sp>
      <p:sp>
        <p:nvSpPr>
          <p:cNvPr id="762" name="Shape 25"/>
          <p:cNvSpPr/>
          <p:nvPr/>
        </p:nvSpPr>
        <p:spPr>
          <a:xfrm>
            <a:off x="446400" y="5071320"/>
            <a:ext cx="3507840" cy="700560"/>
          </a:xfrm>
          <a:custGeom>
            <a:avLst/>
            <a:gdLst/>
            <a:ahLst/>
            <a:rect l="l" t="t" r="r" b="b"/>
            <a:pathLst>
              <a:path w="3508489" h="701698">
                <a:moveTo>
                  <a:pt x="63791" y="0"/>
                </a:moveTo>
                <a:lnTo>
                  <a:pt x="3444698" y="0"/>
                </a:lnTo>
                <a:cubicBezTo>
                  <a:pt x="3479929" y="0"/>
                  <a:pt x="3508489" y="28560"/>
                  <a:pt x="3508489" y="63791"/>
                </a:cubicBezTo>
                <a:lnTo>
                  <a:pt x="3508489" y="637906"/>
                </a:lnTo>
                <a:cubicBezTo>
                  <a:pt x="3508489" y="673137"/>
                  <a:pt x="3479929" y="701698"/>
                  <a:pt x="3444698" y="701698"/>
                </a:cubicBezTo>
                <a:lnTo>
                  <a:pt x="63791" y="701698"/>
                </a:lnTo>
                <a:cubicBezTo>
                  <a:pt x="28560" y="701698"/>
                  <a:pt x="0" y="673137"/>
                  <a:pt x="0" y="637906"/>
                </a:cubicBezTo>
                <a:lnTo>
                  <a:pt x="0" y="63791"/>
                </a:lnTo>
                <a:cubicBezTo>
                  <a:pt x="0" y="28560"/>
                  <a:pt x="28560" y="0"/>
                  <a:pt x="63791" y="0"/>
                </a:cubicBezTo>
                <a:close/>
              </a:path>
            </a:pathLst>
          </a:custGeom>
          <a:solidFill>
            <a:srgbClr val="f5f7f6"/>
          </a:solidFill>
          <a:ln w="0">
            <a:noFill/>
          </a:ln>
        </p:spPr>
        <p:style>
          <a:lnRef idx="0"/>
          <a:fillRef idx="0"/>
          <a:effectRef idx="0"/>
          <a:fontRef idx="minor"/>
        </p:style>
      </p:sp>
      <p:sp>
        <p:nvSpPr>
          <p:cNvPr id="763" name="Text 26"/>
          <p:cNvSpPr/>
          <p:nvPr/>
        </p:nvSpPr>
        <p:spPr>
          <a:xfrm>
            <a:off x="542160" y="5167080"/>
            <a:ext cx="3380040" cy="190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PEFC (Programme for Endorsement of Forest Certification)</a:t>
            </a:r>
            <a:endParaRPr b="0" lang="en-HK" sz="1010" spc="-1" strike="noStrike">
              <a:latin typeface="Arial"/>
            </a:endParaRPr>
          </a:p>
        </p:txBody>
      </p:sp>
      <p:sp>
        <p:nvSpPr>
          <p:cNvPr id="764" name="Text 27"/>
          <p:cNvSpPr/>
          <p:nvPr/>
        </p:nvSpPr>
        <p:spPr>
          <a:xfrm>
            <a:off x="542160" y="5358600"/>
            <a:ext cx="3372120" cy="317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Promotes sustainable forest management through independent certification</a:t>
            </a:r>
            <a:endParaRPr b="0" lang="en-HK" sz="880" spc="-1" strike="noStrike">
              <a:latin typeface="Arial"/>
            </a:endParaRPr>
          </a:p>
        </p:txBody>
      </p:sp>
      <p:sp>
        <p:nvSpPr>
          <p:cNvPr id="765" name="Shape 28"/>
          <p:cNvSpPr/>
          <p:nvPr/>
        </p:nvSpPr>
        <p:spPr>
          <a:xfrm>
            <a:off x="4207680" y="3859200"/>
            <a:ext cx="3763080" cy="2997000"/>
          </a:xfrm>
          <a:custGeom>
            <a:avLst/>
            <a:gdLst/>
            <a:ahLst/>
            <a:rect l="l" t="t" r="r" b="b"/>
            <a:pathLst>
              <a:path w="3763652" h="2998164">
                <a:moveTo>
                  <a:pt x="95671" y="0"/>
                </a:moveTo>
                <a:lnTo>
                  <a:pt x="3667981" y="0"/>
                </a:lnTo>
                <a:cubicBezTo>
                  <a:pt x="3720819" y="0"/>
                  <a:pt x="3763652" y="42834"/>
                  <a:pt x="3763652" y="95671"/>
                </a:cubicBezTo>
                <a:lnTo>
                  <a:pt x="3763652" y="2902492"/>
                </a:lnTo>
                <a:cubicBezTo>
                  <a:pt x="3763652" y="2955330"/>
                  <a:pt x="3720819" y="2998164"/>
                  <a:pt x="3667981" y="2998164"/>
                </a:cubicBezTo>
                <a:lnTo>
                  <a:pt x="95671" y="2998164"/>
                </a:lnTo>
                <a:cubicBezTo>
                  <a:pt x="42834" y="2998164"/>
                  <a:pt x="0" y="2955330"/>
                  <a:pt x="0" y="2902492"/>
                </a:cubicBezTo>
                <a:lnTo>
                  <a:pt x="0" y="95671"/>
                </a:lnTo>
                <a:cubicBezTo>
                  <a:pt x="0" y="42869"/>
                  <a:pt x="42869" y="0"/>
                  <a:pt x="95671"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766" name="Text 29"/>
          <p:cNvSpPr/>
          <p:nvPr/>
        </p:nvSpPr>
        <p:spPr>
          <a:xfrm>
            <a:off x="4335120" y="3987000"/>
            <a:ext cx="3579480" cy="222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2f3e3b"/>
                </a:solidFill>
                <a:latin typeface="Sorts Mill Goudy"/>
                <a:ea typeface="Sorts Mill Goudy"/>
              </a:rPr>
              <a:t>Key Interventions</a:t>
            </a:r>
            <a:endParaRPr b="0" lang="en-HK" sz="1130" spc="-1" strike="noStrike">
              <a:latin typeface="Arial"/>
            </a:endParaRPr>
          </a:p>
        </p:txBody>
      </p:sp>
      <p:sp>
        <p:nvSpPr>
          <p:cNvPr id="767" name="Shape 30"/>
          <p:cNvSpPr/>
          <p:nvPr/>
        </p:nvSpPr>
        <p:spPr>
          <a:xfrm>
            <a:off x="4350960" y="4337640"/>
            <a:ext cx="126360" cy="126360"/>
          </a:xfrm>
          <a:custGeom>
            <a:avLst/>
            <a:gdLst/>
            <a:ah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w="0">
            <a:noFill/>
          </a:ln>
        </p:spPr>
        <p:style>
          <a:lnRef idx="0"/>
          <a:fillRef idx="0"/>
          <a:effectRef idx="0"/>
          <a:fontRef idx="minor"/>
        </p:style>
      </p:sp>
      <p:sp>
        <p:nvSpPr>
          <p:cNvPr id="768" name="Text 31"/>
          <p:cNvSpPr/>
          <p:nvPr/>
        </p:nvSpPr>
        <p:spPr>
          <a:xfrm>
            <a:off x="4558320" y="4305960"/>
            <a:ext cx="2837880" cy="190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5f6f6b"/>
                </a:solidFill>
                <a:latin typeface="Quattrocento Sans"/>
                <a:ea typeface="Quattrocento Sans"/>
              </a:rPr>
              <a:t>Extended rotations:</a:t>
            </a:r>
            <a:r>
              <a:rPr b="0" lang="en-US" sz="1010" spc="-1" strike="noStrike">
                <a:solidFill>
                  <a:srgbClr val="5f6f6b"/>
                </a:solidFill>
                <a:latin typeface="Quattrocento Sans"/>
                <a:ea typeface="Quattrocento Sans"/>
              </a:rPr>
              <a:t> Promote structural complexity</a:t>
            </a:r>
            <a:endParaRPr b="0" lang="en-HK" sz="1010" spc="-1" strike="noStrike">
              <a:latin typeface="Arial"/>
            </a:endParaRPr>
          </a:p>
        </p:txBody>
      </p:sp>
      <p:sp>
        <p:nvSpPr>
          <p:cNvPr id="769" name="Shape 32"/>
          <p:cNvSpPr/>
          <p:nvPr/>
        </p:nvSpPr>
        <p:spPr>
          <a:xfrm>
            <a:off x="4350960" y="4592880"/>
            <a:ext cx="126360" cy="126360"/>
          </a:xfrm>
          <a:custGeom>
            <a:avLst/>
            <a:gdLst/>
            <a:ah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w="0">
            <a:noFill/>
          </a:ln>
        </p:spPr>
        <p:style>
          <a:lnRef idx="0"/>
          <a:fillRef idx="0"/>
          <a:effectRef idx="0"/>
          <a:fontRef idx="minor"/>
        </p:style>
      </p:sp>
      <p:sp>
        <p:nvSpPr>
          <p:cNvPr id="770" name="Text 33"/>
          <p:cNvSpPr/>
          <p:nvPr/>
        </p:nvSpPr>
        <p:spPr>
          <a:xfrm>
            <a:off x="4558320" y="4561200"/>
            <a:ext cx="2303640" cy="190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5f6f6b"/>
                </a:solidFill>
                <a:latin typeface="Quattrocento Sans"/>
                <a:ea typeface="Quattrocento Sans"/>
              </a:rPr>
              <a:t>Mixed-species stands:</a:t>
            </a:r>
            <a:r>
              <a:rPr b="0" lang="en-US" sz="1010" spc="-1" strike="noStrike">
                <a:solidFill>
                  <a:srgbClr val="5f6f6b"/>
                </a:solidFill>
                <a:latin typeface="Quattrocento Sans"/>
                <a:ea typeface="Quattrocento Sans"/>
              </a:rPr>
              <a:t> Enhance diversity</a:t>
            </a:r>
            <a:endParaRPr b="0" lang="en-HK" sz="1010" spc="-1" strike="noStrike">
              <a:latin typeface="Arial"/>
            </a:endParaRPr>
          </a:p>
        </p:txBody>
      </p:sp>
      <p:sp>
        <p:nvSpPr>
          <p:cNvPr id="771" name="Shape 34"/>
          <p:cNvSpPr/>
          <p:nvPr/>
        </p:nvSpPr>
        <p:spPr>
          <a:xfrm>
            <a:off x="4350960" y="4848120"/>
            <a:ext cx="126360" cy="126360"/>
          </a:xfrm>
          <a:custGeom>
            <a:avLst/>
            <a:gdLst/>
            <a:ah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w="0">
            <a:noFill/>
          </a:ln>
        </p:spPr>
        <p:style>
          <a:lnRef idx="0"/>
          <a:fillRef idx="0"/>
          <a:effectRef idx="0"/>
          <a:fontRef idx="minor"/>
        </p:style>
      </p:sp>
      <p:sp>
        <p:nvSpPr>
          <p:cNvPr id="772" name="Text 35"/>
          <p:cNvSpPr/>
          <p:nvPr/>
        </p:nvSpPr>
        <p:spPr>
          <a:xfrm>
            <a:off x="4558320" y="4816080"/>
            <a:ext cx="2152080" cy="190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5f6f6b"/>
                </a:solidFill>
                <a:latin typeface="Quattrocento Sans"/>
                <a:ea typeface="Quattrocento Sans"/>
              </a:rPr>
              <a:t>Retention forestry:</a:t>
            </a:r>
            <a:r>
              <a:rPr b="0" lang="en-US" sz="1010" spc="-1" strike="noStrike">
                <a:solidFill>
                  <a:srgbClr val="5f6f6b"/>
                </a:solidFill>
                <a:latin typeface="Quattrocento Sans"/>
                <a:ea typeface="Quattrocento Sans"/>
              </a:rPr>
              <a:t> Leave habitat trees</a:t>
            </a:r>
            <a:endParaRPr b="0" lang="en-HK" sz="1010" spc="-1" strike="noStrike">
              <a:latin typeface="Arial"/>
            </a:endParaRPr>
          </a:p>
        </p:txBody>
      </p:sp>
      <p:sp>
        <p:nvSpPr>
          <p:cNvPr id="773" name="Shape 36"/>
          <p:cNvSpPr/>
          <p:nvPr/>
        </p:nvSpPr>
        <p:spPr>
          <a:xfrm>
            <a:off x="4350960" y="5103360"/>
            <a:ext cx="126360" cy="126360"/>
          </a:xfrm>
          <a:custGeom>
            <a:avLst/>
            <a:gdLst/>
            <a:ah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w="0">
            <a:noFill/>
          </a:ln>
        </p:spPr>
        <p:style>
          <a:lnRef idx="0"/>
          <a:fillRef idx="0"/>
          <a:effectRef idx="0"/>
          <a:fontRef idx="minor"/>
        </p:style>
      </p:sp>
      <p:sp>
        <p:nvSpPr>
          <p:cNvPr id="774" name="Text 37"/>
          <p:cNvSpPr/>
          <p:nvPr/>
        </p:nvSpPr>
        <p:spPr>
          <a:xfrm>
            <a:off x="4558320" y="5071320"/>
            <a:ext cx="2263680" cy="190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5f6f6b"/>
                </a:solidFill>
                <a:latin typeface="Quattrocento Sans"/>
                <a:ea typeface="Quattrocento Sans"/>
              </a:rPr>
              <a:t>Ecological corridors:</a:t>
            </a:r>
            <a:r>
              <a:rPr b="0" lang="en-US" sz="1010" spc="-1" strike="noStrike">
                <a:solidFill>
                  <a:srgbClr val="5f6f6b"/>
                </a:solidFill>
                <a:latin typeface="Quattrocento Sans"/>
                <a:ea typeface="Quattrocento Sans"/>
              </a:rPr>
              <a:t> Connect fragments</a:t>
            </a:r>
            <a:endParaRPr b="0" lang="en-HK" sz="1010" spc="-1" strike="noStrike">
              <a:latin typeface="Arial"/>
            </a:endParaRPr>
          </a:p>
        </p:txBody>
      </p:sp>
      <p:sp>
        <p:nvSpPr>
          <p:cNvPr id="775" name="Shape 38"/>
          <p:cNvSpPr/>
          <p:nvPr/>
        </p:nvSpPr>
        <p:spPr>
          <a:xfrm>
            <a:off x="8127720" y="1307880"/>
            <a:ext cx="3746880" cy="1976400"/>
          </a:xfrm>
          <a:custGeom>
            <a:avLst/>
            <a:gdLst/>
            <a:ahLst/>
            <a:rect l="l" t="t" r="r" b="b"/>
            <a:pathLst>
              <a:path w="3747704" h="1977512">
                <a:moveTo>
                  <a:pt x="95692" y="0"/>
                </a:moveTo>
                <a:lnTo>
                  <a:pt x="3652013" y="0"/>
                </a:lnTo>
                <a:cubicBezTo>
                  <a:pt x="3704862" y="0"/>
                  <a:pt x="3747704" y="42843"/>
                  <a:pt x="3747704" y="95692"/>
                </a:cubicBezTo>
                <a:lnTo>
                  <a:pt x="3747704" y="1881820"/>
                </a:lnTo>
                <a:cubicBezTo>
                  <a:pt x="3747704" y="1934669"/>
                  <a:pt x="3704862" y="1977512"/>
                  <a:pt x="3652013" y="1977512"/>
                </a:cubicBezTo>
                <a:lnTo>
                  <a:pt x="95692" y="1977512"/>
                </a:lnTo>
                <a:cubicBezTo>
                  <a:pt x="42843" y="1977512"/>
                  <a:pt x="0" y="1934669"/>
                  <a:pt x="0" y="1881820"/>
                </a:cubicBezTo>
                <a:lnTo>
                  <a:pt x="0" y="95692"/>
                </a:lnTo>
                <a:cubicBezTo>
                  <a:pt x="0" y="42843"/>
                  <a:pt x="42843" y="0"/>
                  <a:pt x="95692" y="0"/>
                </a:cubicBezTo>
                <a:close/>
              </a:path>
            </a:pathLst>
          </a:custGeom>
          <a:solidFill>
            <a:srgbClr val="4c8a7a"/>
          </a:solidFill>
          <a:ln w="0">
            <a:noFill/>
          </a:ln>
        </p:spPr>
        <p:style>
          <a:lnRef idx="0"/>
          <a:fillRef idx="0"/>
          <a:effectRef idx="0"/>
          <a:fontRef idx="minor"/>
        </p:style>
      </p:sp>
      <p:sp>
        <p:nvSpPr>
          <p:cNvPr id="776" name="Text 39"/>
          <p:cNvSpPr/>
          <p:nvPr/>
        </p:nvSpPr>
        <p:spPr>
          <a:xfrm>
            <a:off x="8287560" y="1467360"/>
            <a:ext cx="3499920" cy="222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Sorts Mill Goudy"/>
                <a:ea typeface="Sorts Mill Goudy"/>
              </a:rPr>
              <a:t>Protected Area Strategies</a:t>
            </a:r>
            <a:endParaRPr b="0" lang="en-HK" sz="1130" spc="-1" strike="noStrike">
              <a:latin typeface="Arial"/>
            </a:endParaRPr>
          </a:p>
        </p:txBody>
      </p:sp>
      <p:sp>
        <p:nvSpPr>
          <p:cNvPr id="777" name="Shape 40"/>
          <p:cNvSpPr/>
          <p:nvPr/>
        </p:nvSpPr>
        <p:spPr>
          <a:xfrm>
            <a:off x="8295480" y="1818000"/>
            <a:ext cx="126360" cy="126360"/>
          </a:xfrm>
          <a:custGeom>
            <a:avLst/>
            <a:gdLst/>
            <a:ahLst/>
            <a:rect l="l" t="t" r="r" b="b"/>
            <a:pathLst>
              <a:path w="127581" h="127581">
                <a:moveTo>
                  <a:pt x="63791" y="0"/>
                </a:moveTo>
                <a:cubicBezTo>
                  <a:pt x="64937" y="0"/>
                  <a:pt x="66083" y="249"/>
                  <a:pt x="67130" y="723"/>
                </a:cubicBezTo>
                <a:lnTo>
                  <a:pt x="114076" y="20632"/>
                </a:lnTo>
                <a:cubicBezTo>
                  <a:pt x="119558" y="22950"/>
                  <a:pt x="123644" y="28357"/>
                  <a:pt x="123619" y="34886"/>
                </a:cubicBezTo>
                <a:cubicBezTo>
                  <a:pt x="123495" y="59604"/>
                  <a:pt x="113328" y="104831"/>
                  <a:pt x="70394" y="125389"/>
                </a:cubicBezTo>
                <a:cubicBezTo>
                  <a:pt x="66233" y="127382"/>
                  <a:pt x="61399" y="127382"/>
                  <a:pt x="57237" y="125389"/>
                </a:cubicBezTo>
                <a:cubicBezTo>
                  <a:pt x="14278" y="104831"/>
                  <a:pt x="4136" y="59604"/>
                  <a:pt x="4012" y="34886"/>
                </a:cubicBezTo>
                <a:cubicBezTo>
                  <a:pt x="3987" y="28357"/>
                  <a:pt x="8074" y="22950"/>
                  <a:pt x="13556" y="20632"/>
                </a:cubicBezTo>
                <a:lnTo>
                  <a:pt x="60477" y="723"/>
                </a:lnTo>
                <a:cubicBezTo>
                  <a:pt x="61523" y="249"/>
                  <a:pt x="62644" y="0"/>
                  <a:pt x="63791" y="0"/>
                </a:cubicBezTo>
                <a:close/>
                <a:moveTo>
                  <a:pt x="63791" y="16645"/>
                </a:moveTo>
                <a:lnTo>
                  <a:pt x="63791" y="110861"/>
                </a:lnTo>
                <a:cubicBezTo>
                  <a:pt x="98178" y="94216"/>
                  <a:pt x="107423" y="57337"/>
                  <a:pt x="107647" y="35259"/>
                </a:cubicBezTo>
                <a:lnTo>
                  <a:pt x="63791" y="16670"/>
                </a:lnTo>
                <a:lnTo>
                  <a:pt x="63791" y="16670"/>
                </a:lnTo>
                <a:close/>
              </a:path>
            </a:pathLst>
          </a:custGeom>
          <a:solidFill>
            <a:srgbClr val="ffffff"/>
          </a:solidFill>
          <a:ln w="0">
            <a:noFill/>
          </a:ln>
        </p:spPr>
        <p:style>
          <a:lnRef idx="0"/>
          <a:fillRef idx="0"/>
          <a:effectRef idx="0"/>
          <a:fontRef idx="minor"/>
        </p:style>
      </p:sp>
      <p:sp>
        <p:nvSpPr>
          <p:cNvPr id="778" name="Text 41"/>
          <p:cNvSpPr/>
          <p:nvPr/>
        </p:nvSpPr>
        <p:spPr>
          <a:xfrm>
            <a:off x="8496720" y="1786320"/>
            <a:ext cx="3276360" cy="381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solidFill>
                <a:latin typeface="Quattrocento Sans"/>
                <a:ea typeface="Quattrocento Sans"/>
              </a:rPr>
              <a:t>Prioritize unprotected hotspots:</a:t>
            </a:r>
            <a:r>
              <a:rPr b="0" lang="en-US" sz="1010" spc="-1" strike="noStrike">
                <a:solidFill>
                  <a:srgbClr val="ffffff"/>
                </a:solidFill>
                <a:latin typeface="Quattrocento Sans"/>
                <a:ea typeface="Quattrocento Sans"/>
              </a:rPr>
              <a:t> High biodiversity + carbon areas</a:t>
            </a:r>
            <a:endParaRPr b="0" lang="en-HK" sz="1010" spc="-1" strike="noStrike">
              <a:latin typeface="Arial"/>
            </a:endParaRPr>
          </a:p>
        </p:txBody>
      </p:sp>
      <p:sp>
        <p:nvSpPr>
          <p:cNvPr id="779" name="Shape 42"/>
          <p:cNvSpPr/>
          <p:nvPr/>
        </p:nvSpPr>
        <p:spPr>
          <a:xfrm>
            <a:off x="8291520" y="2296440"/>
            <a:ext cx="126360" cy="126360"/>
          </a:xfrm>
          <a:custGeom>
            <a:avLst/>
            <a:gdLst/>
            <a:ahLst/>
            <a:rect l="l" t="t" r="r" b="b"/>
            <a:pathLst>
              <a:path w="127581" h="127581">
                <a:moveTo>
                  <a:pt x="63791" y="0"/>
                </a:moveTo>
                <a:cubicBezTo>
                  <a:pt x="64937" y="0"/>
                  <a:pt x="66083" y="249"/>
                  <a:pt x="67130" y="723"/>
                </a:cubicBezTo>
                <a:lnTo>
                  <a:pt x="114076" y="20632"/>
                </a:lnTo>
                <a:cubicBezTo>
                  <a:pt x="119558" y="22950"/>
                  <a:pt x="123644" y="28357"/>
                  <a:pt x="123619" y="34886"/>
                </a:cubicBezTo>
                <a:cubicBezTo>
                  <a:pt x="123495" y="59604"/>
                  <a:pt x="113328" y="104831"/>
                  <a:pt x="70394" y="125389"/>
                </a:cubicBezTo>
                <a:cubicBezTo>
                  <a:pt x="66233" y="127382"/>
                  <a:pt x="61399" y="127382"/>
                  <a:pt x="57237" y="125389"/>
                </a:cubicBezTo>
                <a:cubicBezTo>
                  <a:pt x="14278" y="104831"/>
                  <a:pt x="4136" y="59604"/>
                  <a:pt x="4012" y="34886"/>
                </a:cubicBezTo>
                <a:cubicBezTo>
                  <a:pt x="3987" y="28357"/>
                  <a:pt x="8074" y="22950"/>
                  <a:pt x="13556" y="20632"/>
                </a:cubicBezTo>
                <a:lnTo>
                  <a:pt x="60477" y="723"/>
                </a:lnTo>
                <a:cubicBezTo>
                  <a:pt x="61523" y="249"/>
                  <a:pt x="62644" y="0"/>
                  <a:pt x="63791" y="0"/>
                </a:cubicBezTo>
                <a:close/>
                <a:moveTo>
                  <a:pt x="63791" y="16645"/>
                </a:moveTo>
                <a:lnTo>
                  <a:pt x="63791" y="110861"/>
                </a:lnTo>
                <a:cubicBezTo>
                  <a:pt x="98178" y="94216"/>
                  <a:pt x="107423" y="57337"/>
                  <a:pt x="107647" y="35259"/>
                </a:cubicBezTo>
                <a:lnTo>
                  <a:pt x="63791" y="16670"/>
                </a:lnTo>
                <a:lnTo>
                  <a:pt x="63791" y="16670"/>
                </a:lnTo>
                <a:close/>
              </a:path>
            </a:pathLst>
          </a:custGeom>
          <a:solidFill>
            <a:srgbClr val="ffffff"/>
          </a:solidFill>
          <a:ln w="0">
            <a:noFill/>
          </a:ln>
        </p:spPr>
        <p:style>
          <a:lnRef idx="0"/>
          <a:fillRef idx="0"/>
          <a:effectRef idx="0"/>
          <a:fontRef idx="minor"/>
        </p:style>
      </p:sp>
      <p:sp>
        <p:nvSpPr>
          <p:cNvPr id="780" name="Text 43"/>
          <p:cNvSpPr/>
          <p:nvPr/>
        </p:nvSpPr>
        <p:spPr>
          <a:xfrm>
            <a:off x="8486640" y="2264400"/>
            <a:ext cx="3292560" cy="381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solidFill>
                <a:latin typeface="Quattrocento Sans"/>
                <a:ea typeface="Quattrocento Sans"/>
              </a:rPr>
              <a:t>Manage low-stability areas:</a:t>
            </a:r>
            <a:r>
              <a:rPr b="0" lang="en-US" sz="1010" spc="-1" strike="noStrike">
                <a:solidFill>
                  <a:srgbClr val="ffffff"/>
                </a:solidFill>
                <a:latin typeface="Quattrocento Sans"/>
                <a:ea typeface="Quattrocento Sans"/>
              </a:rPr>
              <a:t> Active intervention in protected hotspots</a:t>
            </a:r>
            <a:endParaRPr b="0" lang="en-HK" sz="1010" spc="-1" strike="noStrike">
              <a:latin typeface="Arial"/>
            </a:endParaRPr>
          </a:p>
        </p:txBody>
      </p:sp>
      <p:sp>
        <p:nvSpPr>
          <p:cNvPr id="781" name="Shape 44"/>
          <p:cNvSpPr/>
          <p:nvPr/>
        </p:nvSpPr>
        <p:spPr>
          <a:xfrm>
            <a:off x="8295480" y="2774880"/>
            <a:ext cx="126360" cy="126360"/>
          </a:xfrm>
          <a:custGeom>
            <a:avLst/>
            <a:gdLst/>
            <a:ahLst/>
            <a:rect l="l" t="t" r="r" b="b"/>
            <a:pathLst>
              <a:path w="127581" h="127581">
                <a:moveTo>
                  <a:pt x="63791" y="0"/>
                </a:moveTo>
                <a:cubicBezTo>
                  <a:pt x="64937" y="0"/>
                  <a:pt x="66083" y="249"/>
                  <a:pt x="67130" y="723"/>
                </a:cubicBezTo>
                <a:lnTo>
                  <a:pt x="114076" y="20632"/>
                </a:lnTo>
                <a:cubicBezTo>
                  <a:pt x="119558" y="22950"/>
                  <a:pt x="123644" y="28357"/>
                  <a:pt x="123619" y="34886"/>
                </a:cubicBezTo>
                <a:cubicBezTo>
                  <a:pt x="123495" y="59604"/>
                  <a:pt x="113328" y="104831"/>
                  <a:pt x="70394" y="125389"/>
                </a:cubicBezTo>
                <a:cubicBezTo>
                  <a:pt x="66233" y="127382"/>
                  <a:pt x="61399" y="127382"/>
                  <a:pt x="57237" y="125389"/>
                </a:cubicBezTo>
                <a:cubicBezTo>
                  <a:pt x="14278" y="104831"/>
                  <a:pt x="4136" y="59604"/>
                  <a:pt x="4012" y="34886"/>
                </a:cubicBezTo>
                <a:cubicBezTo>
                  <a:pt x="3987" y="28357"/>
                  <a:pt x="8074" y="22950"/>
                  <a:pt x="13556" y="20632"/>
                </a:cubicBezTo>
                <a:lnTo>
                  <a:pt x="60477" y="723"/>
                </a:lnTo>
                <a:cubicBezTo>
                  <a:pt x="61523" y="249"/>
                  <a:pt x="62644" y="0"/>
                  <a:pt x="63791" y="0"/>
                </a:cubicBezTo>
                <a:close/>
                <a:moveTo>
                  <a:pt x="63791" y="16645"/>
                </a:moveTo>
                <a:lnTo>
                  <a:pt x="63791" y="110861"/>
                </a:lnTo>
                <a:cubicBezTo>
                  <a:pt x="98178" y="94216"/>
                  <a:pt x="107423" y="57337"/>
                  <a:pt x="107647" y="35259"/>
                </a:cubicBezTo>
                <a:lnTo>
                  <a:pt x="63791" y="16670"/>
                </a:lnTo>
                <a:lnTo>
                  <a:pt x="63791" y="16670"/>
                </a:lnTo>
                <a:close/>
              </a:path>
            </a:pathLst>
          </a:custGeom>
          <a:solidFill>
            <a:srgbClr val="ffffff"/>
          </a:solidFill>
          <a:ln w="0">
            <a:noFill/>
          </a:ln>
        </p:spPr>
        <p:style>
          <a:lnRef idx="0"/>
          <a:fillRef idx="0"/>
          <a:effectRef idx="0"/>
          <a:fontRef idx="minor"/>
        </p:style>
      </p:sp>
      <p:sp>
        <p:nvSpPr>
          <p:cNvPr id="782" name="Text 45"/>
          <p:cNvSpPr/>
          <p:nvPr/>
        </p:nvSpPr>
        <p:spPr>
          <a:xfrm>
            <a:off x="8492760" y="2742840"/>
            <a:ext cx="3284640" cy="381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solidFill>
                <a:latin typeface="Quattrocento Sans"/>
                <a:ea typeface="Quattrocento Sans"/>
              </a:rPr>
              <a:t>Comprehensive protection:</a:t>
            </a:r>
            <a:r>
              <a:rPr b="0" lang="en-US" sz="1010" spc="-1" strike="noStrike">
                <a:solidFill>
                  <a:srgbClr val="ffffff"/>
                </a:solidFill>
                <a:latin typeface="Quattrocento Sans"/>
                <a:ea typeface="Quattrocento Sans"/>
              </a:rPr>
              <a:t> Integrated regime for vulnerable areas</a:t>
            </a:r>
            <a:endParaRPr b="0" lang="en-HK" sz="1010" spc="-1" strike="noStrike">
              <a:latin typeface="Arial"/>
            </a:endParaRPr>
          </a:p>
        </p:txBody>
      </p:sp>
      <p:sp>
        <p:nvSpPr>
          <p:cNvPr id="783" name="Shape 46"/>
          <p:cNvSpPr/>
          <p:nvPr/>
        </p:nvSpPr>
        <p:spPr>
          <a:xfrm>
            <a:off x="8127720" y="3412800"/>
            <a:ext cx="3746880" cy="2550600"/>
          </a:xfrm>
          <a:custGeom>
            <a:avLst/>
            <a:gdLst/>
            <a:ahLst/>
            <a:rect l="l" t="t" r="r" b="b"/>
            <a:pathLst>
              <a:path w="3747704" h="2551629">
                <a:moveTo>
                  <a:pt x="95686" y="0"/>
                </a:moveTo>
                <a:lnTo>
                  <a:pt x="3652018" y="0"/>
                </a:lnTo>
                <a:cubicBezTo>
                  <a:pt x="3704864" y="0"/>
                  <a:pt x="3747704" y="42840"/>
                  <a:pt x="3747704" y="95686"/>
                </a:cubicBezTo>
                <a:lnTo>
                  <a:pt x="3747704" y="2455942"/>
                </a:lnTo>
                <a:cubicBezTo>
                  <a:pt x="3747704" y="2508788"/>
                  <a:pt x="3704864" y="2551629"/>
                  <a:pt x="3652018" y="2551629"/>
                </a:cubicBezTo>
                <a:lnTo>
                  <a:pt x="95686" y="2551629"/>
                </a:lnTo>
                <a:cubicBezTo>
                  <a:pt x="42840" y="2551629"/>
                  <a:pt x="0" y="2508788"/>
                  <a:pt x="0" y="2455942"/>
                </a:cubicBezTo>
                <a:lnTo>
                  <a:pt x="0" y="95686"/>
                </a:lnTo>
                <a:cubicBezTo>
                  <a:pt x="0" y="42875"/>
                  <a:pt x="42875" y="0"/>
                  <a:pt x="95686"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784" name="Text 47"/>
          <p:cNvSpPr/>
          <p:nvPr/>
        </p:nvSpPr>
        <p:spPr>
          <a:xfrm>
            <a:off x="8287560" y="3572280"/>
            <a:ext cx="3499920" cy="222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2f3e3b"/>
                </a:solidFill>
                <a:latin typeface="Sorts Mill Goudy"/>
                <a:ea typeface="Sorts Mill Goudy"/>
              </a:rPr>
              <a:t>Community Engagement</a:t>
            </a:r>
            <a:endParaRPr b="0" lang="en-HK" sz="1130" spc="-1" strike="noStrike">
              <a:latin typeface="Arial"/>
            </a:endParaRPr>
          </a:p>
        </p:txBody>
      </p:sp>
      <p:sp>
        <p:nvSpPr>
          <p:cNvPr id="785" name="Shape 48"/>
          <p:cNvSpPr/>
          <p:nvPr/>
        </p:nvSpPr>
        <p:spPr>
          <a:xfrm>
            <a:off x="8287560" y="3891240"/>
            <a:ext cx="3427920" cy="573120"/>
          </a:xfrm>
          <a:custGeom>
            <a:avLst/>
            <a:gdLst/>
            <a:ahLst/>
            <a:rect l="l" t="t" r="r" b="b"/>
            <a:pathLst>
              <a:path w="3428751" h="574116">
                <a:moveTo>
                  <a:pt x="63790" y="0"/>
                </a:moveTo>
                <a:lnTo>
                  <a:pt x="3364961" y="0"/>
                </a:lnTo>
                <a:cubicBezTo>
                  <a:pt x="3400191" y="0"/>
                  <a:pt x="3428751" y="28560"/>
                  <a:pt x="3428751" y="63790"/>
                </a:cubicBezTo>
                <a:lnTo>
                  <a:pt x="3428751" y="510326"/>
                </a:lnTo>
                <a:cubicBezTo>
                  <a:pt x="3428751" y="545557"/>
                  <a:pt x="3400191" y="574116"/>
                  <a:pt x="3364961" y="574116"/>
                </a:cubicBezTo>
                <a:lnTo>
                  <a:pt x="63790" y="574116"/>
                </a:lnTo>
                <a:cubicBezTo>
                  <a:pt x="28560" y="574116"/>
                  <a:pt x="0" y="545557"/>
                  <a:pt x="0" y="510326"/>
                </a:cubicBezTo>
                <a:lnTo>
                  <a:pt x="0" y="63790"/>
                </a:lnTo>
                <a:cubicBezTo>
                  <a:pt x="0" y="28560"/>
                  <a:pt x="28560" y="0"/>
                  <a:pt x="63790" y="0"/>
                </a:cubicBezTo>
                <a:close/>
              </a:path>
            </a:pathLst>
          </a:custGeom>
          <a:solidFill>
            <a:srgbClr val="f5f7f6"/>
          </a:solidFill>
          <a:ln w="0">
            <a:noFill/>
          </a:ln>
        </p:spPr>
        <p:style>
          <a:lnRef idx="0"/>
          <a:fillRef idx="0"/>
          <a:effectRef idx="0"/>
          <a:fontRef idx="minor"/>
        </p:style>
      </p:sp>
      <p:sp>
        <p:nvSpPr>
          <p:cNvPr id="786" name="Text 49"/>
          <p:cNvSpPr/>
          <p:nvPr/>
        </p:nvSpPr>
        <p:spPr>
          <a:xfrm>
            <a:off x="8383320" y="3987000"/>
            <a:ext cx="3300480" cy="190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Community Forestry</a:t>
            </a:r>
            <a:endParaRPr b="0" lang="en-HK" sz="1010" spc="-1" strike="noStrike">
              <a:latin typeface="Arial"/>
            </a:endParaRPr>
          </a:p>
        </p:txBody>
      </p:sp>
      <p:sp>
        <p:nvSpPr>
          <p:cNvPr id="787" name="Text 50"/>
          <p:cNvSpPr/>
          <p:nvPr/>
        </p:nvSpPr>
        <p:spPr>
          <a:xfrm>
            <a:off x="8383320" y="4210200"/>
            <a:ext cx="32925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Local stewardship and sustainable livelihoods</a:t>
            </a:r>
            <a:endParaRPr b="0" lang="en-HK" sz="880" spc="-1" strike="noStrike">
              <a:latin typeface="Arial"/>
            </a:endParaRPr>
          </a:p>
        </p:txBody>
      </p:sp>
      <p:sp>
        <p:nvSpPr>
          <p:cNvPr id="788" name="Shape 51"/>
          <p:cNvSpPr/>
          <p:nvPr/>
        </p:nvSpPr>
        <p:spPr>
          <a:xfrm>
            <a:off x="8287560" y="4561200"/>
            <a:ext cx="3427920" cy="573120"/>
          </a:xfrm>
          <a:custGeom>
            <a:avLst/>
            <a:gdLst/>
            <a:ahLst/>
            <a:rect l="l" t="t" r="r" b="b"/>
            <a:pathLst>
              <a:path w="3428751" h="574116">
                <a:moveTo>
                  <a:pt x="63790" y="0"/>
                </a:moveTo>
                <a:lnTo>
                  <a:pt x="3364961" y="0"/>
                </a:lnTo>
                <a:cubicBezTo>
                  <a:pt x="3400191" y="0"/>
                  <a:pt x="3428751" y="28560"/>
                  <a:pt x="3428751" y="63790"/>
                </a:cubicBezTo>
                <a:lnTo>
                  <a:pt x="3428751" y="510326"/>
                </a:lnTo>
                <a:cubicBezTo>
                  <a:pt x="3428751" y="545557"/>
                  <a:pt x="3400191" y="574116"/>
                  <a:pt x="3364961" y="574116"/>
                </a:cubicBezTo>
                <a:lnTo>
                  <a:pt x="63790" y="574116"/>
                </a:lnTo>
                <a:cubicBezTo>
                  <a:pt x="28560" y="574116"/>
                  <a:pt x="0" y="545557"/>
                  <a:pt x="0" y="510326"/>
                </a:cubicBezTo>
                <a:lnTo>
                  <a:pt x="0" y="63790"/>
                </a:lnTo>
                <a:cubicBezTo>
                  <a:pt x="0" y="28560"/>
                  <a:pt x="28560" y="0"/>
                  <a:pt x="63790" y="0"/>
                </a:cubicBezTo>
                <a:close/>
              </a:path>
            </a:pathLst>
          </a:custGeom>
          <a:solidFill>
            <a:srgbClr val="f5f7f6"/>
          </a:solidFill>
          <a:ln w="0">
            <a:noFill/>
          </a:ln>
        </p:spPr>
        <p:style>
          <a:lnRef idx="0"/>
          <a:fillRef idx="0"/>
          <a:effectRef idx="0"/>
          <a:fontRef idx="minor"/>
        </p:style>
      </p:sp>
      <p:sp>
        <p:nvSpPr>
          <p:cNvPr id="789" name="Text 52"/>
          <p:cNvSpPr/>
          <p:nvPr/>
        </p:nvSpPr>
        <p:spPr>
          <a:xfrm>
            <a:off x="8383320" y="4656600"/>
            <a:ext cx="3300480" cy="190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Indigenous Rights</a:t>
            </a:r>
            <a:endParaRPr b="0" lang="en-HK" sz="1010" spc="-1" strike="noStrike">
              <a:latin typeface="Arial"/>
            </a:endParaRPr>
          </a:p>
        </p:txBody>
      </p:sp>
      <p:sp>
        <p:nvSpPr>
          <p:cNvPr id="790" name="Text 53"/>
          <p:cNvSpPr/>
          <p:nvPr/>
        </p:nvSpPr>
        <p:spPr>
          <a:xfrm>
            <a:off x="8383320" y="4880160"/>
            <a:ext cx="32925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Recognize traditional knowledge and land tenure</a:t>
            </a:r>
            <a:endParaRPr b="0" lang="en-HK" sz="880" spc="-1" strike="noStrike">
              <a:latin typeface="Arial"/>
            </a:endParaRPr>
          </a:p>
        </p:txBody>
      </p:sp>
      <p:sp>
        <p:nvSpPr>
          <p:cNvPr id="791" name="Shape 54"/>
          <p:cNvSpPr/>
          <p:nvPr/>
        </p:nvSpPr>
        <p:spPr>
          <a:xfrm>
            <a:off x="8287560" y="5230800"/>
            <a:ext cx="3427920" cy="573120"/>
          </a:xfrm>
          <a:custGeom>
            <a:avLst/>
            <a:gdLst/>
            <a:ahLst/>
            <a:rect l="l" t="t" r="r" b="b"/>
            <a:pathLst>
              <a:path w="3428751" h="574116">
                <a:moveTo>
                  <a:pt x="63790" y="0"/>
                </a:moveTo>
                <a:lnTo>
                  <a:pt x="3364961" y="0"/>
                </a:lnTo>
                <a:cubicBezTo>
                  <a:pt x="3400191" y="0"/>
                  <a:pt x="3428751" y="28560"/>
                  <a:pt x="3428751" y="63790"/>
                </a:cubicBezTo>
                <a:lnTo>
                  <a:pt x="3428751" y="510326"/>
                </a:lnTo>
                <a:cubicBezTo>
                  <a:pt x="3428751" y="545557"/>
                  <a:pt x="3400191" y="574116"/>
                  <a:pt x="3364961" y="574116"/>
                </a:cubicBezTo>
                <a:lnTo>
                  <a:pt x="63790" y="574116"/>
                </a:lnTo>
                <a:cubicBezTo>
                  <a:pt x="28560" y="574116"/>
                  <a:pt x="0" y="545557"/>
                  <a:pt x="0" y="510326"/>
                </a:cubicBezTo>
                <a:lnTo>
                  <a:pt x="0" y="63790"/>
                </a:lnTo>
                <a:cubicBezTo>
                  <a:pt x="0" y="28560"/>
                  <a:pt x="28560" y="0"/>
                  <a:pt x="63790" y="0"/>
                </a:cubicBezTo>
                <a:close/>
              </a:path>
            </a:pathLst>
          </a:custGeom>
          <a:solidFill>
            <a:srgbClr val="f5f7f6"/>
          </a:solidFill>
          <a:ln w="0">
            <a:noFill/>
          </a:ln>
        </p:spPr>
        <p:style>
          <a:lnRef idx="0"/>
          <a:fillRef idx="0"/>
          <a:effectRef idx="0"/>
          <a:fontRef idx="minor"/>
        </p:style>
      </p:sp>
      <p:sp>
        <p:nvSpPr>
          <p:cNvPr id="792" name="Text 55"/>
          <p:cNvSpPr/>
          <p:nvPr/>
        </p:nvSpPr>
        <p:spPr>
          <a:xfrm>
            <a:off x="8383320" y="5326560"/>
            <a:ext cx="3300480" cy="190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Payment for Ecosystem Services</a:t>
            </a:r>
            <a:endParaRPr b="0" lang="en-HK" sz="1010" spc="-1" strike="noStrike">
              <a:latin typeface="Arial"/>
            </a:endParaRPr>
          </a:p>
        </p:txBody>
      </p:sp>
      <p:sp>
        <p:nvSpPr>
          <p:cNvPr id="793" name="Text 56"/>
          <p:cNvSpPr/>
          <p:nvPr/>
        </p:nvSpPr>
        <p:spPr>
          <a:xfrm>
            <a:off x="8383320" y="5549760"/>
            <a:ext cx="3292560" cy="158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Compensate landowners for conservation</a:t>
            </a:r>
            <a:endParaRPr b="0" lang="en-HK" sz="880" spc="-1" strike="noStrike">
              <a:latin typeface="Arial"/>
            </a:endParaRPr>
          </a:p>
        </p:txBody>
      </p:sp>
      <p:sp>
        <p:nvSpPr>
          <p:cNvPr id="794" name="Shape 57"/>
          <p:cNvSpPr/>
          <p:nvPr/>
        </p:nvSpPr>
        <p:spPr>
          <a:xfrm>
            <a:off x="8127720" y="6091920"/>
            <a:ext cx="3746880" cy="764280"/>
          </a:xfrm>
          <a:custGeom>
            <a:avLst/>
            <a:gdLst/>
            <a:ahLst/>
            <a:rect l="l" t="t" r="r" b="b"/>
            <a:pathLst>
              <a:path w="3747704" h="765489">
                <a:moveTo>
                  <a:pt x="95686" y="0"/>
                </a:moveTo>
                <a:lnTo>
                  <a:pt x="3652018" y="0"/>
                </a:lnTo>
                <a:cubicBezTo>
                  <a:pt x="3704864" y="0"/>
                  <a:pt x="3747704" y="42840"/>
                  <a:pt x="3747704" y="95686"/>
                </a:cubicBezTo>
                <a:lnTo>
                  <a:pt x="3747704" y="669802"/>
                </a:lnTo>
                <a:cubicBezTo>
                  <a:pt x="3747704" y="722648"/>
                  <a:pt x="3704864" y="765489"/>
                  <a:pt x="3652018" y="765489"/>
                </a:cubicBezTo>
                <a:lnTo>
                  <a:pt x="95686" y="765489"/>
                </a:lnTo>
                <a:cubicBezTo>
                  <a:pt x="42875" y="765489"/>
                  <a:pt x="0" y="722613"/>
                  <a:pt x="0" y="669802"/>
                </a:cubicBezTo>
                <a:lnTo>
                  <a:pt x="0" y="95686"/>
                </a:lnTo>
                <a:cubicBezTo>
                  <a:pt x="0" y="42875"/>
                  <a:pt x="42875" y="0"/>
                  <a:pt x="95686" y="0"/>
                </a:cubicBezTo>
                <a:close/>
              </a:path>
            </a:pathLst>
          </a:custGeom>
          <a:solidFill>
            <a:srgbClr val="2f3e3b"/>
          </a:solidFill>
          <a:ln w="0">
            <a:noFill/>
          </a:ln>
        </p:spPr>
        <p:style>
          <a:lnRef idx="0"/>
          <a:fillRef idx="0"/>
          <a:effectRef idx="0"/>
          <a:fontRef idx="minor"/>
        </p:style>
      </p:sp>
      <p:sp>
        <p:nvSpPr>
          <p:cNvPr id="795" name="Text 58"/>
          <p:cNvSpPr/>
          <p:nvPr/>
        </p:nvSpPr>
        <p:spPr>
          <a:xfrm>
            <a:off x="8195760" y="6219720"/>
            <a:ext cx="3611520" cy="28584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890" spc="-1" strike="noStrike">
                <a:solidFill>
                  <a:srgbClr val="ffffff"/>
                </a:solidFill>
                <a:latin typeface="Sorts Mill Goudy"/>
                <a:ea typeface="Sorts Mill Goudy"/>
              </a:rPr>
              <a:t>Nature Restoration</a:t>
            </a:r>
            <a:endParaRPr b="0" lang="en-HK" sz="1890" spc="-1" strike="noStrike">
              <a:latin typeface="Arial"/>
            </a:endParaRPr>
          </a:p>
        </p:txBody>
      </p:sp>
      <p:sp>
        <p:nvSpPr>
          <p:cNvPr id="796" name="Text 59"/>
          <p:cNvSpPr/>
          <p:nvPr/>
        </p:nvSpPr>
        <p:spPr>
          <a:xfrm>
            <a:off x="8223840" y="6538680"/>
            <a:ext cx="3555720" cy="1904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10" spc="-1" strike="noStrike">
                <a:solidFill>
                  <a:srgbClr val="ffffff"/>
                </a:solidFill>
                <a:latin typeface="Quattrocento Sans"/>
                <a:ea typeface="Quattrocento Sans"/>
              </a:rPr>
              <a:t>EU targets: 30% by 2030, 90% by 2050</a:t>
            </a:r>
            <a:endParaRPr b="0" lang="en-HK" sz="101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797" name="Image 0"/>
          <p:cNvSpPr/>
          <p:nvPr/>
        </p:nvSpPr>
        <p:spPr>
          <a:xfrm>
            <a:off x="0" y="0"/>
            <a:ext cx="12192120" cy="6856920"/>
          </a:xfrm>
          <a:prstGeom prst="roundRect">
            <a:avLst>
              <a:gd name="adj" fmla="val 0"/>
            </a:avLst>
          </a:prstGeom>
          <a:blipFill rotWithShape="0">
            <a:blip r:embed="rId1"/>
            <a:srcRect/>
            <a:stretch/>
          </a:blipFill>
          <a:ln w="0">
            <a:noFill/>
          </a:ln>
        </p:spPr>
        <p:style>
          <a:lnRef idx="0"/>
          <a:fillRef idx="0"/>
          <a:effectRef idx="0"/>
          <a:fontRef idx="minor"/>
        </p:style>
      </p:sp>
      <p:sp>
        <p:nvSpPr>
          <p:cNvPr id="798" name="Shape 0"/>
          <p:cNvSpPr/>
          <p:nvPr/>
        </p:nvSpPr>
        <p:spPr>
          <a:xfrm>
            <a:off x="0" y="0"/>
            <a:ext cx="12192120" cy="685692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2f3e3b">
                  <a:alpha val="95294"/>
                </a:srgbClr>
              </a:gs>
              <a:gs pos="100000">
                <a:srgbClr val="2f3e3b">
                  <a:alpha val="70196"/>
                </a:srgbClr>
              </a:gs>
            </a:gsLst>
            <a:lin ang="16200000"/>
          </a:gradFill>
          <a:ln w="0">
            <a:noFill/>
          </a:ln>
        </p:spPr>
        <p:style>
          <a:lnRef idx="0"/>
          <a:fillRef idx="0"/>
          <a:effectRef idx="0"/>
          <a:fontRef idx="minor"/>
        </p:style>
      </p:sp>
      <p:sp>
        <p:nvSpPr>
          <p:cNvPr id="799" name="Shape 1"/>
          <p:cNvSpPr/>
          <p:nvPr/>
        </p:nvSpPr>
        <p:spPr>
          <a:xfrm>
            <a:off x="380880" y="182160"/>
            <a:ext cx="1275120" cy="379800"/>
          </a:xfrm>
          <a:custGeom>
            <a:avLst/>
            <a:gdLst/>
            <a:ahLst/>
            <a:rect l="l" t="t" r="r" b="b"/>
            <a:pathLst>
              <a:path w="1276350" h="381000">
                <a:moveTo>
                  <a:pt x="190500" y="0"/>
                </a:moveTo>
                <a:lnTo>
                  <a:pt x="1085850" y="0"/>
                </a:lnTo>
                <a:cubicBezTo>
                  <a:pt x="1190990" y="0"/>
                  <a:pt x="1276350" y="85360"/>
                  <a:pt x="1276350" y="190500"/>
                </a:cubicBezTo>
                <a:lnTo>
                  <a:pt x="1276350" y="190500"/>
                </a:lnTo>
                <a:cubicBezTo>
                  <a:pt x="1276350" y="295640"/>
                  <a:pt x="1190990" y="381000"/>
                  <a:pt x="1085850" y="381000"/>
                </a:cubicBezTo>
                <a:lnTo>
                  <a:pt x="190500" y="381000"/>
                </a:lnTo>
                <a:cubicBezTo>
                  <a:pt x="85360" y="381000"/>
                  <a:pt x="0" y="295640"/>
                  <a:pt x="0" y="190500"/>
                </a:cubicBezTo>
                <a:lnTo>
                  <a:pt x="0" y="190500"/>
                </a:lnTo>
                <a:cubicBezTo>
                  <a:pt x="0" y="85360"/>
                  <a:pt x="85360" y="0"/>
                  <a:pt x="190500" y="0"/>
                </a:cubicBezTo>
                <a:close/>
              </a:path>
            </a:pathLst>
          </a:custGeom>
          <a:solidFill>
            <a:srgbClr val="4c8a7a">
              <a:alpha val="30000"/>
            </a:srgbClr>
          </a:solidFill>
          <a:ln w="0">
            <a:noFill/>
          </a:ln>
        </p:spPr>
        <p:style>
          <a:lnRef idx="0"/>
          <a:fillRef idx="0"/>
          <a:effectRef idx="0"/>
          <a:fontRef idx="minor"/>
        </p:style>
      </p:sp>
      <p:sp>
        <p:nvSpPr>
          <p:cNvPr id="800" name="Text 2"/>
          <p:cNvSpPr/>
          <p:nvPr/>
        </p:nvSpPr>
        <p:spPr>
          <a:xfrm>
            <a:off x="571680" y="258480"/>
            <a:ext cx="97056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11" strike="noStrike">
                <a:solidFill>
                  <a:srgbClr val="8fb7ac"/>
                </a:solidFill>
                <a:latin typeface="Quattrocento Sans"/>
                <a:ea typeface="Quattrocento Sans"/>
              </a:rPr>
              <a:t>Synthesis</a:t>
            </a:r>
            <a:endParaRPr b="0" lang="en-HK" sz="1200" spc="-1" strike="noStrike">
              <a:latin typeface="Arial"/>
            </a:endParaRPr>
          </a:p>
        </p:txBody>
      </p:sp>
      <p:sp>
        <p:nvSpPr>
          <p:cNvPr id="801" name="Text 3"/>
          <p:cNvSpPr/>
          <p:nvPr/>
        </p:nvSpPr>
        <p:spPr>
          <a:xfrm>
            <a:off x="380880" y="791640"/>
            <a:ext cx="8800920" cy="11419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3600" spc="-1" strike="noStrike">
                <a:solidFill>
                  <a:srgbClr val="ffffff"/>
                </a:solidFill>
                <a:latin typeface="Sorts Mill Goudy"/>
                <a:ea typeface="Sorts Mill Goudy"/>
              </a:rPr>
              <a:t>Integrated Mechanisms for Forest Biodiversity</a:t>
            </a:r>
            <a:endParaRPr b="0" lang="en-HK" sz="3600" spc="-1" strike="noStrike">
              <a:latin typeface="Arial"/>
            </a:endParaRPr>
          </a:p>
        </p:txBody>
      </p:sp>
      <p:sp>
        <p:nvSpPr>
          <p:cNvPr id="802" name="Shape 4"/>
          <p:cNvSpPr/>
          <p:nvPr/>
        </p:nvSpPr>
        <p:spPr>
          <a:xfrm>
            <a:off x="380880" y="2163240"/>
            <a:ext cx="8572320" cy="1694520"/>
          </a:xfrm>
          <a:custGeom>
            <a:avLst/>
            <a:gdLst/>
            <a:ahLst/>
            <a:rect l="l" t="t" r="r" b="b"/>
            <a:pathLst>
              <a:path w="8572500" h="1695450">
                <a:moveTo>
                  <a:pt x="114307" y="0"/>
                </a:moveTo>
                <a:lnTo>
                  <a:pt x="8458193" y="0"/>
                </a:lnTo>
                <a:cubicBezTo>
                  <a:pt x="8521323" y="0"/>
                  <a:pt x="8572500" y="51177"/>
                  <a:pt x="8572500" y="114307"/>
                </a:cubicBezTo>
                <a:lnTo>
                  <a:pt x="8572500" y="1581143"/>
                </a:lnTo>
                <a:cubicBezTo>
                  <a:pt x="8572500" y="1644273"/>
                  <a:pt x="8521323" y="1695450"/>
                  <a:pt x="8458193" y="1695450"/>
                </a:cubicBezTo>
                <a:lnTo>
                  <a:pt x="114307" y="1695450"/>
                </a:lnTo>
                <a:cubicBezTo>
                  <a:pt x="51177" y="1695450"/>
                  <a:pt x="0" y="1644273"/>
                  <a:pt x="0" y="1581143"/>
                </a:cubicBezTo>
                <a:lnTo>
                  <a:pt x="0" y="114307"/>
                </a:lnTo>
                <a:cubicBezTo>
                  <a:pt x="0" y="51219"/>
                  <a:pt x="51219" y="0"/>
                  <a:pt x="114307" y="0"/>
                </a:cubicBezTo>
                <a:close/>
              </a:path>
            </a:pathLst>
          </a:custGeom>
          <a:solidFill>
            <a:srgbClr val="ffffff">
              <a:alpha val="10000"/>
            </a:srgbClr>
          </a:solidFill>
          <a:ln w="0">
            <a:noFill/>
          </a:ln>
        </p:spPr>
        <p:style>
          <a:lnRef idx="0"/>
          <a:fillRef idx="0"/>
          <a:effectRef idx="0"/>
          <a:fontRef idx="minor"/>
        </p:style>
      </p:sp>
      <p:sp>
        <p:nvSpPr>
          <p:cNvPr id="803" name="Text 5"/>
          <p:cNvSpPr/>
          <p:nvPr/>
        </p:nvSpPr>
        <p:spPr>
          <a:xfrm>
            <a:off x="609480" y="2391840"/>
            <a:ext cx="8210160" cy="1237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500" spc="-1" strike="noStrike">
                <a:solidFill>
                  <a:srgbClr val="ffffff"/>
                </a:solidFill>
                <a:latin typeface="Quattrocento Sans"/>
                <a:ea typeface="Quattrocento Sans"/>
              </a:rPr>
              <a:t>Forest biodiversity emerges from the </a:t>
            </a:r>
            <a:r>
              <a:rPr b="1" lang="en-US" sz="1500" spc="-1" strike="noStrike">
                <a:solidFill>
                  <a:srgbClr val="ffffff"/>
                </a:solidFill>
                <a:latin typeface="Quattrocento Sans"/>
                <a:ea typeface="Quattrocento Sans"/>
              </a:rPr>
              <a:t>interplay of multiple mechanisms</a:t>
            </a:r>
            <a:r>
              <a:rPr b="0" lang="en-US" sz="1500" spc="-1" strike="noStrike">
                <a:solidFill>
                  <a:srgbClr val="ffffff"/>
                </a:solidFill>
                <a:latin typeface="Quattrocento Sans"/>
                <a:ea typeface="Quattrocento Sans"/>
              </a:rPr>
              <a:t>—structural complexity creates habitat diversity, species interactions enable coexistence, disturbances reset competitive hierarchies, belowground networks facilitate resource sharing, and animal-mediated processes drive regeneration.</a:t>
            </a:r>
            <a:endParaRPr b="0" lang="en-HK" sz="1500" spc="-1" strike="noStrike">
              <a:latin typeface="Arial"/>
            </a:endParaRPr>
          </a:p>
        </p:txBody>
      </p:sp>
      <p:sp>
        <p:nvSpPr>
          <p:cNvPr id="804" name="Shape 6"/>
          <p:cNvSpPr/>
          <p:nvPr/>
        </p:nvSpPr>
        <p:spPr>
          <a:xfrm>
            <a:off x="380880" y="4087440"/>
            <a:ext cx="2751840" cy="1141920"/>
          </a:xfrm>
          <a:custGeom>
            <a:avLst/>
            <a:gdLst/>
            <a:ahLst/>
            <a:rect l="l" t="t" r="r" b="b"/>
            <a:pathLst>
              <a:path w="2752725" h="1143000">
                <a:moveTo>
                  <a:pt x="76204" y="0"/>
                </a:moveTo>
                <a:lnTo>
                  <a:pt x="2676521" y="0"/>
                </a:lnTo>
                <a:cubicBezTo>
                  <a:pt x="2718607" y="0"/>
                  <a:pt x="2752725" y="34118"/>
                  <a:pt x="2752725" y="76204"/>
                </a:cubicBezTo>
                <a:lnTo>
                  <a:pt x="2752725" y="1066796"/>
                </a:lnTo>
                <a:cubicBezTo>
                  <a:pt x="2752725" y="1108882"/>
                  <a:pt x="2718607" y="1143000"/>
                  <a:pt x="2676521" y="1143000"/>
                </a:cubicBezTo>
                <a:lnTo>
                  <a:pt x="76204" y="1143000"/>
                </a:lnTo>
                <a:cubicBezTo>
                  <a:pt x="34118" y="1143000"/>
                  <a:pt x="0" y="1108882"/>
                  <a:pt x="0" y="1066796"/>
                </a:cubicBezTo>
                <a:lnTo>
                  <a:pt x="0" y="76204"/>
                </a:lnTo>
                <a:cubicBezTo>
                  <a:pt x="0" y="34146"/>
                  <a:pt x="34146" y="0"/>
                  <a:pt x="76204" y="0"/>
                </a:cubicBezTo>
                <a:close/>
              </a:path>
            </a:pathLst>
          </a:custGeom>
          <a:solidFill>
            <a:srgbClr val="ffffff">
              <a:alpha val="15000"/>
            </a:srgbClr>
          </a:solidFill>
          <a:ln w="0">
            <a:noFill/>
          </a:ln>
        </p:spPr>
        <p:style>
          <a:lnRef idx="0"/>
          <a:fillRef idx="0"/>
          <a:effectRef idx="0"/>
          <a:fontRef idx="minor"/>
        </p:style>
      </p:sp>
      <p:sp>
        <p:nvSpPr>
          <p:cNvPr id="805" name="Shape 7"/>
          <p:cNvSpPr/>
          <p:nvPr/>
        </p:nvSpPr>
        <p:spPr>
          <a:xfrm>
            <a:off x="561960" y="4239720"/>
            <a:ext cx="227520" cy="227520"/>
          </a:xfrm>
          <a:custGeom>
            <a:avLst/>
            <a:gdLst/>
            <a:ahLst/>
            <a:rect l="l" t="t" r="r" b="b"/>
            <a:pathLst>
              <a:path w="228600" h="228600">
                <a:moveTo>
                  <a:pt x="103808" y="2322"/>
                </a:moveTo>
                <a:cubicBezTo>
                  <a:pt x="110460" y="-759"/>
                  <a:pt x="118140" y="-759"/>
                  <a:pt x="124792" y="2322"/>
                </a:cubicBezTo>
                <a:lnTo>
                  <a:pt x="222394" y="47417"/>
                </a:lnTo>
                <a:cubicBezTo>
                  <a:pt x="226189" y="49158"/>
                  <a:pt x="228600" y="52953"/>
                  <a:pt x="228600" y="57150"/>
                </a:cubicBezTo>
                <a:cubicBezTo>
                  <a:pt x="228600" y="61347"/>
                  <a:pt x="226189" y="65142"/>
                  <a:pt x="222394" y="66883"/>
                </a:cubicBezTo>
                <a:lnTo>
                  <a:pt x="124792" y="111978"/>
                </a:lnTo>
                <a:cubicBezTo>
                  <a:pt x="118140" y="115059"/>
                  <a:pt x="110460" y="115059"/>
                  <a:pt x="103808" y="111978"/>
                </a:cubicBezTo>
                <a:lnTo>
                  <a:pt x="6206" y="66883"/>
                </a:lnTo>
                <a:cubicBezTo>
                  <a:pt x="2411" y="65097"/>
                  <a:pt x="0" y="61302"/>
                  <a:pt x="0" y="57150"/>
                </a:cubicBezTo>
                <a:cubicBezTo>
                  <a:pt x="0" y="52998"/>
                  <a:pt x="2411" y="49158"/>
                  <a:pt x="6206" y="47417"/>
                </a:cubicBezTo>
                <a:lnTo>
                  <a:pt x="103808" y="2322"/>
                </a:lnTo>
                <a:close/>
                <a:moveTo>
                  <a:pt x="21476" y="97512"/>
                </a:moveTo>
                <a:lnTo>
                  <a:pt x="94833" y="131400"/>
                </a:lnTo>
                <a:cubicBezTo>
                  <a:pt x="107201" y="137115"/>
                  <a:pt x="121444" y="137115"/>
                  <a:pt x="133811" y="131400"/>
                </a:cubicBezTo>
                <a:lnTo>
                  <a:pt x="207169" y="97512"/>
                </a:lnTo>
                <a:lnTo>
                  <a:pt x="222394" y="104567"/>
                </a:lnTo>
                <a:cubicBezTo>
                  <a:pt x="226189" y="106308"/>
                  <a:pt x="228600" y="110103"/>
                  <a:pt x="228600" y="114300"/>
                </a:cubicBezTo>
                <a:cubicBezTo>
                  <a:pt x="228600" y="118497"/>
                  <a:pt x="226189" y="122292"/>
                  <a:pt x="222394" y="124033"/>
                </a:cubicBezTo>
                <a:lnTo>
                  <a:pt x="124792" y="169128"/>
                </a:lnTo>
                <a:cubicBezTo>
                  <a:pt x="118140" y="172209"/>
                  <a:pt x="110460" y="172209"/>
                  <a:pt x="103808" y="169128"/>
                </a:cubicBezTo>
                <a:lnTo>
                  <a:pt x="6206" y="124033"/>
                </a:lnTo>
                <a:cubicBezTo>
                  <a:pt x="2411" y="122247"/>
                  <a:pt x="0" y="118452"/>
                  <a:pt x="0" y="114300"/>
                </a:cubicBezTo>
                <a:cubicBezTo>
                  <a:pt x="0" y="110148"/>
                  <a:pt x="2411" y="106308"/>
                  <a:pt x="6206" y="104567"/>
                </a:cubicBezTo>
                <a:lnTo>
                  <a:pt x="21431" y="97512"/>
                </a:lnTo>
                <a:close/>
                <a:moveTo>
                  <a:pt x="6206" y="161717"/>
                </a:moveTo>
                <a:lnTo>
                  <a:pt x="21431" y="154662"/>
                </a:lnTo>
                <a:lnTo>
                  <a:pt x="94789" y="188550"/>
                </a:lnTo>
                <a:cubicBezTo>
                  <a:pt x="107156" y="194265"/>
                  <a:pt x="121399" y="194265"/>
                  <a:pt x="133767" y="188550"/>
                </a:cubicBezTo>
                <a:lnTo>
                  <a:pt x="207124" y="154662"/>
                </a:lnTo>
                <a:lnTo>
                  <a:pt x="222349" y="161717"/>
                </a:lnTo>
                <a:cubicBezTo>
                  <a:pt x="226144" y="163458"/>
                  <a:pt x="228555" y="167253"/>
                  <a:pt x="228555" y="171450"/>
                </a:cubicBezTo>
                <a:cubicBezTo>
                  <a:pt x="228555" y="175647"/>
                  <a:pt x="226144" y="179442"/>
                  <a:pt x="222349" y="181183"/>
                </a:cubicBezTo>
                <a:lnTo>
                  <a:pt x="124748" y="226278"/>
                </a:lnTo>
                <a:cubicBezTo>
                  <a:pt x="118095" y="229359"/>
                  <a:pt x="110416" y="229359"/>
                  <a:pt x="103763" y="226278"/>
                </a:cubicBezTo>
                <a:lnTo>
                  <a:pt x="6206" y="181183"/>
                </a:lnTo>
                <a:cubicBezTo>
                  <a:pt x="2411" y="179397"/>
                  <a:pt x="0" y="175602"/>
                  <a:pt x="0" y="171450"/>
                </a:cubicBezTo>
                <a:cubicBezTo>
                  <a:pt x="0" y="167298"/>
                  <a:pt x="2411" y="163458"/>
                  <a:pt x="6206" y="161717"/>
                </a:cubicBezTo>
                <a:close/>
              </a:path>
            </a:pathLst>
          </a:custGeom>
          <a:solidFill>
            <a:srgbClr val="8fb7ac"/>
          </a:solidFill>
          <a:ln w="0">
            <a:noFill/>
          </a:ln>
        </p:spPr>
        <p:style>
          <a:lnRef idx="0"/>
          <a:fillRef idx="0"/>
          <a:effectRef idx="0"/>
          <a:fontRef idx="minor"/>
        </p:style>
      </p:sp>
      <p:sp>
        <p:nvSpPr>
          <p:cNvPr id="806" name="Text 8"/>
          <p:cNvSpPr/>
          <p:nvPr/>
        </p:nvSpPr>
        <p:spPr>
          <a:xfrm>
            <a:off x="533520" y="4544640"/>
            <a:ext cx="2532960" cy="265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ffffff"/>
                </a:solidFill>
                <a:latin typeface="Sorts Mill Goudy"/>
                <a:ea typeface="Sorts Mill Goudy"/>
              </a:rPr>
              <a:t>Structure</a:t>
            </a:r>
            <a:endParaRPr b="0" lang="en-HK" sz="1350" spc="-1" strike="noStrike">
              <a:latin typeface="Arial"/>
            </a:endParaRPr>
          </a:p>
        </p:txBody>
      </p:sp>
      <p:sp>
        <p:nvSpPr>
          <p:cNvPr id="807" name="Text 9"/>
          <p:cNvSpPr/>
          <p:nvPr/>
        </p:nvSpPr>
        <p:spPr>
          <a:xfrm>
            <a:off x="533520" y="4849560"/>
            <a:ext cx="252324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80000"/>
                  </a:srgbClr>
                </a:solidFill>
                <a:latin typeface="Quattrocento Sans"/>
                <a:ea typeface="Quattrocento Sans"/>
              </a:rPr>
              <a:t>Vertical &amp; horizontal heterogeneity</a:t>
            </a:r>
            <a:endParaRPr b="0" lang="en-HK" sz="1200" spc="-1" strike="noStrike">
              <a:latin typeface="Arial"/>
            </a:endParaRPr>
          </a:p>
        </p:txBody>
      </p:sp>
      <p:sp>
        <p:nvSpPr>
          <p:cNvPr id="808" name="Shape 10"/>
          <p:cNvSpPr/>
          <p:nvPr/>
        </p:nvSpPr>
        <p:spPr>
          <a:xfrm>
            <a:off x="3289320" y="4087440"/>
            <a:ext cx="2751840" cy="1141920"/>
          </a:xfrm>
          <a:custGeom>
            <a:avLst/>
            <a:gdLst/>
            <a:ahLst/>
            <a:rect l="l" t="t" r="r" b="b"/>
            <a:pathLst>
              <a:path w="2752725" h="1143000">
                <a:moveTo>
                  <a:pt x="76204" y="0"/>
                </a:moveTo>
                <a:lnTo>
                  <a:pt x="2676521" y="0"/>
                </a:lnTo>
                <a:cubicBezTo>
                  <a:pt x="2718607" y="0"/>
                  <a:pt x="2752725" y="34118"/>
                  <a:pt x="2752725" y="76204"/>
                </a:cubicBezTo>
                <a:lnTo>
                  <a:pt x="2752725" y="1066796"/>
                </a:lnTo>
                <a:cubicBezTo>
                  <a:pt x="2752725" y="1108882"/>
                  <a:pt x="2718607" y="1143000"/>
                  <a:pt x="2676521" y="1143000"/>
                </a:cubicBezTo>
                <a:lnTo>
                  <a:pt x="76204" y="1143000"/>
                </a:lnTo>
                <a:cubicBezTo>
                  <a:pt x="34118" y="1143000"/>
                  <a:pt x="0" y="1108882"/>
                  <a:pt x="0" y="1066796"/>
                </a:cubicBezTo>
                <a:lnTo>
                  <a:pt x="0" y="76204"/>
                </a:lnTo>
                <a:cubicBezTo>
                  <a:pt x="0" y="34146"/>
                  <a:pt x="34146" y="0"/>
                  <a:pt x="76204" y="0"/>
                </a:cubicBezTo>
                <a:close/>
              </a:path>
            </a:pathLst>
          </a:custGeom>
          <a:solidFill>
            <a:srgbClr val="ffffff">
              <a:alpha val="15000"/>
            </a:srgbClr>
          </a:solidFill>
          <a:ln w="0">
            <a:noFill/>
          </a:ln>
        </p:spPr>
        <p:style>
          <a:lnRef idx="0"/>
          <a:fillRef idx="0"/>
          <a:effectRef idx="0"/>
          <a:fontRef idx="minor"/>
        </p:style>
      </p:sp>
      <p:sp>
        <p:nvSpPr>
          <p:cNvPr id="809" name="Shape 11"/>
          <p:cNvSpPr/>
          <p:nvPr/>
        </p:nvSpPr>
        <p:spPr>
          <a:xfrm>
            <a:off x="3470400" y="4239720"/>
            <a:ext cx="227520" cy="227520"/>
          </a:xfrm>
          <a:custGeom>
            <a:avLst/>
            <a:gdLst/>
            <a:ahLst/>
            <a:rect l="l" t="t" r="r" b="b"/>
            <a:pathLst>
              <a:path w="228600" h="228600">
                <a:moveTo>
                  <a:pt x="0" y="35719"/>
                </a:moveTo>
                <a:cubicBezTo>
                  <a:pt x="0" y="23887"/>
                  <a:pt x="9599" y="14288"/>
                  <a:pt x="21431" y="14288"/>
                </a:cubicBezTo>
                <a:lnTo>
                  <a:pt x="64294" y="14288"/>
                </a:lnTo>
                <a:cubicBezTo>
                  <a:pt x="76126" y="14288"/>
                  <a:pt x="85725" y="23887"/>
                  <a:pt x="85725" y="35719"/>
                </a:cubicBezTo>
                <a:lnTo>
                  <a:pt x="85725" y="42863"/>
                </a:lnTo>
                <a:lnTo>
                  <a:pt x="142875" y="42863"/>
                </a:lnTo>
                <a:lnTo>
                  <a:pt x="142875" y="35719"/>
                </a:lnTo>
                <a:cubicBezTo>
                  <a:pt x="142875" y="23887"/>
                  <a:pt x="152474" y="14288"/>
                  <a:pt x="164306" y="14288"/>
                </a:cubicBezTo>
                <a:lnTo>
                  <a:pt x="207169" y="14288"/>
                </a:lnTo>
                <a:cubicBezTo>
                  <a:pt x="219001" y="14288"/>
                  <a:pt x="228600" y="23887"/>
                  <a:pt x="228600" y="35719"/>
                </a:cubicBezTo>
                <a:lnTo>
                  <a:pt x="228600" y="78581"/>
                </a:lnTo>
                <a:cubicBezTo>
                  <a:pt x="228600" y="90413"/>
                  <a:pt x="219001" y="100013"/>
                  <a:pt x="207169" y="100013"/>
                </a:cubicBezTo>
                <a:lnTo>
                  <a:pt x="164306" y="100013"/>
                </a:lnTo>
                <a:cubicBezTo>
                  <a:pt x="152474" y="100013"/>
                  <a:pt x="142875" y="90413"/>
                  <a:pt x="142875" y="78581"/>
                </a:cubicBezTo>
                <a:lnTo>
                  <a:pt x="142875" y="71438"/>
                </a:lnTo>
                <a:lnTo>
                  <a:pt x="85725" y="71438"/>
                </a:lnTo>
                <a:lnTo>
                  <a:pt x="85725" y="78581"/>
                </a:lnTo>
                <a:cubicBezTo>
                  <a:pt x="85725" y="81841"/>
                  <a:pt x="84966" y="84966"/>
                  <a:pt x="83671" y="87734"/>
                </a:cubicBezTo>
                <a:lnTo>
                  <a:pt x="114300" y="128588"/>
                </a:lnTo>
                <a:lnTo>
                  <a:pt x="150019" y="128588"/>
                </a:lnTo>
                <a:cubicBezTo>
                  <a:pt x="161851" y="128588"/>
                  <a:pt x="171450" y="138187"/>
                  <a:pt x="171450" y="150019"/>
                </a:cubicBezTo>
                <a:lnTo>
                  <a:pt x="171450" y="192881"/>
                </a:lnTo>
                <a:cubicBezTo>
                  <a:pt x="171450" y="204713"/>
                  <a:pt x="161851" y="214313"/>
                  <a:pt x="150019" y="214313"/>
                </a:cubicBezTo>
                <a:lnTo>
                  <a:pt x="107156" y="214313"/>
                </a:lnTo>
                <a:cubicBezTo>
                  <a:pt x="95324" y="214313"/>
                  <a:pt x="85725" y="204713"/>
                  <a:pt x="85725" y="192881"/>
                </a:cubicBezTo>
                <a:lnTo>
                  <a:pt x="85725" y="150019"/>
                </a:lnTo>
                <a:cubicBezTo>
                  <a:pt x="85725" y="146759"/>
                  <a:pt x="86484" y="143634"/>
                  <a:pt x="87779" y="140866"/>
                </a:cubicBezTo>
                <a:lnTo>
                  <a:pt x="57150" y="100013"/>
                </a:lnTo>
                <a:lnTo>
                  <a:pt x="21431" y="100013"/>
                </a:lnTo>
                <a:cubicBezTo>
                  <a:pt x="9599" y="100013"/>
                  <a:pt x="0" y="90413"/>
                  <a:pt x="0" y="78581"/>
                </a:cubicBezTo>
                <a:lnTo>
                  <a:pt x="0" y="35719"/>
                </a:lnTo>
                <a:close/>
              </a:path>
            </a:pathLst>
          </a:custGeom>
          <a:solidFill>
            <a:srgbClr val="8fb7ac"/>
          </a:solidFill>
          <a:ln w="0">
            <a:noFill/>
          </a:ln>
        </p:spPr>
        <p:style>
          <a:lnRef idx="0"/>
          <a:fillRef idx="0"/>
          <a:effectRef idx="0"/>
          <a:fontRef idx="minor"/>
        </p:style>
      </p:sp>
      <p:sp>
        <p:nvSpPr>
          <p:cNvPr id="810" name="Text 12"/>
          <p:cNvSpPr/>
          <p:nvPr/>
        </p:nvSpPr>
        <p:spPr>
          <a:xfrm>
            <a:off x="3441600" y="4544640"/>
            <a:ext cx="2532960" cy="265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ffffff"/>
                </a:solidFill>
                <a:latin typeface="Sorts Mill Goudy"/>
                <a:ea typeface="Sorts Mill Goudy"/>
              </a:rPr>
              <a:t>Interactions</a:t>
            </a:r>
            <a:endParaRPr b="0" lang="en-HK" sz="1350" spc="-1" strike="noStrike">
              <a:latin typeface="Arial"/>
            </a:endParaRPr>
          </a:p>
        </p:txBody>
      </p:sp>
      <p:sp>
        <p:nvSpPr>
          <p:cNvPr id="811" name="Text 13"/>
          <p:cNvSpPr/>
          <p:nvPr/>
        </p:nvSpPr>
        <p:spPr>
          <a:xfrm>
            <a:off x="3441600" y="4849560"/>
            <a:ext cx="252324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80000"/>
                  </a:srgbClr>
                </a:solidFill>
                <a:latin typeface="Quattrocento Sans"/>
                <a:ea typeface="Quattrocento Sans"/>
              </a:rPr>
              <a:t>Competition, facilitation, networks</a:t>
            </a:r>
            <a:endParaRPr b="0" lang="en-HK" sz="1200" spc="-1" strike="noStrike">
              <a:latin typeface="Arial"/>
            </a:endParaRPr>
          </a:p>
        </p:txBody>
      </p:sp>
      <p:sp>
        <p:nvSpPr>
          <p:cNvPr id="812" name="Shape 14"/>
          <p:cNvSpPr/>
          <p:nvPr/>
        </p:nvSpPr>
        <p:spPr>
          <a:xfrm>
            <a:off x="6197760" y="4087440"/>
            <a:ext cx="2751840" cy="1141920"/>
          </a:xfrm>
          <a:custGeom>
            <a:avLst/>
            <a:gdLst/>
            <a:ahLst/>
            <a:rect l="l" t="t" r="r" b="b"/>
            <a:pathLst>
              <a:path w="2752725" h="1143000">
                <a:moveTo>
                  <a:pt x="76204" y="0"/>
                </a:moveTo>
                <a:lnTo>
                  <a:pt x="2676521" y="0"/>
                </a:lnTo>
                <a:cubicBezTo>
                  <a:pt x="2718607" y="0"/>
                  <a:pt x="2752725" y="34118"/>
                  <a:pt x="2752725" y="76204"/>
                </a:cubicBezTo>
                <a:lnTo>
                  <a:pt x="2752725" y="1066796"/>
                </a:lnTo>
                <a:cubicBezTo>
                  <a:pt x="2752725" y="1108882"/>
                  <a:pt x="2718607" y="1143000"/>
                  <a:pt x="2676521" y="1143000"/>
                </a:cubicBezTo>
                <a:lnTo>
                  <a:pt x="76204" y="1143000"/>
                </a:lnTo>
                <a:cubicBezTo>
                  <a:pt x="34118" y="1143000"/>
                  <a:pt x="0" y="1108882"/>
                  <a:pt x="0" y="1066796"/>
                </a:cubicBezTo>
                <a:lnTo>
                  <a:pt x="0" y="76204"/>
                </a:lnTo>
                <a:cubicBezTo>
                  <a:pt x="0" y="34146"/>
                  <a:pt x="34146" y="0"/>
                  <a:pt x="76204" y="0"/>
                </a:cubicBezTo>
                <a:close/>
              </a:path>
            </a:pathLst>
          </a:custGeom>
          <a:solidFill>
            <a:srgbClr val="ffffff">
              <a:alpha val="15000"/>
            </a:srgbClr>
          </a:solidFill>
          <a:ln w="0">
            <a:noFill/>
          </a:ln>
        </p:spPr>
        <p:style>
          <a:lnRef idx="0"/>
          <a:fillRef idx="0"/>
          <a:effectRef idx="0"/>
          <a:fontRef idx="minor"/>
        </p:style>
      </p:sp>
      <p:sp>
        <p:nvSpPr>
          <p:cNvPr id="813" name="Shape 15"/>
          <p:cNvSpPr/>
          <p:nvPr/>
        </p:nvSpPr>
        <p:spPr>
          <a:xfrm>
            <a:off x="6378840" y="4239720"/>
            <a:ext cx="227520" cy="227520"/>
          </a:xfrm>
          <a:custGeom>
            <a:avLst/>
            <a:gdLst/>
            <a:ahLst/>
            <a:rect l="l" t="t" r="r" b="b"/>
            <a:pathLst>
              <a:path w="228600" h="228600">
                <a:moveTo>
                  <a:pt x="214357" y="85725"/>
                </a:moveTo>
                <a:lnTo>
                  <a:pt x="217884" y="85725"/>
                </a:lnTo>
                <a:cubicBezTo>
                  <a:pt x="223823" y="85725"/>
                  <a:pt x="228600" y="80948"/>
                  <a:pt x="228600" y="75009"/>
                </a:cubicBezTo>
                <a:lnTo>
                  <a:pt x="228600" y="10716"/>
                </a:lnTo>
                <a:cubicBezTo>
                  <a:pt x="228600" y="6385"/>
                  <a:pt x="226010" y="2456"/>
                  <a:pt x="221992" y="804"/>
                </a:cubicBezTo>
                <a:cubicBezTo>
                  <a:pt x="217974" y="-848"/>
                  <a:pt x="213375" y="89"/>
                  <a:pt x="210294" y="3125"/>
                </a:cubicBezTo>
                <a:lnTo>
                  <a:pt x="187211" y="26253"/>
                </a:lnTo>
                <a:cubicBezTo>
                  <a:pt x="167432" y="9867"/>
                  <a:pt x="141982" y="0"/>
                  <a:pt x="114300" y="0"/>
                </a:cubicBezTo>
                <a:cubicBezTo>
                  <a:pt x="56704" y="0"/>
                  <a:pt x="9064" y="42595"/>
                  <a:pt x="1161" y="98003"/>
                </a:cubicBezTo>
                <a:cubicBezTo>
                  <a:pt x="45" y="105817"/>
                  <a:pt x="5447" y="113050"/>
                  <a:pt x="13261" y="114166"/>
                </a:cubicBezTo>
                <a:cubicBezTo>
                  <a:pt x="21074" y="115282"/>
                  <a:pt x="28307" y="109835"/>
                  <a:pt x="29423" y="102066"/>
                </a:cubicBezTo>
                <a:cubicBezTo>
                  <a:pt x="35362" y="60499"/>
                  <a:pt x="71125" y="28575"/>
                  <a:pt x="114300" y="28575"/>
                </a:cubicBezTo>
                <a:cubicBezTo>
                  <a:pt x="134124" y="28575"/>
                  <a:pt x="152340" y="35272"/>
                  <a:pt x="166851" y="46568"/>
                </a:cubicBezTo>
                <a:lnTo>
                  <a:pt x="146000" y="67419"/>
                </a:lnTo>
                <a:cubicBezTo>
                  <a:pt x="142920" y="70500"/>
                  <a:pt x="142027" y="75099"/>
                  <a:pt x="143679" y="79117"/>
                </a:cubicBezTo>
                <a:cubicBezTo>
                  <a:pt x="145331" y="83135"/>
                  <a:pt x="149260" y="85725"/>
                  <a:pt x="153591" y="85725"/>
                </a:cubicBezTo>
                <a:lnTo>
                  <a:pt x="214357" y="85725"/>
                </a:lnTo>
                <a:close/>
                <a:moveTo>
                  <a:pt x="227484" y="130597"/>
                </a:moveTo>
                <a:cubicBezTo>
                  <a:pt x="228600" y="122783"/>
                  <a:pt x="223153" y="115550"/>
                  <a:pt x="215384" y="114434"/>
                </a:cubicBezTo>
                <a:cubicBezTo>
                  <a:pt x="207615" y="113318"/>
                  <a:pt x="200338" y="118765"/>
                  <a:pt x="199221" y="126534"/>
                </a:cubicBezTo>
                <a:cubicBezTo>
                  <a:pt x="193283" y="168057"/>
                  <a:pt x="157520" y="199980"/>
                  <a:pt x="114345" y="199980"/>
                </a:cubicBezTo>
                <a:cubicBezTo>
                  <a:pt x="94521" y="199980"/>
                  <a:pt x="76304" y="193283"/>
                  <a:pt x="61793" y="181987"/>
                </a:cubicBezTo>
                <a:lnTo>
                  <a:pt x="82600" y="161181"/>
                </a:lnTo>
                <a:cubicBezTo>
                  <a:pt x="85680" y="158100"/>
                  <a:pt x="86573" y="153501"/>
                  <a:pt x="84921" y="149483"/>
                </a:cubicBezTo>
                <a:cubicBezTo>
                  <a:pt x="83269" y="145465"/>
                  <a:pt x="79340" y="142875"/>
                  <a:pt x="75009" y="142875"/>
                </a:cubicBezTo>
                <a:lnTo>
                  <a:pt x="10716" y="142875"/>
                </a:lnTo>
                <a:cubicBezTo>
                  <a:pt x="4777" y="142875"/>
                  <a:pt x="0" y="147652"/>
                  <a:pt x="0" y="153591"/>
                </a:cubicBezTo>
                <a:lnTo>
                  <a:pt x="0" y="217884"/>
                </a:lnTo>
                <a:cubicBezTo>
                  <a:pt x="0" y="222215"/>
                  <a:pt x="2590" y="226144"/>
                  <a:pt x="6608" y="227796"/>
                </a:cubicBezTo>
                <a:cubicBezTo>
                  <a:pt x="10626" y="229448"/>
                  <a:pt x="15225" y="228511"/>
                  <a:pt x="18306" y="225475"/>
                </a:cubicBezTo>
                <a:lnTo>
                  <a:pt x="41434" y="202347"/>
                </a:lnTo>
                <a:cubicBezTo>
                  <a:pt x="61168" y="218733"/>
                  <a:pt x="86618" y="228600"/>
                  <a:pt x="114300" y="228600"/>
                </a:cubicBezTo>
                <a:cubicBezTo>
                  <a:pt x="171896" y="228600"/>
                  <a:pt x="219536" y="186005"/>
                  <a:pt x="227439" y="130597"/>
                </a:cubicBezTo>
                <a:close/>
              </a:path>
            </a:pathLst>
          </a:custGeom>
          <a:solidFill>
            <a:srgbClr val="8fb7ac"/>
          </a:solidFill>
          <a:ln w="0">
            <a:noFill/>
          </a:ln>
        </p:spPr>
        <p:style>
          <a:lnRef idx="0"/>
          <a:fillRef idx="0"/>
          <a:effectRef idx="0"/>
          <a:fontRef idx="minor"/>
        </p:style>
      </p:sp>
      <p:sp>
        <p:nvSpPr>
          <p:cNvPr id="814" name="Text 16"/>
          <p:cNvSpPr/>
          <p:nvPr/>
        </p:nvSpPr>
        <p:spPr>
          <a:xfrm>
            <a:off x="6350400" y="4544640"/>
            <a:ext cx="2532960" cy="265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ffffff"/>
                </a:solidFill>
                <a:latin typeface="Sorts Mill Goudy"/>
                <a:ea typeface="Sorts Mill Goudy"/>
              </a:rPr>
              <a:t>Dynamics</a:t>
            </a:r>
            <a:endParaRPr b="0" lang="en-HK" sz="1350" spc="-1" strike="noStrike">
              <a:latin typeface="Arial"/>
            </a:endParaRPr>
          </a:p>
        </p:txBody>
      </p:sp>
      <p:sp>
        <p:nvSpPr>
          <p:cNvPr id="815" name="Text 17"/>
          <p:cNvSpPr/>
          <p:nvPr/>
        </p:nvSpPr>
        <p:spPr>
          <a:xfrm>
            <a:off x="6350400" y="4849560"/>
            <a:ext cx="2523240" cy="227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80000"/>
                  </a:srgbClr>
                </a:solidFill>
                <a:latin typeface="Quattrocento Sans"/>
                <a:ea typeface="Quattrocento Sans"/>
              </a:rPr>
              <a:t>Disturbance, succession, dispersal</a:t>
            </a:r>
            <a:endParaRPr b="0" lang="en-HK" sz="1200" spc="-1" strike="noStrike">
              <a:latin typeface="Arial"/>
            </a:endParaRPr>
          </a:p>
        </p:txBody>
      </p:sp>
      <p:sp>
        <p:nvSpPr>
          <p:cNvPr id="816" name="Shape 18"/>
          <p:cNvSpPr/>
          <p:nvPr/>
        </p:nvSpPr>
        <p:spPr>
          <a:xfrm>
            <a:off x="380880" y="5459040"/>
            <a:ext cx="8572320" cy="1218240"/>
          </a:xfrm>
          <a:custGeom>
            <a:avLst/>
            <a:gdLst/>
            <a:ahLst/>
            <a:rect l="l" t="t" r="r" b="b"/>
            <a:pathLst>
              <a:path w="8572500" h="1219200">
                <a:moveTo>
                  <a:pt x="114300" y="0"/>
                </a:moveTo>
                <a:lnTo>
                  <a:pt x="8458200" y="0"/>
                </a:lnTo>
                <a:cubicBezTo>
                  <a:pt x="8521284" y="0"/>
                  <a:pt x="8572500" y="51216"/>
                  <a:pt x="8572500" y="114300"/>
                </a:cubicBezTo>
                <a:lnTo>
                  <a:pt x="8572500" y="1104900"/>
                </a:lnTo>
                <a:cubicBezTo>
                  <a:pt x="8572500" y="1167984"/>
                  <a:pt x="8521284" y="1219200"/>
                  <a:pt x="8458200" y="1219200"/>
                </a:cubicBezTo>
                <a:lnTo>
                  <a:pt x="114300" y="1219200"/>
                </a:lnTo>
                <a:cubicBezTo>
                  <a:pt x="51216" y="1219200"/>
                  <a:pt x="0" y="1167984"/>
                  <a:pt x="0" y="1104900"/>
                </a:cubicBezTo>
                <a:lnTo>
                  <a:pt x="0" y="114300"/>
                </a:lnTo>
                <a:cubicBezTo>
                  <a:pt x="0" y="51216"/>
                  <a:pt x="51216" y="0"/>
                  <a:pt x="114300" y="0"/>
                </a:cubicBezTo>
                <a:close/>
              </a:path>
            </a:pathLst>
          </a:custGeom>
          <a:solidFill>
            <a:srgbClr val="4c8a7a">
              <a:alpha val="80000"/>
            </a:srgbClr>
          </a:solidFill>
          <a:ln w="0">
            <a:noFill/>
          </a:ln>
        </p:spPr>
        <p:style>
          <a:lnRef idx="0"/>
          <a:fillRef idx="0"/>
          <a:effectRef idx="0"/>
          <a:fontRef idx="minor"/>
        </p:style>
      </p:sp>
      <p:sp>
        <p:nvSpPr>
          <p:cNvPr id="817" name="Shape 19"/>
          <p:cNvSpPr/>
          <p:nvPr/>
        </p:nvSpPr>
        <p:spPr>
          <a:xfrm>
            <a:off x="605880" y="5702040"/>
            <a:ext cx="149040" cy="170280"/>
          </a:xfrm>
          <a:custGeom>
            <a:avLst/>
            <a:gdLst/>
            <a:ahLst/>
            <a:rect l="l" t="t" r="r" b="b"/>
            <a:pathLst>
              <a:path w="150019" h="171450">
                <a:moveTo>
                  <a:pt x="0" y="72330"/>
                </a:moveTo>
                <a:cubicBezTo>
                  <a:pt x="0" y="50129"/>
                  <a:pt x="17982" y="32147"/>
                  <a:pt x="40184" y="32147"/>
                </a:cubicBezTo>
                <a:lnTo>
                  <a:pt x="42863" y="32147"/>
                </a:lnTo>
                <a:cubicBezTo>
                  <a:pt x="48790" y="32147"/>
                  <a:pt x="53578" y="36935"/>
                  <a:pt x="53578" y="42863"/>
                </a:cubicBezTo>
                <a:cubicBezTo>
                  <a:pt x="53578" y="48790"/>
                  <a:pt x="48790" y="53578"/>
                  <a:pt x="42863" y="53578"/>
                </a:cubicBezTo>
                <a:lnTo>
                  <a:pt x="40184" y="53578"/>
                </a:lnTo>
                <a:cubicBezTo>
                  <a:pt x="29836" y="53578"/>
                  <a:pt x="21431" y="61983"/>
                  <a:pt x="21431" y="72330"/>
                </a:cubicBezTo>
                <a:lnTo>
                  <a:pt x="21431" y="75009"/>
                </a:lnTo>
                <a:lnTo>
                  <a:pt x="42863" y="75009"/>
                </a:lnTo>
                <a:cubicBezTo>
                  <a:pt x="54683" y="75009"/>
                  <a:pt x="64294" y="84620"/>
                  <a:pt x="64294" y="96441"/>
                </a:cubicBezTo>
                <a:lnTo>
                  <a:pt x="64294" y="117872"/>
                </a:lnTo>
                <a:cubicBezTo>
                  <a:pt x="64294" y="129693"/>
                  <a:pt x="54683" y="139303"/>
                  <a:pt x="42863" y="139303"/>
                </a:cubicBezTo>
                <a:lnTo>
                  <a:pt x="21431" y="139303"/>
                </a:lnTo>
                <a:cubicBezTo>
                  <a:pt x="9611" y="139303"/>
                  <a:pt x="0" y="129693"/>
                  <a:pt x="0" y="117872"/>
                </a:cubicBezTo>
                <a:lnTo>
                  <a:pt x="0" y="72330"/>
                </a:lnTo>
                <a:close/>
                <a:moveTo>
                  <a:pt x="85725" y="72330"/>
                </a:moveTo>
                <a:cubicBezTo>
                  <a:pt x="85725" y="50129"/>
                  <a:pt x="103707" y="32147"/>
                  <a:pt x="125909" y="32147"/>
                </a:cubicBezTo>
                <a:lnTo>
                  <a:pt x="128588" y="32147"/>
                </a:lnTo>
                <a:cubicBezTo>
                  <a:pt x="134515" y="32147"/>
                  <a:pt x="139303" y="36935"/>
                  <a:pt x="139303" y="42863"/>
                </a:cubicBezTo>
                <a:cubicBezTo>
                  <a:pt x="139303" y="48790"/>
                  <a:pt x="134515" y="53578"/>
                  <a:pt x="128588" y="53578"/>
                </a:cubicBezTo>
                <a:lnTo>
                  <a:pt x="125909" y="53578"/>
                </a:lnTo>
                <a:cubicBezTo>
                  <a:pt x="115561" y="53578"/>
                  <a:pt x="107156" y="61983"/>
                  <a:pt x="107156" y="72330"/>
                </a:cubicBezTo>
                <a:lnTo>
                  <a:pt x="107156" y="75009"/>
                </a:lnTo>
                <a:lnTo>
                  <a:pt x="128588" y="75009"/>
                </a:lnTo>
                <a:cubicBezTo>
                  <a:pt x="140408" y="75009"/>
                  <a:pt x="150019" y="84620"/>
                  <a:pt x="150019" y="96441"/>
                </a:cubicBezTo>
                <a:lnTo>
                  <a:pt x="150019" y="117872"/>
                </a:lnTo>
                <a:cubicBezTo>
                  <a:pt x="150019" y="129693"/>
                  <a:pt x="140408" y="139303"/>
                  <a:pt x="128588" y="139303"/>
                </a:cubicBezTo>
                <a:lnTo>
                  <a:pt x="107156" y="139303"/>
                </a:lnTo>
                <a:cubicBezTo>
                  <a:pt x="95336" y="139303"/>
                  <a:pt x="85725" y="129693"/>
                  <a:pt x="85725" y="117872"/>
                </a:cubicBezTo>
                <a:lnTo>
                  <a:pt x="85725" y="72330"/>
                </a:lnTo>
                <a:close/>
              </a:path>
            </a:pathLst>
          </a:custGeom>
          <a:solidFill>
            <a:srgbClr val="8fb7ac"/>
          </a:solidFill>
          <a:ln w="0">
            <a:noFill/>
          </a:ln>
        </p:spPr>
        <p:style>
          <a:lnRef idx="0"/>
          <a:fillRef idx="0"/>
          <a:effectRef idx="0"/>
          <a:fontRef idx="minor"/>
        </p:style>
      </p:sp>
      <p:sp>
        <p:nvSpPr>
          <p:cNvPr id="818" name="Text 20"/>
          <p:cNvSpPr/>
          <p:nvPr/>
        </p:nvSpPr>
        <p:spPr>
          <a:xfrm>
            <a:off x="847800" y="5649480"/>
            <a:ext cx="8000640" cy="837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ffffff"/>
                </a:solidFill>
                <a:latin typeface="Quattrocento Sans"/>
                <a:ea typeface="Quattrocento Sans"/>
              </a:rPr>
              <a:t>Understanding these integrated mechanisms is essential for effective conservation in an era of rapid environmental change. The future of forest biodiversity depends on our ability to manage ecosystems while preserving the natural processes that sustain them.</a:t>
            </a:r>
            <a:endParaRPr b="0" lang="en-HK" sz="135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17</TotalTime>
  <Application>LibreOffice/7.3.7.2$Linux_X86_64 LibreOffice_project/30$Build-2</Application>
  <AppVersion>15.0000</AppVersion>
  <Words>0</Words>
  <Paragraphs>0</Paragraphs>
  <Company>Moonshot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2026-03-18T10:33:32Z</dcterms:created>
  <dc:creator>Kimi</dc:creator>
  <dc:description/>
  <dc:language>en-HK</dc:language>
  <cp:lastModifiedBy/>
  <dcterms:modified xsi:type="dcterms:W3CDTF">2026-04-19T07:33:29Z</dcterms:modified>
  <cp:revision>4</cp:revision>
  <dc:subject>Ecosystem Mechanisms for Maintaining Biodiversity in Natural Forests</dc:subject>
  <dc:title>Ecosystem Mechanisms for Maintaining Biodiversity in Natural Forests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{"Label":"Ecosystem Mechanisms for Maintaining Biodiversity in Natural Forests","ContentProducer":"001191110108MACG2KBH8F10000","ProduceID":"19d004a1-7742-8810-8000-00000e23d1fb","ReservedCode1":"","ContentPropagator":"001191110108MACG2KBH8F20000","PropagateID":"19d004a1-7742-8810-8000-00000e23d1fb","ReservedCode2":""}</vt:lpwstr>
  </property>
  <property fmtid="{D5CDD505-2E9C-101B-9397-08002B2CF9AE}" pid="3" name="Notes">
    <vt:i4>19</vt:i4>
  </property>
  <property fmtid="{D5CDD505-2E9C-101B-9397-08002B2CF9AE}" pid="4" name="PresentationFormat">
    <vt:lpwstr>On-screen Show (16:9)</vt:lpwstr>
  </property>
  <property fmtid="{D5CDD505-2E9C-101B-9397-08002B2CF9AE}" pid="5" name="Slides">
    <vt:i4>19</vt:i4>
  </property>
</Properties>
</file>