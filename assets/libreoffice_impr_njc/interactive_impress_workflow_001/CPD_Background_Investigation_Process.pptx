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
<Relationships xmlns="http://schemas.openxmlformats.org/package/2006/relationships">
    <Relationship Id="rId3" Type="http://schemas.openxmlformats.org/package/2006/relationships/metadata/core-properties" Target="docProps/core.xml" />
    <Relationship Id="rId2" Type="http://schemas.openxmlformats.org/package/2006/relationships/metadata/thumbnail" Target="docProps/thumbnail.jpeg" />
    <Relationship Id="rId1" Type="http://schemas.openxmlformats.org/officeDocument/2006/relationships/officeDocument" Target="ppt/presentation.xml" />
    <Relationship Id="rId4" Type="http://schemas.openxmlformats.org/officeDocument/2006/relationships/extended-properties" Target="docProps/app.xml" />
    <Relationship Id="rId5"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 id="2147483804" r:id="rId2"/>
  </p:sldMasterIdLst>
  <p:notesMasterIdLst>
    <p:notesMasterId r:id="rId7"/>
  </p:notesMasterIdLst>
  <p:handoutMasterIdLst>
    <p:handoutMasterId r:id="rId8"/>
  </p:handoutMasterIdLst>
  <p:sldIdLst>
    <p:sldId id="384" r:id="rId3"/>
    <p:sldId id="329" r:id="rId4"/>
    <p:sldId id="391" r:id="rId5"/>
    <p:sldId id="388" r:id="rId6"/>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2DB9"/>
    <a:srgbClr val="F01C6D"/>
    <a:srgbClr val="E42A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68" autoAdjust="0"/>
    <p:restoredTop sz="86980" autoAdjust="0"/>
  </p:normalViewPr>
  <p:slideViewPr>
    <p:cSldViewPr>
      <p:cViewPr varScale="1">
        <p:scale>
          <a:sx n="58" d="100"/>
          <a:sy n="58" d="100"/>
        </p:scale>
        <p:origin x="1432" y="72"/>
      </p:cViewPr>
      <p:guideLst>
        <p:guide orient="horz" pos="2160"/>
        <p:guide pos="2880"/>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1.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4E5FCB3E-FB8D-4FB8-9AA4-A4BA2FFC690D}" type="datetimeFigureOut">
              <a:rPr lang="en-US" smtClean="0"/>
              <a:t>1/14/2024</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CBAAC526-0545-4F2E-BDDC-DDBB1C3AA92C}" type="slidenum">
              <a:rPr lang="en-US" smtClean="0"/>
              <a:t>‹#›</a:t>
            </a:fld>
            <a:endParaRPr lang="en-US"/>
          </a:p>
        </p:txBody>
      </p:sp>
    </p:spTree>
    <p:extLst>
      <p:ext uri="{BB962C8B-B14F-4D97-AF65-F5344CB8AC3E}">
        <p14:creationId xmlns:p14="http://schemas.microsoft.com/office/powerpoint/2010/main" val="2148089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EF01A444-DCFA-49D6-BB08-EE547D7FC6DE}" type="datetimeFigureOut">
              <a:rPr lang="en-US" smtClean="0"/>
              <a:pPr/>
              <a:t>1/14/2024</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C3FC653A-DFE5-43C6-B451-71E053FC0F9C}" type="slidenum">
              <a:rPr lang="en-US" smtClean="0"/>
              <a:pPr/>
              <a:t>‹#›</a:t>
            </a:fld>
            <a:endParaRPr lang="en-US"/>
          </a:p>
        </p:txBody>
      </p:sp>
    </p:spTree>
    <p:extLst>
      <p:ext uri="{BB962C8B-B14F-4D97-AF65-F5344CB8AC3E}">
        <p14:creationId xmlns:p14="http://schemas.microsoft.com/office/powerpoint/2010/main" val="2512571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865840A-1805-4828-B1F6-73357365F80F}" type="slidenum">
              <a:rPr lang="en-US" smtClean="0"/>
              <a:pPr>
                <a:defRPr/>
              </a:pPr>
              <a:t>1</a:t>
            </a:fld>
            <a:endParaRPr lang="en-US" dirty="0"/>
          </a:p>
        </p:txBody>
      </p:sp>
    </p:spTree>
    <p:extLst>
      <p:ext uri="{BB962C8B-B14F-4D97-AF65-F5344CB8AC3E}">
        <p14:creationId xmlns:p14="http://schemas.microsoft.com/office/powerpoint/2010/main" val="1861721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4708" indent="-174708">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C3FC653A-DFE5-43C6-B451-71E053FC0F9C}" type="slidenum">
              <a:rPr lang="en-US" smtClean="0"/>
              <a:pPr/>
              <a:t>3</a:t>
            </a:fld>
            <a:endParaRPr lang="en-US"/>
          </a:p>
        </p:txBody>
      </p:sp>
    </p:spTree>
    <p:extLst>
      <p:ext uri="{BB962C8B-B14F-4D97-AF65-F5344CB8AC3E}">
        <p14:creationId xmlns:p14="http://schemas.microsoft.com/office/powerpoint/2010/main" val="2446501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3FC653A-DFE5-43C6-B451-71E053FC0F9C}" type="slidenum">
              <a:rPr lang="en-US" smtClean="0"/>
              <a:pPr/>
              <a:t>4</a:t>
            </a:fld>
            <a:endParaRPr lang="en-US"/>
          </a:p>
        </p:txBody>
      </p:sp>
    </p:spTree>
    <p:extLst>
      <p:ext uri="{BB962C8B-B14F-4D97-AF65-F5344CB8AC3E}">
        <p14:creationId xmlns:p14="http://schemas.microsoft.com/office/powerpoint/2010/main" val="393105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7EBB707-5663-48B1-A099-6AE9F802D6EF}" type="datetime1">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9D4012-E37F-427E-BC39-758BDBFB98F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F7B6C1-9EC1-4835-90DD-92A4C2D1CC46}" type="datetime1">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9D4012-E37F-427E-BC39-758BDBFB98F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937AF8-EA7A-4067-BCCF-FBFE077D3BDD}" type="datetime1">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9D4012-E37F-427E-BC39-758BDBFB98F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61EF6E6-E2C0-4BAE-AFB8-8A2B647268F3}" type="datetime1">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9D4012-E37F-427E-BC39-758BDBFB98F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BDF16D-490F-4748-A772-CFCD61709704}" type="datetime1">
              <a:rPr lang="en-US" smtClean="0"/>
              <a:t>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9D4012-E37F-427E-BC39-758BDBFB98F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CAE1DC1-27C9-42E2-89B0-0CD2E790C454}" type="datetime1">
              <a:rPr lang="en-US" smtClean="0"/>
              <a:t>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9D4012-E37F-427E-BC39-758BDBFB98F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3526E3-5311-46D4-81AA-8B2AA8504B0E}" type="datetime1">
              <a:rPr lang="en-US" smtClean="0"/>
              <a:t>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9D4012-E37F-427E-BC39-758BDBFB98F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46DC73-2E25-4BE1-B828-43613D757810}" type="datetime1">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9D4012-E37F-427E-BC39-758BDBFB98F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72158D-DB27-4C31-9067-C620B8F8B9A7}" type="datetime1">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9D4012-E37F-427E-BC39-758BDBFB98F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0122BD-3D84-4D76-BBF5-BB4C059DFF41}" type="datetime1">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9D4012-E37F-427E-BC39-758BDBFB98F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35C1DC-67E2-4DDC-A236-3EC3E718400D}" type="datetime1">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9D4012-E37F-427E-BC39-758BDBFB98F0}"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7EBB707-5663-48B1-A099-6AE9F802D6EF}" type="datetime1">
              <a:rPr lang="en-US" smtClean="0">
                <a:solidFill>
                  <a:prstClr val="black">
                    <a:tint val="75000"/>
                  </a:prstClr>
                </a:solidFill>
              </a:rPr>
              <a:pPr/>
              <a:t>1/14/2024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99D4012-E37F-427E-BC39-758BDBFB98F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06110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F7B6C1-9EC1-4835-90DD-92A4C2D1CC46}" type="datetime1">
              <a:rPr lang="en-US" smtClean="0">
                <a:solidFill>
                  <a:prstClr val="black">
                    <a:tint val="75000"/>
                  </a:prstClr>
                </a:solidFill>
              </a:rPr>
              <a:pPr/>
              <a:t>1/14/2024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99D4012-E37F-427E-BC39-758BDBFB98F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57090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937AF8-EA7A-4067-BCCF-FBFE077D3BDD}" type="datetime1">
              <a:rPr lang="en-US" smtClean="0">
                <a:solidFill>
                  <a:prstClr val="black">
                    <a:tint val="75000"/>
                  </a:prstClr>
                </a:solidFill>
              </a:rPr>
              <a:pPr/>
              <a:t>1/14/2024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99D4012-E37F-427E-BC39-758BDBFB98F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702735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61EF6E6-E2C0-4BAE-AFB8-8A2B647268F3}" type="datetime1">
              <a:rPr lang="en-US" smtClean="0">
                <a:solidFill>
                  <a:prstClr val="black">
                    <a:tint val="75000"/>
                  </a:prstClr>
                </a:solidFill>
              </a:rPr>
              <a:pPr/>
              <a:t>1/14/2024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99D4012-E37F-427E-BC39-758BDBFB98F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578349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BDF16D-490F-4748-A772-CFCD61709704}" type="datetime1">
              <a:rPr lang="en-US" smtClean="0">
                <a:solidFill>
                  <a:prstClr val="black">
                    <a:tint val="75000"/>
                  </a:prstClr>
                </a:solidFill>
              </a:rPr>
              <a:pPr/>
              <a:t>1/14/2024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499D4012-E37F-427E-BC39-758BDBFB98F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943318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CAE1DC1-27C9-42E2-89B0-0CD2E790C454}" type="datetime1">
              <a:rPr lang="en-US" smtClean="0">
                <a:solidFill>
                  <a:prstClr val="black">
                    <a:tint val="75000"/>
                  </a:prstClr>
                </a:solidFill>
              </a:rPr>
              <a:pPr/>
              <a:t>1/14/2024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499D4012-E37F-427E-BC39-758BDBFB98F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636994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3526E3-5311-46D4-81AA-8B2AA8504B0E}" type="datetime1">
              <a:rPr lang="en-US" smtClean="0">
                <a:solidFill>
                  <a:prstClr val="black">
                    <a:tint val="75000"/>
                  </a:prstClr>
                </a:solidFill>
              </a:rPr>
              <a:pPr/>
              <a:t>1/14/2024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499D4012-E37F-427E-BC39-758BDBFB98F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407967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46DC73-2E25-4BE1-B828-43613D757810}" type="datetime1">
              <a:rPr lang="en-US" smtClean="0">
                <a:solidFill>
                  <a:prstClr val="black">
                    <a:tint val="75000"/>
                  </a:prstClr>
                </a:solidFill>
              </a:rPr>
              <a:pPr/>
              <a:t>1/14/2024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99D4012-E37F-427E-BC39-758BDBFB98F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432732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72158D-DB27-4C31-9067-C620B8F8B9A7}" type="datetime1">
              <a:rPr lang="en-US" smtClean="0">
                <a:solidFill>
                  <a:prstClr val="black">
                    <a:tint val="75000"/>
                  </a:prstClr>
                </a:solidFill>
              </a:rPr>
              <a:pPr/>
              <a:t>1/14/2024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99D4012-E37F-427E-BC39-758BDBFB98F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204142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0122BD-3D84-4D76-BBF5-BB4C059DFF41}" type="datetime1">
              <a:rPr lang="en-US" smtClean="0">
                <a:solidFill>
                  <a:prstClr val="black">
                    <a:tint val="75000"/>
                  </a:prstClr>
                </a:solidFill>
              </a:rPr>
              <a:pPr/>
              <a:t>1/14/2024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99D4012-E37F-427E-BC39-758BDBFB98F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498646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35C1DC-67E2-4DDC-A236-3EC3E718400D}" type="datetime1">
              <a:rPr lang="en-US" smtClean="0">
                <a:solidFill>
                  <a:prstClr val="black">
                    <a:tint val="75000"/>
                  </a:prstClr>
                </a:solidFill>
              </a:rPr>
              <a:pPr/>
              <a:t>1/14/2024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99D4012-E37F-427E-BC39-758BDBFB98F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85291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498D65-F161-429E-95A8-D9A0773A8F0E}" type="datetime1">
              <a:rPr lang="en-US" smtClean="0"/>
              <a:t>1/14/2024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9D4012-E37F-427E-BC39-758BDBFB98F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498D65-F161-429E-95A8-D9A0773A8F0E}" type="datetime1">
              <a:rPr lang="en-US" smtClean="0">
                <a:solidFill>
                  <a:prstClr val="black">
                    <a:tint val="75000"/>
                  </a:prstClr>
                </a:solidFill>
              </a:rPr>
              <a:pPr/>
              <a:t>1/14/2024</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9D4012-E37F-427E-BC39-758BDBFB98F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53827899"/>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8.jpeg"/><Relationship Id="rId7" Type="http://schemas.openxmlformats.org/officeDocument/2006/relationships/image" Target="../media/image21.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5.png"/><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5.png"/><Relationship Id="rId3" Type="http://schemas.openxmlformats.org/officeDocument/2006/relationships/image" Target="../media/image24.jpeg"/><Relationship Id="rId7" Type="http://schemas.openxmlformats.org/officeDocument/2006/relationships/image" Target="../media/image27.png"/><Relationship Id="rId12"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emf"/><Relationship Id="rId10" Type="http://schemas.openxmlformats.org/officeDocument/2006/relationships/image" Target="../media/image30.png"/><Relationship Id="rId4" Type="http://schemas.openxmlformats.org/officeDocument/2006/relationships/oleObject" Target="../embeddings/oleObject1.bin"/><Relationship Id="rId9" Type="http://schemas.openxmlformats.org/officeDocument/2006/relationships/image" Target="../media/image29.png"/><Relationship Id="rId1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3" cstate="print"/>
          <a:srcRect l="15520" t="20833" r="58125" b="9375"/>
          <a:stretch>
            <a:fillRect/>
          </a:stretch>
        </p:blipFill>
        <p:spPr bwMode="auto">
          <a:xfrm>
            <a:off x="3810000" y="499110"/>
            <a:ext cx="4191000" cy="3100659"/>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499D4012-E37F-427E-BC39-758BDBFB98F0}" type="slidenum">
              <a:rPr lang="en-US" smtClean="0"/>
              <a:pPr/>
              <a:t>1</a:t>
            </a:fld>
            <a:endParaRPr lang="en-US"/>
          </a:p>
        </p:txBody>
      </p:sp>
      <p:sp>
        <p:nvSpPr>
          <p:cNvPr id="3" name="Rectangle 2"/>
          <p:cNvSpPr/>
          <p:nvPr/>
        </p:nvSpPr>
        <p:spPr>
          <a:xfrm>
            <a:off x="457200" y="5486400"/>
            <a:ext cx="2209800" cy="9583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5486400"/>
            <a:ext cx="2771430" cy="100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2819400" y="5552182"/>
            <a:ext cx="6553200" cy="1077218"/>
          </a:xfrm>
          <a:prstGeom prst="rect">
            <a:avLst/>
          </a:prstGeom>
          <a:noFill/>
        </p:spPr>
        <p:txBody>
          <a:bodyPr wrap="square" rtlCol="0">
            <a:spAutoFit/>
          </a:bodyPr>
          <a:lstStyle/>
          <a:p>
            <a:pPr algn="ctr"/>
            <a:r>
              <a:rPr lang="en-US" sz="3200" b="1" dirty="0">
                <a:solidFill>
                  <a:schemeClr val="tx2"/>
                </a:solidFill>
                <a:latin typeface="+mj-lt"/>
              </a:rPr>
              <a:t>The Background Investigation </a:t>
            </a:r>
          </a:p>
          <a:p>
            <a:pPr algn="ctr"/>
            <a:r>
              <a:rPr lang="en-US" sz="3200" b="1" dirty="0">
                <a:solidFill>
                  <a:schemeClr val="tx2"/>
                </a:solidFill>
                <a:latin typeface="+mj-lt"/>
              </a:rPr>
              <a:t>Process</a:t>
            </a:r>
          </a:p>
        </p:txBody>
      </p:sp>
      <p:pic>
        <p:nvPicPr>
          <p:cNvPr id="4" name="Picture 3"/>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5562600" y="381000"/>
            <a:ext cx="2514421" cy="2514421"/>
          </a:xfrm>
          <a:prstGeom prst="ellipse">
            <a:avLst/>
          </a:prstGeom>
          <a:effectLst>
            <a:reflection blurRad="6350" stA="52000" endA="300" endPos="35000" dir="5400000" sy="-100000" algn="bl" rotWithShape="0"/>
          </a:effectLst>
        </p:spPr>
      </p:pic>
      <p:pic>
        <p:nvPicPr>
          <p:cNvPr id="6758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1481" y="155335"/>
            <a:ext cx="3183319" cy="553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1459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6324600" y="6356350"/>
            <a:ext cx="2133600" cy="365125"/>
          </a:xfrm>
        </p:spPr>
        <p:txBody>
          <a:bodyPr/>
          <a:lstStyle/>
          <a:p>
            <a:fld id="{499D4012-E37F-427E-BC39-758BDBFB98F0}" type="slidenum">
              <a:rPr lang="en-US" smtClean="0">
                <a:solidFill>
                  <a:prstClr val="black">
                    <a:tint val="75000"/>
                  </a:prstClr>
                </a:solidFill>
              </a:rPr>
              <a:pPr/>
              <a:t>2</a:t>
            </a:fld>
            <a:endParaRPr lang="en-US">
              <a:solidFill>
                <a:prstClr val="black">
                  <a:tint val="75000"/>
                </a:prstClr>
              </a:solidFill>
            </a:endParaRPr>
          </a:p>
        </p:txBody>
      </p:sp>
      <p:sp>
        <p:nvSpPr>
          <p:cNvPr id="73" name="TextBox 72"/>
          <p:cNvSpPr txBox="1"/>
          <p:nvPr/>
        </p:nvSpPr>
        <p:spPr>
          <a:xfrm>
            <a:off x="0" y="86380"/>
            <a:ext cx="9144000" cy="523220"/>
          </a:xfrm>
          <a:prstGeom prst="rect">
            <a:avLst/>
          </a:prstGeom>
          <a:noFill/>
        </p:spPr>
        <p:txBody>
          <a:bodyPr wrap="square" rtlCol="0">
            <a:spAutoFit/>
          </a:bodyPr>
          <a:lstStyle/>
          <a:p>
            <a:pPr algn="ctr"/>
            <a:r>
              <a:rPr lang="en-US" sz="2800" b="1" dirty="0">
                <a:solidFill>
                  <a:schemeClr val="tx2"/>
                </a:solidFill>
                <a:latin typeface="+mj-lt"/>
              </a:rPr>
              <a:t>          Background Investigation Process</a:t>
            </a:r>
          </a:p>
        </p:txBody>
      </p:sp>
      <p:pic>
        <p:nvPicPr>
          <p:cNvPr id="75"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1" y="119217"/>
            <a:ext cx="1948386" cy="70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90600"/>
            <a:ext cx="9144000" cy="2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7" name="Straight Connector 76"/>
          <p:cNvCxnSpPr/>
          <p:nvPr/>
        </p:nvCxnSpPr>
        <p:spPr>
          <a:xfrm>
            <a:off x="0" y="914400"/>
            <a:ext cx="9144000" cy="0"/>
          </a:xfrm>
          <a:prstGeom prst="line">
            <a:avLst/>
          </a:prstGeom>
          <a:ln w="31750" cmpd="sng">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78" name="Picture 3"/>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50000"/>
          <a:stretch/>
        </p:blipFill>
        <p:spPr bwMode="auto">
          <a:xfrm>
            <a:off x="8235255" y="11907"/>
            <a:ext cx="832545" cy="826293"/>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2" name="Rectangle 281"/>
          <p:cNvSpPr/>
          <p:nvPr/>
        </p:nvSpPr>
        <p:spPr>
          <a:xfrm>
            <a:off x="4728664" y="2152709"/>
            <a:ext cx="2462173" cy="142269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r>
              <a:rPr lang="en-US" sz="1000" dirty="0">
                <a:solidFill>
                  <a:srgbClr val="000000"/>
                </a:solidFill>
                <a:latin typeface="Times New Roman"/>
                <a:ea typeface="Calibri"/>
                <a:cs typeface="Times New Roman"/>
              </a:rPr>
              <a:t> </a:t>
            </a:r>
            <a:endParaRPr lang="en-US" sz="1100" dirty="0">
              <a:solidFill>
                <a:prstClr val="white"/>
              </a:solidFill>
              <a:ea typeface="Calibri"/>
              <a:cs typeface="Times New Roman"/>
            </a:endParaRPr>
          </a:p>
          <a:p>
            <a:pPr marL="457200">
              <a:lnSpc>
                <a:spcPct val="115000"/>
              </a:lnSpc>
            </a:pPr>
            <a:r>
              <a:rPr lang="en-US" sz="1000" dirty="0">
                <a:solidFill>
                  <a:srgbClr val="000000"/>
                </a:solidFill>
                <a:latin typeface="Times New Roman"/>
                <a:ea typeface="Calibri"/>
                <a:cs typeface="Times New Roman"/>
              </a:rPr>
              <a:t>  </a:t>
            </a:r>
            <a:endParaRPr lang="en-US" sz="1100" dirty="0">
              <a:solidFill>
                <a:prstClr val="white"/>
              </a:solidFill>
              <a:ea typeface="Calibri"/>
              <a:cs typeface="Times New Roman"/>
            </a:endParaRPr>
          </a:p>
          <a:p>
            <a:pPr marL="457200">
              <a:lnSpc>
                <a:spcPct val="115000"/>
              </a:lnSpc>
            </a:pPr>
            <a:r>
              <a:rPr lang="en-US" sz="1000" dirty="0">
                <a:solidFill>
                  <a:srgbClr val="000000"/>
                </a:solidFill>
                <a:latin typeface="Times New Roman"/>
                <a:ea typeface="Calibri"/>
                <a:cs typeface="Times New Roman"/>
              </a:rPr>
              <a:t> </a:t>
            </a:r>
            <a:endParaRPr lang="en-US" sz="1100" dirty="0">
              <a:solidFill>
                <a:prstClr val="white"/>
              </a:solidFill>
              <a:ea typeface="Calibri"/>
              <a:cs typeface="Times New Roman"/>
            </a:endParaRPr>
          </a:p>
          <a:p>
            <a:pPr marL="457200">
              <a:lnSpc>
                <a:spcPct val="115000"/>
              </a:lnSpc>
            </a:pPr>
            <a:r>
              <a:rPr lang="en-US" sz="1000" dirty="0">
                <a:solidFill>
                  <a:srgbClr val="000000"/>
                </a:solidFill>
                <a:latin typeface="Times New Roman"/>
                <a:ea typeface="Calibri"/>
                <a:cs typeface="Times New Roman"/>
              </a:rPr>
              <a:t> </a:t>
            </a:r>
            <a:endParaRPr lang="en-US" sz="1100" dirty="0">
              <a:solidFill>
                <a:prstClr val="white"/>
              </a:solidFill>
              <a:ea typeface="Calibri"/>
              <a:cs typeface="Times New Roman"/>
            </a:endParaRPr>
          </a:p>
          <a:p>
            <a:pPr marL="457200">
              <a:lnSpc>
                <a:spcPct val="115000"/>
              </a:lnSpc>
            </a:pPr>
            <a:r>
              <a:rPr lang="en-US" sz="1000" dirty="0">
                <a:solidFill>
                  <a:srgbClr val="000000"/>
                </a:solidFill>
                <a:latin typeface="Times New Roman"/>
                <a:ea typeface="Calibri"/>
                <a:cs typeface="Times New Roman"/>
              </a:rPr>
              <a:t> </a:t>
            </a:r>
            <a:endParaRPr lang="en-US" sz="1100" dirty="0">
              <a:solidFill>
                <a:prstClr val="white"/>
              </a:solidFill>
              <a:ea typeface="Calibri"/>
              <a:cs typeface="Times New Roman"/>
            </a:endParaRPr>
          </a:p>
          <a:p>
            <a:pPr>
              <a:lnSpc>
                <a:spcPct val="115000"/>
              </a:lnSpc>
            </a:pPr>
            <a:r>
              <a:rPr lang="en-US" sz="1000" dirty="0">
                <a:solidFill>
                  <a:srgbClr val="000000"/>
                </a:solidFill>
                <a:latin typeface="Times New Roman"/>
                <a:ea typeface="Calibri"/>
                <a:cs typeface="Times New Roman"/>
              </a:rPr>
              <a:t>        </a:t>
            </a:r>
            <a:endParaRPr lang="en-US" sz="1100" dirty="0">
              <a:solidFill>
                <a:prstClr val="white"/>
              </a:solidFill>
              <a:ea typeface="Calibri"/>
              <a:cs typeface="Times New Roman"/>
            </a:endParaRPr>
          </a:p>
        </p:txBody>
      </p:sp>
      <p:sp>
        <p:nvSpPr>
          <p:cNvPr id="283" name="Right Arrow 282"/>
          <p:cNvSpPr/>
          <p:nvPr/>
        </p:nvSpPr>
        <p:spPr>
          <a:xfrm>
            <a:off x="4074121" y="2934847"/>
            <a:ext cx="625634" cy="6741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solidFill>
                <a:prstClr val="white"/>
              </a:solidFill>
            </a:endParaRPr>
          </a:p>
        </p:txBody>
      </p:sp>
      <p:sp>
        <p:nvSpPr>
          <p:cNvPr id="284" name="Rectangle 283"/>
          <p:cNvSpPr/>
          <p:nvPr/>
        </p:nvSpPr>
        <p:spPr>
          <a:xfrm>
            <a:off x="2481399" y="6023928"/>
            <a:ext cx="1607847" cy="52927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endParaRPr lang="en-US" sz="1100" dirty="0">
              <a:solidFill>
                <a:prstClr val="white"/>
              </a:solidFill>
              <a:ea typeface="Calibri"/>
              <a:cs typeface="Times New Roman"/>
            </a:endParaRPr>
          </a:p>
        </p:txBody>
      </p:sp>
      <p:sp>
        <p:nvSpPr>
          <p:cNvPr id="286" name="Rectangle 285"/>
          <p:cNvSpPr/>
          <p:nvPr/>
        </p:nvSpPr>
        <p:spPr>
          <a:xfrm>
            <a:off x="2170492" y="5505509"/>
            <a:ext cx="2394536" cy="42602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endParaRPr lang="en-US" sz="1100" dirty="0">
              <a:solidFill>
                <a:prstClr val="white"/>
              </a:solidFill>
              <a:ea typeface="Calibri"/>
              <a:cs typeface="Times New Roman"/>
            </a:endParaRPr>
          </a:p>
        </p:txBody>
      </p:sp>
      <p:sp>
        <p:nvSpPr>
          <p:cNvPr id="287" name="TextBox 286"/>
          <p:cNvSpPr txBox="1"/>
          <p:nvPr/>
        </p:nvSpPr>
        <p:spPr>
          <a:xfrm>
            <a:off x="2372309" y="5505509"/>
            <a:ext cx="2014629" cy="400110"/>
          </a:xfrm>
          <a:prstGeom prst="rect">
            <a:avLst/>
          </a:prstGeom>
          <a:noFill/>
        </p:spPr>
        <p:txBody>
          <a:bodyPr wrap="square" rtlCol="0">
            <a:spAutoFit/>
          </a:bodyPr>
          <a:lstStyle/>
          <a:p>
            <a:pPr algn="ctr"/>
            <a:r>
              <a:rPr lang="en-US" sz="1000" b="1" dirty="0">
                <a:solidFill>
                  <a:prstClr val="black"/>
                </a:solidFill>
                <a:latin typeface="Times New Roman" panose="02020603050405020304" pitchFamily="18" charset="0"/>
                <a:cs typeface="Times New Roman" panose="02020603050405020304" pitchFamily="18" charset="0"/>
              </a:rPr>
              <a:t>Personnel Evaluation (Oral) Board</a:t>
            </a:r>
          </a:p>
        </p:txBody>
      </p:sp>
      <p:sp>
        <p:nvSpPr>
          <p:cNvPr id="288" name="Rectangle 287"/>
          <p:cNvSpPr/>
          <p:nvPr/>
        </p:nvSpPr>
        <p:spPr>
          <a:xfrm>
            <a:off x="2170492" y="4972109"/>
            <a:ext cx="2153447" cy="4105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n-US" sz="1000" b="1" dirty="0">
                <a:solidFill>
                  <a:srgbClr val="000000"/>
                </a:solidFill>
                <a:latin typeface="Times New Roman"/>
                <a:ea typeface="Calibri"/>
                <a:cs typeface="Times New Roman"/>
              </a:rPr>
              <a:t> </a:t>
            </a:r>
            <a:endParaRPr lang="en-US" sz="1100" dirty="0">
              <a:solidFill>
                <a:prstClr val="white"/>
              </a:solidFill>
              <a:ea typeface="Calibri"/>
              <a:cs typeface="Times New Roman"/>
            </a:endParaRPr>
          </a:p>
        </p:txBody>
      </p:sp>
      <p:sp>
        <p:nvSpPr>
          <p:cNvPr id="289" name="TextBox 288"/>
          <p:cNvSpPr txBox="1"/>
          <p:nvPr/>
        </p:nvSpPr>
        <p:spPr>
          <a:xfrm>
            <a:off x="2416272" y="4952999"/>
            <a:ext cx="1622328" cy="400110"/>
          </a:xfrm>
          <a:prstGeom prst="rect">
            <a:avLst/>
          </a:prstGeom>
          <a:noFill/>
        </p:spPr>
        <p:txBody>
          <a:bodyPr wrap="square" rtlCol="0">
            <a:spAutoFit/>
          </a:bodyPr>
          <a:lstStyle/>
          <a:p>
            <a:pPr algn="ctr"/>
            <a:r>
              <a:rPr lang="en-US" sz="1000" b="1" dirty="0">
                <a:solidFill>
                  <a:prstClr val="black"/>
                </a:solidFill>
                <a:latin typeface="Times New Roman" panose="02020603050405020304" pitchFamily="18" charset="0"/>
                <a:cs typeface="Times New Roman" panose="02020603050405020304" pitchFamily="18" charset="0"/>
              </a:rPr>
              <a:t>   Background Final Interview</a:t>
            </a:r>
          </a:p>
        </p:txBody>
      </p:sp>
      <p:sp>
        <p:nvSpPr>
          <p:cNvPr id="290" name="Rectangle 289"/>
          <p:cNvSpPr/>
          <p:nvPr/>
        </p:nvSpPr>
        <p:spPr>
          <a:xfrm>
            <a:off x="2391007" y="3791586"/>
            <a:ext cx="1799993" cy="1086138"/>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endParaRPr lang="en-US" sz="1100" dirty="0">
              <a:solidFill>
                <a:prstClr val="white"/>
              </a:solidFill>
              <a:ea typeface="Calibri"/>
              <a:cs typeface="Times New Roman"/>
            </a:endParaRPr>
          </a:p>
        </p:txBody>
      </p:sp>
      <p:sp>
        <p:nvSpPr>
          <p:cNvPr id="291" name="TextBox 290"/>
          <p:cNvSpPr txBox="1"/>
          <p:nvPr/>
        </p:nvSpPr>
        <p:spPr>
          <a:xfrm>
            <a:off x="2391007" y="3829109"/>
            <a:ext cx="1799993" cy="1015663"/>
          </a:xfrm>
          <a:prstGeom prst="rect">
            <a:avLst/>
          </a:prstGeom>
          <a:noFill/>
        </p:spPr>
        <p:txBody>
          <a:bodyPr wrap="square" rtlCol="0">
            <a:spAutoFit/>
          </a:bodyPr>
          <a:lstStyle/>
          <a:p>
            <a:pPr algn="ctr"/>
            <a:r>
              <a:rPr lang="en-US" sz="1000" b="1" dirty="0">
                <a:solidFill>
                  <a:prstClr val="black"/>
                </a:solidFill>
                <a:latin typeface="Times New Roman" panose="02020603050405020304" pitchFamily="18" charset="0"/>
                <a:cs typeface="Times New Roman" panose="02020603050405020304" pitchFamily="18" charset="0"/>
              </a:rPr>
              <a:t>Background Investigation</a:t>
            </a:r>
            <a:endParaRPr lang="en-US" sz="900" dirty="0">
              <a:solidFill>
                <a:prstClr val="black"/>
              </a:solidFill>
              <a:latin typeface="Times New Roman" panose="02020603050405020304" pitchFamily="18" charset="0"/>
              <a:cs typeface="Times New Roman" panose="02020603050405020304" pitchFamily="18" charset="0"/>
            </a:endParaRPr>
          </a:p>
          <a:p>
            <a:pPr algn="ctr"/>
            <a:r>
              <a:rPr lang="en-US" sz="1000" dirty="0">
                <a:solidFill>
                  <a:prstClr val="black"/>
                </a:solidFill>
                <a:latin typeface="Times New Roman" panose="02020603050405020304" pitchFamily="18" charset="0"/>
                <a:cs typeface="Times New Roman" panose="02020603050405020304" pitchFamily="18" charset="0"/>
              </a:rPr>
              <a:t>Personal, References, Family/Marital, Residences, Employment, Military, Education, Traffic, Criminal, Financial</a:t>
            </a:r>
          </a:p>
        </p:txBody>
      </p:sp>
      <p:sp>
        <p:nvSpPr>
          <p:cNvPr id="292" name="Rectangle 291"/>
          <p:cNvSpPr/>
          <p:nvPr/>
        </p:nvSpPr>
        <p:spPr>
          <a:xfrm>
            <a:off x="2577233" y="3353884"/>
            <a:ext cx="1420362" cy="32282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endParaRPr lang="en-US" sz="1100" dirty="0">
              <a:solidFill>
                <a:prstClr val="white"/>
              </a:solidFill>
              <a:ea typeface="Calibri"/>
              <a:cs typeface="Times New Roman"/>
            </a:endParaRPr>
          </a:p>
        </p:txBody>
      </p:sp>
      <p:sp>
        <p:nvSpPr>
          <p:cNvPr id="293" name="TextBox 292"/>
          <p:cNvSpPr txBox="1"/>
          <p:nvPr/>
        </p:nvSpPr>
        <p:spPr>
          <a:xfrm>
            <a:off x="2667000" y="3371909"/>
            <a:ext cx="1552358" cy="246221"/>
          </a:xfrm>
          <a:prstGeom prst="rect">
            <a:avLst/>
          </a:prstGeom>
          <a:noFill/>
        </p:spPr>
        <p:txBody>
          <a:bodyPr wrap="square" rtlCol="0">
            <a:spAutoFit/>
          </a:bodyPr>
          <a:lstStyle/>
          <a:p>
            <a:r>
              <a:rPr lang="en-US" sz="1000" b="1" dirty="0">
                <a:solidFill>
                  <a:prstClr val="black"/>
                </a:solidFill>
                <a:latin typeface="Times New Roman" panose="02020603050405020304" pitchFamily="18" charset="0"/>
                <a:cs typeface="Times New Roman" panose="02020603050405020304" pitchFamily="18" charset="0"/>
              </a:rPr>
              <a:t>Civil Service Review</a:t>
            </a:r>
          </a:p>
        </p:txBody>
      </p:sp>
      <p:sp>
        <p:nvSpPr>
          <p:cNvPr id="295" name="Rectangle 294"/>
          <p:cNvSpPr/>
          <p:nvPr/>
        </p:nvSpPr>
        <p:spPr>
          <a:xfrm>
            <a:off x="4391242" y="5030284"/>
            <a:ext cx="1420362" cy="32282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endParaRPr lang="en-US" sz="1100" dirty="0">
              <a:solidFill>
                <a:prstClr val="white"/>
              </a:solidFill>
              <a:ea typeface="Calibri"/>
              <a:cs typeface="Times New Roman"/>
            </a:endParaRPr>
          </a:p>
        </p:txBody>
      </p:sp>
      <p:sp>
        <p:nvSpPr>
          <p:cNvPr id="296" name="TextBox 295"/>
          <p:cNvSpPr txBox="1"/>
          <p:nvPr/>
        </p:nvSpPr>
        <p:spPr>
          <a:xfrm>
            <a:off x="4391242" y="5048309"/>
            <a:ext cx="1552358" cy="246221"/>
          </a:xfrm>
          <a:prstGeom prst="rect">
            <a:avLst/>
          </a:prstGeom>
          <a:noFill/>
        </p:spPr>
        <p:txBody>
          <a:bodyPr wrap="square" rtlCol="0">
            <a:spAutoFit/>
          </a:bodyPr>
          <a:lstStyle/>
          <a:p>
            <a:r>
              <a:rPr lang="en-US" sz="1000" b="1" dirty="0">
                <a:solidFill>
                  <a:prstClr val="black"/>
                </a:solidFill>
                <a:latin typeface="Times New Roman" panose="02020603050405020304" pitchFamily="18" charset="0"/>
                <a:cs typeface="Times New Roman" panose="02020603050405020304" pitchFamily="18" charset="0"/>
              </a:rPr>
              <a:t>Investigative Summary</a:t>
            </a:r>
          </a:p>
        </p:txBody>
      </p:sp>
      <p:sp>
        <p:nvSpPr>
          <p:cNvPr id="297" name="Rectangle 296"/>
          <p:cNvSpPr/>
          <p:nvPr/>
        </p:nvSpPr>
        <p:spPr>
          <a:xfrm>
            <a:off x="5847066" y="5030284"/>
            <a:ext cx="1420362" cy="32282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endParaRPr lang="en-US" sz="1100" dirty="0">
              <a:solidFill>
                <a:prstClr val="white"/>
              </a:solidFill>
              <a:ea typeface="Calibri"/>
              <a:cs typeface="Times New Roman"/>
            </a:endParaRPr>
          </a:p>
        </p:txBody>
      </p:sp>
      <p:sp>
        <p:nvSpPr>
          <p:cNvPr id="298" name="TextBox 297"/>
          <p:cNvSpPr txBox="1"/>
          <p:nvPr/>
        </p:nvSpPr>
        <p:spPr>
          <a:xfrm>
            <a:off x="5915242" y="5066334"/>
            <a:ext cx="1552358" cy="246221"/>
          </a:xfrm>
          <a:prstGeom prst="rect">
            <a:avLst/>
          </a:prstGeom>
          <a:noFill/>
        </p:spPr>
        <p:txBody>
          <a:bodyPr wrap="square" rtlCol="0">
            <a:spAutoFit/>
          </a:bodyPr>
          <a:lstStyle/>
          <a:p>
            <a:r>
              <a:rPr lang="en-US" sz="1000" b="1" dirty="0">
                <a:solidFill>
                  <a:prstClr val="black"/>
                </a:solidFill>
                <a:latin typeface="Times New Roman" panose="02020603050405020304" pitchFamily="18" charset="0"/>
                <a:cs typeface="Times New Roman" panose="02020603050405020304" pitchFamily="18" charset="0"/>
              </a:rPr>
              <a:t>Oral Board Packages</a:t>
            </a:r>
          </a:p>
        </p:txBody>
      </p:sp>
      <p:sp>
        <p:nvSpPr>
          <p:cNvPr id="300" name="Rectangle 299"/>
          <p:cNvSpPr/>
          <p:nvPr/>
        </p:nvSpPr>
        <p:spPr>
          <a:xfrm>
            <a:off x="2390336" y="1932598"/>
            <a:ext cx="1660691" cy="29634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endParaRPr lang="en-US" sz="1100" dirty="0">
              <a:solidFill>
                <a:prstClr val="white"/>
              </a:solidFill>
              <a:ea typeface="Calibri"/>
              <a:cs typeface="Times New Roman"/>
            </a:endParaRPr>
          </a:p>
        </p:txBody>
      </p:sp>
      <p:sp>
        <p:nvSpPr>
          <p:cNvPr id="301" name="TextBox 300"/>
          <p:cNvSpPr txBox="1"/>
          <p:nvPr/>
        </p:nvSpPr>
        <p:spPr>
          <a:xfrm>
            <a:off x="2286000" y="1981200"/>
            <a:ext cx="1770467" cy="246221"/>
          </a:xfrm>
          <a:prstGeom prst="rect">
            <a:avLst/>
          </a:prstGeom>
          <a:noFill/>
        </p:spPr>
        <p:txBody>
          <a:bodyPr wrap="square" rtlCol="0">
            <a:spAutoFit/>
          </a:bodyPr>
          <a:lstStyle/>
          <a:p>
            <a:pPr algn="ctr"/>
            <a:r>
              <a:rPr lang="en-US" sz="1000" b="1" dirty="0">
                <a:solidFill>
                  <a:prstClr val="black"/>
                </a:solidFill>
                <a:latin typeface="Times New Roman" panose="02020603050405020304" pitchFamily="18" charset="0"/>
                <a:cs typeface="Times New Roman" panose="02020603050405020304" pitchFamily="18" charset="0"/>
              </a:rPr>
              <a:t>    Background Staff Review</a:t>
            </a:r>
          </a:p>
        </p:txBody>
      </p:sp>
      <p:sp>
        <p:nvSpPr>
          <p:cNvPr id="302" name="Rectangle 301"/>
          <p:cNvSpPr/>
          <p:nvPr/>
        </p:nvSpPr>
        <p:spPr>
          <a:xfrm>
            <a:off x="1676400" y="1066800"/>
            <a:ext cx="3176628" cy="85731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n-US" sz="1000" b="1" dirty="0">
                <a:solidFill>
                  <a:schemeClr val="tx1"/>
                </a:solidFill>
                <a:latin typeface="Times New Roman" panose="02020603050405020304" pitchFamily="18" charset="0"/>
                <a:ea typeface="Calibri"/>
                <a:cs typeface="Times New Roman" panose="02020603050405020304" pitchFamily="18" charset="0"/>
              </a:rPr>
              <a:t>Receive Eligibility List from Civil Service Commission</a:t>
            </a:r>
          </a:p>
          <a:p>
            <a:pPr marL="171450" indent="-171450">
              <a:lnSpc>
                <a:spcPct val="115000"/>
              </a:lnSpc>
              <a:buFont typeface="Arial" panose="020B0604020202020204" pitchFamily="34" charset="0"/>
              <a:buChar char="•"/>
            </a:pPr>
            <a:r>
              <a:rPr lang="en-US" sz="900" dirty="0">
                <a:solidFill>
                  <a:schemeClr val="tx1"/>
                </a:solidFill>
                <a:latin typeface="Times New Roman" panose="02020603050405020304" pitchFamily="18" charset="0"/>
                <a:ea typeface="Calibri"/>
                <a:cs typeface="Times New Roman" panose="02020603050405020304" pitchFamily="18" charset="0"/>
              </a:rPr>
              <a:t>Email invite to candidate to complete Personal History Statement (PHS) and associated documents/waivers in the Peace Officer Background Investigation Tracking System (POBITS)</a:t>
            </a:r>
          </a:p>
        </p:txBody>
      </p:sp>
      <p:sp>
        <p:nvSpPr>
          <p:cNvPr id="303" name="Right Arrow 302"/>
          <p:cNvSpPr/>
          <p:nvPr/>
        </p:nvSpPr>
        <p:spPr>
          <a:xfrm>
            <a:off x="3962400" y="2466294"/>
            <a:ext cx="734082" cy="6741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solidFill>
                <a:prstClr val="white"/>
              </a:solidFill>
            </a:endParaRPr>
          </a:p>
        </p:txBody>
      </p:sp>
      <p:sp>
        <p:nvSpPr>
          <p:cNvPr id="304" name="Right Arrow 303"/>
          <p:cNvSpPr/>
          <p:nvPr/>
        </p:nvSpPr>
        <p:spPr>
          <a:xfrm>
            <a:off x="4022566" y="3456894"/>
            <a:ext cx="673916" cy="45719"/>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solidFill>
                <a:prstClr val="white"/>
              </a:solidFill>
            </a:endParaRPr>
          </a:p>
        </p:txBody>
      </p:sp>
      <p:sp>
        <p:nvSpPr>
          <p:cNvPr id="305" name="TextBox 304"/>
          <p:cNvSpPr txBox="1"/>
          <p:nvPr/>
        </p:nvSpPr>
        <p:spPr>
          <a:xfrm>
            <a:off x="5057954" y="2190689"/>
            <a:ext cx="1800046" cy="430887"/>
          </a:xfrm>
          <a:prstGeom prst="rect">
            <a:avLst/>
          </a:prstGeom>
          <a:noFill/>
        </p:spPr>
        <p:txBody>
          <a:bodyPr wrap="square" rtlCol="0">
            <a:spAutoFit/>
          </a:bodyPr>
          <a:lstStyle/>
          <a:p>
            <a:r>
              <a:rPr lang="en-US" sz="1200" b="1" i="1" dirty="0">
                <a:solidFill>
                  <a:prstClr val="black"/>
                </a:solidFill>
                <a:latin typeface="Times New Roman" panose="02020603050405020304" pitchFamily="18" charset="0"/>
                <a:cs typeface="Times New Roman" panose="02020603050405020304" pitchFamily="18" charset="0"/>
              </a:rPr>
              <a:t>             Removal</a:t>
            </a:r>
          </a:p>
          <a:p>
            <a:pPr marL="171450" indent="-171450">
              <a:buFont typeface="Arial" panose="020B0604020202020204" pitchFamily="34" charset="0"/>
              <a:buChar char="•"/>
            </a:pPr>
            <a:r>
              <a:rPr lang="en-US" sz="1000" dirty="0">
                <a:solidFill>
                  <a:prstClr val="black"/>
                </a:solidFill>
                <a:latin typeface="Times New Roman" panose="02020603050405020304" pitchFamily="18" charset="0"/>
                <a:cs typeface="Times New Roman" panose="02020603050405020304" pitchFamily="18" charset="0"/>
              </a:rPr>
              <a:t>Appeal to Civil Service</a:t>
            </a:r>
          </a:p>
        </p:txBody>
      </p:sp>
      <p:sp>
        <p:nvSpPr>
          <p:cNvPr id="306" name="TextBox 305"/>
          <p:cNvSpPr txBox="1"/>
          <p:nvPr/>
        </p:nvSpPr>
        <p:spPr>
          <a:xfrm>
            <a:off x="4853028" y="3105089"/>
            <a:ext cx="2462172" cy="400110"/>
          </a:xfrm>
          <a:prstGeom prst="rect">
            <a:avLst/>
          </a:prstGeom>
          <a:noFill/>
        </p:spPr>
        <p:txBody>
          <a:bodyPr wrap="square" rtlCol="0">
            <a:spAutoFit/>
          </a:bodyPr>
          <a:lstStyle/>
          <a:p>
            <a:r>
              <a:rPr lang="en-US" sz="1000" dirty="0">
                <a:solidFill>
                  <a:prstClr val="black"/>
                </a:solidFill>
                <a:latin typeface="Times New Roman" panose="02020603050405020304" pitchFamily="18" charset="0"/>
                <a:cs typeface="Times New Roman" panose="02020603050405020304" pitchFamily="18" charset="0"/>
              </a:rPr>
              <a:t>Appeal Granted         Appeal Denied </a:t>
            </a:r>
          </a:p>
          <a:p>
            <a:r>
              <a:rPr lang="en-US" sz="1000" dirty="0">
                <a:solidFill>
                  <a:prstClr val="black"/>
                </a:solidFill>
                <a:latin typeface="Times New Roman" panose="02020603050405020304" pitchFamily="18" charset="0"/>
                <a:cs typeface="Times New Roman" panose="02020603050405020304" pitchFamily="18" charset="0"/>
              </a:rPr>
              <a:t>-Back in Process       -Out of Process</a:t>
            </a:r>
          </a:p>
        </p:txBody>
      </p:sp>
      <p:sp>
        <p:nvSpPr>
          <p:cNvPr id="307" name="Right Arrow 306"/>
          <p:cNvSpPr/>
          <p:nvPr/>
        </p:nvSpPr>
        <p:spPr>
          <a:xfrm rot="5400000">
            <a:off x="6339841" y="2891729"/>
            <a:ext cx="380999" cy="45719"/>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solidFill>
                <a:prstClr val="white"/>
              </a:solidFill>
            </a:endParaRPr>
          </a:p>
        </p:txBody>
      </p:sp>
      <p:sp>
        <p:nvSpPr>
          <p:cNvPr id="308" name="Right Arrow 307"/>
          <p:cNvSpPr/>
          <p:nvPr/>
        </p:nvSpPr>
        <p:spPr>
          <a:xfrm rot="5400000">
            <a:off x="5151122" y="2891730"/>
            <a:ext cx="380999" cy="45719"/>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solidFill>
                <a:prstClr val="white"/>
              </a:solidFill>
            </a:endParaRPr>
          </a:p>
        </p:txBody>
      </p:sp>
      <p:cxnSp>
        <p:nvCxnSpPr>
          <p:cNvPr id="309" name="Straight Connector 308"/>
          <p:cNvCxnSpPr>
            <a:endCxn id="307" idx="1"/>
          </p:cNvCxnSpPr>
          <p:nvPr/>
        </p:nvCxnSpPr>
        <p:spPr>
          <a:xfrm>
            <a:off x="5355609" y="2724089"/>
            <a:ext cx="117473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3" name="Rectangle 312"/>
          <p:cNvSpPr/>
          <p:nvPr/>
        </p:nvSpPr>
        <p:spPr>
          <a:xfrm>
            <a:off x="2577233" y="2296324"/>
            <a:ext cx="1423951" cy="38870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n-US" sz="1000" b="1" dirty="0">
                <a:solidFill>
                  <a:schemeClr val="tx1"/>
                </a:solidFill>
                <a:latin typeface="Times New Roman" panose="02020603050405020304" pitchFamily="18" charset="0"/>
                <a:ea typeface="Calibri"/>
                <a:cs typeface="Times New Roman" panose="02020603050405020304" pitchFamily="18" charset="0"/>
              </a:rPr>
              <a:t>Background Checks &amp; Ma</a:t>
            </a:r>
            <a:r>
              <a:rPr lang="en-US" sz="1000" dirty="0">
                <a:solidFill>
                  <a:schemeClr val="tx1"/>
                </a:solidFill>
                <a:latin typeface="Times New Roman" panose="02020603050405020304" pitchFamily="18" charset="0"/>
                <a:ea typeface="Calibri"/>
                <a:cs typeface="Times New Roman" panose="02020603050405020304" pitchFamily="18" charset="0"/>
              </a:rPr>
              <a:t>i</a:t>
            </a:r>
            <a:r>
              <a:rPr lang="en-US" sz="1000" b="1" dirty="0">
                <a:solidFill>
                  <a:schemeClr val="tx1"/>
                </a:solidFill>
                <a:latin typeface="Times New Roman" panose="02020603050405020304" pitchFamily="18" charset="0"/>
                <a:ea typeface="Calibri"/>
                <a:cs typeface="Times New Roman" panose="02020603050405020304" pitchFamily="18" charset="0"/>
              </a:rPr>
              <a:t>lers</a:t>
            </a:r>
          </a:p>
        </p:txBody>
      </p:sp>
      <p:sp>
        <p:nvSpPr>
          <p:cNvPr id="314" name="Rectangle 313"/>
          <p:cNvSpPr/>
          <p:nvPr/>
        </p:nvSpPr>
        <p:spPr>
          <a:xfrm>
            <a:off x="2362199" y="2784559"/>
            <a:ext cx="1711921" cy="4920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r>
              <a:rPr lang="en-US" sz="1000" b="1" dirty="0">
                <a:solidFill>
                  <a:schemeClr val="tx1"/>
                </a:solidFill>
                <a:latin typeface="Times New Roman" panose="02020603050405020304" pitchFamily="18" charset="0"/>
                <a:ea typeface="Calibri"/>
                <a:cs typeface="Times New Roman" panose="02020603050405020304" pitchFamily="18" charset="0"/>
              </a:rPr>
              <a:t>Pre-interview &amp; Polygraph</a:t>
            </a:r>
          </a:p>
          <a:p>
            <a:pPr marL="171450" indent="-171450">
              <a:lnSpc>
                <a:spcPct val="115000"/>
              </a:lnSpc>
              <a:buFont typeface="Arial" panose="020B0604020202020204" pitchFamily="34" charset="0"/>
              <a:buChar char="•"/>
            </a:pPr>
            <a:r>
              <a:rPr lang="en-US" sz="1000" b="1" dirty="0">
                <a:solidFill>
                  <a:schemeClr val="tx1"/>
                </a:solidFill>
                <a:latin typeface="Times New Roman" panose="02020603050405020304" pitchFamily="18" charset="0"/>
                <a:ea typeface="Calibri"/>
                <a:cs typeface="Times New Roman" panose="02020603050405020304" pitchFamily="18" charset="0"/>
              </a:rPr>
              <a:t>Photos/Fingerprints </a:t>
            </a:r>
          </a:p>
        </p:txBody>
      </p:sp>
      <p:sp>
        <p:nvSpPr>
          <p:cNvPr id="315" name="TextBox 314"/>
          <p:cNvSpPr txBox="1"/>
          <p:nvPr/>
        </p:nvSpPr>
        <p:spPr>
          <a:xfrm>
            <a:off x="2633800" y="6096000"/>
            <a:ext cx="1404800" cy="400110"/>
          </a:xfrm>
          <a:prstGeom prst="rect">
            <a:avLst/>
          </a:prstGeom>
          <a:solidFill>
            <a:srgbClr val="FFFF00"/>
          </a:solidFill>
        </p:spPr>
        <p:txBody>
          <a:bodyPr wrap="square" rtlCol="0">
            <a:spAutoFit/>
          </a:bodyPr>
          <a:lstStyle/>
          <a:p>
            <a:pPr algn="ctr"/>
            <a:r>
              <a:rPr lang="en-US" sz="1000" b="1" dirty="0">
                <a:solidFill>
                  <a:prstClr val="black"/>
                </a:solidFill>
                <a:latin typeface="Times New Roman" panose="02020603050405020304" pitchFamily="18" charset="0"/>
                <a:cs typeface="Times New Roman" panose="02020603050405020304" pitchFamily="18" charset="0"/>
              </a:rPr>
              <a:t>Chain of Command </a:t>
            </a:r>
          </a:p>
          <a:p>
            <a:pPr algn="ctr"/>
            <a:r>
              <a:rPr lang="en-US" sz="1000" b="1" dirty="0">
                <a:solidFill>
                  <a:prstClr val="black"/>
                </a:solidFill>
                <a:latin typeface="Times New Roman" panose="02020603050405020304" pitchFamily="18" charset="0"/>
                <a:cs typeface="Times New Roman" panose="02020603050405020304" pitchFamily="18" charset="0"/>
              </a:rPr>
              <a:t>Review</a:t>
            </a:r>
          </a:p>
        </p:txBody>
      </p:sp>
      <p:pic>
        <p:nvPicPr>
          <p:cNvPr id="31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15315" y="1112683"/>
            <a:ext cx="1495981" cy="9973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9"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04403" y="3495019"/>
            <a:ext cx="717804" cy="7119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1"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52515" y="5486400"/>
            <a:ext cx="1639085" cy="1229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2" name="Picture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58677" y="5552720"/>
            <a:ext cx="1672281" cy="125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3" name="Picture 49"/>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372363" y="4229357"/>
            <a:ext cx="1638933" cy="1230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4"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32862" y="1143000"/>
            <a:ext cx="1410527" cy="7182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5"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125" y="5748983"/>
            <a:ext cx="1524000" cy="10536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6" name="Picture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200" y="1902618"/>
            <a:ext cx="1555313" cy="973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7" name="Picture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373" y="2930598"/>
            <a:ext cx="1812757" cy="1209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8" name="Picture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3892" y="4296377"/>
            <a:ext cx="1628220" cy="12563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0" name="Picture 2"/>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364867" y="2183737"/>
            <a:ext cx="1653924" cy="1233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Right Arrow 48"/>
          <p:cNvSpPr/>
          <p:nvPr/>
        </p:nvSpPr>
        <p:spPr>
          <a:xfrm>
            <a:off x="2100787" y="2543561"/>
            <a:ext cx="432505" cy="47239"/>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solidFill>
                <a:prstClr val="white"/>
              </a:solidFill>
            </a:endParaRPr>
          </a:p>
        </p:txBody>
      </p:sp>
      <p:cxnSp>
        <p:nvCxnSpPr>
          <p:cNvPr id="6" name="Straight Connector 5"/>
          <p:cNvCxnSpPr>
            <a:stCxn id="49" idx="1"/>
          </p:cNvCxnSpPr>
          <p:nvPr/>
        </p:nvCxnSpPr>
        <p:spPr>
          <a:xfrm>
            <a:off x="2100787" y="2567181"/>
            <a:ext cx="32813" cy="17772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Right Arrow 53"/>
          <p:cNvSpPr/>
          <p:nvPr/>
        </p:nvSpPr>
        <p:spPr>
          <a:xfrm>
            <a:off x="2133600" y="4297681"/>
            <a:ext cx="228599" cy="45719"/>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solidFill>
                <a:prstClr val="white"/>
              </a:solidFill>
            </a:endParaRPr>
          </a:p>
        </p:txBody>
      </p:sp>
      <p:sp>
        <p:nvSpPr>
          <p:cNvPr id="63" name="Rectangle 62"/>
          <p:cNvSpPr/>
          <p:nvPr/>
        </p:nvSpPr>
        <p:spPr>
          <a:xfrm>
            <a:off x="5029200" y="1447800"/>
            <a:ext cx="2153447" cy="6391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n-US" sz="1000" b="1" dirty="0">
                <a:solidFill>
                  <a:srgbClr val="000000"/>
                </a:solidFill>
                <a:latin typeface="Times New Roman"/>
                <a:ea typeface="Calibri"/>
                <a:cs typeface="Times New Roman"/>
              </a:rPr>
              <a:t> </a:t>
            </a:r>
            <a:endParaRPr lang="en-US" sz="1100" dirty="0">
              <a:solidFill>
                <a:prstClr val="white"/>
              </a:solidFill>
              <a:ea typeface="Calibri"/>
              <a:cs typeface="Times New Roman"/>
            </a:endParaRPr>
          </a:p>
        </p:txBody>
      </p:sp>
      <p:sp>
        <p:nvSpPr>
          <p:cNvPr id="64" name="TextBox 63"/>
          <p:cNvSpPr txBox="1"/>
          <p:nvPr/>
        </p:nvSpPr>
        <p:spPr>
          <a:xfrm>
            <a:off x="5029200" y="1425714"/>
            <a:ext cx="2153447" cy="707886"/>
          </a:xfrm>
          <a:prstGeom prst="rect">
            <a:avLst/>
          </a:prstGeom>
          <a:noFill/>
        </p:spPr>
        <p:txBody>
          <a:bodyPr wrap="square" rtlCol="0">
            <a:spAutoFit/>
          </a:bodyPr>
          <a:lstStyle/>
          <a:p>
            <a:pPr algn="ctr"/>
            <a:r>
              <a:rPr lang="en-US" sz="1000" b="1" dirty="0">
                <a:solidFill>
                  <a:prstClr val="black"/>
                </a:solidFill>
                <a:latin typeface="Times New Roman" panose="02020603050405020304" pitchFamily="18" charset="0"/>
                <a:cs typeface="Times New Roman" panose="02020603050405020304" pitchFamily="18" charset="0"/>
              </a:rPr>
              <a:t>   Background Removal Standards for Police Officers and 911 Emergency Communications Employees</a:t>
            </a:r>
          </a:p>
        </p:txBody>
      </p:sp>
      <p:cxnSp>
        <p:nvCxnSpPr>
          <p:cNvPr id="18" name="Straight Connector 17"/>
          <p:cNvCxnSpPr>
            <a:stCxn id="300" idx="3"/>
          </p:cNvCxnSpPr>
          <p:nvPr/>
        </p:nvCxnSpPr>
        <p:spPr>
          <a:xfrm flipV="1">
            <a:off x="4051027" y="2080771"/>
            <a:ext cx="978173"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Right Arrow 71"/>
          <p:cNvSpPr/>
          <p:nvPr/>
        </p:nvSpPr>
        <p:spPr>
          <a:xfrm>
            <a:off x="4038600" y="2133600"/>
            <a:ext cx="657882" cy="45719"/>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solidFill>
                <a:prstClr val="white"/>
              </a:solidFill>
            </a:endParaRPr>
          </a:p>
        </p:txBody>
      </p:sp>
    </p:spTree>
    <p:extLst>
      <p:ext uri="{BB962C8B-B14F-4D97-AF65-F5344CB8AC3E}">
        <p14:creationId xmlns:p14="http://schemas.microsoft.com/office/powerpoint/2010/main" val="449664837"/>
      </p:ext>
    </p:extLst>
  </p:cSld>
  <p:clrMapOvr>
    <a:masterClrMapping/>
  </p:clrMapOvr>
  <p:transition>
    <p:wedg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rotWithShape="1">
          <a:blip r:embed="rId3" cstate="print"/>
          <a:srcRect t="11111" b="19514"/>
          <a:stretch/>
        </p:blipFill>
        <p:spPr bwMode="auto">
          <a:xfrm>
            <a:off x="1795272" y="1547813"/>
            <a:ext cx="5596128" cy="5257800"/>
          </a:xfrm>
          <a:prstGeom prst="rect">
            <a:avLst/>
          </a:prstGeom>
          <a:noFill/>
          <a:ln w="9525">
            <a:noFill/>
            <a:miter lim="800000"/>
            <a:headEnd/>
            <a:tailEnd/>
          </a:ln>
          <a:effectLst/>
        </p:spPr>
      </p:pic>
      <p:pic>
        <p:nvPicPr>
          <p:cNvPr id="4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524000"/>
            <a:ext cx="9144000" cy="2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 name="TextBox 49"/>
          <p:cNvSpPr txBox="1"/>
          <p:nvPr/>
        </p:nvSpPr>
        <p:spPr>
          <a:xfrm>
            <a:off x="0" y="816114"/>
            <a:ext cx="9144000" cy="584775"/>
          </a:xfrm>
          <a:prstGeom prst="rect">
            <a:avLst/>
          </a:prstGeom>
          <a:noFill/>
        </p:spPr>
        <p:txBody>
          <a:bodyPr wrap="square" rtlCol="0">
            <a:spAutoFit/>
          </a:bodyPr>
          <a:lstStyle/>
          <a:p>
            <a:pPr algn="ctr"/>
            <a:r>
              <a:rPr lang="en-US" sz="3200" b="1" dirty="0">
                <a:solidFill>
                  <a:schemeClr val="tx2"/>
                </a:solidFill>
                <a:latin typeface="+mj-lt"/>
              </a:rPr>
              <a:t>Background Investigation Section</a:t>
            </a:r>
          </a:p>
        </p:txBody>
      </p:sp>
      <p:cxnSp>
        <p:nvCxnSpPr>
          <p:cNvPr id="51" name="Straight Connector 50"/>
          <p:cNvCxnSpPr/>
          <p:nvPr/>
        </p:nvCxnSpPr>
        <p:spPr>
          <a:xfrm>
            <a:off x="0" y="1447800"/>
            <a:ext cx="9144000" cy="0"/>
          </a:xfrm>
          <a:prstGeom prst="line">
            <a:avLst/>
          </a:prstGeom>
          <a:ln w="31750" cmpd="sng">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61" y="1596964"/>
            <a:ext cx="2788439" cy="20945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5301"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81800" y="5053013"/>
            <a:ext cx="2305049" cy="17287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5305" name="Picture 9" descr="http://www.columbuspolice.org/calea/images/academycruiser.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4006" y="5226016"/>
            <a:ext cx="3003994" cy="1574833"/>
          </a:xfrm>
          <a:prstGeom prst="rect">
            <a:avLst/>
          </a:prstGeom>
          <a:noFill/>
          <a:extLst>
            <a:ext uri="{909E8E84-426E-40DD-AFC4-6F175D3DCCD1}">
              <a14:hiddenFill xmlns:a14="http://schemas.microsoft.com/office/drawing/2010/main">
                <a:solidFill>
                  <a:srgbClr val="FFFFFF"/>
                </a:solidFill>
              </a14:hiddenFill>
            </a:ext>
          </a:extLst>
        </p:spPr>
      </p:pic>
      <p:pic>
        <p:nvPicPr>
          <p:cNvPr id="55306" name="Picture 1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24599" y="1840693"/>
            <a:ext cx="2762249" cy="17407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539" y="131315"/>
            <a:ext cx="1947861" cy="706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3"/>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b="50000"/>
          <a:stretch/>
        </p:blipFill>
        <p:spPr bwMode="auto">
          <a:xfrm>
            <a:off x="7772399" y="84210"/>
            <a:ext cx="1066801" cy="105879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26493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 name="Content Placeholder 11" descr="Meghan Sicilian.jpg"/>
          <p:cNvPicPr>
            <a:picLocks noGrp="1" noChangeAspect="1"/>
          </p:cNvPicPr>
          <p:nvPr>
            <p:ph idx="1"/>
          </p:nvPr>
        </p:nvPicPr>
        <p:blipFill>
          <a:blip r:embed="rId3" cstate="print"/>
          <a:stretch>
            <a:fillRect/>
          </a:stretch>
        </p:blipFill>
        <p:spPr>
          <a:xfrm>
            <a:off x="3352800" y="2783268"/>
            <a:ext cx="2438400" cy="2609088"/>
          </a:xfrm>
        </p:spPr>
      </p:pic>
      <p:graphicFrame>
        <p:nvGraphicFramePr>
          <p:cNvPr id="3074" name="Object 2"/>
          <p:cNvGraphicFramePr>
            <a:graphicFrameLocks noChangeAspect="1"/>
          </p:cNvGraphicFramePr>
          <p:nvPr>
            <p:extLst>
              <p:ext uri="{D42A27DB-BD31-4B8C-83A1-F6EECF244321}">
                <p14:modId xmlns:p14="http://schemas.microsoft.com/office/powerpoint/2010/main" val="3375277118"/>
              </p:ext>
            </p:extLst>
          </p:nvPr>
        </p:nvGraphicFramePr>
        <p:xfrm>
          <a:off x="0" y="152400"/>
          <a:ext cx="9144000" cy="6858000"/>
        </p:xfrm>
        <a:graphic>
          <a:graphicData uri="http://schemas.openxmlformats.org/presentationml/2006/ole">
            <mc:AlternateContent xmlns:mc="http://schemas.openxmlformats.org/markup-compatibility/2006">
              <mc:Choice xmlns:v="urn:schemas-microsoft-com:vml" Requires="v">
                <p:oleObj name="Presentation" r:id="rId4" imgW="4306677" imgH="3229485" progId="PowerPoint.Show.8">
                  <p:embed/>
                </p:oleObj>
              </mc:Choice>
              <mc:Fallback>
                <p:oleObj name="Presentation" r:id="rId4" imgW="4306677" imgH="3229485" progId="PowerPoint.Show.8">
                  <p:embed/>
                  <p:pic>
                    <p:nvPicPr>
                      <p:cNvPr id="0" name=""/>
                      <p:cNvPicPr>
                        <a:picLocks noChangeAspect="1" noChangeArrowheads="1"/>
                      </p:cNvPicPr>
                      <p:nvPr/>
                    </p:nvPicPr>
                    <p:blipFill>
                      <a:blip r:embed="rId5"/>
                      <a:srcRect/>
                      <a:stretch>
                        <a:fillRect/>
                      </a:stretch>
                    </p:blipFill>
                    <p:spPr bwMode="auto">
                      <a:xfrm>
                        <a:off x="0" y="15240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TextBox 2"/>
          <p:cNvSpPr txBox="1"/>
          <p:nvPr/>
        </p:nvSpPr>
        <p:spPr>
          <a:xfrm>
            <a:off x="723900" y="2377857"/>
            <a:ext cx="7696200" cy="3108543"/>
          </a:xfrm>
          <a:prstGeom prst="rect">
            <a:avLst/>
          </a:prstGeom>
          <a:noFill/>
        </p:spPr>
        <p:txBody>
          <a:bodyPr wrap="square" rtlCol="0">
            <a:spAutoFit/>
          </a:bodyPr>
          <a:lstStyle/>
          <a:p>
            <a:pPr marL="285750" indent="-285750">
              <a:buFont typeface="Arial" panose="020B0604020202020204" pitchFamily="34" charset="0"/>
              <a:buChar char="•"/>
            </a:pPr>
            <a:r>
              <a:rPr lang="en-US" dirty="0"/>
              <a:t>Anyone hired on or after January 1, 2010 shall be required to cover tattoos by means determined by the Division and the cost of covering shall be paid by the member.</a:t>
            </a:r>
          </a:p>
          <a:p>
            <a:pPr marL="285750" indent="-285750">
              <a:buFont typeface="Arial" panose="020B0604020202020204" pitchFamily="34" charset="0"/>
              <a:buChar char="•"/>
            </a:pPr>
            <a:r>
              <a:rPr lang="en-US" dirty="0"/>
              <a:t>New tattoos that will be visible on any exposed body part are </a:t>
            </a:r>
            <a:r>
              <a:rPr lang="en-US" b="1" u="sng" dirty="0"/>
              <a:t>prohibited</a:t>
            </a:r>
            <a:r>
              <a:rPr lang="en-US" dirty="0"/>
              <a:t>. </a:t>
            </a:r>
          </a:p>
          <a:p>
            <a:pPr marL="285750" indent="-285750">
              <a:buFont typeface="Arial" panose="020B0604020202020204" pitchFamily="34" charset="0"/>
              <a:buChar char="•"/>
            </a:pPr>
            <a:r>
              <a:rPr lang="en-US" dirty="0"/>
              <a:t>Tattoos visible on the head, neck, or hands are </a:t>
            </a:r>
            <a:r>
              <a:rPr lang="en-US" b="1" u="sng" dirty="0"/>
              <a:t>prohibited</a:t>
            </a:r>
            <a:r>
              <a:rPr lang="en-US" dirty="0"/>
              <a:t>.</a:t>
            </a:r>
          </a:p>
          <a:p>
            <a:pPr marL="285750" indent="-285750">
              <a:buFont typeface="Arial" panose="020B0604020202020204" pitchFamily="34" charset="0"/>
              <a:buChar char="•"/>
            </a:pPr>
            <a:r>
              <a:rPr lang="en-US" dirty="0"/>
              <a:t>Tattoos depicting obscene, gang-related, sexual, nude, extremist, racist, or otherwise offensive images are </a:t>
            </a:r>
            <a:r>
              <a:rPr lang="en-US" b="1" u="sng" dirty="0"/>
              <a:t>prohibited</a:t>
            </a:r>
            <a:r>
              <a:rPr lang="en-US" dirty="0"/>
              <a:t>.</a:t>
            </a:r>
          </a:p>
          <a:p>
            <a:pPr marL="285750" indent="-285750">
              <a:buFont typeface="Arial" panose="020B0604020202020204" pitchFamily="34" charset="0"/>
              <a:buChar char="•"/>
            </a:pPr>
            <a:endParaRPr lang="en-US" sz="800" dirty="0"/>
          </a:p>
          <a:p>
            <a:r>
              <a:rPr lang="en-US" dirty="0"/>
              <a:t>*  Existing tattoos on the arms and legs will be photographed.</a:t>
            </a:r>
          </a:p>
          <a:p>
            <a:endParaRPr lang="en-US" sz="800" dirty="0"/>
          </a:p>
          <a:p>
            <a:r>
              <a:rPr lang="en-US" b="1" dirty="0"/>
              <a:t>Body Mutilations/Piercings</a:t>
            </a:r>
          </a:p>
          <a:p>
            <a:pPr marL="285750" indent="-285750">
              <a:buFont typeface="Arial" panose="020B0604020202020204" pitchFamily="34" charset="0"/>
              <a:buChar char="•"/>
            </a:pPr>
            <a:r>
              <a:rPr lang="en-US" dirty="0"/>
              <a:t>No visible mutilations or piercing (other than ears) shall be permitted.</a:t>
            </a:r>
          </a:p>
        </p:txBody>
      </p:sp>
      <p:pic>
        <p:nvPicPr>
          <p:cNvPr id="35843"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551" y="5552420"/>
            <a:ext cx="1254469" cy="12293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846"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39000" y="5557510"/>
            <a:ext cx="1219200"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847"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2022" y="5552421"/>
            <a:ext cx="1075706" cy="1229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849" name="Picture 9"/>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78439" y="685800"/>
            <a:ext cx="1774009" cy="16575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863" name="Picture 2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378789" y="5557510"/>
            <a:ext cx="934464"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864" name="Picture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66497" y="5574465"/>
            <a:ext cx="1233735" cy="11852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TextBox 16"/>
          <p:cNvSpPr txBox="1"/>
          <p:nvPr/>
        </p:nvSpPr>
        <p:spPr>
          <a:xfrm>
            <a:off x="0" y="86380"/>
            <a:ext cx="9144000" cy="523220"/>
          </a:xfrm>
          <a:prstGeom prst="rect">
            <a:avLst/>
          </a:prstGeom>
          <a:noFill/>
        </p:spPr>
        <p:txBody>
          <a:bodyPr wrap="square" rtlCol="0">
            <a:spAutoFit/>
          </a:bodyPr>
          <a:lstStyle/>
          <a:p>
            <a:pPr algn="ctr"/>
            <a:r>
              <a:rPr lang="en-US" sz="2800" b="1" dirty="0">
                <a:solidFill>
                  <a:schemeClr val="tx2"/>
                </a:solidFill>
                <a:latin typeface="+mj-lt"/>
              </a:rPr>
              <a:t>Tattoo Policy</a:t>
            </a:r>
          </a:p>
        </p:txBody>
      </p:sp>
      <p:pic>
        <p:nvPicPr>
          <p:cNvPr id="19" name="Picture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2401" y="119217"/>
            <a:ext cx="1948386" cy="70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990600"/>
            <a:ext cx="9144000" cy="2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1" name="Straight Connector 20"/>
          <p:cNvCxnSpPr/>
          <p:nvPr/>
        </p:nvCxnSpPr>
        <p:spPr>
          <a:xfrm>
            <a:off x="0" y="914400"/>
            <a:ext cx="9144000" cy="0"/>
          </a:xfrm>
          <a:prstGeom prst="line">
            <a:avLst/>
          </a:prstGeom>
          <a:ln w="31750" cmpd="sng">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24" name="Picture 14"/>
          <p:cNvPicPr>
            <a:picLocks noChangeAspect="1" noChangeArrowheads="1"/>
          </p:cNvPicPr>
          <p:nvPr/>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20740" y="65154"/>
            <a:ext cx="923260" cy="931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9876869"/>
      </p:ext>
    </p:extLst>
  </p:cSld>
  <p:clrMapOvr>
    <a:masterClrMapping/>
  </p:clrMapOvr>
  <p:transition>
    <p:dissolv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19201</TotalTime>
  <Words>261</Words>
  <Application>Microsoft Office PowerPoint</Application>
  <PresentationFormat>全屏显示(4:3)</PresentationFormat>
  <Paragraphs>47</Paragraphs>
  <Slides>4</Slides>
  <Notes>3</Notes>
  <HiddenSlides>1</HiddenSlides>
  <MMClips>0</MMClips>
  <ScaleCrop>false</ScaleCrop>
  <HeadingPairs>
    <vt:vector size="8" baseType="variant">
      <vt:variant>
        <vt:lpstr>已用的字体</vt:lpstr>
      </vt:variant>
      <vt:variant>
        <vt:i4>3</vt:i4>
      </vt:variant>
      <vt:variant>
        <vt:lpstr>主题</vt:lpstr>
      </vt:variant>
      <vt:variant>
        <vt:i4>2</vt:i4>
      </vt:variant>
      <vt:variant>
        <vt:lpstr>嵌入 OLE 服务器</vt:lpstr>
      </vt:variant>
      <vt:variant>
        <vt:i4>1</vt:i4>
      </vt:variant>
      <vt:variant>
        <vt:lpstr>幻灯片标题</vt:lpstr>
      </vt:variant>
      <vt:variant>
        <vt:i4>4</vt:i4>
      </vt:variant>
    </vt:vector>
  </HeadingPairs>
  <TitlesOfParts>
    <vt:vector size="10" baseType="lpstr">
      <vt:lpstr>Arial</vt:lpstr>
      <vt:lpstr>Calibri</vt:lpstr>
      <vt:lpstr>Times New Roman</vt:lpstr>
      <vt:lpstr>Office Theme</vt:lpstr>
      <vt:lpstr>1_Office Theme</vt:lpstr>
      <vt:lpstr>Presentation</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jharris</dc:creator>
  <cp:lastModifiedBy>jixuan chen</cp:lastModifiedBy>
  <cp:revision>840</cp:revision>
  <cp:lastPrinted>2016-11-01T13:46:05Z</cp:lastPrinted>
  <dcterms:created xsi:type="dcterms:W3CDTF">2013-09-30T17:11:04Z</dcterms:created>
  <dcterms:modified xsi:type="dcterms:W3CDTF">2024-01-14T08:37:36Z</dcterms:modified>
</cp:coreProperties>
</file>

<file path=docProps/custom.xml><?xml version="1.0" encoding="utf-8"?>
<Properties xmlns:vt="http://schemas.openxmlformats.org/officeDocument/2006/docPropsVTypes" xmlns="http://schemas.openxmlformats.org/officeDocument/2006/custom-properties">
  <property name="CWM42431e40432211f180006fd100006ed1" pid="2" fmtid="{D5CDD505-2E9C-101B-9397-08002B2CF9AE}">
    <vt:lpwstr>CWMiei2zTBoUqOUTTu4v9R5jufE4lmc9DNsPlZzThT74TpmicuX+3jqTRhfNxuBBuRCrGLoRyu1KJh3VwdDIpUFCQ==</vt:lpwstr>
  </property>
</Properties>
</file>