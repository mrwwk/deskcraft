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612FA19-D787-4806-B6C5-D40AF2B52FF8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080EB4-AC59-4859-9E9B-B654929638A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20CB1A-6242-4BF0-8661-97031681E78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HK" sz="1800" spc="-1" strike="noStrike">
                <a:latin typeface="Arial"/>
              </a:rPr>
              <a:t>Emphasis: 15% revenue growth demonstrates continued monetization strength. WeChat MAU milestone of 1.41 billion users.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5502B0-7377-4D4B-B39C-505923BA1FB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392BE4-AC4B-405F-B350-28FE37846C0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20CE03-1267-4EDE-B11A-E4CCCA88216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C8C8E6-070F-490F-AEA2-2CBF279B948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7BDB54-5F72-4881-8692-793506DB30F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D5848E-93C3-4D50-923C-01349CE5E42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E458D4-2E94-4D35-8C7D-497A1A286BB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ACE583-959D-43AD-8B4E-7D23B11F900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943423-B309-4276-B7F7-5BCE99C058A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5FE24B-3E7B-4D12-9961-4B2A41F0EA9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9600" cy="68554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89600" cy="68554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80000"/>
                </a:srgbClr>
              </a:gs>
              <a:gs pos="100000">
                <a:srgbClr val="191919">
                  <a:alpha val="6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380880" y="38088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2"/>
          <p:cNvSpPr/>
          <p:nvPr/>
        </p:nvSpPr>
        <p:spPr>
          <a:xfrm>
            <a:off x="495360" y="495360"/>
            <a:ext cx="226080" cy="22608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3"/>
          <p:cNvSpPr/>
          <p:nvPr/>
        </p:nvSpPr>
        <p:spPr>
          <a:xfrm>
            <a:off x="952560" y="514440"/>
            <a:ext cx="19882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35" strike="noStrike">
                <a:solidFill>
                  <a:srgbClr val="00008b"/>
                </a:solidFill>
                <a:latin typeface="Liter"/>
                <a:ea typeface="Liter"/>
              </a:rPr>
              <a:t>INTERIM FINANCIAL REPORT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380880" y="2057400"/>
            <a:ext cx="11770560" cy="17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Tencent Holdings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Limited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380880" y="4000680"/>
            <a:ext cx="911880" cy="3564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380880" y="4267080"/>
            <a:ext cx="115419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2025 Interim Report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80880" y="4800600"/>
            <a:ext cx="1151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Three and Six Months Ended 30 June 2025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6305400"/>
            <a:ext cx="130680" cy="149760"/>
          </a:xfrm>
          <a:custGeom>
            <a:avLst/>
            <a:gdLst/>
            <a:ah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647640" y="6286680"/>
            <a:ext cx="826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August 2025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757160" y="6305400"/>
            <a:ext cx="111960" cy="14976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985760" y="6286680"/>
            <a:ext cx="7880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400" spc="-1" strike="noStrike">
                <a:solidFill>
                  <a:srgbClr val="00008b"/>
                </a:solidFill>
                <a:latin typeface="Liter"/>
                <a:ea typeface="Liter"/>
              </a:rPr>
              <a:t>HKEX: 0700</a:t>
            </a:r>
            <a:endParaRPr b="1" lang="en-HK" sz="4400" spc="-1" strike="noStrike">
              <a:solidFill>
                <a:srgbClr val="0000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80880" y="380880"/>
            <a:ext cx="114940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5" strike="noStrike">
                <a:solidFill>
                  <a:srgbClr val="6366f1"/>
                </a:solidFill>
                <a:latin typeface="Liter"/>
                <a:ea typeface="Liter"/>
              </a:rPr>
              <a:t>PRESENTATION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880" y="647640"/>
            <a:ext cx="11656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efefef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85920" y="1414440"/>
            <a:ext cx="3674160" cy="179784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619200" y="164772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748800" y="1743120"/>
            <a:ext cx="2926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19200" y="225756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19200" y="2600280"/>
            <a:ext cx="32742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Key performance highlights and strategic achievements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4259160" y="1414440"/>
            <a:ext cx="3674160" cy="179784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8"/>
          <p:cNvSpPr/>
          <p:nvPr/>
        </p:nvSpPr>
        <p:spPr>
          <a:xfrm>
            <a:off x="4492440" y="164772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9"/>
          <p:cNvSpPr/>
          <p:nvPr/>
        </p:nvSpPr>
        <p:spPr>
          <a:xfrm>
            <a:off x="4605120" y="1743120"/>
            <a:ext cx="3214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492440" y="225756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Financial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492440" y="260028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Q2 and H1 2025 results with YoY comparisons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8132760" y="1414440"/>
            <a:ext cx="3674160" cy="179784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3"/>
          <p:cNvSpPr/>
          <p:nvPr/>
        </p:nvSpPr>
        <p:spPr>
          <a:xfrm>
            <a:off x="8366040" y="164772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8477640" y="1743120"/>
            <a:ext cx="3308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8366040" y="225756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Revenue by Segment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366040" y="260028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Breakdown across VAS, Marketing, and FinTech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385920" y="341460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8"/>
          <p:cNvSpPr/>
          <p:nvPr/>
        </p:nvSpPr>
        <p:spPr>
          <a:xfrm>
            <a:off x="619200" y="364824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9"/>
          <p:cNvSpPr/>
          <p:nvPr/>
        </p:nvSpPr>
        <p:spPr>
          <a:xfrm>
            <a:off x="730800" y="3743280"/>
            <a:ext cx="3308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19200" y="425772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19200" y="460044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 expansion and cost efficiency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4259160" y="341460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3"/>
          <p:cNvSpPr/>
          <p:nvPr/>
        </p:nvSpPr>
        <p:spPr>
          <a:xfrm>
            <a:off x="4492440" y="364824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4"/>
          <p:cNvSpPr/>
          <p:nvPr/>
        </p:nvSpPr>
        <p:spPr>
          <a:xfrm>
            <a:off x="4605480" y="3743280"/>
            <a:ext cx="3214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4492440" y="425772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4492440" y="460044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growth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8132760" y="341460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28"/>
          <p:cNvSpPr/>
          <p:nvPr/>
        </p:nvSpPr>
        <p:spPr>
          <a:xfrm>
            <a:off x="8366040" y="364824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9"/>
          <p:cNvSpPr/>
          <p:nvPr/>
        </p:nvSpPr>
        <p:spPr>
          <a:xfrm>
            <a:off x="8476920" y="3743280"/>
            <a:ext cx="3308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8366040" y="425772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AI Integration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8366040" y="460044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Technology innovation across all platforms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385920" y="522432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33"/>
          <p:cNvSpPr/>
          <p:nvPr/>
        </p:nvSpPr>
        <p:spPr>
          <a:xfrm>
            <a:off x="619200" y="545796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4"/>
          <p:cNvSpPr/>
          <p:nvPr/>
        </p:nvSpPr>
        <p:spPr>
          <a:xfrm>
            <a:off x="738360" y="5553000"/>
            <a:ext cx="3117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07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619200" y="606744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User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619200" y="641016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Platform engagement and subscriber data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4259160" y="522432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8"/>
          <p:cNvSpPr/>
          <p:nvPr/>
        </p:nvSpPr>
        <p:spPr>
          <a:xfrm>
            <a:off x="4492440" y="545796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9"/>
          <p:cNvSpPr/>
          <p:nvPr/>
        </p:nvSpPr>
        <p:spPr>
          <a:xfrm>
            <a:off x="4601880" y="5553000"/>
            <a:ext cx="3308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4492440" y="606744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4492440" y="641016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Financial position and liquidity analysis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8132760" y="5224320"/>
            <a:ext cx="3674160" cy="160704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43"/>
          <p:cNvSpPr/>
          <p:nvPr/>
        </p:nvSpPr>
        <p:spPr>
          <a:xfrm>
            <a:off x="8366040" y="5457960"/>
            <a:ext cx="454680" cy="45468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4"/>
          <p:cNvSpPr/>
          <p:nvPr/>
        </p:nvSpPr>
        <p:spPr>
          <a:xfrm>
            <a:off x="8476920" y="5553000"/>
            <a:ext cx="3308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" name="Text 45"/>
          <p:cNvSpPr/>
          <p:nvPr/>
        </p:nvSpPr>
        <p:spPr>
          <a:xfrm>
            <a:off x="8366040" y="6067440"/>
            <a:ext cx="3302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8366040" y="6410160"/>
            <a:ext cx="3274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Future priorities and growth initiatives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379080" y="379080"/>
            <a:ext cx="114980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2" strike="noStrike">
                <a:solidFill>
                  <a:srgbClr val="6366f1"/>
                </a:solidFill>
                <a:latin typeface="Liter"/>
                <a:ea typeface="Liter"/>
              </a:rPr>
              <a:t>PERFORMANCE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379080" y="644040"/>
            <a:ext cx="116020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8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2680" spc="-1" strike="noStrike"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383760" y="1255320"/>
            <a:ext cx="6647760" cy="173124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3"/>
          <p:cNvSpPr/>
          <p:nvPr/>
        </p:nvSpPr>
        <p:spPr>
          <a:xfrm>
            <a:off x="615600" y="1487160"/>
            <a:ext cx="376560" cy="37656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729360" y="1600920"/>
            <a:ext cx="149040" cy="14904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5"/>
          <p:cNvSpPr/>
          <p:nvPr/>
        </p:nvSpPr>
        <p:spPr>
          <a:xfrm>
            <a:off x="1108440" y="1544040"/>
            <a:ext cx="24130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Strong Double-Digit Growth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615600" y="2017800"/>
            <a:ext cx="625932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Delivered robust performance in Q2 and H1 2025 with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15% YoY revenue growth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and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profit increase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in Q2, driven by strategic AI investments and operational excellence across all business segments.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383760" y="3187800"/>
            <a:ext cx="6647760" cy="173124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8"/>
          <p:cNvSpPr/>
          <p:nvPr/>
        </p:nvSpPr>
        <p:spPr>
          <a:xfrm>
            <a:off x="615600" y="3420000"/>
            <a:ext cx="376560" cy="37656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9"/>
          <p:cNvSpPr/>
          <p:nvPr/>
        </p:nvSpPr>
        <p:spPr>
          <a:xfrm>
            <a:off x="710640" y="3533400"/>
            <a:ext cx="186840" cy="149040"/>
          </a:xfrm>
          <a:custGeom>
            <a:avLst/>
            <a:gdLst/>
            <a:ah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0"/>
          <p:cNvSpPr/>
          <p:nvPr/>
        </p:nvSpPr>
        <p:spPr>
          <a:xfrm>
            <a:off x="1108440" y="3476520"/>
            <a:ext cx="16459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Games Leadership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615600" y="3950280"/>
            <a:ext cx="625932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Domestic games revenue grew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with Delta Force achieving 20M+ DAU and ranking top 3 industry-wide. International games surged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35%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driven by Supercell and PUBG MOBILE.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383760" y="5120280"/>
            <a:ext cx="6647760" cy="173124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3"/>
          <p:cNvSpPr/>
          <p:nvPr/>
        </p:nvSpPr>
        <p:spPr>
          <a:xfrm>
            <a:off x="615600" y="5352480"/>
            <a:ext cx="376560" cy="37656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14"/>
          <p:cNvSpPr/>
          <p:nvPr/>
        </p:nvSpPr>
        <p:spPr>
          <a:xfrm>
            <a:off x="729360" y="5465880"/>
            <a:ext cx="149040" cy="14904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5"/>
          <p:cNvSpPr/>
          <p:nvPr/>
        </p:nvSpPr>
        <p:spPr>
          <a:xfrm>
            <a:off x="1108440" y="5409360"/>
            <a:ext cx="1977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AI-Powered Marketing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615600" y="5882760"/>
            <a:ext cx="625932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 increased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20%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through AI-driven advertising platform upgrades, enhancing click-through rates and advertiser ROI across Video Accounts, Mini Programs, and Weixin Search.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7271640" y="1255320"/>
            <a:ext cx="4535280" cy="5596200"/>
          </a:xfrm>
          <a:custGeom>
            <a:avLst/>
            <a:gdLst/>
            <a:ah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8"/>
          <p:cNvSpPr/>
          <p:nvPr/>
        </p:nvSpPr>
        <p:spPr>
          <a:xfrm>
            <a:off x="7503840" y="1487160"/>
            <a:ext cx="376560" cy="37656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9"/>
          <p:cNvSpPr/>
          <p:nvPr/>
        </p:nvSpPr>
        <p:spPr>
          <a:xfrm>
            <a:off x="7626960" y="1600920"/>
            <a:ext cx="129960" cy="149040"/>
          </a:xfrm>
          <a:custGeom>
            <a:avLst/>
            <a:gdLst/>
            <a:ah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0"/>
          <p:cNvSpPr/>
          <p:nvPr/>
        </p:nvSpPr>
        <p:spPr>
          <a:xfrm>
            <a:off x="7996320" y="1544040"/>
            <a:ext cx="19393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Chairman's Statement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7522920" y="2017800"/>
            <a:ext cx="4052160" cy="3332160"/>
          </a:xfrm>
          <a:custGeom>
            <a:avLst/>
            <a:gdLst/>
            <a:ah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2"/>
          <p:cNvSpPr/>
          <p:nvPr/>
        </p:nvSpPr>
        <p:spPr>
          <a:xfrm>
            <a:off x="7522920" y="2017800"/>
            <a:ext cx="35280" cy="3332160"/>
          </a:xfrm>
          <a:custGeom>
            <a:avLst/>
            <a:gdLst/>
            <a:ah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3"/>
          <p:cNvSpPr/>
          <p:nvPr/>
        </p:nvSpPr>
        <p:spPr>
          <a:xfrm>
            <a:off x="7731000" y="2821680"/>
            <a:ext cx="373932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7731000" y="4358880"/>
            <a:ext cx="37206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— </a:t>
            </a: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 Huateng, Chairman &amp; CEO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508520" y="5546520"/>
            <a:ext cx="1949040" cy="106812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6"/>
          <p:cNvSpPr/>
          <p:nvPr/>
        </p:nvSpPr>
        <p:spPr>
          <a:xfrm>
            <a:off x="7631640" y="5702760"/>
            <a:ext cx="17028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WeChat MAU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7593840" y="5930280"/>
            <a:ext cx="177840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1.41B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7636320" y="6309000"/>
            <a:ext cx="1693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+3%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3" name="Shape 29"/>
          <p:cNvSpPr/>
          <p:nvPr/>
        </p:nvSpPr>
        <p:spPr>
          <a:xfrm>
            <a:off x="9621000" y="5546520"/>
            <a:ext cx="1949040" cy="106812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0"/>
          <p:cNvSpPr/>
          <p:nvPr/>
        </p:nvSpPr>
        <p:spPr>
          <a:xfrm>
            <a:off x="9744120" y="5702760"/>
            <a:ext cx="170280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9706320" y="5930280"/>
            <a:ext cx="177840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9748800" y="6309000"/>
            <a:ext cx="16930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+4pp YoY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365400" y="365400"/>
            <a:ext cx="1152288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32" strike="noStrike">
                <a:solidFill>
                  <a:srgbClr val="6366f1"/>
                </a:solidFill>
                <a:latin typeface="Liter"/>
                <a:ea typeface="Liter"/>
              </a:rPr>
              <a:t>FINANCIAL PERFORMANCE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365400" y="621000"/>
            <a:ext cx="1162332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Q2 2025 Highlights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365400" y="1059480"/>
            <a:ext cx="115318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50" spc="-1" strike="noStrike">
                <a:solidFill>
                  <a:srgbClr val="8f8f8f"/>
                </a:solidFill>
                <a:latin typeface="Liter"/>
                <a:ea typeface="Liter"/>
              </a:rPr>
              <a:t>Three months ended 30 June 2025</a:t>
            </a:r>
            <a:endParaRPr b="0" lang="en-HK" sz="1150" spc="-1" strike="noStrike"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369720" y="1356120"/>
            <a:ext cx="3175560" cy="124848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4"/>
          <p:cNvSpPr/>
          <p:nvPr/>
        </p:nvSpPr>
        <p:spPr>
          <a:xfrm>
            <a:off x="556920" y="1561680"/>
            <a:ext cx="60948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2957760" y="1543320"/>
            <a:ext cx="399240" cy="21672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6"/>
          <p:cNvSpPr/>
          <p:nvPr/>
        </p:nvSpPr>
        <p:spPr>
          <a:xfrm>
            <a:off x="2957760" y="1543320"/>
            <a:ext cx="45396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+15%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556920" y="1872360"/>
            <a:ext cx="296568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184.5B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556920" y="2274120"/>
            <a:ext cx="28558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3700800" y="1356120"/>
            <a:ext cx="3175560" cy="124848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0"/>
          <p:cNvSpPr/>
          <p:nvPr/>
        </p:nvSpPr>
        <p:spPr>
          <a:xfrm>
            <a:off x="3888000" y="1561680"/>
            <a:ext cx="7279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6268320" y="1543320"/>
            <a:ext cx="417600" cy="216720"/>
          </a:xfrm>
          <a:custGeom>
            <a:avLst/>
            <a:gdLst/>
            <a:ah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2"/>
          <p:cNvSpPr/>
          <p:nvPr/>
        </p:nvSpPr>
        <p:spPr>
          <a:xfrm>
            <a:off x="6268320" y="1543320"/>
            <a:ext cx="47232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+22%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3888000" y="1872360"/>
            <a:ext cx="296568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105.0B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3888000" y="2274120"/>
            <a:ext cx="28558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2" name="Shape 15"/>
          <p:cNvSpPr/>
          <p:nvPr/>
        </p:nvSpPr>
        <p:spPr>
          <a:xfrm>
            <a:off x="369720" y="2762640"/>
            <a:ext cx="3175560" cy="124848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6"/>
          <p:cNvSpPr/>
          <p:nvPr/>
        </p:nvSpPr>
        <p:spPr>
          <a:xfrm>
            <a:off x="556920" y="2968200"/>
            <a:ext cx="9655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2953440" y="2949840"/>
            <a:ext cx="399240" cy="21672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8"/>
          <p:cNvSpPr/>
          <p:nvPr/>
        </p:nvSpPr>
        <p:spPr>
          <a:xfrm>
            <a:off x="2953440" y="2949840"/>
            <a:ext cx="45396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+18%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556920" y="3278520"/>
            <a:ext cx="296568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60.1B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556920" y="3680280"/>
            <a:ext cx="28558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3700800" y="2762640"/>
            <a:ext cx="3175560" cy="124848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2"/>
          <p:cNvSpPr/>
          <p:nvPr/>
        </p:nvSpPr>
        <p:spPr>
          <a:xfrm>
            <a:off x="3888000" y="2968200"/>
            <a:ext cx="1065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0" name="Shape 23"/>
          <p:cNvSpPr/>
          <p:nvPr/>
        </p:nvSpPr>
        <p:spPr>
          <a:xfrm>
            <a:off x="6295680" y="2949840"/>
            <a:ext cx="390240" cy="216720"/>
          </a:xfrm>
          <a:custGeom>
            <a:avLst/>
            <a:gdLst/>
            <a:ah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4"/>
          <p:cNvSpPr/>
          <p:nvPr/>
        </p:nvSpPr>
        <p:spPr>
          <a:xfrm>
            <a:off x="6295680" y="2949840"/>
            <a:ext cx="44496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+17%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3888000" y="3278520"/>
            <a:ext cx="296568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55.6B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3888000" y="3680280"/>
            <a:ext cx="28558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369720" y="4169160"/>
            <a:ext cx="6499800" cy="2682360"/>
          </a:xfrm>
          <a:custGeom>
            <a:avLst/>
            <a:gdLst/>
            <a:ah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28"/>
          <p:cNvSpPr/>
          <p:nvPr/>
        </p:nvSpPr>
        <p:spPr>
          <a:xfrm>
            <a:off x="556920" y="4356360"/>
            <a:ext cx="620748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Earnings Per Share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66" name="Shape 29"/>
          <p:cNvSpPr/>
          <p:nvPr/>
        </p:nvSpPr>
        <p:spPr>
          <a:xfrm>
            <a:off x="556920" y="4721400"/>
            <a:ext cx="2993040" cy="105696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30"/>
          <p:cNvSpPr/>
          <p:nvPr/>
        </p:nvSpPr>
        <p:spPr>
          <a:xfrm>
            <a:off x="703080" y="4867560"/>
            <a:ext cx="27648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703080" y="5123520"/>
            <a:ext cx="2810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6.115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69" name="Text 32"/>
          <p:cNvSpPr/>
          <p:nvPr/>
        </p:nvSpPr>
        <p:spPr>
          <a:xfrm>
            <a:off x="703080" y="5452200"/>
            <a:ext cx="27648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0" name="Shape 33"/>
          <p:cNvSpPr/>
          <p:nvPr/>
        </p:nvSpPr>
        <p:spPr>
          <a:xfrm>
            <a:off x="3696120" y="4721400"/>
            <a:ext cx="2993040" cy="105696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4"/>
          <p:cNvSpPr/>
          <p:nvPr/>
        </p:nvSpPr>
        <p:spPr>
          <a:xfrm>
            <a:off x="3842280" y="4867560"/>
            <a:ext cx="27648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2" name="Text 35"/>
          <p:cNvSpPr/>
          <p:nvPr/>
        </p:nvSpPr>
        <p:spPr>
          <a:xfrm>
            <a:off x="3842280" y="5123520"/>
            <a:ext cx="2810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5.996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73" name="Text 36"/>
          <p:cNvSpPr/>
          <p:nvPr/>
        </p:nvSpPr>
        <p:spPr>
          <a:xfrm>
            <a:off x="3842280" y="5452200"/>
            <a:ext cx="27648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4" name="Shape 37"/>
          <p:cNvSpPr/>
          <p:nvPr/>
        </p:nvSpPr>
        <p:spPr>
          <a:xfrm>
            <a:off x="556920" y="5931720"/>
            <a:ext cx="6125400" cy="6480"/>
          </a:xfrm>
          <a:custGeom>
            <a:avLst/>
            <a:gdLst/>
            <a:ah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8"/>
          <p:cNvSpPr/>
          <p:nvPr/>
        </p:nvSpPr>
        <p:spPr>
          <a:xfrm>
            <a:off x="556920" y="6082200"/>
            <a:ext cx="618948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Non-IFRS 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6" name="Text 39"/>
          <p:cNvSpPr/>
          <p:nvPr/>
        </p:nvSpPr>
        <p:spPr>
          <a:xfrm>
            <a:off x="556920" y="6338160"/>
            <a:ext cx="144036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50" spc="-1" strike="noStrike">
                <a:solidFill>
                  <a:srgbClr val="6366f1"/>
                </a:solidFill>
                <a:latin typeface="Liter"/>
                <a:ea typeface="Liter"/>
              </a:rPr>
              <a:t>RMB 63.1B</a:t>
            </a:r>
            <a:endParaRPr b="0" lang="en-HK" sz="2150" spc="-1" strike="noStrike">
              <a:latin typeface="Arial"/>
            </a:endParaRPr>
          </a:p>
        </p:txBody>
      </p:sp>
      <p:sp>
        <p:nvSpPr>
          <p:cNvPr id="177" name="Shape 40"/>
          <p:cNvSpPr/>
          <p:nvPr/>
        </p:nvSpPr>
        <p:spPr>
          <a:xfrm>
            <a:off x="1974240" y="6447600"/>
            <a:ext cx="627480" cy="216720"/>
          </a:xfrm>
          <a:custGeom>
            <a:avLst/>
            <a:gdLst/>
            <a:ah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1"/>
          <p:cNvSpPr/>
          <p:nvPr/>
        </p:nvSpPr>
        <p:spPr>
          <a:xfrm>
            <a:off x="1974240" y="6447600"/>
            <a:ext cx="68256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79" name="Shape 42"/>
          <p:cNvSpPr/>
          <p:nvPr/>
        </p:nvSpPr>
        <p:spPr>
          <a:xfrm>
            <a:off x="7104960" y="1356120"/>
            <a:ext cx="4718880" cy="5495400"/>
          </a:xfrm>
          <a:custGeom>
            <a:avLst/>
            <a:gdLst/>
            <a:ah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3"/>
          <p:cNvSpPr/>
          <p:nvPr/>
        </p:nvSpPr>
        <p:spPr>
          <a:xfrm>
            <a:off x="7292160" y="1543320"/>
            <a:ext cx="442692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Quarter-on-Quarter Performance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81" name="Shape 44"/>
          <p:cNvSpPr/>
          <p:nvPr/>
        </p:nvSpPr>
        <p:spPr>
          <a:xfrm>
            <a:off x="7292160" y="1945080"/>
            <a:ext cx="4344480" cy="98388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45"/>
          <p:cNvSpPr/>
          <p:nvPr/>
        </p:nvSpPr>
        <p:spPr>
          <a:xfrm>
            <a:off x="7438320" y="2091240"/>
            <a:ext cx="60948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3" name="Text 46"/>
          <p:cNvSpPr/>
          <p:nvPr/>
        </p:nvSpPr>
        <p:spPr>
          <a:xfrm>
            <a:off x="11243160" y="2091240"/>
            <a:ext cx="3081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4" name="Text 47"/>
          <p:cNvSpPr/>
          <p:nvPr/>
        </p:nvSpPr>
        <p:spPr>
          <a:xfrm>
            <a:off x="7438320" y="2347200"/>
            <a:ext cx="41436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184.5B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85" name="Text 48"/>
          <p:cNvSpPr/>
          <p:nvPr/>
        </p:nvSpPr>
        <p:spPr>
          <a:xfrm>
            <a:off x="7438320" y="2639160"/>
            <a:ext cx="41072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180.0B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86" name="Shape 49"/>
          <p:cNvSpPr/>
          <p:nvPr/>
        </p:nvSpPr>
        <p:spPr>
          <a:xfrm>
            <a:off x="7292160" y="3077640"/>
            <a:ext cx="4344480" cy="98388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50"/>
          <p:cNvSpPr/>
          <p:nvPr/>
        </p:nvSpPr>
        <p:spPr>
          <a:xfrm>
            <a:off x="7438320" y="3223800"/>
            <a:ext cx="7279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8" name="Text 51"/>
          <p:cNvSpPr/>
          <p:nvPr/>
        </p:nvSpPr>
        <p:spPr>
          <a:xfrm>
            <a:off x="11242080" y="3223800"/>
            <a:ext cx="3081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9" name="Text 52"/>
          <p:cNvSpPr/>
          <p:nvPr/>
        </p:nvSpPr>
        <p:spPr>
          <a:xfrm>
            <a:off x="7438320" y="3479400"/>
            <a:ext cx="41436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105.0B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0" name="Text 53"/>
          <p:cNvSpPr/>
          <p:nvPr/>
        </p:nvSpPr>
        <p:spPr>
          <a:xfrm>
            <a:off x="7438320" y="3771720"/>
            <a:ext cx="41072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100.5B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1" name="Shape 54"/>
          <p:cNvSpPr/>
          <p:nvPr/>
        </p:nvSpPr>
        <p:spPr>
          <a:xfrm>
            <a:off x="7292160" y="4210200"/>
            <a:ext cx="4344480" cy="98388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5"/>
          <p:cNvSpPr/>
          <p:nvPr/>
        </p:nvSpPr>
        <p:spPr>
          <a:xfrm>
            <a:off x="7438320" y="4356360"/>
            <a:ext cx="9655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3" name="Text 56"/>
          <p:cNvSpPr/>
          <p:nvPr/>
        </p:nvSpPr>
        <p:spPr>
          <a:xfrm>
            <a:off x="11242080" y="4356360"/>
            <a:ext cx="3081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4" name="Text 57"/>
          <p:cNvSpPr/>
          <p:nvPr/>
        </p:nvSpPr>
        <p:spPr>
          <a:xfrm>
            <a:off x="7438320" y="4611960"/>
            <a:ext cx="41436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60.1B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5" name="Text 58"/>
          <p:cNvSpPr/>
          <p:nvPr/>
        </p:nvSpPr>
        <p:spPr>
          <a:xfrm>
            <a:off x="7438320" y="4904280"/>
            <a:ext cx="41072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57.6B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6" name="Shape 59"/>
          <p:cNvSpPr/>
          <p:nvPr/>
        </p:nvSpPr>
        <p:spPr>
          <a:xfrm>
            <a:off x="7292160" y="5342400"/>
            <a:ext cx="4344480" cy="98388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60"/>
          <p:cNvSpPr/>
          <p:nvPr/>
        </p:nvSpPr>
        <p:spPr>
          <a:xfrm>
            <a:off x="7438320" y="5488560"/>
            <a:ext cx="10659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8" name="Text 61"/>
          <p:cNvSpPr/>
          <p:nvPr/>
        </p:nvSpPr>
        <p:spPr>
          <a:xfrm>
            <a:off x="11189880" y="5488560"/>
            <a:ext cx="36288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9" name="Text 62"/>
          <p:cNvSpPr/>
          <p:nvPr/>
        </p:nvSpPr>
        <p:spPr>
          <a:xfrm>
            <a:off x="7438320" y="5744520"/>
            <a:ext cx="414360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55.6B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200" name="Text 63"/>
          <p:cNvSpPr/>
          <p:nvPr/>
        </p:nvSpPr>
        <p:spPr>
          <a:xfrm>
            <a:off x="7438320" y="6036480"/>
            <a:ext cx="41072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47.8B</a:t>
            </a:r>
            <a:endParaRPr b="0" lang="en-HK" sz="86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331200" y="331200"/>
            <a:ext cx="115848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20" spc="26" strike="noStrike">
                <a:solidFill>
                  <a:srgbClr val="6366f1"/>
                </a:solidFill>
                <a:latin typeface="Liter"/>
                <a:ea typeface="Liter"/>
              </a:rPr>
              <a:t>FIRST HALF 2025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331200" y="563040"/>
            <a:ext cx="11675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350" spc="-1" strike="noStrike">
                <a:solidFill>
                  <a:srgbClr val="efefef"/>
                </a:solidFill>
                <a:latin typeface="Liter"/>
                <a:ea typeface="Liter"/>
              </a:rPr>
              <a:t>H1 2025 Consolidated Results</a:t>
            </a:r>
            <a:endParaRPr b="0" lang="en-HK" sz="2350" spc="-1" strike="noStrike"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331200" y="960840"/>
            <a:ext cx="115930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Six months ended 30 June 2025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335520" y="1296360"/>
            <a:ext cx="6217560" cy="5555160"/>
          </a:xfrm>
          <a:custGeom>
            <a:avLst/>
            <a:gdLst/>
            <a:ah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Image 0"/>
          <p:cNvSpPr/>
          <p:nvPr/>
        </p:nvSpPr>
        <p:spPr>
          <a:xfrm>
            <a:off x="538200" y="1499040"/>
            <a:ext cx="4942080" cy="51494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4"/>
          <p:cNvSpPr/>
          <p:nvPr/>
        </p:nvSpPr>
        <p:spPr>
          <a:xfrm>
            <a:off x="6766200" y="1296360"/>
            <a:ext cx="2473920" cy="129780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5"/>
          <p:cNvSpPr/>
          <p:nvPr/>
        </p:nvSpPr>
        <p:spPr>
          <a:xfrm>
            <a:off x="6935760" y="1465920"/>
            <a:ext cx="21924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Total Revenues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6935760" y="1697760"/>
            <a:ext cx="2258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364.5B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6935760" y="2062440"/>
            <a:ext cx="361800" cy="19620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8"/>
          <p:cNvSpPr/>
          <p:nvPr/>
        </p:nvSpPr>
        <p:spPr>
          <a:xfrm>
            <a:off x="6935760" y="2062440"/>
            <a:ext cx="4114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7367040" y="2095560"/>
            <a:ext cx="229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6935760" y="2294280"/>
            <a:ext cx="2184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9381600" y="1296360"/>
            <a:ext cx="2473920" cy="129780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2"/>
          <p:cNvSpPr/>
          <p:nvPr/>
        </p:nvSpPr>
        <p:spPr>
          <a:xfrm>
            <a:off x="9551520" y="1465920"/>
            <a:ext cx="21924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15" name="Text 13"/>
          <p:cNvSpPr/>
          <p:nvPr/>
        </p:nvSpPr>
        <p:spPr>
          <a:xfrm>
            <a:off x="9551520" y="1697760"/>
            <a:ext cx="22586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205.5B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16" name="Shape 14"/>
          <p:cNvSpPr/>
          <p:nvPr/>
        </p:nvSpPr>
        <p:spPr>
          <a:xfrm>
            <a:off x="9551520" y="2062440"/>
            <a:ext cx="361800" cy="19620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5"/>
          <p:cNvSpPr/>
          <p:nvPr/>
        </p:nvSpPr>
        <p:spPr>
          <a:xfrm>
            <a:off x="9551520" y="2062440"/>
            <a:ext cx="4114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+21%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9981720" y="2095560"/>
            <a:ext cx="229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9551520" y="2294280"/>
            <a:ext cx="2184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6766200" y="2737440"/>
            <a:ext cx="5091120" cy="129780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9"/>
          <p:cNvSpPr/>
          <p:nvPr/>
        </p:nvSpPr>
        <p:spPr>
          <a:xfrm>
            <a:off x="6935760" y="2907360"/>
            <a:ext cx="48096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6935760" y="3139200"/>
            <a:ext cx="48758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117.7B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23" name="Shape 21"/>
          <p:cNvSpPr/>
          <p:nvPr/>
        </p:nvSpPr>
        <p:spPr>
          <a:xfrm>
            <a:off x="6935760" y="3503520"/>
            <a:ext cx="361800" cy="19620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2"/>
          <p:cNvSpPr/>
          <p:nvPr/>
        </p:nvSpPr>
        <p:spPr>
          <a:xfrm>
            <a:off x="6935760" y="3503520"/>
            <a:ext cx="4114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7367040" y="3536640"/>
            <a:ext cx="229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6" name="Text 24"/>
          <p:cNvSpPr/>
          <p:nvPr/>
        </p:nvSpPr>
        <p:spPr>
          <a:xfrm>
            <a:off x="6935760" y="3735360"/>
            <a:ext cx="4801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7" name="Shape 25"/>
          <p:cNvSpPr/>
          <p:nvPr/>
        </p:nvSpPr>
        <p:spPr>
          <a:xfrm>
            <a:off x="6766200" y="4178520"/>
            <a:ext cx="5091120" cy="129780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6"/>
          <p:cNvSpPr/>
          <p:nvPr/>
        </p:nvSpPr>
        <p:spPr>
          <a:xfrm>
            <a:off x="6935760" y="4348440"/>
            <a:ext cx="480960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6935760" y="4580280"/>
            <a:ext cx="48758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103.4B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6935760" y="4944600"/>
            <a:ext cx="361800" cy="19620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9"/>
          <p:cNvSpPr/>
          <p:nvPr/>
        </p:nvSpPr>
        <p:spPr>
          <a:xfrm>
            <a:off x="6935760" y="4944600"/>
            <a:ext cx="4114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2" name="Text 30"/>
          <p:cNvSpPr/>
          <p:nvPr/>
        </p:nvSpPr>
        <p:spPr>
          <a:xfrm>
            <a:off x="7367760" y="4977720"/>
            <a:ext cx="229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6935760" y="5176800"/>
            <a:ext cx="48013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4" name="Shape 32"/>
          <p:cNvSpPr/>
          <p:nvPr/>
        </p:nvSpPr>
        <p:spPr>
          <a:xfrm>
            <a:off x="6766200" y="5619600"/>
            <a:ext cx="5091120" cy="1231560"/>
          </a:xfrm>
          <a:custGeom>
            <a:avLst/>
            <a:gdLst/>
            <a:ah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33"/>
          <p:cNvSpPr/>
          <p:nvPr/>
        </p:nvSpPr>
        <p:spPr>
          <a:xfrm>
            <a:off x="6935760" y="5789520"/>
            <a:ext cx="482616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efefef"/>
                </a:solidFill>
                <a:latin typeface="Liter"/>
                <a:ea typeface="Liter"/>
              </a:rPr>
              <a:t>H1 2025 EPS Performance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6" name="Text 34"/>
          <p:cNvSpPr/>
          <p:nvPr/>
        </p:nvSpPr>
        <p:spPr>
          <a:xfrm>
            <a:off x="6935760" y="6120720"/>
            <a:ext cx="1057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37" name="Text 35"/>
          <p:cNvSpPr/>
          <p:nvPr/>
        </p:nvSpPr>
        <p:spPr>
          <a:xfrm>
            <a:off x="6935760" y="6286680"/>
            <a:ext cx="1099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11.367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38" name="Text 36"/>
          <p:cNvSpPr/>
          <p:nvPr/>
        </p:nvSpPr>
        <p:spPr>
          <a:xfrm>
            <a:off x="6935760" y="6551640"/>
            <a:ext cx="10494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9" name="Text 37"/>
          <p:cNvSpPr/>
          <p:nvPr/>
        </p:nvSpPr>
        <p:spPr>
          <a:xfrm>
            <a:off x="10646640" y="6120720"/>
            <a:ext cx="1041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40" name="Text 38"/>
          <p:cNvSpPr/>
          <p:nvPr/>
        </p:nvSpPr>
        <p:spPr>
          <a:xfrm>
            <a:off x="10605240" y="6286680"/>
            <a:ext cx="10825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11.126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41" name="Text 39"/>
          <p:cNvSpPr/>
          <p:nvPr/>
        </p:nvSpPr>
        <p:spPr>
          <a:xfrm>
            <a:off x="10654920" y="6551640"/>
            <a:ext cx="10328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380880" y="380880"/>
            <a:ext cx="114940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5" strike="noStrike">
                <a:solidFill>
                  <a:srgbClr val="6366f1"/>
                </a:solidFill>
                <a:latin typeface="Liter"/>
                <a:ea typeface="Liter"/>
              </a:rPr>
              <a:t>BUSINESS SEGMENTS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380880" y="647640"/>
            <a:ext cx="115988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Revenue Analysis by Segment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380880" y="1104840"/>
            <a:ext cx="115038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Q2 2025 segment performance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5" name="Shape 3"/>
          <p:cNvSpPr/>
          <p:nvPr/>
        </p:nvSpPr>
        <p:spPr>
          <a:xfrm>
            <a:off x="385920" y="1414440"/>
            <a:ext cx="5788800" cy="5055120"/>
          </a:xfrm>
          <a:custGeom>
            <a:avLst/>
            <a:gdLst/>
            <a:ah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Image 0"/>
          <p:cNvSpPr/>
          <p:nvPr/>
        </p:nvSpPr>
        <p:spPr>
          <a:xfrm>
            <a:off x="581040" y="1609560"/>
            <a:ext cx="5398200" cy="46648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4"/>
          <p:cNvSpPr/>
          <p:nvPr/>
        </p:nvSpPr>
        <p:spPr>
          <a:xfrm>
            <a:off x="6429240" y="1414440"/>
            <a:ext cx="5374440" cy="2035800"/>
          </a:xfrm>
          <a:custGeom>
            <a:avLst/>
            <a:gdLst/>
            <a:ah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5"/>
          <p:cNvSpPr/>
          <p:nvPr/>
        </p:nvSpPr>
        <p:spPr>
          <a:xfrm>
            <a:off x="6600960" y="1571760"/>
            <a:ext cx="17690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Value-Added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11267280" y="1590840"/>
            <a:ext cx="378360" cy="22608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7"/>
          <p:cNvSpPr/>
          <p:nvPr/>
        </p:nvSpPr>
        <p:spPr>
          <a:xfrm>
            <a:off x="11267280" y="1590840"/>
            <a:ext cx="435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50%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6600960" y="1914480"/>
            <a:ext cx="518868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91.4B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6600960" y="2295360"/>
            <a:ext cx="6451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+16%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7255440" y="2314440"/>
            <a:ext cx="13309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Games + Social Networks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6600960" y="2604960"/>
            <a:ext cx="5045760" cy="6840"/>
          </a:xfrm>
          <a:custGeom>
            <a:avLst/>
            <a:gdLst/>
            <a:ah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2"/>
          <p:cNvSpPr/>
          <p:nvPr/>
        </p:nvSpPr>
        <p:spPr>
          <a:xfrm>
            <a:off x="6600960" y="2724120"/>
            <a:ext cx="2521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Domestic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6600960" y="2876400"/>
            <a:ext cx="25502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6600960" y="3143160"/>
            <a:ext cx="2521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9182160" y="2724120"/>
            <a:ext cx="2521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International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9182160" y="2876400"/>
            <a:ext cx="25502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9182160" y="3143160"/>
            <a:ext cx="2521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6429240" y="3538440"/>
            <a:ext cx="5374440" cy="122616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9"/>
          <p:cNvSpPr/>
          <p:nvPr/>
        </p:nvSpPr>
        <p:spPr>
          <a:xfrm>
            <a:off x="6600960" y="3695760"/>
            <a:ext cx="15404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11292120" y="3714840"/>
            <a:ext cx="349920" cy="226080"/>
          </a:xfrm>
          <a:custGeom>
            <a:avLst/>
            <a:gdLst/>
            <a:ah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21"/>
          <p:cNvSpPr/>
          <p:nvPr/>
        </p:nvSpPr>
        <p:spPr>
          <a:xfrm>
            <a:off x="11292120" y="3714840"/>
            <a:ext cx="4071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19%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6600960" y="4038480"/>
            <a:ext cx="518868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35.8B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66" name="Text 23"/>
          <p:cNvSpPr/>
          <p:nvPr/>
        </p:nvSpPr>
        <p:spPr>
          <a:xfrm>
            <a:off x="6600960" y="4419720"/>
            <a:ext cx="6739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7" name="Text 24"/>
          <p:cNvSpPr/>
          <p:nvPr/>
        </p:nvSpPr>
        <p:spPr>
          <a:xfrm>
            <a:off x="7284960" y="4438800"/>
            <a:ext cx="16833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AI-powered advertising platform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8" name="Shape 25"/>
          <p:cNvSpPr/>
          <p:nvPr/>
        </p:nvSpPr>
        <p:spPr>
          <a:xfrm>
            <a:off x="6429240" y="4853160"/>
            <a:ext cx="5374440" cy="122616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6"/>
          <p:cNvSpPr/>
          <p:nvPr/>
        </p:nvSpPr>
        <p:spPr>
          <a:xfrm>
            <a:off x="6600960" y="5010120"/>
            <a:ext cx="22550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70" name="Shape 27"/>
          <p:cNvSpPr/>
          <p:nvPr/>
        </p:nvSpPr>
        <p:spPr>
          <a:xfrm>
            <a:off x="11265480" y="5029200"/>
            <a:ext cx="378360" cy="22608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28"/>
          <p:cNvSpPr/>
          <p:nvPr/>
        </p:nvSpPr>
        <p:spPr>
          <a:xfrm>
            <a:off x="11265480" y="5029200"/>
            <a:ext cx="435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30%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72" name="Text 29"/>
          <p:cNvSpPr/>
          <p:nvPr/>
        </p:nvSpPr>
        <p:spPr>
          <a:xfrm>
            <a:off x="6600960" y="5353200"/>
            <a:ext cx="518868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55.5B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73" name="Text 30"/>
          <p:cNvSpPr/>
          <p:nvPr/>
        </p:nvSpPr>
        <p:spPr>
          <a:xfrm>
            <a:off x="6600960" y="5734080"/>
            <a:ext cx="6451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4" name="Text 31"/>
          <p:cNvSpPr/>
          <p:nvPr/>
        </p:nvSpPr>
        <p:spPr>
          <a:xfrm>
            <a:off x="7260840" y="5753160"/>
            <a:ext cx="15692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Payment + Cloud + AI services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380880" y="380880"/>
            <a:ext cx="114940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5" strike="noStrike">
                <a:solidFill>
                  <a:srgbClr val="6366f1"/>
                </a:solidFill>
                <a:latin typeface="Liter"/>
                <a:ea typeface="Liter"/>
              </a:rPr>
              <a:t>MARGIN EXPANSION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380880" y="647640"/>
            <a:ext cx="115988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380880" y="1104840"/>
            <a:ext cx="115038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Gross margin improvement driven by high-margin revenue streams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385920" y="1414440"/>
            <a:ext cx="6331680" cy="5312520"/>
          </a:xfrm>
          <a:custGeom>
            <a:avLst/>
            <a:gdLst/>
            <a:ah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Image 0"/>
          <p:cNvSpPr/>
          <p:nvPr/>
        </p:nvSpPr>
        <p:spPr>
          <a:xfrm>
            <a:off x="581040" y="1609560"/>
            <a:ext cx="5941080" cy="49219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4"/>
          <p:cNvSpPr/>
          <p:nvPr/>
        </p:nvSpPr>
        <p:spPr>
          <a:xfrm>
            <a:off x="6958080" y="1414440"/>
            <a:ext cx="4845600" cy="2578680"/>
          </a:xfrm>
          <a:custGeom>
            <a:avLst/>
            <a:gdLst/>
            <a:ah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5"/>
          <p:cNvSpPr/>
          <p:nvPr/>
        </p:nvSpPr>
        <p:spPr>
          <a:xfrm>
            <a:off x="7153200" y="160956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6"/>
          <p:cNvSpPr/>
          <p:nvPr/>
        </p:nvSpPr>
        <p:spPr>
          <a:xfrm>
            <a:off x="7267680" y="1724040"/>
            <a:ext cx="149760" cy="1497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7"/>
          <p:cNvSpPr/>
          <p:nvPr/>
        </p:nvSpPr>
        <p:spPr>
          <a:xfrm>
            <a:off x="7648560" y="1666800"/>
            <a:ext cx="18453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Overall Gross Margin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7153200" y="2104920"/>
            <a:ext cx="10832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8127720" y="2300400"/>
            <a:ext cx="454680" cy="264240"/>
          </a:xfrm>
          <a:custGeom>
            <a:avLst/>
            <a:gdLst/>
            <a:ah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0"/>
          <p:cNvSpPr/>
          <p:nvPr/>
        </p:nvSpPr>
        <p:spPr>
          <a:xfrm>
            <a:off x="8127720" y="2300400"/>
            <a:ext cx="5212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+4pp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7153200" y="2643120"/>
            <a:ext cx="45219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vs 53% in Q2 2024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8" name="Shape 12"/>
          <p:cNvSpPr/>
          <p:nvPr/>
        </p:nvSpPr>
        <p:spPr>
          <a:xfrm>
            <a:off x="7153200" y="2990880"/>
            <a:ext cx="4455360" cy="6840"/>
          </a:xfrm>
          <a:custGeom>
            <a:avLst/>
            <a:gdLst/>
            <a:ah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13"/>
          <p:cNvSpPr/>
          <p:nvPr/>
        </p:nvSpPr>
        <p:spPr>
          <a:xfrm>
            <a:off x="7153200" y="3147840"/>
            <a:ext cx="45219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Driven by increased contributions from high-margin revenue streams including Domestic Games, Video Accounts, and Weixin Search, alongside enhanced cost efficiency.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6958080" y="4079160"/>
            <a:ext cx="4845600" cy="2635920"/>
          </a:xfrm>
          <a:custGeom>
            <a:avLst/>
            <a:gdLst/>
            <a:ah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5"/>
          <p:cNvSpPr/>
          <p:nvPr/>
        </p:nvSpPr>
        <p:spPr>
          <a:xfrm>
            <a:off x="7153200" y="4274280"/>
            <a:ext cx="45410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Segment Gross Margins (Q2 2025)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7153200" y="4712400"/>
            <a:ext cx="3214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VAS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11301840" y="4693320"/>
            <a:ext cx="3783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60%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7153200" y="4960080"/>
            <a:ext cx="4455360" cy="738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19"/>
          <p:cNvSpPr/>
          <p:nvPr/>
        </p:nvSpPr>
        <p:spPr>
          <a:xfrm>
            <a:off x="7153200" y="4960080"/>
            <a:ext cx="2674080" cy="7380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0"/>
          <p:cNvSpPr/>
          <p:nvPr/>
        </p:nvSpPr>
        <p:spPr>
          <a:xfrm>
            <a:off x="7153200" y="5074560"/>
            <a:ext cx="45122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57%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7153200" y="5360040"/>
            <a:ext cx="11977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11308680" y="5341320"/>
            <a:ext cx="3783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58%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9" name="Shape 23"/>
          <p:cNvSpPr/>
          <p:nvPr/>
        </p:nvSpPr>
        <p:spPr>
          <a:xfrm>
            <a:off x="7153200" y="5607720"/>
            <a:ext cx="4455360" cy="738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Shape 24"/>
          <p:cNvSpPr/>
          <p:nvPr/>
        </p:nvSpPr>
        <p:spPr>
          <a:xfrm>
            <a:off x="7153200" y="5607720"/>
            <a:ext cx="2578680" cy="73800"/>
          </a:xfrm>
          <a:custGeom>
            <a:avLst/>
            <a:gdLst/>
            <a:ah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25"/>
          <p:cNvSpPr/>
          <p:nvPr/>
        </p:nvSpPr>
        <p:spPr>
          <a:xfrm>
            <a:off x="7153200" y="5722200"/>
            <a:ext cx="45122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56%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7153200" y="6008040"/>
            <a:ext cx="12168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11313720" y="5988960"/>
            <a:ext cx="3690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52%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4" name="Shape 28"/>
          <p:cNvSpPr/>
          <p:nvPr/>
        </p:nvSpPr>
        <p:spPr>
          <a:xfrm>
            <a:off x="7153200" y="6255720"/>
            <a:ext cx="4455360" cy="7380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29"/>
          <p:cNvSpPr/>
          <p:nvPr/>
        </p:nvSpPr>
        <p:spPr>
          <a:xfrm>
            <a:off x="7153200" y="6255720"/>
            <a:ext cx="2311920" cy="73800"/>
          </a:xfrm>
          <a:custGeom>
            <a:avLst/>
            <a:gdLst/>
            <a:ah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30"/>
          <p:cNvSpPr/>
          <p:nvPr/>
        </p:nvSpPr>
        <p:spPr>
          <a:xfrm>
            <a:off x="7153200" y="6369840"/>
            <a:ext cx="45122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48% in Q2 2024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370440" y="370440"/>
            <a:ext cx="11513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32" strike="noStrike">
                <a:solidFill>
                  <a:srgbClr val="6366f1"/>
                </a:solidFill>
                <a:latin typeface="Liter"/>
                <a:ea typeface="Liter"/>
              </a:rPr>
              <a:t>GAMING BUSINESS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370440" y="629640"/>
            <a:ext cx="11615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370440" y="1073880"/>
            <a:ext cx="1152288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driving VAS growth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388800" y="1374840"/>
            <a:ext cx="5630760" cy="3755880"/>
          </a:xfrm>
          <a:custGeom>
            <a:avLst/>
            <a:gdLst/>
            <a:ah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4"/>
          <p:cNvSpPr/>
          <p:nvPr/>
        </p:nvSpPr>
        <p:spPr>
          <a:xfrm>
            <a:off x="592560" y="1564560"/>
            <a:ext cx="441720" cy="44172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5"/>
          <p:cNvSpPr/>
          <p:nvPr/>
        </p:nvSpPr>
        <p:spPr>
          <a:xfrm>
            <a:off x="722160" y="1694160"/>
            <a:ext cx="182520" cy="18252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6"/>
          <p:cNvSpPr/>
          <p:nvPr/>
        </p:nvSpPr>
        <p:spPr>
          <a:xfrm>
            <a:off x="1148040" y="1564560"/>
            <a:ext cx="14785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Domestic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14" name="Text 7"/>
          <p:cNvSpPr/>
          <p:nvPr/>
        </p:nvSpPr>
        <p:spPr>
          <a:xfrm>
            <a:off x="1148040" y="1823760"/>
            <a:ext cx="1450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China market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5" name="Text 8"/>
          <p:cNvSpPr/>
          <p:nvPr/>
        </p:nvSpPr>
        <p:spPr>
          <a:xfrm>
            <a:off x="592560" y="2157120"/>
            <a:ext cx="5302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592560" y="2379240"/>
            <a:ext cx="1830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2369880" y="2494800"/>
            <a:ext cx="700920" cy="256680"/>
          </a:xfrm>
          <a:custGeom>
            <a:avLst/>
            <a:gdLst/>
            <a:ah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1"/>
          <p:cNvSpPr/>
          <p:nvPr/>
        </p:nvSpPr>
        <p:spPr>
          <a:xfrm>
            <a:off x="2369880" y="2494800"/>
            <a:ext cx="765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9" name="Shape 12"/>
          <p:cNvSpPr/>
          <p:nvPr/>
        </p:nvSpPr>
        <p:spPr>
          <a:xfrm>
            <a:off x="592560" y="2902320"/>
            <a:ext cx="5237280" cy="1145520"/>
          </a:xfrm>
          <a:custGeom>
            <a:avLst/>
            <a:gdLst/>
            <a:ah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3"/>
          <p:cNvSpPr/>
          <p:nvPr/>
        </p:nvSpPr>
        <p:spPr>
          <a:xfrm>
            <a:off x="703440" y="3013200"/>
            <a:ext cx="5088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Delta Force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21" name="Text 14"/>
          <p:cNvSpPr/>
          <p:nvPr/>
        </p:nvSpPr>
        <p:spPr>
          <a:xfrm>
            <a:off x="703440" y="3272400"/>
            <a:ext cx="507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First-person shooter released Sep 2024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703440" y="3531600"/>
            <a:ext cx="7473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20M+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3" name="Text 16"/>
          <p:cNvSpPr/>
          <p:nvPr/>
        </p:nvSpPr>
        <p:spPr>
          <a:xfrm>
            <a:off x="703440" y="3790800"/>
            <a:ext cx="7102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Monthly DAU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1508040" y="3531600"/>
            <a:ext cx="10065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5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1508040" y="3790800"/>
            <a:ext cx="969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Industry DAU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6" name="Text 19"/>
          <p:cNvSpPr/>
          <p:nvPr/>
        </p:nvSpPr>
        <p:spPr>
          <a:xfrm>
            <a:off x="2575800" y="3531600"/>
            <a:ext cx="1089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3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7" name="Text 20"/>
          <p:cNvSpPr/>
          <p:nvPr/>
        </p:nvSpPr>
        <p:spPr>
          <a:xfrm>
            <a:off x="2575800" y="3790800"/>
            <a:ext cx="10530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Gross Receipts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592560" y="4161240"/>
            <a:ext cx="5237280" cy="775080"/>
          </a:xfrm>
          <a:custGeom>
            <a:avLst/>
            <a:gdLst/>
            <a:ah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22"/>
          <p:cNvSpPr/>
          <p:nvPr/>
        </p:nvSpPr>
        <p:spPr>
          <a:xfrm>
            <a:off x="703440" y="4272120"/>
            <a:ext cx="5088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Evergreen Titles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30" name="Shape 23"/>
          <p:cNvSpPr/>
          <p:nvPr/>
        </p:nvSpPr>
        <p:spPr>
          <a:xfrm>
            <a:off x="703440" y="4568400"/>
            <a:ext cx="1062000" cy="256680"/>
          </a:xfrm>
          <a:custGeom>
            <a:avLst/>
            <a:gdLst/>
            <a:ah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24"/>
          <p:cNvSpPr/>
          <p:nvPr/>
        </p:nvSpPr>
        <p:spPr>
          <a:xfrm>
            <a:off x="703440" y="4568400"/>
            <a:ext cx="11268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Honor of Kings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1843560" y="4568400"/>
            <a:ext cx="1238040" cy="256680"/>
          </a:xfrm>
          <a:custGeom>
            <a:avLst/>
            <a:gdLst/>
            <a:ah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26"/>
          <p:cNvSpPr/>
          <p:nvPr/>
        </p:nvSpPr>
        <p:spPr>
          <a:xfrm>
            <a:off x="1843560" y="4568400"/>
            <a:ext cx="1302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Peacekeeper Elite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4" name="Shape 27"/>
          <p:cNvSpPr/>
          <p:nvPr/>
        </p:nvSpPr>
        <p:spPr>
          <a:xfrm>
            <a:off x="3161880" y="4568400"/>
            <a:ext cx="895320" cy="256680"/>
          </a:xfrm>
          <a:custGeom>
            <a:avLst/>
            <a:gdLst/>
            <a:ah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28"/>
          <p:cNvSpPr/>
          <p:nvPr/>
        </p:nvSpPr>
        <p:spPr>
          <a:xfrm>
            <a:off x="3161880" y="4568400"/>
            <a:ext cx="960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VALORANT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6190200" y="1374840"/>
            <a:ext cx="5630760" cy="4126320"/>
          </a:xfrm>
          <a:custGeom>
            <a:avLst/>
            <a:gdLst/>
            <a:ah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30"/>
          <p:cNvSpPr/>
          <p:nvPr/>
        </p:nvSpPr>
        <p:spPr>
          <a:xfrm>
            <a:off x="6393600" y="1564560"/>
            <a:ext cx="441720" cy="44172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31"/>
          <p:cNvSpPr/>
          <p:nvPr/>
        </p:nvSpPr>
        <p:spPr>
          <a:xfrm>
            <a:off x="6523200" y="1694160"/>
            <a:ext cx="182520" cy="18252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32"/>
          <p:cNvSpPr/>
          <p:nvPr/>
        </p:nvSpPr>
        <p:spPr>
          <a:xfrm>
            <a:off x="6949080" y="1564560"/>
            <a:ext cx="17193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International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40" name="Text 33"/>
          <p:cNvSpPr/>
          <p:nvPr/>
        </p:nvSpPr>
        <p:spPr>
          <a:xfrm>
            <a:off x="6949080" y="1823760"/>
            <a:ext cx="1691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Global markets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1" name="Text 34"/>
          <p:cNvSpPr/>
          <p:nvPr/>
        </p:nvSpPr>
        <p:spPr>
          <a:xfrm>
            <a:off x="6393600" y="2157120"/>
            <a:ext cx="5302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2" name="Text 35"/>
          <p:cNvSpPr/>
          <p:nvPr/>
        </p:nvSpPr>
        <p:spPr>
          <a:xfrm>
            <a:off x="6393600" y="2379240"/>
            <a:ext cx="176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43" name="Shape 36"/>
          <p:cNvSpPr/>
          <p:nvPr/>
        </p:nvSpPr>
        <p:spPr>
          <a:xfrm>
            <a:off x="8108640" y="2494800"/>
            <a:ext cx="728640" cy="256680"/>
          </a:xfrm>
          <a:custGeom>
            <a:avLst/>
            <a:gdLst/>
            <a:ah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37"/>
          <p:cNvSpPr/>
          <p:nvPr/>
        </p:nvSpPr>
        <p:spPr>
          <a:xfrm>
            <a:off x="8108640" y="2494800"/>
            <a:ext cx="793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5" name="Text 38"/>
          <p:cNvSpPr/>
          <p:nvPr/>
        </p:nvSpPr>
        <p:spPr>
          <a:xfrm>
            <a:off x="6393600" y="2791080"/>
            <a:ext cx="5292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+33% on constant currency basis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6" name="Shape 39"/>
          <p:cNvSpPr/>
          <p:nvPr/>
        </p:nvSpPr>
        <p:spPr>
          <a:xfrm>
            <a:off x="6393600" y="3087360"/>
            <a:ext cx="5237280" cy="1219320"/>
          </a:xfrm>
          <a:custGeom>
            <a:avLst/>
            <a:gdLst/>
            <a:ah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40"/>
          <p:cNvSpPr/>
          <p:nvPr/>
        </p:nvSpPr>
        <p:spPr>
          <a:xfrm>
            <a:off x="6504840" y="3198600"/>
            <a:ext cx="5088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Key Growth Drivers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48" name="Shape 41"/>
          <p:cNvSpPr/>
          <p:nvPr/>
        </p:nvSpPr>
        <p:spPr>
          <a:xfrm>
            <a:off x="6523200" y="3513240"/>
            <a:ext cx="145440" cy="14544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42"/>
          <p:cNvSpPr/>
          <p:nvPr/>
        </p:nvSpPr>
        <p:spPr>
          <a:xfrm>
            <a:off x="6764040" y="3494520"/>
            <a:ext cx="1774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Supercell games performance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0" name="Shape 43"/>
          <p:cNvSpPr/>
          <p:nvPr/>
        </p:nvSpPr>
        <p:spPr>
          <a:xfrm>
            <a:off x="6523200" y="3772440"/>
            <a:ext cx="145440" cy="14544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44"/>
          <p:cNvSpPr/>
          <p:nvPr/>
        </p:nvSpPr>
        <p:spPr>
          <a:xfrm>
            <a:off x="6764040" y="3753720"/>
            <a:ext cx="1330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PUBG MOBILE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2" name="Shape 45"/>
          <p:cNvSpPr/>
          <p:nvPr/>
        </p:nvSpPr>
        <p:spPr>
          <a:xfrm>
            <a:off x="6523200" y="4031640"/>
            <a:ext cx="145440" cy="14544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46"/>
          <p:cNvSpPr/>
          <p:nvPr/>
        </p:nvSpPr>
        <p:spPr>
          <a:xfrm>
            <a:off x="6764040" y="4012920"/>
            <a:ext cx="1774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Dune: Awakening contribution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4" name="Shape 47"/>
          <p:cNvSpPr/>
          <p:nvPr/>
        </p:nvSpPr>
        <p:spPr>
          <a:xfrm>
            <a:off x="6393600" y="4420440"/>
            <a:ext cx="5237280" cy="886320"/>
          </a:xfrm>
          <a:custGeom>
            <a:avLst/>
            <a:gdLst/>
            <a:ah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48"/>
          <p:cNvSpPr/>
          <p:nvPr/>
        </p:nvSpPr>
        <p:spPr>
          <a:xfrm>
            <a:off x="6504840" y="4531320"/>
            <a:ext cx="5088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Clash Royale Highlights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56" name="Text 49"/>
          <p:cNvSpPr/>
          <p:nvPr/>
        </p:nvSpPr>
        <p:spPr>
          <a:xfrm>
            <a:off x="6504840" y="4827600"/>
            <a:ext cx="50799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More frequent content updates, optimized reward system, and community events boosted DAU to a </a:t>
            </a: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7-year high</a:t>
            </a: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 in June 2025.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7" name="Shape 50"/>
          <p:cNvSpPr/>
          <p:nvPr/>
        </p:nvSpPr>
        <p:spPr>
          <a:xfrm>
            <a:off x="374760" y="5582160"/>
            <a:ext cx="3709800" cy="126576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51"/>
          <p:cNvSpPr/>
          <p:nvPr/>
        </p:nvSpPr>
        <p:spPr>
          <a:xfrm>
            <a:off x="2091240" y="5734800"/>
            <a:ext cx="275040" cy="21960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52"/>
          <p:cNvSpPr/>
          <p:nvPr/>
        </p:nvSpPr>
        <p:spPr>
          <a:xfrm>
            <a:off x="495360" y="603108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Total Games 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0" name="Text 53"/>
          <p:cNvSpPr/>
          <p:nvPr/>
        </p:nvSpPr>
        <p:spPr>
          <a:xfrm>
            <a:off x="471960" y="6216480"/>
            <a:ext cx="351540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RMB 59.2B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1" name="Text 54"/>
          <p:cNvSpPr/>
          <p:nvPr/>
        </p:nvSpPr>
        <p:spPr>
          <a:xfrm>
            <a:off x="495360" y="651276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+22%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2" name="Shape 55"/>
          <p:cNvSpPr/>
          <p:nvPr/>
        </p:nvSpPr>
        <p:spPr>
          <a:xfrm>
            <a:off x="4242600" y="5582160"/>
            <a:ext cx="3709800" cy="126576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Shape 56"/>
          <p:cNvSpPr/>
          <p:nvPr/>
        </p:nvSpPr>
        <p:spPr>
          <a:xfrm>
            <a:off x="6014160" y="5734800"/>
            <a:ext cx="164160" cy="219600"/>
          </a:xfrm>
          <a:custGeom>
            <a:avLst/>
            <a:gdLst/>
            <a:ah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57"/>
          <p:cNvSpPr/>
          <p:nvPr/>
        </p:nvSpPr>
        <p:spPr>
          <a:xfrm>
            <a:off x="4362840" y="603108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Mini Games Gross Receipts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5" name="Text 58"/>
          <p:cNvSpPr/>
          <p:nvPr/>
        </p:nvSpPr>
        <p:spPr>
          <a:xfrm>
            <a:off x="4339800" y="6216480"/>
            <a:ext cx="351540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+20%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6" name="Text 59"/>
          <p:cNvSpPr/>
          <p:nvPr/>
        </p:nvSpPr>
        <p:spPr>
          <a:xfrm>
            <a:off x="4362840" y="651276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YoY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7" name="Shape 60"/>
          <p:cNvSpPr/>
          <p:nvPr/>
        </p:nvSpPr>
        <p:spPr>
          <a:xfrm>
            <a:off x="8110080" y="5582160"/>
            <a:ext cx="3709800" cy="126576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Shape 61"/>
          <p:cNvSpPr/>
          <p:nvPr/>
        </p:nvSpPr>
        <p:spPr>
          <a:xfrm>
            <a:off x="9826200" y="5734800"/>
            <a:ext cx="275040" cy="21960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62"/>
          <p:cNvSpPr/>
          <p:nvPr/>
        </p:nvSpPr>
        <p:spPr>
          <a:xfrm>
            <a:off x="8230320" y="603108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AI in Games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70" name="Text 63"/>
          <p:cNvSpPr/>
          <p:nvPr/>
        </p:nvSpPr>
        <p:spPr>
          <a:xfrm>
            <a:off x="8207280" y="6216480"/>
            <a:ext cx="351540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Deployed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71" name="Text 64"/>
          <p:cNvSpPr/>
          <p:nvPr/>
        </p:nvSpPr>
        <p:spPr>
          <a:xfrm>
            <a:off x="8230320" y="6512760"/>
            <a:ext cx="3468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Content &amp; NPCs</a:t>
            </a:r>
            <a:endParaRPr b="0" lang="en-HK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Image 0"/>
          <p:cNvSpPr/>
          <p:nvPr/>
        </p:nvSpPr>
        <p:spPr>
          <a:xfrm>
            <a:off x="0" y="0"/>
            <a:ext cx="12189600" cy="68558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0"/>
          <p:cNvSpPr/>
          <p:nvPr/>
        </p:nvSpPr>
        <p:spPr>
          <a:xfrm>
            <a:off x="0" y="0"/>
            <a:ext cx="12189600" cy="6855840"/>
          </a:xfrm>
          <a:custGeom>
            <a:avLst/>
            <a:gdLst/>
            <a:ah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70196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1"/>
          <p:cNvSpPr/>
          <p:nvPr/>
        </p:nvSpPr>
        <p:spPr>
          <a:xfrm>
            <a:off x="344520" y="344520"/>
            <a:ext cx="115603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29" strike="noStrike">
                <a:solidFill>
                  <a:srgbClr val="6366f1"/>
                </a:solidFill>
                <a:latin typeface="Liter"/>
                <a:ea typeface="Liter"/>
              </a:rPr>
              <a:t>TECHNOLOGY INNOVATION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344520" y="586080"/>
            <a:ext cx="116553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40" spc="-1" strike="noStrike">
                <a:solidFill>
                  <a:srgbClr val="efefef"/>
                </a:solidFill>
                <a:latin typeface="Liter"/>
                <a:ea typeface="Liter"/>
              </a:rPr>
              <a:t>AI Integration &amp; Innovation</a:t>
            </a:r>
            <a:endParaRPr b="0" lang="en-HK" sz="2440" spc="-1" strike="noStrike"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344520" y="999360"/>
            <a:ext cx="115689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90" spc="-1" strike="noStrike">
                <a:solidFill>
                  <a:srgbClr val="8f8f8f"/>
                </a:solidFill>
                <a:latin typeface="Liter"/>
                <a:ea typeface="Liter"/>
              </a:rPr>
              <a:t>AI driving value creation across all platforms and services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348840" y="1348560"/>
            <a:ext cx="5675760" cy="276336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Shape 5"/>
          <p:cNvSpPr/>
          <p:nvPr/>
        </p:nvSpPr>
        <p:spPr>
          <a:xfrm>
            <a:off x="525600" y="1524960"/>
            <a:ext cx="411120" cy="41112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Shape 6"/>
          <p:cNvSpPr/>
          <p:nvPr/>
        </p:nvSpPr>
        <p:spPr>
          <a:xfrm>
            <a:off x="635400" y="1645560"/>
            <a:ext cx="191520" cy="169920"/>
          </a:xfrm>
          <a:custGeom>
            <a:avLst/>
            <a:gdLst/>
            <a:ah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7"/>
          <p:cNvSpPr/>
          <p:nvPr/>
        </p:nvSpPr>
        <p:spPr>
          <a:xfrm>
            <a:off x="1042560" y="1611360"/>
            <a:ext cx="150516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Weixin AI Features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81" name="Shape 8"/>
          <p:cNvSpPr/>
          <p:nvPr/>
        </p:nvSpPr>
        <p:spPr>
          <a:xfrm>
            <a:off x="525600" y="207648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Shape 9"/>
          <p:cNvSpPr/>
          <p:nvPr/>
        </p:nvSpPr>
        <p:spPr>
          <a:xfrm>
            <a:off x="654840" y="2214360"/>
            <a:ext cx="118080" cy="13536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Text 10"/>
          <p:cNvSpPr/>
          <p:nvPr/>
        </p:nvSpPr>
        <p:spPr>
          <a:xfrm>
            <a:off x="904680" y="2179800"/>
            <a:ext cx="32630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AI-Powered Citations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904680" y="2352240"/>
            <a:ext cx="32630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Intelligent content citations and references in Weixin content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5" name="Shape 12"/>
          <p:cNvSpPr/>
          <p:nvPr/>
        </p:nvSpPr>
        <p:spPr>
          <a:xfrm>
            <a:off x="525600" y="273132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Shape 13"/>
          <p:cNvSpPr/>
          <p:nvPr/>
        </p:nvSpPr>
        <p:spPr>
          <a:xfrm>
            <a:off x="646200" y="2869200"/>
            <a:ext cx="135360" cy="13536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14"/>
          <p:cNvSpPr/>
          <p:nvPr/>
        </p:nvSpPr>
        <p:spPr>
          <a:xfrm>
            <a:off x="904680" y="2834640"/>
            <a:ext cx="3168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Mini Shops Intelligence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8" name="Text 15"/>
          <p:cNvSpPr/>
          <p:nvPr/>
        </p:nvSpPr>
        <p:spPr>
          <a:xfrm>
            <a:off x="904680" y="3007080"/>
            <a:ext cx="31683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responses to customer enquiries for merchants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9" name="Shape 16"/>
          <p:cNvSpPr/>
          <p:nvPr/>
        </p:nvSpPr>
        <p:spPr>
          <a:xfrm>
            <a:off x="525600" y="338616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Shape 17"/>
          <p:cNvSpPr/>
          <p:nvPr/>
        </p:nvSpPr>
        <p:spPr>
          <a:xfrm>
            <a:off x="637560" y="3524040"/>
            <a:ext cx="152640" cy="135360"/>
          </a:xfrm>
          <a:custGeom>
            <a:avLst/>
            <a:gdLst/>
            <a:ah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18"/>
          <p:cNvSpPr/>
          <p:nvPr/>
        </p:nvSpPr>
        <p:spPr>
          <a:xfrm>
            <a:off x="904680" y="3489480"/>
            <a:ext cx="28062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Video Summaries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2" name="Text 19"/>
          <p:cNvSpPr/>
          <p:nvPr/>
        </p:nvSpPr>
        <p:spPr>
          <a:xfrm>
            <a:off x="904680" y="3661920"/>
            <a:ext cx="28062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text summaries for Video Accounts clips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6169680" y="1348560"/>
            <a:ext cx="5675760" cy="276336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21"/>
          <p:cNvSpPr/>
          <p:nvPr/>
        </p:nvSpPr>
        <p:spPr>
          <a:xfrm>
            <a:off x="6346440" y="1524960"/>
            <a:ext cx="411120" cy="41112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22"/>
          <p:cNvSpPr/>
          <p:nvPr/>
        </p:nvSpPr>
        <p:spPr>
          <a:xfrm>
            <a:off x="6445440" y="1645560"/>
            <a:ext cx="212760" cy="169920"/>
          </a:xfrm>
          <a:custGeom>
            <a:avLst/>
            <a:gdLst/>
            <a:ah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23"/>
          <p:cNvSpPr/>
          <p:nvPr/>
        </p:nvSpPr>
        <p:spPr>
          <a:xfrm>
            <a:off x="6863400" y="1611360"/>
            <a:ext cx="11779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 AI Tools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6346440" y="207648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25"/>
          <p:cNvSpPr/>
          <p:nvPr/>
        </p:nvSpPr>
        <p:spPr>
          <a:xfrm>
            <a:off x="6475680" y="2214360"/>
            <a:ext cx="118080" cy="13536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26"/>
          <p:cNvSpPr/>
          <p:nvPr/>
        </p:nvSpPr>
        <p:spPr>
          <a:xfrm>
            <a:off x="6725520" y="2179800"/>
            <a:ext cx="27979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Content Production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6725520" y="2352240"/>
            <a:ext cx="27979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AI tools accelerating game content creation pipeline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6346440" y="273132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29"/>
          <p:cNvSpPr/>
          <p:nvPr/>
        </p:nvSpPr>
        <p:spPr>
          <a:xfrm>
            <a:off x="6449760" y="2869200"/>
            <a:ext cx="169920" cy="135360"/>
          </a:xfrm>
          <a:custGeom>
            <a:avLst/>
            <a:gdLst/>
            <a:ah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30"/>
          <p:cNvSpPr/>
          <p:nvPr/>
        </p:nvSpPr>
        <p:spPr>
          <a:xfrm>
            <a:off x="6725520" y="2834640"/>
            <a:ext cx="28753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Virtual Teammates &amp; NPCs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4" name="Text 31"/>
          <p:cNvSpPr/>
          <p:nvPr/>
        </p:nvSpPr>
        <p:spPr>
          <a:xfrm>
            <a:off x="6725520" y="3007080"/>
            <a:ext cx="28753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Realistic AI-powered characters enhancing gameplay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5" name="Shape 32"/>
          <p:cNvSpPr/>
          <p:nvPr/>
        </p:nvSpPr>
        <p:spPr>
          <a:xfrm>
            <a:off x="6346440" y="3386160"/>
            <a:ext cx="5322240" cy="54900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33"/>
          <p:cNvSpPr/>
          <p:nvPr/>
        </p:nvSpPr>
        <p:spPr>
          <a:xfrm>
            <a:off x="6467040" y="3524040"/>
            <a:ext cx="135360" cy="13536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34"/>
          <p:cNvSpPr/>
          <p:nvPr/>
        </p:nvSpPr>
        <p:spPr>
          <a:xfrm>
            <a:off x="6725520" y="3489480"/>
            <a:ext cx="24357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Marketing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8" name="Text 35"/>
          <p:cNvSpPr/>
          <p:nvPr/>
        </p:nvSpPr>
        <p:spPr>
          <a:xfrm>
            <a:off x="6725520" y="3661920"/>
            <a:ext cx="24357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User acquisition and engagement campaigns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9" name="Shape 36"/>
          <p:cNvSpPr/>
          <p:nvPr/>
        </p:nvSpPr>
        <p:spPr>
          <a:xfrm>
            <a:off x="348840" y="4260600"/>
            <a:ext cx="5675760" cy="259092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Shape 37"/>
          <p:cNvSpPr/>
          <p:nvPr/>
        </p:nvSpPr>
        <p:spPr>
          <a:xfrm>
            <a:off x="525600" y="4437360"/>
            <a:ext cx="411120" cy="41112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Shape 38"/>
          <p:cNvSpPr/>
          <p:nvPr/>
        </p:nvSpPr>
        <p:spPr>
          <a:xfrm>
            <a:off x="646200" y="4557960"/>
            <a:ext cx="169920" cy="16992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39"/>
          <p:cNvSpPr/>
          <p:nvPr/>
        </p:nvSpPr>
        <p:spPr>
          <a:xfrm>
            <a:off x="1042560" y="4523400"/>
            <a:ext cx="16430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Platform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13" name="Shape 40"/>
          <p:cNvSpPr/>
          <p:nvPr/>
        </p:nvSpPr>
        <p:spPr>
          <a:xfrm>
            <a:off x="525600" y="4988880"/>
            <a:ext cx="5322240" cy="617760"/>
          </a:xfrm>
          <a:custGeom>
            <a:avLst/>
            <a:gdLst/>
            <a:ah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41"/>
          <p:cNvSpPr/>
          <p:nvPr/>
        </p:nvSpPr>
        <p:spPr>
          <a:xfrm>
            <a:off x="628920" y="5092200"/>
            <a:ext cx="51757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Foundation Model Upgrade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5" name="Text 42"/>
          <p:cNvSpPr/>
          <p:nvPr/>
        </p:nvSpPr>
        <p:spPr>
          <a:xfrm>
            <a:off x="628920" y="5333400"/>
            <a:ext cx="51757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Enhanced advertising performance across Video Accounts, Mini Programs, and Weixin Search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6" name="Shape 43"/>
          <p:cNvSpPr/>
          <p:nvPr/>
        </p:nvSpPr>
        <p:spPr>
          <a:xfrm>
            <a:off x="525600" y="5712480"/>
            <a:ext cx="2608200" cy="61776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Text 44"/>
          <p:cNvSpPr/>
          <p:nvPr/>
        </p:nvSpPr>
        <p:spPr>
          <a:xfrm>
            <a:off x="577440" y="5815800"/>
            <a:ext cx="2504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18" name="Text 45"/>
          <p:cNvSpPr/>
          <p:nvPr/>
        </p:nvSpPr>
        <p:spPr>
          <a:xfrm>
            <a:off x="603000" y="6091560"/>
            <a:ext cx="245304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19" name="Shape 46"/>
          <p:cNvSpPr/>
          <p:nvPr/>
        </p:nvSpPr>
        <p:spPr>
          <a:xfrm>
            <a:off x="3237840" y="5712480"/>
            <a:ext cx="2608200" cy="61776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47"/>
          <p:cNvSpPr/>
          <p:nvPr/>
        </p:nvSpPr>
        <p:spPr>
          <a:xfrm>
            <a:off x="3289320" y="5815800"/>
            <a:ext cx="2504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Higher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21" name="Text 48"/>
          <p:cNvSpPr/>
          <p:nvPr/>
        </p:nvSpPr>
        <p:spPr>
          <a:xfrm>
            <a:off x="3315240" y="6091560"/>
            <a:ext cx="2453040" cy="1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CTR &amp; Conversions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22" name="Shape 49"/>
          <p:cNvSpPr/>
          <p:nvPr/>
        </p:nvSpPr>
        <p:spPr>
          <a:xfrm>
            <a:off x="6169680" y="4260600"/>
            <a:ext cx="5675760" cy="259092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50"/>
          <p:cNvSpPr/>
          <p:nvPr/>
        </p:nvSpPr>
        <p:spPr>
          <a:xfrm>
            <a:off x="6346440" y="4437360"/>
            <a:ext cx="411120" cy="41112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Shape 51"/>
          <p:cNvSpPr/>
          <p:nvPr/>
        </p:nvSpPr>
        <p:spPr>
          <a:xfrm>
            <a:off x="6467040" y="4557960"/>
            <a:ext cx="169920" cy="16992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52"/>
          <p:cNvSpPr/>
          <p:nvPr/>
        </p:nvSpPr>
        <p:spPr>
          <a:xfrm>
            <a:off x="6863400" y="4523400"/>
            <a:ext cx="138456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HunYuan Models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26" name="Shape 53"/>
          <p:cNvSpPr/>
          <p:nvPr/>
        </p:nvSpPr>
        <p:spPr>
          <a:xfrm>
            <a:off x="6346440" y="4988880"/>
            <a:ext cx="5322240" cy="79020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Shape 54"/>
          <p:cNvSpPr/>
          <p:nvPr/>
        </p:nvSpPr>
        <p:spPr>
          <a:xfrm>
            <a:off x="6467040" y="5109480"/>
            <a:ext cx="135360" cy="13536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55"/>
          <p:cNvSpPr/>
          <p:nvPr/>
        </p:nvSpPr>
        <p:spPr>
          <a:xfrm>
            <a:off x="6690960" y="5092200"/>
            <a:ext cx="17380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HunYuan 3D Model - Ranked #1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29" name="Text 56"/>
          <p:cNvSpPr/>
          <p:nvPr/>
        </p:nvSpPr>
        <p:spPr>
          <a:xfrm>
            <a:off x="6449760" y="5333400"/>
            <a:ext cx="51757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Leading Hugging Face leaderboard for geometric precision, texture fidelity, and prompt-3D alignment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0" name="Shape 57"/>
          <p:cNvSpPr/>
          <p:nvPr/>
        </p:nvSpPr>
        <p:spPr>
          <a:xfrm>
            <a:off x="6346440" y="5884920"/>
            <a:ext cx="5322240" cy="79020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58"/>
          <p:cNvSpPr/>
          <p:nvPr/>
        </p:nvSpPr>
        <p:spPr>
          <a:xfrm>
            <a:off x="6449760" y="5988240"/>
            <a:ext cx="517572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Adoption Growing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2" name="Text 59"/>
          <p:cNvSpPr/>
          <p:nvPr/>
        </p:nvSpPr>
        <p:spPr>
          <a:xfrm>
            <a:off x="6449760" y="6229440"/>
            <a:ext cx="51757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Game developers, 3D printing enterprises, and design professionals increasingly adopting HunYuan 3D</a:t>
            </a:r>
            <a:endParaRPr b="0" lang="en-HK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0"/>
          <p:cNvSpPr/>
          <p:nvPr/>
        </p:nvSpPr>
        <p:spPr>
          <a:xfrm>
            <a:off x="339480" y="339480"/>
            <a:ext cx="115696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29" strike="noStrike">
                <a:solidFill>
                  <a:srgbClr val="6366f1"/>
                </a:solidFill>
                <a:latin typeface="Liter"/>
                <a:ea typeface="Liter"/>
              </a:rPr>
              <a:t>PLATFORM ENGAGEMENT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339480" y="577440"/>
            <a:ext cx="1166292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efefef"/>
                </a:solidFill>
                <a:latin typeface="Liter"/>
                <a:ea typeface="Liter"/>
              </a:rPr>
              <a:t>User Metrics &amp; Engagement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339480" y="984960"/>
            <a:ext cx="11578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70" spc="-1" strike="noStrike">
                <a:solidFill>
                  <a:srgbClr val="8f8f8f"/>
                </a:solidFill>
                <a:latin typeface="Liter"/>
                <a:ea typeface="Liter"/>
              </a:rPr>
              <a:t>Strong user base across social platforms and content services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343800" y="1328760"/>
            <a:ext cx="5643360" cy="164448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4"/>
          <p:cNvSpPr/>
          <p:nvPr/>
        </p:nvSpPr>
        <p:spPr>
          <a:xfrm>
            <a:off x="551880" y="1536840"/>
            <a:ext cx="405000" cy="40500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Shape 5"/>
          <p:cNvSpPr/>
          <p:nvPr/>
        </p:nvSpPr>
        <p:spPr>
          <a:xfrm>
            <a:off x="641160" y="1638720"/>
            <a:ext cx="226800" cy="20124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6"/>
          <p:cNvSpPr/>
          <p:nvPr/>
        </p:nvSpPr>
        <p:spPr>
          <a:xfrm>
            <a:off x="1061280" y="1536840"/>
            <a:ext cx="14068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Weixin &amp; WeChat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40" name="Text 7"/>
          <p:cNvSpPr/>
          <p:nvPr/>
        </p:nvSpPr>
        <p:spPr>
          <a:xfrm>
            <a:off x="1061280" y="1774440"/>
            <a:ext cx="1381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Combined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551880" y="2080080"/>
            <a:ext cx="127944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6366f1"/>
                </a:solidFill>
                <a:latin typeface="Liter"/>
                <a:ea typeface="Liter"/>
              </a:rPr>
              <a:t>1.411B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1730160" y="2254320"/>
            <a:ext cx="600120" cy="235080"/>
          </a:xfrm>
          <a:custGeom>
            <a:avLst/>
            <a:gdLst/>
            <a:ah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10"/>
          <p:cNvSpPr/>
          <p:nvPr/>
        </p:nvSpPr>
        <p:spPr>
          <a:xfrm>
            <a:off x="1730160" y="2254320"/>
            <a:ext cx="6598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+3%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4" name="Text 11"/>
          <p:cNvSpPr/>
          <p:nvPr/>
        </p:nvSpPr>
        <p:spPr>
          <a:xfrm>
            <a:off x="551880" y="2593800"/>
            <a:ext cx="52869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Sustained leadership in China's social messaging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5" name="Shape 12"/>
          <p:cNvSpPr/>
          <p:nvPr/>
        </p:nvSpPr>
        <p:spPr>
          <a:xfrm>
            <a:off x="343800" y="3115800"/>
            <a:ext cx="5643360" cy="164448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Shape 13"/>
          <p:cNvSpPr/>
          <p:nvPr/>
        </p:nvSpPr>
        <p:spPr>
          <a:xfrm>
            <a:off x="551880" y="3323880"/>
            <a:ext cx="405000" cy="40500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Shape 14"/>
          <p:cNvSpPr/>
          <p:nvPr/>
        </p:nvSpPr>
        <p:spPr>
          <a:xfrm>
            <a:off x="666360" y="3425760"/>
            <a:ext cx="175680" cy="201240"/>
          </a:xfrm>
          <a:custGeom>
            <a:avLst/>
            <a:gdLst/>
            <a:ah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5"/>
          <p:cNvSpPr/>
          <p:nvPr/>
        </p:nvSpPr>
        <p:spPr>
          <a:xfrm>
            <a:off x="1061280" y="3323880"/>
            <a:ext cx="11098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QQ Mobile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1061280" y="3561840"/>
            <a:ext cx="1084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Mobile device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0" name="Text 17"/>
          <p:cNvSpPr/>
          <p:nvPr/>
        </p:nvSpPr>
        <p:spPr>
          <a:xfrm>
            <a:off x="551880" y="3867480"/>
            <a:ext cx="127944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532M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51" name="Shape 18"/>
          <p:cNvSpPr/>
          <p:nvPr/>
        </p:nvSpPr>
        <p:spPr>
          <a:xfrm>
            <a:off x="1729440" y="4041360"/>
            <a:ext cx="574920" cy="235080"/>
          </a:xfrm>
          <a:custGeom>
            <a:avLst/>
            <a:gdLst/>
            <a:ah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 19"/>
          <p:cNvSpPr/>
          <p:nvPr/>
        </p:nvSpPr>
        <p:spPr>
          <a:xfrm>
            <a:off x="1729440" y="4041360"/>
            <a:ext cx="6343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-7%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3" name="Text 20"/>
          <p:cNvSpPr/>
          <p:nvPr/>
        </p:nvSpPr>
        <p:spPr>
          <a:xfrm>
            <a:off x="551880" y="4380840"/>
            <a:ext cx="52869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Strategic focus shift to younger demographics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4" name="Shape 21"/>
          <p:cNvSpPr/>
          <p:nvPr/>
        </p:nvSpPr>
        <p:spPr>
          <a:xfrm>
            <a:off x="343800" y="4903200"/>
            <a:ext cx="5643360" cy="164448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Shape 22"/>
          <p:cNvSpPr/>
          <p:nvPr/>
        </p:nvSpPr>
        <p:spPr>
          <a:xfrm>
            <a:off x="551880" y="5111280"/>
            <a:ext cx="405000" cy="40500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Shape 23"/>
          <p:cNvSpPr/>
          <p:nvPr/>
        </p:nvSpPr>
        <p:spPr>
          <a:xfrm>
            <a:off x="641160" y="5213160"/>
            <a:ext cx="226800" cy="20124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24"/>
          <p:cNvSpPr/>
          <p:nvPr/>
        </p:nvSpPr>
        <p:spPr>
          <a:xfrm>
            <a:off x="1061280" y="5111280"/>
            <a:ext cx="1245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Fee-based VAS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58" name="Text 25"/>
          <p:cNvSpPr/>
          <p:nvPr/>
        </p:nvSpPr>
        <p:spPr>
          <a:xfrm>
            <a:off x="1061280" y="5348880"/>
            <a:ext cx="1220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Paying users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9" name="Text 26"/>
          <p:cNvSpPr/>
          <p:nvPr/>
        </p:nvSpPr>
        <p:spPr>
          <a:xfrm>
            <a:off x="551880" y="5654520"/>
            <a:ext cx="1288080" cy="4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264M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60" name="Shape 27"/>
          <p:cNvSpPr/>
          <p:nvPr/>
        </p:nvSpPr>
        <p:spPr>
          <a:xfrm>
            <a:off x="1737720" y="5828400"/>
            <a:ext cx="702000" cy="235080"/>
          </a:xfrm>
          <a:custGeom>
            <a:avLst/>
            <a:gdLst/>
            <a:ah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8"/>
          <p:cNvSpPr/>
          <p:nvPr/>
        </p:nvSpPr>
        <p:spPr>
          <a:xfrm>
            <a:off x="1737720" y="5828400"/>
            <a:ext cx="7617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+0.4%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2" name="Text 29"/>
          <p:cNvSpPr/>
          <p:nvPr/>
        </p:nvSpPr>
        <p:spPr>
          <a:xfrm>
            <a:off x="551880" y="6168240"/>
            <a:ext cx="52869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Stable premium subscriber base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3" name="Shape 30"/>
          <p:cNvSpPr/>
          <p:nvPr/>
        </p:nvSpPr>
        <p:spPr>
          <a:xfrm>
            <a:off x="6203880" y="1328760"/>
            <a:ext cx="5643360" cy="2824560"/>
          </a:xfrm>
          <a:custGeom>
            <a:avLst/>
            <a:gdLst/>
            <a:ah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Text 31"/>
          <p:cNvSpPr/>
          <p:nvPr/>
        </p:nvSpPr>
        <p:spPr>
          <a:xfrm>
            <a:off x="6411960" y="1536840"/>
            <a:ext cx="53125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Content Services Subscribers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65" name="Shape 32"/>
          <p:cNvSpPr/>
          <p:nvPr/>
        </p:nvSpPr>
        <p:spPr>
          <a:xfrm>
            <a:off x="6411960" y="1910160"/>
            <a:ext cx="5227560" cy="94824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33"/>
          <p:cNvSpPr/>
          <p:nvPr/>
        </p:nvSpPr>
        <p:spPr>
          <a:xfrm>
            <a:off x="6568920" y="2097000"/>
            <a:ext cx="167400" cy="16740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4"/>
          <p:cNvSpPr/>
          <p:nvPr/>
        </p:nvSpPr>
        <p:spPr>
          <a:xfrm>
            <a:off x="6861960" y="2080080"/>
            <a:ext cx="9399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Video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68" name="Text 35"/>
          <p:cNvSpPr/>
          <p:nvPr/>
        </p:nvSpPr>
        <p:spPr>
          <a:xfrm>
            <a:off x="11043000" y="2046240"/>
            <a:ext cx="56628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114M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69" name="Text 36"/>
          <p:cNvSpPr/>
          <p:nvPr/>
        </p:nvSpPr>
        <p:spPr>
          <a:xfrm>
            <a:off x="6547680" y="2385720"/>
            <a:ext cx="50151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position in China's long-form video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0" name="Text 37"/>
          <p:cNvSpPr/>
          <p:nvPr/>
        </p:nvSpPr>
        <p:spPr>
          <a:xfrm>
            <a:off x="6547680" y="2589480"/>
            <a:ext cx="500688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daily paying users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1" name="Shape 38"/>
          <p:cNvSpPr/>
          <p:nvPr/>
        </p:nvSpPr>
        <p:spPr>
          <a:xfrm>
            <a:off x="6411960" y="2997000"/>
            <a:ext cx="5227560" cy="94824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Shape 39"/>
          <p:cNvSpPr/>
          <p:nvPr/>
        </p:nvSpPr>
        <p:spPr>
          <a:xfrm>
            <a:off x="6568920" y="3183840"/>
            <a:ext cx="167400" cy="16740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40"/>
          <p:cNvSpPr/>
          <p:nvPr/>
        </p:nvSpPr>
        <p:spPr>
          <a:xfrm>
            <a:off x="6861960" y="3166920"/>
            <a:ext cx="9568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Music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74" name="Text 41"/>
          <p:cNvSpPr/>
          <p:nvPr/>
        </p:nvSpPr>
        <p:spPr>
          <a:xfrm>
            <a:off x="11006280" y="3133080"/>
            <a:ext cx="60012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124M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75" name="Text 42"/>
          <p:cNvSpPr/>
          <p:nvPr/>
        </p:nvSpPr>
        <p:spPr>
          <a:xfrm>
            <a:off x="6547680" y="3472560"/>
            <a:ext cx="50151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music streaming platform in China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6" name="Text 43"/>
          <p:cNvSpPr/>
          <p:nvPr/>
        </p:nvSpPr>
        <p:spPr>
          <a:xfrm>
            <a:off x="6547680" y="3676320"/>
            <a:ext cx="500688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paying users at quarter-end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7" name="Shape 44"/>
          <p:cNvSpPr/>
          <p:nvPr/>
        </p:nvSpPr>
        <p:spPr>
          <a:xfrm>
            <a:off x="6203880" y="4300200"/>
            <a:ext cx="5643360" cy="2553120"/>
          </a:xfrm>
          <a:custGeom>
            <a:avLst/>
            <a:gdLst/>
            <a:ah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45"/>
          <p:cNvSpPr/>
          <p:nvPr/>
        </p:nvSpPr>
        <p:spPr>
          <a:xfrm>
            <a:off x="6411960" y="4508280"/>
            <a:ext cx="53125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Mini Games Performance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79" name="Shape 46"/>
          <p:cNvSpPr/>
          <p:nvPr/>
        </p:nvSpPr>
        <p:spPr>
          <a:xfrm>
            <a:off x="6411960" y="4881960"/>
            <a:ext cx="5227560" cy="1763280"/>
          </a:xfrm>
          <a:custGeom>
            <a:avLst/>
            <a:gdLst/>
            <a:ah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47"/>
          <p:cNvSpPr/>
          <p:nvPr/>
        </p:nvSpPr>
        <p:spPr>
          <a:xfrm>
            <a:off x="6581880" y="5102640"/>
            <a:ext cx="540720" cy="540720"/>
          </a:xfrm>
          <a:custGeom>
            <a:avLst/>
            <a:gdLst/>
            <a:ah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48"/>
          <p:cNvSpPr/>
          <p:nvPr/>
        </p:nvSpPr>
        <p:spPr>
          <a:xfrm>
            <a:off x="6728400" y="5247000"/>
            <a:ext cx="252360" cy="252360"/>
          </a:xfrm>
          <a:custGeom>
            <a:avLst/>
            <a:gdLst/>
            <a:ah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49"/>
          <p:cNvSpPr/>
          <p:nvPr/>
        </p:nvSpPr>
        <p:spPr>
          <a:xfrm>
            <a:off x="7261200" y="5051520"/>
            <a:ext cx="12538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Gross Receipts Growth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3" name="Text 50"/>
          <p:cNvSpPr/>
          <p:nvPr/>
        </p:nvSpPr>
        <p:spPr>
          <a:xfrm>
            <a:off x="7261200" y="5221440"/>
            <a:ext cx="134748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84" name="Text 51"/>
          <p:cNvSpPr/>
          <p:nvPr/>
        </p:nvSpPr>
        <p:spPr>
          <a:xfrm>
            <a:off x="7261200" y="5561280"/>
            <a:ext cx="124560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Year-on-year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85" name="Shape 52"/>
          <p:cNvSpPr/>
          <p:nvPr/>
        </p:nvSpPr>
        <p:spPr>
          <a:xfrm>
            <a:off x="6598800" y="5858280"/>
            <a:ext cx="116280" cy="11628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53"/>
          <p:cNvSpPr/>
          <p:nvPr/>
        </p:nvSpPr>
        <p:spPr>
          <a:xfrm>
            <a:off x="6798240" y="5832720"/>
            <a:ext cx="1984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Expanded game engine compatibility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7" name="Shape 54"/>
          <p:cNvSpPr/>
          <p:nvPr/>
        </p:nvSpPr>
        <p:spPr>
          <a:xfrm>
            <a:off x="6598800" y="6095880"/>
            <a:ext cx="116280" cy="11628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 55"/>
          <p:cNvSpPr/>
          <p:nvPr/>
        </p:nvSpPr>
        <p:spPr>
          <a:xfrm>
            <a:off x="6798240" y="6070680"/>
            <a:ext cx="1585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Enhanced graphics rendering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9" name="Shape 56"/>
          <p:cNvSpPr/>
          <p:nvPr/>
        </p:nvSpPr>
        <p:spPr>
          <a:xfrm>
            <a:off x="6598800" y="6333840"/>
            <a:ext cx="116280" cy="11628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57"/>
          <p:cNvSpPr/>
          <p:nvPr/>
        </p:nvSpPr>
        <p:spPr>
          <a:xfrm>
            <a:off x="6798240" y="6308280"/>
            <a:ext cx="10249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Reduced load time</a:t>
            </a:r>
            <a:endParaRPr b="0" lang="en-HK" sz="93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ext 0"/>
          <p:cNvSpPr/>
          <p:nvPr/>
        </p:nvSpPr>
        <p:spPr>
          <a:xfrm>
            <a:off x="317520" y="317520"/>
            <a:ext cx="1161000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26" strike="noStrike">
                <a:solidFill>
                  <a:srgbClr val="6366f1"/>
                </a:solidFill>
                <a:latin typeface="Liter"/>
                <a:ea typeface="Liter"/>
              </a:rPr>
              <a:t>FINANCIAL POSITION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2" name="Text 1"/>
          <p:cNvSpPr/>
          <p:nvPr/>
        </p:nvSpPr>
        <p:spPr>
          <a:xfrm>
            <a:off x="317520" y="539640"/>
            <a:ext cx="1169748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&amp; Liquidity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93" name="Text 2"/>
          <p:cNvSpPr/>
          <p:nvPr/>
        </p:nvSpPr>
        <p:spPr>
          <a:xfrm>
            <a:off x="317520" y="920880"/>
            <a:ext cx="116179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8f8f8f"/>
                </a:solidFill>
                <a:latin typeface="Liter"/>
                <a:ea typeface="Liter"/>
              </a:rPr>
              <a:t>Strong financial foundation supporting strategic growth initiatives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4" name="Shape 3"/>
          <p:cNvSpPr/>
          <p:nvPr/>
        </p:nvSpPr>
        <p:spPr>
          <a:xfrm>
            <a:off x="321480" y="1178640"/>
            <a:ext cx="6093360" cy="2640600"/>
          </a:xfrm>
          <a:custGeom>
            <a:avLst/>
            <a:gdLst/>
            <a:ah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Text 4"/>
          <p:cNvSpPr/>
          <p:nvPr/>
        </p:nvSpPr>
        <p:spPr>
          <a:xfrm>
            <a:off x="484200" y="1341360"/>
            <a:ext cx="584748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(as of 30 June 2025)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96" name="Shape 5"/>
          <p:cNvSpPr/>
          <p:nvPr/>
        </p:nvSpPr>
        <p:spPr>
          <a:xfrm>
            <a:off x="484200" y="1690560"/>
            <a:ext cx="2815200" cy="91836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6"/>
          <p:cNvSpPr/>
          <p:nvPr/>
        </p:nvSpPr>
        <p:spPr>
          <a:xfrm>
            <a:off x="611280" y="1817640"/>
            <a:ext cx="26168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Portfolio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8" name="Text 7"/>
          <p:cNvSpPr/>
          <p:nvPr/>
        </p:nvSpPr>
        <p:spPr>
          <a:xfrm>
            <a:off x="611280" y="2039760"/>
            <a:ext cx="26802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948.3B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99" name="Text 8"/>
          <p:cNvSpPr/>
          <p:nvPr/>
        </p:nvSpPr>
        <p:spPr>
          <a:xfrm>
            <a:off x="611280" y="2357280"/>
            <a:ext cx="26089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vs RMB 817.7B in Dec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0" name="Shape 9"/>
          <p:cNvSpPr/>
          <p:nvPr/>
        </p:nvSpPr>
        <p:spPr>
          <a:xfrm>
            <a:off x="3432600" y="1690560"/>
            <a:ext cx="2815200" cy="91836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10"/>
          <p:cNvSpPr/>
          <p:nvPr/>
        </p:nvSpPr>
        <p:spPr>
          <a:xfrm>
            <a:off x="3559680" y="1817640"/>
            <a:ext cx="26168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2" name="Text 11"/>
          <p:cNvSpPr/>
          <p:nvPr/>
        </p:nvSpPr>
        <p:spPr>
          <a:xfrm>
            <a:off x="3559680" y="2039760"/>
            <a:ext cx="26802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714.3B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3" name="Text 12"/>
          <p:cNvSpPr/>
          <p:nvPr/>
        </p:nvSpPr>
        <p:spPr>
          <a:xfrm>
            <a:off x="3559680" y="2357280"/>
            <a:ext cx="26089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Fair value of shareholdings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4" name="Shape 13"/>
          <p:cNvSpPr/>
          <p:nvPr/>
        </p:nvSpPr>
        <p:spPr>
          <a:xfrm>
            <a:off x="484200" y="2738520"/>
            <a:ext cx="2815200" cy="91836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4"/>
          <p:cNvSpPr/>
          <p:nvPr/>
        </p:nvSpPr>
        <p:spPr>
          <a:xfrm>
            <a:off x="611280" y="2865600"/>
            <a:ext cx="26168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Unlisted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6" name="Text 15"/>
          <p:cNvSpPr/>
          <p:nvPr/>
        </p:nvSpPr>
        <p:spPr>
          <a:xfrm>
            <a:off x="611280" y="3087720"/>
            <a:ext cx="26802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342.3B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7" name="Text 16"/>
          <p:cNvSpPr/>
          <p:nvPr/>
        </p:nvSpPr>
        <p:spPr>
          <a:xfrm>
            <a:off x="611280" y="3405240"/>
            <a:ext cx="26089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Carrying book value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8" name="Shape 17"/>
          <p:cNvSpPr/>
          <p:nvPr/>
        </p:nvSpPr>
        <p:spPr>
          <a:xfrm>
            <a:off x="3432600" y="2738520"/>
            <a:ext cx="2815200" cy="91836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18"/>
          <p:cNvSpPr/>
          <p:nvPr/>
        </p:nvSpPr>
        <p:spPr>
          <a:xfrm>
            <a:off x="3559680" y="2865600"/>
            <a:ext cx="26168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Return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10" name="Text 19"/>
          <p:cNvSpPr/>
          <p:nvPr/>
        </p:nvSpPr>
        <p:spPr>
          <a:xfrm>
            <a:off x="3559680" y="3087720"/>
            <a:ext cx="26802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10.6B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11" name="Text 20"/>
          <p:cNvSpPr/>
          <p:nvPr/>
        </p:nvSpPr>
        <p:spPr>
          <a:xfrm>
            <a:off x="3559680" y="3405240"/>
            <a:ext cx="26089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+28% vs H1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12" name="Shape 21"/>
          <p:cNvSpPr/>
          <p:nvPr/>
        </p:nvSpPr>
        <p:spPr>
          <a:xfrm>
            <a:off x="321480" y="3956760"/>
            <a:ext cx="6093360" cy="3371040"/>
          </a:xfrm>
          <a:custGeom>
            <a:avLst/>
            <a:gdLst/>
            <a:ah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Text 22"/>
          <p:cNvSpPr/>
          <p:nvPr/>
        </p:nvSpPr>
        <p:spPr>
          <a:xfrm>
            <a:off x="484200" y="4119480"/>
            <a:ext cx="584748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Cash Flow &amp; Liquidity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14" name="Shape 23"/>
          <p:cNvSpPr/>
          <p:nvPr/>
        </p:nvSpPr>
        <p:spPr>
          <a:xfrm>
            <a:off x="484200" y="4468680"/>
            <a:ext cx="5767920" cy="88632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24"/>
          <p:cNvSpPr/>
          <p:nvPr/>
        </p:nvSpPr>
        <p:spPr>
          <a:xfrm>
            <a:off x="611280" y="4627440"/>
            <a:ext cx="10530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Net Cash Position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16" name="Text 25"/>
          <p:cNvSpPr/>
          <p:nvPr/>
        </p:nvSpPr>
        <p:spPr>
          <a:xfrm>
            <a:off x="5196600" y="4595760"/>
            <a:ext cx="10213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74.6B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7" name="Text 26"/>
          <p:cNvSpPr/>
          <p:nvPr/>
        </p:nvSpPr>
        <p:spPr>
          <a:xfrm>
            <a:off x="611280" y="4913280"/>
            <a:ext cx="556956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As of 30 June 2025 (vs RMB 90.2B in Q1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18" name="Text 27"/>
          <p:cNvSpPr/>
          <p:nvPr/>
        </p:nvSpPr>
        <p:spPr>
          <a:xfrm>
            <a:off x="611280" y="5103720"/>
            <a:ext cx="55616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Decrease due to FY2024 final dividend payment of RMB 37.5B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19" name="Shape 28"/>
          <p:cNvSpPr/>
          <p:nvPr/>
        </p:nvSpPr>
        <p:spPr>
          <a:xfrm>
            <a:off x="484200" y="5452920"/>
            <a:ext cx="5767920" cy="727560"/>
          </a:xfrm>
          <a:custGeom>
            <a:avLst/>
            <a:gdLst/>
            <a:ah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Text 29"/>
          <p:cNvSpPr/>
          <p:nvPr/>
        </p:nvSpPr>
        <p:spPr>
          <a:xfrm>
            <a:off x="611280" y="5611680"/>
            <a:ext cx="11088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Q2 Free Cash Flow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1" name="Text 30"/>
          <p:cNvSpPr/>
          <p:nvPr/>
        </p:nvSpPr>
        <p:spPr>
          <a:xfrm>
            <a:off x="5174280" y="5580000"/>
            <a:ext cx="104508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43.0B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2" name="Text 31"/>
          <p:cNvSpPr/>
          <p:nvPr/>
        </p:nvSpPr>
        <p:spPr>
          <a:xfrm>
            <a:off x="611280" y="5897520"/>
            <a:ext cx="556956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Operating cash flow RMB 74.4B offset by capex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3" name="Shape 32"/>
          <p:cNvSpPr/>
          <p:nvPr/>
        </p:nvSpPr>
        <p:spPr>
          <a:xfrm>
            <a:off x="484200" y="6278400"/>
            <a:ext cx="5767920" cy="88632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Text 33"/>
          <p:cNvSpPr/>
          <p:nvPr/>
        </p:nvSpPr>
        <p:spPr>
          <a:xfrm>
            <a:off x="611280" y="6437160"/>
            <a:ext cx="13867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H1 Capital Expenditures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5" name="Text 34"/>
          <p:cNvSpPr/>
          <p:nvPr/>
        </p:nvSpPr>
        <p:spPr>
          <a:xfrm>
            <a:off x="5180400" y="6405480"/>
            <a:ext cx="103716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46.6B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6" name="Text 35"/>
          <p:cNvSpPr/>
          <p:nvPr/>
        </p:nvSpPr>
        <p:spPr>
          <a:xfrm>
            <a:off x="611280" y="6723000"/>
            <a:ext cx="556956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vs RMB 23.1B in H1 2024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7" name="Text 36"/>
          <p:cNvSpPr/>
          <p:nvPr/>
        </p:nvSpPr>
        <p:spPr>
          <a:xfrm>
            <a:off x="611280" y="6913440"/>
            <a:ext cx="55616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Primarily for AI infrastructure and data centers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28" name="Shape 37"/>
          <p:cNvSpPr/>
          <p:nvPr/>
        </p:nvSpPr>
        <p:spPr>
          <a:xfrm>
            <a:off x="6551640" y="1178640"/>
            <a:ext cx="5315760" cy="6149160"/>
          </a:xfrm>
          <a:custGeom>
            <a:avLst/>
            <a:gdLst/>
            <a:ah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38"/>
          <p:cNvSpPr/>
          <p:nvPr/>
        </p:nvSpPr>
        <p:spPr>
          <a:xfrm>
            <a:off x="6714360" y="1341360"/>
            <a:ext cx="50695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Major Investment: Sea Limited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30" name="Shape 39"/>
          <p:cNvSpPr/>
          <p:nvPr/>
        </p:nvSpPr>
        <p:spPr>
          <a:xfrm>
            <a:off x="6714360" y="1690560"/>
            <a:ext cx="4990320" cy="2799360"/>
          </a:xfrm>
          <a:custGeom>
            <a:avLst/>
            <a:gdLst/>
            <a:ah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Shape 40"/>
          <p:cNvSpPr/>
          <p:nvPr/>
        </p:nvSpPr>
        <p:spPr>
          <a:xfrm>
            <a:off x="6873120" y="184932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Shape 41"/>
          <p:cNvSpPr/>
          <p:nvPr/>
        </p:nvSpPr>
        <p:spPr>
          <a:xfrm>
            <a:off x="7004160" y="1960560"/>
            <a:ext cx="116640" cy="156240"/>
          </a:xfrm>
          <a:custGeom>
            <a:avLst/>
            <a:gdLst/>
            <a:ah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Text 42"/>
          <p:cNvSpPr/>
          <p:nvPr/>
        </p:nvSpPr>
        <p:spPr>
          <a:xfrm>
            <a:off x="7349400" y="1865160"/>
            <a:ext cx="3013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Sea Limited (NYSE: SE)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4" name="Text 43"/>
          <p:cNvSpPr/>
          <p:nvPr/>
        </p:nvSpPr>
        <p:spPr>
          <a:xfrm>
            <a:off x="7349400" y="2055960"/>
            <a:ext cx="30056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eCommerce, Digital Financial Services, Digital Entertainment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5" name="Text 44"/>
          <p:cNvSpPr/>
          <p:nvPr/>
        </p:nvSpPr>
        <p:spPr>
          <a:xfrm>
            <a:off x="6873120" y="2373480"/>
            <a:ext cx="70380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Shareholding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6" name="Text 45"/>
          <p:cNvSpPr/>
          <p:nvPr/>
        </p:nvSpPr>
        <p:spPr>
          <a:xfrm>
            <a:off x="10321560" y="2357280"/>
            <a:ext cx="12913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~17.6% (104M shares)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7" name="Text 46"/>
          <p:cNvSpPr/>
          <p:nvPr/>
        </p:nvSpPr>
        <p:spPr>
          <a:xfrm>
            <a:off x="6873120" y="2674800"/>
            <a:ext cx="7754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Carrying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8" name="Text 47"/>
          <p:cNvSpPr/>
          <p:nvPr/>
        </p:nvSpPr>
        <p:spPr>
          <a:xfrm>
            <a:off x="10810080" y="2643120"/>
            <a:ext cx="8071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6366f1"/>
                </a:solidFill>
                <a:latin typeface="Liter"/>
                <a:ea typeface="Liter"/>
              </a:rPr>
              <a:t>RMB 119.4B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39" name="Text 48"/>
          <p:cNvSpPr/>
          <p:nvPr/>
        </p:nvSpPr>
        <p:spPr>
          <a:xfrm>
            <a:off x="6873120" y="2976480"/>
            <a:ext cx="55296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Cost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0" name="Text 49"/>
          <p:cNvSpPr/>
          <p:nvPr/>
        </p:nvSpPr>
        <p:spPr>
          <a:xfrm>
            <a:off x="11028960" y="2960640"/>
            <a:ext cx="5850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RMB 1.7B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1" name="Text 50"/>
          <p:cNvSpPr/>
          <p:nvPr/>
        </p:nvSpPr>
        <p:spPr>
          <a:xfrm>
            <a:off x="6873120" y="3262320"/>
            <a:ext cx="8942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% of Total Assets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2" name="Text 51"/>
          <p:cNvSpPr/>
          <p:nvPr/>
        </p:nvSpPr>
        <p:spPr>
          <a:xfrm>
            <a:off x="11202840" y="3246480"/>
            <a:ext cx="4104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~5.9%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3" name="Shape 52"/>
          <p:cNvSpPr/>
          <p:nvPr/>
        </p:nvSpPr>
        <p:spPr>
          <a:xfrm>
            <a:off x="6873120" y="3567960"/>
            <a:ext cx="4672800" cy="5400"/>
          </a:xfrm>
          <a:custGeom>
            <a:avLst/>
            <a:gdLst/>
            <a:ah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53"/>
          <p:cNvSpPr/>
          <p:nvPr/>
        </p:nvSpPr>
        <p:spPr>
          <a:xfrm>
            <a:off x="6873120" y="3699000"/>
            <a:ext cx="4728240" cy="1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Unrealized Gains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5" name="Text 54"/>
          <p:cNvSpPr/>
          <p:nvPr/>
        </p:nvSpPr>
        <p:spPr>
          <a:xfrm>
            <a:off x="6873120" y="3921120"/>
            <a:ext cx="47678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40.3B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6" name="Text 55"/>
          <p:cNvSpPr/>
          <p:nvPr/>
        </p:nvSpPr>
        <p:spPr>
          <a:xfrm>
            <a:off x="6873120" y="4206960"/>
            <a:ext cx="47203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Included in other reserves under equity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47" name="Shape 56"/>
          <p:cNvSpPr/>
          <p:nvPr/>
        </p:nvSpPr>
        <p:spPr>
          <a:xfrm>
            <a:off x="6718320" y="4623480"/>
            <a:ext cx="4982400" cy="1180080"/>
          </a:xfrm>
          <a:custGeom>
            <a:avLst/>
            <a:gdLst/>
            <a:ah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57"/>
          <p:cNvSpPr/>
          <p:nvPr/>
        </p:nvSpPr>
        <p:spPr>
          <a:xfrm>
            <a:off x="6849360" y="4754520"/>
            <a:ext cx="479160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fefef"/>
                </a:solidFill>
                <a:latin typeface="Liter"/>
                <a:ea typeface="Liter"/>
              </a:rPr>
              <a:t>Key Financial Ratios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9" name="Shape 58"/>
          <p:cNvSpPr/>
          <p:nvPr/>
        </p:nvSpPr>
        <p:spPr>
          <a:xfrm>
            <a:off x="6849360" y="5072040"/>
            <a:ext cx="2315160" cy="60084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59"/>
          <p:cNvSpPr/>
          <p:nvPr/>
        </p:nvSpPr>
        <p:spPr>
          <a:xfrm>
            <a:off x="6920640" y="5167440"/>
            <a:ext cx="21722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Total Debts / Adj. EBITDA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1" name="Text 60"/>
          <p:cNvSpPr/>
          <p:nvPr/>
        </p:nvSpPr>
        <p:spPr>
          <a:xfrm>
            <a:off x="6896880" y="5326200"/>
            <a:ext cx="22201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1.29x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2" name="Shape 61"/>
          <p:cNvSpPr/>
          <p:nvPr/>
        </p:nvSpPr>
        <p:spPr>
          <a:xfrm>
            <a:off x="9258840" y="5072040"/>
            <a:ext cx="2315160" cy="60084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Text 62"/>
          <p:cNvSpPr/>
          <p:nvPr/>
        </p:nvSpPr>
        <p:spPr>
          <a:xfrm>
            <a:off x="9330120" y="5167440"/>
            <a:ext cx="21722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Adj. EBITDA Margin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4" name="Text 63"/>
          <p:cNvSpPr/>
          <p:nvPr/>
        </p:nvSpPr>
        <p:spPr>
          <a:xfrm>
            <a:off x="9306360" y="5326200"/>
            <a:ext cx="22201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46%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Image 0"/>
          <p:cNvSpPr/>
          <p:nvPr/>
        </p:nvSpPr>
        <p:spPr>
          <a:xfrm>
            <a:off x="0" y="0"/>
            <a:ext cx="12189600" cy="68554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Shape 0"/>
          <p:cNvSpPr/>
          <p:nvPr/>
        </p:nvSpPr>
        <p:spPr>
          <a:xfrm>
            <a:off x="0" y="0"/>
            <a:ext cx="12189600" cy="685548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8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1"/>
          <p:cNvSpPr/>
          <p:nvPr/>
        </p:nvSpPr>
        <p:spPr>
          <a:xfrm>
            <a:off x="380880" y="380880"/>
            <a:ext cx="114940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5" strike="noStrike">
                <a:solidFill>
                  <a:srgbClr val="6366f1"/>
                </a:solidFill>
                <a:latin typeface="Liter"/>
                <a:ea typeface="Liter"/>
              </a:rPr>
              <a:t>LOOKING AHEAD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58" name="Text 2"/>
          <p:cNvSpPr/>
          <p:nvPr/>
        </p:nvSpPr>
        <p:spPr>
          <a:xfrm>
            <a:off x="380880" y="647640"/>
            <a:ext cx="11656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59" name="Text 3"/>
          <p:cNvSpPr/>
          <p:nvPr/>
        </p:nvSpPr>
        <p:spPr>
          <a:xfrm>
            <a:off x="380880" y="1219320"/>
            <a:ext cx="115131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f8f8f"/>
                </a:solidFill>
                <a:latin typeface="Liter"/>
                <a:ea typeface="Liter"/>
              </a:rPr>
              <a:t>Continued innovation and AI-driven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0" name="Shape 4"/>
          <p:cNvSpPr/>
          <p:nvPr/>
        </p:nvSpPr>
        <p:spPr>
          <a:xfrm>
            <a:off x="385920" y="1643040"/>
            <a:ext cx="3274200" cy="174996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Shape 5"/>
          <p:cNvSpPr/>
          <p:nvPr/>
        </p:nvSpPr>
        <p:spPr>
          <a:xfrm>
            <a:off x="581040" y="183816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Shape 6"/>
          <p:cNvSpPr/>
          <p:nvPr/>
        </p:nvSpPr>
        <p:spPr>
          <a:xfrm>
            <a:off x="695160" y="1952640"/>
            <a:ext cx="149760" cy="1497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7"/>
          <p:cNvSpPr/>
          <p:nvPr/>
        </p:nvSpPr>
        <p:spPr>
          <a:xfrm>
            <a:off x="1076400" y="1895400"/>
            <a:ext cx="11214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AI Leadership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4" name="Text 8"/>
          <p:cNvSpPr/>
          <p:nvPr/>
        </p:nvSpPr>
        <p:spPr>
          <a:xfrm>
            <a:off x="581040" y="2333520"/>
            <a:ext cx="29502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Continue investing in AI capabilities across all business lines, upgrading HunYuan foundation models, and expanding AI use cases within Weixin ecosystem.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65" name="Shape 9"/>
          <p:cNvSpPr/>
          <p:nvPr/>
        </p:nvSpPr>
        <p:spPr>
          <a:xfrm>
            <a:off x="3822480" y="1643040"/>
            <a:ext cx="3274200" cy="174996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10"/>
          <p:cNvSpPr/>
          <p:nvPr/>
        </p:nvSpPr>
        <p:spPr>
          <a:xfrm>
            <a:off x="4017600" y="183816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Shape 11"/>
          <p:cNvSpPr/>
          <p:nvPr/>
        </p:nvSpPr>
        <p:spPr>
          <a:xfrm>
            <a:off x="4113000" y="1952640"/>
            <a:ext cx="187920" cy="14976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Text 12"/>
          <p:cNvSpPr/>
          <p:nvPr/>
        </p:nvSpPr>
        <p:spPr>
          <a:xfrm>
            <a:off x="4512960" y="1895400"/>
            <a:ext cx="14644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Games Excellence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9" name="Text 13"/>
          <p:cNvSpPr/>
          <p:nvPr/>
        </p:nvSpPr>
        <p:spPr>
          <a:xfrm>
            <a:off x="4017600" y="2333520"/>
            <a:ext cx="29502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Maintain leadership in domestic and international markets through evergreen title evolution, new game launches, and AI-enhanced gaming experiences.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0" name="Shape 14"/>
          <p:cNvSpPr/>
          <p:nvPr/>
        </p:nvSpPr>
        <p:spPr>
          <a:xfrm>
            <a:off x="385920" y="3557520"/>
            <a:ext cx="3274200" cy="174996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Shape 15"/>
          <p:cNvSpPr/>
          <p:nvPr/>
        </p:nvSpPr>
        <p:spPr>
          <a:xfrm>
            <a:off x="581040" y="375300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16"/>
          <p:cNvSpPr/>
          <p:nvPr/>
        </p:nvSpPr>
        <p:spPr>
          <a:xfrm>
            <a:off x="695160" y="3867120"/>
            <a:ext cx="149760" cy="14976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17"/>
          <p:cNvSpPr/>
          <p:nvPr/>
        </p:nvSpPr>
        <p:spPr>
          <a:xfrm>
            <a:off x="1076400" y="3809880"/>
            <a:ext cx="15404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4" name="Text 18"/>
          <p:cNvSpPr/>
          <p:nvPr/>
        </p:nvSpPr>
        <p:spPr>
          <a:xfrm>
            <a:off x="581040" y="4248000"/>
            <a:ext cx="29502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Leverage AI-powered advertising platform to drive higher ROI for advertisers and capture growing demand across Video Accounts and Mini Programs.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5" name="Shape 19"/>
          <p:cNvSpPr/>
          <p:nvPr/>
        </p:nvSpPr>
        <p:spPr>
          <a:xfrm>
            <a:off x="3822480" y="3557520"/>
            <a:ext cx="3274200" cy="174996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Shape 20"/>
          <p:cNvSpPr/>
          <p:nvPr/>
        </p:nvSpPr>
        <p:spPr>
          <a:xfrm>
            <a:off x="4017600" y="375300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7" name="Shape 21"/>
          <p:cNvSpPr/>
          <p:nvPr/>
        </p:nvSpPr>
        <p:spPr>
          <a:xfrm>
            <a:off x="4122360" y="3867120"/>
            <a:ext cx="168840" cy="14976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Text 22"/>
          <p:cNvSpPr/>
          <p:nvPr/>
        </p:nvSpPr>
        <p:spPr>
          <a:xfrm>
            <a:off x="4512960" y="3809880"/>
            <a:ext cx="1340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Cloud &amp; FinTech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9" name="Text 23"/>
          <p:cNvSpPr/>
          <p:nvPr/>
        </p:nvSpPr>
        <p:spPr>
          <a:xfrm>
            <a:off x="4017600" y="4248000"/>
            <a:ext cx="29502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Expand enterprise AI-related services including GPU rental and API token usage, while growing commercial payment volume and wealth management services.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0" name="Shape 24"/>
          <p:cNvSpPr/>
          <p:nvPr/>
        </p:nvSpPr>
        <p:spPr>
          <a:xfrm>
            <a:off x="385920" y="5472000"/>
            <a:ext cx="6712560" cy="1321560"/>
          </a:xfrm>
          <a:custGeom>
            <a:avLst/>
            <a:gdLst/>
            <a:ah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Shape 25"/>
          <p:cNvSpPr/>
          <p:nvPr/>
        </p:nvSpPr>
        <p:spPr>
          <a:xfrm>
            <a:off x="581040" y="5667480"/>
            <a:ext cx="378360" cy="37836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Shape 26"/>
          <p:cNvSpPr/>
          <p:nvPr/>
        </p:nvSpPr>
        <p:spPr>
          <a:xfrm>
            <a:off x="714240" y="5781600"/>
            <a:ext cx="111960" cy="14976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Text 27"/>
          <p:cNvSpPr/>
          <p:nvPr/>
        </p:nvSpPr>
        <p:spPr>
          <a:xfrm>
            <a:off x="1076400" y="5724360"/>
            <a:ext cx="20548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Yuanbao &amp; AI Native Apps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84" name="Text 28"/>
          <p:cNvSpPr/>
          <p:nvPr/>
        </p:nvSpPr>
        <p:spPr>
          <a:xfrm>
            <a:off x="581040" y="6162840"/>
            <a:ext cx="63889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adoption of AI native app Yuanbao and bring further benefits of AI to consumers and enterprises through powering more use cases within Weixin and beyond.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5" name="Shape 29"/>
          <p:cNvSpPr/>
          <p:nvPr/>
        </p:nvSpPr>
        <p:spPr>
          <a:xfrm>
            <a:off x="7335360" y="1643040"/>
            <a:ext cx="4464720" cy="3874320"/>
          </a:xfrm>
          <a:custGeom>
            <a:avLst/>
            <a:gdLst/>
            <a:ah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6" name="Shape 30"/>
          <p:cNvSpPr/>
          <p:nvPr/>
        </p:nvSpPr>
        <p:spPr>
          <a:xfrm>
            <a:off x="7611480" y="1895400"/>
            <a:ext cx="197640" cy="226080"/>
          </a:xfrm>
          <a:custGeom>
            <a:avLst/>
            <a:gdLst/>
            <a:ah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Text 31"/>
          <p:cNvSpPr/>
          <p:nvPr/>
        </p:nvSpPr>
        <p:spPr>
          <a:xfrm>
            <a:off x="7968600" y="1876320"/>
            <a:ext cx="15404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Our Commitment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88" name="Shape 32"/>
          <p:cNvSpPr/>
          <p:nvPr/>
        </p:nvSpPr>
        <p:spPr>
          <a:xfrm>
            <a:off x="7587720" y="2295360"/>
            <a:ext cx="3979080" cy="1083240"/>
          </a:xfrm>
          <a:custGeom>
            <a:avLst/>
            <a:gdLst/>
            <a:ah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Shape 33"/>
          <p:cNvSpPr/>
          <p:nvPr/>
        </p:nvSpPr>
        <p:spPr>
          <a:xfrm>
            <a:off x="7587720" y="2295360"/>
            <a:ext cx="35640" cy="1083240"/>
          </a:xfrm>
          <a:custGeom>
            <a:avLst/>
            <a:gdLst/>
            <a:ah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Text 34"/>
          <p:cNvSpPr/>
          <p:nvPr/>
        </p:nvSpPr>
        <p:spPr>
          <a:xfrm>
            <a:off x="7759080" y="2448000"/>
            <a:ext cx="37407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"Value for User, Tech for Good"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91" name="Text 35"/>
          <p:cNvSpPr/>
          <p:nvPr/>
        </p:nvSpPr>
        <p:spPr>
          <a:xfrm>
            <a:off x="7759080" y="2790720"/>
            <a:ext cx="372168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 remain committed to our core principle and continue to deliver meaningful impact through technology.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2" name="Shape 36"/>
          <p:cNvSpPr/>
          <p:nvPr/>
        </p:nvSpPr>
        <p:spPr>
          <a:xfrm>
            <a:off x="7568640" y="3529080"/>
            <a:ext cx="302400" cy="30240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Shape 37"/>
          <p:cNvSpPr/>
          <p:nvPr/>
        </p:nvSpPr>
        <p:spPr>
          <a:xfrm>
            <a:off x="7673400" y="3614760"/>
            <a:ext cx="97560" cy="130680"/>
          </a:xfrm>
          <a:custGeom>
            <a:avLst/>
            <a:gdLst/>
            <a:ah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Text 38"/>
          <p:cNvSpPr/>
          <p:nvPr/>
        </p:nvSpPr>
        <p:spPr>
          <a:xfrm>
            <a:off x="7987680" y="3586320"/>
            <a:ext cx="10166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innovation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5" name="Shape 39"/>
          <p:cNvSpPr/>
          <p:nvPr/>
        </p:nvSpPr>
        <p:spPr>
          <a:xfrm>
            <a:off x="7568640" y="3948120"/>
            <a:ext cx="302400" cy="30240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Shape 40"/>
          <p:cNvSpPr/>
          <p:nvPr/>
        </p:nvSpPr>
        <p:spPr>
          <a:xfrm>
            <a:off x="7639920" y="4033800"/>
            <a:ext cx="164160" cy="130680"/>
          </a:xfrm>
          <a:custGeom>
            <a:avLst/>
            <a:gdLst/>
            <a:ah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7" name="Text 41"/>
          <p:cNvSpPr/>
          <p:nvPr/>
        </p:nvSpPr>
        <p:spPr>
          <a:xfrm>
            <a:off x="7987680" y="4005360"/>
            <a:ext cx="21596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Adapt to evolving community needs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8" name="Shape 42"/>
          <p:cNvSpPr/>
          <p:nvPr/>
        </p:nvSpPr>
        <p:spPr>
          <a:xfrm>
            <a:off x="7568640" y="4367160"/>
            <a:ext cx="302400" cy="30240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Shape 43"/>
          <p:cNvSpPr/>
          <p:nvPr/>
        </p:nvSpPr>
        <p:spPr>
          <a:xfrm>
            <a:off x="7656840" y="4452840"/>
            <a:ext cx="130680" cy="13068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Text 44"/>
          <p:cNvSpPr/>
          <p:nvPr/>
        </p:nvSpPr>
        <p:spPr>
          <a:xfrm>
            <a:off x="7987680" y="4424400"/>
            <a:ext cx="24930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Contribute to inclusive, sustainable future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1" name="Shape 45"/>
          <p:cNvSpPr/>
          <p:nvPr/>
        </p:nvSpPr>
        <p:spPr>
          <a:xfrm>
            <a:off x="7335360" y="5676840"/>
            <a:ext cx="4464720" cy="1112040"/>
          </a:xfrm>
          <a:custGeom>
            <a:avLst/>
            <a:gdLst/>
            <a:ah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Text 46"/>
          <p:cNvSpPr/>
          <p:nvPr/>
        </p:nvSpPr>
        <p:spPr>
          <a:xfrm>
            <a:off x="7497000" y="5872320"/>
            <a:ext cx="41407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Thank you for your trust and support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3" name="Text 47"/>
          <p:cNvSpPr/>
          <p:nvPr/>
        </p:nvSpPr>
        <p:spPr>
          <a:xfrm>
            <a:off x="7492320" y="6138720"/>
            <a:ext cx="41504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efefef"/>
                </a:solidFill>
                <a:latin typeface="Liter"/>
                <a:ea typeface="Liter"/>
              </a:rPr>
              <a:t>Tencent Holdings Limited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4" name="Text 48"/>
          <p:cNvSpPr/>
          <p:nvPr/>
        </p:nvSpPr>
        <p:spPr>
          <a:xfrm>
            <a:off x="7497000" y="6405480"/>
            <a:ext cx="414072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HKEX: 0700 | www.tencent.com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2026-03-18T07:40:13Z</dcterms:created>
  <dc:creator>Kimi</dc:creator>
  <dc:description/>
  <dc:language>en-HK</dc:language>
  <cp:lastModifiedBy/>
  <dcterms:modified xsi:type="dcterms:W3CDTF">2026-04-18T14:55:31Z</dcterms:modified>
  <cp:revision>8</cp:revision>
  <dc:subject>Tencent Holdings Limited - 2025 Interim Report</dc:subject>
  <dc:title>Tencent Holdings Limited - 2025 Interim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  <property fmtid="{D5CDD505-2E9C-101B-9397-08002B2CF9AE}" pid="3" name="Notes">
    <vt:i4>12</vt:i4>
  </property>
  <property fmtid="{D5CDD505-2E9C-101B-9397-08002B2CF9AE}" pid="4" name="PresentationFormat">
    <vt:lpwstr>On-screen Show (16:9)</vt:lpwstr>
  </property>
  <property fmtid="{D5CDD505-2E9C-101B-9397-08002B2CF9AE}" pid="5" name="Slides">
    <vt:i4>12</vt:i4>
  </property>
</Properties>
</file>