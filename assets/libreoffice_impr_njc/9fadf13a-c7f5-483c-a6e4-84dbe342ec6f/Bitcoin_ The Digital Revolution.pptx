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712CB50-D7BA-4A14-968D-384272E1656C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DB61AA-9CBC-4707-BF80-48C4D490D03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17BDFF-85C6-4750-9316-B3EDEA77A19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EBD5A3-90C2-4A4F-B3D5-BEB95CD1DEC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39E038-6813-41DA-937B-D1200EDB548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779129-BF79-472E-B4EB-CA617F409CB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817B9B-217E-452B-90E9-D4EE8775F6D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0754F4-01AF-4A79-8630-CC5AD897023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FAD872-152D-4E2E-ABEA-9A4D451393B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9240" cy="6855120"/>
          </a:xfrm>
          <a:prstGeom prst="roundRect">
            <a:avLst>
              <a:gd name="adj" fmla="val 0"/>
            </a:avLst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89240" cy="68551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561a2a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409680" y="714240"/>
            <a:ext cx="3702240" cy="778320"/>
          </a:xfrm>
          <a:custGeom>
            <a:avLst/>
            <a:gdLst/>
            <a:ah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561a2a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" name="Text 2"/>
          <p:cNvSpPr/>
          <p:nvPr/>
        </p:nvSpPr>
        <p:spPr>
          <a:xfrm>
            <a:off x="666720" y="971640"/>
            <a:ext cx="3283200" cy="26388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3600" spc="128" strike="noStrike">
                <a:solidFill>
                  <a:srgbClr val="c9211e"/>
                </a:solidFill>
                <a:latin typeface="Noto Sans SC"/>
                <a:ea typeface="Noto Sans SC"/>
              </a:rPr>
              <a:t>FINANCIAL LECTURE SERIES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409680" y="1876320"/>
            <a:ext cx="11369880" cy="3254760"/>
          </a:xfrm>
          <a:custGeom>
            <a:avLst/>
            <a:gdLst/>
            <a:ah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561a2a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895320" y="2362320"/>
            <a:ext cx="10855800" cy="91152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</a:t>
            </a:r>
            <a:endParaRPr b="1" lang="en-HK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895320" y="3505320"/>
            <a:ext cx="1216440" cy="7344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895320" y="3809880"/>
            <a:ext cx="10569960" cy="37800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eeeeee"/>
                </a:solidFill>
                <a:latin typeface="Noto Sans SC"/>
                <a:ea typeface="Noto Sans SC"/>
              </a:rPr>
              <a:t>THE</a:t>
            </a:r>
            <a:r>
              <a:rPr b="1" lang="en-US" sz="3600" spc="-1" strike="noStrike">
                <a:solidFill>
                  <a:srgbClr val="c9211e"/>
                </a:solidFill>
                <a:latin typeface="Noto Sans SC"/>
                <a:ea typeface="Noto Sans SC"/>
              </a:rPr>
              <a:t> DIGITAL REVOLUTION</a:t>
            </a:r>
            <a:endParaRPr b="1" lang="en-HK" sz="3600" spc="-1" strike="noStrike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95320" y="4343400"/>
            <a:ext cx="10512720" cy="30204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3600" spc="-1" strike="noStrike">
                <a:solidFill>
                  <a:srgbClr val="c9211e"/>
                </a:solidFill>
                <a:latin typeface="Noto Sans SC"/>
                <a:ea typeface="Noto Sans SC"/>
              </a:rPr>
              <a:t>A Comprehensive Analysis of History, Present &amp; Future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5514840"/>
            <a:ext cx="1292400" cy="625680"/>
          </a:xfrm>
          <a:custGeom>
            <a:avLst/>
            <a:gdLst/>
            <a:ah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561a2a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590400" y="5695920"/>
            <a:ext cx="1016280" cy="26388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3600" spc="-1" strike="noStrike">
                <a:solidFill>
                  <a:srgbClr val="dddddd"/>
                </a:solidFill>
                <a:latin typeface="MiSans"/>
                <a:ea typeface="MiSans"/>
              </a:rPr>
              <a:t>March</a:t>
            </a:r>
            <a:r>
              <a:rPr b="1" lang="en-US" sz="3600" spc="-1" strike="noStrike">
                <a:solidFill>
                  <a:srgbClr val="c9211e"/>
                </a:solidFill>
                <a:latin typeface="MiSans"/>
                <a:ea typeface="MiSans"/>
              </a:rPr>
              <a:t> 2026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0364400" y="5514840"/>
            <a:ext cx="1416240" cy="625680"/>
          </a:xfrm>
          <a:custGeom>
            <a:avLst/>
            <a:gdLst/>
            <a:ah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561a2a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0545480" y="5695920"/>
            <a:ext cx="1140120" cy="263880"/>
          </a:xfrm>
          <a:prstGeom prst="rect">
            <a:avLst/>
          </a:prstGeom>
          <a:solidFill>
            <a:srgbClr val="561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3600" spc="-1" strike="noStrike">
                <a:solidFill>
                  <a:srgbClr val="c9211e"/>
                </a:solidFill>
                <a:latin typeface="MiSans"/>
                <a:ea typeface="MiSans"/>
              </a:rPr>
              <a:t>▶ </a:t>
            </a:r>
            <a:r>
              <a:rPr b="1" lang="en-US" sz="3600" spc="-1" strike="noStrike">
                <a:solidFill>
                  <a:srgbClr val="c9211e"/>
                </a:solidFill>
                <a:latin typeface="MiSans"/>
                <a:ea typeface="MiSans"/>
              </a:rPr>
              <a:t>27 SLIDES</a:t>
            </a:r>
            <a:endParaRPr b="0" lang="en-HK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341280" y="341280"/>
            <a:ext cx="11506320" cy="1092600"/>
          </a:xfrm>
          <a:custGeom>
            <a:avLst/>
            <a:gdLst/>
            <a:ah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8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555480" y="555480"/>
            <a:ext cx="113158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750" spc="-1" strike="noStrike">
                <a:solidFill>
                  <a:srgbClr val="ff8000"/>
                </a:solidFill>
                <a:latin typeface="Noto Sans SC"/>
                <a:ea typeface="Noto Sans SC"/>
              </a:rPr>
              <a:t>CONTENTS</a:t>
            </a:r>
            <a:endParaRPr b="0" lang="en-HK" sz="375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55480" y="1158840"/>
            <a:ext cx="759240" cy="6048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341280" y="167472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4"/>
          <p:cNvSpPr/>
          <p:nvPr/>
        </p:nvSpPr>
        <p:spPr>
          <a:xfrm>
            <a:off x="547560" y="188136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5"/>
          <p:cNvSpPr/>
          <p:nvPr/>
        </p:nvSpPr>
        <p:spPr>
          <a:xfrm>
            <a:off x="464400" y="185724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158840" y="1857240"/>
            <a:ext cx="14101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58840" y="2143080"/>
            <a:ext cx="138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Bitcoin's Origin Story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199200" y="167472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9"/>
          <p:cNvSpPr/>
          <p:nvPr/>
        </p:nvSpPr>
        <p:spPr>
          <a:xfrm>
            <a:off x="6405480" y="188136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6322320" y="185724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7016760" y="1857240"/>
            <a:ext cx="25131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016760" y="2143080"/>
            <a:ext cx="2489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How Bitcoin Works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341280" y="275436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14"/>
          <p:cNvSpPr/>
          <p:nvPr/>
        </p:nvSpPr>
        <p:spPr>
          <a:xfrm>
            <a:off x="547560" y="296064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5"/>
          <p:cNvSpPr/>
          <p:nvPr/>
        </p:nvSpPr>
        <p:spPr>
          <a:xfrm>
            <a:off x="464400" y="293688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158840" y="2936880"/>
            <a:ext cx="27118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1158840" y="3222720"/>
            <a:ext cx="2687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From Cypherpunk Dream to Global Asset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199200" y="275436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19"/>
          <p:cNvSpPr/>
          <p:nvPr/>
        </p:nvSpPr>
        <p:spPr>
          <a:xfrm>
            <a:off x="6405480" y="296064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0"/>
          <p:cNvSpPr/>
          <p:nvPr/>
        </p:nvSpPr>
        <p:spPr>
          <a:xfrm>
            <a:off x="6322320" y="293688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016760" y="2936880"/>
            <a:ext cx="2108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7016760" y="3222720"/>
            <a:ext cx="2084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Halving Cycles &amp; Price Patterns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341280" y="383364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4"/>
          <p:cNvSpPr/>
          <p:nvPr/>
        </p:nvSpPr>
        <p:spPr>
          <a:xfrm>
            <a:off x="547560" y="404028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5"/>
          <p:cNvSpPr/>
          <p:nvPr/>
        </p:nvSpPr>
        <p:spPr>
          <a:xfrm>
            <a:off x="464400" y="401652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1158840" y="4016520"/>
            <a:ext cx="22593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1158840" y="4302000"/>
            <a:ext cx="223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2024-2025 Market Status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6199200" y="383364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Shape 29"/>
          <p:cNvSpPr/>
          <p:nvPr/>
        </p:nvSpPr>
        <p:spPr>
          <a:xfrm>
            <a:off x="6405480" y="404028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30"/>
          <p:cNvSpPr/>
          <p:nvPr/>
        </p:nvSpPr>
        <p:spPr>
          <a:xfrm>
            <a:off x="6322320" y="401652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7016760" y="4016520"/>
            <a:ext cx="2600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7016760" y="4302000"/>
            <a:ext cx="2576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Wall Street Embraces Bitcoin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341280" y="491328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34"/>
          <p:cNvSpPr/>
          <p:nvPr/>
        </p:nvSpPr>
        <p:spPr>
          <a:xfrm>
            <a:off x="547560" y="511956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5"/>
          <p:cNvSpPr/>
          <p:nvPr/>
        </p:nvSpPr>
        <p:spPr>
          <a:xfrm>
            <a:off x="464400" y="509580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1158840" y="5095800"/>
            <a:ext cx="2005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1158840" y="5381640"/>
            <a:ext cx="1981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Backbone of Security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5" name="Shape 38"/>
          <p:cNvSpPr/>
          <p:nvPr/>
        </p:nvSpPr>
        <p:spPr>
          <a:xfrm>
            <a:off x="6199200" y="491328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39"/>
          <p:cNvSpPr/>
          <p:nvPr/>
        </p:nvSpPr>
        <p:spPr>
          <a:xfrm>
            <a:off x="6405480" y="511956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0"/>
          <p:cNvSpPr/>
          <p:nvPr/>
        </p:nvSpPr>
        <p:spPr>
          <a:xfrm>
            <a:off x="6322320" y="509580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7016760" y="5095800"/>
            <a:ext cx="2195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9" name="Text 42"/>
          <p:cNvSpPr/>
          <p:nvPr/>
        </p:nvSpPr>
        <p:spPr>
          <a:xfrm>
            <a:off x="7016760" y="5381640"/>
            <a:ext cx="217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Store of Value Debate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0" name="Shape 43"/>
          <p:cNvSpPr/>
          <p:nvPr/>
        </p:nvSpPr>
        <p:spPr>
          <a:xfrm>
            <a:off x="341280" y="599292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44"/>
          <p:cNvSpPr/>
          <p:nvPr/>
        </p:nvSpPr>
        <p:spPr>
          <a:xfrm>
            <a:off x="547560" y="619920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45"/>
          <p:cNvSpPr/>
          <p:nvPr/>
        </p:nvSpPr>
        <p:spPr>
          <a:xfrm>
            <a:off x="464400" y="617544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1158840" y="6175440"/>
            <a:ext cx="21164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1158840" y="6461280"/>
            <a:ext cx="209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&amp; Layer 2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5" name="Shape 48"/>
          <p:cNvSpPr/>
          <p:nvPr/>
        </p:nvSpPr>
        <p:spPr>
          <a:xfrm>
            <a:off x="6199200" y="599292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49"/>
          <p:cNvSpPr/>
          <p:nvPr/>
        </p:nvSpPr>
        <p:spPr>
          <a:xfrm>
            <a:off x="6405480" y="619920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50"/>
          <p:cNvSpPr/>
          <p:nvPr/>
        </p:nvSpPr>
        <p:spPr>
          <a:xfrm>
            <a:off x="6322320" y="617544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7016760" y="6175440"/>
            <a:ext cx="22276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7016760" y="6461280"/>
            <a:ext cx="2203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Road Ahead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0" name="Shape 53"/>
          <p:cNvSpPr/>
          <p:nvPr/>
        </p:nvSpPr>
        <p:spPr>
          <a:xfrm>
            <a:off x="341280" y="707220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54"/>
          <p:cNvSpPr/>
          <p:nvPr/>
        </p:nvSpPr>
        <p:spPr>
          <a:xfrm>
            <a:off x="547560" y="727884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55"/>
          <p:cNvSpPr/>
          <p:nvPr/>
        </p:nvSpPr>
        <p:spPr>
          <a:xfrm>
            <a:off x="464400" y="725472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1158840" y="7254720"/>
            <a:ext cx="1870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4" name="Text 57"/>
          <p:cNvSpPr/>
          <p:nvPr/>
        </p:nvSpPr>
        <p:spPr>
          <a:xfrm>
            <a:off x="1158840" y="7540560"/>
            <a:ext cx="1846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Predictions &amp; Scenarios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5" name="Shape 58"/>
          <p:cNvSpPr/>
          <p:nvPr/>
        </p:nvSpPr>
        <p:spPr>
          <a:xfrm>
            <a:off x="6199200" y="7072200"/>
            <a:ext cx="5648760" cy="87012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59"/>
          <p:cNvSpPr/>
          <p:nvPr/>
        </p:nvSpPr>
        <p:spPr>
          <a:xfrm>
            <a:off x="6405480" y="7278840"/>
            <a:ext cx="457560" cy="45756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60"/>
          <p:cNvSpPr/>
          <p:nvPr/>
        </p:nvSpPr>
        <p:spPr>
          <a:xfrm>
            <a:off x="6322320" y="7254720"/>
            <a:ext cx="5288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8" name="Text 61"/>
          <p:cNvSpPr/>
          <p:nvPr/>
        </p:nvSpPr>
        <p:spPr>
          <a:xfrm>
            <a:off x="7016760" y="7254720"/>
            <a:ext cx="13701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9" name="Text 62"/>
          <p:cNvSpPr/>
          <p:nvPr/>
        </p:nvSpPr>
        <p:spPr>
          <a:xfrm>
            <a:off x="7016760" y="7540560"/>
            <a:ext cx="134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Path Forward</a:t>
            </a:r>
            <a:endParaRPr b="0" lang="en-HK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6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 0"/>
          <p:cNvSpPr/>
          <p:nvPr/>
        </p:nvSpPr>
        <p:spPr>
          <a:xfrm>
            <a:off x="0" y="0"/>
            <a:ext cx="12189240" cy="68551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0"/>
          <p:cNvSpPr/>
          <p:nvPr/>
        </p:nvSpPr>
        <p:spPr>
          <a:xfrm>
            <a:off x="0" y="0"/>
            <a:ext cx="12189240" cy="68551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"/>
          <p:cNvSpPr/>
          <p:nvPr/>
        </p:nvSpPr>
        <p:spPr>
          <a:xfrm>
            <a:off x="409680" y="781200"/>
            <a:ext cx="8474400" cy="395964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3" name="Shape 2"/>
          <p:cNvSpPr/>
          <p:nvPr/>
        </p:nvSpPr>
        <p:spPr>
          <a:xfrm>
            <a:off x="923760" y="1295280"/>
            <a:ext cx="854280" cy="85428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781200" y="1266840"/>
            <a:ext cx="102600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i="1" lang="en-US" sz="3600" spc="-1" strike="noStrike">
                <a:solidFill>
                  <a:srgbClr val="00008b"/>
                </a:solidFill>
                <a:latin typeface="Noto Sans SC"/>
                <a:ea typeface="Noto Sans SC"/>
              </a:rPr>
              <a:t>01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038320" y="1266840"/>
            <a:ext cx="73440" cy="91152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5"/>
          <p:cNvSpPr/>
          <p:nvPr/>
        </p:nvSpPr>
        <p:spPr>
          <a:xfrm>
            <a:off x="895320" y="2486160"/>
            <a:ext cx="784584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895320" y="3571920"/>
            <a:ext cx="1825920" cy="7344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7"/>
          <p:cNvSpPr/>
          <p:nvPr/>
        </p:nvSpPr>
        <p:spPr>
          <a:xfrm>
            <a:off x="895320" y="3876840"/>
            <a:ext cx="7674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i="1" lang="en-US" sz="2700" spc="-1" strike="noStrike">
                <a:solidFill>
                  <a:srgbClr val="5b277d"/>
                </a:solidFill>
                <a:latin typeface="Noto Sans SC"/>
                <a:ea typeface="Noto Sans SC"/>
              </a:rPr>
              <a:t>Bitcoin's Origin Story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09680" y="5257800"/>
            <a:ext cx="11369880" cy="81612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9"/>
          <p:cNvSpPr/>
          <p:nvPr/>
        </p:nvSpPr>
        <p:spPr>
          <a:xfrm>
            <a:off x="666720" y="5514840"/>
            <a:ext cx="109699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c9211e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c9211e"/>
                </a:solidFill>
                <a:latin typeface="Noto Sans SC"/>
                <a:ea typeface="Noto Sans SC"/>
              </a:rPr>
              <a:t>From Cypherpunk Vision to Financial Revolution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341280" y="341280"/>
            <a:ext cx="11506320" cy="99720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"/>
          <p:cNvSpPr/>
          <p:nvPr/>
        </p:nvSpPr>
        <p:spPr>
          <a:xfrm>
            <a:off x="555480" y="555480"/>
            <a:ext cx="112683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BIRTH OF BITCOIN: 2008-2009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555480" y="1063800"/>
            <a:ext cx="759240" cy="6048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341280" y="1547640"/>
            <a:ext cx="8268120" cy="1846440"/>
          </a:xfrm>
          <a:custGeom>
            <a:avLst/>
            <a:gdLst/>
            <a:ah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4"/>
          <p:cNvSpPr/>
          <p:nvPr/>
        </p:nvSpPr>
        <p:spPr>
          <a:xfrm>
            <a:off x="547560" y="1754280"/>
            <a:ext cx="330480" cy="33048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5"/>
          <p:cNvSpPr/>
          <p:nvPr/>
        </p:nvSpPr>
        <p:spPr>
          <a:xfrm>
            <a:off x="484200" y="1730520"/>
            <a:ext cx="362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031760" y="1730520"/>
            <a:ext cx="1616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October 31, 2008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23800" y="2206800"/>
            <a:ext cx="79743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Satoshi Nakamoto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publishes the Bitcoin whitepaper: "Bitcoin: A Peer-to-Peer Electronic Cash System" to the cypherpunk mailing list.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39640" y="2782080"/>
            <a:ext cx="7871040" cy="41004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9"/>
          <p:cNvSpPr/>
          <p:nvPr/>
        </p:nvSpPr>
        <p:spPr>
          <a:xfrm>
            <a:off x="650880" y="2893320"/>
            <a:ext cx="77122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Core Innovation: Decentralized digital currency without trusted third parties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41280" y="3567960"/>
            <a:ext cx="8268120" cy="1608480"/>
          </a:xfrm>
          <a:custGeom>
            <a:avLst/>
            <a:gdLst/>
            <a:ah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11"/>
          <p:cNvSpPr/>
          <p:nvPr/>
        </p:nvSpPr>
        <p:spPr>
          <a:xfrm>
            <a:off x="547560" y="3774240"/>
            <a:ext cx="330480" cy="33048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484200" y="3750480"/>
            <a:ext cx="362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31760" y="3750480"/>
            <a:ext cx="151308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3,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23800" y="4226760"/>
            <a:ext cx="79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Genesis Block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is mined, marking Bitcoin network's official launch. Embedded message references bank bailouts.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539640" y="4569840"/>
            <a:ext cx="7871040" cy="41004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6"/>
          <p:cNvSpPr/>
          <p:nvPr/>
        </p:nvSpPr>
        <p:spPr>
          <a:xfrm>
            <a:off x="650880" y="4681080"/>
            <a:ext cx="77122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"The Times 03/Jan/2009 Chancellor on brink of second bailout for banks"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41280" y="5355720"/>
            <a:ext cx="8268120" cy="1068840"/>
          </a:xfrm>
          <a:custGeom>
            <a:avLst/>
            <a:gdLst/>
            <a:ah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8"/>
          <p:cNvSpPr/>
          <p:nvPr/>
        </p:nvSpPr>
        <p:spPr>
          <a:xfrm>
            <a:off x="547560" y="5562360"/>
            <a:ext cx="330480" cy="33048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9"/>
          <p:cNvSpPr/>
          <p:nvPr/>
        </p:nvSpPr>
        <p:spPr>
          <a:xfrm>
            <a:off x="484200" y="5538240"/>
            <a:ext cx="3621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31760" y="5538240"/>
            <a:ext cx="16164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12,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23800" y="6014520"/>
            <a:ext cx="7974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First Bitcoin transaction: Satoshi sends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10 BTC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to computer scientist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 Finney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, validating the system works.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8850240" y="1547640"/>
            <a:ext cx="2997360" cy="3505320"/>
          </a:xfrm>
          <a:custGeom>
            <a:avLst/>
            <a:gdLst/>
            <a:ah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 23"/>
          <p:cNvSpPr/>
          <p:nvPr/>
        </p:nvSpPr>
        <p:spPr>
          <a:xfrm>
            <a:off x="9032760" y="1730520"/>
            <a:ext cx="27277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MOTIVATION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9048600" y="2127240"/>
            <a:ext cx="2600640" cy="82260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5"/>
          <p:cNvSpPr/>
          <p:nvPr/>
        </p:nvSpPr>
        <p:spPr>
          <a:xfrm>
            <a:off x="9159840" y="2238480"/>
            <a:ext cx="24418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2008 Financial Crisis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9159840" y="2460600"/>
            <a:ext cx="24418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Bank failures, government bailouts, currency devaluation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9048600" y="3079800"/>
            <a:ext cx="2600640" cy="82260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8"/>
          <p:cNvSpPr/>
          <p:nvPr/>
        </p:nvSpPr>
        <p:spPr>
          <a:xfrm>
            <a:off x="9159840" y="3191040"/>
            <a:ext cx="24418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Cypherpunk Philosophy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9159840" y="3413160"/>
            <a:ext cx="24418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Privacy, decentralization, mathematical trust over institutional trust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9048600" y="4032360"/>
            <a:ext cx="2600640" cy="82260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31"/>
          <p:cNvSpPr/>
          <p:nvPr/>
        </p:nvSpPr>
        <p:spPr>
          <a:xfrm>
            <a:off x="9159840" y="4143240"/>
            <a:ext cx="24418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Double-Spending Problem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9159840" y="4365720"/>
            <a:ext cx="24418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digital currency to solve this without central authority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4" name="Shape 33"/>
          <p:cNvSpPr/>
          <p:nvPr/>
        </p:nvSpPr>
        <p:spPr>
          <a:xfrm>
            <a:off x="8850240" y="5230800"/>
            <a:ext cx="2997360" cy="3473640"/>
          </a:xfrm>
          <a:custGeom>
            <a:avLst/>
            <a:gdLst/>
            <a:ah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Text 34"/>
          <p:cNvSpPr/>
          <p:nvPr/>
        </p:nvSpPr>
        <p:spPr>
          <a:xfrm>
            <a:off x="9032760" y="5413320"/>
            <a:ext cx="27277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CORE PRINCIPLES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66" name="Shape 35"/>
          <p:cNvSpPr/>
          <p:nvPr/>
        </p:nvSpPr>
        <p:spPr>
          <a:xfrm>
            <a:off x="9048600" y="5810400"/>
            <a:ext cx="2600640" cy="34632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6"/>
          <p:cNvSpPr/>
          <p:nvPr/>
        </p:nvSpPr>
        <p:spPr>
          <a:xfrm>
            <a:off x="9128160" y="5937120"/>
            <a:ext cx="92520" cy="9252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7"/>
          <p:cNvSpPr/>
          <p:nvPr/>
        </p:nvSpPr>
        <p:spPr>
          <a:xfrm>
            <a:off x="9318600" y="5889600"/>
            <a:ext cx="18943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Supply: 21 Million Coins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9048600" y="6254640"/>
            <a:ext cx="2600640" cy="53676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39"/>
          <p:cNvSpPr/>
          <p:nvPr/>
        </p:nvSpPr>
        <p:spPr>
          <a:xfrm>
            <a:off x="9128160" y="6477120"/>
            <a:ext cx="84600" cy="9252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40"/>
          <p:cNvSpPr/>
          <p:nvPr/>
        </p:nvSpPr>
        <p:spPr>
          <a:xfrm>
            <a:off x="9309960" y="6334200"/>
            <a:ext cx="23227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Decentralized: No Single Point of Control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2" name="Shape 41"/>
          <p:cNvSpPr/>
          <p:nvPr/>
        </p:nvSpPr>
        <p:spPr>
          <a:xfrm>
            <a:off x="9048600" y="6889680"/>
            <a:ext cx="2600640" cy="34632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42"/>
          <p:cNvSpPr/>
          <p:nvPr/>
        </p:nvSpPr>
        <p:spPr>
          <a:xfrm>
            <a:off x="9128160" y="7016760"/>
            <a:ext cx="92520" cy="9252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43"/>
          <p:cNvSpPr/>
          <p:nvPr/>
        </p:nvSpPr>
        <p:spPr>
          <a:xfrm>
            <a:off x="9318600" y="6969240"/>
            <a:ext cx="22989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Trustless: Cryptographic Verification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5" name="Shape 44"/>
          <p:cNvSpPr/>
          <p:nvPr/>
        </p:nvSpPr>
        <p:spPr>
          <a:xfrm>
            <a:off x="9048600" y="7334280"/>
            <a:ext cx="2600640" cy="53676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45"/>
          <p:cNvSpPr/>
          <p:nvPr/>
        </p:nvSpPr>
        <p:spPr>
          <a:xfrm>
            <a:off x="9128160" y="7556400"/>
            <a:ext cx="84600" cy="9252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46"/>
          <p:cNvSpPr/>
          <p:nvPr/>
        </p:nvSpPr>
        <p:spPr>
          <a:xfrm>
            <a:off x="9314280" y="7413480"/>
            <a:ext cx="23227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Transparent: Public Blockchain Ledger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8" name="Shape 47"/>
          <p:cNvSpPr/>
          <p:nvPr/>
        </p:nvSpPr>
        <p:spPr>
          <a:xfrm>
            <a:off x="9048600" y="7969320"/>
            <a:ext cx="2600640" cy="53676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48"/>
          <p:cNvSpPr/>
          <p:nvPr/>
        </p:nvSpPr>
        <p:spPr>
          <a:xfrm>
            <a:off x="9128160" y="8191440"/>
            <a:ext cx="76320" cy="92520"/>
          </a:xfrm>
          <a:custGeom>
            <a:avLst/>
            <a:gdLst/>
            <a:ah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9"/>
          <p:cNvSpPr/>
          <p:nvPr/>
        </p:nvSpPr>
        <p:spPr>
          <a:xfrm>
            <a:off x="9301320" y="8048520"/>
            <a:ext cx="2330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Immutable: Transactions Cannot Be Reversed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999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mage 0"/>
          <p:cNvSpPr/>
          <p:nvPr/>
        </p:nvSpPr>
        <p:spPr>
          <a:xfrm>
            <a:off x="0" y="0"/>
            <a:ext cx="12189240" cy="68551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0"/>
          <p:cNvSpPr/>
          <p:nvPr/>
        </p:nvSpPr>
        <p:spPr>
          <a:xfrm>
            <a:off x="0" y="0"/>
            <a:ext cx="12189240" cy="68551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3305160" y="352440"/>
            <a:ext cx="8474400" cy="481680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Shape 2"/>
          <p:cNvSpPr/>
          <p:nvPr/>
        </p:nvSpPr>
        <p:spPr>
          <a:xfrm>
            <a:off x="10077480" y="838080"/>
            <a:ext cx="73440" cy="91152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"/>
          <p:cNvSpPr/>
          <p:nvPr/>
        </p:nvSpPr>
        <p:spPr>
          <a:xfrm>
            <a:off x="10410840" y="866880"/>
            <a:ext cx="854280" cy="85428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10267920" y="838080"/>
            <a:ext cx="102600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3448080" y="2057400"/>
            <a:ext cx="7845840" cy="17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9468000" y="4000680"/>
            <a:ext cx="1825920" cy="7344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7"/>
          <p:cNvSpPr/>
          <p:nvPr/>
        </p:nvSpPr>
        <p:spPr>
          <a:xfrm>
            <a:off x="3619440" y="4305240"/>
            <a:ext cx="7674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Bitcoin Works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5071320" y="5686560"/>
            <a:ext cx="6712200" cy="816120"/>
          </a:xfrm>
          <a:custGeom>
            <a:avLst/>
            <a:gdLst/>
            <a:ah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9"/>
          <p:cNvSpPr/>
          <p:nvPr/>
        </p:nvSpPr>
        <p:spPr>
          <a:xfrm>
            <a:off x="5328720" y="5943600"/>
            <a:ext cx="63122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Work, Blockchain &amp; Decentralized Consensus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Image 0"/>
          <p:cNvSpPr/>
          <p:nvPr/>
        </p:nvSpPr>
        <p:spPr>
          <a:xfrm>
            <a:off x="0" y="0"/>
            <a:ext cx="12189240" cy="68551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Shape 0"/>
          <p:cNvSpPr/>
          <p:nvPr/>
        </p:nvSpPr>
        <p:spPr>
          <a:xfrm>
            <a:off x="0" y="0"/>
            <a:ext cx="12189240" cy="685512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1"/>
          <p:cNvSpPr/>
          <p:nvPr/>
        </p:nvSpPr>
        <p:spPr>
          <a:xfrm>
            <a:off x="409680" y="352440"/>
            <a:ext cx="8474400" cy="481680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5" name="Shape 2"/>
          <p:cNvSpPr/>
          <p:nvPr/>
        </p:nvSpPr>
        <p:spPr>
          <a:xfrm>
            <a:off x="923760" y="866880"/>
            <a:ext cx="854280" cy="85428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3"/>
          <p:cNvSpPr/>
          <p:nvPr/>
        </p:nvSpPr>
        <p:spPr>
          <a:xfrm>
            <a:off x="781200" y="838080"/>
            <a:ext cx="102600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2038320" y="838080"/>
            <a:ext cx="73440" cy="91152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5"/>
          <p:cNvSpPr/>
          <p:nvPr/>
        </p:nvSpPr>
        <p:spPr>
          <a:xfrm>
            <a:off x="895320" y="2057400"/>
            <a:ext cx="7845840" cy="17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895320" y="4000680"/>
            <a:ext cx="1825920" cy="7344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7"/>
          <p:cNvSpPr/>
          <p:nvPr/>
        </p:nvSpPr>
        <p:spPr>
          <a:xfrm>
            <a:off x="895320" y="4305240"/>
            <a:ext cx="7674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Dream to Global Asset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409680" y="5686560"/>
            <a:ext cx="11369880" cy="81612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9"/>
          <p:cNvSpPr/>
          <p:nvPr/>
        </p:nvSpPr>
        <p:spPr>
          <a:xfrm>
            <a:off x="666720" y="5943600"/>
            <a:ext cx="109699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15 Years of Price Discovery, Crashes &amp; Resilience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341280" y="341280"/>
            <a:ext cx="11506320" cy="83844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"/>
          <p:cNvSpPr/>
          <p:nvPr/>
        </p:nvSpPr>
        <p:spPr>
          <a:xfrm>
            <a:off x="523800" y="523800"/>
            <a:ext cx="1128420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JOURNEY: KEY MILESTONES 2009-2024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523800" y="936720"/>
            <a:ext cx="759240" cy="6048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3"/>
          <p:cNvSpPr/>
          <p:nvPr/>
        </p:nvSpPr>
        <p:spPr>
          <a:xfrm>
            <a:off x="341280" y="135720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4"/>
          <p:cNvSpPr/>
          <p:nvPr/>
        </p:nvSpPr>
        <p:spPr>
          <a:xfrm>
            <a:off x="476280" y="149220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5"/>
          <p:cNvSpPr/>
          <p:nvPr/>
        </p:nvSpPr>
        <p:spPr>
          <a:xfrm>
            <a:off x="555480" y="157176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2009-2010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460440" y="195264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BEGINNING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60440" y="217476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real-world transaction: 10,000 BTC for two pizzas at $0.003/BTC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476280" y="253224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9"/>
          <p:cNvSpPr/>
          <p:nvPr/>
        </p:nvSpPr>
        <p:spPr>
          <a:xfrm>
            <a:off x="555480" y="261144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$0.003 → $0.30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3254400" y="135720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4" name="Shape 11"/>
          <p:cNvSpPr/>
          <p:nvPr/>
        </p:nvSpPr>
        <p:spPr>
          <a:xfrm>
            <a:off x="3389400" y="149220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2"/>
          <p:cNvSpPr/>
          <p:nvPr/>
        </p:nvSpPr>
        <p:spPr>
          <a:xfrm>
            <a:off x="3468600" y="157176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3373560" y="195264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BUBBLE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3373560" y="217476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Price spikes to $31, then crashes to $2. Media declares Bitcoin dead.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3389400" y="253224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6"/>
          <p:cNvSpPr/>
          <p:nvPr/>
        </p:nvSpPr>
        <p:spPr>
          <a:xfrm>
            <a:off x="3468600" y="261144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$31 | Crash: -94%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6167520" y="135720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18"/>
          <p:cNvSpPr/>
          <p:nvPr/>
        </p:nvSpPr>
        <p:spPr>
          <a:xfrm>
            <a:off x="6302520" y="149220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9"/>
          <p:cNvSpPr/>
          <p:nvPr/>
        </p:nvSpPr>
        <p:spPr>
          <a:xfrm>
            <a:off x="6381720" y="157176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6286680" y="195264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6286680" y="217476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from 50 to 25 BTC. Sets stage for next bull run.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6302520" y="253224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3"/>
          <p:cNvSpPr/>
          <p:nvPr/>
        </p:nvSpPr>
        <p:spPr>
          <a:xfrm>
            <a:off x="6381720" y="261144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$12 → $13.50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9080640" y="135720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25"/>
          <p:cNvSpPr/>
          <p:nvPr/>
        </p:nvSpPr>
        <p:spPr>
          <a:xfrm>
            <a:off x="9215280" y="149220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26"/>
          <p:cNvSpPr/>
          <p:nvPr/>
        </p:nvSpPr>
        <p:spPr>
          <a:xfrm>
            <a:off x="9294840" y="157176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2013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9199440" y="195264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$1,000 MILESTONE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9199440" y="217476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major bull run to $1,200. Mt. Gox becomes dominant exchange.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9215280" y="253224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30"/>
          <p:cNvSpPr/>
          <p:nvPr/>
        </p:nvSpPr>
        <p:spPr>
          <a:xfrm>
            <a:off x="9294840" y="261144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$1,242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34" name="Shape 31"/>
          <p:cNvSpPr/>
          <p:nvPr/>
        </p:nvSpPr>
        <p:spPr>
          <a:xfrm>
            <a:off x="341280" y="309564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Shape 32"/>
          <p:cNvSpPr/>
          <p:nvPr/>
        </p:nvSpPr>
        <p:spPr>
          <a:xfrm>
            <a:off x="476280" y="323064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3"/>
          <p:cNvSpPr/>
          <p:nvPr/>
        </p:nvSpPr>
        <p:spPr>
          <a:xfrm>
            <a:off x="555480" y="330984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2014-2015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37" name="Text 34"/>
          <p:cNvSpPr/>
          <p:nvPr/>
        </p:nvSpPr>
        <p:spPr>
          <a:xfrm>
            <a:off x="460440" y="369108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MT. GOX COLLAPSE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8" name="Text 35"/>
          <p:cNvSpPr/>
          <p:nvPr/>
        </p:nvSpPr>
        <p:spPr>
          <a:xfrm>
            <a:off x="460440" y="391320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Exchange hack wipes out 850K BTC. Price falls below $200. Bear market.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9" name="Shape 36"/>
          <p:cNvSpPr/>
          <p:nvPr/>
        </p:nvSpPr>
        <p:spPr>
          <a:xfrm>
            <a:off x="476280" y="427032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37"/>
          <p:cNvSpPr/>
          <p:nvPr/>
        </p:nvSpPr>
        <p:spPr>
          <a:xfrm>
            <a:off x="555480" y="434988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41" name="Shape 38"/>
          <p:cNvSpPr/>
          <p:nvPr/>
        </p:nvSpPr>
        <p:spPr>
          <a:xfrm>
            <a:off x="3254400" y="309564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39"/>
          <p:cNvSpPr/>
          <p:nvPr/>
        </p:nvSpPr>
        <p:spPr>
          <a:xfrm>
            <a:off x="3389400" y="323064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40"/>
          <p:cNvSpPr/>
          <p:nvPr/>
        </p:nvSpPr>
        <p:spPr>
          <a:xfrm>
            <a:off x="3468600" y="330984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2016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44" name="Text 41"/>
          <p:cNvSpPr/>
          <p:nvPr/>
        </p:nvSpPr>
        <p:spPr>
          <a:xfrm>
            <a:off x="3373560" y="369108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SECOND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45" name="Text 42"/>
          <p:cNvSpPr/>
          <p:nvPr/>
        </p:nvSpPr>
        <p:spPr>
          <a:xfrm>
            <a:off x="3373560" y="391320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12.5 BTC. Ethereum launches, ICO era begins.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46" name="Shape 43"/>
          <p:cNvSpPr/>
          <p:nvPr/>
        </p:nvSpPr>
        <p:spPr>
          <a:xfrm>
            <a:off x="3389400" y="427032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44"/>
          <p:cNvSpPr/>
          <p:nvPr/>
        </p:nvSpPr>
        <p:spPr>
          <a:xfrm>
            <a:off x="3468600" y="434988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$650 → $960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48" name="Shape 45"/>
          <p:cNvSpPr/>
          <p:nvPr/>
        </p:nvSpPr>
        <p:spPr>
          <a:xfrm>
            <a:off x="6167520" y="309564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Shape 46"/>
          <p:cNvSpPr/>
          <p:nvPr/>
        </p:nvSpPr>
        <p:spPr>
          <a:xfrm>
            <a:off x="6302520" y="323064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47"/>
          <p:cNvSpPr/>
          <p:nvPr/>
        </p:nvSpPr>
        <p:spPr>
          <a:xfrm>
            <a:off x="6381720" y="330984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51" name="Text 48"/>
          <p:cNvSpPr/>
          <p:nvPr/>
        </p:nvSpPr>
        <p:spPr>
          <a:xfrm>
            <a:off x="6286680" y="369108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$20,000 PEAK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52" name="Text 49"/>
          <p:cNvSpPr/>
          <p:nvPr/>
        </p:nvSpPr>
        <p:spPr>
          <a:xfrm>
            <a:off x="6286680" y="391320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ICO mania drives parabolic rise. CME/CBOE futures launch. Mainstream FOMO.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53" name="Shape 50"/>
          <p:cNvSpPr/>
          <p:nvPr/>
        </p:nvSpPr>
        <p:spPr>
          <a:xfrm>
            <a:off x="6302520" y="427032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51"/>
          <p:cNvSpPr/>
          <p:nvPr/>
        </p:nvSpPr>
        <p:spPr>
          <a:xfrm>
            <a:off x="6381720" y="434988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55" name="Shape 52"/>
          <p:cNvSpPr/>
          <p:nvPr/>
        </p:nvSpPr>
        <p:spPr>
          <a:xfrm>
            <a:off x="9080640" y="309564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53"/>
          <p:cNvSpPr/>
          <p:nvPr/>
        </p:nvSpPr>
        <p:spPr>
          <a:xfrm>
            <a:off x="9215280" y="323064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54"/>
          <p:cNvSpPr/>
          <p:nvPr/>
        </p:nvSpPr>
        <p:spPr>
          <a:xfrm>
            <a:off x="9294840" y="330984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2018-2019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58" name="Text 55"/>
          <p:cNvSpPr/>
          <p:nvPr/>
        </p:nvSpPr>
        <p:spPr>
          <a:xfrm>
            <a:off x="9199440" y="369108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CRYPTO WINTER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59" name="Text 56"/>
          <p:cNvSpPr/>
          <p:nvPr/>
        </p:nvSpPr>
        <p:spPr>
          <a:xfrm>
            <a:off x="9199440" y="391320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80%+ crash from peak. Regulatory crackdowns. Institutional interest quietly builds.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60" name="Shape 57"/>
          <p:cNvSpPr/>
          <p:nvPr/>
        </p:nvSpPr>
        <p:spPr>
          <a:xfrm>
            <a:off x="9215280" y="427032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58"/>
          <p:cNvSpPr/>
          <p:nvPr/>
        </p:nvSpPr>
        <p:spPr>
          <a:xfrm>
            <a:off x="9294840" y="434988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$3,200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2" name="Shape 59"/>
          <p:cNvSpPr/>
          <p:nvPr/>
        </p:nvSpPr>
        <p:spPr>
          <a:xfrm>
            <a:off x="341280" y="483408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3" name="Shape 60"/>
          <p:cNvSpPr/>
          <p:nvPr/>
        </p:nvSpPr>
        <p:spPr>
          <a:xfrm>
            <a:off x="476280" y="496872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61"/>
          <p:cNvSpPr/>
          <p:nvPr/>
        </p:nvSpPr>
        <p:spPr>
          <a:xfrm>
            <a:off x="555480" y="504828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65" name="Text 62"/>
          <p:cNvSpPr/>
          <p:nvPr/>
        </p:nvSpPr>
        <p:spPr>
          <a:xfrm>
            <a:off x="460440" y="542916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THIRD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66" name="Text 63"/>
          <p:cNvSpPr/>
          <p:nvPr/>
        </p:nvSpPr>
        <p:spPr>
          <a:xfrm>
            <a:off x="460440" y="565164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6.25 BTC. COVID-19 triggers institutional adoption wave.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67" name="Shape 64"/>
          <p:cNvSpPr/>
          <p:nvPr/>
        </p:nvSpPr>
        <p:spPr>
          <a:xfrm>
            <a:off x="476280" y="600876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65"/>
          <p:cNvSpPr/>
          <p:nvPr/>
        </p:nvSpPr>
        <p:spPr>
          <a:xfrm>
            <a:off x="555480" y="608796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$8,000 → $29,000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9" name="Shape 66"/>
          <p:cNvSpPr/>
          <p:nvPr/>
        </p:nvSpPr>
        <p:spPr>
          <a:xfrm>
            <a:off x="3254400" y="483408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67"/>
          <p:cNvSpPr/>
          <p:nvPr/>
        </p:nvSpPr>
        <p:spPr>
          <a:xfrm>
            <a:off x="3389400" y="496872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68"/>
          <p:cNvSpPr/>
          <p:nvPr/>
        </p:nvSpPr>
        <p:spPr>
          <a:xfrm>
            <a:off x="3468600" y="504828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2" name="Text 69"/>
          <p:cNvSpPr/>
          <p:nvPr/>
        </p:nvSpPr>
        <p:spPr>
          <a:xfrm>
            <a:off x="3373560" y="542916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$69,000 ATH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3" name="Text 70"/>
          <p:cNvSpPr/>
          <p:nvPr/>
        </p:nvSpPr>
        <p:spPr>
          <a:xfrm>
            <a:off x="3373560" y="565164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MicroStrategy, Tesla add BTC to treasury. First Bitcoin futures ETF. NFT boom.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74" name="Shape 71"/>
          <p:cNvSpPr/>
          <p:nvPr/>
        </p:nvSpPr>
        <p:spPr>
          <a:xfrm>
            <a:off x="3389400" y="600876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72"/>
          <p:cNvSpPr/>
          <p:nvPr/>
        </p:nvSpPr>
        <p:spPr>
          <a:xfrm>
            <a:off x="3468600" y="608796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76" name="Shape 73"/>
          <p:cNvSpPr/>
          <p:nvPr/>
        </p:nvSpPr>
        <p:spPr>
          <a:xfrm>
            <a:off x="6167520" y="483408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74"/>
          <p:cNvSpPr/>
          <p:nvPr/>
        </p:nvSpPr>
        <p:spPr>
          <a:xfrm>
            <a:off x="6302520" y="496872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75"/>
          <p:cNvSpPr/>
          <p:nvPr/>
        </p:nvSpPr>
        <p:spPr>
          <a:xfrm>
            <a:off x="6381720" y="504828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9" name="Text 76"/>
          <p:cNvSpPr/>
          <p:nvPr/>
        </p:nvSpPr>
        <p:spPr>
          <a:xfrm>
            <a:off x="6286680" y="542916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BEAR MARKET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80" name="Text 77"/>
          <p:cNvSpPr/>
          <p:nvPr/>
        </p:nvSpPr>
        <p:spPr>
          <a:xfrm>
            <a:off x="6286680" y="565164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Fed rate hikes, Terra/LUNA collapse, FTX bankruptcy. Price falls to $16K.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1" name="Shape 78"/>
          <p:cNvSpPr/>
          <p:nvPr/>
        </p:nvSpPr>
        <p:spPr>
          <a:xfrm>
            <a:off x="6302520" y="600876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79"/>
          <p:cNvSpPr/>
          <p:nvPr/>
        </p:nvSpPr>
        <p:spPr>
          <a:xfrm>
            <a:off x="6381720" y="608796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$15,600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3" name="Shape 80"/>
          <p:cNvSpPr/>
          <p:nvPr/>
        </p:nvSpPr>
        <p:spPr>
          <a:xfrm>
            <a:off x="9080640" y="4834080"/>
            <a:ext cx="2767320" cy="159264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81"/>
          <p:cNvSpPr/>
          <p:nvPr/>
        </p:nvSpPr>
        <p:spPr>
          <a:xfrm>
            <a:off x="9215280" y="4968720"/>
            <a:ext cx="2497320" cy="37800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82"/>
          <p:cNvSpPr/>
          <p:nvPr/>
        </p:nvSpPr>
        <p:spPr>
          <a:xfrm>
            <a:off x="9294840" y="5048280"/>
            <a:ext cx="2418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86" name="Text 83"/>
          <p:cNvSpPr/>
          <p:nvPr/>
        </p:nvSpPr>
        <p:spPr>
          <a:xfrm>
            <a:off x="9199440" y="5429160"/>
            <a:ext cx="259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$100K+ BREAKTHROUGH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87" name="Text 84"/>
          <p:cNvSpPr/>
          <p:nvPr/>
        </p:nvSpPr>
        <p:spPr>
          <a:xfrm>
            <a:off x="9199440" y="5651640"/>
            <a:ext cx="25848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Fourth halving. SEC approves spot ETFs. Price breaks $100K milestone.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8" name="Shape 85"/>
          <p:cNvSpPr/>
          <p:nvPr/>
        </p:nvSpPr>
        <p:spPr>
          <a:xfrm>
            <a:off x="9215280" y="6008760"/>
            <a:ext cx="2497320" cy="28296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86"/>
          <p:cNvSpPr/>
          <p:nvPr/>
        </p:nvSpPr>
        <p:spPr>
          <a:xfrm>
            <a:off x="9294840" y="6087960"/>
            <a:ext cx="23864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$126,173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90" name="Shape 87"/>
          <p:cNvSpPr/>
          <p:nvPr/>
        </p:nvSpPr>
        <p:spPr>
          <a:xfrm>
            <a:off x="341280" y="6572160"/>
            <a:ext cx="11506320" cy="520920"/>
          </a:xfrm>
          <a:custGeom>
            <a:avLst/>
            <a:gdLst/>
            <a:ah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88"/>
          <p:cNvSpPr/>
          <p:nvPr/>
        </p:nvSpPr>
        <p:spPr>
          <a:xfrm>
            <a:off x="492120" y="6723000"/>
            <a:ext cx="3299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FOUR HALVINGS: 2012 | 2016 | 2020 | 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2" name="Text 89"/>
          <p:cNvSpPr/>
          <p:nvPr/>
        </p:nvSpPr>
        <p:spPr>
          <a:xfrm>
            <a:off x="8992080" y="6723000"/>
            <a:ext cx="2783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→ </a:t>
            </a: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Each Followed by Major Bull Run</a:t>
            </a:r>
            <a:endParaRPr b="0" lang="en-HK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341280" y="341280"/>
            <a:ext cx="11506320" cy="83844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"/>
          <p:cNvSpPr/>
          <p:nvPr/>
        </p:nvSpPr>
        <p:spPr>
          <a:xfrm>
            <a:off x="523800" y="523800"/>
            <a:ext cx="1128420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TODAY: MARKET METRICS &amp; ADOPTION DATA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95" name="Shape 2"/>
          <p:cNvSpPr/>
          <p:nvPr/>
        </p:nvSpPr>
        <p:spPr>
          <a:xfrm>
            <a:off x="523800" y="936720"/>
            <a:ext cx="759240" cy="6048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3"/>
          <p:cNvSpPr/>
          <p:nvPr/>
        </p:nvSpPr>
        <p:spPr>
          <a:xfrm>
            <a:off x="341280" y="1357200"/>
            <a:ext cx="5648760" cy="2806920"/>
          </a:xfrm>
          <a:custGeom>
            <a:avLst/>
            <a:gdLst/>
            <a:ah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Text 4"/>
          <p:cNvSpPr/>
          <p:nvPr/>
        </p:nvSpPr>
        <p:spPr>
          <a:xfrm>
            <a:off x="523800" y="1539720"/>
            <a:ext cx="53787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PRICE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98" name="Shape 5"/>
          <p:cNvSpPr/>
          <p:nvPr/>
        </p:nvSpPr>
        <p:spPr>
          <a:xfrm>
            <a:off x="539640" y="1936800"/>
            <a:ext cx="2545200" cy="101304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6"/>
          <p:cNvSpPr/>
          <p:nvPr/>
        </p:nvSpPr>
        <p:spPr>
          <a:xfrm>
            <a:off x="682560" y="2079720"/>
            <a:ext cx="232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Current Price (Mar 2026)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682560" y="2333520"/>
            <a:ext cx="24022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$74,532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3246480" y="1936800"/>
            <a:ext cx="2545200" cy="101304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9"/>
          <p:cNvSpPr/>
          <p:nvPr/>
        </p:nvSpPr>
        <p:spPr>
          <a:xfrm>
            <a:off x="3389400" y="2079720"/>
            <a:ext cx="232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All-Time High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3389400" y="2333520"/>
            <a:ext cx="24022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$126,173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3389400" y="2651040"/>
            <a:ext cx="23148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October 6, 2025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5" name="Shape 12"/>
          <p:cNvSpPr/>
          <p:nvPr/>
        </p:nvSpPr>
        <p:spPr>
          <a:xfrm>
            <a:off x="539640" y="3111480"/>
            <a:ext cx="2545200" cy="85428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3"/>
          <p:cNvSpPr/>
          <p:nvPr/>
        </p:nvSpPr>
        <p:spPr>
          <a:xfrm>
            <a:off x="682560" y="3254400"/>
            <a:ext cx="232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Market Cap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682560" y="3508200"/>
            <a:ext cx="24022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$1.47T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3246480" y="3111480"/>
            <a:ext cx="2545200" cy="85428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6"/>
          <p:cNvSpPr/>
          <p:nvPr/>
        </p:nvSpPr>
        <p:spPr>
          <a:xfrm>
            <a:off x="3389400" y="3254400"/>
            <a:ext cx="23227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24h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3389400" y="3508200"/>
            <a:ext cx="240228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$28.5B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11" name="Shape 18"/>
          <p:cNvSpPr/>
          <p:nvPr/>
        </p:nvSpPr>
        <p:spPr>
          <a:xfrm>
            <a:off x="341280" y="4341960"/>
            <a:ext cx="5648760" cy="2997360"/>
          </a:xfrm>
          <a:custGeom>
            <a:avLst/>
            <a:gdLst/>
            <a:ah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 19"/>
          <p:cNvSpPr/>
          <p:nvPr/>
        </p:nvSpPr>
        <p:spPr>
          <a:xfrm>
            <a:off x="523800" y="4524480"/>
            <a:ext cx="53787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HOLDINGS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3" name="Shape 20"/>
          <p:cNvSpPr/>
          <p:nvPr/>
        </p:nvSpPr>
        <p:spPr>
          <a:xfrm>
            <a:off x="539640" y="4921200"/>
            <a:ext cx="5251680" cy="63216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1"/>
          <p:cNvSpPr/>
          <p:nvPr/>
        </p:nvSpPr>
        <p:spPr>
          <a:xfrm>
            <a:off x="650880" y="5064120"/>
            <a:ext cx="14180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Institutional BTC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5" name="Text 22"/>
          <p:cNvSpPr/>
          <p:nvPr/>
        </p:nvSpPr>
        <p:spPr>
          <a:xfrm>
            <a:off x="4704120" y="5032440"/>
            <a:ext cx="10688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1.4M+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650880" y="5286240"/>
            <a:ext cx="5085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~7% of circulating supply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17" name="Shape 24"/>
          <p:cNvSpPr/>
          <p:nvPr/>
        </p:nvSpPr>
        <p:spPr>
          <a:xfrm>
            <a:off x="539640" y="5683320"/>
            <a:ext cx="5251680" cy="63216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5"/>
          <p:cNvSpPr/>
          <p:nvPr/>
        </p:nvSpPr>
        <p:spPr>
          <a:xfrm>
            <a:off x="650880" y="5826240"/>
            <a:ext cx="19656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Assets Under Management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9" name="Text 26"/>
          <p:cNvSpPr/>
          <p:nvPr/>
        </p:nvSpPr>
        <p:spPr>
          <a:xfrm>
            <a:off x="5116680" y="5794200"/>
            <a:ext cx="6559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0" name="Text 27"/>
          <p:cNvSpPr/>
          <p:nvPr/>
        </p:nvSpPr>
        <p:spPr>
          <a:xfrm>
            <a:off x="650880" y="6048360"/>
            <a:ext cx="5085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leads with $52B+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1" name="Shape 28"/>
          <p:cNvSpPr/>
          <p:nvPr/>
        </p:nvSpPr>
        <p:spPr>
          <a:xfrm>
            <a:off x="539640" y="6445080"/>
            <a:ext cx="5251680" cy="63216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29"/>
          <p:cNvSpPr/>
          <p:nvPr/>
        </p:nvSpPr>
        <p:spPr>
          <a:xfrm>
            <a:off x="650880" y="6588000"/>
            <a:ext cx="14893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Holdings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3" name="Text 30"/>
          <p:cNvSpPr/>
          <p:nvPr/>
        </p:nvSpPr>
        <p:spPr>
          <a:xfrm>
            <a:off x="4550040" y="6556320"/>
            <a:ext cx="12276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4" name="Text 31"/>
          <p:cNvSpPr/>
          <p:nvPr/>
        </p:nvSpPr>
        <p:spPr>
          <a:xfrm>
            <a:off x="650880" y="6810480"/>
            <a:ext cx="5085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Cost basis: $54.4B ($76,056/BTC)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5" name="Shape 32"/>
          <p:cNvSpPr/>
          <p:nvPr/>
        </p:nvSpPr>
        <p:spPr>
          <a:xfrm>
            <a:off x="6199200" y="1357200"/>
            <a:ext cx="5648760" cy="3822840"/>
          </a:xfrm>
          <a:custGeom>
            <a:avLst/>
            <a:gdLst/>
            <a:ah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6" name="Text 33"/>
          <p:cNvSpPr/>
          <p:nvPr/>
        </p:nvSpPr>
        <p:spPr>
          <a:xfrm>
            <a:off x="6381720" y="1539720"/>
            <a:ext cx="53787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ON-CHAIN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27" name="Shape 34"/>
          <p:cNvSpPr/>
          <p:nvPr/>
        </p:nvSpPr>
        <p:spPr>
          <a:xfrm>
            <a:off x="6397560" y="1936800"/>
            <a:ext cx="5251680" cy="949680"/>
          </a:xfrm>
          <a:custGeom>
            <a:avLst/>
            <a:gdLst/>
            <a:ah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35"/>
          <p:cNvSpPr/>
          <p:nvPr/>
        </p:nvSpPr>
        <p:spPr>
          <a:xfrm>
            <a:off x="6508800" y="2048040"/>
            <a:ext cx="50929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Long-Term Holder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9" name="Text 36"/>
          <p:cNvSpPr/>
          <p:nvPr/>
        </p:nvSpPr>
        <p:spPr>
          <a:xfrm>
            <a:off x="6508800" y="2301840"/>
            <a:ext cx="5925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62%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330" name="Text 37"/>
          <p:cNvSpPr/>
          <p:nvPr/>
        </p:nvSpPr>
        <p:spPr>
          <a:xfrm>
            <a:off x="7080480" y="2365200"/>
            <a:ext cx="1449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BTC unmoved for 1+ year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1" name="Shape 38"/>
          <p:cNvSpPr/>
          <p:nvPr/>
        </p:nvSpPr>
        <p:spPr>
          <a:xfrm>
            <a:off x="6524640" y="2666880"/>
            <a:ext cx="4997880" cy="9252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Shape 39"/>
          <p:cNvSpPr/>
          <p:nvPr/>
        </p:nvSpPr>
        <p:spPr>
          <a:xfrm>
            <a:off x="6540480" y="2682720"/>
            <a:ext cx="3076920" cy="60480"/>
          </a:xfrm>
          <a:custGeom>
            <a:avLst/>
            <a:gdLst/>
            <a:ah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40"/>
          <p:cNvSpPr/>
          <p:nvPr/>
        </p:nvSpPr>
        <p:spPr>
          <a:xfrm>
            <a:off x="6397560" y="3016080"/>
            <a:ext cx="5251680" cy="91800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41"/>
          <p:cNvSpPr/>
          <p:nvPr/>
        </p:nvSpPr>
        <p:spPr>
          <a:xfrm>
            <a:off x="6508800" y="3127320"/>
            <a:ext cx="50929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35" name="Text 42"/>
          <p:cNvSpPr/>
          <p:nvPr/>
        </p:nvSpPr>
        <p:spPr>
          <a:xfrm>
            <a:off x="6508800" y="3381480"/>
            <a:ext cx="51487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336" name="Text 43"/>
          <p:cNvSpPr/>
          <p:nvPr/>
        </p:nvSpPr>
        <p:spPr>
          <a:xfrm>
            <a:off x="6508800" y="3666960"/>
            <a:ext cx="5085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 volume (Nov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7" name="Shape 44"/>
          <p:cNvSpPr/>
          <p:nvPr/>
        </p:nvSpPr>
        <p:spPr>
          <a:xfrm>
            <a:off x="6397560" y="4064040"/>
            <a:ext cx="5251680" cy="91800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45"/>
          <p:cNvSpPr/>
          <p:nvPr/>
        </p:nvSpPr>
        <p:spPr>
          <a:xfrm>
            <a:off x="6508800" y="4175280"/>
            <a:ext cx="509292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39" name="Text 46"/>
          <p:cNvSpPr/>
          <p:nvPr/>
        </p:nvSpPr>
        <p:spPr>
          <a:xfrm>
            <a:off x="6508800" y="4429080"/>
            <a:ext cx="51487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 EH/s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340" name="Text 47"/>
          <p:cNvSpPr/>
          <p:nvPr/>
        </p:nvSpPr>
        <p:spPr>
          <a:xfrm>
            <a:off x="6508800" y="4714920"/>
            <a:ext cx="5085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All-time high network security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1" name="Shape 48"/>
          <p:cNvSpPr/>
          <p:nvPr/>
        </p:nvSpPr>
        <p:spPr>
          <a:xfrm>
            <a:off x="6199200" y="5357880"/>
            <a:ext cx="5648760" cy="1981440"/>
          </a:xfrm>
          <a:custGeom>
            <a:avLst/>
            <a:gdLst/>
            <a:ah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2621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Text 49"/>
          <p:cNvSpPr/>
          <p:nvPr/>
        </p:nvSpPr>
        <p:spPr>
          <a:xfrm>
            <a:off x="6381720" y="5540400"/>
            <a:ext cx="537876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VS TRADITIONAL ASSETS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43" name="Text 50"/>
          <p:cNvSpPr/>
          <p:nvPr/>
        </p:nvSpPr>
        <p:spPr>
          <a:xfrm>
            <a:off x="6381720" y="5921280"/>
            <a:ext cx="53470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44" name="Text 51"/>
          <p:cNvSpPr/>
          <p:nvPr/>
        </p:nvSpPr>
        <p:spPr>
          <a:xfrm>
            <a:off x="6381720" y="6207120"/>
            <a:ext cx="8226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45" name="Shape 52"/>
          <p:cNvSpPr/>
          <p:nvPr/>
        </p:nvSpPr>
        <p:spPr>
          <a:xfrm>
            <a:off x="7254720" y="6222960"/>
            <a:ext cx="4394520" cy="15588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Shape 53"/>
          <p:cNvSpPr/>
          <p:nvPr/>
        </p:nvSpPr>
        <p:spPr>
          <a:xfrm>
            <a:off x="7270920" y="6238800"/>
            <a:ext cx="4362840" cy="124200"/>
          </a:xfrm>
          <a:custGeom>
            <a:avLst/>
            <a:gdLst/>
            <a:ah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54"/>
          <p:cNvSpPr/>
          <p:nvPr/>
        </p:nvSpPr>
        <p:spPr>
          <a:xfrm>
            <a:off x="11223720" y="6222960"/>
            <a:ext cx="4017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+940%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8" name="Text 55"/>
          <p:cNvSpPr/>
          <p:nvPr/>
        </p:nvSpPr>
        <p:spPr>
          <a:xfrm>
            <a:off x="6381720" y="6461280"/>
            <a:ext cx="8226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Nasdaq 100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49" name="Shape 56"/>
          <p:cNvSpPr/>
          <p:nvPr/>
        </p:nvSpPr>
        <p:spPr>
          <a:xfrm>
            <a:off x="7254720" y="6477120"/>
            <a:ext cx="4394520" cy="15588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57"/>
          <p:cNvSpPr/>
          <p:nvPr/>
        </p:nvSpPr>
        <p:spPr>
          <a:xfrm>
            <a:off x="7270920" y="6492960"/>
            <a:ext cx="520920" cy="124200"/>
          </a:xfrm>
          <a:custGeom>
            <a:avLst/>
            <a:gdLst/>
            <a:ah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58"/>
          <p:cNvSpPr/>
          <p:nvPr/>
        </p:nvSpPr>
        <p:spPr>
          <a:xfrm>
            <a:off x="7382160" y="6477120"/>
            <a:ext cx="4017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+110%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52" name="Text 59"/>
          <p:cNvSpPr/>
          <p:nvPr/>
        </p:nvSpPr>
        <p:spPr>
          <a:xfrm>
            <a:off x="6381720" y="6715080"/>
            <a:ext cx="8226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S&amp;P 500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53" name="Shape 60"/>
          <p:cNvSpPr/>
          <p:nvPr/>
        </p:nvSpPr>
        <p:spPr>
          <a:xfrm>
            <a:off x="7254720" y="6730920"/>
            <a:ext cx="4394520" cy="15588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61"/>
          <p:cNvSpPr/>
          <p:nvPr/>
        </p:nvSpPr>
        <p:spPr>
          <a:xfrm>
            <a:off x="7270920" y="6746760"/>
            <a:ext cx="393840" cy="124200"/>
          </a:xfrm>
          <a:custGeom>
            <a:avLst/>
            <a:gdLst/>
            <a:ah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62"/>
          <p:cNvSpPr/>
          <p:nvPr/>
        </p:nvSpPr>
        <p:spPr>
          <a:xfrm>
            <a:off x="7312680" y="6730920"/>
            <a:ext cx="3384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56" name="Text 63"/>
          <p:cNvSpPr/>
          <p:nvPr/>
        </p:nvSpPr>
        <p:spPr>
          <a:xfrm>
            <a:off x="6381720" y="6969240"/>
            <a:ext cx="8226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57" name="Shape 64"/>
          <p:cNvSpPr/>
          <p:nvPr/>
        </p:nvSpPr>
        <p:spPr>
          <a:xfrm>
            <a:off x="7254720" y="6985080"/>
            <a:ext cx="4394520" cy="15588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65"/>
          <p:cNvSpPr/>
          <p:nvPr/>
        </p:nvSpPr>
        <p:spPr>
          <a:xfrm>
            <a:off x="7270920" y="7000920"/>
            <a:ext cx="171720" cy="124200"/>
          </a:xfrm>
          <a:custGeom>
            <a:avLst/>
            <a:gdLst/>
            <a:ah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66"/>
          <p:cNvSpPr/>
          <p:nvPr/>
        </p:nvSpPr>
        <p:spPr>
          <a:xfrm>
            <a:off x="7094520" y="6985080"/>
            <a:ext cx="3384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+25%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2026-03-18T08:32:36Z</dcterms:created>
  <dc:creator>Kimi</dc:creator>
  <dc:description/>
  <dc:language>en-HK</dc:language>
  <cp:lastModifiedBy/>
  <dcterms:modified xsi:type="dcterms:W3CDTF">2026-04-27T01:06:45Z</dcterms:modified>
  <cp:revision>10</cp:revision>
  <dc:subject>Bitcoin: The Digital Revolution</dc:subject>
  <dc:title>Bitcoin: The Digital Revolution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  <property fmtid="{D5CDD505-2E9C-101B-9397-08002B2CF9AE}" pid="3" name="Notes">
    <vt:i4>27</vt:i4>
  </property>
  <property fmtid="{D5CDD505-2E9C-101B-9397-08002B2CF9AE}" pid="4" name="PresentationFormat">
    <vt:lpwstr>On-screen Show (16:9)</vt:lpwstr>
  </property>
  <property fmtid="{D5CDD505-2E9C-101B-9397-08002B2CF9AE}" pid="5" name="Slides">
    <vt:i4>27</vt:i4>
  </property>
</Properties>
</file>