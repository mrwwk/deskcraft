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6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C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li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c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k 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t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o 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m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o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v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e 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t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h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e 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s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li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d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e</a:t>
            </a: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</a:t>
            </a:r>
            <a:r>
              <a:rPr b="0" lang="en-HK" sz="2000" spc="-1" strike="noStrike">
                <a:latin typeface="Arial"/>
              </a:rPr>
              <a:t>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6CF5C667-5A9D-443B-AC02-BB85BC35769F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3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B85E990-4FA8-4561-A042-0C0D9871DDF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4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12C9FB2-FD7D-468B-B01B-C9B19A657E6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4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05A9488-B12F-4F24-AD06-69576A83354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4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B11BAF7-4688-49D5-AF8A-8D9E0D17EA3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5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F5067A7-46AB-40A9-ACBF-F1D3FDCA291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Summary: Bitcoin has </a:t>
            </a:r>
            <a:r>
              <a:rPr b="0" lang="en-US" sz="2000" spc="-1" strike="noStrike">
                <a:latin typeface="Arial"/>
              </a:rPr>
              <a:t>fundamentally changed </a:t>
            </a:r>
            <a:r>
              <a:rPr b="0" lang="en-US" sz="2000" spc="-1" strike="noStrike">
                <a:latin typeface="Arial"/>
              </a:rPr>
              <a:t>how we think about </a:t>
            </a:r>
            <a:r>
              <a:rPr b="0" lang="en-US" sz="2000" spc="-1" strike="noStrike">
                <a:latin typeface="Arial"/>
              </a:rPr>
              <a:t>money, trust, and </a:t>
            </a:r>
            <a:r>
              <a:rPr b="0" lang="en-US" sz="2000" spc="-1" strike="noStrike">
                <a:latin typeface="Arial"/>
              </a:rPr>
              <a:t>decentralized systems.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85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AB4B7DD-3855-4973-90F8-C94B91B5294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5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43F9295-4375-47A6-8F99-8E4A96F67CD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5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4844CA8-91C4-4D96-8A68-DBC2860A689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6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F6DF747-9B56-4B28-ACF9-186A22CE553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65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AC070E7-2AE6-494D-8D3D-F27FC443E02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68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D4C6504-868A-416E-9BB2-04B5EBF9F34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71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2B35DBF-4B9A-4468-A6FF-892F3D28A23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74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257DB33-4873-408E-9753-4F591291EF1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77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F9658FB-4C76-411F-95B9-8BB288BDBD4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80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646A641-394F-4F7E-872F-1CD401F258B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83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F560CA0-A7EC-4950-A7CA-1F0A4DD8E6C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86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BF5B944-B1CE-4337-A426-4043463AD96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89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4D7DC87-905D-4D61-88C1-91385E8972B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92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57270DC-8D95-42E1-918B-E4386C9CAF6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95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8081CF3-E0B2-4B46-B1F8-689F279267F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898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6CDB633-9FD0-4789-8C98-057C7F7D54E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Click 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to 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edit 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the 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title 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text 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form</a:t>
            </a:r>
            <a:r>
              <a:rPr b="0" lang="en-HK" sz="4400" spc="-1" strike="noStrike">
                <a:solidFill>
                  <a:srgbClr val="000000"/>
                </a:solidFill>
                <a:latin typeface="Calibri Light"/>
              </a:rPr>
              <a:t>at</a:t>
            </a:r>
            <a:endParaRPr b="0" lang="en-HK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HK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HK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HK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HK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HK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HK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HK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Image 0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0"/>
          <p:cNvSpPr/>
          <p:nvPr/>
        </p:nvSpPr>
        <p:spPr>
          <a:xfrm>
            <a:off x="0" y="0"/>
            <a:ext cx="12191760" cy="68576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1"/>
          <p:cNvSpPr/>
          <p:nvPr/>
        </p:nvSpPr>
        <p:spPr>
          <a:xfrm>
            <a:off x="409680" y="714240"/>
            <a:ext cx="3704760" cy="780840"/>
          </a:xfrm>
          <a:custGeom>
            <a:avLst/>
            <a:gdLst/>
            <a:ahLst/>
            <a:rect l="l" t="t" r="r" b="b"/>
            <a:pathLst>
              <a:path w="3705225" h="781050">
                <a:moveTo>
                  <a:pt x="0" y="0"/>
                </a:moveTo>
                <a:lnTo>
                  <a:pt x="3705225" y="0"/>
                </a:lnTo>
                <a:lnTo>
                  <a:pt x="3705225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7" name="Text 2"/>
          <p:cNvSpPr/>
          <p:nvPr/>
        </p:nvSpPr>
        <p:spPr>
          <a:xfrm>
            <a:off x="666720" y="971640"/>
            <a:ext cx="32857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3600" spc="148" strike="noStrike">
                <a:solidFill>
                  <a:srgbClr val="000000"/>
                </a:solidFill>
                <a:latin typeface="Noto Sans SC"/>
                <a:ea typeface="Noto Sans SC"/>
              </a:rPr>
              <a:t>FINANCIAL LECTURE SERIES</a:t>
            </a:r>
            <a:endParaRPr b="0" lang="en-HK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3"/>
          <p:cNvSpPr/>
          <p:nvPr/>
        </p:nvSpPr>
        <p:spPr>
          <a:xfrm>
            <a:off x="409680" y="1876320"/>
            <a:ext cx="11372400" cy="3257280"/>
          </a:xfrm>
          <a:custGeom>
            <a:avLst/>
            <a:gdLst/>
            <a:ahLst/>
            <a:rect l="l" t="t" r="r" b="b"/>
            <a:pathLst>
              <a:path w="11372850" h="3257550">
                <a:moveTo>
                  <a:pt x="0" y="0"/>
                </a:moveTo>
                <a:lnTo>
                  <a:pt x="11372850" y="0"/>
                </a:lnTo>
                <a:lnTo>
                  <a:pt x="113728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9" name="Text 4"/>
          <p:cNvSpPr/>
          <p:nvPr/>
        </p:nvSpPr>
        <p:spPr>
          <a:xfrm>
            <a:off x="895320" y="2362320"/>
            <a:ext cx="108583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BITCOIN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0" name="Shape 5"/>
          <p:cNvSpPr/>
          <p:nvPr/>
        </p:nvSpPr>
        <p:spPr>
          <a:xfrm>
            <a:off x="895320" y="3505320"/>
            <a:ext cx="1218960" cy="75960"/>
          </a:xfrm>
          <a:custGeom>
            <a:avLst/>
            <a:gdLst/>
            <a:ahLst/>
            <a:rect l="l" t="t" r="r" b="b"/>
            <a:pathLst>
              <a:path w="1219200" h="76200">
                <a:moveTo>
                  <a:pt x="0" y="0"/>
                </a:moveTo>
                <a:lnTo>
                  <a:pt x="1219200" y="0"/>
                </a:lnTo>
                <a:lnTo>
                  <a:pt x="1219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Text 6"/>
          <p:cNvSpPr/>
          <p:nvPr/>
        </p:nvSpPr>
        <p:spPr>
          <a:xfrm>
            <a:off x="895320" y="3809880"/>
            <a:ext cx="105724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THE DIGITAL REVOLUTION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2" name="Text 7"/>
          <p:cNvSpPr/>
          <p:nvPr/>
        </p:nvSpPr>
        <p:spPr>
          <a:xfrm>
            <a:off x="895320" y="4343400"/>
            <a:ext cx="105152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A Comprehensive Analysis of History, Present &amp; Future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3" name="Shape 8"/>
          <p:cNvSpPr/>
          <p:nvPr/>
        </p:nvSpPr>
        <p:spPr>
          <a:xfrm>
            <a:off x="409680" y="5514840"/>
            <a:ext cx="1294920" cy="628200"/>
          </a:xfrm>
          <a:custGeom>
            <a:avLst/>
            <a:gdLst/>
            <a:ahLst/>
            <a:rect l="l" t="t" r="r" b="b"/>
            <a:pathLst>
              <a:path w="1295400" h="628650">
                <a:moveTo>
                  <a:pt x="0" y="0"/>
                </a:moveTo>
                <a:lnTo>
                  <a:pt x="1295400" y="0"/>
                </a:lnTo>
                <a:lnTo>
                  <a:pt x="1295400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" name="Text 9"/>
          <p:cNvSpPr/>
          <p:nvPr/>
        </p:nvSpPr>
        <p:spPr>
          <a:xfrm>
            <a:off x="590400" y="5695920"/>
            <a:ext cx="10188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MiSans"/>
                <a:ea typeface="MiSans"/>
              </a:rPr>
              <a:t>March 2026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10364400" y="5514840"/>
            <a:ext cx="1418760" cy="628200"/>
          </a:xfrm>
          <a:custGeom>
            <a:avLst/>
            <a:gdLst/>
            <a:ahLst/>
            <a:rect l="l" t="t" r="r" b="b"/>
            <a:pathLst>
              <a:path w="1419225" h="628650">
                <a:moveTo>
                  <a:pt x="0" y="0"/>
                </a:moveTo>
                <a:lnTo>
                  <a:pt x="1419225" y="0"/>
                </a:lnTo>
                <a:lnTo>
                  <a:pt x="1419225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" name="Text 11"/>
          <p:cNvSpPr/>
          <p:nvPr/>
        </p:nvSpPr>
        <p:spPr>
          <a:xfrm>
            <a:off x="10545480" y="5695920"/>
            <a:ext cx="1142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MiSans"/>
                <a:ea typeface="MiSans"/>
              </a:rPr>
              <a:t>▶ </a:t>
            </a:r>
            <a:r>
              <a:rPr b="1" lang="en-US" sz="3600" spc="-1" strike="noStrike">
                <a:solidFill>
                  <a:srgbClr val="ffffff"/>
                </a:solidFill>
                <a:latin typeface="MiSans"/>
                <a:ea typeface="MiSans"/>
              </a:rPr>
              <a:t>27 SLIDES</a:t>
            </a:r>
            <a:endParaRPr b="0" lang="en-HK" sz="3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341280" y="341280"/>
            <a:ext cx="11508840" cy="1095120"/>
          </a:xfrm>
          <a:custGeom>
            <a:avLst/>
            <a:gdLst/>
            <a:ahLst/>
            <a:rect l="l" t="t" r="r" b="b"/>
            <a:pathLst>
              <a:path w="11509375" h="1095375">
                <a:moveTo>
                  <a:pt x="0" y="0"/>
                </a:moveTo>
                <a:lnTo>
                  <a:pt x="11509375" y="0"/>
                </a:lnTo>
                <a:lnTo>
                  <a:pt x="11509375" y="1095375"/>
                </a:lnTo>
                <a:lnTo>
                  <a:pt x="0" y="1095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Text 1"/>
          <p:cNvSpPr/>
          <p:nvPr/>
        </p:nvSpPr>
        <p:spPr>
          <a:xfrm>
            <a:off x="555480" y="555480"/>
            <a:ext cx="1131840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3750" spc="-1" strike="noStrike">
                <a:solidFill>
                  <a:srgbClr val="ff7f00"/>
                </a:solidFill>
                <a:latin typeface="Noto Sans SC"/>
                <a:ea typeface="Noto Sans SC"/>
              </a:rPr>
              <a:t>CONTENTS</a:t>
            </a:r>
            <a:endParaRPr b="0" lang="en-HK" sz="3750" spc="-1" strike="noStrike"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555480" y="1158840"/>
            <a:ext cx="761760" cy="630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Shape 3"/>
          <p:cNvSpPr/>
          <p:nvPr/>
        </p:nvSpPr>
        <p:spPr>
          <a:xfrm>
            <a:off x="341280" y="1674720"/>
            <a:ext cx="5651280" cy="8726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1" name="Shape 4"/>
          <p:cNvSpPr/>
          <p:nvPr/>
        </p:nvSpPr>
        <p:spPr>
          <a:xfrm>
            <a:off x="547560" y="1881360"/>
            <a:ext cx="460080" cy="4600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" name="Text 5"/>
          <p:cNvSpPr/>
          <p:nvPr/>
        </p:nvSpPr>
        <p:spPr>
          <a:xfrm>
            <a:off x="464400" y="1857240"/>
            <a:ext cx="53136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01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1158840" y="1857240"/>
            <a:ext cx="14126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GENESIS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1158840" y="2143080"/>
            <a:ext cx="138888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Bitcoin's Origin Story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5" name="Shape 8"/>
          <p:cNvSpPr/>
          <p:nvPr/>
        </p:nvSpPr>
        <p:spPr>
          <a:xfrm>
            <a:off x="6199200" y="1674720"/>
            <a:ext cx="5651280" cy="8726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6" name="Shape 9"/>
          <p:cNvSpPr/>
          <p:nvPr/>
        </p:nvSpPr>
        <p:spPr>
          <a:xfrm>
            <a:off x="6405480" y="1881360"/>
            <a:ext cx="460080" cy="4600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10"/>
          <p:cNvSpPr/>
          <p:nvPr/>
        </p:nvSpPr>
        <p:spPr>
          <a:xfrm>
            <a:off x="6322320" y="1857240"/>
            <a:ext cx="53136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8" name="Text 11"/>
          <p:cNvSpPr/>
          <p:nvPr/>
        </p:nvSpPr>
        <p:spPr>
          <a:xfrm>
            <a:off x="7016760" y="1857240"/>
            <a:ext cx="25156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FOUNDATION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7016760" y="2143080"/>
            <a:ext cx="24919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How Bitcoin Works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0" name="Shape 13"/>
          <p:cNvSpPr/>
          <p:nvPr/>
        </p:nvSpPr>
        <p:spPr>
          <a:xfrm>
            <a:off x="341280" y="2754360"/>
            <a:ext cx="5651280" cy="8726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1" name="Shape 14"/>
          <p:cNvSpPr/>
          <p:nvPr/>
        </p:nvSpPr>
        <p:spPr>
          <a:xfrm>
            <a:off x="547560" y="2960640"/>
            <a:ext cx="460080" cy="4600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" name="Text 15"/>
          <p:cNvSpPr/>
          <p:nvPr/>
        </p:nvSpPr>
        <p:spPr>
          <a:xfrm>
            <a:off x="464400" y="2936880"/>
            <a:ext cx="53136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1158840" y="2936880"/>
            <a:ext cx="27144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HISTORICAL EVOLUTION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1158840" y="3222720"/>
            <a:ext cx="269028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From Cypherpunk Dream to Global Asset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5" name="Shape 18"/>
          <p:cNvSpPr/>
          <p:nvPr/>
        </p:nvSpPr>
        <p:spPr>
          <a:xfrm>
            <a:off x="6199200" y="2754360"/>
            <a:ext cx="5651280" cy="8726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6" name="Shape 19"/>
          <p:cNvSpPr/>
          <p:nvPr/>
        </p:nvSpPr>
        <p:spPr>
          <a:xfrm>
            <a:off x="6405480" y="2960640"/>
            <a:ext cx="460080" cy="4600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" name="Text 20"/>
          <p:cNvSpPr/>
          <p:nvPr/>
        </p:nvSpPr>
        <p:spPr>
          <a:xfrm>
            <a:off x="6322320" y="2936880"/>
            <a:ext cx="53136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7016760" y="2936880"/>
            <a:ext cx="21110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MARKET DYNAMICS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7016760" y="3222720"/>
            <a:ext cx="208728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Halving Cycles &amp; Price Patterns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80" name="Shape 23"/>
          <p:cNvSpPr/>
          <p:nvPr/>
        </p:nvSpPr>
        <p:spPr>
          <a:xfrm>
            <a:off x="341280" y="3833640"/>
            <a:ext cx="5651280" cy="8726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" name="Shape 24"/>
          <p:cNvSpPr/>
          <p:nvPr/>
        </p:nvSpPr>
        <p:spPr>
          <a:xfrm>
            <a:off x="547560" y="4040280"/>
            <a:ext cx="460080" cy="4600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Text 25"/>
          <p:cNvSpPr/>
          <p:nvPr/>
        </p:nvSpPr>
        <p:spPr>
          <a:xfrm>
            <a:off x="464400" y="4016520"/>
            <a:ext cx="53136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05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3" name="Text 26"/>
          <p:cNvSpPr/>
          <p:nvPr/>
        </p:nvSpPr>
        <p:spPr>
          <a:xfrm>
            <a:off x="1158840" y="4016520"/>
            <a:ext cx="22618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CURRENT LANDSCAPE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4" name="Text 27"/>
          <p:cNvSpPr/>
          <p:nvPr/>
        </p:nvSpPr>
        <p:spPr>
          <a:xfrm>
            <a:off x="1158840" y="4302000"/>
            <a:ext cx="22381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2024-2025 Market Status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85" name="Shape 28"/>
          <p:cNvSpPr/>
          <p:nvPr/>
        </p:nvSpPr>
        <p:spPr>
          <a:xfrm>
            <a:off x="6199200" y="3833640"/>
            <a:ext cx="5651280" cy="8726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6" name="Shape 29"/>
          <p:cNvSpPr/>
          <p:nvPr/>
        </p:nvSpPr>
        <p:spPr>
          <a:xfrm>
            <a:off x="6405480" y="4040280"/>
            <a:ext cx="460080" cy="4600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Text 30"/>
          <p:cNvSpPr/>
          <p:nvPr/>
        </p:nvSpPr>
        <p:spPr>
          <a:xfrm>
            <a:off x="6322320" y="4016520"/>
            <a:ext cx="53136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06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8" name="Text 31"/>
          <p:cNvSpPr/>
          <p:nvPr/>
        </p:nvSpPr>
        <p:spPr>
          <a:xfrm>
            <a:off x="7016760" y="4016520"/>
            <a:ext cx="26031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9" name="Text 32"/>
          <p:cNvSpPr/>
          <p:nvPr/>
        </p:nvSpPr>
        <p:spPr>
          <a:xfrm>
            <a:off x="7016760" y="4302000"/>
            <a:ext cx="25794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Wall Street Embraces Bitcoin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0" name="Shape 33"/>
          <p:cNvSpPr/>
          <p:nvPr/>
        </p:nvSpPr>
        <p:spPr>
          <a:xfrm>
            <a:off x="341280" y="4913280"/>
            <a:ext cx="5651280" cy="8726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1" name="Shape 34"/>
          <p:cNvSpPr/>
          <p:nvPr/>
        </p:nvSpPr>
        <p:spPr>
          <a:xfrm>
            <a:off x="547560" y="5119560"/>
            <a:ext cx="460080" cy="4600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35"/>
          <p:cNvSpPr/>
          <p:nvPr/>
        </p:nvSpPr>
        <p:spPr>
          <a:xfrm>
            <a:off x="464400" y="5095800"/>
            <a:ext cx="53136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07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3" name="Text 36"/>
          <p:cNvSpPr/>
          <p:nvPr/>
        </p:nvSpPr>
        <p:spPr>
          <a:xfrm>
            <a:off x="1158840" y="5095800"/>
            <a:ext cx="20077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ECONOMICS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" name="Text 37"/>
          <p:cNvSpPr/>
          <p:nvPr/>
        </p:nvSpPr>
        <p:spPr>
          <a:xfrm>
            <a:off x="1158840" y="5381640"/>
            <a:ext cx="19839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Backbone of Security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5" name="Shape 38"/>
          <p:cNvSpPr/>
          <p:nvPr/>
        </p:nvSpPr>
        <p:spPr>
          <a:xfrm>
            <a:off x="6199200" y="4913280"/>
            <a:ext cx="5651280" cy="8726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6" name="Shape 39"/>
          <p:cNvSpPr/>
          <p:nvPr/>
        </p:nvSpPr>
        <p:spPr>
          <a:xfrm>
            <a:off x="6405480" y="5119560"/>
            <a:ext cx="460080" cy="4600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Text 40"/>
          <p:cNvSpPr/>
          <p:nvPr/>
        </p:nvSpPr>
        <p:spPr>
          <a:xfrm>
            <a:off x="6322320" y="5095800"/>
            <a:ext cx="53136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08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8" name="Text 41"/>
          <p:cNvSpPr/>
          <p:nvPr/>
        </p:nvSpPr>
        <p:spPr>
          <a:xfrm>
            <a:off x="7016760" y="5095800"/>
            <a:ext cx="21981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DIGITAL GOLD THESIS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9" name="Text 42"/>
          <p:cNvSpPr/>
          <p:nvPr/>
        </p:nvSpPr>
        <p:spPr>
          <a:xfrm>
            <a:off x="7016760" y="5381640"/>
            <a:ext cx="21744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Store of Value Debate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0" name="Shape 43"/>
          <p:cNvSpPr/>
          <p:nvPr/>
        </p:nvSpPr>
        <p:spPr>
          <a:xfrm>
            <a:off x="341280" y="5992920"/>
            <a:ext cx="5651280" cy="8726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" name="Shape 44"/>
          <p:cNvSpPr/>
          <p:nvPr/>
        </p:nvSpPr>
        <p:spPr>
          <a:xfrm>
            <a:off x="547560" y="6199200"/>
            <a:ext cx="460080" cy="4600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Text 45"/>
          <p:cNvSpPr/>
          <p:nvPr/>
        </p:nvSpPr>
        <p:spPr>
          <a:xfrm>
            <a:off x="464400" y="6175440"/>
            <a:ext cx="53136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09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03" name="Text 46"/>
          <p:cNvSpPr/>
          <p:nvPr/>
        </p:nvSpPr>
        <p:spPr>
          <a:xfrm>
            <a:off x="1158840" y="6175440"/>
            <a:ext cx="21189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SCALING SOLUTIONS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4" name="Text 47"/>
          <p:cNvSpPr/>
          <p:nvPr/>
        </p:nvSpPr>
        <p:spPr>
          <a:xfrm>
            <a:off x="1158840" y="6461280"/>
            <a:ext cx="20952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&amp; Layer 2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5" name="Shape 48"/>
          <p:cNvSpPr/>
          <p:nvPr/>
        </p:nvSpPr>
        <p:spPr>
          <a:xfrm>
            <a:off x="6199200" y="5992920"/>
            <a:ext cx="5651280" cy="8726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6" name="Shape 49"/>
          <p:cNvSpPr/>
          <p:nvPr/>
        </p:nvSpPr>
        <p:spPr>
          <a:xfrm>
            <a:off x="6405480" y="6199200"/>
            <a:ext cx="460080" cy="4600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Text 50"/>
          <p:cNvSpPr/>
          <p:nvPr/>
        </p:nvSpPr>
        <p:spPr>
          <a:xfrm>
            <a:off x="6322320" y="6175440"/>
            <a:ext cx="53136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10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08" name="Text 51"/>
          <p:cNvSpPr/>
          <p:nvPr/>
        </p:nvSpPr>
        <p:spPr>
          <a:xfrm>
            <a:off x="7016760" y="6175440"/>
            <a:ext cx="22302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&amp; RISKS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9" name="Text 52"/>
          <p:cNvSpPr/>
          <p:nvPr/>
        </p:nvSpPr>
        <p:spPr>
          <a:xfrm>
            <a:off x="7016760" y="6461280"/>
            <a:ext cx="22064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Road Ahead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10" name="Shape 53"/>
          <p:cNvSpPr/>
          <p:nvPr/>
        </p:nvSpPr>
        <p:spPr>
          <a:xfrm>
            <a:off x="341280" y="7072200"/>
            <a:ext cx="5651280" cy="8726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1" name="Shape 54"/>
          <p:cNvSpPr/>
          <p:nvPr/>
        </p:nvSpPr>
        <p:spPr>
          <a:xfrm>
            <a:off x="547560" y="7278840"/>
            <a:ext cx="460080" cy="4600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Text 55"/>
          <p:cNvSpPr/>
          <p:nvPr/>
        </p:nvSpPr>
        <p:spPr>
          <a:xfrm>
            <a:off x="464400" y="7254720"/>
            <a:ext cx="53136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11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13" name="Text 56"/>
          <p:cNvSpPr/>
          <p:nvPr/>
        </p:nvSpPr>
        <p:spPr>
          <a:xfrm>
            <a:off x="1158840" y="7254720"/>
            <a:ext cx="18727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FUTURE OUTLOOK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14" name="Text 57"/>
          <p:cNvSpPr/>
          <p:nvPr/>
        </p:nvSpPr>
        <p:spPr>
          <a:xfrm>
            <a:off x="1158840" y="7540560"/>
            <a:ext cx="18489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Predictions &amp; Scenarios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15" name="Shape 58"/>
          <p:cNvSpPr/>
          <p:nvPr/>
        </p:nvSpPr>
        <p:spPr>
          <a:xfrm>
            <a:off x="6199200" y="7072200"/>
            <a:ext cx="5651280" cy="8726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6" name="Shape 59"/>
          <p:cNvSpPr/>
          <p:nvPr/>
        </p:nvSpPr>
        <p:spPr>
          <a:xfrm>
            <a:off x="6405480" y="7278840"/>
            <a:ext cx="460080" cy="4600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Text 60"/>
          <p:cNvSpPr/>
          <p:nvPr/>
        </p:nvSpPr>
        <p:spPr>
          <a:xfrm>
            <a:off x="6322320" y="7254720"/>
            <a:ext cx="53136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12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18" name="Text 61"/>
          <p:cNvSpPr/>
          <p:nvPr/>
        </p:nvSpPr>
        <p:spPr>
          <a:xfrm>
            <a:off x="7016760" y="7254720"/>
            <a:ext cx="13726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CONCLUSION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19" name="Text 62"/>
          <p:cNvSpPr/>
          <p:nvPr/>
        </p:nvSpPr>
        <p:spPr>
          <a:xfrm>
            <a:off x="7016760" y="7540560"/>
            <a:ext cx="134892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Path Forward</a:t>
            </a:r>
            <a:endParaRPr b="0" lang="en-HK" sz="113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Image 0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Shape 0"/>
          <p:cNvSpPr/>
          <p:nvPr/>
        </p:nvSpPr>
        <p:spPr>
          <a:xfrm>
            <a:off x="0" y="0"/>
            <a:ext cx="12191760" cy="68576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Shape 1"/>
          <p:cNvSpPr/>
          <p:nvPr/>
        </p:nvSpPr>
        <p:spPr>
          <a:xfrm>
            <a:off x="409680" y="781200"/>
            <a:ext cx="8476920" cy="396216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3" name="Shape 2"/>
          <p:cNvSpPr/>
          <p:nvPr/>
        </p:nvSpPr>
        <p:spPr>
          <a:xfrm>
            <a:off x="923760" y="1295280"/>
            <a:ext cx="856800" cy="8568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3"/>
          <p:cNvSpPr/>
          <p:nvPr/>
        </p:nvSpPr>
        <p:spPr>
          <a:xfrm>
            <a:off x="781200" y="1266840"/>
            <a:ext cx="102852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i="1" lang="en-US" sz="3600" spc="-1" strike="noStrike">
                <a:solidFill>
                  <a:srgbClr val="00008b"/>
                </a:solidFill>
                <a:latin typeface="Noto Sans SC"/>
                <a:ea typeface="Noto Sans SC"/>
              </a:rPr>
              <a:t>01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2038320" y="1266840"/>
            <a:ext cx="75960" cy="9140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Text 5"/>
          <p:cNvSpPr/>
          <p:nvPr/>
        </p:nvSpPr>
        <p:spPr>
          <a:xfrm>
            <a:off x="895320" y="2486160"/>
            <a:ext cx="7848360" cy="8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GENESIS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27" name="Shape 6"/>
          <p:cNvSpPr/>
          <p:nvPr/>
        </p:nvSpPr>
        <p:spPr>
          <a:xfrm>
            <a:off x="895320" y="3571920"/>
            <a:ext cx="1828440" cy="759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Text 7"/>
          <p:cNvSpPr/>
          <p:nvPr/>
        </p:nvSpPr>
        <p:spPr>
          <a:xfrm>
            <a:off x="895320" y="3876840"/>
            <a:ext cx="76766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5b277d"/>
                </a:solidFill>
                <a:latin typeface="Noto Sans SC"/>
                <a:ea typeface="Noto Sans SC"/>
              </a:rPr>
              <a:t>Bitcoin's Origin Story</a:t>
            </a:r>
            <a:endParaRPr b="0" lang="en-HK" sz="2700" spc="-1" strike="noStrike">
              <a:solidFill>
                <a:srgbClr val="5b277d"/>
              </a:solidFill>
              <a:latin typeface="Arial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409680" y="5257800"/>
            <a:ext cx="11372400" cy="81864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9"/>
          <p:cNvSpPr/>
          <p:nvPr/>
        </p:nvSpPr>
        <p:spPr>
          <a:xfrm>
            <a:off x="666720" y="5514840"/>
            <a:ext cx="109724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i="1" lang="en-US" sz="1800" spc="-1" strike="noStrike">
                <a:solidFill>
                  <a:srgbClr val="5b277d"/>
                </a:solidFill>
                <a:latin typeface="Noto Sans SC"/>
                <a:ea typeface="Noto Sans SC"/>
              </a:rPr>
              <a:t>▶ </a:t>
            </a:r>
            <a:r>
              <a:rPr b="1" i="1" lang="en-US" sz="1800" spc="-1" strike="noStrike">
                <a:solidFill>
                  <a:srgbClr val="5b277d"/>
                </a:solidFill>
                <a:latin typeface="Noto Sans SC"/>
                <a:ea typeface="Noto Sans SC"/>
              </a:rPr>
              <a:t>From Cypherpunk Vision to Financial Revolution</a:t>
            </a:r>
            <a:endParaRPr b="0" lang="en-HK" sz="1800" spc="-1" strike="noStrike">
              <a:solidFill>
                <a:srgbClr val="5b277d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0"/>
          <p:cNvSpPr/>
          <p:nvPr/>
        </p:nvSpPr>
        <p:spPr>
          <a:xfrm>
            <a:off x="341280" y="341280"/>
            <a:ext cx="11508840" cy="999720"/>
          </a:xfrm>
          <a:custGeom>
            <a:avLst/>
            <a:gdLst/>
            <a:ah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Text 1"/>
          <p:cNvSpPr/>
          <p:nvPr/>
        </p:nvSpPr>
        <p:spPr>
          <a:xfrm>
            <a:off x="555480" y="555480"/>
            <a:ext cx="112708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0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BIRTH OF BITCOIN: 2008-2009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555480" y="1063800"/>
            <a:ext cx="761760" cy="630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Shape 3"/>
          <p:cNvSpPr/>
          <p:nvPr/>
        </p:nvSpPr>
        <p:spPr>
          <a:xfrm>
            <a:off x="341280" y="1547640"/>
            <a:ext cx="8270640" cy="1848960"/>
          </a:xfrm>
          <a:custGeom>
            <a:avLst/>
            <a:gdLst/>
            <a:ahLst/>
            <a:rect l="l" t="t" r="r" b="b"/>
            <a:pathLst>
              <a:path w="8270875" h="1849438">
                <a:moveTo>
                  <a:pt x="0" y="0"/>
                </a:moveTo>
                <a:lnTo>
                  <a:pt x="8270875" y="0"/>
                </a:lnTo>
                <a:lnTo>
                  <a:pt x="8270875" y="1849438"/>
                </a:lnTo>
                <a:lnTo>
                  <a:pt x="0" y="1849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5" name="Shape 4"/>
          <p:cNvSpPr/>
          <p:nvPr/>
        </p:nvSpPr>
        <p:spPr>
          <a:xfrm>
            <a:off x="547560" y="1754280"/>
            <a:ext cx="333000" cy="33300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Text 5"/>
          <p:cNvSpPr/>
          <p:nvPr/>
        </p:nvSpPr>
        <p:spPr>
          <a:xfrm>
            <a:off x="484200" y="1730520"/>
            <a:ext cx="3646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1031760" y="1730520"/>
            <a:ext cx="16189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October 31, 2008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523800" y="2206800"/>
            <a:ext cx="7976880" cy="4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Satoshi Nakamoto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publishes the Bitcoin whitepaper: "Bitcoin: A Peer-to-Peer Electronic Cash System" to the cypherpunk mailing list.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39" name="Shape 8"/>
          <p:cNvSpPr/>
          <p:nvPr/>
        </p:nvSpPr>
        <p:spPr>
          <a:xfrm>
            <a:off x="539640" y="2782080"/>
            <a:ext cx="7873560" cy="412560"/>
          </a:xfrm>
          <a:custGeom>
            <a:avLst/>
            <a:gdLst/>
            <a:ah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Text 9"/>
          <p:cNvSpPr/>
          <p:nvPr/>
        </p:nvSpPr>
        <p:spPr>
          <a:xfrm>
            <a:off x="650880" y="2893320"/>
            <a:ext cx="7714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Core Innovation: Decentralized digital currency without trusted third parties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41" name="Shape 10"/>
          <p:cNvSpPr/>
          <p:nvPr/>
        </p:nvSpPr>
        <p:spPr>
          <a:xfrm>
            <a:off x="341280" y="3567960"/>
            <a:ext cx="8270640" cy="1611000"/>
          </a:xfrm>
          <a:custGeom>
            <a:avLst/>
            <a:gdLst/>
            <a:ahLst/>
            <a:rect l="l" t="t" r="r" b="b"/>
            <a:pathLst>
              <a:path w="8270875" h="1611313">
                <a:moveTo>
                  <a:pt x="0" y="0"/>
                </a:moveTo>
                <a:lnTo>
                  <a:pt x="8270875" y="0"/>
                </a:lnTo>
                <a:lnTo>
                  <a:pt x="8270875" y="1611313"/>
                </a:lnTo>
                <a:lnTo>
                  <a:pt x="0" y="16113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2" name="Shape 11"/>
          <p:cNvSpPr/>
          <p:nvPr/>
        </p:nvSpPr>
        <p:spPr>
          <a:xfrm>
            <a:off x="547560" y="3774240"/>
            <a:ext cx="333000" cy="33300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12"/>
          <p:cNvSpPr/>
          <p:nvPr/>
        </p:nvSpPr>
        <p:spPr>
          <a:xfrm>
            <a:off x="484200" y="3750480"/>
            <a:ext cx="3646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031760" y="3750480"/>
            <a:ext cx="15156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3, 2009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523800" y="4226760"/>
            <a:ext cx="797688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Genesis Block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is mined, marking Bitcoin network's official launch. Embedded message references bank bailouts.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46" name="Shape 15"/>
          <p:cNvSpPr/>
          <p:nvPr/>
        </p:nvSpPr>
        <p:spPr>
          <a:xfrm>
            <a:off x="539640" y="4569840"/>
            <a:ext cx="7873560" cy="412560"/>
          </a:xfrm>
          <a:custGeom>
            <a:avLst/>
            <a:gdLst/>
            <a:ah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6"/>
          <p:cNvSpPr/>
          <p:nvPr/>
        </p:nvSpPr>
        <p:spPr>
          <a:xfrm>
            <a:off x="650880" y="4681080"/>
            <a:ext cx="7714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"The Times 03/Jan/2009 Chancellor on brink of second bailout for banks"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48" name="Shape 17"/>
          <p:cNvSpPr/>
          <p:nvPr/>
        </p:nvSpPr>
        <p:spPr>
          <a:xfrm>
            <a:off x="341280" y="5355720"/>
            <a:ext cx="8270640" cy="1071360"/>
          </a:xfrm>
          <a:custGeom>
            <a:avLst/>
            <a:gdLst/>
            <a:ahLst/>
            <a:rect l="l" t="t" r="r" b="b"/>
            <a:pathLst>
              <a:path w="8270875" h="1071563">
                <a:moveTo>
                  <a:pt x="0" y="0"/>
                </a:moveTo>
                <a:lnTo>
                  <a:pt x="8270875" y="0"/>
                </a:lnTo>
                <a:lnTo>
                  <a:pt x="8270875" y="1071563"/>
                </a:lnTo>
                <a:lnTo>
                  <a:pt x="0" y="107156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9" name="Shape 18"/>
          <p:cNvSpPr/>
          <p:nvPr/>
        </p:nvSpPr>
        <p:spPr>
          <a:xfrm>
            <a:off x="547560" y="5562360"/>
            <a:ext cx="333000" cy="33300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Text 19"/>
          <p:cNvSpPr/>
          <p:nvPr/>
        </p:nvSpPr>
        <p:spPr>
          <a:xfrm>
            <a:off x="484200" y="5538240"/>
            <a:ext cx="3646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1031760" y="5538240"/>
            <a:ext cx="16189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12, 2009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2" name="Text 21"/>
          <p:cNvSpPr/>
          <p:nvPr/>
        </p:nvSpPr>
        <p:spPr>
          <a:xfrm>
            <a:off x="523800" y="6014520"/>
            <a:ext cx="797688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First Bitcoin transaction: Satoshi sends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10 BTC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to computer scientist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Hal Finney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, validating the system works.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53" name="Shape 22"/>
          <p:cNvSpPr/>
          <p:nvPr/>
        </p:nvSpPr>
        <p:spPr>
          <a:xfrm>
            <a:off x="8850240" y="1547640"/>
            <a:ext cx="2999880" cy="3507840"/>
          </a:xfrm>
          <a:custGeom>
            <a:avLst/>
            <a:gdLst/>
            <a:ahLst/>
            <a:rect l="l" t="t" r="r" b="b"/>
            <a:pathLst>
              <a:path w="3000375" h="3508375">
                <a:moveTo>
                  <a:pt x="0" y="0"/>
                </a:moveTo>
                <a:lnTo>
                  <a:pt x="3000375" y="0"/>
                </a:lnTo>
                <a:lnTo>
                  <a:pt x="3000375" y="3508375"/>
                </a:lnTo>
                <a:lnTo>
                  <a:pt x="0" y="3508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4" name="Text 23"/>
          <p:cNvSpPr/>
          <p:nvPr/>
        </p:nvSpPr>
        <p:spPr>
          <a:xfrm>
            <a:off x="9032760" y="1730520"/>
            <a:ext cx="27302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MOTIVATION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5" name="Shape 24"/>
          <p:cNvSpPr/>
          <p:nvPr/>
        </p:nvSpPr>
        <p:spPr>
          <a:xfrm>
            <a:off x="9048600" y="2127240"/>
            <a:ext cx="2603160" cy="82512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6" name="Text 25"/>
          <p:cNvSpPr/>
          <p:nvPr/>
        </p:nvSpPr>
        <p:spPr>
          <a:xfrm>
            <a:off x="9159840" y="2238480"/>
            <a:ext cx="2444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2008 Financial Crisis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57" name="Text 26"/>
          <p:cNvSpPr/>
          <p:nvPr/>
        </p:nvSpPr>
        <p:spPr>
          <a:xfrm>
            <a:off x="9159840" y="2460600"/>
            <a:ext cx="24444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Bank failures, government bailouts, currency devaluation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58" name="Shape 27"/>
          <p:cNvSpPr/>
          <p:nvPr/>
        </p:nvSpPr>
        <p:spPr>
          <a:xfrm>
            <a:off x="9048600" y="3079800"/>
            <a:ext cx="2603160" cy="82512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28"/>
          <p:cNvSpPr/>
          <p:nvPr/>
        </p:nvSpPr>
        <p:spPr>
          <a:xfrm>
            <a:off x="9159840" y="3191040"/>
            <a:ext cx="2444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Cypherpunk Philosophy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0" name="Text 29"/>
          <p:cNvSpPr/>
          <p:nvPr/>
        </p:nvSpPr>
        <p:spPr>
          <a:xfrm>
            <a:off x="9159840" y="3413160"/>
            <a:ext cx="24444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Privacy, decentralization, mathematical trust over institutional trust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1" name="Shape 30"/>
          <p:cNvSpPr/>
          <p:nvPr/>
        </p:nvSpPr>
        <p:spPr>
          <a:xfrm>
            <a:off x="9048600" y="4032360"/>
            <a:ext cx="2603160" cy="82512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Text 31"/>
          <p:cNvSpPr/>
          <p:nvPr/>
        </p:nvSpPr>
        <p:spPr>
          <a:xfrm>
            <a:off x="9159840" y="4143240"/>
            <a:ext cx="2444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Double-Spending Problem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3" name="Text 32"/>
          <p:cNvSpPr/>
          <p:nvPr/>
        </p:nvSpPr>
        <p:spPr>
          <a:xfrm>
            <a:off x="9159840" y="4365720"/>
            <a:ext cx="24444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digital currency to solve this without central authority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4" name="Shape 33"/>
          <p:cNvSpPr/>
          <p:nvPr/>
        </p:nvSpPr>
        <p:spPr>
          <a:xfrm>
            <a:off x="8850240" y="5230800"/>
            <a:ext cx="2999880" cy="3476160"/>
          </a:xfrm>
          <a:custGeom>
            <a:avLst/>
            <a:gdLst/>
            <a:ahLst/>
            <a:rect l="l" t="t" r="r" b="b"/>
            <a:pathLst>
              <a:path w="3000375" h="3476625">
                <a:moveTo>
                  <a:pt x="0" y="0"/>
                </a:moveTo>
                <a:lnTo>
                  <a:pt x="3000375" y="0"/>
                </a:lnTo>
                <a:lnTo>
                  <a:pt x="3000375" y="3476625"/>
                </a:lnTo>
                <a:lnTo>
                  <a:pt x="0" y="3476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5" name="Text 34"/>
          <p:cNvSpPr/>
          <p:nvPr/>
        </p:nvSpPr>
        <p:spPr>
          <a:xfrm>
            <a:off x="9032760" y="5413320"/>
            <a:ext cx="27302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CORE PRINCIPLES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66" name="Shape 35"/>
          <p:cNvSpPr/>
          <p:nvPr/>
        </p:nvSpPr>
        <p:spPr>
          <a:xfrm>
            <a:off x="9048600" y="5810400"/>
            <a:ext cx="2603160" cy="348840"/>
          </a:xfrm>
          <a:custGeom>
            <a:avLst/>
            <a:gdLst/>
            <a:ah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Shape 36"/>
          <p:cNvSpPr/>
          <p:nvPr/>
        </p:nvSpPr>
        <p:spPr>
          <a:xfrm>
            <a:off x="9128160" y="5937120"/>
            <a:ext cx="95040" cy="950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Text 37"/>
          <p:cNvSpPr/>
          <p:nvPr/>
        </p:nvSpPr>
        <p:spPr>
          <a:xfrm>
            <a:off x="9318600" y="5889600"/>
            <a:ext cx="1896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Fixed Supply: 21 Million Coins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9" name="Shape 38"/>
          <p:cNvSpPr/>
          <p:nvPr/>
        </p:nvSpPr>
        <p:spPr>
          <a:xfrm>
            <a:off x="9048600" y="6254640"/>
            <a:ext cx="2603160" cy="53928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Shape 39"/>
          <p:cNvSpPr/>
          <p:nvPr/>
        </p:nvSpPr>
        <p:spPr>
          <a:xfrm>
            <a:off x="9128160" y="6477120"/>
            <a:ext cx="87120" cy="95040"/>
          </a:xfrm>
          <a:custGeom>
            <a:avLst/>
            <a:gdLst/>
            <a:ah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Text 40"/>
          <p:cNvSpPr/>
          <p:nvPr/>
        </p:nvSpPr>
        <p:spPr>
          <a:xfrm>
            <a:off x="9309960" y="6334200"/>
            <a:ext cx="23252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Decentralized: No Single Point of Control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2" name="Shape 41"/>
          <p:cNvSpPr/>
          <p:nvPr/>
        </p:nvSpPr>
        <p:spPr>
          <a:xfrm>
            <a:off x="9048600" y="6889680"/>
            <a:ext cx="2603160" cy="348840"/>
          </a:xfrm>
          <a:custGeom>
            <a:avLst/>
            <a:gdLst/>
            <a:ah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Shape 42"/>
          <p:cNvSpPr/>
          <p:nvPr/>
        </p:nvSpPr>
        <p:spPr>
          <a:xfrm>
            <a:off x="9128160" y="7016760"/>
            <a:ext cx="95040" cy="950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Text 43"/>
          <p:cNvSpPr/>
          <p:nvPr/>
        </p:nvSpPr>
        <p:spPr>
          <a:xfrm>
            <a:off x="9318600" y="6969240"/>
            <a:ext cx="23014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Trustless: Cryptographic Verification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5" name="Shape 44"/>
          <p:cNvSpPr/>
          <p:nvPr/>
        </p:nvSpPr>
        <p:spPr>
          <a:xfrm>
            <a:off x="9048600" y="7334280"/>
            <a:ext cx="2603160" cy="53928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6" name="Shape 45"/>
          <p:cNvSpPr/>
          <p:nvPr/>
        </p:nvSpPr>
        <p:spPr>
          <a:xfrm>
            <a:off x="9128160" y="7556400"/>
            <a:ext cx="87120" cy="95040"/>
          </a:xfrm>
          <a:custGeom>
            <a:avLst/>
            <a:gdLst/>
            <a:ah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Text 46"/>
          <p:cNvSpPr/>
          <p:nvPr/>
        </p:nvSpPr>
        <p:spPr>
          <a:xfrm>
            <a:off x="9314280" y="7413480"/>
            <a:ext cx="23252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Transparent: Public Blockchain Ledger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8" name="Shape 47"/>
          <p:cNvSpPr/>
          <p:nvPr/>
        </p:nvSpPr>
        <p:spPr>
          <a:xfrm>
            <a:off x="9048600" y="7969320"/>
            <a:ext cx="2603160" cy="53928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Shape 48"/>
          <p:cNvSpPr/>
          <p:nvPr/>
        </p:nvSpPr>
        <p:spPr>
          <a:xfrm>
            <a:off x="9128160" y="8191440"/>
            <a:ext cx="78840" cy="95040"/>
          </a:xfrm>
          <a:custGeom>
            <a:avLst/>
            <a:gdLst/>
            <a:ahLst/>
            <a:rect l="l" t="t" r="r" b="b"/>
            <a:pathLst>
              <a:path w="79375" h="95250">
                <a:moveTo>
                  <a:pt x="0" y="0"/>
                </a:moveTo>
                <a:lnTo>
                  <a:pt x="79375" y="0"/>
                </a:lnTo>
                <a:lnTo>
                  <a:pt x="793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49"/>
          <p:cNvSpPr/>
          <p:nvPr/>
        </p:nvSpPr>
        <p:spPr>
          <a:xfrm>
            <a:off x="9301320" y="8048520"/>
            <a:ext cx="23331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Immutable: Transactions Cannot Be Reversed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d3d3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Image 0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Shape 0"/>
          <p:cNvSpPr/>
          <p:nvPr/>
        </p:nvSpPr>
        <p:spPr>
          <a:xfrm>
            <a:off x="0" y="0"/>
            <a:ext cx="12191760" cy="68576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Shape 1"/>
          <p:cNvSpPr/>
          <p:nvPr/>
        </p:nvSpPr>
        <p:spPr>
          <a:xfrm>
            <a:off x="3305160" y="352440"/>
            <a:ext cx="8476920" cy="481932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4" name="Shape 2"/>
          <p:cNvSpPr/>
          <p:nvPr/>
        </p:nvSpPr>
        <p:spPr>
          <a:xfrm>
            <a:off x="10077480" y="838080"/>
            <a:ext cx="75960" cy="9140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Shape 3"/>
          <p:cNvSpPr/>
          <p:nvPr/>
        </p:nvSpPr>
        <p:spPr>
          <a:xfrm>
            <a:off x="10410840" y="866880"/>
            <a:ext cx="856800" cy="8568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Text 4"/>
          <p:cNvSpPr/>
          <p:nvPr/>
        </p:nvSpPr>
        <p:spPr>
          <a:xfrm>
            <a:off x="10267920" y="838080"/>
            <a:ext cx="102852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3448080" y="2057400"/>
            <a:ext cx="7848360" cy="171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FOUNDATION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88" name="Shape 6"/>
          <p:cNvSpPr/>
          <p:nvPr/>
        </p:nvSpPr>
        <p:spPr>
          <a:xfrm>
            <a:off x="9468000" y="4000680"/>
            <a:ext cx="1828440" cy="759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Text 7"/>
          <p:cNvSpPr/>
          <p:nvPr/>
        </p:nvSpPr>
        <p:spPr>
          <a:xfrm>
            <a:off x="3619440" y="4305240"/>
            <a:ext cx="76766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How Bitcoin Works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90" name="Shape 8"/>
          <p:cNvSpPr/>
          <p:nvPr/>
        </p:nvSpPr>
        <p:spPr>
          <a:xfrm>
            <a:off x="5071320" y="5686560"/>
            <a:ext cx="6714720" cy="818640"/>
          </a:xfrm>
          <a:custGeom>
            <a:avLst/>
            <a:gdLst/>
            <a:ahLst/>
            <a:rect l="l" t="t" r="r" b="b"/>
            <a:pathLst>
              <a:path w="6715125" h="819150">
                <a:moveTo>
                  <a:pt x="0" y="0"/>
                </a:moveTo>
                <a:lnTo>
                  <a:pt x="6715125" y="0"/>
                </a:lnTo>
                <a:lnTo>
                  <a:pt x="671512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Text 9"/>
          <p:cNvSpPr/>
          <p:nvPr/>
        </p:nvSpPr>
        <p:spPr>
          <a:xfrm>
            <a:off x="5328720" y="5943600"/>
            <a:ext cx="63147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Proof of Work, Blockchain &amp; Decentralized Consensus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Shape 0"/>
          <p:cNvSpPr/>
          <p:nvPr/>
        </p:nvSpPr>
        <p:spPr>
          <a:xfrm>
            <a:off x="341280" y="341280"/>
            <a:ext cx="11508840" cy="999720"/>
          </a:xfrm>
          <a:custGeom>
            <a:avLst/>
            <a:gdLst/>
            <a:ah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Text 1"/>
          <p:cNvSpPr/>
          <p:nvPr/>
        </p:nvSpPr>
        <p:spPr>
          <a:xfrm>
            <a:off x="555480" y="555480"/>
            <a:ext cx="112708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000" spc="-1" strike="noStrike">
                <a:solidFill>
                  <a:srgbClr val="000000"/>
                </a:solidFill>
                <a:latin typeface="Noto Sans SC"/>
                <a:ea typeface="Noto Sans SC"/>
              </a:rPr>
              <a:t>BLOCKCHAIN &amp; PROOF OF WORK: THE SECURITY MODEL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94" name="Shape 2"/>
          <p:cNvSpPr/>
          <p:nvPr/>
        </p:nvSpPr>
        <p:spPr>
          <a:xfrm>
            <a:off x="555480" y="1063800"/>
            <a:ext cx="761760" cy="630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5" name="Shape 3"/>
          <p:cNvSpPr/>
          <p:nvPr/>
        </p:nvSpPr>
        <p:spPr>
          <a:xfrm>
            <a:off x="341280" y="1547640"/>
            <a:ext cx="8270640" cy="2071440"/>
          </a:xfrm>
          <a:custGeom>
            <a:avLst/>
            <a:gdLst/>
            <a:ahLst/>
            <a:rect l="l" t="t" r="r" b="b"/>
            <a:pathLst>
              <a:path w="8270875" h="2071688">
                <a:moveTo>
                  <a:pt x="0" y="0"/>
                </a:moveTo>
                <a:lnTo>
                  <a:pt x="8270875" y="0"/>
                </a:lnTo>
                <a:lnTo>
                  <a:pt x="8270875" y="2071688"/>
                </a:lnTo>
                <a:lnTo>
                  <a:pt x="0" y="20716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96" name="Text 4"/>
          <p:cNvSpPr/>
          <p:nvPr/>
        </p:nvSpPr>
        <p:spPr>
          <a:xfrm>
            <a:off x="523800" y="1730520"/>
            <a:ext cx="80006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BLOCKCHAIN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523800" y="2111400"/>
            <a:ext cx="7976880" cy="4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A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distributed ledger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recording all transactions across a network of computers. Each block contains a cryptographic hash of the previous block, creating an immutable chain.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98" name="Shape 6"/>
          <p:cNvSpPr/>
          <p:nvPr/>
        </p:nvSpPr>
        <p:spPr>
          <a:xfrm>
            <a:off x="539640" y="2718720"/>
            <a:ext cx="2539800" cy="69804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Text 7"/>
          <p:cNvSpPr/>
          <p:nvPr/>
        </p:nvSpPr>
        <p:spPr>
          <a:xfrm>
            <a:off x="591480" y="2829600"/>
            <a:ext cx="24364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880K+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0" name="Text 8"/>
          <p:cNvSpPr/>
          <p:nvPr/>
        </p:nvSpPr>
        <p:spPr>
          <a:xfrm>
            <a:off x="623160" y="3147120"/>
            <a:ext cx="23731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Blocks Mined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1" name="Shape 9"/>
          <p:cNvSpPr/>
          <p:nvPr/>
        </p:nvSpPr>
        <p:spPr>
          <a:xfrm>
            <a:off x="3206880" y="2718720"/>
            <a:ext cx="2539800" cy="69804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2" name="Text 10"/>
          <p:cNvSpPr/>
          <p:nvPr/>
        </p:nvSpPr>
        <p:spPr>
          <a:xfrm>
            <a:off x="3258360" y="2829600"/>
            <a:ext cx="24364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~10min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3" name="Text 11"/>
          <p:cNvSpPr/>
          <p:nvPr/>
        </p:nvSpPr>
        <p:spPr>
          <a:xfrm>
            <a:off x="3290040" y="3147120"/>
            <a:ext cx="23731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4" name="Shape 12"/>
          <p:cNvSpPr/>
          <p:nvPr/>
        </p:nvSpPr>
        <p:spPr>
          <a:xfrm>
            <a:off x="5873760" y="2718720"/>
            <a:ext cx="2539800" cy="69804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Text 13"/>
          <p:cNvSpPr/>
          <p:nvPr/>
        </p:nvSpPr>
        <p:spPr>
          <a:xfrm>
            <a:off x="5925240" y="2829600"/>
            <a:ext cx="24364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1.2B+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6" name="Text 14"/>
          <p:cNvSpPr/>
          <p:nvPr/>
        </p:nvSpPr>
        <p:spPr>
          <a:xfrm>
            <a:off x="5956920" y="3147120"/>
            <a:ext cx="23731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Transactions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7" name="Shape 15"/>
          <p:cNvSpPr/>
          <p:nvPr/>
        </p:nvSpPr>
        <p:spPr>
          <a:xfrm>
            <a:off x="341280" y="3790080"/>
            <a:ext cx="8270640" cy="2865240"/>
          </a:xfrm>
          <a:custGeom>
            <a:avLst/>
            <a:gdLst/>
            <a:ahLst/>
            <a:rect l="l" t="t" r="r" b="b"/>
            <a:pathLst>
              <a:path w="8270875" h="2865438">
                <a:moveTo>
                  <a:pt x="0" y="0"/>
                </a:moveTo>
                <a:lnTo>
                  <a:pt x="8270875" y="0"/>
                </a:lnTo>
                <a:lnTo>
                  <a:pt x="8270875" y="2865438"/>
                </a:lnTo>
                <a:lnTo>
                  <a:pt x="0" y="286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8" name="Text 16"/>
          <p:cNvSpPr/>
          <p:nvPr/>
        </p:nvSpPr>
        <p:spPr>
          <a:xfrm>
            <a:off x="523800" y="3972600"/>
            <a:ext cx="80006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PROOF OF WORK MECHANISM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09" name="Text 17"/>
          <p:cNvSpPr/>
          <p:nvPr/>
        </p:nvSpPr>
        <p:spPr>
          <a:xfrm>
            <a:off x="523800" y="4353840"/>
            <a:ext cx="7976880" cy="4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Miners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compete to solve cryptographic puzzles using SHA-256 hashing. The winner adds the next block and earns the block reward.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210" name="Shape 18"/>
          <p:cNvSpPr/>
          <p:nvPr/>
        </p:nvSpPr>
        <p:spPr>
          <a:xfrm>
            <a:off x="539640" y="4960800"/>
            <a:ext cx="7873560" cy="1491840"/>
          </a:xfrm>
          <a:custGeom>
            <a:avLst/>
            <a:gdLst/>
            <a:ahLst/>
            <a:rect l="l" t="t" r="r" b="b"/>
            <a:pathLst>
              <a:path w="7874000" h="1492250">
                <a:moveTo>
                  <a:pt x="0" y="0"/>
                </a:moveTo>
                <a:lnTo>
                  <a:pt x="7874000" y="0"/>
                </a:lnTo>
                <a:lnTo>
                  <a:pt x="7874000" y="1492250"/>
                </a:lnTo>
                <a:lnTo>
                  <a:pt x="0" y="1492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Text 19"/>
          <p:cNvSpPr/>
          <p:nvPr/>
        </p:nvSpPr>
        <p:spPr>
          <a:xfrm>
            <a:off x="682560" y="5103720"/>
            <a:ext cx="7651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Mining Process: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2" name="Text 20"/>
          <p:cNvSpPr/>
          <p:nvPr/>
        </p:nvSpPr>
        <p:spPr>
          <a:xfrm>
            <a:off x="682560" y="5357880"/>
            <a:ext cx="7651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1. Bundle transactions into a block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3" name="Text 21"/>
          <p:cNvSpPr/>
          <p:nvPr/>
        </p:nvSpPr>
        <p:spPr>
          <a:xfrm>
            <a:off x="682560" y="5611680"/>
            <a:ext cx="7651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2. Find nonce making block hash &lt; target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4" name="Text 22"/>
          <p:cNvSpPr/>
          <p:nvPr/>
        </p:nvSpPr>
        <p:spPr>
          <a:xfrm>
            <a:off x="682560" y="5865840"/>
            <a:ext cx="7651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3. First to solve broadcasts to network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5" name="Text 23"/>
          <p:cNvSpPr/>
          <p:nvPr/>
        </p:nvSpPr>
        <p:spPr>
          <a:xfrm>
            <a:off x="682560" y="6119640"/>
            <a:ext cx="7651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4. Other nodes verify and add to chain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6" name="Shape 24"/>
          <p:cNvSpPr/>
          <p:nvPr/>
        </p:nvSpPr>
        <p:spPr>
          <a:xfrm>
            <a:off x="8850240" y="1547640"/>
            <a:ext cx="2999880" cy="3698640"/>
          </a:xfrm>
          <a:custGeom>
            <a:avLst/>
            <a:gdLst/>
            <a:ahLst/>
            <a:rect l="l" t="t" r="r" b="b"/>
            <a:pathLst>
              <a:path w="3000375" h="3698875">
                <a:moveTo>
                  <a:pt x="0" y="0"/>
                </a:moveTo>
                <a:lnTo>
                  <a:pt x="3000375" y="0"/>
                </a:lnTo>
                <a:lnTo>
                  <a:pt x="3000375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7" name="Text 25"/>
          <p:cNvSpPr/>
          <p:nvPr/>
        </p:nvSpPr>
        <p:spPr>
          <a:xfrm>
            <a:off x="9032760" y="1730520"/>
            <a:ext cx="27302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NETWORK SECURITY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18" name="Shape 26"/>
          <p:cNvSpPr/>
          <p:nvPr/>
        </p:nvSpPr>
        <p:spPr>
          <a:xfrm>
            <a:off x="9048600" y="2127240"/>
            <a:ext cx="2603160" cy="88848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Text 27"/>
          <p:cNvSpPr/>
          <p:nvPr/>
        </p:nvSpPr>
        <p:spPr>
          <a:xfrm>
            <a:off x="9159840" y="2238480"/>
            <a:ext cx="2444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Hash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0" name="Text 28"/>
          <p:cNvSpPr/>
          <p:nvPr/>
        </p:nvSpPr>
        <p:spPr>
          <a:xfrm>
            <a:off x="9159840" y="2460600"/>
            <a:ext cx="24998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400M+ TH/s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1" name="Text 29"/>
          <p:cNvSpPr/>
          <p:nvPr/>
        </p:nvSpPr>
        <p:spPr>
          <a:xfrm>
            <a:off x="9159840" y="2746440"/>
            <a:ext cx="243648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Global computing power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22" name="Shape 30"/>
          <p:cNvSpPr/>
          <p:nvPr/>
        </p:nvSpPr>
        <p:spPr>
          <a:xfrm>
            <a:off x="9048600" y="3143160"/>
            <a:ext cx="2603160" cy="88848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Text 31"/>
          <p:cNvSpPr/>
          <p:nvPr/>
        </p:nvSpPr>
        <p:spPr>
          <a:xfrm>
            <a:off x="9159840" y="3254400"/>
            <a:ext cx="2444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Attack Cost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4" name="Text 32"/>
          <p:cNvSpPr/>
          <p:nvPr/>
        </p:nvSpPr>
        <p:spPr>
          <a:xfrm>
            <a:off x="9159840" y="3476520"/>
            <a:ext cx="24998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$10B+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5" name="Text 33"/>
          <p:cNvSpPr/>
          <p:nvPr/>
        </p:nvSpPr>
        <p:spPr>
          <a:xfrm>
            <a:off x="9159840" y="3762360"/>
            <a:ext cx="243648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For 1 hour 51% attack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26" name="Shape 34"/>
          <p:cNvSpPr/>
          <p:nvPr/>
        </p:nvSpPr>
        <p:spPr>
          <a:xfrm>
            <a:off x="9048600" y="4159080"/>
            <a:ext cx="2603160" cy="88848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Text 35"/>
          <p:cNvSpPr/>
          <p:nvPr/>
        </p:nvSpPr>
        <p:spPr>
          <a:xfrm>
            <a:off x="9159840" y="4270320"/>
            <a:ext cx="2444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Difficulty Adjustment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8" name="Text 36"/>
          <p:cNvSpPr/>
          <p:nvPr/>
        </p:nvSpPr>
        <p:spPr>
          <a:xfrm>
            <a:off x="9159840" y="4492800"/>
            <a:ext cx="24998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Every 2,016 Blocks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9" name="Text 37"/>
          <p:cNvSpPr/>
          <p:nvPr/>
        </p:nvSpPr>
        <p:spPr>
          <a:xfrm>
            <a:off x="9159840" y="4778280"/>
            <a:ext cx="243648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Maintains 10-min 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30" name="Shape 38"/>
          <p:cNvSpPr/>
          <p:nvPr/>
        </p:nvSpPr>
        <p:spPr>
          <a:xfrm>
            <a:off x="8850240" y="5421240"/>
            <a:ext cx="2999880" cy="2555640"/>
          </a:xfrm>
          <a:custGeom>
            <a:avLst/>
            <a:gdLst/>
            <a:ahLst/>
            <a:rect l="l" t="t" r="r" b="b"/>
            <a:pathLst>
              <a:path w="3000375" h="2555875">
                <a:moveTo>
                  <a:pt x="0" y="0"/>
                </a:moveTo>
                <a:lnTo>
                  <a:pt x="3000375" y="0"/>
                </a:lnTo>
                <a:lnTo>
                  <a:pt x="3000375" y="2555875"/>
                </a:lnTo>
                <a:lnTo>
                  <a:pt x="0" y="255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31" name="Text 39"/>
          <p:cNvSpPr/>
          <p:nvPr/>
        </p:nvSpPr>
        <p:spPr>
          <a:xfrm>
            <a:off x="9032760" y="5603760"/>
            <a:ext cx="27302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WHY IT 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32" name="Shape 40"/>
          <p:cNvSpPr/>
          <p:nvPr/>
        </p:nvSpPr>
        <p:spPr>
          <a:xfrm>
            <a:off x="9032760" y="6048360"/>
            <a:ext cx="63000" cy="6300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3" name="Text 41"/>
          <p:cNvSpPr/>
          <p:nvPr/>
        </p:nvSpPr>
        <p:spPr>
          <a:xfrm>
            <a:off x="9191520" y="5985000"/>
            <a:ext cx="25398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Energy as Security: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Massive electricity cost makes attacks economically irrational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4" name="Shape 42"/>
          <p:cNvSpPr/>
          <p:nvPr/>
        </p:nvSpPr>
        <p:spPr>
          <a:xfrm>
            <a:off x="9032760" y="6524640"/>
            <a:ext cx="63000" cy="6300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43"/>
          <p:cNvSpPr/>
          <p:nvPr/>
        </p:nvSpPr>
        <p:spPr>
          <a:xfrm>
            <a:off x="9191520" y="6461280"/>
            <a:ext cx="25398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Game Theory: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Miners earn more by following rules than attacking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6" name="Shape 44"/>
          <p:cNvSpPr/>
          <p:nvPr/>
        </p:nvSpPr>
        <p:spPr>
          <a:xfrm>
            <a:off x="9032760" y="7000920"/>
            <a:ext cx="63000" cy="6300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7" name="Text 45"/>
          <p:cNvSpPr/>
          <p:nvPr/>
        </p:nvSpPr>
        <p:spPr>
          <a:xfrm>
            <a:off x="9191520" y="6937200"/>
            <a:ext cx="25398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Decentralization: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Thousands of independent miners globally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8" name="Shape 46"/>
          <p:cNvSpPr/>
          <p:nvPr/>
        </p:nvSpPr>
        <p:spPr>
          <a:xfrm>
            <a:off x="9032760" y="7477200"/>
            <a:ext cx="63000" cy="6300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47"/>
          <p:cNvSpPr/>
          <p:nvPr/>
        </p:nvSpPr>
        <p:spPr>
          <a:xfrm>
            <a:off x="9191520" y="7413480"/>
            <a:ext cx="25398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Immutability: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Changing history requires redoing all subsequent work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Image 0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1" name="Shape 0"/>
          <p:cNvSpPr/>
          <p:nvPr/>
        </p:nvSpPr>
        <p:spPr>
          <a:xfrm>
            <a:off x="0" y="0"/>
            <a:ext cx="12191760" cy="68576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2" name="Shape 1"/>
          <p:cNvSpPr/>
          <p:nvPr/>
        </p:nvSpPr>
        <p:spPr>
          <a:xfrm>
            <a:off x="409680" y="352440"/>
            <a:ext cx="8476920" cy="481932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43" name="Shape 2"/>
          <p:cNvSpPr/>
          <p:nvPr/>
        </p:nvSpPr>
        <p:spPr>
          <a:xfrm>
            <a:off x="923760" y="866880"/>
            <a:ext cx="856800" cy="8568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Text 3"/>
          <p:cNvSpPr/>
          <p:nvPr/>
        </p:nvSpPr>
        <p:spPr>
          <a:xfrm>
            <a:off x="781200" y="838080"/>
            <a:ext cx="102852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2038320" y="838080"/>
            <a:ext cx="75960" cy="9140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Text 5"/>
          <p:cNvSpPr/>
          <p:nvPr/>
        </p:nvSpPr>
        <p:spPr>
          <a:xfrm>
            <a:off x="895320" y="2057400"/>
            <a:ext cx="7848360" cy="171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HISTORICAL EVOLUTION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247" name="Shape 6"/>
          <p:cNvSpPr/>
          <p:nvPr/>
        </p:nvSpPr>
        <p:spPr>
          <a:xfrm>
            <a:off x="895320" y="4000680"/>
            <a:ext cx="1828440" cy="759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Text 7"/>
          <p:cNvSpPr/>
          <p:nvPr/>
        </p:nvSpPr>
        <p:spPr>
          <a:xfrm>
            <a:off x="895320" y="4305240"/>
            <a:ext cx="76766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Cypherpunk Dream to Global Asset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9" name="Shape 8"/>
          <p:cNvSpPr/>
          <p:nvPr/>
        </p:nvSpPr>
        <p:spPr>
          <a:xfrm>
            <a:off x="409680" y="5686560"/>
            <a:ext cx="11372400" cy="81864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Text 9"/>
          <p:cNvSpPr/>
          <p:nvPr/>
        </p:nvSpPr>
        <p:spPr>
          <a:xfrm>
            <a:off x="666720" y="5943600"/>
            <a:ext cx="109724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15 Years of Price Discovery, Crashes &amp; Resilience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341280" y="341280"/>
            <a:ext cx="11508840" cy="84096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Text 1"/>
          <p:cNvSpPr/>
          <p:nvPr/>
        </p:nvSpPr>
        <p:spPr>
          <a:xfrm>
            <a:off x="523800" y="523800"/>
            <a:ext cx="112867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JOURNEY: KEY MILESTONES 2009-2024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53" name="Shape 2"/>
          <p:cNvSpPr/>
          <p:nvPr/>
        </p:nvSpPr>
        <p:spPr>
          <a:xfrm>
            <a:off x="523800" y="936720"/>
            <a:ext cx="761760" cy="630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4" name="Shape 3"/>
          <p:cNvSpPr/>
          <p:nvPr/>
        </p:nvSpPr>
        <p:spPr>
          <a:xfrm>
            <a:off x="341280" y="1357200"/>
            <a:ext cx="2769840" cy="15951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5" name="Shape 4"/>
          <p:cNvSpPr/>
          <p:nvPr/>
        </p:nvSpPr>
        <p:spPr>
          <a:xfrm>
            <a:off x="476280" y="1492200"/>
            <a:ext cx="2499840" cy="3805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Text 5"/>
          <p:cNvSpPr/>
          <p:nvPr/>
        </p:nvSpPr>
        <p:spPr>
          <a:xfrm>
            <a:off x="555480" y="1571760"/>
            <a:ext cx="24206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2009-2010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57" name="Text 6"/>
          <p:cNvSpPr/>
          <p:nvPr/>
        </p:nvSpPr>
        <p:spPr>
          <a:xfrm>
            <a:off x="460440" y="1952640"/>
            <a:ext cx="259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BEGINNING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58" name="Text 7"/>
          <p:cNvSpPr/>
          <p:nvPr/>
        </p:nvSpPr>
        <p:spPr>
          <a:xfrm>
            <a:off x="460440" y="2174760"/>
            <a:ext cx="258732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real-world transaction: 10,000 BTC for two pizzas at $0.003/BTC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59" name="Shape 8"/>
          <p:cNvSpPr/>
          <p:nvPr/>
        </p:nvSpPr>
        <p:spPr>
          <a:xfrm>
            <a:off x="476280" y="2532240"/>
            <a:ext cx="2499840" cy="2854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0" name="Text 9"/>
          <p:cNvSpPr/>
          <p:nvPr/>
        </p:nvSpPr>
        <p:spPr>
          <a:xfrm>
            <a:off x="555480" y="2611440"/>
            <a:ext cx="238896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$0.003 → $0.30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61" name="Shape 10"/>
          <p:cNvSpPr/>
          <p:nvPr/>
        </p:nvSpPr>
        <p:spPr>
          <a:xfrm>
            <a:off x="3254400" y="1357200"/>
            <a:ext cx="2769840" cy="15951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2" name="Shape 11"/>
          <p:cNvSpPr/>
          <p:nvPr/>
        </p:nvSpPr>
        <p:spPr>
          <a:xfrm>
            <a:off x="3389400" y="1492200"/>
            <a:ext cx="2499840" cy="3805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3" name="Text 12"/>
          <p:cNvSpPr/>
          <p:nvPr/>
        </p:nvSpPr>
        <p:spPr>
          <a:xfrm>
            <a:off x="3468600" y="1571760"/>
            <a:ext cx="24206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2011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64" name="Text 13"/>
          <p:cNvSpPr/>
          <p:nvPr/>
        </p:nvSpPr>
        <p:spPr>
          <a:xfrm>
            <a:off x="3373560" y="1952640"/>
            <a:ext cx="259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BUBBLE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65" name="Text 14"/>
          <p:cNvSpPr/>
          <p:nvPr/>
        </p:nvSpPr>
        <p:spPr>
          <a:xfrm>
            <a:off x="3373560" y="2174760"/>
            <a:ext cx="258732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Price spikes to $31, then crashes to $2. Media declares Bitcoin dead.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66" name="Shape 15"/>
          <p:cNvSpPr/>
          <p:nvPr/>
        </p:nvSpPr>
        <p:spPr>
          <a:xfrm>
            <a:off x="3389400" y="2532240"/>
            <a:ext cx="2499840" cy="2854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7" name="Text 16"/>
          <p:cNvSpPr/>
          <p:nvPr/>
        </p:nvSpPr>
        <p:spPr>
          <a:xfrm>
            <a:off x="3468600" y="2611440"/>
            <a:ext cx="238896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$31 | Crash: -94%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68" name="Shape 17"/>
          <p:cNvSpPr/>
          <p:nvPr/>
        </p:nvSpPr>
        <p:spPr>
          <a:xfrm>
            <a:off x="6167520" y="1357200"/>
            <a:ext cx="2769840" cy="15951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9" name="Shape 18"/>
          <p:cNvSpPr/>
          <p:nvPr/>
        </p:nvSpPr>
        <p:spPr>
          <a:xfrm>
            <a:off x="6302520" y="1492200"/>
            <a:ext cx="2499840" cy="3805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Text 19"/>
          <p:cNvSpPr/>
          <p:nvPr/>
        </p:nvSpPr>
        <p:spPr>
          <a:xfrm>
            <a:off x="6381720" y="1571760"/>
            <a:ext cx="24206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71" name="Text 20"/>
          <p:cNvSpPr/>
          <p:nvPr/>
        </p:nvSpPr>
        <p:spPr>
          <a:xfrm>
            <a:off x="6286680" y="1952640"/>
            <a:ext cx="259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72" name="Text 21"/>
          <p:cNvSpPr/>
          <p:nvPr/>
        </p:nvSpPr>
        <p:spPr>
          <a:xfrm>
            <a:off x="6286680" y="2174760"/>
            <a:ext cx="258732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from 50 to 25 BTC. Sets stage for next bull run.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73" name="Shape 22"/>
          <p:cNvSpPr/>
          <p:nvPr/>
        </p:nvSpPr>
        <p:spPr>
          <a:xfrm>
            <a:off x="6302520" y="2532240"/>
            <a:ext cx="2499840" cy="2854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Text 23"/>
          <p:cNvSpPr/>
          <p:nvPr/>
        </p:nvSpPr>
        <p:spPr>
          <a:xfrm>
            <a:off x="6381720" y="2611440"/>
            <a:ext cx="238896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$12 → $13.50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75" name="Shape 24"/>
          <p:cNvSpPr/>
          <p:nvPr/>
        </p:nvSpPr>
        <p:spPr>
          <a:xfrm>
            <a:off x="9080640" y="1357200"/>
            <a:ext cx="2769840" cy="15951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6" name="Shape 25"/>
          <p:cNvSpPr/>
          <p:nvPr/>
        </p:nvSpPr>
        <p:spPr>
          <a:xfrm>
            <a:off x="9215280" y="1492200"/>
            <a:ext cx="2499840" cy="3805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Text 26"/>
          <p:cNvSpPr/>
          <p:nvPr/>
        </p:nvSpPr>
        <p:spPr>
          <a:xfrm>
            <a:off x="9294840" y="1571760"/>
            <a:ext cx="24206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2013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78" name="Text 27"/>
          <p:cNvSpPr/>
          <p:nvPr/>
        </p:nvSpPr>
        <p:spPr>
          <a:xfrm>
            <a:off x="9199440" y="1952640"/>
            <a:ext cx="259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$1,000 MILESTONE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79" name="Text 28"/>
          <p:cNvSpPr/>
          <p:nvPr/>
        </p:nvSpPr>
        <p:spPr>
          <a:xfrm>
            <a:off x="9199440" y="2174760"/>
            <a:ext cx="258732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major bull run to $1,200. Mt. Gox becomes dominant exchange.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80" name="Shape 29"/>
          <p:cNvSpPr/>
          <p:nvPr/>
        </p:nvSpPr>
        <p:spPr>
          <a:xfrm>
            <a:off x="9215280" y="2532240"/>
            <a:ext cx="2499840" cy="2854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Text 30"/>
          <p:cNvSpPr/>
          <p:nvPr/>
        </p:nvSpPr>
        <p:spPr>
          <a:xfrm>
            <a:off x="9294840" y="2611440"/>
            <a:ext cx="238896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$1,242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82" name="Shape 31"/>
          <p:cNvSpPr/>
          <p:nvPr/>
        </p:nvSpPr>
        <p:spPr>
          <a:xfrm>
            <a:off x="341280" y="3095640"/>
            <a:ext cx="2769840" cy="15951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3" name="Shape 32"/>
          <p:cNvSpPr/>
          <p:nvPr/>
        </p:nvSpPr>
        <p:spPr>
          <a:xfrm>
            <a:off x="476280" y="3230640"/>
            <a:ext cx="2499840" cy="3805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4" name="Text 33"/>
          <p:cNvSpPr/>
          <p:nvPr/>
        </p:nvSpPr>
        <p:spPr>
          <a:xfrm>
            <a:off x="555480" y="3309840"/>
            <a:ext cx="24206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2014-2015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85" name="Text 34"/>
          <p:cNvSpPr/>
          <p:nvPr/>
        </p:nvSpPr>
        <p:spPr>
          <a:xfrm>
            <a:off x="460440" y="3691080"/>
            <a:ext cx="259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MT. GOX COLLAPSE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86" name="Text 35"/>
          <p:cNvSpPr/>
          <p:nvPr/>
        </p:nvSpPr>
        <p:spPr>
          <a:xfrm>
            <a:off x="460440" y="3913200"/>
            <a:ext cx="258732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Exchange hack wipes out 850K BTC. Price falls below $200. Bear market.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87" name="Shape 36"/>
          <p:cNvSpPr/>
          <p:nvPr/>
        </p:nvSpPr>
        <p:spPr>
          <a:xfrm>
            <a:off x="476280" y="4270320"/>
            <a:ext cx="2499840" cy="2854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8" name="Text 37"/>
          <p:cNvSpPr/>
          <p:nvPr/>
        </p:nvSpPr>
        <p:spPr>
          <a:xfrm>
            <a:off x="555480" y="4349880"/>
            <a:ext cx="238896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$152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89" name="Shape 38"/>
          <p:cNvSpPr/>
          <p:nvPr/>
        </p:nvSpPr>
        <p:spPr>
          <a:xfrm>
            <a:off x="3254400" y="3095640"/>
            <a:ext cx="2769840" cy="15951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0" name="Shape 39"/>
          <p:cNvSpPr/>
          <p:nvPr/>
        </p:nvSpPr>
        <p:spPr>
          <a:xfrm>
            <a:off x="3389400" y="3230640"/>
            <a:ext cx="2499840" cy="3805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Text 40"/>
          <p:cNvSpPr/>
          <p:nvPr/>
        </p:nvSpPr>
        <p:spPr>
          <a:xfrm>
            <a:off x="3468600" y="3309840"/>
            <a:ext cx="24206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2016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92" name="Text 41"/>
          <p:cNvSpPr/>
          <p:nvPr/>
        </p:nvSpPr>
        <p:spPr>
          <a:xfrm>
            <a:off x="3373560" y="3691080"/>
            <a:ext cx="259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SECOND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93" name="Text 42"/>
          <p:cNvSpPr/>
          <p:nvPr/>
        </p:nvSpPr>
        <p:spPr>
          <a:xfrm>
            <a:off x="3373560" y="3913200"/>
            <a:ext cx="258732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to 12.5 BTC. Ethereum launches, ICO era begins.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94" name="Shape 43"/>
          <p:cNvSpPr/>
          <p:nvPr/>
        </p:nvSpPr>
        <p:spPr>
          <a:xfrm>
            <a:off x="3389400" y="4270320"/>
            <a:ext cx="2499840" cy="2854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Text 44"/>
          <p:cNvSpPr/>
          <p:nvPr/>
        </p:nvSpPr>
        <p:spPr>
          <a:xfrm>
            <a:off x="3468600" y="4349880"/>
            <a:ext cx="238896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$650 → $960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96" name="Shape 45"/>
          <p:cNvSpPr/>
          <p:nvPr/>
        </p:nvSpPr>
        <p:spPr>
          <a:xfrm>
            <a:off x="6167520" y="3095640"/>
            <a:ext cx="2769840" cy="15951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7" name="Shape 46"/>
          <p:cNvSpPr/>
          <p:nvPr/>
        </p:nvSpPr>
        <p:spPr>
          <a:xfrm>
            <a:off x="6302520" y="3230640"/>
            <a:ext cx="2499840" cy="3805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8" name="Text 47"/>
          <p:cNvSpPr/>
          <p:nvPr/>
        </p:nvSpPr>
        <p:spPr>
          <a:xfrm>
            <a:off x="6381720" y="3309840"/>
            <a:ext cx="24206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2017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99" name="Text 48"/>
          <p:cNvSpPr/>
          <p:nvPr/>
        </p:nvSpPr>
        <p:spPr>
          <a:xfrm>
            <a:off x="6286680" y="3691080"/>
            <a:ext cx="259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$20,000 PEAK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00" name="Text 49"/>
          <p:cNvSpPr/>
          <p:nvPr/>
        </p:nvSpPr>
        <p:spPr>
          <a:xfrm>
            <a:off x="6286680" y="3913200"/>
            <a:ext cx="258732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ICO mania drives parabolic rise. CME/CBOE futures launch. Mainstream FOMO.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01" name="Shape 50"/>
          <p:cNvSpPr/>
          <p:nvPr/>
        </p:nvSpPr>
        <p:spPr>
          <a:xfrm>
            <a:off x="6302520" y="4270320"/>
            <a:ext cx="2499840" cy="2854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2" name="Text 51"/>
          <p:cNvSpPr/>
          <p:nvPr/>
        </p:nvSpPr>
        <p:spPr>
          <a:xfrm>
            <a:off x="6381720" y="4349880"/>
            <a:ext cx="238896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$19,800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03" name="Shape 52"/>
          <p:cNvSpPr/>
          <p:nvPr/>
        </p:nvSpPr>
        <p:spPr>
          <a:xfrm>
            <a:off x="9080640" y="3095640"/>
            <a:ext cx="2769840" cy="15951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4" name="Shape 53"/>
          <p:cNvSpPr/>
          <p:nvPr/>
        </p:nvSpPr>
        <p:spPr>
          <a:xfrm>
            <a:off x="9215280" y="3230640"/>
            <a:ext cx="2499840" cy="3805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Text 54"/>
          <p:cNvSpPr/>
          <p:nvPr/>
        </p:nvSpPr>
        <p:spPr>
          <a:xfrm>
            <a:off x="9294840" y="3309840"/>
            <a:ext cx="24206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2018-2019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06" name="Text 55"/>
          <p:cNvSpPr/>
          <p:nvPr/>
        </p:nvSpPr>
        <p:spPr>
          <a:xfrm>
            <a:off x="9199440" y="3691080"/>
            <a:ext cx="259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CRYPTO WINTER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07" name="Text 56"/>
          <p:cNvSpPr/>
          <p:nvPr/>
        </p:nvSpPr>
        <p:spPr>
          <a:xfrm>
            <a:off x="9199440" y="3913200"/>
            <a:ext cx="258732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80%+ crash from peak. Regulatory crackdowns. Institutional interest quietly builds.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08" name="Shape 57"/>
          <p:cNvSpPr/>
          <p:nvPr/>
        </p:nvSpPr>
        <p:spPr>
          <a:xfrm>
            <a:off x="9215280" y="4270320"/>
            <a:ext cx="2499840" cy="2854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9" name="Text 58"/>
          <p:cNvSpPr/>
          <p:nvPr/>
        </p:nvSpPr>
        <p:spPr>
          <a:xfrm>
            <a:off x="9294840" y="4349880"/>
            <a:ext cx="238896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$3,200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10" name="Shape 59"/>
          <p:cNvSpPr/>
          <p:nvPr/>
        </p:nvSpPr>
        <p:spPr>
          <a:xfrm>
            <a:off x="341280" y="4834080"/>
            <a:ext cx="2769840" cy="15951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1" name="Shape 60"/>
          <p:cNvSpPr/>
          <p:nvPr/>
        </p:nvSpPr>
        <p:spPr>
          <a:xfrm>
            <a:off x="476280" y="4968720"/>
            <a:ext cx="2499840" cy="3805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Text 61"/>
          <p:cNvSpPr/>
          <p:nvPr/>
        </p:nvSpPr>
        <p:spPr>
          <a:xfrm>
            <a:off x="555480" y="5048280"/>
            <a:ext cx="24206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13" name="Text 62"/>
          <p:cNvSpPr/>
          <p:nvPr/>
        </p:nvSpPr>
        <p:spPr>
          <a:xfrm>
            <a:off x="460440" y="5429160"/>
            <a:ext cx="259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THIRD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14" name="Text 63"/>
          <p:cNvSpPr/>
          <p:nvPr/>
        </p:nvSpPr>
        <p:spPr>
          <a:xfrm>
            <a:off x="460440" y="5651640"/>
            <a:ext cx="258732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to 6.25 BTC. COVID-19 triggers institutional adoption wave.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15" name="Shape 64"/>
          <p:cNvSpPr/>
          <p:nvPr/>
        </p:nvSpPr>
        <p:spPr>
          <a:xfrm>
            <a:off x="476280" y="6008760"/>
            <a:ext cx="2499840" cy="2854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6" name="Text 65"/>
          <p:cNvSpPr/>
          <p:nvPr/>
        </p:nvSpPr>
        <p:spPr>
          <a:xfrm>
            <a:off x="555480" y="6087960"/>
            <a:ext cx="238896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$8,000 → $29,000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17" name="Shape 66"/>
          <p:cNvSpPr/>
          <p:nvPr/>
        </p:nvSpPr>
        <p:spPr>
          <a:xfrm>
            <a:off x="3254400" y="4834080"/>
            <a:ext cx="2769840" cy="15951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8" name="Shape 67"/>
          <p:cNvSpPr/>
          <p:nvPr/>
        </p:nvSpPr>
        <p:spPr>
          <a:xfrm>
            <a:off x="3389400" y="4968720"/>
            <a:ext cx="2499840" cy="3805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9" name="Text 68"/>
          <p:cNvSpPr/>
          <p:nvPr/>
        </p:nvSpPr>
        <p:spPr>
          <a:xfrm>
            <a:off x="3468600" y="5048280"/>
            <a:ext cx="24206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2021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20" name="Text 69"/>
          <p:cNvSpPr/>
          <p:nvPr/>
        </p:nvSpPr>
        <p:spPr>
          <a:xfrm>
            <a:off x="3373560" y="5429160"/>
            <a:ext cx="259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$69,000 ATH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21" name="Text 70"/>
          <p:cNvSpPr/>
          <p:nvPr/>
        </p:nvSpPr>
        <p:spPr>
          <a:xfrm>
            <a:off x="3373560" y="5651640"/>
            <a:ext cx="258732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MicroStrategy, Tesla add BTC to treasury. First Bitcoin futures ETF. NFT boom.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2" name="Shape 71"/>
          <p:cNvSpPr/>
          <p:nvPr/>
        </p:nvSpPr>
        <p:spPr>
          <a:xfrm>
            <a:off x="3389400" y="6008760"/>
            <a:ext cx="2499840" cy="2854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3" name="Text 72"/>
          <p:cNvSpPr/>
          <p:nvPr/>
        </p:nvSpPr>
        <p:spPr>
          <a:xfrm>
            <a:off x="3468600" y="6087960"/>
            <a:ext cx="238896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$69,000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24" name="Shape 73"/>
          <p:cNvSpPr/>
          <p:nvPr/>
        </p:nvSpPr>
        <p:spPr>
          <a:xfrm>
            <a:off x="6167520" y="4834080"/>
            <a:ext cx="2769840" cy="15951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25" name="Shape 74"/>
          <p:cNvSpPr/>
          <p:nvPr/>
        </p:nvSpPr>
        <p:spPr>
          <a:xfrm>
            <a:off x="6302520" y="4968720"/>
            <a:ext cx="2499840" cy="3805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6" name="Text 75"/>
          <p:cNvSpPr/>
          <p:nvPr/>
        </p:nvSpPr>
        <p:spPr>
          <a:xfrm>
            <a:off x="6381720" y="5048280"/>
            <a:ext cx="24206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27" name="Text 76"/>
          <p:cNvSpPr/>
          <p:nvPr/>
        </p:nvSpPr>
        <p:spPr>
          <a:xfrm>
            <a:off x="6286680" y="5429160"/>
            <a:ext cx="259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BEAR MARKET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28" name="Text 77"/>
          <p:cNvSpPr/>
          <p:nvPr/>
        </p:nvSpPr>
        <p:spPr>
          <a:xfrm>
            <a:off x="6286680" y="5651640"/>
            <a:ext cx="258732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Fed rate hikes, Terra/LUNA collapse, FTX bankruptcy. Price falls to $16K.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9" name="Shape 78"/>
          <p:cNvSpPr/>
          <p:nvPr/>
        </p:nvSpPr>
        <p:spPr>
          <a:xfrm>
            <a:off x="6302520" y="6008760"/>
            <a:ext cx="2499840" cy="2854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Text 79"/>
          <p:cNvSpPr/>
          <p:nvPr/>
        </p:nvSpPr>
        <p:spPr>
          <a:xfrm>
            <a:off x="6381720" y="6087960"/>
            <a:ext cx="238896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$15,600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31" name="Shape 80"/>
          <p:cNvSpPr/>
          <p:nvPr/>
        </p:nvSpPr>
        <p:spPr>
          <a:xfrm>
            <a:off x="9080640" y="4834080"/>
            <a:ext cx="2769840" cy="15951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32" name="Shape 81"/>
          <p:cNvSpPr/>
          <p:nvPr/>
        </p:nvSpPr>
        <p:spPr>
          <a:xfrm>
            <a:off x="9215280" y="4968720"/>
            <a:ext cx="2499840" cy="3805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Text 82"/>
          <p:cNvSpPr/>
          <p:nvPr/>
        </p:nvSpPr>
        <p:spPr>
          <a:xfrm>
            <a:off x="9294840" y="5048280"/>
            <a:ext cx="24206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2024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34" name="Text 83"/>
          <p:cNvSpPr/>
          <p:nvPr/>
        </p:nvSpPr>
        <p:spPr>
          <a:xfrm>
            <a:off x="9199440" y="5429160"/>
            <a:ext cx="259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$100K+ BREAKTHROUGH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35" name="Text 84"/>
          <p:cNvSpPr/>
          <p:nvPr/>
        </p:nvSpPr>
        <p:spPr>
          <a:xfrm>
            <a:off x="9199440" y="5651640"/>
            <a:ext cx="258732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Fourth halving. SEC approves spot ETFs. Price breaks $100K milestone.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36" name="Shape 85"/>
          <p:cNvSpPr/>
          <p:nvPr/>
        </p:nvSpPr>
        <p:spPr>
          <a:xfrm>
            <a:off x="9215280" y="6008760"/>
            <a:ext cx="2499840" cy="2854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Text 86"/>
          <p:cNvSpPr/>
          <p:nvPr/>
        </p:nvSpPr>
        <p:spPr>
          <a:xfrm>
            <a:off x="9294840" y="6087960"/>
            <a:ext cx="238896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$126,173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38" name="Shape 87"/>
          <p:cNvSpPr/>
          <p:nvPr/>
        </p:nvSpPr>
        <p:spPr>
          <a:xfrm>
            <a:off x="341280" y="6572160"/>
            <a:ext cx="11508840" cy="523440"/>
          </a:xfrm>
          <a:custGeom>
            <a:avLst/>
            <a:gdLst/>
            <a:ahLst/>
            <a:rect l="l" t="t" r="r" b="b"/>
            <a:pathLst>
              <a:path w="11509375" h="523875">
                <a:moveTo>
                  <a:pt x="0" y="0"/>
                </a:moveTo>
                <a:lnTo>
                  <a:pt x="11509375" y="0"/>
                </a:lnTo>
                <a:lnTo>
                  <a:pt x="11509375" y="523875"/>
                </a:lnTo>
                <a:lnTo>
                  <a:pt x="0" y="523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Text 88"/>
          <p:cNvSpPr/>
          <p:nvPr/>
        </p:nvSpPr>
        <p:spPr>
          <a:xfrm>
            <a:off x="492120" y="6723000"/>
            <a:ext cx="33015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FOUR HALVINGS: 2012 | 2016 | 2020 | 2024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40" name="Text 89"/>
          <p:cNvSpPr/>
          <p:nvPr/>
        </p:nvSpPr>
        <p:spPr>
          <a:xfrm>
            <a:off x="8992080" y="6723000"/>
            <a:ext cx="278568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→ </a:t>
            </a: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Each Followed by Major Bull Run</a:t>
            </a:r>
            <a:endParaRPr b="0" lang="en-HK" sz="12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Image 0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2" name="Shape 0"/>
          <p:cNvSpPr/>
          <p:nvPr/>
        </p:nvSpPr>
        <p:spPr>
          <a:xfrm>
            <a:off x="0" y="0"/>
            <a:ext cx="12191760" cy="68576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3" name="Shape 1"/>
          <p:cNvSpPr/>
          <p:nvPr/>
        </p:nvSpPr>
        <p:spPr>
          <a:xfrm>
            <a:off x="4029120" y="781200"/>
            <a:ext cx="7752960" cy="3962160"/>
          </a:xfrm>
          <a:custGeom>
            <a:avLst/>
            <a:gdLst/>
            <a:ahLst/>
            <a:rect l="l" t="t" r="r" b="b"/>
            <a:pathLst>
              <a:path w="7753350" h="3962400">
                <a:moveTo>
                  <a:pt x="0" y="0"/>
                </a:moveTo>
                <a:lnTo>
                  <a:pt x="7753350" y="0"/>
                </a:lnTo>
                <a:lnTo>
                  <a:pt x="77533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44" name="Shape 2"/>
          <p:cNvSpPr/>
          <p:nvPr/>
        </p:nvSpPr>
        <p:spPr>
          <a:xfrm>
            <a:off x="10077480" y="1266840"/>
            <a:ext cx="75960" cy="9140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5" name="Shape 3"/>
          <p:cNvSpPr/>
          <p:nvPr/>
        </p:nvSpPr>
        <p:spPr>
          <a:xfrm>
            <a:off x="10410840" y="1295280"/>
            <a:ext cx="856800" cy="8568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Text 4"/>
          <p:cNvSpPr/>
          <p:nvPr/>
        </p:nvSpPr>
        <p:spPr>
          <a:xfrm>
            <a:off x="10267920" y="1266840"/>
            <a:ext cx="102852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347" name="Text 5"/>
          <p:cNvSpPr/>
          <p:nvPr/>
        </p:nvSpPr>
        <p:spPr>
          <a:xfrm>
            <a:off x="4172040" y="2486160"/>
            <a:ext cx="7124400" cy="8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MARKET DYNAMICS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348" name="Shape 6"/>
          <p:cNvSpPr/>
          <p:nvPr/>
        </p:nvSpPr>
        <p:spPr>
          <a:xfrm>
            <a:off x="9468000" y="3571920"/>
            <a:ext cx="1828440" cy="759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7"/>
          <p:cNvSpPr/>
          <p:nvPr/>
        </p:nvSpPr>
        <p:spPr>
          <a:xfrm>
            <a:off x="4343400" y="3876840"/>
            <a:ext cx="69530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Halving Cycles &amp; Price Patterns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350" name="Shape 8"/>
          <p:cNvSpPr/>
          <p:nvPr/>
        </p:nvSpPr>
        <p:spPr>
          <a:xfrm>
            <a:off x="6188040" y="5257800"/>
            <a:ext cx="5590800" cy="818640"/>
          </a:xfrm>
          <a:custGeom>
            <a:avLst/>
            <a:gdLst/>
            <a:ahLst/>
            <a:rect l="l" t="t" r="r" b="b"/>
            <a:pathLst>
              <a:path w="5591175" h="819150">
                <a:moveTo>
                  <a:pt x="0" y="0"/>
                </a:moveTo>
                <a:lnTo>
                  <a:pt x="5591175" y="0"/>
                </a:lnTo>
                <a:lnTo>
                  <a:pt x="55911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1" name="Text 9"/>
          <p:cNvSpPr/>
          <p:nvPr/>
        </p:nvSpPr>
        <p:spPr>
          <a:xfrm>
            <a:off x="6445080" y="5514840"/>
            <a:ext cx="51908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Programmed Scarcity Driving Market Cycles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0"/>
          <p:cNvSpPr/>
          <p:nvPr/>
        </p:nvSpPr>
        <p:spPr>
          <a:xfrm>
            <a:off x="341280" y="341280"/>
            <a:ext cx="11508840" cy="84096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3" name="Text 1"/>
          <p:cNvSpPr/>
          <p:nvPr/>
        </p:nvSpPr>
        <p:spPr>
          <a:xfrm>
            <a:off x="523800" y="523800"/>
            <a:ext cx="112867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HALVING EFFECT: PROGRAMMED SCARCITY IN ACTION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354" name="Shape 2"/>
          <p:cNvSpPr/>
          <p:nvPr/>
        </p:nvSpPr>
        <p:spPr>
          <a:xfrm>
            <a:off x="523800" y="936720"/>
            <a:ext cx="761760" cy="630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5" name="Shape 3"/>
          <p:cNvSpPr/>
          <p:nvPr/>
        </p:nvSpPr>
        <p:spPr>
          <a:xfrm>
            <a:off x="341280" y="1357200"/>
            <a:ext cx="6222600" cy="6079680"/>
          </a:xfrm>
          <a:custGeom>
            <a:avLst/>
            <a:gdLst/>
            <a:ahLst/>
            <a:rect l="l" t="t" r="r" b="b"/>
            <a:pathLst>
              <a:path w="6223000" h="6080125">
                <a:moveTo>
                  <a:pt x="0" y="0"/>
                </a:moveTo>
                <a:lnTo>
                  <a:pt x="6223000" y="0"/>
                </a:lnTo>
                <a:lnTo>
                  <a:pt x="6223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56" name="Text 4"/>
          <p:cNvSpPr/>
          <p:nvPr/>
        </p:nvSpPr>
        <p:spPr>
          <a:xfrm>
            <a:off x="523800" y="1539720"/>
            <a:ext cx="59526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WHAT IS THE HALVING?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57" name="Text 5"/>
          <p:cNvSpPr/>
          <p:nvPr/>
        </p:nvSpPr>
        <p:spPr>
          <a:xfrm>
            <a:off x="523800" y="1889280"/>
            <a:ext cx="59209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Every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210,000 blocks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(~4 years), Bitcoin's block reward is cut in half. This pre-programmed monetary policy reduces new supply issuance, creating supply shocks that have historically preceded major bull runs.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58" name="Shape 6"/>
          <p:cNvSpPr/>
          <p:nvPr/>
        </p:nvSpPr>
        <p:spPr>
          <a:xfrm>
            <a:off x="539640" y="2651040"/>
            <a:ext cx="5825880" cy="2317320"/>
          </a:xfrm>
          <a:custGeom>
            <a:avLst/>
            <a:gdLst/>
            <a:ahLst/>
            <a:rect l="l" t="t" r="r" b="b"/>
            <a:pathLst>
              <a:path w="5826125" h="2317750">
                <a:moveTo>
                  <a:pt x="0" y="0"/>
                </a:moveTo>
                <a:lnTo>
                  <a:pt x="5826125" y="0"/>
                </a:lnTo>
                <a:lnTo>
                  <a:pt x="5826125" y="2317750"/>
                </a:lnTo>
                <a:lnTo>
                  <a:pt x="0" y="2317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9" name="Text 7"/>
          <p:cNvSpPr/>
          <p:nvPr/>
        </p:nvSpPr>
        <p:spPr>
          <a:xfrm>
            <a:off x="682560" y="2793960"/>
            <a:ext cx="5603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Halving Schedule &amp; Price Performance: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60" name="Shape 8"/>
          <p:cNvSpPr/>
          <p:nvPr/>
        </p:nvSpPr>
        <p:spPr>
          <a:xfrm>
            <a:off x="698400" y="3095640"/>
            <a:ext cx="2690280" cy="79344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1" name="Text 9"/>
          <p:cNvSpPr/>
          <p:nvPr/>
        </p:nvSpPr>
        <p:spPr>
          <a:xfrm>
            <a:off x="809640" y="3206880"/>
            <a:ext cx="252360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2012: 50 → 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62" name="Text 10"/>
          <p:cNvSpPr/>
          <p:nvPr/>
        </p:nvSpPr>
        <p:spPr>
          <a:xfrm>
            <a:off x="809640" y="3397320"/>
            <a:ext cx="25635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+9,300%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63" name="Text 11"/>
          <p:cNvSpPr/>
          <p:nvPr/>
        </p:nvSpPr>
        <p:spPr>
          <a:xfrm>
            <a:off x="809640" y="3651120"/>
            <a:ext cx="251568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$12 → $1,100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64" name="Shape 12"/>
          <p:cNvSpPr/>
          <p:nvPr/>
        </p:nvSpPr>
        <p:spPr>
          <a:xfrm>
            <a:off x="3515400" y="3095640"/>
            <a:ext cx="2690280" cy="79344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5" name="Text 13"/>
          <p:cNvSpPr/>
          <p:nvPr/>
        </p:nvSpPr>
        <p:spPr>
          <a:xfrm>
            <a:off x="3626640" y="3206880"/>
            <a:ext cx="252360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2016: 25 → 12.5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66" name="Text 14"/>
          <p:cNvSpPr/>
          <p:nvPr/>
        </p:nvSpPr>
        <p:spPr>
          <a:xfrm>
            <a:off x="3626640" y="3397320"/>
            <a:ext cx="25635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+3,200%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67" name="Text 15"/>
          <p:cNvSpPr/>
          <p:nvPr/>
        </p:nvSpPr>
        <p:spPr>
          <a:xfrm>
            <a:off x="3626640" y="3651120"/>
            <a:ext cx="251568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$650 → $19,800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68" name="Shape 16"/>
          <p:cNvSpPr/>
          <p:nvPr/>
        </p:nvSpPr>
        <p:spPr>
          <a:xfrm>
            <a:off x="698400" y="4016520"/>
            <a:ext cx="2690280" cy="79344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9" name="Text 17"/>
          <p:cNvSpPr/>
          <p:nvPr/>
        </p:nvSpPr>
        <p:spPr>
          <a:xfrm>
            <a:off x="809640" y="4127400"/>
            <a:ext cx="252360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2020: 12.5 → 6.25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70" name="Text 18"/>
          <p:cNvSpPr/>
          <p:nvPr/>
        </p:nvSpPr>
        <p:spPr>
          <a:xfrm>
            <a:off x="809640" y="4317840"/>
            <a:ext cx="25635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+700%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71" name="Text 19"/>
          <p:cNvSpPr/>
          <p:nvPr/>
        </p:nvSpPr>
        <p:spPr>
          <a:xfrm>
            <a:off x="809640" y="4572000"/>
            <a:ext cx="251568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$8,800 → $69,000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72" name="Shape 20"/>
          <p:cNvSpPr/>
          <p:nvPr/>
        </p:nvSpPr>
        <p:spPr>
          <a:xfrm>
            <a:off x="3515400" y="4016520"/>
            <a:ext cx="2690280" cy="79344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3" name="Text 21"/>
          <p:cNvSpPr/>
          <p:nvPr/>
        </p:nvSpPr>
        <p:spPr>
          <a:xfrm>
            <a:off x="3626640" y="4127400"/>
            <a:ext cx="252360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2024: 6.25 → 3.125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74" name="Text 22"/>
          <p:cNvSpPr/>
          <p:nvPr/>
        </p:nvSpPr>
        <p:spPr>
          <a:xfrm>
            <a:off x="3626640" y="4317840"/>
            <a:ext cx="25635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155dfc"/>
                </a:solidFill>
                <a:latin typeface="Noto Sans SC"/>
                <a:ea typeface="Noto Sans SC"/>
              </a:rPr>
              <a:t>IN PROGRESS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75" name="Text 23"/>
          <p:cNvSpPr/>
          <p:nvPr/>
        </p:nvSpPr>
        <p:spPr>
          <a:xfrm>
            <a:off x="3626640" y="4572000"/>
            <a:ext cx="251568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$43,000 → $126K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76" name="Shape 24"/>
          <p:cNvSpPr/>
          <p:nvPr/>
        </p:nvSpPr>
        <p:spPr>
          <a:xfrm>
            <a:off x="341280" y="7612200"/>
            <a:ext cx="6222600" cy="1571400"/>
          </a:xfrm>
          <a:custGeom>
            <a:avLst/>
            <a:gdLst/>
            <a:ahLst/>
            <a:rect l="l" t="t" r="r" b="b"/>
            <a:pathLst>
              <a:path w="6223000" h="1571625">
                <a:moveTo>
                  <a:pt x="0" y="0"/>
                </a:moveTo>
                <a:lnTo>
                  <a:pt x="6223000" y="0"/>
                </a:lnTo>
                <a:lnTo>
                  <a:pt x="6223000" y="1571625"/>
                </a:lnTo>
                <a:lnTo>
                  <a:pt x="0" y="1571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77" name="Text 25"/>
          <p:cNvSpPr/>
          <p:nvPr/>
        </p:nvSpPr>
        <p:spPr>
          <a:xfrm>
            <a:off x="492120" y="7763040"/>
            <a:ext cx="600048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2024 CYCLE: WHAT'S DIFFERENT?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78" name="Shape 26"/>
          <p:cNvSpPr/>
          <p:nvPr/>
        </p:nvSpPr>
        <p:spPr>
          <a:xfrm>
            <a:off x="507960" y="8096400"/>
            <a:ext cx="1881000" cy="92052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9" name="Text 27"/>
          <p:cNvSpPr/>
          <p:nvPr/>
        </p:nvSpPr>
        <p:spPr>
          <a:xfrm>
            <a:off x="619200" y="8207280"/>
            <a:ext cx="1722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Approval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0" name="Text 28"/>
          <p:cNvSpPr/>
          <p:nvPr/>
        </p:nvSpPr>
        <p:spPr>
          <a:xfrm>
            <a:off x="619200" y="8429760"/>
            <a:ext cx="171432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spot ETFs create institutional demand never seen before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1" name="Shape 29"/>
          <p:cNvSpPr/>
          <p:nvPr/>
        </p:nvSpPr>
        <p:spPr>
          <a:xfrm>
            <a:off x="2512800" y="8096400"/>
            <a:ext cx="1881000" cy="92052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2" name="Text 30"/>
          <p:cNvSpPr/>
          <p:nvPr/>
        </p:nvSpPr>
        <p:spPr>
          <a:xfrm>
            <a:off x="2624040" y="8207280"/>
            <a:ext cx="1722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3" name="Text 31"/>
          <p:cNvSpPr/>
          <p:nvPr/>
        </p:nvSpPr>
        <p:spPr>
          <a:xfrm>
            <a:off x="2624040" y="8429760"/>
            <a:ext cx="17143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MicroStrategy holds 714K BTC worth $54B+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4" name="Shape 32"/>
          <p:cNvSpPr/>
          <p:nvPr/>
        </p:nvSpPr>
        <p:spPr>
          <a:xfrm>
            <a:off x="4518000" y="8096400"/>
            <a:ext cx="1881000" cy="92052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5" name="Text 33"/>
          <p:cNvSpPr/>
          <p:nvPr/>
        </p:nvSpPr>
        <p:spPr>
          <a:xfrm>
            <a:off x="4629240" y="8207280"/>
            <a:ext cx="1722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Nation-State Adoption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6" name="Text 34"/>
          <p:cNvSpPr/>
          <p:nvPr/>
        </p:nvSpPr>
        <p:spPr>
          <a:xfrm>
            <a:off x="4629240" y="8429760"/>
            <a:ext cx="17143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El Salvador makes BTC legal tender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7" name="Shape 35"/>
          <p:cNvSpPr/>
          <p:nvPr/>
        </p:nvSpPr>
        <p:spPr>
          <a:xfrm>
            <a:off x="6769080" y="1357200"/>
            <a:ext cx="5079600" cy="3952440"/>
          </a:xfrm>
          <a:custGeom>
            <a:avLst/>
            <a:gdLst/>
            <a:ahLst/>
            <a:rect l="l" t="t" r="r" b="b"/>
            <a:pathLst>
              <a:path w="5080000" h="3952875">
                <a:moveTo>
                  <a:pt x="0" y="0"/>
                </a:moveTo>
                <a:lnTo>
                  <a:pt x="5080000" y="0"/>
                </a:lnTo>
                <a:lnTo>
                  <a:pt x="5080000" y="3952875"/>
                </a:lnTo>
                <a:lnTo>
                  <a:pt x="0" y="395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88" name="Text 36"/>
          <p:cNvSpPr/>
          <p:nvPr/>
        </p:nvSpPr>
        <p:spPr>
          <a:xfrm>
            <a:off x="6951600" y="1539720"/>
            <a:ext cx="48096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STOCK-TO-FLOW MODEL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89" name="Text 37"/>
          <p:cNvSpPr/>
          <p:nvPr/>
        </p:nvSpPr>
        <p:spPr>
          <a:xfrm>
            <a:off x="6951600" y="1920960"/>
            <a:ext cx="477792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Bitcoin's scarcity can be measured by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stock-to-flow ratio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(existing supply / annual production). Higher ratios indicate greater scarcity.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0" name="Shape 38"/>
          <p:cNvSpPr/>
          <p:nvPr/>
        </p:nvSpPr>
        <p:spPr>
          <a:xfrm>
            <a:off x="6967440" y="2476440"/>
            <a:ext cx="4682880" cy="60300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1" name="Text 39"/>
          <p:cNvSpPr/>
          <p:nvPr/>
        </p:nvSpPr>
        <p:spPr>
          <a:xfrm>
            <a:off x="7078680" y="2619360"/>
            <a:ext cx="618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 S2F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2" name="Text 40"/>
          <p:cNvSpPr/>
          <p:nvPr/>
        </p:nvSpPr>
        <p:spPr>
          <a:xfrm>
            <a:off x="11329200" y="2587680"/>
            <a:ext cx="3092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62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93" name="Shape 41"/>
          <p:cNvSpPr/>
          <p:nvPr/>
        </p:nvSpPr>
        <p:spPr>
          <a:xfrm>
            <a:off x="7094520" y="2889360"/>
            <a:ext cx="4428720" cy="6300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Shape 42"/>
          <p:cNvSpPr/>
          <p:nvPr/>
        </p:nvSpPr>
        <p:spPr>
          <a:xfrm>
            <a:off x="7110360" y="2905200"/>
            <a:ext cx="2198160" cy="31320"/>
          </a:xfrm>
          <a:custGeom>
            <a:avLst/>
            <a:gdLst/>
            <a:ahLst/>
            <a:rect l="l" t="t" r="r" b="b"/>
            <a:pathLst>
              <a:path w="2198688" h="31750">
                <a:moveTo>
                  <a:pt x="0" y="0"/>
                </a:moveTo>
                <a:lnTo>
                  <a:pt x="2198688" y="0"/>
                </a:lnTo>
                <a:lnTo>
                  <a:pt x="2198688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0b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5" name="Shape 43"/>
          <p:cNvSpPr/>
          <p:nvPr/>
        </p:nvSpPr>
        <p:spPr>
          <a:xfrm>
            <a:off x="6967440" y="3206880"/>
            <a:ext cx="4682880" cy="60300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6" name="Text 44"/>
          <p:cNvSpPr/>
          <p:nvPr/>
        </p:nvSpPr>
        <p:spPr>
          <a:xfrm>
            <a:off x="7078680" y="3349800"/>
            <a:ext cx="14839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 S2F (Post-2024)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7" name="Text 45"/>
          <p:cNvSpPr/>
          <p:nvPr/>
        </p:nvSpPr>
        <p:spPr>
          <a:xfrm>
            <a:off x="11223360" y="3317760"/>
            <a:ext cx="4125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120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98" name="Shape 46"/>
          <p:cNvSpPr/>
          <p:nvPr/>
        </p:nvSpPr>
        <p:spPr>
          <a:xfrm>
            <a:off x="7094520" y="3619440"/>
            <a:ext cx="4428720" cy="6300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9" name="Shape 47"/>
          <p:cNvSpPr/>
          <p:nvPr/>
        </p:nvSpPr>
        <p:spPr>
          <a:xfrm>
            <a:off x="7110360" y="3635280"/>
            <a:ext cx="4397040" cy="31320"/>
          </a:xfrm>
          <a:custGeom>
            <a:avLst/>
            <a:gdLst/>
            <a:ahLst/>
            <a:rect l="l" t="t" r="r" b="b"/>
            <a:pathLst>
              <a:path w="4397375" h="31750">
                <a:moveTo>
                  <a:pt x="0" y="0"/>
                </a:moveTo>
                <a:lnTo>
                  <a:pt x="4397375" y="0"/>
                </a:lnTo>
                <a:lnTo>
                  <a:pt x="4397375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f69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0" name="Shape 48"/>
          <p:cNvSpPr/>
          <p:nvPr/>
        </p:nvSpPr>
        <p:spPr>
          <a:xfrm>
            <a:off x="6967440" y="3936960"/>
            <a:ext cx="4682880" cy="60300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1" name="Text 49"/>
          <p:cNvSpPr/>
          <p:nvPr/>
        </p:nvSpPr>
        <p:spPr>
          <a:xfrm>
            <a:off x="7078680" y="4079880"/>
            <a:ext cx="674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Silver S2F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02" name="Text 50"/>
          <p:cNvSpPr/>
          <p:nvPr/>
        </p:nvSpPr>
        <p:spPr>
          <a:xfrm>
            <a:off x="11329200" y="4048200"/>
            <a:ext cx="3092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22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03" name="Shape 51"/>
          <p:cNvSpPr/>
          <p:nvPr/>
        </p:nvSpPr>
        <p:spPr>
          <a:xfrm>
            <a:off x="7094520" y="4349880"/>
            <a:ext cx="4428720" cy="6300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4" name="Shape 52"/>
          <p:cNvSpPr/>
          <p:nvPr/>
        </p:nvSpPr>
        <p:spPr>
          <a:xfrm>
            <a:off x="7110360" y="4365720"/>
            <a:ext cx="793440" cy="31320"/>
          </a:xfrm>
          <a:custGeom>
            <a:avLst/>
            <a:gdLst/>
            <a:ahLst/>
            <a:rect l="l" t="t" r="r" b="b"/>
            <a:pathLst>
              <a:path w="793750" h="31750">
                <a:moveTo>
                  <a:pt x="0" y="0"/>
                </a:moveTo>
                <a:lnTo>
                  <a:pt x="793750" y="0"/>
                </a:lnTo>
                <a:lnTo>
                  <a:pt x="79375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5" name="Shape 53"/>
          <p:cNvSpPr/>
          <p:nvPr/>
        </p:nvSpPr>
        <p:spPr>
          <a:xfrm>
            <a:off x="6967440" y="4699080"/>
            <a:ext cx="4682880" cy="412560"/>
          </a:xfrm>
          <a:custGeom>
            <a:avLst/>
            <a:gdLst/>
            <a:ahLst/>
            <a:rect l="l" t="t" r="r" b="b"/>
            <a:pathLst>
              <a:path w="4683125" h="412750">
                <a:moveTo>
                  <a:pt x="0" y="0"/>
                </a:moveTo>
                <a:lnTo>
                  <a:pt x="4683125" y="0"/>
                </a:lnTo>
                <a:lnTo>
                  <a:pt x="46831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6" name="Text 54"/>
          <p:cNvSpPr/>
          <p:nvPr/>
        </p:nvSpPr>
        <p:spPr>
          <a:xfrm>
            <a:off x="7047000" y="4809960"/>
            <a:ext cx="45241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Bitcoin is now scarcer than 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07" name="Shape 55"/>
          <p:cNvSpPr/>
          <p:nvPr/>
        </p:nvSpPr>
        <p:spPr>
          <a:xfrm>
            <a:off x="6769080" y="5484960"/>
            <a:ext cx="5079600" cy="3698640"/>
          </a:xfrm>
          <a:custGeom>
            <a:avLst/>
            <a:gdLst/>
            <a:ahLst/>
            <a:rect l="l" t="t" r="r" b="b"/>
            <a:pathLst>
              <a:path w="5080000" h="3698875">
                <a:moveTo>
                  <a:pt x="0" y="0"/>
                </a:moveTo>
                <a:lnTo>
                  <a:pt x="5080000" y="0"/>
                </a:lnTo>
                <a:lnTo>
                  <a:pt x="5080000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08" name="Text 56"/>
          <p:cNvSpPr/>
          <p:nvPr/>
        </p:nvSpPr>
        <p:spPr>
          <a:xfrm>
            <a:off x="6951600" y="5667480"/>
            <a:ext cx="48096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SUPPLY IMPACT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09" name="Shape 57"/>
          <p:cNvSpPr/>
          <p:nvPr/>
        </p:nvSpPr>
        <p:spPr>
          <a:xfrm>
            <a:off x="6967440" y="6064200"/>
            <a:ext cx="4682880" cy="88848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0" name="Text 58"/>
          <p:cNvSpPr/>
          <p:nvPr/>
        </p:nvSpPr>
        <p:spPr>
          <a:xfrm>
            <a:off x="7078680" y="6175440"/>
            <a:ext cx="45241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Daily New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1" name="Text 59"/>
          <p:cNvSpPr/>
          <p:nvPr/>
        </p:nvSpPr>
        <p:spPr>
          <a:xfrm>
            <a:off x="7078680" y="6397560"/>
            <a:ext cx="457956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450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12" name="Text 60"/>
          <p:cNvSpPr/>
          <p:nvPr/>
        </p:nvSpPr>
        <p:spPr>
          <a:xfrm>
            <a:off x="7078680" y="6683400"/>
            <a:ext cx="451620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900 BTC pre-halving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13" name="Shape 61"/>
          <p:cNvSpPr/>
          <p:nvPr/>
        </p:nvSpPr>
        <p:spPr>
          <a:xfrm>
            <a:off x="6967440" y="7080120"/>
            <a:ext cx="4682880" cy="88848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4" name="Text 62"/>
          <p:cNvSpPr/>
          <p:nvPr/>
        </p:nvSpPr>
        <p:spPr>
          <a:xfrm>
            <a:off x="7078680" y="7191360"/>
            <a:ext cx="45241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Inflation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5" name="Text 63"/>
          <p:cNvSpPr/>
          <p:nvPr/>
        </p:nvSpPr>
        <p:spPr>
          <a:xfrm>
            <a:off x="7078680" y="7413480"/>
            <a:ext cx="457956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0.85%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16" name="Text 64"/>
          <p:cNvSpPr/>
          <p:nvPr/>
        </p:nvSpPr>
        <p:spPr>
          <a:xfrm>
            <a:off x="7078680" y="7699320"/>
            <a:ext cx="451620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1.75% pre-halving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17" name="Shape 65"/>
          <p:cNvSpPr/>
          <p:nvPr/>
        </p:nvSpPr>
        <p:spPr>
          <a:xfrm>
            <a:off x="6967440" y="8096400"/>
            <a:ext cx="4682880" cy="88848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8" name="Text 66"/>
          <p:cNvSpPr/>
          <p:nvPr/>
        </p:nvSpPr>
        <p:spPr>
          <a:xfrm>
            <a:off x="7078680" y="8207280"/>
            <a:ext cx="45241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Total Supply Mined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9" name="Text 67"/>
          <p:cNvSpPr/>
          <p:nvPr/>
        </p:nvSpPr>
        <p:spPr>
          <a:xfrm>
            <a:off x="7078680" y="8429760"/>
            <a:ext cx="457956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93.75%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20" name="Text 68"/>
          <p:cNvSpPr/>
          <p:nvPr/>
        </p:nvSpPr>
        <p:spPr>
          <a:xfrm>
            <a:off x="7078680" y="8715240"/>
            <a:ext cx="451620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~19.7M of 21M BTC in circulation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Image 0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2" name="Shape 0"/>
          <p:cNvSpPr/>
          <p:nvPr/>
        </p:nvSpPr>
        <p:spPr>
          <a:xfrm>
            <a:off x="0" y="0"/>
            <a:ext cx="12191760" cy="68576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3" name="Shape 1"/>
          <p:cNvSpPr/>
          <p:nvPr/>
        </p:nvSpPr>
        <p:spPr>
          <a:xfrm>
            <a:off x="409680" y="352440"/>
            <a:ext cx="8476920" cy="481932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24" name="Shape 2"/>
          <p:cNvSpPr/>
          <p:nvPr/>
        </p:nvSpPr>
        <p:spPr>
          <a:xfrm>
            <a:off x="923760" y="866880"/>
            <a:ext cx="856800" cy="8568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5" name="Text 3"/>
          <p:cNvSpPr/>
          <p:nvPr/>
        </p:nvSpPr>
        <p:spPr>
          <a:xfrm>
            <a:off x="781200" y="838080"/>
            <a:ext cx="102852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05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426" name="Shape 4"/>
          <p:cNvSpPr/>
          <p:nvPr/>
        </p:nvSpPr>
        <p:spPr>
          <a:xfrm>
            <a:off x="2038320" y="838080"/>
            <a:ext cx="75960" cy="9140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7" name="Text 5"/>
          <p:cNvSpPr/>
          <p:nvPr/>
        </p:nvSpPr>
        <p:spPr>
          <a:xfrm>
            <a:off x="895320" y="2057400"/>
            <a:ext cx="7848360" cy="171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CURRENT LANDSCAPE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428" name="Shape 6"/>
          <p:cNvSpPr/>
          <p:nvPr/>
        </p:nvSpPr>
        <p:spPr>
          <a:xfrm>
            <a:off x="895320" y="4000680"/>
            <a:ext cx="1828440" cy="759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9" name="Text 7"/>
          <p:cNvSpPr/>
          <p:nvPr/>
        </p:nvSpPr>
        <p:spPr>
          <a:xfrm>
            <a:off x="895320" y="4305240"/>
            <a:ext cx="76766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2024-2025 Market Status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430" name="Shape 8"/>
          <p:cNvSpPr/>
          <p:nvPr/>
        </p:nvSpPr>
        <p:spPr>
          <a:xfrm>
            <a:off x="409680" y="5686560"/>
            <a:ext cx="11372400" cy="81864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1" name="Text 9"/>
          <p:cNvSpPr/>
          <p:nvPr/>
        </p:nvSpPr>
        <p:spPr>
          <a:xfrm>
            <a:off x="666720" y="5943600"/>
            <a:ext cx="109724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Adoption, ETF Success &amp; Price Discovery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0"/>
          <p:cNvSpPr/>
          <p:nvPr/>
        </p:nvSpPr>
        <p:spPr>
          <a:xfrm>
            <a:off x="341280" y="341280"/>
            <a:ext cx="11508840" cy="84096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3" name="Text 1"/>
          <p:cNvSpPr/>
          <p:nvPr/>
        </p:nvSpPr>
        <p:spPr>
          <a:xfrm>
            <a:off x="523800" y="523800"/>
            <a:ext cx="112867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TODAY: MARKET METRICS &amp; ADOPTION DATA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34" name="Shape 2"/>
          <p:cNvSpPr/>
          <p:nvPr/>
        </p:nvSpPr>
        <p:spPr>
          <a:xfrm>
            <a:off x="523800" y="936720"/>
            <a:ext cx="761760" cy="630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5" name="Shape 3"/>
          <p:cNvSpPr/>
          <p:nvPr/>
        </p:nvSpPr>
        <p:spPr>
          <a:xfrm>
            <a:off x="341280" y="1357200"/>
            <a:ext cx="5651280" cy="2809440"/>
          </a:xfrm>
          <a:custGeom>
            <a:avLst/>
            <a:gdLst/>
            <a:ahLst/>
            <a:rect l="l" t="t" r="r" b="b"/>
            <a:pathLst>
              <a:path w="5651500" h="2809875">
                <a:moveTo>
                  <a:pt x="0" y="0"/>
                </a:moveTo>
                <a:lnTo>
                  <a:pt x="5651500" y="0"/>
                </a:lnTo>
                <a:lnTo>
                  <a:pt x="5651500" y="2809875"/>
                </a:lnTo>
                <a:lnTo>
                  <a:pt x="0" y="2809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36" name="Text 4"/>
          <p:cNvSpPr/>
          <p:nvPr/>
        </p:nvSpPr>
        <p:spPr>
          <a:xfrm>
            <a:off x="523800" y="153972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PRICE PERFORMANCE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37" name="Shape 5"/>
          <p:cNvSpPr/>
          <p:nvPr/>
        </p:nvSpPr>
        <p:spPr>
          <a:xfrm>
            <a:off x="539640" y="1936800"/>
            <a:ext cx="2547720" cy="1015560"/>
          </a:xfrm>
          <a:custGeom>
            <a:avLst/>
            <a:gdLst/>
            <a:ah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Text 6"/>
          <p:cNvSpPr/>
          <p:nvPr/>
        </p:nvSpPr>
        <p:spPr>
          <a:xfrm>
            <a:off x="682560" y="2079720"/>
            <a:ext cx="232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Current Price (Mar 2026)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39" name="Text 7"/>
          <p:cNvSpPr/>
          <p:nvPr/>
        </p:nvSpPr>
        <p:spPr>
          <a:xfrm>
            <a:off x="682560" y="2333520"/>
            <a:ext cx="2404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$74,532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0" name="Shape 8"/>
          <p:cNvSpPr/>
          <p:nvPr/>
        </p:nvSpPr>
        <p:spPr>
          <a:xfrm>
            <a:off x="3246480" y="1936800"/>
            <a:ext cx="2547720" cy="1015560"/>
          </a:xfrm>
          <a:custGeom>
            <a:avLst/>
            <a:gdLst/>
            <a:ah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Text 9"/>
          <p:cNvSpPr/>
          <p:nvPr/>
        </p:nvSpPr>
        <p:spPr>
          <a:xfrm>
            <a:off x="3389400" y="2079720"/>
            <a:ext cx="232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All-Time High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2" name="Text 10"/>
          <p:cNvSpPr/>
          <p:nvPr/>
        </p:nvSpPr>
        <p:spPr>
          <a:xfrm>
            <a:off x="3389400" y="2333520"/>
            <a:ext cx="2404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$126,173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3" name="Text 11"/>
          <p:cNvSpPr/>
          <p:nvPr/>
        </p:nvSpPr>
        <p:spPr>
          <a:xfrm>
            <a:off x="3389400" y="2651040"/>
            <a:ext cx="23173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October 6, 2025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44" name="Shape 12"/>
          <p:cNvSpPr/>
          <p:nvPr/>
        </p:nvSpPr>
        <p:spPr>
          <a:xfrm>
            <a:off x="539640" y="3111480"/>
            <a:ext cx="2547720" cy="856800"/>
          </a:xfrm>
          <a:custGeom>
            <a:avLst/>
            <a:gdLst/>
            <a:ah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5" name="Text 13"/>
          <p:cNvSpPr/>
          <p:nvPr/>
        </p:nvSpPr>
        <p:spPr>
          <a:xfrm>
            <a:off x="682560" y="3254400"/>
            <a:ext cx="232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Market Cap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6" name="Text 14"/>
          <p:cNvSpPr/>
          <p:nvPr/>
        </p:nvSpPr>
        <p:spPr>
          <a:xfrm>
            <a:off x="682560" y="3508200"/>
            <a:ext cx="2404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$1.47T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7" name="Shape 15"/>
          <p:cNvSpPr/>
          <p:nvPr/>
        </p:nvSpPr>
        <p:spPr>
          <a:xfrm>
            <a:off x="3246480" y="3111480"/>
            <a:ext cx="2547720" cy="856800"/>
          </a:xfrm>
          <a:custGeom>
            <a:avLst/>
            <a:gdLst/>
            <a:ah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8" name="Text 16"/>
          <p:cNvSpPr/>
          <p:nvPr/>
        </p:nvSpPr>
        <p:spPr>
          <a:xfrm>
            <a:off x="3389400" y="3254400"/>
            <a:ext cx="232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24h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9" name="Text 17"/>
          <p:cNvSpPr/>
          <p:nvPr/>
        </p:nvSpPr>
        <p:spPr>
          <a:xfrm>
            <a:off x="3389400" y="3508200"/>
            <a:ext cx="2404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$28.5B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50" name="Shape 18"/>
          <p:cNvSpPr/>
          <p:nvPr/>
        </p:nvSpPr>
        <p:spPr>
          <a:xfrm>
            <a:off x="341280" y="4341960"/>
            <a:ext cx="5651280" cy="2999880"/>
          </a:xfrm>
          <a:custGeom>
            <a:avLst/>
            <a:gdLst/>
            <a:ahLst/>
            <a:rect l="l" t="t" r="r" b="b"/>
            <a:pathLst>
              <a:path w="5651500" h="3000375">
                <a:moveTo>
                  <a:pt x="0" y="0"/>
                </a:moveTo>
                <a:lnTo>
                  <a:pt x="5651500" y="0"/>
                </a:lnTo>
                <a:lnTo>
                  <a:pt x="56515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51" name="Text 19"/>
          <p:cNvSpPr/>
          <p:nvPr/>
        </p:nvSpPr>
        <p:spPr>
          <a:xfrm>
            <a:off x="523800" y="452448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HOLDINGS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2" name="Shape 20"/>
          <p:cNvSpPr/>
          <p:nvPr/>
        </p:nvSpPr>
        <p:spPr>
          <a:xfrm>
            <a:off x="539640" y="4921200"/>
            <a:ext cx="5254200" cy="63468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3" name="Text 21"/>
          <p:cNvSpPr/>
          <p:nvPr/>
        </p:nvSpPr>
        <p:spPr>
          <a:xfrm>
            <a:off x="650880" y="5064120"/>
            <a:ext cx="14205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Total Institutional BTC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54" name="Text 22"/>
          <p:cNvSpPr/>
          <p:nvPr/>
        </p:nvSpPr>
        <p:spPr>
          <a:xfrm>
            <a:off x="4704120" y="5032440"/>
            <a:ext cx="10713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1.4M+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5" name="Text 23"/>
          <p:cNvSpPr/>
          <p:nvPr/>
        </p:nvSpPr>
        <p:spPr>
          <a:xfrm>
            <a:off x="650880" y="5286240"/>
            <a:ext cx="5087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~7% of circulating supply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56" name="Shape 24"/>
          <p:cNvSpPr/>
          <p:nvPr/>
        </p:nvSpPr>
        <p:spPr>
          <a:xfrm>
            <a:off x="539640" y="5683320"/>
            <a:ext cx="5254200" cy="63468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7" name="Text 25"/>
          <p:cNvSpPr/>
          <p:nvPr/>
        </p:nvSpPr>
        <p:spPr>
          <a:xfrm>
            <a:off x="650880" y="5826240"/>
            <a:ext cx="19681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Assets Under Management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58" name="Text 26"/>
          <p:cNvSpPr/>
          <p:nvPr/>
        </p:nvSpPr>
        <p:spPr>
          <a:xfrm>
            <a:off x="5116680" y="5794200"/>
            <a:ext cx="6584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$85B+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9" name="Text 27"/>
          <p:cNvSpPr/>
          <p:nvPr/>
        </p:nvSpPr>
        <p:spPr>
          <a:xfrm>
            <a:off x="650880" y="6048360"/>
            <a:ext cx="5087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BlackRock IBIT leads with $52B+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60" name="Shape 28"/>
          <p:cNvSpPr/>
          <p:nvPr/>
        </p:nvSpPr>
        <p:spPr>
          <a:xfrm>
            <a:off x="539640" y="6445080"/>
            <a:ext cx="5254200" cy="63468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1" name="Text 29"/>
          <p:cNvSpPr/>
          <p:nvPr/>
        </p:nvSpPr>
        <p:spPr>
          <a:xfrm>
            <a:off x="650880" y="6588000"/>
            <a:ext cx="1491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MicroStrategy Holdings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62" name="Text 30"/>
          <p:cNvSpPr/>
          <p:nvPr/>
        </p:nvSpPr>
        <p:spPr>
          <a:xfrm>
            <a:off x="4550040" y="6556320"/>
            <a:ext cx="12301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714,644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63" name="Text 31"/>
          <p:cNvSpPr/>
          <p:nvPr/>
        </p:nvSpPr>
        <p:spPr>
          <a:xfrm>
            <a:off x="650880" y="6810480"/>
            <a:ext cx="5087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Cost basis: $54.4B ($76,056/BTC)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64" name="Shape 32"/>
          <p:cNvSpPr/>
          <p:nvPr/>
        </p:nvSpPr>
        <p:spPr>
          <a:xfrm>
            <a:off x="6199200" y="1357200"/>
            <a:ext cx="5651280" cy="3825360"/>
          </a:xfrm>
          <a:custGeom>
            <a:avLst/>
            <a:gdLst/>
            <a:ahLst/>
            <a:rect l="l" t="t" r="r" b="b"/>
            <a:pathLst>
              <a:path w="5651500" h="3825875">
                <a:moveTo>
                  <a:pt x="0" y="0"/>
                </a:moveTo>
                <a:lnTo>
                  <a:pt x="5651500" y="0"/>
                </a:lnTo>
                <a:lnTo>
                  <a:pt x="5651500" y="3825875"/>
                </a:lnTo>
                <a:lnTo>
                  <a:pt x="0" y="382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65" name="Text 33"/>
          <p:cNvSpPr/>
          <p:nvPr/>
        </p:nvSpPr>
        <p:spPr>
          <a:xfrm>
            <a:off x="6381720" y="153972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ON-CHAIN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66" name="Shape 34"/>
          <p:cNvSpPr/>
          <p:nvPr/>
        </p:nvSpPr>
        <p:spPr>
          <a:xfrm>
            <a:off x="6397560" y="1936800"/>
            <a:ext cx="5254200" cy="952200"/>
          </a:xfrm>
          <a:custGeom>
            <a:avLst/>
            <a:gdLst/>
            <a:ahLst/>
            <a:rect l="l" t="t" r="r" b="b"/>
            <a:pathLst>
              <a:path w="5254625" h="952500">
                <a:moveTo>
                  <a:pt x="0" y="0"/>
                </a:moveTo>
                <a:lnTo>
                  <a:pt x="5254625" y="0"/>
                </a:lnTo>
                <a:lnTo>
                  <a:pt x="5254625" y="952500"/>
                </a:lnTo>
                <a:lnTo>
                  <a:pt x="0" y="952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Text 35"/>
          <p:cNvSpPr/>
          <p:nvPr/>
        </p:nvSpPr>
        <p:spPr>
          <a:xfrm>
            <a:off x="6508800" y="204804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Long-Term Holder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68" name="Text 36"/>
          <p:cNvSpPr/>
          <p:nvPr/>
        </p:nvSpPr>
        <p:spPr>
          <a:xfrm>
            <a:off x="6508800" y="2301840"/>
            <a:ext cx="5950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62%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69" name="Text 37"/>
          <p:cNvSpPr/>
          <p:nvPr/>
        </p:nvSpPr>
        <p:spPr>
          <a:xfrm>
            <a:off x="7080480" y="2365200"/>
            <a:ext cx="145224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 BTC unmoved for 1+ year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70" name="Shape 38"/>
          <p:cNvSpPr/>
          <p:nvPr/>
        </p:nvSpPr>
        <p:spPr>
          <a:xfrm>
            <a:off x="6524640" y="2666880"/>
            <a:ext cx="5000400" cy="9504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1" name="Shape 39"/>
          <p:cNvSpPr/>
          <p:nvPr/>
        </p:nvSpPr>
        <p:spPr>
          <a:xfrm>
            <a:off x="6540480" y="2682720"/>
            <a:ext cx="3079440" cy="63000"/>
          </a:xfrm>
          <a:custGeom>
            <a:avLst/>
            <a:gdLst/>
            <a:ahLst/>
            <a:rect l="l" t="t" r="r" b="b"/>
            <a:pathLst>
              <a:path w="3079750" h="63500">
                <a:moveTo>
                  <a:pt x="0" y="0"/>
                </a:moveTo>
                <a:lnTo>
                  <a:pt x="3079750" y="0"/>
                </a:lnTo>
                <a:lnTo>
                  <a:pt x="307975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2" name="Shape 40"/>
          <p:cNvSpPr/>
          <p:nvPr/>
        </p:nvSpPr>
        <p:spPr>
          <a:xfrm>
            <a:off x="6397560" y="3016080"/>
            <a:ext cx="5254200" cy="920520"/>
          </a:xfrm>
          <a:custGeom>
            <a:avLst/>
            <a:gdLst/>
            <a:ah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3" name="Text 41"/>
          <p:cNvSpPr/>
          <p:nvPr/>
        </p:nvSpPr>
        <p:spPr>
          <a:xfrm>
            <a:off x="6508800" y="312732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74" name="Text 42"/>
          <p:cNvSpPr/>
          <p:nvPr/>
        </p:nvSpPr>
        <p:spPr>
          <a:xfrm>
            <a:off x="6508800" y="3381480"/>
            <a:ext cx="51512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$1.17B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75" name="Text 43"/>
          <p:cNvSpPr/>
          <p:nvPr/>
        </p:nvSpPr>
        <p:spPr>
          <a:xfrm>
            <a:off x="6508800" y="3666960"/>
            <a:ext cx="5087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Monthly transaction volume (Nov 2025)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76" name="Shape 44"/>
          <p:cNvSpPr/>
          <p:nvPr/>
        </p:nvSpPr>
        <p:spPr>
          <a:xfrm>
            <a:off x="6397560" y="4064040"/>
            <a:ext cx="5254200" cy="920520"/>
          </a:xfrm>
          <a:custGeom>
            <a:avLst/>
            <a:gdLst/>
            <a:ah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7" name="Text 45"/>
          <p:cNvSpPr/>
          <p:nvPr/>
        </p:nvSpPr>
        <p:spPr>
          <a:xfrm>
            <a:off x="6508800" y="417528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Network Hash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78" name="Text 46"/>
          <p:cNvSpPr/>
          <p:nvPr/>
        </p:nvSpPr>
        <p:spPr>
          <a:xfrm>
            <a:off x="6508800" y="4429080"/>
            <a:ext cx="51512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880 EH/s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79" name="Text 47"/>
          <p:cNvSpPr/>
          <p:nvPr/>
        </p:nvSpPr>
        <p:spPr>
          <a:xfrm>
            <a:off x="6508800" y="4714920"/>
            <a:ext cx="5087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All-time high network security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80" name="Shape 48"/>
          <p:cNvSpPr/>
          <p:nvPr/>
        </p:nvSpPr>
        <p:spPr>
          <a:xfrm>
            <a:off x="6199200" y="5357880"/>
            <a:ext cx="5651280" cy="1983960"/>
          </a:xfrm>
          <a:custGeom>
            <a:avLst/>
            <a:gdLst/>
            <a:ahLst/>
            <a:rect l="l" t="t" r="r" b="b"/>
            <a:pathLst>
              <a:path w="5651500" h="1984375">
                <a:moveTo>
                  <a:pt x="0" y="0"/>
                </a:moveTo>
                <a:lnTo>
                  <a:pt x="5651500" y="0"/>
                </a:lnTo>
                <a:lnTo>
                  <a:pt x="5651500" y="1984375"/>
                </a:lnTo>
                <a:lnTo>
                  <a:pt x="0" y="1984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81" name="Text 49"/>
          <p:cNvSpPr/>
          <p:nvPr/>
        </p:nvSpPr>
        <p:spPr>
          <a:xfrm>
            <a:off x="6381720" y="554040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PERFORMANCE VS TRADITIONAL ASSETS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82" name="Text 50"/>
          <p:cNvSpPr/>
          <p:nvPr/>
        </p:nvSpPr>
        <p:spPr>
          <a:xfrm>
            <a:off x="6381720" y="5921280"/>
            <a:ext cx="53496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5-Year Returns (2020-2025):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3" name="Text 51"/>
          <p:cNvSpPr/>
          <p:nvPr/>
        </p:nvSpPr>
        <p:spPr>
          <a:xfrm>
            <a:off x="6381720" y="6207120"/>
            <a:ext cx="8251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4" name="Shape 52"/>
          <p:cNvSpPr/>
          <p:nvPr/>
        </p:nvSpPr>
        <p:spPr>
          <a:xfrm>
            <a:off x="7254720" y="6222960"/>
            <a:ext cx="4397040" cy="15840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5" name="Shape 53"/>
          <p:cNvSpPr/>
          <p:nvPr/>
        </p:nvSpPr>
        <p:spPr>
          <a:xfrm>
            <a:off x="7270920" y="6238800"/>
            <a:ext cx="4365360" cy="126720"/>
          </a:xfrm>
          <a:custGeom>
            <a:avLst/>
            <a:gdLst/>
            <a:ahLst/>
            <a:rect l="l" t="t" r="r" b="b"/>
            <a:pathLst>
              <a:path w="4365625" h="127000">
                <a:moveTo>
                  <a:pt x="0" y="0"/>
                </a:moveTo>
                <a:lnTo>
                  <a:pt x="4365625" y="0"/>
                </a:lnTo>
                <a:lnTo>
                  <a:pt x="4365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6" name="Text 54"/>
          <p:cNvSpPr/>
          <p:nvPr/>
        </p:nvSpPr>
        <p:spPr>
          <a:xfrm>
            <a:off x="11223720" y="6222960"/>
            <a:ext cx="40428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+940%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87" name="Text 55"/>
          <p:cNvSpPr/>
          <p:nvPr/>
        </p:nvSpPr>
        <p:spPr>
          <a:xfrm>
            <a:off x="6381720" y="6461280"/>
            <a:ext cx="8251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Nasdaq 100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8" name="Shape 56"/>
          <p:cNvSpPr/>
          <p:nvPr/>
        </p:nvSpPr>
        <p:spPr>
          <a:xfrm>
            <a:off x="7254720" y="6477120"/>
            <a:ext cx="4397040" cy="15840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9" name="Shape 57"/>
          <p:cNvSpPr/>
          <p:nvPr/>
        </p:nvSpPr>
        <p:spPr>
          <a:xfrm>
            <a:off x="7270920" y="6492960"/>
            <a:ext cx="523440" cy="126720"/>
          </a:xfrm>
          <a:custGeom>
            <a:avLst/>
            <a:gdLst/>
            <a:ahLst/>
            <a:rect l="l" t="t" r="r" b="b"/>
            <a:pathLst>
              <a:path w="523875" h="127000">
                <a:moveTo>
                  <a:pt x="0" y="0"/>
                </a:moveTo>
                <a:lnTo>
                  <a:pt x="523875" y="0"/>
                </a:lnTo>
                <a:lnTo>
                  <a:pt x="523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Text 58"/>
          <p:cNvSpPr/>
          <p:nvPr/>
        </p:nvSpPr>
        <p:spPr>
          <a:xfrm>
            <a:off x="7382160" y="6477120"/>
            <a:ext cx="40428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+110%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1" name="Text 59"/>
          <p:cNvSpPr/>
          <p:nvPr/>
        </p:nvSpPr>
        <p:spPr>
          <a:xfrm>
            <a:off x="6381720" y="6715080"/>
            <a:ext cx="8251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S&amp;P 500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2" name="Shape 60"/>
          <p:cNvSpPr/>
          <p:nvPr/>
        </p:nvSpPr>
        <p:spPr>
          <a:xfrm>
            <a:off x="7254720" y="6730920"/>
            <a:ext cx="4397040" cy="15840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Shape 61"/>
          <p:cNvSpPr/>
          <p:nvPr/>
        </p:nvSpPr>
        <p:spPr>
          <a:xfrm>
            <a:off x="7270920" y="6746760"/>
            <a:ext cx="396360" cy="126720"/>
          </a:xfrm>
          <a:custGeom>
            <a:avLst/>
            <a:gdLst/>
            <a:ahLst/>
            <a:rect l="l" t="t" r="r" b="b"/>
            <a:pathLst>
              <a:path w="396875" h="127000">
                <a:moveTo>
                  <a:pt x="0" y="0"/>
                </a:moveTo>
                <a:lnTo>
                  <a:pt x="396875" y="0"/>
                </a:lnTo>
                <a:lnTo>
                  <a:pt x="396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4" name="Text 62"/>
          <p:cNvSpPr/>
          <p:nvPr/>
        </p:nvSpPr>
        <p:spPr>
          <a:xfrm>
            <a:off x="7312680" y="6730920"/>
            <a:ext cx="34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+80%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5" name="Text 63"/>
          <p:cNvSpPr/>
          <p:nvPr/>
        </p:nvSpPr>
        <p:spPr>
          <a:xfrm>
            <a:off x="6381720" y="6969240"/>
            <a:ext cx="8251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6" name="Shape 64"/>
          <p:cNvSpPr/>
          <p:nvPr/>
        </p:nvSpPr>
        <p:spPr>
          <a:xfrm>
            <a:off x="7254720" y="6985080"/>
            <a:ext cx="4397040" cy="15840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7" name="Shape 65"/>
          <p:cNvSpPr/>
          <p:nvPr/>
        </p:nvSpPr>
        <p:spPr>
          <a:xfrm>
            <a:off x="7270920" y="7000920"/>
            <a:ext cx="174240" cy="126720"/>
          </a:xfrm>
          <a:custGeom>
            <a:avLst/>
            <a:gdLst/>
            <a:ahLst/>
            <a:rect l="l" t="t" r="r" b="b"/>
            <a:pathLst>
              <a:path w="174625" h="127000">
                <a:moveTo>
                  <a:pt x="0" y="0"/>
                </a:moveTo>
                <a:lnTo>
                  <a:pt x="174625" y="0"/>
                </a:lnTo>
                <a:lnTo>
                  <a:pt x="174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8" name="Text 66"/>
          <p:cNvSpPr/>
          <p:nvPr/>
        </p:nvSpPr>
        <p:spPr>
          <a:xfrm>
            <a:off x="7094520" y="6985080"/>
            <a:ext cx="34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+25%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Image 0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0" name="Shape 0"/>
          <p:cNvSpPr/>
          <p:nvPr/>
        </p:nvSpPr>
        <p:spPr>
          <a:xfrm>
            <a:off x="0" y="0"/>
            <a:ext cx="12191760" cy="68576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1" name="Shape 1"/>
          <p:cNvSpPr/>
          <p:nvPr/>
        </p:nvSpPr>
        <p:spPr>
          <a:xfrm>
            <a:off x="3305160" y="352440"/>
            <a:ext cx="8476920" cy="481932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02" name="Shape 2"/>
          <p:cNvSpPr/>
          <p:nvPr/>
        </p:nvSpPr>
        <p:spPr>
          <a:xfrm>
            <a:off x="10077480" y="838080"/>
            <a:ext cx="75960" cy="9140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3" name="Shape 3"/>
          <p:cNvSpPr/>
          <p:nvPr/>
        </p:nvSpPr>
        <p:spPr>
          <a:xfrm>
            <a:off x="10410840" y="866880"/>
            <a:ext cx="856800" cy="8568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4" name="Text 4"/>
          <p:cNvSpPr/>
          <p:nvPr/>
        </p:nvSpPr>
        <p:spPr>
          <a:xfrm>
            <a:off x="10267920" y="838080"/>
            <a:ext cx="102852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06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05" name="Text 5"/>
          <p:cNvSpPr/>
          <p:nvPr/>
        </p:nvSpPr>
        <p:spPr>
          <a:xfrm>
            <a:off x="3448080" y="2057400"/>
            <a:ext cx="7848360" cy="171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506" name="Shape 6"/>
          <p:cNvSpPr/>
          <p:nvPr/>
        </p:nvSpPr>
        <p:spPr>
          <a:xfrm>
            <a:off x="9468000" y="4000680"/>
            <a:ext cx="1828440" cy="759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7" name="Text 7"/>
          <p:cNvSpPr/>
          <p:nvPr/>
        </p:nvSpPr>
        <p:spPr>
          <a:xfrm>
            <a:off x="3619440" y="4305240"/>
            <a:ext cx="76766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Wall Street Embraces Bitcoin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08" name="Shape 8"/>
          <p:cNvSpPr/>
          <p:nvPr/>
        </p:nvSpPr>
        <p:spPr>
          <a:xfrm>
            <a:off x="5198760" y="5686560"/>
            <a:ext cx="6581520" cy="818640"/>
          </a:xfrm>
          <a:custGeom>
            <a:avLst/>
            <a:gdLst/>
            <a:ahLst/>
            <a:rect l="l" t="t" r="r" b="b"/>
            <a:pathLst>
              <a:path w="6581775" h="819150">
                <a:moveTo>
                  <a:pt x="0" y="0"/>
                </a:moveTo>
                <a:lnTo>
                  <a:pt x="6581775" y="0"/>
                </a:lnTo>
                <a:lnTo>
                  <a:pt x="65817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9" name="Text 9"/>
          <p:cNvSpPr/>
          <p:nvPr/>
        </p:nvSpPr>
        <p:spPr>
          <a:xfrm>
            <a:off x="5456160" y="5943600"/>
            <a:ext cx="61812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Fringe Asset to Mainstream Portfolio Allocation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Shape 0"/>
          <p:cNvSpPr/>
          <p:nvPr/>
        </p:nvSpPr>
        <p:spPr>
          <a:xfrm>
            <a:off x="341280" y="341280"/>
            <a:ext cx="11508840" cy="84096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1" name="Text 1"/>
          <p:cNvSpPr/>
          <p:nvPr/>
        </p:nvSpPr>
        <p:spPr>
          <a:xfrm>
            <a:off x="523800" y="523800"/>
            <a:ext cx="112867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FRINGE TO MAINSTREAM: INSTITUTIONAL ENTRY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512" name="Shape 2"/>
          <p:cNvSpPr/>
          <p:nvPr/>
        </p:nvSpPr>
        <p:spPr>
          <a:xfrm>
            <a:off x="523800" y="936720"/>
            <a:ext cx="761760" cy="630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3" name="Shape 3"/>
          <p:cNvSpPr/>
          <p:nvPr/>
        </p:nvSpPr>
        <p:spPr>
          <a:xfrm>
            <a:off x="341280" y="1357200"/>
            <a:ext cx="5651280" cy="1952280"/>
          </a:xfrm>
          <a:custGeom>
            <a:avLst/>
            <a:gdLst/>
            <a:ahLst/>
            <a:rect l="l" t="t" r="r" b="b"/>
            <a:pathLst>
              <a:path w="5651500" h="1952625">
                <a:moveTo>
                  <a:pt x="0" y="0"/>
                </a:moveTo>
                <a:lnTo>
                  <a:pt x="5651500" y="0"/>
                </a:lnTo>
                <a:lnTo>
                  <a:pt x="5651500" y="1952625"/>
                </a:lnTo>
                <a:lnTo>
                  <a:pt x="0" y="1952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14" name="Shape 4"/>
          <p:cNvSpPr/>
          <p:nvPr/>
        </p:nvSpPr>
        <p:spPr>
          <a:xfrm>
            <a:off x="547560" y="1563840"/>
            <a:ext cx="396360" cy="39636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5" name="Text 5"/>
          <p:cNvSpPr/>
          <p:nvPr/>
        </p:nvSpPr>
        <p:spPr>
          <a:xfrm>
            <a:off x="476280" y="1539720"/>
            <a:ext cx="4442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6" name="Text 6"/>
          <p:cNvSpPr/>
          <p:nvPr/>
        </p:nvSpPr>
        <p:spPr>
          <a:xfrm>
            <a:off x="1095480" y="1539720"/>
            <a:ext cx="48096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2024: THE TURNING POINT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7" name="Text 7"/>
          <p:cNvSpPr/>
          <p:nvPr/>
        </p:nvSpPr>
        <p:spPr>
          <a:xfrm>
            <a:off x="1095480" y="1857240"/>
            <a:ext cx="477792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SEC approves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11 spot Bitcoin ETFs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, marking the most successful ETF launch in history. This removed the final barrier for institutional capital.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18" name="Shape 8"/>
          <p:cNvSpPr/>
          <p:nvPr/>
        </p:nvSpPr>
        <p:spPr>
          <a:xfrm>
            <a:off x="539640" y="2413080"/>
            <a:ext cx="1666440" cy="69804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9" name="Text 9"/>
          <p:cNvSpPr/>
          <p:nvPr/>
        </p:nvSpPr>
        <p:spPr>
          <a:xfrm>
            <a:off x="591480" y="2523960"/>
            <a:ext cx="15634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$52B+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0" name="Text 10"/>
          <p:cNvSpPr/>
          <p:nvPr/>
        </p:nvSpPr>
        <p:spPr>
          <a:xfrm>
            <a:off x="623160" y="2841480"/>
            <a:ext cx="149976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BlackRock IBIT AUM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1" name="Shape 11"/>
          <p:cNvSpPr/>
          <p:nvPr/>
        </p:nvSpPr>
        <p:spPr>
          <a:xfrm>
            <a:off x="2333520" y="2413080"/>
            <a:ext cx="1666440" cy="69804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2" name="Text 12"/>
          <p:cNvSpPr/>
          <p:nvPr/>
        </p:nvSpPr>
        <p:spPr>
          <a:xfrm>
            <a:off x="2385360" y="2523960"/>
            <a:ext cx="15634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$85B+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3" name="Text 13"/>
          <p:cNvSpPr/>
          <p:nvPr/>
        </p:nvSpPr>
        <p:spPr>
          <a:xfrm>
            <a:off x="2417040" y="2841480"/>
            <a:ext cx="149976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Total ETF AUM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4" name="Shape 14"/>
          <p:cNvSpPr/>
          <p:nvPr/>
        </p:nvSpPr>
        <p:spPr>
          <a:xfrm>
            <a:off x="4127400" y="2413080"/>
            <a:ext cx="1666440" cy="69804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5" name="Text 15"/>
          <p:cNvSpPr/>
          <p:nvPr/>
        </p:nvSpPr>
        <p:spPr>
          <a:xfrm>
            <a:off x="4179240" y="2523960"/>
            <a:ext cx="15634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 Year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6" name="Text 16"/>
          <p:cNvSpPr/>
          <p:nvPr/>
        </p:nvSpPr>
        <p:spPr>
          <a:xfrm>
            <a:off x="4210920" y="2841480"/>
            <a:ext cx="149976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 Reach $50B+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7" name="Shape 17"/>
          <p:cNvSpPr/>
          <p:nvPr/>
        </p:nvSpPr>
        <p:spPr>
          <a:xfrm>
            <a:off x="341280" y="3484440"/>
            <a:ext cx="5651280" cy="5222520"/>
          </a:xfrm>
          <a:custGeom>
            <a:avLst/>
            <a:gdLst/>
            <a:ahLst/>
            <a:rect l="l" t="t" r="r" b="b"/>
            <a:pathLst>
              <a:path w="5651500" h="5222875">
                <a:moveTo>
                  <a:pt x="0" y="0"/>
                </a:moveTo>
                <a:lnTo>
                  <a:pt x="5651500" y="0"/>
                </a:lnTo>
                <a:lnTo>
                  <a:pt x="5651500" y="5222875"/>
                </a:lnTo>
                <a:lnTo>
                  <a:pt x="0" y="522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28" name="Text 18"/>
          <p:cNvSpPr/>
          <p:nvPr/>
        </p:nvSpPr>
        <p:spPr>
          <a:xfrm>
            <a:off x="523800" y="366696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INSTITUTIONAL PLAYERS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29" name="Shape 19"/>
          <p:cNvSpPr/>
          <p:nvPr/>
        </p:nvSpPr>
        <p:spPr>
          <a:xfrm>
            <a:off x="539640" y="4064040"/>
            <a:ext cx="5254200" cy="66636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0" name="Text 20"/>
          <p:cNvSpPr/>
          <p:nvPr/>
        </p:nvSpPr>
        <p:spPr>
          <a:xfrm>
            <a:off x="650880" y="4175280"/>
            <a:ext cx="26190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MicroStrategy (Strategy)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1" name="Text 21"/>
          <p:cNvSpPr/>
          <p:nvPr/>
        </p:nvSpPr>
        <p:spPr>
          <a:xfrm>
            <a:off x="650880" y="4429080"/>
            <a:ext cx="2611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Pioneered corporate treasury Bitcoin strategy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2" name="Text 22"/>
          <p:cNvSpPr/>
          <p:nvPr/>
        </p:nvSpPr>
        <p:spPr>
          <a:xfrm>
            <a:off x="4455000" y="4175280"/>
            <a:ext cx="12301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714,644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33" name="Text 23"/>
          <p:cNvSpPr/>
          <p:nvPr/>
        </p:nvSpPr>
        <p:spPr>
          <a:xfrm>
            <a:off x="4494600" y="4429080"/>
            <a:ext cx="119016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$54.4B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4" name="Shape 24"/>
          <p:cNvSpPr/>
          <p:nvPr/>
        </p:nvSpPr>
        <p:spPr>
          <a:xfrm>
            <a:off x="539640" y="4857840"/>
            <a:ext cx="5254200" cy="66636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5" name="Text 25"/>
          <p:cNvSpPr/>
          <p:nvPr/>
        </p:nvSpPr>
        <p:spPr>
          <a:xfrm>
            <a:off x="650880" y="4968720"/>
            <a:ext cx="21506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Tesla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6" name="Text 26"/>
          <p:cNvSpPr/>
          <p:nvPr/>
        </p:nvSpPr>
        <p:spPr>
          <a:xfrm>
            <a:off x="650880" y="5222880"/>
            <a:ext cx="21427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Added BTC to balance sheet in 2021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7" name="Text 27"/>
          <p:cNvSpPr/>
          <p:nvPr/>
        </p:nvSpPr>
        <p:spPr>
          <a:xfrm>
            <a:off x="4560840" y="4968720"/>
            <a:ext cx="11188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11,509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38" name="Text 28"/>
          <p:cNvSpPr/>
          <p:nvPr/>
        </p:nvSpPr>
        <p:spPr>
          <a:xfrm>
            <a:off x="4600440" y="5222880"/>
            <a:ext cx="107928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~$850M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9" name="Shape 29"/>
          <p:cNvSpPr/>
          <p:nvPr/>
        </p:nvSpPr>
        <p:spPr>
          <a:xfrm>
            <a:off x="539640" y="5651640"/>
            <a:ext cx="5254200" cy="66636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0" name="Text 30"/>
          <p:cNvSpPr/>
          <p:nvPr/>
        </p:nvSpPr>
        <p:spPr>
          <a:xfrm>
            <a:off x="650880" y="5762520"/>
            <a:ext cx="212688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Block (Square)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41" name="Text 31"/>
          <p:cNvSpPr/>
          <p:nvPr/>
        </p:nvSpPr>
        <p:spPr>
          <a:xfrm>
            <a:off x="650880" y="6016680"/>
            <a:ext cx="21189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Financial services embracing 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2" name="Text 32"/>
          <p:cNvSpPr/>
          <p:nvPr/>
        </p:nvSpPr>
        <p:spPr>
          <a:xfrm>
            <a:off x="4666680" y="5762520"/>
            <a:ext cx="10155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8,027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3" name="Text 33"/>
          <p:cNvSpPr/>
          <p:nvPr/>
        </p:nvSpPr>
        <p:spPr>
          <a:xfrm>
            <a:off x="4706640" y="6016680"/>
            <a:ext cx="97596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~$600M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44" name="Shape 34"/>
          <p:cNvSpPr/>
          <p:nvPr/>
        </p:nvSpPr>
        <p:spPr>
          <a:xfrm>
            <a:off x="6199200" y="1357200"/>
            <a:ext cx="5651280" cy="4714560"/>
          </a:xfrm>
          <a:custGeom>
            <a:avLst/>
            <a:gdLst/>
            <a:ahLst/>
            <a:rect l="l" t="t" r="r" b="b"/>
            <a:pathLst>
              <a:path w="5651500" h="4714875">
                <a:moveTo>
                  <a:pt x="0" y="0"/>
                </a:moveTo>
                <a:lnTo>
                  <a:pt x="5651500" y="0"/>
                </a:lnTo>
                <a:lnTo>
                  <a:pt x="5651500" y="4714875"/>
                </a:lnTo>
                <a:lnTo>
                  <a:pt x="0" y="4714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5" name="Text 35"/>
          <p:cNvSpPr/>
          <p:nvPr/>
        </p:nvSpPr>
        <p:spPr>
          <a:xfrm>
            <a:off x="6381720" y="153972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THREE-PHASE ADOPTION TIMELINE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6" name="Shape 36"/>
          <p:cNvSpPr/>
          <p:nvPr/>
        </p:nvSpPr>
        <p:spPr>
          <a:xfrm>
            <a:off x="6397560" y="1936800"/>
            <a:ext cx="5254200" cy="120600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7" name="Shape 37"/>
          <p:cNvSpPr/>
          <p:nvPr/>
        </p:nvSpPr>
        <p:spPr>
          <a:xfrm>
            <a:off x="6564240" y="2103480"/>
            <a:ext cx="269640" cy="26964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8" name="Text 38"/>
          <p:cNvSpPr/>
          <p:nvPr/>
        </p:nvSpPr>
        <p:spPr>
          <a:xfrm>
            <a:off x="6508800" y="2079720"/>
            <a:ext cx="28548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1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9" name="Text 39"/>
          <p:cNvSpPr/>
          <p:nvPr/>
        </p:nvSpPr>
        <p:spPr>
          <a:xfrm>
            <a:off x="6953400" y="2127240"/>
            <a:ext cx="8409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2025-2027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50" name="Text 40"/>
          <p:cNvSpPr/>
          <p:nvPr/>
        </p:nvSpPr>
        <p:spPr>
          <a:xfrm>
            <a:off x="6540480" y="2460600"/>
            <a:ext cx="5032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Pension &amp; 401(k) Integration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1" name="Text 41"/>
          <p:cNvSpPr/>
          <p:nvPr/>
        </p:nvSpPr>
        <p:spPr>
          <a:xfrm>
            <a:off x="6540480" y="2682720"/>
            <a:ext cx="502416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Early pension fund allocations, 401(k) plans add Bitcoin ETF options, 2-5% standard allocation models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52" name="Shape 42"/>
          <p:cNvSpPr/>
          <p:nvPr/>
        </p:nvSpPr>
        <p:spPr>
          <a:xfrm>
            <a:off x="6397560" y="3301920"/>
            <a:ext cx="5254200" cy="120600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3" name="Shape 43"/>
          <p:cNvSpPr/>
          <p:nvPr/>
        </p:nvSpPr>
        <p:spPr>
          <a:xfrm>
            <a:off x="6564240" y="3468600"/>
            <a:ext cx="269640" cy="26964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4" name="Text 44"/>
          <p:cNvSpPr/>
          <p:nvPr/>
        </p:nvSpPr>
        <p:spPr>
          <a:xfrm>
            <a:off x="6508800" y="3444840"/>
            <a:ext cx="28548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2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5" name="Text 45"/>
          <p:cNvSpPr/>
          <p:nvPr/>
        </p:nvSpPr>
        <p:spPr>
          <a:xfrm>
            <a:off x="6953400" y="3492360"/>
            <a:ext cx="8409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2028-2030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56" name="Text 46"/>
          <p:cNvSpPr/>
          <p:nvPr/>
        </p:nvSpPr>
        <p:spPr>
          <a:xfrm>
            <a:off x="6540480" y="3825720"/>
            <a:ext cx="5032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 Expansion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7" name="Text 47"/>
          <p:cNvSpPr/>
          <p:nvPr/>
        </p:nvSpPr>
        <p:spPr>
          <a:xfrm>
            <a:off x="6540480" y="4048200"/>
            <a:ext cx="502416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European/Asian ETFs launch, 2028 halving cuts supply, corporate treasuries follow MicroStrategy model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58" name="Shape 48"/>
          <p:cNvSpPr/>
          <p:nvPr/>
        </p:nvSpPr>
        <p:spPr>
          <a:xfrm>
            <a:off x="6397560" y="4667400"/>
            <a:ext cx="5254200" cy="120600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9" name="Shape 49"/>
          <p:cNvSpPr/>
          <p:nvPr/>
        </p:nvSpPr>
        <p:spPr>
          <a:xfrm>
            <a:off x="6564240" y="4834080"/>
            <a:ext cx="269640" cy="26964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0" name="Text 50"/>
          <p:cNvSpPr/>
          <p:nvPr/>
        </p:nvSpPr>
        <p:spPr>
          <a:xfrm>
            <a:off x="6508800" y="4809960"/>
            <a:ext cx="28548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3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1" name="Text 51"/>
          <p:cNvSpPr/>
          <p:nvPr/>
        </p:nvSpPr>
        <p:spPr>
          <a:xfrm>
            <a:off x="6953400" y="4857840"/>
            <a:ext cx="8409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2030-2032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62" name="Text 52"/>
          <p:cNvSpPr/>
          <p:nvPr/>
        </p:nvSpPr>
        <p:spPr>
          <a:xfrm>
            <a:off x="6540480" y="5191200"/>
            <a:ext cx="5032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Infrastructure Embedding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3" name="Text 53"/>
          <p:cNvSpPr/>
          <p:nvPr/>
        </p:nvSpPr>
        <p:spPr>
          <a:xfrm>
            <a:off x="6540480" y="5413320"/>
            <a:ext cx="502416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operational infrastructure for custody, lending, trading services. Switching costs make removal prohibitively expensive.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64" name="Shape 54"/>
          <p:cNvSpPr/>
          <p:nvPr/>
        </p:nvSpPr>
        <p:spPr>
          <a:xfrm>
            <a:off x="6199200" y="6246720"/>
            <a:ext cx="5651280" cy="2460240"/>
          </a:xfrm>
          <a:custGeom>
            <a:avLst/>
            <a:gdLst/>
            <a:ahLst/>
            <a:rect l="l" t="t" r="r" b="b"/>
            <a:pathLst>
              <a:path w="5651500" h="2460625">
                <a:moveTo>
                  <a:pt x="0" y="0"/>
                </a:moveTo>
                <a:lnTo>
                  <a:pt x="5651500" y="0"/>
                </a:lnTo>
                <a:lnTo>
                  <a:pt x="5651500" y="2460625"/>
                </a:lnTo>
                <a:lnTo>
                  <a:pt x="0" y="246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5" name="Text 55"/>
          <p:cNvSpPr/>
          <p:nvPr/>
        </p:nvSpPr>
        <p:spPr>
          <a:xfrm>
            <a:off x="6381720" y="642924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MAJOR BANKS ENTERING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66" name="Shape 56"/>
          <p:cNvSpPr/>
          <p:nvPr/>
        </p:nvSpPr>
        <p:spPr>
          <a:xfrm>
            <a:off x="6397560" y="6826320"/>
            <a:ext cx="5254200" cy="34884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7" name="Shape 57"/>
          <p:cNvSpPr/>
          <p:nvPr/>
        </p:nvSpPr>
        <p:spPr>
          <a:xfrm>
            <a:off x="6477120" y="6969240"/>
            <a:ext cx="63000" cy="6300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8" name="Text 58"/>
          <p:cNvSpPr/>
          <p:nvPr/>
        </p:nvSpPr>
        <p:spPr>
          <a:xfrm>
            <a:off x="6635880" y="6905520"/>
            <a:ext cx="674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JPMorgan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9" name="Text 59"/>
          <p:cNvSpPr/>
          <p:nvPr/>
        </p:nvSpPr>
        <p:spPr>
          <a:xfrm>
            <a:off x="7345080" y="6921360"/>
            <a:ext cx="142056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Accepting BTC as collateral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0" name="Shape 60"/>
          <p:cNvSpPr/>
          <p:nvPr/>
        </p:nvSpPr>
        <p:spPr>
          <a:xfrm>
            <a:off x="6397560" y="7270920"/>
            <a:ext cx="5254200" cy="34884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1" name="Shape 61"/>
          <p:cNvSpPr/>
          <p:nvPr/>
        </p:nvSpPr>
        <p:spPr>
          <a:xfrm>
            <a:off x="6477120" y="7413480"/>
            <a:ext cx="63000" cy="6300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Text 62"/>
          <p:cNvSpPr/>
          <p:nvPr/>
        </p:nvSpPr>
        <p:spPr>
          <a:xfrm>
            <a:off x="6635880" y="7350120"/>
            <a:ext cx="10234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Goldman Sachs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73" name="Text 63"/>
          <p:cNvSpPr/>
          <p:nvPr/>
        </p:nvSpPr>
        <p:spPr>
          <a:xfrm>
            <a:off x="7690680" y="7365960"/>
            <a:ext cx="134100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Crypto trading desk active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4" name="Shape 64"/>
          <p:cNvSpPr/>
          <p:nvPr/>
        </p:nvSpPr>
        <p:spPr>
          <a:xfrm>
            <a:off x="6397560" y="7715160"/>
            <a:ext cx="5254200" cy="34884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5" name="Shape 65"/>
          <p:cNvSpPr/>
          <p:nvPr/>
        </p:nvSpPr>
        <p:spPr>
          <a:xfrm>
            <a:off x="6477120" y="7858080"/>
            <a:ext cx="63000" cy="6300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6" name="Text 66"/>
          <p:cNvSpPr/>
          <p:nvPr/>
        </p:nvSpPr>
        <p:spPr>
          <a:xfrm>
            <a:off x="6635880" y="7794720"/>
            <a:ext cx="1007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Morgan Stanley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77" name="Text 67"/>
          <p:cNvSpPr/>
          <p:nvPr/>
        </p:nvSpPr>
        <p:spPr>
          <a:xfrm>
            <a:off x="7676640" y="7810560"/>
            <a:ext cx="147600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Offering BTC funds to clients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8" name="Shape 68"/>
          <p:cNvSpPr/>
          <p:nvPr/>
        </p:nvSpPr>
        <p:spPr>
          <a:xfrm>
            <a:off x="6397560" y="8159760"/>
            <a:ext cx="5254200" cy="34884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9" name="Shape 69"/>
          <p:cNvSpPr/>
          <p:nvPr/>
        </p:nvSpPr>
        <p:spPr>
          <a:xfrm>
            <a:off x="6477120" y="8302680"/>
            <a:ext cx="63000" cy="6300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0" name="Text 70"/>
          <p:cNvSpPr/>
          <p:nvPr/>
        </p:nvSpPr>
        <p:spPr>
          <a:xfrm>
            <a:off x="6635880" y="8238960"/>
            <a:ext cx="3409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SoFi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81" name="Text 71"/>
          <p:cNvSpPr/>
          <p:nvPr/>
        </p:nvSpPr>
        <p:spPr>
          <a:xfrm>
            <a:off x="7006320" y="8255160"/>
            <a:ext cx="196020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US bank with direct crypto trading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Image 0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3" name="Shape 0"/>
          <p:cNvSpPr/>
          <p:nvPr/>
        </p:nvSpPr>
        <p:spPr>
          <a:xfrm>
            <a:off x="0" y="0"/>
            <a:ext cx="12191760" cy="68576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4" name="Shape 1"/>
          <p:cNvSpPr/>
          <p:nvPr/>
        </p:nvSpPr>
        <p:spPr>
          <a:xfrm>
            <a:off x="409680" y="781200"/>
            <a:ext cx="8476920" cy="396216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85" name="Shape 2"/>
          <p:cNvSpPr/>
          <p:nvPr/>
        </p:nvSpPr>
        <p:spPr>
          <a:xfrm>
            <a:off x="923760" y="1295280"/>
            <a:ext cx="856800" cy="8568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6" name="Text 3"/>
          <p:cNvSpPr/>
          <p:nvPr/>
        </p:nvSpPr>
        <p:spPr>
          <a:xfrm>
            <a:off x="781200" y="1266840"/>
            <a:ext cx="102852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07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87" name="Shape 4"/>
          <p:cNvSpPr/>
          <p:nvPr/>
        </p:nvSpPr>
        <p:spPr>
          <a:xfrm>
            <a:off x="2038320" y="1266840"/>
            <a:ext cx="75960" cy="9140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8" name="Text 5"/>
          <p:cNvSpPr/>
          <p:nvPr/>
        </p:nvSpPr>
        <p:spPr>
          <a:xfrm>
            <a:off x="895320" y="2486160"/>
            <a:ext cx="7848360" cy="8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ECONOMICS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589" name="Shape 6"/>
          <p:cNvSpPr/>
          <p:nvPr/>
        </p:nvSpPr>
        <p:spPr>
          <a:xfrm>
            <a:off x="895320" y="3571920"/>
            <a:ext cx="1828440" cy="759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0" name="Text 7"/>
          <p:cNvSpPr/>
          <p:nvPr/>
        </p:nvSpPr>
        <p:spPr>
          <a:xfrm>
            <a:off x="895320" y="3876840"/>
            <a:ext cx="76766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Backbone of Security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91" name="Shape 8"/>
          <p:cNvSpPr/>
          <p:nvPr/>
        </p:nvSpPr>
        <p:spPr>
          <a:xfrm>
            <a:off x="409680" y="5257800"/>
            <a:ext cx="11372400" cy="81864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2" name="Text 9"/>
          <p:cNvSpPr/>
          <p:nvPr/>
        </p:nvSpPr>
        <p:spPr>
          <a:xfrm>
            <a:off x="666720" y="5514840"/>
            <a:ext cx="109724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Post-Halving Profitability &amp; Industry Consolidation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Shape 0"/>
          <p:cNvSpPr/>
          <p:nvPr/>
        </p:nvSpPr>
        <p:spPr>
          <a:xfrm>
            <a:off x="341280" y="341280"/>
            <a:ext cx="11508840" cy="84096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4" name="Text 1"/>
          <p:cNvSpPr/>
          <p:nvPr/>
        </p:nvSpPr>
        <p:spPr>
          <a:xfrm>
            <a:off x="523800" y="523800"/>
            <a:ext cx="112867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INDUSTRY: POST-HALVING ECONOMICS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595" name="Shape 2"/>
          <p:cNvSpPr/>
          <p:nvPr/>
        </p:nvSpPr>
        <p:spPr>
          <a:xfrm>
            <a:off x="523800" y="936720"/>
            <a:ext cx="761760" cy="630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6" name="Shape 3"/>
          <p:cNvSpPr/>
          <p:nvPr/>
        </p:nvSpPr>
        <p:spPr>
          <a:xfrm>
            <a:off x="341280" y="1357200"/>
            <a:ext cx="5651280" cy="3412800"/>
          </a:xfrm>
          <a:custGeom>
            <a:avLst/>
            <a:gdLst/>
            <a:ahLst/>
            <a:rect l="l" t="t" r="r" b="b"/>
            <a:pathLst>
              <a:path w="5651500" h="3413125">
                <a:moveTo>
                  <a:pt x="0" y="0"/>
                </a:moveTo>
                <a:lnTo>
                  <a:pt x="5651500" y="0"/>
                </a:lnTo>
                <a:lnTo>
                  <a:pt x="5651500" y="3413125"/>
                </a:lnTo>
                <a:lnTo>
                  <a:pt x="0" y="341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97" name="Text 4"/>
          <p:cNvSpPr/>
          <p:nvPr/>
        </p:nvSpPr>
        <p:spPr>
          <a:xfrm>
            <a:off x="523800" y="153972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REVENUE MODEL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98" name="Shape 5"/>
          <p:cNvSpPr/>
          <p:nvPr/>
        </p:nvSpPr>
        <p:spPr>
          <a:xfrm>
            <a:off x="539640" y="1936800"/>
            <a:ext cx="5254200" cy="7934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9" name="Text 6"/>
          <p:cNvSpPr/>
          <p:nvPr/>
        </p:nvSpPr>
        <p:spPr>
          <a:xfrm>
            <a:off x="682560" y="2111400"/>
            <a:ext cx="10551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Block Subsidy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0" name="Text 7"/>
          <p:cNvSpPr/>
          <p:nvPr/>
        </p:nvSpPr>
        <p:spPr>
          <a:xfrm>
            <a:off x="4500000" y="2079720"/>
            <a:ext cx="126972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3.125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1" name="Text 8"/>
          <p:cNvSpPr/>
          <p:nvPr/>
        </p:nvSpPr>
        <p:spPr>
          <a:xfrm>
            <a:off x="682560" y="2428920"/>
            <a:ext cx="502416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6.25 BTC pre-2024 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02" name="Shape 9"/>
          <p:cNvSpPr/>
          <p:nvPr/>
        </p:nvSpPr>
        <p:spPr>
          <a:xfrm>
            <a:off x="539640" y="2857680"/>
            <a:ext cx="5254200" cy="7934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3" name="Text 10"/>
          <p:cNvSpPr/>
          <p:nvPr/>
        </p:nvSpPr>
        <p:spPr>
          <a:xfrm>
            <a:off x="682560" y="3032280"/>
            <a:ext cx="12459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Transaction Fees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4" name="Text 11"/>
          <p:cNvSpPr/>
          <p:nvPr/>
        </p:nvSpPr>
        <p:spPr>
          <a:xfrm>
            <a:off x="4626000" y="3000240"/>
            <a:ext cx="11426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~0.5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5" name="Text 12"/>
          <p:cNvSpPr/>
          <p:nvPr/>
        </p:nvSpPr>
        <p:spPr>
          <a:xfrm>
            <a:off x="682560" y="3349800"/>
            <a:ext cx="502416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Variable based on network congestion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06" name="Shape 13"/>
          <p:cNvSpPr/>
          <p:nvPr/>
        </p:nvSpPr>
        <p:spPr>
          <a:xfrm>
            <a:off x="539640" y="3778200"/>
            <a:ext cx="5254200" cy="7934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7" name="Text 14"/>
          <p:cNvSpPr/>
          <p:nvPr/>
        </p:nvSpPr>
        <p:spPr>
          <a:xfrm>
            <a:off x="682560" y="3952800"/>
            <a:ext cx="16506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Daily Network Revenue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8" name="Text 15"/>
          <p:cNvSpPr/>
          <p:nvPr/>
        </p:nvSpPr>
        <p:spPr>
          <a:xfrm>
            <a:off x="4559400" y="3921120"/>
            <a:ext cx="121392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~450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9" name="Text 16"/>
          <p:cNvSpPr/>
          <p:nvPr/>
        </p:nvSpPr>
        <p:spPr>
          <a:xfrm>
            <a:off x="682560" y="4270320"/>
            <a:ext cx="502416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900 BTC pre-halving (~$33M/day)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10" name="Shape 17"/>
          <p:cNvSpPr/>
          <p:nvPr/>
        </p:nvSpPr>
        <p:spPr>
          <a:xfrm>
            <a:off x="341280" y="4944960"/>
            <a:ext cx="5651280" cy="4238280"/>
          </a:xfrm>
          <a:custGeom>
            <a:avLst/>
            <a:gdLst/>
            <a:ahLst/>
            <a:rect l="l" t="t" r="r" b="b"/>
            <a:pathLst>
              <a:path w="5651500" h="4238625">
                <a:moveTo>
                  <a:pt x="0" y="0"/>
                </a:moveTo>
                <a:lnTo>
                  <a:pt x="5651500" y="0"/>
                </a:lnTo>
                <a:lnTo>
                  <a:pt x="5651500" y="4238625"/>
                </a:lnTo>
                <a:lnTo>
                  <a:pt x="0" y="4238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11" name="Text 18"/>
          <p:cNvSpPr/>
          <p:nvPr/>
        </p:nvSpPr>
        <p:spPr>
          <a:xfrm>
            <a:off x="523800" y="512748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COST STRUCTURE BREAKDOWN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12" name="Shape 19"/>
          <p:cNvSpPr/>
          <p:nvPr/>
        </p:nvSpPr>
        <p:spPr>
          <a:xfrm>
            <a:off x="539640" y="552456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3" name="Text 20"/>
          <p:cNvSpPr/>
          <p:nvPr/>
        </p:nvSpPr>
        <p:spPr>
          <a:xfrm>
            <a:off x="650880" y="5651640"/>
            <a:ext cx="6663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Electricity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14" name="Text 21"/>
          <p:cNvSpPr/>
          <p:nvPr/>
        </p:nvSpPr>
        <p:spPr>
          <a:xfrm>
            <a:off x="5136120" y="5635800"/>
            <a:ext cx="6267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60-80%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15" name="Shape 22"/>
          <p:cNvSpPr/>
          <p:nvPr/>
        </p:nvSpPr>
        <p:spPr>
          <a:xfrm>
            <a:off x="666720" y="5905440"/>
            <a:ext cx="5000400" cy="9504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6" name="Shape 23"/>
          <p:cNvSpPr/>
          <p:nvPr/>
        </p:nvSpPr>
        <p:spPr>
          <a:xfrm>
            <a:off x="682560" y="5921280"/>
            <a:ext cx="3476160" cy="63000"/>
          </a:xfrm>
          <a:custGeom>
            <a:avLst/>
            <a:gdLst/>
            <a:ahLst/>
            <a:rect l="l" t="t" r="r" b="b"/>
            <a:pathLst>
              <a:path w="3476625" h="63500">
                <a:moveTo>
                  <a:pt x="0" y="0"/>
                </a:moveTo>
                <a:lnTo>
                  <a:pt x="3476625" y="0"/>
                </a:lnTo>
                <a:lnTo>
                  <a:pt x="34766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17" name="Shape 24"/>
          <p:cNvSpPr/>
          <p:nvPr/>
        </p:nvSpPr>
        <p:spPr>
          <a:xfrm>
            <a:off x="539640" y="625464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8" name="Text 25"/>
          <p:cNvSpPr/>
          <p:nvPr/>
        </p:nvSpPr>
        <p:spPr>
          <a:xfrm>
            <a:off x="650880" y="6381720"/>
            <a:ext cx="1444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Hardware Depreciation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19" name="Text 26"/>
          <p:cNvSpPr/>
          <p:nvPr/>
        </p:nvSpPr>
        <p:spPr>
          <a:xfrm>
            <a:off x="5136120" y="6365880"/>
            <a:ext cx="6267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10-20%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20" name="Shape 27"/>
          <p:cNvSpPr/>
          <p:nvPr/>
        </p:nvSpPr>
        <p:spPr>
          <a:xfrm>
            <a:off x="666720" y="6635880"/>
            <a:ext cx="5000400" cy="9504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1" name="Shape 28"/>
          <p:cNvSpPr/>
          <p:nvPr/>
        </p:nvSpPr>
        <p:spPr>
          <a:xfrm>
            <a:off x="682560" y="6651720"/>
            <a:ext cx="745920" cy="63000"/>
          </a:xfrm>
          <a:custGeom>
            <a:avLst/>
            <a:gdLst/>
            <a:ahLst/>
            <a:rect l="l" t="t" r="r" b="b"/>
            <a:pathLst>
              <a:path w="746125" h="63500">
                <a:moveTo>
                  <a:pt x="0" y="0"/>
                </a:moveTo>
                <a:lnTo>
                  <a:pt x="746125" y="0"/>
                </a:lnTo>
                <a:lnTo>
                  <a:pt x="746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2" name="Shape 29"/>
          <p:cNvSpPr/>
          <p:nvPr/>
        </p:nvSpPr>
        <p:spPr>
          <a:xfrm>
            <a:off x="539640" y="698508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3" name="Text 30"/>
          <p:cNvSpPr/>
          <p:nvPr/>
        </p:nvSpPr>
        <p:spPr>
          <a:xfrm>
            <a:off x="650880" y="7112160"/>
            <a:ext cx="12380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Facilities &amp; Cooling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24" name="Text 31"/>
          <p:cNvSpPr/>
          <p:nvPr/>
        </p:nvSpPr>
        <p:spPr>
          <a:xfrm>
            <a:off x="5224320" y="7095960"/>
            <a:ext cx="53928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5-10%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25" name="Shape 32"/>
          <p:cNvSpPr/>
          <p:nvPr/>
        </p:nvSpPr>
        <p:spPr>
          <a:xfrm>
            <a:off x="666720" y="7365960"/>
            <a:ext cx="5000400" cy="9504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6" name="Shape 33"/>
          <p:cNvSpPr/>
          <p:nvPr/>
        </p:nvSpPr>
        <p:spPr>
          <a:xfrm>
            <a:off x="682560" y="7381800"/>
            <a:ext cx="396360" cy="63000"/>
          </a:xfrm>
          <a:custGeom>
            <a:avLst/>
            <a:gdLst/>
            <a:ahLst/>
            <a:rect l="l" t="t" r="r" b="b"/>
            <a:pathLst>
              <a:path w="396875" h="63500">
                <a:moveTo>
                  <a:pt x="0" y="0"/>
                </a:moveTo>
                <a:lnTo>
                  <a:pt x="396875" y="0"/>
                </a:lnTo>
                <a:lnTo>
                  <a:pt x="39687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7" name="Shape 34"/>
          <p:cNvSpPr/>
          <p:nvPr/>
        </p:nvSpPr>
        <p:spPr>
          <a:xfrm>
            <a:off x="539640" y="771516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8" name="Text 35"/>
          <p:cNvSpPr/>
          <p:nvPr/>
        </p:nvSpPr>
        <p:spPr>
          <a:xfrm>
            <a:off x="650880" y="7842240"/>
            <a:ext cx="14284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Personnel &amp; Overhead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29" name="Text 36"/>
          <p:cNvSpPr/>
          <p:nvPr/>
        </p:nvSpPr>
        <p:spPr>
          <a:xfrm>
            <a:off x="5312520" y="7826400"/>
            <a:ext cx="4521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3-5%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30" name="Shape 37"/>
          <p:cNvSpPr/>
          <p:nvPr/>
        </p:nvSpPr>
        <p:spPr>
          <a:xfrm>
            <a:off x="666720" y="8096400"/>
            <a:ext cx="5000400" cy="9504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1" name="Shape 38"/>
          <p:cNvSpPr/>
          <p:nvPr/>
        </p:nvSpPr>
        <p:spPr>
          <a:xfrm>
            <a:off x="682560" y="8112240"/>
            <a:ext cx="198000" cy="63000"/>
          </a:xfrm>
          <a:custGeom>
            <a:avLst/>
            <a:gdLst/>
            <a:ahLst/>
            <a:rect l="l" t="t" r="r" b="b"/>
            <a:pathLst>
              <a:path w="198438" h="63500">
                <a:moveTo>
                  <a:pt x="0" y="0"/>
                </a:moveTo>
                <a:lnTo>
                  <a:pt x="198438" y="0"/>
                </a:lnTo>
                <a:lnTo>
                  <a:pt x="198438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32" name="Shape 39"/>
          <p:cNvSpPr/>
          <p:nvPr/>
        </p:nvSpPr>
        <p:spPr>
          <a:xfrm>
            <a:off x="6199200" y="1357200"/>
            <a:ext cx="5651280" cy="3730320"/>
          </a:xfrm>
          <a:custGeom>
            <a:avLst/>
            <a:gdLst/>
            <a:ahLst/>
            <a:rect l="l" t="t" r="r" b="b"/>
            <a:pathLst>
              <a:path w="5651500" h="3730625">
                <a:moveTo>
                  <a:pt x="0" y="0"/>
                </a:moveTo>
                <a:lnTo>
                  <a:pt x="5651500" y="0"/>
                </a:lnTo>
                <a:lnTo>
                  <a:pt x="5651500" y="3730625"/>
                </a:lnTo>
                <a:lnTo>
                  <a:pt x="0" y="373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33" name="Text 40"/>
          <p:cNvSpPr/>
          <p:nvPr/>
        </p:nvSpPr>
        <p:spPr>
          <a:xfrm>
            <a:off x="6381720" y="153972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HASH RATE CONCENTRATION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34" name="Shape 41"/>
          <p:cNvSpPr/>
          <p:nvPr/>
        </p:nvSpPr>
        <p:spPr>
          <a:xfrm>
            <a:off x="6397560" y="1936800"/>
            <a:ext cx="5254200" cy="983880"/>
          </a:xfrm>
          <a:custGeom>
            <a:avLst/>
            <a:gdLst/>
            <a:ahLst/>
            <a:rect l="l" t="t" r="r" b="b"/>
            <a:pathLst>
              <a:path w="5254625" h="984250">
                <a:moveTo>
                  <a:pt x="0" y="0"/>
                </a:moveTo>
                <a:lnTo>
                  <a:pt x="5254625" y="0"/>
                </a:lnTo>
                <a:lnTo>
                  <a:pt x="5254625" y="984250"/>
                </a:lnTo>
                <a:lnTo>
                  <a:pt x="0" y="984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5" name="Text 42"/>
          <p:cNvSpPr/>
          <p:nvPr/>
        </p:nvSpPr>
        <p:spPr>
          <a:xfrm>
            <a:off x="6508800" y="204804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Top 5 Mining Pools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36" name="Text 43"/>
          <p:cNvSpPr/>
          <p:nvPr/>
        </p:nvSpPr>
        <p:spPr>
          <a:xfrm>
            <a:off x="6508800" y="2301840"/>
            <a:ext cx="7380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~55%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37" name="Text 44"/>
          <p:cNvSpPr/>
          <p:nvPr/>
        </p:nvSpPr>
        <p:spPr>
          <a:xfrm>
            <a:off x="7188120" y="2365200"/>
            <a:ext cx="12697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 total network hashrate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38" name="Shape 45"/>
          <p:cNvSpPr/>
          <p:nvPr/>
        </p:nvSpPr>
        <p:spPr>
          <a:xfrm>
            <a:off x="6524640" y="2666880"/>
            <a:ext cx="5000400" cy="12672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9" name="Shape 46"/>
          <p:cNvSpPr/>
          <p:nvPr/>
        </p:nvSpPr>
        <p:spPr>
          <a:xfrm>
            <a:off x="6540480" y="2682720"/>
            <a:ext cx="2730240" cy="95040"/>
          </a:xfrm>
          <a:custGeom>
            <a:avLst/>
            <a:gdLst/>
            <a:ahLst/>
            <a:rect l="l" t="t" r="r" b="b"/>
            <a:pathLst>
              <a:path w="2730500" h="95250">
                <a:moveTo>
                  <a:pt x="0" y="0"/>
                </a:moveTo>
                <a:lnTo>
                  <a:pt x="2730500" y="0"/>
                </a:lnTo>
                <a:lnTo>
                  <a:pt x="273050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40" name="Shape 47"/>
          <p:cNvSpPr/>
          <p:nvPr/>
        </p:nvSpPr>
        <p:spPr>
          <a:xfrm>
            <a:off x="6397560" y="3048120"/>
            <a:ext cx="5254200" cy="85680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1" name="Text 48"/>
          <p:cNvSpPr/>
          <p:nvPr/>
        </p:nvSpPr>
        <p:spPr>
          <a:xfrm>
            <a:off x="6508800" y="315900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Foundry USA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42" name="Text 49"/>
          <p:cNvSpPr/>
          <p:nvPr/>
        </p:nvSpPr>
        <p:spPr>
          <a:xfrm>
            <a:off x="6508800" y="3381480"/>
            <a:ext cx="51271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~35%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3" name="Text 50"/>
          <p:cNvSpPr/>
          <p:nvPr/>
        </p:nvSpPr>
        <p:spPr>
          <a:xfrm>
            <a:off x="6508800" y="3635280"/>
            <a:ext cx="5087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Largest mining pool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44" name="Shape 51"/>
          <p:cNvSpPr/>
          <p:nvPr/>
        </p:nvSpPr>
        <p:spPr>
          <a:xfrm>
            <a:off x="6397560" y="4032360"/>
            <a:ext cx="5254200" cy="85680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5" name="Text 52"/>
          <p:cNvSpPr/>
          <p:nvPr/>
        </p:nvSpPr>
        <p:spPr>
          <a:xfrm>
            <a:off x="6508800" y="414324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Publicly Traded Miners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46" name="Text 53"/>
          <p:cNvSpPr/>
          <p:nvPr/>
        </p:nvSpPr>
        <p:spPr>
          <a:xfrm>
            <a:off x="6508800" y="4365720"/>
            <a:ext cx="51271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~25%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7" name="Text 54"/>
          <p:cNvSpPr/>
          <p:nvPr/>
        </p:nvSpPr>
        <p:spPr>
          <a:xfrm>
            <a:off x="6508800" y="4619520"/>
            <a:ext cx="5087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Marathon, Riot, CleanSpark, etc.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48" name="Shape 55"/>
          <p:cNvSpPr/>
          <p:nvPr/>
        </p:nvSpPr>
        <p:spPr>
          <a:xfrm>
            <a:off x="6199200" y="5262480"/>
            <a:ext cx="5651280" cy="3920760"/>
          </a:xfrm>
          <a:custGeom>
            <a:avLst/>
            <a:gdLst/>
            <a:ahLst/>
            <a:rect l="l" t="t" r="r" b="b"/>
            <a:pathLst>
              <a:path w="5651500" h="3921125">
                <a:moveTo>
                  <a:pt x="0" y="0"/>
                </a:moveTo>
                <a:lnTo>
                  <a:pt x="5651500" y="0"/>
                </a:lnTo>
                <a:lnTo>
                  <a:pt x="5651500" y="3921125"/>
                </a:lnTo>
                <a:lnTo>
                  <a:pt x="0" y="3921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49" name="Text 56"/>
          <p:cNvSpPr/>
          <p:nvPr/>
        </p:nvSpPr>
        <p:spPr>
          <a:xfrm>
            <a:off x="6381720" y="544500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POST-HALVING REALITY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50" name="Shape 57"/>
          <p:cNvSpPr/>
          <p:nvPr/>
        </p:nvSpPr>
        <p:spPr>
          <a:xfrm>
            <a:off x="6397560" y="5842080"/>
            <a:ext cx="5254200" cy="85680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1" name="Text 58"/>
          <p:cNvSpPr/>
          <p:nvPr/>
        </p:nvSpPr>
        <p:spPr>
          <a:xfrm>
            <a:off x="6508800" y="595296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Breakeven Electricity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2" name="Text 59"/>
          <p:cNvSpPr/>
          <p:nvPr/>
        </p:nvSpPr>
        <p:spPr>
          <a:xfrm>
            <a:off x="6508800" y="6175440"/>
            <a:ext cx="51271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$0.05-0.08/kWh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53" name="Text 60"/>
          <p:cNvSpPr/>
          <p:nvPr/>
        </p:nvSpPr>
        <p:spPr>
          <a:xfrm>
            <a:off x="6508800" y="6429240"/>
            <a:ext cx="5087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For efficient ASIC miners at $75K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54" name="Shape 61"/>
          <p:cNvSpPr/>
          <p:nvPr/>
        </p:nvSpPr>
        <p:spPr>
          <a:xfrm>
            <a:off x="6397560" y="6826320"/>
            <a:ext cx="5254200" cy="63468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5" name="Text 62"/>
          <p:cNvSpPr/>
          <p:nvPr/>
        </p:nvSpPr>
        <p:spPr>
          <a:xfrm>
            <a:off x="6508800" y="693720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Industry Consolidation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6" name="Text 63"/>
          <p:cNvSpPr/>
          <p:nvPr/>
        </p:nvSpPr>
        <p:spPr>
          <a:xfrm>
            <a:off x="6508800" y="715968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Small miners shut down, large operations with cheap electricity dominate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7" name="Shape 64"/>
          <p:cNvSpPr/>
          <p:nvPr/>
        </p:nvSpPr>
        <p:spPr>
          <a:xfrm>
            <a:off x="6397560" y="7588080"/>
            <a:ext cx="5254200" cy="63468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8" name="Text 65"/>
          <p:cNvSpPr/>
          <p:nvPr/>
        </p:nvSpPr>
        <p:spPr>
          <a:xfrm>
            <a:off x="6508800" y="769932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Shift to Fee Revenue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9" name="Text 66"/>
          <p:cNvSpPr/>
          <p:nvPr/>
        </p:nvSpPr>
        <p:spPr>
          <a:xfrm>
            <a:off x="6508800" y="792180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Miners increasingly dependent on transaction fees as subsidy declines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60" name="Shape 67"/>
          <p:cNvSpPr/>
          <p:nvPr/>
        </p:nvSpPr>
        <p:spPr>
          <a:xfrm>
            <a:off x="6397560" y="8350200"/>
            <a:ext cx="5254200" cy="63468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1" name="Text 68"/>
          <p:cNvSpPr/>
          <p:nvPr/>
        </p:nvSpPr>
        <p:spPr>
          <a:xfrm>
            <a:off x="6508800" y="846144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Renewable Energy Trend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62" name="Text 69"/>
          <p:cNvSpPr/>
          <p:nvPr/>
        </p:nvSpPr>
        <p:spPr>
          <a:xfrm>
            <a:off x="6508800" y="868356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~55% of mining uses renewable energy (hydro, wind, solar)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Image 0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4" name="Shape 0"/>
          <p:cNvSpPr/>
          <p:nvPr/>
        </p:nvSpPr>
        <p:spPr>
          <a:xfrm>
            <a:off x="0" y="0"/>
            <a:ext cx="12191760" cy="68576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5" name="Shape 1"/>
          <p:cNvSpPr/>
          <p:nvPr/>
        </p:nvSpPr>
        <p:spPr>
          <a:xfrm>
            <a:off x="3305160" y="352440"/>
            <a:ext cx="8476920" cy="481932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66" name="Shape 2"/>
          <p:cNvSpPr/>
          <p:nvPr/>
        </p:nvSpPr>
        <p:spPr>
          <a:xfrm>
            <a:off x="10077480" y="838080"/>
            <a:ext cx="75960" cy="9140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7" name="Shape 3"/>
          <p:cNvSpPr/>
          <p:nvPr/>
        </p:nvSpPr>
        <p:spPr>
          <a:xfrm>
            <a:off x="10410840" y="866880"/>
            <a:ext cx="856800" cy="8568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8" name="Text 4"/>
          <p:cNvSpPr/>
          <p:nvPr/>
        </p:nvSpPr>
        <p:spPr>
          <a:xfrm>
            <a:off x="10267920" y="838080"/>
            <a:ext cx="102852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08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669" name="Text 5"/>
          <p:cNvSpPr/>
          <p:nvPr/>
        </p:nvSpPr>
        <p:spPr>
          <a:xfrm>
            <a:off x="3448080" y="2057400"/>
            <a:ext cx="7848360" cy="171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DIGITAL GOLD THESIS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670" name="Shape 6"/>
          <p:cNvSpPr/>
          <p:nvPr/>
        </p:nvSpPr>
        <p:spPr>
          <a:xfrm>
            <a:off x="9468000" y="4000680"/>
            <a:ext cx="1828440" cy="759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1" name="Text 7"/>
          <p:cNvSpPr/>
          <p:nvPr/>
        </p:nvSpPr>
        <p:spPr>
          <a:xfrm>
            <a:off x="3619440" y="4305240"/>
            <a:ext cx="76766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Store of Value Debate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672" name="Shape 8"/>
          <p:cNvSpPr/>
          <p:nvPr/>
        </p:nvSpPr>
        <p:spPr>
          <a:xfrm>
            <a:off x="4779000" y="5686560"/>
            <a:ext cx="7000560" cy="818640"/>
          </a:xfrm>
          <a:custGeom>
            <a:avLst/>
            <a:gdLst/>
            <a:ahLst/>
            <a:rect l="l" t="t" r="r" b="b"/>
            <a:pathLst>
              <a:path w="7000875" h="819150">
                <a:moveTo>
                  <a:pt x="0" y="0"/>
                </a:moveTo>
                <a:lnTo>
                  <a:pt x="7000875" y="0"/>
                </a:lnTo>
                <a:lnTo>
                  <a:pt x="70008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3" name="Text 9"/>
          <p:cNvSpPr/>
          <p:nvPr/>
        </p:nvSpPr>
        <p:spPr>
          <a:xfrm>
            <a:off x="5036400" y="5943600"/>
            <a:ext cx="66006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Can Bitcoin Replace Gold as the Ultimate Store of Value?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Shape 0"/>
          <p:cNvSpPr/>
          <p:nvPr/>
        </p:nvSpPr>
        <p:spPr>
          <a:xfrm>
            <a:off x="341280" y="341280"/>
            <a:ext cx="11508840" cy="84096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5" name="Text 1"/>
          <p:cNvSpPr/>
          <p:nvPr/>
        </p:nvSpPr>
        <p:spPr>
          <a:xfrm>
            <a:off x="523800" y="523800"/>
            <a:ext cx="112867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VS GOLD: THE NEW STORE OF VALUE?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76" name="Shape 2"/>
          <p:cNvSpPr/>
          <p:nvPr/>
        </p:nvSpPr>
        <p:spPr>
          <a:xfrm>
            <a:off x="523800" y="936720"/>
            <a:ext cx="761760" cy="630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7" name="Shape 3"/>
          <p:cNvSpPr/>
          <p:nvPr/>
        </p:nvSpPr>
        <p:spPr>
          <a:xfrm>
            <a:off x="341280" y="1357200"/>
            <a:ext cx="5651280" cy="4301640"/>
          </a:xfrm>
          <a:custGeom>
            <a:avLst/>
            <a:gdLst/>
            <a:ah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78" name="Text 4"/>
          <p:cNvSpPr/>
          <p:nvPr/>
        </p:nvSpPr>
        <p:spPr>
          <a:xfrm>
            <a:off x="523800" y="153972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ADVANTAGES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79" name="Shape 5"/>
          <p:cNvSpPr/>
          <p:nvPr/>
        </p:nvSpPr>
        <p:spPr>
          <a:xfrm>
            <a:off x="539640" y="193680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0" name="Shape 6"/>
          <p:cNvSpPr/>
          <p:nvPr/>
        </p:nvSpPr>
        <p:spPr>
          <a:xfrm>
            <a:off x="650880" y="2111400"/>
            <a:ext cx="95040" cy="950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1" name="Text 7"/>
          <p:cNvSpPr/>
          <p:nvPr/>
        </p:nvSpPr>
        <p:spPr>
          <a:xfrm>
            <a:off x="841320" y="2048040"/>
            <a:ext cx="32223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Portability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82" name="Text 8"/>
          <p:cNvSpPr/>
          <p:nvPr/>
        </p:nvSpPr>
        <p:spPr>
          <a:xfrm>
            <a:off x="841320" y="2270160"/>
            <a:ext cx="321444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Transfer $1B across borders in minutes vs. tons of physical gold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83" name="Shape 9"/>
          <p:cNvSpPr/>
          <p:nvPr/>
        </p:nvSpPr>
        <p:spPr>
          <a:xfrm>
            <a:off x="539640" y="266688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4" name="Shape 10"/>
          <p:cNvSpPr/>
          <p:nvPr/>
        </p:nvSpPr>
        <p:spPr>
          <a:xfrm>
            <a:off x="650880" y="2841480"/>
            <a:ext cx="95040" cy="950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5" name="Text 11"/>
          <p:cNvSpPr/>
          <p:nvPr/>
        </p:nvSpPr>
        <p:spPr>
          <a:xfrm>
            <a:off x="841320" y="2778120"/>
            <a:ext cx="3452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Divisibility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86" name="Text 12"/>
          <p:cNvSpPr/>
          <p:nvPr/>
        </p:nvSpPr>
        <p:spPr>
          <a:xfrm>
            <a:off x="841320" y="3000240"/>
            <a:ext cx="344448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Divisible to 8 decimal places (0.00000001 BTC) vs. gold bars/ounces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87" name="Shape 13"/>
          <p:cNvSpPr/>
          <p:nvPr/>
        </p:nvSpPr>
        <p:spPr>
          <a:xfrm>
            <a:off x="539640" y="339732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8" name="Shape 14"/>
          <p:cNvSpPr/>
          <p:nvPr/>
        </p:nvSpPr>
        <p:spPr>
          <a:xfrm>
            <a:off x="650880" y="3571920"/>
            <a:ext cx="95040" cy="950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9" name="Text 15"/>
          <p:cNvSpPr/>
          <p:nvPr/>
        </p:nvSpPr>
        <p:spPr>
          <a:xfrm>
            <a:off x="841320" y="3508200"/>
            <a:ext cx="2809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Verifiability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0" name="Text 16"/>
          <p:cNvSpPr/>
          <p:nvPr/>
        </p:nvSpPr>
        <p:spPr>
          <a:xfrm>
            <a:off x="841320" y="3730680"/>
            <a:ext cx="2801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Cryptographic proof vs. expensive purity testing for gold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1" name="Shape 17"/>
          <p:cNvSpPr/>
          <p:nvPr/>
        </p:nvSpPr>
        <p:spPr>
          <a:xfrm>
            <a:off x="539640" y="412740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2" name="Shape 18"/>
          <p:cNvSpPr/>
          <p:nvPr/>
        </p:nvSpPr>
        <p:spPr>
          <a:xfrm>
            <a:off x="650880" y="4302000"/>
            <a:ext cx="95040" cy="950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3" name="Text 19"/>
          <p:cNvSpPr/>
          <p:nvPr/>
        </p:nvSpPr>
        <p:spPr>
          <a:xfrm>
            <a:off x="841320" y="4238640"/>
            <a:ext cx="32382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Fixed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4" name="Text 20"/>
          <p:cNvSpPr/>
          <p:nvPr/>
        </p:nvSpPr>
        <p:spPr>
          <a:xfrm>
            <a:off x="841320" y="4460760"/>
            <a:ext cx="323028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21M BTC hard cap vs. unknown total gold supply in Earth's crust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5" name="Shape 21"/>
          <p:cNvSpPr/>
          <p:nvPr/>
        </p:nvSpPr>
        <p:spPr>
          <a:xfrm>
            <a:off x="539640" y="485784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6" name="Shape 22"/>
          <p:cNvSpPr/>
          <p:nvPr/>
        </p:nvSpPr>
        <p:spPr>
          <a:xfrm>
            <a:off x="650880" y="5032440"/>
            <a:ext cx="95040" cy="950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7" name="Text 23"/>
          <p:cNvSpPr/>
          <p:nvPr/>
        </p:nvSpPr>
        <p:spPr>
          <a:xfrm>
            <a:off x="841320" y="4968720"/>
            <a:ext cx="29998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Programmable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8" name="Text 24"/>
          <p:cNvSpPr/>
          <p:nvPr/>
        </p:nvSpPr>
        <p:spPr>
          <a:xfrm>
            <a:off x="841320" y="5191200"/>
            <a:ext cx="299196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Smart contracts, multisig, time-locks vs. inert physical metal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9" name="Shape 25"/>
          <p:cNvSpPr/>
          <p:nvPr/>
        </p:nvSpPr>
        <p:spPr>
          <a:xfrm>
            <a:off x="341280" y="5834160"/>
            <a:ext cx="5651280" cy="3857400"/>
          </a:xfrm>
          <a:custGeom>
            <a:avLst/>
            <a:gdLst/>
            <a:ah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00" name="Text 26"/>
          <p:cNvSpPr/>
          <p:nvPr/>
        </p:nvSpPr>
        <p:spPr>
          <a:xfrm>
            <a:off x="523800" y="601668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PERFORMANCE COMPARISON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01" name="Text 27"/>
          <p:cNvSpPr/>
          <p:nvPr/>
        </p:nvSpPr>
        <p:spPr>
          <a:xfrm>
            <a:off x="523800" y="6397560"/>
            <a:ext cx="53496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5-Year Returns (2020-2025):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2" name="Shape 28"/>
          <p:cNvSpPr/>
          <p:nvPr/>
        </p:nvSpPr>
        <p:spPr>
          <a:xfrm>
            <a:off x="539640" y="6699240"/>
            <a:ext cx="5254200" cy="72972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3" name="Text 29"/>
          <p:cNvSpPr/>
          <p:nvPr/>
        </p:nvSpPr>
        <p:spPr>
          <a:xfrm>
            <a:off x="650880" y="6858000"/>
            <a:ext cx="4917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4" name="Text 30"/>
          <p:cNvSpPr/>
          <p:nvPr/>
        </p:nvSpPr>
        <p:spPr>
          <a:xfrm>
            <a:off x="4935240" y="6810480"/>
            <a:ext cx="86472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a63e"/>
                </a:solidFill>
                <a:latin typeface="Noto Sans SC"/>
                <a:ea typeface="Noto Sans SC"/>
              </a:rPr>
              <a:t>+940%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05" name="Shape 31"/>
          <p:cNvSpPr/>
          <p:nvPr/>
        </p:nvSpPr>
        <p:spPr>
          <a:xfrm>
            <a:off x="666720" y="7175520"/>
            <a:ext cx="5000400" cy="12672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6" name="Shape 32"/>
          <p:cNvSpPr/>
          <p:nvPr/>
        </p:nvSpPr>
        <p:spPr>
          <a:xfrm>
            <a:off x="682560" y="7191360"/>
            <a:ext cx="4968360" cy="95040"/>
          </a:xfrm>
          <a:custGeom>
            <a:avLst/>
            <a:gdLst/>
            <a:ahLst/>
            <a:rect l="l" t="t" r="r" b="b"/>
            <a:pathLst>
              <a:path w="4968875" h="95250">
                <a:moveTo>
                  <a:pt x="0" y="0"/>
                </a:moveTo>
                <a:lnTo>
                  <a:pt x="4968875" y="0"/>
                </a:lnTo>
                <a:lnTo>
                  <a:pt x="49688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7" name="Shape 33"/>
          <p:cNvSpPr/>
          <p:nvPr/>
        </p:nvSpPr>
        <p:spPr>
          <a:xfrm>
            <a:off x="539640" y="7556400"/>
            <a:ext cx="5254200" cy="72972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8" name="Text 34"/>
          <p:cNvSpPr/>
          <p:nvPr/>
        </p:nvSpPr>
        <p:spPr>
          <a:xfrm>
            <a:off x="650880" y="7715160"/>
            <a:ext cx="348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9" name="Text 35"/>
          <p:cNvSpPr/>
          <p:nvPr/>
        </p:nvSpPr>
        <p:spPr>
          <a:xfrm>
            <a:off x="5067360" y="7667640"/>
            <a:ext cx="7380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d08700"/>
                </a:solidFill>
                <a:latin typeface="Noto Sans SC"/>
                <a:ea typeface="Noto Sans SC"/>
              </a:rPr>
              <a:t>+25%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10" name="Shape 36"/>
          <p:cNvSpPr/>
          <p:nvPr/>
        </p:nvSpPr>
        <p:spPr>
          <a:xfrm>
            <a:off x="666720" y="8032680"/>
            <a:ext cx="5000400" cy="12672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1" name="Shape 37"/>
          <p:cNvSpPr/>
          <p:nvPr/>
        </p:nvSpPr>
        <p:spPr>
          <a:xfrm>
            <a:off x="682560" y="8048520"/>
            <a:ext cx="150480" cy="95040"/>
          </a:xfrm>
          <a:custGeom>
            <a:avLst/>
            <a:gdLst/>
            <a:ahLst/>
            <a:rect l="l" t="t" r="r" b="b"/>
            <a:pathLst>
              <a:path w="150813" h="95250">
                <a:moveTo>
                  <a:pt x="0" y="0"/>
                </a:moveTo>
                <a:lnTo>
                  <a:pt x="150813" y="0"/>
                </a:lnTo>
                <a:lnTo>
                  <a:pt x="1508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2" name="Shape 38"/>
          <p:cNvSpPr/>
          <p:nvPr/>
        </p:nvSpPr>
        <p:spPr>
          <a:xfrm>
            <a:off x="539640" y="8445600"/>
            <a:ext cx="5254200" cy="412560"/>
          </a:xfrm>
          <a:custGeom>
            <a:avLst/>
            <a:gdLst/>
            <a:ah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3" name="Text 39"/>
          <p:cNvSpPr/>
          <p:nvPr/>
        </p:nvSpPr>
        <p:spPr>
          <a:xfrm>
            <a:off x="619200" y="855648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Bitcoin has outperformed gold by 37x over 5 years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14" name="Shape 40"/>
          <p:cNvSpPr/>
          <p:nvPr/>
        </p:nvSpPr>
        <p:spPr>
          <a:xfrm>
            <a:off x="6199200" y="1357200"/>
            <a:ext cx="5651280" cy="4301640"/>
          </a:xfrm>
          <a:custGeom>
            <a:avLst/>
            <a:gdLst/>
            <a:ah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15" name="Text 41"/>
          <p:cNvSpPr/>
          <p:nvPr/>
        </p:nvSpPr>
        <p:spPr>
          <a:xfrm>
            <a:off x="6381720" y="153972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GOLD'S ADVANTAGES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16" name="Shape 42"/>
          <p:cNvSpPr/>
          <p:nvPr/>
        </p:nvSpPr>
        <p:spPr>
          <a:xfrm>
            <a:off x="6397560" y="193680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7" name="Shape 43"/>
          <p:cNvSpPr/>
          <p:nvPr/>
        </p:nvSpPr>
        <p:spPr>
          <a:xfrm>
            <a:off x="6508800" y="2111400"/>
            <a:ext cx="95040" cy="950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8" name="Text 44"/>
          <p:cNvSpPr/>
          <p:nvPr/>
        </p:nvSpPr>
        <p:spPr>
          <a:xfrm>
            <a:off x="6699240" y="2048040"/>
            <a:ext cx="31348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3,000+ Year Track Record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19" name="Text 45"/>
          <p:cNvSpPr/>
          <p:nvPr/>
        </p:nvSpPr>
        <p:spPr>
          <a:xfrm>
            <a:off x="6699240" y="2270160"/>
            <a:ext cx="312696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Proven store of value across civilizations vs. Bitcoin's 16 years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0" name="Shape 46"/>
          <p:cNvSpPr/>
          <p:nvPr/>
        </p:nvSpPr>
        <p:spPr>
          <a:xfrm>
            <a:off x="6397560" y="266688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1" name="Shape 47"/>
          <p:cNvSpPr/>
          <p:nvPr/>
        </p:nvSpPr>
        <p:spPr>
          <a:xfrm>
            <a:off x="6508800" y="2841480"/>
            <a:ext cx="95040" cy="950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2" name="Text 48"/>
          <p:cNvSpPr/>
          <p:nvPr/>
        </p:nvSpPr>
        <p:spPr>
          <a:xfrm>
            <a:off x="6699240" y="2778120"/>
            <a:ext cx="28015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Physical Tangibility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23" name="Text 49"/>
          <p:cNvSpPr/>
          <p:nvPr/>
        </p:nvSpPr>
        <p:spPr>
          <a:xfrm>
            <a:off x="6699240" y="3000240"/>
            <a:ext cx="279360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Can hold in your hand, no internet or electricity required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4" name="Shape 50"/>
          <p:cNvSpPr/>
          <p:nvPr/>
        </p:nvSpPr>
        <p:spPr>
          <a:xfrm>
            <a:off x="6397560" y="339732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5" name="Shape 51"/>
          <p:cNvSpPr/>
          <p:nvPr/>
        </p:nvSpPr>
        <p:spPr>
          <a:xfrm>
            <a:off x="6508800" y="3571920"/>
            <a:ext cx="95040" cy="950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6" name="Text 52"/>
          <p:cNvSpPr/>
          <p:nvPr/>
        </p:nvSpPr>
        <p:spPr>
          <a:xfrm>
            <a:off x="6699240" y="3508200"/>
            <a:ext cx="2857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Central Bank Demand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27" name="Text 53"/>
          <p:cNvSpPr/>
          <p:nvPr/>
        </p:nvSpPr>
        <p:spPr>
          <a:xfrm>
            <a:off x="6699240" y="3730680"/>
            <a:ext cx="284904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Record-high official gold purchases (1,000+ tonnes/year)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8" name="Shape 54"/>
          <p:cNvSpPr/>
          <p:nvPr/>
        </p:nvSpPr>
        <p:spPr>
          <a:xfrm>
            <a:off x="6397560" y="412740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9" name="Shape 55"/>
          <p:cNvSpPr/>
          <p:nvPr/>
        </p:nvSpPr>
        <p:spPr>
          <a:xfrm>
            <a:off x="6508800" y="4302000"/>
            <a:ext cx="95040" cy="950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0" name="Text 56"/>
          <p:cNvSpPr/>
          <p:nvPr/>
        </p:nvSpPr>
        <p:spPr>
          <a:xfrm>
            <a:off x="6699240" y="4238640"/>
            <a:ext cx="2579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Lower Volatility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31" name="Text 57"/>
          <p:cNvSpPr/>
          <p:nvPr/>
        </p:nvSpPr>
        <p:spPr>
          <a:xfrm>
            <a:off x="6699240" y="4460760"/>
            <a:ext cx="257148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Gold's annual volatility ~15% vs. Bitcoin's ~60-80%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32" name="Shape 58"/>
          <p:cNvSpPr/>
          <p:nvPr/>
        </p:nvSpPr>
        <p:spPr>
          <a:xfrm>
            <a:off x="6397560" y="485784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3" name="Shape 59"/>
          <p:cNvSpPr/>
          <p:nvPr/>
        </p:nvSpPr>
        <p:spPr>
          <a:xfrm>
            <a:off x="6508800" y="5032440"/>
            <a:ext cx="95040" cy="950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4" name="Text 60"/>
          <p:cNvSpPr/>
          <p:nvPr/>
        </p:nvSpPr>
        <p:spPr>
          <a:xfrm>
            <a:off x="6699240" y="4968720"/>
            <a:ext cx="3214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Industrial &amp; Jewelry Use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35" name="Text 61"/>
          <p:cNvSpPr/>
          <p:nvPr/>
        </p:nvSpPr>
        <p:spPr>
          <a:xfrm>
            <a:off x="6699240" y="5191200"/>
            <a:ext cx="3206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Real utility beyond speculation (electronics, dentistry, ornament)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36" name="Shape 62"/>
          <p:cNvSpPr/>
          <p:nvPr/>
        </p:nvSpPr>
        <p:spPr>
          <a:xfrm>
            <a:off x="6199200" y="5834160"/>
            <a:ext cx="5651280" cy="3857400"/>
          </a:xfrm>
          <a:custGeom>
            <a:avLst/>
            <a:gdLst/>
            <a:ah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37" name="Text 63"/>
          <p:cNvSpPr/>
          <p:nvPr/>
        </p:nvSpPr>
        <p:spPr>
          <a:xfrm>
            <a:off x="6381720" y="601668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INFLATION HEDGE DEBATE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38" name="Shape 64"/>
          <p:cNvSpPr/>
          <p:nvPr/>
        </p:nvSpPr>
        <p:spPr>
          <a:xfrm>
            <a:off x="6397560" y="6413400"/>
            <a:ext cx="5254200" cy="1238040"/>
          </a:xfrm>
          <a:custGeom>
            <a:avLst/>
            <a:gdLst/>
            <a:ahLst/>
            <a:rect l="l" t="t" r="r" b="b"/>
            <a:pathLst>
              <a:path w="5254625" h="1238250">
                <a:moveTo>
                  <a:pt x="0" y="0"/>
                </a:moveTo>
                <a:lnTo>
                  <a:pt x="5254625" y="0"/>
                </a:lnTo>
                <a:lnTo>
                  <a:pt x="5254625" y="1238250"/>
                </a:lnTo>
                <a:lnTo>
                  <a:pt x="0" y="1238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9" name="Text 65"/>
          <p:cNvSpPr/>
          <p:nvPr/>
        </p:nvSpPr>
        <p:spPr>
          <a:xfrm>
            <a:off x="6508800" y="652464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2022 Inflation Test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40" name="Text 66"/>
          <p:cNvSpPr/>
          <p:nvPr/>
        </p:nvSpPr>
        <p:spPr>
          <a:xfrm>
            <a:off x="6508800" y="6778800"/>
            <a:ext cx="5087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U.S. inflation hit 9% (40-year high). How did assets perform?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41" name="Shape 67"/>
          <p:cNvSpPr/>
          <p:nvPr/>
        </p:nvSpPr>
        <p:spPr>
          <a:xfrm>
            <a:off x="6524640" y="7016760"/>
            <a:ext cx="2452320" cy="507600"/>
          </a:xfrm>
          <a:custGeom>
            <a:avLst/>
            <a:gdLst/>
            <a:ah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2" name="Text 68"/>
          <p:cNvSpPr/>
          <p:nvPr/>
        </p:nvSpPr>
        <p:spPr>
          <a:xfrm>
            <a:off x="6568200" y="7095960"/>
            <a:ext cx="23648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e7000b"/>
                </a:solidFill>
                <a:latin typeface="MiSans"/>
                <a:ea typeface="MiSans"/>
              </a:rPr>
              <a:t>-60%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43" name="Text 69"/>
          <p:cNvSpPr/>
          <p:nvPr/>
        </p:nvSpPr>
        <p:spPr>
          <a:xfrm>
            <a:off x="6580080" y="7318440"/>
            <a:ext cx="234108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744" name="Shape 70"/>
          <p:cNvSpPr/>
          <p:nvPr/>
        </p:nvSpPr>
        <p:spPr>
          <a:xfrm>
            <a:off x="9072720" y="7016760"/>
            <a:ext cx="2452320" cy="507600"/>
          </a:xfrm>
          <a:custGeom>
            <a:avLst/>
            <a:gdLst/>
            <a:ah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5" name="Text 71"/>
          <p:cNvSpPr/>
          <p:nvPr/>
        </p:nvSpPr>
        <p:spPr>
          <a:xfrm>
            <a:off x="9116280" y="7095960"/>
            <a:ext cx="23648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a63e"/>
                </a:solidFill>
                <a:latin typeface="MiSans"/>
                <a:ea typeface="MiSans"/>
              </a:rPr>
              <a:t>+0.5%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46" name="Text 72"/>
          <p:cNvSpPr/>
          <p:nvPr/>
        </p:nvSpPr>
        <p:spPr>
          <a:xfrm>
            <a:off x="9128160" y="7318440"/>
            <a:ext cx="234108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747" name="Shape 73"/>
          <p:cNvSpPr/>
          <p:nvPr/>
        </p:nvSpPr>
        <p:spPr>
          <a:xfrm>
            <a:off x="6397560" y="7778880"/>
            <a:ext cx="5254200" cy="7934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8" name="Text 74"/>
          <p:cNvSpPr/>
          <p:nvPr/>
        </p:nvSpPr>
        <p:spPr>
          <a:xfrm>
            <a:off x="6508800" y="788976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Key Insight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49" name="Text 75"/>
          <p:cNvSpPr/>
          <p:nvPr/>
        </p:nvSpPr>
        <p:spPr>
          <a:xfrm>
            <a:off x="6508800" y="8143920"/>
            <a:ext cx="5087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has shown </a:t>
            </a: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high correlation with risk assets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(tech stocks) rather than acting as a crisis hedge like gold. During the 2022 bear market, BTC crashed alongside equities while gold held steady.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50" name="Shape 76"/>
          <p:cNvSpPr/>
          <p:nvPr/>
        </p:nvSpPr>
        <p:spPr>
          <a:xfrm>
            <a:off x="6397560" y="8699400"/>
            <a:ext cx="5254200" cy="7934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1" name="Text 77"/>
          <p:cNvSpPr/>
          <p:nvPr/>
        </p:nvSpPr>
        <p:spPr>
          <a:xfrm>
            <a:off x="6508800" y="881064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Verdict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52" name="Text 78"/>
          <p:cNvSpPr/>
          <p:nvPr/>
        </p:nvSpPr>
        <p:spPr>
          <a:xfrm>
            <a:off x="6508800" y="9064800"/>
            <a:ext cx="5087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may become "digital gold" as it matures and volatility decreases, but </a:t>
            </a: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it hasn't consistently fulfilled that role yet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. Gold remains the proven safe haven.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Image 0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4" name="Shape 0"/>
          <p:cNvSpPr/>
          <p:nvPr/>
        </p:nvSpPr>
        <p:spPr>
          <a:xfrm>
            <a:off x="0" y="0"/>
            <a:ext cx="12191760" cy="68576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5" name="Shape 1"/>
          <p:cNvSpPr/>
          <p:nvPr/>
        </p:nvSpPr>
        <p:spPr>
          <a:xfrm>
            <a:off x="409680" y="781200"/>
            <a:ext cx="8476920" cy="396216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56" name="Shape 2"/>
          <p:cNvSpPr/>
          <p:nvPr/>
        </p:nvSpPr>
        <p:spPr>
          <a:xfrm>
            <a:off x="923760" y="1295280"/>
            <a:ext cx="856800" cy="8568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7" name="Text 3"/>
          <p:cNvSpPr/>
          <p:nvPr/>
        </p:nvSpPr>
        <p:spPr>
          <a:xfrm>
            <a:off x="781200" y="1266840"/>
            <a:ext cx="102852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09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758" name="Shape 4"/>
          <p:cNvSpPr/>
          <p:nvPr/>
        </p:nvSpPr>
        <p:spPr>
          <a:xfrm>
            <a:off x="2038320" y="1266840"/>
            <a:ext cx="75960" cy="9140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9" name="Text 5"/>
          <p:cNvSpPr/>
          <p:nvPr/>
        </p:nvSpPr>
        <p:spPr>
          <a:xfrm>
            <a:off x="895320" y="2486160"/>
            <a:ext cx="7848360" cy="8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SCALING SOLUTIONS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760" name="Shape 6"/>
          <p:cNvSpPr/>
          <p:nvPr/>
        </p:nvSpPr>
        <p:spPr>
          <a:xfrm>
            <a:off x="895320" y="3571920"/>
            <a:ext cx="1828440" cy="759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1" name="Text 7"/>
          <p:cNvSpPr/>
          <p:nvPr/>
        </p:nvSpPr>
        <p:spPr>
          <a:xfrm>
            <a:off x="895320" y="3876840"/>
            <a:ext cx="76766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Lightning Network &amp; Layer 2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762" name="Shape 8"/>
          <p:cNvSpPr/>
          <p:nvPr/>
        </p:nvSpPr>
        <p:spPr>
          <a:xfrm>
            <a:off x="409680" y="5257800"/>
            <a:ext cx="11372400" cy="81864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3" name="Text 9"/>
          <p:cNvSpPr/>
          <p:nvPr/>
        </p:nvSpPr>
        <p:spPr>
          <a:xfrm>
            <a:off x="666720" y="5514840"/>
            <a:ext cx="109724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Solving Bitcoin's Throughput Limitations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Shape 0"/>
          <p:cNvSpPr/>
          <p:nvPr/>
        </p:nvSpPr>
        <p:spPr>
          <a:xfrm>
            <a:off x="341280" y="341280"/>
            <a:ext cx="11508840" cy="84096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5" name="Text 1"/>
          <p:cNvSpPr/>
          <p:nvPr/>
        </p:nvSpPr>
        <p:spPr>
          <a:xfrm>
            <a:off x="523800" y="523800"/>
            <a:ext cx="112867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LIGHTNING NETWORK: BITCOIN'S PAYMENT LAYER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766" name="Shape 2"/>
          <p:cNvSpPr/>
          <p:nvPr/>
        </p:nvSpPr>
        <p:spPr>
          <a:xfrm>
            <a:off x="523800" y="936720"/>
            <a:ext cx="761760" cy="630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7" name="Shape 3"/>
          <p:cNvSpPr/>
          <p:nvPr/>
        </p:nvSpPr>
        <p:spPr>
          <a:xfrm>
            <a:off x="341280" y="1357200"/>
            <a:ext cx="5651280" cy="3349440"/>
          </a:xfrm>
          <a:custGeom>
            <a:avLst/>
            <a:gdLst/>
            <a:ahLst/>
            <a:rect l="l" t="t" r="r" b="b"/>
            <a:pathLst>
              <a:path w="5651500" h="3349625">
                <a:moveTo>
                  <a:pt x="0" y="0"/>
                </a:moveTo>
                <a:lnTo>
                  <a:pt x="5651500" y="0"/>
                </a:lnTo>
                <a:lnTo>
                  <a:pt x="5651500" y="3349625"/>
                </a:lnTo>
                <a:lnTo>
                  <a:pt x="0" y="3349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68" name="Text 4"/>
          <p:cNvSpPr/>
          <p:nvPr/>
        </p:nvSpPr>
        <p:spPr>
          <a:xfrm>
            <a:off x="523800" y="153972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PROBLEM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69" name="Shape 5"/>
          <p:cNvSpPr/>
          <p:nvPr/>
        </p:nvSpPr>
        <p:spPr>
          <a:xfrm>
            <a:off x="539640" y="1936800"/>
            <a:ext cx="5254200" cy="7934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0" name="Text 6"/>
          <p:cNvSpPr/>
          <p:nvPr/>
        </p:nvSpPr>
        <p:spPr>
          <a:xfrm>
            <a:off x="682560" y="2111400"/>
            <a:ext cx="13568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Bitcoin Base Layer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71" name="Text 7"/>
          <p:cNvSpPr/>
          <p:nvPr/>
        </p:nvSpPr>
        <p:spPr>
          <a:xfrm>
            <a:off x="4850640" y="2079720"/>
            <a:ext cx="92052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~7 TPS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72" name="Text 8"/>
          <p:cNvSpPr/>
          <p:nvPr/>
        </p:nvSpPr>
        <p:spPr>
          <a:xfrm>
            <a:off x="682560" y="2428920"/>
            <a:ext cx="502416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Transactions per second limited by block size and 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73" name="Shape 9"/>
          <p:cNvSpPr/>
          <p:nvPr/>
        </p:nvSpPr>
        <p:spPr>
          <a:xfrm>
            <a:off x="539640" y="2857680"/>
            <a:ext cx="5254200" cy="7934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4" name="Text 10"/>
          <p:cNvSpPr/>
          <p:nvPr/>
        </p:nvSpPr>
        <p:spPr>
          <a:xfrm>
            <a:off x="682560" y="3032280"/>
            <a:ext cx="96804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Visa Network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75" name="Text 11"/>
          <p:cNvSpPr/>
          <p:nvPr/>
        </p:nvSpPr>
        <p:spPr>
          <a:xfrm>
            <a:off x="4393800" y="3000240"/>
            <a:ext cx="13726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65,000 TPS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76" name="Text 12"/>
          <p:cNvSpPr/>
          <p:nvPr/>
        </p:nvSpPr>
        <p:spPr>
          <a:xfrm>
            <a:off x="682560" y="3349800"/>
            <a:ext cx="502416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Global payment network capacity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77" name="Shape 13"/>
          <p:cNvSpPr/>
          <p:nvPr/>
        </p:nvSpPr>
        <p:spPr>
          <a:xfrm>
            <a:off x="539640" y="3778200"/>
            <a:ext cx="5254200" cy="72972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8" name="Text 14"/>
          <p:cNvSpPr/>
          <p:nvPr/>
        </p:nvSpPr>
        <p:spPr>
          <a:xfrm>
            <a:off x="682560" y="3921120"/>
            <a:ext cx="5032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Transaction Fees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79" name="Text 15"/>
          <p:cNvSpPr/>
          <p:nvPr/>
        </p:nvSpPr>
        <p:spPr>
          <a:xfrm>
            <a:off x="682560" y="4175280"/>
            <a:ext cx="5032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Base layer fees spike during congestion ($5-50+), making micropayments impractical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0" name="Shape 16"/>
          <p:cNvSpPr/>
          <p:nvPr/>
        </p:nvSpPr>
        <p:spPr>
          <a:xfrm>
            <a:off x="341280" y="4881600"/>
            <a:ext cx="5651280" cy="4555800"/>
          </a:xfrm>
          <a:custGeom>
            <a:avLst/>
            <a:gdLst/>
            <a:ahLst/>
            <a:rect l="l" t="t" r="r" b="b"/>
            <a:pathLst>
              <a:path w="5651500" h="4556125">
                <a:moveTo>
                  <a:pt x="0" y="0"/>
                </a:moveTo>
                <a:lnTo>
                  <a:pt x="5651500" y="0"/>
                </a:lnTo>
                <a:lnTo>
                  <a:pt x="5651500" y="4556125"/>
                </a:lnTo>
                <a:lnTo>
                  <a:pt x="0" y="4556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81" name="Text 17"/>
          <p:cNvSpPr/>
          <p:nvPr/>
        </p:nvSpPr>
        <p:spPr>
          <a:xfrm>
            <a:off x="523800" y="506412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HOW LIGHTNING 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82" name="Shape 18"/>
          <p:cNvSpPr/>
          <p:nvPr/>
        </p:nvSpPr>
        <p:spPr>
          <a:xfrm>
            <a:off x="539640" y="546084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3" name="Text 19"/>
          <p:cNvSpPr/>
          <p:nvPr/>
        </p:nvSpPr>
        <p:spPr>
          <a:xfrm>
            <a:off x="650880" y="557208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1. Payment Channels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4" name="Text 20"/>
          <p:cNvSpPr/>
          <p:nvPr/>
        </p:nvSpPr>
        <p:spPr>
          <a:xfrm>
            <a:off x="650880" y="5794200"/>
            <a:ext cx="5087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Users lock BTC in multi-signature channels, enabling unlimited off-chain transactions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85" name="Shape 21"/>
          <p:cNvSpPr/>
          <p:nvPr/>
        </p:nvSpPr>
        <p:spPr>
          <a:xfrm>
            <a:off x="539640" y="619128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6" name="Text 22"/>
          <p:cNvSpPr/>
          <p:nvPr/>
        </p:nvSpPr>
        <p:spPr>
          <a:xfrm>
            <a:off x="650880" y="630252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2. Off-Chain Transactions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7" name="Text 23"/>
          <p:cNvSpPr/>
          <p:nvPr/>
        </p:nvSpPr>
        <p:spPr>
          <a:xfrm>
            <a:off x="650880" y="6524640"/>
            <a:ext cx="5087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Payments routed through network of channels without touching base layer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88" name="Shape 24"/>
          <p:cNvSpPr/>
          <p:nvPr/>
        </p:nvSpPr>
        <p:spPr>
          <a:xfrm>
            <a:off x="539640" y="692136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9" name="Text 25"/>
          <p:cNvSpPr/>
          <p:nvPr/>
        </p:nvSpPr>
        <p:spPr>
          <a:xfrm>
            <a:off x="650880" y="703260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3. Settlement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0" name="Text 26"/>
          <p:cNvSpPr/>
          <p:nvPr/>
        </p:nvSpPr>
        <p:spPr>
          <a:xfrm>
            <a:off x="650880" y="7254720"/>
            <a:ext cx="5087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Channel closes broadcast final balance to Bitcoin blockchain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91" name="Shape 27"/>
          <p:cNvSpPr/>
          <p:nvPr/>
        </p:nvSpPr>
        <p:spPr>
          <a:xfrm>
            <a:off x="539640" y="7651800"/>
            <a:ext cx="5254200" cy="412560"/>
          </a:xfrm>
          <a:custGeom>
            <a:avLst/>
            <a:gdLst/>
            <a:ah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2" name="Text 28"/>
          <p:cNvSpPr/>
          <p:nvPr/>
        </p:nvSpPr>
        <p:spPr>
          <a:xfrm>
            <a:off x="619200" y="776304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Result: Near-instant, sub-cent fees, millions of TPS capacity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3" name="Shape 29"/>
          <p:cNvSpPr/>
          <p:nvPr/>
        </p:nvSpPr>
        <p:spPr>
          <a:xfrm>
            <a:off x="6199200" y="1357200"/>
            <a:ext cx="5651280" cy="4333680"/>
          </a:xfrm>
          <a:custGeom>
            <a:avLst/>
            <a:gdLst/>
            <a:ahLst/>
            <a:rect l="l" t="t" r="r" b="b"/>
            <a:pathLst>
              <a:path w="5651500" h="4333875">
                <a:moveTo>
                  <a:pt x="0" y="0"/>
                </a:moveTo>
                <a:lnTo>
                  <a:pt x="5651500" y="0"/>
                </a:lnTo>
                <a:lnTo>
                  <a:pt x="5651500" y="4333875"/>
                </a:lnTo>
                <a:lnTo>
                  <a:pt x="0" y="4333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94" name="Text 30"/>
          <p:cNvSpPr/>
          <p:nvPr/>
        </p:nvSpPr>
        <p:spPr>
          <a:xfrm>
            <a:off x="6381720" y="153972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ADOPTION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95" name="Shape 31"/>
          <p:cNvSpPr/>
          <p:nvPr/>
        </p:nvSpPr>
        <p:spPr>
          <a:xfrm>
            <a:off x="6397560" y="1936800"/>
            <a:ext cx="5254200" cy="7934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6" name="Text 32"/>
          <p:cNvSpPr/>
          <p:nvPr/>
        </p:nvSpPr>
        <p:spPr>
          <a:xfrm>
            <a:off x="6540480" y="2127240"/>
            <a:ext cx="1047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Monthly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7" name="Text 33"/>
          <p:cNvSpPr/>
          <p:nvPr/>
        </p:nvSpPr>
        <p:spPr>
          <a:xfrm>
            <a:off x="10741320" y="2079720"/>
            <a:ext cx="8884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$1.17B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98" name="Text 34"/>
          <p:cNvSpPr/>
          <p:nvPr/>
        </p:nvSpPr>
        <p:spPr>
          <a:xfrm>
            <a:off x="6540480" y="2428920"/>
            <a:ext cx="502416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November 2025 (River data)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99" name="Shape 35"/>
          <p:cNvSpPr/>
          <p:nvPr/>
        </p:nvSpPr>
        <p:spPr>
          <a:xfrm>
            <a:off x="6397560" y="2857680"/>
            <a:ext cx="5254200" cy="7934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0" name="Text 36"/>
          <p:cNvSpPr/>
          <p:nvPr/>
        </p:nvSpPr>
        <p:spPr>
          <a:xfrm>
            <a:off x="6540480" y="3048120"/>
            <a:ext cx="13726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Monthly Transactions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1" name="Text 37"/>
          <p:cNvSpPr/>
          <p:nvPr/>
        </p:nvSpPr>
        <p:spPr>
          <a:xfrm>
            <a:off x="10847520" y="3000240"/>
            <a:ext cx="7776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5.22M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02" name="Text 38"/>
          <p:cNvSpPr/>
          <p:nvPr/>
        </p:nvSpPr>
        <p:spPr>
          <a:xfrm>
            <a:off x="6540480" y="3349800"/>
            <a:ext cx="502416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Average transaction size: ~$224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03" name="Shape 39"/>
          <p:cNvSpPr/>
          <p:nvPr/>
        </p:nvSpPr>
        <p:spPr>
          <a:xfrm>
            <a:off x="6397560" y="3778200"/>
            <a:ext cx="5254200" cy="7934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4" name="Text 40"/>
          <p:cNvSpPr/>
          <p:nvPr/>
        </p:nvSpPr>
        <p:spPr>
          <a:xfrm>
            <a:off x="6540480" y="3968640"/>
            <a:ext cx="1126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Network Capacity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5" name="Text 41"/>
          <p:cNvSpPr/>
          <p:nvPr/>
        </p:nvSpPr>
        <p:spPr>
          <a:xfrm>
            <a:off x="10218960" y="3921120"/>
            <a:ext cx="14126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5,500+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06" name="Text 42"/>
          <p:cNvSpPr/>
          <p:nvPr/>
        </p:nvSpPr>
        <p:spPr>
          <a:xfrm>
            <a:off x="6540480" y="4270320"/>
            <a:ext cx="502416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Total BTC locked in channels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07" name="Shape 43"/>
          <p:cNvSpPr/>
          <p:nvPr/>
        </p:nvSpPr>
        <p:spPr>
          <a:xfrm>
            <a:off x="6397560" y="4699080"/>
            <a:ext cx="5254200" cy="7934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8" name="Text 44"/>
          <p:cNvSpPr/>
          <p:nvPr/>
        </p:nvSpPr>
        <p:spPr>
          <a:xfrm>
            <a:off x="6540480" y="4889520"/>
            <a:ext cx="8647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Active Nodes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9" name="Text 45"/>
          <p:cNvSpPr/>
          <p:nvPr/>
        </p:nvSpPr>
        <p:spPr>
          <a:xfrm>
            <a:off x="10641960" y="4842000"/>
            <a:ext cx="9838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18,000+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10" name="Text 46"/>
          <p:cNvSpPr/>
          <p:nvPr/>
        </p:nvSpPr>
        <p:spPr>
          <a:xfrm>
            <a:off x="6540480" y="5191200"/>
            <a:ext cx="502416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Decentralized network participants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1" name="Shape 47"/>
          <p:cNvSpPr/>
          <p:nvPr/>
        </p:nvSpPr>
        <p:spPr>
          <a:xfrm>
            <a:off x="6199200" y="5865840"/>
            <a:ext cx="5651280" cy="3571560"/>
          </a:xfrm>
          <a:custGeom>
            <a:avLst/>
            <a:gdLst/>
            <a:ahLst/>
            <a:rect l="l" t="t" r="r" b="b"/>
            <a:pathLst>
              <a:path w="5651500" h="3571875">
                <a:moveTo>
                  <a:pt x="0" y="0"/>
                </a:moveTo>
                <a:lnTo>
                  <a:pt x="5651500" y="0"/>
                </a:lnTo>
                <a:lnTo>
                  <a:pt x="56515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313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2" name="Text 48"/>
          <p:cNvSpPr/>
          <p:nvPr/>
        </p:nvSpPr>
        <p:spPr>
          <a:xfrm>
            <a:off x="6381720" y="6048360"/>
            <a:ext cx="538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REAL-WORLD USE CASES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13" name="Shape 49"/>
          <p:cNvSpPr/>
          <p:nvPr/>
        </p:nvSpPr>
        <p:spPr>
          <a:xfrm>
            <a:off x="6397560" y="644508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14" name="Text 50"/>
          <p:cNvSpPr/>
          <p:nvPr/>
        </p:nvSpPr>
        <p:spPr>
          <a:xfrm>
            <a:off x="6508800" y="655632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El Salvador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15" name="Text 51"/>
          <p:cNvSpPr/>
          <p:nvPr/>
        </p:nvSpPr>
        <p:spPr>
          <a:xfrm>
            <a:off x="6508800" y="6778800"/>
            <a:ext cx="5087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legal tender using Lightning for everyday payments (coffee, groceries)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6" name="Shape 52"/>
          <p:cNvSpPr/>
          <p:nvPr/>
        </p:nvSpPr>
        <p:spPr>
          <a:xfrm>
            <a:off x="6397560" y="717552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17" name="Text 53"/>
          <p:cNvSpPr/>
          <p:nvPr/>
        </p:nvSpPr>
        <p:spPr>
          <a:xfrm>
            <a:off x="6508800" y="728676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Strike App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18" name="Text 54"/>
          <p:cNvSpPr/>
          <p:nvPr/>
        </p:nvSpPr>
        <p:spPr>
          <a:xfrm>
            <a:off x="6508800" y="7508880"/>
            <a:ext cx="5087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Cross-border remittances: Send USD → Receiver gets local currency, sub-cent fees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9" name="Shape 55"/>
          <p:cNvSpPr/>
          <p:nvPr/>
        </p:nvSpPr>
        <p:spPr>
          <a:xfrm>
            <a:off x="6397560" y="790560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0" name="Text 56"/>
          <p:cNvSpPr/>
          <p:nvPr/>
        </p:nvSpPr>
        <p:spPr>
          <a:xfrm>
            <a:off x="6508800" y="801684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Streaming &amp; Gaming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21" name="Text 57"/>
          <p:cNvSpPr/>
          <p:nvPr/>
        </p:nvSpPr>
        <p:spPr>
          <a:xfrm>
            <a:off x="6508800" y="8238960"/>
            <a:ext cx="5087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Micropayments for content (pay-per-minute video, in-game purchases)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22" name="Shape 58"/>
          <p:cNvSpPr/>
          <p:nvPr/>
        </p:nvSpPr>
        <p:spPr>
          <a:xfrm>
            <a:off x="6397560" y="8636040"/>
            <a:ext cx="5254200" cy="6030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3" name="Text 59"/>
          <p:cNvSpPr/>
          <p:nvPr/>
        </p:nvSpPr>
        <p:spPr>
          <a:xfrm>
            <a:off x="6508800" y="8747280"/>
            <a:ext cx="5095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AI Agent Payments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24" name="Text 60"/>
          <p:cNvSpPr/>
          <p:nvPr/>
        </p:nvSpPr>
        <p:spPr>
          <a:xfrm>
            <a:off x="6508800" y="8969400"/>
            <a:ext cx="5087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Lightning Labs toolkit enables autonomous machine-to-machine transactions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Image 0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6" name="Shape 0"/>
          <p:cNvSpPr/>
          <p:nvPr/>
        </p:nvSpPr>
        <p:spPr>
          <a:xfrm>
            <a:off x="0" y="0"/>
            <a:ext cx="12191760" cy="68576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7" name="Shape 1"/>
          <p:cNvSpPr/>
          <p:nvPr/>
        </p:nvSpPr>
        <p:spPr>
          <a:xfrm>
            <a:off x="3305160" y="352440"/>
            <a:ext cx="8476920" cy="481932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28" name="Shape 2"/>
          <p:cNvSpPr/>
          <p:nvPr/>
        </p:nvSpPr>
        <p:spPr>
          <a:xfrm>
            <a:off x="10077480" y="838080"/>
            <a:ext cx="75960" cy="9140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9" name="Shape 3"/>
          <p:cNvSpPr/>
          <p:nvPr/>
        </p:nvSpPr>
        <p:spPr>
          <a:xfrm>
            <a:off x="10410840" y="866880"/>
            <a:ext cx="856800" cy="8568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0" name="Text 4"/>
          <p:cNvSpPr/>
          <p:nvPr/>
        </p:nvSpPr>
        <p:spPr>
          <a:xfrm>
            <a:off x="10267920" y="838080"/>
            <a:ext cx="102852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10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31" name="Text 5"/>
          <p:cNvSpPr/>
          <p:nvPr/>
        </p:nvSpPr>
        <p:spPr>
          <a:xfrm>
            <a:off x="3448080" y="2057400"/>
            <a:ext cx="7848360" cy="171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&amp; RISKS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832" name="Shape 6"/>
          <p:cNvSpPr/>
          <p:nvPr/>
        </p:nvSpPr>
        <p:spPr>
          <a:xfrm>
            <a:off x="9468000" y="4000680"/>
            <a:ext cx="1828440" cy="759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3" name="Text 7"/>
          <p:cNvSpPr/>
          <p:nvPr/>
        </p:nvSpPr>
        <p:spPr>
          <a:xfrm>
            <a:off x="3619440" y="4305240"/>
            <a:ext cx="76766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Road Ahead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834" name="Shape 8"/>
          <p:cNvSpPr/>
          <p:nvPr/>
        </p:nvSpPr>
        <p:spPr>
          <a:xfrm>
            <a:off x="7293960" y="5686560"/>
            <a:ext cx="4485960" cy="818640"/>
          </a:xfrm>
          <a:custGeom>
            <a:avLst/>
            <a:gdLst/>
            <a:ahLst/>
            <a:rect l="l" t="t" r="r" b="b"/>
            <a:pathLst>
              <a:path w="4486275" h="819150">
                <a:moveTo>
                  <a:pt x="0" y="0"/>
                </a:moveTo>
                <a:lnTo>
                  <a:pt x="4486275" y="0"/>
                </a:lnTo>
                <a:lnTo>
                  <a:pt x="44862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5" name="Text 9"/>
          <p:cNvSpPr/>
          <p:nvPr/>
        </p:nvSpPr>
        <p:spPr>
          <a:xfrm>
            <a:off x="7551000" y="5943600"/>
            <a:ext cx="40860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Obstacles Bitcoin Must Overcome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2026-03-18T08:32:36Z</dcterms:created>
  <dc:creator>Kimi</dc:creator>
  <dc:description/>
  <dc:language>en-HK</dc:language>
  <cp:lastModifiedBy/>
  <dcterms:modified xsi:type="dcterms:W3CDTF">2026-04-18T15:09:06Z</dcterms:modified>
  <cp:revision>2</cp:revision>
  <dc:subject>Bitcoin: The Digital Revolution</dc:subject>
  <dc:title>Bitcoin: The Digital Revolution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{"Label":"Bitcoin: The Digital Revolution","ContentProducer":"001191110108MACG2KBH8F10000","ProduceID":"19d000e5-9a32-8b0f-8000-00005ec375b0","ReservedCode1":"","ContentPropagator":"001191110108MACG2KBH8F20000","PropagateID":"19d000e5-9a32-8b0f-8000-00005ec375b0","ReservedCode2":""}</vt:lpwstr>
  </property>
  <property fmtid="{D5CDD505-2E9C-101B-9397-08002B2CF9AE}" pid="3" name="Notes">
    <vt:i4>27</vt:i4>
  </property>
  <property fmtid="{D5CDD505-2E9C-101B-9397-08002B2CF9AE}" pid="4" name="PresentationFormat">
    <vt:lpwstr>On-screen Show (16:9)</vt:lpwstr>
  </property>
  <property fmtid="{D5CDD505-2E9C-101B-9397-08002B2CF9AE}" pid="5" name="Slides">
    <vt:i4>27</vt:i4>
  </property>
</Properties>
</file>