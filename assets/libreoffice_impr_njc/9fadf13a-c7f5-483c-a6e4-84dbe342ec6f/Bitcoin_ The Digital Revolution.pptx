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13.xml.rels" ContentType="application/vnd.openxmlformats-package.relationships+xml"/>
  <Override PartName="/ppt/notesSlides/_rels/notesSlide9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5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3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14.xml.rels" ContentType="application/vnd.openxmlformats-package.relationships+xml"/>
  <Override PartName="/ppt/slides/_rels/slide11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2193588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</a:t>
            </a:r>
            <a:r>
              <a:rPr b="0" lang="en-HK" sz="4400" spc="-1" strike="noStrike">
                <a:latin typeface="Arial"/>
              </a:rPr>
              <a:t>ic</a:t>
            </a:r>
            <a:r>
              <a:rPr b="0" lang="en-HK" sz="4400" spc="-1" strike="noStrike">
                <a:latin typeface="Arial"/>
              </a:rPr>
              <a:t>k </a:t>
            </a:r>
            <a:r>
              <a:rPr b="0" lang="en-HK" sz="4400" spc="-1" strike="noStrike">
                <a:latin typeface="Arial"/>
              </a:rPr>
              <a:t>to </a:t>
            </a:r>
            <a:r>
              <a:rPr b="0" lang="en-HK" sz="4400" spc="-1" strike="noStrike">
                <a:latin typeface="Arial"/>
              </a:rPr>
              <a:t>m</a:t>
            </a:r>
            <a:r>
              <a:rPr b="0" lang="en-HK" sz="4400" spc="-1" strike="noStrike">
                <a:latin typeface="Arial"/>
              </a:rPr>
              <a:t>ov</a:t>
            </a:r>
            <a:r>
              <a:rPr b="0" lang="en-HK" sz="4400" spc="-1" strike="noStrike">
                <a:latin typeface="Arial"/>
              </a:rPr>
              <a:t>e </a:t>
            </a:r>
            <a:r>
              <a:rPr b="0" lang="en-HK" sz="4400" spc="-1" strike="noStrike">
                <a:latin typeface="Arial"/>
              </a:rPr>
              <a:t>th</a:t>
            </a:r>
            <a:r>
              <a:rPr b="0" lang="en-HK" sz="4400" spc="-1" strike="noStrike">
                <a:latin typeface="Arial"/>
              </a:rPr>
              <a:t>e </a:t>
            </a:r>
            <a:r>
              <a:rPr b="0" lang="en-HK" sz="4400" spc="-1" strike="noStrike">
                <a:latin typeface="Arial"/>
              </a:rPr>
              <a:t>sli</a:t>
            </a:r>
            <a:r>
              <a:rPr b="0" lang="en-HK" sz="4400" spc="-1" strike="noStrike">
                <a:latin typeface="Arial"/>
              </a:rPr>
              <a:t>d</a:t>
            </a:r>
            <a:r>
              <a:rPr b="0" lang="en-HK" sz="4400" spc="-1" strike="noStrike">
                <a:latin typeface="Arial"/>
              </a:rPr>
              <a:t>e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2000" spc="-1" strike="noStrike">
                <a:latin typeface="Arial"/>
              </a:rPr>
              <a:t>Click to edit the notes format</a:t>
            </a:r>
            <a:endParaRPr b="0" lang="en-HK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1400" spc="-1" strike="noStrike">
                <a:latin typeface="Times New Roman"/>
              </a:rPr>
              <a:t>&lt;header&gt;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B4FE7554-FB70-4C26-BE2D-6DFD95BEEA04}" type="slidenum">
              <a:rPr b="0" lang="en-HK" sz="1400" spc="-1" strike="noStrike">
                <a:latin typeface="Times New Roman"/>
              </a:rPr>
              <a:t>&lt;number&gt;</a:t>
            </a:fld>
            <a:endParaRPr b="0" lang="en-HK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595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2E0C3CE-3288-4F08-8E54-2F79701610CA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598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B44DE35-FB26-40E9-925E-A46B193EA4CC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01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15CD13D-DBAD-4BFC-AA54-E3837F05C0FC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0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D6F6CF0-D30A-4A39-AAF3-DD60AB385FE3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07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4E12E87-389E-40A3-BC16-204952768AF2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Arial"/>
              </a:rPr>
              <a:t>Summary: Bitcoin has fundamentally </a:t>
            </a:r>
            <a:r>
              <a:rPr b="0" lang="en-US" sz="2000" spc="-1" strike="noStrike">
                <a:latin typeface="Arial"/>
              </a:rPr>
              <a:t>changed how we think about money, </a:t>
            </a:r>
            <a:r>
              <a:rPr b="0" lang="en-US" sz="2000" spc="-1" strike="noStrike">
                <a:latin typeface="Arial"/>
              </a:rPr>
              <a:t>trust, and decentralized systems.</a:t>
            </a:r>
            <a:endParaRPr b="0" lang="en-HK" sz="2000" spc="-1" strike="noStrike">
              <a:latin typeface="Arial"/>
            </a:endParaRPr>
          </a:p>
        </p:txBody>
      </p:sp>
      <p:sp>
        <p:nvSpPr>
          <p:cNvPr id="610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486FA57-2D27-4DE3-8348-1FD3353C848D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13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56630D8-6DE7-44E0-B7DE-AF59D39DD4FE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16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F9DF147-E34E-43DB-9CAF-B346AAD67DA2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19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E8A211F-20CD-45F5-8B80-0BD5044103B1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22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CBB3BAF-28B6-4362-A37E-354D6B46FFA4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25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7B05280-8350-4FC8-B708-DFBC6A5E1743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28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27E54F6-BF30-4364-A5D7-F39D90DEB0B3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31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B6DF64E-6CD6-497B-862A-34860E1964BC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34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F08DC67-7614-4D0D-BDAF-6113E57FF85C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37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85A0573-CFEA-4108-9951-9D188340E9A4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352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352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50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6232680" y="1604520"/>
            <a:ext cx="53550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352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2680" y="1604520"/>
            <a:ext cx="53550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50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26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232680" y="368208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26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352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352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352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2326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6232680" y="368208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320000" y="160452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8030520" y="160452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4320000" y="368208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8030520" y="368208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352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33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Image 0"/>
          <p:cNvSpPr/>
          <p:nvPr/>
        </p:nvSpPr>
        <p:spPr>
          <a:xfrm>
            <a:off x="0" y="0"/>
            <a:ext cx="12192120" cy="6856920"/>
          </a:xfrm>
          <a:prstGeom prst="roundRect">
            <a:avLst>
              <a:gd name="adj" fmla="val 0"/>
            </a:avLst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Shape 0"/>
          <p:cNvSpPr/>
          <p:nvPr/>
        </p:nvSpPr>
        <p:spPr>
          <a:xfrm>
            <a:off x="0" y="0"/>
            <a:ext cx="12192120" cy="68569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8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" name="Shape 1"/>
          <p:cNvSpPr/>
          <p:nvPr/>
        </p:nvSpPr>
        <p:spPr>
          <a:xfrm>
            <a:off x="409680" y="714240"/>
            <a:ext cx="3704400" cy="780120"/>
          </a:xfrm>
          <a:custGeom>
            <a:avLst/>
            <a:gdLst/>
            <a:ahLst/>
            <a:rect l="l" t="t" r="r" b="b"/>
            <a:pathLst>
              <a:path w="3705225" h="781050">
                <a:moveTo>
                  <a:pt x="0" y="0"/>
                </a:moveTo>
                <a:lnTo>
                  <a:pt x="3705225" y="0"/>
                </a:lnTo>
                <a:lnTo>
                  <a:pt x="3705225" y="781050"/>
                </a:lnTo>
                <a:lnTo>
                  <a:pt x="0" y="781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7" name="Text 2"/>
          <p:cNvSpPr/>
          <p:nvPr/>
        </p:nvSpPr>
        <p:spPr>
          <a:xfrm>
            <a:off x="666720" y="971640"/>
            <a:ext cx="328536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3600" spc="143" strike="noStrike">
                <a:solidFill>
                  <a:srgbClr val="ffffff"/>
                </a:solidFill>
                <a:latin typeface="Noto Sans SC"/>
                <a:ea typeface="Noto Sans SC"/>
              </a:rPr>
              <a:t>FINANCIAL LECTURE SERIES</a:t>
            </a:r>
            <a:endParaRPr b="0" lang="en-HK" sz="3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Shape 3"/>
          <p:cNvSpPr/>
          <p:nvPr/>
        </p:nvSpPr>
        <p:spPr>
          <a:xfrm>
            <a:off x="409680" y="1876320"/>
            <a:ext cx="11372760" cy="3256560"/>
          </a:xfrm>
          <a:custGeom>
            <a:avLst/>
            <a:gdLst/>
            <a:ahLst/>
            <a:rect l="l" t="t" r="r" b="b"/>
            <a:pathLst>
              <a:path w="11372850" h="3257550">
                <a:moveTo>
                  <a:pt x="0" y="0"/>
                </a:moveTo>
                <a:lnTo>
                  <a:pt x="11372850" y="0"/>
                </a:lnTo>
                <a:lnTo>
                  <a:pt x="11372850" y="3257550"/>
                </a:lnTo>
                <a:lnTo>
                  <a:pt x="0" y="32575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9" name="Text 4"/>
          <p:cNvSpPr/>
          <p:nvPr/>
        </p:nvSpPr>
        <p:spPr>
          <a:xfrm>
            <a:off x="895320" y="2362320"/>
            <a:ext cx="1085868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BITCOIN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50" name="Shape 5"/>
          <p:cNvSpPr/>
          <p:nvPr/>
        </p:nvSpPr>
        <p:spPr>
          <a:xfrm>
            <a:off x="895320" y="3505320"/>
            <a:ext cx="1218240" cy="75240"/>
          </a:xfrm>
          <a:custGeom>
            <a:avLst/>
            <a:gdLst/>
            <a:ahLst/>
            <a:rect l="l" t="t" r="r" b="b"/>
            <a:pathLst>
              <a:path w="1219200" h="76200">
                <a:moveTo>
                  <a:pt x="0" y="0"/>
                </a:moveTo>
                <a:lnTo>
                  <a:pt x="1219200" y="0"/>
                </a:lnTo>
                <a:lnTo>
                  <a:pt x="12192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" name="Text 6"/>
          <p:cNvSpPr/>
          <p:nvPr/>
        </p:nvSpPr>
        <p:spPr>
          <a:xfrm>
            <a:off x="895320" y="3809880"/>
            <a:ext cx="1057284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THE DIGITAL REVOLUTION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52" name="Text 7"/>
          <p:cNvSpPr/>
          <p:nvPr/>
        </p:nvSpPr>
        <p:spPr>
          <a:xfrm>
            <a:off x="895320" y="4343400"/>
            <a:ext cx="105156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A Comprehensive Analysis of History, Present &amp; Future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53" name="Shape 8"/>
          <p:cNvSpPr/>
          <p:nvPr/>
        </p:nvSpPr>
        <p:spPr>
          <a:xfrm>
            <a:off x="409680" y="5514840"/>
            <a:ext cx="1294200" cy="627480"/>
          </a:xfrm>
          <a:custGeom>
            <a:avLst/>
            <a:gdLst/>
            <a:ahLst/>
            <a:rect l="l" t="t" r="r" b="b"/>
            <a:pathLst>
              <a:path w="1295400" h="628650">
                <a:moveTo>
                  <a:pt x="0" y="0"/>
                </a:moveTo>
                <a:lnTo>
                  <a:pt x="1295400" y="0"/>
                </a:lnTo>
                <a:lnTo>
                  <a:pt x="1295400" y="628650"/>
                </a:lnTo>
                <a:lnTo>
                  <a:pt x="0" y="628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7674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4" name="Text 9"/>
          <p:cNvSpPr/>
          <p:nvPr/>
        </p:nvSpPr>
        <p:spPr>
          <a:xfrm>
            <a:off x="590400" y="5695920"/>
            <a:ext cx="101808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MiSans"/>
                <a:ea typeface="MiSans"/>
              </a:rPr>
              <a:t>March 2026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55" name="Shape 10"/>
          <p:cNvSpPr/>
          <p:nvPr/>
        </p:nvSpPr>
        <p:spPr>
          <a:xfrm>
            <a:off x="10365120" y="5514840"/>
            <a:ext cx="1418040" cy="627480"/>
          </a:xfrm>
          <a:custGeom>
            <a:avLst/>
            <a:gdLst/>
            <a:ahLst/>
            <a:rect l="l" t="t" r="r" b="b"/>
            <a:pathLst>
              <a:path w="1419225" h="628650">
                <a:moveTo>
                  <a:pt x="0" y="0"/>
                </a:moveTo>
                <a:lnTo>
                  <a:pt x="1419225" y="0"/>
                </a:lnTo>
                <a:lnTo>
                  <a:pt x="1419225" y="628650"/>
                </a:lnTo>
                <a:lnTo>
                  <a:pt x="0" y="628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7674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6" name="Text 11"/>
          <p:cNvSpPr/>
          <p:nvPr/>
        </p:nvSpPr>
        <p:spPr>
          <a:xfrm>
            <a:off x="10546200" y="5695920"/>
            <a:ext cx="114192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MiSans"/>
                <a:ea typeface="MiSans"/>
              </a:rPr>
              <a:t>▶ </a:t>
            </a:r>
            <a:r>
              <a:rPr b="1" lang="en-US" sz="3600" spc="-1" strike="noStrike">
                <a:solidFill>
                  <a:srgbClr val="ffffff"/>
                </a:solidFill>
                <a:latin typeface="MiSans"/>
                <a:ea typeface="MiSans"/>
              </a:rPr>
              <a:t>27 SLIDES</a:t>
            </a:r>
            <a:endParaRPr b="0" lang="en-HK" sz="3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0"/>
          <p:cNvSpPr/>
          <p:nvPr/>
        </p:nvSpPr>
        <p:spPr>
          <a:xfrm>
            <a:off x="341280" y="341280"/>
            <a:ext cx="11509200" cy="1094400"/>
          </a:xfrm>
          <a:custGeom>
            <a:avLst/>
            <a:gdLst/>
            <a:ahLst/>
            <a:rect l="l" t="t" r="r" b="b"/>
            <a:pathLst>
              <a:path w="11509375" h="1095375">
                <a:moveTo>
                  <a:pt x="0" y="0"/>
                </a:moveTo>
                <a:lnTo>
                  <a:pt x="11509375" y="0"/>
                </a:lnTo>
                <a:lnTo>
                  <a:pt x="11509375" y="1095375"/>
                </a:lnTo>
                <a:lnTo>
                  <a:pt x="0" y="1095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8" name="Text 1"/>
          <p:cNvSpPr/>
          <p:nvPr/>
        </p:nvSpPr>
        <p:spPr>
          <a:xfrm>
            <a:off x="555480" y="555480"/>
            <a:ext cx="113187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3750" spc="-1" strike="noStrike">
                <a:solidFill>
                  <a:srgbClr val="ff8000"/>
                </a:solidFill>
                <a:latin typeface="Noto Sans SC"/>
                <a:ea typeface="Noto Sans SC"/>
              </a:rPr>
              <a:t>CONTENTS</a:t>
            </a:r>
            <a:endParaRPr b="0" lang="en-HK" sz="3750" spc="-1" strike="noStrike">
              <a:solidFill>
                <a:srgbClr val="ff8000"/>
              </a:solidFill>
              <a:latin typeface="Arial"/>
            </a:endParaRPr>
          </a:p>
        </p:txBody>
      </p:sp>
      <p:sp>
        <p:nvSpPr>
          <p:cNvPr id="59" name="Shape 2"/>
          <p:cNvSpPr/>
          <p:nvPr/>
        </p:nvSpPr>
        <p:spPr>
          <a:xfrm>
            <a:off x="555480" y="1158840"/>
            <a:ext cx="761040" cy="6228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0" name="Shape 3"/>
          <p:cNvSpPr/>
          <p:nvPr/>
        </p:nvSpPr>
        <p:spPr>
          <a:xfrm>
            <a:off x="341280" y="1674720"/>
            <a:ext cx="5650920" cy="87192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1" name="Shape 4"/>
          <p:cNvSpPr/>
          <p:nvPr/>
        </p:nvSpPr>
        <p:spPr>
          <a:xfrm>
            <a:off x="547560" y="1881360"/>
            <a:ext cx="459360" cy="45936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" name="Text 5"/>
          <p:cNvSpPr/>
          <p:nvPr/>
        </p:nvSpPr>
        <p:spPr>
          <a:xfrm>
            <a:off x="464400" y="1857240"/>
            <a:ext cx="530640" cy="41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01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3" name="Text 6"/>
          <p:cNvSpPr/>
          <p:nvPr/>
        </p:nvSpPr>
        <p:spPr>
          <a:xfrm>
            <a:off x="1158840" y="1857240"/>
            <a:ext cx="141192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GENESIS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4" name="Text 7"/>
          <p:cNvSpPr/>
          <p:nvPr/>
        </p:nvSpPr>
        <p:spPr>
          <a:xfrm>
            <a:off x="1158840" y="2143080"/>
            <a:ext cx="138816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Bitcoin's Origin Story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65" name="Shape 8"/>
          <p:cNvSpPr/>
          <p:nvPr/>
        </p:nvSpPr>
        <p:spPr>
          <a:xfrm>
            <a:off x="6199560" y="1674720"/>
            <a:ext cx="5650920" cy="87192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6" name="Shape 9"/>
          <p:cNvSpPr/>
          <p:nvPr/>
        </p:nvSpPr>
        <p:spPr>
          <a:xfrm>
            <a:off x="6405840" y="1881360"/>
            <a:ext cx="459360" cy="45936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7" name="Text 10"/>
          <p:cNvSpPr/>
          <p:nvPr/>
        </p:nvSpPr>
        <p:spPr>
          <a:xfrm>
            <a:off x="6322680" y="1857240"/>
            <a:ext cx="530640" cy="41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02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8" name="Text 11"/>
          <p:cNvSpPr/>
          <p:nvPr/>
        </p:nvSpPr>
        <p:spPr>
          <a:xfrm>
            <a:off x="7017120" y="1857240"/>
            <a:ext cx="251532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TECHNICAL FOUNDATION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9" name="Text 12"/>
          <p:cNvSpPr/>
          <p:nvPr/>
        </p:nvSpPr>
        <p:spPr>
          <a:xfrm>
            <a:off x="7017120" y="2143080"/>
            <a:ext cx="249156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How Bitcoin Works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0" name="Shape 13"/>
          <p:cNvSpPr/>
          <p:nvPr/>
        </p:nvSpPr>
        <p:spPr>
          <a:xfrm>
            <a:off x="341280" y="2754360"/>
            <a:ext cx="5650920" cy="87192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1" name="Shape 14"/>
          <p:cNvSpPr/>
          <p:nvPr/>
        </p:nvSpPr>
        <p:spPr>
          <a:xfrm>
            <a:off x="547560" y="2960640"/>
            <a:ext cx="459360" cy="45936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2" name="Text 15"/>
          <p:cNvSpPr/>
          <p:nvPr/>
        </p:nvSpPr>
        <p:spPr>
          <a:xfrm>
            <a:off x="464400" y="2936880"/>
            <a:ext cx="530640" cy="41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03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3" name="Text 16"/>
          <p:cNvSpPr/>
          <p:nvPr/>
        </p:nvSpPr>
        <p:spPr>
          <a:xfrm>
            <a:off x="1158840" y="2936880"/>
            <a:ext cx="271404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HISTORICAL EVOLUTION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4" name="Text 17"/>
          <p:cNvSpPr/>
          <p:nvPr/>
        </p:nvSpPr>
        <p:spPr>
          <a:xfrm>
            <a:off x="1158840" y="3222720"/>
            <a:ext cx="268992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From Cypherpunk Dream to Global Asset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5" name="Shape 18"/>
          <p:cNvSpPr/>
          <p:nvPr/>
        </p:nvSpPr>
        <p:spPr>
          <a:xfrm>
            <a:off x="6199560" y="2754360"/>
            <a:ext cx="5650920" cy="87192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6" name="Shape 19"/>
          <p:cNvSpPr/>
          <p:nvPr/>
        </p:nvSpPr>
        <p:spPr>
          <a:xfrm>
            <a:off x="6405840" y="2960640"/>
            <a:ext cx="459360" cy="45936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7" name="Text 20"/>
          <p:cNvSpPr/>
          <p:nvPr/>
        </p:nvSpPr>
        <p:spPr>
          <a:xfrm>
            <a:off x="6322680" y="2936880"/>
            <a:ext cx="530640" cy="41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04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8" name="Text 21"/>
          <p:cNvSpPr/>
          <p:nvPr/>
        </p:nvSpPr>
        <p:spPr>
          <a:xfrm>
            <a:off x="7017120" y="2936880"/>
            <a:ext cx="211068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MARKET DYNAMICS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9" name="Text 22"/>
          <p:cNvSpPr/>
          <p:nvPr/>
        </p:nvSpPr>
        <p:spPr>
          <a:xfrm>
            <a:off x="7017120" y="3222720"/>
            <a:ext cx="208692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Halving Cycles &amp; Price Patterns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80" name="Shape 23"/>
          <p:cNvSpPr/>
          <p:nvPr/>
        </p:nvSpPr>
        <p:spPr>
          <a:xfrm>
            <a:off x="341280" y="3833640"/>
            <a:ext cx="5650920" cy="87192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1" name="Shape 24"/>
          <p:cNvSpPr/>
          <p:nvPr/>
        </p:nvSpPr>
        <p:spPr>
          <a:xfrm>
            <a:off x="547560" y="4040280"/>
            <a:ext cx="459360" cy="45936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2" name="Text 25"/>
          <p:cNvSpPr/>
          <p:nvPr/>
        </p:nvSpPr>
        <p:spPr>
          <a:xfrm>
            <a:off x="464400" y="4016520"/>
            <a:ext cx="530640" cy="41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05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83" name="Text 26"/>
          <p:cNvSpPr/>
          <p:nvPr/>
        </p:nvSpPr>
        <p:spPr>
          <a:xfrm>
            <a:off x="1158840" y="4016520"/>
            <a:ext cx="226152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CURRENT LANDSCAPE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84" name="Text 27"/>
          <p:cNvSpPr/>
          <p:nvPr/>
        </p:nvSpPr>
        <p:spPr>
          <a:xfrm>
            <a:off x="1158840" y="4302000"/>
            <a:ext cx="223776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2024-2025 Market Status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85" name="Shape 28"/>
          <p:cNvSpPr/>
          <p:nvPr/>
        </p:nvSpPr>
        <p:spPr>
          <a:xfrm>
            <a:off x="6199560" y="3833640"/>
            <a:ext cx="5650920" cy="87192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6" name="Shape 29"/>
          <p:cNvSpPr/>
          <p:nvPr/>
        </p:nvSpPr>
        <p:spPr>
          <a:xfrm>
            <a:off x="6405840" y="4040280"/>
            <a:ext cx="459360" cy="45936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7" name="Text 30"/>
          <p:cNvSpPr/>
          <p:nvPr/>
        </p:nvSpPr>
        <p:spPr>
          <a:xfrm>
            <a:off x="6322680" y="4016520"/>
            <a:ext cx="530640" cy="41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06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88" name="Text 31"/>
          <p:cNvSpPr/>
          <p:nvPr/>
        </p:nvSpPr>
        <p:spPr>
          <a:xfrm>
            <a:off x="7017120" y="4016520"/>
            <a:ext cx="260280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ADOPTION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89" name="Text 32"/>
          <p:cNvSpPr/>
          <p:nvPr/>
        </p:nvSpPr>
        <p:spPr>
          <a:xfrm>
            <a:off x="7017120" y="4302000"/>
            <a:ext cx="257904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Wall Street Embraces Bitcoin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90" name="Shape 33"/>
          <p:cNvSpPr/>
          <p:nvPr/>
        </p:nvSpPr>
        <p:spPr>
          <a:xfrm>
            <a:off x="341280" y="4913280"/>
            <a:ext cx="5650920" cy="87192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1" name="Shape 34"/>
          <p:cNvSpPr/>
          <p:nvPr/>
        </p:nvSpPr>
        <p:spPr>
          <a:xfrm>
            <a:off x="547560" y="5119560"/>
            <a:ext cx="459360" cy="45936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2" name="Text 35"/>
          <p:cNvSpPr/>
          <p:nvPr/>
        </p:nvSpPr>
        <p:spPr>
          <a:xfrm>
            <a:off x="464400" y="5095800"/>
            <a:ext cx="530640" cy="41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07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93" name="Text 36"/>
          <p:cNvSpPr/>
          <p:nvPr/>
        </p:nvSpPr>
        <p:spPr>
          <a:xfrm>
            <a:off x="1158840" y="5095800"/>
            <a:ext cx="200700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MINING ECONOMICS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4" name="Text 37"/>
          <p:cNvSpPr/>
          <p:nvPr/>
        </p:nvSpPr>
        <p:spPr>
          <a:xfrm>
            <a:off x="1158840" y="5381640"/>
            <a:ext cx="198324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The Backbone of Security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95" name="Shape 38"/>
          <p:cNvSpPr/>
          <p:nvPr/>
        </p:nvSpPr>
        <p:spPr>
          <a:xfrm>
            <a:off x="6199560" y="4913280"/>
            <a:ext cx="5650920" cy="87192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6" name="Shape 39"/>
          <p:cNvSpPr/>
          <p:nvPr/>
        </p:nvSpPr>
        <p:spPr>
          <a:xfrm>
            <a:off x="6405840" y="5119560"/>
            <a:ext cx="459360" cy="45936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7" name="Text 40"/>
          <p:cNvSpPr/>
          <p:nvPr/>
        </p:nvSpPr>
        <p:spPr>
          <a:xfrm>
            <a:off x="6322680" y="5095800"/>
            <a:ext cx="530640" cy="41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08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98" name="Text 41"/>
          <p:cNvSpPr/>
          <p:nvPr/>
        </p:nvSpPr>
        <p:spPr>
          <a:xfrm>
            <a:off x="7017120" y="5095800"/>
            <a:ext cx="219780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DIGITAL GOLD THESIS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9" name="Text 42"/>
          <p:cNvSpPr/>
          <p:nvPr/>
        </p:nvSpPr>
        <p:spPr>
          <a:xfrm>
            <a:off x="7017120" y="5381640"/>
            <a:ext cx="217404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Store of Value Debate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00" name="Shape 43"/>
          <p:cNvSpPr/>
          <p:nvPr/>
        </p:nvSpPr>
        <p:spPr>
          <a:xfrm>
            <a:off x="341280" y="5992920"/>
            <a:ext cx="5650920" cy="87192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1" name="Shape 44"/>
          <p:cNvSpPr/>
          <p:nvPr/>
        </p:nvSpPr>
        <p:spPr>
          <a:xfrm>
            <a:off x="547560" y="6199200"/>
            <a:ext cx="459360" cy="45936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2" name="Text 45"/>
          <p:cNvSpPr/>
          <p:nvPr/>
        </p:nvSpPr>
        <p:spPr>
          <a:xfrm>
            <a:off x="464400" y="6175440"/>
            <a:ext cx="530640" cy="41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09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103" name="Text 46"/>
          <p:cNvSpPr/>
          <p:nvPr/>
        </p:nvSpPr>
        <p:spPr>
          <a:xfrm>
            <a:off x="1158840" y="6175440"/>
            <a:ext cx="211860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SCALING SOLUTIONS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4" name="Text 47"/>
          <p:cNvSpPr/>
          <p:nvPr/>
        </p:nvSpPr>
        <p:spPr>
          <a:xfrm>
            <a:off x="1158840" y="6461280"/>
            <a:ext cx="209484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Lightning Network &amp; Layer 2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05" name="Shape 48"/>
          <p:cNvSpPr/>
          <p:nvPr/>
        </p:nvSpPr>
        <p:spPr>
          <a:xfrm>
            <a:off x="6199560" y="5992920"/>
            <a:ext cx="5650920" cy="87192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6" name="Shape 49"/>
          <p:cNvSpPr/>
          <p:nvPr/>
        </p:nvSpPr>
        <p:spPr>
          <a:xfrm>
            <a:off x="6405840" y="6199200"/>
            <a:ext cx="459360" cy="45936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7" name="Text 50"/>
          <p:cNvSpPr/>
          <p:nvPr/>
        </p:nvSpPr>
        <p:spPr>
          <a:xfrm>
            <a:off x="6322680" y="6175440"/>
            <a:ext cx="530640" cy="41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10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108" name="Text 51"/>
          <p:cNvSpPr/>
          <p:nvPr/>
        </p:nvSpPr>
        <p:spPr>
          <a:xfrm>
            <a:off x="7017120" y="6175440"/>
            <a:ext cx="222984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CHALLENGES &amp; RISKS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9" name="Text 52"/>
          <p:cNvSpPr/>
          <p:nvPr/>
        </p:nvSpPr>
        <p:spPr>
          <a:xfrm>
            <a:off x="7017120" y="6461280"/>
            <a:ext cx="220608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The Road Ahead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10" name="Shape 53"/>
          <p:cNvSpPr/>
          <p:nvPr/>
        </p:nvSpPr>
        <p:spPr>
          <a:xfrm>
            <a:off x="341280" y="7072200"/>
            <a:ext cx="5650920" cy="87192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11" name="Shape 54"/>
          <p:cNvSpPr/>
          <p:nvPr/>
        </p:nvSpPr>
        <p:spPr>
          <a:xfrm>
            <a:off x="547560" y="7278840"/>
            <a:ext cx="459360" cy="45936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2" name="Text 55"/>
          <p:cNvSpPr/>
          <p:nvPr/>
        </p:nvSpPr>
        <p:spPr>
          <a:xfrm>
            <a:off x="464400" y="7254720"/>
            <a:ext cx="530640" cy="41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11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113" name="Text 56"/>
          <p:cNvSpPr/>
          <p:nvPr/>
        </p:nvSpPr>
        <p:spPr>
          <a:xfrm>
            <a:off x="1158840" y="7254720"/>
            <a:ext cx="187200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FUTURE OUTLOOK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14" name="Text 57"/>
          <p:cNvSpPr/>
          <p:nvPr/>
        </p:nvSpPr>
        <p:spPr>
          <a:xfrm>
            <a:off x="1158840" y="7540560"/>
            <a:ext cx="184824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Predictions &amp; Scenarios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15" name="Shape 58"/>
          <p:cNvSpPr/>
          <p:nvPr/>
        </p:nvSpPr>
        <p:spPr>
          <a:xfrm>
            <a:off x="6199560" y="7072200"/>
            <a:ext cx="5650920" cy="87192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16" name="Shape 59"/>
          <p:cNvSpPr/>
          <p:nvPr/>
        </p:nvSpPr>
        <p:spPr>
          <a:xfrm>
            <a:off x="6405840" y="7278840"/>
            <a:ext cx="459360" cy="45936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7" name="Text 60"/>
          <p:cNvSpPr/>
          <p:nvPr/>
        </p:nvSpPr>
        <p:spPr>
          <a:xfrm>
            <a:off x="6322680" y="7254720"/>
            <a:ext cx="530640" cy="41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12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118" name="Text 61"/>
          <p:cNvSpPr/>
          <p:nvPr/>
        </p:nvSpPr>
        <p:spPr>
          <a:xfrm>
            <a:off x="7017120" y="7254720"/>
            <a:ext cx="137196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CONCLUSION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19" name="Text 62"/>
          <p:cNvSpPr/>
          <p:nvPr/>
        </p:nvSpPr>
        <p:spPr>
          <a:xfrm>
            <a:off x="7017120" y="7540560"/>
            <a:ext cx="134820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The Path Forward</a:t>
            </a:r>
            <a:endParaRPr b="0" lang="en-HK" sz="113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Image 0"/>
          <p:cNvSpPr/>
          <p:nvPr/>
        </p:nvSpPr>
        <p:spPr>
          <a:xfrm>
            <a:off x="0" y="0"/>
            <a:ext cx="12192120" cy="685692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1" name="Shape 0"/>
          <p:cNvSpPr/>
          <p:nvPr/>
        </p:nvSpPr>
        <p:spPr>
          <a:xfrm>
            <a:off x="0" y="0"/>
            <a:ext cx="12192120" cy="68569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2" name="Shape 1"/>
          <p:cNvSpPr/>
          <p:nvPr/>
        </p:nvSpPr>
        <p:spPr>
          <a:xfrm>
            <a:off x="409680" y="781200"/>
            <a:ext cx="8476920" cy="3961440"/>
          </a:xfrm>
          <a:custGeom>
            <a:avLst/>
            <a:gdLst/>
            <a:ahLst/>
            <a:rect l="l" t="t" r="r" b="b"/>
            <a:pathLst>
              <a:path w="8477250" h="3962400">
                <a:moveTo>
                  <a:pt x="0" y="0"/>
                </a:moveTo>
                <a:lnTo>
                  <a:pt x="8477250" y="0"/>
                </a:lnTo>
                <a:lnTo>
                  <a:pt x="84772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23" name="Shape 2"/>
          <p:cNvSpPr/>
          <p:nvPr/>
        </p:nvSpPr>
        <p:spPr>
          <a:xfrm>
            <a:off x="923760" y="1295280"/>
            <a:ext cx="856080" cy="85608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4" name="Text 3"/>
          <p:cNvSpPr/>
          <p:nvPr/>
        </p:nvSpPr>
        <p:spPr>
          <a:xfrm>
            <a:off x="781200" y="1266840"/>
            <a:ext cx="1027800" cy="79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i="1" lang="en-US" sz="3600" spc="-1" strike="noStrike">
                <a:solidFill>
                  <a:srgbClr val="00008b"/>
                </a:solidFill>
                <a:latin typeface="Noto Sans SC"/>
                <a:ea typeface="Noto Sans SC"/>
              </a:rPr>
              <a:t>01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125" name="Shape 4"/>
          <p:cNvSpPr/>
          <p:nvPr/>
        </p:nvSpPr>
        <p:spPr>
          <a:xfrm>
            <a:off x="2038320" y="1266840"/>
            <a:ext cx="75240" cy="91332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6" name="Text 5"/>
          <p:cNvSpPr/>
          <p:nvPr/>
        </p:nvSpPr>
        <p:spPr>
          <a:xfrm>
            <a:off x="895320" y="2486160"/>
            <a:ext cx="7848360" cy="85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GENESIS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127" name="Shape 6"/>
          <p:cNvSpPr/>
          <p:nvPr/>
        </p:nvSpPr>
        <p:spPr>
          <a:xfrm>
            <a:off x="895320" y="3571920"/>
            <a:ext cx="1827720" cy="7524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8" name="Text 7"/>
          <p:cNvSpPr/>
          <p:nvPr/>
        </p:nvSpPr>
        <p:spPr>
          <a:xfrm>
            <a:off x="895320" y="3876840"/>
            <a:ext cx="767664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i="1" lang="en-US" sz="2700" spc="-1" strike="noStrike">
                <a:solidFill>
                  <a:srgbClr val="00008b"/>
                </a:solidFill>
                <a:latin typeface="Noto Sans SC"/>
                <a:ea typeface="Noto Sans SC"/>
              </a:rPr>
              <a:t>Bitcoin's Origin Story</a:t>
            </a:r>
            <a:endParaRPr b="0" i="1" lang="en-HK" sz="2700" spc="-1" strike="noStrike">
              <a:solidFill>
                <a:srgbClr val="00008b"/>
              </a:solidFill>
              <a:latin typeface="Arial"/>
            </a:endParaRPr>
          </a:p>
        </p:txBody>
      </p:sp>
      <p:sp>
        <p:nvSpPr>
          <p:cNvPr id="129" name="Shape 8"/>
          <p:cNvSpPr/>
          <p:nvPr/>
        </p:nvSpPr>
        <p:spPr>
          <a:xfrm>
            <a:off x="409680" y="5257800"/>
            <a:ext cx="11372760" cy="81792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0" name="Text 9"/>
          <p:cNvSpPr/>
          <p:nvPr/>
        </p:nvSpPr>
        <p:spPr>
          <a:xfrm>
            <a:off x="666720" y="5514840"/>
            <a:ext cx="109728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i="1" lang="en-US" sz="1800" spc="-1" strike="noStrike">
                <a:solidFill>
                  <a:srgbClr val="00008b"/>
                </a:solidFill>
                <a:highlight>
                  <a:srgbClr val="ffff00"/>
                </a:highlight>
                <a:latin typeface="Noto Sans SC"/>
                <a:ea typeface="Noto Sans SC"/>
              </a:rPr>
              <a:t>▶ </a:t>
            </a:r>
            <a:r>
              <a:rPr b="1" i="1" lang="en-US" sz="1800" spc="-1" strike="noStrike">
                <a:solidFill>
                  <a:srgbClr val="00008b"/>
                </a:solidFill>
                <a:highlight>
                  <a:srgbClr val="ffff00"/>
                </a:highlight>
                <a:latin typeface="Noto Sans SC"/>
                <a:ea typeface="Noto Sans SC"/>
              </a:rPr>
              <a:t>From Cypherpunk Vision to Financial Revolution</a:t>
            </a:r>
            <a:endParaRPr b="0" i="1" lang="en-HK" sz="1800" spc="-1" strike="noStrike">
              <a:solidFill>
                <a:srgbClr val="00008b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Shape 0"/>
          <p:cNvSpPr/>
          <p:nvPr/>
        </p:nvSpPr>
        <p:spPr>
          <a:xfrm>
            <a:off x="341280" y="341280"/>
            <a:ext cx="11509200" cy="999000"/>
          </a:xfrm>
          <a:custGeom>
            <a:avLst/>
            <a:gdLst/>
            <a:ahLst/>
            <a:rect l="l" t="t" r="r" b="b"/>
            <a:pathLst>
              <a:path w="11509375" h="1000125">
                <a:moveTo>
                  <a:pt x="0" y="0"/>
                </a:moveTo>
                <a:lnTo>
                  <a:pt x="11509375" y="0"/>
                </a:lnTo>
                <a:lnTo>
                  <a:pt x="11509375" y="1000125"/>
                </a:lnTo>
                <a:lnTo>
                  <a:pt x="0" y="100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2" name="Text 1"/>
          <p:cNvSpPr/>
          <p:nvPr/>
        </p:nvSpPr>
        <p:spPr>
          <a:xfrm>
            <a:off x="555480" y="555480"/>
            <a:ext cx="1127124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0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BIRTH OF BITCOIN: 2008-2009</a:t>
            </a:r>
            <a:endParaRPr b="0" lang="en-HK" sz="3000" spc="-1" strike="noStrike">
              <a:latin typeface="Arial"/>
            </a:endParaRPr>
          </a:p>
        </p:txBody>
      </p:sp>
      <p:sp>
        <p:nvSpPr>
          <p:cNvPr id="133" name="Shape 2"/>
          <p:cNvSpPr/>
          <p:nvPr/>
        </p:nvSpPr>
        <p:spPr>
          <a:xfrm>
            <a:off x="555480" y="1063800"/>
            <a:ext cx="761040" cy="6228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4" name="Shape 3"/>
          <p:cNvSpPr/>
          <p:nvPr/>
        </p:nvSpPr>
        <p:spPr>
          <a:xfrm>
            <a:off x="341280" y="1547640"/>
            <a:ext cx="8270640" cy="1848240"/>
          </a:xfrm>
          <a:custGeom>
            <a:avLst/>
            <a:gdLst/>
            <a:ahLst/>
            <a:rect l="l" t="t" r="r" b="b"/>
            <a:pathLst>
              <a:path w="8270875" h="1849438">
                <a:moveTo>
                  <a:pt x="0" y="0"/>
                </a:moveTo>
                <a:lnTo>
                  <a:pt x="8270875" y="0"/>
                </a:lnTo>
                <a:lnTo>
                  <a:pt x="8270875" y="1849438"/>
                </a:lnTo>
                <a:lnTo>
                  <a:pt x="0" y="1849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35" name="Shape 4"/>
          <p:cNvSpPr/>
          <p:nvPr/>
        </p:nvSpPr>
        <p:spPr>
          <a:xfrm>
            <a:off x="547560" y="1754280"/>
            <a:ext cx="332280" cy="33228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6" name="Text 5"/>
          <p:cNvSpPr/>
          <p:nvPr/>
        </p:nvSpPr>
        <p:spPr>
          <a:xfrm>
            <a:off x="484200" y="1730520"/>
            <a:ext cx="36396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137" name="Text 6"/>
          <p:cNvSpPr/>
          <p:nvPr/>
        </p:nvSpPr>
        <p:spPr>
          <a:xfrm>
            <a:off x="1031760" y="1730520"/>
            <a:ext cx="161820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October 31, 2008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38" name="Text 7"/>
          <p:cNvSpPr/>
          <p:nvPr/>
        </p:nvSpPr>
        <p:spPr>
          <a:xfrm>
            <a:off x="523800" y="2206800"/>
            <a:ext cx="7976880" cy="46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Satoshi Nakamoto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 publishes the Bitcoin whitepaper: "Bitcoin: A Peer-to-Peer Electronic Cash System" to the cypherpunk mailing list.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39" name="Shape 8"/>
          <p:cNvSpPr/>
          <p:nvPr/>
        </p:nvSpPr>
        <p:spPr>
          <a:xfrm>
            <a:off x="539640" y="2782080"/>
            <a:ext cx="7873560" cy="411840"/>
          </a:xfrm>
          <a:custGeom>
            <a:avLst/>
            <a:gdLst/>
            <a:ahLst/>
            <a:rect l="l" t="t" r="r" b="b"/>
            <a:pathLst>
              <a:path w="7874000" h="412750">
                <a:moveTo>
                  <a:pt x="0" y="0"/>
                </a:moveTo>
                <a:lnTo>
                  <a:pt x="7874000" y="0"/>
                </a:lnTo>
                <a:lnTo>
                  <a:pt x="7874000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0" name="Text 9"/>
          <p:cNvSpPr/>
          <p:nvPr/>
        </p:nvSpPr>
        <p:spPr>
          <a:xfrm>
            <a:off x="650880" y="2893320"/>
            <a:ext cx="771480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Core Innovation: Decentralized digital currency without trusted third parties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41" name="Shape 10"/>
          <p:cNvSpPr/>
          <p:nvPr/>
        </p:nvSpPr>
        <p:spPr>
          <a:xfrm>
            <a:off x="341280" y="3567960"/>
            <a:ext cx="8270640" cy="1610280"/>
          </a:xfrm>
          <a:custGeom>
            <a:avLst/>
            <a:gdLst/>
            <a:ahLst/>
            <a:rect l="l" t="t" r="r" b="b"/>
            <a:pathLst>
              <a:path w="8270875" h="1611313">
                <a:moveTo>
                  <a:pt x="0" y="0"/>
                </a:moveTo>
                <a:lnTo>
                  <a:pt x="8270875" y="0"/>
                </a:lnTo>
                <a:lnTo>
                  <a:pt x="8270875" y="1611313"/>
                </a:lnTo>
                <a:lnTo>
                  <a:pt x="0" y="161131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42" name="Shape 11"/>
          <p:cNvSpPr/>
          <p:nvPr/>
        </p:nvSpPr>
        <p:spPr>
          <a:xfrm>
            <a:off x="547560" y="3774240"/>
            <a:ext cx="332280" cy="33228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3" name="Text 12"/>
          <p:cNvSpPr/>
          <p:nvPr/>
        </p:nvSpPr>
        <p:spPr>
          <a:xfrm>
            <a:off x="484200" y="3750480"/>
            <a:ext cx="36396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144" name="Text 13"/>
          <p:cNvSpPr/>
          <p:nvPr/>
        </p:nvSpPr>
        <p:spPr>
          <a:xfrm>
            <a:off x="1031760" y="3750480"/>
            <a:ext cx="151488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January 3, 2009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45" name="Text 14"/>
          <p:cNvSpPr/>
          <p:nvPr/>
        </p:nvSpPr>
        <p:spPr>
          <a:xfrm>
            <a:off x="523800" y="4226760"/>
            <a:ext cx="797688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The </a:t>
            </a: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Genesis Block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 is mined, marking Bitcoin network's official launch. Embedded message references bank bailouts.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46" name="Shape 15"/>
          <p:cNvSpPr/>
          <p:nvPr/>
        </p:nvSpPr>
        <p:spPr>
          <a:xfrm>
            <a:off x="539640" y="4569840"/>
            <a:ext cx="7873560" cy="411840"/>
          </a:xfrm>
          <a:custGeom>
            <a:avLst/>
            <a:gdLst/>
            <a:ahLst/>
            <a:rect l="l" t="t" r="r" b="b"/>
            <a:pathLst>
              <a:path w="7874000" h="412750">
                <a:moveTo>
                  <a:pt x="0" y="0"/>
                </a:moveTo>
                <a:lnTo>
                  <a:pt x="7874000" y="0"/>
                </a:lnTo>
                <a:lnTo>
                  <a:pt x="7874000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7" name="Text 16"/>
          <p:cNvSpPr/>
          <p:nvPr/>
        </p:nvSpPr>
        <p:spPr>
          <a:xfrm>
            <a:off x="650880" y="4681080"/>
            <a:ext cx="771480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"The Times 03/Jan/2009 Chancellor on brink of second bailout for banks"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48" name="Shape 17"/>
          <p:cNvSpPr/>
          <p:nvPr/>
        </p:nvSpPr>
        <p:spPr>
          <a:xfrm>
            <a:off x="341280" y="5355720"/>
            <a:ext cx="8270640" cy="1070640"/>
          </a:xfrm>
          <a:custGeom>
            <a:avLst/>
            <a:gdLst/>
            <a:ahLst/>
            <a:rect l="l" t="t" r="r" b="b"/>
            <a:pathLst>
              <a:path w="8270875" h="1071563">
                <a:moveTo>
                  <a:pt x="0" y="0"/>
                </a:moveTo>
                <a:lnTo>
                  <a:pt x="8270875" y="0"/>
                </a:lnTo>
                <a:lnTo>
                  <a:pt x="8270875" y="1071563"/>
                </a:lnTo>
                <a:lnTo>
                  <a:pt x="0" y="107156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49" name="Shape 18"/>
          <p:cNvSpPr/>
          <p:nvPr/>
        </p:nvSpPr>
        <p:spPr>
          <a:xfrm>
            <a:off x="547560" y="5562360"/>
            <a:ext cx="332280" cy="33228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0" name="Text 19"/>
          <p:cNvSpPr/>
          <p:nvPr/>
        </p:nvSpPr>
        <p:spPr>
          <a:xfrm>
            <a:off x="484200" y="5538240"/>
            <a:ext cx="36396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151" name="Text 20"/>
          <p:cNvSpPr/>
          <p:nvPr/>
        </p:nvSpPr>
        <p:spPr>
          <a:xfrm>
            <a:off x="1031760" y="5538240"/>
            <a:ext cx="161820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January 12, 2009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52" name="Text 21"/>
          <p:cNvSpPr/>
          <p:nvPr/>
        </p:nvSpPr>
        <p:spPr>
          <a:xfrm>
            <a:off x="523800" y="6014520"/>
            <a:ext cx="797688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First Bitcoin transaction: Satoshi sends </a:t>
            </a: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10 BTC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 to computer scientist </a:t>
            </a: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Hal Finney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, validating the system works.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53" name="Shape 22"/>
          <p:cNvSpPr/>
          <p:nvPr/>
        </p:nvSpPr>
        <p:spPr>
          <a:xfrm>
            <a:off x="8850960" y="1547640"/>
            <a:ext cx="2999520" cy="3507120"/>
          </a:xfrm>
          <a:custGeom>
            <a:avLst/>
            <a:gdLst/>
            <a:ahLst/>
            <a:rect l="l" t="t" r="r" b="b"/>
            <a:pathLst>
              <a:path w="3000375" h="3508375">
                <a:moveTo>
                  <a:pt x="0" y="0"/>
                </a:moveTo>
                <a:lnTo>
                  <a:pt x="3000375" y="0"/>
                </a:lnTo>
                <a:lnTo>
                  <a:pt x="3000375" y="3508375"/>
                </a:lnTo>
                <a:lnTo>
                  <a:pt x="0" y="3508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54" name="Text 23"/>
          <p:cNvSpPr/>
          <p:nvPr/>
        </p:nvSpPr>
        <p:spPr>
          <a:xfrm>
            <a:off x="9033480" y="1730520"/>
            <a:ext cx="272988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MOTIVATION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55" name="Shape 24"/>
          <p:cNvSpPr/>
          <p:nvPr/>
        </p:nvSpPr>
        <p:spPr>
          <a:xfrm>
            <a:off x="9049320" y="2127240"/>
            <a:ext cx="2602800" cy="824400"/>
          </a:xfrm>
          <a:custGeom>
            <a:avLst/>
            <a:gdLst/>
            <a:ahLst/>
            <a:rect l="l" t="t" r="r" b="b"/>
            <a:pathLst>
              <a:path w="2603500" h="825500">
                <a:moveTo>
                  <a:pt x="0" y="0"/>
                </a:moveTo>
                <a:lnTo>
                  <a:pt x="2603500" y="0"/>
                </a:lnTo>
                <a:lnTo>
                  <a:pt x="2603500" y="825500"/>
                </a:lnTo>
                <a:lnTo>
                  <a:pt x="0" y="825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6" name="Text 25"/>
          <p:cNvSpPr/>
          <p:nvPr/>
        </p:nvSpPr>
        <p:spPr>
          <a:xfrm>
            <a:off x="9160560" y="2238480"/>
            <a:ext cx="244404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2008 Financial Crisis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57" name="Text 26"/>
          <p:cNvSpPr/>
          <p:nvPr/>
        </p:nvSpPr>
        <p:spPr>
          <a:xfrm>
            <a:off x="9160560" y="2460600"/>
            <a:ext cx="244404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Bank failures, government bailouts, currency devaluation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58" name="Shape 27"/>
          <p:cNvSpPr/>
          <p:nvPr/>
        </p:nvSpPr>
        <p:spPr>
          <a:xfrm>
            <a:off x="9049320" y="3079800"/>
            <a:ext cx="2602800" cy="824400"/>
          </a:xfrm>
          <a:custGeom>
            <a:avLst/>
            <a:gdLst/>
            <a:ahLst/>
            <a:rect l="l" t="t" r="r" b="b"/>
            <a:pathLst>
              <a:path w="2603500" h="825500">
                <a:moveTo>
                  <a:pt x="0" y="0"/>
                </a:moveTo>
                <a:lnTo>
                  <a:pt x="2603500" y="0"/>
                </a:lnTo>
                <a:lnTo>
                  <a:pt x="2603500" y="825500"/>
                </a:lnTo>
                <a:lnTo>
                  <a:pt x="0" y="825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9" name="Text 28"/>
          <p:cNvSpPr/>
          <p:nvPr/>
        </p:nvSpPr>
        <p:spPr>
          <a:xfrm>
            <a:off x="9160560" y="3191040"/>
            <a:ext cx="244404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Cypherpunk Philosophy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60" name="Text 29"/>
          <p:cNvSpPr/>
          <p:nvPr/>
        </p:nvSpPr>
        <p:spPr>
          <a:xfrm>
            <a:off x="9160560" y="3413160"/>
            <a:ext cx="244404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Privacy, decentralization, mathematical trust over institutional trust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61" name="Shape 30"/>
          <p:cNvSpPr/>
          <p:nvPr/>
        </p:nvSpPr>
        <p:spPr>
          <a:xfrm>
            <a:off x="9049320" y="4032360"/>
            <a:ext cx="2602800" cy="824400"/>
          </a:xfrm>
          <a:custGeom>
            <a:avLst/>
            <a:gdLst/>
            <a:ahLst/>
            <a:rect l="l" t="t" r="r" b="b"/>
            <a:pathLst>
              <a:path w="2603500" h="825500">
                <a:moveTo>
                  <a:pt x="0" y="0"/>
                </a:moveTo>
                <a:lnTo>
                  <a:pt x="2603500" y="0"/>
                </a:lnTo>
                <a:lnTo>
                  <a:pt x="2603500" y="825500"/>
                </a:lnTo>
                <a:lnTo>
                  <a:pt x="0" y="825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2" name="Text 31"/>
          <p:cNvSpPr/>
          <p:nvPr/>
        </p:nvSpPr>
        <p:spPr>
          <a:xfrm>
            <a:off x="9160560" y="4143240"/>
            <a:ext cx="244404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Double-Spending Problem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63" name="Text 32"/>
          <p:cNvSpPr/>
          <p:nvPr/>
        </p:nvSpPr>
        <p:spPr>
          <a:xfrm>
            <a:off x="9160560" y="4365720"/>
            <a:ext cx="244404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First digital currency to solve this without central authority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64" name="Shape 33"/>
          <p:cNvSpPr/>
          <p:nvPr/>
        </p:nvSpPr>
        <p:spPr>
          <a:xfrm>
            <a:off x="8850960" y="5230800"/>
            <a:ext cx="2999520" cy="3475440"/>
          </a:xfrm>
          <a:custGeom>
            <a:avLst/>
            <a:gdLst/>
            <a:ahLst/>
            <a:rect l="l" t="t" r="r" b="b"/>
            <a:pathLst>
              <a:path w="3000375" h="3476625">
                <a:moveTo>
                  <a:pt x="0" y="0"/>
                </a:moveTo>
                <a:lnTo>
                  <a:pt x="3000375" y="0"/>
                </a:lnTo>
                <a:lnTo>
                  <a:pt x="3000375" y="3476625"/>
                </a:lnTo>
                <a:lnTo>
                  <a:pt x="0" y="3476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65" name="Text 34"/>
          <p:cNvSpPr/>
          <p:nvPr/>
        </p:nvSpPr>
        <p:spPr>
          <a:xfrm>
            <a:off x="9033480" y="5413320"/>
            <a:ext cx="272988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CORE PRINCIPLES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66" name="Shape 35"/>
          <p:cNvSpPr/>
          <p:nvPr/>
        </p:nvSpPr>
        <p:spPr>
          <a:xfrm>
            <a:off x="9049320" y="5810400"/>
            <a:ext cx="2602800" cy="348120"/>
          </a:xfrm>
          <a:custGeom>
            <a:avLst/>
            <a:gdLst/>
            <a:ahLst/>
            <a:rect l="l" t="t" r="r" b="b"/>
            <a:pathLst>
              <a:path w="2603500" h="349250">
                <a:moveTo>
                  <a:pt x="0" y="0"/>
                </a:moveTo>
                <a:lnTo>
                  <a:pt x="2603500" y="0"/>
                </a:lnTo>
                <a:lnTo>
                  <a:pt x="2603500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7" name="Shape 36"/>
          <p:cNvSpPr/>
          <p:nvPr/>
        </p:nvSpPr>
        <p:spPr>
          <a:xfrm>
            <a:off x="9128880" y="5937120"/>
            <a:ext cx="94320" cy="9432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8" name="Text 37"/>
          <p:cNvSpPr/>
          <p:nvPr/>
        </p:nvSpPr>
        <p:spPr>
          <a:xfrm>
            <a:off x="9319320" y="5889600"/>
            <a:ext cx="18961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Fixed Supply: 21 Million Coins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69" name="Shape 38"/>
          <p:cNvSpPr/>
          <p:nvPr/>
        </p:nvSpPr>
        <p:spPr>
          <a:xfrm>
            <a:off x="9049320" y="6254640"/>
            <a:ext cx="2602800" cy="538560"/>
          </a:xfrm>
          <a:custGeom>
            <a:avLst/>
            <a:gdLst/>
            <a:ahLst/>
            <a:rect l="l" t="t" r="r" b="b"/>
            <a:pathLst>
              <a:path w="2603500" h="539750">
                <a:moveTo>
                  <a:pt x="0" y="0"/>
                </a:moveTo>
                <a:lnTo>
                  <a:pt x="2603500" y="0"/>
                </a:lnTo>
                <a:lnTo>
                  <a:pt x="2603500" y="539750"/>
                </a:lnTo>
                <a:lnTo>
                  <a:pt x="0" y="5397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0" name="Shape 39"/>
          <p:cNvSpPr/>
          <p:nvPr/>
        </p:nvSpPr>
        <p:spPr>
          <a:xfrm>
            <a:off x="9128880" y="6477120"/>
            <a:ext cx="86400" cy="94320"/>
          </a:xfrm>
          <a:custGeom>
            <a:avLst/>
            <a:gdLst/>
            <a:ahLst/>
            <a:rect l="l" t="t" r="r" b="b"/>
            <a:pathLst>
              <a:path w="87313" h="95250">
                <a:moveTo>
                  <a:pt x="0" y="0"/>
                </a:moveTo>
                <a:lnTo>
                  <a:pt x="87313" y="0"/>
                </a:lnTo>
                <a:lnTo>
                  <a:pt x="87313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1" name="Text 40"/>
          <p:cNvSpPr/>
          <p:nvPr/>
        </p:nvSpPr>
        <p:spPr>
          <a:xfrm>
            <a:off x="9310680" y="6334200"/>
            <a:ext cx="232488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Decentralized: No Single Point of Control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72" name="Shape 41"/>
          <p:cNvSpPr/>
          <p:nvPr/>
        </p:nvSpPr>
        <p:spPr>
          <a:xfrm>
            <a:off x="9049320" y="6889680"/>
            <a:ext cx="2602800" cy="348120"/>
          </a:xfrm>
          <a:custGeom>
            <a:avLst/>
            <a:gdLst/>
            <a:ahLst/>
            <a:rect l="l" t="t" r="r" b="b"/>
            <a:pathLst>
              <a:path w="2603500" h="349250">
                <a:moveTo>
                  <a:pt x="0" y="0"/>
                </a:moveTo>
                <a:lnTo>
                  <a:pt x="2603500" y="0"/>
                </a:lnTo>
                <a:lnTo>
                  <a:pt x="2603500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3" name="Shape 42"/>
          <p:cNvSpPr/>
          <p:nvPr/>
        </p:nvSpPr>
        <p:spPr>
          <a:xfrm>
            <a:off x="9128880" y="7016760"/>
            <a:ext cx="94320" cy="9432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4" name="Text 43"/>
          <p:cNvSpPr/>
          <p:nvPr/>
        </p:nvSpPr>
        <p:spPr>
          <a:xfrm>
            <a:off x="9319320" y="6969240"/>
            <a:ext cx="23011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Trustless: Cryptographic Verification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75" name="Shape 44"/>
          <p:cNvSpPr/>
          <p:nvPr/>
        </p:nvSpPr>
        <p:spPr>
          <a:xfrm>
            <a:off x="9049320" y="7334280"/>
            <a:ext cx="2602800" cy="538560"/>
          </a:xfrm>
          <a:custGeom>
            <a:avLst/>
            <a:gdLst/>
            <a:ahLst/>
            <a:rect l="l" t="t" r="r" b="b"/>
            <a:pathLst>
              <a:path w="2603500" h="539750">
                <a:moveTo>
                  <a:pt x="0" y="0"/>
                </a:moveTo>
                <a:lnTo>
                  <a:pt x="2603500" y="0"/>
                </a:lnTo>
                <a:lnTo>
                  <a:pt x="2603500" y="539750"/>
                </a:lnTo>
                <a:lnTo>
                  <a:pt x="0" y="5397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6" name="Shape 45"/>
          <p:cNvSpPr/>
          <p:nvPr/>
        </p:nvSpPr>
        <p:spPr>
          <a:xfrm>
            <a:off x="9128880" y="7556400"/>
            <a:ext cx="86400" cy="94320"/>
          </a:xfrm>
          <a:custGeom>
            <a:avLst/>
            <a:gdLst/>
            <a:ahLst/>
            <a:rect l="l" t="t" r="r" b="b"/>
            <a:pathLst>
              <a:path w="87313" h="95250">
                <a:moveTo>
                  <a:pt x="0" y="0"/>
                </a:moveTo>
                <a:lnTo>
                  <a:pt x="87313" y="0"/>
                </a:lnTo>
                <a:lnTo>
                  <a:pt x="87313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7" name="Text 46"/>
          <p:cNvSpPr/>
          <p:nvPr/>
        </p:nvSpPr>
        <p:spPr>
          <a:xfrm>
            <a:off x="9315000" y="7413480"/>
            <a:ext cx="232488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Transparent: Public Blockchain Ledger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78" name="Shape 47"/>
          <p:cNvSpPr/>
          <p:nvPr/>
        </p:nvSpPr>
        <p:spPr>
          <a:xfrm>
            <a:off x="9049320" y="7969320"/>
            <a:ext cx="2602800" cy="538560"/>
          </a:xfrm>
          <a:custGeom>
            <a:avLst/>
            <a:gdLst/>
            <a:ahLst/>
            <a:rect l="l" t="t" r="r" b="b"/>
            <a:pathLst>
              <a:path w="2603500" h="539750">
                <a:moveTo>
                  <a:pt x="0" y="0"/>
                </a:moveTo>
                <a:lnTo>
                  <a:pt x="2603500" y="0"/>
                </a:lnTo>
                <a:lnTo>
                  <a:pt x="2603500" y="539750"/>
                </a:lnTo>
                <a:lnTo>
                  <a:pt x="0" y="5397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9" name="Shape 48"/>
          <p:cNvSpPr/>
          <p:nvPr/>
        </p:nvSpPr>
        <p:spPr>
          <a:xfrm>
            <a:off x="9128880" y="8191440"/>
            <a:ext cx="78120" cy="94320"/>
          </a:xfrm>
          <a:custGeom>
            <a:avLst/>
            <a:gdLst/>
            <a:ahLst/>
            <a:rect l="l" t="t" r="r" b="b"/>
            <a:pathLst>
              <a:path w="79375" h="95250">
                <a:moveTo>
                  <a:pt x="0" y="0"/>
                </a:moveTo>
                <a:lnTo>
                  <a:pt x="79375" y="0"/>
                </a:lnTo>
                <a:lnTo>
                  <a:pt x="7937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0" name="Text 49"/>
          <p:cNvSpPr/>
          <p:nvPr/>
        </p:nvSpPr>
        <p:spPr>
          <a:xfrm>
            <a:off x="9302040" y="8048520"/>
            <a:ext cx="233280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Immutable: Transactions Cannot Be Reversed</a:t>
            </a: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d3d3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Image 0"/>
          <p:cNvSpPr/>
          <p:nvPr/>
        </p:nvSpPr>
        <p:spPr>
          <a:xfrm>
            <a:off x="0" y="0"/>
            <a:ext cx="12192120" cy="685692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2" name="Shape 0"/>
          <p:cNvSpPr/>
          <p:nvPr/>
        </p:nvSpPr>
        <p:spPr>
          <a:xfrm>
            <a:off x="0" y="0"/>
            <a:ext cx="12192120" cy="68569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3" name="Shape 1"/>
          <p:cNvSpPr/>
          <p:nvPr/>
        </p:nvSpPr>
        <p:spPr>
          <a:xfrm>
            <a:off x="3305160" y="352440"/>
            <a:ext cx="8476920" cy="481860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84" name="Shape 2"/>
          <p:cNvSpPr/>
          <p:nvPr/>
        </p:nvSpPr>
        <p:spPr>
          <a:xfrm>
            <a:off x="10078200" y="838080"/>
            <a:ext cx="75240" cy="91332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5" name="Shape 3"/>
          <p:cNvSpPr/>
          <p:nvPr/>
        </p:nvSpPr>
        <p:spPr>
          <a:xfrm>
            <a:off x="10411560" y="866880"/>
            <a:ext cx="856080" cy="85608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6" name="Text 4"/>
          <p:cNvSpPr/>
          <p:nvPr/>
        </p:nvSpPr>
        <p:spPr>
          <a:xfrm>
            <a:off x="10268640" y="838080"/>
            <a:ext cx="1027800" cy="79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02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187" name="Text 5"/>
          <p:cNvSpPr/>
          <p:nvPr/>
        </p:nvSpPr>
        <p:spPr>
          <a:xfrm>
            <a:off x="3448080" y="2057400"/>
            <a:ext cx="7848360" cy="171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TECHNICAL FOUNDATION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188" name="Shape 6"/>
          <p:cNvSpPr/>
          <p:nvPr/>
        </p:nvSpPr>
        <p:spPr>
          <a:xfrm>
            <a:off x="9468720" y="4000680"/>
            <a:ext cx="1827720" cy="7524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9" name="Text 7"/>
          <p:cNvSpPr/>
          <p:nvPr/>
        </p:nvSpPr>
        <p:spPr>
          <a:xfrm>
            <a:off x="3619440" y="4305240"/>
            <a:ext cx="767664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How Bitcoin Works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90" name="Shape 8"/>
          <p:cNvSpPr/>
          <p:nvPr/>
        </p:nvSpPr>
        <p:spPr>
          <a:xfrm>
            <a:off x="5071680" y="5686560"/>
            <a:ext cx="6714720" cy="817920"/>
          </a:xfrm>
          <a:custGeom>
            <a:avLst/>
            <a:gdLst/>
            <a:ahLst/>
            <a:rect l="l" t="t" r="r" b="b"/>
            <a:pathLst>
              <a:path w="6715125" h="819150">
                <a:moveTo>
                  <a:pt x="0" y="0"/>
                </a:moveTo>
                <a:lnTo>
                  <a:pt x="6715125" y="0"/>
                </a:lnTo>
                <a:lnTo>
                  <a:pt x="671512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1" name="Text 9"/>
          <p:cNvSpPr/>
          <p:nvPr/>
        </p:nvSpPr>
        <p:spPr>
          <a:xfrm>
            <a:off x="5329080" y="5943600"/>
            <a:ext cx="631476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Proof of Work, Blockchain &amp; Decentralized Consensus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Shape 0"/>
          <p:cNvSpPr/>
          <p:nvPr/>
        </p:nvSpPr>
        <p:spPr>
          <a:xfrm>
            <a:off x="341280" y="341280"/>
            <a:ext cx="11509200" cy="999000"/>
          </a:xfrm>
          <a:custGeom>
            <a:avLst/>
            <a:gdLst/>
            <a:ahLst/>
            <a:rect l="l" t="t" r="r" b="b"/>
            <a:pathLst>
              <a:path w="11509375" h="1000125">
                <a:moveTo>
                  <a:pt x="0" y="0"/>
                </a:moveTo>
                <a:lnTo>
                  <a:pt x="11509375" y="0"/>
                </a:lnTo>
                <a:lnTo>
                  <a:pt x="11509375" y="1000125"/>
                </a:lnTo>
                <a:lnTo>
                  <a:pt x="0" y="100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3" name="Text 1"/>
          <p:cNvSpPr/>
          <p:nvPr/>
        </p:nvSpPr>
        <p:spPr>
          <a:xfrm>
            <a:off x="555480" y="555480"/>
            <a:ext cx="1127124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000" spc="-1" strike="noStrike">
                <a:solidFill>
                  <a:srgbClr val="000000"/>
                </a:solidFill>
                <a:latin typeface="Noto Sans SC"/>
                <a:ea typeface="Noto Sans SC"/>
              </a:rPr>
              <a:t>BLOCKCHAIN &amp; PROOF OF WORK: THE SECURITY MODEL</a:t>
            </a:r>
            <a:endParaRPr b="0" lang="en-HK" sz="3000" spc="-1" strike="noStrike">
              <a:latin typeface="Arial"/>
            </a:endParaRPr>
          </a:p>
        </p:txBody>
      </p:sp>
      <p:sp>
        <p:nvSpPr>
          <p:cNvPr id="194" name="Shape 2"/>
          <p:cNvSpPr/>
          <p:nvPr/>
        </p:nvSpPr>
        <p:spPr>
          <a:xfrm>
            <a:off x="555480" y="1063800"/>
            <a:ext cx="761040" cy="6228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5" name="Shape 3"/>
          <p:cNvSpPr/>
          <p:nvPr/>
        </p:nvSpPr>
        <p:spPr>
          <a:xfrm>
            <a:off x="341280" y="1547640"/>
            <a:ext cx="8270640" cy="2070720"/>
          </a:xfrm>
          <a:custGeom>
            <a:avLst/>
            <a:gdLst/>
            <a:ahLst/>
            <a:rect l="l" t="t" r="r" b="b"/>
            <a:pathLst>
              <a:path w="8270875" h="2071688">
                <a:moveTo>
                  <a:pt x="0" y="0"/>
                </a:moveTo>
                <a:lnTo>
                  <a:pt x="8270875" y="0"/>
                </a:lnTo>
                <a:lnTo>
                  <a:pt x="8270875" y="2071688"/>
                </a:lnTo>
                <a:lnTo>
                  <a:pt x="0" y="207168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96" name="Text 4"/>
          <p:cNvSpPr/>
          <p:nvPr/>
        </p:nvSpPr>
        <p:spPr>
          <a:xfrm>
            <a:off x="523800" y="1730520"/>
            <a:ext cx="800064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BLOCKCHAIN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97" name="Text 5"/>
          <p:cNvSpPr/>
          <p:nvPr/>
        </p:nvSpPr>
        <p:spPr>
          <a:xfrm>
            <a:off x="523800" y="2111400"/>
            <a:ext cx="7976880" cy="46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A </a:t>
            </a: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distributed ledger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 recording all transactions across a network of computers. Each block contains a cryptographic hash of the previous block, creating an immutable chain.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98" name="Shape 6"/>
          <p:cNvSpPr/>
          <p:nvPr/>
        </p:nvSpPr>
        <p:spPr>
          <a:xfrm>
            <a:off x="539640" y="2718720"/>
            <a:ext cx="2539440" cy="697320"/>
          </a:xfrm>
          <a:custGeom>
            <a:avLst/>
            <a:gdLst/>
            <a:ahLst/>
            <a:rect l="l" t="t" r="r" b="b"/>
            <a:pathLst>
              <a:path w="2540000" h="698500">
                <a:moveTo>
                  <a:pt x="0" y="0"/>
                </a:moveTo>
                <a:lnTo>
                  <a:pt x="2540000" y="0"/>
                </a:lnTo>
                <a:lnTo>
                  <a:pt x="2540000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9" name="Text 7"/>
          <p:cNvSpPr/>
          <p:nvPr/>
        </p:nvSpPr>
        <p:spPr>
          <a:xfrm>
            <a:off x="591480" y="2829600"/>
            <a:ext cx="243612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880K+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00" name="Text 8"/>
          <p:cNvSpPr/>
          <p:nvPr/>
        </p:nvSpPr>
        <p:spPr>
          <a:xfrm>
            <a:off x="623160" y="3147120"/>
            <a:ext cx="237276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Blocks Mined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01" name="Shape 9"/>
          <p:cNvSpPr/>
          <p:nvPr/>
        </p:nvSpPr>
        <p:spPr>
          <a:xfrm>
            <a:off x="3206880" y="2718720"/>
            <a:ext cx="2539440" cy="697320"/>
          </a:xfrm>
          <a:custGeom>
            <a:avLst/>
            <a:gdLst/>
            <a:ahLst/>
            <a:rect l="l" t="t" r="r" b="b"/>
            <a:pathLst>
              <a:path w="2540000" h="698500">
                <a:moveTo>
                  <a:pt x="0" y="0"/>
                </a:moveTo>
                <a:lnTo>
                  <a:pt x="2540000" y="0"/>
                </a:lnTo>
                <a:lnTo>
                  <a:pt x="2540000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2" name="Text 10"/>
          <p:cNvSpPr/>
          <p:nvPr/>
        </p:nvSpPr>
        <p:spPr>
          <a:xfrm>
            <a:off x="3258360" y="2829600"/>
            <a:ext cx="243612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~10min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03" name="Text 11"/>
          <p:cNvSpPr/>
          <p:nvPr/>
        </p:nvSpPr>
        <p:spPr>
          <a:xfrm>
            <a:off x="3290040" y="3147120"/>
            <a:ext cx="237276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Block Time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04" name="Shape 12"/>
          <p:cNvSpPr/>
          <p:nvPr/>
        </p:nvSpPr>
        <p:spPr>
          <a:xfrm>
            <a:off x="5874120" y="2718720"/>
            <a:ext cx="2539440" cy="697320"/>
          </a:xfrm>
          <a:custGeom>
            <a:avLst/>
            <a:gdLst/>
            <a:ahLst/>
            <a:rect l="l" t="t" r="r" b="b"/>
            <a:pathLst>
              <a:path w="2540000" h="698500">
                <a:moveTo>
                  <a:pt x="0" y="0"/>
                </a:moveTo>
                <a:lnTo>
                  <a:pt x="2540000" y="0"/>
                </a:lnTo>
                <a:lnTo>
                  <a:pt x="2540000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5" name="Text 13"/>
          <p:cNvSpPr/>
          <p:nvPr/>
        </p:nvSpPr>
        <p:spPr>
          <a:xfrm>
            <a:off x="5925600" y="2829600"/>
            <a:ext cx="243612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1.2B+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06" name="Text 14"/>
          <p:cNvSpPr/>
          <p:nvPr/>
        </p:nvSpPr>
        <p:spPr>
          <a:xfrm>
            <a:off x="5957280" y="3147120"/>
            <a:ext cx="237276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Transactions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07" name="Shape 15"/>
          <p:cNvSpPr/>
          <p:nvPr/>
        </p:nvSpPr>
        <p:spPr>
          <a:xfrm>
            <a:off x="341280" y="3790080"/>
            <a:ext cx="8270640" cy="2864520"/>
          </a:xfrm>
          <a:custGeom>
            <a:avLst/>
            <a:gdLst/>
            <a:ahLst/>
            <a:rect l="l" t="t" r="r" b="b"/>
            <a:pathLst>
              <a:path w="8270875" h="2865438">
                <a:moveTo>
                  <a:pt x="0" y="0"/>
                </a:moveTo>
                <a:lnTo>
                  <a:pt x="8270875" y="0"/>
                </a:lnTo>
                <a:lnTo>
                  <a:pt x="8270875" y="2865438"/>
                </a:lnTo>
                <a:lnTo>
                  <a:pt x="0" y="286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08" name="Text 16"/>
          <p:cNvSpPr/>
          <p:nvPr/>
        </p:nvSpPr>
        <p:spPr>
          <a:xfrm>
            <a:off x="523800" y="3972600"/>
            <a:ext cx="800064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PROOF OF WORK MECHANISM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09" name="Text 17"/>
          <p:cNvSpPr/>
          <p:nvPr/>
        </p:nvSpPr>
        <p:spPr>
          <a:xfrm>
            <a:off x="523800" y="4353840"/>
            <a:ext cx="7976880" cy="46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Miners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 compete to solve cryptographic puzzles using SHA-256 hashing. The winner adds the next block and earns the block reward.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210" name="Shape 18"/>
          <p:cNvSpPr/>
          <p:nvPr/>
        </p:nvSpPr>
        <p:spPr>
          <a:xfrm>
            <a:off x="539640" y="4960800"/>
            <a:ext cx="7873560" cy="1491120"/>
          </a:xfrm>
          <a:custGeom>
            <a:avLst/>
            <a:gdLst/>
            <a:ahLst/>
            <a:rect l="l" t="t" r="r" b="b"/>
            <a:pathLst>
              <a:path w="7874000" h="1492250">
                <a:moveTo>
                  <a:pt x="0" y="0"/>
                </a:moveTo>
                <a:lnTo>
                  <a:pt x="7874000" y="0"/>
                </a:lnTo>
                <a:lnTo>
                  <a:pt x="7874000" y="1492250"/>
                </a:lnTo>
                <a:lnTo>
                  <a:pt x="0" y="1492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1" name="Text 19"/>
          <p:cNvSpPr/>
          <p:nvPr/>
        </p:nvSpPr>
        <p:spPr>
          <a:xfrm>
            <a:off x="682560" y="5103720"/>
            <a:ext cx="765144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Mining Process: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12" name="Text 20"/>
          <p:cNvSpPr/>
          <p:nvPr/>
        </p:nvSpPr>
        <p:spPr>
          <a:xfrm>
            <a:off x="682560" y="5357880"/>
            <a:ext cx="765144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1. Bundle transactions into a block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13" name="Text 21"/>
          <p:cNvSpPr/>
          <p:nvPr/>
        </p:nvSpPr>
        <p:spPr>
          <a:xfrm>
            <a:off x="682560" y="5611680"/>
            <a:ext cx="765144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2. Find nonce making block hash &lt; target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14" name="Text 22"/>
          <p:cNvSpPr/>
          <p:nvPr/>
        </p:nvSpPr>
        <p:spPr>
          <a:xfrm>
            <a:off x="682560" y="5865840"/>
            <a:ext cx="765144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3. First to solve broadcasts to network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15" name="Text 23"/>
          <p:cNvSpPr/>
          <p:nvPr/>
        </p:nvSpPr>
        <p:spPr>
          <a:xfrm>
            <a:off x="682560" y="6119640"/>
            <a:ext cx="765144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4. Other nodes verify and add to chain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16" name="Shape 24"/>
          <p:cNvSpPr/>
          <p:nvPr/>
        </p:nvSpPr>
        <p:spPr>
          <a:xfrm>
            <a:off x="8850960" y="1547640"/>
            <a:ext cx="2999520" cy="3697920"/>
          </a:xfrm>
          <a:custGeom>
            <a:avLst/>
            <a:gdLst/>
            <a:ahLst/>
            <a:rect l="l" t="t" r="r" b="b"/>
            <a:pathLst>
              <a:path w="3000375" h="3698875">
                <a:moveTo>
                  <a:pt x="0" y="0"/>
                </a:moveTo>
                <a:lnTo>
                  <a:pt x="3000375" y="0"/>
                </a:lnTo>
                <a:lnTo>
                  <a:pt x="3000375" y="3698875"/>
                </a:lnTo>
                <a:lnTo>
                  <a:pt x="0" y="3698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17" name="Text 25"/>
          <p:cNvSpPr/>
          <p:nvPr/>
        </p:nvSpPr>
        <p:spPr>
          <a:xfrm>
            <a:off x="9033480" y="1730520"/>
            <a:ext cx="272988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NETWORK SECURITY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18" name="Shape 26"/>
          <p:cNvSpPr/>
          <p:nvPr/>
        </p:nvSpPr>
        <p:spPr>
          <a:xfrm>
            <a:off x="9049320" y="2127240"/>
            <a:ext cx="2602800" cy="887760"/>
          </a:xfrm>
          <a:custGeom>
            <a:avLst/>
            <a:gdLst/>
            <a:ahLst/>
            <a:rect l="l" t="t" r="r" b="b"/>
            <a:pathLst>
              <a:path w="2603500" h="889000">
                <a:moveTo>
                  <a:pt x="0" y="0"/>
                </a:moveTo>
                <a:lnTo>
                  <a:pt x="2603500" y="0"/>
                </a:lnTo>
                <a:lnTo>
                  <a:pt x="2603500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9" name="Text 27"/>
          <p:cNvSpPr/>
          <p:nvPr/>
        </p:nvSpPr>
        <p:spPr>
          <a:xfrm>
            <a:off x="9160560" y="2238480"/>
            <a:ext cx="244404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Hash Rate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20" name="Text 28"/>
          <p:cNvSpPr/>
          <p:nvPr/>
        </p:nvSpPr>
        <p:spPr>
          <a:xfrm>
            <a:off x="9160560" y="2460600"/>
            <a:ext cx="249948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400M+ TH/s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21" name="Text 29"/>
          <p:cNvSpPr/>
          <p:nvPr/>
        </p:nvSpPr>
        <p:spPr>
          <a:xfrm>
            <a:off x="9160560" y="2746440"/>
            <a:ext cx="243612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Global computing power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22" name="Shape 30"/>
          <p:cNvSpPr/>
          <p:nvPr/>
        </p:nvSpPr>
        <p:spPr>
          <a:xfrm>
            <a:off x="9049320" y="3143160"/>
            <a:ext cx="2602800" cy="887760"/>
          </a:xfrm>
          <a:custGeom>
            <a:avLst/>
            <a:gdLst/>
            <a:ahLst/>
            <a:rect l="l" t="t" r="r" b="b"/>
            <a:pathLst>
              <a:path w="2603500" h="889000">
                <a:moveTo>
                  <a:pt x="0" y="0"/>
                </a:moveTo>
                <a:lnTo>
                  <a:pt x="2603500" y="0"/>
                </a:lnTo>
                <a:lnTo>
                  <a:pt x="2603500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3" name="Text 31"/>
          <p:cNvSpPr/>
          <p:nvPr/>
        </p:nvSpPr>
        <p:spPr>
          <a:xfrm>
            <a:off x="9160560" y="3254400"/>
            <a:ext cx="244404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Attack Cost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24" name="Text 32"/>
          <p:cNvSpPr/>
          <p:nvPr/>
        </p:nvSpPr>
        <p:spPr>
          <a:xfrm>
            <a:off x="9160560" y="3476520"/>
            <a:ext cx="249948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$10B+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25" name="Text 33"/>
          <p:cNvSpPr/>
          <p:nvPr/>
        </p:nvSpPr>
        <p:spPr>
          <a:xfrm>
            <a:off x="9160560" y="3762360"/>
            <a:ext cx="243612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For 1 hour 51% attack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26" name="Shape 34"/>
          <p:cNvSpPr/>
          <p:nvPr/>
        </p:nvSpPr>
        <p:spPr>
          <a:xfrm>
            <a:off x="9049320" y="4159080"/>
            <a:ext cx="2602800" cy="887760"/>
          </a:xfrm>
          <a:custGeom>
            <a:avLst/>
            <a:gdLst/>
            <a:ahLst/>
            <a:rect l="l" t="t" r="r" b="b"/>
            <a:pathLst>
              <a:path w="2603500" h="889000">
                <a:moveTo>
                  <a:pt x="0" y="0"/>
                </a:moveTo>
                <a:lnTo>
                  <a:pt x="2603500" y="0"/>
                </a:lnTo>
                <a:lnTo>
                  <a:pt x="2603500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7" name="Text 35"/>
          <p:cNvSpPr/>
          <p:nvPr/>
        </p:nvSpPr>
        <p:spPr>
          <a:xfrm>
            <a:off x="9160560" y="4270320"/>
            <a:ext cx="244404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Difficulty Adjustment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28" name="Text 36"/>
          <p:cNvSpPr/>
          <p:nvPr/>
        </p:nvSpPr>
        <p:spPr>
          <a:xfrm>
            <a:off x="9160560" y="4492800"/>
            <a:ext cx="249948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Every 2,016 Blocks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29" name="Text 37"/>
          <p:cNvSpPr/>
          <p:nvPr/>
        </p:nvSpPr>
        <p:spPr>
          <a:xfrm>
            <a:off x="9160560" y="4778280"/>
            <a:ext cx="243612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Maintains 10-min block time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30" name="Shape 38"/>
          <p:cNvSpPr/>
          <p:nvPr/>
        </p:nvSpPr>
        <p:spPr>
          <a:xfrm>
            <a:off x="8850960" y="5421240"/>
            <a:ext cx="2999520" cy="2554920"/>
          </a:xfrm>
          <a:custGeom>
            <a:avLst/>
            <a:gdLst/>
            <a:ahLst/>
            <a:rect l="l" t="t" r="r" b="b"/>
            <a:pathLst>
              <a:path w="3000375" h="2555875">
                <a:moveTo>
                  <a:pt x="0" y="0"/>
                </a:moveTo>
                <a:lnTo>
                  <a:pt x="3000375" y="0"/>
                </a:lnTo>
                <a:lnTo>
                  <a:pt x="3000375" y="2555875"/>
                </a:lnTo>
                <a:lnTo>
                  <a:pt x="0" y="2555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31" name="Text 39"/>
          <p:cNvSpPr/>
          <p:nvPr/>
        </p:nvSpPr>
        <p:spPr>
          <a:xfrm>
            <a:off x="9033480" y="5603760"/>
            <a:ext cx="272988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WHY IT WORKS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32" name="Shape 40"/>
          <p:cNvSpPr/>
          <p:nvPr/>
        </p:nvSpPr>
        <p:spPr>
          <a:xfrm>
            <a:off x="9033480" y="6048360"/>
            <a:ext cx="62280" cy="6228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3" name="Text 41"/>
          <p:cNvSpPr/>
          <p:nvPr/>
        </p:nvSpPr>
        <p:spPr>
          <a:xfrm>
            <a:off x="9192240" y="5985000"/>
            <a:ext cx="253944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Energy as Security: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Massive electricity cost makes attacks economically irrational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34" name="Shape 42"/>
          <p:cNvSpPr/>
          <p:nvPr/>
        </p:nvSpPr>
        <p:spPr>
          <a:xfrm>
            <a:off x="9033480" y="6524640"/>
            <a:ext cx="62280" cy="6228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5" name="Text 43"/>
          <p:cNvSpPr/>
          <p:nvPr/>
        </p:nvSpPr>
        <p:spPr>
          <a:xfrm>
            <a:off x="9192240" y="6461280"/>
            <a:ext cx="253944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Game Theory: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Miners earn more by following rules than attacking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36" name="Shape 44"/>
          <p:cNvSpPr/>
          <p:nvPr/>
        </p:nvSpPr>
        <p:spPr>
          <a:xfrm>
            <a:off x="9033480" y="7000920"/>
            <a:ext cx="62280" cy="6228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7" name="Text 45"/>
          <p:cNvSpPr/>
          <p:nvPr/>
        </p:nvSpPr>
        <p:spPr>
          <a:xfrm>
            <a:off x="9192240" y="6937200"/>
            <a:ext cx="253944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Decentralization: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Thousands of independent miners globally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38" name="Shape 46"/>
          <p:cNvSpPr/>
          <p:nvPr/>
        </p:nvSpPr>
        <p:spPr>
          <a:xfrm>
            <a:off x="9033480" y="7477200"/>
            <a:ext cx="62280" cy="6228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9" name="Text 47"/>
          <p:cNvSpPr/>
          <p:nvPr/>
        </p:nvSpPr>
        <p:spPr>
          <a:xfrm>
            <a:off x="9192240" y="7413480"/>
            <a:ext cx="253944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Immutability: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Changing history requires redoing all subsequent work</a:t>
            </a: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Image 0"/>
          <p:cNvSpPr/>
          <p:nvPr/>
        </p:nvSpPr>
        <p:spPr>
          <a:xfrm>
            <a:off x="0" y="0"/>
            <a:ext cx="12192120" cy="685692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1" name="Shape 0"/>
          <p:cNvSpPr/>
          <p:nvPr/>
        </p:nvSpPr>
        <p:spPr>
          <a:xfrm>
            <a:off x="0" y="0"/>
            <a:ext cx="12192120" cy="68569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2" name="Shape 1"/>
          <p:cNvSpPr/>
          <p:nvPr/>
        </p:nvSpPr>
        <p:spPr>
          <a:xfrm>
            <a:off x="409680" y="352440"/>
            <a:ext cx="8476920" cy="481860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43" name="Shape 2"/>
          <p:cNvSpPr/>
          <p:nvPr/>
        </p:nvSpPr>
        <p:spPr>
          <a:xfrm>
            <a:off x="923760" y="866880"/>
            <a:ext cx="856080" cy="85608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4" name="Text 3"/>
          <p:cNvSpPr/>
          <p:nvPr/>
        </p:nvSpPr>
        <p:spPr>
          <a:xfrm>
            <a:off x="781200" y="838080"/>
            <a:ext cx="1027800" cy="79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03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245" name="Shape 4"/>
          <p:cNvSpPr/>
          <p:nvPr/>
        </p:nvSpPr>
        <p:spPr>
          <a:xfrm>
            <a:off x="2038320" y="838080"/>
            <a:ext cx="75240" cy="91332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6" name="Text 5"/>
          <p:cNvSpPr/>
          <p:nvPr/>
        </p:nvSpPr>
        <p:spPr>
          <a:xfrm>
            <a:off x="895320" y="2057400"/>
            <a:ext cx="7848360" cy="171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HISTORICAL EVOLUTION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247" name="Shape 6"/>
          <p:cNvSpPr/>
          <p:nvPr/>
        </p:nvSpPr>
        <p:spPr>
          <a:xfrm>
            <a:off x="895320" y="4000680"/>
            <a:ext cx="1827720" cy="7524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8" name="Text 7"/>
          <p:cNvSpPr/>
          <p:nvPr/>
        </p:nvSpPr>
        <p:spPr>
          <a:xfrm>
            <a:off x="895320" y="4305240"/>
            <a:ext cx="767664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From Cypherpunk Dream to Global Asset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49" name="Shape 8"/>
          <p:cNvSpPr/>
          <p:nvPr/>
        </p:nvSpPr>
        <p:spPr>
          <a:xfrm>
            <a:off x="409680" y="5686560"/>
            <a:ext cx="11372760" cy="81792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0" name="Text 9"/>
          <p:cNvSpPr/>
          <p:nvPr/>
        </p:nvSpPr>
        <p:spPr>
          <a:xfrm>
            <a:off x="666720" y="5943600"/>
            <a:ext cx="109728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15 Years of Price Discovery, Crashes &amp; Resilience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Shape 0"/>
          <p:cNvSpPr/>
          <p:nvPr/>
        </p:nvSpPr>
        <p:spPr>
          <a:xfrm>
            <a:off x="341280" y="341280"/>
            <a:ext cx="11509200" cy="84024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2" name="Text 1"/>
          <p:cNvSpPr/>
          <p:nvPr/>
        </p:nvSpPr>
        <p:spPr>
          <a:xfrm>
            <a:off x="523800" y="523800"/>
            <a:ext cx="1128708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BITCOIN'S JOURNEY: KEY MILESTONES 2009-2024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253" name="Shape 2"/>
          <p:cNvSpPr/>
          <p:nvPr/>
        </p:nvSpPr>
        <p:spPr>
          <a:xfrm>
            <a:off x="523800" y="936720"/>
            <a:ext cx="761040" cy="6228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4" name="Shape 3"/>
          <p:cNvSpPr/>
          <p:nvPr/>
        </p:nvSpPr>
        <p:spPr>
          <a:xfrm>
            <a:off x="341280" y="1357200"/>
            <a:ext cx="2769480" cy="159444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55" name="Shape 4"/>
          <p:cNvSpPr/>
          <p:nvPr/>
        </p:nvSpPr>
        <p:spPr>
          <a:xfrm>
            <a:off x="476280" y="1492200"/>
            <a:ext cx="2499480" cy="37980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6" name="Text 5"/>
          <p:cNvSpPr/>
          <p:nvPr/>
        </p:nvSpPr>
        <p:spPr>
          <a:xfrm>
            <a:off x="555480" y="1571760"/>
            <a:ext cx="242028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2009-2010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57" name="Text 6"/>
          <p:cNvSpPr/>
          <p:nvPr/>
        </p:nvSpPr>
        <p:spPr>
          <a:xfrm>
            <a:off x="460440" y="1952640"/>
            <a:ext cx="259488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BEGINNING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58" name="Text 7"/>
          <p:cNvSpPr/>
          <p:nvPr/>
        </p:nvSpPr>
        <p:spPr>
          <a:xfrm>
            <a:off x="460440" y="2174760"/>
            <a:ext cx="2586960" cy="27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First real-world transaction: 10,000 BTC for two pizzas at $0.003/BTC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59" name="Shape 8"/>
          <p:cNvSpPr/>
          <p:nvPr/>
        </p:nvSpPr>
        <p:spPr>
          <a:xfrm>
            <a:off x="476280" y="2532240"/>
            <a:ext cx="2499480" cy="28476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0" name="Text 9"/>
          <p:cNvSpPr/>
          <p:nvPr/>
        </p:nvSpPr>
        <p:spPr>
          <a:xfrm>
            <a:off x="555480" y="2611440"/>
            <a:ext cx="2388600" cy="12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Price: $0.003 → $0.30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61" name="Shape 10"/>
          <p:cNvSpPr/>
          <p:nvPr/>
        </p:nvSpPr>
        <p:spPr>
          <a:xfrm>
            <a:off x="3254400" y="1357200"/>
            <a:ext cx="2769480" cy="159444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62" name="Shape 11"/>
          <p:cNvSpPr/>
          <p:nvPr/>
        </p:nvSpPr>
        <p:spPr>
          <a:xfrm>
            <a:off x="3389400" y="1492200"/>
            <a:ext cx="2499480" cy="37980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3" name="Text 12"/>
          <p:cNvSpPr/>
          <p:nvPr/>
        </p:nvSpPr>
        <p:spPr>
          <a:xfrm>
            <a:off x="3468600" y="1571760"/>
            <a:ext cx="242028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2011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64" name="Text 13"/>
          <p:cNvSpPr/>
          <p:nvPr/>
        </p:nvSpPr>
        <p:spPr>
          <a:xfrm>
            <a:off x="3373560" y="1952640"/>
            <a:ext cx="259488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FIRST BUBBLE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65" name="Text 14"/>
          <p:cNvSpPr/>
          <p:nvPr/>
        </p:nvSpPr>
        <p:spPr>
          <a:xfrm>
            <a:off x="3373560" y="2174760"/>
            <a:ext cx="2586960" cy="27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Price spikes to $31, then crashes to $2. Media declares Bitcoin dead.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66" name="Shape 15"/>
          <p:cNvSpPr/>
          <p:nvPr/>
        </p:nvSpPr>
        <p:spPr>
          <a:xfrm>
            <a:off x="3389400" y="2532240"/>
            <a:ext cx="2499480" cy="28476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7" name="Text 16"/>
          <p:cNvSpPr/>
          <p:nvPr/>
        </p:nvSpPr>
        <p:spPr>
          <a:xfrm>
            <a:off x="3468600" y="2611440"/>
            <a:ext cx="2388600" cy="12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Peak: $31 | Crash: -94%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68" name="Shape 17"/>
          <p:cNvSpPr/>
          <p:nvPr/>
        </p:nvSpPr>
        <p:spPr>
          <a:xfrm>
            <a:off x="6167880" y="1357200"/>
            <a:ext cx="2769480" cy="159444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69" name="Shape 18"/>
          <p:cNvSpPr/>
          <p:nvPr/>
        </p:nvSpPr>
        <p:spPr>
          <a:xfrm>
            <a:off x="6302880" y="1492200"/>
            <a:ext cx="2499480" cy="37980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0" name="Text 19"/>
          <p:cNvSpPr/>
          <p:nvPr/>
        </p:nvSpPr>
        <p:spPr>
          <a:xfrm>
            <a:off x="6382080" y="1571760"/>
            <a:ext cx="242028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2012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71" name="Text 20"/>
          <p:cNvSpPr/>
          <p:nvPr/>
        </p:nvSpPr>
        <p:spPr>
          <a:xfrm>
            <a:off x="6287040" y="1952640"/>
            <a:ext cx="259488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FIRST HALVING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72" name="Text 21"/>
          <p:cNvSpPr/>
          <p:nvPr/>
        </p:nvSpPr>
        <p:spPr>
          <a:xfrm>
            <a:off x="6287040" y="2174760"/>
            <a:ext cx="2586960" cy="27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Block reward drops from 50 to 25 BTC. Sets stage for next bull run.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73" name="Shape 22"/>
          <p:cNvSpPr/>
          <p:nvPr/>
        </p:nvSpPr>
        <p:spPr>
          <a:xfrm>
            <a:off x="6302880" y="2532240"/>
            <a:ext cx="2499480" cy="28476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4" name="Text 23"/>
          <p:cNvSpPr/>
          <p:nvPr/>
        </p:nvSpPr>
        <p:spPr>
          <a:xfrm>
            <a:off x="6382080" y="2611440"/>
            <a:ext cx="2388600" cy="12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Price: $12 → $13.50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75" name="Shape 24"/>
          <p:cNvSpPr/>
          <p:nvPr/>
        </p:nvSpPr>
        <p:spPr>
          <a:xfrm>
            <a:off x="9081360" y="1357200"/>
            <a:ext cx="2769480" cy="159444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76" name="Shape 25"/>
          <p:cNvSpPr/>
          <p:nvPr/>
        </p:nvSpPr>
        <p:spPr>
          <a:xfrm>
            <a:off x="9216000" y="1492200"/>
            <a:ext cx="2499480" cy="37980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7" name="Text 26"/>
          <p:cNvSpPr/>
          <p:nvPr/>
        </p:nvSpPr>
        <p:spPr>
          <a:xfrm>
            <a:off x="9295560" y="1571760"/>
            <a:ext cx="242028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2013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78" name="Text 27"/>
          <p:cNvSpPr/>
          <p:nvPr/>
        </p:nvSpPr>
        <p:spPr>
          <a:xfrm>
            <a:off x="9200160" y="1952640"/>
            <a:ext cx="259488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$1,000 MILESTONE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79" name="Text 28"/>
          <p:cNvSpPr/>
          <p:nvPr/>
        </p:nvSpPr>
        <p:spPr>
          <a:xfrm>
            <a:off x="9200160" y="2174760"/>
            <a:ext cx="2586960" cy="27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First major bull run to $1,200. Mt. Gox becomes dominant exchange.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80" name="Shape 29"/>
          <p:cNvSpPr/>
          <p:nvPr/>
        </p:nvSpPr>
        <p:spPr>
          <a:xfrm>
            <a:off x="9216000" y="2532240"/>
            <a:ext cx="2499480" cy="28476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1" name="Text 30"/>
          <p:cNvSpPr/>
          <p:nvPr/>
        </p:nvSpPr>
        <p:spPr>
          <a:xfrm>
            <a:off x="9295560" y="2611440"/>
            <a:ext cx="2388600" cy="12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Peak: $1,242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82" name="Shape 31"/>
          <p:cNvSpPr/>
          <p:nvPr/>
        </p:nvSpPr>
        <p:spPr>
          <a:xfrm>
            <a:off x="341280" y="3095640"/>
            <a:ext cx="2769480" cy="159444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83" name="Shape 32"/>
          <p:cNvSpPr/>
          <p:nvPr/>
        </p:nvSpPr>
        <p:spPr>
          <a:xfrm>
            <a:off x="476280" y="3230640"/>
            <a:ext cx="2499480" cy="37980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4" name="Text 33"/>
          <p:cNvSpPr/>
          <p:nvPr/>
        </p:nvSpPr>
        <p:spPr>
          <a:xfrm>
            <a:off x="555480" y="3309840"/>
            <a:ext cx="242028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2014-2015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85" name="Text 34"/>
          <p:cNvSpPr/>
          <p:nvPr/>
        </p:nvSpPr>
        <p:spPr>
          <a:xfrm>
            <a:off x="460440" y="3691080"/>
            <a:ext cx="259488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MT. GOX COLLAPSE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86" name="Text 35"/>
          <p:cNvSpPr/>
          <p:nvPr/>
        </p:nvSpPr>
        <p:spPr>
          <a:xfrm>
            <a:off x="460440" y="3913200"/>
            <a:ext cx="2586960" cy="27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Exchange hack wipes out 850K BTC. Price falls below $200. Bear market.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87" name="Shape 36"/>
          <p:cNvSpPr/>
          <p:nvPr/>
        </p:nvSpPr>
        <p:spPr>
          <a:xfrm>
            <a:off x="476280" y="4270320"/>
            <a:ext cx="2499480" cy="28476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8" name="Text 37"/>
          <p:cNvSpPr/>
          <p:nvPr/>
        </p:nvSpPr>
        <p:spPr>
          <a:xfrm>
            <a:off x="555480" y="4349880"/>
            <a:ext cx="2388600" cy="12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Low: $152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89" name="Shape 38"/>
          <p:cNvSpPr/>
          <p:nvPr/>
        </p:nvSpPr>
        <p:spPr>
          <a:xfrm>
            <a:off x="3254400" y="3095640"/>
            <a:ext cx="2769480" cy="159444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90" name="Shape 39"/>
          <p:cNvSpPr/>
          <p:nvPr/>
        </p:nvSpPr>
        <p:spPr>
          <a:xfrm>
            <a:off x="3389400" y="3230640"/>
            <a:ext cx="2499480" cy="37980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1" name="Text 40"/>
          <p:cNvSpPr/>
          <p:nvPr/>
        </p:nvSpPr>
        <p:spPr>
          <a:xfrm>
            <a:off x="3468600" y="3309840"/>
            <a:ext cx="242028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2016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92" name="Text 41"/>
          <p:cNvSpPr/>
          <p:nvPr/>
        </p:nvSpPr>
        <p:spPr>
          <a:xfrm>
            <a:off x="3373560" y="3691080"/>
            <a:ext cx="259488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SECOND HALVING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93" name="Text 42"/>
          <p:cNvSpPr/>
          <p:nvPr/>
        </p:nvSpPr>
        <p:spPr>
          <a:xfrm>
            <a:off x="3373560" y="3913200"/>
            <a:ext cx="2586960" cy="27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Block reward drops to 12.5 BTC. Ethereum launches, ICO era begins.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94" name="Shape 43"/>
          <p:cNvSpPr/>
          <p:nvPr/>
        </p:nvSpPr>
        <p:spPr>
          <a:xfrm>
            <a:off x="3389400" y="4270320"/>
            <a:ext cx="2499480" cy="28476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5" name="Text 44"/>
          <p:cNvSpPr/>
          <p:nvPr/>
        </p:nvSpPr>
        <p:spPr>
          <a:xfrm>
            <a:off x="3468600" y="4349880"/>
            <a:ext cx="2388600" cy="12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Price: $650 → $960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96" name="Shape 45"/>
          <p:cNvSpPr/>
          <p:nvPr/>
        </p:nvSpPr>
        <p:spPr>
          <a:xfrm>
            <a:off x="6167880" y="3095640"/>
            <a:ext cx="2769480" cy="159444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97" name="Shape 46"/>
          <p:cNvSpPr/>
          <p:nvPr/>
        </p:nvSpPr>
        <p:spPr>
          <a:xfrm>
            <a:off x="6302880" y="3230640"/>
            <a:ext cx="2499480" cy="37980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8" name="Text 47"/>
          <p:cNvSpPr/>
          <p:nvPr/>
        </p:nvSpPr>
        <p:spPr>
          <a:xfrm>
            <a:off x="6382080" y="3309840"/>
            <a:ext cx="242028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2017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99" name="Text 48"/>
          <p:cNvSpPr/>
          <p:nvPr/>
        </p:nvSpPr>
        <p:spPr>
          <a:xfrm>
            <a:off x="6287040" y="3691080"/>
            <a:ext cx="259488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$20,000 PEAK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00" name="Text 49"/>
          <p:cNvSpPr/>
          <p:nvPr/>
        </p:nvSpPr>
        <p:spPr>
          <a:xfrm>
            <a:off x="6287040" y="3913200"/>
            <a:ext cx="2586960" cy="27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ICO mania drives parabolic rise. CME/CBOE futures launch. Mainstream FOMO.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01" name="Shape 50"/>
          <p:cNvSpPr/>
          <p:nvPr/>
        </p:nvSpPr>
        <p:spPr>
          <a:xfrm>
            <a:off x="6302880" y="4270320"/>
            <a:ext cx="2499480" cy="28476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2" name="Text 51"/>
          <p:cNvSpPr/>
          <p:nvPr/>
        </p:nvSpPr>
        <p:spPr>
          <a:xfrm>
            <a:off x="6382080" y="4349880"/>
            <a:ext cx="2388600" cy="12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Peak: $19,800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03" name="Shape 52"/>
          <p:cNvSpPr/>
          <p:nvPr/>
        </p:nvSpPr>
        <p:spPr>
          <a:xfrm>
            <a:off x="9081360" y="3095640"/>
            <a:ext cx="2769480" cy="159444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04" name="Shape 53"/>
          <p:cNvSpPr/>
          <p:nvPr/>
        </p:nvSpPr>
        <p:spPr>
          <a:xfrm>
            <a:off x="9216000" y="3230640"/>
            <a:ext cx="2499480" cy="37980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5" name="Text 54"/>
          <p:cNvSpPr/>
          <p:nvPr/>
        </p:nvSpPr>
        <p:spPr>
          <a:xfrm>
            <a:off x="9295560" y="3309840"/>
            <a:ext cx="242028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2018-2019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06" name="Text 55"/>
          <p:cNvSpPr/>
          <p:nvPr/>
        </p:nvSpPr>
        <p:spPr>
          <a:xfrm>
            <a:off x="9200160" y="3691080"/>
            <a:ext cx="259488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CRYPTO WINTER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07" name="Text 56"/>
          <p:cNvSpPr/>
          <p:nvPr/>
        </p:nvSpPr>
        <p:spPr>
          <a:xfrm>
            <a:off x="9200160" y="3913200"/>
            <a:ext cx="2586960" cy="27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80%+ crash from peak. Regulatory crackdowns. Institutional interest quietly builds.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08" name="Shape 57"/>
          <p:cNvSpPr/>
          <p:nvPr/>
        </p:nvSpPr>
        <p:spPr>
          <a:xfrm>
            <a:off x="9216000" y="4270320"/>
            <a:ext cx="2499480" cy="28476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9" name="Text 58"/>
          <p:cNvSpPr/>
          <p:nvPr/>
        </p:nvSpPr>
        <p:spPr>
          <a:xfrm>
            <a:off x="9295560" y="4349880"/>
            <a:ext cx="2388600" cy="12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Low: $3,200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10" name="Shape 59"/>
          <p:cNvSpPr/>
          <p:nvPr/>
        </p:nvSpPr>
        <p:spPr>
          <a:xfrm>
            <a:off x="341280" y="4834080"/>
            <a:ext cx="2769480" cy="159444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11" name="Shape 60"/>
          <p:cNvSpPr/>
          <p:nvPr/>
        </p:nvSpPr>
        <p:spPr>
          <a:xfrm>
            <a:off x="476280" y="4968720"/>
            <a:ext cx="2499480" cy="37980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2" name="Text 61"/>
          <p:cNvSpPr/>
          <p:nvPr/>
        </p:nvSpPr>
        <p:spPr>
          <a:xfrm>
            <a:off x="555480" y="5048280"/>
            <a:ext cx="242028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2020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13" name="Text 62"/>
          <p:cNvSpPr/>
          <p:nvPr/>
        </p:nvSpPr>
        <p:spPr>
          <a:xfrm>
            <a:off x="460440" y="5429160"/>
            <a:ext cx="259488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THIRD HALVING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14" name="Text 63"/>
          <p:cNvSpPr/>
          <p:nvPr/>
        </p:nvSpPr>
        <p:spPr>
          <a:xfrm>
            <a:off x="460440" y="5651640"/>
            <a:ext cx="2586960" cy="27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Block reward drops to 6.25 BTC. COVID-19 triggers institutional adoption wave.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15" name="Shape 64"/>
          <p:cNvSpPr/>
          <p:nvPr/>
        </p:nvSpPr>
        <p:spPr>
          <a:xfrm>
            <a:off x="476280" y="6008760"/>
            <a:ext cx="2499480" cy="28476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6" name="Text 65"/>
          <p:cNvSpPr/>
          <p:nvPr/>
        </p:nvSpPr>
        <p:spPr>
          <a:xfrm>
            <a:off x="555480" y="6087960"/>
            <a:ext cx="2388600" cy="12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Price: $8,000 → $29,000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17" name="Shape 66"/>
          <p:cNvSpPr/>
          <p:nvPr/>
        </p:nvSpPr>
        <p:spPr>
          <a:xfrm>
            <a:off x="3254400" y="4834080"/>
            <a:ext cx="2769480" cy="159444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18" name="Shape 67"/>
          <p:cNvSpPr/>
          <p:nvPr/>
        </p:nvSpPr>
        <p:spPr>
          <a:xfrm>
            <a:off x="3389400" y="4968720"/>
            <a:ext cx="2499480" cy="37980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9" name="Text 68"/>
          <p:cNvSpPr/>
          <p:nvPr/>
        </p:nvSpPr>
        <p:spPr>
          <a:xfrm>
            <a:off x="3468600" y="5048280"/>
            <a:ext cx="242028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2021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20" name="Text 69"/>
          <p:cNvSpPr/>
          <p:nvPr/>
        </p:nvSpPr>
        <p:spPr>
          <a:xfrm>
            <a:off x="3373560" y="5429160"/>
            <a:ext cx="259488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$69,000 ATH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21" name="Text 70"/>
          <p:cNvSpPr/>
          <p:nvPr/>
        </p:nvSpPr>
        <p:spPr>
          <a:xfrm>
            <a:off x="3373560" y="5651640"/>
            <a:ext cx="2586960" cy="27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MicroStrategy, Tesla add BTC to treasury. First Bitcoin futures ETF. NFT boom.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22" name="Shape 71"/>
          <p:cNvSpPr/>
          <p:nvPr/>
        </p:nvSpPr>
        <p:spPr>
          <a:xfrm>
            <a:off x="3389400" y="6008760"/>
            <a:ext cx="2499480" cy="28476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23" name="Text 72"/>
          <p:cNvSpPr/>
          <p:nvPr/>
        </p:nvSpPr>
        <p:spPr>
          <a:xfrm>
            <a:off x="3468600" y="6087960"/>
            <a:ext cx="2388600" cy="12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Peak: $69,000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24" name="Shape 73"/>
          <p:cNvSpPr/>
          <p:nvPr/>
        </p:nvSpPr>
        <p:spPr>
          <a:xfrm>
            <a:off x="6167880" y="4834080"/>
            <a:ext cx="2769480" cy="159444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25" name="Shape 74"/>
          <p:cNvSpPr/>
          <p:nvPr/>
        </p:nvSpPr>
        <p:spPr>
          <a:xfrm>
            <a:off x="6302880" y="4968720"/>
            <a:ext cx="2499480" cy="37980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26" name="Text 75"/>
          <p:cNvSpPr/>
          <p:nvPr/>
        </p:nvSpPr>
        <p:spPr>
          <a:xfrm>
            <a:off x="6382080" y="5048280"/>
            <a:ext cx="242028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2022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27" name="Text 76"/>
          <p:cNvSpPr/>
          <p:nvPr/>
        </p:nvSpPr>
        <p:spPr>
          <a:xfrm>
            <a:off x="6287040" y="5429160"/>
            <a:ext cx="259488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BEAR MARKET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28" name="Text 77"/>
          <p:cNvSpPr/>
          <p:nvPr/>
        </p:nvSpPr>
        <p:spPr>
          <a:xfrm>
            <a:off x="6287040" y="5651640"/>
            <a:ext cx="2586960" cy="27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Fed rate hikes, Terra/LUNA collapse, FTX bankruptcy. Price falls to $16K.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29" name="Shape 78"/>
          <p:cNvSpPr/>
          <p:nvPr/>
        </p:nvSpPr>
        <p:spPr>
          <a:xfrm>
            <a:off x="6302880" y="6008760"/>
            <a:ext cx="2499480" cy="28476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0" name="Text 79"/>
          <p:cNvSpPr/>
          <p:nvPr/>
        </p:nvSpPr>
        <p:spPr>
          <a:xfrm>
            <a:off x="6382080" y="6087960"/>
            <a:ext cx="2388600" cy="12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Low: $15,600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31" name="Shape 80"/>
          <p:cNvSpPr/>
          <p:nvPr/>
        </p:nvSpPr>
        <p:spPr>
          <a:xfrm>
            <a:off x="9081360" y="4834080"/>
            <a:ext cx="2769480" cy="159444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32" name="Shape 81"/>
          <p:cNvSpPr/>
          <p:nvPr/>
        </p:nvSpPr>
        <p:spPr>
          <a:xfrm>
            <a:off x="9216000" y="4968720"/>
            <a:ext cx="2499480" cy="37980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3" name="Text 82"/>
          <p:cNvSpPr/>
          <p:nvPr/>
        </p:nvSpPr>
        <p:spPr>
          <a:xfrm>
            <a:off x="9295560" y="5048280"/>
            <a:ext cx="242028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2024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34" name="Text 83"/>
          <p:cNvSpPr/>
          <p:nvPr/>
        </p:nvSpPr>
        <p:spPr>
          <a:xfrm>
            <a:off x="9200160" y="5429160"/>
            <a:ext cx="259488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$100K+ BREAKTHROUGH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35" name="Text 84"/>
          <p:cNvSpPr/>
          <p:nvPr/>
        </p:nvSpPr>
        <p:spPr>
          <a:xfrm>
            <a:off x="9200160" y="5651640"/>
            <a:ext cx="2586960" cy="27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Fourth halving. SEC approves spot ETFs. Price breaks $100K milestone.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36" name="Shape 85"/>
          <p:cNvSpPr/>
          <p:nvPr/>
        </p:nvSpPr>
        <p:spPr>
          <a:xfrm>
            <a:off x="9216000" y="6008760"/>
            <a:ext cx="2499480" cy="28476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7" name="Text 86"/>
          <p:cNvSpPr/>
          <p:nvPr/>
        </p:nvSpPr>
        <p:spPr>
          <a:xfrm>
            <a:off x="9295560" y="6087960"/>
            <a:ext cx="2388600" cy="12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Peak: $126,173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38" name="Shape 87"/>
          <p:cNvSpPr/>
          <p:nvPr/>
        </p:nvSpPr>
        <p:spPr>
          <a:xfrm>
            <a:off x="341280" y="6572160"/>
            <a:ext cx="11509200" cy="522720"/>
          </a:xfrm>
          <a:custGeom>
            <a:avLst/>
            <a:gdLst/>
            <a:ahLst/>
            <a:rect l="l" t="t" r="r" b="b"/>
            <a:pathLst>
              <a:path w="11509375" h="523875">
                <a:moveTo>
                  <a:pt x="0" y="0"/>
                </a:moveTo>
                <a:lnTo>
                  <a:pt x="11509375" y="0"/>
                </a:lnTo>
                <a:lnTo>
                  <a:pt x="11509375" y="523875"/>
                </a:lnTo>
                <a:lnTo>
                  <a:pt x="0" y="523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9" name="Text 88"/>
          <p:cNvSpPr/>
          <p:nvPr/>
        </p:nvSpPr>
        <p:spPr>
          <a:xfrm>
            <a:off x="492120" y="6723000"/>
            <a:ext cx="330120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FOUR HALVINGS: 2012 | 2016 | 2020 | 2024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40" name="Text 89"/>
          <p:cNvSpPr/>
          <p:nvPr/>
        </p:nvSpPr>
        <p:spPr>
          <a:xfrm>
            <a:off x="8992800" y="6723000"/>
            <a:ext cx="278532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→ </a:t>
            </a: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Each Followed by Major Bull Run</a:t>
            </a:r>
            <a:endParaRPr b="0" lang="en-HK" sz="12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Image 0"/>
          <p:cNvSpPr/>
          <p:nvPr/>
        </p:nvSpPr>
        <p:spPr>
          <a:xfrm>
            <a:off x="0" y="0"/>
            <a:ext cx="12192120" cy="685692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2" name="Shape 0"/>
          <p:cNvSpPr/>
          <p:nvPr/>
        </p:nvSpPr>
        <p:spPr>
          <a:xfrm>
            <a:off x="0" y="0"/>
            <a:ext cx="12192120" cy="68569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3" name="Shape 1"/>
          <p:cNvSpPr/>
          <p:nvPr/>
        </p:nvSpPr>
        <p:spPr>
          <a:xfrm>
            <a:off x="4029120" y="781200"/>
            <a:ext cx="7752960" cy="3961440"/>
          </a:xfrm>
          <a:custGeom>
            <a:avLst/>
            <a:gdLst/>
            <a:ahLst/>
            <a:rect l="l" t="t" r="r" b="b"/>
            <a:pathLst>
              <a:path w="7753350" h="3962400">
                <a:moveTo>
                  <a:pt x="0" y="0"/>
                </a:moveTo>
                <a:lnTo>
                  <a:pt x="7753350" y="0"/>
                </a:lnTo>
                <a:lnTo>
                  <a:pt x="77533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44" name="Shape 2"/>
          <p:cNvSpPr/>
          <p:nvPr/>
        </p:nvSpPr>
        <p:spPr>
          <a:xfrm>
            <a:off x="10078200" y="1266840"/>
            <a:ext cx="75240" cy="91332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5" name="Shape 3"/>
          <p:cNvSpPr/>
          <p:nvPr/>
        </p:nvSpPr>
        <p:spPr>
          <a:xfrm>
            <a:off x="10411560" y="1295280"/>
            <a:ext cx="856080" cy="85608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46" name="Text 4"/>
          <p:cNvSpPr/>
          <p:nvPr/>
        </p:nvSpPr>
        <p:spPr>
          <a:xfrm>
            <a:off x="10268640" y="1266840"/>
            <a:ext cx="1027800" cy="79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04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347" name="Text 5"/>
          <p:cNvSpPr/>
          <p:nvPr/>
        </p:nvSpPr>
        <p:spPr>
          <a:xfrm>
            <a:off x="4172400" y="2486160"/>
            <a:ext cx="7124400" cy="85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MARKET DYNAMICS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348" name="Shape 6"/>
          <p:cNvSpPr/>
          <p:nvPr/>
        </p:nvSpPr>
        <p:spPr>
          <a:xfrm>
            <a:off x="9468720" y="3571920"/>
            <a:ext cx="1827720" cy="7524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9" name="Text 7"/>
          <p:cNvSpPr/>
          <p:nvPr/>
        </p:nvSpPr>
        <p:spPr>
          <a:xfrm>
            <a:off x="4343760" y="3876840"/>
            <a:ext cx="695304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Halving Cycles &amp; Price Patterns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350" name="Shape 8"/>
          <p:cNvSpPr/>
          <p:nvPr/>
        </p:nvSpPr>
        <p:spPr>
          <a:xfrm>
            <a:off x="6188400" y="5257800"/>
            <a:ext cx="5590440" cy="817920"/>
          </a:xfrm>
          <a:custGeom>
            <a:avLst/>
            <a:gdLst/>
            <a:ahLst/>
            <a:rect l="l" t="t" r="r" b="b"/>
            <a:pathLst>
              <a:path w="5591175" h="819150">
                <a:moveTo>
                  <a:pt x="0" y="0"/>
                </a:moveTo>
                <a:lnTo>
                  <a:pt x="5591175" y="0"/>
                </a:lnTo>
                <a:lnTo>
                  <a:pt x="559117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1" name="Text 9"/>
          <p:cNvSpPr/>
          <p:nvPr/>
        </p:nvSpPr>
        <p:spPr>
          <a:xfrm>
            <a:off x="6445440" y="5514840"/>
            <a:ext cx="519048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Programmed Scarcity Driving Market Cycles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Shape 0"/>
          <p:cNvSpPr/>
          <p:nvPr/>
        </p:nvSpPr>
        <p:spPr>
          <a:xfrm>
            <a:off x="341280" y="341280"/>
            <a:ext cx="11509200" cy="84024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3" name="Text 1"/>
          <p:cNvSpPr/>
          <p:nvPr/>
        </p:nvSpPr>
        <p:spPr>
          <a:xfrm>
            <a:off x="523800" y="523800"/>
            <a:ext cx="1128708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HALVING EFFECT: PROGRAMMED SCARCITY IN ACTION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354" name="Shape 2"/>
          <p:cNvSpPr/>
          <p:nvPr/>
        </p:nvSpPr>
        <p:spPr>
          <a:xfrm>
            <a:off x="523800" y="936720"/>
            <a:ext cx="761040" cy="6228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55" name="Shape 3"/>
          <p:cNvSpPr/>
          <p:nvPr/>
        </p:nvSpPr>
        <p:spPr>
          <a:xfrm>
            <a:off x="341280" y="1357200"/>
            <a:ext cx="6222600" cy="6078960"/>
          </a:xfrm>
          <a:custGeom>
            <a:avLst/>
            <a:gdLst/>
            <a:ahLst/>
            <a:rect l="l" t="t" r="r" b="b"/>
            <a:pathLst>
              <a:path w="6223000" h="6080125">
                <a:moveTo>
                  <a:pt x="0" y="0"/>
                </a:moveTo>
                <a:lnTo>
                  <a:pt x="6223000" y="0"/>
                </a:lnTo>
                <a:lnTo>
                  <a:pt x="6223000" y="6080125"/>
                </a:lnTo>
                <a:lnTo>
                  <a:pt x="0" y="608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56" name="Text 4"/>
          <p:cNvSpPr/>
          <p:nvPr/>
        </p:nvSpPr>
        <p:spPr>
          <a:xfrm>
            <a:off x="523800" y="1539720"/>
            <a:ext cx="595224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WHAT IS THE HALVING?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57" name="Text 5"/>
          <p:cNvSpPr/>
          <p:nvPr/>
        </p:nvSpPr>
        <p:spPr>
          <a:xfrm>
            <a:off x="523800" y="1889280"/>
            <a:ext cx="5920560" cy="61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Every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210,000 blocks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(~4 years), Bitcoin's block reward is cut in half. This pre-programmed monetary policy reduces new supply issuance, creating supply shocks that have historically preceded major bull runs.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58" name="Shape 6"/>
          <p:cNvSpPr/>
          <p:nvPr/>
        </p:nvSpPr>
        <p:spPr>
          <a:xfrm>
            <a:off x="539640" y="2651040"/>
            <a:ext cx="5825520" cy="2316600"/>
          </a:xfrm>
          <a:custGeom>
            <a:avLst/>
            <a:gdLst/>
            <a:ahLst/>
            <a:rect l="l" t="t" r="r" b="b"/>
            <a:pathLst>
              <a:path w="5826125" h="2317750">
                <a:moveTo>
                  <a:pt x="0" y="0"/>
                </a:moveTo>
                <a:lnTo>
                  <a:pt x="5826125" y="0"/>
                </a:lnTo>
                <a:lnTo>
                  <a:pt x="5826125" y="2317750"/>
                </a:lnTo>
                <a:lnTo>
                  <a:pt x="0" y="2317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9" name="Text 7"/>
          <p:cNvSpPr/>
          <p:nvPr/>
        </p:nvSpPr>
        <p:spPr>
          <a:xfrm>
            <a:off x="682560" y="2793960"/>
            <a:ext cx="560304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Halving Schedule &amp; Price Performance: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60" name="Shape 8"/>
          <p:cNvSpPr/>
          <p:nvPr/>
        </p:nvSpPr>
        <p:spPr>
          <a:xfrm>
            <a:off x="698400" y="3095640"/>
            <a:ext cx="2689920" cy="792720"/>
          </a:xfrm>
          <a:custGeom>
            <a:avLst/>
            <a:gdLst/>
            <a:ahLst/>
            <a:rect l="l" t="t" r="r" b="b"/>
            <a:pathLst>
              <a:path w="2690813" h="793750">
                <a:moveTo>
                  <a:pt x="0" y="0"/>
                </a:moveTo>
                <a:lnTo>
                  <a:pt x="2690813" y="0"/>
                </a:lnTo>
                <a:lnTo>
                  <a:pt x="2690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1" name="Text 9"/>
          <p:cNvSpPr/>
          <p:nvPr/>
        </p:nvSpPr>
        <p:spPr>
          <a:xfrm>
            <a:off x="809640" y="3206880"/>
            <a:ext cx="252324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2012: 50 → 25 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62" name="Text 10"/>
          <p:cNvSpPr/>
          <p:nvPr/>
        </p:nvSpPr>
        <p:spPr>
          <a:xfrm>
            <a:off x="809640" y="3397320"/>
            <a:ext cx="256320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+9,300%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63" name="Text 11"/>
          <p:cNvSpPr/>
          <p:nvPr/>
        </p:nvSpPr>
        <p:spPr>
          <a:xfrm>
            <a:off x="809640" y="3651120"/>
            <a:ext cx="2515320" cy="12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$12 → $1,100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64" name="Shape 12"/>
          <p:cNvSpPr/>
          <p:nvPr/>
        </p:nvSpPr>
        <p:spPr>
          <a:xfrm>
            <a:off x="3515400" y="3095640"/>
            <a:ext cx="2689920" cy="792720"/>
          </a:xfrm>
          <a:custGeom>
            <a:avLst/>
            <a:gdLst/>
            <a:ahLst/>
            <a:rect l="l" t="t" r="r" b="b"/>
            <a:pathLst>
              <a:path w="2690813" h="793750">
                <a:moveTo>
                  <a:pt x="0" y="0"/>
                </a:moveTo>
                <a:lnTo>
                  <a:pt x="2690813" y="0"/>
                </a:lnTo>
                <a:lnTo>
                  <a:pt x="2690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5" name="Text 13"/>
          <p:cNvSpPr/>
          <p:nvPr/>
        </p:nvSpPr>
        <p:spPr>
          <a:xfrm>
            <a:off x="3626640" y="3206880"/>
            <a:ext cx="252324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2016: 25 → 12.5 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66" name="Text 14"/>
          <p:cNvSpPr/>
          <p:nvPr/>
        </p:nvSpPr>
        <p:spPr>
          <a:xfrm>
            <a:off x="3626640" y="3397320"/>
            <a:ext cx="256320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+3,200%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67" name="Text 15"/>
          <p:cNvSpPr/>
          <p:nvPr/>
        </p:nvSpPr>
        <p:spPr>
          <a:xfrm>
            <a:off x="3626640" y="3651120"/>
            <a:ext cx="2515320" cy="12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$650 → $19,800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68" name="Shape 16"/>
          <p:cNvSpPr/>
          <p:nvPr/>
        </p:nvSpPr>
        <p:spPr>
          <a:xfrm>
            <a:off x="698400" y="4016520"/>
            <a:ext cx="2689920" cy="792720"/>
          </a:xfrm>
          <a:custGeom>
            <a:avLst/>
            <a:gdLst/>
            <a:ahLst/>
            <a:rect l="l" t="t" r="r" b="b"/>
            <a:pathLst>
              <a:path w="2690813" h="793750">
                <a:moveTo>
                  <a:pt x="0" y="0"/>
                </a:moveTo>
                <a:lnTo>
                  <a:pt x="2690813" y="0"/>
                </a:lnTo>
                <a:lnTo>
                  <a:pt x="2690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9" name="Text 17"/>
          <p:cNvSpPr/>
          <p:nvPr/>
        </p:nvSpPr>
        <p:spPr>
          <a:xfrm>
            <a:off x="809640" y="4127400"/>
            <a:ext cx="252324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2020: 12.5 → 6.25 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70" name="Text 18"/>
          <p:cNvSpPr/>
          <p:nvPr/>
        </p:nvSpPr>
        <p:spPr>
          <a:xfrm>
            <a:off x="809640" y="4317840"/>
            <a:ext cx="256320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+700%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71" name="Text 19"/>
          <p:cNvSpPr/>
          <p:nvPr/>
        </p:nvSpPr>
        <p:spPr>
          <a:xfrm>
            <a:off x="809640" y="4572000"/>
            <a:ext cx="2515320" cy="12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$8,800 → $69,000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72" name="Shape 20"/>
          <p:cNvSpPr/>
          <p:nvPr/>
        </p:nvSpPr>
        <p:spPr>
          <a:xfrm>
            <a:off x="3515400" y="4016520"/>
            <a:ext cx="2689920" cy="792720"/>
          </a:xfrm>
          <a:custGeom>
            <a:avLst/>
            <a:gdLst/>
            <a:ahLst/>
            <a:rect l="l" t="t" r="r" b="b"/>
            <a:pathLst>
              <a:path w="2690813" h="793750">
                <a:moveTo>
                  <a:pt x="0" y="0"/>
                </a:moveTo>
                <a:lnTo>
                  <a:pt x="2690813" y="0"/>
                </a:lnTo>
                <a:lnTo>
                  <a:pt x="2690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3" name="Text 21"/>
          <p:cNvSpPr/>
          <p:nvPr/>
        </p:nvSpPr>
        <p:spPr>
          <a:xfrm>
            <a:off x="3626640" y="4127400"/>
            <a:ext cx="252324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2024: 6.25 → 3.125 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74" name="Text 22"/>
          <p:cNvSpPr/>
          <p:nvPr/>
        </p:nvSpPr>
        <p:spPr>
          <a:xfrm>
            <a:off x="3626640" y="4317840"/>
            <a:ext cx="256320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155dfc"/>
                </a:solidFill>
                <a:latin typeface="Noto Sans SC"/>
                <a:ea typeface="Noto Sans SC"/>
              </a:rPr>
              <a:t>IN PROGRESS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75" name="Text 23"/>
          <p:cNvSpPr/>
          <p:nvPr/>
        </p:nvSpPr>
        <p:spPr>
          <a:xfrm>
            <a:off x="3626640" y="4572000"/>
            <a:ext cx="2515320" cy="12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$43,000 → $126K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76" name="Shape 24"/>
          <p:cNvSpPr/>
          <p:nvPr/>
        </p:nvSpPr>
        <p:spPr>
          <a:xfrm>
            <a:off x="341280" y="7612200"/>
            <a:ext cx="6222600" cy="1570680"/>
          </a:xfrm>
          <a:custGeom>
            <a:avLst/>
            <a:gdLst/>
            <a:ahLst/>
            <a:rect l="l" t="t" r="r" b="b"/>
            <a:pathLst>
              <a:path w="6223000" h="1571625">
                <a:moveTo>
                  <a:pt x="0" y="0"/>
                </a:moveTo>
                <a:lnTo>
                  <a:pt x="6223000" y="0"/>
                </a:lnTo>
                <a:lnTo>
                  <a:pt x="6223000" y="1571625"/>
                </a:lnTo>
                <a:lnTo>
                  <a:pt x="0" y="1571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77" name="Text 25"/>
          <p:cNvSpPr/>
          <p:nvPr/>
        </p:nvSpPr>
        <p:spPr>
          <a:xfrm>
            <a:off x="492120" y="7763040"/>
            <a:ext cx="600012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2024 CYCLE: WHAT'S DIFFERENT?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78" name="Shape 26"/>
          <p:cNvSpPr/>
          <p:nvPr/>
        </p:nvSpPr>
        <p:spPr>
          <a:xfrm>
            <a:off x="507960" y="8096400"/>
            <a:ext cx="1880280" cy="919800"/>
          </a:xfrm>
          <a:custGeom>
            <a:avLst/>
            <a:gdLst/>
            <a:ahLst/>
            <a:rect l="l" t="t" r="r" b="b"/>
            <a:pathLst>
              <a:path w="1881187" h="920750">
                <a:moveTo>
                  <a:pt x="0" y="0"/>
                </a:moveTo>
                <a:lnTo>
                  <a:pt x="1881187" y="0"/>
                </a:lnTo>
                <a:lnTo>
                  <a:pt x="1881187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9" name="Text 27"/>
          <p:cNvSpPr/>
          <p:nvPr/>
        </p:nvSpPr>
        <p:spPr>
          <a:xfrm>
            <a:off x="619200" y="8207280"/>
            <a:ext cx="1721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ETF Approval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80" name="Text 28"/>
          <p:cNvSpPr/>
          <p:nvPr/>
        </p:nvSpPr>
        <p:spPr>
          <a:xfrm>
            <a:off x="619200" y="8429760"/>
            <a:ext cx="1713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First spot ETFs create institutional demand never seen before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81" name="Shape 29"/>
          <p:cNvSpPr/>
          <p:nvPr/>
        </p:nvSpPr>
        <p:spPr>
          <a:xfrm>
            <a:off x="2512800" y="8096400"/>
            <a:ext cx="1880280" cy="919800"/>
          </a:xfrm>
          <a:custGeom>
            <a:avLst/>
            <a:gdLst/>
            <a:ahLst/>
            <a:rect l="l" t="t" r="r" b="b"/>
            <a:pathLst>
              <a:path w="1881187" h="920750">
                <a:moveTo>
                  <a:pt x="0" y="0"/>
                </a:moveTo>
                <a:lnTo>
                  <a:pt x="1881187" y="0"/>
                </a:lnTo>
                <a:lnTo>
                  <a:pt x="1881187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82" name="Text 30"/>
          <p:cNvSpPr/>
          <p:nvPr/>
        </p:nvSpPr>
        <p:spPr>
          <a:xfrm>
            <a:off x="2624040" y="8207280"/>
            <a:ext cx="1721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Corporate Treasury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83" name="Text 31"/>
          <p:cNvSpPr/>
          <p:nvPr/>
        </p:nvSpPr>
        <p:spPr>
          <a:xfrm>
            <a:off x="2624040" y="8429760"/>
            <a:ext cx="17136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MicroStrategy holds 714K BTC worth $54B+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84" name="Shape 32"/>
          <p:cNvSpPr/>
          <p:nvPr/>
        </p:nvSpPr>
        <p:spPr>
          <a:xfrm>
            <a:off x="4518360" y="8096400"/>
            <a:ext cx="1880280" cy="919800"/>
          </a:xfrm>
          <a:custGeom>
            <a:avLst/>
            <a:gdLst/>
            <a:ahLst/>
            <a:rect l="l" t="t" r="r" b="b"/>
            <a:pathLst>
              <a:path w="1881187" h="920750">
                <a:moveTo>
                  <a:pt x="0" y="0"/>
                </a:moveTo>
                <a:lnTo>
                  <a:pt x="1881187" y="0"/>
                </a:lnTo>
                <a:lnTo>
                  <a:pt x="1881187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85" name="Text 33"/>
          <p:cNvSpPr/>
          <p:nvPr/>
        </p:nvSpPr>
        <p:spPr>
          <a:xfrm>
            <a:off x="4629600" y="8207280"/>
            <a:ext cx="1721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Nation-State Adoption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86" name="Text 34"/>
          <p:cNvSpPr/>
          <p:nvPr/>
        </p:nvSpPr>
        <p:spPr>
          <a:xfrm>
            <a:off x="4629600" y="8429760"/>
            <a:ext cx="17136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El Salvador makes BTC legal tender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87" name="Shape 35"/>
          <p:cNvSpPr/>
          <p:nvPr/>
        </p:nvSpPr>
        <p:spPr>
          <a:xfrm>
            <a:off x="6769440" y="1357200"/>
            <a:ext cx="5079240" cy="3951720"/>
          </a:xfrm>
          <a:custGeom>
            <a:avLst/>
            <a:gdLst/>
            <a:ahLst/>
            <a:rect l="l" t="t" r="r" b="b"/>
            <a:pathLst>
              <a:path w="5080000" h="3952875">
                <a:moveTo>
                  <a:pt x="0" y="0"/>
                </a:moveTo>
                <a:lnTo>
                  <a:pt x="5080000" y="0"/>
                </a:lnTo>
                <a:lnTo>
                  <a:pt x="5080000" y="3952875"/>
                </a:lnTo>
                <a:lnTo>
                  <a:pt x="0" y="3952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88" name="Text 36"/>
          <p:cNvSpPr/>
          <p:nvPr/>
        </p:nvSpPr>
        <p:spPr>
          <a:xfrm>
            <a:off x="6951960" y="1539720"/>
            <a:ext cx="480924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STOCK-TO-FLOW MODEL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89" name="Text 37"/>
          <p:cNvSpPr/>
          <p:nvPr/>
        </p:nvSpPr>
        <p:spPr>
          <a:xfrm>
            <a:off x="6951960" y="1920960"/>
            <a:ext cx="4777560" cy="41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Bitcoin's scarcity can be measured by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stock-to-flow ratio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(existing supply / annual production). Higher ratios indicate greater scarcity.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90" name="Shape 38"/>
          <p:cNvSpPr/>
          <p:nvPr/>
        </p:nvSpPr>
        <p:spPr>
          <a:xfrm>
            <a:off x="6967800" y="2476440"/>
            <a:ext cx="4682520" cy="602280"/>
          </a:xfrm>
          <a:custGeom>
            <a:avLst/>
            <a:gdLst/>
            <a:ahLst/>
            <a:rect l="l" t="t" r="r" b="b"/>
            <a:pathLst>
              <a:path w="4683125" h="603250">
                <a:moveTo>
                  <a:pt x="0" y="0"/>
                </a:moveTo>
                <a:lnTo>
                  <a:pt x="4683125" y="0"/>
                </a:lnTo>
                <a:lnTo>
                  <a:pt x="46831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1" name="Text 39"/>
          <p:cNvSpPr/>
          <p:nvPr/>
        </p:nvSpPr>
        <p:spPr>
          <a:xfrm>
            <a:off x="7079040" y="2619360"/>
            <a:ext cx="6181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Gold S2F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92" name="Text 40"/>
          <p:cNvSpPr/>
          <p:nvPr/>
        </p:nvSpPr>
        <p:spPr>
          <a:xfrm>
            <a:off x="11329920" y="2587680"/>
            <a:ext cx="30852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62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93" name="Shape 41"/>
          <p:cNvSpPr/>
          <p:nvPr/>
        </p:nvSpPr>
        <p:spPr>
          <a:xfrm>
            <a:off x="7094880" y="2889360"/>
            <a:ext cx="4428360" cy="62280"/>
          </a:xfrm>
          <a:custGeom>
            <a:avLst/>
            <a:gdLst/>
            <a:ahLst/>
            <a:rect l="l" t="t" r="r" b="b"/>
            <a:pathLst>
              <a:path w="4429125" h="63500">
                <a:moveTo>
                  <a:pt x="0" y="0"/>
                </a:moveTo>
                <a:lnTo>
                  <a:pt x="4429125" y="0"/>
                </a:lnTo>
                <a:lnTo>
                  <a:pt x="44291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4" name="Shape 42"/>
          <p:cNvSpPr/>
          <p:nvPr/>
        </p:nvSpPr>
        <p:spPr>
          <a:xfrm>
            <a:off x="7110720" y="2905200"/>
            <a:ext cx="2197800" cy="30600"/>
          </a:xfrm>
          <a:custGeom>
            <a:avLst/>
            <a:gdLst/>
            <a:ahLst/>
            <a:rect l="l" t="t" r="r" b="b"/>
            <a:pathLst>
              <a:path w="2198688" h="31750">
                <a:moveTo>
                  <a:pt x="0" y="0"/>
                </a:moveTo>
                <a:lnTo>
                  <a:pt x="2198688" y="0"/>
                </a:lnTo>
                <a:lnTo>
                  <a:pt x="2198688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f0b1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5" name="Shape 43"/>
          <p:cNvSpPr/>
          <p:nvPr/>
        </p:nvSpPr>
        <p:spPr>
          <a:xfrm>
            <a:off x="6967800" y="3206880"/>
            <a:ext cx="4682520" cy="602280"/>
          </a:xfrm>
          <a:custGeom>
            <a:avLst/>
            <a:gdLst/>
            <a:ahLst/>
            <a:rect l="l" t="t" r="r" b="b"/>
            <a:pathLst>
              <a:path w="4683125" h="603250">
                <a:moveTo>
                  <a:pt x="0" y="0"/>
                </a:moveTo>
                <a:lnTo>
                  <a:pt x="4683125" y="0"/>
                </a:lnTo>
                <a:lnTo>
                  <a:pt x="46831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6" name="Text 44"/>
          <p:cNvSpPr/>
          <p:nvPr/>
        </p:nvSpPr>
        <p:spPr>
          <a:xfrm>
            <a:off x="7079040" y="3349800"/>
            <a:ext cx="148320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 S2F (Post-2024)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97" name="Text 45"/>
          <p:cNvSpPr/>
          <p:nvPr/>
        </p:nvSpPr>
        <p:spPr>
          <a:xfrm>
            <a:off x="11224080" y="3317760"/>
            <a:ext cx="41184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120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98" name="Shape 46"/>
          <p:cNvSpPr/>
          <p:nvPr/>
        </p:nvSpPr>
        <p:spPr>
          <a:xfrm>
            <a:off x="7094880" y="3619440"/>
            <a:ext cx="4428360" cy="62280"/>
          </a:xfrm>
          <a:custGeom>
            <a:avLst/>
            <a:gdLst/>
            <a:ahLst/>
            <a:rect l="l" t="t" r="r" b="b"/>
            <a:pathLst>
              <a:path w="4429125" h="63500">
                <a:moveTo>
                  <a:pt x="0" y="0"/>
                </a:moveTo>
                <a:lnTo>
                  <a:pt x="4429125" y="0"/>
                </a:lnTo>
                <a:lnTo>
                  <a:pt x="44291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9" name="Shape 47"/>
          <p:cNvSpPr/>
          <p:nvPr/>
        </p:nvSpPr>
        <p:spPr>
          <a:xfrm>
            <a:off x="7110720" y="3635280"/>
            <a:ext cx="4396680" cy="30600"/>
          </a:xfrm>
          <a:custGeom>
            <a:avLst/>
            <a:gdLst/>
            <a:ahLst/>
            <a:rect l="l" t="t" r="r" b="b"/>
            <a:pathLst>
              <a:path w="4397375" h="31750">
                <a:moveTo>
                  <a:pt x="0" y="0"/>
                </a:moveTo>
                <a:lnTo>
                  <a:pt x="4397375" y="0"/>
                </a:lnTo>
                <a:lnTo>
                  <a:pt x="4397375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ff69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00" name="Shape 48"/>
          <p:cNvSpPr/>
          <p:nvPr/>
        </p:nvSpPr>
        <p:spPr>
          <a:xfrm>
            <a:off x="6967800" y="3936960"/>
            <a:ext cx="4682520" cy="602280"/>
          </a:xfrm>
          <a:custGeom>
            <a:avLst/>
            <a:gdLst/>
            <a:ahLst/>
            <a:rect l="l" t="t" r="r" b="b"/>
            <a:pathLst>
              <a:path w="4683125" h="603250">
                <a:moveTo>
                  <a:pt x="0" y="0"/>
                </a:moveTo>
                <a:lnTo>
                  <a:pt x="4683125" y="0"/>
                </a:lnTo>
                <a:lnTo>
                  <a:pt x="46831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01" name="Text 49"/>
          <p:cNvSpPr/>
          <p:nvPr/>
        </p:nvSpPr>
        <p:spPr>
          <a:xfrm>
            <a:off x="7079040" y="4079880"/>
            <a:ext cx="6735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Silver S2F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02" name="Text 50"/>
          <p:cNvSpPr/>
          <p:nvPr/>
        </p:nvSpPr>
        <p:spPr>
          <a:xfrm>
            <a:off x="11329920" y="4048200"/>
            <a:ext cx="30852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22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03" name="Shape 51"/>
          <p:cNvSpPr/>
          <p:nvPr/>
        </p:nvSpPr>
        <p:spPr>
          <a:xfrm>
            <a:off x="7094880" y="4349880"/>
            <a:ext cx="4428360" cy="62280"/>
          </a:xfrm>
          <a:custGeom>
            <a:avLst/>
            <a:gdLst/>
            <a:ahLst/>
            <a:rect l="l" t="t" r="r" b="b"/>
            <a:pathLst>
              <a:path w="4429125" h="63500">
                <a:moveTo>
                  <a:pt x="0" y="0"/>
                </a:moveTo>
                <a:lnTo>
                  <a:pt x="4429125" y="0"/>
                </a:lnTo>
                <a:lnTo>
                  <a:pt x="44291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04" name="Shape 52"/>
          <p:cNvSpPr/>
          <p:nvPr/>
        </p:nvSpPr>
        <p:spPr>
          <a:xfrm>
            <a:off x="7110720" y="4365720"/>
            <a:ext cx="792720" cy="30600"/>
          </a:xfrm>
          <a:custGeom>
            <a:avLst/>
            <a:gdLst/>
            <a:ahLst/>
            <a:rect l="l" t="t" r="r" b="b"/>
            <a:pathLst>
              <a:path w="793750" h="31750">
                <a:moveTo>
                  <a:pt x="0" y="0"/>
                </a:moveTo>
                <a:lnTo>
                  <a:pt x="793750" y="0"/>
                </a:lnTo>
                <a:lnTo>
                  <a:pt x="793750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99a1a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05" name="Shape 53"/>
          <p:cNvSpPr/>
          <p:nvPr/>
        </p:nvSpPr>
        <p:spPr>
          <a:xfrm>
            <a:off x="6967800" y="4699080"/>
            <a:ext cx="4682520" cy="411840"/>
          </a:xfrm>
          <a:custGeom>
            <a:avLst/>
            <a:gdLst/>
            <a:ahLst/>
            <a:rect l="l" t="t" r="r" b="b"/>
            <a:pathLst>
              <a:path w="4683125" h="412750">
                <a:moveTo>
                  <a:pt x="0" y="0"/>
                </a:moveTo>
                <a:lnTo>
                  <a:pt x="4683125" y="0"/>
                </a:lnTo>
                <a:lnTo>
                  <a:pt x="4683125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06" name="Text 54"/>
          <p:cNvSpPr/>
          <p:nvPr/>
        </p:nvSpPr>
        <p:spPr>
          <a:xfrm>
            <a:off x="7047360" y="4809960"/>
            <a:ext cx="45237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Bitcoin is now scarcer than gold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07" name="Shape 55"/>
          <p:cNvSpPr/>
          <p:nvPr/>
        </p:nvSpPr>
        <p:spPr>
          <a:xfrm>
            <a:off x="6769440" y="5484960"/>
            <a:ext cx="5079240" cy="3697920"/>
          </a:xfrm>
          <a:custGeom>
            <a:avLst/>
            <a:gdLst/>
            <a:ahLst/>
            <a:rect l="l" t="t" r="r" b="b"/>
            <a:pathLst>
              <a:path w="5080000" h="3698875">
                <a:moveTo>
                  <a:pt x="0" y="0"/>
                </a:moveTo>
                <a:lnTo>
                  <a:pt x="5080000" y="0"/>
                </a:lnTo>
                <a:lnTo>
                  <a:pt x="5080000" y="3698875"/>
                </a:lnTo>
                <a:lnTo>
                  <a:pt x="0" y="3698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08" name="Text 56"/>
          <p:cNvSpPr/>
          <p:nvPr/>
        </p:nvSpPr>
        <p:spPr>
          <a:xfrm>
            <a:off x="6951960" y="5667480"/>
            <a:ext cx="480924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SUPPLY IMPACT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09" name="Shape 57"/>
          <p:cNvSpPr/>
          <p:nvPr/>
        </p:nvSpPr>
        <p:spPr>
          <a:xfrm>
            <a:off x="6967800" y="6064200"/>
            <a:ext cx="4682520" cy="887760"/>
          </a:xfrm>
          <a:custGeom>
            <a:avLst/>
            <a:gdLst/>
            <a:ahLst/>
            <a:rect l="l" t="t" r="r" b="b"/>
            <a:pathLst>
              <a:path w="4683125" h="889000">
                <a:moveTo>
                  <a:pt x="0" y="0"/>
                </a:moveTo>
                <a:lnTo>
                  <a:pt x="4683125" y="0"/>
                </a:lnTo>
                <a:lnTo>
                  <a:pt x="4683125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10" name="Text 58"/>
          <p:cNvSpPr/>
          <p:nvPr/>
        </p:nvSpPr>
        <p:spPr>
          <a:xfrm>
            <a:off x="7079040" y="6175440"/>
            <a:ext cx="45237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Daily New Supply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11" name="Text 59"/>
          <p:cNvSpPr/>
          <p:nvPr/>
        </p:nvSpPr>
        <p:spPr>
          <a:xfrm>
            <a:off x="7079040" y="6397560"/>
            <a:ext cx="457920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450 BTC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12" name="Text 60"/>
          <p:cNvSpPr/>
          <p:nvPr/>
        </p:nvSpPr>
        <p:spPr>
          <a:xfrm>
            <a:off x="7079040" y="6683400"/>
            <a:ext cx="451584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Down from 900 BTC pre-halving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13" name="Shape 61"/>
          <p:cNvSpPr/>
          <p:nvPr/>
        </p:nvSpPr>
        <p:spPr>
          <a:xfrm>
            <a:off x="6967800" y="7080120"/>
            <a:ext cx="4682520" cy="887760"/>
          </a:xfrm>
          <a:custGeom>
            <a:avLst/>
            <a:gdLst/>
            <a:ahLst/>
            <a:rect l="l" t="t" r="r" b="b"/>
            <a:pathLst>
              <a:path w="4683125" h="889000">
                <a:moveTo>
                  <a:pt x="0" y="0"/>
                </a:moveTo>
                <a:lnTo>
                  <a:pt x="4683125" y="0"/>
                </a:lnTo>
                <a:lnTo>
                  <a:pt x="4683125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14" name="Text 62"/>
          <p:cNvSpPr/>
          <p:nvPr/>
        </p:nvSpPr>
        <p:spPr>
          <a:xfrm>
            <a:off x="7079040" y="7191360"/>
            <a:ext cx="45237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Inflation Rate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15" name="Text 63"/>
          <p:cNvSpPr/>
          <p:nvPr/>
        </p:nvSpPr>
        <p:spPr>
          <a:xfrm>
            <a:off x="7079040" y="7413480"/>
            <a:ext cx="457920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0.85%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16" name="Text 64"/>
          <p:cNvSpPr/>
          <p:nvPr/>
        </p:nvSpPr>
        <p:spPr>
          <a:xfrm>
            <a:off x="7079040" y="7699320"/>
            <a:ext cx="451584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Down from 1.75% pre-halving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17" name="Shape 65"/>
          <p:cNvSpPr/>
          <p:nvPr/>
        </p:nvSpPr>
        <p:spPr>
          <a:xfrm>
            <a:off x="6967800" y="8096400"/>
            <a:ext cx="4682520" cy="887760"/>
          </a:xfrm>
          <a:custGeom>
            <a:avLst/>
            <a:gdLst/>
            <a:ahLst/>
            <a:rect l="l" t="t" r="r" b="b"/>
            <a:pathLst>
              <a:path w="4683125" h="889000">
                <a:moveTo>
                  <a:pt x="0" y="0"/>
                </a:moveTo>
                <a:lnTo>
                  <a:pt x="4683125" y="0"/>
                </a:lnTo>
                <a:lnTo>
                  <a:pt x="4683125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18" name="Text 66"/>
          <p:cNvSpPr/>
          <p:nvPr/>
        </p:nvSpPr>
        <p:spPr>
          <a:xfrm>
            <a:off x="7079040" y="8207280"/>
            <a:ext cx="45237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Total Supply Mined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19" name="Text 67"/>
          <p:cNvSpPr/>
          <p:nvPr/>
        </p:nvSpPr>
        <p:spPr>
          <a:xfrm>
            <a:off x="7079040" y="8429760"/>
            <a:ext cx="457920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93.75%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20" name="Text 68"/>
          <p:cNvSpPr/>
          <p:nvPr/>
        </p:nvSpPr>
        <p:spPr>
          <a:xfrm>
            <a:off x="7079040" y="8715240"/>
            <a:ext cx="451584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~19.7M of 21M BTC in circulation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Image 0"/>
          <p:cNvSpPr/>
          <p:nvPr/>
        </p:nvSpPr>
        <p:spPr>
          <a:xfrm>
            <a:off x="0" y="0"/>
            <a:ext cx="12192120" cy="685692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2" name="Shape 0"/>
          <p:cNvSpPr/>
          <p:nvPr/>
        </p:nvSpPr>
        <p:spPr>
          <a:xfrm>
            <a:off x="0" y="0"/>
            <a:ext cx="12192120" cy="68569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3" name="Shape 1"/>
          <p:cNvSpPr/>
          <p:nvPr/>
        </p:nvSpPr>
        <p:spPr>
          <a:xfrm>
            <a:off x="409680" y="352440"/>
            <a:ext cx="8476920" cy="481860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24" name="Shape 2"/>
          <p:cNvSpPr/>
          <p:nvPr/>
        </p:nvSpPr>
        <p:spPr>
          <a:xfrm>
            <a:off x="923760" y="866880"/>
            <a:ext cx="856080" cy="85608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25" name="Text 3"/>
          <p:cNvSpPr/>
          <p:nvPr/>
        </p:nvSpPr>
        <p:spPr>
          <a:xfrm>
            <a:off x="781200" y="838080"/>
            <a:ext cx="1027800" cy="79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05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426" name="Shape 4"/>
          <p:cNvSpPr/>
          <p:nvPr/>
        </p:nvSpPr>
        <p:spPr>
          <a:xfrm>
            <a:off x="2038320" y="838080"/>
            <a:ext cx="75240" cy="91332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7" name="Text 5"/>
          <p:cNvSpPr/>
          <p:nvPr/>
        </p:nvSpPr>
        <p:spPr>
          <a:xfrm>
            <a:off x="895320" y="2057400"/>
            <a:ext cx="7848360" cy="171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CURRENT LANDSCAPE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428" name="Shape 6"/>
          <p:cNvSpPr/>
          <p:nvPr/>
        </p:nvSpPr>
        <p:spPr>
          <a:xfrm>
            <a:off x="895320" y="4000680"/>
            <a:ext cx="1827720" cy="7524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9" name="Text 7"/>
          <p:cNvSpPr/>
          <p:nvPr/>
        </p:nvSpPr>
        <p:spPr>
          <a:xfrm>
            <a:off x="895320" y="4305240"/>
            <a:ext cx="767664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2024-2025 Market Status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430" name="Shape 8"/>
          <p:cNvSpPr/>
          <p:nvPr/>
        </p:nvSpPr>
        <p:spPr>
          <a:xfrm>
            <a:off x="409680" y="5686560"/>
            <a:ext cx="11372760" cy="81792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31" name="Text 9"/>
          <p:cNvSpPr/>
          <p:nvPr/>
        </p:nvSpPr>
        <p:spPr>
          <a:xfrm>
            <a:off x="666720" y="5943600"/>
            <a:ext cx="109728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Adoption, ETF Success &amp; Price Discovery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Shape 0"/>
          <p:cNvSpPr/>
          <p:nvPr/>
        </p:nvSpPr>
        <p:spPr>
          <a:xfrm>
            <a:off x="341280" y="341280"/>
            <a:ext cx="11509200" cy="84024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33" name="Text 1"/>
          <p:cNvSpPr/>
          <p:nvPr/>
        </p:nvSpPr>
        <p:spPr>
          <a:xfrm>
            <a:off x="523800" y="523800"/>
            <a:ext cx="1128708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 TODAY: MARKET METRICS &amp; ADOPTION DATA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34" name="Shape 2"/>
          <p:cNvSpPr/>
          <p:nvPr/>
        </p:nvSpPr>
        <p:spPr>
          <a:xfrm>
            <a:off x="523800" y="936720"/>
            <a:ext cx="761040" cy="6228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5" name="Shape 3"/>
          <p:cNvSpPr/>
          <p:nvPr/>
        </p:nvSpPr>
        <p:spPr>
          <a:xfrm>
            <a:off x="341280" y="1357200"/>
            <a:ext cx="5650920" cy="2808720"/>
          </a:xfrm>
          <a:custGeom>
            <a:avLst/>
            <a:gdLst/>
            <a:ahLst/>
            <a:rect l="l" t="t" r="r" b="b"/>
            <a:pathLst>
              <a:path w="5651500" h="2809875">
                <a:moveTo>
                  <a:pt x="0" y="0"/>
                </a:moveTo>
                <a:lnTo>
                  <a:pt x="5651500" y="0"/>
                </a:lnTo>
                <a:lnTo>
                  <a:pt x="5651500" y="2809875"/>
                </a:lnTo>
                <a:lnTo>
                  <a:pt x="0" y="2809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36" name="Text 4"/>
          <p:cNvSpPr/>
          <p:nvPr/>
        </p:nvSpPr>
        <p:spPr>
          <a:xfrm>
            <a:off x="523800" y="1539720"/>
            <a:ext cx="538092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PRICE PERFORMANCE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37" name="Shape 5"/>
          <p:cNvSpPr/>
          <p:nvPr/>
        </p:nvSpPr>
        <p:spPr>
          <a:xfrm>
            <a:off x="539640" y="1936800"/>
            <a:ext cx="2547360" cy="1014840"/>
          </a:xfrm>
          <a:custGeom>
            <a:avLst/>
            <a:gdLst/>
            <a:ahLst/>
            <a:rect l="l" t="t" r="r" b="b"/>
            <a:pathLst>
              <a:path w="2547938" h="1016000">
                <a:moveTo>
                  <a:pt x="0" y="0"/>
                </a:moveTo>
                <a:lnTo>
                  <a:pt x="2547938" y="0"/>
                </a:lnTo>
                <a:lnTo>
                  <a:pt x="2547938" y="1016000"/>
                </a:lnTo>
                <a:lnTo>
                  <a:pt x="0" y="1016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38" name="Text 6"/>
          <p:cNvSpPr/>
          <p:nvPr/>
        </p:nvSpPr>
        <p:spPr>
          <a:xfrm>
            <a:off x="682560" y="2079720"/>
            <a:ext cx="232488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Current Price (Mar 2026)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39" name="Text 7"/>
          <p:cNvSpPr/>
          <p:nvPr/>
        </p:nvSpPr>
        <p:spPr>
          <a:xfrm>
            <a:off x="682560" y="2333520"/>
            <a:ext cx="240444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$74,532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40" name="Shape 8"/>
          <p:cNvSpPr/>
          <p:nvPr/>
        </p:nvSpPr>
        <p:spPr>
          <a:xfrm>
            <a:off x="3246480" y="1936800"/>
            <a:ext cx="2547360" cy="1014840"/>
          </a:xfrm>
          <a:custGeom>
            <a:avLst/>
            <a:gdLst/>
            <a:ahLst/>
            <a:rect l="l" t="t" r="r" b="b"/>
            <a:pathLst>
              <a:path w="2547938" h="1016000">
                <a:moveTo>
                  <a:pt x="0" y="0"/>
                </a:moveTo>
                <a:lnTo>
                  <a:pt x="2547938" y="0"/>
                </a:lnTo>
                <a:lnTo>
                  <a:pt x="2547938" y="1016000"/>
                </a:lnTo>
                <a:lnTo>
                  <a:pt x="0" y="1016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1" name="Text 9"/>
          <p:cNvSpPr/>
          <p:nvPr/>
        </p:nvSpPr>
        <p:spPr>
          <a:xfrm>
            <a:off x="3389400" y="2079720"/>
            <a:ext cx="232488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All-Time High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42" name="Text 10"/>
          <p:cNvSpPr/>
          <p:nvPr/>
        </p:nvSpPr>
        <p:spPr>
          <a:xfrm>
            <a:off x="3389400" y="2333520"/>
            <a:ext cx="240444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$126,173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43" name="Text 11"/>
          <p:cNvSpPr/>
          <p:nvPr/>
        </p:nvSpPr>
        <p:spPr>
          <a:xfrm>
            <a:off x="3389400" y="2651040"/>
            <a:ext cx="231696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October 6, 2025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44" name="Shape 12"/>
          <p:cNvSpPr/>
          <p:nvPr/>
        </p:nvSpPr>
        <p:spPr>
          <a:xfrm>
            <a:off x="539640" y="3111480"/>
            <a:ext cx="2547360" cy="856080"/>
          </a:xfrm>
          <a:custGeom>
            <a:avLst/>
            <a:gdLst/>
            <a:ahLst/>
            <a:rect l="l" t="t" r="r" b="b"/>
            <a:pathLst>
              <a:path w="2547938" h="857250">
                <a:moveTo>
                  <a:pt x="0" y="0"/>
                </a:moveTo>
                <a:lnTo>
                  <a:pt x="2547938" y="0"/>
                </a:lnTo>
                <a:lnTo>
                  <a:pt x="2547938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5" name="Text 13"/>
          <p:cNvSpPr/>
          <p:nvPr/>
        </p:nvSpPr>
        <p:spPr>
          <a:xfrm>
            <a:off x="682560" y="3254400"/>
            <a:ext cx="232488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Market Cap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46" name="Text 14"/>
          <p:cNvSpPr/>
          <p:nvPr/>
        </p:nvSpPr>
        <p:spPr>
          <a:xfrm>
            <a:off x="682560" y="3508200"/>
            <a:ext cx="240444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$1.47T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47" name="Shape 15"/>
          <p:cNvSpPr/>
          <p:nvPr/>
        </p:nvSpPr>
        <p:spPr>
          <a:xfrm>
            <a:off x="3246480" y="3111480"/>
            <a:ext cx="2547360" cy="856080"/>
          </a:xfrm>
          <a:custGeom>
            <a:avLst/>
            <a:gdLst/>
            <a:ahLst/>
            <a:rect l="l" t="t" r="r" b="b"/>
            <a:pathLst>
              <a:path w="2547938" h="857250">
                <a:moveTo>
                  <a:pt x="0" y="0"/>
                </a:moveTo>
                <a:lnTo>
                  <a:pt x="2547938" y="0"/>
                </a:lnTo>
                <a:lnTo>
                  <a:pt x="2547938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8" name="Text 16"/>
          <p:cNvSpPr/>
          <p:nvPr/>
        </p:nvSpPr>
        <p:spPr>
          <a:xfrm>
            <a:off x="3389400" y="3254400"/>
            <a:ext cx="232488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24h Volume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49" name="Text 17"/>
          <p:cNvSpPr/>
          <p:nvPr/>
        </p:nvSpPr>
        <p:spPr>
          <a:xfrm>
            <a:off x="3389400" y="3508200"/>
            <a:ext cx="240444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$28.5B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50" name="Shape 18"/>
          <p:cNvSpPr/>
          <p:nvPr/>
        </p:nvSpPr>
        <p:spPr>
          <a:xfrm>
            <a:off x="341280" y="4341960"/>
            <a:ext cx="5650920" cy="2999160"/>
          </a:xfrm>
          <a:custGeom>
            <a:avLst/>
            <a:gdLst/>
            <a:ahLst/>
            <a:rect l="l" t="t" r="r" b="b"/>
            <a:pathLst>
              <a:path w="5651500" h="3000375">
                <a:moveTo>
                  <a:pt x="0" y="0"/>
                </a:moveTo>
                <a:lnTo>
                  <a:pt x="5651500" y="0"/>
                </a:lnTo>
                <a:lnTo>
                  <a:pt x="5651500" y="3000375"/>
                </a:lnTo>
                <a:lnTo>
                  <a:pt x="0" y="3000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51" name="Text 19"/>
          <p:cNvSpPr/>
          <p:nvPr/>
        </p:nvSpPr>
        <p:spPr>
          <a:xfrm>
            <a:off x="523800" y="4524480"/>
            <a:ext cx="538092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HOLDINGS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52" name="Shape 20"/>
          <p:cNvSpPr/>
          <p:nvPr/>
        </p:nvSpPr>
        <p:spPr>
          <a:xfrm>
            <a:off x="539640" y="4921200"/>
            <a:ext cx="5253840" cy="63396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53" name="Text 21"/>
          <p:cNvSpPr/>
          <p:nvPr/>
        </p:nvSpPr>
        <p:spPr>
          <a:xfrm>
            <a:off x="650880" y="5064120"/>
            <a:ext cx="141984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Total Institutional BTC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54" name="Text 22"/>
          <p:cNvSpPr/>
          <p:nvPr/>
        </p:nvSpPr>
        <p:spPr>
          <a:xfrm>
            <a:off x="4704480" y="5032440"/>
            <a:ext cx="107064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1.4M+ BTC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55" name="Text 23"/>
          <p:cNvSpPr/>
          <p:nvPr/>
        </p:nvSpPr>
        <p:spPr>
          <a:xfrm>
            <a:off x="650880" y="5286240"/>
            <a:ext cx="508716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~7% of circulating supply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56" name="Shape 24"/>
          <p:cNvSpPr/>
          <p:nvPr/>
        </p:nvSpPr>
        <p:spPr>
          <a:xfrm>
            <a:off x="539640" y="5683320"/>
            <a:ext cx="5253840" cy="63396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57" name="Text 25"/>
          <p:cNvSpPr/>
          <p:nvPr/>
        </p:nvSpPr>
        <p:spPr>
          <a:xfrm>
            <a:off x="650880" y="5826240"/>
            <a:ext cx="196740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ETF Assets Under Management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58" name="Text 26"/>
          <p:cNvSpPr/>
          <p:nvPr/>
        </p:nvSpPr>
        <p:spPr>
          <a:xfrm>
            <a:off x="5117040" y="5794200"/>
            <a:ext cx="65772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$85B+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59" name="Text 27"/>
          <p:cNvSpPr/>
          <p:nvPr/>
        </p:nvSpPr>
        <p:spPr>
          <a:xfrm>
            <a:off x="650880" y="6048360"/>
            <a:ext cx="508716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BlackRock IBIT leads with $52B+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60" name="Shape 28"/>
          <p:cNvSpPr/>
          <p:nvPr/>
        </p:nvSpPr>
        <p:spPr>
          <a:xfrm>
            <a:off x="539640" y="6445080"/>
            <a:ext cx="5253840" cy="63396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1" name="Text 29"/>
          <p:cNvSpPr/>
          <p:nvPr/>
        </p:nvSpPr>
        <p:spPr>
          <a:xfrm>
            <a:off x="650880" y="6588000"/>
            <a:ext cx="14911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MicroStrategy Holdings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62" name="Text 30"/>
          <p:cNvSpPr/>
          <p:nvPr/>
        </p:nvSpPr>
        <p:spPr>
          <a:xfrm>
            <a:off x="4550400" y="6556320"/>
            <a:ext cx="122940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714,644 BTC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63" name="Text 31"/>
          <p:cNvSpPr/>
          <p:nvPr/>
        </p:nvSpPr>
        <p:spPr>
          <a:xfrm>
            <a:off x="650880" y="6810480"/>
            <a:ext cx="508716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Cost basis: $54.4B ($76,056/BTC)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64" name="Shape 32"/>
          <p:cNvSpPr/>
          <p:nvPr/>
        </p:nvSpPr>
        <p:spPr>
          <a:xfrm>
            <a:off x="6199560" y="1357200"/>
            <a:ext cx="5650920" cy="3824640"/>
          </a:xfrm>
          <a:custGeom>
            <a:avLst/>
            <a:gdLst/>
            <a:ahLst/>
            <a:rect l="l" t="t" r="r" b="b"/>
            <a:pathLst>
              <a:path w="5651500" h="3825875">
                <a:moveTo>
                  <a:pt x="0" y="0"/>
                </a:moveTo>
                <a:lnTo>
                  <a:pt x="5651500" y="0"/>
                </a:lnTo>
                <a:lnTo>
                  <a:pt x="5651500" y="3825875"/>
                </a:lnTo>
                <a:lnTo>
                  <a:pt x="0" y="3825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65" name="Text 33"/>
          <p:cNvSpPr/>
          <p:nvPr/>
        </p:nvSpPr>
        <p:spPr>
          <a:xfrm>
            <a:off x="6382080" y="1539720"/>
            <a:ext cx="538092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ON-CHAIN METRICS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66" name="Shape 34"/>
          <p:cNvSpPr/>
          <p:nvPr/>
        </p:nvSpPr>
        <p:spPr>
          <a:xfrm>
            <a:off x="6397920" y="1936800"/>
            <a:ext cx="5253840" cy="951480"/>
          </a:xfrm>
          <a:custGeom>
            <a:avLst/>
            <a:gdLst/>
            <a:ahLst/>
            <a:rect l="l" t="t" r="r" b="b"/>
            <a:pathLst>
              <a:path w="5254625" h="952500">
                <a:moveTo>
                  <a:pt x="0" y="0"/>
                </a:moveTo>
                <a:lnTo>
                  <a:pt x="5254625" y="0"/>
                </a:lnTo>
                <a:lnTo>
                  <a:pt x="5254625" y="952500"/>
                </a:lnTo>
                <a:lnTo>
                  <a:pt x="0" y="952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7" name="Text 35"/>
          <p:cNvSpPr/>
          <p:nvPr/>
        </p:nvSpPr>
        <p:spPr>
          <a:xfrm>
            <a:off x="6509160" y="2048040"/>
            <a:ext cx="509508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Long-Term Holder Supply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68" name="Text 36"/>
          <p:cNvSpPr/>
          <p:nvPr/>
        </p:nvSpPr>
        <p:spPr>
          <a:xfrm>
            <a:off x="6509160" y="2301840"/>
            <a:ext cx="59436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62%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69" name="Text 37"/>
          <p:cNvSpPr/>
          <p:nvPr/>
        </p:nvSpPr>
        <p:spPr>
          <a:xfrm>
            <a:off x="7080840" y="2365200"/>
            <a:ext cx="145152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of BTC unmoved for 1+ year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70" name="Shape 38"/>
          <p:cNvSpPr/>
          <p:nvPr/>
        </p:nvSpPr>
        <p:spPr>
          <a:xfrm>
            <a:off x="6525000" y="2666880"/>
            <a:ext cx="5000040" cy="94320"/>
          </a:xfrm>
          <a:custGeom>
            <a:avLst/>
            <a:gdLst/>
            <a:ah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1" name="Shape 39"/>
          <p:cNvSpPr/>
          <p:nvPr/>
        </p:nvSpPr>
        <p:spPr>
          <a:xfrm>
            <a:off x="6540840" y="2682720"/>
            <a:ext cx="3079080" cy="62280"/>
          </a:xfrm>
          <a:custGeom>
            <a:avLst/>
            <a:gdLst/>
            <a:ahLst/>
            <a:rect l="l" t="t" r="r" b="b"/>
            <a:pathLst>
              <a:path w="3079750" h="63500">
                <a:moveTo>
                  <a:pt x="0" y="0"/>
                </a:moveTo>
                <a:lnTo>
                  <a:pt x="3079750" y="0"/>
                </a:lnTo>
                <a:lnTo>
                  <a:pt x="307975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72" name="Shape 40"/>
          <p:cNvSpPr/>
          <p:nvPr/>
        </p:nvSpPr>
        <p:spPr>
          <a:xfrm>
            <a:off x="6397920" y="3016080"/>
            <a:ext cx="5253840" cy="919800"/>
          </a:xfrm>
          <a:custGeom>
            <a:avLst/>
            <a:gdLst/>
            <a:ahLst/>
            <a:rect l="l" t="t" r="r" b="b"/>
            <a:pathLst>
              <a:path w="5254625" h="920750">
                <a:moveTo>
                  <a:pt x="0" y="0"/>
                </a:moveTo>
                <a:lnTo>
                  <a:pt x="5254625" y="0"/>
                </a:lnTo>
                <a:lnTo>
                  <a:pt x="5254625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3" name="Text 41"/>
          <p:cNvSpPr/>
          <p:nvPr/>
        </p:nvSpPr>
        <p:spPr>
          <a:xfrm>
            <a:off x="6509160" y="3127320"/>
            <a:ext cx="509508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Lightning Network Volume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74" name="Text 42"/>
          <p:cNvSpPr/>
          <p:nvPr/>
        </p:nvSpPr>
        <p:spPr>
          <a:xfrm>
            <a:off x="6509160" y="3381480"/>
            <a:ext cx="515088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$1.17B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75" name="Text 43"/>
          <p:cNvSpPr/>
          <p:nvPr/>
        </p:nvSpPr>
        <p:spPr>
          <a:xfrm>
            <a:off x="6509160" y="3666960"/>
            <a:ext cx="508716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Monthly transaction volume (Nov 2025)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76" name="Shape 44"/>
          <p:cNvSpPr/>
          <p:nvPr/>
        </p:nvSpPr>
        <p:spPr>
          <a:xfrm>
            <a:off x="6397920" y="4064040"/>
            <a:ext cx="5253840" cy="919800"/>
          </a:xfrm>
          <a:custGeom>
            <a:avLst/>
            <a:gdLst/>
            <a:ahLst/>
            <a:rect l="l" t="t" r="r" b="b"/>
            <a:pathLst>
              <a:path w="5254625" h="920750">
                <a:moveTo>
                  <a:pt x="0" y="0"/>
                </a:moveTo>
                <a:lnTo>
                  <a:pt x="5254625" y="0"/>
                </a:lnTo>
                <a:lnTo>
                  <a:pt x="5254625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7" name="Text 45"/>
          <p:cNvSpPr/>
          <p:nvPr/>
        </p:nvSpPr>
        <p:spPr>
          <a:xfrm>
            <a:off x="6509160" y="4175280"/>
            <a:ext cx="509508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Network Hash Rate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78" name="Text 46"/>
          <p:cNvSpPr/>
          <p:nvPr/>
        </p:nvSpPr>
        <p:spPr>
          <a:xfrm>
            <a:off x="6509160" y="4429080"/>
            <a:ext cx="515088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880 EH/s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79" name="Text 47"/>
          <p:cNvSpPr/>
          <p:nvPr/>
        </p:nvSpPr>
        <p:spPr>
          <a:xfrm>
            <a:off x="6509160" y="4714920"/>
            <a:ext cx="508716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All-time high network security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80" name="Shape 48"/>
          <p:cNvSpPr/>
          <p:nvPr/>
        </p:nvSpPr>
        <p:spPr>
          <a:xfrm>
            <a:off x="6199560" y="5357880"/>
            <a:ext cx="5650920" cy="1983240"/>
          </a:xfrm>
          <a:custGeom>
            <a:avLst/>
            <a:gdLst/>
            <a:ahLst/>
            <a:rect l="l" t="t" r="r" b="b"/>
            <a:pathLst>
              <a:path w="5651500" h="1984375">
                <a:moveTo>
                  <a:pt x="0" y="0"/>
                </a:moveTo>
                <a:lnTo>
                  <a:pt x="5651500" y="0"/>
                </a:lnTo>
                <a:lnTo>
                  <a:pt x="5651500" y="1984375"/>
                </a:lnTo>
                <a:lnTo>
                  <a:pt x="0" y="1984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81" name="Text 49"/>
          <p:cNvSpPr/>
          <p:nvPr/>
        </p:nvSpPr>
        <p:spPr>
          <a:xfrm>
            <a:off x="6382080" y="5540400"/>
            <a:ext cx="538092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PERFORMANCE VS TRADITIONAL ASSETS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82" name="Text 50"/>
          <p:cNvSpPr/>
          <p:nvPr/>
        </p:nvSpPr>
        <p:spPr>
          <a:xfrm>
            <a:off x="6382080" y="5921280"/>
            <a:ext cx="534924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5-Year Returns (2020-2025):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83" name="Text 51"/>
          <p:cNvSpPr/>
          <p:nvPr/>
        </p:nvSpPr>
        <p:spPr>
          <a:xfrm>
            <a:off x="6382080" y="6207120"/>
            <a:ext cx="82440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84" name="Shape 52"/>
          <p:cNvSpPr/>
          <p:nvPr/>
        </p:nvSpPr>
        <p:spPr>
          <a:xfrm>
            <a:off x="7255080" y="6222960"/>
            <a:ext cx="4396680" cy="157680"/>
          </a:xfrm>
          <a:custGeom>
            <a:avLst/>
            <a:gdLst/>
            <a:ahLst/>
            <a:rect l="l" t="t" r="r" b="b"/>
            <a:pathLst>
              <a:path w="4397375" h="158750">
                <a:moveTo>
                  <a:pt x="0" y="0"/>
                </a:moveTo>
                <a:lnTo>
                  <a:pt x="4397375" y="0"/>
                </a:lnTo>
                <a:lnTo>
                  <a:pt x="4397375" y="158750"/>
                </a:lnTo>
                <a:lnTo>
                  <a:pt x="0" y="158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85" name="Shape 53"/>
          <p:cNvSpPr/>
          <p:nvPr/>
        </p:nvSpPr>
        <p:spPr>
          <a:xfrm>
            <a:off x="7271280" y="6238800"/>
            <a:ext cx="4365000" cy="126000"/>
          </a:xfrm>
          <a:custGeom>
            <a:avLst/>
            <a:gdLst/>
            <a:ahLst/>
            <a:rect l="l" t="t" r="r" b="b"/>
            <a:pathLst>
              <a:path w="4365625" h="127000">
                <a:moveTo>
                  <a:pt x="0" y="0"/>
                </a:moveTo>
                <a:lnTo>
                  <a:pt x="4365625" y="0"/>
                </a:lnTo>
                <a:lnTo>
                  <a:pt x="4365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6" name="Text 54"/>
          <p:cNvSpPr/>
          <p:nvPr/>
        </p:nvSpPr>
        <p:spPr>
          <a:xfrm>
            <a:off x="11224440" y="6222960"/>
            <a:ext cx="40356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ffffff"/>
                </a:solidFill>
                <a:latin typeface="MiSans"/>
                <a:ea typeface="MiSans"/>
              </a:rPr>
              <a:t>+940%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87" name="Text 55"/>
          <p:cNvSpPr/>
          <p:nvPr/>
        </p:nvSpPr>
        <p:spPr>
          <a:xfrm>
            <a:off x="6382080" y="6461280"/>
            <a:ext cx="82440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Nasdaq 100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88" name="Shape 56"/>
          <p:cNvSpPr/>
          <p:nvPr/>
        </p:nvSpPr>
        <p:spPr>
          <a:xfrm>
            <a:off x="7255080" y="6477120"/>
            <a:ext cx="4396680" cy="157680"/>
          </a:xfrm>
          <a:custGeom>
            <a:avLst/>
            <a:gdLst/>
            <a:ahLst/>
            <a:rect l="l" t="t" r="r" b="b"/>
            <a:pathLst>
              <a:path w="4397375" h="158750">
                <a:moveTo>
                  <a:pt x="0" y="0"/>
                </a:moveTo>
                <a:lnTo>
                  <a:pt x="4397375" y="0"/>
                </a:lnTo>
                <a:lnTo>
                  <a:pt x="4397375" y="158750"/>
                </a:lnTo>
                <a:lnTo>
                  <a:pt x="0" y="158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89" name="Shape 57"/>
          <p:cNvSpPr/>
          <p:nvPr/>
        </p:nvSpPr>
        <p:spPr>
          <a:xfrm>
            <a:off x="7271280" y="6492960"/>
            <a:ext cx="522720" cy="126000"/>
          </a:xfrm>
          <a:custGeom>
            <a:avLst/>
            <a:gdLst/>
            <a:ahLst/>
            <a:rect l="l" t="t" r="r" b="b"/>
            <a:pathLst>
              <a:path w="523875" h="127000">
                <a:moveTo>
                  <a:pt x="0" y="0"/>
                </a:moveTo>
                <a:lnTo>
                  <a:pt x="523875" y="0"/>
                </a:lnTo>
                <a:lnTo>
                  <a:pt x="52387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4a556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0" name="Text 58"/>
          <p:cNvSpPr/>
          <p:nvPr/>
        </p:nvSpPr>
        <p:spPr>
          <a:xfrm>
            <a:off x="7382520" y="6477120"/>
            <a:ext cx="40356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ffffff"/>
                </a:solidFill>
                <a:latin typeface="MiSans"/>
                <a:ea typeface="MiSans"/>
              </a:rPr>
              <a:t>+110%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91" name="Text 59"/>
          <p:cNvSpPr/>
          <p:nvPr/>
        </p:nvSpPr>
        <p:spPr>
          <a:xfrm>
            <a:off x="6382080" y="6715080"/>
            <a:ext cx="82440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S&amp;P 500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92" name="Shape 60"/>
          <p:cNvSpPr/>
          <p:nvPr/>
        </p:nvSpPr>
        <p:spPr>
          <a:xfrm>
            <a:off x="7255080" y="6730920"/>
            <a:ext cx="4396680" cy="157680"/>
          </a:xfrm>
          <a:custGeom>
            <a:avLst/>
            <a:gdLst/>
            <a:ahLst/>
            <a:rect l="l" t="t" r="r" b="b"/>
            <a:pathLst>
              <a:path w="4397375" h="158750">
                <a:moveTo>
                  <a:pt x="0" y="0"/>
                </a:moveTo>
                <a:lnTo>
                  <a:pt x="4397375" y="0"/>
                </a:lnTo>
                <a:lnTo>
                  <a:pt x="4397375" y="158750"/>
                </a:lnTo>
                <a:lnTo>
                  <a:pt x="0" y="158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93" name="Shape 61"/>
          <p:cNvSpPr/>
          <p:nvPr/>
        </p:nvSpPr>
        <p:spPr>
          <a:xfrm>
            <a:off x="7271280" y="6746760"/>
            <a:ext cx="395640" cy="126000"/>
          </a:xfrm>
          <a:custGeom>
            <a:avLst/>
            <a:gdLst/>
            <a:ahLst/>
            <a:rect l="l" t="t" r="r" b="b"/>
            <a:pathLst>
              <a:path w="396875" h="127000">
                <a:moveTo>
                  <a:pt x="0" y="0"/>
                </a:moveTo>
                <a:lnTo>
                  <a:pt x="396875" y="0"/>
                </a:lnTo>
                <a:lnTo>
                  <a:pt x="39687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6a72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4" name="Text 62"/>
          <p:cNvSpPr/>
          <p:nvPr/>
        </p:nvSpPr>
        <p:spPr>
          <a:xfrm>
            <a:off x="7313040" y="6730920"/>
            <a:ext cx="34020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ffffff"/>
                </a:solidFill>
                <a:latin typeface="MiSans"/>
                <a:ea typeface="MiSans"/>
              </a:rPr>
              <a:t>+80%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95" name="Text 63"/>
          <p:cNvSpPr/>
          <p:nvPr/>
        </p:nvSpPr>
        <p:spPr>
          <a:xfrm>
            <a:off x="6382080" y="6969240"/>
            <a:ext cx="82440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Gold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96" name="Shape 64"/>
          <p:cNvSpPr/>
          <p:nvPr/>
        </p:nvSpPr>
        <p:spPr>
          <a:xfrm>
            <a:off x="7255080" y="6985080"/>
            <a:ext cx="4396680" cy="157680"/>
          </a:xfrm>
          <a:custGeom>
            <a:avLst/>
            <a:gdLst/>
            <a:ahLst/>
            <a:rect l="l" t="t" r="r" b="b"/>
            <a:pathLst>
              <a:path w="4397375" h="158750">
                <a:moveTo>
                  <a:pt x="0" y="0"/>
                </a:moveTo>
                <a:lnTo>
                  <a:pt x="4397375" y="0"/>
                </a:lnTo>
                <a:lnTo>
                  <a:pt x="4397375" y="158750"/>
                </a:lnTo>
                <a:lnTo>
                  <a:pt x="0" y="158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97" name="Shape 65"/>
          <p:cNvSpPr/>
          <p:nvPr/>
        </p:nvSpPr>
        <p:spPr>
          <a:xfrm>
            <a:off x="7271280" y="7000920"/>
            <a:ext cx="173520" cy="126000"/>
          </a:xfrm>
          <a:custGeom>
            <a:avLst/>
            <a:gdLst/>
            <a:ahLst/>
            <a:rect l="l" t="t" r="r" b="b"/>
            <a:pathLst>
              <a:path w="174625" h="127000">
                <a:moveTo>
                  <a:pt x="0" y="0"/>
                </a:moveTo>
                <a:lnTo>
                  <a:pt x="174625" y="0"/>
                </a:lnTo>
                <a:lnTo>
                  <a:pt x="174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d087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8" name="Text 66"/>
          <p:cNvSpPr/>
          <p:nvPr/>
        </p:nvSpPr>
        <p:spPr>
          <a:xfrm>
            <a:off x="7094880" y="6985080"/>
            <a:ext cx="34020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ffffff"/>
                </a:solidFill>
                <a:latin typeface="MiSans"/>
                <a:ea typeface="MiSans"/>
              </a:rPr>
              <a:t>+25%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Image 0"/>
          <p:cNvSpPr/>
          <p:nvPr/>
        </p:nvSpPr>
        <p:spPr>
          <a:xfrm>
            <a:off x="0" y="0"/>
            <a:ext cx="12192120" cy="685692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0" name="Shape 0"/>
          <p:cNvSpPr/>
          <p:nvPr/>
        </p:nvSpPr>
        <p:spPr>
          <a:xfrm>
            <a:off x="0" y="0"/>
            <a:ext cx="12192120" cy="68569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1" name="Shape 1"/>
          <p:cNvSpPr/>
          <p:nvPr/>
        </p:nvSpPr>
        <p:spPr>
          <a:xfrm>
            <a:off x="3305160" y="352440"/>
            <a:ext cx="8476920" cy="481860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02" name="Shape 2"/>
          <p:cNvSpPr/>
          <p:nvPr/>
        </p:nvSpPr>
        <p:spPr>
          <a:xfrm>
            <a:off x="10078200" y="838080"/>
            <a:ext cx="75240" cy="91332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3" name="Shape 3"/>
          <p:cNvSpPr/>
          <p:nvPr/>
        </p:nvSpPr>
        <p:spPr>
          <a:xfrm>
            <a:off x="10411560" y="866880"/>
            <a:ext cx="856080" cy="85608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04" name="Text 4"/>
          <p:cNvSpPr/>
          <p:nvPr/>
        </p:nvSpPr>
        <p:spPr>
          <a:xfrm>
            <a:off x="10268640" y="838080"/>
            <a:ext cx="1027800" cy="79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06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505" name="Text 5"/>
          <p:cNvSpPr/>
          <p:nvPr/>
        </p:nvSpPr>
        <p:spPr>
          <a:xfrm>
            <a:off x="3448080" y="2057400"/>
            <a:ext cx="7848360" cy="171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ADOPTION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506" name="Shape 6"/>
          <p:cNvSpPr/>
          <p:nvPr/>
        </p:nvSpPr>
        <p:spPr>
          <a:xfrm>
            <a:off x="9468720" y="4000680"/>
            <a:ext cx="1827720" cy="7524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7" name="Text 7"/>
          <p:cNvSpPr/>
          <p:nvPr/>
        </p:nvSpPr>
        <p:spPr>
          <a:xfrm>
            <a:off x="3619440" y="4305240"/>
            <a:ext cx="767664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Wall Street Embraces Bitcoin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508" name="Shape 8"/>
          <p:cNvSpPr/>
          <p:nvPr/>
        </p:nvSpPr>
        <p:spPr>
          <a:xfrm>
            <a:off x="5199120" y="5686560"/>
            <a:ext cx="6581520" cy="817920"/>
          </a:xfrm>
          <a:custGeom>
            <a:avLst/>
            <a:gdLst/>
            <a:ahLst/>
            <a:rect l="l" t="t" r="r" b="b"/>
            <a:pathLst>
              <a:path w="6581775" h="819150">
                <a:moveTo>
                  <a:pt x="0" y="0"/>
                </a:moveTo>
                <a:lnTo>
                  <a:pt x="6581775" y="0"/>
                </a:lnTo>
                <a:lnTo>
                  <a:pt x="658177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09" name="Text 9"/>
          <p:cNvSpPr/>
          <p:nvPr/>
        </p:nvSpPr>
        <p:spPr>
          <a:xfrm>
            <a:off x="5456520" y="5943600"/>
            <a:ext cx="61812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From Fringe Asset to Mainstream Portfolio Allocation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Shape 0"/>
          <p:cNvSpPr/>
          <p:nvPr/>
        </p:nvSpPr>
        <p:spPr>
          <a:xfrm>
            <a:off x="341280" y="341280"/>
            <a:ext cx="11509200" cy="84024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1" name="Text 1"/>
          <p:cNvSpPr/>
          <p:nvPr/>
        </p:nvSpPr>
        <p:spPr>
          <a:xfrm>
            <a:off x="523800" y="523800"/>
            <a:ext cx="1128708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FROM FRINGE TO MAINSTREAM: INSTITUTIONAL ENTRY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512" name="Shape 2"/>
          <p:cNvSpPr/>
          <p:nvPr/>
        </p:nvSpPr>
        <p:spPr>
          <a:xfrm>
            <a:off x="523800" y="936720"/>
            <a:ext cx="761040" cy="6228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3" name="Shape 3"/>
          <p:cNvSpPr/>
          <p:nvPr/>
        </p:nvSpPr>
        <p:spPr>
          <a:xfrm>
            <a:off x="341280" y="1357200"/>
            <a:ext cx="5650920" cy="1951560"/>
          </a:xfrm>
          <a:custGeom>
            <a:avLst/>
            <a:gdLst/>
            <a:ahLst/>
            <a:rect l="l" t="t" r="r" b="b"/>
            <a:pathLst>
              <a:path w="5651500" h="1952625">
                <a:moveTo>
                  <a:pt x="0" y="0"/>
                </a:moveTo>
                <a:lnTo>
                  <a:pt x="5651500" y="0"/>
                </a:lnTo>
                <a:lnTo>
                  <a:pt x="5651500" y="1952625"/>
                </a:lnTo>
                <a:lnTo>
                  <a:pt x="0" y="1952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14" name="Shape 4"/>
          <p:cNvSpPr/>
          <p:nvPr/>
        </p:nvSpPr>
        <p:spPr>
          <a:xfrm>
            <a:off x="547560" y="1563840"/>
            <a:ext cx="395640" cy="39564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5" name="Text 5"/>
          <p:cNvSpPr/>
          <p:nvPr/>
        </p:nvSpPr>
        <p:spPr>
          <a:xfrm>
            <a:off x="476280" y="1539720"/>
            <a:ext cx="443520" cy="34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16" name="Text 6"/>
          <p:cNvSpPr/>
          <p:nvPr/>
        </p:nvSpPr>
        <p:spPr>
          <a:xfrm>
            <a:off x="1095480" y="1539720"/>
            <a:ext cx="480924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JANUARY 2024: THE TURNING POINT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17" name="Text 7"/>
          <p:cNvSpPr/>
          <p:nvPr/>
        </p:nvSpPr>
        <p:spPr>
          <a:xfrm>
            <a:off x="1095480" y="1857240"/>
            <a:ext cx="4777560" cy="41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SEC approves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11 spot Bitcoin ETFs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, marking the most successful ETF launch in history. This removed the final barrier for institutional capital.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18" name="Shape 8"/>
          <p:cNvSpPr/>
          <p:nvPr/>
        </p:nvSpPr>
        <p:spPr>
          <a:xfrm>
            <a:off x="539640" y="2413080"/>
            <a:ext cx="1665720" cy="697320"/>
          </a:xfrm>
          <a:custGeom>
            <a:avLst/>
            <a:gdLst/>
            <a:ahLst/>
            <a:rect l="l" t="t" r="r" b="b"/>
            <a:pathLst>
              <a:path w="1666875" h="698500">
                <a:moveTo>
                  <a:pt x="0" y="0"/>
                </a:moveTo>
                <a:lnTo>
                  <a:pt x="1666875" y="0"/>
                </a:lnTo>
                <a:lnTo>
                  <a:pt x="1666875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9" name="Text 9"/>
          <p:cNvSpPr/>
          <p:nvPr/>
        </p:nvSpPr>
        <p:spPr>
          <a:xfrm>
            <a:off x="591480" y="2523960"/>
            <a:ext cx="156276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$52B+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520" name="Text 10"/>
          <p:cNvSpPr/>
          <p:nvPr/>
        </p:nvSpPr>
        <p:spPr>
          <a:xfrm>
            <a:off x="623160" y="2841480"/>
            <a:ext cx="149904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BlackRock IBIT AUM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21" name="Shape 11"/>
          <p:cNvSpPr/>
          <p:nvPr/>
        </p:nvSpPr>
        <p:spPr>
          <a:xfrm>
            <a:off x="2333520" y="2413080"/>
            <a:ext cx="1665720" cy="697320"/>
          </a:xfrm>
          <a:custGeom>
            <a:avLst/>
            <a:gdLst/>
            <a:ahLst/>
            <a:rect l="l" t="t" r="r" b="b"/>
            <a:pathLst>
              <a:path w="1666875" h="698500">
                <a:moveTo>
                  <a:pt x="0" y="0"/>
                </a:moveTo>
                <a:lnTo>
                  <a:pt x="1666875" y="0"/>
                </a:lnTo>
                <a:lnTo>
                  <a:pt x="1666875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2" name="Text 12"/>
          <p:cNvSpPr/>
          <p:nvPr/>
        </p:nvSpPr>
        <p:spPr>
          <a:xfrm>
            <a:off x="2385360" y="2523960"/>
            <a:ext cx="156276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$85B+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523" name="Text 13"/>
          <p:cNvSpPr/>
          <p:nvPr/>
        </p:nvSpPr>
        <p:spPr>
          <a:xfrm>
            <a:off x="2417040" y="2841480"/>
            <a:ext cx="149904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Total ETF AUM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24" name="Shape 14"/>
          <p:cNvSpPr/>
          <p:nvPr/>
        </p:nvSpPr>
        <p:spPr>
          <a:xfrm>
            <a:off x="4127760" y="2413080"/>
            <a:ext cx="1665720" cy="697320"/>
          </a:xfrm>
          <a:custGeom>
            <a:avLst/>
            <a:gdLst/>
            <a:ahLst/>
            <a:rect l="l" t="t" r="r" b="b"/>
            <a:pathLst>
              <a:path w="1666875" h="698500">
                <a:moveTo>
                  <a:pt x="0" y="0"/>
                </a:moveTo>
                <a:lnTo>
                  <a:pt x="1666875" y="0"/>
                </a:lnTo>
                <a:lnTo>
                  <a:pt x="1666875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5" name="Text 15"/>
          <p:cNvSpPr/>
          <p:nvPr/>
        </p:nvSpPr>
        <p:spPr>
          <a:xfrm>
            <a:off x="4179600" y="2523960"/>
            <a:ext cx="156276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1 Year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526" name="Text 16"/>
          <p:cNvSpPr/>
          <p:nvPr/>
        </p:nvSpPr>
        <p:spPr>
          <a:xfrm>
            <a:off x="4211280" y="2841480"/>
            <a:ext cx="149904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To Reach $50B+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27" name="Shape 17"/>
          <p:cNvSpPr/>
          <p:nvPr/>
        </p:nvSpPr>
        <p:spPr>
          <a:xfrm>
            <a:off x="341280" y="3484440"/>
            <a:ext cx="5650920" cy="5221800"/>
          </a:xfrm>
          <a:custGeom>
            <a:avLst/>
            <a:gdLst/>
            <a:ahLst/>
            <a:rect l="l" t="t" r="r" b="b"/>
            <a:pathLst>
              <a:path w="5651500" h="5222875">
                <a:moveTo>
                  <a:pt x="0" y="0"/>
                </a:moveTo>
                <a:lnTo>
                  <a:pt x="5651500" y="0"/>
                </a:lnTo>
                <a:lnTo>
                  <a:pt x="5651500" y="5222875"/>
                </a:lnTo>
                <a:lnTo>
                  <a:pt x="0" y="5222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28" name="Text 18"/>
          <p:cNvSpPr/>
          <p:nvPr/>
        </p:nvSpPr>
        <p:spPr>
          <a:xfrm>
            <a:off x="523800" y="3666960"/>
            <a:ext cx="538092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KEY INSTITUTIONAL PLAYERS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29" name="Shape 19"/>
          <p:cNvSpPr/>
          <p:nvPr/>
        </p:nvSpPr>
        <p:spPr>
          <a:xfrm>
            <a:off x="539640" y="4064040"/>
            <a:ext cx="5253840" cy="665640"/>
          </a:xfrm>
          <a:custGeom>
            <a:avLst/>
            <a:gdLst/>
            <a:ahLst/>
            <a:rect l="l" t="t" r="r" b="b"/>
            <a:pathLst>
              <a:path w="5254625" h="666750">
                <a:moveTo>
                  <a:pt x="0" y="0"/>
                </a:moveTo>
                <a:lnTo>
                  <a:pt x="5254625" y="0"/>
                </a:lnTo>
                <a:lnTo>
                  <a:pt x="5254625" y="666750"/>
                </a:lnTo>
                <a:lnTo>
                  <a:pt x="0" y="666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30" name="Text 20"/>
          <p:cNvSpPr/>
          <p:nvPr/>
        </p:nvSpPr>
        <p:spPr>
          <a:xfrm>
            <a:off x="650880" y="4175280"/>
            <a:ext cx="261864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MicroStrategy (Strategy)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531" name="Text 21"/>
          <p:cNvSpPr/>
          <p:nvPr/>
        </p:nvSpPr>
        <p:spPr>
          <a:xfrm>
            <a:off x="650880" y="4429080"/>
            <a:ext cx="26107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Pioneered corporate treasury Bitcoin strategy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32" name="Text 22"/>
          <p:cNvSpPr/>
          <p:nvPr/>
        </p:nvSpPr>
        <p:spPr>
          <a:xfrm>
            <a:off x="4455360" y="4175280"/>
            <a:ext cx="122940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714,644 BTC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33" name="Text 23"/>
          <p:cNvSpPr/>
          <p:nvPr/>
        </p:nvSpPr>
        <p:spPr>
          <a:xfrm>
            <a:off x="4494960" y="4429080"/>
            <a:ext cx="118944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$54.4B value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34" name="Shape 24"/>
          <p:cNvSpPr/>
          <p:nvPr/>
        </p:nvSpPr>
        <p:spPr>
          <a:xfrm>
            <a:off x="539640" y="4857840"/>
            <a:ext cx="5253840" cy="665640"/>
          </a:xfrm>
          <a:custGeom>
            <a:avLst/>
            <a:gdLst/>
            <a:ahLst/>
            <a:rect l="l" t="t" r="r" b="b"/>
            <a:pathLst>
              <a:path w="5254625" h="666750">
                <a:moveTo>
                  <a:pt x="0" y="0"/>
                </a:moveTo>
                <a:lnTo>
                  <a:pt x="5254625" y="0"/>
                </a:lnTo>
                <a:lnTo>
                  <a:pt x="5254625" y="666750"/>
                </a:lnTo>
                <a:lnTo>
                  <a:pt x="0" y="666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35" name="Text 25"/>
          <p:cNvSpPr/>
          <p:nvPr/>
        </p:nvSpPr>
        <p:spPr>
          <a:xfrm>
            <a:off x="650880" y="4968720"/>
            <a:ext cx="215028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Tesla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536" name="Text 26"/>
          <p:cNvSpPr/>
          <p:nvPr/>
        </p:nvSpPr>
        <p:spPr>
          <a:xfrm>
            <a:off x="650880" y="5222880"/>
            <a:ext cx="21423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Added BTC to balance sheet in 2021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37" name="Text 27"/>
          <p:cNvSpPr/>
          <p:nvPr/>
        </p:nvSpPr>
        <p:spPr>
          <a:xfrm>
            <a:off x="4561200" y="4968720"/>
            <a:ext cx="111816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11,509 BTC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38" name="Text 28"/>
          <p:cNvSpPr/>
          <p:nvPr/>
        </p:nvSpPr>
        <p:spPr>
          <a:xfrm>
            <a:off x="4600800" y="5222880"/>
            <a:ext cx="107856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~$850M value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39" name="Shape 29"/>
          <p:cNvSpPr/>
          <p:nvPr/>
        </p:nvSpPr>
        <p:spPr>
          <a:xfrm>
            <a:off x="539640" y="5651640"/>
            <a:ext cx="5253840" cy="665640"/>
          </a:xfrm>
          <a:custGeom>
            <a:avLst/>
            <a:gdLst/>
            <a:ahLst/>
            <a:rect l="l" t="t" r="r" b="b"/>
            <a:pathLst>
              <a:path w="5254625" h="666750">
                <a:moveTo>
                  <a:pt x="0" y="0"/>
                </a:moveTo>
                <a:lnTo>
                  <a:pt x="5254625" y="0"/>
                </a:lnTo>
                <a:lnTo>
                  <a:pt x="5254625" y="666750"/>
                </a:lnTo>
                <a:lnTo>
                  <a:pt x="0" y="666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40" name="Text 30"/>
          <p:cNvSpPr/>
          <p:nvPr/>
        </p:nvSpPr>
        <p:spPr>
          <a:xfrm>
            <a:off x="650880" y="5762520"/>
            <a:ext cx="212652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Block (Square)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541" name="Text 31"/>
          <p:cNvSpPr/>
          <p:nvPr/>
        </p:nvSpPr>
        <p:spPr>
          <a:xfrm>
            <a:off x="650880" y="6016680"/>
            <a:ext cx="211860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Financial services embracing Bitcoin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42" name="Text 32"/>
          <p:cNvSpPr/>
          <p:nvPr/>
        </p:nvSpPr>
        <p:spPr>
          <a:xfrm>
            <a:off x="4667040" y="5762520"/>
            <a:ext cx="101484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8,027 BTC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43" name="Text 33"/>
          <p:cNvSpPr/>
          <p:nvPr/>
        </p:nvSpPr>
        <p:spPr>
          <a:xfrm>
            <a:off x="4707000" y="6016680"/>
            <a:ext cx="97524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~$600M value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44" name="Shape 34"/>
          <p:cNvSpPr/>
          <p:nvPr/>
        </p:nvSpPr>
        <p:spPr>
          <a:xfrm>
            <a:off x="6199560" y="1357200"/>
            <a:ext cx="5650920" cy="4713840"/>
          </a:xfrm>
          <a:custGeom>
            <a:avLst/>
            <a:gdLst/>
            <a:ahLst/>
            <a:rect l="l" t="t" r="r" b="b"/>
            <a:pathLst>
              <a:path w="5651500" h="4714875">
                <a:moveTo>
                  <a:pt x="0" y="0"/>
                </a:moveTo>
                <a:lnTo>
                  <a:pt x="5651500" y="0"/>
                </a:lnTo>
                <a:lnTo>
                  <a:pt x="5651500" y="4714875"/>
                </a:lnTo>
                <a:lnTo>
                  <a:pt x="0" y="4714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45" name="Text 35"/>
          <p:cNvSpPr/>
          <p:nvPr/>
        </p:nvSpPr>
        <p:spPr>
          <a:xfrm>
            <a:off x="6382080" y="1539720"/>
            <a:ext cx="538092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THREE-PHASE ADOPTION TIMELINE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46" name="Shape 36"/>
          <p:cNvSpPr/>
          <p:nvPr/>
        </p:nvSpPr>
        <p:spPr>
          <a:xfrm>
            <a:off x="6397920" y="1936800"/>
            <a:ext cx="5253840" cy="1205280"/>
          </a:xfrm>
          <a:custGeom>
            <a:avLst/>
            <a:gdLst/>
            <a:ahLst/>
            <a:rect l="l" t="t" r="r" b="b"/>
            <a:pathLst>
              <a:path w="5254625" h="1206500">
                <a:moveTo>
                  <a:pt x="0" y="0"/>
                </a:moveTo>
                <a:lnTo>
                  <a:pt x="5254625" y="0"/>
                </a:lnTo>
                <a:lnTo>
                  <a:pt x="5254625" y="1206500"/>
                </a:lnTo>
                <a:lnTo>
                  <a:pt x="0" y="1206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47" name="Shape 37"/>
          <p:cNvSpPr/>
          <p:nvPr/>
        </p:nvSpPr>
        <p:spPr>
          <a:xfrm>
            <a:off x="6564600" y="2103480"/>
            <a:ext cx="268920" cy="26892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48" name="Text 38"/>
          <p:cNvSpPr/>
          <p:nvPr/>
        </p:nvSpPr>
        <p:spPr>
          <a:xfrm>
            <a:off x="6509160" y="2079720"/>
            <a:ext cx="28476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1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49" name="Text 39"/>
          <p:cNvSpPr/>
          <p:nvPr/>
        </p:nvSpPr>
        <p:spPr>
          <a:xfrm>
            <a:off x="6953760" y="2127240"/>
            <a:ext cx="84024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2025-2027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550" name="Text 40"/>
          <p:cNvSpPr/>
          <p:nvPr/>
        </p:nvSpPr>
        <p:spPr>
          <a:xfrm>
            <a:off x="6540840" y="2460600"/>
            <a:ext cx="50317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Pension &amp; 401(k) Integration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51" name="Text 41"/>
          <p:cNvSpPr/>
          <p:nvPr/>
        </p:nvSpPr>
        <p:spPr>
          <a:xfrm>
            <a:off x="6540840" y="2682720"/>
            <a:ext cx="50238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Early pension fund allocations, 401(k) plans add Bitcoin ETF options, 2-5% standard allocation models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52" name="Shape 42"/>
          <p:cNvSpPr/>
          <p:nvPr/>
        </p:nvSpPr>
        <p:spPr>
          <a:xfrm>
            <a:off x="6397920" y="3301920"/>
            <a:ext cx="5253840" cy="1205280"/>
          </a:xfrm>
          <a:custGeom>
            <a:avLst/>
            <a:gdLst/>
            <a:ahLst/>
            <a:rect l="l" t="t" r="r" b="b"/>
            <a:pathLst>
              <a:path w="5254625" h="1206500">
                <a:moveTo>
                  <a:pt x="0" y="0"/>
                </a:moveTo>
                <a:lnTo>
                  <a:pt x="5254625" y="0"/>
                </a:lnTo>
                <a:lnTo>
                  <a:pt x="5254625" y="1206500"/>
                </a:lnTo>
                <a:lnTo>
                  <a:pt x="0" y="1206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53" name="Shape 43"/>
          <p:cNvSpPr/>
          <p:nvPr/>
        </p:nvSpPr>
        <p:spPr>
          <a:xfrm>
            <a:off x="6564600" y="3468600"/>
            <a:ext cx="268920" cy="26892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54" name="Text 44"/>
          <p:cNvSpPr/>
          <p:nvPr/>
        </p:nvSpPr>
        <p:spPr>
          <a:xfrm>
            <a:off x="6509160" y="3444840"/>
            <a:ext cx="28476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2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55" name="Text 45"/>
          <p:cNvSpPr/>
          <p:nvPr/>
        </p:nvSpPr>
        <p:spPr>
          <a:xfrm>
            <a:off x="6953760" y="3492360"/>
            <a:ext cx="84024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2028-2030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556" name="Text 46"/>
          <p:cNvSpPr/>
          <p:nvPr/>
        </p:nvSpPr>
        <p:spPr>
          <a:xfrm>
            <a:off x="6540840" y="3825720"/>
            <a:ext cx="50317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Corporate Treasury Expansion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57" name="Text 47"/>
          <p:cNvSpPr/>
          <p:nvPr/>
        </p:nvSpPr>
        <p:spPr>
          <a:xfrm>
            <a:off x="6540840" y="4048200"/>
            <a:ext cx="50238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European/Asian ETFs launch, 2028 halving cuts supply, corporate treasuries follow MicroStrategy model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58" name="Shape 48"/>
          <p:cNvSpPr/>
          <p:nvPr/>
        </p:nvSpPr>
        <p:spPr>
          <a:xfrm>
            <a:off x="6397920" y="4667400"/>
            <a:ext cx="5253840" cy="1205280"/>
          </a:xfrm>
          <a:custGeom>
            <a:avLst/>
            <a:gdLst/>
            <a:ahLst/>
            <a:rect l="l" t="t" r="r" b="b"/>
            <a:pathLst>
              <a:path w="5254625" h="1206500">
                <a:moveTo>
                  <a:pt x="0" y="0"/>
                </a:moveTo>
                <a:lnTo>
                  <a:pt x="5254625" y="0"/>
                </a:lnTo>
                <a:lnTo>
                  <a:pt x="5254625" y="1206500"/>
                </a:lnTo>
                <a:lnTo>
                  <a:pt x="0" y="1206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59" name="Shape 49"/>
          <p:cNvSpPr/>
          <p:nvPr/>
        </p:nvSpPr>
        <p:spPr>
          <a:xfrm>
            <a:off x="6564600" y="4834080"/>
            <a:ext cx="268920" cy="26892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60" name="Text 50"/>
          <p:cNvSpPr/>
          <p:nvPr/>
        </p:nvSpPr>
        <p:spPr>
          <a:xfrm>
            <a:off x="6509160" y="4809960"/>
            <a:ext cx="28476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3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61" name="Text 51"/>
          <p:cNvSpPr/>
          <p:nvPr/>
        </p:nvSpPr>
        <p:spPr>
          <a:xfrm>
            <a:off x="6953760" y="4857840"/>
            <a:ext cx="84024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2030-2032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562" name="Text 52"/>
          <p:cNvSpPr/>
          <p:nvPr/>
        </p:nvSpPr>
        <p:spPr>
          <a:xfrm>
            <a:off x="6540840" y="5191200"/>
            <a:ext cx="50317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Infrastructure Embedding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63" name="Text 53"/>
          <p:cNvSpPr/>
          <p:nvPr/>
        </p:nvSpPr>
        <p:spPr>
          <a:xfrm>
            <a:off x="6540840" y="5413320"/>
            <a:ext cx="50238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becomes operational infrastructure for custody, lending, trading services. Switching costs make removal prohibitively expensive.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64" name="Shape 54"/>
          <p:cNvSpPr/>
          <p:nvPr/>
        </p:nvSpPr>
        <p:spPr>
          <a:xfrm>
            <a:off x="6199560" y="6246720"/>
            <a:ext cx="5650920" cy="2459520"/>
          </a:xfrm>
          <a:custGeom>
            <a:avLst/>
            <a:gdLst/>
            <a:ahLst/>
            <a:rect l="l" t="t" r="r" b="b"/>
            <a:pathLst>
              <a:path w="5651500" h="2460625">
                <a:moveTo>
                  <a:pt x="0" y="0"/>
                </a:moveTo>
                <a:lnTo>
                  <a:pt x="5651500" y="0"/>
                </a:lnTo>
                <a:lnTo>
                  <a:pt x="5651500" y="2460625"/>
                </a:lnTo>
                <a:lnTo>
                  <a:pt x="0" y="2460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65" name="Text 55"/>
          <p:cNvSpPr/>
          <p:nvPr/>
        </p:nvSpPr>
        <p:spPr>
          <a:xfrm>
            <a:off x="6382080" y="6429240"/>
            <a:ext cx="538092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MAJOR BANKS ENTERING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66" name="Shape 56"/>
          <p:cNvSpPr/>
          <p:nvPr/>
        </p:nvSpPr>
        <p:spPr>
          <a:xfrm>
            <a:off x="6397920" y="6826320"/>
            <a:ext cx="5253840" cy="348120"/>
          </a:xfrm>
          <a:custGeom>
            <a:avLst/>
            <a:gdLst/>
            <a:ahLst/>
            <a:rect l="l" t="t" r="r" b="b"/>
            <a:pathLst>
              <a:path w="5254625" h="349250">
                <a:moveTo>
                  <a:pt x="0" y="0"/>
                </a:moveTo>
                <a:lnTo>
                  <a:pt x="5254625" y="0"/>
                </a:lnTo>
                <a:lnTo>
                  <a:pt x="5254625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67" name="Shape 57"/>
          <p:cNvSpPr/>
          <p:nvPr/>
        </p:nvSpPr>
        <p:spPr>
          <a:xfrm>
            <a:off x="6477480" y="6969240"/>
            <a:ext cx="62280" cy="6228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8" name="Text 58"/>
          <p:cNvSpPr/>
          <p:nvPr/>
        </p:nvSpPr>
        <p:spPr>
          <a:xfrm>
            <a:off x="6636240" y="6905520"/>
            <a:ext cx="6735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JPMorgan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69" name="Text 59"/>
          <p:cNvSpPr/>
          <p:nvPr/>
        </p:nvSpPr>
        <p:spPr>
          <a:xfrm>
            <a:off x="7345440" y="6921360"/>
            <a:ext cx="141984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Accepting BTC as collateral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70" name="Shape 60"/>
          <p:cNvSpPr/>
          <p:nvPr/>
        </p:nvSpPr>
        <p:spPr>
          <a:xfrm>
            <a:off x="6397920" y="7270920"/>
            <a:ext cx="5253840" cy="348120"/>
          </a:xfrm>
          <a:custGeom>
            <a:avLst/>
            <a:gdLst/>
            <a:ahLst/>
            <a:rect l="l" t="t" r="r" b="b"/>
            <a:pathLst>
              <a:path w="5254625" h="349250">
                <a:moveTo>
                  <a:pt x="0" y="0"/>
                </a:moveTo>
                <a:lnTo>
                  <a:pt x="5254625" y="0"/>
                </a:lnTo>
                <a:lnTo>
                  <a:pt x="5254625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1" name="Shape 61"/>
          <p:cNvSpPr/>
          <p:nvPr/>
        </p:nvSpPr>
        <p:spPr>
          <a:xfrm>
            <a:off x="6477480" y="7413480"/>
            <a:ext cx="62280" cy="6228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2" name="Text 62"/>
          <p:cNvSpPr/>
          <p:nvPr/>
        </p:nvSpPr>
        <p:spPr>
          <a:xfrm>
            <a:off x="6636240" y="7350120"/>
            <a:ext cx="10227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Goldman Sachs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73" name="Text 63"/>
          <p:cNvSpPr/>
          <p:nvPr/>
        </p:nvSpPr>
        <p:spPr>
          <a:xfrm>
            <a:off x="7691040" y="7365960"/>
            <a:ext cx="134028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Crypto trading desk active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74" name="Shape 64"/>
          <p:cNvSpPr/>
          <p:nvPr/>
        </p:nvSpPr>
        <p:spPr>
          <a:xfrm>
            <a:off x="6397920" y="7715160"/>
            <a:ext cx="5253840" cy="348120"/>
          </a:xfrm>
          <a:custGeom>
            <a:avLst/>
            <a:gdLst/>
            <a:ahLst/>
            <a:rect l="l" t="t" r="r" b="b"/>
            <a:pathLst>
              <a:path w="5254625" h="349250">
                <a:moveTo>
                  <a:pt x="0" y="0"/>
                </a:moveTo>
                <a:lnTo>
                  <a:pt x="5254625" y="0"/>
                </a:lnTo>
                <a:lnTo>
                  <a:pt x="5254625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5" name="Shape 65"/>
          <p:cNvSpPr/>
          <p:nvPr/>
        </p:nvSpPr>
        <p:spPr>
          <a:xfrm>
            <a:off x="6477480" y="7858080"/>
            <a:ext cx="62280" cy="6228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6" name="Text 66"/>
          <p:cNvSpPr/>
          <p:nvPr/>
        </p:nvSpPr>
        <p:spPr>
          <a:xfrm>
            <a:off x="6636240" y="7794720"/>
            <a:ext cx="10069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Morgan Stanley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77" name="Text 67"/>
          <p:cNvSpPr/>
          <p:nvPr/>
        </p:nvSpPr>
        <p:spPr>
          <a:xfrm>
            <a:off x="7677000" y="7810560"/>
            <a:ext cx="147528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Offering BTC funds to clients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78" name="Shape 68"/>
          <p:cNvSpPr/>
          <p:nvPr/>
        </p:nvSpPr>
        <p:spPr>
          <a:xfrm>
            <a:off x="6397920" y="8159760"/>
            <a:ext cx="5253840" cy="348120"/>
          </a:xfrm>
          <a:custGeom>
            <a:avLst/>
            <a:gdLst/>
            <a:ahLst/>
            <a:rect l="l" t="t" r="r" b="b"/>
            <a:pathLst>
              <a:path w="5254625" h="349250">
                <a:moveTo>
                  <a:pt x="0" y="0"/>
                </a:moveTo>
                <a:lnTo>
                  <a:pt x="5254625" y="0"/>
                </a:lnTo>
                <a:lnTo>
                  <a:pt x="5254625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9" name="Shape 69"/>
          <p:cNvSpPr/>
          <p:nvPr/>
        </p:nvSpPr>
        <p:spPr>
          <a:xfrm>
            <a:off x="6477480" y="8302680"/>
            <a:ext cx="62280" cy="6228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0" name="Text 70"/>
          <p:cNvSpPr/>
          <p:nvPr/>
        </p:nvSpPr>
        <p:spPr>
          <a:xfrm>
            <a:off x="6636240" y="8238960"/>
            <a:ext cx="34020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SoFi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81" name="Text 71"/>
          <p:cNvSpPr/>
          <p:nvPr/>
        </p:nvSpPr>
        <p:spPr>
          <a:xfrm>
            <a:off x="7006680" y="8255160"/>
            <a:ext cx="195948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First US bank with direct crypto trading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Image 0"/>
          <p:cNvSpPr/>
          <p:nvPr/>
        </p:nvSpPr>
        <p:spPr>
          <a:xfrm>
            <a:off x="0" y="0"/>
            <a:ext cx="12192120" cy="685692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3" name="Shape 0"/>
          <p:cNvSpPr/>
          <p:nvPr/>
        </p:nvSpPr>
        <p:spPr>
          <a:xfrm>
            <a:off x="0" y="0"/>
            <a:ext cx="12192120" cy="68569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4" name="Shape 1"/>
          <p:cNvSpPr/>
          <p:nvPr/>
        </p:nvSpPr>
        <p:spPr>
          <a:xfrm>
            <a:off x="409680" y="781200"/>
            <a:ext cx="8476920" cy="3961440"/>
          </a:xfrm>
          <a:custGeom>
            <a:avLst/>
            <a:gdLst/>
            <a:ahLst/>
            <a:rect l="l" t="t" r="r" b="b"/>
            <a:pathLst>
              <a:path w="8477250" h="3962400">
                <a:moveTo>
                  <a:pt x="0" y="0"/>
                </a:moveTo>
                <a:lnTo>
                  <a:pt x="8477250" y="0"/>
                </a:lnTo>
                <a:lnTo>
                  <a:pt x="84772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85" name="Shape 2"/>
          <p:cNvSpPr/>
          <p:nvPr/>
        </p:nvSpPr>
        <p:spPr>
          <a:xfrm>
            <a:off x="923760" y="1295280"/>
            <a:ext cx="856080" cy="85608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86" name="Text 3"/>
          <p:cNvSpPr/>
          <p:nvPr/>
        </p:nvSpPr>
        <p:spPr>
          <a:xfrm>
            <a:off x="781200" y="1266840"/>
            <a:ext cx="1027800" cy="79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07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587" name="Shape 4"/>
          <p:cNvSpPr/>
          <p:nvPr/>
        </p:nvSpPr>
        <p:spPr>
          <a:xfrm>
            <a:off x="2038320" y="1266840"/>
            <a:ext cx="75240" cy="91332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8" name="Text 5"/>
          <p:cNvSpPr/>
          <p:nvPr/>
        </p:nvSpPr>
        <p:spPr>
          <a:xfrm>
            <a:off x="895320" y="2486160"/>
            <a:ext cx="7848360" cy="85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MINING ECONOMICS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589" name="Shape 6"/>
          <p:cNvSpPr/>
          <p:nvPr/>
        </p:nvSpPr>
        <p:spPr>
          <a:xfrm>
            <a:off x="895320" y="3571920"/>
            <a:ext cx="1827720" cy="7524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90" name="Text 7"/>
          <p:cNvSpPr/>
          <p:nvPr/>
        </p:nvSpPr>
        <p:spPr>
          <a:xfrm>
            <a:off x="895320" y="3876840"/>
            <a:ext cx="767664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Backbone of Security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591" name="Shape 8"/>
          <p:cNvSpPr/>
          <p:nvPr/>
        </p:nvSpPr>
        <p:spPr>
          <a:xfrm>
            <a:off x="409680" y="5257800"/>
            <a:ext cx="11372760" cy="81792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92" name="Text 9"/>
          <p:cNvSpPr/>
          <p:nvPr/>
        </p:nvSpPr>
        <p:spPr>
          <a:xfrm>
            <a:off x="666720" y="5514840"/>
            <a:ext cx="109728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Post-Halving Profitability &amp; Industry Consolidation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Application>LibreOffice/7.3.7.2$Linux_X86_64 LibreOffice_project/30$Build-2</Application>
  <AppVersion>15.0000</AppVersion>
  <Words>0</Words>
  <Paragraphs>0</Paragraphs>
  <Company>Moonshot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2026-03-18T08:32:36Z</dcterms:created>
  <dc:creator>Kimi</dc:creator>
  <dc:description/>
  <dc:language>en-HK</dc:language>
  <cp:lastModifiedBy/>
  <dcterms:modified xsi:type="dcterms:W3CDTF">2026-04-19T07:31:44Z</dcterms:modified>
  <cp:revision>4</cp:revision>
  <dc:subject>Bitcoin: The Digital Revolution</dc:subject>
  <dc:title>Bitcoin: The Digital Revolution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{"Label":"Bitcoin: The Digital Revolution","ContentProducer":"001191110108MACG2KBH8F10000","ProduceID":"19d000e5-9a32-8b0f-8000-00005ec375b0","ReservedCode1":"","ContentPropagator":"001191110108MACG2KBH8F20000","PropagateID":"19d000e5-9a32-8b0f-8000-00005ec375b0","ReservedCode2":""}</vt:lpwstr>
  </property>
  <property fmtid="{D5CDD505-2E9C-101B-9397-08002B2CF9AE}" pid="3" name="Notes">
    <vt:i4>27</vt:i4>
  </property>
  <property fmtid="{D5CDD505-2E9C-101B-9397-08002B2CF9AE}" pid="4" name="PresentationFormat">
    <vt:lpwstr>On-screen Show (16:9)</vt:lpwstr>
  </property>
  <property fmtid="{D5CDD505-2E9C-101B-9397-08002B2CF9AE}" pid="5" name="Slides">
    <vt:i4>27</vt:i4>
  </property>
</Properties>
</file>