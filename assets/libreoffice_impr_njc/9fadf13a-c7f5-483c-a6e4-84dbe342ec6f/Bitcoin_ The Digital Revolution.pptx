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9"/>
  </p:notesMaster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slide" Target="slides/slide6.xml" /><rel:Relationship Id="rId8" Type="http://schemas.openxmlformats.org/officeDocument/2006/relationships/slide" Target="slides/slide7.xml" /><rel:Relationship Id="rId9" Type="http://schemas.openxmlformats.org/officeDocument/2006/relationships/slide" Target="slides/slide8.xml" /><rel:Relationship Id="rId10" Type="http://schemas.openxmlformats.org/officeDocument/2006/relationships/slide" Target="slides/slide9.xml" /><rel:Relationship Id="rId11" Type="http://schemas.openxmlformats.org/officeDocument/2006/relationships/slide" Target="slides/slide10.xml" /><rel:Relationship Id="rId12" Type="http://schemas.openxmlformats.org/officeDocument/2006/relationships/slide" Target="slides/slide11.xml" /><rel:Relationship Id="rId13" Type="http://schemas.openxmlformats.org/officeDocument/2006/relationships/slide" Target="slides/slide12.xml" /><rel:Relationship Id="rId14" Type="http://schemas.openxmlformats.org/officeDocument/2006/relationships/slide" Target="slides/slide13.xml" /><rel:Relationship Id="rId15" Type="http://schemas.openxmlformats.org/officeDocument/2006/relationships/slide" Target="slides/slide14.xml" /><rel:Relationship Id="rId16" Type="http://schemas.openxmlformats.org/officeDocument/2006/relationships/slide" Target="slides/slide15.xml" /><rel:Relationship Id="rId17" Type="http://schemas.openxmlformats.org/officeDocument/2006/relationships/slide" Target="slides/slide16.xml" /><rel:Relationship Id="rId18" Type="http://schemas.openxmlformats.org/officeDocument/2006/relationships/slide" Target="slides/slide17.xml" /><rel:Relationship Id="rId19" Type="http://schemas.openxmlformats.org/officeDocument/2006/relationships/slide" Target="slides/slide18.xml" /><rel:Relationship Id="rId20" Type="http://schemas.openxmlformats.org/officeDocument/2006/relationships/slide" Target="slides/slide19.xml" /><rel:Relationship Id="rId21" Type="http://schemas.openxmlformats.org/officeDocument/2006/relationships/slide" Target="slides/slide20.xml" /><rel:Relationship Id="rId22" Type="http://schemas.openxmlformats.org/officeDocument/2006/relationships/slide" Target="slides/slide21.xml" /><rel:Relationship Id="rId23" Type="http://schemas.openxmlformats.org/officeDocument/2006/relationships/slide" Target="slides/slide22.xml" /><rel:Relationship Id="rId24" Type="http://schemas.openxmlformats.org/officeDocument/2006/relationships/slide" Target="slides/slide23.xml" /><rel:Relationship Id="rId25" Type="http://schemas.openxmlformats.org/officeDocument/2006/relationships/slide" Target="slides/slide24.xml" /><rel:Relationship Id="rId29" Type="http://schemas.openxmlformats.org/officeDocument/2006/relationships/notesMaster" Target="notesMasters/notesMaster1.xml" /><rel:Relationship Id="rId30" Type="http://schemas.openxmlformats.org/officeDocument/2006/relationships/presProps" Target="presProps.xml" /><rel:Relationship Id="rId31" Type="http://schemas.openxmlformats.org/officeDocument/2006/relationships/viewProps" Target="viewProps.xml" /><rel:Relationship Id="rId32" Type="http://schemas.openxmlformats.org/officeDocument/2006/relationships/theme" Target="theme/theme1.xml" /><rel:Relationship Id="rId33" Type="http://schemas.openxmlformats.org/officeDocument/2006/relationships/tableStyles" Target="tableStyles.xml" /></rel: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Summary: Bitcoin has fundamentally changed how we think about money, trust, and decentralized systems.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033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dn.vectorstock.com/dedad187e3b8b75d7280f5258cc0995ef815e5ed.jp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23958" b="23958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8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714375"/>
            <a:ext cx="3705225" cy="781050"/>
          </a:xfrm>
          <a:custGeom>
            <a:avLst/>
            <a:gdLst/>
            <a:ahLst/>
            <a:cxnLst/>
            <a:rect l="l" t="t" r="r" b="b"/>
            <a:pathLst>
              <a:path w="3705225" h="781050">
                <a:moveTo>
                  <a:pt x="0" y="0"/>
                </a:moveTo>
                <a:lnTo>
                  <a:pt x="3705225" y="0"/>
                </a:lnTo>
                <a:lnTo>
                  <a:pt x="37052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66750" y="971550"/>
            <a:ext cx="3286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3600" b="1" spc="150" kern="0" dirty="0">
                <a:latin typeface="Noto Sans SC" pitchFamily="34" charset="0"/>
                <a:ea typeface="Noto Sans SC" pitchFamily="34" charset="-122"/>
                <a:cs typeface="Noto Sans SC" pitchFamily="34" charset="-120"/>
                <a:solidFill>
                  <a:srgbClr val="FFFFFF"/>
                </a:solidFill>
              </a:rPr>
              <a:t>FINANCIAL LECTURE SERIES</a:t>
            </a:r>
            <a:endParaRPr lang="en-US" sz="3600" dirty="0" b="1">
              <a:solidFill>
                <a:srgbClr val="FFFFFF"/>
              </a:solidFill>
            </a:endParaRPr>
          </a:p>
        </p:txBody>
      </p:sp>
      <p:sp>
        <p:nvSpPr>
          <p:cNvPr id="6" name="Shape 3"/>
          <p:cNvSpPr/>
          <p:nvPr/>
        </p:nvSpPr>
        <p:spPr>
          <a:xfrm>
            <a:off x="409575" y="1876425"/>
            <a:ext cx="11372850" cy="3257550"/>
          </a:xfrm>
          <a:custGeom>
            <a:avLst/>
            <a:gdLst/>
            <a:ahLst/>
            <a:cxnLst/>
            <a:rect l="l" t="t" r="r" b="b"/>
            <a:pathLst>
              <a:path w="11372850" h="3257550">
                <a:moveTo>
                  <a:pt x="0" y="0"/>
                </a:moveTo>
                <a:lnTo>
                  <a:pt x="11372850" y="0"/>
                </a:lnTo>
                <a:lnTo>
                  <a:pt x="113728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95350" y="2362200"/>
            <a:ext cx="108585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latin typeface="Noto Sans SC" pitchFamily="34" charset="0"/>
                <a:ea typeface="Noto Sans SC" pitchFamily="34" charset="-122"/>
                <a:cs typeface="Noto Sans SC" pitchFamily="34" charset="-120"/>
                <a:solidFill>
                  <a:srgbClr val="FFFFFF"/>
                </a:solidFill>
              </a:rPr>
              <a:t>BITCOIN</a:t>
            </a:r>
            <a:endParaRPr lang="en-US" sz="3600" dirty="0" b="1">
              <a:solidFill>
                <a:srgbClr val="FFFFFF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895350" y="3505200"/>
            <a:ext cx="1219200" cy="76200"/>
          </a:xfrm>
          <a:custGeom>
            <a:avLst/>
            <a:gdLst/>
            <a:ahLst/>
            <a:cxn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895350" y="3810000"/>
            <a:ext cx="1057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3600" b="1" dirty="0">
                <a:latin typeface="Noto Sans SC" pitchFamily="34" charset="0"/>
                <a:ea typeface="Noto Sans SC" pitchFamily="34" charset="-122"/>
                <a:cs typeface="Noto Sans SC" pitchFamily="34" charset="-120"/>
                <a:solidFill>
                  <a:srgbClr val="FFFFFF"/>
                </a:solidFill>
              </a:rPr>
              <a:t>THE DIGITAL REVOLUTION</a:t>
            </a:r>
            <a:endParaRPr lang="en-US" sz="3600" dirty="0" b="1">
              <a:solidFill>
                <a:srgbClr val="FFFFFF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895350" y="4343400"/>
            <a:ext cx="10515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3600" dirty="0" b="1">
                <a:latin typeface="Noto Sans SC" pitchFamily="34" charset="0"/>
                <a:ea typeface="Noto Sans SC" pitchFamily="34" charset="-122"/>
                <a:cs typeface="Noto Sans SC" pitchFamily="34" charset="-120"/>
                <a:solidFill>
                  <a:srgbClr val="FFFFFF"/>
                </a:solidFill>
              </a:rPr>
              <a:t>A Comprehensive Analysis of History, Present &amp; Future</a:t>
            </a:r>
            <a:endParaRPr lang="en-US" sz="3600" dirty="0" b="1">
              <a:solidFill>
                <a:srgbClr val="FFFFFF"/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409575" y="5514975"/>
            <a:ext cx="1295400" cy="628650"/>
          </a:xfrm>
          <a:custGeom>
            <a:avLst/>
            <a:gdLst/>
            <a:ahLst/>
            <a:cxnLst/>
            <a:rect l="l" t="t" r="r" b="b"/>
            <a:pathLst>
              <a:path w="1295400" h="628650">
                <a:moveTo>
                  <a:pt x="0" y="0"/>
                </a:moveTo>
                <a:lnTo>
                  <a:pt x="1295400" y="0"/>
                </a:lnTo>
                <a:lnTo>
                  <a:pt x="1295400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90550" y="5695950"/>
            <a:ext cx="1019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600" b="1" dirty="0">
                <a:latin typeface="MiSans" pitchFamily="34" charset="0"/>
                <a:ea typeface="MiSans" pitchFamily="34" charset="-122"/>
                <a:cs typeface="MiSans" pitchFamily="34" charset="-120"/>
                <a:solidFill>
                  <a:srgbClr val="FFFFFF"/>
                </a:solidFill>
              </a:rPr>
              <a:t>March 2026</a:t>
            </a:r>
            <a:endParaRPr lang="en-US" sz="3600" dirty="0" b="1">
              <a:solidFill>
                <a:srgbClr val="FFFFFF"/>
              </a:solidFill>
            </a:endParaRPr>
          </a:p>
        </p:txBody>
      </p:sp>
      <p:sp>
        <p:nvSpPr>
          <p:cNvPr id="13" name="Shape 10"/>
          <p:cNvSpPr/>
          <p:nvPr/>
        </p:nvSpPr>
        <p:spPr>
          <a:xfrm>
            <a:off x="10364391" y="5514975"/>
            <a:ext cx="1419225" cy="628650"/>
          </a:xfrm>
          <a:custGeom>
            <a:avLst/>
            <a:gdLst/>
            <a:ahLst/>
            <a:cxnLst/>
            <a:rect l="l" t="t" r="r" b="b"/>
            <a:pathLst>
              <a:path w="1419225" h="628650">
                <a:moveTo>
                  <a:pt x="0" y="0"/>
                </a:moveTo>
                <a:lnTo>
                  <a:pt x="1419225" y="0"/>
                </a:lnTo>
                <a:lnTo>
                  <a:pt x="141922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0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0545366" y="569595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600" b="1" dirty="0">
                <a:latin typeface="MiSans" pitchFamily="34" charset="0"/>
                <a:ea typeface="MiSans" pitchFamily="34" charset="-122"/>
                <a:cs typeface="MiSans" pitchFamily="34" charset="-120"/>
                <a:solidFill>
                  <a:srgbClr val="FFFFFF"/>
                </a:solidFill>
              </a:rPr>
              <a:t>▶ 27 SLIDES</a:t>
            </a:r>
            <a:endParaRPr lang="en-US" sz="3600" dirty="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1095375"/>
          </a:xfrm>
          <a:custGeom>
            <a:avLst/>
            <a:gdLst/>
            <a:ahLst/>
            <a:cxnLst/>
            <a:rect l="l" t="t" r="r" b="b"/>
            <a:pathLst>
              <a:path w="11509375" h="1095375">
                <a:moveTo>
                  <a:pt x="0" y="0"/>
                </a:moveTo>
                <a:lnTo>
                  <a:pt x="11509375" y="0"/>
                </a:lnTo>
                <a:lnTo>
                  <a:pt x="11509375" y="1095375"/>
                </a:lnTo>
                <a:lnTo>
                  <a:pt x="0" y="1095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5625" y="555625"/>
            <a:ext cx="1131887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750" b="1" dirty="0">
                <a:latin typeface="Noto Sans SC" pitchFamily="34" charset="0"/>
                <a:ea typeface="Noto Sans SC" pitchFamily="34" charset="-122"/>
                <a:cs typeface="Noto Sans SC" pitchFamily="34" charset="-120"/>
                <a:solidFill>
                  <a:srgbClr val="FF7F00"/>
                </a:solidFill>
              </a:rPr>
              <a:t>CONTENTS</a:t>
            </a:r>
            <a:endParaRPr lang="en-US" sz="1600" dirty="0" b="1">
              <a:solidFill>
                <a:srgbClr val="FF7F00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555625" y="115887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6748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7688" y="1881187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4344" y="1857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58875" y="1857375"/>
            <a:ext cx="141287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GENESIS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58875" y="2143125"/>
            <a:ext cx="1389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Bitcoin's Origin Story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199188" y="16748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5563" y="1881187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2219" y="1857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16750" y="1857375"/>
            <a:ext cx="25161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TECHNICAL FOUNDATION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16750" y="2143125"/>
            <a:ext cx="2492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How Bitcoin Works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41313" y="2754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7688" y="2960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344" y="2936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58875" y="2936875"/>
            <a:ext cx="2714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HISTORICAL EVOLUTION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58875" y="3222625"/>
            <a:ext cx="26908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From Cypherpunk Dream to Global Asset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199188" y="2754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5563" y="2960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2219" y="2936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16750" y="2936875"/>
            <a:ext cx="211137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MARKET DYNAMICS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16750" y="3222625"/>
            <a:ext cx="2087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Halving Cycles &amp; Price Patterns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41313" y="3833812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7688" y="40401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4344" y="4016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58875" y="4016375"/>
            <a:ext cx="22621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CURRENT LANDSCAPE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58875" y="4302125"/>
            <a:ext cx="2238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2024-2025 Market Status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199188" y="3833812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05563" y="40401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22219" y="4016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16750" y="4016375"/>
            <a:ext cx="2603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INSTITUTIONAL ADOPTION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016750" y="4302125"/>
            <a:ext cx="2579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Wall Street Embraces Bitcoin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41313" y="4913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7688" y="5119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4344" y="5095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158875" y="5095875"/>
            <a:ext cx="200818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MINING ECONOMICS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158875" y="5381625"/>
            <a:ext cx="1984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Backbone of Security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199188" y="4913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5563" y="5119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22219" y="5095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08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016750" y="5095875"/>
            <a:ext cx="21986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DIGITAL GOLD THESIS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016750" y="5381625"/>
            <a:ext cx="21748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Store of Value Debate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341313" y="59928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47688" y="61991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4344" y="6175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1158875" y="6175375"/>
            <a:ext cx="21193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SCALING SOLUTIONS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158875" y="6461125"/>
            <a:ext cx="2095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Lightning Network &amp; Layer 2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199188" y="59928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6405563" y="61991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22219" y="61753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016750" y="6175375"/>
            <a:ext cx="22304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CHALLENGES &amp; RISKS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016750" y="6461125"/>
            <a:ext cx="22066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Road Ahead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341313" y="7072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47688" y="7278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4344" y="7254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1158875" y="7254875"/>
            <a:ext cx="1873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FUTURE OUTLOOK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1158875" y="7540625"/>
            <a:ext cx="18494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Predictions &amp; Scenarios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199188" y="7072313"/>
            <a:ext cx="5651500" cy="873125"/>
          </a:xfrm>
          <a:custGeom>
            <a:avLst/>
            <a:gdLst/>
            <a:ahLst/>
            <a:cxn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405563" y="7278688"/>
            <a:ext cx="460375" cy="460375"/>
          </a:xfrm>
          <a:custGeom>
            <a:avLst/>
            <a:gdLst/>
            <a:ahLst/>
            <a:cxn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22219" y="7254875"/>
            <a:ext cx="53181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7016750" y="7254875"/>
            <a:ext cx="13731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7016750" y="7540625"/>
            <a:ext cx="1349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Path Forward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cdn.pixabay.com/a78b067f0ae22fcc38ba4427cd322c7835ad80e9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10177" b="10177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781050"/>
            <a:ext cx="8477250" cy="3962400"/>
          </a:xfrm>
          <a:custGeom>
            <a:avLst/>
            <a:gdLst/>
            <a:ahLst/>
            <a:cxn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129540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1266825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 i="1">
                <a:latin typeface="Noto Sans SC" pitchFamily="34" charset="0"/>
                <a:ea typeface="Noto Sans SC" pitchFamily="34" charset="-122"/>
                <a:cs typeface="Noto Sans SC" pitchFamily="34" charset="-120"/>
                <a:solidFill>
                  <a:srgbClr val="00008B"/>
                </a:solidFill>
              </a:rPr>
              <a:t>01</a:t>
            </a:r>
            <a:endParaRPr lang="en-US" sz="1600" dirty="0" i="1">
              <a:solidFill>
                <a:srgbClr val="00008B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2038350" y="1266825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486025"/>
            <a:ext cx="7848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GENESIS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3571875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3876675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 i="1">
                <a:latin typeface="Noto Sans SC" pitchFamily="34" charset="0"/>
                <a:ea typeface="Noto Sans SC" pitchFamily="34" charset="-122"/>
                <a:cs typeface="Noto Sans SC" pitchFamily="34" charset="-120"/>
                <a:solidFill>
                  <a:srgbClr val="00008B"/>
                </a:solidFill>
              </a:rPr>
              <a:t>Bitcoin's Origin Story</a:t>
            </a:r>
            <a:endParaRPr lang="en-US" sz="1600" dirty="0" i="1">
              <a:solidFill>
                <a:srgbClr val="00008B"/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409575" y="5257800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514975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 i="1">
                <a:latin typeface="Noto Sans SC" pitchFamily="34" charset="0"/>
                <a:ea typeface="Noto Sans SC" pitchFamily="34" charset="-122"/>
                <a:cs typeface="Noto Sans SC" pitchFamily="34" charset="-120"/>
                <a:solidFill>
                  <a:srgbClr val="00008B"/>
                </a:solidFill>
              </a:rPr>
              <a:t>▶ From Cypherpunk Vision to Financial Revolution</a:t>
            </a:r>
            <a:endParaRPr lang="en-US" sz="1600" dirty="0" i="1">
              <a:solidFill>
                <a:srgbClr val="00008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1000125"/>
          </a:xfrm>
          <a:custGeom>
            <a:avLst/>
            <a:gdLst/>
            <a:ahLst/>
            <a:cxn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5625" y="555625"/>
            <a:ext cx="1127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BIRTH OF BITCOIN: 2008-2009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55625" y="1063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547813"/>
            <a:ext cx="8270875" cy="1849438"/>
          </a:xfrm>
          <a:custGeom>
            <a:avLst/>
            <a:gdLst/>
            <a:ahLst/>
            <a:cxnLst/>
            <a:rect l="l" t="t" r="r" b="b"/>
            <a:pathLst>
              <a:path w="8270875" h="1849438">
                <a:moveTo>
                  <a:pt x="0" y="0"/>
                </a:moveTo>
                <a:lnTo>
                  <a:pt x="8270875" y="0"/>
                </a:lnTo>
                <a:lnTo>
                  <a:pt x="8270875" y="1849438"/>
                </a:lnTo>
                <a:lnTo>
                  <a:pt x="0" y="1849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7688" y="175418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187" y="173037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31875" y="1730375"/>
            <a:ext cx="1619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October 31, 2008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3875" y="2206625"/>
            <a:ext cx="7977188" cy="46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Satoshi Nakamoto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publishes the Bitcoin whitepaper: "Bitcoin: A Peer-to-Peer Electronic Cash System" to the cypherpunk mailing list.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39750" y="2782094"/>
            <a:ext cx="7874000" cy="412750"/>
          </a:xfrm>
          <a:custGeom>
            <a:avLst/>
            <a:gdLst/>
            <a:ahLst/>
            <a:cxn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875" y="2893219"/>
            <a:ext cx="771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Core Innovation: Decentralized digital currency without trusted third parties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1313" y="3567906"/>
            <a:ext cx="8270875" cy="1611313"/>
          </a:xfrm>
          <a:custGeom>
            <a:avLst/>
            <a:gdLst/>
            <a:ahLst/>
            <a:cxnLst/>
            <a:rect l="l" t="t" r="r" b="b"/>
            <a:pathLst>
              <a:path w="8270875" h="1611313">
                <a:moveTo>
                  <a:pt x="0" y="0"/>
                </a:moveTo>
                <a:lnTo>
                  <a:pt x="8270875" y="0"/>
                </a:lnTo>
                <a:lnTo>
                  <a:pt x="8270875" y="1611313"/>
                </a:lnTo>
                <a:lnTo>
                  <a:pt x="0" y="1611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7688" y="3774281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187" y="3750469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31875" y="3750469"/>
            <a:ext cx="15160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January 3, 2009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3875" y="4226719"/>
            <a:ext cx="7977188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</a:t>
            </a:r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Genesis Block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is mined, marking Bitcoin network's official launch. Embedded message references bank bailouts.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9750" y="4570016"/>
            <a:ext cx="7874000" cy="412750"/>
          </a:xfrm>
          <a:custGeom>
            <a:avLst/>
            <a:gdLst/>
            <a:ahLst/>
            <a:cxn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875" y="4681141"/>
            <a:ext cx="7715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"The Times 03/Jan/2009 Chancellor on brink of second bailout for banks"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41313" y="5355828"/>
            <a:ext cx="8270875" cy="1071563"/>
          </a:xfrm>
          <a:custGeom>
            <a:avLst/>
            <a:gdLst/>
            <a:ahLst/>
            <a:cxnLst/>
            <a:rect l="l" t="t" r="r" b="b"/>
            <a:pathLst>
              <a:path w="8270875" h="1071563">
                <a:moveTo>
                  <a:pt x="0" y="0"/>
                </a:moveTo>
                <a:lnTo>
                  <a:pt x="8270875" y="0"/>
                </a:lnTo>
                <a:lnTo>
                  <a:pt x="8270875" y="1071563"/>
                </a:lnTo>
                <a:lnTo>
                  <a:pt x="0" y="10715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7688" y="5562203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187" y="5538391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31875" y="5538391"/>
            <a:ext cx="16192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January 12, 2009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3875" y="6014641"/>
            <a:ext cx="7977188" cy="230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Bitcoin transaction: Satoshi sends </a:t>
            </a:r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10 BTC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to computer scientist </a:t>
            </a:r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Hal Finney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 validating the system works.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850313" y="1547813"/>
            <a:ext cx="3000375" cy="3508375"/>
          </a:xfrm>
          <a:custGeom>
            <a:avLst/>
            <a:gdLst/>
            <a:ahLst/>
            <a:cxnLst/>
            <a:rect l="l" t="t" r="r" b="b"/>
            <a:pathLst>
              <a:path w="3000375" h="3508375">
                <a:moveTo>
                  <a:pt x="0" y="0"/>
                </a:moveTo>
                <a:lnTo>
                  <a:pt x="3000375" y="0"/>
                </a:lnTo>
                <a:lnTo>
                  <a:pt x="3000375" y="3508375"/>
                </a:lnTo>
                <a:lnTo>
                  <a:pt x="0" y="3508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032875" y="1730375"/>
            <a:ext cx="273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THE MOTIVATION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048750" y="2127250"/>
            <a:ext cx="2603500" cy="825500"/>
          </a:xfrm>
          <a:custGeom>
            <a:avLst/>
            <a:gdLst/>
            <a:ahLst/>
            <a:cxn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59875" y="22383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2008 Financial Crisis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159875" y="2460625"/>
            <a:ext cx="244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Bank failures, government bailouts, currency devaluation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048750" y="3079750"/>
            <a:ext cx="2603500" cy="825500"/>
          </a:xfrm>
          <a:custGeom>
            <a:avLst/>
            <a:gdLst/>
            <a:ahLst/>
            <a:cxn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59875" y="31908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Cypherpunk Philosophy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59875" y="3413125"/>
            <a:ext cx="244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Privacy, decentralization, mathematical trust over institutional trust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048750" y="4032250"/>
            <a:ext cx="2603500" cy="825500"/>
          </a:xfrm>
          <a:custGeom>
            <a:avLst/>
            <a:gdLst/>
            <a:ahLst/>
            <a:cxn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9875" y="41433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Double-Spending Problem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59875" y="4365625"/>
            <a:ext cx="2444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digital currency to solve this without central authority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850313" y="5230813"/>
            <a:ext cx="3000375" cy="3476625"/>
          </a:xfrm>
          <a:custGeom>
            <a:avLst/>
            <a:gdLst/>
            <a:ahLst/>
            <a:cxnLst/>
            <a:rect l="l" t="t" r="r" b="b"/>
            <a:pathLst>
              <a:path w="3000375" h="3476625">
                <a:moveTo>
                  <a:pt x="0" y="0"/>
                </a:moveTo>
                <a:lnTo>
                  <a:pt x="3000375" y="0"/>
                </a:lnTo>
                <a:lnTo>
                  <a:pt x="3000375" y="3476625"/>
                </a:lnTo>
                <a:lnTo>
                  <a:pt x="0" y="3476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9032875" y="5413375"/>
            <a:ext cx="273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CORE PRINCIPLES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9048750" y="5810250"/>
            <a:ext cx="2603500" cy="349250"/>
          </a:xfrm>
          <a:custGeom>
            <a:avLst/>
            <a:gdLst/>
            <a:ahLst/>
            <a:cxn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28125" y="59372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39" name="Text 37"/>
          <p:cNvSpPr/>
          <p:nvPr/>
        </p:nvSpPr>
        <p:spPr>
          <a:xfrm>
            <a:off x="9318625" y="5889625"/>
            <a:ext cx="189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Fixed Supply: 21 Million Coins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9048750" y="6254750"/>
            <a:ext cx="2603500" cy="539750"/>
          </a:xfrm>
          <a:custGeom>
            <a:avLst/>
            <a:gdLst/>
            <a:ahLst/>
            <a:cxn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28125" y="6477000"/>
            <a:ext cx="87313" cy="95250"/>
          </a:xfrm>
          <a:custGeom>
            <a:avLst/>
            <a:gdLst/>
            <a:ahLst/>
            <a:cxn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9310129" y="6334125"/>
            <a:ext cx="23256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Decentralized: No Single Point of Control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9048750" y="6889750"/>
            <a:ext cx="2603500" cy="349250"/>
          </a:xfrm>
          <a:custGeom>
            <a:avLst/>
            <a:gdLst/>
            <a:ahLst/>
            <a:cxn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128125" y="7016750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5" name="Text 43"/>
          <p:cNvSpPr/>
          <p:nvPr/>
        </p:nvSpPr>
        <p:spPr>
          <a:xfrm>
            <a:off x="9318625" y="6969125"/>
            <a:ext cx="2301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Trustless: Cryptographic Verification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9048750" y="7334250"/>
            <a:ext cx="2603500" cy="539750"/>
          </a:xfrm>
          <a:custGeom>
            <a:avLst/>
            <a:gdLst/>
            <a:ahLst/>
            <a:cxn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128125" y="7556500"/>
            <a:ext cx="87313" cy="95250"/>
          </a:xfrm>
          <a:custGeom>
            <a:avLst/>
            <a:gdLst/>
            <a:ahLst/>
            <a:cxn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8" name="Text 46"/>
          <p:cNvSpPr/>
          <p:nvPr/>
        </p:nvSpPr>
        <p:spPr>
          <a:xfrm>
            <a:off x="9314346" y="7413625"/>
            <a:ext cx="23256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Transparent: Public Blockchain Ledger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9048750" y="7969250"/>
            <a:ext cx="2603500" cy="539750"/>
          </a:xfrm>
          <a:custGeom>
            <a:avLst/>
            <a:gdLst/>
            <a:ahLst/>
            <a:cxn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128125" y="8191500"/>
            <a:ext cx="79375" cy="95250"/>
          </a:xfrm>
          <a:custGeom>
            <a:avLst/>
            <a:gdLst/>
            <a:ahLst/>
            <a:cxnLst/>
            <a:rect l="l" t="t" r="r" b="b"/>
            <a:pathLst>
              <a:path w="79375" h="95250">
                <a:moveTo>
                  <a:pt x="0" y="0"/>
                </a:moveTo>
                <a:lnTo>
                  <a:pt x="79375" y="0"/>
                </a:lnTo>
                <a:lnTo>
                  <a:pt x="793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1" name="Text 49"/>
          <p:cNvSpPr/>
          <p:nvPr/>
        </p:nvSpPr>
        <p:spPr>
          <a:xfrm>
            <a:off x="9301200" y="8048625"/>
            <a:ext cx="23336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Immutable: Transactions Cannot Be Reversed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5">
    <p:bg>
      <p:bgPr>
        <a:solidFill>
          <a:srgbClr val="D3D3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55c872118a432315f00de40c7ff83379e856cb8c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7786" b="778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3051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774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" name="Shape 3"/>
          <p:cNvSpPr/>
          <p:nvPr/>
        </p:nvSpPr>
        <p:spPr>
          <a:xfrm>
            <a:off x="104108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679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4480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TECHNICAL FOUNDATION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678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361950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Bitcoin Works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071393" y="5686425"/>
            <a:ext cx="6715125" cy="819150"/>
          </a:xfrm>
          <a:custGeom>
            <a:avLst/>
            <a:gdLst/>
            <a:ahLst/>
            <a:cxnLst/>
            <a:rect l="l" t="t" r="r" b="b"/>
            <a:pathLst>
              <a:path w="6715125" h="819150">
                <a:moveTo>
                  <a:pt x="0" y="0"/>
                </a:moveTo>
                <a:lnTo>
                  <a:pt x="6715125" y="0"/>
                </a:lnTo>
                <a:lnTo>
                  <a:pt x="671512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28568" y="5943600"/>
            <a:ext cx="6315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Proof of Work, Blockchain &amp; Decentralized Consensus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1000125"/>
          </a:xfrm>
          <a:custGeom>
            <a:avLst/>
            <a:gdLst/>
            <a:ahLst/>
            <a:cxn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55625" y="555625"/>
            <a:ext cx="1127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BLOCKCHAIN &amp; PROOF OF WORK: THE SECURITY MODEL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55625" y="1063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547813"/>
            <a:ext cx="8270875" cy="2071688"/>
          </a:xfrm>
          <a:custGeom>
            <a:avLst/>
            <a:gdLst/>
            <a:ahLst/>
            <a:cxnLst/>
            <a:rect l="l" t="t" r="r" b="b"/>
            <a:pathLst>
              <a:path w="8270875" h="2071688">
                <a:moveTo>
                  <a:pt x="0" y="0"/>
                </a:moveTo>
                <a:lnTo>
                  <a:pt x="8270875" y="0"/>
                </a:lnTo>
                <a:lnTo>
                  <a:pt x="8270875" y="2071688"/>
                </a:lnTo>
                <a:lnTo>
                  <a:pt x="0" y="20716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730375"/>
            <a:ext cx="800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THE BLOCKCHAIN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3875" y="2111375"/>
            <a:ext cx="7977188" cy="46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 </a:t>
            </a:r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distributed ledger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recording all transactions across a network of computers. Each block contains a cryptographic hash of the previous block, creating an immutable chain.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39750" y="2718594"/>
            <a:ext cx="2540000" cy="698500"/>
          </a:xfrm>
          <a:custGeom>
            <a:avLst/>
            <a:gdLst/>
            <a:ahLst/>
            <a:cxn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1344" y="2829719"/>
            <a:ext cx="24368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880K+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3094" y="3147219"/>
            <a:ext cx="2373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Blocks Mined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06750" y="2718594"/>
            <a:ext cx="2540000" cy="698500"/>
          </a:xfrm>
          <a:custGeom>
            <a:avLst/>
            <a:gdLst/>
            <a:ahLst/>
            <a:cxn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58344" y="2829719"/>
            <a:ext cx="24368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~10min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90094" y="3147219"/>
            <a:ext cx="2373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Time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873750" y="2718594"/>
            <a:ext cx="2540000" cy="698500"/>
          </a:xfrm>
          <a:custGeom>
            <a:avLst/>
            <a:gdLst/>
            <a:ahLst/>
            <a:cxn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5344" y="2829719"/>
            <a:ext cx="24368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1.2B+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957094" y="3147219"/>
            <a:ext cx="2373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Transactions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41313" y="3790156"/>
            <a:ext cx="8270875" cy="2865438"/>
          </a:xfrm>
          <a:custGeom>
            <a:avLst/>
            <a:gdLst/>
            <a:ahLst/>
            <a:cxnLst/>
            <a:rect l="l" t="t" r="r" b="b"/>
            <a:pathLst>
              <a:path w="8270875" h="2865438">
                <a:moveTo>
                  <a:pt x="0" y="0"/>
                </a:moveTo>
                <a:lnTo>
                  <a:pt x="8270875" y="0"/>
                </a:lnTo>
                <a:lnTo>
                  <a:pt x="8270875" y="2865438"/>
                </a:lnTo>
                <a:lnTo>
                  <a:pt x="0" y="286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23875" y="3972719"/>
            <a:ext cx="800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PROOF OF WORK MECHANISM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3875" y="4353719"/>
            <a:ext cx="7977188" cy="468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Miners</a:t>
            </a:r>
            <a:pPr>
              <a:lnSpc>
                <a:spcPct val="140000"/>
              </a:lnSpc>
            </a:pPr>
            <a:r>
              <a:rPr lang="en-US" sz="112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compete to solve cryptographic puzzles using SHA-256 hashing. The winner adds the next block and earns the block reward.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9750" y="4960938"/>
            <a:ext cx="7874000" cy="1492250"/>
          </a:xfrm>
          <a:custGeom>
            <a:avLst/>
            <a:gdLst/>
            <a:ahLst/>
            <a:cxnLst/>
            <a:rect l="l" t="t" r="r" b="b"/>
            <a:pathLst>
              <a:path w="7874000" h="1492250">
                <a:moveTo>
                  <a:pt x="0" y="0"/>
                </a:moveTo>
                <a:lnTo>
                  <a:pt x="7874000" y="0"/>
                </a:lnTo>
                <a:lnTo>
                  <a:pt x="7874000" y="1492250"/>
                </a:lnTo>
                <a:lnTo>
                  <a:pt x="0" y="1492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2625" y="5103813"/>
            <a:ext cx="765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Mining Process: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2625" y="5357813"/>
            <a:ext cx="765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1. Bundle transactions into a block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2625" y="5611813"/>
            <a:ext cx="765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2. Find nonce making block hash &lt; target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2625" y="5865813"/>
            <a:ext cx="765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3. First to solve broadcasts to network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2625" y="6119813"/>
            <a:ext cx="765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4. Other nodes verify and add to chain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850313" y="1547813"/>
            <a:ext cx="3000375" cy="3698875"/>
          </a:xfrm>
          <a:custGeom>
            <a:avLst/>
            <a:gdLst/>
            <a:ahLst/>
            <a:cxnLst/>
            <a:rect l="l" t="t" r="r" b="b"/>
            <a:pathLst>
              <a:path w="3000375" h="3698875">
                <a:moveTo>
                  <a:pt x="0" y="0"/>
                </a:moveTo>
                <a:lnTo>
                  <a:pt x="3000375" y="0"/>
                </a:lnTo>
                <a:lnTo>
                  <a:pt x="3000375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032875" y="1730375"/>
            <a:ext cx="273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NETWORK SECURITY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048750" y="2127250"/>
            <a:ext cx="2603500" cy="889000"/>
          </a:xfrm>
          <a:custGeom>
            <a:avLst/>
            <a:gdLst/>
            <a:ahLst/>
            <a:cxn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59875" y="22383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Hash Rate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59875" y="2460625"/>
            <a:ext cx="2500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400M+ TH/s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59875" y="2746375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Global computing power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048750" y="3143250"/>
            <a:ext cx="2603500" cy="889000"/>
          </a:xfrm>
          <a:custGeom>
            <a:avLst/>
            <a:gdLst/>
            <a:ahLst/>
            <a:cxn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9875" y="32543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Attack Cost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159875" y="3476625"/>
            <a:ext cx="2500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$10B+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159875" y="3762375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For 1 hour 51% attack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048750" y="4159250"/>
            <a:ext cx="2603500" cy="889000"/>
          </a:xfrm>
          <a:custGeom>
            <a:avLst/>
            <a:gdLst/>
            <a:ahLst/>
            <a:cxn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9875" y="4270375"/>
            <a:ext cx="2444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Difficulty Adjustment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159875" y="4492625"/>
            <a:ext cx="2500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2,016 Blocks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159875" y="4778375"/>
            <a:ext cx="2436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Maintains 10-min block time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850313" y="5421313"/>
            <a:ext cx="3000375" cy="2555875"/>
          </a:xfrm>
          <a:custGeom>
            <a:avLst/>
            <a:gdLst/>
            <a:ahLst/>
            <a:cxnLst/>
            <a:rect l="l" t="t" r="r" b="b"/>
            <a:pathLst>
              <a:path w="3000375" h="2555875">
                <a:moveTo>
                  <a:pt x="0" y="0"/>
                </a:moveTo>
                <a:lnTo>
                  <a:pt x="3000375" y="0"/>
                </a:lnTo>
                <a:lnTo>
                  <a:pt x="3000375" y="2555875"/>
                </a:lnTo>
                <a:lnTo>
                  <a:pt x="0" y="255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9032875" y="5603875"/>
            <a:ext cx="273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WHY IT WORKS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9032875" y="604837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3" name="Text 41"/>
          <p:cNvSpPr/>
          <p:nvPr/>
        </p:nvSpPr>
        <p:spPr>
          <a:xfrm>
            <a:off x="9191625" y="5984875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Energy as Security:</a:t>
            </a:r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Massive electricity cost makes attacks economically irrational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9032875" y="65246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5" name="Text 43"/>
          <p:cNvSpPr/>
          <p:nvPr/>
        </p:nvSpPr>
        <p:spPr>
          <a:xfrm>
            <a:off x="9191625" y="6461125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Game Theory:</a:t>
            </a:r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Miners earn more by following rules than attacking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9032875" y="700087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7" name="Text 45"/>
          <p:cNvSpPr/>
          <p:nvPr/>
        </p:nvSpPr>
        <p:spPr>
          <a:xfrm>
            <a:off x="9191625" y="6937375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Decentralization:</a:t>
            </a:r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Thousands of independent miners globally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9032875" y="74771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9" name="Text 47"/>
          <p:cNvSpPr/>
          <p:nvPr/>
        </p:nvSpPr>
        <p:spPr>
          <a:xfrm>
            <a:off x="9191625" y="7413625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Immutability:</a:t>
            </a:r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Changing history requires redoing all subsequent work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racksolutions.com/ef0bb91eff957dcf9ffcba10aae54dff14ff4aa6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46" b="4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03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383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HISTORICAL EVOLUTION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From Cypherpunk Dream to Global Asset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686425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9436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15 Years of Price Discovery, Crashes &amp; Resilience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BITCOIN'S JOURNEY: KEY MILESTONES 2009-2024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76250" y="1492250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5625" y="1571625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2009-2010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60375" y="1952625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BEGINNING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0375" y="2174875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real-world transaction: 10,000 BTC for two pizzas at $0.003/BTC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6250" y="2532063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5625" y="2611438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Price: $0.003 → $0.30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54375" y="1357313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9313" y="1492250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68688" y="1571625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73438" y="1952625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BUBBLE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73438" y="2174875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Price spikes to $31, then crashes to $2. Media declares Bitcoin dead.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389313" y="2532063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68688" y="2611438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Peak: $31 | Crash: -94%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67438" y="1357313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2375" y="1492250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1750" y="1571625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286500" y="1952625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HALVING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86500" y="2174875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reward drops from 50 to 25 BTC. Sets stage for next bull run.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302375" y="2532063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81750" y="2611438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Price: $12 → $13.50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080500" y="1357313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15438" y="1492250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94813" y="1571625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2013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199563" y="1952625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$1,000 MILESTONE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99563" y="2174875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major bull run to $1,200. Mt. Gox becomes dominant exchange.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215438" y="2532063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94813" y="2611438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Peak: $1,242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41313" y="3095625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6250" y="3230563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5625" y="3309938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2014-2015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60375" y="3690937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MT. GOX COLLAPSE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60375" y="3913188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Exchange hack wipes out 850K BTC. Price falls below $200. Bear market.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76250" y="4270375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5625" y="4349750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Low: $152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254375" y="3095625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389313" y="3230563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8688" y="3309938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3373438" y="3690937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SECOND HALVING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373438" y="3913188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reward drops to 12.5 BTC. Ethereum launches, ICO era begins.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3389313" y="4270375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8688" y="4349750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Price: $650 → $960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167438" y="3095625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302375" y="3230563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1750" y="3309938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2017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286500" y="3690937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$20,000 PEAK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286500" y="3913188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ICO mania drives parabolic rise. CME/CBOE futures launch. Mainstream FOMO.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02375" y="4270375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81750" y="4349750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Peak: $19,800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9080500" y="3095625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9215438" y="3230563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94813" y="3309938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2018-2019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9199563" y="3690937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CRYPTO WINTER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9199563" y="3913188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80%+ crash from peak. Regulatory crackdowns. Institutional interest quietly builds.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9215438" y="4270375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294813" y="4349750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Low: $3,200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341313" y="4833938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76250" y="4968875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5625" y="5048250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2020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460375" y="5429250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THIRD HALVING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460375" y="5651500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reward drops to 6.25 BTC. COVID-19 triggers institutional adoption wave.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476250" y="6008688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55625" y="608806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Price: $8,000 → $29,000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3254375" y="4833938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389313" y="4968875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468688" y="5048250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2021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3373438" y="5429250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$69,000 ATH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3373438" y="5651500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MicroStrategy, Tesla add BTC to treasury. First Bitcoin futures ETF. NFT boom.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3389313" y="6008688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468688" y="608806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Peak: $69,000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167438" y="4833938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6302375" y="4968875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381750" y="5048250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2022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6286500" y="5429250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BEAR MARKET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6286500" y="5651500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Fed rate hikes, Terra/LUNA collapse, FTX bankruptcy. Price falls to $16K.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6302375" y="6008688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381750" y="608806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Low: $15,600</a:t>
            </a:r>
            <a:endParaRPr lang="en-US" sz="1600" dirty="0"/>
          </a:p>
        </p:txBody>
      </p:sp>
      <p:sp>
        <p:nvSpPr>
          <p:cNvPr id="82" name="Shape 80"/>
          <p:cNvSpPr/>
          <p:nvPr/>
        </p:nvSpPr>
        <p:spPr>
          <a:xfrm>
            <a:off x="9080500" y="4833938"/>
            <a:ext cx="2770188" cy="1595438"/>
          </a:xfrm>
          <a:custGeom>
            <a:avLst/>
            <a:gdLst/>
            <a:ahLst/>
            <a:cxn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31750" dir="2700000">
              <a:srgbClr val="000000">
                <a:alpha val="100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9215438" y="4968875"/>
            <a:ext cx="2500313" cy="381000"/>
          </a:xfrm>
          <a:custGeom>
            <a:avLst/>
            <a:gdLst/>
            <a:ahLst/>
            <a:cxn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9294813" y="5048250"/>
            <a:ext cx="24209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2024</a:t>
            </a:r>
            <a:endParaRPr lang="en-US" sz="1600" dirty="0"/>
          </a:p>
        </p:txBody>
      </p:sp>
      <p:sp>
        <p:nvSpPr>
          <p:cNvPr id="85" name="Text 83"/>
          <p:cNvSpPr/>
          <p:nvPr/>
        </p:nvSpPr>
        <p:spPr>
          <a:xfrm>
            <a:off x="9199563" y="5429250"/>
            <a:ext cx="25955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$100K+ BREAKTHROUGH</a:t>
            </a:r>
            <a:endParaRPr lang="en-US" sz="1600" dirty="0"/>
          </a:p>
        </p:txBody>
      </p:sp>
      <p:sp>
        <p:nvSpPr>
          <p:cNvPr id="86" name="Text 84"/>
          <p:cNvSpPr/>
          <p:nvPr/>
        </p:nvSpPr>
        <p:spPr>
          <a:xfrm>
            <a:off x="9199563" y="5651500"/>
            <a:ext cx="2587625" cy="277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Fourth halving. SEC approves spot ETFs. Price breaks $100K milestone.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9215438" y="6008688"/>
            <a:ext cx="2500313" cy="285750"/>
          </a:xfrm>
          <a:custGeom>
            <a:avLst/>
            <a:gdLst/>
            <a:ahLst/>
            <a:cxn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294813" y="6088063"/>
            <a:ext cx="2389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Peak: $126,173</a:t>
            </a:r>
            <a:endParaRPr lang="en-US" sz="1600" dirty="0"/>
          </a:p>
        </p:txBody>
      </p:sp>
      <p:sp>
        <p:nvSpPr>
          <p:cNvPr id="89" name="Shape 87"/>
          <p:cNvSpPr/>
          <p:nvPr/>
        </p:nvSpPr>
        <p:spPr>
          <a:xfrm>
            <a:off x="341313" y="6572250"/>
            <a:ext cx="11509375" cy="523875"/>
          </a:xfrm>
          <a:custGeom>
            <a:avLst/>
            <a:gdLst/>
            <a:ahLst/>
            <a:cxnLst/>
            <a:rect l="l" t="t" r="r" b="b"/>
            <a:pathLst>
              <a:path w="11509375" h="523875">
                <a:moveTo>
                  <a:pt x="0" y="0"/>
                </a:moveTo>
                <a:lnTo>
                  <a:pt x="11509375" y="0"/>
                </a:lnTo>
                <a:lnTo>
                  <a:pt x="11509375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2125" y="6723063"/>
            <a:ext cx="3302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FOUR HALVINGS: 2012 | 2016 | 2020 | 2024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8992133" y="6723063"/>
            <a:ext cx="2786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 Each Followed by Major Bull Run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shutterstock.com/c563bfef1a3f7a2d770c2034ce5d868a33ae9c4c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12734" b="12734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29224" y="781050"/>
            <a:ext cx="7753350" cy="3962400"/>
          </a:xfrm>
          <a:custGeom>
            <a:avLst/>
            <a:gdLst/>
            <a:ahLst/>
            <a:cxnLst/>
            <a:rect l="l" t="t" r="r" b="b"/>
            <a:pathLst>
              <a:path w="7753350" h="3962400">
                <a:moveTo>
                  <a:pt x="0" y="0"/>
                </a:moveTo>
                <a:lnTo>
                  <a:pt x="7753350" y="0"/>
                </a:lnTo>
                <a:lnTo>
                  <a:pt x="77533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77450" y="1266825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" name="Shape 3"/>
          <p:cNvSpPr/>
          <p:nvPr/>
        </p:nvSpPr>
        <p:spPr>
          <a:xfrm>
            <a:off x="10410825" y="129540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67950" y="1266825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04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172099" y="2486025"/>
            <a:ext cx="71247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MARKET DYNAMICS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67850" y="3571875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4343549" y="3876675"/>
            <a:ext cx="695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Halving Cycles &amp; Price Patterns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88050" y="5257800"/>
            <a:ext cx="5591175" cy="819150"/>
          </a:xfrm>
          <a:custGeom>
            <a:avLst/>
            <a:gdLst/>
            <a:ahLst/>
            <a:cxnLst/>
            <a:rect l="l" t="t" r="r" b="b"/>
            <a:pathLst>
              <a:path w="5591175" h="819150">
                <a:moveTo>
                  <a:pt x="0" y="0"/>
                </a:moveTo>
                <a:lnTo>
                  <a:pt x="5591175" y="0"/>
                </a:lnTo>
                <a:lnTo>
                  <a:pt x="55911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45225" y="5514975"/>
            <a:ext cx="51911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Programmed Scarcity Driving Market Cycles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HALVING EFFECT: PROGRAMMED SCARCITY IN ACTION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6223000" cy="6080125"/>
          </a:xfrm>
          <a:custGeom>
            <a:avLst/>
            <a:gdLst/>
            <a:ahLst/>
            <a:cxnLst/>
            <a:rect l="l" t="t" r="r" b="b"/>
            <a:pathLst>
              <a:path w="6223000" h="6080125">
                <a:moveTo>
                  <a:pt x="0" y="0"/>
                </a:moveTo>
                <a:lnTo>
                  <a:pt x="6223000" y="0"/>
                </a:lnTo>
                <a:lnTo>
                  <a:pt x="6223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953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WHAT IS THE HALVING?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3875" y="1889125"/>
            <a:ext cx="59213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Every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210,000 blocks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(~4 years), Bitcoin's block reward is cut in half. This pre-programmed monetary policy reduces new supply issuance, creating supply shocks that have historically preceded major bull runs.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39750" y="2651125"/>
            <a:ext cx="5826125" cy="2317750"/>
          </a:xfrm>
          <a:custGeom>
            <a:avLst/>
            <a:gdLst/>
            <a:ahLst/>
            <a:cxnLst/>
            <a:rect l="l" t="t" r="r" b="b"/>
            <a:pathLst>
              <a:path w="5826125" h="2317750">
                <a:moveTo>
                  <a:pt x="0" y="0"/>
                </a:moveTo>
                <a:lnTo>
                  <a:pt x="5826125" y="0"/>
                </a:lnTo>
                <a:lnTo>
                  <a:pt x="5826125" y="2317750"/>
                </a:lnTo>
                <a:lnTo>
                  <a:pt x="0" y="2317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625" y="2794000"/>
            <a:ext cx="560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Halving Schedule &amp; Price Performance: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98500" y="3095625"/>
            <a:ext cx="2690813" cy="793750"/>
          </a:xfrm>
          <a:custGeom>
            <a:avLst/>
            <a:gdLst/>
            <a:ahLst/>
            <a:cxn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9625" y="3206750"/>
            <a:ext cx="2524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2012: 50 → 25 BTC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09625" y="3397250"/>
            <a:ext cx="25638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+9,300%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09625" y="3651250"/>
            <a:ext cx="2516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$12 → $1,100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515506" y="3095625"/>
            <a:ext cx="2690813" cy="793750"/>
          </a:xfrm>
          <a:custGeom>
            <a:avLst/>
            <a:gdLst/>
            <a:ahLst/>
            <a:cxn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6631" y="3206750"/>
            <a:ext cx="2524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2016: 25 → 12.5 BTC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26631" y="3397250"/>
            <a:ext cx="25638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+3,200%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26631" y="3651250"/>
            <a:ext cx="2516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$650 → $19,800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98500" y="4016375"/>
            <a:ext cx="2690813" cy="793750"/>
          </a:xfrm>
          <a:custGeom>
            <a:avLst/>
            <a:gdLst/>
            <a:ahLst/>
            <a:cxn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9625" y="4127500"/>
            <a:ext cx="2524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2020: 12.5 → 6.25 BTC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09625" y="4318000"/>
            <a:ext cx="25638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+700%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09625" y="4572000"/>
            <a:ext cx="2516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$8,800 → $69,000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515506" y="4016375"/>
            <a:ext cx="2690813" cy="793750"/>
          </a:xfrm>
          <a:custGeom>
            <a:avLst/>
            <a:gdLst/>
            <a:ahLst/>
            <a:cxn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26631" y="4127500"/>
            <a:ext cx="25241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2024: 6.25 → 3.125 BTC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26631" y="4318000"/>
            <a:ext cx="25638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155DF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PROGRESS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626631" y="4572000"/>
            <a:ext cx="2516188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$43,000 → $126K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41313" y="7612063"/>
            <a:ext cx="6223000" cy="1571625"/>
          </a:xfrm>
          <a:custGeom>
            <a:avLst/>
            <a:gdLst/>
            <a:ahLst/>
            <a:cxnLst/>
            <a:rect l="l" t="t" r="r" b="b"/>
            <a:pathLst>
              <a:path w="6223000" h="1571625">
                <a:moveTo>
                  <a:pt x="0" y="0"/>
                </a:moveTo>
                <a:lnTo>
                  <a:pt x="6223000" y="0"/>
                </a:lnTo>
                <a:lnTo>
                  <a:pt x="6223000" y="1571625"/>
                </a:lnTo>
                <a:lnTo>
                  <a:pt x="0" y="1571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92125" y="7762875"/>
            <a:ext cx="6000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THE 2024 CYCLE: WHAT'S DIFFERENT?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8000" y="8096250"/>
            <a:ext cx="1881187" cy="920750"/>
          </a:xfrm>
          <a:custGeom>
            <a:avLst/>
            <a:gdLst/>
            <a:ahLst/>
            <a:cxn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9125" y="8207375"/>
            <a:ext cx="1722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ETF Approval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19125" y="8429625"/>
            <a:ext cx="171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spot ETFs create institutional demand never seen before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512963" y="8096250"/>
            <a:ext cx="1881187" cy="920750"/>
          </a:xfrm>
          <a:custGeom>
            <a:avLst/>
            <a:gdLst/>
            <a:ahLst/>
            <a:cxn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24088" y="8207375"/>
            <a:ext cx="1722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Corporate Treasury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2624088" y="8429625"/>
            <a:ext cx="1714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MicroStrategy holds 714K BTC worth $54B+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17988" y="8096250"/>
            <a:ext cx="1881187" cy="920750"/>
          </a:xfrm>
          <a:custGeom>
            <a:avLst/>
            <a:gdLst/>
            <a:ahLst/>
            <a:cxn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29113" y="8207375"/>
            <a:ext cx="1722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Nation-State Adoption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629113" y="8429625"/>
            <a:ext cx="1714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El Salvador makes BTC legal tender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769075" y="1357313"/>
            <a:ext cx="5080000" cy="3952875"/>
          </a:xfrm>
          <a:custGeom>
            <a:avLst/>
            <a:gdLst/>
            <a:ahLst/>
            <a:cxnLst/>
            <a:rect l="l" t="t" r="r" b="b"/>
            <a:pathLst>
              <a:path w="5080000" h="3952875">
                <a:moveTo>
                  <a:pt x="0" y="0"/>
                </a:moveTo>
                <a:lnTo>
                  <a:pt x="5080000" y="0"/>
                </a:lnTo>
                <a:lnTo>
                  <a:pt x="5080000" y="3952875"/>
                </a:lnTo>
                <a:lnTo>
                  <a:pt x="0" y="395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951638" y="1539875"/>
            <a:ext cx="4810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STOCK-TO-FLOW MODEL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51638" y="1920875"/>
            <a:ext cx="4778375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Bitcoin's scarcity can be measured by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stock-to-flow ratio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(existing supply / annual production). Higher ratios indicate greater scarcity.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967513" y="2476500"/>
            <a:ext cx="4683125" cy="603250"/>
          </a:xfrm>
          <a:custGeom>
            <a:avLst/>
            <a:gdLst/>
            <a:ahLst/>
            <a:cxn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78638" y="2619375"/>
            <a:ext cx="619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 S2F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1329231" y="2587625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62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094513" y="2889250"/>
            <a:ext cx="4429125" cy="63500"/>
          </a:xfrm>
          <a:custGeom>
            <a:avLst/>
            <a:gdLst/>
            <a:ahLst/>
            <a:cxn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10388" y="2905125"/>
            <a:ext cx="2198688" cy="31750"/>
          </a:xfrm>
          <a:custGeom>
            <a:avLst/>
            <a:gdLst/>
            <a:ahLst/>
            <a:cxnLst/>
            <a:rect l="l" t="t" r="r" b="b"/>
            <a:pathLst>
              <a:path w="2198688" h="31750">
                <a:moveTo>
                  <a:pt x="0" y="0"/>
                </a:moveTo>
                <a:lnTo>
                  <a:pt x="2198688" y="0"/>
                </a:lnTo>
                <a:lnTo>
                  <a:pt x="2198688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0B100"/>
          </a:solidFill>
          <a:ln/>
        </p:spPr>
      </p:sp>
      <p:sp>
        <p:nvSpPr>
          <p:cNvPr id="45" name="Shape 43"/>
          <p:cNvSpPr/>
          <p:nvPr/>
        </p:nvSpPr>
        <p:spPr>
          <a:xfrm>
            <a:off x="6967513" y="3206750"/>
            <a:ext cx="4683125" cy="603250"/>
          </a:xfrm>
          <a:custGeom>
            <a:avLst/>
            <a:gdLst/>
            <a:ahLst/>
            <a:cxn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078638" y="3349625"/>
            <a:ext cx="1484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S2F (Post-2024)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1223253" y="3317875"/>
            <a:ext cx="4127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120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7094513" y="3619500"/>
            <a:ext cx="4429125" cy="63500"/>
          </a:xfrm>
          <a:custGeom>
            <a:avLst/>
            <a:gdLst/>
            <a:ahLst/>
            <a:cxn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10388" y="3635375"/>
            <a:ext cx="4397375" cy="31750"/>
          </a:xfrm>
          <a:custGeom>
            <a:avLst/>
            <a:gdLst/>
            <a:ahLst/>
            <a:cxnLst/>
            <a:rect l="l" t="t" r="r" b="b"/>
            <a:pathLst>
              <a:path w="4397375" h="31750">
                <a:moveTo>
                  <a:pt x="0" y="0"/>
                </a:moveTo>
                <a:lnTo>
                  <a:pt x="4397375" y="0"/>
                </a:lnTo>
                <a:lnTo>
                  <a:pt x="4397375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F6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6967513" y="3937000"/>
            <a:ext cx="4683125" cy="603250"/>
          </a:xfrm>
          <a:custGeom>
            <a:avLst/>
            <a:gdLst/>
            <a:ahLst/>
            <a:cxn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78638" y="4079875"/>
            <a:ext cx="674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Silver S2F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11329231" y="4048125"/>
            <a:ext cx="309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22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7094513" y="4349750"/>
            <a:ext cx="4429125" cy="63500"/>
          </a:xfrm>
          <a:custGeom>
            <a:avLst/>
            <a:gdLst/>
            <a:ahLst/>
            <a:cxn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110388" y="4365625"/>
            <a:ext cx="793750" cy="31750"/>
          </a:xfrm>
          <a:custGeom>
            <a:avLst/>
            <a:gdLst/>
            <a:ahLst/>
            <a:cxnLst/>
            <a:rect l="l" t="t" r="r" b="b"/>
            <a:pathLst>
              <a:path w="793750" h="31750">
                <a:moveTo>
                  <a:pt x="0" y="0"/>
                </a:moveTo>
                <a:lnTo>
                  <a:pt x="793750" y="0"/>
                </a:lnTo>
                <a:lnTo>
                  <a:pt x="79375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/>
        </p:spPr>
      </p:sp>
      <p:sp>
        <p:nvSpPr>
          <p:cNvPr id="55" name="Shape 53"/>
          <p:cNvSpPr/>
          <p:nvPr/>
        </p:nvSpPr>
        <p:spPr>
          <a:xfrm>
            <a:off x="6967513" y="4699000"/>
            <a:ext cx="4683125" cy="412750"/>
          </a:xfrm>
          <a:custGeom>
            <a:avLst/>
            <a:gdLst/>
            <a:ahLst/>
            <a:cxnLst/>
            <a:rect l="l" t="t" r="r" b="b"/>
            <a:pathLst>
              <a:path w="4683125" h="412750">
                <a:moveTo>
                  <a:pt x="0" y="0"/>
                </a:moveTo>
                <a:lnTo>
                  <a:pt x="4683125" y="0"/>
                </a:lnTo>
                <a:lnTo>
                  <a:pt x="46831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46888" y="4810125"/>
            <a:ext cx="4524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is now scarcer than gold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769075" y="5484813"/>
            <a:ext cx="5080000" cy="3698875"/>
          </a:xfrm>
          <a:custGeom>
            <a:avLst/>
            <a:gdLst/>
            <a:ahLst/>
            <a:cxnLst/>
            <a:rect l="l" t="t" r="r" b="b"/>
            <a:pathLst>
              <a:path w="5080000" h="3698875">
                <a:moveTo>
                  <a:pt x="0" y="0"/>
                </a:moveTo>
                <a:lnTo>
                  <a:pt x="5080000" y="0"/>
                </a:lnTo>
                <a:lnTo>
                  <a:pt x="5080000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6951638" y="5667375"/>
            <a:ext cx="4810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SUPPLY IMPACT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967513" y="6064250"/>
            <a:ext cx="4683125" cy="889000"/>
          </a:xfrm>
          <a:custGeom>
            <a:avLst/>
            <a:gdLst/>
            <a:ahLst/>
            <a:cxn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78638" y="6175375"/>
            <a:ext cx="4524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Daily New Supply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7078638" y="6397625"/>
            <a:ext cx="45799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450 BTC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7078638" y="6683375"/>
            <a:ext cx="4516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Down from 900 BTC pre-halving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967513" y="7080250"/>
            <a:ext cx="4683125" cy="889000"/>
          </a:xfrm>
          <a:custGeom>
            <a:avLst/>
            <a:gdLst/>
            <a:ahLst/>
            <a:cxn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78638" y="7191375"/>
            <a:ext cx="4524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Inflation Rate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7078638" y="7413625"/>
            <a:ext cx="45799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0.85%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7078638" y="7699375"/>
            <a:ext cx="4516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Down from 1.75% pre-halving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967513" y="8096250"/>
            <a:ext cx="4683125" cy="889000"/>
          </a:xfrm>
          <a:custGeom>
            <a:avLst/>
            <a:gdLst/>
            <a:ahLst/>
            <a:cxn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78638" y="8207375"/>
            <a:ext cx="4524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Total Supply Mined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7078638" y="8429625"/>
            <a:ext cx="45799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93.75%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7078638" y="8715375"/>
            <a:ext cx="4516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~19.7M of 21M BTC in circulation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exp1.com/ddd847fd485f4b791ed1fc89be2f76918116cf81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14850" b="1485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05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383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CURRENT LANDSCAPE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2024-2025 Market Status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686425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943600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Institutional Adoption, ETF Success &amp; Price Discovery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BITCOIN TODAY: MARKET METRICS &amp; ADOPTION DATA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5651500" cy="2809875"/>
          </a:xfrm>
          <a:custGeom>
            <a:avLst/>
            <a:gdLst/>
            <a:ahLst/>
            <a:cxnLst/>
            <a:rect l="l" t="t" r="r" b="b"/>
            <a:pathLst>
              <a:path w="5651500" h="2809875">
                <a:moveTo>
                  <a:pt x="0" y="0"/>
                </a:moveTo>
                <a:lnTo>
                  <a:pt x="5651500" y="0"/>
                </a:lnTo>
                <a:lnTo>
                  <a:pt x="5651500" y="2809875"/>
                </a:lnTo>
                <a:lnTo>
                  <a:pt x="0" y="2809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PRICE PERFORMANCE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39750" y="1936750"/>
            <a:ext cx="2547938" cy="1016000"/>
          </a:xfrm>
          <a:custGeom>
            <a:avLst/>
            <a:gdLst/>
            <a:ahLst/>
            <a:cxn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2625" y="2079625"/>
            <a:ext cx="2325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Current Price (Mar 2026)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2625" y="2333625"/>
            <a:ext cx="2405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$74,532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46438" y="1936750"/>
            <a:ext cx="2547938" cy="1016000"/>
          </a:xfrm>
          <a:custGeom>
            <a:avLst/>
            <a:gdLst/>
            <a:ahLst/>
            <a:cxn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9313" y="2079625"/>
            <a:ext cx="2325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All-Time High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89313" y="2333625"/>
            <a:ext cx="2405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$126,173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89313" y="2651125"/>
            <a:ext cx="2317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October 6, 2025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39750" y="3111500"/>
            <a:ext cx="2547938" cy="857250"/>
          </a:xfrm>
          <a:custGeom>
            <a:avLst/>
            <a:gdLst/>
            <a:ahLst/>
            <a:cxn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2625" y="3254375"/>
            <a:ext cx="2325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Market Cap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2625" y="3508375"/>
            <a:ext cx="2405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$1.47T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46438" y="3111500"/>
            <a:ext cx="2547938" cy="857250"/>
          </a:xfrm>
          <a:custGeom>
            <a:avLst/>
            <a:gdLst/>
            <a:ahLst/>
            <a:cxn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9313" y="3254375"/>
            <a:ext cx="2325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24h Volume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389313" y="3508375"/>
            <a:ext cx="240506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$28.5B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41313" y="4341813"/>
            <a:ext cx="5651500" cy="3000375"/>
          </a:xfrm>
          <a:custGeom>
            <a:avLst/>
            <a:gdLst/>
            <a:ahLst/>
            <a:cxnLst/>
            <a:rect l="l" t="t" r="r" b="b"/>
            <a:pathLst>
              <a:path w="5651500" h="3000375">
                <a:moveTo>
                  <a:pt x="0" y="0"/>
                </a:moveTo>
                <a:lnTo>
                  <a:pt x="5651500" y="0"/>
                </a:lnTo>
                <a:lnTo>
                  <a:pt x="56515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23875" y="45243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INSTITUTIONAL HOLDINGS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39750" y="4921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0875" y="5064125"/>
            <a:ext cx="142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Total Institutional BTC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04023" y="5032375"/>
            <a:ext cx="10715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1.4M+ BTC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0875" y="5286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~7% of circulating supply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39750" y="5683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0875" y="5826125"/>
            <a:ext cx="196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ETF Assets Under Management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16587" y="5794375"/>
            <a:ext cx="6588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$85B+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0875" y="6048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BlackRock IBIT leads with $52B+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39750" y="6445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0875" y="6588125"/>
            <a:ext cx="1492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MicroStrategy Holdings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550172" y="6556375"/>
            <a:ext cx="12303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714,644 BTC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50875" y="6810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Cost basis: $54.4B ($76,056/BTC)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199188" y="1357313"/>
            <a:ext cx="5651500" cy="3825875"/>
          </a:xfrm>
          <a:custGeom>
            <a:avLst/>
            <a:gdLst/>
            <a:ahLst/>
            <a:cxnLst/>
            <a:rect l="l" t="t" r="r" b="b"/>
            <a:pathLst>
              <a:path w="5651500" h="3825875">
                <a:moveTo>
                  <a:pt x="0" y="0"/>
                </a:moveTo>
                <a:lnTo>
                  <a:pt x="5651500" y="0"/>
                </a:lnTo>
                <a:lnTo>
                  <a:pt x="5651500" y="3825875"/>
                </a:lnTo>
                <a:lnTo>
                  <a:pt x="0" y="382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81750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ON-CHAIN METRICS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97625" y="1936750"/>
            <a:ext cx="5254625" cy="952500"/>
          </a:xfrm>
          <a:custGeom>
            <a:avLst/>
            <a:gdLst/>
            <a:ahLst/>
            <a:cxnLst/>
            <a:rect l="l" t="t" r="r" b="b"/>
            <a:pathLst>
              <a:path w="5254625" h="952500">
                <a:moveTo>
                  <a:pt x="0" y="0"/>
                </a:moveTo>
                <a:lnTo>
                  <a:pt x="5254625" y="0"/>
                </a:lnTo>
                <a:lnTo>
                  <a:pt x="5254625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08750" y="20478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Long-Term Holder Supply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508750" y="2301875"/>
            <a:ext cx="5953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62%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080622" y="2365375"/>
            <a:ext cx="1452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of BTC unmoved for 1+ year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524625" y="2667000"/>
            <a:ext cx="5000625" cy="95250"/>
          </a:xfrm>
          <a:custGeom>
            <a:avLst/>
            <a:gdLst/>
            <a:ahLst/>
            <a:cxn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40500" y="2682875"/>
            <a:ext cx="3079750" cy="63500"/>
          </a:xfrm>
          <a:custGeom>
            <a:avLst/>
            <a:gdLst/>
            <a:ahLst/>
            <a:cxnLst/>
            <a:rect l="l" t="t" r="r" b="b"/>
            <a:pathLst>
              <a:path w="3079750" h="63500">
                <a:moveTo>
                  <a:pt x="0" y="0"/>
                </a:moveTo>
                <a:lnTo>
                  <a:pt x="3079750" y="0"/>
                </a:lnTo>
                <a:lnTo>
                  <a:pt x="307975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2" name="Shape 40"/>
          <p:cNvSpPr/>
          <p:nvPr/>
        </p:nvSpPr>
        <p:spPr>
          <a:xfrm>
            <a:off x="6397625" y="3016250"/>
            <a:ext cx="5254625" cy="920750"/>
          </a:xfrm>
          <a:custGeom>
            <a:avLst/>
            <a:gdLst/>
            <a:ahLst/>
            <a:cxn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08750" y="3127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Lightning Network Volume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508750" y="3381375"/>
            <a:ext cx="5151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$1.17B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508750" y="36671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Monthly transaction volume (Nov 2025)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397625" y="4064000"/>
            <a:ext cx="5254625" cy="920750"/>
          </a:xfrm>
          <a:custGeom>
            <a:avLst/>
            <a:gdLst/>
            <a:ahLst/>
            <a:cxn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08750" y="41751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Network Hash Rate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08750" y="4429125"/>
            <a:ext cx="5151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880 EH/s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508750" y="47148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All-time high network security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199188" y="5357813"/>
            <a:ext cx="5651500" cy="1984375"/>
          </a:xfrm>
          <a:custGeom>
            <a:avLst/>
            <a:gdLst/>
            <a:ahLst/>
            <a:cxnLst/>
            <a:rect l="l" t="t" r="r" b="b"/>
            <a:pathLst>
              <a:path w="5651500" h="1984375">
                <a:moveTo>
                  <a:pt x="0" y="0"/>
                </a:moveTo>
                <a:lnTo>
                  <a:pt x="5651500" y="0"/>
                </a:lnTo>
                <a:lnTo>
                  <a:pt x="5651500" y="1984375"/>
                </a:lnTo>
                <a:lnTo>
                  <a:pt x="0" y="1984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381750" y="55403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PERFORMANCE VS TRADITIONAL ASSETS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381750" y="5921375"/>
            <a:ext cx="5349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5-Year Returns (2020-2025):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381750" y="6207125"/>
            <a:ext cx="82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254875" y="6223000"/>
            <a:ext cx="4397375" cy="158750"/>
          </a:xfrm>
          <a:custGeom>
            <a:avLst/>
            <a:gdLst/>
            <a:ahLst/>
            <a:cxn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70750" y="6238875"/>
            <a:ext cx="4365625" cy="127000"/>
          </a:xfrm>
          <a:custGeom>
            <a:avLst/>
            <a:gdLst/>
            <a:ahLst/>
            <a:cxnLst/>
            <a:rect l="l" t="t" r="r" b="b"/>
            <a:pathLst>
              <a:path w="4365625" h="127000">
                <a:moveTo>
                  <a:pt x="0" y="0"/>
                </a:moveTo>
                <a:lnTo>
                  <a:pt x="4365625" y="0"/>
                </a:lnTo>
                <a:lnTo>
                  <a:pt x="4365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6" name="Text 54"/>
          <p:cNvSpPr/>
          <p:nvPr/>
        </p:nvSpPr>
        <p:spPr>
          <a:xfrm>
            <a:off x="11223749" y="6223000"/>
            <a:ext cx="404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+940%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6381750" y="6461125"/>
            <a:ext cx="82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Nasdaq 100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254875" y="6477000"/>
            <a:ext cx="4397375" cy="158750"/>
          </a:xfrm>
          <a:custGeom>
            <a:avLst/>
            <a:gdLst/>
            <a:ahLst/>
            <a:cxn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70750" y="6492875"/>
            <a:ext cx="523875" cy="127000"/>
          </a:xfrm>
          <a:custGeom>
            <a:avLst/>
            <a:gdLst/>
            <a:ahLst/>
            <a:cxnLst/>
            <a:rect l="l" t="t" r="r" b="b"/>
            <a:pathLst>
              <a:path w="523875" h="127000">
                <a:moveTo>
                  <a:pt x="0" y="0"/>
                </a:moveTo>
                <a:lnTo>
                  <a:pt x="523875" y="0"/>
                </a:lnTo>
                <a:lnTo>
                  <a:pt x="523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/>
        </p:spPr>
      </p:sp>
      <p:sp>
        <p:nvSpPr>
          <p:cNvPr id="60" name="Text 58"/>
          <p:cNvSpPr/>
          <p:nvPr/>
        </p:nvSpPr>
        <p:spPr>
          <a:xfrm>
            <a:off x="7381999" y="6477000"/>
            <a:ext cx="404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+110%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381750" y="6715125"/>
            <a:ext cx="82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S&amp;P 500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7254875" y="6731000"/>
            <a:ext cx="4397375" cy="158750"/>
          </a:xfrm>
          <a:custGeom>
            <a:avLst/>
            <a:gdLst/>
            <a:ahLst/>
            <a:cxn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270750" y="6746875"/>
            <a:ext cx="396875" cy="127000"/>
          </a:xfrm>
          <a:custGeom>
            <a:avLst/>
            <a:gdLst/>
            <a:ahLst/>
            <a:cxnLst/>
            <a:rect l="l" t="t" r="r" b="b"/>
            <a:pathLst>
              <a:path w="396875" h="127000">
                <a:moveTo>
                  <a:pt x="0" y="0"/>
                </a:moveTo>
                <a:lnTo>
                  <a:pt x="396875" y="0"/>
                </a:lnTo>
                <a:lnTo>
                  <a:pt x="396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/>
        </p:spPr>
      </p:sp>
      <p:sp>
        <p:nvSpPr>
          <p:cNvPr id="64" name="Text 62"/>
          <p:cNvSpPr/>
          <p:nvPr/>
        </p:nvSpPr>
        <p:spPr>
          <a:xfrm>
            <a:off x="7312794" y="6731000"/>
            <a:ext cx="341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+80%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6381750" y="6969125"/>
            <a:ext cx="82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7254875" y="6985000"/>
            <a:ext cx="4397375" cy="158750"/>
          </a:xfrm>
          <a:custGeom>
            <a:avLst/>
            <a:gdLst/>
            <a:ahLst/>
            <a:cxn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270750" y="7000875"/>
            <a:ext cx="174625" cy="127000"/>
          </a:xfrm>
          <a:custGeom>
            <a:avLst/>
            <a:gdLst/>
            <a:ahLst/>
            <a:cxnLst/>
            <a:rect l="l" t="t" r="r" b="b"/>
            <a:pathLst>
              <a:path w="174625" h="127000">
                <a:moveTo>
                  <a:pt x="0" y="0"/>
                </a:moveTo>
                <a:lnTo>
                  <a:pt x="174625" y="0"/>
                </a:lnTo>
                <a:lnTo>
                  <a:pt x="174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/>
        </p:spPr>
      </p:sp>
      <p:sp>
        <p:nvSpPr>
          <p:cNvPr id="68" name="Text 66"/>
          <p:cNvSpPr/>
          <p:nvPr/>
        </p:nvSpPr>
        <p:spPr>
          <a:xfrm>
            <a:off x="7094513" y="6985000"/>
            <a:ext cx="3413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+25%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media.istockphoto.com/2fb3eee729c3e8eade5a4c7fd77b7226b57177cb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3051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774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" name="Shape 3"/>
          <p:cNvSpPr/>
          <p:nvPr/>
        </p:nvSpPr>
        <p:spPr>
          <a:xfrm>
            <a:off x="104108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679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06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4480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INSTITUTIONAL ADOPTION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678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361950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Wall Street Embraces Bitcoin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198864" y="5686425"/>
            <a:ext cx="6581775" cy="819150"/>
          </a:xfrm>
          <a:custGeom>
            <a:avLst/>
            <a:gdLst/>
            <a:ahLst/>
            <a:cxnLst/>
            <a:rect l="l" t="t" r="r" b="b"/>
            <a:pathLst>
              <a:path w="6581775" h="819150">
                <a:moveTo>
                  <a:pt x="0" y="0"/>
                </a:moveTo>
                <a:lnTo>
                  <a:pt x="6581775" y="0"/>
                </a:lnTo>
                <a:lnTo>
                  <a:pt x="65817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56039" y="5943600"/>
            <a:ext cx="61817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From Fringe Asset to Mainstream Portfolio Allocation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FROM FRINGE TO MAINSTREAM: INSTITUTIONAL ENTRY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5651500" cy="1952625"/>
          </a:xfrm>
          <a:custGeom>
            <a:avLst/>
            <a:gdLst/>
            <a:ahLst/>
            <a:cxnLst/>
            <a:rect l="l" t="t" r="r" b="b"/>
            <a:pathLst>
              <a:path w="5651500" h="1952625">
                <a:moveTo>
                  <a:pt x="0" y="0"/>
                </a:moveTo>
                <a:lnTo>
                  <a:pt x="5651500" y="0"/>
                </a:lnTo>
                <a:lnTo>
                  <a:pt x="5651500" y="1952625"/>
                </a:lnTo>
                <a:lnTo>
                  <a:pt x="0" y="1952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7688" y="1563688"/>
            <a:ext cx="396875" cy="396875"/>
          </a:xfrm>
          <a:custGeom>
            <a:avLst/>
            <a:gdLst/>
            <a:ahLst/>
            <a:cxn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6250" y="1539875"/>
            <a:ext cx="4445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5375" y="1539875"/>
            <a:ext cx="4810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JANUARY 2024: THE TURNING POINT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5375" y="1857375"/>
            <a:ext cx="4778375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SEC approves </a:t>
            </a:r>
            <a:pPr>
              <a:lnSpc>
                <a:spcPct val="14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11 spot Bitcoin ETFs</a:t>
            </a:r>
            <a:pPr>
              <a:lnSpc>
                <a:spcPct val="14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, marking the most successful ETF launch in history. This removed the final barrier for institutional capital.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39750" y="2413000"/>
            <a:ext cx="1666875" cy="698500"/>
          </a:xfrm>
          <a:custGeom>
            <a:avLst/>
            <a:gdLst/>
            <a:ahLst/>
            <a:cxn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1344" y="2524125"/>
            <a:ext cx="15636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$52B+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3094" y="2841625"/>
            <a:ext cx="1500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BlackRock IBIT AUM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333625" y="2413000"/>
            <a:ext cx="1666875" cy="698500"/>
          </a:xfrm>
          <a:custGeom>
            <a:avLst/>
            <a:gdLst/>
            <a:ahLst/>
            <a:cxn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85219" y="2524125"/>
            <a:ext cx="15636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$85B+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416969" y="2841625"/>
            <a:ext cx="1500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Total ETF AUM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127500" y="2413000"/>
            <a:ext cx="1666875" cy="698500"/>
          </a:xfrm>
          <a:custGeom>
            <a:avLst/>
            <a:gdLst/>
            <a:ahLst/>
            <a:cxn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9094" y="2524125"/>
            <a:ext cx="15636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Year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210844" y="2841625"/>
            <a:ext cx="1500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 Reach $50B+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41313" y="3484563"/>
            <a:ext cx="5651500" cy="5222875"/>
          </a:xfrm>
          <a:custGeom>
            <a:avLst/>
            <a:gdLst/>
            <a:ahLst/>
            <a:cxnLst/>
            <a:rect l="l" t="t" r="r" b="b"/>
            <a:pathLst>
              <a:path w="5651500" h="5222875">
                <a:moveTo>
                  <a:pt x="0" y="0"/>
                </a:moveTo>
                <a:lnTo>
                  <a:pt x="5651500" y="0"/>
                </a:lnTo>
                <a:lnTo>
                  <a:pt x="5651500" y="5222875"/>
                </a:lnTo>
                <a:lnTo>
                  <a:pt x="0" y="522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3875" y="36671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KEY INSTITUTIONAL PLAYERS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39750" y="4064000"/>
            <a:ext cx="5254625" cy="666750"/>
          </a:xfrm>
          <a:custGeom>
            <a:avLst/>
            <a:gdLst/>
            <a:ahLst/>
            <a:cxn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0875" y="4175125"/>
            <a:ext cx="2619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MicroStrategy (Strategy)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0875" y="4429125"/>
            <a:ext cx="26114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Pioneered corporate treasury Bitcoin strategy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454922" y="4175125"/>
            <a:ext cx="12303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714,644 BTC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494609" y="4429125"/>
            <a:ext cx="119062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$54.4B value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39750" y="4857750"/>
            <a:ext cx="5254625" cy="666750"/>
          </a:xfrm>
          <a:custGeom>
            <a:avLst/>
            <a:gdLst/>
            <a:ahLst/>
            <a:cxn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0875" y="4968875"/>
            <a:ext cx="2151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Tesla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50875" y="5222875"/>
            <a:ext cx="2143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Added BTC to balance sheet in 2021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560900" y="4968875"/>
            <a:ext cx="111918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11,509 BTC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600587" y="5222875"/>
            <a:ext cx="10795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~$850M value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39750" y="5651500"/>
            <a:ext cx="5254625" cy="666750"/>
          </a:xfrm>
          <a:custGeom>
            <a:avLst/>
            <a:gdLst/>
            <a:ahLst/>
            <a:cxn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0875" y="5762625"/>
            <a:ext cx="2127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(Square)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50875" y="6016625"/>
            <a:ext cx="2119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Financial services embracing Bitcoin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666816" y="5762625"/>
            <a:ext cx="101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8,027 BTC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706503" y="6016625"/>
            <a:ext cx="9763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~$600M value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199188" y="1357313"/>
            <a:ext cx="5651500" cy="4714875"/>
          </a:xfrm>
          <a:custGeom>
            <a:avLst/>
            <a:gdLst/>
            <a:ahLst/>
            <a:cxnLst/>
            <a:rect l="l" t="t" r="r" b="b"/>
            <a:pathLst>
              <a:path w="5651500" h="4714875">
                <a:moveTo>
                  <a:pt x="0" y="0"/>
                </a:moveTo>
                <a:lnTo>
                  <a:pt x="5651500" y="0"/>
                </a:lnTo>
                <a:lnTo>
                  <a:pt x="565150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81750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THREE-PHASE ADOPTION TIMELINE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97625" y="1936750"/>
            <a:ext cx="5254625" cy="1206500"/>
          </a:xfrm>
          <a:custGeom>
            <a:avLst/>
            <a:gdLst/>
            <a:ahLst/>
            <a:cxn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64313" y="2103438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08750" y="207962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953250" y="2127250"/>
            <a:ext cx="841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2025-2027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540500" y="2460625"/>
            <a:ext cx="5032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Pension &amp; 401(k) Integration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540500" y="2682875"/>
            <a:ext cx="50244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Early pension fund allocations, 401(k) plans add Bitcoin ETF options, 2-5% standard allocation models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97625" y="3302000"/>
            <a:ext cx="5254625" cy="1206500"/>
          </a:xfrm>
          <a:custGeom>
            <a:avLst/>
            <a:gdLst/>
            <a:ahLst/>
            <a:cxn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64313" y="3468688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08750" y="344487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953250" y="3492500"/>
            <a:ext cx="841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2028-2030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40500" y="3825875"/>
            <a:ext cx="5032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Corporate Treasury Expansion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540500" y="4048125"/>
            <a:ext cx="50244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European/Asian ETFs launch, 2028 halving cuts supply, corporate treasuries follow MicroStrategy model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6397625" y="4667250"/>
            <a:ext cx="5254625" cy="1206500"/>
          </a:xfrm>
          <a:custGeom>
            <a:avLst/>
            <a:gdLst/>
            <a:ahLst/>
            <a:cxn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564313" y="4833938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08750" y="481012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953250" y="4857750"/>
            <a:ext cx="841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2030-2032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540500" y="5191125"/>
            <a:ext cx="5032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Infrastructure Embedding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540500" y="5413375"/>
            <a:ext cx="50244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becomes operational infrastructure for custody, lending, trading services. Switching costs make removal prohibitively expensive.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199188" y="6246813"/>
            <a:ext cx="5651500" cy="2460625"/>
          </a:xfrm>
          <a:custGeom>
            <a:avLst/>
            <a:gdLst/>
            <a:ahLst/>
            <a:cxnLst/>
            <a:rect l="l" t="t" r="r" b="b"/>
            <a:pathLst>
              <a:path w="5651500" h="2460625">
                <a:moveTo>
                  <a:pt x="0" y="0"/>
                </a:moveTo>
                <a:lnTo>
                  <a:pt x="5651500" y="0"/>
                </a:lnTo>
                <a:lnTo>
                  <a:pt x="5651500" y="2460625"/>
                </a:lnTo>
                <a:lnTo>
                  <a:pt x="0" y="246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6381750" y="64293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MAJOR BANKS ENTERING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97625" y="6826250"/>
            <a:ext cx="5254625" cy="349250"/>
          </a:xfrm>
          <a:custGeom>
            <a:avLst/>
            <a:gdLst/>
            <a:ahLst/>
            <a:cxn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77000" y="69691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0" name="Text 58"/>
          <p:cNvSpPr/>
          <p:nvPr/>
        </p:nvSpPr>
        <p:spPr>
          <a:xfrm>
            <a:off x="6635750" y="6905625"/>
            <a:ext cx="674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JPMorgan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7344916" y="6921500"/>
            <a:ext cx="142081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Accepting BTC as collateral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6397625" y="7270750"/>
            <a:ext cx="5254625" cy="349250"/>
          </a:xfrm>
          <a:custGeom>
            <a:avLst/>
            <a:gdLst/>
            <a:ahLst/>
            <a:cxn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77000" y="74136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4" name="Text 62"/>
          <p:cNvSpPr/>
          <p:nvPr/>
        </p:nvSpPr>
        <p:spPr>
          <a:xfrm>
            <a:off x="6635750" y="7350125"/>
            <a:ext cx="1023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Goldman Sachs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7690817" y="7366000"/>
            <a:ext cx="1341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Crypto trading desk active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397625" y="7715250"/>
            <a:ext cx="5254625" cy="349250"/>
          </a:xfrm>
          <a:custGeom>
            <a:avLst/>
            <a:gdLst/>
            <a:ahLst/>
            <a:cxn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77000" y="78581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8" name="Text 66"/>
          <p:cNvSpPr/>
          <p:nvPr/>
        </p:nvSpPr>
        <p:spPr>
          <a:xfrm>
            <a:off x="6635750" y="7794625"/>
            <a:ext cx="1008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Morgan Stanley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7676617" y="7810500"/>
            <a:ext cx="1476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Offering BTC funds to clients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6397625" y="8159750"/>
            <a:ext cx="5254625" cy="349250"/>
          </a:xfrm>
          <a:custGeom>
            <a:avLst/>
            <a:gdLst/>
            <a:ahLst/>
            <a:cxn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477000" y="8302625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72" name="Text 70"/>
          <p:cNvSpPr/>
          <p:nvPr/>
        </p:nvSpPr>
        <p:spPr>
          <a:xfrm>
            <a:off x="6635750" y="8239125"/>
            <a:ext cx="341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SoFi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7006146" y="8255000"/>
            <a:ext cx="1960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First US bank with direct crypto trading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zelladc.com/f17de6296badf5493ff19a50c4d80e28896b047b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14444" r="14444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781050"/>
            <a:ext cx="8477250" cy="3962400"/>
          </a:xfrm>
          <a:custGeom>
            <a:avLst/>
            <a:gdLst/>
            <a:ahLst/>
            <a:cxn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129540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1266825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07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38350" y="1266825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486025"/>
            <a:ext cx="7848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MINING ECONOMICS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3571875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3876675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Backbone of Security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257800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514975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Post-Halving Profitability &amp; Industry Consolidation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MINING INDUSTRY: POST-HALVING ECONOMICS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5651500" cy="3413125"/>
          </a:xfrm>
          <a:custGeom>
            <a:avLst/>
            <a:gdLst/>
            <a:ahLst/>
            <a:cxnLst/>
            <a:rect l="l" t="t" r="r" b="b"/>
            <a:pathLst>
              <a:path w="5651500" h="3413125">
                <a:moveTo>
                  <a:pt x="0" y="0"/>
                </a:moveTo>
                <a:lnTo>
                  <a:pt x="5651500" y="0"/>
                </a:lnTo>
                <a:lnTo>
                  <a:pt x="5651500" y="3413125"/>
                </a:lnTo>
                <a:lnTo>
                  <a:pt x="0" y="341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REVENUE MODEL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39750" y="19367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2625" y="2111375"/>
            <a:ext cx="1055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Block Subsidy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00004" y="2079625"/>
            <a:ext cx="127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3.125 BTC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2625" y="242887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Down from 6.25 BTC pre-2024 halving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9750" y="285750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2625" y="3032125"/>
            <a:ext cx="12461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Transaction Fees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5826" y="3000375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~0.5 BTC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2625" y="334962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Variable based on network congestion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9750" y="37782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2625" y="3952875"/>
            <a:ext cx="1651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Daily Network Revenue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59536" y="3921125"/>
            <a:ext cx="1214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~450 BTC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2625" y="427037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Down from 900 BTC pre-halving (~$33M/day)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41313" y="4945063"/>
            <a:ext cx="5651500" cy="4238625"/>
          </a:xfrm>
          <a:custGeom>
            <a:avLst/>
            <a:gdLst/>
            <a:ahLst/>
            <a:cxnLst/>
            <a:rect l="l" t="t" r="r" b="b"/>
            <a:pathLst>
              <a:path w="5651500" h="4238625">
                <a:moveTo>
                  <a:pt x="0" y="0"/>
                </a:moveTo>
                <a:lnTo>
                  <a:pt x="5651500" y="0"/>
                </a:lnTo>
                <a:lnTo>
                  <a:pt x="5651500" y="4238625"/>
                </a:lnTo>
                <a:lnTo>
                  <a:pt x="0" y="4238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23875" y="51276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COST STRUCTURE BREAKDOWN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39750" y="55245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0875" y="5651500"/>
            <a:ext cx="666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Electricity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36059" y="5635625"/>
            <a:ext cx="627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60-80%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6750" y="5905500"/>
            <a:ext cx="5000625" cy="95250"/>
          </a:xfrm>
          <a:custGeom>
            <a:avLst/>
            <a:gdLst/>
            <a:ahLst/>
            <a:cxn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2625" y="5921375"/>
            <a:ext cx="3476625" cy="63500"/>
          </a:xfrm>
          <a:custGeom>
            <a:avLst/>
            <a:gdLst/>
            <a:ahLst/>
            <a:cxnLst/>
            <a:rect l="l" t="t" r="r" b="b"/>
            <a:pathLst>
              <a:path w="3476625" h="63500">
                <a:moveTo>
                  <a:pt x="0" y="0"/>
                </a:moveTo>
                <a:lnTo>
                  <a:pt x="3476625" y="0"/>
                </a:lnTo>
                <a:lnTo>
                  <a:pt x="34766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539750" y="6254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0875" y="6381750"/>
            <a:ext cx="1444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Hardware Depreciation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36059" y="6365875"/>
            <a:ext cx="627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10-20%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66750" y="6635750"/>
            <a:ext cx="5000625" cy="95250"/>
          </a:xfrm>
          <a:custGeom>
            <a:avLst/>
            <a:gdLst/>
            <a:ahLst/>
            <a:cxn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2625" y="6651625"/>
            <a:ext cx="746125" cy="63500"/>
          </a:xfrm>
          <a:custGeom>
            <a:avLst/>
            <a:gdLst/>
            <a:ahLst/>
            <a:cxnLst/>
            <a:rect l="l" t="t" r="r" b="b"/>
            <a:pathLst>
              <a:path w="746125" h="63500">
                <a:moveTo>
                  <a:pt x="0" y="0"/>
                </a:moveTo>
                <a:lnTo>
                  <a:pt x="746125" y="0"/>
                </a:lnTo>
                <a:lnTo>
                  <a:pt x="746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/>
        </p:spPr>
      </p:sp>
      <p:sp>
        <p:nvSpPr>
          <p:cNvPr id="31" name="Shape 29"/>
          <p:cNvSpPr/>
          <p:nvPr/>
        </p:nvSpPr>
        <p:spPr>
          <a:xfrm>
            <a:off x="539750" y="69850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0875" y="7112000"/>
            <a:ext cx="1238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Facilities &amp; Cooling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224363" y="7096125"/>
            <a:ext cx="539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5-10%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66750" y="7366000"/>
            <a:ext cx="5000625" cy="95250"/>
          </a:xfrm>
          <a:custGeom>
            <a:avLst/>
            <a:gdLst/>
            <a:ahLst/>
            <a:cxn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2625" y="7381875"/>
            <a:ext cx="396875" cy="63500"/>
          </a:xfrm>
          <a:custGeom>
            <a:avLst/>
            <a:gdLst/>
            <a:ahLst/>
            <a:cxnLst/>
            <a:rect l="l" t="t" r="r" b="b"/>
            <a:pathLst>
              <a:path w="396875" h="63500">
                <a:moveTo>
                  <a:pt x="0" y="0"/>
                </a:moveTo>
                <a:lnTo>
                  <a:pt x="396875" y="0"/>
                </a:lnTo>
                <a:lnTo>
                  <a:pt x="39687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/>
        </p:spPr>
      </p:sp>
      <p:sp>
        <p:nvSpPr>
          <p:cNvPr id="36" name="Shape 34"/>
          <p:cNvSpPr/>
          <p:nvPr/>
        </p:nvSpPr>
        <p:spPr>
          <a:xfrm>
            <a:off x="539750" y="77152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0875" y="7842250"/>
            <a:ext cx="1428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Personnel &amp; Overhead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5312606" y="7826375"/>
            <a:ext cx="45243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3-5%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66750" y="8096250"/>
            <a:ext cx="5000625" cy="95250"/>
          </a:xfrm>
          <a:custGeom>
            <a:avLst/>
            <a:gdLst/>
            <a:ahLst/>
            <a:cxn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2625" y="8112125"/>
            <a:ext cx="198438" cy="63500"/>
          </a:xfrm>
          <a:custGeom>
            <a:avLst/>
            <a:gdLst/>
            <a:ahLst/>
            <a:cxnLst/>
            <a:rect l="l" t="t" r="r" b="b"/>
            <a:pathLst>
              <a:path w="198438" h="63500">
                <a:moveTo>
                  <a:pt x="0" y="0"/>
                </a:moveTo>
                <a:lnTo>
                  <a:pt x="198438" y="0"/>
                </a:lnTo>
                <a:lnTo>
                  <a:pt x="198438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99188" y="1357313"/>
            <a:ext cx="5651500" cy="3730625"/>
          </a:xfrm>
          <a:custGeom>
            <a:avLst/>
            <a:gdLst/>
            <a:ahLst/>
            <a:cxnLst/>
            <a:rect l="l" t="t" r="r" b="b"/>
            <a:pathLst>
              <a:path w="5651500" h="3730625">
                <a:moveTo>
                  <a:pt x="0" y="0"/>
                </a:moveTo>
                <a:lnTo>
                  <a:pt x="5651500" y="0"/>
                </a:lnTo>
                <a:lnTo>
                  <a:pt x="5651500" y="3730625"/>
                </a:lnTo>
                <a:lnTo>
                  <a:pt x="0" y="373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381750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HASH RATE CONCENTRATION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97625" y="1936750"/>
            <a:ext cx="5254625" cy="984250"/>
          </a:xfrm>
          <a:custGeom>
            <a:avLst/>
            <a:gdLst/>
            <a:ahLst/>
            <a:cxnLst/>
            <a:rect l="l" t="t" r="r" b="b"/>
            <a:pathLst>
              <a:path w="5254625" h="984250">
                <a:moveTo>
                  <a:pt x="0" y="0"/>
                </a:moveTo>
                <a:lnTo>
                  <a:pt x="5254625" y="0"/>
                </a:lnTo>
                <a:lnTo>
                  <a:pt x="5254625" y="984250"/>
                </a:lnTo>
                <a:lnTo>
                  <a:pt x="0" y="984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08750" y="20478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Top 5 Mining Pools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508750" y="2301875"/>
            <a:ext cx="738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~55%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187964" y="2365375"/>
            <a:ext cx="1270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of total network hashrate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524625" y="2667000"/>
            <a:ext cx="5000625" cy="127000"/>
          </a:xfrm>
          <a:custGeom>
            <a:avLst/>
            <a:gdLst/>
            <a:ahLst/>
            <a:cxn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40500" y="2682875"/>
            <a:ext cx="2730500" cy="95250"/>
          </a:xfrm>
          <a:custGeom>
            <a:avLst/>
            <a:gdLst/>
            <a:ahLst/>
            <a:cxnLst/>
            <a:rect l="l" t="t" r="r" b="b"/>
            <a:pathLst>
              <a:path w="2730500" h="95250">
                <a:moveTo>
                  <a:pt x="0" y="0"/>
                </a:moveTo>
                <a:lnTo>
                  <a:pt x="2730500" y="0"/>
                </a:lnTo>
                <a:lnTo>
                  <a:pt x="273050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9" name="Shape 47"/>
          <p:cNvSpPr/>
          <p:nvPr/>
        </p:nvSpPr>
        <p:spPr>
          <a:xfrm>
            <a:off x="6397625" y="3048000"/>
            <a:ext cx="5254625" cy="857250"/>
          </a:xfrm>
          <a:custGeom>
            <a:avLst/>
            <a:gdLst/>
            <a:ahLst/>
            <a:cxn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08750" y="31591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Foundry USA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508750" y="3381375"/>
            <a:ext cx="5127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~35%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508750" y="3635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Largest mining pool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97625" y="4032250"/>
            <a:ext cx="5254625" cy="857250"/>
          </a:xfrm>
          <a:custGeom>
            <a:avLst/>
            <a:gdLst/>
            <a:ahLst/>
            <a:cxn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08750" y="4143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Publicly Traded Miners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508750" y="4365625"/>
            <a:ext cx="5127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~25%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508750" y="46196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Marathon, Riot, CleanSpark, etc.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199188" y="5262563"/>
            <a:ext cx="5651500" cy="3921125"/>
          </a:xfrm>
          <a:custGeom>
            <a:avLst/>
            <a:gdLst/>
            <a:ahLst/>
            <a:cxnLst/>
            <a:rect l="l" t="t" r="r" b="b"/>
            <a:pathLst>
              <a:path w="5651500" h="3921125">
                <a:moveTo>
                  <a:pt x="0" y="0"/>
                </a:moveTo>
                <a:lnTo>
                  <a:pt x="5651500" y="0"/>
                </a:lnTo>
                <a:lnTo>
                  <a:pt x="5651500" y="3921125"/>
                </a:lnTo>
                <a:lnTo>
                  <a:pt x="0" y="3921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6381750" y="54451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POST-HALVING REALITY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397625" y="5842000"/>
            <a:ext cx="5254625" cy="857250"/>
          </a:xfrm>
          <a:custGeom>
            <a:avLst/>
            <a:gdLst/>
            <a:ahLst/>
            <a:cxn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08750" y="59531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Breakeven Electricity Rate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508750" y="6175375"/>
            <a:ext cx="5127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$0.05-0.08/kWh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508750" y="6429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For efficient ASIC miners at $75K BTC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97625" y="6826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08750" y="6937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Industry Consolidation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6508750" y="7159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Small miners shut down, large operations with cheap electricity dominate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397625" y="7588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08750" y="7699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Shift to Fee Revenue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6508750" y="7921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Miners increasingly dependent on transaction fees as subsidy declines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6397625" y="8350250"/>
            <a:ext cx="5254625" cy="635000"/>
          </a:xfrm>
          <a:custGeom>
            <a:avLst/>
            <a:gdLst/>
            <a:ahLst/>
            <a:cxn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08750" y="8461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Renewable Energy Trend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6508750" y="8683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~55% of mining uses renewable energy (hydro, wind, solar)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static.vecteezy.com/bfd49456bfd02c6aaf5b411c857dc51ab9cd61d7.jpe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194" r="194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3051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774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" name="Shape 3"/>
          <p:cNvSpPr/>
          <p:nvPr/>
        </p:nvSpPr>
        <p:spPr>
          <a:xfrm>
            <a:off x="104108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679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08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4480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DIGITAL GOLD THESIS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678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361950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Store of Value Debate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779169" y="5686425"/>
            <a:ext cx="7000875" cy="819150"/>
          </a:xfrm>
          <a:custGeom>
            <a:avLst/>
            <a:gdLst/>
            <a:ahLst/>
            <a:cxnLst/>
            <a:rect l="l" t="t" r="r" b="b"/>
            <a:pathLst>
              <a:path w="7000875" h="819150">
                <a:moveTo>
                  <a:pt x="0" y="0"/>
                </a:moveTo>
                <a:lnTo>
                  <a:pt x="7000875" y="0"/>
                </a:lnTo>
                <a:lnTo>
                  <a:pt x="70008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36344" y="5943600"/>
            <a:ext cx="66008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Can Bitcoin Replace Gold as the Ultimate Store of Value?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BITCOIN VS GOLD: THE NEW STORE OF VALUE?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5651500" cy="4302125"/>
          </a:xfrm>
          <a:custGeom>
            <a:avLst/>
            <a:gdLst/>
            <a:ahLst/>
            <a:cxn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BITCOIN'S ADVANTAGES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39750" y="1936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0875" y="21113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9" name="Text 7"/>
          <p:cNvSpPr/>
          <p:nvPr/>
        </p:nvSpPr>
        <p:spPr>
          <a:xfrm>
            <a:off x="841375" y="2047875"/>
            <a:ext cx="3222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Portability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375" y="2270125"/>
            <a:ext cx="32146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Transfer $1B across borders in minutes vs. tons of physical gold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9750" y="26670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0875" y="284162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841375" y="2778125"/>
            <a:ext cx="3452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Divisibility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41375" y="3000375"/>
            <a:ext cx="3444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Divisible to 8 decimal places (0.00000001 BTC) vs. gold bars/ounces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9750" y="33972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0875" y="35718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41375" y="3508375"/>
            <a:ext cx="2809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Verifiability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375" y="3730625"/>
            <a:ext cx="2801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Cryptographic proof vs. expensive purity testing for gold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39750" y="41275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875" y="430212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841375" y="4238625"/>
            <a:ext cx="3238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Fixed Supply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375" y="4460875"/>
            <a:ext cx="3230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21M BTC hard cap vs. unknown total gold supply in Earth's crust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39750" y="4857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0875" y="50323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841375" y="4968875"/>
            <a:ext cx="3000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Programmable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41375" y="5191125"/>
            <a:ext cx="2992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Smart contracts, multisig, time-locks vs. inert physical metal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41313" y="5834063"/>
            <a:ext cx="5651500" cy="3857625"/>
          </a:xfrm>
          <a:custGeom>
            <a:avLst/>
            <a:gdLst/>
            <a:ahLst/>
            <a:cxn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23875" y="60166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PERFORMANCE COMPARISON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23875" y="6397625"/>
            <a:ext cx="5349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5-Year Returns (2020-2025):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39750" y="6699250"/>
            <a:ext cx="5254625" cy="730250"/>
          </a:xfrm>
          <a:custGeom>
            <a:avLst/>
            <a:gdLst/>
            <a:ahLst/>
            <a:cxn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0875" y="6858000"/>
            <a:ext cx="492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935141" y="6810375"/>
            <a:ext cx="865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+940%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66750" y="7175500"/>
            <a:ext cx="5000625" cy="127000"/>
          </a:xfrm>
          <a:custGeom>
            <a:avLst/>
            <a:gdLst/>
            <a:ahLst/>
            <a:cxn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2625" y="7191375"/>
            <a:ext cx="4968875" cy="95250"/>
          </a:xfrm>
          <a:custGeom>
            <a:avLst/>
            <a:gdLst/>
            <a:ahLst/>
            <a:cxnLst/>
            <a:rect l="l" t="t" r="r" b="b"/>
            <a:pathLst>
              <a:path w="4968875" h="95250">
                <a:moveTo>
                  <a:pt x="0" y="0"/>
                </a:moveTo>
                <a:lnTo>
                  <a:pt x="4968875" y="0"/>
                </a:lnTo>
                <a:lnTo>
                  <a:pt x="49688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35" name="Shape 33"/>
          <p:cNvSpPr/>
          <p:nvPr/>
        </p:nvSpPr>
        <p:spPr>
          <a:xfrm>
            <a:off x="539750" y="7556500"/>
            <a:ext cx="5254625" cy="730250"/>
          </a:xfrm>
          <a:custGeom>
            <a:avLst/>
            <a:gdLst/>
            <a:ahLst/>
            <a:cxn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0875" y="7715250"/>
            <a:ext cx="34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067536" y="7667625"/>
            <a:ext cx="738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D087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+25%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66750" y="8032750"/>
            <a:ext cx="5000625" cy="127000"/>
          </a:xfrm>
          <a:custGeom>
            <a:avLst/>
            <a:gdLst/>
            <a:ahLst/>
            <a:cxn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2625" y="8048625"/>
            <a:ext cx="150813" cy="95250"/>
          </a:xfrm>
          <a:custGeom>
            <a:avLst/>
            <a:gdLst/>
            <a:ahLst/>
            <a:cxnLst/>
            <a:rect l="l" t="t" r="r" b="b"/>
            <a:pathLst>
              <a:path w="150813" h="95250">
                <a:moveTo>
                  <a:pt x="0" y="0"/>
                </a:moveTo>
                <a:lnTo>
                  <a:pt x="150813" y="0"/>
                </a:lnTo>
                <a:lnTo>
                  <a:pt x="1508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/>
        </p:spPr>
      </p:sp>
      <p:sp>
        <p:nvSpPr>
          <p:cNvPr id="40" name="Shape 38"/>
          <p:cNvSpPr/>
          <p:nvPr/>
        </p:nvSpPr>
        <p:spPr>
          <a:xfrm>
            <a:off x="539750" y="8445500"/>
            <a:ext cx="5254625" cy="412750"/>
          </a:xfrm>
          <a:custGeom>
            <a:avLst/>
            <a:gdLst/>
            <a:ahLst/>
            <a:cxn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125" y="8556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has outperformed gold by 37x over 5 years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199188" y="1357313"/>
            <a:ext cx="5651500" cy="4302125"/>
          </a:xfrm>
          <a:custGeom>
            <a:avLst/>
            <a:gdLst/>
            <a:ahLst/>
            <a:cxn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381750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GOLD'S ADVANTAGES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97625" y="1936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08750" y="21113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46" name="Text 44"/>
          <p:cNvSpPr/>
          <p:nvPr/>
        </p:nvSpPr>
        <p:spPr>
          <a:xfrm>
            <a:off x="6699250" y="2047875"/>
            <a:ext cx="31353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3,000+ Year Track Record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699250" y="2270125"/>
            <a:ext cx="31273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Proven store of value across civilizations vs. Bitcoin's 16 years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97625" y="26670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508750" y="284162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0" name="Text 48"/>
          <p:cNvSpPr/>
          <p:nvPr/>
        </p:nvSpPr>
        <p:spPr>
          <a:xfrm>
            <a:off x="6699250" y="2778125"/>
            <a:ext cx="28019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Physical Tangibility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699250" y="3000375"/>
            <a:ext cx="2794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Can hold in your hand, no internet or electricity required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6397625" y="33972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508750" y="35718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4" name="Text 52"/>
          <p:cNvSpPr/>
          <p:nvPr/>
        </p:nvSpPr>
        <p:spPr>
          <a:xfrm>
            <a:off x="6699250" y="3508375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Central Bank Demand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699250" y="3730625"/>
            <a:ext cx="2849563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Record-high official gold purchases (1,000+ tonnes/year)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397625" y="41275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508750" y="430212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8" name="Text 56"/>
          <p:cNvSpPr/>
          <p:nvPr/>
        </p:nvSpPr>
        <p:spPr>
          <a:xfrm>
            <a:off x="6699250" y="4238625"/>
            <a:ext cx="2579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Lower Volatility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6699250" y="4460875"/>
            <a:ext cx="2571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Gold's annual volatility ~15% vs. Bitcoin's ~60-80%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397625" y="4857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08750" y="5032375"/>
            <a:ext cx="95250" cy="95250"/>
          </a:xfrm>
          <a:custGeom>
            <a:avLst/>
            <a:gdLst/>
            <a:ahLst/>
            <a:cxn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2" name="Text 60"/>
          <p:cNvSpPr/>
          <p:nvPr/>
        </p:nvSpPr>
        <p:spPr>
          <a:xfrm>
            <a:off x="6699250" y="4968875"/>
            <a:ext cx="32146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Industrial &amp; Jewelry Use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6699250" y="5191125"/>
            <a:ext cx="3206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Real utility beyond speculation (electronics, dentistry, ornament)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6199188" y="5834063"/>
            <a:ext cx="5651500" cy="3857625"/>
          </a:xfrm>
          <a:custGeom>
            <a:avLst/>
            <a:gdLst/>
            <a:ahLst/>
            <a:cxn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381750" y="60166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THE INFLATION HEDGE DEBATE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397625" y="6413500"/>
            <a:ext cx="5254625" cy="1238250"/>
          </a:xfrm>
          <a:custGeom>
            <a:avLst/>
            <a:gdLst/>
            <a:ahLst/>
            <a:cxnLst/>
            <a:rect l="l" t="t" r="r" b="b"/>
            <a:pathLst>
              <a:path w="5254625" h="1238250">
                <a:moveTo>
                  <a:pt x="0" y="0"/>
                </a:moveTo>
                <a:lnTo>
                  <a:pt x="5254625" y="0"/>
                </a:lnTo>
                <a:lnTo>
                  <a:pt x="5254625" y="1238250"/>
                </a:lnTo>
                <a:lnTo>
                  <a:pt x="0" y="1238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08750" y="6524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2022 Inflation Test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6508750" y="67786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U.S. inflation hit 9% (40-year high). How did assets perform?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6524625" y="7016750"/>
            <a:ext cx="2452688" cy="508000"/>
          </a:xfrm>
          <a:custGeom>
            <a:avLst/>
            <a:gdLst/>
            <a:ahLst/>
            <a:cxn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68281" y="7096125"/>
            <a:ext cx="2365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E7000B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-60%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6580188" y="7318375"/>
            <a:ext cx="2341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9072563" y="7016750"/>
            <a:ext cx="2452688" cy="508000"/>
          </a:xfrm>
          <a:custGeom>
            <a:avLst/>
            <a:gdLst/>
            <a:ahLst/>
            <a:cxn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116219" y="7096125"/>
            <a:ext cx="2365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00A63E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+0.5%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9128125" y="7318375"/>
            <a:ext cx="2341563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Gold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97625" y="77787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08750" y="78898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77" name="Text 75"/>
          <p:cNvSpPr/>
          <p:nvPr/>
        </p:nvSpPr>
        <p:spPr>
          <a:xfrm>
            <a:off x="6508750" y="8143875"/>
            <a:ext cx="5087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has shown </a:t>
            </a:r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high correlation with risk assets</a:t>
            </a:r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(tech stocks) rather than acting as a crisis hedge like gold. During the 2022 bear market, BTC crashed alongside equities while gold held steady.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6397625" y="869950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508750" y="8810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The Verdict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6508750" y="9064625"/>
            <a:ext cx="5087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may become "digital gold" as it matures and volatility decreases, but </a:t>
            </a:r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it hasn't consistently fulfilled that role yet</a:t>
            </a:r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. Gold remains the proven safe haven.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ages.stockcake.com/c7e26e62278b48522527db541cc6df27ec6592a2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183" r="183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781050"/>
            <a:ext cx="8477250" cy="3962400"/>
          </a:xfrm>
          <a:custGeom>
            <a:avLst/>
            <a:gdLst/>
            <a:ahLst/>
            <a:cxn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129540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1266825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09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38350" y="1266825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486025"/>
            <a:ext cx="7848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SCALING SOLUTIONS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3571875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3876675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Lightning Network &amp; Layer 2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257800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514975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Solving Bitcoin's Throughput Limitations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LIGHTNING NETWORK: BITCOIN'S PAYMENT LAYER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5651500" cy="3349625"/>
          </a:xfrm>
          <a:custGeom>
            <a:avLst/>
            <a:gdLst/>
            <a:ahLst/>
            <a:cxnLst/>
            <a:rect l="l" t="t" r="r" b="b"/>
            <a:pathLst>
              <a:path w="5651500" h="3349625">
                <a:moveTo>
                  <a:pt x="0" y="0"/>
                </a:moveTo>
                <a:lnTo>
                  <a:pt x="5651500" y="0"/>
                </a:lnTo>
                <a:lnTo>
                  <a:pt x="5651500" y="3349625"/>
                </a:lnTo>
                <a:lnTo>
                  <a:pt x="0" y="3349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THE PROBLEM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39750" y="19367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2625" y="2111375"/>
            <a:ext cx="135731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Base Layer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50681" y="2079625"/>
            <a:ext cx="920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~7 TPS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2625" y="242887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Transactions per second limited by block size and block time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39750" y="285750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2625" y="3032125"/>
            <a:ext cx="968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Visa Network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93902" y="3000375"/>
            <a:ext cx="13731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65,000 TPS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2625" y="334962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Global payment network capacity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9750" y="3778250"/>
            <a:ext cx="5254625" cy="730250"/>
          </a:xfrm>
          <a:custGeom>
            <a:avLst/>
            <a:gdLst/>
            <a:ahLst/>
            <a:cxn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2625" y="3921125"/>
            <a:ext cx="5032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Transaction Fees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2625" y="4175125"/>
            <a:ext cx="5032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Base layer fees spike during congestion ($5-50+), making micropayments impractical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41313" y="4881563"/>
            <a:ext cx="5651500" cy="4556125"/>
          </a:xfrm>
          <a:custGeom>
            <a:avLst/>
            <a:gdLst/>
            <a:ahLst/>
            <a:cxnLst/>
            <a:rect l="l" t="t" r="r" b="b"/>
            <a:pathLst>
              <a:path w="5651500" h="4556125">
                <a:moveTo>
                  <a:pt x="0" y="0"/>
                </a:moveTo>
                <a:lnTo>
                  <a:pt x="5651500" y="0"/>
                </a:lnTo>
                <a:lnTo>
                  <a:pt x="5651500" y="4556125"/>
                </a:lnTo>
                <a:lnTo>
                  <a:pt x="0" y="4556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23875" y="506412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HOW LIGHTNING WORKS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9750" y="54610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0875" y="55721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1. Payment Channels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0875" y="5794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Users lock BTC in multi-signature channels, enabling unlimited off-chain transactions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39750" y="61912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0875" y="6302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2. Off-Chain Transactions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0875" y="65246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Payments routed through network of channels without touching base layer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39750" y="69215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0875" y="7032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3. Settlement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50875" y="72548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Channel closes broadcast final balance to Bitcoin blockchain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39750" y="7651750"/>
            <a:ext cx="5254625" cy="412750"/>
          </a:xfrm>
          <a:custGeom>
            <a:avLst/>
            <a:gdLst/>
            <a:ahLst/>
            <a:cxn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9125" y="77628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Result: Near-instant, sub-cent fees, millions of TPS capacity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199188" y="1357313"/>
            <a:ext cx="5651500" cy="4333875"/>
          </a:xfrm>
          <a:custGeom>
            <a:avLst/>
            <a:gdLst/>
            <a:ahLst/>
            <a:cxnLst/>
            <a:rect l="l" t="t" r="r" b="b"/>
            <a:pathLst>
              <a:path w="5651500" h="4333875">
                <a:moveTo>
                  <a:pt x="0" y="0"/>
                </a:moveTo>
                <a:lnTo>
                  <a:pt x="5651500" y="0"/>
                </a:lnTo>
                <a:lnTo>
                  <a:pt x="5651500" y="4333875"/>
                </a:lnTo>
                <a:lnTo>
                  <a:pt x="0" y="433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381750" y="15398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ADOPTION METRICS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397625" y="19367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40500" y="2127250"/>
            <a:ext cx="1047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Monthly Volume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0741484" y="2079625"/>
            <a:ext cx="88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$1.17B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40500" y="242887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November 2025 (River data)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97625" y="285750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40500" y="3048000"/>
            <a:ext cx="1373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Monthly Transactions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847524" y="3000375"/>
            <a:ext cx="7778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5.22M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540500" y="334962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Average transaction size: ~$224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97625" y="377825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40500" y="3968750"/>
            <a:ext cx="1127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Network Capacity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218849" y="3921125"/>
            <a:ext cx="14128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5,500+ BTC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540500" y="427037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Total BTC locked in channels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397625" y="4699000"/>
            <a:ext cx="5254625" cy="793750"/>
          </a:xfrm>
          <a:custGeom>
            <a:avLst/>
            <a:gdLst/>
            <a:ahLst/>
            <a:cxn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40500" y="4889500"/>
            <a:ext cx="865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Active Nodes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641955" y="4841875"/>
            <a:ext cx="984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18,000+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40500" y="5191125"/>
            <a:ext cx="5024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Decentralized network participants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199188" y="5865813"/>
            <a:ext cx="5651500" cy="3571875"/>
          </a:xfrm>
          <a:custGeom>
            <a:avLst/>
            <a:gdLst/>
            <a:ahLst/>
            <a:cxnLst/>
            <a:rect l="l" t="t" r="r" b="b"/>
            <a:pathLst>
              <a:path w="5651500" h="3571875">
                <a:moveTo>
                  <a:pt x="0" y="0"/>
                </a:moveTo>
                <a:lnTo>
                  <a:pt x="5651500" y="0"/>
                </a:lnTo>
                <a:lnTo>
                  <a:pt x="56515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381750" y="6048375"/>
            <a:ext cx="53816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● REAL-WORLD USE CASES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397625" y="64452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08750" y="65563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El Salvador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508750" y="67786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legal tender using Lightning for everyday payments (coffee, groceries)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397625" y="71755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8750" y="72866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Strike App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508750" y="75088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Cross-border remittances: Send USD → Receiver gets local currency, sub-cent fees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397625" y="790575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08750" y="801687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Streaming &amp; Gaming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6508750" y="823912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Micropayments for content (pay-per-minute video, in-game purchases)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397625" y="8636000"/>
            <a:ext cx="5254625" cy="603250"/>
          </a:xfrm>
          <a:custGeom>
            <a:avLst/>
            <a:gdLst/>
            <a:ahLst/>
            <a:cxn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08750" y="8747125"/>
            <a:ext cx="5095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AI Agent Payments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508750" y="8969375"/>
            <a:ext cx="5087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Lightning Labs toolkit enables autonomous machine-to-machine transactions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ages.pond5.com/5adfa53ebb460247d0b7eaa197498f1fd9cfbd13.jpe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3305175" y="352425"/>
            <a:ext cx="8477250" cy="4819650"/>
          </a:xfrm>
          <a:custGeom>
            <a:avLst/>
            <a:gdLst/>
            <a:ahLst/>
            <a:cxn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77450" y="838200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6" name="Shape 3"/>
          <p:cNvSpPr/>
          <p:nvPr/>
        </p:nvSpPr>
        <p:spPr>
          <a:xfrm>
            <a:off x="10410825" y="866775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267950" y="838200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448050" y="2057400"/>
            <a:ext cx="78486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CHALLENGES &amp; RISKS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467850" y="4000500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3619500" y="4305300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Road Ahead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293918" y="5686425"/>
            <a:ext cx="4486275" cy="819150"/>
          </a:xfrm>
          <a:custGeom>
            <a:avLst/>
            <a:gdLst/>
            <a:ahLst/>
            <a:cxnLst/>
            <a:rect l="l" t="t" r="r" b="b"/>
            <a:pathLst>
              <a:path w="4486275" h="819150">
                <a:moveTo>
                  <a:pt x="0" y="0"/>
                </a:moveTo>
                <a:lnTo>
                  <a:pt x="4486275" y="0"/>
                </a:lnTo>
                <a:lnTo>
                  <a:pt x="44862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51093" y="5943600"/>
            <a:ext cx="40862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Obstacles Bitcoin Must Overcome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CRITICAL CHALLENGES: WHAT COULD GO WRONG?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7688" y="156368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187" y="153987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0125" y="1619250"/>
            <a:ext cx="11271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SCALABILITY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9750" y="20637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875" y="21748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Base Layer Limitations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0875" y="24288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~7 TPS is insufficient for global payment network. Block size debates led to Bitcoin Cash fork in 2017.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39750" y="2984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0875" y="3095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Fee Volatility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0875" y="3349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During congestion, fees spike to $5-50+, making small transactions uneconomical.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39750" y="3905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0875" y="4016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Mitigation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0875" y="4270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Layer 2 solutions (Lightning, sidechains) process transactions off-chain, settling on base layer.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235958" y="135731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42333" y="156368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8833" y="153987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94771" y="1619250"/>
            <a:ext cx="14605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ENVIRONMENTAL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4396" y="20637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45521" y="21748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Energy Consumption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45521" y="24288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uses ~150 TWh/year, comparable to Argentina or Poland. Critics argue this is wasteful.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434396" y="2984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45521" y="3095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Carbon Footprint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45521" y="3349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Estimated 65-70 Mt CO2/year. Coal-powered mining in some regions contributes to climate change.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434396" y="3905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45521" y="4016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Mitigation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545521" y="4270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~55% of mining uses renewable energy. Stranded energy (flared gas, hydro surplus) increasingly utilized.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130604" y="135731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36979" y="156368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73479" y="153987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789417" y="1619250"/>
            <a:ext cx="119062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REGULATORY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329042" y="20637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40167" y="21748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Government Bans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440167" y="24288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China banned mining and trading in 2021. Other countries could follow, restricting adoption.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329042" y="2984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40167" y="3095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Taxation &amp; Reporting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440167" y="3349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Complex tax treatment. Heavy reporting requirements could deter mainstream adoption.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329042" y="3905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40167" y="4016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Mitigation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440167" y="4270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Regulatory clarity emerging (US ETF approval, EU MiCA). Compliance infrastructure improving.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341313" y="507206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547688" y="527843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4187" y="525462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00125" y="5334000"/>
            <a:ext cx="1182688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COMPETITION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539750" y="5778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0875" y="5889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Ethereum &amp; Smart Contracts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650875" y="6143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Superior programmability, DeFi ecosystem, NFTs. ETH market cap ~$300B+.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539750" y="6699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0875" y="6810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Solana &amp; High-Speed Chains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650875" y="7064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65,000 TPS, sub-cent fees, growing ecosystem. Could capture payment use cases.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539750" y="76200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0875" y="77311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CBDCs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650875" y="79851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Central bank digital currencies (China's e-yuan) could compete for digital payments.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235958" y="507206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4442333" y="527843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78833" y="525462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4894771" y="5334000"/>
            <a:ext cx="1476375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CENTRALIZATION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434396" y="5778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45521" y="5889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Mining Pool Concentration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4545521" y="6143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Top 5 pools control ~55% of hashrate. Foundry USA alone has ~35%.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4434396" y="6699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545521" y="6810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Large Holder Influence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4545521" y="7064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"Whales" with 1,000+ BTC can move markets. Satoshi's 1M BTC remains untouched.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4434396" y="76200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45521" y="77311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Mitigation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4545521" y="79851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Stratum V2 protocol gives miners more control. Geographic distribution improving.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8130604" y="5072063"/>
            <a:ext cx="3722688" cy="3540125"/>
          </a:xfrm>
          <a:custGeom>
            <a:avLst/>
            <a:gdLst/>
            <a:ahLst/>
            <a:cxn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8336979" y="5278438"/>
            <a:ext cx="333375" cy="333375"/>
          </a:xfrm>
          <a:custGeom>
            <a:avLst/>
            <a:gdLst/>
            <a:ahLst/>
            <a:cxn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273479" y="5254625"/>
            <a:ext cx="3651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8789417" y="5334000"/>
            <a:ext cx="1524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TECHNICAL RISKS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8329042" y="57785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440167" y="58896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Quantum Computing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8440167" y="61436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Future quantum computers could break SHA-256. Bitcoin would need to upgrade cryptography.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8329042" y="669925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440167" y="681037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Protocol Bugs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8440167" y="706437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Critical vulnerability could be exploited. 2010 inflation bug created 184 billion BTC (quickly fixed).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8329042" y="7620000"/>
            <a:ext cx="3325813" cy="793750"/>
          </a:xfrm>
          <a:custGeom>
            <a:avLst/>
            <a:gdLst/>
            <a:ahLst/>
            <a:cxn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440167" y="7731125"/>
            <a:ext cx="31670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Mitigation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8440167" y="7985125"/>
            <a:ext cx="3159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Conservative development, extensive testing, slow upgrade process minimizes risk.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static.vecteezy.com/3b117942948e590458290b2b11fd6e5796502df5.jpg">    </p:cNvPr>
          <p:cNvPicPr>
            <a:picLocks noChangeAspect="1"/>
          </p:cNvPicPr>
          <p:nvPr/>
        </p:nvPicPr>
        <p:blipFill>
          <a:blip r:embed="rId1">
            <a:alphaModFix amt="15000"/>
          </a:blip>
          <a:srcRect l="0" r="0" t="5000" b="500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09575" y="781050"/>
            <a:ext cx="8477250" cy="3962400"/>
          </a:xfrm>
          <a:custGeom>
            <a:avLst/>
            <a:gdLst/>
            <a:ahLst/>
            <a:cxn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76200" dir="2700000">
              <a:srgbClr val="000000">
                <a:alpha val="10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923925" y="1295400"/>
            <a:ext cx="857250" cy="857250"/>
          </a:xfrm>
          <a:custGeom>
            <a:avLst/>
            <a:gdLst/>
            <a:ahLst/>
            <a:cxn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050" y="1266825"/>
            <a:ext cx="10287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038350" y="1266825"/>
            <a:ext cx="76200" cy="914400"/>
          </a:xfrm>
          <a:custGeom>
            <a:avLst/>
            <a:gdLst/>
            <a:ahLst/>
            <a:cxn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895350" y="2486025"/>
            <a:ext cx="78486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FUTURE OUTLOOK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95350" y="3571875"/>
            <a:ext cx="1828800" cy="76200"/>
          </a:xfrm>
          <a:custGeom>
            <a:avLst/>
            <a:gdLst/>
            <a:ahLst/>
            <a:cxn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895350" y="3876675"/>
            <a:ext cx="7677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Predictions &amp; Scenarios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9575" y="5257800"/>
            <a:ext cx="11372850" cy="819150"/>
          </a:xfrm>
          <a:custGeom>
            <a:avLst/>
            <a:gdLst/>
            <a:ahLst/>
            <a:cxn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750" y="5514975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Expert Forecasts &amp; Price Targets for 2025-2030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1313" y="341313"/>
            <a:ext cx="11509375" cy="841375"/>
          </a:xfrm>
          <a:custGeom>
            <a:avLst/>
            <a:gdLst/>
            <a:ahLst/>
            <a:cxn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23875" y="523875"/>
            <a:ext cx="1128712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BITCOIN 2025-2030: EXPERT PREDICTIONS &amp; SCENARIOS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23875" y="936625"/>
            <a:ext cx="762000" cy="63500"/>
          </a:xfrm>
          <a:custGeom>
            <a:avLst/>
            <a:gdLst/>
            <a:ahLst/>
            <a:cxn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341313" y="1357313"/>
            <a:ext cx="6223000" cy="3571875"/>
          </a:xfrm>
          <a:custGeom>
            <a:avLst/>
            <a:gdLst/>
            <a:ahLst/>
            <a:cxnLst/>
            <a:rect l="l" t="t" r="r" b="b"/>
            <a:pathLst>
              <a:path w="6223000" h="3571875">
                <a:moveTo>
                  <a:pt x="0" y="0"/>
                </a:moveTo>
                <a:lnTo>
                  <a:pt x="6223000" y="0"/>
                </a:lnTo>
                <a:lnTo>
                  <a:pt x="62230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23875" y="1539875"/>
            <a:ext cx="5953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■ INSTITUTIONAL PRICE TARGETS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39750" y="1936750"/>
            <a:ext cx="5826125" cy="920750"/>
          </a:xfrm>
          <a:custGeom>
            <a:avLst/>
            <a:gdLst/>
            <a:ahLst/>
            <a:cxn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0875" y="2063750"/>
            <a:ext cx="944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2025 Targets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61124" y="2047875"/>
            <a:ext cx="138906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$120K - $285K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0875" y="236537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Standard Chartered: $200K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83756" y="236537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Fundstrat: $250K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0875" y="258762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H.C. Wainwright: $225K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83756" y="258762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21st Capital: $285K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39750" y="2984500"/>
            <a:ext cx="5826125" cy="698500"/>
          </a:xfrm>
          <a:custGeom>
            <a:avLst/>
            <a:gdLst/>
            <a:ahLst/>
            <a:cxnLst/>
            <a:rect l="l" t="t" r="r" b="b"/>
            <a:pathLst>
              <a:path w="5826125" h="698500">
                <a:moveTo>
                  <a:pt x="0" y="0"/>
                </a:moveTo>
                <a:lnTo>
                  <a:pt x="5826125" y="0"/>
                </a:lnTo>
                <a:lnTo>
                  <a:pt x="582612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0875" y="3111500"/>
            <a:ext cx="944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2026 Targets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67040" y="3095625"/>
            <a:ext cx="127793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$78K - $142K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0875" y="3413125"/>
            <a:ext cx="56594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Consolidation after 2025 peak, continued ETF inflows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39750" y="3810000"/>
            <a:ext cx="5826125" cy="920750"/>
          </a:xfrm>
          <a:custGeom>
            <a:avLst/>
            <a:gdLst/>
            <a:ahLst/>
            <a:cxn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875" y="3937000"/>
            <a:ext cx="9445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2030 Targets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992998" y="3921125"/>
            <a:ext cx="135731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$109K - $1.5M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0875" y="423862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Jack Dorsey: $1M+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483756" y="423862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Cathie Wood: $1.5M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0875" y="446087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JPMorgan: $170K-266K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83756" y="4460875"/>
            <a:ext cx="2825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Conservative: $109K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41313" y="5103813"/>
            <a:ext cx="6223000" cy="3317875"/>
          </a:xfrm>
          <a:custGeom>
            <a:avLst/>
            <a:gdLst/>
            <a:ahLst/>
            <a:cxnLst/>
            <a:rect l="l" t="t" r="r" b="b"/>
            <a:pathLst>
              <a:path w="6223000" h="3317875">
                <a:moveTo>
                  <a:pt x="0" y="0"/>
                </a:moveTo>
                <a:lnTo>
                  <a:pt x="6223000" y="0"/>
                </a:lnTo>
                <a:lnTo>
                  <a:pt x="6223000" y="3317875"/>
                </a:lnTo>
                <a:lnTo>
                  <a:pt x="0" y="3317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23875" y="5286375"/>
            <a:ext cx="5953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KEY CATALYSTS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39750" y="5683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0875" y="5794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ETF Inflows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0875" y="6016625"/>
            <a:ext cx="2682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Continued institutional buying through regulated vehicles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515506" y="5683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26631" y="5794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Corporate Treasury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626631" y="6016625"/>
            <a:ext cx="2682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More companies following MicroStrategy's Bitcoin strategy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39750" y="6572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0875" y="6683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Nation-State Adoption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50875" y="6905625"/>
            <a:ext cx="2682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More countries making Bitcoin legal tender or reserve asset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3515506" y="6572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26631" y="6683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2028 Halving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626631" y="6905625"/>
            <a:ext cx="2682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Next supply shock reduces new issuance to 1.5625 BTC/block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39750" y="7461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0875" y="7572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Favorable Regulation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50875" y="7794625"/>
            <a:ext cx="268287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Pro-crypto US administration, global regulatory clarity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515506" y="7461250"/>
            <a:ext cx="2849563" cy="762000"/>
          </a:xfrm>
          <a:custGeom>
            <a:avLst/>
            <a:gdLst/>
            <a:ahLst/>
            <a:cxn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26631" y="7572375"/>
            <a:ext cx="2690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★ Layer 2 Growth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3626631" y="7794625"/>
            <a:ext cx="26828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Lightning Network enables everyday payments at scale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769075" y="1357313"/>
            <a:ext cx="5080000" cy="6080125"/>
          </a:xfrm>
          <a:custGeom>
            <a:avLst/>
            <a:gdLst/>
            <a:ahLst/>
            <a:cxnLst/>
            <a:rect l="l" t="t" r="r" b="b"/>
            <a:pathLst>
              <a:path w="5080000" h="6080125">
                <a:moveTo>
                  <a:pt x="0" y="0"/>
                </a:moveTo>
                <a:lnTo>
                  <a:pt x="5080000" y="0"/>
                </a:lnTo>
                <a:lnTo>
                  <a:pt x="5080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951638" y="1539875"/>
            <a:ext cx="481012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THREE SCENARIOS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967513" y="1936750"/>
            <a:ext cx="4683125" cy="1714500"/>
          </a:xfrm>
          <a:custGeom>
            <a:avLst/>
            <a:gdLst/>
            <a:ahLst/>
            <a:cxn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4200" y="2103438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E7000B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078638" y="207962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523138" y="2127250"/>
            <a:ext cx="101600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BEAR CASE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110388" y="2460625"/>
            <a:ext cx="4516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E7000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$50K - $75K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110388" y="2809875"/>
            <a:ext cx="4452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Triggers:</a:t>
            </a:r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Regulatory crackdowns, major exchange failure, prolonged recession, quantum computing breakthrough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110388" y="3190875"/>
            <a:ext cx="4452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survives but struggles to gain mainstream traction. Volatility remains high, institutional interest wanes.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967513" y="3810000"/>
            <a:ext cx="4683125" cy="1555750"/>
          </a:xfrm>
          <a:custGeom>
            <a:avLst/>
            <a:gdLst/>
            <a:ahLst/>
            <a:cxnLst/>
            <a:rect l="l" t="t" r="r" b="b"/>
            <a:pathLst>
              <a:path w="4683125" h="1555750">
                <a:moveTo>
                  <a:pt x="0" y="0"/>
                </a:moveTo>
                <a:lnTo>
                  <a:pt x="4683125" y="0"/>
                </a:lnTo>
                <a:lnTo>
                  <a:pt x="4683125" y="1555750"/>
                </a:lnTo>
                <a:lnTo>
                  <a:pt x="0" y="155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4200" y="3976687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78638" y="395287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523138" y="4000500"/>
            <a:ext cx="1008063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BASE CASE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7110388" y="4333875"/>
            <a:ext cx="4516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D087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$150K - $250K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7110388" y="4683125"/>
            <a:ext cx="445293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Triggers:</a:t>
            </a:r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Steady ETF inflows, corporate adoption, favorable regulation, 2028 halving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7110388" y="4905375"/>
            <a:ext cx="4452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becomes established store of value, "digital gold" thesis validated. Volatility decreases as market matures.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967513" y="5524500"/>
            <a:ext cx="4683125" cy="1714500"/>
          </a:xfrm>
          <a:custGeom>
            <a:avLst/>
            <a:gdLst/>
            <a:ahLst/>
            <a:cxn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4200" y="5691188"/>
            <a:ext cx="269875" cy="269875"/>
          </a:xfrm>
          <a:custGeom>
            <a:avLst/>
            <a:gdLst/>
            <a:ahLst/>
            <a:cxn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A63E"/>
          </a:solidFill>
          <a:ln w="76200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78638" y="5667375"/>
            <a:ext cx="2857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7523138" y="5715000"/>
            <a:ext cx="984250" cy="22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BULL CASE</a:t>
            </a:r>
            <a:endParaRPr lang="en-US" sz="1600" dirty="0"/>
          </a:p>
        </p:txBody>
      </p:sp>
      <p:sp>
        <p:nvSpPr>
          <p:cNvPr id="65" name="Text 63"/>
          <p:cNvSpPr/>
          <p:nvPr/>
        </p:nvSpPr>
        <p:spPr>
          <a:xfrm>
            <a:off x="7110388" y="6048375"/>
            <a:ext cx="45164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5" b="1" dirty="0">
                <a:solidFill>
                  <a:srgbClr val="00A6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$500K+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7110388" y="6397625"/>
            <a:ext cx="4452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Triggers:</a:t>
            </a:r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 US strategic Bitcoin reserve, mass corporate adoption, nation-state FOMO, dollar crisis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7110388" y="6778625"/>
            <a:ext cx="445293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000000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Bitcoin becomes global reserve asset, challenges gold's $16T market cap. Widespread use as savings technology.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Bitcoin: The Digital Revolution</dc:title>
  <dc:subject>Bitcoin: The Digital Revolution</dc:subject>
  <dc:creator>Kimi</dc:creator>
  <cp:lastModifiedBy>Kimi</cp:lastModifiedBy>
  <cp:revision>1</cp:revision>
  <dcterms:created xsi:type="dcterms:W3CDTF">2026-03-18T08:32:36Z</dcterms:created>
  <dcterms:modified xsi:type="dcterms:W3CDTF">2026-03-18T08:32:36Z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{"Label":"Bitcoin: The Digital Revolution","ContentProducer":"001191110108MACG2KBH8F10000","ProduceID":"19d000e5-9a32-8b0f-8000-00005ec375b0","ReservedCode1":"","ContentPropagator":"001191110108MACG2KBH8F20000","PropagateID":"19d000e5-9a32-8b0f-8000-00005ec375b0","ReservedCode2":""}</vt:lpwstr>
  </property>
</Properties>
</file>