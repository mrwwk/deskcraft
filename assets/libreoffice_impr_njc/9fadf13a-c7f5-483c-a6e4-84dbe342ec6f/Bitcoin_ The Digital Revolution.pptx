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vectorstock.com/dedad187e3b8b75d7280f5258cc0995ef815e5ed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23958" b="2395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14375"/>
            <a:ext cx="3705225" cy="781050"/>
          </a:xfrm>
          <a:custGeom>
            <a:avLst/>
            <a:gdLst/>
            <a:ahLst/>
            <a:cxn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66750" y="971550"/>
            <a:ext cx="3286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spc="150" kern="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FINANCIAL LECTURE SERIES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09575" y="1876425"/>
            <a:ext cx="11372850" cy="3257550"/>
          </a:xfrm>
          <a:custGeom>
            <a:avLst/>
            <a:gdLst/>
            <a:ahLst/>
            <a:cxn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95350" y="2362200"/>
            <a:ext cx="10858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72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5350" y="3505200"/>
            <a:ext cx="1219200" cy="76200"/>
          </a:xfrm>
          <a:custGeom>
            <a:avLst/>
            <a:gdLst/>
            <a:ahLst/>
            <a:cxn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895350" y="3810000"/>
            <a:ext cx="1057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DIGITAL REVOLUTION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95350" y="4343400"/>
            <a:ext cx="1051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Comprehensive Analysis of History, Present &amp; Future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514975"/>
            <a:ext cx="1295400" cy="628650"/>
          </a:xfrm>
          <a:custGeom>
            <a:avLst/>
            <a:gdLst/>
            <a:ahLst/>
            <a:cxn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90550" y="5695950"/>
            <a:ext cx="101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364391" y="5514975"/>
            <a:ext cx="1419225" cy="628650"/>
          </a:xfrm>
          <a:custGeom>
            <a:avLst/>
            <a:gdLst/>
            <a:ahLst/>
            <a:cxn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0545366" y="569595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▶ 27 SLIDES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95375"/>
          </a:xfrm>
          <a:custGeom>
            <a:avLst/>
            <a:gdLst/>
            <a:ahLst/>
            <a:cxn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31887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7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5625" y="115887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674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881187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4344" y="1857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58875" y="1857375"/>
            <a:ext cx="14128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GENESIS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8875" y="2143125"/>
            <a:ext cx="1389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Bitcoin's Origin Story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99188" y="1674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563" y="1881187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2219" y="1857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6750" y="1857375"/>
            <a:ext cx="2516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FOUNDATION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16750" y="2143125"/>
            <a:ext cx="2492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How Bitcoin Works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1313" y="2754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7688" y="2960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344" y="2936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58875" y="2936875"/>
            <a:ext cx="2714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HISTORICAL EVOLUTION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8875" y="3222625"/>
            <a:ext cx="269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From Cypherpunk Dream to Global Asset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99188" y="2754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5563" y="2960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2219" y="2936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6750" y="2936875"/>
            <a:ext cx="21113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MARKET DYNAMICS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16750" y="3222625"/>
            <a:ext cx="2087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Halving Cycles &amp; Price Patterns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1313" y="3833812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7688" y="4040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4344" y="4016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58875" y="4016375"/>
            <a:ext cx="2262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CURRENT LANDSCAPE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58875" y="4302125"/>
            <a:ext cx="2238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2024-2025 Market Status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99188" y="3833812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5563" y="4040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2219" y="4016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16750" y="4016375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INSTITUTIONAL ADOPTION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6750" y="4302125"/>
            <a:ext cx="257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Wall Street Embraces Bitcoin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1313" y="4913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7688" y="5119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344" y="5095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58875" y="5095875"/>
            <a:ext cx="200818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ECONOMICS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58875" y="5381625"/>
            <a:ext cx="1984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Backbone of Security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199188" y="4913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5563" y="5119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22219" y="5095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016750" y="5095875"/>
            <a:ext cx="21986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 GOLD THESIS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6750" y="5381625"/>
            <a:ext cx="2174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Store of Value Debate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41313" y="5992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47688" y="6199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4344" y="6175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58875" y="6175375"/>
            <a:ext cx="2119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SCALING SOLUTIONS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158875" y="6461125"/>
            <a:ext cx="2095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&amp; Layer 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99188" y="5992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405563" y="6199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22219" y="6175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016750" y="6175375"/>
            <a:ext cx="22304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CHALLENGES &amp; RISKS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6750" y="6461125"/>
            <a:ext cx="2206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Road Ahead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41313" y="7072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47688" y="7278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4344" y="7254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1158875" y="7254875"/>
            <a:ext cx="1873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 OUTLOOK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158875" y="7540625"/>
            <a:ext cx="1849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Predictions &amp; Scenarios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199188" y="7072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405563" y="7278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22219" y="7254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016750" y="7254875"/>
            <a:ext cx="1373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016750" y="7540625"/>
            <a:ext cx="1349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Path Forward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a78b067f0ae22fcc38ba4427cd322c7835ad80e9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0177" b="1017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GENESIS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Bitcoin's Origin Story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From Cypherpunk Vision to Financial Revolution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00125"/>
          </a:xfrm>
          <a:custGeom>
            <a:avLst/>
            <a:gdLst/>
            <a:ahLst/>
            <a:cxn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27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BIRTH OF BITCOIN: 2008-2009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5625" y="1063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547813"/>
            <a:ext cx="8270875" cy="1849438"/>
          </a:xfrm>
          <a:custGeom>
            <a:avLst/>
            <a:gdLst/>
            <a:ahLst/>
            <a:cxn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7541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187" y="17303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31875" y="1730375"/>
            <a:ext cx="1619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October 31, 2008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3875" y="2206625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Satoshi Nakamoto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publishes the Bitcoin whitepaper: "Bitcoin: A Peer-to-Peer Electronic Cash System" to the cypherpunk mailing list.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750" y="2782094"/>
            <a:ext cx="7874000" cy="412750"/>
          </a:xfrm>
          <a:custGeom>
            <a:avLst/>
            <a:gdLst/>
            <a:ahLst/>
            <a:cxn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875" y="2893219"/>
            <a:ext cx="771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Core Innovation: Decentralized digital currency without trusted third parties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1313" y="3567906"/>
            <a:ext cx="8270875" cy="1611313"/>
          </a:xfrm>
          <a:custGeom>
            <a:avLst/>
            <a:gdLst/>
            <a:ahLst/>
            <a:cxn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7688" y="3774281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187" y="3750469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31875" y="3750469"/>
            <a:ext cx="15160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3, 2009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3875" y="4226719"/>
            <a:ext cx="7977188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Genesis Block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is mined, marking Bitcoin network's official launch. Embedded message references bank bailouts.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750" y="4570016"/>
            <a:ext cx="7874000" cy="412750"/>
          </a:xfrm>
          <a:custGeom>
            <a:avLst/>
            <a:gdLst/>
            <a:ahLst/>
            <a:cxn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875" y="4681141"/>
            <a:ext cx="771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"The Times 03/Jan/2009 Chancellor on brink of second bailout for banks"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5355828"/>
            <a:ext cx="8270875" cy="1071563"/>
          </a:xfrm>
          <a:custGeom>
            <a:avLst/>
            <a:gdLst/>
            <a:ahLst/>
            <a:cxn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7688" y="5562203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187" y="5538391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31875" y="5538391"/>
            <a:ext cx="1619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12, 2009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3875" y="6014641"/>
            <a:ext cx="7977188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Bitcoin transaction: Satoshi sends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BTC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to computer scientist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 Finney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 validating the system works.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50313" y="1547813"/>
            <a:ext cx="3000375" cy="3508375"/>
          </a:xfrm>
          <a:custGeom>
            <a:avLst/>
            <a:gdLst/>
            <a:ahLst/>
            <a:cxn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032875" y="1730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THE MOTIVATION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048750" y="21272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59875" y="2238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2008 Financial Crisis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9875" y="24606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Bank failures, government bailouts, currency devaluation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048750" y="30797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59875" y="31908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Cypherpunk Philosophy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59875" y="34131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Privacy, decentralization, mathematical trust over institutional trust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48750" y="40322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9875" y="4143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Double-Spending Problem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59875" y="43656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digital currency to solve this without central authority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850313" y="5230813"/>
            <a:ext cx="3000375" cy="3476625"/>
          </a:xfrm>
          <a:custGeom>
            <a:avLst/>
            <a:gdLst/>
            <a:ahLst/>
            <a:cxn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032875" y="5413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CORE PRINCIPLES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048750" y="5810250"/>
            <a:ext cx="2603500" cy="349250"/>
          </a:xfrm>
          <a:custGeom>
            <a:avLst/>
            <a:gdLst/>
            <a:ahLst/>
            <a:cxn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28125" y="5937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9318625" y="5889625"/>
            <a:ext cx="189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Fixed Supply: 21 Million Coins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9048750" y="62547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28125" y="6477000"/>
            <a:ext cx="87313" cy="95250"/>
          </a:xfrm>
          <a:custGeom>
            <a:avLst/>
            <a:gdLst/>
            <a:ahLst/>
            <a:cxn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9310129" y="6334125"/>
            <a:ext cx="2325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Decentralized: No Single Point of Control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048750" y="6889750"/>
            <a:ext cx="2603500" cy="349250"/>
          </a:xfrm>
          <a:custGeom>
            <a:avLst/>
            <a:gdLst/>
            <a:ahLst/>
            <a:cxn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28125" y="7016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5" name="Text 43"/>
          <p:cNvSpPr/>
          <p:nvPr/>
        </p:nvSpPr>
        <p:spPr>
          <a:xfrm>
            <a:off x="9318625" y="6969125"/>
            <a:ext cx="2301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Trustless: Cryptographic Verification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048750" y="73342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128125" y="7556500"/>
            <a:ext cx="87313" cy="95250"/>
          </a:xfrm>
          <a:custGeom>
            <a:avLst/>
            <a:gdLst/>
            <a:ahLst/>
            <a:cxn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8" name="Text 46"/>
          <p:cNvSpPr/>
          <p:nvPr/>
        </p:nvSpPr>
        <p:spPr>
          <a:xfrm>
            <a:off x="9314346" y="7413625"/>
            <a:ext cx="2325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Transparent: Public Blockchain Ledger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048750" y="79692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128125" y="8191500"/>
            <a:ext cx="79375" cy="95250"/>
          </a:xfrm>
          <a:custGeom>
            <a:avLst/>
            <a:gdLst/>
            <a:ahLst/>
            <a:cxn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1" name="Text 49"/>
          <p:cNvSpPr/>
          <p:nvPr/>
        </p:nvSpPr>
        <p:spPr>
          <a:xfrm>
            <a:off x="9301200" y="8048625"/>
            <a:ext cx="2333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Immutable: Transactions Cannot Be Reversed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55c872118a432315f00de40c7ff83379e856cb8c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FOUNDATION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Bitcoin Works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071393" y="5686425"/>
            <a:ext cx="6715125" cy="819150"/>
          </a:xfrm>
          <a:custGeom>
            <a:avLst/>
            <a:gdLst/>
            <a:ahLst/>
            <a:cxn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28568" y="5943600"/>
            <a:ext cx="6315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Proof of Work, Blockchain &amp; Decentralized Consensus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00125"/>
          </a:xfrm>
          <a:custGeom>
            <a:avLst/>
            <a:gdLst/>
            <a:ahLst/>
            <a:cxn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27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BLOCKCHAIN &amp; PROOF OF WORK: THE SECURITY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5625" y="1063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547813"/>
            <a:ext cx="8270875" cy="2071688"/>
          </a:xfrm>
          <a:custGeom>
            <a:avLst/>
            <a:gdLst/>
            <a:ahLst/>
            <a:cxn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730375"/>
            <a:ext cx="800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THE BLOCKCHAIN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3875" y="2111375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distributed ledger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recording all transactions across a network of computers. Each block contains a cryptographic hash of the previous block, creating an immutable chain.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9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1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880K+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3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Blocks Mined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06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58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~10min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0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Time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873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1.2B+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57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1313" y="3790156"/>
            <a:ext cx="8270875" cy="2865438"/>
          </a:xfrm>
          <a:custGeom>
            <a:avLst/>
            <a:gdLst/>
            <a:ahLst/>
            <a:cxn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3875" y="3972719"/>
            <a:ext cx="800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PROOF OF WORK MECHANISM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3875" y="4353719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Miners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compete to solve cryptographic puzzles using SHA-256 hashing. The winner adds the next block and earns the block reward.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9750" y="4960938"/>
            <a:ext cx="7874000" cy="1492250"/>
          </a:xfrm>
          <a:custGeom>
            <a:avLst/>
            <a:gdLst/>
            <a:ahLst/>
            <a:cxn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2625" y="5103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Mining Process: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2625" y="5357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1. Bundle transactions into a block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2625" y="5611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2. Find nonce making block hash &lt; target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2625" y="5865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3. First to solve broadcasts to network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2625" y="6119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4. Other nodes verify and add to chain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850313" y="1547813"/>
            <a:ext cx="3000375" cy="3698875"/>
          </a:xfrm>
          <a:custGeom>
            <a:avLst/>
            <a:gdLst/>
            <a:ahLst/>
            <a:cxn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032875" y="1730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NETWORK SECURITY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048750" y="2127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59875" y="2238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Hash Rate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59875" y="2460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400M+ TH/s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59875" y="2746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 computing power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48750" y="3143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9875" y="3254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Attack Cost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59875" y="3476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$10B+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59875" y="3762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 1 hour 51% attack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048750" y="4159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9875" y="4270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Difficulty Adjustment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159875" y="4492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2,016 Blocks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159875" y="4778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Maintains 10-min block time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50313" y="5421313"/>
            <a:ext cx="3000375" cy="2555875"/>
          </a:xfrm>
          <a:custGeom>
            <a:avLst/>
            <a:gdLst/>
            <a:ahLst/>
            <a:cxn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032875" y="56038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WHY IT WORKS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032875" y="60483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3" name="Text 41"/>
          <p:cNvSpPr/>
          <p:nvPr/>
        </p:nvSpPr>
        <p:spPr>
          <a:xfrm>
            <a:off x="9191625" y="598487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Energy as Security: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Massive electricity cost makes attacks economically irrational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032875" y="6524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5" name="Text 43"/>
          <p:cNvSpPr/>
          <p:nvPr/>
        </p:nvSpPr>
        <p:spPr>
          <a:xfrm>
            <a:off x="9191625" y="646112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Game Theory: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Miners earn more by following rules than attacking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032875" y="70008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7" name="Text 45"/>
          <p:cNvSpPr/>
          <p:nvPr/>
        </p:nvSpPr>
        <p:spPr>
          <a:xfrm>
            <a:off x="9191625" y="693737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Decentralization: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Thousands of independent miners globally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9032875" y="7477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9" name="Text 47"/>
          <p:cNvSpPr/>
          <p:nvPr/>
        </p:nvSpPr>
        <p:spPr>
          <a:xfrm>
            <a:off x="9191625" y="741362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Immutability: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Changing history requires redoing all subsequent work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racksolutions.com/ef0bb91eff957dcf9ffcba10aae54dff14ff4aa6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46" b="4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HISTORICAL EVOLUTION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Cypherpunk Dream to Global Asset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686425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9436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15 Years of Price Discovery, Crashes &amp; Resilience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BITCOIN'S JOURNEY: KEY MILESTONES 2009-2024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6250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5625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2009-2010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0375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BEGINNING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375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real-world transaction: 10,000 BTC for two pizzas at $0.003/BTC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6250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5625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$0.003 → $0.30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54375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9313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68688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73438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BUBBLE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73438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 spikes to $31, then crashes to $2. Media declares Bitcoin dead.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89313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8688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$31 | Crash: -94%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67438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2375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1750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86500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HALVING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86500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from 50 to 25 BTC. Sets stage for next bull run.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2375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1750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$12 → $13.50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080500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15438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4813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99563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$1,000 MILESTONE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99563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major bull run to $1,200. Mt. Gox becomes dominant exchange.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15438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94813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$1,242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41313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6250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5625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2014-2015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0375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MT. GOX COLLAPSE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60375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Exchange hack wipes out 850K BTC. Price falls below $200. Bear market.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76250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625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$152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54375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389313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8688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373438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SECOND HALVING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373438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to 12.5 BTC. Ethereum launches, ICO era begins.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389313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8688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$650 → $960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167438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302375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1750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2017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286500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$20,000 PEAK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286500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ICO mania drives parabolic rise. CME/CBOE futures launch. Mainstream FOMO.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2375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1750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$19,800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9080500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9215438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94813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2018-2019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9199563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 WINTER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99563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80%+ crash from peak. Regulatory crackdowns. Institutional interest quietly builds.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9215438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94813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$3,200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341313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76250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5625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2020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460375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THIRD HALVING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460375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to 6.25 BTC. COVID-19 triggers institutional adoption wave.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476250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5625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$8,000 → $29,000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254375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389313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68688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3373438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$69,000 ATH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3373438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MicroStrategy, Tesla add BTC to treasury. First Bitcoin futures ETF. NFT boom.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3389313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68688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$69,000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167438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302375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81750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2022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286500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BEAR MARKET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6286500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Fed rate hikes, Terra/LUNA collapse, FTX bankruptcy. Price falls to $16K.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6302375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81750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$15,600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9080500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9215438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294813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9199563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$100K+ BREAKTHROUGH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9199563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Fourth halving. SEC approves spot ETFs. Price breaks $100K milestone.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9215438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294813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$126,173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341313" y="6572250"/>
            <a:ext cx="11509375" cy="523875"/>
          </a:xfrm>
          <a:custGeom>
            <a:avLst/>
            <a:gdLst/>
            <a:ahLst/>
            <a:cxn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2125" y="6723063"/>
            <a:ext cx="3302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HALVINGS: 2012 | 2016 | 2020 | 2024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8992133" y="6723063"/>
            <a:ext cx="2786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Each Followed by Major Bull Run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shutterstock.com/c563bfef1a3f7a2d770c2034ce5d868a33ae9c4c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2734" b="12734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29224" y="781050"/>
            <a:ext cx="7753350" cy="3962400"/>
          </a:xfrm>
          <a:custGeom>
            <a:avLst/>
            <a:gdLst/>
            <a:ahLst/>
            <a:cxn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172099" y="2486025"/>
            <a:ext cx="71247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MARKET DYNAMICS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4343549" y="3876675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Halving Cycles &amp; Price Patterns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88050" y="5257800"/>
            <a:ext cx="5591175" cy="819150"/>
          </a:xfrm>
          <a:custGeom>
            <a:avLst/>
            <a:gdLst/>
            <a:ahLst/>
            <a:cxn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5225" y="5514975"/>
            <a:ext cx="51911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Programmed Scarcity Driving Market Cycles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HALVING EFFECT: PROGRAMMED SCARCITY IN ACTION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6223000" cy="6080125"/>
          </a:xfrm>
          <a:custGeom>
            <a:avLst/>
            <a:gdLst/>
            <a:ahLst/>
            <a:cxn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WHAT IS THE HALVING?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3875" y="1889125"/>
            <a:ext cx="5921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Every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210,000 blocks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9750" y="2651125"/>
            <a:ext cx="5826125" cy="2317750"/>
          </a:xfrm>
          <a:custGeom>
            <a:avLst/>
            <a:gdLst/>
            <a:ahLst/>
            <a:cxn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625" y="2794000"/>
            <a:ext cx="560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Halving Schedule &amp; Price Performance: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98500" y="309562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625" y="320675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2012: 50 → 25 BTC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9625" y="339725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+9,300%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9625" y="365125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$12 → $1,100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515506" y="309562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6631" y="320675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2016: 25 → 12.5 BTC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26631" y="339725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+3,200%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26631" y="365125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$650 → $19,800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8500" y="401637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625" y="412750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2020: 12.5 → 6.25 BTC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9625" y="431800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+700%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9625" y="457200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$8,800 → $69,000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515506" y="401637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26631" y="412750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2024: 6.25 → 3.125 BTC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26631" y="431800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155D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PROGRESS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26631" y="457200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$43,000 → $126K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41313" y="7612063"/>
            <a:ext cx="6223000" cy="1571625"/>
          </a:xfrm>
          <a:custGeom>
            <a:avLst/>
            <a:gdLst/>
            <a:ahLst/>
            <a:cxn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2125" y="7762875"/>
            <a:ext cx="6000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THE 2024 CYCLE: WHAT'S DIFFERENT?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8000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125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ETF Approval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19125" y="8429625"/>
            <a:ext cx="171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spot ETFs create institutional demand never seen before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512963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24088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Corporate Treasury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624088" y="8429625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holds 714K BTC worth $54B+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17988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29113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Nation-State Adoption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29113" y="8429625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 Salvador makes BTC legal tender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769075" y="1357313"/>
            <a:ext cx="5080000" cy="3952875"/>
          </a:xfrm>
          <a:custGeom>
            <a:avLst/>
            <a:gdLst/>
            <a:ahLst/>
            <a:cxn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51638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STOCK-TO-FLOW MODEL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51638" y="1920875"/>
            <a:ext cx="47783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Bitcoin's scarcity can be measured by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stock-to-flow ratio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(existing supply / annual production). Higher ratios indicate greater scarcity.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967513" y="247650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78638" y="2619375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 S2F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329231" y="2587625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62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094513" y="288925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10388" y="2905125"/>
            <a:ext cx="2198688" cy="31750"/>
          </a:xfrm>
          <a:custGeom>
            <a:avLst/>
            <a:gdLst/>
            <a:ahLst/>
            <a:cxn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/>
        </p:spPr>
      </p:sp>
      <p:sp>
        <p:nvSpPr>
          <p:cNvPr id="45" name="Shape 43"/>
          <p:cNvSpPr/>
          <p:nvPr/>
        </p:nvSpPr>
        <p:spPr>
          <a:xfrm>
            <a:off x="6967513" y="320675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78638" y="3349625"/>
            <a:ext cx="1484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S2F (Post-2024)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223253" y="3317875"/>
            <a:ext cx="412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094513" y="361950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10388" y="3635375"/>
            <a:ext cx="4397375" cy="31750"/>
          </a:xfrm>
          <a:custGeom>
            <a:avLst/>
            <a:gdLst/>
            <a:ahLst/>
            <a:cxn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967513" y="393700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78638" y="4079875"/>
            <a:ext cx="67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Silver S2F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1329231" y="4048125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094513" y="434975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10388" y="4365625"/>
            <a:ext cx="793750" cy="31750"/>
          </a:xfrm>
          <a:custGeom>
            <a:avLst/>
            <a:gdLst/>
            <a:ahLst/>
            <a:cxn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/>
        </p:spPr>
      </p:sp>
      <p:sp>
        <p:nvSpPr>
          <p:cNvPr id="55" name="Shape 53"/>
          <p:cNvSpPr/>
          <p:nvPr/>
        </p:nvSpPr>
        <p:spPr>
          <a:xfrm>
            <a:off x="6967513" y="4699000"/>
            <a:ext cx="4683125" cy="412750"/>
          </a:xfrm>
          <a:custGeom>
            <a:avLst/>
            <a:gdLst/>
            <a:ahLst/>
            <a:cxn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46888" y="481012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is now scarcer than gold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769075" y="5484813"/>
            <a:ext cx="5080000" cy="3698875"/>
          </a:xfrm>
          <a:custGeom>
            <a:avLst/>
            <a:gdLst/>
            <a:ahLst/>
            <a:cxn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951638" y="56673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SUPPLY IMPACT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967513" y="6064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78638" y="6175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Daily New Supply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7078638" y="6397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450 BTC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078638" y="6683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900 BTC pre-halving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967513" y="7080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78638" y="7191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Inflation Rate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078638" y="7413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0.85%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078638" y="7699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1.75% pre-halving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967513" y="8096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78638" y="8207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Supply Mined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7078638" y="8429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93.75%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7078638" y="8715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~19.7M of 21M BTC in circulation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exp1.com/ddd847fd485f4b791ed1fc89be2f76918116cf81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4850" b="1485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CURRENT LANDSCAPE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2024-2025 Market Status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686425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9436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Institutional Adoption, ETF Success &amp; Price Discovery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TODAY: MARKET METRICS &amp; ADOPTION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2809875"/>
          </a:xfrm>
          <a:custGeom>
            <a:avLst/>
            <a:gdLst/>
            <a:ahLst/>
            <a:cxn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PRICE PERFORMANCE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2547938" cy="1016000"/>
          </a:xfrm>
          <a:custGeom>
            <a:avLst/>
            <a:gdLst/>
            <a:ahLst/>
            <a:cxn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07962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Current Price (Mar 2026)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2625" y="233362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$74,532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46438" y="1936750"/>
            <a:ext cx="2547938" cy="1016000"/>
          </a:xfrm>
          <a:custGeom>
            <a:avLst/>
            <a:gdLst/>
            <a:ahLst/>
            <a:cxn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9313" y="207962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All-Time High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9313" y="233362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$126,173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9313" y="2651125"/>
            <a:ext cx="2317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October 6, 2025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9750" y="3111500"/>
            <a:ext cx="2547938" cy="857250"/>
          </a:xfrm>
          <a:custGeom>
            <a:avLst/>
            <a:gdLst/>
            <a:ahLst/>
            <a:cxn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2625" y="325437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Market Cap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2625" y="350837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$1.47T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46438" y="3111500"/>
            <a:ext cx="2547938" cy="857250"/>
          </a:xfrm>
          <a:custGeom>
            <a:avLst/>
            <a:gdLst/>
            <a:ahLst/>
            <a:cxn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9313" y="325437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24h Volume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9313" y="350837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$28.5B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41313" y="4341813"/>
            <a:ext cx="5651500" cy="3000375"/>
          </a:xfrm>
          <a:custGeom>
            <a:avLst/>
            <a:gdLst/>
            <a:ahLst/>
            <a:cxn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23875" y="4524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INSTITUTIONAL HOLDINGS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9750" y="4921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875" y="5064125"/>
            <a:ext cx="142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Institutional BTC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04023" y="5032375"/>
            <a:ext cx="1071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1.4M+ BTC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0875" y="5286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~7% of circulating supply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5683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5826125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ETF Assets Under Management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16587" y="5794375"/>
            <a:ext cx="658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$85B+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0875" y="6048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BlackRock IBIT leads with $52B+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39750" y="6445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875" y="6588125"/>
            <a:ext cx="1492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Holdings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550172" y="6556375"/>
            <a:ext cx="1230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714,644 BTC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50875" y="6810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Cost basis: $54.4B ($76,056/BTC)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9188" y="1357313"/>
            <a:ext cx="5651500" cy="3825875"/>
          </a:xfrm>
          <a:custGeom>
            <a:avLst/>
            <a:gdLst/>
            <a:ahLst/>
            <a:cxn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ON-CHAIN METRICS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97625" y="1936750"/>
            <a:ext cx="5254625" cy="952500"/>
          </a:xfrm>
          <a:custGeom>
            <a:avLst/>
            <a:gdLst/>
            <a:ahLst/>
            <a:cxn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08750" y="2047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Long-Term Holder Supply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508750" y="2301875"/>
            <a:ext cx="595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62%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80622" y="2365375"/>
            <a:ext cx="145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 BTC unmoved for 1+ year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24625" y="26670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0500" y="2682875"/>
            <a:ext cx="3079750" cy="63500"/>
          </a:xfrm>
          <a:custGeom>
            <a:avLst/>
            <a:gdLst/>
            <a:ahLst/>
            <a:cxn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97625" y="3016250"/>
            <a:ext cx="5254625" cy="920750"/>
          </a:xfrm>
          <a:custGeom>
            <a:avLst/>
            <a:gdLst/>
            <a:ahLst/>
            <a:cxn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08750" y="3127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Volume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508750" y="3381375"/>
            <a:ext cx="5151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$1.17B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508750" y="36671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transaction volume (Nov 2025)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97625" y="4064000"/>
            <a:ext cx="5254625" cy="920750"/>
          </a:xfrm>
          <a:custGeom>
            <a:avLst/>
            <a:gdLst/>
            <a:ahLst/>
            <a:cxn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08750" y="4175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Network Hash Rate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8750" y="4429125"/>
            <a:ext cx="5151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880 EH/s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08750" y="4714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All-time high network security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99188" y="5357813"/>
            <a:ext cx="5651500" cy="1984375"/>
          </a:xfrm>
          <a:custGeom>
            <a:avLst/>
            <a:gdLst/>
            <a:ahLst/>
            <a:cxn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381750" y="5540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PERFORMANCE VS TRADITIONAL ASSETS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81750" y="5921375"/>
            <a:ext cx="534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5-Year Returns (2020-2025):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381750" y="6207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254875" y="6223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70750" y="6238875"/>
            <a:ext cx="4365625" cy="127000"/>
          </a:xfrm>
          <a:custGeom>
            <a:avLst/>
            <a:gdLst/>
            <a:ahLst/>
            <a:cxn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6" name="Text 54"/>
          <p:cNvSpPr/>
          <p:nvPr/>
        </p:nvSpPr>
        <p:spPr>
          <a:xfrm>
            <a:off x="11223749" y="6223000"/>
            <a:ext cx="404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+940%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81750" y="6461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Nasdaq 100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254875" y="6477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70750" y="6492875"/>
            <a:ext cx="523875" cy="127000"/>
          </a:xfrm>
          <a:custGeom>
            <a:avLst/>
            <a:gdLst/>
            <a:ahLst/>
            <a:cxn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/>
        </p:spPr>
      </p:sp>
      <p:sp>
        <p:nvSpPr>
          <p:cNvPr id="60" name="Text 58"/>
          <p:cNvSpPr/>
          <p:nvPr/>
        </p:nvSpPr>
        <p:spPr>
          <a:xfrm>
            <a:off x="7381999" y="6477000"/>
            <a:ext cx="404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+110%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381750" y="6715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S&amp;P 500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254875" y="6731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0750" y="6746875"/>
            <a:ext cx="396875" cy="127000"/>
          </a:xfrm>
          <a:custGeom>
            <a:avLst/>
            <a:gdLst/>
            <a:ahLst/>
            <a:cxn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/>
        </p:spPr>
      </p:sp>
      <p:sp>
        <p:nvSpPr>
          <p:cNvPr id="64" name="Text 62"/>
          <p:cNvSpPr/>
          <p:nvPr/>
        </p:nvSpPr>
        <p:spPr>
          <a:xfrm>
            <a:off x="7312794" y="6731000"/>
            <a:ext cx="34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+80%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381750" y="6969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7254875" y="6985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270750" y="7000875"/>
            <a:ext cx="174625" cy="127000"/>
          </a:xfrm>
          <a:custGeom>
            <a:avLst/>
            <a:gdLst/>
            <a:ahLst/>
            <a:cxn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/>
        </p:spPr>
      </p:sp>
      <p:sp>
        <p:nvSpPr>
          <p:cNvPr id="68" name="Text 66"/>
          <p:cNvSpPr/>
          <p:nvPr/>
        </p:nvSpPr>
        <p:spPr>
          <a:xfrm>
            <a:off x="7094513" y="6985000"/>
            <a:ext cx="34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+25%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media.istockphoto.com/2fb3eee729c3e8eade5a4c7fd77b7226b57177cb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INSTITUTIONAL ADOPTION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Wall Street Embraces Bitcoin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198864" y="5686425"/>
            <a:ext cx="6581775" cy="819150"/>
          </a:xfrm>
          <a:custGeom>
            <a:avLst/>
            <a:gdLst/>
            <a:ahLst/>
            <a:cxn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56039" y="5943600"/>
            <a:ext cx="61817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From Fringe Asset to Mainstream Portfolio Allocation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FRINGE TO MAINSTREAM: INSTITUTIONAL ENTRY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1952625"/>
          </a:xfrm>
          <a:custGeom>
            <a:avLst/>
            <a:gdLst/>
            <a:ahLst/>
            <a:cxn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56368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6250" y="153987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5375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2024: THE TURNING POINT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5375" y="1857375"/>
            <a:ext cx="47783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SEC approves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11 spot Bitcoin ETFs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 marking the most successful ETF launch in history. This removed the final barrier for institutional capital.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750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1344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$52B+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094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BlackRock IBIT AUM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333625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85219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$85B+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416969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ETF AUM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27500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9094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Year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10844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 Reach $50B+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3484563"/>
            <a:ext cx="5651500" cy="5222875"/>
          </a:xfrm>
          <a:custGeom>
            <a:avLst/>
            <a:gdLst/>
            <a:ahLst/>
            <a:cxn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3875" y="3667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KEY INSTITUTIONAL PLAYERS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39750" y="406400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875" y="4175125"/>
            <a:ext cx="2619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(Strategy)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0875" y="4429125"/>
            <a:ext cx="2611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Pioneered corporate treasury Bitcoin strategy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54922" y="4175125"/>
            <a:ext cx="1230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714,644 BTC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94609" y="4429125"/>
            <a:ext cx="119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$54.4B value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485775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4968875"/>
            <a:ext cx="215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Tesla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0875" y="5222875"/>
            <a:ext cx="214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Added BTC to balance sheet in 2021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60900" y="4968875"/>
            <a:ext cx="1119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11,509 BTC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00587" y="5222875"/>
            <a:ext cx="1079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~$850M value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9750" y="565150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0875" y="5762625"/>
            <a:ext cx="2127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(Square)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50875" y="6016625"/>
            <a:ext cx="2119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Financial services embracing Bitcoin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666816" y="5762625"/>
            <a:ext cx="101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8,027 BTC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706503" y="6016625"/>
            <a:ext cx="976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~$600M value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99188" y="1357313"/>
            <a:ext cx="5651500" cy="4714875"/>
          </a:xfrm>
          <a:custGeom>
            <a:avLst/>
            <a:gdLst/>
            <a:ahLst/>
            <a:cxn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THREE-PHASE ADOPTION TIMELINE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7625" y="193675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64313" y="21034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08750" y="20796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953250" y="212725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2025-2027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40500" y="24606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Pension &amp; 401(k) Integration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540500" y="268287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Early pension fund allocations, 401(k) plans add Bitcoin ETF options, 2-5% standard allocation models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7625" y="330200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64313" y="346868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08750" y="34448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953250" y="349250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2028-2030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40500" y="382587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Corporate Treasury Expansion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40500" y="404812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European/Asian ETFs launch, 2028 halving cuts supply, corporate treasuries follow MicroStrategy model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97625" y="466725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564313" y="48339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0" y="48101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953250" y="485775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2030-2032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540500" y="5191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Infrastructure Embedding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540500" y="541337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operational infrastructure for custody, lending, trading services. Switching costs make removal prohibitively expensive.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199188" y="6246813"/>
            <a:ext cx="5651500" cy="2460625"/>
          </a:xfrm>
          <a:custGeom>
            <a:avLst/>
            <a:gdLst/>
            <a:ahLst/>
            <a:cxn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381750" y="6429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MAJOR BANKS ENTERING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7625" y="68262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77000" y="6969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0" name="Text 58"/>
          <p:cNvSpPr/>
          <p:nvPr/>
        </p:nvSpPr>
        <p:spPr>
          <a:xfrm>
            <a:off x="6635750" y="6905625"/>
            <a:ext cx="67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JPMorgan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7344916" y="6921500"/>
            <a:ext cx="142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Accepting BTC as collateral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397625" y="72707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77000" y="7413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4" name="Text 62"/>
          <p:cNvSpPr/>
          <p:nvPr/>
        </p:nvSpPr>
        <p:spPr>
          <a:xfrm>
            <a:off x="6635750" y="7350125"/>
            <a:ext cx="102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Goldman Sachs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690817" y="7366000"/>
            <a:ext cx="134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 trading desk active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77152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77000" y="7858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8" name="Text 66"/>
          <p:cNvSpPr/>
          <p:nvPr/>
        </p:nvSpPr>
        <p:spPr>
          <a:xfrm>
            <a:off x="6635750" y="7794625"/>
            <a:ext cx="1008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Morgan Stanley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7676617" y="7810500"/>
            <a:ext cx="1476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Offering BTC funds to clients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97625" y="81597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77000" y="8302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6635750" y="8239125"/>
            <a:ext cx="341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SoFi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7006146" y="8255000"/>
            <a:ext cx="1960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US bank with direct crypto trading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zelladc.com/f17de6296badf5493ff19a50c4d80e28896b047b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4444" r="1444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ECONOMICS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Backbone of Security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Post-Halving Profitability &amp; Industry Consolidation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INDUSTRY: POST-HALVING ECONOMICS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3413125"/>
          </a:xfrm>
          <a:custGeom>
            <a:avLst/>
            <a:gdLst/>
            <a:ahLst/>
            <a:cxn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REVENUE MODEL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111375"/>
            <a:ext cx="1055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Subsidy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0004" y="2079625"/>
            <a:ext cx="127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3.125 BTC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2625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6.25 BTC pre-2024 halving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2625" y="3032125"/>
            <a:ext cx="1246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 Fees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5826" y="3000375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~0.5 BTC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2625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Variable based on network congestion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7782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625" y="3952875"/>
            <a:ext cx="1651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Daily Network Revenue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59536" y="3921125"/>
            <a:ext cx="1214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~450 BTC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2625" y="42703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900 BTC pre-halving (~$33M/day)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4945063"/>
            <a:ext cx="5651500" cy="4238625"/>
          </a:xfrm>
          <a:custGeom>
            <a:avLst/>
            <a:gdLst/>
            <a:ahLst/>
            <a:cxn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3875" y="5127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COST STRUCTURE BREAKDOWN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39750" y="5524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875" y="5651500"/>
            <a:ext cx="666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Electricity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36059" y="5635625"/>
            <a:ext cx="627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60-80%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6750" y="59055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2625" y="5921375"/>
            <a:ext cx="3476625" cy="63500"/>
          </a:xfrm>
          <a:custGeom>
            <a:avLst/>
            <a:gdLst/>
            <a:ahLst/>
            <a:cxn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39750" y="6254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6381750"/>
            <a:ext cx="1444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Hardware Depreciation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36059" y="6365875"/>
            <a:ext cx="627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6750" y="663575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2625" y="6651625"/>
            <a:ext cx="746125" cy="63500"/>
          </a:xfrm>
          <a:custGeom>
            <a:avLst/>
            <a:gdLst/>
            <a:ahLst/>
            <a:cxn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/>
        </p:spPr>
      </p:sp>
      <p:sp>
        <p:nvSpPr>
          <p:cNvPr id="31" name="Shape 29"/>
          <p:cNvSpPr/>
          <p:nvPr/>
        </p:nvSpPr>
        <p:spPr>
          <a:xfrm>
            <a:off x="539750" y="6985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0875" y="71120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Facilities &amp; Cooling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24363" y="7096125"/>
            <a:ext cx="539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5-10%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6750" y="73660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625" y="7381875"/>
            <a:ext cx="396875" cy="63500"/>
          </a:xfrm>
          <a:custGeom>
            <a:avLst/>
            <a:gdLst/>
            <a:ahLst/>
            <a:cxn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/>
        </p:spPr>
      </p:sp>
      <p:sp>
        <p:nvSpPr>
          <p:cNvPr id="36" name="Shape 34"/>
          <p:cNvSpPr/>
          <p:nvPr/>
        </p:nvSpPr>
        <p:spPr>
          <a:xfrm>
            <a:off x="539750" y="7715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0875" y="7842250"/>
            <a:ext cx="142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Personnel &amp; Overhead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312606" y="7826375"/>
            <a:ext cx="452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3-5%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6750" y="809625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625" y="8112125"/>
            <a:ext cx="198438" cy="63500"/>
          </a:xfrm>
          <a:custGeom>
            <a:avLst/>
            <a:gdLst/>
            <a:ahLst/>
            <a:cxn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99188" y="1357313"/>
            <a:ext cx="5651500" cy="3730625"/>
          </a:xfrm>
          <a:custGeom>
            <a:avLst/>
            <a:gdLst/>
            <a:ahLst/>
            <a:cxn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HASH RATE CONCENTRATION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7625" y="1936750"/>
            <a:ext cx="5254625" cy="984250"/>
          </a:xfrm>
          <a:custGeom>
            <a:avLst/>
            <a:gdLst/>
            <a:ahLst/>
            <a:cxn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08750" y="2047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Top 5 Mining Pools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508750" y="2301875"/>
            <a:ext cx="738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~55%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187964" y="2365375"/>
            <a:ext cx="1270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 total network hashrate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524625" y="266700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40500" y="2682875"/>
            <a:ext cx="2730500" cy="95250"/>
          </a:xfrm>
          <a:custGeom>
            <a:avLst/>
            <a:gdLst/>
            <a:ahLst/>
            <a:cxn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397625" y="304800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08750" y="3159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Foundry USA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508750" y="338137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~35%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508750" y="3635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Largest mining pool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7625" y="403225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08750" y="4143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Publicly Traded Miners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508750" y="436562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~25%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0" y="4619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Marathon, Riot, CleanSpark, etc.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99188" y="5262563"/>
            <a:ext cx="5651500" cy="3921125"/>
          </a:xfrm>
          <a:custGeom>
            <a:avLst/>
            <a:gdLst/>
            <a:ahLst/>
            <a:cxn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381750" y="5445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POST-HALVING REALITY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97625" y="584200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08750" y="5953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Breakeven Electricity Rate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508750" y="617537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$0.05-0.08/kWh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508750" y="6429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 efficient ASIC miners at $75K BTC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97625" y="6826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08750" y="6937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Industry Consolidation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508750" y="7159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Small miners shut down, large operations with cheap electricity dominate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7588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08750" y="7699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Shift to Fee Revenue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508750" y="7921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Miners increasingly dependent on transaction fees as subsidy declines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97625" y="8350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08750" y="8461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Renewable Energy Trend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6508750" y="8683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~55% of mining uses renewable energy (hydro, wind, solar)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bfd49456bfd02c6aaf5b411c857dc51ab9cd61d7.jpe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94" r="19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 GOLD THESIS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Store of Value Debate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79169" y="5686425"/>
            <a:ext cx="7000875" cy="819150"/>
          </a:xfrm>
          <a:custGeom>
            <a:avLst/>
            <a:gdLst/>
            <a:ahLst/>
            <a:cxn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36344" y="5943600"/>
            <a:ext cx="6600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Can Bitcoin Replace Gold as the Ultimate Store of Value?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VS GOLD: THE NEW STORE OF VALUE?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4302125"/>
          </a:xfrm>
          <a:custGeom>
            <a:avLst/>
            <a:gdLst/>
            <a:ahLst/>
            <a:cxn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BITCOIN'S ADVANTAGES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875" y="2111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841375" y="2047875"/>
            <a:ext cx="3222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Portability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375" y="2270125"/>
            <a:ext cx="3214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Transfer $1B across borders in minutes vs. tons of physical gold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667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875" y="28416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841375" y="2778125"/>
            <a:ext cx="3452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Divisibility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375" y="3000375"/>
            <a:ext cx="3444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Divisible to 8 decimal places (0.00000001 BTC) vs. gold bars/ounces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397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0875" y="3571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375" y="3508375"/>
            <a:ext cx="280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Verifiability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375" y="3730625"/>
            <a:ext cx="2801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Cryptographic proof vs. expensive purity testing for gold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9750" y="4127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875" y="43021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841375" y="4238625"/>
            <a:ext cx="323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Fixed Supply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375" y="4460875"/>
            <a:ext cx="3230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21M BTC hard cap vs. unknown total gold supply in Earth's crust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9750" y="4857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0875" y="5032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841375" y="4968875"/>
            <a:ext cx="3000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Programmable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375" y="5191125"/>
            <a:ext cx="2992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Smart contracts, multisig, time-locks vs. inert physical metal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1313" y="5834063"/>
            <a:ext cx="5651500" cy="3857625"/>
          </a:xfrm>
          <a:custGeom>
            <a:avLst/>
            <a:gdLst/>
            <a:ahLst/>
            <a:cxn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3875" y="6016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PERFORMANCE COMPARISON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3875" y="6397625"/>
            <a:ext cx="534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5-Year Returns (2020-2025):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39750" y="669925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875" y="6858000"/>
            <a:ext cx="492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35141" y="6810375"/>
            <a:ext cx="865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+940%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66750" y="717550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2625" y="7191375"/>
            <a:ext cx="4968875" cy="95250"/>
          </a:xfrm>
          <a:custGeom>
            <a:avLst/>
            <a:gdLst/>
            <a:ahLst/>
            <a:cxn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539750" y="755650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0875" y="7715250"/>
            <a:ext cx="34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067536" y="7667625"/>
            <a:ext cx="738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D087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+25%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66750" y="803275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2625" y="8048625"/>
            <a:ext cx="150813" cy="95250"/>
          </a:xfrm>
          <a:custGeom>
            <a:avLst/>
            <a:gdLst/>
            <a:ahLst/>
            <a:cxn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/>
        </p:spPr>
      </p:sp>
      <p:sp>
        <p:nvSpPr>
          <p:cNvPr id="40" name="Shape 38"/>
          <p:cNvSpPr/>
          <p:nvPr/>
        </p:nvSpPr>
        <p:spPr>
          <a:xfrm>
            <a:off x="539750" y="8445500"/>
            <a:ext cx="5254625" cy="412750"/>
          </a:xfrm>
          <a:custGeom>
            <a:avLst/>
            <a:gdLst/>
            <a:ahLst/>
            <a:cxn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125" y="8556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has outperformed gold by 37x over 5 years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99188" y="1357313"/>
            <a:ext cx="5651500" cy="4302125"/>
          </a:xfrm>
          <a:custGeom>
            <a:avLst/>
            <a:gdLst/>
            <a:ahLst/>
            <a:cxn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GOLD'S ADVANTAGES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7625" y="1936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8750" y="2111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6699250" y="2047875"/>
            <a:ext cx="3135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3,000+ Year Track Record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699250" y="2270125"/>
            <a:ext cx="3127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Proven store of value across civilizations vs. Bitcoin's 16 years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7625" y="2667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08750" y="28416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0" name="Text 48"/>
          <p:cNvSpPr/>
          <p:nvPr/>
        </p:nvSpPr>
        <p:spPr>
          <a:xfrm>
            <a:off x="6699250" y="2778125"/>
            <a:ext cx="2801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Physical Tangibility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99250" y="3000375"/>
            <a:ext cx="279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Can hold in your hand, no internet or electricity required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97625" y="3397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08750" y="3571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4" name="Text 52"/>
          <p:cNvSpPr/>
          <p:nvPr/>
        </p:nvSpPr>
        <p:spPr>
          <a:xfrm>
            <a:off x="6699250" y="3508375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Central Bank Demand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699250" y="3730625"/>
            <a:ext cx="2849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Record-high official gold purchases (1,000+ tonnes/year)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397625" y="4127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08750" y="43021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6699250" y="4238625"/>
            <a:ext cx="2579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Lower Volatility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699250" y="4460875"/>
            <a:ext cx="2571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Gold's annual volatility ~15% vs. Bitcoin's ~60-80%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97625" y="4857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08750" y="5032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2" name="Text 60"/>
          <p:cNvSpPr/>
          <p:nvPr/>
        </p:nvSpPr>
        <p:spPr>
          <a:xfrm>
            <a:off x="6699250" y="4968875"/>
            <a:ext cx="321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Industrial &amp; Jewelry Use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699250" y="5191125"/>
            <a:ext cx="3206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Real utility beyond speculation (electronics, dentistry, ornament)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199188" y="5834063"/>
            <a:ext cx="5651500" cy="3857625"/>
          </a:xfrm>
          <a:custGeom>
            <a:avLst/>
            <a:gdLst/>
            <a:ahLst/>
            <a:cxn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381750" y="6016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THE INFLATION HEDGE DEBATE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6413500"/>
            <a:ext cx="5254625" cy="1238250"/>
          </a:xfrm>
          <a:custGeom>
            <a:avLst/>
            <a:gdLst/>
            <a:ahLst/>
            <a:cxn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08750" y="6524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2022 Inflation Test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508750" y="6778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U.S. inflation hit 9% (40-year high). How did assets perform?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524625" y="7016750"/>
            <a:ext cx="2452688" cy="508000"/>
          </a:xfrm>
          <a:custGeom>
            <a:avLst/>
            <a:gdLst/>
            <a:ahLst/>
            <a:cxn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68281" y="7096125"/>
            <a:ext cx="2365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E7000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-60%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6580188" y="7318375"/>
            <a:ext cx="2341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9072563" y="7016750"/>
            <a:ext cx="2452688" cy="508000"/>
          </a:xfrm>
          <a:custGeom>
            <a:avLst/>
            <a:gdLst/>
            <a:ahLst/>
            <a:cxn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16219" y="7096125"/>
            <a:ext cx="2365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00A63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+0.5%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9128125" y="7318375"/>
            <a:ext cx="2341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97625" y="7778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8750" y="7889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6508750" y="8143875"/>
            <a:ext cx="5087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has shown </a:t>
            </a:r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high correlation with risk assets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(tech stocks) rather than acting as a crisis hedge like gold. During the 2022 bear market, BTC crashed alongside equities while gold held steady.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6397625" y="8699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508750" y="8810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8750" y="9064625"/>
            <a:ext cx="5087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may become "digital gold" as it matures and volatility decreases, but </a:t>
            </a:r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it hasn't consistently fulfilled that role yet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. Gold remains the proven safe haven.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ages.stockcake.com/c7e26e62278b48522527db541cc6df27ec6592a2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83" r="183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SCALING SOLUTIONS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Lightning Network &amp; Layer 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Solving Bitcoin's Throughput Limitations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LIGHTNING NETWORK: BITCOIN'S PAYMENT LAYER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3349625"/>
          </a:xfrm>
          <a:custGeom>
            <a:avLst/>
            <a:gdLst/>
            <a:ahLst/>
            <a:cxn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THE PROBLEM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111375"/>
            <a:ext cx="1357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Base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50681" y="2079625"/>
            <a:ext cx="920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~7 TPS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2625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Transactions per second limited by block size and block time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2625" y="3032125"/>
            <a:ext cx="968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Visa Network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93902" y="3000375"/>
            <a:ext cx="1373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65,000 TPS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2625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 payment network capacity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77825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625" y="3921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 Fees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2625" y="4175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Base layer fees spike during congestion ($5-50+), making micropayments impractical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1313" y="4881563"/>
            <a:ext cx="5651500" cy="4556125"/>
          </a:xfrm>
          <a:custGeom>
            <a:avLst/>
            <a:gdLst/>
            <a:ahLst/>
            <a:cxn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3875" y="5064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HOW LIGHTNING WORKS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9750" y="5461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875" y="5572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1. Payment Channels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0875" y="5794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Users lock BTC in multi-signature channels, enabling unlimited off-chain transactions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9750" y="6191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0875" y="6302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2. Off-Chain Transactions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0875" y="6524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Payments routed through network of channels without touching base layer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6921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7032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3. Settlement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0875" y="7254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Channel closes broadcast final balance to Bitcoin blockchain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9750" y="7651750"/>
            <a:ext cx="5254625" cy="412750"/>
          </a:xfrm>
          <a:custGeom>
            <a:avLst/>
            <a:gdLst/>
            <a:ahLst/>
            <a:cxn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125" y="7762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Result: Near-instant, sub-cent fees, millions of TPS capacity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99188" y="1357313"/>
            <a:ext cx="5651500" cy="4333875"/>
          </a:xfrm>
          <a:custGeom>
            <a:avLst/>
            <a:gdLst/>
            <a:ahLst/>
            <a:cxn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ADOPTION METRICS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97625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40500" y="2127250"/>
            <a:ext cx="1047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Volume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741484" y="2079625"/>
            <a:ext cx="88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$1.17B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40500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November 2025 (River data)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97625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40500" y="3048000"/>
            <a:ext cx="1373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Transactions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847524" y="3000375"/>
            <a:ext cx="777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5.22M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540500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Average transaction size: ~$224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97625" y="37782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40500" y="3968750"/>
            <a:ext cx="112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Network Capacity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218849" y="3921125"/>
            <a:ext cx="1412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5,500+ BTC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540500" y="42703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BTC locked in channels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97625" y="46990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40500" y="4889500"/>
            <a:ext cx="865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Active Nodes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41955" y="4841875"/>
            <a:ext cx="98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18,000+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40500" y="51911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Decentralized network participants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99188" y="5865813"/>
            <a:ext cx="5651500" cy="3571875"/>
          </a:xfrm>
          <a:custGeom>
            <a:avLst/>
            <a:gdLst/>
            <a:ahLst/>
            <a:cxn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381750" y="6048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REAL-WORLD USE CASES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97625" y="6445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0" y="6556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 Salvador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508750" y="6778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legal tender using Lightning for everyday payments (coffee, groceries)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97625" y="7175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8750" y="7286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Strike App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0" y="7508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Cross-border remittances: Send USD → Receiver gets local currency, sub-cent fees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97625" y="7905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08750" y="8016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Streaming &amp; Gaming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508750" y="82391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Micropayments for content (pay-per-minute video, in-game purchases)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97625" y="8636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08750" y="8747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 Agent Payments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508750" y="8969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Labs toolkit enables autonomous machine-to-machine transactions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ages.pond5.com/5adfa53ebb460247d0b7eaa197498f1fd9cfbd13.jpe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CHALLENGES &amp; RISKS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Road Ahead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293918" y="5686425"/>
            <a:ext cx="4486275" cy="819150"/>
          </a:xfrm>
          <a:custGeom>
            <a:avLst/>
            <a:gdLst/>
            <a:ahLst/>
            <a:cxn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51093" y="5943600"/>
            <a:ext cx="4086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Obstacles Bitcoin Must Overcome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CRITICAL CHALLENGES: WHAT COULD GO WRONG?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187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125" y="1619250"/>
            <a:ext cx="1127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9750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875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Base Layer Limitations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0875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~7 TPS is insufficient for global payment network. Block size debates led to Bitcoin Cash fork in 2017.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9750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875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Fee Volatility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0875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During congestion, fees spike to $5-50+, making small transactions uneconomical.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875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0875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2 solutions (Lightning, sidechains) process transactions off-chain, settling on base layer.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35958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42333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8833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4771" y="1619250"/>
            <a:ext cx="146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ENVIRONMENTAL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4396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45521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Energy Consumption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5521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uses ~150 TWh/year, comparable to Argentina or Poland. Critics argue this is wasteful.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396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5521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Carbon Footprint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45521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Estimated 65-70 Mt CO2/year. Coal-powered mining in some regions contributes to climate change.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434396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5521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45521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~55% of mining uses renewable energy. Stranded energy (flared gas, hydro surplus) increasingly utilized.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30604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36979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3479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789417" y="1619250"/>
            <a:ext cx="1190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REGULATORY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29042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0167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Government Bans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40167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China banned mining and trading in 2021. Other countries could follow, restricting adoption.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29042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40167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Taxation &amp; Reporting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440167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Complex tax treatment. Heavy reporting requirements could deter mainstream adoption.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329042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40167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440167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Regulatory clarity emerging (US ETF approval, EU MiCA). Compliance infrastructure improving.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41313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47688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187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00125" y="5334000"/>
            <a:ext cx="1182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39750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0875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Ethereum &amp; Smart Contracts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50875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Superior programmability, DeFi ecosystem, NFTs. ETH market cap ~$300B+.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39750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Solana &amp; High-Speed Chains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50875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65,000 TPS, sub-cent fees, growing ecosystem. Could capture payment use cases.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39750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875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CBDCs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Central bank digital currencies (China's e-yuan) could compete for digital payments.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35958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2333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8833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894771" y="5334000"/>
            <a:ext cx="1476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CENTRALIZATION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434396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45521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Mining Pool Concentration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4545521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Top 5 pools control ~55% of hashrate. Foundry USA alone has ~35%.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4434396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45521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Large Holder Influence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4545521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"Whales" with 1,000+ BTC can move markets. Satoshi's 1M BTC remains untouched.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4434396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45521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545521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Stratum V2 protocol gives miners more control. Geographic distribution improving.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130604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8336979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273479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8789417" y="5334000"/>
            <a:ext cx="152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RISKS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8329042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40167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Quantum Computing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8440167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Future quantum computers could break SHA-256. Bitcoin would need to upgrade cryptography.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329042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440167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Protocol Bugs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440167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Critical vulnerability could be exploited. 2010 inflation bug created 184 billion BTC (quickly fixed).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8329042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440167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440167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Conservative development, extensive testing, slow upgrade process minimizes risk.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3b117942948e590458290b2b11fd6e5796502df5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5000" b="500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 OUTLOOK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Predictions &amp; Scenarios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Expert Forecasts &amp; Price Targets for 2025-2030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2025-2030: EXPERT PREDICTIONS &amp; SCENARIOS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6223000" cy="3571875"/>
          </a:xfrm>
          <a:custGeom>
            <a:avLst/>
            <a:gdLst/>
            <a:ahLst/>
            <a:cxn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INSTITUTIONAL PRICE TARGETS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826125" cy="920750"/>
          </a:xfrm>
          <a:custGeom>
            <a:avLst/>
            <a:gdLst/>
            <a:ahLst/>
            <a:cxn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0875" y="206375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2025 Targets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61124" y="2047875"/>
            <a:ext cx="13890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$120K - $285K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0875" y="23653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Standard Chartered: $200K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83756" y="23653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Fundstrat: $250K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875" y="2587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H.C. Wainwright: $225K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83756" y="2587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21st Capital: $285K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9750" y="2984500"/>
            <a:ext cx="5826125" cy="698500"/>
          </a:xfrm>
          <a:custGeom>
            <a:avLst/>
            <a:gdLst/>
            <a:ahLst/>
            <a:cxn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875" y="311150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 Targets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67040" y="3095625"/>
            <a:ext cx="12779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$78K - $142K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0875" y="3413125"/>
            <a:ext cx="5659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Consolidation after 2025 peak, continued ETF inflows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39750" y="3810000"/>
            <a:ext cx="5826125" cy="920750"/>
          </a:xfrm>
          <a:custGeom>
            <a:avLst/>
            <a:gdLst/>
            <a:ahLst/>
            <a:cxn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875" y="393700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2030 Targets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92998" y="3921125"/>
            <a:ext cx="1357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$109K - $1.5M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0875" y="4238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Jack Dorsey: $1M+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483756" y="4238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Cathie Wood: $1.5M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0875" y="44608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JPMorgan: $170K-266K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83756" y="44608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Conservative: $109K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1313" y="5103813"/>
            <a:ext cx="6223000" cy="3317875"/>
          </a:xfrm>
          <a:custGeom>
            <a:avLst/>
            <a:gdLst/>
            <a:ahLst/>
            <a:cxn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23875" y="52863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KEY CATALYSTS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9750" y="5683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0875" y="5794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ETF Inflows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0875" y="6016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Continued institutional buying through regulated vehicles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515506" y="5683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6631" y="5794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Corporate Treasury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626631" y="6016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More companies following MicroStrategy's Bitcoin strategy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39750" y="6572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875" y="6683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Nation-State Adoption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0875" y="6905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More countries making Bitcoin legal tender or reserve asset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515506" y="6572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26631" y="6683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2028 Halving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626631" y="6905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Next supply shock reduces new issuance to 1.5625 BTC/block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39750" y="7461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0875" y="7572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Favorable Regulation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50875" y="7794625"/>
            <a:ext cx="2682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Pro-crypto US administration, global regulatory clarity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515506" y="7461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26631" y="7572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Layer 2 Growth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626631" y="7794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enables everyday payments at scale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69075" y="1357313"/>
            <a:ext cx="5080000" cy="6080125"/>
          </a:xfrm>
          <a:custGeom>
            <a:avLst/>
            <a:gdLst/>
            <a:ahLst/>
            <a:cxn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951638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THREE SCENARIOS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67513" y="1936750"/>
            <a:ext cx="4683125" cy="1714500"/>
          </a:xfrm>
          <a:custGeom>
            <a:avLst/>
            <a:gdLst/>
            <a:ahLst/>
            <a:cxn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4200" y="21034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78638" y="20796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523138" y="2127250"/>
            <a:ext cx="1016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BEAR CASE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110388" y="246062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E700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$50K - $75K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110388" y="28098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Regulatory crackdowns, major exchange failure, prolonged recession, quantum computing breakthrough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110388" y="31908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survives but struggles to gain mainstream traction. Volatility remains high, institutional interest wanes.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967513" y="3810000"/>
            <a:ext cx="4683125" cy="1555750"/>
          </a:xfrm>
          <a:custGeom>
            <a:avLst/>
            <a:gdLst/>
            <a:ahLst/>
            <a:cxn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4200" y="3976687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78638" y="39528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523138" y="4000500"/>
            <a:ext cx="1008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CASE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110388" y="433387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D087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$150K - $250K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7110388" y="4683125"/>
            <a:ext cx="4452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Steady ETF inflows, corporate adoption, favorable regulation, 2028 halving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110388" y="49053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established store of value, "digital gold" thesis validated. Volatility decreases as market matures.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967513" y="5524500"/>
            <a:ext cx="4683125" cy="1714500"/>
          </a:xfrm>
          <a:custGeom>
            <a:avLst/>
            <a:gdLst/>
            <a:ahLst/>
            <a:cxn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4200" y="569118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78638" y="56673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523138" y="5715000"/>
            <a:ext cx="984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BULL CASE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110388" y="604837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$500K+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110388" y="639762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US strategic Bitcoin reserve, mass corporate adoption, nation-state FOMO, dollar crisis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110388" y="677862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global reserve asset, challenges gold's $16T market cap. Widespread use as savings technology.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vectorstock.com/dedad187e3b8b75d7280f5258cc0995ef815e5ed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23958" b="2395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200775" y="781050"/>
            <a:ext cx="5581650" cy="3962400"/>
          </a:xfrm>
          <a:custGeom>
            <a:avLst/>
            <a:gdLst/>
            <a:ahLst/>
            <a:cxn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43650" y="2486025"/>
            <a:ext cx="495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6515100" y="3876675"/>
            <a:ext cx="4781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Path Forward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382991" y="5257800"/>
            <a:ext cx="4400550" cy="819150"/>
          </a:xfrm>
          <a:custGeom>
            <a:avLst/>
            <a:gdLst/>
            <a:ahLst/>
            <a:cxn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40166" y="5514975"/>
            <a:ext cx="4000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Key Takeaways &amp; Final Thoughts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BITCOIN'S TRAJECTORY: KEY TAKEAWAYS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67375" cy="1587500"/>
          </a:xfrm>
          <a:custGeom>
            <a:avLst/>
            <a:gdLst/>
            <a:ahLst/>
            <a:cxn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56368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6250" y="153987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5375" y="1539875"/>
            <a:ext cx="3651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EXPERIMENT TO ASSET CLASS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3875" y="2079625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has evolved from a cypherpunk experiment to a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globally recognized financial asset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with $1.47 trillion market cap. What started as an idea in a whitepaper is now held by institutions, corporations, and nation-states.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83313" y="1357313"/>
            <a:ext cx="5667375" cy="1587500"/>
          </a:xfrm>
          <a:custGeom>
            <a:avLst/>
            <a:gdLst/>
            <a:ahLst/>
            <a:cxn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89688" y="156368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8250" y="153987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37375" y="1539875"/>
            <a:ext cx="482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INSTITUTIONAL ADOPTION CROSSED THE RUBICON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65875" y="2143125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January 2024 ETF approval was a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watershed moment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. Wall Street has embraced Bitcoin, with $85B+ in ETF AUM, corporate treasury strategies, and major banks offering crypto services. This genie cannot be put back in the bottle.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1313" y="3119438"/>
            <a:ext cx="5667375" cy="1587500"/>
          </a:xfrm>
          <a:custGeom>
            <a:avLst/>
            <a:gdLst/>
            <a:ahLst/>
            <a:cxn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7688" y="3325813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250" y="3302000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5375" y="3302000"/>
            <a:ext cx="482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HALVING CYCLES CREATE PREDICTABLE PATTERNS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3875" y="3905250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programmed scarcity mechanism has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historically preceded major bull runs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. The 2024 halving reduced daily new supply to 450 BTC (0.85% inflation), setting the stage for the next supply-demand imbalance.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83313" y="3119438"/>
            <a:ext cx="5667375" cy="1587500"/>
          </a:xfrm>
          <a:custGeom>
            <a:avLst/>
            <a:gdLst/>
            <a:ahLst/>
            <a:cxn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89688" y="3325813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8250" y="3302000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37375" y="3302000"/>
            <a:ext cx="4754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CHALLENGES REMAIN, BUT SOLUTIONS EMERGE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65875" y="3841750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Scalability, energy consumption, and regulation are real challenges. However,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2 solutions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(Lightning Network), renewable energy adoption (~55% of mining), and regulatory clarity are addressing these issues.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1313" y="4881563"/>
            <a:ext cx="5667375" cy="1524000"/>
          </a:xfrm>
          <a:custGeom>
            <a:avLst/>
            <a:gdLst/>
            <a:ahLst/>
            <a:cxn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7688" y="508793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250" y="506412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95375" y="5064125"/>
            <a:ext cx="3262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"DIGITAL GOLD" STILL EVOLVING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3875" y="5603875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Bitcoin's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scarcity and decentralization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83313" y="4881563"/>
            <a:ext cx="5667375" cy="1524000"/>
          </a:xfrm>
          <a:custGeom>
            <a:avLst/>
            <a:gdLst/>
            <a:ahLst/>
            <a:cxn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89688" y="508793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18250" y="506412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37375" y="5064125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2024-2030: THE CRITICAL DECADE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65875" y="5603875"/>
            <a:ext cx="53657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next 6 years will determine Bitcoin's long-term trajectory.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ETF adoption, corporate treasuries, nation-state accumulation, and the 2028 halving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could propel Bitcoin to $150K-$500K+ or higher. The foundation is being laid for mainstream integration.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1313" y="6580188"/>
            <a:ext cx="11509375" cy="1666875"/>
          </a:xfrm>
          <a:custGeom>
            <a:avLst/>
            <a:gdLst/>
            <a:ahLst/>
            <a:cxn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875" y="7032625"/>
            <a:ext cx="10017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BOTTOM LINE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23875" y="7350125"/>
            <a:ext cx="99933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represents both </a:t>
            </a:r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transformative potential</a:t>
            </a:r>
            <a:pPr>
              <a:lnSpc>
                <a:spcPct val="130000"/>
              </a:lnSpc>
            </a:pPr>
            <a:r>
              <a:rPr lang="en-US" sz="1125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(decentralized, scarce, borderless money) and </a:t>
            </a:r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significant risks</a:t>
            </a:r>
            <a:pPr>
              <a:lnSpc>
                <a:spcPct val="130000"/>
              </a:lnSpc>
            </a:pPr>
            <a:r>
              <a:rPr lang="en-US" sz="1125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(volatility, regulation, competition). Approach with understanding of both.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662667" y="6786563"/>
            <a:ext cx="984250" cy="1254125"/>
          </a:xfrm>
          <a:custGeom>
            <a:avLst/>
            <a:gdLst/>
            <a:ahLst/>
            <a:cxn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81729" y="6937375"/>
            <a:ext cx="74612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2026-2030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WILL DEFINE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FUTURE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vectorstock.com/dedad187e3b8b75d7280f5258cc0995ef815e5ed.jp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rcRect l="0" r="0" t="23958" b="2395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56000" y="676275"/>
            <a:ext cx="5476875" cy="4362450"/>
          </a:xfrm>
          <a:custGeom>
            <a:avLst/>
            <a:gdLst/>
            <a:ahLst/>
            <a:cxn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3670325" y="1162050"/>
            <a:ext cx="48482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181526" y="207645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7" name="Text 4"/>
          <p:cNvSpPr/>
          <p:nvPr/>
        </p:nvSpPr>
        <p:spPr>
          <a:xfrm>
            <a:off x="3756050" y="2381250"/>
            <a:ext cx="46767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70350" y="3095625"/>
            <a:ext cx="4448175" cy="1428750"/>
          </a:xfrm>
          <a:custGeom>
            <a:avLst/>
            <a:gdLst/>
            <a:ahLst/>
            <a:cxn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70375" y="3352800"/>
            <a:ext cx="4048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a world of infinite money printing,</a:t>
            </a:r>
            <a:endParaRPr lang="en-US" sz="1600" dirty="0"/>
          </a:p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a fixed-supply digital asset</a:t>
            </a:r>
            <a:endParaRPr lang="en-US" sz="1600" dirty="0"/>
          </a:p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become the ultimate store of value?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743697" y="5400675"/>
            <a:ext cx="4705350" cy="781050"/>
          </a:xfrm>
          <a:custGeom>
            <a:avLst/>
            <a:gdLst/>
            <a:ahLst/>
            <a:cxn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000872" y="5657850"/>
            <a:ext cx="4286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Bitcoin: The Digital Revolution | March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Bitcoin: The Digital Revolution</dc:title>
  <dc:subject>Bitcoin: The Digital Revolution</dc:subject>
  <dc:creator>Kimi</dc:creator>
  <cp:lastModifiedBy>Kimi</cp:lastModifiedBy>
  <cp:revision>1</cp:revision>
  <dcterms:created xsi:type="dcterms:W3CDTF">2026-03-18T08:32:36Z</dcterms:created>
  <dcterms:modified xsi:type="dcterms:W3CDTF">2026-03-18T08:32:36Z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</Properties>
</file>