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6.xml.rels" ContentType="application/vnd.openxmlformats-package.relationships+xml"/>
  <Override PartName="/ppt/notesSlides/_rels/notesSlide15.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3.xml.rels" ContentType="application/vnd.openxmlformats-package.relationships+xml"/>
  <Override PartName="/ppt/notesSlides/_rels/notesSlide22.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9.png" ContentType="image/png"/>
  <Override PartName="/ppt/media/image13.png" ContentType="image/png"/>
  <Override PartName="/ppt/media/image12.jpeg" ContentType="image/jpeg"/>
  <Override PartName="/ppt/media/image8.png" ContentType="image/png"/>
  <Override PartName="/ppt/media/image17.png" ContentType="image/png"/>
  <Override PartName="/ppt/media/image16.png" ContentType="image/png"/>
  <Override PartName="/ppt/media/image15.png" ContentType="image/png"/>
  <Override PartName="/ppt/media/image14.png" ContentType="image/png"/>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2.xml.rels" ContentType="application/vnd.openxmlformats-package.relationships+xml"/>
  <Override PartName="/ppt/slides/_rels/slide20.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23.xml.rels" ContentType="application/vnd.openxmlformats-package.relationships+xml"/>
  <Override PartName="/ppt/slides/_rels/slide11.xml.rels" ContentType="application/vnd.openxmlformats-package.relationships+xml"/>
  <Override PartName="/ppt/slides/_rels/slide24.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80629F5E-6ECF-46A2-86A5-F3615C4BC6C8}"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3" name="PlaceHolder 1"/>
          <p:cNvSpPr>
            <a:spLocks noGrp="1"/>
          </p:cNvSpPr>
          <p:nvPr>
            <p:ph type="sldImg"/>
          </p:nvPr>
        </p:nvSpPr>
        <p:spPr>
          <a:xfrm>
            <a:off x="685800" y="1143000"/>
            <a:ext cx="5484240" cy="3084120"/>
          </a:xfrm>
          <a:prstGeom prst="rect">
            <a:avLst/>
          </a:prstGeom>
          <a:ln w="0">
            <a:noFill/>
          </a:ln>
        </p:spPr>
      </p:sp>
      <p:sp>
        <p:nvSpPr>
          <p:cNvPr id="86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65" name="PlaceHolder 3"/>
          <p:cNvSpPr>
            <a:spLocks noGrp="1"/>
          </p:cNvSpPr>
          <p:nvPr>
            <p:ph type="sldNum" idx="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B4F2484-93EC-4E38-9AAE-4F2159589A9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PlaceHolder 1"/>
          <p:cNvSpPr>
            <a:spLocks noGrp="1"/>
          </p:cNvSpPr>
          <p:nvPr>
            <p:ph type="sldImg"/>
          </p:nvPr>
        </p:nvSpPr>
        <p:spPr>
          <a:xfrm>
            <a:off x="685800" y="1143000"/>
            <a:ext cx="5484240" cy="3084120"/>
          </a:xfrm>
          <a:prstGeom prst="rect">
            <a:avLst/>
          </a:prstGeom>
          <a:ln w="0">
            <a:noFill/>
          </a:ln>
        </p:spPr>
      </p:sp>
      <p:sp>
        <p:nvSpPr>
          <p:cNvPr id="86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This presentation covers five major eras of rock: 1950s origins, British Invasion, psychedelic era, heavy metal and punk, and the 90s alternative revolution.</a:t>
            </a:r>
            <a:endParaRPr b="0" lang="en-HK" sz="1800" spc="-1" strike="noStrike">
              <a:latin typeface="Arial"/>
            </a:endParaRPr>
          </a:p>
        </p:txBody>
      </p:sp>
      <p:sp>
        <p:nvSpPr>
          <p:cNvPr id="868" name="PlaceHolder 3"/>
          <p:cNvSpPr>
            <a:spLocks noGrp="1"/>
          </p:cNvSpPr>
          <p:nvPr>
            <p:ph type="sldNum" idx="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AA5610F-478C-4046-B195-B354BD106FD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9" name="PlaceHolder 1"/>
          <p:cNvSpPr>
            <a:spLocks noGrp="1"/>
          </p:cNvSpPr>
          <p:nvPr>
            <p:ph type="sldImg"/>
          </p:nvPr>
        </p:nvSpPr>
        <p:spPr>
          <a:xfrm>
            <a:off x="685800" y="1143000"/>
            <a:ext cx="5484240" cy="3084120"/>
          </a:xfrm>
          <a:prstGeom prst="rect">
            <a:avLst/>
          </a:prstGeom>
          <a:ln w="0">
            <a:noFill/>
          </a:ln>
        </p:spPr>
      </p:sp>
      <p:sp>
        <p:nvSpPr>
          <p:cNvPr id="87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71" name="PlaceHolder 3"/>
          <p:cNvSpPr>
            <a:spLocks noGrp="1"/>
          </p:cNvSpPr>
          <p:nvPr>
            <p:ph type="sldNum" idx="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3CD10F2-F4EA-4C1C-AD7A-ACC80CC9EFC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2" name="PlaceHolder 1"/>
          <p:cNvSpPr>
            <a:spLocks noGrp="1"/>
          </p:cNvSpPr>
          <p:nvPr>
            <p:ph type="sldImg"/>
          </p:nvPr>
        </p:nvSpPr>
        <p:spPr>
          <a:xfrm>
            <a:off x="685800" y="1143000"/>
            <a:ext cx="5484240" cy="3084120"/>
          </a:xfrm>
          <a:prstGeom prst="rect">
            <a:avLst/>
          </a:prstGeom>
          <a:ln w="0">
            <a:noFill/>
          </a:ln>
        </p:spPr>
      </p:sp>
      <p:sp>
        <p:nvSpPr>
          <p:cNvPr id="87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74" name="PlaceHolder 3"/>
          <p:cNvSpPr>
            <a:spLocks noGrp="1"/>
          </p:cNvSpPr>
          <p:nvPr>
            <p:ph type="sldNum" idx="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9CD001C-900A-4B9D-8A82-2CF9C60C4CF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5" name="PlaceHolder 1"/>
          <p:cNvSpPr>
            <a:spLocks noGrp="1"/>
          </p:cNvSpPr>
          <p:nvPr>
            <p:ph type="sldImg"/>
          </p:nvPr>
        </p:nvSpPr>
        <p:spPr>
          <a:xfrm>
            <a:off x="685800" y="1143000"/>
            <a:ext cx="5484240" cy="3084120"/>
          </a:xfrm>
          <a:prstGeom prst="rect">
            <a:avLst/>
          </a:prstGeom>
          <a:ln w="0">
            <a:noFill/>
          </a:ln>
        </p:spPr>
      </p:sp>
      <p:sp>
        <p:nvSpPr>
          <p:cNvPr id="87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77" name="PlaceHolder 3"/>
          <p:cNvSpPr>
            <a:spLocks noGrp="1"/>
          </p:cNvSpPr>
          <p:nvPr>
            <p:ph type="sldNum" idx="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1DD80E0-A6B5-49D0-9A58-78492B1911B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8" name="PlaceHolder 1"/>
          <p:cNvSpPr>
            <a:spLocks noGrp="1"/>
          </p:cNvSpPr>
          <p:nvPr>
            <p:ph type="sldImg"/>
          </p:nvPr>
        </p:nvSpPr>
        <p:spPr>
          <a:xfrm>
            <a:off x="685800" y="1143000"/>
            <a:ext cx="5484240" cy="3084120"/>
          </a:xfrm>
          <a:prstGeom prst="rect">
            <a:avLst/>
          </a:prstGeom>
          <a:ln w="0">
            <a:noFill/>
          </a:ln>
        </p:spPr>
      </p:sp>
      <p:sp>
        <p:nvSpPr>
          <p:cNvPr id="87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80" name="PlaceHolder 3"/>
          <p:cNvSpPr>
            <a:spLocks noGrp="1"/>
          </p:cNvSpPr>
          <p:nvPr>
            <p:ph type="sldNum" idx="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FE8BB3F-E854-4352-8EC5-B11C2E98BFC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1" name="PlaceHolder 1"/>
          <p:cNvSpPr>
            <a:spLocks noGrp="1"/>
          </p:cNvSpPr>
          <p:nvPr>
            <p:ph type="sldImg"/>
          </p:nvPr>
        </p:nvSpPr>
        <p:spPr>
          <a:xfrm>
            <a:off x="685800" y="1143000"/>
            <a:ext cx="5484240" cy="3084120"/>
          </a:xfrm>
          <a:prstGeom prst="rect">
            <a:avLst/>
          </a:prstGeom>
          <a:ln w="0">
            <a:noFill/>
          </a:ln>
        </p:spPr>
      </p:sp>
      <p:sp>
        <p:nvSpPr>
          <p:cNvPr id="88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83" name="PlaceHolder 3"/>
          <p:cNvSpPr>
            <a:spLocks noGrp="1"/>
          </p:cNvSpPr>
          <p:nvPr>
            <p:ph type="sldNum" idx="1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1CFB18-BBD0-425E-AEDE-11283429A3A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4" name="PlaceHolder 1"/>
          <p:cNvSpPr>
            <a:spLocks noGrp="1"/>
          </p:cNvSpPr>
          <p:nvPr>
            <p:ph type="sldImg"/>
          </p:nvPr>
        </p:nvSpPr>
        <p:spPr>
          <a:xfrm>
            <a:off x="685800" y="1143000"/>
            <a:ext cx="5484240" cy="3084120"/>
          </a:xfrm>
          <a:prstGeom prst="rect">
            <a:avLst/>
          </a:prstGeom>
          <a:ln w="0">
            <a:noFill/>
          </a:ln>
        </p:spPr>
      </p:sp>
      <p:sp>
        <p:nvSpPr>
          <p:cNvPr id="88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86" name="PlaceHolder 3"/>
          <p:cNvSpPr>
            <a:spLocks noGrp="1"/>
          </p:cNvSpPr>
          <p:nvPr>
            <p:ph type="sldNum" idx="1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4662E0A-B1E7-4650-B013-EF5783A2057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7" name="PlaceHolder 1"/>
          <p:cNvSpPr>
            <a:spLocks noGrp="1"/>
          </p:cNvSpPr>
          <p:nvPr>
            <p:ph type="sldImg"/>
          </p:nvPr>
        </p:nvSpPr>
        <p:spPr>
          <a:xfrm>
            <a:off x="685800" y="1143000"/>
            <a:ext cx="5484240" cy="3084120"/>
          </a:xfrm>
          <a:prstGeom prst="rect">
            <a:avLst/>
          </a:prstGeom>
          <a:ln w="0">
            <a:noFill/>
          </a:ln>
        </p:spPr>
      </p:sp>
      <p:sp>
        <p:nvSpPr>
          <p:cNvPr id="88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89" name="PlaceHolder 3"/>
          <p:cNvSpPr>
            <a:spLocks noGrp="1"/>
          </p:cNvSpPr>
          <p:nvPr>
            <p:ph type="sldNum" idx="1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D37683-A066-4550-A8D6-D2F46CBCA1A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0" name="PlaceHolder 1"/>
          <p:cNvSpPr>
            <a:spLocks noGrp="1"/>
          </p:cNvSpPr>
          <p:nvPr>
            <p:ph type="sldImg"/>
          </p:nvPr>
        </p:nvSpPr>
        <p:spPr>
          <a:xfrm>
            <a:off x="685800" y="1143000"/>
            <a:ext cx="5484240" cy="3084120"/>
          </a:xfrm>
          <a:prstGeom prst="rect">
            <a:avLst/>
          </a:prstGeom>
          <a:ln w="0">
            <a:noFill/>
          </a:ln>
        </p:spPr>
      </p:sp>
      <p:sp>
        <p:nvSpPr>
          <p:cNvPr id="89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92" name="PlaceHolder 3"/>
          <p:cNvSpPr>
            <a:spLocks noGrp="1"/>
          </p:cNvSpPr>
          <p:nvPr>
            <p:ph type="sldNum" idx="1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62F8E0C-59AE-4A33-A5C1-E306DFF66E8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3" name="PlaceHolder 1"/>
          <p:cNvSpPr>
            <a:spLocks noGrp="1"/>
          </p:cNvSpPr>
          <p:nvPr>
            <p:ph type="sldImg"/>
          </p:nvPr>
        </p:nvSpPr>
        <p:spPr>
          <a:xfrm>
            <a:off x="685800" y="1143000"/>
            <a:ext cx="5484240" cy="3084120"/>
          </a:xfrm>
          <a:prstGeom prst="rect">
            <a:avLst/>
          </a:prstGeom>
          <a:ln w="0">
            <a:noFill/>
          </a:ln>
        </p:spPr>
      </p:sp>
      <p:sp>
        <p:nvSpPr>
          <p:cNvPr id="89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95" name="PlaceHolder 3"/>
          <p:cNvSpPr>
            <a:spLocks noGrp="1"/>
          </p:cNvSpPr>
          <p:nvPr>
            <p:ph type="sldNum" idx="1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A992CC-59C6-48EC-A919-31145B66518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6" name="PlaceHolder 1"/>
          <p:cNvSpPr>
            <a:spLocks noGrp="1"/>
          </p:cNvSpPr>
          <p:nvPr>
            <p:ph type="sldImg"/>
          </p:nvPr>
        </p:nvSpPr>
        <p:spPr>
          <a:xfrm>
            <a:off x="685800" y="1143000"/>
            <a:ext cx="5484240" cy="3084120"/>
          </a:xfrm>
          <a:prstGeom prst="rect">
            <a:avLst/>
          </a:prstGeom>
          <a:ln w="0">
            <a:noFill/>
          </a:ln>
        </p:spPr>
      </p:sp>
      <p:sp>
        <p:nvSpPr>
          <p:cNvPr id="89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898" name="PlaceHolder 3"/>
          <p:cNvSpPr>
            <a:spLocks noGrp="1"/>
          </p:cNvSpPr>
          <p:nvPr>
            <p:ph type="sldNum" idx="1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9545273-2D68-4900-99CF-D6599BC7CC2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9" name="PlaceHolder 1"/>
          <p:cNvSpPr>
            <a:spLocks noGrp="1"/>
          </p:cNvSpPr>
          <p:nvPr>
            <p:ph type="sldImg"/>
          </p:nvPr>
        </p:nvSpPr>
        <p:spPr>
          <a:xfrm>
            <a:off x="685800" y="1143000"/>
            <a:ext cx="5484240" cy="3084120"/>
          </a:xfrm>
          <a:prstGeom prst="rect">
            <a:avLst/>
          </a:prstGeom>
          <a:ln w="0">
            <a:noFill/>
          </a:ln>
        </p:spPr>
      </p:sp>
      <p:sp>
        <p:nvSpPr>
          <p:cNvPr id="90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01" name="PlaceHolder 3"/>
          <p:cNvSpPr>
            <a:spLocks noGrp="1"/>
          </p:cNvSpPr>
          <p:nvPr>
            <p:ph type="sldNum" idx="1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38744F7-7737-4EAA-AD50-FD0656A44FE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PlaceHolder 1"/>
          <p:cNvSpPr>
            <a:spLocks noGrp="1"/>
          </p:cNvSpPr>
          <p:nvPr>
            <p:ph type="sldImg"/>
          </p:nvPr>
        </p:nvSpPr>
        <p:spPr>
          <a:xfrm>
            <a:off x="685800" y="1143000"/>
            <a:ext cx="5484240" cy="3084120"/>
          </a:xfrm>
          <a:prstGeom prst="rect">
            <a:avLst/>
          </a:prstGeom>
          <a:ln w="0">
            <a:noFill/>
          </a:ln>
        </p:spPr>
      </p:sp>
      <p:sp>
        <p:nvSpPr>
          <p:cNvPr id="90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04" name="PlaceHolder 3"/>
          <p:cNvSpPr>
            <a:spLocks noGrp="1"/>
          </p:cNvSpPr>
          <p:nvPr>
            <p:ph type="sldNum" idx="1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8C4E5C1-62A8-44D7-94A0-A26161732D1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5" name="PlaceHolder 1"/>
          <p:cNvSpPr>
            <a:spLocks noGrp="1"/>
          </p:cNvSpPr>
          <p:nvPr>
            <p:ph type="sldImg"/>
          </p:nvPr>
        </p:nvSpPr>
        <p:spPr>
          <a:xfrm>
            <a:off x="685800" y="1143000"/>
            <a:ext cx="5484240" cy="3084120"/>
          </a:xfrm>
          <a:prstGeom prst="rect">
            <a:avLst/>
          </a:prstGeom>
          <a:ln w="0">
            <a:noFill/>
          </a:ln>
        </p:spPr>
      </p:sp>
      <p:sp>
        <p:nvSpPr>
          <p:cNvPr id="90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07" name="PlaceHolder 3"/>
          <p:cNvSpPr>
            <a:spLocks noGrp="1"/>
          </p:cNvSpPr>
          <p:nvPr>
            <p:ph type="sldNum" idx="1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DC14D2E-B42A-46B2-8EA8-92B9C3F8D72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8" name="PlaceHolder 1"/>
          <p:cNvSpPr>
            <a:spLocks noGrp="1"/>
          </p:cNvSpPr>
          <p:nvPr>
            <p:ph type="sldImg"/>
          </p:nvPr>
        </p:nvSpPr>
        <p:spPr>
          <a:xfrm>
            <a:off x="685800" y="1143000"/>
            <a:ext cx="5484240" cy="3084120"/>
          </a:xfrm>
          <a:prstGeom prst="rect">
            <a:avLst/>
          </a:prstGeom>
          <a:ln w="0">
            <a:noFill/>
          </a:ln>
        </p:spPr>
      </p:sp>
      <p:sp>
        <p:nvSpPr>
          <p:cNvPr id="90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10" name="PlaceHolder 3"/>
          <p:cNvSpPr>
            <a:spLocks noGrp="1"/>
          </p:cNvSpPr>
          <p:nvPr>
            <p:ph type="sldNum" idx="1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C55A456-197B-4672-90B3-C83B0FBAD95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PlaceHolder 1"/>
          <p:cNvSpPr>
            <a:spLocks noGrp="1"/>
          </p:cNvSpPr>
          <p:nvPr>
            <p:ph type="sldImg"/>
          </p:nvPr>
        </p:nvSpPr>
        <p:spPr>
          <a:xfrm>
            <a:off x="685800" y="1143000"/>
            <a:ext cx="5484240" cy="3084120"/>
          </a:xfrm>
          <a:prstGeom prst="rect">
            <a:avLst/>
          </a:prstGeom>
          <a:ln w="0">
            <a:noFill/>
          </a:ln>
        </p:spPr>
      </p:sp>
      <p:sp>
        <p:nvSpPr>
          <p:cNvPr id="91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13" name="PlaceHolder 3"/>
          <p:cNvSpPr>
            <a:spLocks noGrp="1"/>
          </p:cNvSpPr>
          <p:nvPr>
            <p:ph type="sldNum" idx="2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457CCD9-EDCA-4481-87CC-FCE2ECBDD88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4" name="PlaceHolder 1"/>
          <p:cNvSpPr>
            <a:spLocks noGrp="1"/>
          </p:cNvSpPr>
          <p:nvPr>
            <p:ph type="sldImg"/>
          </p:nvPr>
        </p:nvSpPr>
        <p:spPr>
          <a:xfrm>
            <a:off x="685800" y="1143000"/>
            <a:ext cx="5484240" cy="3084120"/>
          </a:xfrm>
          <a:prstGeom prst="rect">
            <a:avLst/>
          </a:prstGeom>
          <a:ln w="0">
            <a:noFill/>
          </a:ln>
        </p:spPr>
      </p:sp>
      <p:sp>
        <p:nvSpPr>
          <p:cNvPr id="91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16" name="PlaceHolder 3"/>
          <p:cNvSpPr>
            <a:spLocks noGrp="1"/>
          </p:cNvSpPr>
          <p:nvPr>
            <p:ph type="sldNum" idx="2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86088B0-B558-4D96-864B-599C353301F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7" name="PlaceHolder 1"/>
          <p:cNvSpPr>
            <a:spLocks noGrp="1"/>
          </p:cNvSpPr>
          <p:nvPr>
            <p:ph type="sldImg"/>
          </p:nvPr>
        </p:nvSpPr>
        <p:spPr>
          <a:xfrm>
            <a:off x="685800" y="1143000"/>
            <a:ext cx="5484240" cy="3084120"/>
          </a:xfrm>
          <a:prstGeom prst="rect">
            <a:avLst/>
          </a:prstGeom>
          <a:ln w="0">
            <a:noFill/>
          </a:ln>
        </p:spPr>
      </p:sp>
      <p:sp>
        <p:nvSpPr>
          <p:cNvPr id="91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19" name="PlaceHolder 3"/>
          <p:cNvSpPr>
            <a:spLocks noGrp="1"/>
          </p:cNvSpPr>
          <p:nvPr>
            <p:ph type="sldNum" idx="2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8B12BFE-36B5-4A5B-AEFB-E6E643C49F2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0" name="PlaceHolder 1"/>
          <p:cNvSpPr>
            <a:spLocks noGrp="1"/>
          </p:cNvSpPr>
          <p:nvPr>
            <p:ph type="sldImg"/>
          </p:nvPr>
        </p:nvSpPr>
        <p:spPr>
          <a:xfrm>
            <a:off x="685800" y="1143000"/>
            <a:ext cx="5484240" cy="3084120"/>
          </a:xfrm>
          <a:prstGeom prst="rect">
            <a:avLst/>
          </a:prstGeom>
          <a:ln w="0">
            <a:noFill/>
          </a:ln>
        </p:spPr>
      </p:sp>
      <p:sp>
        <p:nvSpPr>
          <p:cNvPr id="92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22" name="PlaceHolder 3"/>
          <p:cNvSpPr>
            <a:spLocks noGrp="1"/>
          </p:cNvSpPr>
          <p:nvPr>
            <p:ph type="sldNum" idx="2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392EF15-8294-47D1-AD56-12A4D6A0365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3" name="PlaceHolder 1"/>
          <p:cNvSpPr>
            <a:spLocks noGrp="1"/>
          </p:cNvSpPr>
          <p:nvPr>
            <p:ph type="sldImg"/>
          </p:nvPr>
        </p:nvSpPr>
        <p:spPr>
          <a:xfrm>
            <a:off x="685800" y="1143000"/>
            <a:ext cx="5484240" cy="3084120"/>
          </a:xfrm>
          <a:prstGeom prst="rect">
            <a:avLst/>
          </a:prstGeom>
          <a:ln w="0">
            <a:noFill/>
          </a:ln>
        </p:spPr>
      </p:sp>
      <p:sp>
        <p:nvSpPr>
          <p:cNvPr id="92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25" name="PlaceHolder 3"/>
          <p:cNvSpPr>
            <a:spLocks noGrp="1"/>
          </p:cNvSpPr>
          <p:nvPr>
            <p:ph type="sldNum" idx="2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BF68E9A-406D-40A5-B836-B6FC5F07C3F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6" name="PlaceHolder 1"/>
          <p:cNvSpPr>
            <a:spLocks noGrp="1"/>
          </p:cNvSpPr>
          <p:nvPr>
            <p:ph type="sldImg"/>
          </p:nvPr>
        </p:nvSpPr>
        <p:spPr>
          <a:xfrm>
            <a:off x="685800" y="1143000"/>
            <a:ext cx="5484240" cy="3084120"/>
          </a:xfrm>
          <a:prstGeom prst="rect">
            <a:avLst/>
          </a:prstGeom>
          <a:ln w="0">
            <a:noFill/>
          </a:ln>
        </p:spPr>
      </p:sp>
      <p:sp>
        <p:nvSpPr>
          <p:cNvPr id="92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28" name="PlaceHolder 3"/>
          <p:cNvSpPr>
            <a:spLocks noGrp="1"/>
          </p:cNvSpPr>
          <p:nvPr>
            <p:ph type="sldNum" idx="2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B3BD08E-3D00-4213-9AE5-86E9573AC7B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PlaceHolder 1"/>
          <p:cNvSpPr>
            <a:spLocks noGrp="1"/>
          </p:cNvSpPr>
          <p:nvPr>
            <p:ph type="sldImg"/>
          </p:nvPr>
        </p:nvSpPr>
        <p:spPr>
          <a:xfrm>
            <a:off x="685800" y="1143000"/>
            <a:ext cx="5484240" cy="3084120"/>
          </a:xfrm>
          <a:prstGeom prst="rect">
            <a:avLst/>
          </a:prstGeom>
          <a:ln w="0">
            <a:noFill/>
          </a:ln>
        </p:spPr>
      </p:sp>
      <p:sp>
        <p:nvSpPr>
          <p:cNvPr id="93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31" name="PlaceHolder 3"/>
          <p:cNvSpPr>
            <a:spLocks noGrp="1"/>
          </p:cNvSpPr>
          <p:nvPr>
            <p:ph type="sldNum" idx="2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0F39672-D8DB-4C49-9836-31A0B6BB6AB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2" name="PlaceHolder 1"/>
          <p:cNvSpPr>
            <a:spLocks noGrp="1"/>
          </p:cNvSpPr>
          <p:nvPr>
            <p:ph type="sldImg"/>
          </p:nvPr>
        </p:nvSpPr>
        <p:spPr>
          <a:xfrm>
            <a:off x="685800" y="1143000"/>
            <a:ext cx="5484240" cy="3084120"/>
          </a:xfrm>
          <a:prstGeom prst="rect">
            <a:avLst/>
          </a:prstGeom>
          <a:ln w="0">
            <a:noFill/>
          </a:ln>
        </p:spPr>
      </p:sp>
      <p:sp>
        <p:nvSpPr>
          <p:cNvPr id="93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934" name="PlaceHolder 3"/>
          <p:cNvSpPr>
            <a:spLocks noGrp="1"/>
          </p:cNvSpPr>
          <p:nvPr>
            <p:ph type="sldNum" idx="2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2C0D85E-3BDF-44A2-9FE6-72BC8337EDA3}"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2700000"/>
          </a:gradFill>
          <a:ln w="0">
            <a:noFill/>
          </a:ln>
        </p:spPr>
        <p:style>
          <a:lnRef idx="0"/>
          <a:fillRef idx="0"/>
          <a:effectRef idx="0"/>
          <a:fontRef idx="minor"/>
        </p:style>
      </p:sp>
      <p:sp>
        <p:nvSpPr>
          <p:cNvPr id="46" name="Shape 1"/>
          <p:cNvSpPr/>
          <p:nvPr/>
        </p:nvSpPr>
        <p:spPr>
          <a:xfrm>
            <a:off x="336600" y="781200"/>
            <a:ext cx="2217240" cy="41688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7" name="Text 2"/>
          <p:cNvSpPr/>
          <p:nvPr/>
        </p:nvSpPr>
        <p:spPr>
          <a:xfrm>
            <a:off x="609480" y="857160"/>
            <a:ext cx="18550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34" strike="noStrike">
                <a:solidFill>
                  <a:srgbClr val="000000"/>
                </a:solidFill>
                <a:latin typeface="Liter"/>
                <a:ea typeface="Liter"/>
              </a:rPr>
              <a:t>LECTURE SERIES</a:t>
            </a:r>
            <a:endParaRPr b="0" lang="en-HK" sz="1500" spc="-1" strike="noStrike">
              <a:latin typeface="Arial"/>
            </a:endParaRPr>
          </a:p>
        </p:txBody>
      </p:sp>
      <p:sp>
        <p:nvSpPr>
          <p:cNvPr id="48" name="Text 3"/>
          <p:cNvSpPr/>
          <p:nvPr/>
        </p:nvSpPr>
        <p:spPr>
          <a:xfrm>
            <a:off x="380880" y="1733400"/>
            <a:ext cx="11999520" cy="342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000" spc="-452" strike="noStrike">
                <a:solidFill>
                  <a:srgbClr val="ffffff"/>
                </a:solidFill>
                <a:latin typeface="Liter"/>
                <a:ea typeface="Liter"/>
              </a:rPr>
              <a:t>THE</a:t>
            </a:r>
            <a:endParaRPr b="0" lang="en-HK" sz="9000" spc="-1" strike="noStrike">
              <a:latin typeface="Arial"/>
            </a:endParaRPr>
          </a:p>
          <a:p>
            <a:pPr>
              <a:lnSpc>
                <a:spcPct val="80000"/>
              </a:lnSpc>
              <a:buNone/>
            </a:pPr>
            <a:r>
              <a:rPr b="1" lang="en-US" sz="9000" spc="-452" strike="noStrike">
                <a:solidFill>
                  <a:srgbClr val="ddff00"/>
                </a:solidFill>
                <a:latin typeface="Liter"/>
                <a:ea typeface="Liter"/>
              </a:rPr>
              <a:t>EVOLUTION</a:t>
            </a:r>
            <a:endParaRPr b="0" lang="en-HK" sz="9000" spc="-1" strike="noStrike">
              <a:latin typeface="Arial"/>
            </a:endParaRPr>
          </a:p>
          <a:p>
            <a:pPr>
              <a:lnSpc>
                <a:spcPct val="80000"/>
              </a:lnSpc>
              <a:buNone/>
            </a:pPr>
            <a:r>
              <a:rPr b="1" lang="en-US" sz="9000" spc="-452" strike="noStrike">
                <a:solidFill>
                  <a:srgbClr val="ffffff"/>
                </a:solidFill>
                <a:latin typeface="Liter"/>
                <a:ea typeface="Liter"/>
              </a:rPr>
              <a:t>OF ROCK</a:t>
            </a:r>
            <a:endParaRPr b="0" lang="en-HK" sz="9000" spc="-1" strike="noStrike">
              <a:latin typeface="Arial"/>
            </a:endParaRPr>
          </a:p>
        </p:txBody>
      </p:sp>
      <p:sp>
        <p:nvSpPr>
          <p:cNvPr id="49" name="Shape 4"/>
          <p:cNvSpPr/>
          <p:nvPr/>
        </p:nvSpPr>
        <p:spPr>
          <a:xfrm>
            <a:off x="380880" y="5391000"/>
            <a:ext cx="912240" cy="3600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50" name="Shape 5"/>
          <p:cNvSpPr/>
          <p:nvPr/>
        </p:nvSpPr>
        <p:spPr>
          <a:xfrm>
            <a:off x="1447920" y="5391000"/>
            <a:ext cx="455040" cy="3600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1" name="Shape 6"/>
          <p:cNvSpPr/>
          <p:nvPr/>
        </p:nvSpPr>
        <p:spPr>
          <a:xfrm>
            <a:off x="2057400" y="5391000"/>
            <a:ext cx="226440" cy="3600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2" name="Text 7"/>
          <p:cNvSpPr/>
          <p:nvPr/>
        </p:nvSpPr>
        <p:spPr>
          <a:xfrm>
            <a:off x="380880" y="5734080"/>
            <a:ext cx="65415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2250" spc="-1" strike="noStrike">
                <a:solidFill>
                  <a:srgbClr val="ffffff"/>
                </a:solidFill>
                <a:latin typeface="Liter"/>
                <a:ea typeface="Liter"/>
              </a:rPr>
              <a:t>A Journey Through the History of Rock 'n' Roll</a:t>
            </a:r>
            <a:endParaRPr b="0" lang="en-HK" sz="2250" spc="-1" strike="noStrike">
              <a:latin typeface="Arial"/>
            </a:endParaRPr>
          </a:p>
        </p:txBody>
      </p:sp>
      <p:sp>
        <p:nvSpPr>
          <p:cNvPr id="53" name="Shape 8"/>
          <p:cNvSpPr/>
          <p:nvPr/>
        </p:nvSpPr>
        <p:spPr>
          <a:xfrm rot="2700000">
            <a:off x="10638000" y="5301720"/>
            <a:ext cx="569520" cy="56952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4" name="Shape 9"/>
          <p:cNvSpPr/>
          <p:nvPr/>
        </p:nvSpPr>
        <p:spPr>
          <a:xfrm>
            <a:off x="10934640" y="5600880"/>
            <a:ext cx="226440" cy="2264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5" name="Shape 0"/>
          <p:cNvSpPr/>
          <p:nvPr/>
        </p:nvSpPr>
        <p:spPr>
          <a:xfrm>
            <a:off x="380880" y="419040"/>
            <a:ext cx="74160" cy="60732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4000" cy="188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9"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5640" cy="4550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Liter"/>
                <a:ea typeface="Liter"/>
              </a:rPr>
              <a:t>CONTENTS</a:t>
            </a:r>
            <a:endParaRPr b="0" lang="en-HK" sz="3600" spc="-1" strike="noStrike">
              <a:latin typeface="Arial"/>
            </a:endParaRPr>
          </a:p>
        </p:txBody>
      </p:sp>
      <p:sp>
        <p:nvSpPr>
          <p:cNvPr id="58" name="Shape 3"/>
          <p:cNvSpPr/>
          <p:nvPr/>
        </p:nvSpPr>
        <p:spPr>
          <a:xfrm>
            <a:off x="380880" y="15238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59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480" y="15238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160" y="165744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02</a:t>
            </a:r>
            <a:endParaRPr b="0" lang="en-HK" sz="2250" spc="-1" strike="noStrike">
              <a:latin typeface="Arial"/>
            </a:endParaRPr>
          </a:p>
        </p:txBody>
      </p:sp>
      <p:sp>
        <p:nvSpPr>
          <p:cNvPr id="64" name="Text 9"/>
          <p:cNvSpPr/>
          <p:nvPr/>
        </p:nvSpPr>
        <p:spPr>
          <a:xfrm>
            <a:off x="7086600" y="160020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600" y="190512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480" y="271476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080" y="284796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04</a:t>
            </a:r>
            <a:endParaRPr b="0" lang="en-HK" sz="2250" spc="-1" strike="noStrike">
              <a:latin typeface="Arial"/>
            </a:endParaRPr>
          </a:p>
        </p:txBody>
      </p:sp>
      <p:sp>
        <p:nvSpPr>
          <p:cNvPr id="72" name="Text 17"/>
          <p:cNvSpPr/>
          <p:nvPr/>
        </p:nvSpPr>
        <p:spPr>
          <a:xfrm>
            <a:off x="7086600" y="279072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600" y="309564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348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480" y="39052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2640" y="403848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06</a:t>
            </a:r>
            <a:endParaRPr b="0" lang="en-HK" sz="2250" spc="-1" strike="noStrike">
              <a:latin typeface="Arial"/>
            </a:endParaRPr>
          </a:p>
        </p:txBody>
      </p:sp>
      <p:sp>
        <p:nvSpPr>
          <p:cNvPr id="80" name="Text 25"/>
          <p:cNvSpPr/>
          <p:nvPr/>
        </p:nvSpPr>
        <p:spPr>
          <a:xfrm>
            <a:off x="7086600" y="398160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600" y="428616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412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480" y="509580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480" y="5229360"/>
            <a:ext cx="5025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08</a:t>
            </a:r>
            <a:endParaRPr b="0" lang="en-HK" sz="2250" spc="-1" strike="noStrike">
              <a:latin typeface="Arial"/>
            </a:endParaRPr>
          </a:p>
        </p:txBody>
      </p:sp>
      <p:sp>
        <p:nvSpPr>
          <p:cNvPr id="88" name="Text 33"/>
          <p:cNvSpPr/>
          <p:nvPr/>
        </p:nvSpPr>
        <p:spPr>
          <a:xfrm>
            <a:off x="7086600" y="5172120"/>
            <a:ext cx="48175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600" y="5477040"/>
            <a:ext cx="479844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6880" y="6337800"/>
            <a:ext cx="112320" cy="1123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5480" y="6337800"/>
            <a:ext cx="112320" cy="1123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4080" y="6337800"/>
            <a:ext cx="112320" cy="11232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516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01</a:t>
            </a:r>
            <a:endParaRPr b="0" lang="en-HK" sz="5400" spc="-1" strike="noStrike">
              <a:latin typeface="Arial"/>
            </a:endParaRPr>
          </a:p>
        </p:txBody>
      </p:sp>
      <p:sp>
        <p:nvSpPr>
          <p:cNvPr id="98" name="Shape 4"/>
          <p:cNvSpPr/>
          <p:nvPr/>
        </p:nvSpPr>
        <p:spPr>
          <a:xfrm>
            <a:off x="1828800" y="1752480"/>
            <a:ext cx="4503240" cy="3600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8892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ONE</a:t>
            </a:r>
            <a:endParaRPr b="0" lang="en-HK" sz="1350" spc="-1" strike="noStrike">
              <a:latin typeface="Arial"/>
            </a:endParaRPr>
          </a:p>
        </p:txBody>
      </p:sp>
      <p:sp>
        <p:nvSpPr>
          <p:cNvPr id="100" name="Text 6"/>
          <p:cNvSpPr/>
          <p:nvPr/>
        </p:nvSpPr>
        <p:spPr>
          <a:xfrm>
            <a:off x="380880" y="2895480"/>
            <a:ext cx="629388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ORIGINS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528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1940s-1950s: The Musical Fusion That Changed Everything</a:t>
            </a:r>
            <a:endParaRPr b="0" lang="en-HK" sz="1800" spc="-1" strike="noStrike">
              <a:latin typeface="Arial"/>
            </a:endParaRPr>
          </a:p>
        </p:txBody>
      </p:sp>
      <p:sp>
        <p:nvSpPr>
          <p:cNvPr id="102"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4160" cy="45504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89080" cy="188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9"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3840" cy="378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ffffff"/>
                </a:solidFill>
                <a:latin typeface="Liter"/>
                <a:ea typeface="Liter"/>
              </a:rPr>
              <a:t>The Roots of Rock: Blues, Gospel &amp; Country</a:t>
            </a:r>
            <a:endParaRPr b="0" lang="en-HK" sz="2700" spc="-1" strike="noStrike">
              <a:latin typeface="Arial"/>
            </a:endParaRPr>
          </a:p>
        </p:txBody>
      </p:sp>
      <p:sp>
        <p:nvSpPr>
          <p:cNvPr id="108" name="Shape 3"/>
          <p:cNvSpPr/>
          <p:nvPr/>
        </p:nvSpPr>
        <p:spPr>
          <a:xfrm>
            <a:off x="399960" y="1257480"/>
            <a:ext cx="36000" cy="17694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6440" cy="2264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45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184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1840" cy="493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6000" cy="17694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6440" cy="22644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45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184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1840" cy="493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6000" cy="115992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6440" cy="22644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45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184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040" y="1266840"/>
            <a:ext cx="4455720" cy="354132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000" y="1732320"/>
            <a:ext cx="455040" cy="45504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120" y="2341800"/>
            <a:ext cx="4093560" cy="3027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160" y="2951640"/>
            <a:ext cx="4065120" cy="13885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320" y="4971960"/>
            <a:ext cx="4474440" cy="150264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120" y="5162400"/>
            <a:ext cx="418896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120" y="5543640"/>
            <a:ext cx="416988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29"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2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7948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608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602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28560" cy="1029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2856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30240" cy="419688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60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56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768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56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768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35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56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56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768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400" y="1047600"/>
            <a:ext cx="6816240" cy="472068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400" y="1047600"/>
            <a:ext cx="6816240" cy="472068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480" y="5228640"/>
            <a:ext cx="661788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480" y="5419080"/>
            <a:ext cx="66337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8720" y="5899320"/>
            <a:ext cx="219636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120" y="6030360"/>
            <a:ext cx="207756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168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440" y="5899320"/>
            <a:ext cx="219636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200" y="6030360"/>
            <a:ext cx="207756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676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8520" y="5899320"/>
            <a:ext cx="219636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8280" y="6030360"/>
            <a:ext cx="207756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184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600" y="6959160"/>
            <a:ext cx="29520" cy="90288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160" y="6959160"/>
            <a:ext cx="67287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160" y="7244640"/>
            <a:ext cx="672084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70"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7900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31440" cy="3600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74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TWO</a:t>
            </a:r>
            <a:endParaRPr b="0" lang="en-HK" sz="1350" spc="-1" strike="noStrike">
              <a:latin typeface="Arial"/>
            </a:endParaRPr>
          </a:p>
        </p:txBody>
      </p:sp>
      <p:sp>
        <p:nvSpPr>
          <p:cNvPr id="177" name="Text 6"/>
          <p:cNvSpPr/>
          <p:nvPr/>
        </p:nvSpPr>
        <p:spPr>
          <a:xfrm>
            <a:off x="380880" y="2895480"/>
            <a:ext cx="512244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THE BRITISH</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INVASION</a:t>
            </a:r>
            <a:endParaRPr b="0" lang="en-HK" sz="5400" spc="-1" strike="noStrike">
              <a:latin typeface="Arial"/>
            </a:endParaRPr>
          </a:p>
        </p:txBody>
      </p:sp>
      <p:sp>
        <p:nvSpPr>
          <p:cNvPr id="178" name="Text 7"/>
          <p:cNvSpPr/>
          <p:nvPr/>
        </p:nvSpPr>
        <p:spPr>
          <a:xfrm>
            <a:off x="380880" y="4838760"/>
            <a:ext cx="48938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3720" cy="39348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8240" cy="162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75"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38960" cy="327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798600" cy="214128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1960" cy="2617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68840" cy="64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68840" cy="64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2040" cy="261108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8520" cy="22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0960" cy="15804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3240" cy="14616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496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6040" cy="128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0960" cy="15804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09080" cy="14616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0800" y="3907440"/>
            <a:ext cx="287496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6040" cy="1069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060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816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228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060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816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228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160" y="6128640"/>
            <a:ext cx="219060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200" y="6231600"/>
            <a:ext cx="210816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320" y="6528600"/>
            <a:ext cx="204228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8880" y="1088280"/>
            <a:ext cx="4531680" cy="406188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8880" y="1088280"/>
            <a:ext cx="4531680" cy="406188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0640" y="4591440"/>
            <a:ext cx="4325760" cy="162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0640" y="4789080"/>
            <a:ext cx="434196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160" y="5292000"/>
            <a:ext cx="4515120" cy="166284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320" y="5465160"/>
            <a:ext cx="42433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320" y="586080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080" y="5794920"/>
            <a:ext cx="300672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320" y="612468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080" y="6058800"/>
            <a:ext cx="323748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320" y="638856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080" y="6322320"/>
            <a:ext cx="326232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320" y="665208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080" y="6586200"/>
            <a:ext cx="403704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824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536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608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602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2856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2856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30240" cy="28713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60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6600" cy="15660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348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55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80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901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6800" cy="1566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67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84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6400" cy="15660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0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30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2680" y="1055520"/>
            <a:ext cx="6800400" cy="274428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040" y="1254240"/>
            <a:ext cx="64987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040" y="163512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360" y="163512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5720" y="163512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8640" y="1635120"/>
            <a:ext cx="5419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040" y="204804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360" y="204804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5720" y="204804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8640" y="2048040"/>
            <a:ext cx="5419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040" y="246060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360" y="246060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5720" y="246060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8640" y="2460600"/>
            <a:ext cx="5419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040" y="287352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360" y="287352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5720" y="287352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8640" y="2873520"/>
            <a:ext cx="5419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040" y="328608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360" y="328608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5720" y="328608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8640" y="3286080"/>
            <a:ext cx="5419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400" y="3936960"/>
            <a:ext cx="6816240" cy="122004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160" y="4095720"/>
            <a:ext cx="657792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160" y="4381560"/>
            <a:ext cx="656208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7900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2720" cy="3600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840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336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476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3360" cy="39060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75"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7160" cy="325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7520" cy="212544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3040" cy="259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70280" cy="636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70280" cy="636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1320" cy="240336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19240" cy="22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440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37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0888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440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37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0888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440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37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0888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440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37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716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0888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18880" cy="19440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4400" cy="19440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2972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520" y="6055200"/>
            <a:ext cx="194400" cy="19440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20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240" y="6055200"/>
            <a:ext cx="169560" cy="19440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488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080" y="1080000"/>
            <a:ext cx="4530960" cy="349992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080" y="1080000"/>
            <a:ext cx="4530960" cy="349992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120" y="4025880"/>
            <a:ext cx="432648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120" y="4222080"/>
            <a:ext cx="43426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360" y="4721400"/>
            <a:ext cx="4514760" cy="191268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080" y="4893120"/>
            <a:ext cx="42447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080" y="528588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120" y="5220360"/>
            <a:ext cx="237888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080" y="554760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120" y="5482440"/>
            <a:ext cx="243612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080" y="580968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120" y="5748120"/>
            <a:ext cx="1416960" cy="18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080" y="607140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120" y="6005880"/>
            <a:ext cx="288612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080" y="633312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120" y="6271920"/>
            <a:ext cx="1537200" cy="18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732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444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608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602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2856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2856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30240" cy="28713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60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29520" cy="60120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6800" cy="1566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4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688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10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30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6600" cy="15660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80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301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34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55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2680" y="1055520"/>
            <a:ext cx="6800400" cy="360144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040" y="1254240"/>
            <a:ext cx="64987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040" y="163512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480" y="1825560"/>
            <a:ext cx="3074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2800" y="1762200"/>
            <a:ext cx="57128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2800" y="1984320"/>
            <a:ext cx="5697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040" y="236520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000" y="2556000"/>
            <a:ext cx="3391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2800" y="2492280"/>
            <a:ext cx="57128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2800" y="2714760"/>
            <a:ext cx="5697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040" y="309564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0840" y="3286080"/>
            <a:ext cx="3312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2800" y="3222720"/>
            <a:ext cx="57128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2800" y="3444840"/>
            <a:ext cx="5697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040" y="382572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600" y="4016520"/>
            <a:ext cx="35496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2800" y="3952800"/>
            <a:ext cx="57128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2800" y="4175280"/>
            <a:ext cx="56970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400" y="4794120"/>
            <a:ext cx="6816240" cy="139500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160" y="4952880"/>
            <a:ext cx="657792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280" y="530208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5640" y="5270400"/>
            <a:ext cx="11883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5960" y="530208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4320" y="5270400"/>
            <a:ext cx="14266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280" y="558792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5640" y="5556240"/>
            <a:ext cx="12679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5960" y="558792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4320" y="5556240"/>
            <a:ext cx="12200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280" y="587376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5640" y="5842080"/>
            <a:ext cx="13392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5960" y="587376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4320" y="5842080"/>
            <a:ext cx="13950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03"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04"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05"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06" name="Text 3"/>
          <p:cNvSpPr/>
          <p:nvPr/>
        </p:nvSpPr>
        <p:spPr>
          <a:xfrm>
            <a:off x="569880" y="1638360"/>
            <a:ext cx="117900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04</a:t>
            </a:r>
            <a:endParaRPr b="0" lang="en-HK" sz="5400" spc="-1" strike="noStrike">
              <a:latin typeface="Arial"/>
            </a:endParaRPr>
          </a:p>
        </p:txBody>
      </p:sp>
      <p:sp>
        <p:nvSpPr>
          <p:cNvPr id="407" name="Shape 4"/>
          <p:cNvSpPr/>
          <p:nvPr/>
        </p:nvSpPr>
        <p:spPr>
          <a:xfrm>
            <a:off x="1828800" y="1752480"/>
            <a:ext cx="3207600" cy="36000"/>
          </a:xfrm>
          <a:custGeom>
            <a:avLst/>
            <a:gdLst/>
            <a:ahLst/>
            <a:rect l="l" t="t" r="r" b="b"/>
            <a:pathLst>
              <a:path w="3209925" h="38100">
                <a:moveTo>
                  <a:pt x="0" y="0"/>
                </a:moveTo>
                <a:lnTo>
                  <a:pt x="3209925" y="0"/>
                </a:lnTo>
                <a:lnTo>
                  <a:pt x="3209925" y="38100"/>
                </a:lnTo>
                <a:lnTo>
                  <a:pt x="0" y="38100"/>
                </a:lnTo>
                <a:lnTo>
                  <a:pt x="0" y="0"/>
                </a:lnTo>
                <a:close/>
              </a:path>
            </a:pathLst>
          </a:custGeom>
          <a:solidFill>
            <a:srgbClr val="ddff00"/>
          </a:solidFill>
          <a:ln w="0">
            <a:noFill/>
          </a:ln>
        </p:spPr>
        <p:style>
          <a:lnRef idx="0"/>
          <a:fillRef idx="0"/>
          <a:effectRef idx="0"/>
          <a:fontRef idx="minor"/>
        </p:style>
      </p:sp>
      <p:sp>
        <p:nvSpPr>
          <p:cNvPr id="408" name="Text 5"/>
          <p:cNvSpPr/>
          <p:nvPr/>
        </p:nvSpPr>
        <p:spPr>
          <a:xfrm>
            <a:off x="1828800" y="1943280"/>
            <a:ext cx="329364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FOUR</a:t>
            </a:r>
            <a:endParaRPr b="0" lang="en-HK" sz="1350" spc="-1" strike="noStrike">
              <a:latin typeface="Arial"/>
            </a:endParaRPr>
          </a:p>
        </p:txBody>
      </p:sp>
      <p:sp>
        <p:nvSpPr>
          <p:cNvPr id="409" name="Text 6"/>
          <p:cNvSpPr/>
          <p:nvPr/>
        </p:nvSpPr>
        <p:spPr>
          <a:xfrm>
            <a:off x="380880" y="2895480"/>
            <a:ext cx="499860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BIRTH OF</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HEAVY METAL</a:t>
            </a:r>
            <a:endParaRPr b="0" lang="en-HK" sz="5400" spc="-1" strike="noStrike">
              <a:latin typeface="Arial"/>
            </a:endParaRPr>
          </a:p>
        </p:txBody>
      </p:sp>
      <p:sp>
        <p:nvSpPr>
          <p:cNvPr id="410" name="Text 7"/>
          <p:cNvSpPr/>
          <p:nvPr/>
        </p:nvSpPr>
        <p:spPr>
          <a:xfrm>
            <a:off x="380880" y="4838760"/>
            <a:ext cx="47700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Unholy Trinity</a:t>
            </a:r>
            <a:endParaRPr b="0" lang="en-HK" sz="1800" spc="-1" strike="noStrike">
              <a:latin typeface="Arial"/>
            </a:endParaRPr>
          </a:p>
        </p:txBody>
      </p:sp>
      <p:sp>
        <p:nvSpPr>
          <p:cNvPr id="411"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12"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13"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14"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415" name="Text 1"/>
          <p:cNvSpPr/>
          <p:nvPr/>
        </p:nvSpPr>
        <p:spPr>
          <a:xfrm>
            <a:off x="507960" y="317520"/>
            <a:ext cx="40935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04</a:t>
            </a:r>
            <a:endParaRPr b="0" lang="en-HK" sz="880" spc="-1" strike="noStrike">
              <a:latin typeface="Arial"/>
            </a:endParaRPr>
          </a:p>
        </p:txBody>
      </p:sp>
      <p:sp>
        <p:nvSpPr>
          <p:cNvPr id="416" name="Text 2"/>
          <p:cNvSpPr/>
          <p:nvPr/>
        </p:nvSpPr>
        <p:spPr>
          <a:xfrm>
            <a:off x="507960" y="476280"/>
            <a:ext cx="418104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Three Pillars of Heavy Metal</a:t>
            </a:r>
            <a:endParaRPr b="0" lang="en-HK" sz="2250" spc="-1" strike="noStrike">
              <a:latin typeface="Arial"/>
            </a:endParaRPr>
          </a:p>
        </p:txBody>
      </p:sp>
      <p:sp>
        <p:nvSpPr>
          <p:cNvPr id="417" name="Shape 3"/>
          <p:cNvSpPr/>
          <p:nvPr/>
        </p:nvSpPr>
        <p:spPr>
          <a:xfrm>
            <a:off x="317520" y="1047600"/>
            <a:ext cx="6816240" cy="2061720"/>
          </a:xfrm>
          <a:custGeom>
            <a:avLst/>
            <a:gdLst/>
            <a:ahLst/>
            <a:rect l="l" t="t" r="r" b="b"/>
            <a:pathLst>
              <a:path w="6818313" h="2063750">
                <a:moveTo>
                  <a:pt x="0" y="0"/>
                </a:moveTo>
                <a:lnTo>
                  <a:pt x="6818313" y="0"/>
                </a:lnTo>
                <a:lnTo>
                  <a:pt x="6818313" y="2063750"/>
                </a:lnTo>
                <a:lnTo>
                  <a:pt x="0" y="2063750"/>
                </a:lnTo>
                <a:lnTo>
                  <a:pt x="0" y="0"/>
                </a:lnTo>
                <a:close/>
              </a:path>
            </a:pathLst>
          </a:custGeom>
          <a:solidFill>
            <a:srgbClr val="ddff00"/>
          </a:solidFill>
          <a:ln w="0">
            <a:noFill/>
          </a:ln>
        </p:spPr>
        <p:style>
          <a:lnRef idx="0"/>
          <a:fillRef idx="0"/>
          <a:effectRef idx="0"/>
          <a:fontRef idx="minor"/>
        </p:style>
      </p:sp>
      <p:sp>
        <p:nvSpPr>
          <p:cNvPr id="418" name="Text 4"/>
          <p:cNvSpPr/>
          <p:nvPr/>
        </p:nvSpPr>
        <p:spPr>
          <a:xfrm>
            <a:off x="507960" y="1238400"/>
            <a:ext cx="65304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Unholy Trinity</a:t>
            </a:r>
            <a:endParaRPr b="0" lang="en-HK" sz="1500" spc="-1" strike="noStrike">
              <a:latin typeface="Arial"/>
            </a:endParaRPr>
          </a:p>
        </p:txBody>
      </p:sp>
      <p:sp>
        <p:nvSpPr>
          <p:cNvPr id="419" name="Text 5"/>
          <p:cNvSpPr/>
          <p:nvPr/>
        </p:nvSpPr>
        <p:spPr>
          <a:xfrm>
            <a:off x="507960" y="1587600"/>
            <a:ext cx="64987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In the late 1960s, three British bands emerged that would forge heavy metal:</a:t>
            </a:r>
            <a:r>
              <a:rPr b="0" lang="en-US" sz="1000" spc="-1" strike="noStrike">
                <a:solidFill>
                  <a:srgbClr val="000000"/>
                </a:solidFill>
                <a:latin typeface="Liter"/>
                <a:ea typeface="Liter"/>
              </a:rPr>
              <a:t> Led Zeppelin, Black Sabbath, and Deep Purple. Often called the "unholy trinity," these pioneering groups crystallized the heavy metal sound and style that would dominate the 1970s and beyond.</a:t>
            </a:r>
            <a:endParaRPr b="0" lang="en-HK" sz="1000" spc="-1" strike="noStrike">
              <a:latin typeface="Arial"/>
            </a:endParaRPr>
          </a:p>
        </p:txBody>
      </p:sp>
      <p:sp>
        <p:nvSpPr>
          <p:cNvPr id="420" name="Text 6"/>
          <p:cNvSpPr/>
          <p:nvPr/>
        </p:nvSpPr>
        <p:spPr>
          <a:xfrm>
            <a:off x="507960" y="2301840"/>
            <a:ext cx="64987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Each band contributed unique elements—Led Zeppelin's riff-driven anthems, Black Sabbath's dark and heavy atmosphere, and Deep Purple's technical virtuosity. Together, they established the musical and visual style that would define the genre.</a:t>
            </a:r>
            <a:endParaRPr b="0" lang="en-HK" sz="1000" spc="-1" strike="noStrike">
              <a:latin typeface="Arial"/>
            </a:endParaRPr>
          </a:p>
        </p:txBody>
      </p:sp>
      <p:sp>
        <p:nvSpPr>
          <p:cNvPr id="421" name="Shape 7"/>
          <p:cNvSpPr/>
          <p:nvPr/>
        </p:nvSpPr>
        <p:spPr>
          <a:xfrm>
            <a:off x="325440" y="3246480"/>
            <a:ext cx="2172600" cy="32839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22" name="Shape 8"/>
          <p:cNvSpPr/>
          <p:nvPr/>
        </p:nvSpPr>
        <p:spPr>
          <a:xfrm>
            <a:off x="1157760" y="3381480"/>
            <a:ext cx="505800" cy="5058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23" name="Shape 9"/>
          <p:cNvSpPr/>
          <p:nvPr/>
        </p:nvSpPr>
        <p:spPr>
          <a:xfrm>
            <a:off x="1309680" y="3516480"/>
            <a:ext cx="206280" cy="235800"/>
          </a:xfrm>
          <a:custGeom>
            <a:avLst/>
            <a:gdLst/>
            <a:ah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w="0">
            <a:noFill/>
          </a:ln>
        </p:spPr>
        <p:style>
          <a:lnRef idx="0"/>
          <a:fillRef idx="0"/>
          <a:effectRef idx="0"/>
          <a:fontRef idx="minor"/>
        </p:style>
      </p:sp>
      <p:sp>
        <p:nvSpPr>
          <p:cNvPr id="424" name="Text 10"/>
          <p:cNvSpPr/>
          <p:nvPr/>
        </p:nvSpPr>
        <p:spPr>
          <a:xfrm>
            <a:off x="420840" y="3952800"/>
            <a:ext cx="1982160" cy="219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Led Zeppelin</a:t>
            </a:r>
            <a:endParaRPr b="0" lang="en-HK" sz="1250" spc="-1" strike="noStrike">
              <a:latin typeface="Arial"/>
            </a:endParaRPr>
          </a:p>
        </p:txBody>
      </p:sp>
      <p:sp>
        <p:nvSpPr>
          <p:cNvPr id="425" name="Text 11"/>
          <p:cNvSpPr/>
          <p:nvPr/>
        </p:nvSpPr>
        <p:spPr>
          <a:xfrm>
            <a:off x="432720" y="4175280"/>
            <a:ext cx="19584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Blueprint</a:t>
            </a:r>
            <a:endParaRPr b="0" lang="en-HK" sz="880" spc="-1" strike="noStrike">
              <a:latin typeface="Arial"/>
            </a:endParaRPr>
          </a:p>
        </p:txBody>
      </p:sp>
      <p:sp>
        <p:nvSpPr>
          <p:cNvPr id="426" name="Text 12"/>
          <p:cNvSpPr/>
          <p:nvPr/>
        </p:nvSpPr>
        <p:spPr>
          <a:xfrm>
            <a:off x="460440" y="4429080"/>
            <a:ext cx="19584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London</a:t>
            </a:r>
            <a:endParaRPr b="0" lang="en-HK" sz="880" spc="-1" strike="noStrike">
              <a:latin typeface="Arial"/>
            </a:endParaRPr>
          </a:p>
        </p:txBody>
      </p:sp>
      <p:sp>
        <p:nvSpPr>
          <p:cNvPr id="427" name="Text 13"/>
          <p:cNvSpPr/>
          <p:nvPr/>
        </p:nvSpPr>
        <p:spPr>
          <a:xfrm>
            <a:off x="460440" y="465120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Jimmy Page, Robert Plant, John Paul Jones, John Bonham</a:t>
            </a:r>
            <a:endParaRPr b="0" lang="en-HK" sz="880" spc="-1" strike="noStrike">
              <a:latin typeface="Arial"/>
            </a:endParaRPr>
          </a:p>
        </p:txBody>
      </p:sp>
      <p:sp>
        <p:nvSpPr>
          <p:cNvPr id="428" name="Text 14"/>
          <p:cNvSpPr/>
          <p:nvPr/>
        </p:nvSpPr>
        <p:spPr>
          <a:xfrm>
            <a:off x="460440" y="503244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Blues-rock fusion, monster riffs, mythological themes</a:t>
            </a:r>
            <a:endParaRPr b="0" lang="en-HK" sz="880" spc="-1" strike="noStrike">
              <a:latin typeface="Arial"/>
            </a:endParaRPr>
          </a:p>
        </p:txBody>
      </p:sp>
      <p:sp>
        <p:nvSpPr>
          <p:cNvPr id="429" name="Text 15"/>
          <p:cNvSpPr/>
          <p:nvPr/>
        </p:nvSpPr>
        <p:spPr>
          <a:xfrm>
            <a:off x="460440" y="5413320"/>
            <a:ext cx="1958400" cy="474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"Whole Lotta Love," "Stairway to Heaven," "Immigrant Song"</a:t>
            </a:r>
            <a:endParaRPr b="0" lang="en-HK" sz="880" spc="-1" strike="noStrike">
              <a:latin typeface="Arial"/>
            </a:endParaRPr>
          </a:p>
        </p:txBody>
      </p:sp>
      <p:sp>
        <p:nvSpPr>
          <p:cNvPr id="430" name="Shape 16"/>
          <p:cNvSpPr/>
          <p:nvPr/>
        </p:nvSpPr>
        <p:spPr>
          <a:xfrm>
            <a:off x="460440" y="6044400"/>
            <a:ext cx="1902960" cy="57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31" name="Text 17"/>
          <p:cNvSpPr/>
          <p:nvPr/>
        </p:nvSpPr>
        <p:spPr>
          <a:xfrm>
            <a:off x="460440" y="6143760"/>
            <a:ext cx="195048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stadium rock and album-oriented approach</a:t>
            </a:r>
            <a:endParaRPr b="0" lang="en-HK" sz="750" spc="-1" strike="noStrike">
              <a:latin typeface="Arial"/>
            </a:endParaRPr>
          </a:p>
        </p:txBody>
      </p:sp>
      <p:sp>
        <p:nvSpPr>
          <p:cNvPr id="432" name="Shape 18"/>
          <p:cNvSpPr/>
          <p:nvPr/>
        </p:nvSpPr>
        <p:spPr>
          <a:xfrm>
            <a:off x="2640960" y="3246480"/>
            <a:ext cx="2172600" cy="32839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33" name="Shape 19"/>
          <p:cNvSpPr/>
          <p:nvPr/>
        </p:nvSpPr>
        <p:spPr>
          <a:xfrm>
            <a:off x="3473640" y="3381480"/>
            <a:ext cx="505800" cy="5058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34" name="Shape 20"/>
          <p:cNvSpPr/>
          <p:nvPr/>
        </p:nvSpPr>
        <p:spPr>
          <a:xfrm>
            <a:off x="3610440" y="3516480"/>
            <a:ext cx="235800" cy="235800"/>
          </a:xfrm>
          <a:custGeom>
            <a:avLst/>
            <a:gdLst/>
            <a:ah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w="0">
            <a:noFill/>
          </a:ln>
        </p:spPr>
        <p:style>
          <a:lnRef idx="0"/>
          <a:fillRef idx="0"/>
          <a:effectRef idx="0"/>
          <a:fontRef idx="minor"/>
        </p:style>
      </p:sp>
      <p:sp>
        <p:nvSpPr>
          <p:cNvPr id="435" name="Text 21"/>
          <p:cNvSpPr/>
          <p:nvPr/>
        </p:nvSpPr>
        <p:spPr>
          <a:xfrm>
            <a:off x="2736360" y="3952800"/>
            <a:ext cx="1982160" cy="219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Black Sabbath</a:t>
            </a:r>
            <a:endParaRPr b="0" lang="en-HK" sz="1250" spc="-1" strike="noStrike">
              <a:latin typeface="Arial"/>
            </a:endParaRPr>
          </a:p>
        </p:txBody>
      </p:sp>
      <p:sp>
        <p:nvSpPr>
          <p:cNvPr id="436" name="Text 22"/>
          <p:cNvSpPr/>
          <p:nvPr/>
        </p:nvSpPr>
        <p:spPr>
          <a:xfrm>
            <a:off x="2748240" y="4175280"/>
            <a:ext cx="19584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Darkness</a:t>
            </a:r>
            <a:endParaRPr b="0" lang="en-HK" sz="880" spc="-1" strike="noStrike">
              <a:latin typeface="Arial"/>
            </a:endParaRPr>
          </a:p>
        </p:txBody>
      </p:sp>
      <p:sp>
        <p:nvSpPr>
          <p:cNvPr id="437" name="Text 23"/>
          <p:cNvSpPr/>
          <p:nvPr/>
        </p:nvSpPr>
        <p:spPr>
          <a:xfrm>
            <a:off x="2775960" y="4429080"/>
            <a:ext cx="19584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Birmingham</a:t>
            </a:r>
            <a:endParaRPr b="0" lang="en-HK" sz="880" spc="-1" strike="noStrike">
              <a:latin typeface="Arial"/>
            </a:endParaRPr>
          </a:p>
        </p:txBody>
      </p:sp>
      <p:sp>
        <p:nvSpPr>
          <p:cNvPr id="438" name="Text 24"/>
          <p:cNvSpPr/>
          <p:nvPr/>
        </p:nvSpPr>
        <p:spPr>
          <a:xfrm>
            <a:off x="2775960" y="465120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Tony Iommi, Ozzy Osbourne, Geezer Butler, Bill Ward</a:t>
            </a:r>
            <a:endParaRPr b="0" lang="en-HK" sz="880" spc="-1" strike="noStrike">
              <a:latin typeface="Arial"/>
            </a:endParaRPr>
          </a:p>
        </p:txBody>
      </p:sp>
      <p:sp>
        <p:nvSpPr>
          <p:cNvPr id="439" name="Text 25"/>
          <p:cNvSpPr/>
          <p:nvPr/>
        </p:nvSpPr>
        <p:spPr>
          <a:xfrm>
            <a:off x="2775960" y="503244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Downtuned guitars, occult themes, doom atmosphere</a:t>
            </a:r>
            <a:endParaRPr b="0" lang="en-HK" sz="880" spc="-1" strike="noStrike">
              <a:latin typeface="Arial"/>
            </a:endParaRPr>
          </a:p>
        </p:txBody>
      </p:sp>
      <p:sp>
        <p:nvSpPr>
          <p:cNvPr id="440" name="Text 26"/>
          <p:cNvSpPr/>
          <p:nvPr/>
        </p:nvSpPr>
        <p:spPr>
          <a:xfrm>
            <a:off x="2775960" y="541332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"Paranoid," "Iron Man," "War Pigs"</a:t>
            </a:r>
            <a:endParaRPr b="0" lang="en-HK" sz="880" spc="-1" strike="noStrike">
              <a:latin typeface="Arial"/>
            </a:endParaRPr>
          </a:p>
        </p:txBody>
      </p:sp>
      <p:sp>
        <p:nvSpPr>
          <p:cNvPr id="441" name="Shape 27"/>
          <p:cNvSpPr/>
          <p:nvPr/>
        </p:nvSpPr>
        <p:spPr>
          <a:xfrm>
            <a:off x="2775960" y="6044400"/>
            <a:ext cx="1902960" cy="57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42" name="Text 28"/>
          <p:cNvSpPr/>
          <p:nvPr/>
        </p:nvSpPr>
        <p:spPr>
          <a:xfrm>
            <a:off x="2775960" y="6143760"/>
            <a:ext cx="195048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Pioneered doom, stoner, and sludge metal subgenres</a:t>
            </a:r>
            <a:endParaRPr b="0" lang="en-HK" sz="750" spc="-1" strike="noStrike">
              <a:latin typeface="Arial"/>
            </a:endParaRPr>
          </a:p>
        </p:txBody>
      </p:sp>
      <p:sp>
        <p:nvSpPr>
          <p:cNvPr id="443" name="Shape 29"/>
          <p:cNvSpPr/>
          <p:nvPr/>
        </p:nvSpPr>
        <p:spPr>
          <a:xfrm>
            <a:off x="4956840" y="3246480"/>
            <a:ext cx="2172600" cy="3283920"/>
          </a:xfrm>
          <a:custGeom>
            <a:avLst/>
            <a:gdLst/>
            <a:ahLst/>
            <a:rect l="l" t="t" r="r" b="b"/>
            <a:pathLst>
              <a:path w="2174875" h="3286125">
                <a:moveTo>
                  <a:pt x="0" y="0"/>
                </a:moveTo>
                <a:lnTo>
                  <a:pt x="2174875" y="0"/>
                </a:lnTo>
                <a:lnTo>
                  <a:pt x="2174875" y="3286125"/>
                </a:lnTo>
                <a:lnTo>
                  <a:pt x="0" y="3286125"/>
                </a:lnTo>
                <a:lnTo>
                  <a:pt x="0" y="0"/>
                </a:lnTo>
                <a:close/>
              </a:path>
            </a:pathLst>
          </a:custGeom>
          <a:noFill/>
          <a:ln w="25400">
            <a:solidFill>
              <a:srgbClr val="ddff00"/>
            </a:solidFill>
            <a:round/>
          </a:ln>
        </p:spPr>
        <p:style>
          <a:lnRef idx="0"/>
          <a:fillRef idx="0"/>
          <a:effectRef idx="0"/>
          <a:fontRef idx="minor"/>
        </p:style>
      </p:sp>
      <p:sp>
        <p:nvSpPr>
          <p:cNvPr id="444" name="Shape 30"/>
          <p:cNvSpPr/>
          <p:nvPr/>
        </p:nvSpPr>
        <p:spPr>
          <a:xfrm>
            <a:off x="5789160" y="3381480"/>
            <a:ext cx="505800" cy="505800"/>
          </a:xfrm>
          <a:custGeom>
            <a:avLst/>
            <a:gdLst/>
            <a:ahLst/>
            <a:rect l="l" t="t" r="r" b="b"/>
            <a:pathLst>
              <a:path w="508000" h="508000">
                <a:moveTo>
                  <a:pt x="0" y="0"/>
                </a:moveTo>
                <a:lnTo>
                  <a:pt x="508000" y="0"/>
                </a:lnTo>
                <a:lnTo>
                  <a:pt x="508000" y="508000"/>
                </a:lnTo>
                <a:lnTo>
                  <a:pt x="0" y="508000"/>
                </a:lnTo>
                <a:lnTo>
                  <a:pt x="0" y="0"/>
                </a:lnTo>
                <a:close/>
              </a:path>
            </a:pathLst>
          </a:custGeom>
          <a:solidFill>
            <a:srgbClr val="ddff00"/>
          </a:solidFill>
          <a:ln w="0">
            <a:noFill/>
          </a:ln>
        </p:spPr>
        <p:style>
          <a:lnRef idx="0"/>
          <a:fillRef idx="0"/>
          <a:effectRef idx="0"/>
          <a:fontRef idx="minor"/>
        </p:style>
      </p:sp>
      <p:sp>
        <p:nvSpPr>
          <p:cNvPr id="445" name="Shape 31"/>
          <p:cNvSpPr/>
          <p:nvPr/>
        </p:nvSpPr>
        <p:spPr>
          <a:xfrm>
            <a:off x="5911200" y="3516480"/>
            <a:ext cx="265680" cy="235800"/>
          </a:xfrm>
          <a:custGeom>
            <a:avLst/>
            <a:gdLst/>
            <a:ah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w="0">
            <a:noFill/>
          </a:ln>
        </p:spPr>
        <p:style>
          <a:lnRef idx="0"/>
          <a:fillRef idx="0"/>
          <a:effectRef idx="0"/>
          <a:fontRef idx="minor"/>
        </p:style>
      </p:sp>
      <p:sp>
        <p:nvSpPr>
          <p:cNvPr id="446" name="Text 32"/>
          <p:cNvSpPr/>
          <p:nvPr/>
        </p:nvSpPr>
        <p:spPr>
          <a:xfrm>
            <a:off x="5051880" y="3952800"/>
            <a:ext cx="1982160" cy="2199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50" spc="-1" strike="noStrike">
                <a:solidFill>
                  <a:srgbClr val="ffffff"/>
                </a:solidFill>
                <a:latin typeface="Liter"/>
                <a:ea typeface="Liter"/>
              </a:rPr>
              <a:t>Deep Purple</a:t>
            </a:r>
            <a:endParaRPr b="0" lang="en-HK" sz="1250" spc="-1" strike="noStrike">
              <a:latin typeface="Arial"/>
            </a:endParaRPr>
          </a:p>
        </p:txBody>
      </p:sp>
      <p:sp>
        <p:nvSpPr>
          <p:cNvPr id="447" name="Text 33"/>
          <p:cNvSpPr/>
          <p:nvPr/>
        </p:nvSpPr>
        <p:spPr>
          <a:xfrm>
            <a:off x="5063760" y="4175280"/>
            <a:ext cx="19584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ddff00"/>
                </a:solidFill>
                <a:latin typeface="Liter"/>
                <a:ea typeface="Liter"/>
              </a:rPr>
              <a:t>The Virtuosos</a:t>
            </a:r>
            <a:endParaRPr b="0" lang="en-HK" sz="880" spc="-1" strike="noStrike">
              <a:latin typeface="Arial"/>
            </a:endParaRPr>
          </a:p>
        </p:txBody>
      </p:sp>
      <p:sp>
        <p:nvSpPr>
          <p:cNvPr id="448" name="Text 34"/>
          <p:cNvSpPr/>
          <p:nvPr/>
        </p:nvSpPr>
        <p:spPr>
          <a:xfrm>
            <a:off x="5091480" y="4429080"/>
            <a:ext cx="19584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Formed:</a:t>
            </a:r>
            <a:r>
              <a:rPr b="0" lang="en-US" sz="880" spc="-1" strike="noStrike">
                <a:solidFill>
                  <a:srgbClr val="ffffff">
                    <a:alpha val="80000"/>
                  </a:srgbClr>
                </a:solidFill>
                <a:latin typeface="Liter"/>
                <a:ea typeface="Liter"/>
              </a:rPr>
              <a:t> 1968, Hertford</a:t>
            </a:r>
            <a:endParaRPr b="0" lang="en-HK" sz="880" spc="-1" strike="noStrike">
              <a:latin typeface="Arial"/>
            </a:endParaRPr>
          </a:p>
        </p:txBody>
      </p:sp>
      <p:sp>
        <p:nvSpPr>
          <p:cNvPr id="449" name="Text 35"/>
          <p:cNvSpPr/>
          <p:nvPr/>
        </p:nvSpPr>
        <p:spPr>
          <a:xfrm>
            <a:off x="5091480" y="4651200"/>
            <a:ext cx="1958400" cy="474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Key Members:</a:t>
            </a:r>
            <a:r>
              <a:rPr b="0" lang="en-US" sz="880" spc="-1" strike="noStrike">
                <a:solidFill>
                  <a:srgbClr val="ffffff">
                    <a:alpha val="80000"/>
                  </a:srgbClr>
                </a:solidFill>
                <a:latin typeface="Liter"/>
                <a:ea typeface="Liter"/>
              </a:rPr>
              <a:t> Ritchie Blackmore, Ian Gillan, Roger Glover, Jon Lord, Ian Paice</a:t>
            </a:r>
            <a:endParaRPr b="0" lang="en-HK" sz="880" spc="-1" strike="noStrike">
              <a:latin typeface="Arial"/>
            </a:endParaRPr>
          </a:p>
        </p:txBody>
      </p:sp>
      <p:sp>
        <p:nvSpPr>
          <p:cNvPr id="450" name="Text 36"/>
          <p:cNvSpPr/>
          <p:nvPr/>
        </p:nvSpPr>
        <p:spPr>
          <a:xfrm>
            <a:off x="5091480" y="5191200"/>
            <a:ext cx="1958400" cy="474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Contribution:</a:t>
            </a:r>
            <a:r>
              <a:rPr b="0" lang="en-US" sz="880" spc="-1" strike="noStrike">
                <a:solidFill>
                  <a:srgbClr val="ffffff">
                    <a:alpha val="80000"/>
                  </a:srgbClr>
                </a:solidFill>
                <a:latin typeface="Liter"/>
                <a:ea typeface="Liter"/>
              </a:rPr>
              <a:t> Classical influences, technical precision, keyboard-guitar interplay</a:t>
            </a:r>
            <a:endParaRPr b="0" lang="en-HK" sz="880" spc="-1" strike="noStrike">
              <a:latin typeface="Arial"/>
            </a:endParaRPr>
          </a:p>
        </p:txBody>
      </p:sp>
      <p:sp>
        <p:nvSpPr>
          <p:cNvPr id="451" name="Text 37"/>
          <p:cNvSpPr/>
          <p:nvPr/>
        </p:nvSpPr>
        <p:spPr>
          <a:xfrm>
            <a:off x="5091480" y="5730840"/>
            <a:ext cx="19584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fffff">
                    <a:alpha val="80000"/>
                  </a:srgbClr>
                </a:solidFill>
                <a:latin typeface="Liter"/>
                <a:ea typeface="Liter"/>
              </a:rPr>
              <a:t>Iconic Tracks:</a:t>
            </a:r>
            <a:r>
              <a:rPr b="0" lang="en-US" sz="880" spc="-1" strike="noStrike">
                <a:solidFill>
                  <a:srgbClr val="ffffff">
                    <a:alpha val="80000"/>
                  </a:srgbClr>
                </a:solidFill>
                <a:latin typeface="Liter"/>
                <a:ea typeface="Liter"/>
              </a:rPr>
              <a:t> "Smoke on the Water," "Highway Star," "Child in Time"</a:t>
            </a:r>
            <a:endParaRPr b="0" lang="en-HK" sz="880" spc="-1" strike="noStrike">
              <a:latin typeface="Arial"/>
            </a:endParaRPr>
          </a:p>
        </p:txBody>
      </p:sp>
      <p:sp>
        <p:nvSpPr>
          <p:cNvPr id="452" name="Shape 38"/>
          <p:cNvSpPr/>
          <p:nvPr/>
        </p:nvSpPr>
        <p:spPr>
          <a:xfrm>
            <a:off x="5091480" y="6171480"/>
            <a:ext cx="1902960" cy="5760"/>
          </a:xfrm>
          <a:custGeom>
            <a:avLst/>
            <a:gdLst/>
            <a:ahLst/>
            <a:rect l="l" t="t" r="r" b="b"/>
            <a:pathLst>
              <a:path w="1905000" h="7938">
                <a:moveTo>
                  <a:pt x="0" y="0"/>
                </a:moveTo>
                <a:lnTo>
                  <a:pt x="1905000" y="0"/>
                </a:lnTo>
                <a:lnTo>
                  <a:pt x="1905000" y="7938"/>
                </a:lnTo>
                <a:lnTo>
                  <a:pt x="0" y="7938"/>
                </a:lnTo>
                <a:lnTo>
                  <a:pt x="0" y="0"/>
                </a:lnTo>
                <a:close/>
              </a:path>
            </a:pathLst>
          </a:custGeom>
          <a:solidFill>
            <a:srgbClr val="ddff00">
              <a:alpha val="30000"/>
            </a:srgbClr>
          </a:solidFill>
          <a:ln w="0">
            <a:noFill/>
          </a:ln>
        </p:spPr>
        <p:style>
          <a:lnRef idx="0"/>
          <a:fillRef idx="0"/>
          <a:effectRef idx="0"/>
          <a:fontRef idx="minor"/>
        </p:style>
      </p:sp>
      <p:sp>
        <p:nvSpPr>
          <p:cNvPr id="453" name="Text 39"/>
          <p:cNvSpPr/>
          <p:nvPr/>
        </p:nvSpPr>
        <p:spPr>
          <a:xfrm>
            <a:off x="5091480" y="6270480"/>
            <a:ext cx="1950480" cy="1249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ffffff">
                    <a:alpha val="60000"/>
                  </a:srgbClr>
                </a:solidFill>
                <a:latin typeface="Liter"/>
                <a:ea typeface="Liter"/>
              </a:rPr>
              <a:t>Brought classical sophistication to heavy rock</a:t>
            </a:r>
            <a:endParaRPr b="0" lang="en-HK" sz="750" spc="-1" strike="noStrike">
              <a:latin typeface="Arial"/>
            </a:endParaRPr>
          </a:p>
        </p:txBody>
      </p:sp>
      <p:sp>
        <p:nvSpPr>
          <p:cNvPr id="454" name="Image 0"/>
          <p:cNvSpPr/>
          <p:nvPr/>
        </p:nvSpPr>
        <p:spPr>
          <a:xfrm>
            <a:off x="7327800" y="1047600"/>
            <a:ext cx="4546080" cy="3188880"/>
          </a:xfrm>
          <a:prstGeom prst="roundRect">
            <a:avLst>
              <a:gd name="adj" fmla="val 0"/>
            </a:avLst>
          </a:prstGeom>
          <a:blipFill rotWithShape="0">
            <a:blip r:embed="rId1"/>
            <a:srcRect/>
            <a:stretch/>
          </a:blipFill>
          <a:ln w="0">
            <a:noFill/>
          </a:ln>
        </p:spPr>
        <p:style>
          <a:lnRef idx="0"/>
          <a:fillRef idx="0"/>
          <a:effectRef idx="0"/>
          <a:fontRef idx="minor"/>
        </p:style>
      </p:sp>
      <p:sp>
        <p:nvSpPr>
          <p:cNvPr id="455" name="Shape 40"/>
          <p:cNvSpPr/>
          <p:nvPr/>
        </p:nvSpPr>
        <p:spPr>
          <a:xfrm>
            <a:off x="7327800" y="1047600"/>
            <a:ext cx="4546080" cy="3188880"/>
          </a:xfrm>
          <a:custGeom>
            <a:avLst/>
            <a:gdLst/>
            <a:ahLst/>
            <a:rect l="l" t="t" r="r" b="b"/>
            <a:pathLst>
              <a:path w="4548188" h="3190875">
                <a:moveTo>
                  <a:pt x="0" y="0"/>
                </a:moveTo>
                <a:lnTo>
                  <a:pt x="4548188" y="0"/>
                </a:lnTo>
                <a:lnTo>
                  <a:pt x="4548188" y="3190875"/>
                </a:lnTo>
                <a:lnTo>
                  <a:pt x="0" y="319087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56" name="Text 41"/>
          <p:cNvSpPr/>
          <p:nvPr/>
        </p:nvSpPr>
        <p:spPr>
          <a:xfrm>
            <a:off x="7454880" y="3699000"/>
            <a:ext cx="434772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HEAVY METAL</a:t>
            </a:r>
            <a:endParaRPr b="0" lang="en-HK" sz="880" spc="-1" strike="noStrike">
              <a:latin typeface="Arial"/>
            </a:endParaRPr>
          </a:p>
        </p:txBody>
      </p:sp>
      <p:sp>
        <p:nvSpPr>
          <p:cNvPr id="457" name="Text 42"/>
          <p:cNvSpPr/>
          <p:nvPr/>
        </p:nvSpPr>
        <p:spPr>
          <a:xfrm>
            <a:off x="7454880" y="3889440"/>
            <a:ext cx="43635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Birth of a Genre</a:t>
            </a:r>
            <a:endParaRPr b="0" lang="en-HK" sz="1130" spc="-1" strike="noStrike">
              <a:latin typeface="Arial"/>
            </a:endParaRPr>
          </a:p>
        </p:txBody>
      </p:sp>
      <p:sp>
        <p:nvSpPr>
          <p:cNvPr id="458" name="Shape 43"/>
          <p:cNvSpPr/>
          <p:nvPr/>
        </p:nvSpPr>
        <p:spPr>
          <a:xfrm>
            <a:off x="7327800" y="4365720"/>
            <a:ext cx="4546080" cy="2172600"/>
          </a:xfrm>
          <a:custGeom>
            <a:avLst/>
            <a:gdLst/>
            <a:ahLst/>
            <a:rect l="l" t="t" r="r" b="b"/>
            <a:pathLst>
              <a:path w="4548188" h="2174875">
                <a:moveTo>
                  <a:pt x="0" y="0"/>
                </a:moveTo>
                <a:lnTo>
                  <a:pt x="4548188" y="0"/>
                </a:lnTo>
                <a:lnTo>
                  <a:pt x="4548188" y="2174875"/>
                </a:lnTo>
                <a:lnTo>
                  <a:pt x="0" y="2174875"/>
                </a:lnTo>
                <a:lnTo>
                  <a:pt x="0" y="0"/>
                </a:lnTo>
                <a:close/>
              </a:path>
            </a:pathLst>
          </a:custGeom>
          <a:solidFill>
            <a:srgbClr val="ddff00"/>
          </a:solidFill>
          <a:ln w="0">
            <a:noFill/>
          </a:ln>
        </p:spPr>
        <p:style>
          <a:lnRef idx="0"/>
          <a:fillRef idx="0"/>
          <a:effectRef idx="0"/>
          <a:fontRef idx="minor"/>
        </p:style>
      </p:sp>
      <p:sp>
        <p:nvSpPr>
          <p:cNvPr id="459" name="Text 44"/>
          <p:cNvSpPr/>
          <p:nvPr/>
        </p:nvSpPr>
        <p:spPr>
          <a:xfrm>
            <a:off x="7486560" y="4524480"/>
            <a:ext cx="430776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Legacy &amp; Influence</a:t>
            </a:r>
            <a:endParaRPr b="0" lang="en-HK" sz="1250" spc="-1" strike="noStrike">
              <a:latin typeface="Arial"/>
            </a:endParaRPr>
          </a:p>
        </p:txBody>
      </p:sp>
      <p:sp>
        <p:nvSpPr>
          <p:cNvPr id="460" name="Text 45"/>
          <p:cNvSpPr/>
          <p:nvPr/>
        </p:nvSpPr>
        <p:spPr>
          <a:xfrm>
            <a:off x="7486560" y="4842000"/>
            <a:ext cx="4291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These three bands laid the foundation for all heavy metal that followed.</a:t>
            </a:r>
            <a:r>
              <a:rPr b="0" lang="en-US" sz="1000" spc="-1" strike="noStrike">
                <a:solidFill>
                  <a:srgbClr val="000000"/>
                </a:solidFill>
                <a:latin typeface="Liter"/>
                <a:ea typeface="Liter"/>
              </a:rPr>
              <a:t> Their influence can be heard in nearly every metal subgenre, from traditional heavy metal to thrash, death, and beyond.</a:t>
            </a:r>
            <a:endParaRPr b="0" lang="en-HK" sz="1000" spc="-1" strike="noStrike">
              <a:latin typeface="Arial"/>
            </a:endParaRPr>
          </a:p>
        </p:txBody>
      </p:sp>
      <p:sp>
        <p:nvSpPr>
          <p:cNvPr id="461" name="Text 46"/>
          <p:cNvSpPr/>
          <p:nvPr/>
        </p:nvSpPr>
        <p:spPr>
          <a:xfrm>
            <a:off x="7486560" y="5556240"/>
            <a:ext cx="429192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They established the visual aesthetic—leather, long hair, dark imagery—and the sonic template: distorted guitars, powerful vocals, and thunderous drums. Without them, the world of rock music would be a very different place.</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62"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63"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464"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465"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466" name="Text 3"/>
          <p:cNvSpPr/>
          <p:nvPr/>
        </p:nvSpPr>
        <p:spPr>
          <a:xfrm>
            <a:off x="574200" y="1638360"/>
            <a:ext cx="116928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05</a:t>
            </a:r>
            <a:endParaRPr b="0" lang="en-HK" sz="5400" spc="-1" strike="noStrike">
              <a:latin typeface="Arial"/>
            </a:endParaRPr>
          </a:p>
        </p:txBody>
      </p:sp>
      <p:sp>
        <p:nvSpPr>
          <p:cNvPr id="467" name="Shape 4"/>
          <p:cNvSpPr/>
          <p:nvPr/>
        </p:nvSpPr>
        <p:spPr>
          <a:xfrm>
            <a:off x="1828800" y="1752480"/>
            <a:ext cx="3303000" cy="36000"/>
          </a:xfrm>
          <a:custGeom>
            <a:avLst/>
            <a:gdLst/>
            <a:ahLst/>
            <a:rect l="l" t="t" r="r" b="b"/>
            <a:pathLst>
              <a:path w="3305175" h="38100">
                <a:moveTo>
                  <a:pt x="0" y="0"/>
                </a:moveTo>
                <a:lnTo>
                  <a:pt x="3305175" y="0"/>
                </a:lnTo>
                <a:lnTo>
                  <a:pt x="3305175" y="38100"/>
                </a:lnTo>
                <a:lnTo>
                  <a:pt x="0" y="38100"/>
                </a:lnTo>
                <a:lnTo>
                  <a:pt x="0" y="0"/>
                </a:lnTo>
                <a:close/>
              </a:path>
            </a:pathLst>
          </a:custGeom>
          <a:solidFill>
            <a:srgbClr val="ddff00"/>
          </a:solidFill>
          <a:ln w="0">
            <a:noFill/>
          </a:ln>
        </p:spPr>
        <p:style>
          <a:lnRef idx="0"/>
          <a:fillRef idx="0"/>
          <a:effectRef idx="0"/>
          <a:fontRef idx="minor"/>
        </p:style>
      </p:sp>
      <p:sp>
        <p:nvSpPr>
          <p:cNvPr id="468" name="Text 5"/>
          <p:cNvSpPr/>
          <p:nvPr/>
        </p:nvSpPr>
        <p:spPr>
          <a:xfrm>
            <a:off x="1828800" y="1943280"/>
            <a:ext cx="33886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FIVE</a:t>
            </a:r>
            <a:endParaRPr b="0" lang="en-HK" sz="1350" spc="-1" strike="noStrike">
              <a:latin typeface="Arial"/>
            </a:endParaRPr>
          </a:p>
        </p:txBody>
      </p:sp>
      <p:sp>
        <p:nvSpPr>
          <p:cNvPr id="469" name="Text 6"/>
          <p:cNvSpPr/>
          <p:nvPr/>
        </p:nvSpPr>
        <p:spPr>
          <a:xfrm>
            <a:off x="380880" y="2895480"/>
            <a:ext cx="509364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PUNK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NEW WAVE</a:t>
            </a:r>
            <a:endParaRPr b="0" lang="en-HK" sz="5400" spc="-1" strike="noStrike">
              <a:latin typeface="Arial"/>
            </a:endParaRPr>
          </a:p>
        </p:txBody>
      </p:sp>
      <p:sp>
        <p:nvSpPr>
          <p:cNvPr id="470" name="Text 7"/>
          <p:cNvSpPr/>
          <p:nvPr/>
        </p:nvSpPr>
        <p:spPr>
          <a:xfrm>
            <a:off x="380880" y="4838760"/>
            <a:ext cx="48650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1970s-1980s: Raw Energy &amp; Artistic Expression</a:t>
            </a:r>
            <a:endParaRPr b="0" lang="en-HK" sz="1800" spc="-1" strike="noStrike">
              <a:latin typeface="Arial"/>
            </a:endParaRPr>
          </a:p>
        </p:txBody>
      </p:sp>
      <p:sp>
        <p:nvSpPr>
          <p:cNvPr id="471"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472"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473"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74" name="Shape 0"/>
          <p:cNvSpPr/>
          <p:nvPr/>
        </p:nvSpPr>
        <p:spPr>
          <a:xfrm>
            <a:off x="333720" y="383760"/>
            <a:ext cx="64440" cy="39852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75" name="Text 1"/>
          <p:cNvSpPr/>
          <p:nvPr/>
        </p:nvSpPr>
        <p:spPr>
          <a:xfrm>
            <a:off x="534240" y="333720"/>
            <a:ext cx="498816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5" strike="noStrike">
                <a:solidFill>
                  <a:srgbClr val="ddff00"/>
                </a:solidFill>
                <a:latin typeface="Liter"/>
                <a:ea typeface="Liter"/>
              </a:rPr>
              <a:t>CHAPTER 05</a:t>
            </a:r>
            <a:endParaRPr b="0" lang="en-HK" sz="920" spc="-1" strike="noStrike">
              <a:latin typeface="Arial"/>
            </a:endParaRPr>
          </a:p>
        </p:txBody>
      </p:sp>
      <p:sp>
        <p:nvSpPr>
          <p:cNvPr id="476" name="Text 2"/>
          <p:cNvSpPr/>
          <p:nvPr/>
        </p:nvSpPr>
        <p:spPr>
          <a:xfrm>
            <a:off x="534240" y="500760"/>
            <a:ext cx="5079960" cy="3315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77" name="Shape 3"/>
          <p:cNvSpPr/>
          <p:nvPr/>
        </p:nvSpPr>
        <p:spPr>
          <a:xfrm>
            <a:off x="333720" y="1101600"/>
            <a:ext cx="6790680" cy="216756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78" name="Text 4"/>
          <p:cNvSpPr/>
          <p:nvPr/>
        </p:nvSpPr>
        <p:spPr>
          <a:xfrm>
            <a:off x="534240" y="1301760"/>
            <a:ext cx="6490080" cy="264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79" name="Text 5"/>
          <p:cNvSpPr/>
          <p:nvPr/>
        </p:nvSpPr>
        <p:spPr>
          <a:xfrm>
            <a:off x="534240" y="1668960"/>
            <a:ext cx="6456960" cy="64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80" name="Text 6"/>
          <p:cNvSpPr/>
          <p:nvPr/>
        </p:nvSpPr>
        <p:spPr>
          <a:xfrm>
            <a:off x="534240" y="2419920"/>
            <a:ext cx="6456960" cy="64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81" name="Shape 7"/>
          <p:cNvSpPr/>
          <p:nvPr/>
        </p:nvSpPr>
        <p:spPr>
          <a:xfrm>
            <a:off x="342000" y="3413160"/>
            <a:ext cx="6774120" cy="265140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82" name="Text 8"/>
          <p:cNvSpPr/>
          <p:nvPr/>
        </p:nvSpPr>
        <p:spPr>
          <a:xfrm>
            <a:off x="517320" y="3588480"/>
            <a:ext cx="650700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83" name="Shape 9"/>
          <p:cNvSpPr/>
          <p:nvPr/>
        </p:nvSpPr>
        <p:spPr>
          <a:xfrm>
            <a:off x="534240" y="395568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4" name="Text 10"/>
          <p:cNvSpPr/>
          <p:nvPr/>
        </p:nvSpPr>
        <p:spPr>
          <a:xfrm>
            <a:off x="684360" y="3955680"/>
            <a:ext cx="30520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85" name="Text 11"/>
          <p:cNvSpPr/>
          <p:nvPr/>
        </p:nvSpPr>
        <p:spPr>
          <a:xfrm>
            <a:off x="684360" y="4255920"/>
            <a:ext cx="30438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86" name="Text 12"/>
          <p:cNvSpPr/>
          <p:nvPr/>
        </p:nvSpPr>
        <p:spPr>
          <a:xfrm>
            <a:off x="684360" y="4523040"/>
            <a:ext cx="303552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87" name="Shape 13"/>
          <p:cNvSpPr/>
          <p:nvPr/>
        </p:nvSpPr>
        <p:spPr>
          <a:xfrm>
            <a:off x="3815280" y="395568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88" name="Text 14"/>
          <p:cNvSpPr/>
          <p:nvPr/>
        </p:nvSpPr>
        <p:spPr>
          <a:xfrm>
            <a:off x="3965400" y="3955680"/>
            <a:ext cx="30520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89" name="Text 15"/>
          <p:cNvSpPr/>
          <p:nvPr/>
        </p:nvSpPr>
        <p:spPr>
          <a:xfrm>
            <a:off x="3965400" y="4255920"/>
            <a:ext cx="30438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90" name="Text 16"/>
          <p:cNvSpPr/>
          <p:nvPr/>
        </p:nvSpPr>
        <p:spPr>
          <a:xfrm>
            <a:off x="3965400" y="4523040"/>
            <a:ext cx="303552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91" name="Shape 17"/>
          <p:cNvSpPr/>
          <p:nvPr/>
        </p:nvSpPr>
        <p:spPr>
          <a:xfrm>
            <a:off x="534240" y="499032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2" name="Text 18"/>
          <p:cNvSpPr/>
          <p:nvPr/>
        </p:nvSpPr>
        <p:spPr>
          <a:xfrm>
            <a:off x="684360" y="4990320"/>
            <a:ext cx="30520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93" name="Text 19"/>
          <p:cNvSpPr/>
          <p:nvPr/>
        </p:nvSpPr>
        <p:spPr>
          <a:xfrm>
            <a:off x="684360" y="5290560"/>
            <a:ext cx="30438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94" name="Text 20"/>
          <p:cNvSpPr/>
          <p:nvPr/>
        </p:nvSpPr>
        <p:spPr>
          <a:xfrm>
            <a:off x="684360" y="5557680"/>
            <a:ext cx="303552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95" name="Shape 21"/>
          <p:cNvSpPr/>
          <p:nvPr/>
        </p:nvSpPr>
        <p:spPr>
          <a:xfrm>
            <a:off x="3815280" y="499032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96" name="Text 22"/>
          <p:cNvSpPr/>
          <p:nvPr/>
        </p:nvSpPr>
        <p:spPr>
          <a:xfrm>
            <a:off x="3965400" y="4990320"/>
            <a:ext cx="30520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97" name="Text 23"/>
          <p:cNvSpPr/>
          <p:nvPr/>
        </p:nvSpPr>
        <p:spPr>
          <a:xfrm>
            <a:off x="3965400" y="5290560"/>
            <a:ext cx="30438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98" name="Text 24"/>
          <p:cNvSpPr/>
          <p:nvPr/>
        </p:nvSpPr>
        <p:spPr>
          <a:xfrm>
            <a:off x="3965400" y="5557680"/>
            <a:ext cx="30355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99" name="Shape 25"/>
          <p:cNvSpPr/>
          <p:nvPr/>
        </p:nvSpPr>
        <p:spPr>
          <a:xfrm>
            <a:off x="33804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0" name="Shape 26"/>
          <p:cNvSpPr/>
          <p:nvPr/>
        </p:nvSpPr>
        <p:spPr>
          <a:xfrm>
            <a:off x="1058040" y="6317280"/>
            <a:ext cx="173160" cy="19800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501" name="Text 27"/>
          <p:cNvSpPr/>
          <p:nvPr/>
        </p:nvSpPr>
        <p:spPr>
          <a:xfrm>
            <a:off x="41292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502" name="Shape 28"/>
          <p:cNvSpPr/>
          <p:nvPr/>
        </p:nvSpPr>
        <p:spPr>
          <a:xfrm>
            <a:off x="206208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3" name="Shape 29"/>
          <p:cNvSpPr/>
          <p:nvPr/>
        </p:nvSpPr>
        <p:spPr>
          <a:xfrm>
            <a:off x="2794680" y="6317280"/>
            <a:ext cx="147960" cy="19800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504" name="Text 30"/>
          <p:cNvSpPr/>
          <p:nvPr/>
        </p:nvSpPr>
        <p:spPr>
          <a:xfrm>
            <a:off x="213696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505" name="Shape 31"/>
          <p:cNvSpPr/>
          <p:nvPr/>
        </p:nvSpPr>
        <p:spPr>
          <a:xfrm>
            <a:off x="378612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6" name="Shape 32"/>
          <p:cNvSpPr/>
          <p:nvPr/>
        </p:nvSpPr>
        <p:spPr>
          <a:xfrm>
            <a:off x="4481280" y="6317280"/>
            <a:ext cx="223200" cy="19800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507" name="Text 33"/>
          <p:cNvSpPr/>
          <p:nvPr/>
        </p:nvSpPr>
        <p:spPr>
          <a:xfrm>
            <a:off x="386100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508" name="Shape 34"/>
          <p:cNvSpPr/>
          <p:nvPr/>
        </p:nvSpPr>
        <p:spPr>
          <a:xfrm>
            <a:off x="551016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09" name="Shape 35"/>
          <p:cNvSpPr/>
          <p:nvPr/>
        </p:nvSpPr>
        <p:spPr>
          <a:xfrm>
            <a:off x="6230160" y="6317280"/>
            <a:ext cx="173160" cy="19800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510" name="Text 36"/>
          <p:cNvSpPr/>
          <p:nvPr/>
        </p:nvSpPr>
        <p:spPr>
          <a:xfrm>
            <a:off x="558540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511" name="Image 0"/>
          <p:cNvSpPr/>
          <p:nvPr/>
        </p:nvSpPr>
        <p:spPr>
          <a:xfrm>
            <a:off x="7330320" y="1101600"/>
            <a:ext cx="4529160" cy="3118680"/>
          </a:xfrm>
          <a:prstGeom prst="roundRect">
            <a:avLst>
              <a:gd name="adj" fmla="val 0"/>
            </a:avLst>
          </a:prstGeom>
          <a:blipFill rotWithShape="0">
            <a:blip r:embed="rId1"/>
            <a:srcRect/>
            <a:stretch/>
          </a:blipFill>
          <a:ln w="0">
            <a:noFill/>
          </a:ln>
        </p:spPr>
        <p:style>
          <a:lnRef idx="0"/>
          <a:fillRef idx="0"/>
          <a:effectRef idx="0"/>
          <a:fontRef idx="minor"/>
        </p:style>
      </p:sp>
      <p:sp>
        <p:nvSpPr>
          <p:cNvPr id="512" name="Shape 37"/>
          <p:cNvSpPr/>
          <p:nvPr/>
        </p:nvSpPr>
        <p:spPr>
          <a:xfrm>
            <a:off x="7330320" y="1101600"/>
            <a:ext cx="4529160" cy="311868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513" name="Text 38"/>
          <p:cNvSpPr/>
          <p:nvPr/>
        </p:nvSpPr>
        <p:spPr>
          <a:xfrm>
            <a:off x="7463880" y="3655080"/>
            <a:ext cx="432036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514" name="Text 39"/>
          <p:cNvSpPr/>
          <p:nvPr/>
        </p:nvSpPr>
        <p:spPr>
          <a:xfrm>
            <a:off x="7463880" y="3855240"/>
            <a:ext cx="433728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515" name="Shape 40"/>
          <p:cNvSpPr/>
          <p:nvPr/>
        </p:nvSpPr>
        <p:spPr>
          <a:xfrm>
            <a:off x="7338600" y="4364280"/>
            <a:ext cx="4512600" cy="168336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516" name="Text 41"/>
          <p:cNvSpPr/>
          <p:nvPr/>
        </p:nvSpPr>
        <p:spPr>
          <a:xfrm>
            <a:off x="7513920" y="4539600"/>
            <a:ext cx="423720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517" name="Shape 42"/>
          <p:cNvSpPr/>
          <p:nvPr/>
        </p:nvSpPr>
        <p:spPr>
          <a:xfrm>
            <a:off x="7513920" y="494028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18" name="Text 43"/>
          <p:cNvSpPr/>
          <p:nvPr/>
        </p:nvSpPr>
        <p:spPr>
          <a:xfrm>
            <a:off x="7647480" y="4873320"/>
            <a:ext cx="29019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519" name="Shape 44"/>
          <p:cNvSpPr/>
          <p:nvPr/>
        </p:nvSpPr>
        <p:spPr>
          <a:xfrm>
            <a:off x="7513920" y="520740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0" name="Text 45"/>
          <p:cNvSpPr/>
          <p:nvPr/>
        </p:nvSpPr>
        <p:spPr>
          <a:xfrm>
            <a:off x="7647480" y="5140440"/>
            <a:ext cx="242640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521" name="Shape 46"/>
          <p:cNvSpPr/>
          <p:nvPr/>
        </p:nvSpPr>
        <p:spPr>
          <a:xfrm>
            <a:off x="7513920" y="547416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2" name="Text 47"/>
          <p:cNvSpPr/>
          <p:nvPr/>
        </p:nvSpPr>
        <p:spPr>
          <a:xfrm>
            <a:off x="7647480" y="5407560"/>
            <a:ext cx="24595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523" name="Shape 48"/>
          <p:cNvSpPr/>
          <p:nvPr/>
        </p:nvSpPr>
        <p:spPr>
          <a:xfrm>
            <a:off x="7513920" y="574128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524" name="Text 49"/>
          <p:cNvSpPr/>
          <p:nvPr/>
        </p:nvSpPr>
        <p:spPr>
          <a:xfrm>
            <a:off x="7647480" y="5674680"/>
            <a:ext cx="33109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525" name="Shape 50"/>
          <p:cNvSpPr/>
          <p:nvPr/>
        </p:nvSpPr>
        <p:spPr>
          <a:xfrm>
            <a:off x="7330320" y="6192000"/>
            <a:ext cx="4529160" cy="66528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526" name="Text 51"/>
          <p:cNvSpPr/>
          <p:nvPr/>
        </p:nvSpPr>
        <p:spPr>
          <a:xfrm>
            <a:off x="7430400" y="6325560"/>
            <a:ext cx="4329000" cy="398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27"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528" name="Text 1"/>
          <p:cNvSpPr/>
          <p:nvPr/>
        </p:nvSpPr>
        <p:spPr>
          <a:xfrm>
            <a:off x="507960" y="317520"/>
            <a:ext cx="514944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05</a:t>
            </a:r>
            <a:endParaRPr b="0" lang="en-HK" sz="880" spc="-1" strike="noStrike">
              <a:latin typeface="Arial"/>
            </a:endParaRPr>
          </a:p>
        </p:txBody>
      </p:sp>
      <p:sp>
        <p:nvSpPr>
          <p:cNvPr id="529" name="Text 2"/>
          <p:cNvSpPr/>
          <p:nvPr/>
        </p:nvSpPr>
        <p:spPr>
          <a:xfrm>
            <a:off x="507960" y="476280"/>
            <a:ext cx="523656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New Wave: Creativity &amp; Experimentation</a:t>
            </a:r>
            <a:endParaRPr b="0" lang="en-HK" sz="2250" spc="-1" strike="noStrike">
              <a:latin typeface="Arial"/>
            </a:endParaRPr>
          </a:p>
        </p:txBody>
      </p:sp>
      <p:sp>
        <p:nvSpPr>
          <p:cNvPr id="530" name="Shape 3"/>
          <p:cNvSpPr/>
          <p:nvPr/>
        </p:nvSpPr>
        <p:spPr>
          <a:xfrm>
            <a:off x="317520" y="1047600"/>
            <a:ext cx="4546080" cy="2268000"/>
          </a:xfrm>
          <a:custGeom>
            <a:avLst/>
            <a:gdLst/>
            <a:ahLst/>
            <a:rect l="l" t="t" r="r" b="b"/>
            <a:pathLst>
              <a:path w="4548188" h="2270125">
                <a:moveTo>
                  <a:pt x="0" y="0"/>
                </a:moveTo>
                <a:lnTo>
                  <a:pt x="4548188" y="0"/>
                </a:lnTo>
                <a:lnTo>
                  <a:pt x="4548188" y="2270125"/>
                </a:lnTo>
                <a:lnTo>
                  <a:pt x="0" y="2270125"/>
                </a:lnTo>
                <a:lnTo>
                  <a:pt x="0" y="0"/>
                </a:lnTo>
                <a:close/>
              </a:path>
            </a:pathLst>
          </a:custGeom>
          <a:solidFill>
            <a:srgbClr val="ddff00"/>
          </a:solidFill>
          <a:ln w="0">
            <a:noFill/>
          </a:ln>
        </p:spPr>
        <p:style>
          <a:lnRef idx="0"/>
          <a:fillRef idx="0"/>
          <a:effectRef idx="0"/>
          <a:fontRef idx="minor"/>
        </p:style>
      </p:sp>
      <p:sp>
        <p:nvSpPr>
          <p:cNvPr id="531" name="Text 4"/>
          <p:cNvSpPr/>
          <p:nvPr/>
        </p:nvSpPr>
        <p:spPr>
          <a:xfrm>
            <a:off x="507960" y="1238400"/>
            <a:ext cx="42602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Artistic Evolution from Punk</a:t>
            </a:r>
            <a:endParaRPr b="0" lang="en-HK" sz="1500" spc="-1" strike="noStrike">
              <a:latin typeface="Arial"/>
            </a:endParaRPr>
          </a:p>
        </p:txBody>
      </p:sp>
      <p:sp>
        <p:nvSpPr>
          <p:cNvPr id="532" name="Text 5"/>
          <p:cNvSpPr/>
          <p:nvPr/>
        </p:nvSpPr>
        <p:spPr>
          <a:xfrm>
            <a:off x="507960" y="1587600"/>
            <a:ext cx="422856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New Wave emerged in the late 1970s as a departure from punk's rawness,</a:t>
            </a:r>
            <a:r>
              <a:rPr b="0" lang="en-US" sz="1000" spc="-1" strike="noStrike">
                <a:solidFill>
                  <a:srgbClr val="000000"/>
                </a:solidFill>
                <a:latin typeface="Liter"/>
                <a:ea typeface="Liter"/>
              </a:rPr>
              <a:t> incorporating a more diverse range of musical influences and a focus on creativity and experimentation. While punk stripped music down to its essentials, New Wave built it back up with artistic flair.</a:t>
            </a:r>
            <a:endParaRPr b="0" lang="en-HK" sz="1000" spc="-1" strike="noStrike">
              <a:latin typeface="Arial"/>
            </a:endParaRPr>
          </a:p>
        </p:txBody>
      </p:sp>
      <p:sp>
        <p:nvSpPr>
          <p:cNvPr id="533" name="Text 6"/>
          <p:cNvSpPr/>
          <p:nvPr/>
        </p:nvSpPr>
        <p:spPr>
          <a:xfrm>
            <a:off x="507960" y="2508120"/>
            <a:ext cx="422856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 was not limited to a single musical style but embraced variety—incorporating pop, rock, punk, electronic, disco, and reggae elements. This diversity allowed for innovation while maintaining accessibility.</a:t>
            </a:r>
            <a:endParaRPr b="0" lang="en-HK" sz="1000" spc="-1" strike="noStrike">
              <a:latin typeface="Arial"/>
            </a:endParaRPr>
          </a:p>
        </p:txBody>
      </p:sp>
      <p:sp>
        <p:nvSpPr>
          <p:cNvPr id="534" name="Shape 7"/>
          <p:cNvSpPr/>
          <p:nvPr/>
        </p:nvSpPr>
        <p:spPr>
          <a:xfrm>
            <a:off x="325440" y="3452760"/>
            <a:ext cx="4530240" cy="312516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535" name="Text 8"/>
          <p:cNvSpPr/>
          <p:nvPr/>
        </p:nvSpPr>
        <p:spPr>
          <a:xfrm>
            <a:off x="492120" y="3619440"/>
            <a:ext cx="42760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New Wave Artists</a:t>
            </a:r>
            <a:endParaRPr b="0" lang="en-HK" sz="1250" spc="-1" strike="noStrike">
              <a:latin typeface="Arial"/>
            </a:endParaRPr>
          </a:p>
        </p:txBody>
      </p:sp>
      <p:sp>
        <p:nvSpPr>
          <p:cNvPr id="536" name="Shape 9"/>
          <p:cNvSpPr/>
          <p:nvPr/>
        </p:nvSpPr>
        <p:spPr>
          <a:xfrm>
            <a:off x="507960" y="39686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37" name="Shape 10"/>
          <p:cNvSpPr/>
          <p:nvPr/>
        </p:nvSpPr>
        <p:spPr>
          <a:xfrm>
            <a:off x="619200" y="396864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38" name="Shape 11"/>
          <p:cNvSpPr/>
          <p:nvPr/>
        </p:nvSpPr>
        <p:spPr>
          <a:xfrm>
            <a:off x="714240" y="4064040"/>
            <a:ext cx="124920" cy="124920"/>
          </a:xfrm>
          <a:custGeom>
            <a:avLst/>
            <a:gdLst/>
            <a:ah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w="0">
            <a:noFill/>
          </a:ln>
        </p:spPr>
        <p:style>
          <a:lnRef idx="0"/>
          <a:fillRef idx="0"/>
          <a:effectRef idx="0"/>
          <a:fontRef idx="minor"/>
        </p:style>
      </p:sp>
      <p:sp>
        <p:nvSpPr>
          <p:cNvPr id="539" name="Text 12"/>
          <p:cNvSpPr/>
          <p:nvPr/>
        </p:nvSpPr>
        <p:spPr>
          <a:xfrm>
            <a:off x="1031760" y="3968640"/>
            <a:ext cx="20775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Talking Heads</a:t>
            </a:r>
            <a:endParaRPr b="0" lang="en-HK" sz="1130" spc="-1" strike="noStrike">
              <a:latin typeface="Arial"/>
            </a:endParaRPr>
          </a:p>
        </p:txBody>
      </p:sp>
      <p:sp>
        <p:nvSpPr>
          <p:cNvPr id="540" name="Text 13"/>
          <p:cNvSpPr/>
          <p:nvPr/>
        </p:nvSpPr>
        <p:spPr>
          <a:xfrm>
            <a:off x="1031760" y="4191120"/>
            <a:ext cx="20696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Art-rock sophistication, quirky lyrics</a:t>
            </a:r>
            <a:endParaRPr b="0" lang="en-HK" sz="1000" spc="-1" strike="noStrike">
              <a:latin typeface="Arial"/>
            </a:endParaRPr>
          </a:p>
        </p:txBody>
      </p:sp>
      <p:sp>
        <p:nvSpPr>
          <p:cNvPr id="541" name="Shape 14"/>
          <p:cNvSpPr/>
          <p:nvPr/>
        </p:nvSpPr>
        <p:spPr>
          <a:xfrm>
            <a:off x="507960" y="44766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2" name="Shape 15"/>
          <p:cNvSpPr/>
          <p:nvPr/>
        </p:nvSpPr>
        <p:spPr>
          <a:xfrm>
            <a:off x="619200" y="447660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3" name="Shape 16"/>
          <p:cNvSpPr/>
          <p:nvPr/>
        </p:nvSpPr>
        <p:spPr>
          <a:xfrm>
            <a:off x="730080" y="4572000"/>
            <a:ext cx="93240" cy="12492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544" name="Text 17"/>
          <p:cNvSpPr/>
          <p:nvPr/>
        </p:nvSpPr>
        <p:spPr>
          <a:xfrm>
            <a:off x="1031760" y="4476600"/>
            <a:ext cx="17442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Blondie</a:t>
            </a:r>
            <a:endParaRPr b="0" lang="en-HK" sz="1130" spc="-1" strike="noStrike">
              <a:latin typeface="Arial"/>
            </a:endParaRPr>
          </a:p>
        </p:txBody>
      </p:sp>
      <p:sp>
        <p:nvSpPr>
          <p:cNvPr id="545" name="Text 18"/>
          <p:cNvSpPr/>
          <p:nvPr/>
        </p:nvSpPr>
        <p:spPr>
          <a:xfrm>
            <a:off x="1031760" y="4699080"/>
            <a:ext cx="17362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Punk energy meets pop hooks</a:t>
            </a:r>
            <a:endParaRPr b="0" lang="en-HK" sz="1000" spc="-1" strike="noStrike">
              <a:latin typeface="Arial"/>
            </a:endParaRPr>
          </a:p>
        </p:txBody>
      </p:sp>
      <p:sp>
        <p:nvSpPr>
          <p:cNvPr id="546" name="Shape 19"/>
          <p:cNvSpPr/>
          <p:nvPr/>
        </p:nvSpPr>
        <p:spPr>
          <a:xfrm>
            <a:off x="507960" y="498492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47" name="Shape 20"/>
          <p:cNvSpPr/>
          <p:nvPr/>
        </p:nvSpPr>
        <p:spPr>
          <a:xfrm>
            <a:off x="619200" y="498492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48" name="Shape 21"/>
          <p:cNvSpPr/>
          <p:nvPr/>
        </p:nvSpPr>
        <p:spPr>
          <a:xfrm>
            <a:off x="714240" y="5079960"/>
            <a:ext cx="124920" cy="12492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w="0">
            <a:noFill/>
          </a:ln>
        </p:spPr>
        <p:style>
          <a:lnRef idx="0"/>
          <a:fillRef idx="0"/>
          <a:effectRef idx="0"/>
          <a:fontRef idx="minor"/>
        </p:style>
      </p:sp>
      <p:sp>
        <p:nvSpPr>
          <p:cNvPr id="549" name="Text 22"/>
          <p:cNvSpPr/>
          <p:nvPr/>
        </p:nvSpPr>
        <p:spPr>
          <a:xfrm>
            <a:off x="1031760" y="4984920"/>
            <a:ext cx="222048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Police</a:t>
            </a:r>
            <a:endParaRPr b="0" lang="en-HK" sz="1130" spc="-1" strike="noStrike">
              <a:latin typeface="Arial"/>
            </a:endParaRPr>
          </a:p>
        </p:txBody>
      </p:sp>
      <p:sp>
        <p:nvSpPr>
          <p:cNvPr id="550" name="Text 23"/>
          <p:cNvSpPr/>
          <p:nvPr/>
        </p:nvSpPr>
        <p:spPr>
          <a:xfrm>
            <a:off x="1031760" y="5207040"/>
            <a:ext cx="22125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Reggae-rock fusion, sophisticated pop</a:t>
            </a:r>
            <a:endParaRPr b="0" lang="en-HK" sz="1000" spc="-1" strike="noStrike">
              <a:latin typeface="Arial"/>
            </a:endParaRPr>
          </a:p>
        </p:txBody>
      </p:sp>
      <p:sp>
        <p:nvSpPr>
          <p:cNvPr id="551" name="Shape 24"/>
          <p:cNvSpPr/>
          <p:nvPr/>
        </p:nvSpPr>
        <p:spPr>
          <a:xfrm>
            <a:off x="507960" y="54928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2" name="Shape 25"/>
          <p:cNvSpPr/>
          <p:nvPr/>
        </p:nvSpPr>
        <p:spPr>
          <a:xfrm>
            <a:off x="619200" y="54928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3" name="Shape 26"/>
          <p:cNvSpPr/>
          <p:nvPr/>
        </p:nvSpPr>
        <p:spPr>
          <a:xfrm>
            <a:off x="698400" y="5587920"/>
            <a:ext cx="156600" cy="124920"/>
          </a:xfrm>
          <a:custGeom>
            <a:avLst/>
            <a:gdLst/>
            <a:ah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w="0">
            <a:noFill/>
          </a:ln>
        </p:spPr>
        <p:style>
          <a:lnRef idx="0"/>
          <a:fillRef idx="0"/>
          <a:effectRef idx="0"/>
          <a:fontRef idx="minor"/>
        </p:style>
      </p:sp>
      <p:sp>
        <p:nvSpPr>
          <p:cNvPr id="554" name="Text 27"/>
          <p:cNvSpPr/>
          <p:nvPr/>
        </p:nvSpPr>
        <p:spPr>
          <a:xfrm>
            <a:off x="1031760" y="5492880"/>
            <a:ext cx="1482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Devo</a:t>
            </a:r>
            <a:endParaRPr b="0" lang="en-HK" sz="1130" spc="-1" strike="noStrike">
              <a:latin typeface="Arial"/>
            </a:endParaRPr>
          </a:p>
        </p:txBody>
      </p:sp>
      <p:sp>
        <p:nvSpPr>
          <p:cNvPr id="555" name="Text 28"/>
          <p:cNvSpPr/>
          <p:nvPr/>
        </p:nvSpPr>
        <p:spPr>
          <a:xfrm>
            <a:off x="1031760" y="5715000"/>
            <a:ext cx="14742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Quirky, futuristic, satirical</a:t>
            </a:r>
            <a:endParaRPr b="0" lang="en-HK" sz="1000" spc="-1" strike="noStrike">
              <a:latin typeface="Arial"/>
            </a:endParaRPr>
          </a:p>
        </p:txBody>
      </p:sp>
      <p:sp>
        <p:nvSpPr>
          <p:cNvPr id="556" name="Shape 29"/>
          <p:cNvSpPr/>
          <p:nvPr/>
        </p:nvSpPr>
        <p:spPr>
          <a:xfrm>
            <a:off x="507960" y="60008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557" name="Shape 30"/>
          <p:cNvSpPr/>
          <p:nvPr/>
        </p:nvSpPr>
        <p:spPr>
          <a:xfrm>
            <a:off x="619200" y="600084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558" name="Shape 31"/>
          <p:cNvSpPr/>
          <p:nvPr/>
        </p:nvSpPr>
        <p:spPr>
          <a:xfrm>
            <a:off x="706320" y="6095880"/>
            <a:ext cx="140760" cy="124920"/>
          </a:xfrm>
          <a:custGeom>
            <a:avLst/>
            <a:gdLst/>
            <a:ah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w="0">
            <a:noFill/>
          </a:ln>
        </p:spPr>
        <p:style>
          <a:lnRef idx="0"/>
          <a:fillRef idx="0"/>
          <a:effectRef idx="0"/>
          <a:fontRef idx="minor"/>
        </p:style>
      </p:sp>
      <p:sp>
        <p:nvSpPr>
          <p:cNvPr id="559" name="Text 32"/>
          <p:cNvSpPr/>
          <p:nvPr/>
        </p:nvSpPr>
        <p:spPr>
          <a:xfrm>
            <a:off x="1031760" y="6000840"/>
            <a:ext cx="16884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Duran Duran</a:t>
            </a:r>
            <a:endParaRPr b="0" lang="en-HK" sz="1130" spc="-1" strike="noStrike">
              <a:latin typeface="Arial"/>
            </a:endParaRPr>
          </a:p>
        </p:txBody>
      </p:sp>
      <p:sp>
        <p:nvSpPr>
          <p:cNvPr id="560" name="Text 33"/>
          <p:cNvSpPr/>
          <p:nvPr/>
        </p:nvSpPr>
        <p:spPr>
          <a:xfrm>
            <a:off x="1031760" y="6222960"/>
            <a:ext cx="16804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MTV-era glamour, synth-pop</a:t>
            </a:r>
            <a:endParaRPr b="0" lang="en-HK" sz="1000" spc="-1" strike="noStrike">
              <a:latin typeface="Arial"/>
            </a:endParaRPr>
          </a:p>
        </p:txBody>
      </p:sp>
      <p:sp>
        <p:nvSpPr>
          <p:cNvPr id="561" name="Shape 34"/>
          <p:cNvSpPr/>
          <p:nvPr/>
        </p:nvSpPr>
        <p:spPr>
          <a:xfrm>
            <a:off x="5062680" y="1055520"/>
            <a:ext cx="6800400" cy="2775960"/>
          </a:xfrm>
          <a:custGeom>
            <a:avLst/>
            <a:gdLst/>
            <a:ahLst/>
            <a:rect l="l" t="t" r="r" b="b"/>
            <a:pathLst>
              <a:path w="6802438" h="2778125">
                <a:moveTo>
                  <a:pt x="0" y="0"/>
                </a:moveTo>
                <a:lnTo>
                  <a:pt x="6802438" y="0"/>
                </a:lnTo>
                <a:lnTo>
                  <a:pt x="6802438" y="2778125"/>
                </a:lnTo>
                <a:lnTo>
                  <a:pt x="0" y="2778125"/>
                </a:lnTo>
                <a:lnTo>
                  <a:pt x="0" y="0"/>
                </a:lnTo>
                <a:close/>
              </a:path>
            </a:pathLst>
          </a:custGeom>
          <a:noFill/>
          <a:ln w="25400">
            <a:solidFill>
              <a:srgbClr val="ddff00"/>
            </a:solidFill>
            <a:round/>
          </a:ln>
        </p:spPr>
        <p:style>
          <a:lnRef idx="0"/>
          <a:fillRef idx="0"/>
          <a:effectRef idx="0"/>
          <a:fontRef idx="minor"/>
        </p:style>
      </p:sp>
      <p:sp>
        <p:nvSpPr>
          <p:cNvPr id="562" name="Text 35"/>
          <p:cNvSpPr/>
          <p:nvPr/>
        </p:nvSpPr>
        <p:spPr>
          <a:xfrm>
            <a:off x="5261040" y="1254240"/>
            <a:ext cx="64987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New Wave Characteristics</a:t>
            </a:r>
            <a:endParaRPr b="0" lang="en-HK" sz="1500" spc="-1" strike="noStrike">
              <a:latin typeface="Arial"/>
            </a:endParaRPr>
          </a:p>
        </p:txBody>
      </p:sp>
      <p:sp>
        <p:nvSpPr>
          <p:cNvPr id="563" name="Shape 36"/>
          <p:cNvSpPr/>
          <p:nvPr/>
        </p:nvSpPr>
        <p:spPr>
          <a:xfrm>
            <a:off x="5265000" y="1639080"/>
            <a:ext cx="3133080" cy="9266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4" name="Shape 37"/>
          <p:cNvSpPr/>
          <p:nvPr/>
        </p:nvSpPr>
        <p:spPr>
          <a:xfrm>
            <a:off x="5415840" y="1809720"/>
            <a:ext cx="140760" cy="140760"/>
          </a:xfrm>
          <a:custGeom>
            <a:avLst/>
            <a:gdLst/>
            <a:ah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w="0">
            <a:noFill/>
          </a:ln>
        </p:spPr>
        <p:style>
          <a:lnRef idx="0"/>
          <a:fillRef idx="0"/>
          <a:effectRef idx="0"/>
          <a:fontRef idx="minor"/>
        </p:style>
      </p:sp>
      <p:sp>
        <p:nvSpPr>
          <p:cNvPr id="565" name="Text 38"/>
          <p:cNvSpPr/>
          <p:nvPr/>
        </p:nvSpPr>
        <p:spPr>
          <a:xfrm>
            <a:off x="5578560" y="1770120"/>
            <a:ext cx="2760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Synthesizers</a:t>
            </a:r>
            <a:endParaRPr b="0" lang="en-HK" sz="1130" spc="-1" strike="noStrike">
              <a:latin typeface="Arial"/>
            </a:endParaRPr>
          </a:p>
        </p:txBody>
      </p:sp>
      <p:sp>
        <p:nvSpPr>
          <p:cNvPr id="566" name="Text 39"/>
          <p:cNvSpPr/>
          <p:nvPr/>
        </p:nvSpPr>
        <p:spPr>
          <a:xfrm>
            <a:off x="5396040" y="2055960"/>
            <a:ext cx="293472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Electronic instruments played a significant role, contributing to futuristic and quirky sounds</a:t>
            </a:r>
            <a:endParaRPr b="0" lang="en-HK" sz="1000" spc="-1" strike="noStrike">
              <a:latin typeface="Arial"/>
            </a:endParaRPr>
          </a:p>
        </p:txBody>
      </p:sp>
      <p:sp>
        <p:nvSpPr>
          <p:cNvPr id="567" name="Shape 40"/>
          <p:cNvSpPr/>
          <p:nvPr/>
        </p:nvSpPr>
        <p:spPr>
          <a:xfrm>
            <a:off x="8532000" y="1639080"/>
            <a:ext cx="3133080" cy="9266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68" name="Shape 41"/>
          <p:cNvSpPr/>
          <p:nvPr/>
        </p:nvSpPr>
        <p:spPr>
          <a:xfrm>
            <a:off x="8682840" y="1809720"/>
            <a:ext cx="140760" cy="140760"/>
          </a:xfrm>
          <a:custGeom>
            <a:avLst/>
            <a:gdLst/>
            <a:ah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w="0">
            <a:noFill/>
          </a:ln>
        </p:spPr>
        <p:style>
          <a:lnRef idx="0"/>
          <a:fillRef idx="0"/>
          <a:effectRef idx="0"/>
          <a:fontRef idx="minor"/>
        </p:style>
      </p:sp>
      <p:sp>
        <p:nvSpPr>
          <p:cNvPr id="569" name="Text 42"/>
          <p:cNvSpPr/>
          <p:nvPr/>
        </p:nvSpPr>
        <p:spPr>
          <a:xfrm>
            <a:off x="8845560" y="1770120"/>
            <a:ext cx="2760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Catchy Melodies</a:t>
            </a:r>
            <a:endParaRPr b="0" lang="en-HK" sz="1130" spc="-1" strike="noStrike">
              <a:latin typeface="Arial"/>
            </a:endParaRPr>
          </a:p>
        </p:txBody>
      </p:sp>
      <p:sp>
        <p:nvSpPr>
          <p:cNvPr id="570" name="Text 43"/>
          <p:cNvSpPr/>
          <p:nvPr/>
        </p:nvSpPr>
        <p:spPr>
          <a:xfrm>
            <a:off x="8663040" y="2055960"/>
            <a:ext cx="293472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More accessible to mainstream audiences compared to punk's aggressive sound</a:t>
            </a:r>
            <a:endParaRPr b="0" lang="en-HK" sz="1000" spc="-1" strike="noStrike">
              <a:latin typeface="Arial"/>
            </a:endParaRPr>
          </a:p>
        </p:txBody>
      </p:sp>
      <p:sp>
        <p:nvSpPr>
          <p:cNvPr id="571" name="Shape 44"/>
          <p:cNvSpPr/>
          <p:nvPr/>
        </p:nvSpPr>
        <p:spPr>
          <a:xfrm>
            <a:off x="5265000" y="2702880"/>
            <a:ext cx="3133080" cy="9266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2" name="Shape 45"/>
          <p:cNvSpPr/>
          <p:nvPr/>
        </p:nvSpPr>
        <p:spPr>
          <a:xfrm>
            <a:off x="5415840" y="2873520"/>
            <a:ext cx="140760" cy="140760"/>
          </a:xfrm>
          <a:custGeom>
            <a:avLst/>
            <a:gdLst/>
            <a:ah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w="0">
            <a:noFill/>
          </a:ln>
        </p:spPr>
        <p:style>
          <a:lnRef idx="0"/>
          <a:fillRef idx="0"/>
          <a:effectRef idx="0"/>
          <a:fontRef idx="minor"/>
        </p:style>
      </p:sp>
      <p:sp>
        <p:nvSpPr>
          <p:cNvPr id="573" name="Text 46"/>
          <p:cNvSpPr/>
          <p:nvPr/>
        </p:nvSpPr>
        <p:spPr>
          <a:xfrm>
            <a:off x="5578560" y="2833560"/>
            <a:ext cx="2760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Artistic Expression</a:t>
            </a:r>
            <a:endParaRPr b="0" lang="en-HK" sz="1130" spc="-1" strike="noStrike">
              <a:latin typeface="Arial"/>
            </a:endParaRPr>
          </a:p>
        </p:txBody>
      </p:sp>
      <p:sp>
        <p:nvSpPr>
          <p:cNvPr id="574" name="Text 47"/>
          <p:cNvSpPr/>
          <p:nvPr/>
        </p:nvSpPr>
        <p:spPr>
          <a:xfrm>
            <a:off x="5396040" y="3119400"/>
            <a:ext cx="293472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Visual and theatrical elements in performances, fashion, and makeup</a:t>
            </a:r>
            <a:endParaRPr b="0" lang="en-HK" sz="1000" spc="-1" strike="noStrike">
              <a:latin typeface="Arial"/>
            </a:endParaRPr>
          </a:p>
        </p:txBody>
      </p:sp>
      <p:sp>
        <p:nvSpPr>
          <p:cNvPr id="575" name="Shape 48"/>
          <p:cNvSpPr/>
          <p:nvPr/>
        </p:nvSpPr>
        <p:spPr>
          <a:xfrm>
            <a:off x="8532000" y="2702880"/>
            <a:ext cx="3133080" cy="926640"/>
          </a:xfrm>
          <a:custGeom>
            <a:avLst/>
            <a:gdLst/>
            <a:ahLst/>
            <a:rect l="l" t="t" r="r" b="b"/>
            <a:pathLst>
              <a:path w="3135313" h="928688">
                <a:moveTo>
                  <a:pt x="0" y="0"/>
                </a:moveTo>
                <a:lnTo>
                  <a:pt x="3135313" y="0"/>
                </a:lnTo>
                <a:lnTo>
                  <a:pt x="3135313"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76" name="Shape 49"/>
          <p:cNvSpPr/>
          <p:nvPr/>
        </p:nvSpPr>
        <p:spPr>
          <a:xfrm>
            <a:off x="8673840" y="2873520"/>
            <a:ext cx="158400" cy="140760"/>
          </a:xfrm>
          <a:custGeom>
            <a:avLst/>
            <a:gdLst/>
            <a:ah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w="0">
            <a:noFill/>
          </a:ln>
        </p:spPr>
        <p:style>
          <a:lnRef idx="0"/>
          <a:fillRef idx="0"/>
          <a:effectRef idx="0"/>
          <a:fontRef idx="minor"/>
        </p:style>
      </p:sp>
      <p:sp>
        <p:nvSpPr>
          <p:cNvPr id="577" name="Text 50"/>
          <p:cNvSpPr/>
          <p:nvPr/>
        </p:nvSpPr>
        <p:spPr>
          <a:xfrm>
            <a:off x="8845560" y="2833560"/>
            <a:ext cx="2760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Music Videos</a:t>
            </a:r>
            <a:endParaRPr b="0" lang="en-HK" sz="1130" spc="-1" strike="noStrike">
              <a:latin typeface="Arial"/>
            </a:endParaRPr>
          </a:p>
        </p:txBody>
      </p:sp>
      <p:sp>
        <p:nvSpPr>
          <p:cNvPr id="578" name="Text 51"/>
          <p:cNvSpPr/>
          <p:nvPr/>
        </p:nvSpPr>
        <p:spPr>
          <a:xfrm>
            <a:off x="8663040" y="3119400"/>
            <a:ext cx="293472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MTV's rise in the early 1980s played a significant role in New Wave's popularity</a:t>
            </a:r>
            <a:endParaRPr b="0" lang="en-HK" sz="1000" spc="-1" strike="noStrike">
              <a:latin typeface="Arial"/>
            </a:endParaRPr>
          </a:p>
        </p:txBody>
      </p:sp>
      <p:sp>
        <p:nvSpPr>
          <p:cNvPr id="579" name="Shape 52"/>
          <p:cNvSpPr/>
          <p:nvPr/>
        </p:nvSpPr>
        <p:spPr>
          <a:xfrm>
            <a:off x="5054400" y="3968640"/>
            <a:ext cx="6816240" cy="1760040"/>
          </a:xfrm>
          <a:custGeom>
            <a:avLst/>
            <a:gdLst/>
            <a:ahLst/>
            <a:rect l="l" t="t" r="r" b="b"/>
            <a:pathLst>
              <a:path w="6818313" h="1762125">
                <a:moveTo>
                  <a:pt x="0" y="0"/>
                </a:moveTo>
                <a:lnTo>
                  <a:pt x="6818313" y="0"/>
                </a:lnTo>
                <a:lnTo>
                  <a:pt x="6818313" y="1762125"/>
                </a:lnTo>
                <a:lnTo>
                  <a:pt x="0" y="1762125"/>
                </a:lnTo>
                <a:lnTo>
                  <a:pt x="0" y="0"/>
                </a:lnTo>
                <a:close/>
              </a:path>
            </a:pathLst>
          </a:custGeom>
          <a:solidFill>
            <a:srgbClr val="ddff00"/>
          </a:solidFill>
          <a:ln w="0">
            <a:noFill/>
          </a:ln>
        </p:spPr>
        <p:style>
          <a:lnRef idx="0"/>
          <a:fillRef idx="0"/>
          <a:effectRef idx="0"/>
          <a:fontRef idx="minor"/>
        </p:style>
      </p:sp>
      <p:sp>
        <p:nvSpPr>
          <p:cNvPr id="580" name="Text 53"/>
          <p:cNvSpPr/>
          <p:nvPr/>
        </p:nvSpPr>
        <p:spPr>
          <a:xfrm>
            <a:off x="5213160" y="4127400"/>
            <a:ext cx="657792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MTV &amp; The Visual Revolution</a:t>
            </a:r>
            <a:endParaRPr b="0" lang="en-HK" sz="1250" spc="-1" strike="noStrike">
              <a:latin typeface="Arial"/>
            </a:endParaRPr>
          </a:p>
        </p:txBody>
      </p:sp>
      <p:sp>
        <p:nvSpPr>
          <p:cNvPr id="581" name="Text 54"/>
          <p:cNvSpPr/>
          <p:nvPr/>
        </p:nvSpPr>
        <p:spPr>
          <a:xfrm>
            <a:off x="5213160" y="4444920"/>
            <a:ext cx="656208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launch of MTV in 1981 transformed New Wave into a dominant cultural force.</a:t>
            </a:r>
            <a:r>
              <a:rPr b="0" lang="en-US" sz="1000" spc="-1" strike="noStrike">
                <a:solidFill>
                  <a:srgbClr val="000000"/>
                </a:solidFill>
                <a:latin typeface="Liter"/>
                <a:ea typeface="Liter"/>
              </a:rPr>
              <a:t> Artists used music videos to express creativity, tell stories, and connect with fans visually. Bands like Duran Duran, The Cars, and A-ha became video stars.</a:t>
            </a:r>
            <a:endParaRPr b="0" lang="en-HK" sz="1000" spc="-1" strike="noStrike">
              <a:latin typeface="Arial"/>
            </a:endParaRPr>
          </a:p>
        </p:txBody>
      </p:sp>
      <p:sp>
        <p:nvSpPr>
          <p:cNvPr id="582" name="Text 55"/>
          <p:cNvSpPr/>
          <p:nvPr/>
        </p:nvSpPr>
        <p:spPr>
          <a:xfrm>
            <a:off x="5213160" y="5159520"/>
            <a:ext cx="6562080" cy="410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New Wave's bold, colorful, and often eccentric styles became a defining part of 1980s pop culture, influencing fashion, art, and film far beyond music.</a:t>
            </a:r>
            <a:endParaRPr b="0" lang="en-HK" sz="1000" spc="-1" strike="noStrike">
              <a:latin typeface="Arial"/>
            </a:endParaRPr>
          </a:p>
        </p:txBody>
      </p:sp>
      <p:sp>
        <p:nvSpPr>
          <p:cNvPr id="583" name="Shape 56"/>
          <p:cNvSpPr/>
          <p:nvPr/>
        </p:nvSpPr>
        <p:spPr>
          <a:xfrm>
            <a:off x="5058720" y="586188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4" name="Text 57"/>
          <p:cNvSpPr/>
          <p:nvPr/>
        </p:nvSpPr>
        <p:spPr>
          <a:xfrm>
            <a:off x="5110200" y="596124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1981</a:t>
            </a:r>
            <a:endParaRPr b="0" lang="en-HK" sz="1500" spc="-1" strike="noStrike">
              <a:latin typeface="Arial"/>
            </a:endParaRPr>
          </a:p>
        </p:txBody>
      </p:sp>
      <p:sp>
        <p:nvSpPr>
          <p:cNvPr id="585" name="Text 58"/>
          <p:cNvSpPr/>
          <p:nvPr/>
        </p:nvSpPr>
        <p:spPr>
          <a:xfrm>
            <a:off x="5130000" y="624672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MTV launches</a:t>
            </a:r>
            <a:endParaRPr b="0" lang="en-HK" sz="880" spc="-1" strike="noStrike">
              <a:latin typeface="Arial"/>
            </a:endParaRPr>
          </a:p>
        </p:txBody>
      </p:sp>
      <p:sp>
        <p:nvSpPr>
          <p:cNvPr id="586" name="Shape 59"/>
          <p:cNvSpPr/>
          <p:nvPr/>
        </p:nvSpPr>
        <p:spPr>
          <a:xfrm>
            <a:off x="7363440" y="586188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87" name="Text 60"/>
          <p:cNvSpPr/>
          <p:nvPr/>
        </p:nvSpPr>
        <p:spPr>
          <a:xfrm>
            <a:off x="7415280" y="596124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18</a:t>
            </a:r>
            <a:endParaRPr b="0" lang="en-HK" sz="1500" spc="-1" strike="noStrike">
              <a:latin typeface="Arial"/>
            </a:endParaRPr>
          </a:p>
        </p:txBody>
      </p:sp>
      <p:sp>
        <p:nvSpPr>
          <p:cNvPr id="588" name="Text 61"/>
          <p:cNvSpPr/>
          <p:nvPr/>
        </p:nvSpPr>
        <p:spPr>
          <a:xfrm>
            <a:off x="7435080" y="624672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hits in Top 40 (1983)</a:t>
            </a:r>
            <a:endParaRPr b="0" lang="en-HK" sz="880" spc="-1" strike="noStrike">
              <a:latin typeface="Arial"/>
            </a:endParaRPr>
          </a:p>
        </p:txBody>
      </p:sp>
      <p:sp>
        <p:nvSpPr>
          <p:cNvPr id="589" name="Shape 62"/>
          <p:cNvSpPr/>
          <p:nvPr/>
        </p:nvSpPr>
        <p:spPr>
          <a:xfrm>
            <a:off x="9668520" y="586188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590" name="Text 63"/>
          <p:cNvSpPr/>
          <p:nvPr/>
        </p:nvSpPr>
        <p:spPr>
          <a:xfrm>
            <a:off x="9720360" y="596124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2nd</a:t>
            </a:r>
            <a:endParaRPr b="0" lang="en-HK" sz="1500" spc="-1" strike="noStrike">
              <a:latin typeface="Arial"/>
            </a:endParaRPr>
          </a:p>
        </p:txBody>
      </p:sp>
      <p:sp>
        <p:nvSpPr>
          <p:cNvPr id="591" name="Text 64"/>
          <p:cNvSpPr/>
          <p:nvPr/>
        </p:nvSpPr>
        <p:spPr>
          <a:xfrm>
            <a:off x="9740160" y="624672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British Invasion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592" name="Image 0"/>
          <p:cNvSpPr/>
          <p:nvPr/>
        </p:nvSpPr>
        <p:spPr>
          <a:xfrm>
            <a:off x="0" y="0"/>
            <a:ext cx="12189960" cy="6855840"/>
          </a:xfrm>
          <a:prstGeom prst="roundRect">
            <a:avLst>
              <a:gd name="adj" fmla="val 0"/>
            </a:avLst>
          </a:prstGeom>
          <a:solidFill>
            <a:srgbClr val="729fcf"/>
          </a:solidFill>
          <a:ln w="0">
            <a:noFill/>
          </a:ln>
        </p:spPr>
        <p:style>
          <a:lnRef idx="0"/>
          <a:fillRef idx="0"/>
          <a:effectRef idx="0"/>
          <a:fontRef idx="minor"/>
        </p:style>
      </p:sp>
      <p:sp>
        <p:nvSpPr>
          <p:cNvPr id="593"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594"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595"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596" name="Text 3"/>
          <p:cNvSpPr/>
          <p:nvPr/>
        </p:nvSpPr>
        <p:spPr>
          <a:xfrm>
            <a:off x="566640" y="1638360"/>
            <a:ext cx="118836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06</a:t>
            </a:r>
            <a:endParaRPr b="0" lang="en-HK" sz="5400" spc="-1" strike="noStrike">
              <a:latin typeface="Arial"/>
            </a:endParaRPr>
          </a:p>
        </p:txBody>
      </p:sp>
      <p:sp>
        <p:nvSpPr>
          <p:cNvPr id="597" name="Shape 4"/>
          <p:cNvSpPr/>
          <p:nvPr/>
        </p:nvSpPr>
        <p:spPr>
          <a:xfrm>
            <a:off x="1828800" y="1752480"/>
            <a:ext cx="3922200" cy="36000"/>
          </a:xfrm>
          <a:custGeom>
            <a:avLst/>
            <a:gdLst/>
            <a:ahLst/>
            <a:rect l="l" t="t" r="r" b="b"/>
            <a:pathLst>
              <a:path w="3924300" h="38100">
                <a:moveTo>
                  <a:pt x="0" y="0"/>
                </a:moveTo>
                <a:lnTo>
                  <a:pt x="3924300" y="0"/>
                </a:lnTo>
                <a:lnTo>
                  <a:pt x="3924300" y="38100"/>
                </a:lnTo>
                <a:lnTo>
                  <a:pt x="0" y="38100"/>
                </a:lnTo>
                <a:lnTo>
                  <a:pt x="0" y="0"/>
                </a:lnTo>
                <a:close/>
              </a:path>
            </a:pathLst>
          </a:custGeom>
          <a:solidFill>
            <a:srgbClr val="ddff00"/>
          </a:solidFill>
          <a:ln w="0">
            <a:noFill/>
          </a:ln>
        </p:spPr>
        <p:style>
          <a:lnRef idx="0"/>
          <a:fillRef idx="0"/>
          <a:effectRef idx="0"/>
          <a:fontRef idx="minor"/>
        </p:style>
      </p:sp>
      <p:sp>
        <p:nvSpPr>
          <p:cNvPr id="598" name="Text 5"/>
          <p:cNvSpPr/>
          <p:nvPr/>
        </p:nvSpPr>
        <p:spPr>
          <a:xfrm>
            <a:off x="1828800" y="1943280"/>
            <a:ext cx="40078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SIX</a:t>
            </a:r>
            <a:endParaRPr b="0" lang="en-HK" sz="1350" spc="-1" strike="noStrike">
              <a:latin typeface="Arial"/>
            </a:endParaRPr>
          </a:p>
        </p:txBody>
      </p:sp>
      <p:sp>
        <p:nvSpPr>
          <p:cNvPr id="599" name="Text 6"/>
          <p:cNvSpPr/>
          <p:nvPr/>
        </p:nvSpPr>
        <p:spPr>
          <a:xfrm>
            <a:off x="380880" y="2895480"/>
            <a:ext cx="571284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ALTERNATIVE</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ROCK &amp; GRUNGE</a:t>
            </a:r>
            <a:endParaRPr b="0" lang="en-HK" sz="5400" spc="-1" strike="noStrike">
              <a:latin typeface="Arial"/>
            </a:endParaRPr>
          </a:p>
        </p:txBody>
      </p:sp>
      <p:sp>
        <p:nvSpPr>
          <p:cNvPr id="600" name="Text 7"/>
          <p:cNvSpPr/>
          <p:nvPr/>
        </p:nvSpPr>
        <p:spPr>
          <a:xfrm>
            <a:off x="380880" y="4838760"/>
            <a:ext cx="54842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1990s: The Seattle Sound Goes Global</a:t>
            </a:r>
            <a:endParaRPr b="0" lang="en-HK" sz="1800" spc="-1" strike="noStrike">
              <a:latin typeface="Arial"/>
            </a:endParaRPr>
          </a:p>
        </p:txBody>
      </p:sp>
      <p:sp>
        <p:nvSpPr>
          <p:cNvPr id="601"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602"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603"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04" name="Shape 0"/>
          <p:cNvSpPr/>
          <p:nvPr/>
        </p:nvSpPr>
        <p:spPr>
          <a:xfrm>
            <a:off x="324360" y="372960"/>
            <a:ext cx="62640" cy="387000"/>
          </a:xfrm>
          <a:custGeom>
            <a:avLst/>
            <a:gdLst/>
            <a:ahLst/>
            <a:rect l="l" t="t" r="r" b="b"/>
            <a:pathLst>
              <a:path w="64851" h="389106">
                <a:moveTo>
                  <a:pt x="0" y="0"/>
                </a:moveTo>
                <a:lnTo>
                  <a:pt x="64851" y="0"/>
                </a:lnTo>
                <a:lnTo>
                  <a:pt x="64851" y="389106"/>
                </a:lnTo>
                <a:lnTo>
                  <a:pt x="0" y="389106"/>
                </a:lnTo>
                <a:lnTo>
                  <a:pt x="0" y="0"/>
                </a:lnTo>
                <a:close/>
              </a:path>
            </a:pathLst>
          </a:custGeom>
          <a:solidFill>
            <a:srgbClr val="ddff00"/>
          </a:solidFill>
          <a:ln w="0">
            <a:noFill/>
          </a:ln>
        </p:spPr>
        <p:style>
          <a:lnRef idx="0"/>
          <a:fillRef idx="0"/>
          <a:effectRef idx="0"/>
          <a:fontRef idx="minor"/>
        </p:style>
      </p:sp>
      <p:sp>
        <p:nvSpPr>
          <p:cNvPr id="605" name="Text 1"/>
          <p:cNvSpPr/>
          <p:nvPr/>
        </p:nvSpPr>
        <p:spPr>
          <a:xfrm>
            <a:off x="518760" y="324360"/>
            <a:ext cx="495072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72" strike="noStrike">
                <a:solidFill>
                  <a:srgbClr val="ddff00"/>
                </a:solidFill>
                <a:latin typeface="Liter"/>
                <a:ea typeface="Liter"/>
              </a:rPr>
              <a:t>CHAPTER 06</a:t>
            </a:r>
            <a:endParaRPr b="0" lang="en-HK" sz="900" spc="-1" strike="noStrike">
              <a:latin typeface="Arial"/>
            </a:endParaRPr>
          </a:p>
        </p:txBody>
      </p:sp>
      <p:sp>
        <p:nvSpPr>
          <p:cNvPr id="606" name="Text 2"/>
          <p:cNvSpPr/>
          <p:nvPr/>
        </p:nvSpPr>
        <p:spPr>
          <a:xfrm>
            <a:off x="518760" y="486360"/>
            <a:ext cx="5040000" cy="3222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00" spc="-1" strike="noStrike">
                <a:solidFill>
                  <a:srgbClr val="ffffff"/>
                </a:solidFill>
                <a:latin typeface="Liter"/>
                <a:ea typeface="Liter"/>
              </a:rPr>
              <a:t>Grunge: Raw, Authentic, Revolutionary</a:t>
            </a:r>
            <a:endParaRPr b="0" lang="en-HK" sz="2300" spc="-1" strike="noStrike">
              <a:latin typeface="Arial"/>
            </a:endParaRPr>
          </a:p>
        </p:txBody>
      </p:sp>
      <p:sp>
        <p:nvSpPr>
          <p:cNvPr id="607" name="Shape 3"/>
          <p:cNvSpPr/>
          <p:nvPr/>
        </p:nvSpPr>
        <p:spPr>
          <a:xfrm>
            <a:off x="324360" y="1069920"/>
            <a:ext cx="6807240" cy="1894680"/>
          </a:xfrm>
          <a:custGeom>
            <a:avLst/>
            <a:gdLst/>
            <a:ahLst/>
            <a:rect l="l" t="t" r="r" b="b"/>
            <a:pathLst>
              <a:path w="6809362" h="1896894">
                <a:moveTo>
                  <a:pt x="0" y="0"/>
                </a:moveTo>
                <a:lnTo>
                  <a:pt x="6809362" y="0"/>
                </a:lnTo>
                <a:lnTo>
                  <a:pt x="6809362" y="1896894"/>
                </a:lnTo>
                <a:lnTo>
                  <a:pt x="0" y="1896894"/>
                </a:lnTo>
                <a:lnTo>
                  <a:pt x="0" y="0"/>
                </a:lnTo>
                <a:close/>
              </a:path>
            </a:pathLst>
          </a:custGeom>
          <a:solidFill>
            <a:srgbClr val="ddff00"/>
          </a:solidFill>
          <a:ln w="0">
            <a:noFill/>
          </a:ln>
        </p:spPr>
        <p:style>
          <a:lnRef idx="0"/>
          <a:fillRef idx="0"/>
          <a:effectRef idx="0"/>
          <a:fontRef idx="minor"/>
        </p:style>
      </p:sp>
      <p:sp>
        <p:nvSpPr>
          <p:cNvPr id="608" name="Text 4"/>
          <p:cNvSpPr/>
          <p:nvPr/>
        </p:nvSpPr>
        <p:spPr>
          <a:xfrm>
            <a:off x="518760" y="1264680"/>
            <a:ext cx="6515280" cy="257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30" spc="-1" strike="noStrike">
                <a:solidFill>
                  <a:srgbClr val="000000"/>
                </a:solidFill>
                <a:latin typeface="Liter"/>
                <a:ea typeface="Liter"/>
              </a:rPr>
              <a:t>The Seattle Sound Explodes</a:t>
            </a:r>
            <a:endParaRPr b="0" lang="en-HK" sz="1530" spc="-1" strike="noStrike">
              <a:latin typeface="Arial"/>
            </a:endParaRPr>
          </a:p>
        </p:txBody>
      </p:sp>
      <p:sp>
        <p:nvSpPr>
          <p:cNvPr id="609" name="Text 5"/>
          <p:cNvSpPr/>
          <p:nvPr/>
        </p:nvSpPr>
        <p:spPr>
          <a:xfrm>
            <a:off x="518760" y="1621440"/>
            <a:ext cx="648288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000000"/>
                </a:solidFill>
                <a:latin typeface="Liter"/>
                <a:ea typeface="Liter"/>
              </a:rPr>
              <a:t>Grunge emerged from Seattle's underground scene in the late 1980s as a reaction against the excesses of 1980s hair metal.</a:t>
            </a:r>
            <a:r>
              <a:rPr b="0" lang="en-US" sz="1020" spc="-1" strike="noStrike">
                <a:solidFill>
                  <a:srgbClr val="000000"/>
                </a:solidFill>
                <a:latin typeface="Liter"/>
                <a:ea typeface="Liter"/>
              </a:rPr>
              <a:t> The gray skies of Seattle mirrored the brooding, introspective sound of this new movement—raw, unpolished, and deeply authentic.</a:t>
            </a:r>
            <a:endParaRPr b="0" lang="en-HK" sz="1020" spc="-1" strike="noStrike">
              <a:latin typeface="Arial"/>
            </a:endParaRPr>
          </a:p>
        </p:txBody>
      </p:sp>
      <p:sp>
        <p:nvSpPr>
          <p:cNvPr id="610" name="Text 6"/>
          <p:cNvSpPr/>
          <p:nvPr/>
        </p:nvSpPr>
        <p:spPr>
          <a:xfrm>
            <a:off x="518760" y="2350800"/>
            <a:ext cx="6482880" cy="419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000000">
                    <a:alpha val="80000"/>
                  </a:srgbClr>
                </a:solidFill>
                <a:latin typeface="Liter"/>
                <a:ea typeface="Liter"/>
              </a:rPr>
              <a:t>Mark Arm of Green River (later Mudhoney) is credited with first using the term "grunge" in 1981. The music combined punk's aggression with metal's heaviness, creating a sound that was both abrasive and melodic.</a:t>
            </a:r>
            <a:endParaRPr b="0" lang="en-HK" sz="1020" spc="-1" strike="noStrike">
              <a:latin typeface="Arial"/>
            </a:endParaRPr>
          </a:p>
        </p:txBody>
      </p:sp>
      <p:sp>
        <p:nvSpPr>
          <p:cNvPr id="611" name="Shape 7"/>
          <p:cNvSpPr/>
          <p:nvPr/>
        </p:nvSpPr>
        <p:spPr>
          <a:xfrm>
            <a:off x="332280" y="3104640"/>
            <a:ext cx="6791040" cy="2867400"/>
          </a:xfrm>
          <a:custGeom>
            <a:avLst/>
            <a:gdLst/>
            <a:ahLst/>
            <a:rect l="l" t="t" r="r" b="b"/>
            <a:pathLst>
              <a:path w="6793149" h="2869660">
                <a:moveTo>
                  <a:pt x="0" y="0"/>
                </a:moveTo>
                <a:lnTo>
                  <a:pt x="6793149" y="0"/>
                </a:lnTo>
                <a:lnTo>
                  <a:pt x="6793149" y="2869660"/>
                </a:lnTo>
                <a:lnTo>
                  <a:pt x="0" y="2869660"/>
                </a:lnTo>
                <a:lnTo>
                  <a:pt x="0" y="0"/>
                </a:lnTo>
                <a:close/>
              </a:path>
            </a:pathLst>
          </a:custGeom>
          <a:noFill/>
          <a:ln w="25400">
            <a:solidFill>
              <a:srgbClr val="ddff00"/>
            </a:solidFill>
            <a:round/>
          </a:ln>
        </p:spPr>
        <p:style>
          <a:lnRef idx="0"/>
          <a:fillRef idx="0"/>
          <a:effectRef idx="0"/>
          <a:fontRef idx="minor"/>
        </p:style>
      </p:sp>
      <p:sp>
        <p:nvSpPr>
          <p:cNvPr id="612" name="Text 8"/>
          <p:cNvSpPr/>
          <p:nvPr/>
        </p:nvSpPr>
        <p:spPr>
          <a:xfrm>
            <a:off x="502560" y="3274920"/>
            <a:ext cx="6531480" cy="224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ddff00"/>
                </a:solidFill>
                <a:latin typeface="Liter"/>
                <a:ea typeface="Liter"/>
              </a:rPr>
              <a:t>The Big Four of Grunge</a:t>
            </a:r>
            <a:endParaRPr b="0" lang="en-HK" sz="1280" spc="-1" strike="noStrike">
              <a:latin typeface="Arial"/>
            </a:endParaRPr>
          </a:p>
        </p:txBody>
      </p:sp>
      <p:sp>
        <p:nvSpPr>
          <p:cNvPr id="613" name="Shape 9"/>
          <p:cNvSpPr/>
          <p:nvPr/>
        </p:nvSpPr>
        <p:spPr>
          <a:xfrm>
            <a:off x="518760" y="3631680"/>
            <a:ext cx="30240" cy="8733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4" name="Text 10"/>
          <p:cNvSpPr/>
          <p:nvPr/>
        </p:nvSpPr>
        <p:spPr>
          <a:xfrm>
            <a:off x="664560" y="3631680"/>
            <a:ext cx="307008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Nirvana</a:t>
            </a:r>
            <a:endParaRPr b="0" lang="en-HK" sz="1150" spc="-1" strike="noStrike">
              <a:latin typeface="Arial"/>
            </a:endParaRPr>
          </a:p>
        </p:txBody>
      </p:sp>
      <p:sp>
        <p:nvSpPr>
          <p:cNvPr id="615" name="Text 11"/>
          <p:cNvSpPr/>
          <p:nvPr/>
        </p:nvSpPr>
        <p:spPr>
          <a:xfrm>
            <a:off x="664560" y="3923640"/>
            <a:ext cx="30621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Kurt Cobain, Krist Novoselic, Dave Grohl</a:t>
            </a:r>
            <a:endParaRPr b="0" lang="en-HK" sz="1020" spc="-1" strike="noStrike">
              <a:latin typeface="Arial"/>
            </a:endParaRPr>
          </a:p>
        </p:txBody>
      </p:sp>
      <p:sp>
        <p:nvSpPr>
          <p:cNvPr id="616" name="Text 12"/>
          <p:cNvSpPr/>
          <p:nvPr/>
        </p:nvSpPr>
        <p:spPr>
          <a:xfrm>
            <a:off x="664560" y="4182840"/>
            <a:ext cx="3053880" cy="32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"Nevermind" (1991) changed everything. "Smells Like Teen Spirit" became the anthem of Generation X.</a:t>
            </a:r>
            <a:endParaRPr b="0" lang="en-HK" sz="900" spc="-1" strike="noStrike">
              <a:latin typeface="Arial"/>
            </a:endParaRPr>
          </a:p>
        </p:txBody>
      </p:sp>
      <p:sp>
        <p:nvSpPr>
          <p:cNvPr id="617" name="Shape 13"/>
          <p:cNvSpPr/>
          <p:nvPr/>
        </p:nvSpPr>
        <p:spPr>
          <a:xfrm>
            <a:off x="3809880" y="3631680"/>
            <a:ext cx="30240" cy="8733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18" name="Text 14"/>
          <p:cNvSpPr/>
          <p:nvPr/>
        </p:nvSpPr>
        <p:spPr>
          <a:xfrm>
            <a:off x="3956040" y="3631680"/>
            <a:ext cx="307008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Pearl Jam</a:t>
            </a:r>
            <a:endParaRPr b="0" lang="en-HK" sz="1150" spc="-1" strike="noStrike">
              <a:latin typeface="Arial"/>
            </a:endParaRPr>
          </a:p>
        </p:txBody>
      </p:sp>
      <p:sp>
        <p:nvSpPr>
          <p:cNvPr id="619" name="Text 15"/>
          <p:cNvSpPr/>
          <p:nvPr/>
        </p:nvSpPr>
        <p:spPr>
          <a:xfrm>
            <a:off x="3956040" y="3923640"/>
            <a:ext cx="30621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Eddie Vedder, Mike McCready, Stone Gossard</a:t>
            </a:r>
            <a:endParaRPr b="0" lang="en-HK" sz="1020" spc="-1" strike="noStrike">
              <a:latin typeface="Arial"/>
            </a:endParaRPr>
          </a:p>
        </p:txBody>
      </p:sp>
      <p:sp>
        <p:nvSpPr>
          <p:cNvPr id="620" name="Text 16"/>
          <p:cNvSpPr/>
          <p:nvPr/>
        </p:nvSpPr>
        <p:spPr>
          <a:xfrm>
            <a:off x="3956040" y="4182840"/>
            <a:ext cx="3053880" cy="32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"Ten" (1991) showcased emotional depth and social conscience. "Jeremy," "Alive," "Black."</a:t>
            </a:r>
            <a:endParaRPr b="0" lang="en-HK" sz="900" spc="-1" strike="noStrike">
              <a:latin typeface="Arial"/>
            </a:endParaRPr>
          </a:p>
        </p:txBody>
      </p:sp>
      <p:sp>
        <p:nvSpPr>
          <p:cNvPr id="621" name="Shape 17"/>
          <p:cNvSpPr/>
          <p:nvPr/>
        </p:nvSpPr>
        <p:spPr>
          <a:xfrm>
            <a:off x="518760" y="4636800"/>
            <a:ext cx="30240" cy="8733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2" name="Text 18"/>
          <p:cNvSpPr/>
          <p:nvPr/>
        </p:nvSpPr>
        <p:spPr>
          <a:xfrm>
            <a:off x="664560" y="4636800"/>
            <a:ext cx="307008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Soundgarden</a:t>
            </a:r>
            <a:endParaRPr b="0" lang="en-HK" sz="1150" spc="-1" strike="noStrike">
              <a:latin typeface="Arial"/>
            </a:endParaRPr>
          </a:p>
        </p:txBody>
      </p:sp>
      <p:sp>
        <p:nvSpPr>
          <p:cNvPr id="623" name="Text 19"/>
          <p:cNvSpPr/>
          <p:nvPr/>
        </p:nvSpPr>
        <p:spPr>
          <a:xfrm>
            <a:off x="664560" y="4928760"/>
            <a:ext cx="30621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Chris Cornell, Kim Thayil, Ben Shepherd</a:t>
            </a:r>
            <a:endParaRPr b="0" lang="en-HK" sz="1020" spc="-1" strike="noStrike">
              <a:latin typeface="Arial"/>
            </a:endParaRPr>
          </a:p>
        </p:txBody>
      </p:sp>
      <p:sp>
        <p:nvSpPr>
          <p:cNvPr id="624" name="Text 20"/>
          <p:cNvSpPr/>
          <p:nvPr/>
        </p:nvSpPr>
        <p:spPr>
          <a:xfrm>
            <a:off x="664560" y="5187960"/>
            <a:ext cx="3053880" cy="32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"Badmotorfinger" (1991) merged metal riffs with classic rock songwriting. "Black Hole Sun."</a:t>
            </a:r>
            <a:endParaRPr b="0" lang="en-HK" sz="900" spc="-1" strike="noStrike">
              <a:latin typeface="Arial"/>
            </a:endParaRPr>
          </a:p>
        </p:txBody>
      </p:sp>
      <p:sp>
        <p:nvSpPr>
          <p:cNvPr id="625" name="Shape 21"/>
          <p:cNvSpPr/>
          <p:nvPr/>
        </p:nvSpPr>
        <p:spPr>
          <a:xfrm>
            <a:off x="3809880" y="4636800"/>
            <a:ext cx="30240" cy="873360"/>
          </a:xfrm>
          <a:custGeom>
            <a:avLst/>
            <a:gdLst/>
            <a:ahLst/>
            <a:rect l="l" t="t" r="r" b="b"/>
            <a:pathLst>
              <a:path w="32426" h="875489">
                <a:moveTo>
                  <a:pt x="0" y="0"/>
                </a:moveTo>
                <a:lnTo>
                  <a:pt x="32426" y="0"/>
                </a:lnTo>
                <a:lnTo>
                  <a:pt x="32426" y="875489"/>
                </a:lnTo>
                <a:lnTo>
                  <a:pt x="0" y="875489"/>
                </a:lnTo>
                <a:lnTo>
                  <a:pt x="0" y="0"/>
                </a:lnTo>
                <a:close/>
              </a:path>
            </a:pathLst>
          </a:custGeom>
          <a:solidFill>
            <a:srgbClr val="ddff00"/>
          </a:solidFill>
          <a:ln w="0">
            <a:noFill/>
          </a:ln>
        </p:spPr>
        <p:style>
          <a:lnRef idx="0"/>
          <a:fillRef idx="0"/>
          <a:effectRef idx="0"/>
          <a:fontRef idx="minor"/>
        </p:style>
      </p:sp>
      <p:sp>
        <p:nvSpPr>
          <p:cNvPr id="626" name="Text 22"/>
          <p:cNvSpPr/>
          <p:nvPr/>
        </p:nvSpPr>
        <p:spPr>
          <a:xfrm>
            <a:off x="3956040" y="4636800"/>
            <a:ext cx="307008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Alice in Chains</a:t>
            </a:r>
            <a:endParaRPr b="0" lang="en-HK" sz="1150" spc="-1" strike="noStrike">
              <a:latin typeface="Arial"/>
            </a:endParaRPr>
          </a:p>
        </p:txBody>
      </p:sp>
      <p:sp>
        <p:nvSpPr>
          <p:cNvPr id="627" name="Text 23"/>
          <p:cNvSpPr/>
          <p:nvPr/>
        </p:nvSpPr>
        <p:spPr>
          <a:xfrm>
            <a:off x="3956040" y="4928760"/>
            <a:ext cx="30621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ffffff">
                    <a:alpha val="70000"/>
                  </a:srgbClr>
                </a:solidFill>
                <a:latin typeface="Liter"/>
                <a:ea typeface="Liter"/>
              </a:rPr>
              <a:t>Layne Staley, Jerry Cantrell, Mike Starr</a:t>
            </a:r>
            <a:endParaRPr b="0" lang="en-HK" sz="1020" spc="-1" strike="noStrike">
              <a:latin typeface="Arial"/>
            </a:endParaRPr>
          </a:p>
        </p:txBody>
      </p:sp>
      <p:sp>
        <p:nvSpPr>
          <p:cNvPr id="628" name="Text 24"/>
          <p:cNvSpPr/>
          <p:nvPr/>
        </p:nvSpPr>
        <p:spPr>
          <a:xfrm>
            <a:off x="3956040" y="5187960"/>
            <a:ext cx="3053880" cy="322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60000"/>
                  </a:srgbClr>
                </a:solidFill>
                <a:latin typeface="Liter"/>
                <a:ea typeface="Liter"/>
              </a:rPr>
              <a:t>"Dirt" (1992) explored dark themes with haunting harmonies. "Man in the Box," "Rooster."</a:t>
            </a:r>
            <a:endParaRPr b="0" lang="en-HK" sz="900" spc="-1" strike="noStrike">
              <a:latin typeface="Arial"/>
            </a:endParaRPr>
          </a:p>
        </p:txBody>
      </p:sp>
      <p:sp>
        <p:nvSpPr>
          <p:cNvPr id="629" name="Shape 25"/>
          <p:cNvSpPr/>
          <p:nvPr/>
        </p:nvSpPr>
        <p:spPr>
          <a:xfrm>
            <a:off x="328320" y="6116400"/>
            <a:ext cx="1619280" cy="6220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0" name="Shape 26"/>
          <p:cNvSpPr/>
          <p:nvPr/>
        </p:nvSpPr>
        <p:spPr>
          <a:xfrm>
            <a:off x="1029600" y="6217560"/>
            <a:ext cx="216720" cy="192240"/>
          </a:xfrm>
          <a:custGeom>
            <a:avLst/>
            <a:gdLst/>
            <a:ah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w="0">
            <a:noFill/>
          </a:ln>
        </p:spPr>
        <p:style>
          <a:lnRef idx="0"/>
          <a:fillRef idx="0"/>
          <a:effectRef idx="0"/>
          <a:fontRef idx="minor"/>
        </p:style>
      </p:sp>
      <p:sp>
        <p:nvSpPr>
          <p:cNvPr id="631" name="Text 27"/>
          <p:cNvSpPr/>
          <p:nvPr/>
        </p:nvSpPr>
        <p:spPr>
          <a:xfrm>
            <a:off x="401400" y="6477120"/>
            <a:ext cx="1473120" cy="159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Dirty Tones</a:t>
            </a:r>
            <a:endParaRPr b="0" lang="en-HK" sz="900" spc="-1" strike="noStrike">
              <a:latin typeface="Arial"/>
            </a:endParaRPr>
          </a:p>
        </p:txBody>
      </p:sp>
      <p:sp>
        <p:nvSpPr>
          <p:cNvPr id="632" name="Shape 28"/>
          <p:cNvSpPr/>
          <p:nvPr/>
        </p:nvSpPr>
        <p:spPr>
          <a:xfrm>
            <a:off x="2054880" y="6116400"/>
            <a:ext cx="1619280" cy="6220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3" name="Shape 29"/>
          <p:cNvSpPr/>
          <p:nvPr/>
        </p:nvSpPr>
        <p:spPr>
          <a:xfrm>
            <a:off x="2768400" y="6217560"/>
            <a:ext cx="192240" cy="192240"/>
          </a:xfrm>
          <a:custGeom>
            <a:avLst/>
            <a:gdLst/>
            <a:ah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w="0">
            <a:noFill/>
          </a:ln>
        </p:spPr>
        <p:style>
          <a:lnRef idx="0"/>
          <a:fillRef idx="0"/>
          <a:effectRef idx="0"/>
          <a:fontRef idx="minor"/>
        </p:style>
      </p:sp>
      <p:sp>
        <p:nvSpPr>
          <p:cNvPr id="634" name="Text 30"/>
          <p:cNvSpPr/>
          <p:nvPr/>
        </p:nvSpPr>
        <p:spPr>
          <a:xfrm>
            <a:off x="2127960" y="6477120"/>
            <a:ext cx="1473120" cy="159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Alienation</a:t>
            </a:r>
            <a:endParaRPr b="0" lang="en-HK" sz="900" spc="-1" strike="noStrike">
              <a:latin typeface="Arial"/>
            </a:endParaRPr>
          </a:p>
        </p:txBody>
      </p:sp>
      <p:sp>
        <p:nvSpPr>
          <p:cNvPr id="635" name="Shape 31"/>
          <p:cNvSpPr/>
          <p:nvPr/>
        </p:nvSpPr>
        <p:spPr>
          <a:xfrm>
            <a:off x="3781800" y="6116400"/>
            <a:ext cx="1619280" cy="6220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6" name="Shape 32"/>
          <p:cNvSpPr/>
          <p:nvPr/>
        </p:nvSpPr>
        <p:spPr>
          <a:xfrm>
            <a:off x="4470840" y="6217560"/>
            <a:ext cx="241200" cy="192240"/>
          </a:xfrm>
          <a:custGeom>
            <a:avLst/>
            <a:gdLst/>
            <a:ah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w="0">
            <a:noFill/>
          </a:ln>
        </p:spPr>
        <p:style>
          <a:lnRef idx="0"/>
          <a:fillRef idx="0"/>
          <a:effectRef idx="0"/>
          <a:fontRef idx="minor"/>
        </p:style>
      </p:sp>
      <p:sp>
        <p:nvSpPr>
          <p:cNvPr id="637" name="Text 33"/>
          <p:cNvSpPr/>
          <p:nvPr/>
        </p:nvSpPr>
        <p:spPr>
          <a:xfrm>
            <a:off x="3854520" y="6477120"/>
            <a:ext cx="1473120" cy="159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Flannel Fashion</a:t>
            </a:r>
            <a:endParaRPr b="0" lang="en-HK" sz="900" spc="-1" strike="noStrike">
              <a:latin typeface="Arial"/>
            </a:endParaRPr>
          </a:p>
        </p:txBody>
      </p:sp>
      <p:sp>
        <p:nvSpPr>
          <p:cNvPr id="638" name="Shape 34"/>
          <p:cNvSpPr/>
          <p:nvPr/>
        </p:nvSpPr>
        <p:spPr>
          <a:xfrm>
            <a:off x="5508360" y="6116400"/>
            <a:ext cx="1619280" cy="622080"/>
          </a:xfrm>
          <a:custGeom>
            <a:avLst/>
            <a:gdLst/>
            <a:ahLst/>
            <a:rect l="l" t="t" r="r" b="b"/>
            <a:pathLst>
              <a:path w="1621277" h="624191">
                <a:moveTo>
                  <a:pt x="0" y="0"/>
                </a:moveTo>
                <a:lnTo>
                  <a:pt x="1621277" y="0"/>
                </a:lnTo>
                <a:lnTo>
                  <a:pt x="1621277" y="624191"/>
                </a:lnTo>
                <a:lnTo>
                  <a:pt x="0" y="624191"/>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39" name="Shape 35"/>
          <p:cNvSpPr/>
          <p:nvPr/>
        </p:nvSpPr>
        <p:spPr>
          <a:xfrm>
            <a:off x="6246000" y="6217560"/>
            <a:ext cx="143640" cy="192240"/>
          </a:xfrm>
          <a:custGeom>
            <a:avLst/>
            <a:gdLst/>
            <a:ah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w="0">
            <a:noFill/>
          </a:ln>
        </p:spPr>
        <p:style>
          <a:lnRef idx="0"/>
          <a:fillRef idx="0"/>
          <a:effectRef idx="0"/>
          <a:fontRef idx="minor"/>
        </p:style>
      </p:sp>
      <p:sp>
        <p:nvSpPr>
          <p:cNvPr id="640" name="Text 36"/>
          <p:cNvSpPr/>
          <p:nvPr/>
        </p:nvSpPr>
        <p:spPr>
          <a:xfrm>
            <a:off x="5581080" y="6477120"/>
            <a:ext cx="1473120" cy="159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Authenticity</a:t>
            </a:r>
            <a:endParaRPr b="0" lang="en-HK" sz="900" spc="-1" strike="noStrike">
              <a:latin typeface="Arial"/>
            </a:endParaRPr>
          </a:p>
        </p:txBody>
      </p:sp>
      <p:sp>
        <p:nvSpPr>
          <p:cNvPr id="641" name="Image 0"/>
          <p:cNvSpPr/>
          <p:nvPr/>
        </p:nvSpPr>
        <p:spPr>
          <a:xfrm>
            <a:off x="7328160" y="1069920"/>
            <a:ext cx="4537440" cy="2721600"/>
          </a:xfrm>
          <a:prstGeom prst="roundRect">
            <a:avLst>
              <a:gd name="adj" fmla="val 0"/>
            </a:avLst>
          </a:prstGeom>
          <a:blipFill rotWithShape="0">
            <a:blip r:embed="rId1"/>
            <a:srcRect/>
            <a:stretch/>
          </a:blipFill>
          <a:ln w="0">
            <a:noFill/>
          </a:ln>
        </p:spPr>
        <p:style>
          <a:lnRef idx="0"/>
          <a:fillRef idx="0"/>
          <a:effectRef idx="0"/>
          <a:fontRef idx="minor"/>
        </p:style>
      </p:sp>
      <p:sp>
        <p:nvSpPr>
          <p:cNvPr id="642" name="Shape 37"/>
          <p:cNvSpPr/>
          <p:nvPr/>
        </p:nvSpPr>
        <p:spPr>
          <a:xfrm>
            <a:off x="7328160" y="1069920"/>
            <a:ext cx="4537440" cy="2721600"/>
          </a:xfrm>
          <a:custGeom>
            <a:avLst/>
            <a:gdLst/>
            <a:ahLst/>
            <a:rect l="l" t="t" r="r" b="b"/>
            <a:pathLst>
              <a:path w="4539574" h="2723745">
                <a:moveTo>
                  <a:pt x="0" y="0"/>
                </a:moveTo>
                <a:lnTo>
                  <a:pt x="4539574" y="0"/>
                </a:lnTo>
                <a:lnTo>
                  <a:pt x="4539574" y="2723745"/>
                </a:lnTo>
                <a:lnTo>
                  <a:pt x="0" y="2723745"/>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643" name="Text 38"/>
          <p:cNvSpPr/>
          <p:nvPr/>
        </p:nvSpPr>
        <p:spPr>
          <a:xfrm>
            <a:off x="7457760" y="3242520"/>
            <a:ext cx="433476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NIRVANA</a:t>
            </a:r>
            <a:endParaRPr b="0" lang="en-HK" sz="900" spc="-1" strike="noStrike">
              <a:latin typeface="Arial"/>
            </a:endParaRPr>
          </a:p>
        </p:txBody>
      </p:sp>
      <p:sp>
        <p:nvSpPr>
          <p:cNvPr id="644" name="Text 39"/>
          <p:cNvSpPr/>
          <p:nvPr/>
        </p:nvSpPr>
        <p:spPr>
          <a:xfrm>
            <a:off x="7457760" y="3437280"/>
            <a:ext cx="435096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Liter"/>
                <a:ea typeface="Liter"/>
              </a:rPr>
              <a:t>The Voice of a Generation</a:t>
            </a:r>
            <a:endParaRPr b="0" lang="en-HK" sz="1150" spc="-1" strike="noStrike">
              <a:latin typeface="Arial"/>
            </a:endParaRPr>
          </a:p>
        </p:txBody>
      </p:sp>
      <p:sp>
        <p:nvSpPr>
          <p:cNvPr id="645" name="Shape 40"/>
          <p:cNvSpPr/>
          <p:nvPr/>
        </p:nvSpPr>
        <p:spPr>
          <a:xfrm>
            <a:off x="7336440" y="3931560"/>
            <a:ext cx="4521240" cy="2024280"/>
          </a:xfrm>
          <a:custGeom>
            <a:avLst/>
            <a:gdLst/>
            <a:ahLst/>
            <a:rect l="l" t="t" r="r" b="b"/>
            <a:pathLst>
              <a:path w="4523362" h="2026596">
                <a:moveTo>
                  <a:pt x="0" y="0"/>
                </a:moveTo>
                <a:lnTo>
                  <a:pt x="4523362" y="0"/>
                </a:lnTo>
                <a:lnTo>
                  <a:pt x="4523362" y="2026596"/>
                </a:lnTo>
                <a:lnTo>
                  <a:pt x="0" y="2026596"/>
                </a:lnTo>
                <a:lnTo>
                  <a:pt x="0" y="0"/>
                </a:lnTo>
                <a:close/>
              </a:path>
            </a:pathLst>
          </a:custGeom>
          <a:noFill/>
          <a:ln w="25400">
            <a:solidFill>
              <a:srgbClr val="ddff00"/>
            </a:solidFill>
            <a:round/>
          </a:ln>
        </p:spPr>
        <p:style>
          <a:lnRef idx="0"/>
          <a:fillRef idx="0"/>
          <a:effectRef idx="0"/>
          <a:fontRef idx="minor"/>
        </p:style>
      </p:sp>
      <p:sp>
        <p:nvSpPr>
          <p:cNvPr id="646" name="Text 41"/>
          <p:cNvSpPr/>
          <p:nvPr/>
        </p:nvSpPr>
        <p:spPr>
          <a:xfrm>
            <a:off x="7506360" y="4101840"/>
            <a:ext cx="4253760" cy="224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ddff00"/>
                </a:solidFill>
                <a:latin typeface="Liter"/>
                <a:ea typeface="Liter"/>
              </a:rPr>
              <a:t>The Nevermind Revolution</a:t>
            </a:r>
            <a:endParaRPr b="0" lang="en-HK" sz="1150" spc="-1" strike="noStrike">
              <a:latin typeface="Arial"/>
            </a:endParaRPr>
          </a:p>
        </p:txBody>
      </p:sp>
      <p:sp>
        <p:nvSpPr>
          <p:cNvPr id="647" name="Text 42"/>
          <p:cNvSpPr/>
          <p:nvPr/>
        </p:nvSpPr>
        <p:spPr>
          <a:xfrm>
            <a:off x="7506360" y="4426200"/>
            <a:ext cx="424548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20" spc="-1" strike="noStrike">
                <a:solidFill>
                  <a:srgbClr val="ffffff"/>
                </a:solidFill>
                <a:latin typeface="Liter"/>
                <a:ea typeface="Liter"/>
              </a:rPr>
              <a:t>September 24, 1991:</a:t>
            </a:r>
            <a:r>
              <a:rPr b="0" lang="en-US" sz="1020" spc="-1" strike="noStrike">
                <a:solidFill>
                  <a:srgbClr val="ffffff"/>
                </a:solidFill>
                <a:latin typeface="Liter"/>
                <a:ea typeface="Liter"/>
              </a:rPr>
              <a:t> Nirvana releases "Nevermind." The album's unexpected success brought grunge—and alternative rock—into the mainstream overnight.</a:t>
            </a:r>
            <a:endParaRPr b="0" lang="en-HK" sz="1020" spc="-1" strike="noStrike">
              <a:latin typeface="Arial"/>
            </a:endParaRPr>
          </a:p>
        </p:txBody>
      </p:sp>
      <p:sp>
        <p:nvSpPr>
          <p:cNvPr id="648" name="Text 43"/>
          <p:cNvSpPr/>
          <p:nvPr/>
        </p:nvSpPr>
        <p:spPr>
          <a:xfrm>
            <a:off x="7506360" y="5155560"/>
            <a:ext cx="424548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alpha val="80000"/>
                  </a:srgbClr>
                </a:solidFill>
                <a:latin typeface="Liter"/>
                <a:ea typeface="Liter"/>
              </a:rPr>
              <a:t>"Smells Like Teen Spirit" became an anthem for disaffected youth worldwide. The music industry was transformed, with major labels scrambling to sign Seattle bands.</a:t>
            </a:r>
            <a:endParaRPr b="0" lang="en-HK" sz="1020" spc="-1" strike="noStrike">
              <a:latin typeface="Arial"/>
            </a:endParaRPr>
          </a:p>
        </p:txBody>
      </p:sp>
      <p:sp>
        <p:nvSpPr>
          <p:cNvPr id="649" name="Shape 44"/>
          <p:cNvSpPr/>
          <p:nvPr/>
        </p:nvSpPr>
        <p:spPr>
          <a:xfrm>
            <a:off x="7328160" y="6095880"/>
            <a:ext cx="4537440" cy="646200"/>
          </a:xfrm>
          <a:custGeom>
            <a:avLst/>
            <a:gdLst/>
            <a:ahLst/>
            <a:rect l="l" t="t" r="r" b="b"/>
            <a:pathLst>
              <a:path w="4539574" h="648511">
                <a:moveTo>
                  <a:pt x="0" y="0"/>
                </a:moveTo>
                <a:lnTo>
                  <a:pt x="4539574" y="0"/>
                </a:lnTo>
                <a:lnTo>
                  <a:pt x="4539574" y="648511"/>
                </a:lnTo>
                <a:lnTo>
                  <a:pt x="0" y="648511"/>
                </a:lnTo>
                <a:lnTo>
                  <a:pt x="0" y="0"/>
                </a:lnTo>
                <a:close/>
              </a:path>
            </a:pathLst>
          </a:custGeom>
          <a:solidFill>
            <a:srgbClr val="ddff00"/>
          </a:solidFill>
          <a:ln w="0">
            <a:noFill/>
          </a:ln>
        </p:spPr>
        <p:style>
          <a:lnRef idx="0"/>
          <a:fillRef idx="0"/>
          <a:effectRef idx="0"/>
          <a:fontRef idx="minor"/>
        </p:style>
      </p:sp>
      <p:sp>
        <p:nvSpPr>
          <p:cNvPr id="650" name="Text 45"/>
          <p:cNvSpPr/>
          <p:nvPr/>
        </p:nvSpPr>
        <p:spPr>
          <a:xfrm>
            <a:off x="7425360" y="6225840"/>
            <a:ext cx="4343040" cy="387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20" spc="-1" strike="noStrike">
                <a:solidFill>
                  <a:srgbClr val="000000"/>
                </a:solidFill>
                <a:latin typeface="Liter"/>
                <a:ea typeface="Liter"/>
              </a:rPr>
              <a:t>"Here we are now, entertain us."</a:t>
            </a:r>
            <a:endParaRPr b="0" lang="en-HK" sz="1020" spc="-1" strike="noStrike">
              <a:latin typeface="Arial"/>
            </a:endParaRPr>
          </a:p>
          <a:p>
            <a:pPr algn="ctr">
              <a:lnSpc>
                <a:spcPct val="130000"/>
              </a:lnSpc>
              <a:buNone/>
            </a:pPr>
            <a:r>
              <a:rPr b="0" lang="en-US" sz="900" spc="-1" strike="noStrike">
                <a:solidFill>
                  <a:srgbClr val="000000"/>
                </a:solidFill>
                <a:latin typeface="Liter"/>
                <a:ea typeface="Liter"/>
              </a:rPr>
              <a:t>— </a:t>
            </a:r>
            <a:r>
              <a:rPr b="0" lang="en-US" sz="900" spc="-1" strike="noStrike">
                <a:solidFill>
                  <a:srgbClr val="000000"/>
                </a:solidFill>
                <a:latin typeface="Liter"/>
                <a:ea typeface="Liter"/>
              </a:rPr>
              <a:t>Nirvana, "Smells Like Teen Spirit"</a:t>
            </a:r>
            <a:endParaRPr b="0" lang="en-HK" sz="9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651"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652" name="Text 1"/>
          <p:cNvSpPr/>
          <p:nvPr/>
        </p:nvSpPr>
        <p:spPr>
          <a:xfrm>
            <a:off x="507960" y="317520"/>
            <a:ext cx="33951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06</a:t>
            </a:r>
            <a:endParaRPr b="0" lang="en-HK" sz="880" spc="-1" strike="noStrike">
              <a:latin typeface="Arial"/>
            </a:endParaRPr>
          </a:p>
        </p:txBody>
      </p:sp>
      <p:sp>
        <p:nvSpPr>
          <p:cNvPr id="653" name="Text 2"/>
          <p:cNvSpPr/>
          <p:nvPr/>
        </p:nvSpPr>
        <p:spPr>
          <a:xfrm>
            <a:off x="507960" y="476280"/>
            <a:ext cx="348228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Alternative Rock Explosion</a:t>
            </a:r>
            <a:endParaRPr b="0" lang="en-HK" sz="2250" spc="-1" strike="noStrike">
              <a:latin typeface="Arial"/>
            </a:endParaRPr>
          </a:p>
        </p:txBody>
      </p:sp>
      <p:sp>
        <p:nvSpPr>
          <p:cNvPr id="654" name="Shape 3"/>
          <p:cNvSpPr/>
          <p:nvPr/>
        </p:nvSpPr>
        <p:spPr>
          <a:xfrm>
            <a:off x="317520" y="1047600"/>
            <a:ext cx="454608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655" name="Text 4"/>
          <p:cNvSpPr/>
          <p:nvPr/>
        </p:nvSpPr>
        <p:spPr>
          <a:xfrm>
            <a:off x="507960" y="1238400"/>
            <a:ext cx="42602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Beyond Grunge</a:t>
            </a:r>
            <a:endParaRPr b="0" lang="en-HK" sz="1500" spc="-1" strike="noStrike">
              <a:latin typeface="Arial"/>
            </a:endParaRPr>
          </a:p>
        </p:txBody>
      </p:sp>
      <p:sp>
        <p:nvSpPr>
          <p:cNvPr id="656" name="Text 5"/>
          <p:cNvSpPr/>
          <p:nvPr/>
        </p:nvSpPr>
        <p:spPr>
          <a:xfrm>
            <a:off x="507960" y="1587600"/>
            <a:ext cx="4228560" cy="1029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grunge dominated the early 1990s, alternative rock encompassed a much broader spectrum of sounds and styles.</a:t>
            </a:r>
            <a:r>
              <a:rPr b="0" lang="en-US" sz="1000" spc="-1" strike="noStrike">
                <a:solidFill>
                  <a:srgbClr val="000000"/>
                </a:solidFill>
                <a:latin typeface="Liter"/>
                <a:ea typeface="Liter"/>
              </a:rPr>
              <a:t> From the experimental art-rock of Radiohead to the geek-rock charm of Weezer, alternative rock proved that rock could evolve in countless directions while maintaining its rebellious spirit.</a:t>
            </a:r>
            <a:endParaRPr b="0" lang="en-HK" sz="1000" spc="-1" strike="noStrike">
              <a:latin typeface="Arial"/>
            </a:endParaRPr>
          </a:p>
        </p:txBody>
      </p:sp>
      <p:sp>
        <p:nvSpPr>
          <p:cNvPr id="657" name="Text 6"/>
          <p:cNvSpPr/>
          <p:nvPr/>
        </p:nvSpPr>
        <p:spPr>
          <a:xfrm>
            <a:off x="507960" y="2714760"/>
            <a:ext cx="422856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College radio stations and the Lollapalooza festival (launched 1991) became crucial platforms for promoting alternative acts, helping bands reach audiences outside the mainstream.</a:t>
            </a:r>
            <a:endParaRPr b="0" lang="en-HK" sz="1000" spc="-1" strike="noStrike">
              <a:latin typeface="Arial"/>
            </a:endParaRPr>
          </a:p>
        </p:txBody>
      </p:sp>
      <p:sp>
        <p:nvSpPr>
          <p:cNvPr id="658" name="Shape 7"/>
          <p:cNvSpPr/>
          <p:nvPr/>
        </p:nvSpPr>
        <p:spPr>
          <a:xfrm>
            <a:off x="325440" y="3659040"/>
            <a:ext cx="4530240" cy="3125160"/>
          </a:xfrm>
          <a:custGeom>
            <a:avLst/>
            <a:gdLst/>
            <a:ahLst/>
            <a:rect l="l" t="t" r="r" b="b"/>
            <a:pathLst>
              <a:path w="4532313" h="3127375">
                <a:moveTo>
                  <a:pt x="0" y="0"/>
                </a:moveTo>
                <a:lnTo>
                  <a:pt x="4532313" y="0"/>
                </a:lnTo>
                <a:lnTo>
                  <a:pt x="4532313" y="3127375"/>
                </a:lnTo>
                <a:lnTo>
                  <a:pt x="0" y="3127375"/>
                </a:lnTo>
                <a:lnTo>
                  <a:pt x="0" y="0"/>
                </a:lnTo>
                <a:close/>
              </a:path>
            </a:pathLst>
          </a:custGeom>
          <a:noFill/>
          <a:ln w="25400">
            <a:solidFill>
              <a:srgbClr val="ddff00"/>
            </a:solidFill>
            <a:round/>
          </a:ln>
        </p:spPr>
        <p:style>
          <a:lnRef idx="0"/>
          <a:fillRef idx="0"/>
          <a:effectRef idx="0"/>
          <a:fontRef idx="minor"/>
        </p:style>
      </p:sp>
      <p:sp>
        <p:nvSpPr>
          <p:cNvPr id="659" name="Text 8"/>
          <p:cNvSpPr/>
          <p:nvPr/>
        </p:nvSpPr>
        <p:spPr>
          <a:xfrm>
            <a:off x="492120" y="3825720"/>
            <a:ext cx="427608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Alternative Rock Bands</a:t>
            </a:r>
            <a:endParaRPr b="0" lang="en-HK" sz="1250" spc="-1" strike="noStrike">
              <a:latin typeface="Arial"/>
            </a:endParaRPr>
          </a:p>
        </p:txBody>
      </p:sp>
      <p:sp>
        <p:nvSpPr>
          <p:cNvPr id="660" name="Shape 9"/>
          <p:cNvSpPr/>
          <p:nvPr/>
        </p:nvSpPr>
        <p:spPr>
          <a:xfrm>
            <a:off x="507960" y="41752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1" name="Shape 10"/>
          <p:cNvSpPr/>
          <p:nvPr/>
        </p:nvSpPr>
        <p:spPr>
          <a:xfrm>
            <a:off x="619200" y="41752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2" name="Shape 11"/>
          <p:cNvSpPr/>
          <p:nvPr/>
        </p:nvSpPr>
        <p:spPr>
          <a:xfrm>
            <a:off x="722160" y="4270320"/>
            <a:ext cx="109080" cy="124920"/>
          </a:xfrm>
          <a:custGeom>
            <a:avLst/>
            <a:gdLst/>
            <a:ah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w="0">
            <a:noFill/>
          </a:ln>
        </p:spPr>
        <p:style>
          <a:lnRef idx="0"/>
          <a:fillRef idx="0"/>
          <a:effectRef idx="0"/>
          <a:fontRef idx="minor"/>
        </p:style>
      </p:sp>
      <p:sp>
        <p:nvSpPr>
          <p:cNvPr id="663" name="Text 12"/>
          <p:cNvSpPr/>
          <p:nvPr/>
        </p:nvSpPr>
        <p:spPr>
          <a:xfrm>
            <a:off x="1031760" y="4175280"/>
            <a:ext cx="361728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Radiohead</a:t>
            </a:r>
            <a:endParaRPr b="0" lang="en-HK" sz="1130" spc="-1" strike="noStrike">
              <a:latin typeface="Arial"/>
            </a:endParaRPr>
          </a:p>
        </p:txBody>
      </p:sp>
      <p:sp>
        <p:nvSpPr>
          <p:cNvPr id="664" name="Text 13"/>
          <p:cNvSpPr/>
          <p:nvPr/>
        </p:nvSpPr>
        <p:spPr>
          <a:xfrm>
            <a:off x="1031760" y="4397400"/>
            <a:ext cx="36093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"OK Computer" (1997) - Experimental, complex, groundbreaking</a:t>
            </a:r>
            <a:endParaRPr b="0" lang="en-HK" sz="1000" spc="-1" strike="noStrike">
              <a:latin typeface="Arial"/>
            </a:endParaRPr>
          </a:p>
        </p:txBody>
      </p:sp>
      <p:sp>
        <p:nvSpPr>
          <p:cNvPr id="665" name="Shape 14"/>
          <p:cNvSpPr/>
          <p:nvPr/>
        </p:nvSpPr>
        <p:spPr>
          <a:xfrm>
            <a:off x="507960" y="46832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66" name="Shape 15"/>
          <p:cNvSpPr/>
          <p:nvPr/>
        </p:nvSpPr>
        <p:spPr>
          <a:xfrm>
            <a:off x="619200" y="468324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67" name="Shape 16"/>
          <p:cNvSpPr/>
          <p:nvPr/>
        </p:nvSpPr>
        <p:spPr>
          <a:xfrm>
            <a:off x="706320" y="4778280"/>
            <a:ext cx="140760" cy="124920"/>
          </a:xfrm>
          <a:custGeom>
            <a:avLst/>
            <a:gdLst/>
            <a:ah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w="0">
            <a:noFill/>
          </a:ln>
        </p:spPr>
        <p:style>
          <a:lnRef idx="0"/>
          <a:fillRef idx="0"/>
          <a:effectRef idx="0"/>
          <a:fontRef idx="minor"/>
        </p:style>
      </p:sp>
      <p:sp>
        <p:nvSpPr>
          <p:cNvPr id="668" name="Text 17"/>
          <p:cNvSpPr/>
          <p:nvPr/>
        </p:nvSpPr>
        <p:spPr>
          <a:xfrm>
            <a:off x="1031760" y="4683240"/>
            <a:ext cx="35143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Weezer</a:t>
            </a:r>
            <a:endParaRPr b="0" lang="en-HK" sz="1130" spc="-1" strike="noStrike">
              <a:latin typeface="Arial"/>
            </a:endParaRPr>
          </a:p>
        </p:txBody>
      </p:sp>
      <p:sp>
        <p:nvSpPr>
          <p:cNvPr id="669" name="Text 18"/>
          <p:cNvSpPr/>
          <p:nvPr/>
        </p:nvSpPr>
        <p:spPr>
          <a:xfrm>
            <a:off x="1031760" y="4905360"/>
            <a:ext cx="35060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"Blue Album" (1994) - Geek rock, catchy hooks, relatable lyrics</a:t>
            </a:r>
            <a:endParaRPr b="0" lang="en-HK" sz="1000" spc="-1" strike="noStrike">
              <a:latin typeface="Arial"/>
            </a:endParaRPr>
          </a:p>
        </p:txBody>
      </p:sp>
      <p:sp>
        <p:nvSpPr>
          <p:cNvPr id="670" name="Shape 19"/>
          <p:cNvSpPr/>
          <p:nvPr/>
        </p:nvSpPr>
        <p:spPr>
          <a:xfrm>
            <a:off x="507960" y="51912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1" name="Shape 20"/>
          <p:cNvSpPr/>
          <p:nvPr/>
        </p:nvSpPr>
        <p:spPr>
          <a:xfrm>
            <a:off x="619200" y="519120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2" name="Shape 21"/>
          <p:cNvSpPr/>
          <p:nvPr/>
        </p:nvSpPr>
        <p:spPr>
          <a:xfrm>
            <a:off x="722160" y="5286240"/>
            <a:ext cx="109080" cy="124920"/>
          </a:xfrm>
          <a:custGeom>
            <a:avLst/>
            <a:gdLst/>
            <a:ah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w="0">
            <a:noFill/>
          </a:ln>
        </p:spPr>
        <p:style>
          <a:lnRef idx="0"/>
          <a:fillRef idx="0"/>
          <a:effectRef idx="0"/>
          <a:fontRef idx="minor"/>
        </p:style>
      </p:sp>
      <p:sp>
        <p:nvSpPr>
          <p:cNvPr id="673" name="Text 22"/>
          <p:cNvSpPr/>
          <p:nvPr/>
        </p:nvSpPr>
        <p:spPr>
          <a:xfrm>
            <a:off x="1031760" y="5191200"/>
            <a:ext cx="2204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Red Hot Chili Peppers</a:t>
            </a:r>
            <a:endParaRPr b="0" lang="en-HK" sz="1130" spc="-1" strike="noStrike">
              <a:latin typeface="Arial"/>
            </a:endParaRPr>
          </a:p>
        </p:txBody>
      </p:sp>
      <p:sp>
        <p:nvSpPr>
          <p:cNvPr id="674" name="Text 23"/>
          <p:cNvSpPr/>
          <p:nvPr/>
        </p:nvSpPr>
        <p:spPr>
          <a:xfrm>
            <a:off x="1031760" y="5413320"/>
            <a:ext cx="21963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Funk-rock fusion, energetic live shows</a:t>
            </a:r>
            <a:endParaRPr b="0" lang="en-HK" sz="1000" spc="-1" strike="noStrike">
              <a:latin typeface="Arial"/>
            </a:endParaRPr>
          </a:p>
        </p:txBody>
      </p:sp>
      <p:sp>
        <p:nvSpPr>
          <p:cNvPr id="675" name="Shape 24"/>
          <p:cNvSpPr/>
          <p:nvPr/>
        </p:nvSpPr>
        <p:spPr>
          <a:xfrm>
            <a:off x="507960" y="569916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76" name="Shape 25"/>
          <p:cNvSpPr/>
          <p:nvPr/>
        </p:nvSpPr>
        <p:spPr>
          <a:xfrm>
            <a:off x="619200" y="569916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77" name="Shape 26"/>
          <p:cNvSpPr/>
          <p:nvPr/>
        </p:nvSpPr>
        <p:spPr>
          <a:xfrm>
            <a:off x="714240" y="5794200"/>
            <a:ext cx="124920" cy="124920"/>
          </a:xfrm>
          <a:custGeom>
            <a:avLst/>
            <a:gdLst/>
            <a:ah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w="0">
            <a:noFill/>
          </a:ln>
        </p:spPr>
        <p:style>
          <a:lnRef idx="0"/>
          <a:fillRef idx="0"/>
          <a:effectRef idx="0"/>
          <a:fontRef idx="minor"/>
        </p:style>
      </p:sp>
      <p:sp>
        <p:nvSpPr>
          <p:cNvPr id="678" name="Text 27"/>
          <p:cNvSpPr/>
          <p:nvPr/>
        </p:nvSpPr>
        <p:spPr>
          <a:xfrm>
            <a:off x="1031760" y="5699160"/>
            <a:ext cx="35143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Smashing Pumpkins</a:t>
            </a:r>
            <a:endParaRPr b="0" lang="en-HK" sz="1130" spc="-1" strike="noStrike">
              <a:latin typeface="Arial"/>
            </a:endParaRPr>
          </a:p>
        </p:txBody>
      </p:sp>
      <p:sp>
        <p:nvSpPr>
          <p:cNvPr id="679" name="Text 28"/>
          <p:cNvSpPr/>
          <p:nvPr/>
        </p:nvSpPr>
        <p:spPr>
          <a:xfrm>
            <a:off x="1031760" y="5921280"/>
            <a:ext cx="35060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"Siamese Dream" (1993) - Layered guitars, emotional intensity</a:t>
            </a:r>
            <a:endParaRPr b="0" lang="en-HK" sz="1000" spc="-1" strike="noStrike">
              <a:latin typeface="Arial"/>
            </a:endParaRPr>
          </a:p>
        </p:txBody>
      </p:sp>
      <p:sp>
        <p:nvSpPr>
          <p:cNvPr id="680" name="Shape 29"/>
          <p:cNvSpPr/>
          <p:nvPr/>
        </p:nvSpPr>
        <p:spPr>
          <a:xfrm>
            <a:off x="507960" y="620712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681" name="Shape 30"/>
          <p:cNvSpPr/>
          <p:nvPr/>
        </p:nvSpPr>
        <p:spPr>
          <a:xfrm>
            <a:off x="619200" y="620712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682" name="Shape 31"/>
          <p:cNvSpPr/>
          <p:nvPr/>
        </p:nvSpPr>
        <p:spPr>
          <a:xfrm>
            <a:off x="730080" y="6302520"/>
            <a:ext cx="93240" cy="124920"/>
          </a:xfrm>
          <a:custGeom>
            <a:avLst/>
            <a:gdLst/>
            <a:ah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w="0">
            <a:noFill/>
          </a:ln>
        </p:spPr>
        <p:style>
          <a:lnRef idx="0"/>
          <a:fillRef idx="0"/>
          <a:effectRef idx="0"/>
          <a:fontRef idx="minor"/>
        </p:style>
      </p:sp>
      <p:sp>
        <p:nvSpPr>
          <p:cNvPr id="683" name="Text 32"/>
          <p:cNvSpPr/>
          <p:nvPr/>
        </p:nvSpPr>
        <p:spPr>
          <a:xfrm>
            <a:off x="1031760" y="6207120"/>
            <a:ext cx="3077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Alanis Morissette</a:t>
            </a:r>
            <a:endParaRPr b="0" lang="en-HK" sz="1130" spc="-1" strike="noStrike">
              <a:latin typeface="Arial"/>
            </a:endParaRPr>
          </a:p>
        </p:txBody>
      </p:sp>
      <p:sp>
        <p:nvSpPr>
          <p:cNvPr id="684" name="Text 33"/>
          <p:cNvSpPr/>
          <p:nvPr/>
        </p:nvSpPr>
        <p:spPr>
          <a:xfrm>
            <a:off x="1031760" y="6429240"/>
            <a:ext cx="30697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"Jagged Little Pill" (1995) - Feminist rock, raw emotion</a:t>
            </a:r>
            <a:endParaRPr b="0" lang="en-HK" sz="1000" spc="-1" strike="noStrike">
              <a:latin typeface="Arial"/>
            </a:endParaRPr>
          </a:p>
        </p:txBody>
      </p:sp>
      <p:sp>
        <p:nvSpPr>
          <p:cNvPr id="685" name="Shape 34"/>
          <p:cNvSpPr/>
          <p:nvPr/>
        </p:nvSpPr>
        <p:spPr>
          <a:xfrm>
            <a:off x="5062680" y="1055520"/>
            <a:ext cx="6800400" cy="2998080"/>
          </a:xfrm>
          <a:custGeom>
            <a:avLst/>
            <a:gdLst/>
            <a:ahLst/>
            <a:rect l="l" t="t" r="r" b="b"/>
            <a:pathLst>
              <a:path w="6802438" h="3000375">
                <a:moveTo>
                  <a:pt x="0" y="0"/>
                </a:moveTo>
                <a:lnTo>
                  <a:pt x="6802438" y="0"/>
                </a:lnTo>
                <a:lnTo>
                  <a:pt x="6802438" y="3000375"/>
                </a:lnTo>
                <a:lnTo>
                  <a:pt x="0" y="3000375"/>
                </a:lnTo>
                <a:lnTo>
                  <a:pt x="0" y="0"/>
                </a:lnTo>
                <a:close/>
              </a:path>
            </a:pathLst>
          </a:custGeom>
          <a:noFill/>
          <a:ln w="25400">
            <a:solidFill>
              <a:srgbClr val="ddff00"/>
            </a:solidFill>
            <a:round/>
          </a:ln>
        </p:spPr>
        <p:style>
          <a:lnRef idx="0"/>
          <a:fillRef idx="0"/>
          <a:effectRef idx="0"/>
          <a:fontRef idx="minor"/>
        </p:style>
      </p:sp>
      <p:sp>
        <p:nvSpPr>
          <p:cNvPr id="686" name="Text 35"/>
          <p:cNvSpPr/>
          <p:nvPr/>
        </p:nvSpPr>
        <p:spPr>
          <a:xfrm>
            <a:off x="5261040" y="1254240"/>
            <a:ext cx="64987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Alternative Rock Subgenres</a:t>
            </a:r>
            <a:endParaRPr b="0" lang="en-HK" sz="1500" spc="-1" strike="noStrike">
              <a:latin typeface="Arial"/>
            </a:endParaRPr>
          </a:p>
        </p:txBody>
      </p:sp>
      <p:sp>
        <p:nvSpPr>
          <p:cNvPr id="687" name="Shape 36"/>
          <p:cNvSpPr/>
          <p:nvPr/>
        </p:nvSpPr>
        <p:spPr>
          <a:xfrm>
            <a:off x="5265000" y="1639080"/>
            <a:ext cx="3133080" cy="111708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88" name="Text 37"/>
          <p:cNvSpPr/>
          <p:nvPr/>
        </p:nvSpPr>
        <p:spPr>
          <a:xfrm>
            <a:off x="5396040" y="1770120"/>
            <a:ext cx="2942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Britpop</a:t>
            </a:r>
            <a:endParaRPr b="0" lang="en-HK" sz="1130" spc="-1" strike="noStrike">
              <a:latin typeface="Arial"/>
            </a:endParaRPr>
          </a:p>
        </p:txBody>
      </p:sp>
      <p:sp>
        <p:nvSpPr>
          <p:cNvPr id="689" name="Text 38"/>
          <p:cNvSpPr/>
          <p:nvPr/>
        </p:nvSpPr>
        <p:spPr>
          <a:xfrm>
            <a:off x="5396040" y="2055960"/>
            <a:ext cx="29347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Oasis, Blur, Pulp</a:t>
            </a:r>
            <a:endParaRPr b="0" lang="en-HK" sz="1000" spc="-1" strike="noStrike">
              <a:latin typeface="Arial"/>
            </a:endParaRPr>
          </a:p>
        </p:txBody>
      </p:sp>
      <p:sp>
        <p:nvSpPr>
          <p:cNvPr id="690" name="Text 39"/>
          <p:cNvSpPr/>
          <p:nvPr/>
        </p:nvSpPr>
        <p:spPr>
          <a:xfrm>
            <a:off x="5396040" y="2309760"/>
            <a:ext cx="2926800" cy="315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British response to grunge, catchy melodies, working-class pride</a:t>
            </a:r>
            <a:endParaRPr b="0" lang="en-HK" sz="880" spc="-1" strike="noStrike">
              <a:latin typeface="Arial"/>
            </a:endParaRPr>
          </a:p>
        </p:txBody>
      </p:sp>
      <p:sp>
        <p:nvSpPr>
          <p:cNvPr id="691" name="Shape 40"/>
          <p:cNvSpPr/>
          <p:nvPr/>
        </p:nvSpPr>
        <p:spPr>
          <a:xfrm>
            <a:off x="8532000" y="1639080"/>
            <a:ext cx="3133080" cy="1117080"/>
          </a:xfrm>
          <a:custGeom>
            <a:avLst/>
            <a:gdLst/>
            <a:ahLst/>
            <a:rect l="l" t="t" r="r" b="b"/>
            <a:pathLst>
              <a:path w="3135313" h="1119188">
                <a:moveTo>
                  <a:pt x="0" y="0"/>
                </a:moveTo>
                <a:lnTo>
                  <a:pt x="3135313" y="0"/>
                </a:lnTo>
                <a:lnTo>
                  <a:pt x="313531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2" name="Text 41"/>
          <p:cNvSpPr/>
          <p:nvPr/>
        </p:nvSpPr>
        <p:spPr>
          <a:xfrm>
            <a:off x="8663040" y="1770120"/>
            <a:ext cx="2942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Pop Punk</a:t>
            </a:r>
            <a:endParaRPr b="0" lang="en-HK" sz="1130" spc="-1" strike="noStrike">
              <a:latin typeface="Arial"/>
            </a:endParaRPr>
          </a:p>
        </p:txBody>
      </p:sp>
      <p:sp>
        <p:nvSpPr>
          <p:cNvPr id="693" name="Text 42"/>
          <p:cNvSpPr/>
          <p:nvPr/>
        </p:nvSpPr>
        <p:spPr>
          <a:xfrm>
            <a:off x="8663040" y="2055960"/>
            <a:ext cx="29347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Green Day, The Offspring, Blink-182</a:t>
            </a:r>
            <a:endParaRPr b="0" lang="en-HK" sz="1000" spc="-1" strike="noStrike">
              <a:latin typeface="Arial"/>
            </a:endParaRPr>
          </a:p>
        </p:txBody>
      </p:sp>
      <p:sp>
        <p:nvSpPr>
          <p:cNvPr id="694" name="Text 43"/>
          <p:cNvSpPr/>
          <p:nvPr/>
        </p:nvSpPr>
        <p:spPr>
          <a:xfrm>
            <a:off x="8663040" y="2309760"/>
            <a:ext cx="29268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Punk energy with pop hooks, youth themes</a:t>
            </a:r>
            <a:endParaRPr b="0" lang="en-HK" sz="880" spc="-1" strike="noStrike">
              <a:latin typeface="Arial"/>
            </a:endParaRPr>
          </a:p>
        </p:txBody>
      </p:sp>
      <p:sp>
        <p:nvSpPr>
          <p:cNvPr id="695" name="Shape 44"/>
          <p:cNvSpPr/>
          <p:nvPr/>
        </p:nvSpPr>
        <p:spPr>
          <a:xfrm>
            <a:off x="5265000" y="2893320"/>
            <a:ext cx="3133080" cy="95832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696" name="Text 45"/>
          <p:cNvSpPr/>
          <p:nvPr/>
        </p:nvSpPr>
        <p:spPr>
          <a:xfrm>
            <a:off x="5396040" y="3024360"/>
            <a:ext cx="2942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Industrial Rock</a:t>
            </a:r>
            <a:endParaRPr b="0" lang="en-HK" sz="1130" spc="-1" strike="noStrike">
              <a:latin typeface="Arial"/>
            </a:endParaRPr>
          </a:p>
        </p:txBody>
      </p:sp>
      <p:sp>
        <p:nvSpPr>
          <p:cNvPr id="697" name="Text 46"/>
          <p:cNvSpPr/>
          <p:nvPr/>
        </p:nvSpPr>
        <p:spPr>
          <a:xfrm>
            <a:off x="5396040" y="3309840"/>
            <a:ext cx="29347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Nine Inch Nails, Ministry</a:t>
            </a:r>
            <a:endParaRPr b="0" lang="en-HK" sz="1000" spc="-1" strike="noStrike">
              <a:latin typeface="Arial"/>
            </a:endParaRPr>
          </a:p>
        </p:txBody>
      </p:sp>
      <p:sp>
        <p:nvSpPr>
          <p:cNvPr id="698" name="Text 47"/>
          <p:cNvSpPr/>
          <p:nvPr/>
        </p:nvSpPr>
        <p:spPr>
          <a:xfrm>
            <a:off x="5396040" y="3564000"/>
            <a:ext cx="29268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Electronic elements, dark, mechanical sound</a:t>
            </a:r>
            <a:endParaRPr b="0" lang="en-HK" sz="880" spc="-1" strike="noStrike">
              <a:latin typeface="Arial"/>
            </a:endParaRPr>
          </a:p>
        </p:txBody>
      </p:sp>
      <p:sp>
        <p:nvSpPr>
          <p:cNvPr id="699" name="Shape 48"/>
          <p:cNvSpPr/>
          <p:nvPr/>
        </p:nvSpPr>
        <p:spPr>
          <a:xfrm>
            <a:off x="8532000" y="2893320"/>
            <a:ext cx="3133080" cy="958320"/>
          </a:xfrm>
          <a:custGeom>
            <a:avLst/>
            <a:gdLst/>
            <a:ahLst/>
            <a:rect l="l" t="t" r="r" b="b"/>
            <a:pathLst>
              <a:path w="3135313" h="960438">
                <a:moveTo>
                  <a:pt x="0" y="0"/>
                </a:moveTo>
                <a:lnTo>
                  <a:pt x="3135313" y="0"/>
                </a:lnTo>
                <a:lnTo>
                  <a:pt x="3135313" y="960438"/>
                </a:lnTo>
                <a:lnTo>
                  <a:pt x="0" y="9604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0" name="Text 49"/>
          <p:cNvSpPr/>
          <p:nvPr/>
        </p:nvSpPr>
        <p:spPr>
          <a:xfrm>
            <a:off x="8663040" y="3024360"/>
            <a:ext cx="29426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Ska Punk</a:t>
            </a:r>
            <a:endParaRPr b="0" lang="en-HK" sz="1130" spc="-1" strike="noStrike">
              <a:latin typeface="Arial"/>
            </a:endParaRPr>
          </a:p>
        </p:txBody>
      </p:sp>
      <p:sp>
        <p:nvSpPr>
          <p:cNvPr id="701" name="Text 50"/>
          <p:cNvSpPr/>
          <p:nvPr/>
        </p:nvSpPr>
        <p:spPr>
          <a:xfrm>
            <a:off x="8663040" y="3309840"/>
            <a:ext cx="29347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Sublime, No Doubt, Reel Big Fish</a:t>
            </a:r>
            <a:endParaRPr b="0" lang="en-HK" sz="1000" spc="-1" strike="noStrike">
              <a:latin typeface="Arial"/>
            </a:endParaRPr>
          </a:p>
        </p:txBody>
      </p:sp>
      <p:sp>
        <p:nvSpPr>
          <p:cNvPr id="702" name="Text 51"/>
          <p:cNvSpPr/>
          <p:nvPr/>
        </p:nvSpPr>
        <p:spPr>
          <a:xfrm>
            <a:off x="8663040" y="3564000"/>
            <a:ext cx="29268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Ska rhythms mixed with punk energy</a:t>
            </a:r>
            <a:endParaRPr b="0" lang="en-HK" sz="880" spc="-1" strike="noStrike">
              <a:latin typeface="Arial"/>
            </a:endParaRPr>
          </a:p>
        </p:txBody>
      </p:sp>
      <p:sp>
        <p:nvSpPr>
          <p:cNvPr id="703" name="Shape 52"/>
          <p:cNvSpPr/>
          <p:nvPr/>
        </p:nvSpPr>
        <p:spPr>
          <a:xfrm>
            <a:off x="5054400" y="4191120"/>
            <a:ext cx="6816240" cy="1553760"/>
          </a:xfrm>
          <a:custGeom>
            <a:avLst/>
            <a:gdLst/>
            <a:ahLst/>
            <a:rect l="l" t="t" r="r" b="b"/>
            <a:pathLst>
              <a:path w="6818313" h="1555750">
                <a:moveTo>
                  <a:pt x="0" y="0"/>
                </a:moveTo>
                <a:lnTo>
                  <a:pt x="6818313" y="0"/>
                </a:lnTo>
                <a:lnTo>
                  <a:pt x="6818313" y="1555750"/>
                </a:lnTo>
                <a:lnTo>
                  <a:pt x="0" y="1555750"/>
                </a:lnTo>
                <a:lnTo>
                  <a:pt x="0" y="0"/>
                </a:lnTo>
                <a:close/>
              </a:path>
            </a:pathLst>
          </a:custGeom>
          <a:solidFill>
            <a:srgbClr val="ddff00"/>
          </a:solidFill>
          <a:ln w="0">
            <a:noFill/>
          </a:ln>
        </p:spPr>
        <p:style>
          <a:lnRef idx="0"/>
          <a:fillRef idx="0"/>
          <a:effectRef idx="0"/>
          <a:fontRef idx="minor"/>
        </p:style>
      </p:sp>
      <p:sp>
        <p:nvSpPr>
          <p:cNvPr id="704" name="Text 53"/>
          <p:cNvSpPr/>
          <p:nvPr/>
        </p:nvSpPr>
        <p:spPr>
          <a:xfrm>
            <a:off x="5213160" y="4349880"/>
            <a:ext cx="657792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Lollapalooza: The Alternative Festival</a:t>
            </a:r>
            <a:endParaRPr b="0" lang="en-HK" sz="1250" spc="-1" strike="noStrike">
              <a:latin typeface="Arial"/>
            </a:endParaRPr>
          </a:p>
        </p:txBody>
      </p:sp>
      <p:sp>
        <p:nvSpPr>
          <p:cNvPr id="705" name="Text 54"/>
          <p:cNvSpPr/>
          <p:nvPr/>
        </p:nvSpPr>
        <p:spPr>
          <a:xfrm>
            <a:off x="5213160" y="4667400"/>
            <a:ext cx="6562080" cy="410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Launched in 1991 by Jane's Addiction's Perry Farrell,</a:t>
            </a:r>
            <a:r>
              <a:rPr b="0" lang="en-US" sz="1000" spc="-1" strike="noStrike">
                <a:solidFill>
                  <a:srgbClr val="000000"/>
                </a:solidFill>
                <a:latin typeface="Liter"/>
                <a:ea typeface="Liter"/>
              </a:rPr>
              <a:t> Lollapalooza became the premier showcase for alternative rock. The touring festival introduced audiences to diverse acts and helped alternative rock reach mainstream success.</a:t>
            </a:r>
            <a:endParaRPr b="0" lang="en-HK" sz="1000" spc="-1" strike="noStrike">
              <a:latin typeface="Arial"/>
            </a:endParaRPr>
          </a:p>
        </p:txBody>
      </p:sp>
      <p:sp>
        <p:nvSpPr>
          <p:cNvPr id="706" name="Text 55"/>
          <p:cNvSpPr/>
          <p:nvPr/>
        </p:nvSpPr>
        <p:spPr>
          <a:xfrm>
            <a:off x="5213160" y="5175360"/>
            <a:ext cx="6562080" cy="410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The festival's eclectic lineups reflected alternative rock's diversity, featuring everything from grunge and industrial to hip-hop and electronic music.</a:t>
            </a:r>
            <a:endParaRPr b="0" lang="en-HK" sz="1000" spc="-1" strike="noStrike">
              <a:latin typeface="Arial"/>
            </a:endParaRPr>
          </a:p>
        </p:txBody>
      </p:sp>
      <p:sp>
        <p:nvSpPr>
          <p:cNvPr id="707" name="Shape 56"/>
          <p:cNvSpPr/>
          <p:nvPr/>
        </p:nvSpPr>
        <p:spPr>
          <a:xfrm>
            <a:off x="5058720" y="587772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08" name="Text 57"/>
          <p:cNvSpPr/>
          <p:nvPr/>
        </p:nvSpPr>
        <p:spPr>
          <a:xfrm>
            <a:off x="5110200" y="597708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1991</a:t>
            </a:r>
            <a:endParaRPr b="0" lang="en-HK" sz="1500" spc="-1" strike="noStrike">
              <a:latin typeface="Arial"/>
            </a:endParaRPr>
          </a:p>
        </p:txBody>
      </p:sp>
      <p:sp>
        <p:nvSpPr>
          <p:cNvPr id="709" name="Text 58"/>
          <p:cNvSpPr/>
          <p:nvPr/>
        </p:nvSpPr>
        <p:spPr>
          <a:xfrm>
            <a:off x="5130000" y="626256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Lollapalooza debuts</a:t>
            </a:r>
            <a:endParaRPr b="0" lang="en-HK" sz="880" spc="-1" strike="noStrike">
              <a:latin typeface="Arial"/>
            </a:endParaRPr>
          </a:p>
        </p:txBody>
      </p:sp>
      <p:sp>
        <p:nvSpPr>
          <p:cNvPr id="710" name="Shape 59"/>
          <p:cNvSpPr/>
          <p:nvPr/>
        </p:nvSpPr>
        <p:spPr>
          <a:xfrm>
            <a:off x="7363440" y="587772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1" name="Text 60"/>
          <p:cNvSpPr/>
          <p:nvPr/>
        </p:nvSpPr>
        <p:spPr>
          <a:xfrm>
            <a:off x="7415280" y="597708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30M+</a:t>
            </a:r>
            <a:endParaRPr b="0" lang="en-HK" sz="1500" spc="-1" strike="noStrike">
              <a:latin typeface="Arial"/>
            </a:endParaRPr>
          </a:p>
        </p:txBody>
      </p:sp>
      <p:sp>
        <p:nvSpPr>
          <p:cNvPr id="712" name="Text 61"/>
          <p:cNvSpPr/>
          <p:nvPr/>
        </p:nvSpPr>
        <p:spPr>
          <a:xfrm>
            <a:off x="7435080" y="626256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"Nevermind" sales</a:t>
            </a:r>
            <a:endParaRPr b="0" lang="en-HK" sz="880" spc="-1" strike="noStrike">
              <a:latin typeface="Arial"/>
            </a:endParaRPr>
          </a:p>
        </p:txBody>
      </p:sp>
      <p:sp>
        <p:nvSpPr>
          <p:cNvPr id="713" name="Shape 62"/>
          <p:cNvSpPr/>
          <p:nvPr/>
        </p:nvSpPr>
        <p:spPr>
          <a:xfrm>
            <a:off x="9668520" y="5877720"/>
            <a:ext cx="2196360" cy="640800"/>
          </a:xfrm>
          <a:custGeom>
            <a:avLst/>
            <a:gdLst/>
            <a:ahLst/>
            <a:rect l="l" t="t" r="r" b="b"/>
            <a:pathLst>
              <a:path w="2198688" h="642938">
                <a:moveTo>
                  <a:pt x="0" y="0"/>
                </a:moveTo>
                <a:lnTo>
                  <a:pt x="2198688" y="0"/>
                </a:lnTo>
                <a:lnTo>
                  <a:pt x="2198688" y="642938"/>
                </a:lnTo>
                <a:lnTo>
                  <a:pt x="0" y="64293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714" name="Text 63"/>
          <p:cNvSpPr/>
          <p:nvPr/>
        </p:nvSpPr>
        <p:spPr>
          <a:xfrm>
            <a:off x="9720360" y="5977080"/>
            <a:ext cx="2093400" cy="2520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00" spc="-1" strike="noStrike">
                <a:solidFill>
                  <a:srgbClr val="ddff00"/>
                </a:solidFill>
                <a:latin typeface="Liter"/>
                <a:ea typeface="Liter"/>
              </a:rPr>
              <a:t>Gen X</a:t>
            </a:r>
            <a:endParaRPr b="0" lang="en-HK" sz="1500" spc="-1" strike="noStrike">
              <a:latin typeface="Arial"/>
            </a:endParaRPr>
          </a:p>
        </p:txBody>
      </p:sp>
      <p:sp>
        <p:nvSpPr>
          <p:cNvPr id="715" name="Text 64"/>
          <p:cNvSpPr/>
          <p:nvPr/>
        </p:nvSpPr>
        <p:spPr>
          <a:xfrm>
            <a:off x="9740160" y="6262560"/>
            <a:ext cx="205380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Generation defined</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16"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717"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18"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19"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20" name="Text 3"/>
          <p:cNvSpPr/>
          <p:nvPr/>
        </p:nvSpPr>
        <p:spPr>
          <a:xfrm>
            <a:off x="596160" y="1638360"/>
            <a:ext cx="113148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07</a:t>
            </a:r>
            <a:endParaRPr b="0" lang="en-HK" sz="5400" spc="-1" strike="noStrike">
              <a:latin typeface="Arial"/>
            </a:endParaRPr>
          </a:p>
        </p:txBody>
      </p:sp>
      <p:sp>
        <p:nvSpPr>
          <p:cNvPr id="721" name="Shape 4"/>
          <p:cNvSpPr/>
          <p:nvPr/>
        </p:nvSpPr>
        <p:spPr>
          <a:xfrm>
            <a:off x="1828800" y="1752480"/>
            <a:ext cx="3026880" cy="36000"/>
          </a:xfrm>
          <a:custGeom>
            <a:avLst/>
            <a:gdLst/>
            <a:ahLst/>
            <a:rect l="l" t="t" r="r" b="b"/>
            <a:pathLst>
              <a:path w="3028950" h="38100">
                <a:moveTo>
                  <a:pt x="0" y="0"/>
                </a:moveTo>
                <a:lnTo>
                  <a:pt x="3028950" y="0"/>
                </a:lnTo>
                <a:lnTo>
                  <a:pt x="3028950" y="38100"/>
                </a:lnTo>
                <a:lnTo>
                  <a:pt x="0" y="38100"/>
                </a:lnTo>
                <a:lnTo>
                  <a:pt x="0" y="0"/>
                </a:lnTo>
                <a:close/>
              </a:path>
            </a:pathLst>
          </a:custGeom>
          <a:solidFill>
            <a:srgbClr val="ddff00"/>
          </a:solidFill>
          <a:ln w="0">
            <a:noFill/>
          </a:ln>
        </p:spPr>
        <p:style>
          <a:lnRef idx="0"/>
          <a:fillRef idx="0"/>
          <a:effectRef idx="0"/>
          <a:fontRef idx="minor"/>
        </p:style>
      </p:sp>
      <p:sp>
        <p:nvSpPr>
          <p:cNvPr id="722" name="Text 5"/>
          <p:cNvSpPr/>
          <p:nvPr/>
        </p:nvSpPr>
        <p:spPr>
          <a:xfrm>
            <a:off x="1828800" y="1943280"/>
            <a:ext cx="311256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SEVEN</a:t>
            </a:r>
            <a:endParaRPr b="0" lang="en-HK" sz="1350" spc="-1" strike="noStrike">
              <a:latin typeface="Arial"/>
            </a:endParaRPr>
          </a:p>
        </p:txBody>
      </p:sp>
      <p:sp>
        <p:nvSpPr>
          <p:cNvPr id="723" name="Text 6"/>
          <p:cNvSpPr/>
          <p:nvPr/>
        </p:nvSpPr>
        <p:spPr>
          <a:xfrm>
            <a:off x="380880" y="2895480"/>
            <a:ext cx="481752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INDIE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REVIVAL</a:t>
            </a:r>
            <a:endParaRPr b="0" lang="en-HK" sz="5400" spc="-1" strike="noStrike">
              <a:latin typeface="Arial"/>
            </a:endParaRPr>
          </a:p>
        </p:txBody>
      </p:sp>
      <p:sp>
        <p:nvSpPr>
          <p:cNvPr id="724" name="Text 7"/>
          <p:cNvSpPr/>
          <p:nvPr/>
        </p:nvSpPr>
        <p:spPr>
          <a:xfrm>
            <a:off x="380880" y="4838760"/>
            <a:ext cx="45889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2000s-2010s: Return to Raw, DIY Aesthetics</a:t>
            </a:r>
            <a:endParaRPr b="0" lang="en-HK" sz="1800" spc="-1" strike="noStrike">
              <a:latin typeface="Arial"/>
            </a:endParaRPr>
          </a:p>
        </p:txBody>
      </p:sp>
      <p:sp>
        <p:nvSpPr>
          <p:cNvPr id="725"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26"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27"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28" name="Shape 0"/>
          <p:cNvSpPr/>
          <p:nvPr/>
        </p:nvSpPr>
        <p:spPr>
          <a:xfrm>
            <a:off x="321840" y="370080"/>
            <a:ext cx="62280" cy="384120"/>
          </a:xfrm>
          <a:custGeom>
            <a:avLst/>
            <a:gdLst/>
            <a:ahLst/>
            <a:rect l="l" t="t" r="r" b="b"/>
            <a:pathLst>
              <a:path w="64380" h="386281">
                <a:moveTo>
                  <a:pt x="0" y="0"/>
                </a:moveTo>
                <a:lnTo>
                  <a:pt x="64380" y="0"/>
                </a:lnTo>
                <a:lnTo>
                  <a:pt x="64380" y="386281"/>
                </a:lnTo>
                <a:lnTo>
                  <a:pt x="0" y="386281"/>
                </a:lnTo>
                <a:lnTo>
                  <a:pt x="0" y="0"/>
                </a:lnTo>
                <a:close/>
              </a:path>
            </a:pathLst>
          </a:custGeom>
          <a:solidFill>
            <a:srgbClr val="ddff00"/>
          </a:solidFill>
          <a:ln w="0">
            <a:noFill/>
          </a:ln>
        </p:spPr>
        <p:style>
          <a:lnRef idx="0"/>
          <a:fillRef idx="0"/>
          <a:effectRef idx="0"/>
          <a:fontRef idx="minor"/>
        </p:style>
      </p:sp>
      <p:sp>
        <p:nvSpPr>
          <p:cNvPr id="729" name="Text 1"/>
          <p:cNvSpPr/>
          <p:nvPr/>
        </p:nvSpPr>
        <p:spPr>
          <a:xfrm>
            <a:off x="515160" y="321840"/>
            <a:ext cx="319284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07</a:t>
            </a:r>
            <a:endParaRPr b="0" lang="en-HK" sz="880" spc="-1" strike="noStrike">
              <a:latin typeface="Arial"/>
            </a:endParaRPr>
          </a:p>
        </p:txBody>
      </p:sp>
      <p:sp>
        <p:nvSpPr>
          <p:cNvPr id="730" name="Text 2"/>
          <p:cNvSpPr/>
          <p:nvPr/>
        </p:nvSpPr>
        <p:spPr>
          <a:xfrm>
            <a:off x="515160" y="482760"/>
            <a:ext cx="3281400" cy="3196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ffffff"/>
                </a:solidFill>
                <a:latin typeface="Liter"/>
                <a:ea typeface="Liter"/>
              </a:rPr>
              <a:t>The Garage Rock Revival</a:t>
            </a:r>
            <a:endParaRPr b="0" lang="en-HK" sz="2280" spc="-1" strike="noStrike">
              <a:latin typeface="Arial"/>
            </a:endParaRPr>
          </a:p>
        </p:txBody>
      </p:sp>
      <p:sp>
        <p:nvSpPr>
          <p:cNvPr id="731" name="Shape 3"/>
          <p:cNvSpPr/>
          <p:nvPr/>
        </p:nvSpPr>
        <p:spPr>
          <a:xfrm>
            <a:off x="321840" y="1062360"/>
            <a:ext cx="6806160" cy="1881000"/>
          </a:xfrm>
          <a:custGeom>
            <a:avLst/>
            <a:gdLst/>
            <a:ahLst/>
            <a:rect l="l" t="t" r="r" b="b"/>
            <a:pathLst>
              <a:path w="6808206" h="1883121">
                <a:moveTo>
                  <a:pt x="0" y="0"/>
                </a:moveTo>
                <a:lnTo>
                  <a:pt x="6808206" y="0"/>
                </a:lnTo>
                <a:lnTo>
                  <a:pt x="6808206" y="1883121"/>
                </a:lnTo>
                <a:lnTo>
                  <a:pt x="0" y="1883121"/>
                </a:lnTo>
                <a:lnTo>
                  <a:pt x="0" y="0"/>
                </a:lnTo>
                <a:close/>
              </a:path>
            </a:pathLst>
          </a:custGeom>
          <a:solidFill>
            <a:srgbClr val="ddff00"/>
          </a:solidFill>
          <a:ln w="0">
            <a:noFill/>
          </a:ln>
        </p:spPr>
        <p:style>
          <a:lnRef idx="0"/>
          <a:fillRef idx="0"/>
          <a:effectRef idx="0"/>
          <a:fontRef idx="minor"/>
        </p:style>
      </p:sp>
      <p:sp>
        <p:nvSpPr>
          <p:cNvPr id="732" name="Text 4"/>
          <p:cNvSpPr/>
          <p:nvPr/>
        </p:nvSpPr>
        <p:spPr>
          <a:xfrm>
            <a:off x="515160" y="1255320"/>
            <a:ext cx="6516360" cy="2552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20" spc="-1" strike="noStrike">
                <a:solidFill>
                  <a:srgbClr val="000000"/>
                </a:solidFill>
                <a:latin typeface="Liter"/>
                <a:ea typeface="Liter"/>
              </a:rPr>
              <a:t>Back to Basics</a:t>
            </a:r>
            <a:endParaRPr b="0" lang="en-HK" sz="1520" spc="-1" strike="noStrike">
              <a:latin typeface="Arial"/>
            </a:endParaRPr>
          </a:p>
        </p:txBody>
      </p:sp>
      <p:sp>
        <p:nvSpPr>
          <p:cNvPr id="733" name="Text 5"/>
          <p:cNvSpPr/>
          <p:nvPr/>
        </p:nvSpPr>
        <p:spPr>
          <a:xfrm>
            <a:off x="515160" y="1609560"/>
            <a:ext cx="6484320" cy="625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10" spc="-1" strike="noStrike">
                <a:solidFill>
                  <a:srgbClr val="000000"/>
                </a:solidFill>
                <a:latin typeface="Liter"/>
                <a:ea typeface="Liter"/>
              </a:rPr>
              <a:t>The 2000s and 2010s saw a revival of indie and garage rock,</a:t>
            </a:r>
            <a:r>
              <a:rPr b="0" lang="en-US" sz="1010" spc="-1" strike="noStrike">
                <a:solidFill>
                  <a:srgbClr val="000000"/>
                </a:solidFill>
                <a:latin typeface="Liter"/>
                <a:ea typeface="Liter"/>
              </a:rPr>
              <a:t> with bands drawing inspiration from the DIY and underground scenes of the past. This resurgence brought a fresh wave of independent and alternative rock music characterized by raw energy and authenticity.</a:t>
            </a:r>
            <a:endParaRPr b="0" lang="en-HK" sz="1010" spc="-1" strike="noStrike">
              <a:latin typeface="Arial"/>
            </a:endParaRPr>
          </a:p>
        </p:txBody>
      </p:sp>
      <p:sp>
        <p:nvSpPr>
          <p:cNvPr id="734" name="Text 6"/>
          <p:cNvSpPr/>
          <p:nvPr/>
        </p:nvSpPr>
        <p:spPr>
          <a:xfrm>
            <a:off x="515160" y="2333880"/>
            <a:ext cx="6484320" cy="416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alpha val="80000"/>
                  </a:srgbClr>
                </a:solidFill>
                <a:latin typeface="Liter"/>
                <a:ea typeface="Liter"/>
              </a:rPr>
              <a:t>The movement was defined by a DIY ethos—many bands self-released music and embraced a lo-fi sound. Independent record labels flourished, and scenes developed in cities like New York, Brooklyn, and London.</a:t>
            </a:r>
            <a:endParaRPr b="0" lang="en-HK" sz="1010" spc="-1" strike="noStrike">
              <a:latin typeface="Arial"/>
            </a:endParaRPr>
          </a:p>
        </p:txBody>
      </p:sp>
      <p:sp>
        <p:nvSpPr>
          <p:cNvPr id="735" name="Shape 7"/>
          <p:cNvSpPr/>
          <p:nvPr/>
        </p:nvSpPr>
        <p:spPr>
          <a:xfrm>
            <a:off x="330120" y="3082320"/>
            <a:ext cx="6789960" cy="3619080"/>
          </a:xfrm>
          <a:custGeom>
            <a:avLst/>
            <a:gdLst/>
            <a:ahLst/>
            <a:rect l="l" t="t" r="r" b="b"/>
            <a:pathLst>
              <a:path w="6792111" h="3621386">
                <a:moveTo>
                  <a:pt x="0" y="0"/>
                </a:moveTo>
                <a:lnTo>
                  <a:pt x="6792111" y="0"/>
                </a:lnTo>
                <a:lnTo>
                  <a:pt x="6792111" y="3621386"/>
                </a:lnTo>
                <a:lnTo>
                  <a:pt x="0" y="3621386"/>
                </a:lnTo>
                <a:lnTo>
                  <a:pt x="0" y="0"/>
                </a:lnTo>
                <a:close/>
              </a:path>
            </a:pathLst>
          </a:custGeom>
          <a:noFill/>
          <a:ln w="25400">
            <a:solidFill>
              <a:srgbClr val="ddff00"/>
            </a:solidFill>
            <a:round/>
          </a:ln>
        </p:spPr>
        <p:style>
          <a:lnRef idx="0"/>
          <a:fillRef idx="0"/>
          <a:effectRef idx="0"/>
          <a:fontRef idx="minor"/>
        </p:style>
      </p:sp>
      <p:sp>
        <p:nvSpPr>
          <p:cNvPr id="736" name="Text 8"/>
          <p:cNvSpPr/>
          <p:nvPr/>
        </p:nvSpPr>
        <p:spPr>
          <a:xfrm>
            <a:off x="498960" y="3251160"/>
            <a:ext cx="6532560" cy="223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ddff00"/>
                </a:solidFill>
                <a:latin typeface="Liter"/>
                <a:ea typeface="Liter"/>
              </a:rPr>
              <a:t>Key Indie Revival Bands</a:t>
            </a:r>
            <a:endParaRPr b="0" lang="en-HK" sz="1260" spc="-1" strike="noStrike">
              <a:latin typeface="Arial"/>
            </a:endParaRPr>
          </a:p>
        </p:txBody>
      </p:sp>
      <p:sp>
        <p:nvSpPr>
          <p:cNvPr id="737" name="Shape 9"/>
          <p:cNvSpPr/>
          <p:nvPr/>
        </p:nvSpPr>
        <p:spPr>
          <a:xfrm>
            <a:off x="515160" y="360540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38" name="Text 10"/>
          <p:cNvSpPr/>
          <p:nvPr/>
        </p:nvSpPr>
        <p:spPr>
          <a:xfrm>
            <a:off x="659880" y="360540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Strokes</a:t>
            </a:r>
            <a:endParaRPr b="0" lang="en-HK" sz="1140" spc="-1" strike="noStrike">
              <a:latin typeface="Arial"/>
            </a:endParaRPr>
          </a:p>
        </p:txBody>
      </p:sp>
      <p:sp>
        <p:nvSpPr>
          <p:cNvPr id="739" name="Text 11"/>
          <p:cNvSpPr/>
          <p:nvPr/>
        </p:nvSpPr>
        <p:spPr>
          <a:xfrm>
            <a:off x="659880" y="389484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1998</a:t>
            </a:r>
            <a:endParaRPr b="0" lang="en-HK" sz="1010" spc="-1" strike="noStrike">
              <a:latin typeface="Arial"/>
            </a:endParaRPr>
          </a:p>
        </p:txBody>
      </p:sp>
      <p:sp>
        <p:nvSpPr>
          <p:cNvPr id="740" name="Text 12"/>
          <p:cNvSpPr/>
          <p:nvPr/>
        </p:nvSpPr>
        <p:spPr>
          <a:xfrm>
            <a:off x="659880" y="415260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"Is This It" (2001) - Kicked off the revival. Post-punk influences, stylish image</a:t>
            </a:r>
            <a:endParaRPr b="0" lang="en-HK" sz="880" spc="-1" strike="noStrike">
              <a:latin typeface="Arial"/>
            </a:endParaRPr>
          </a:p>
        </p:txBody>
      </p:sp>
      <p:sp>
        <p:nvSpPr>
          <p:cNvPr id="741" name="Shape 13"/>
          <p:cNvSpPr/>
          <p:nvPr/>
        </p:nvSpPr>
        <p:spPr>
          <a:xfrm>
            <a:off x="3808080" y="360540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2" name="Text 14"/>
          <p:cNvSpPr/>
          <p:nvPr/>
        </p:nvSpPr>
        <p:spPr>
          <a:xfrm>
            <a:off x="3952800" y="360540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Arctic Monkeys</a:t>
            </a:r>
            <a:endParaRPr b="0" lang="en-HK" sz="1140" spc="-1" strike="noStrike">
              <a:latin typeface="Arial"/>
            </a:endParaRPr>
          </a:p>
        </p:txBody>
      </p:sp>
      <p:sp>
        <p:nvSpPr>
          <p:cNvPr id="743" name="Text 15"/>
          <p:cNvSpPr/>
          <p:nvPr/>
        </p:nvSpPr>
        <p:spPr>
          <a:xfrm>
            <a:off x="3952800" y="389484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Sheffield, 2002</a:t>
            </a:r>
            <a:endParaRPr b="0" lang="en-HK" sz="1010" spc="-1" strike="noStrike">
              <a:latin typeface="Arial"/>
            </a:endParaRPr>
          </a:p>
        </p:txBody>
      </p:sp>
      <p:sp>
        <p:nvSpPr>
          <p:cNvPr id="744" name="Text 16"/>
          <p:cNvSpPr/>
          <p:nvPr/>
        </p:nvSpPr>
        <p:spPr>
          <a:xfrm>
            <a:off x="3952800" y="415260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"Whatever People Say I Am..." (2006) - UK indie explosion. Witty lyrics, energetic sound</a:t>
            </a:r>
            <a:endParaRPr b="0" lang="en-HK" sz="880" spc="-1" strike="noStrike">
              <a:latin typeface="Arial"/>
            </a:endParaRPr>
          </a:p>
        </p:txBody>
      </p:sp>
      <p:sp>
        <p:nvSpPr>
          <p:cNvPr id="745" name="Shape 17"/>
          <p:cNvSpPr/>
          <p:nvPr/>
        </p:nvSpPr>
        <p:spPr>
          <a:xfrm>
            <a:off x="515160" y="460332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46" name="Text 18"/>
          <p:cNvSpPr/>
          <p:nvPr/>
        </p:nvSpPr>
        <p:spPr>
          <a:xfrm>
            <a:off x="659880" y="460332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The White Stripes</a:t>
            </a:r>
            <a:endParaRPr b="0" lang="en-HK" sz="1140" spc="-1" strike="noStrike">
              <a:latin typeface="Arial"/>
            </a:endParaRPr>
          </a:p>
        </p:txBody>
      </p:sp>
      <p:sp>
        <p:nvSpPr>
          <p:cNvPr id="747" name="Text 19"/>
          <p:cNvSpPr/>
          <p:nvPr/>
        </p:nvSpPr>
        <p:spPr>
          <a:xfrm>
            <a:off x="659880" y="489276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Detroit, 1997</a:t>
            </a:r>
            <a:endParaRPr b="0" lang="en-HK" sz="1010" spc="-1" strike="noStrike">
              <a:latin typeface="Arial"/>
            </a:endParaRPr>
          </a:p>
        </p:txBody>
      </p:sp>
      <p:sp>
        <p:nvSpPr>
          <p:cNvPr id="748" name="Text 20"/>
          <p:cNvSpPr/>
          <p:nvPr/>
        </p:nvSpPr>
        <p:spPr>
          <a:xfrm>
            <a:off x="659880" y="515052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"Elephant" (2003) - Raw blues-influenced garage rock. Jack &amp; Meg White duo</a:t>
            </a:r>
            <a:endParaRPr b="0" lang="en-HK" sz="880" spc="-1" strike="noStrike">
              <a:latin typeface="Arial"/>
            </a:endParaRPr>
          </a:p>
        </p:txBody>
      </p:sp>
      <p:sp>
        <p:nvSpPr>
          <p:cNvPr id="749" name="Shape 21"/>
          <p:cNvSpPr/>
          <p:nvPr/>
        </p:nvSpPr>
        <p:spPr>
          <a:xfrm>
            <a:off x="3808080" y="460332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0" name="Text 22"/>
          <p:cNvSpPr/>
          <p:nvPr/>
        </p:nvSpPr>
        <p:spPr>
          <a:xfrm>
            <a:off x="3952800" y="460332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Yeah Yeah Yeahs</a:t>
            </a:r>
            <a:endParaRPr b="0" lang="en-HK" sz="1140" spc="-1" strike="noStrike">
              <a:latin typeface="Arial"/>
            </a:endParaRPr>
          </a:p>
        </p:txBody>
      </p:sp>
      <p:sp>
        <p:nvSpPr>
          <p:cNvPr id="751" name="Text 23"/>
          <p:cNvSpPr/>
          <p:nvPr/>
        </p:nvSpPr>
        <p:spPr>
          <a:xfrm>
            <a:off x="3952800" y="489276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2000</a:t>
            </a:r>
            <a:endParaRPr b="0" lang="en-HK" sz="1010" spc="-1" strike="noStrike">
              <a:latin typeface="Arial"/>
            </a:endParaRPr>
          </a:p>
        </p:txBody>
      </p:sp>
      <p:sp>
        <p:nvSpPr>
          <p:cNvPr id="752" name="Text 24"/>
          <p:cNvSpPr/>
          <p:nvPr/>
        </p:nvSpPr>
        <p:spPr>
          <a:xfrm>
            <a:off x="3952800" y="515052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"Fever to Tell" (2003) - Art-punk energy. Karen O's explosive stage presence</a:t>
            </a:r>
            <a:endParaRPr b="0" lang="en-HK" sz="880" spc="-1" strike="noStrike">
              <a:latin typeface="Arial"/>
            </a:endParaRPr>
          </a:p>
        </p:txBody>
      </p:sp>
      <p:sp>
        <p:nvSpPr>
          <p:cNvPr id="753" name="Shape 25"/>
          <p:cNvSpPr/>
          <p:nvPr/>
        </p:nvSpPr>
        <p:spPr>
          <a:xfrm>
            <a:off x="515160" y="560124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4" name="Text 26"/>
          <p:cNvSpPr/>
          <p:nvPr/>
        </p:nvSpPr>
        <p:spPr>
          <a:xfrm>
            <a:off x="659880" y="560124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Interpol</a:t>
            </a:r>
            <a:endParaRPr b="0" lang="en-HK" sz="1140" spc="-1" strike="noStrike">
              <a:latin typeface="Arial"/>
            </a:endParaRPr>
          </a:p>
        </p:txBody>
      </p:sp>
      <p:sp>
        <p:nvSpPr>
          <p:cNvPr id="755" name="Text 27"/>
          <p:cNvSpPr/>
          <p:nvPr/>
        </p:nvSpPr>
        <p:spPr>
          <a:xfrm>
            <a:off x="659880" y="589068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1997</a:t>
            </a:r>
            <a:endParaRPr b="0" lang="en-HK" sz="1010" spc="-1" strike="noStrike">
              <a:latin typeface="Arial"/>
            </a:endParaRPr>
          </a:p>
        </p:txBody>
      </p:sp>
      <p:sp>
        <p:nvSpPr>
          <p:cNvPr id="756" name="Text 28"/>
          <p:cNvSpPr/>
          <p:nvPr/>
        </p:nvSpPr>
        <p:spPr>
          <a:xfrm>
            <a:off x="659880" y="614844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"Turn on the Bright Lights" (2002) - Post-punk revival. Dark, atmospheric</a:t>
            </a:r>
            <a:endParaRPr b="0" lang="en-HK" sz="880" spc="-1" strike="noStrike">
              <a:latin typeface="Arial"/>
            </a:endParaRPr>
          </a:p>
        </p:txBody>
      </p:sp>
      <p:sp>
        <p:nvSpPr>
          <p:cNvPr id="757" name="Shape 29"/>
          <p:cNvSpPr/>
          <p:nvPr/>
        </p:nvSpPr>
        <p:spPr>
          <a:xfrm>
            <a:off x="3808080" y="5601240"/>
            <a:ext cx="29880" cy="866880"/>
          </a:xfrm>
          <a:custGeom>
            <a:avLst/>
            <a:gdLst/>
            <a:ahLst/>
            <a:rect l="l" t="t" r="r" b="b"/>
            <a:pathLst>
              <a:path w="32190" h="869133">
                <a:moveTo>
                  <a:pt x="0" y="0"/>
                </a:moveTo>
                <a:lnTo>
                  <a:pt x="32190" y="0"/>
                </a:lnTo>
                <a:lnTo>
                  <a:pt x="32190" y="869133"/>
                </a:lnTo>
                <a:lnTo>
                  <a:pt x="0" y="869133"/>
                </a:lnTo>
                <a:lnTo>
                  <a:pt x="0" y="0"/>
                </a:lnTo>
                <a:close/>
              </a:path>
            </a:pathLst>
          </a:custGeom>
          <a:solidFill>
            <a:srgbClr val="ddff00"/>
          </a:solidFill>
          <a:ln w="0">
            <a:noFill/>
          </a:ln>
        </p:spPr>
        <p:style>
          <a:lnRef idx="0"/>
          <a:fillRef idx="0"/>
          <a:effectRef idx="0"/>
          <a:fontRef idx="minor"/>
        </p:style>
      </p:sp>
      <p:sp>
        <p:nvSpPr>
          <p:cNvPr id="758" name="Text 30"/>
          <p:cNvSpPr/>
          <p:nvPr/>
        </p:nvSpPr>
        <p:spPr>
          <a:xfrm>
            <a:off x="3952800" y="5601240"/>
            <a:ext cx="30718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Vampire Weekend</a:t>
            </a:r>
            <a:endParaRPr b="0" lang="en-HK" sz="1140" spc="-1" strike="noStrike">
              <a:latin typeface="Arial"/>
            </a:endParaRPr>
          </a:p>
        </p:txBody>
      </p:sp>
      <p:sp>
        <p:nvSpPr>
          <p:cNvPr id="759" name="Text 31"/>
          <p:cNvSpPr/>
          <p:nvPr/>
        </p:nvSpPr>
        <p:spPr>
          <a:xfrm>
            <a:off x="3952800" y="5890680"/>
            <a:ext cx="3063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alpha val="70000"/>
                  </a:srgbClr>
                </a:solidFill>
                <a:latin typeface="Liter"/>
                <a:ea typeface="Liter"/>
              </a:rPr>
              <a:t>New York, 2006</a:t>
            </a:r>
            <a:endParaRPr b="0" lang="en-HK" sz="1010" spc="-1" strike="noStrike">
              <a:latin typeface="Arial"/>
            </a:endParaRPr>
          </a:p>
        </p:txBody>
      </p:sp>
      <p:sp>
        <p:nvSpPr>
          <p:cNvPr id="760" name="Text 32"/>
          <p:cNvSpPr/>
          <p:nvPr/>
        </p:nvSpPr>
        <p:spPr>
          <a:xfrm>
            <a:off x="3952800" y="6148440"/>
            <a:ext cx="3056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60000"/>
                  </a:srgbClr>
                </a:solidFill>
                <a:latin typeface="Liter"/>
                <a:ea typeface="Liter"/>
              </a:rPr>
              <a:t>Self-titled debut (2008) - Indie rock meets African rhythms. Preppy aesthetic</a:t>
            </a:r>
            <a:endParaRPr b="0" lang="en-HK" sz="880" spc="-1" strike="noStrike">
              <a:latin typeface="Arial"/>
            </a:endParaRPr>
          </a:p>
        </p:txBody>
      </p:sp>
      <p:sp>
        <p:nvSpPr>
          <p:cNvPr id="761" name="Image 0"/>
          <p:cNvSpPr/>
          <p:nvPr/>
        </p:nvSpPr>
        <p:spPr>
          <a:xfrm>
            <a:off x="7326360" y="1062360"/>
            <a:ext cx="4536720" cy="2572920"/>
          </a:xfrm>
          <a:prstGeom prst="roundRect">
            <a:avLst>
              <a:gd name="adj" fmla="val 0"/>
            </a:avLst>
          </a:prstGeom>
          <a:blipFill rotWithShape="0">
            <a:blip r:embed="rId1"/>
            <a:srcRect/>
            <a:stretch/>
          </a:blipFill>
          <a:ln w="0">
            <a:noFill/>
          </a:ln>
        </p:spPr>
        <p:style>
          <a:lnRef idx="0"/>
          <a:fillRef idx="0"/>
          <a:effectRef idx="0"/>
          <a:fontRef idx="minor"/>
        </p:style>
      </p:sp>
      <p:sp>
        <p:nvSpPr>
          <p:cNvPr id="762" name="Shape 33"/>
          <p:cNvSpPr/>
          <p:nvPr/>
        </p:nvSpPr>
        <p:spPr>
          <a:xfrm>
            <a:off x="7326360" y="1062360"/>
            <a:ext cx="4536720" cy="2572920"/>
          </a:xfrm>
          <a:custGeom>
            <a:avLst/>
            <a:gdLst/>
            <a:ahLst/>
            <a:rect l="l" t="t" r="r" b="b"/>
            <a:pathLst>
              <a:path w="4538804" h="2575208">
                <a:moveTo>
                  <a:pt x="0" y="0"/>
                </a:moveTo>
                <a:lnTo>
                  <a:pt x="4538804" y="0"/>
                </a:lnTo>
                <a:lnTo>
                  <a:pt x="4538804" y="2575208"/>
                </a:lnTo>
                <a:lnTo>
                  <a:pt x="0" y="257520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763" name="Text 34"/>
          <p:cNvSpPr/>
          <p:nvPr/>
        </p:nvSpPr>
        <p:spPr>
          <a:xfrm>
            <a:off x="7455240" y="3094200"/>
            <a:ext cx="433548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INDIE ROCK</a:t>
            </a:r>
            <a:endParaRPr b="0" lang="en-HK" sz="880" spc="-1" strike="noStrike">
              <a:latin typeface="Arial"/>
            </a:endParaRPr>
          </a:p>
        </p:txBody>
      </p:sp>
      <p:sp>
        <p:nvSpPr>
          <p:cNvPr id="764" name="Text 35"/>
          <p:cNvSpPr/>
          <p:nvPr/>
        </p:nvSpPr>
        <p:spPr>
          <a:xfrm>
            <a:off x="7455240" y="3287160"/>
            <a:ext cx="43516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ffffff"/>
                </a:solidFill>
                <a:latin typeface="Liter"/>
                <a:ea typeface="Liter"/>
              </a:rPr>
              <a:t>Live Performance Energy</a:t>
            </a:r>
            <a:endParaRPr b="0" lang="en-HK" sz="1140" spc="-1" strike="noStrike">
              <a:latin typeface="Arial"/>
            </a:endParaRPr>
          </a:p>
        </p:txBody>
      </p:sp>
      <p:sp>
        <p:nvSpPr>
          <p:cNvPr id="765" name="Shape 36"/>
          <p:cNvSpPr/>
          <p:nvPr/>
        </p:nvSpPr>
        <p:spPr>
          <a:xfrm>
            <a:off x="7334640" y="3778200"/>
            <a:ext cx="4520520" cy="1623600"/>
          </a:xfrm>
          <a:custGeom>
            <a:avLst/>
            <a:gdLst/>
            <a:ahLst/>
            <a:rect l="l" t="t" r="r" b="b"/>
            <a:pathLst>
              <a:path w="4522709" h="1625600">
                <a:moveTo>
                  <a:pt x="0" y="0"/>
                </a:moveTo>
                <a:lnTo>
                  <a:pt x="4522709" y="0"/>
                </a:lnTo>
                <a:lnTo>
                  <a:pt x="4522709" y="1625600"/>
                </a:lnTo>
                <a:lnTo>
                  <a:pt x="0" y="1625600"/>
                </a:lnTo>
                <a:lnTo>
                  <a:pt x="0" y="0"/>
                </a:lnTo>
                <a:close/>
              </a:path>
            </a:pathLst>
          </a:custGeom>
          <a:noFill/>
          <a:ln w="25400">
            <a:solidFill>
              <a:srgbClr val="ddff00"/>
            </a:solidFill>
            <a:round/>
          </a:ln>
        </p:spPr>
        <p:style>
          <a:lnRef idx="0"/>
          <a:fillRef idx="0"/>
          <a:effectRef idx="0"/>
          <a:fontRef idx="minor"/>
        </p:style>
      </p:sp>
      <p:sp>
        <p:nvSpPr>
          <p:cNvPr id="766" name="Text 37"/>
          <p:cNvSpPr/>
          <p:nvPr/>
        </p:nvSpPr>
        <p:spPr>
          <a:xfrm>
            <a:off x="7503480" y="3947040"/>
            <a:ext cx="425484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ddff00"/>
                </a:solidFill>
                <a:latin typeface="Liter"/>
                <a:ea typeface="Liter"/>
              </a:rPr>
              <a:t>DIY Aesthetics</a:t>
            </a:r>
            <a:endParaRPr b="0" lang="en-HK" sz="1140" spc="-1" strike="noStrike">
              <a:latin typeface="Arial"/>
            </a:endParaRPr>
          </a:p>
        </p:txBody>
      </p:sp>
      <p:sp>
        <p:nvSpPr>
          <p:cNvPr id="767" name="Shape 38"/>
          <p:cNvSpPr/>
          <p:nvPr/>
        </p:nvSpPr>
        <p:spPr>
          <a:xfrm>
            <a:off x="7503480" y="4333320"/>
            <a:ext cx="62280" cy="6228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68" name="Text 39"/>
          <p:cNvSpPr/>
          <p:nvPr/>
        </p:nvSpPr>
        <p:spPr>
          <a:xfrm>
            <a:off x="7632360" y="4268880"/>
            <a:ext cx="26373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Independent Labels:</a:t>
            </a:r>
            <a:r>
              <a:rPr b="0" lang="en-US" sz="1010" spc="-1" strike="noStrike">
                <a:solidFill>
                  <a:srgbClr val="ffffff">
                    <a:alpha val="80000"/>
                  </a:srgbClr>
                </a:solidFill>
                <a:latin typeface="Liter"/>
                <a:ea typeface="Liter"/>
              </a:rPr>
              <a:t> Domino, Merge, Sub Pop</a:t>
            </a:r>
            <a:endParaRPr b="0" lang="en-HK" sz="1010" spc="-1" strike="noStrike">
              <a:latin typeface="Arial"/>
            </a:endParaRPr>
          </a:p>
        </p:txBody>
      </p:sp>
      <p:sp>
        <p:nvSpPr>
          <p:cNvPr id="769" name="Shape 40"/>
          <p:cNvSpPr/>
          <p:nvPr/>
        </p:nvSpPr>
        <p:spPr>
          <a:xfrm>
            <a:off x="7503480" y="4590720"/>
            <a:ext cx="62280" cy="6228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0" name="Text 41"/>
          <p:cNvSpPr/>
          <p:nvPr/>
        </p:nvSpPr>
        <p:spPr>
          <a:xfrm>
            <a:off x="7632360" y="4526640"/>
            <a:ext cx="246852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Lo-fi Production:</a:t>
            </a:r>
            <a:r>
              <a:rPr b="0" lang="en-US" sz="1010" spc="-1" strike="noStrike">
                <a:solidFill>
                  <a:srgbClr val="ffffff">
                    <a:alpha val="80000"/>
                  </a:srgbClr>
                </a:solidFill>
                <a:latin typeface="Liter"/>
                <a:ea typeface="Liter"/>
              </a:rPr>
              <a:t> Embracing imperfections</a:t>
            </a:r>
            <a:endParaRPr b="0" lang="en-HK" sz="1010" spc="-1" strike="noStrike">
              <a:latin typeface="Arial"/>
            </a:endParaRPr>
          </a:p>
        </p:txBody>
      </p:sp>
      <p:sp>
        <p:nvSpPr>
          <p:cNvPr id="771" name="Shape 42"/>
          <p:cNvSpPr/>
          <p:nvPr/>
        </p:nvSpPr>
        <p:spPr>
          <a:xfrm>
            <a:off x="7503480" y="4848480"/>
            <a:ext cx="62280" cy="6228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2" name="Text 43"/>
          <p:cNvSpPr/>
          <p:nvPr/>
        </p:nvSpPr>
        <p:spPr>
          <a:xfrm>
            <a:off x="7632360" y="4784040"/>
            <a:ext cx="24764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Self-Release:</a:t>
            </a:r>
            <a:r>
              <a:rPr b="0" lang="en-US" sz="1010" spc="-1" strike="noStrike">
                <a:solidFill>
                  <a:srgbClr val="ffffff">
                    <a:alpha val="80000"/>
                  </a:srgbClr>
                </a:solidFill>
                <a:latin typeface="Liter"/>
                <a:ea typeface="Liter"/>
              </a:rPr>
              <a:t> Bands controlling their music</a:t>
            </a:r>
            <a:endParaRPr b="0" lang="en-HK" sz="1010" spc="-1" strike="noStrike">
              <a:latin typeface="Arial"/>
            </a:endParaRPr>
          </a:p>
        </p:txBody>
      </p:sp>
      <p:sp>
        <p:nvSpPr>
          <p:cNvPr id="773" name="Shape 44"/>
          <p:cNvSpPr/>
          <p:nvPr/>
        </p:nvSpPr>
        <p:spPr>
          <a:xfrm>
            <a:off x="7503480" y="5105880"/>
            <a:ext cx="62280" cy="62280"/>
          </a:xfrm>
          <a:custGeom>
            <a:avLst/>
            <a:gdLst/>
            <a:ahLst/>
            <a:rect l="l" t="t" r="r" b="b"/>
            <a:pathLst>
              <a:path w="64380" h="64380">
                <a:moveTo>
                  <a:pt x="0" y="0"/>
                </a:moveTo>
                <a:lnTo>
                  <a:pt x="64380" y="0"/>
                </a:lnTo>
                <a:lnTo>
                  <a:pt x="64380" y="64380"/>
                </a:lnTo>
                <a:lnTo>
                  <a:pt x="0" y="64380"/>
                </a:lnTo>
                <a:lnTo>
                  <a:pt x="0" y="0"/>
                </a:lnTo>
                <a:close/>
              </a:path>
            </a:pathLst>
          </a:custGeom>
          <a:solidFill>
            <a:srgbClr val="ddff00"/>
          </a:solidFill>
          <a:ln w="0">
            <a:noFill/>
          </a:ln>
        </p:spPr>
        <p:style>
          <a:lnRef idx="0"/>
          <a:fillRef idx="0"/>
          <a:effectRef idx="0"/>
          <a:fontRef idx="minor"/>
        </p:style>
      </p:sp>
      <p:sp>
        <p:nvSpPr>
          <p:cNvPr id="774" name="Text 45"/>
          <p:cNvSpPr/>
          <p:nvPr/>
        </p:nvSpPr>
        <p:spPr>
          <a:xfrm>
            <a:off x="7632360" y="5041440"/>
            <a:ext cx="27500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alpha val="80000"/>
                  </a:srgbClr>
                </a:solidFill>
                <a:latin typeface="Liter"/>
                <a:ea typeface="Liter"/>
              </a:rPr>
              <a:t>Festival Culture:</a:t>
            </a:r>
            <a:r>
              <a:rPr b="0" lang="en-US" sz="1010" spc="-1" strike="noStrike">
                <a:solidFill>
                  <a:srgbClr val="ffffff">
                    <a:alpha val="80000"/>
                  </a:srgbClr>
                </a:solidFill>
                <a:latin typeface="Liter"/>
                <a:ea typeface="Liter"/>
              </a:rPr>
              <a:t> Coachella, Lollapalooza, SXSW</a:t>
            </a:r>
            <a:endParaRPr b="0" lang="en-HK" sz="1010" spc="-1" strike="noStrike">
              <a:latin typeface="Arial"/>
            </a:endParaRPr>
          </a:p>
        </p:txBody>
      </p:sp>
      <p:sp>
        <p:nvSpPr>
          <p:cNvPr id="775" name="Shape 46"/>
          <p:cNvSpPr/>
          <p:nvPr/>
        </p:nvSpPr>
        <p:spPr>
          <a:xfrm>
            <a:off x="7326360" y="5540400"/>
            <a:ext cx="4536720" cy="1172880"/>
          </a:xfrm>
          <a:custGeom>
            <a:avLst/>
            <a:gdLst/>
            <a:ahLst/>
            <a:rect l="l" t="t" r="r" b="b"/>
            <a:pathLst>
              <a:path w="4538804" h="1174939">
                <a:moveTo>
                  <a:pt x="0" y="0"/>
                </a:moveTo>
                <a:lnTo>
                  <a:pt x="4538804" y="0"/>
                </a:lnTo>
                <a:lnTo>
                  <a:pt x="4538804" y="1174939"/>
                </a:lnTo>
                <a:lnTo>
                  <a:pt x="0" y="1174939"/>
                </a:lnTo>
                <a:lnTo>
                  <a:pt x="0" y="0"/>
                </a:lnTo>
                <a:close/>
              </a:path>
            </a:pathLst>
          </a:custGeom>
          <a:solidFill>
            <a:srgbClr val="ddff00"/>
          </a:solidFill>
          <a:ln w="0">
            <a:noFill/>
          </a:ln>
        </p:spPr>
        <p:style>
          <a:lnRef idx="0"/>
          <a:fillRef idx="0"/>
          <a:effectRef idx="0"/>
          <a:fontRef idx="minor"/>
        </p:style>
      </p:sp>
      <p:sp>
        <p:nvSpPr>
          <p:cNvPr id="776" name="Text 47"/>
          <p:cNvSpPr/>
          <p:nvPr/>
        </p:nvSpPr>
        <p:spPr>
          <a:xfrm>
            <a:off x="7455240" y="5669280"/>
            <a:ext cx="4351680" cy="2232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40" spc="-1" strike="noStrike">
                <a:solidFill>
                  <a:srgbClr val="000000"/>
                </a:solidFill>
                <a:latin typeface="Liter"/>
                <a:ea typeface="Liter"/>
              </a:rPr>
              <a:t>Diverse Influences</a:t>
            </a:r>
            <a:endParaRPr b="0" lang="en-HK" sz="1140" spc="-1" strike="noStrike">
              <a:latin typeface="Arial"/>
            </a:endParaRPr>
          </a:p>
        </p:txBody>
      </p:sp>
      <p:sp>
        <p:nvSpPr>
          <p:cNvPr id="777" name="Text 48"/>
          <p:cNvSpPr/>
          <p:nvPr/>
        </p:nvSpPr>
        <p:spPr>
          <a:xfrm>
            <a:off x="7455240" y="5959080"/>
            <a:ext cx="4343400" cy="625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000000"/>
                </a:solidFill>
                <a:latin typeface="Liter"/>
                <a:ea typeface="Liter"/>
              </a:rPr>
              <a:t>Indie revival bands drew from post-punk, new wave, garage rock, and even world music, creating a rich tapestry of sounds that proved rock's continued vitality.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78"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779"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780" name="Shape 1"/>
          <p:cNvSpPr/>
          <p:nvPr/>
        </p:nvSpPr>
        <p:spPr>
          <a:xfrm rot="720000">
            <a:off x="10753200" y="541944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781"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782" name="Text 3"/>
          <p:cNvSpPr/>
          <p:nvPr/>
        </p:nvSpPr>
        <p:spPr>
          <a:xfrm>
            <a:off x="561240" y="1638360"/>
            <a:ext cx="119808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08</a:t>
            </a:r>
            <a:endParaRPr b="0" lang="en-HK" sz="5400" spc="-1" strike="noStrike">
              <a:latin typeface="Arial"/>
            </a:endParaRPr>
          </a:p>
        </p:txBody>
      </p:sp>
      <p:sp>
        <p:nvSpPr>
          <p:cNvPr id="783" name="Shape 4"/>
          <p:cNvSpPr/>
          <p:nvPr/>
        </p:nvSpPr>
        <p:spPr>
          <a:xfrm>
            <a:off x="1828800" y="1752480"/>
            <a:ext cx="4741200" cy="36000"/>
          </a:xfrm>
          <a:custGeom>
            <a:avLst/>
            <a:gdLst/>
            <a:ahLst/>
            <a:rect l="l" t="t" r="r" b="b"/>
            <a:pathLst>
              <a:path w="4743450" h="38100">
                <a:moveTo>
                  <a:pt x="0" y="0"/>
                </a:moveTo>
                <a:lnTo>
                  <a:pt x="4743450" y="0"/>
                </a:lnTo>
                <a:lnTo>
                  <a:pt x="4743450" y="38100"/>
                </a:lnTo>
                <a:lnTo>
                  <a:pt x="0" y="38100"/>
                </a:lnTo>
                <a:lnTo>
                  <a:pt x="0" y="0"/>
                </a:lnTo>
                <a:close/>
              </a:path>
            </a:pathLst>
          </a:custGeom>
          <a:solidFill>
            <a:srgbClr val="ddff00"/>
          </a:solidFill>
          <a:ln w="0">
            <a:noFill/>
          </a:ln>
        </p:spPr>
        <p:style>
          <a:lnRef idx="0"/>
          <a:fillRef idx="0"/>
          <a:effectRef idx="0"/>
          <a:fontRef idx="minor"/>
        </p:style>
      </p:sp>
      <p:sp>
        <p:nvSpPr>
          <p:cNvPr id="784" name="Text 5"/>
          <p:cNvSpPr/>
          <p:nvPr/>
        </p:nvSpPr>
        <p:spPr>
          <a:xfrm>
            <a:off x="1828800" y="1943280"/>
            <a:ext cx="48268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EIGHT</a:t>
            </a:r>
            <a:endParaRPr b="0" lang="en-HK" sz="1350" spc="-1" strike="noStrike">
              <a:latin typeface="Arial"/>
            </a:endParaRPr>
          </a:p>
        </p:txBody>
      </p:sp>
      <p:sp>
        <p:nvSpPr>
          <p:cNvPr id="785" name="Text 6"/>
          <p:cNvSpPr/>
          <p:nvPr/>
        </p:nvSpPr>
        <p:spPr>
          <a:xfrm>
            <a:off x="380880" y="2895480"/>
            <a:ext cx="653184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LEGACY &amp;</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CULTURAL IMPACT</a:t>
            </a:r>
            <a:endParaRPr b="0" lang="en-HK" sz="5400" spc="-1" strike="noStrike">
              <a:latin typeface="Arial"/>
            </a:endParaRPr>
          </a:p>
        </p:txBody>
      </p:sp>
      <p:sp>
        <p:nvSpPr>
          <p:cNvPr id="786" name="Text 7"/>
          <p:cNvSpPr/>
          <p:nvPr/>
        </p:nvSpPr>
        <p:spPr>
          <a:xfrm>
            <a:off x="380880" y="4838760"/>
            <a:ext cx="63032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Rock's Enduring Influence on Music &amp; Culture</a:t>
            </a:r>
            <a:endParaRPr b="0" lang="en-HK" sz="1800" spc="-1" strike="noStrike">
              <a:latin typeface="Arial"/>
            </a:endParaRPr>
          </a:p>
        </p:txBody>
      </p:sp>
      <p:sp>
        <p:nvSpPr>
          <p:cNvPr id="787"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788"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789"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790"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791" name="Text 1"/>
          <p:cNvSpPr/>
          <p:nvPr/>
        </p:nvSpPr>
        <p:spPr>
          <a:xfrm>
            <a:off x="507960" y="317520"/>
            <a:ext cx="332352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08</a:t>
            </a:r>
            <a:endParaRPr b="0" lang="en-HK" sz="880" spc="-1" strike="noStrike">
              <a:latin typeface="Arial"/>
            </a:endParaRPr>
          </a:p>
        </p:txBody>
      </p:sp>
      <p:sp>
        <p:nvSpPr>
          <p:cNvPr id="792" name="Text 2"/>
          <p:cNvSpPr/>
          <p:nvPr/>
        </p:nvSpPr>
        <p:spPr>
          <a:xfrm>
            <a:off x="507960" y="476280"/>
            <a:ext cx="341100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Rock's Cultural Revolution</a:t>
            </a:r>
            <a:endParaRPr b="0" lang="en-HK" sz="2250" spc="-1" strike="noStrike">
              <a:latin typeface="Arial"/>
            </a:endParaRPr>
          </a:p>
        </p:txBody>
      </p:sp>
      <p:sp>
        <p:nvSpPr>
          <p:cNvPr id="793" name="Shape 3"/>
          <p:cNvSpPr/>
          <p:nvPr/>
        </p:nvSpPr>
        <p:spPr>
          <a:xfrm>
            <a:off x="317520" y="1047600"/>
            <a:ext cx="6816240" cy="1855080"/>
          </a:xfrm>
          <a:custGeom>
            <a:avLst/>
            <a:gdLst/>
            <a:ahLst/>
            <a:rect l="l" t="t" r="r" b="b"/>
            <a:pathLst>
              <a:path w="6818313" h="1857375">
                <a:moveTo>
                  <a:pt x="0" y="0"/>
                </a:moveTo>
                <a:lnTo>
                  <a:pt x="6818313" y="0"/>
                </a:lnTo>
                <a:lnTo>
                  <a:pt x="6818313" y="1857375"/>
                </a:lnTo>
                <a:lnTo>
                  <a:pt x="0" y="1857375"/>
                </a:lnTo>
                <a:lnTo>
                  <a:pt x="0" y="0"/>
                </a:lnTo>
                <a:close/>
              </a:path>
            </a:pathLst>
          </a:custGeom>
          <a:solidFill>
            <a:srgbClr val="ddff00"/>
          </a:solidFill>
          <a:ln w="0">
            <a:noFill/>
          </a:ln>
        </p:spPr>
        <p:style>
          <a:lnRef idx="0"/>
          <a:fillRef idx="0"/>
          <a:effectRef idx="0"/>
          <a:fontRef idx="minor"/>
        </p:style>
      </p:sp>
      <p:sp>
        <p:nvSpPr>
          <p:cNvPr id="794" name="Text 4"/>
          <p:cNvSpPr/>
          <p:nvPr/>
        </p:nvSpPr>
        <p:spPr>
          <a:xfrm>
            <a:off x="507960" y="1238400"/>
            <a:ext cx="65304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More Than Music</a:t>
            </a:r>
            <a:endParaRPr b="0" lang="en-HK" sz="1500" spc="-1" strike="noStrike">
              <a:latin typeface="Arial"/>
            </a:endParaRPr>
          </a:p>
        </p:txBody>
      </p:sp>
      <p:sp>
        <p:nvSpPr>
          <p:cNvPr id="795" name="Text 5"/>
          <p:cNvSpPr/>
          <p:nvPr/>
        </p:nvSpPr>
        <p:spPr>
          <a:xfrm>
            <a:off x="507960" y="1587600"/>
            <a:ext cx="64987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has been far more than just a genre—it's been a cultural force that shaped fashion, youth identity, social movements, and global culture.</a:t>
            </a:r>
            <a:r>
              <a:rPr b="0" lang="en-US" sz="1000" spc="-1" strike="noStrike">
                <a:solidFill>
                  <a:srgbClr val="000000"/>
                </a:solidFill>
                <a:latin typeface="Liter"/>
                <a:ea typeface="Liter"/>
              </a:rPr>
              <a:t> From the rebellious spirit of the 1950s to the grunge revolution of the 1990s, rock has consistently challenged norms and given voice to generations seeking change.</a:t>
            </a:r>
            <a:endParaRPr b="0" lang="en-HK" sz="1000" spc="-1" strike="noStrike">
              <a:latin typeface="Arial"/>
            </a:endParaRPr>
          </a:p>
        </p:txBody>
      </p:sp>
      <p:sp>
        <p:nvSpPr>
          <p:cNvPr id="796" name="Text 6"/>
          <p:cNvSpPr/>
          <p:nvPr/>
        </p:nvSpPr>
        <p:spPr>
          <a:xfrm>
            <a:off x="507960" y="2301840"/>
            <a:ext cx="6498720" cy="410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Rock became a symbol of freedom, rebellion, and self-expression. It broke down racial barriers, fueled countercultural movements, and provided the soundtrack for social revolution.</a:t>
            </a:r>
            <a:endParaRPr b="0" lang="en-HK" sz="1000" spc="-1" strike="noStrike">
              <a:latin typeface="Arial"/>
            </a:endParaRPr>
          </a:p>
        </p:txBody>
      </p:sp>
      <p:sp>
        <p:nvSpPr>
          <p:cNvPr id="797" name="Shape 7"/>
          <p:cNvSpPr/>
          <p:nvPr/>
        </p:nvSpPr>
        <p:spPr>
          <a:xfrm>
            <a:off x="325440" y="3040200"/>
            <a:ext cx="6800400" cy="3061800"/>
          </a:xfrm>
          <a:custGeom>
            <a:avLst/>
            <a:gdLst/>
            <a:ahLst/>
            <a:rect l="l" t="t" r="r" b="b"/>
            <a:pathLst>
              <a:path w="6802438" h="3063875">
                <a:moveTo>
                  <a:pt x="0" y="0"/>
                </a:moveTo>
                <a:lnTo>
                  <a:pt x="6802438" y="0"/>
                </a:lnTo>
                <a:lnTo>
                  <a:pt x="6802438" y="3063875"/>
                </a:lnTo>
                <a:lnTo>
                  <a:pt x="0" y="3063875"/>
                </a:lnTo>
                <a:lnTo>
                  <a:pt x="0" y="0"/>
                </a:lnTo>
                <a:close/>
              </a:path>
            </a:pathLst>
          </a:custGeom>
          <a:noFill/>
          <a:ln w="25400">
            <a:solidFill>
              <a:srgbClr val="ddff00"/>
            </a:solidFill>
            <a:round/>
          </a:ln>
        </p:spPr>
        <p:style>
          <a:lnRef idx="0"/>
          <a:fillRef idx="0"/>
          <a:effectRef idx="0"/>
          <a:fontRef idx="minor"/>
        </p:style>
      </p:sp>
      <p:sp>
        <p:nvSpPr>
          <p:cNvPr id="798" name="Text 8"/>
          <p:cNvSpPr/>
          <p:nvPr/>
        </p:nvSpPr>
        <p:spPr>
          <a:xfrm>
            <a:off x="492120" y="3206880"/>
            <a:ext cx="65462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Cultural Impact Areas</a:t>
            </a:r>
            <a:endParaRPr b="0" lang="en-HK" sz="1250" spc="-1" strike="noStrike">
              <a:latin typeface="Arial"/>
            </a:endParaRPr>
          </a:p>
        </p:txBody>
      </p:sp>
      <p:sp>
        <p:nvSpPr>
          <p:cNvPr id="799" name="Shape 9"/>
          <p:cNvSpPr/>
          <p:nvPr/>
        </p:nvSpPr>
        <p:spPr>
          <a:xfrm>
            <a:off x="496080" y="3560040"/>
            <a:ext cx="3164760" cy="111708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0" name="Shape 10"/>
          <p:cNvSpPr/>
          <p:nvPr/>
        </p:nvSpPr>
        <p:spPr>
          <a:xfrm>
            <a:off x="628920" y="3730680"/>
            <a:ext cx="176400" cy="140760"/>
          </a:xfrm>
          <a:custGeom>
            <a:avLst/>
            <a:gdLst/>
            <a:ah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w="0">
            <a:noFill/>
          </a:ln>
        </p:spPr>
        <p:style>
          <a:lnRef idx="0"/>
          <a:fillRef idx="0"/>
          <a:effectRef idx="0"/>
          <a:fontRef idx="minor"/>
        </p:style>
      </p:sp>
      <p:sp>
        <p:nvSpPr>
          <p:cNvPr id="801" name="Text 11"/>
          <p:cNvSpPr/>
          <p:nvPr/>
        </p:nvSpPr>
        <p:spPr>
          <a:xfrm>
            <a:off x="809640" y="3691080"/>
            <a:ext cx="2791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Fashion</a:t>
            </a:r>
            <a:endParaRPr b="0" lang="en-HK" sz="1130" spc="-1" strike="noStrike">
              <a:latin typeface="Arial"/>
            </a:endParaRPr>
          </a:p>
        </p:txBody>
      </p:sp>
      <p:sp>
        <p:nvSpPr>
          <p:cNvPr id="802" name="Text 12"/>
          <p:cNvSpPr/>
          <p:nvPr/>
        </p:nvSpPr>
        <p:spPr>
          <a:xfrm>
            <a:off x="627120" y="3976560"/>
            <a:ext cx="2966400" cy="56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From leather jackets and blue jeans to flannel shirts and ripped jeans, rock fashion became a universal language of rebellion and identity</a:t>
            </a:r>
            <a:endParaRPr b="0" lang="en-HK" sz="1000" spc="-1" strike="noStrike">
              <a:latin typeface="Arial"/>
            </a:endParaRPr>
          </a:p>
        </p:txBody>
      </p:sp>
      <p:sp>
        <p:nvSpPr>
          <p:cNvPr id="803" name="Shape 13"/>
          <p:cNvSpPr/>
          <p:nvPr/>
        </p:nvSpPr>
        <p:spPr>
          <a:xfrm>
            <a:off x="3794760" y="3560040"/>
            <a:ext cx="3164760" cy="111708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4" name="Shape 14"/>
          <p:cNvSpPr/>
          <p:nvPr/>
        </p:nvSpPr>
        <p:spPr>
          <a:xfrm>
            <a:off x="3927960" y="3730680"/>
            <a:ext cx="176400" cy="140760"/>
          </a:xfrm>
          <a:custGeom>
            <a:avLst/>
            <a:gdLst/>
            <a:ah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w="0">
            <a:noFill/>
          </a:ln>
        </p:spPr>
        <p:style>
          <a:lnRef idx="0"/>
          <a:fillRef idx="0"/>
          <a:effectRef idx="0"/>
          <a:fontRef idx="minor"/>
        </p:style>
      </p:sp>
      <p:sp>
        <p:nvSpPr>
          <p:cNvPr id="805" name="Text 15"/>
          <p:cNvSpPr/>
          <p:nvPr/>
        </p:nvSpPr>
        <p:spPr>
          <a:xfrm>
            <a:off x="4108320" y="3691080"/>
            <a:ext cx="2791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Youth Culture</a:t>
            </a:r>
            <a:endParaRPr b="0" lang="en-HK" sz="1130" spc="-1" strike="noStrike">
              <a:latin typeface="Arial"/>
            </a:endParaRPr>
          </a:p>
        </p:txBody>
      </p:sp>
      <p:sp>
        <p:nvSpPr>
          <p:cNvPr id="806" name="Text 16"/>
          <p:cNvSpPr/>
          <p:nvPr/>
        </p:nvSpPr>
        <p:spPr>
          <a:xfrm>
            <a:off x="3925800" y="3976560"/>
            <a:ext cx="2966400" cy="56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gave teenagers a voice and identity, creating generational bonds and empowering youth to challenge authority</a:t>
            </a:r>
            <a:endParaRPr b="0" lang="en-HK" sz="1000" spc="-1" strike="noStrike">
              <a:latin typeface="Arial"/>
            </a:endParaRPr>
          </a:p>
        </p:txBody>
      </p:sp>
      <p:sp>
        <p:nvSpPr>
          <p:cNvPr id="807" name="Shape 17"/>
          <p:cNvSpPr/>
          <p:nvPr/>
        </p:nvSpPr>
        <p:spPr>
          <a:xfrm>
            <a:off x="496080" y="4813920"/>
            <a:ext cx="3164760" cy="111708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08" name="Shape 18"/>
          <p:cNvSpPr/>
          <p:nvPr/>
        </p:nvSpPr>
        <p:spPr>
          <a:xfrm>
            <a:off x="664920" y="4984920"/>
            <a:ext cx="105120" cy="140760"/>
          </a:xfrm>
          <a:custGeom>
            <a:avLst/>
            <a:gdLst/>
            <a:ah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w="0">
            <a:noFill/>
          </a:ln>
        </p:spPr>
        <p:style>
          <a:lnRef idx="0"/>
          <a:fillRef idx="0"/>
          <a:effectRef idx="0"/>
          <a:fontRef idx="minor"/>
        </p:style>
      </p:sp>
      <p:sp>
        <p:nvSpPr>
          <p:cNvPr id="809" name="Text 19"/>
          <p:cNvSpPr/>
          <p:nvPr/>
        </p:nvSpPr>
        <p:spPr>
          <a:xfrm>
            <a:off x="809640" y="4944960"/>
            <a:ext cx="2791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Social Movements</a:t>
            </a:r>
            <a:endParaRPr b="0" lang="en-HK" sz="1130" spc="-1" strike="noStrike">
              <a:latin typeface="Arial"/>
            </a:endParaRPr>
          </a:p>
        </p:txBody>
      </p:sp>
      <p:sp>
        <p:nvSpPr>
          <p:cNvPr id="810" name="Text 20"/>
          <p:cNvSpPr/>
          <p:nvPr/>
        </p:nvSpPr>
        <p:spPr>
          <a:xfrm>
            <a:off x="627120" y="5230800"/>
            <a:ext cx="2966400" cy="56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Civil rights, anti-war protests, feminism—rock provided the soundtrack for social change and political activism</a:t>
            </a:r>
            <a:endParaRPr b="0" lang="en-HK" sz="1000" spc="-1" strike="noStrike">
              <a:latin typeface="Arial"/>
            </a:endParaRPr>
          </a:p>
        </p:txBody>
      </p:sp>
      <p:sp>
        <p:nvSpPr>
          <p:cNvPr id="811" name="Shape 21"/>
          <p:cNvSpPr/>
          <p:nvPr/>
        </p:nvSpPr>
        <p:spPr>
          <a:xfrm>
            <a:off x="3794760" y="4813920"/>
            <a:ext cx="3164760" cy="1117080"/>
          </a:xfrm>
          <a:custGeom>
            <a:avLst/>
            <a:gdLst/>
            <a:ahLst/>
            <a:rect l="l" t="t" r="r" b="b"/>
            <a:pathLst>
              <a:path w="3167063" h="1119188">
                <a:moveTo>
                  <a:pt x="0" y="0"/>
                </a:moveTo>
                <a:lnTo>
                  <a:pt x="3167063" y="0"/>
                </a:lnTo>
                <a:lnTo>
                  <a:pt x="3167063" y="1119188"/>
                </a:lnTo>
                <a:lnTo>
                  <a:pt x="0" y="1119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2" name="Shape 22"/>
          <p:cNvSpPr/>
          <p:nvPr/>
        </p:nvSpPr>
        <p:spPr>
          <a:xfrm>
            <a:off x="3945600" y="4984920"/>
            <a:ext cx="140760" cy="140760"/>
          </a:xfrm>
          <a:custGeom>
            <a:avLst/>
            <a:gdLst/>
            <a:ah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w="0">
            <a:noFill/>
          </a:ln>
        </p:spPr>
        <p:style>
          <a:lnRef idx="0"/>
          <a:fillRef idx="0"/>
          <a:effectRef idx="0"/>
          <a:fontRef idx="minor"/>
        </p:style>
      </p:sp>
      <p:sp>
        <p:nvSpPr>
          <p:cNvPr id="813" name="Text 23"/>
          <p:cNvSpPr/>
          <p:nvPr/>
        </p:nvSpPr>
        <p:spPr>
          <a:xfrm>
            <a:off x="4108320" y="4944960"/>
            <a:ext cx="2791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Global Influence</a:t>
            </a:r>
            <a:endParaRPr b="0" lang="en-HK" sz="1130" spc="-1" strike="noStrike">
              <a:latin typeface="Arial"/>
            </a:endParaRPr>
          </a:p>
        </p:txBody>
      </p:sp>
      <p:sp>
        <p:nvSpPr>
          <p:cNvPr id="814" name="Text 24"/>
          <p:cNvSpPr/>
          <p:nvPr/>
        </p:nvSpPr>
        <p:spPr>
          <a:xfrm>
            <a:off x="3925800" y="5230800"/>
            <a:ext cx="2966400" cy="569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80000"/>
                  </a:srgbClr>
                </a:solidFill>
                <a:latin typeface="Liter"/>
                <a:ea typeface="Liter"/>
              </a:rPr>
              <a:t>Rock transcended borders, creating a universal language that connected people across cultures and continents</a:t>
            </a:r>
            <a:endParaRPr b="0" lang="en-HK" sz="1000" spc="-1" strike="noStrike">
              <a:latin typeface="Arial"/>
            </a:endParaRPr>
          </a:p>
        </p:txBody>
      </p:sp>
      <p:sp>
        <p:nvSpPr>
          <p:cNvPr id="815" name="Shape 25"/>
          <p:cNvSpPr/>
          <p:nvPr/>
        </p:nvSpPr>
        <p:spPr>
          <a:xfrm>
            <a:off x="321480" y="6242760"/>
            <a:ext cx="1625040" cy="60912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6" name="Shape 26"/>
          <p:cNvSpPr/>
          <p:nvPr/>
        </p:nvSpPr>
        <p:spPr>
          <a:xfrm>
            <a:off x="1038960" y="6342120"/>
            <a:ext cx="188280" cy="188280"/>
          </a:xfrm>
          <a:custGeom>
            <a:avLst/>
            <a:gdLst/>
            <a:ah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w="0">
            <a:noFill/>
          </a:ln>
        </p:spPr>
        <p:style>
          <a:lnRef idx="0"/>
          <a:fillRef idx="0"/>
          <a:effectRef idx="0"/>
          <a:fontRef idx="minor"/>
        </p:style>
      </p:sp>
      <p:sp>
        <p:nvSpPr>
          <p:cNvPr id="817" name="Text 27"/>
          <p:cNvSpPr/>
          <p:nvPr/>
        </p:nvSpPr>
        <p:spPr>
          <a:xfrm>
            <a:off x="392760" y="6595920"/>
            <a:ext cx="148212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Influenced All Genres</a:t>
            </a:r>
            <a:endParaRPr b="0" lang="en-HK" sz="880" spc="-1" strike="noStrike">
              <a:latin typeface="Arial"/>
            </a:endParaRPr>
          </a:p>
        </p:txBody>
      </p:sp>
      <p:sp>
        <p:nvSpPr>
          <p:cNvPr id="818" name="Shape 28"/>
          <p:cNvSpPr/>
          <p:nvPr/>
        </p:nvSpPr>
        <p:spPr>
          <a:xfrm>
            <a:off x="2050200" y="6242760"/>
            <a:ext cx="1625040" cy="60912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19" name="Shape 29"/>
          <p:cNvSpPr/>
          <p:nvPr/>
        </p:nvSpPr>
        <p:spPr>
          <a:xfrm>
            <a:off x="2779560" y="6342120"/>
            <a:ext cx="164520" cy="188280"/>
          </a:xfrm>
          <a:custGeom>
            <a:avLst/>
            <a:gdLst/>
            <a:ah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w="0">
            <a:noFill/>
          </a:ln>
        </p:spPr>
        <p:style>
          <a:lnRef idx="0"/>
          <a:fillRef idx="0"/>
          <a:effectRef idx="0"/>
          <a:fontRef idx="minor"/>
        </p:style>
      </p:sp>
      <p:sp>
        <p:nvSpPr>
          <p:cNvPr id="820" name="Text 30"/>
          <p:cNvSpPr/>
          <p:nvPr/>
        </p:nvSpPr>
        <p:spPr>
          <a:xfrm>
            <a:off x="2121840" y="6595920"/>
            <a:ext cx="148212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Symbol of Freedom</a:t>
            </a:r>
            <a:endParaRPr b="0" lang="en-HK" sz="880" spc="-1" strike="noStrike">
              <a:latin typeface="Arial"/>
            </a:endParaRPr>
          </a:p>
        </p:txBody>
      </p:sp>
      <p:sp>
        <p:nvSpPr>
          <p:cNvPr id="821" name="Shape 31"/>
          <p:cNvSpPr/>
          <p:nvPr/>
        </p:nvSpPr>
        <p:spPr>
          <a:xfrm>
            <a:off x="3778920" y="6242760"/>
            <a:ext cx="1625040" cy="60912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2" name="Shape 32"/>
          <p:cNvSpPr/>
          <p:nvPr/>
        </p:nvSpPr>
        <p:spPr>
          <a:xfrm>
            <a:off x="4496760" y="6342120"/>
            <a:ext cx="188280" cy="188280"/>
          </a:xfrm>
          <a:custGeom>
            <a:avLst/>
            <a:gdLst/>
            <a:ah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w="0">
            <a:noFill/>
          </a:ln>
        </p:spPr>
        <p:style>
          <a:lnRef idx="0"/>
          <a:fillRef idx="0"/>
          <a:effectRef idx="0"/>
          <a:fontRef idx="minor"/>
        </p:style>
      </p:sp>
      <p:sp>
        <p:nvSpPr>
          <p:cNvPr id="823" name="Text 33"/>
          <p:cNvSpPr/>
          <p:nvPr/>
        </p:nvSpPr>
        <p:spPr>
          <a:xfrm>
            <a:off x="3850560" y="6595920"/>
            <a:ext cx="148212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Emotional Connection</a:t>
            </a:r>
            <a:endParaRPr b="0" lang="en-HK" sz="880" spc="-1" strike="noStrike">
              <a:latin typeface="Arial"/>
            </a:endParaRPr>
          </a:p>
        </p:txBody>
      </p:sp>
      <p:sp>
        <p:nvSpPr>
          <p:cNvPr id="824" name="Shape 34"/>
          <p:cNvSpPr/>
          <p:nvPr/>
        </p:nvSpPr>
        <p:spPr>
          <a:xfrm>
            <a:off x="5507640" y="6242760"/>
            <a:ext cx="1625040" cy="609120"/>
          </a:xfrm>
          <a:custGeom>
            <a:avLst/>
            <a:gdLst/>
            <a:ahLst/>
            <a:rect l="l" t="t" r="r" b="b"/>
            <a:pathLst>
              <a:path w="1627188" h="611188">
                <a:moveTo>
                  <a:pt x="0" y="0"/>
                </a:moveTo>
                <a:lnTo>
                  <a:pt x="1627188" y="0"/>
                </a:lnTo>
                <a:lnTo>
                  <a:pt x="1627188" y="611188"/>
                </a:lnTo>
                <a:lnTo>
                  <a:pt x="0" y="6111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825" name="Shape 35"/>
          <p:cNvSpPr/>
          <p:nvPr/>
        </p:nvSpPr>
        <p:spPr>
          <a:xfrm>
            <a:off x="6201720" y="6342120"/>
            <a:ext cx="235800" cy="188280"/>
          </a:xfrm>
          <a:custGeom>
            <a:avLst/>
            <a:gdLst/>
            <a:ah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w="0">
            <a:noFill/>
          </a:ln>
        </p:spPr>
        <p:style>
          <a:lnRef idx="0"/>
          <a:fillRef idx="0"/>
          <a:effectRef idx="0"/>
          <a:fontRef idx="minor"/>
        </p:style>
      </p:sp>
      <p:sp>
        <p:nvSpPr>
          <p:cNvPr id="826" name="Text 36"/>
          <p:cNvSpPr/>
          <p:nvPr/>
        </p:nvSpPr>
        <p:spPr>
          <a:xfrm>
            <a:off x="5579280" y="6595920"/>
            <a:ext cx="1482120" cy="156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Liter"/>
                <a:ea typeface="Liter"/>
              </a:rPr>
              <a:t>Timeless Legacy</a:t>
            </a:r>
            <a:endParaRPr b="0" lang="en-HK" sz="880" spc="-1" strike="noStrike">
              <a:latin typeface="Arial"/>
            </a:endParaRPr>
          </a:p>
        </p:txBody>
      </p:sp>
      <p:sp>
        <p:nvSpPr>
          <p:cNvPr id="827" name="Image 0"/>
          <p:cNvSpPr/>
          <p:nvPr/>
        </p:nvSpPr>
        <p:spPr>
          <a:xfrm>
            <a:off x="7327800" y="1047600"/>
            <a:ext cx="4546080" cy="3299760"/>
          </a:xfrm>
          <a:prstGeom prst="roundRect">
            <a:avLst>
              <a:gd name="adj" fmla="val 0"/>
            </a:avLst>
          </a:prstGeom>
          <a:blipFill rotWithShape="0">
            <a:blip r:embed="rId1"/>
            <a:srcRect/>
            <a:stretch/>
          </a:blipFill>
          <a:ln w="0">
            <a:noFill/>
          </a:ln>
        </p:spPr>
        <p:style>
          <a:lnRef idx="0"/>
          <a:fillRef idx="0"/>
          <a:effectRef idx="0"/>
          <a:fontRef idx="minor"/>
        </p:style>
      </p:sp>
      <p:sp>
        <p:nvSpPr>
          <p:cNvPr id="828" name="Shape 37"/>
          <p:cNvSpPr/>
          <p:nvPr/>
        </p:nvSpPr>
        <p:spPr>
          <a:xfrm>
            <a:off x="7327800" y="1047600"/>
            <a:ext cx="4546080" cy="3299760"/>
          </a:xfrm>
          <a:custGeom>
            <a:avLst/>
            <a:gdLst/>
            <a:ahLst/>
            <a:rect l="l" t="t" r="r" b="b"/>
            <a:pathLst>
              <a:path w="4548188" h="3302000">
                <a:moveTo>
                  <a:pt x="0" y="0"/>
                </a:moveTo>
                <a:lnTo>
                  <a:pt x="4548188" y="0"/>
                </a:lnTo>
                <a:lnTo>
                  <a:pt x="4548188" y="3302000"/>
                </a:lnTo>
                <a:lnTo>
                  <a:pt x="0" y="3302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829" name="Text 38"/>
          <p:cNvSpPr/>
          <p:nvPr/>
        </p:nvSpPr>
        <p:spPr>
          <a:xfrm>
            <a:off x="7454880" y="3809880"/>
            <a:ext cx="434772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ROCK FOREVER</a:t>
            </a:r>
            <a:endParaRPr b="0" lang="en-HK" sz="880" spc="-1" strike="noStrike">
              <a:latin typeface="Arial"/>
            </a:endParaRPr>
          </a:p>
        </p:txBody>
      </p:sp>
      <p:sp>
        <p:nvSpPr>
          <p:cNvPr id="830" name="Text 39"/>
          <p:cNvSpPr/>
          <p:nvPr/>
        </p:nvSpPr>
        <p:spPr>
          <a:xfrm>
            <a:off x="7454880" y="4000680"/>
            <a:ext cx="43635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Crowd Unites</a:t>
            </a:r>
            <a:endParaRPr b="0" lang="en-HK" sz="1130" spc="-1" strike="noStrike">
              <a:latin typeface="Arial"/>
            </a:endParaRPr>
          </a:p>
        </p:txBody>
      </p:sp>
      <p:sp>
        <p:nvSpPr>
          <p:cNvPr id="831" name="Shape 40"/>
          <p:cNvSpPr/>
          <p:nvPr/>
        </p:nvSpPr>
        <p:spPr>
          <a:xfrm>
            <a:off x="7335720" y="4484520"/>
            <a:ext cx="4530240" cy="1601280"/>
          </a:xfrm>
          <a:custGeom>
            <a:avLst/>
            <a:gdLst/>
            <a:ahLst/>
            <a:rect l="l" t="t" r="r" b="b"/>
            <a:pathLst>
              <a:path w="4532313" h="1603375">
                <a:moveTo>
                  <a:pt x="0" y="0"/>
                </a:moveTo>
                <a:lnTo>
                  <a:pt x="4532313" y="0"/>
                </a:lnTo>
                <a:lnTo>
                  <a:pt x="4532313" y="1603375"/>
                </a:lnTo>
                <a:lnTo>
                  <a:pt x="0" y="1603375"/>
                </a:lnTo>
                <a:lnTo>
                  <a:pt x="0" y="0"/>
                </a:lnTo>
                <a:close/>
              </a:path>
            </a:pathLst>
          </a:custGeom>
          <a:noFill/>
          <a:ln w="25400">
            <a:solidFill>
              <a:srgbClr val="ddff00"/>
            </a:solidFill>
            <a:round/>
          </a:ln>
        </p:spPr>
        <p:style>
          <a:lnRef idx="0"/>
          <a:fillRef idx="0"/>
          <a:effectRef idx="0"/>
          <a:fontRef idx="minor"/>
        </p:style>
      </p:sp>
      <p:sp>
        <p:nvSpPr>
          <p:cNvPr id="832" name="Text 41"/>
          <p:cNvSpPr/>
          <p:nvPr/>
        </p:nvSpPr>
        <p:spPr>
          <a:xfrm>
            <a:off x="7502400" y="4651200"/>
            <a:ext cx="42681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Influence on Other Genres</a:t>
            </a:r>
            <a:endParaRPr b="0" lang="en-HK" sz="1130" spc="-1" strike="noStrike">
              <a:latin typeface="Arial"/>
            </a:endParaRPr>
          </a:p>
        </p:txBody>
      </p:sp>
      <p:sp>
        <p:nvSpPr>
          <p:cNvPr id="833" name="Shape 42"/>
          <p:cNvSpPr/>
          <p:nvPr/>
        </p:nvSpPr>
        <p:spPr>
          <a:xfrm>
            <a:off x="7502400" y="5032440"/>
            <a:ext cx="61200" cy="6120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4" name="Text 43"/>
          <p:cNvSpPr/>
          <p:nvPr/>
        </p:nvSpPr>
        <p:spPr>
          <a:xfrm>
            <a:off x="7629480" y="4968720"/>
            <a:ext cx="30855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Hip-Hop:</a:t>
            </a:r>
            <a:r>
              <a:rPr b="0" lang="en-US" sz="1000" spc="-1" strike="noStrike">
                <a:solidFill>
                  <a:srgbClr val="ffffff">
                    <a:alpha val="80000"/>
                  </a:srgbClr>
                </a:solidFill>
                <a:latin typeface="Liter"/>
                <a:ea typeface="Liter"/>
              </a:rPr>
              <a:t> Sampling rock tracks, shared rebellious spirit</a:t>
            </a:r>
            <a:endParaRPr b="0" lang="en-HK" sz="1000" spc="-1" strike="noStrike">
              <a:latin typeface="Arial"/>
            </a:endParaRPr>
          </a:p>
        </p:txBody>
      </p:sp>
      <p:sp>
        <p:nvSpPr>
          <p:cNvPr id="835" name="Shape 44"/>
          <p:cNvSpPr/>
          <p:nvPr/>
        </p:nvSpPr>
        <p:spPr>
          <a:xfrm>
            <a:off x="7502400" y="5286240"/>
            <a:ext cx="61200" cy="6120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6" name="Text 45"/>
          <p:cNvSpPr/>
          <p:nvPr/>
        </p:nvSpPr>
        <p:spPr>
          <a:xfrm>
            <a:off x="7629480" y="5222880"/>
            <a:ext cx="30459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Pop Music:</a:t>
            </a:r>
            <a:r>
              <a:rPr b="0" lang="en-US" sz="1000" spc="-1" strike="noStrike">
                <a:solidFill>
                  <a:srgbClr val="ffffff">
                    <a:alpha val="80000"/>
                  </a:srgbClr>
                </a:solidFill>
                <a:latin typeface="Liter"/>
                <a:ea typeface="Liter"/>
              </a:rPr>
              <a:t> Rock's emotive power and stage presence</a:t>
            </a:r>
            <a:endParaRPr b="0" lang="en-HK" sz="1000" spc="-1" strike="noStrike">
              <a:latin typeface="Arial"/>
            </a:endParaRPr>
          </a:p>
        </p:txBody>
      </p:sp>
      <p:sp>
        <p:nvSpPr>
          <p:cNvPr id="837" name="Shape 46"/>
          <p:cNvSpPr/>
          <p:nvPr/>
        </p:nvSpPr>
        <p:spPr>
          <a:xfrm>
            <a:off x="7502400" y="5540400"/>
            <a:ext cx="61200" cy="6120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38" name="Text 47"/>
          <p:cNvSpPr/>
          <p:nvPr/>
        </p:nvSpPr>
        <p:spPr>
          <a:xfrm>
            <a:off x="7629480" y="5477040"/>
            <a:ext cx="28555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Electronic:</a:t>
            </a:r>
            <a:r>
              <a:rPr b="0" lang="en-US" sz="1000" spc="-1" strike="noStrike">
                <a:solidFill>
                  <a:srgbClr val="ffffff">
                    <a:alpha val="80000"/>
                  </a:srgbClr>
                </a:solidFill>
                <a:latin typeface="Liter"/>
                <a:ea typeface="Liter"/>
              </a:rPr>
              <a:t> Rock's energy in EDM and dance music</a:t>
            </a:r>
            <a:endParaRPr b="0" lang="en-HK" sz="1000" spc="-1" strike="noStrike">
              <a:latin typeface="Arial"/>
            </a:endParaRPr>
          </a:p>
        </p:txBody>
      </p:sp>
      <p:sp>
        <p:nvSpPr>
          <p:cNvPr id="839" name="Shape 48"/>
          <p:cNvSpPr/>
          <p:nvPr/>
        </p:nvSpPr>
        <p:spPr>
          <a:xfrm>
            <a:off x="7502400" y="5794200"/>
            <a:ext cx="61200" cy="61200"/>
          </a:xfrm>
          <a:custGeom>
            <a:avLst/>
            <a:gdLst/>
            <a:ahLst/>
            <a:rect l="l" t="t" r="r" b="b"/>
            <a:pathLst>
              <a:path w="63500" h="63500">
                <a:moveTo>
                  <a:pt x="0" y="0"/>
                </a:moveTo>
                <a:lnTo>
                  <a:pt x="63500" y="0"/>
                </a:lnTo>
                <a:lnTo>
                  <a:pt x="63500" y="63500"/>
                </a:lnTo>
                <a:lnTo>
                  <a:pt x="0" y="63500"/>
                </a:lnTo>
                <a:lnTo>
                  <a:pt x="0" y="0"/>
                </a:lnTo>
                <a:close/>
              </a:path>
            </a:pathLst>
          </a:custGeom>
          <a:solidFill>
            <a:srgbClr val="ddff00"/>
          </a:solidFill>
          <a:ln w="0">
            <a:noFill/>
          </a:ln>
        </p:spPr>
        <p:style>
          <a:lnRef idx="0"/>
          <a:fillRef idx="0"/>
          <a:effectRef idx="0"/>
          <a:fontRef idx="minor"/>
        </p:style>
      </p:sp>
      <p:sp>
        <p:nvSpPr>
          <p:cNvPr id="840" name="Text 49"/>
          <p:cNvSpPr/>
          <p:nvPr/>
        </p:nvSpPr>
        <p:spPr>
          <a:xfrm>
            <a:off x="7629480" y="5730840"/>
            <a:ext cx="30934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alpha val="80000"/>
                  </a:srgbClr>
                </a:solidFill>
                <a:latin typeface="Liter"/>
                <a:ea typeface="Liter"/>
              </a:rPr>
              <a:t>Country:</a:t>
            </a:r>
            <a:r>
              <a:rPr b="0" lang="en-US" sz="1000" spc="-1" strike="noStrike">
                <a:solidFill>
                  <a:srgbClr val="ffffff">
                    <a:alpha val="80000"/>
                  </a:srgbClr>
                </a:solidFill>
                <a:latin typeface="Liter"/>
                <a:ea typeface="Liter"/>
              </a:rPr>
              <a:t> Rock-influenced country rock and alt-country</a:t>
            </a:r>
            <a:endParaRPr b="0" lang="en-HK" sz="1000" spc="-1" strike="noStrike">
              <a:latin typeface="Arial"/>
            </a:endParaRPr>
          </a:p>
        </p:txBody>
      </p:sp>
      <p:sp>
        <p:nvSpPr>
          <p:cNvPr id="841" name="Shape 50"/>
          <p:cNvSpPr/>
          <p:nvPr/>
        </p:nvSpPr>
        <p:spPr>
          <a:xfrm>
            <a:off x="7327800" y="6222960"/>
            <a:ext cx="4546080" cy="632880"/>
          </a:xfrm>
          <a:custGeom>
            <a:avLst/>
            <a:gdLst/>
            <a:ahLst/>
            <a:rect l="l" t="t" r="r" b="b"/>
            <a:pathLst>
              <a:path w="4548188" h="635000">
                <a:moveTo>
                  <a:pt x="0" y="0"/>
                </a:moveTo>
                <a:lnTo>
                  <a:pt x="4548188" y="0"/>
                </a:lnTo>
                <a:lnTo>
                  <a:pt x="4548188" y="635000"/>
                </a:lnTo>
                <a:lnTo>
                  <a:pt x="0" y="635000"/>
                </a:lnTo>
                <a:lnTo>
                  <a:pt x="0" y="0"/>
                </a:lnTo>
                <a:close/>
              </a:path>
            </a:pathLst>
          </a:custGeom>
          <a:solidFill>
            <a:srgbClr val="ddff00"/>
          </a:solidFill>
          <a:ln w="0">
            <a:noFill/>
          </a:ln>
        </p:spPr>
        <p:style>
          <a:lnRef idx="0"/>
          <a:fillRef idx="0"/>
          <a:effectRef idx="0"/>
          <a:fontRef idx="minor"/>
        </p:style>
      </p:sp>
      <p:sp>
        <p:nvSpPr>
          <p:cNvPr id="842" name="Text 51"/>
          <p:cNvSpPr/>
          <p:nvPr/>
        </p:nvSpPr>
        <p:spPr>
          <a:xfrm>
            <a:off x="7423200" y="6350040"/>
            <a:ext cx="4355640" cy="378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000000"/>
                </a:solidFill>
                <a:latin typeface="Liter"/>
                <a:ea typeface="Liter"/>
              </a:rPr>
              <a:t>"Rock and roll is here to stay."</a:t>
            </a:r>
            <a:endParaRPr b="0" lang="en-HK" sz="1000" spc="-1" strike="noStrike">
              <a:latin typeface="Arial"/>
            </a:endParaRPr>
          </a:p>
          <a:p>
            <a:pPr algn="ctr">
              <a:lnSpc>
                <a:spcPct val="130000"/>
              </a:lnSpc>
              <a:buNone/>
            </a:pPr>
            <a:r>
              <a:rPr b="0" lang="en-US" sz="880" spc="-1" strike="noStrike">
                <a:solidFill>
                  <a:srgbClr val="000000"/>
                </a:solidFill>
                <a:latin typeface="Liter"/>
                <a:ea typeface="Liter"/>
              </a:rPr>
              <a:t>— </a:t>
            </a:r>
            <a:r>
              <a:rPr b="0" lang="en-US" sz="880" spc="-1" strike="noStrike">
                <a:solidFill>
                  <a:srgbClr val="000000"/>
                </a:solidFill>
                <a:latin typeface="Liter"/>
                <a:ea typeface="Liter"/>
              </a:rPr>
              <a:t>Danny &amp; the Juniors, 1958</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43" name="Image 0"/>
          <p:cNvSpPr/>
          <p:nvPr/>
        </p:nvSpPr>
        <p:spPr>
          <a:xfrm>
            <a:off x="0" y="0"/>
            <a:ext cx="1218996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844" name="Shape 0"/>
          <p:cNvSpPr/>
          <p:nvPr/>
        </p:nvSpPr>
        <p:spPr>
          <a:xfrm>
            <a:off x="0" y="0"/>
            <a:ext cx="1218996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2700000"/>
          </a:gradFill>
          <a:ln w="0">
            <a:noFill/>
          </a:ln>
        </p:spPr>
        <p:style>
          <a:lnRef idx="0"/>
          <a:fillRef idx="0"/>
          <a:effectRef idx="0"/>
          <a:fontRef idx="minor"/>
        </p:style>
      </p:sp>
      <p:sp>
        <p:nvSpPr>
          <p:cNvPr id="845" name="Shape 1"/>
          <p:cNvSpPr/>
          <p:nvPr/>
        </p:nvSpPr>
        <p:spPr>
          <a:xfrm>
            <a:off x="4773960" y="153720"/>
            <a:ext cx="879120" cy="3456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6" name="Shape 2"/>
          <p:cNvSpPr/>
          <p:nvPr/>
        </p:nvSpPr>
        <p:spPr>
          <a:xfrm rot="2700000">
            <a:off x="5699880" y="-224280"/>
            <a:ext cx="548640" cy="548640"/>
          </a:xfrm>
          <a:custGeom>
            <a:avLst/>
            <a:gdLst/>
            <a:ahLst/>
            <a:rect l="l" t="t" r="r" b="b"/>
            <a:pathLst>
              <a:path w="550843" h="550843">
                <a:moveTo>
                  <a:pt x="0" y="0"/>
                </a:moveTo>
                <a:lnTo>
                  <a:pt x="550843" y="0"/>
                </a:lnTo>
                <a:lnTo>
                  <a:pt x="550843" y="550843"/>
                </a:lnTo>
                <a:lnTo>
                  <a:pt x="0" y="550843"/>
                </a:lnTo>
                <a:lnTo>
                  <a:pt x="0" y="0"/>
                </a:lnTo>
                <a:close/>
              </a:path>
            </a:pathLst>
          </a:custGeom>
          <a:noFill/>
          <a:ln w="50800">
            <a:solidFill>
              <a:srgbClr val="ddff00"/>
            </a:solidFill>
            <a:round/>
          </a:ln>
          <a:effectLst>
            <a:outerShdw algn="bl" blurRad="275400" dir="2700000" dist="49893" kx="0" ky="0" rotWithShape="0" sx="100000" sy="100000">
              <a:srgbClr val="ddff00">
                <a:alpha val="30000"/>
              </a:srgbClr>
            </a:outerShdw>
          </a:effectLst>
        </p:spPr>
        <p:style>
          <a:lnRef idx="0"/>
          <a:fillRef idx="0"/>
          <a:effectRef idx="0"/>
          <a:fontRef idx="minor"/>
        </p:style>
      </p:sp>
      <p:sp>
        <p:nvSpPr>
          <p:cNvPr id="847" name="Shape 3"/>
          <p:cNvSpPr/>
          <p:nvPr/>
        </p:nvSpPr>
        <p:spPr>
          <a:xfrm>
            <a:off x="5985720" y="61920"/>
            <a:ext cx="218160" cy="218160"/>
          </a:xfrm>
          <a:custGeom>
            <a:avLst/>
            <a:gdLst/>
            <a:ah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w="0">
            <a:noFill/>
          </a:ln>
        </p:spPr>
        <p:style>
          <a:lnRef idx="0"/>
          <a:fillRef idx="0"/>
          <a:effectRef idx="0"/>
          <a:fontRef idx="minor"/>
        </p:style>
      </p:sp>
      <p:sp>
        <p:nvSpPr>
          <p:cNvPr id="848" name="Shape 4"/>
          <p:cNvSpPr/>
          <p:nvPr/>
        </p:nvSpPr>
        <p:spPr>
          <a:xfrm>
            <a:off x="6536520" y="153720"/>
            <a:ext cx="879120" cy="34560"/>
          </a:xfrm>
          <a:custGeom>
            <a:avLst/>
            <a:gdLst/>
            <a:ahLst/>
            <a:rect l="l" t="t" r="r" b="b"/>
            <a:pathLst>
              <a:path w="881349" h="36723">
                <a:moveTo>
                  <a:pt x="0" y="0"/>
                </a:moveTo>
                <a:lnTo>
                  <a:pt x="881349" y="0"/>
                </a:lnTo>
                <a:lnTo>
                  <a:pt x="881349" y="36723"/>
                </a:lnTo>
                <a:lnTo>
                  <a:pt x="0" y="36723"/>
                </a:lnTo>
                <a:lnTo>
                  <a:pt x="0" y="0"/>
                </a:lnTo>
                <a:close/>
              </a:path>
            </a:pathLst>
          </a:custGeom>
          <a:solidFill>
            <a:srgbClr val="ddff00"/>
          </a:solidFill>
          <a:ln w="0">
            <a:noFill/>
          </a:ln>
        </p:spPr>
        <p:style>
          <a:lnRef idx="0"/>
          <a:fillRef idx="0"/>
          <a:effectRef idx="0"/>
          <a:fontRef idx="minor"/>
        </p:style>
      </p:sp>
      <p:sp>
        <p:nvSpPr>
          <p:cNvPr id="849" name="Text 5"/>
          <p:cNvSpPr/>
          <p:nvPr/>
        </p:nvSpPr>
        <p:spPr>
          <a:xfrm>
            <a:off x="3582360" y="979920"/>
            <a:ext cx="5028840" cy="176040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6940" spc="-1" strike="noStrike">
                <a:solidFill>
                  <a:srgbClr val="ffffff"/>
                </a:solidFill>
                <a:latin typeface="Liter"/>
                <a:ea typeface="Liter"/>
              </a:rPr>
              <a:t>ROCK WILL</a:t>
            </a:r>
            <a:endParaRPr b="0" lang="en-HK" sz="6940" spc="-1" strike="noStrike">
              <a:latin typeface="Arial"/>
            </a:endParaRPr>
          </a:p>
          <a:p>
            <a:pPr algn="ctr">
              <a:lnSpc>
                <a:spcPct val="80000"/>
              </a:lnSpc>
              <a:buNone/>
            </a:pPr>
            <a:r>
              <a:rPr b="1" lang="en-US" sz="6940" spc="-1" strike="noStrike">
                <a:solidFill>
                  <a:srgbClr val="ddff00"/>
                </a:solidFill>
                <a:latin typeface="Liter"/>
                <a:ea typeface="Liter"/>
              </a:rPr>
              <a:t>NEVER DIE</a:t>
            </a:r>
            <a:endParaRPr b="0" lang="en-HK" sz="6940" spc="-1" strike="noStrike">
              <a:latin typeface="Arial"/>
            </a:endParaRPr>
          </a:p>
        </p:txBody>
      </p:sp>
      <p:sp>
        <p:nvSpPr>
          <p:cNvPr id="850" name="Text 6"/>
          <p:cNvSpPr/>
          <p:nvPr/>
        </p:nvSpPr>
        <p:spPr>
          <a:xfrm>
            <a:off x="2515680" y="3036600"/>
            <a:ext cx="7158960" cy="14299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1" lang="en-US" sz="1729" spc="-1" strike="noStrike">
                <a:solidFill>
                  <a:srgbClr val="ffffff"/>
                </a:solidFill>
                <a:latin typeface="Liter"/>
                <a:ea typeface="Liter"/>
              </a:rPr>
              <a:t>From blues roots to global phenomenon,</a:t>
            </a:r>
            <a:r>
              <a:rPr b="0" lang="en-US" sz="1729" spc="-1" strike="noStrike">
                <a:solidFill>
                  <a:srgbClr val="ffffff"/>
                </a:solidFill>
                <a:latin typeface="Liter"/>
                <a:ea typeface="Liter"/>
              </a:rPr>
              <a:t> rock music has constantly evolved while maintaining its rebellious spirit. Its influence echoes through every genre that followed, proving that authentic, passionate music transcends time.</a:t>
            </a:r>
            <a:endParaRPr b="0" lang="en-HK" sz="1729" spc="-1" strike="noStrike">
              <a:latin typeface="Arial"/>
            </a:endParaRPr>
          </a:p>
        </p:txBody>
      </p:sp>
      <p:sp>
        <p:nvSpPr>
          <p:cNvPr id="851" name="Text 7"/>
          <p:cNvSpPr/>
          <p:nvPr/>
        </p:nvSpPr>
        <p:spPr>
          <a:xfrm>
            <a:off x="2524680" y="4689000"/>
            <a:ext cx="7140600" cy="897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450" spc="-1" strike="noStrike">
                <a:solidFill>
                  <a:srgbClr val="ffffff">
                    <a:alpha val="80000"/>
                  </a:srgbClr>
                </a:solidFill>
                <a:latin typeface="Liter"/>
                <a:ea typeface="Liter"/>
              </a:rPr>
              <a:t>From Chuck Berry's guitar riffs to Kurt Cobain's raw emotion, from The Beatles' revolution to Arctic Monkeys' revival—rock continues to inspire, challenge, and unite generations.</a:t>
            </a:r>
            <a:endParaRPr b="0" lang="en-HK" sz="1450" spc="-1" strike="noStrike">
              <a:latin typeface="Arial"/>
            </a:endParaRPr>
          </a:p>
        </p:txBody>
      </p:sp>
      <p:sp>
        <p:nvSpPr>
          <p:cNvPr id="852" name="Shape 8"/>
          <p:cNvSpPr/>
          <p:nvPr/>
        </p:nvSpPr>
        <p:spPr>
          <a:xfrm>
            <a:off x="5232960" y="5878080"/>
            <a:ext cx="732240" cy="34560"/>
          </a:xfrm>
          <a:custGeom>
            <a:avLst/>
            <a:gdLst/>
            <a:ahLst/>
            <a:rect l="l" t="t" r="r" b="b"/>
            <a:pathLst>
              <a:path w="734458" h="36723">
                <a:moveTo>
                  <a:pt x="0" y="0"/>
                </a:moveTo>
                <a:lnTo>
                  <a:pt x="734458" y="0"/>
                </a:lnTo>
                <a:lnTo>
                  <a:pt x="734458" y="36723"/>
                </a:lnTo>
                <a:lnTo>
                  <a:pt x="0" y="36723"/>
                </a:lnTo>
                <a:lnTo>
                  <a:pt x="0" y="0"/>
                </a:lnTo>
                <a:close/>
              </a:path>
            </a:pathLst>
          </a:custGeom>
          <a:solidFill>
            <a:srgbClr val="ddff00"/>
          </a:solidFill>
          <a:ln w="0">
            <a:noFill/>
          </a:ln>
        </p:spPr>
        <p:style>
          <a:lnRef idx="0"/>
          <a:fillRef idx="0"/>
          <a:effectRef idx="0"/>
          <a:fontRef idx="minor"/>
        </p:style>
      </p:sp>
      <p:sp>
        <p:nvSpPr>
          <p:cNvPr id="853" name="Shape 9"/>
          <p:cNvSpPr/>
          <p:nvPr/>
        </p:nvSpPr>
        <p:spPr>
          <a:xfrm>
            <a:off x="6187680" y="5878080"/>
            <a:ext cx="365040" cy="34560"/>
          </a:xfrm>
          <a:custGeom>
            <a:avLst/>
            <a:gdLst/>
            <a:ahLst/>
            <a:rect l="l" t="t" r="r" b="b"/>
            <a:pathLst>
              <a:path w="367229" h="36723">
                <a:moveTo>
                  <a:pt x="0" y="0"/>
                </a:moveTo>
                <a:lnTo>
                  <a:pt x="367229" y="0"/>
                </a:lnTo>
                <a:lnTo>
                  <a:pt x="367229" y="36723"/>
                </a:lnTo>
                <a:lnTo>
                  <a:pt x="0" y="36723"/>
                </a:lnTo>
                <a:lnTo>
                  <a:pt x="0" y="0"/>
                </a:lnTo>
                <a:close/>
              </a:path>
            </a:pathLst>
          </a:custGeom>
          <a:solidFill>
            <a:srgbClr val="ddff00"/>
          </a:solidFill>
          <a:ln w="0">
            <a:noFill/>
          </a:ln>
        </p:spPr>
        <p:style>
          <a:lnRef idx="0"/>
          <a:fillRef idx="0"/>
          <a:effectRef idx="0"/>
          <a:fontRef idx="minor"/>
        </p:style>
      </p:sp>
      <p:sp>
        <p:nvSpPr>
          <p:cNvPr id="854" name="Shape 10"/>
          <p:cNvSpPr/>
          <p:nvPr/>
        </p:nvSpPr>
        <p:spPr>
          <a:xfrm>
            <a:off x="6775200" y="5878080"/>
            <a:ext cx="181440" cy="34560"/>
          </a:xfrm>
          <a:custGeom>
            <a:avLst/>
            <a:gdLst/>
            <a:ahLst/>
            <a:rect l="l" t="t" r="r" b="b"/>
            <a:pathLst>
              <a:path w="183614" h="36723">
                <a:moveTo>
                  <a:pt x="0" y="0"/>
                </a:moveTo>
                <a:lnTo>
                  <a:pt x="183614" y="0"/>
                </a:lnTo>
                <a:lnTo>
                  <a:pt x="183614" y="36723"/>
                </a:lnTo>
                <a:lnTo>
                  <a:pt x="0" y="36723"/>
                </a:lnTo>
                <a:lnTo>
                  <a:pt x="0" y="0"/>
                </a:lnTo>
                <a:close/>
              </a:path>
            </a:pathLst>
          </a:custGeom>
          <a:solidFill>
            <a:srgbClr val="ddff00"/>
          </a:solidFill>
          <a:ln w="0">
            <a:noFill/>
          </a:ln>
        </p:spPr>
        <p:style>
          <a:lnRef idx="0"/>
          <a:fillRef idx="0"/>
          <a:effectRef idx="0"/>
          <a:fontRef idx="minor"/>
        </p:style>
      </p:sp>
      <p:sp>
        <p:nvSpPr>
          <p:cNvPr id="855" name="Text 11"/>
          <p:cNvSpPr/>
          <p:nvPr/>
        </p:nvSpPr>
        <p:spPr>
          <a:xfrm>
            <a:off x="2564280" y="6208560"/>
            <a:ext cx="1705320" cy="4384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70+</a:t>
            </a:r>
            <a:endParaRPr b="0" lang="en-HK" sz="3470" spc="-1" strike="noStrike">
              <a:latin typeface="Arial"/>
            </a:endParaRPr>
          </a:p>
        </p:txBody>
      </p:sp>
      <p:sp>
        <p:nvSpPr>
          <p:cNvPr id="856" name="Text 12"/>
          <p:cNvSpPr/>
          <p:nvPr/>
        </p:nvSpPr>
        <p:spPr>
          <a:xfrm>
            <a:off x="2633040" y="6722640"/>
            <a:ext cx="1567800" cy="254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Years of Rock</a:t>
            </a:r>
            <a:endParaRPr b="0" lang="en-HK" sz="1300" spc="-1" strike="noStrike">
              <a:latin typeface="Arial"/>
            </a:endParaRPr>
          </a:p>
        </p:txBody>
      </p:sp>
      <p:sp>
        <p:nvSpPr>
          <p:cNvPr id="857" name="Text 13"/>
          <p:cNvSpPr/>
          <p:nvPr/>
        </p:nvSpPr>
        <p:spPr>
          <a:xfrm>
            <a:off x="4348440" y="6208560"/>
            <a:ext cx="1705320" cy="4384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a:t>
            </a:r>
            <a:endParaRPr b="0" lang="en-HK" sz="3470" spc="-1" strike="noStrike">
              <a:latin typeface="Arial"/>
            </a:endParaRPr>
          </a:p>
        </p:txBody>
      </p:sp>
      <p:sp>
        <p:nvSpPr>
          <p:cNvPr id="858" name="Text 14"/>
          <p:cNvSpPr/>
          <p:nvPr/>
        </p:nvSpPr>
        <p:spPr>
          <a:xfrm>
            <a:off x="4417200" y="6722640"/>
            <a:ext cx="1567800" cy="254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Influence</a:t>
            </a:r>
            <a:endParaRPr b="0" lang="en-HK" sz="1300" spc="-1" strike="noStrike">
              <a:latin typeface="Arial"/>
            </a:endParaRPr>
          </a:p>
        </p:txBody>
      </p:sp>
      <p:sp>
        <p:nvSpPr>
          <p:cNvPr id="859" name="Text 15"/>
          <p:cNvSpPr/>
          <p:nvPr/>
        </p:nvSpPr>
        <p:spPr>
          <a:xfrm>
            <a:off x="6132600" y="6208560"/>
            <a:ext cx="1705320" cy="4384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Billions</a:t>
            </a:r>
            <a:endParaRPr b="0" lang="en-HK" sz="3470" spc="-1" strike="noStrike">
              <a:latin typeface="Arial"/>
            </a:endParaRPr>
          </a:p>
        </p:txBody>
      </p:sp>
      <p:sp>
        <p:nvSpPr>
          <p:cNvPr id="860" name="Text 16"/>
          <p:cNvSpPr/>
          <p:nvPr/>
        </p:nvSpPr>
        <p:spPr>
          <a:xfrm>
            <a:off x="6201720" y="6722640"/>
            <a:ext cx="1567800" cy="254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of Fans</a:t>
            </a:r>
            <a:endParaRPr b="0" lang="en-HK" sz="1300" spc="-1" strike="noStrike">
              <a:latin typeface="Arial"/>
            </a:endParaRPr>
          </a:p>
        </p:txBody>
      </p:sp>
      <p:sp>
        <p:nvSpPr>
          <p:cNvPr id="861" name="Text 17"/>
          <p:cNvSpPr/>
          <p:nvPr/>
        </p:nvSpPr>
        <p:spPr>
          <a:xfrm>
            <a:off x="7916760" y="6208560"/>
            <a:ext cx="1705320" cy="43848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3470" spc="-1" strike="noStrike">
                <a:solidFill>
                  <a:srgbClr val="ddff00"/>
                </a:solidFill>
                <a:latin typeface="Liter"/>
                <a:ea typeface="Liter"/>
              </a:rPr>
              <a:t>Forever</a:t>
            </a:r>
            <a:endParaRPr b="0" lang="en-HK" sz="3470" spc="-1" strike="noStrike">
              <a:latin typeface="Arial"/>
            </a:endParaRPr>
          </a:p>
        </p:txBody>
      </p:sp>
      <p:sp>
        <p:nvSpPr>
          <p:cNvPr id="862" name="Text 18"/>
          <p:cNvSpPr/>
          <p:nvPr/>
        </p:nvSpPr>
        <p:spPr>
          <a:xfrm>
            <a:off x="7985880" y="6722640"/>
            <a:ext cx="1567800" cy="254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00" spc="-1" strike="noStrike">
                <a:solidFill>
                  <a:srgbClr val="ffffff">
                    <a:alpha val="80000"/>
                  </a:srgbClr>
                </a:solidFill>
                <a:latin typeface="Liter"/>
                <a:ea typeface="Liter"/>
              </a:rPr>
              <a:t>In Our Hearts</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35</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2026-04-07T21:04:19Z</dcterms:modified>
  <cp:revision>7</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