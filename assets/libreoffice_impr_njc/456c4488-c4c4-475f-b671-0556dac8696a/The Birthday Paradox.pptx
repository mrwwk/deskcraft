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F482E9B-EC34-4EDF-A787-AB0F7FAA543E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269D744-2B15-480F-A704-99F9651D04E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5A2478-DF59-4584-849D-7227046C827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DD16EA-3464-4612-B3BC-863AEBFD32B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D70DC3C-420A-43E2-BA59-A6581B11A92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EC055A-0B50-413E-AEBA-650F488E59F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F30C09-8891-469B-A094-D00D46A5F48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3DC3A8-013F-4F2B-84A0-E5177A9051F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D694038-8904-4D42-B89D-46D3AA14005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CB8DD9B-B62F-499C-AB37-B68664EFF37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41DF54C-D7FF-46BF-A17C-07B3F33D848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10C9D2-6D70-4137-B232-629919AD9CD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C93D0C-2D17-41C5-9FF1-9E08672C07D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1A743F-1B4F-4B08-BFAD-822573C0479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F8E0D96-87C4-4DC6-B350-9638831E0FD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5DA12C-7576-474F-8BF8-DC9436A93E4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B278011-EFD0-40DE-90AE-8D4B4D4EEA0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629482-1AA1-4DBB-B075-2317B8EC401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380880" y="1415520"/>
            <a:ext cx="608040" cy="1764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380880" y="1663200"/>
            <a:ext cx="21513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i="1" lang="en-US" sz="1050" spc="304" strike="noStrike">
                <a:solidFill>
                  <a:srgbClr val="86868b"/>
                </a:solidFill>
                <a:latin typeface="Times New Roman"/>
                <a:ea typeface="Liter"/>
              </a:rPr>
              <a:t>Probability Theory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380880" y="2310840"/>
            <a:ext cx="6608880" cy="21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The Birthday</a:t>
            </a:r>
            <a:endParaRPr b="0" lang="en-HK" sz="90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Paradox</a:t>
            </a:r>
            <a:endParaRPr b="0" lang="en-HK" sz="90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80880" y="4787640"/>
            <a:ext cx="426564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2250" spc="-1" strike="noStrike">
                <a:solidFill>
                  <a:srgbClr val="86868b"/>
                </a:solidFill>
                <a:latin typeface="Times New Roman"/>
                <a:ea typeface="Liter"/>
              </a:rPr>
              <a:t>When Probability Defies Intuition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426240" y="6296040"/>
            <a:ext cx="127080" cy="169920"/>
          </a:xfrm>
          <a:custGeom>
            <a:avLst/>
            <a:gdLst/>
            <a:ah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709560" y="6286680"/>
            <a:ext cx="1560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Times New Roman"/>
                <a:ea typeface="Liter"/>
              </a:rPr>
              <a:t>Mathematical Exploration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2689200" y="6296040"/>
            <a:ext cx="169920" cy="169920"/>
          </a:xfrm>
          <a:custGeom>
            <a:avLst/>
            <a:gdLst/>
            <a:ah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7"/>
          <p:cNvSpPr/>
          <p:nvPr/>
        </p:nvSpPr>
        <p:spPr>
          <a:xfrm>
            <a:off x="2994120" y="6286680"/>
            <a:ext cx="1398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Times New Roman"/>
                <a:ea typeface="Liter"/>
              </a:rPr>
              <a:t>Probability &amp; Statistics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Overview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380880" y="647640"/>
            <a:ext cx="11657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1d1d1d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380880" y="1714680"/>
            <a:ext cx="87480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1202760" y="1790640"/>
            <a:ext cx="462780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What is the Birthday Paradox?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1202760" y="2209680"/>
            <a:ext cx="45896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 that challenges our intuition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477120" y="1714680"/>
            <a:ext cx="97956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7402320" y="1790640"/>
            <a:ext cx="45230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The Mathematics Behind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7402320" y="2209680"/>
            <a:ext cx="44848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 using complementary approach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380880" y="4324320"/>
            <a:ext cx="98928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1311480" y="4400640"/>
            <a:ext cx="45133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Why Our Intuition Fails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311480" y="4819680"/>
            <a:ext cx="447516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 and cognitive biases at 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6477120" y="4324320"/>
            <a:ext cx="98928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7407000" y="4400640"/>
            <a:ext cx="45133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Real-World Applications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7407000" y="4819680"/>
            <a:ext cx="447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cryptography and beyond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380880" y="1665000"/>
            <a:ext cx="760680" cy="1764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"/>
          <p:cNvSpPr/>
          <p:nvPr/>
        </p:nvSpPr>
        <p:spPr>
          <a:xfrm>
            <a:off x="380880" y="1989000"/>
            <a:ext cx="95140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4" strike="noStrike">
                <a:solidFill>
                  <a:srgbClr val="86868b"/>
                </a:solidFill>
                <a:latin typeface="Liter"/>
                <a:ea typeface="Liter"/>
              </a:rPr>
              <a:t>Chapter One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80880" y="2408040"/>
            <a:ext cx="9904680" cy="17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What is the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Birthday Paradox?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80880" y="4449960"/>
            <a:ext cx="5599440" cy="74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9833760" y="2476440"/>
            <a:ext cx="2932200" cy="19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The Core Question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800080"/>
                </a:solidFill>
                <a:latin typeface="Liter"/>
                <a:ea typeface="Liter"/>
              </a:rPr>
              <a:t>The Surprising Question</a:t>
            </a:r>
            <a:endParaRPr b="0" lang="en-HK" sz="2700" spc="-1" strike="noStrike">
              <a:solidFill>
                <a:srgbClr val="800080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380880" y="1824120"/>
            <a:ext cx="8647200" cy="74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How many people must be in a room</a:t>
            </a: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 for there to be a greater than 50% chance that at least two of them share the same birthday?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380880" y="3338640"/>
            <a:ext cx="5484960" cy="1764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4"/>
          <p:cNvSpPr/>
          <p:nvPr/>
        </p:nvSpPr>
        <p:spPr>
          <a:xfrm>
            <a:off x="380880" y="3576600"/>
            <a:ext cx="5551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Intuitive Guess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380880" y="3919680"/>
            <a:ext cx="1836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86868b"/>
                </a:solidFill>
                <a:latin typeface="Liter"/>
                <a:ea typeface="Liter"/>
              </a:rPr>
              <a:t>~180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991160" y="4286160"/>
            <a:ext cx="66528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7"/>
          <p:cNvSpPr/>
          <p:nvPr/>
        </p:nvSpPr>
        <p:spPr>
          <a:xfrm>
            <a:off x="380880" y="4757760"/>
            <a:ext cx="55612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Most people assume you need about half the days in a year—seems logical, right?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6324480" y="3338640"/>
            <a:ext cx="5484960" cy="1764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9"/>
          <p:cNvSpPr/>
          <p:nvPr/>
        </p:nvSpPr>
        <p:spPr>
          <a:xfrm>
            <a:off x="6324480" y="3576600"/>
            <a:ext cx="5551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0071e3"/>
                </a:solidFill>
                <a:latin typeface="Liter"/>
                <a:ea typeface="Liter"/>
              </a:rPr>
              <a:t>Actual Answer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6324480" y="3919680"/>
            <a:ext cx="1141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7242120" y="4286160"/>
            <a:ext cx="66528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6324480" y="4757760"/>
            <a:ext cx="55612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Just 23 people gives you a </a:t>
            </a: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50.7%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probability of a shared birthday. This is why it's called a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84" name="Shape 13"/>
          <p:cNvSpPr/>
          <p:nvPr/>
        </p:nvSpPr>
        <p:spPr>
          <a:xfrm>
            <a:off x="380880" y="601488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14"/>
          <p:cNvSpPr/>
          <p:nvPr/>
        </p:nvSpPr>
        <p:spPr>
          <a:xfrm>
            <a:off x="419040" y="6286680"/>
            <a:ext cx="113040" cy="15084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5"/>
          <p:cNvSpPr/>
          <p:nvPr/>
        </p:nvSpPr>
        <p:spPr>
          <a:xfrm>
            <a:off x="628560" y="6248520"/>
            <a:ext cx="11257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paradox: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The result seems wrong but is mathematically proven true.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Probability Distribution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Key Probability Milestones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9" name="Image 0"/>
          <p:cNvSpPr/>
          <p:nvPr/>
        </p:nvSpPr>
        <p:spPr>
          <a:xfrm>
            <a:off x="380880" y="1219320"/>
            <a:ext cx="6113520" cy="52563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2"/>
          <p:cNvSpPr/>
          <p:nvPr/>
        </p:nvSpPr>
        <p:spPr>
          <a:xfrm>
            <a:off x="6814080" y="1504800"/>
            <a:ext cx="17640" cy="98928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"/>
          <p:cNvSpPr/>
          <p:nvPr/>
        </p:nvSpPr>
        <p:spPr>
          <a:xfrm>
            <a:off x="7014240" y="1504800"/>
            <a:ext cx="5702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7530120" y="1614600"/>
            <a:ext cx="59868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7014240" y="1924200"/>
            <a:ext cx="494208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50.7%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7014240" y="2305080"/>
            <a:ext cx="48657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50-50 threshold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6814080" y="2647800"/>
            <a:ext cx="17640" cy="72252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8"/>
          <p:cNvSpPr/>
          <p:nvPr/>
        </p:nvSpPr>
        <p:spPr>
          <a:xfrm>
            <a:off x="7014240" y="2647800"/>
            <a:ext cx="4939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30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7479360" y="274788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7014240" y="3029040"/>
            <a:ext cx="49136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70.6%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814080" y="3524400"/>
            <a:ext cx="17640" cy="72252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12"/>
          <p:cNvSpPr/>
          <p:nvPr/>
        </p:nvSpPr>
        <p:spPr>
          <a:xfrm>
            <a:off x="7014240" y="3524400"/>
            <a:ext cx="484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7475400" y="362412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7014240" y="3905280"/>
            <a:ext cx="49136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97.0%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6814080" y="4400640"/>
            <a:ext cx="17640" cy="72252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6"/>
          <p:cNvSpPr/>
          <p:nvPr/>
        </p:nvSpPr>
        <p:spPr>
          <a:xfrm>
            <a:off x="7014240" y="4400640"/>
            <a:ext cx="4939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60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7481880" y="450072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7014240" y="4781520"/>
            <a:ext cx="49136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99.2%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6814080" y="5276880"/>
            <a:ext cx="17640" cy="912960"/>
          </a:xfrm>
          <a:custGeom>
            <a:avLst/>
            <a:gdLst/>
            <a:ahLst/>
            <a:rect l="l" t="t" r="r" b="b"/>
            <a:pathLst>
              <a:path w="19050" h="914400">
                <a:moveTo>
                  <a:pt x="0" y="0"/>
                </a:moveTo>
                <a:lnTo>
                  <a:pt x="19050" y="0"/>
                </a:lnTo>
                <a:lnTo>
                  <a:pt x="190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Text 20"/>
          <p:cNvSpPr/>
          <p:nvPr/>
        </p:nvSpPr>
        <p:spPr>
          <a:xfrm>
            <a:off x="7014240" y="5276880"/>
            <a:ext cx="4557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75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7439400" y="537696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7014240" y="5657760"/>
            <a:ext cx="49136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99.9%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7014240" y="6000840"/>
            <a:ext cx="48657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Virtually guaranteed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380880" y="1850760"/>
            <a:ext cx="760680" cy="1764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"/>
          <p:cNvSpPr/>
          <p:nvPr/>
        </p:nvSpPr>
        <p:spPr>
          <a:xfrm>
            <a:off x="380880" y="2174760"/>
            <a:ext cx="9171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4" strike="noStrike">
                <a:solidFill>
                  <a:srgbClr val="86868b"/>
                </a:solidFill>
                <a:latin typeface="Liter"/>
                <a:ea typeface="Liter"/>
              </a:rPr>
              <a:t>Chapter Two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380880" y="2593800"/>
            <a:ext cx="9561600" cy="17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The Mathematics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Behind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380880" y="4635720"/>
            <a:ext cx="559944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9488880" y="2476440"/>
            <a:ext cx="3275280" cy="19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Mathematical Strategy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Complementary Approach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380880" y="1952640"/>
            <a:ext cx="8628120" cy="6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Instead of calculating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at least one match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directly, we calculate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no matches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and subtract from 1.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385920" y="2805120"/>
            <a:ext cx="4027680" cy="808200"/>
          </a:xfrm>
          <a:custGeom>
            <a:avLst/>
            <a:gdLst/>
            <a:ahLst/>
            <a:rect l="l" t="t" r="r" b="b"/>
            <a:pathLst>
              <a:path w="4029075" h="809625">
                <a:moveTo>
                  <a:pt x="0" y="0"/>
                </a:moveTo>
                <a:lnTo>
                  <a:pt x="4029075" y="0"/>
                </a:lnTo>
                <a:lnTo>
                  <a:pt x="4029075" y="809625"/>
                </a:lnTo>
                <a:lnTo>
                  <a:pt x="0" y="8096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4"/>
          <p:cNvSpPr/>
          <p:nvPr/>
        </p:nvSpPr>
        <p:spPr>
          <a:xfrm>
            <a:off x="695160" y="3038400"/>
            <a:ext cx="35514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P(match) = 1 − P(no match)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380880" y="400068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Why This Works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380880" y="4343400"/>
            <a:ext cx="55994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There are only two possibilities: either at least two people share a birthday, or everyone has unique birthdays.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380880" y="499104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These are complementary events, so their probabilities must sum to 1 (or 100%).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6286680" y="400068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The Advantage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6" name="Text 9"/>
          <p:cNvSpPr/>
          <p:nvPr/>
        </p:nvSpPr>
        <p:spPr>
          <a:xfrm>
            <a:off x="6286680" y="4343400"/>
            <a:ext cx="55994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Calculating "no matches" is much easier because we can build it step by step, person by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6286680" y="499104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sequential approach makes the complex problem tractable.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380880" y="612936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2"/>
          <p:cNvSpPr/>
          <p:nvPr/>
        </p:nvSpPr>
        <p:spPr>
          <a:xfrm>
            <a:off x="399960" y="6315120"/>
            <a:ext cx="131760" cy="13176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3"/>
          <p:cNvSpPr/>
          <p:nvPr/>
        </p:nvSpPr>
        <p:spPr>
          <a:xfrm>
            <a:off x="609480" y="6286680"/>
            <a:ext cx="11266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Key insight:</a:t>
            </a: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 This complementary approach is a fundamental technique in probability theory.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Step-by-Step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Building the Calculation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385920" y="1576440"/>
            <a:ext cx="446400" cy="44640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"/>
          <p:cNvSpPr/>
          <p:nvPr/>
        </p:nvSpPr>
        <p:spPr>
          <a:xfrm>
            <a:off x="333360" y="1571760"/>
            <a:ext cx="532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066680" y="1533600"/>
            <a:ext cx="108284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First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066680" y="1838160"/>
            <a:ext cx="10819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unique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365/365 = 1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385920" y="2262240"/>
            <a:ext cx="446400" cy="44640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7"/>
          <p:cNvSpPr/>
          <p:nvPr/>
        </p:nvSpPr>
        <p:spPr>
          <a:xfrm>
            <a:off x="333360" y="2257560"/>
            <a:ext cx="532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066680" y="2219400"/>
            <a:ext cx="108284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Second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066680" y="2523960"/>
            <a:ext cx="10819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364/365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85920" y="2948040"/>
            <a:ext cx="446400" cy="44640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11"/>
          <p:cNvSpPr/>
          <p:nvPr/>
        </p:nvSpPr>
        <p:spPr>
          <a:xfrm>
            <a:off x="333360" y="2943360"/>
            <a:ext cx="532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1066680" y="2905200"/>
            <a:ext cx="108284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Third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66680" y="3209760"/>
            <a:ext cx="10819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5" name="Shape 14"/>
          <p:cNvSpPr/>
          <p:nvPr/>
        </p:nvSpPr>
        <p:spPr>
          <a:xfrm>
            <a:off x="385920" y="3595680"/>
            <a:ext cx="446400" cy="44640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15"/>
          <p:cNvSpPr/>
          <p:nvPr/>
        </p:nvSpPr>
        <p:spPr>
          <a:xfrm>
            <a:off x="333360" y="3591000"/>
            <a:ext cx="532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...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1066680" y="3686040"/>
            <a:ext cx="108284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6868b"/>
                </a:solidFill>
                <a:latin typeface="Liter"/>
                <a:ea typeface="Liter"/>
              </a:rPr>
              <a:t>Pattern continues...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85920" y="4243320"/>
            <a:ext cx="446400" cy="44640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8"/>
          <p:cNvSpPr/>
          <p:nvPr/>
        </p:nvSpPr>
        <p:spPr>
          <a:xfrm>
            <a:off x="333360" y="4238640"/>
            <a:ext cx="532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1066680" y="4200480"/>
            <a:ext cx="108284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23rd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66680" y="4505400"/>
            <a:ext cx="10819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0071e3"/>
                </a:solidFill>
                <a:latin typeface="Liter"/>
                <a:ea typeface="Liter"/>
              </a:rPr>
              <a:t>343/365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380880" y="4971960"/>
            <a:ext cx="11428560" cy="17640"/>
          </a:xfrm>
          <a:custGeom>
            <a:avLst/>
            <a:gdLst/>
            <a:ahLst/>
            <a:rect l="l" t="t" r="r" b="b"/>
            <a:pathLst>
              <a:path w="11430000" h="19050">
                <a:moveTo>
                  <a:pt x="0" y="0"/>
                </a:moveTo>
                <a:lnTo>
                  <a:pt x="11430000" y="0"/>
                </a:lnTo>
                <a:lnTo>
                  <a:pt x="11430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22"/>
          <p:cNvSpPr/>
          <p:nvPr/>
        </p:nvSpPr>
        <p:spPr>
          <a:xfrm>
            <a:off x="380880" y="5210280"/>
            <a:ext cx="114951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The Complete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54" name="Text 23"/>
          <p:cNvSpPr/>
          <p:nvPr/>
        </p:nvSpPr>
        <p:spPr>
          <a:xfrm>
            <a:off x="380880" y="5514840"/>
            <a:ext cx="115239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P(no match) = (365/365) × (364/365) × (363/365) × ... × (343/365)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380880" y="5896080"/>
            <a:ext cx="115142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P(at least one match) = 1 − 0.493 = </a:t>
            </a:r>
            <a:r>
              <a:rPr b="1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0.507 (50.7%)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The Key Insight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Power of Combinations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380880" y="1995480"/>
            <a:ext cx="56088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With 23 people, we're not making 23 comparisons. We're making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253 comparisons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—every possible pair of people.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385920" y="2786040"/>
            <a:ext cx="5513400" cy="1417680"/>
          </a:xfrm>
          <a:custGeom>
            <a:avLst/>
            <a:gdLst/>
            <a:ahLst/>
            <a:rect l="l" t="t" r="r" b="b"/>
            <a:pathLst>
              <a:path w="5514975" h="1419225">
                <a:moveTo>
                  <a:pt x="0" y="0"/>
                </a:moveTo>
                <a:lnTo>
                  <a:pt x="5514975" y="0"/>
                </a:lnTo>
                <a:lnTo>
                  <a:pt x="5514975" y="1419225"/>
                </a:lnTo>
                <a:lnTo>
                  <a:pt x="0" y="14192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4"/>
          <p:cNvSpPr/>
          <p:nvPr/>
        </p:nvSpPr>
        <p:spPr>
          <a:xfrm>
            <a:off x="619200" y="3019320"/>
            <a:ext cx="51134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Number of Pairs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19200" y="3324240"/>
            <a:ext cx="51897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C(n,2) = n × (n−1) / 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619200" y="3743280"/>
            <a:ext cx="5123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For n = 23: 23 × 22 / 2 = 253 pairs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3" name="Shape 7"/>
          <p:cNvSpPr/>
          <p:nvPr/>
        </p:nvSpPr>
        <p:spPr>
          <a:xfrm>
            <a:off x="6296040" y="1995480"/>
            <a:ext cx="17640" cy="68436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8"/>
          <p:cNvSpPr/>
          <p:nvPr/>
        </p:nvSpPr>
        <p:spPr>
          <a:xfrm>
            <a:off x="6496200" y="1995480"/>
            <a:ext cx="43668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10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6906960" y="209556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6" name="Text 10"/>
          <p:cNvSpPr/>
          <p:nvPr/>
        </p:nvSpPr>
        <p:spPr>
          <a:xfrm>
            <a:off x="6496200" y="2376360"/>
            <a:ext cx="5427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45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6296040" y="2833560"/>
            <a:ext cx="17640" cy="98928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12"/>
          <p:cNvSpPr/>
          <p:nvPr/>
        </p:nvSpPr>
        <p:spPr>
          <a:xfrm>
            <a:off x="6496200" y="2833560"/>
            <a:ext cx="5702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7011720" y="2943360"/>
            <a:ext cx="59868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6496200" y="3252960"/>
            <a:ext cx="54565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253 pairs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496200" y="363384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More than half the days in a year!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6296040" y="3976560"/>
            <a:ext cx="17640" cy="68436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17"/>
          <p:cNvSpPr/>
          <p:nvPr/>
        </p:nvSpPr>
        <p:spPr>
          <a:xfrm>
            <a:off x="6496200" y="3976560"/>
            <a:ext cx="484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4" name="Text 18"/>
          <p:cNvSpPr/>
          <p:nvPr/>
        </p:nvSpPr>
        <p:spPr>
          <a:xfrm>
            <a:off x="6957360" y="4076640"/>
            <a:ext cx="53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496200" y="4357800"/>
            <a:ext cx="5427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1,225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76" name="Shape 20"/>
          <p:cNvSpPr/>
          <p:nvPr/>
        </p:nvSpPr>
        <p:spPr>
          <a:xfrm>
            <a:off x="380880" y="497196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1"/>
          <p:cNvSpPr/>
          <p:nvPr/>
        </p:nvSpPr>
        <p:spPr>
          <a:xfrm>
            <a:off x="390600" y="5253120"/>
            <a:ext cx="169920" cy="15084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114300" y="47625"/>
                </a:moveTo>
                <a:cubicBezTo>
                  <a:pt x="109031" y="47625"/>
                  <a:pt x="104775" y="43369"/>
                  <a:pt x="104775" y="38100"/>
                </a:cubicBezTo>
                <a:cubicBezTo>
                  <a:pt x="104775" y="32831"/>
                  <a:pt x="109031" y="28575"/>
                  <a:pt x="114300" y="28575"/>
                </a:cubicBezTo>
                <a:lnTo>
                  <a:pt x="161925" y="28575"/>
                </a:lnTo>
                <a:cubicBezTo>
                  <a:pt x="167194" y="28575"/>
                  <a:pt x="171450" y="32831"/>
                  <a:pt x="171450" y="38100"/>
                </a:cubicBezTo>
                <a:lnTo>
                  <a:pt x="171450" y="85725"/>
                </a:lnTo>
                <a:cubicBezTo>
                  <a:pt x="171450" y="90994"/>
                  <a:pt x="167194" y="95250"/>
                  <a:pt x="161925" y="95250"/>
                </a:cubicBezTo>
                <a:cubicBezTo>
                  <a:pt x="156656" y="95250"/>
                  <a:pt x="152400" y="90994"/>
                  <a:pt x="152400" y="85725"/>
                </a:cubicBezTo>
                <a:lnTo>
                  <a:pt x="152400" y="61109"/>
                </a:lnTo>
                <a:lnTo>
                  <a:pt x="101977" y="111532"/>
                </a:lnTo>
                <a:cubicBezTo>
                  <a:pt x="98256" y="115253"/>
                  <a:pt x="92214" y="115253"/>
                  <a:pt x="88493" y="111532"/>
                </a:cubicBezTo>
                <a:lnTo>
                  <a:pt x="57150" y="80159"/>
                </a:lnTo>
                <a:lnTo>
                  <a:pt x="16252" y="121027"/>
                </a:lnTo>
                <a:cubicBezTo>
                  <a:pt x="12531" y="124748"/>
                  <a:pt x="6489" y="124748"/>
                  <a:pt x="2768" y="121027"/>
                </a:cubicBezTo>
                <a:cubicBezTo>
                  <a:pt x="-952" y="117306"/>
                  <a:pt x="-952" y="111264"/>
                  <a:pt x="2768" y="107543"/>
                </a:cubicBezTo>
                <a:lnTo>
                  <a:pt x="50393" y="59918"/>
                </a:lnTo>
                <a:cubicBezTo>
                  <a:pt x="54114" y="56198"/>
                  <a:pt x="60156" y="56198"/>
                  <a:pt x="63877" y="59918"/>
                </a:cubicBezTo>
                <a:lnTo>
                  <a:pt x="95250" y="91291"/>
                </a:lnTo>
                <a:lnTo>
                  <a:pt x="138916" y="47625"/>
                </a:lnTo>
                <a:lnTo>
                  <a:pt x="114300" y="476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22"/>
          <p:cNvSpPr/>
          <p:nvPr/>
        </p:nvSpPr>
        <p:spPr>
          <a:xfrm>
            <a:off x="628560" y="5205240"/>
            <a:ext cx="1125720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crucial insight: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While the probability for any single pair is low (1/365 ≈ 0.27%), having 253 chances makes a match likely. This is why combinations grow quadratically (n²), not linearly.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380880" y="1850760"/>
            <a:ext cx="760680" cy="1764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1"/>
          <p:cNvSpPr/>
          <p:nvPr/>
        </p:nvSpPr>
        <p:spPr>
          <a:xfrm>
            <a:off x="380880" y="2174760"/>
            <a:ext cx="9151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4" strike="noStrike">
                <a:solidFill>
                  <a:srgbClr val="86868b"/>
                </a:solidFill>
                <a:latin typeface="Liter"/>
                <a:ea typeface="Liter"/>
              </a:rPr>
              <a:t>Chapter Three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380880" y="2593800"/>
            <a:ext cx="9542520" cy="17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Why Our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Intuition Fails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380880" y="4635720"/>
            <a:ext cx="559944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9471600" y="2476440"/>
            <a:ext cx="3294360" cy="19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Cognitive Bias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Self-Reference Trap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380880" y="2019240"/>
            <a:ext cx="8628120" cy="6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We naturally think about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"someone sharing MY birthday"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rather than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"any two people sharing a birthday."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This subtle shift in perspective completely changes the mathematics.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380880" y="3029040"/>
            <a:ext cx="5523120" cy="1764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4"/>
          <p:cNvSpPr/>
          <p:nvPr/>
        </p:nvSpPr>
        <p:spPr>
          <a:xfrm>
            <a:off x="380880" y="326700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Scenario A: Matching YOUR Birthday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80880" y="3610080"/>
            <a:ext cx="5751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86868b"/>
                </a:solidFill>
                <a:latin typeface="Liter"/>
                <a:ea typeface="Liter"/>
              </a:rPr>
              <a:t>253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80880" y="4143240"/>
            <a:ext cx="55994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380880" y="452448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Each person has a 1/365 chance of matching your specific birthday.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380880" y="488628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what our intuition expects—and it feels right.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6286680" y="3029040"/>
            <a:ext cx="5523120" cy="1764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10"/>
          <p:cNvSpPr/>
          <p:nvPr/>
        </p:nvSpPr>
        <p:spPr>
          <a:xfrm>
            <a:off x="6286680" y="326700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0071e3"/>
                </a:solidFill>
                <a:latin typeface="Liter"/>
                <a:ea typeface="Liter"/>
              </a:rPr>
              <a:t>Scenario B: Any Two People Match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6286680" y="3610080"/>
            <a:ext cx="5751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0071e3"/>
                </a:solidFill>
                <a:latin typeface="Liter"/>
                <a:ea typeface="Liter"/>
              </a:rPr>
              <a:t>23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6286680" y="4143240"/>
            <a:ext cx="55994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6286680" y="452448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With 23 people, there are 253 unique pairs, each a potential match.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6286680" y="488628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the actual birthday paradox—and it feels wrong.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380880" y="609120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Shape 16"/>
          <p:cNvSpPr/>
          <p:nvPr/>
        </p:nvSpPr>
        <p:spPr>
          <a:xfrm>
            <a:off x="399960" y="6286680"/>
            <a:ext cx="150840" cy="15084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 17"/>
          <p:cNvSpPr/>
          <p:nvPr/>
        </p:nvSpPr>
        <p:spPr>
          <a:xfrm>
            <a:off x="628560" y="6248520"/>
            <a:ext cx="11257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psychological trap: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We're wired to think about ourselves as the reference point, not the entire group's pairwise combinations.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Cognitive Limitation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 vs. Linear Thinking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380880" y="1962000"/>
            <a:ext cx="8628120" cy="6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Human brains struggle with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. We expect probabilities to scale linearly, but combinations grow quadratically (n²).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380880" y="288612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How We Think (Linear)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0880" y="322884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447920" y="3305160"/>
            <a:ext cx="4456440" cy="7488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Shape 6"/>
          <p:cNvSpPr/>
          <p:nvPr/>
        </p:nvSpPr>
        <p:spPr>
          <a:xfrm>
            <a:off x="1447920" y="3305160"/>
            <a:ext cx="893880" cy="74880"/>
          </a:xfrm>
          <a:custGeom>
            <a:avLst/>
            <a:gdLst/>
            <a:ahLst/>
            <a:rect l="l" t="t" r="r" b="b"/>
            <a:pathLst>
              <a:path w="895350" h="76200">
                <a:moveTo>
                  <a:pt x="0" y="0"/>
                </a:moveTo>
                <a:lnTo>
                  <a:pt x="895350" y="0"/>
                </a:lnTo>
                <a:lnTo>
                  <a:pt x="8953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7"/>
          <p:cNvSpPr/>
          <p:nvPr/>
        </p:nvSpPr>
        <p:spPr>
          <a:xfrm>
            <a:off x="380880" y="357192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1447920" y="3648240"/>
            <a:ext cx="4456440" cy="7488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Shape 9"/>
          <p:cNvSpPr/>
          <p:nvPr/>
        </p:nvSpPr>
        <p:spPr>
          <a:xfrm>
            <a:off x="1447920" y="3648240"/>
            <a:ext cx="1779840" cy="74880"/>
          </a:xfrm>
          <a:custGeom>
            <a:avLst/>
            <a:gdLst/>
            <a:ahLst/>
            <a:rect l="l" t="t" r="r" b="b"/>
            <a:pathLst>
              <a:path w="1781175" h="76200">
                <a:moveTo>
                  <a:pt x="0" y="0"/>
                </a:moveTo>
                <a:lnTo>
                  <a:pt x="1781175" y="0"/>
                </a:lnTo>
                <a:lnTo>
                  <a:pt x="17811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0"/>
          <p:cNvSpPr/>
          <p:nvPr/>
        </p:nvSpPr>
        <p:spPr>
          <a:xfrm>
            <a:off x="380880" y="391464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30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1447920" y="3990960"/>
            <a:ext cx="4456440" cy="7488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Shape 12"/>
          <p:cNvSpPr/>
          <p:nvPr/>
        </p:nvSpPr>
        <p:spPr>
          <a:xfrm>
            <a:off x="1447920" y="3990960"/>
            <a:ext cx="2675160" cy="7488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0" y="0"/>
                </a:moveTo>
                <a:lnTo>
                  <a:pt x="2676525" y="0"/>
                </a:lnTo>
                <a:lnTo>
                  <a:pt x="267652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13"/>
          <p:cNvSpPr/>
          <p:nvPr/>
        </p:nvSpPr>
        <p:spPr>
          <a:xfrm>
            <a:off x="380880" y="429588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intuition expects probability to increase proportionally with group size.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6286680" y="2886120"/>
            <a:ext cx="5589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0071e3"/>
                </a:solidFill>
                <a:latin typeface="Liter"/>
                <a:ea typeface="Liter"/>
              </a:rPr>
              <a:t>How It Actually Works (Quadratic)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6286680" y="322884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7353360" y="3305160"/>
            <a:ext cx="3694320" cy="7488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17"/>
          <p:cNvSpPr/>
          <p:nvPr/>
        </p:nvSpPr>
        <p:spPr>
          <a:xfrm>
            <a:off x="7353360" y="3305160"/>
            <a:ext cx="446400" cy="74880"/>
          </a:xfrm>
          <a:custGeom>
            <a:avLst/>
            <a:gdLst/>
            <a:ahLst/>
            <a:rect l="l" t="t" r="r" b="b"/>
            <a:pathLst>
              <a:path w="447675" h="76200">
                <a:moveTo>
                  <a:pt x="0" y="0"/>
                </a:moveTo>
                <a:lnTo>
                  <a:pt x="447675" y="0"/>
                </a:lnTo>
                <a:lnTo>
                  <a:pt x="4476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18"/>
          <p:cNvSpPr/>
          <p:nvPr/>
        </p:nvSpPr>
        <p:spPr>
          <a:xfrm>
            <a:off x="11201400" y="3247920"/>
            <a:ext cx="675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45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6286680" y="357192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23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7353360" y="3648240"/>
            <a:ext cx="3694320" cy="7488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Shape 21"/>
          <p:cNvSpPr/>
          <p:nvPr/>
        </p:nvSpPr>
        <p:spPr>
          <a:xfrm>
            <a:off x="7353360" y="3648240"/>
            <a:ext cx="1846440" cy="74880"/>
          </a:xfrm>
          <a:custGeom>
            <a:avLst/>
            <a:gdLst/>
            <a:ahLst/>
            <a:rect l="l" t="t" r="r" b="b"/>
            <a:pathLst>
              <a:path w="1847850" h="76200">
                <a:moveTo>
                  <a:pt x="0" y="0"/>
                </a:moveTo>
                <a:lnTo>
                  <a:pt x="1847850" y="0"/>
                </a:lnTo>
                <a:lnTo>
                  <a:pt x="18478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11201400" y="3591000"/>
            <a:ext cx="675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253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6286680" y="3990960"/>
            <a:ext cx="989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6" name="Shape 24"/>
          <p:cNvSpPr/>
          <p:nvPr/>
        </p:nvSpPr>
        <p:spPr>
          <a:xfrm>
            <a:off x="7353360" y="4067280"/>
            <a:ext cx="3694320" cy="7488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Shape 25"/>
          <p:cNvSpPr/>
          <p:nvPr/>
        </p:nvSpPr>
        <p:spPr>
          <a:xfrm>
            <a:off x="7353360" y="4067280"/>
            <a:ext cx="3579840" cy="74880"/>
          </a:xfrm>
          <a:custGeom>
            <a:avLst/>
            <a:gdLst/>
            <a:ahLst/>
            <a:rect l="l" t="t" r="r" b="b"/>
            <a:pathLst>
              <a:path w="3581400" h="76200">
                <a:moveTo>
                  <a:pt x="0" y="0"/>
                </a:moveTo>
                <a:lnTo>
                  <a:pt x="3581400" y="0"/>
                </a:lnTo>
                <a:lnTo>
                  <a:pt x="3581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11201400" y="3914640"/>
            <a:ext cx="67500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1,225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286680" y="4448160"/>
            <a:ext cx="5599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number of pairs explodes quadratically, making matches inevitable.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380880" y="500544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29"/>
          <p:cNvSpPr/>
          <p:nvPr/>
        </p:nvSpPr>
        <p:spPr>
          <a:xfrm>
            <a:off x="399960" y="5286240"/>
            <a:ext cx="150840" cy="15084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30"/>
          <p:cNvSpPr/>
          <p:nvPr/>
        </p:nvSpPr>
        <p:spPr>
          <a:xfrm>
            <a:off x="628560" y="5238720"/>
            <a:ext cx="1125720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compounding effect: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Each new person doesn't just add one comparison—they add comparisons with everyone already in the room. This is why the probability curve rises so steeply.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380880" y="1850760"/>
            <a:ext cx="760680" cy="1764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1"/>
          <p:cNvSpPr/>
          <p:nvPr/>
        </p:nvSpPr>
        <p:spPr>
          <a:xfrm>
            <a:off x="380880" y="2174760"/>
            <a:ext cx="91616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4" strike="noStrike">
                <a:solidFill>
                  <a:srgbClr val="86868b"/>
                </a:solidFill>
                <a:latin typeface="Liter"/>
                <a:ea typeface="Liter"/>
              </a:rPr>
              <a:t>Chapter Four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380880" y="2593800"/>
            <a:ext cx="9552240" cy="17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Real-World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Applications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380880" y="4635720"/>
            <a:ext cx="559944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practice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9473400" y="2476440"/>
            <a:ext cx="3284640" cy="19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Cybersecurity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Cryptography: The Birthday Attack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1848960"/>
            <a:ext cx="56088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The birthday paradox isn't just a mathematical curiosity—it has serious implications for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digital security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380880" y="2596680"/>
            <a:ext cx="55994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Hash functions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are used to verify data integrity. Finding two inputs that produce the same hash (a collision) follows the same mathematics as the birthday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380880" y="3244320"/>
            <a:ext cx="55994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vulnerability is exploited in "birthday attacks" to forge digital signatures and compromise security systems.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6296040" y="1848960"/>
            <a:ext cx="17640" cy="79884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6"/>
          <p:cNvSpPr/>
          <p:nvPr/>
        </p:nvSpPr>
        <p:spPr>
          <a:xfrm>
            <a:off x="6496200" y="184896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0071e3"/>
                </a:solidFill>
                <a:latin typeface="Liter"/>
                <a:ea typeface="Liter"/>
              </a:rPr>
              <a:t>MD5 (128-bit)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496200" y="2115720"/>
            <a:ext cx="5427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2^64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6496200" y="245880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6296040" y="2801520"/>
            <a:ext cx="17640" cy="79884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0"/>
          <p:cNvSpPr/>
          <p:nvPr/>
        </p:nvSpPr>
        <p:spPr>
          <a:xfrm>
            <a:off x="6496200" y="280152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SHA-1 (160-bit)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6496200" y="3068280"/>
            <a:ext cx="5427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2^80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496200" y="341100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6296040" y="3754080"/>
            <a:ext cx="17640" cy="79884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4"/>
          <p:cNvSpPr/>
          <p:nvPr/>
        </p:nvSpPr>
        <p:spPr>
          <a:xfrm>
            <a:off x="6496200" y="375408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SHA-256 (256-bit)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6496200" y="4020840"/>
            <a:ext cx="5427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2^128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496200" y="4363560"/>
            <a:ext cx="53802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5" name="Shape 17"/>
          <p:cNvSpPr/>
          <p:nvPr/>
        </p:nvSpPr>
        <p:spPr>
          <a:xfrm>
            <a:off x="380880" y="478764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18"/>
          <p:cNvSpPr/>
          <p:nvPr/>
        </p:nvSpPr>
        <p:spPr>
          <a:xfrm>
            <a:off x="380880" y="5020920"/>
            <a:ext cx="114951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199" strike="noStrike">
                <a:solidFill>
                  <a:srgbClr val="86868b"/>
                </a:solidFill>
                <a:latin typeface="Liter"/>
                <a:ea typeface="Liter"/>
              </a:rPr>
              <a:t>Why This Matters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80880" y="5363640"/>
            <a:ext cx="189000" cy="15084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57150" y="38100"/>
                </a:moveTo>
                <a:cubicBezTo>
                  <a:pt x="57150" y="32831"/>
                  <a:pt x="61406" y="28575"/>
                  <a:pt x="66675" y="28575"/>
                </a:cubicBezTo>
                <a:cubicBezTo>
                  <a:pt x="71944" y="28575"/>
                  <a:pt x="76200" y="32831"/>
                  <a:pt x="76200" y="38100"/>
                </a:cubicBezTo>
                <a:lnTo>
                  <a:pt x="76200" y="40422"/>
                </a:lnTo>
                <a:cubicBezTo>
                  <a:pt x="76200" y="48667"/>
                  <a:pt x="75486" y="56882"/>
                  <a:pt x="74087" y="64978"/>
                </a:cubicBezTo>
                <a:lnTo>
                  <a:pt x="48964" y="72509"/>
                </a:lnTo>
                <a:cubicBezTo>
                  <a:pt x="36880" y="76140"/>
                  <a:pt x="28605" y="87273"/>
                  <a:pt x="28605" y="99893"/>
                </a:cubicBezTo>
                <a:lnTo>
                  <a:pt x="28605" y="109537"/>
                </a:lnTo>
                <a:lnTo>
                  <a:pt x="7174" y="109537"/>
                </a:lnTo>
                <a:cubicBezTo>
                  <a:pt x="3215" y="109537"/>
                  <a:pt x="30" y="112722"/>
                  <a:pt x="30" y="116681"/>
                </a:cubicBezTo>
                <a:cubicBezTo>
                  <a:pt x="30" y="120640"/>
                  <a:pt x="3215" y="123825"/>
                  <a:pt x="7174" y="123825"/>
                </a:cubicBezTo>
                <a:lnTo>
                  <a:pt x="28754" y="123825"/>
                </a:lnTo>
                <a:cubicBezTo>
                  <a:pt x="30004" y="134541"/>
                  <a:pt x="39112" y="142875"/>
                  <a:pt x="50185" y="142875"/>
                </a:cubicBezTo>
                <a:cubicBezTo>
                  <a:pt x="57924" y="142875"/>
                  <a:pt x="65068" y="138738"/>
                  <a:pt x="68907" y="132011"/>
                </a:cubicBezTo>
                <a:lnTo>
                  <a:pt x="73045" y="124777"/>
                </a:lnTo>
                <a:cubicBezTo>
                  <a:pt x="81022" y="110788"/>
                  <a:pt x="86886" y="95696"/>
                  <a:pt x="90428" y="79980"/>
                </a:cubicBezTo>
                <a:lnTo>
                  <a:pt x="118527" y="71557"/>
                </a:lnTo>
                <a:lnTo>
                  <a:pt x="114806" y="82719"/>
                </a:lnTo>
                <a:cubicBezTo>
                  <a:pt x="113824" y="85636"/>
                  <a:pt x="114330" y="88821"/>
                  <a:pt x="116116" y="91291"/>
                </a:cubicBezTo>
                <a:cubicBezTo>
                  <a:pt x="117902" y="93762"/>
                  <a:pt x="120759" y="95250"/>
                  <a:pt x="123825" y="95250"/>
                </a:cubicBezTo>
                <a:lnTo>
                  <a:pt x="161925" y="95250"/>
                </a:lnTo>
                <a:cubicBezTo>
                  <a:pt x="167194" y="95250"/>
                  <a:pt x="171450" y="90994"/>
                  <a:pt x="171450" y="85725"/>
                </a:cubicBezTo>
                <a:cubicBezTo>
                  <a:pt x="171450" y="80456"/>
                  <a:pt x="167194" y="76200"/>
                  <a:pt x="161925" y="76200"/>
                </a:cubicBezTo>
                <a:lnTo>
                  <a:pt x="137041" y="76200"/>
                </a:lnTo>
                <a:lnTo>
                  <a:pt x="142399" y="60156"/>
                </a:lnTo>
                <a:cubicBezTo>
                  <a:pt x="143530" y="56793"/>
                  <a:pt x="142667" y="53072"/>
                  <a:pt x="140196" y="50512"/>
                </a:cubicBezTo>
                <a:cubicBezTo>
                  <a:pt x="137726" y="47952"/>
                  <a:pt x="134035" y="47000"/>
                  <a:pt x="130612" y="48012"/>
                </a:cubicBezTo>
                <a:lnTo>
                  <a:pt x="94178" y="58966"/>
                </a:lnTo>
                <a:cubicBezTo>
                  <a:pt x="94893" y="52804"/>
                  <a:pt x="95250" y="46643"/>
                  <a:pt x="95250" y="40422"/>
                </a:cubicBezTo>
                <a:lnTo>
                  <a:pt x="95250" y="38100"/>
                </a:lnTo>
                <a:cubicBezTo>
                  <a:pt x="95250" y="22324"/>
                  <a:pt x="82451" y="9525"/>
                  <a:pt x="66675" y="9525"/>
                </a:cubicBezTo>
                <a:cubicBezTo>
                  <a:pt x="50899" y="9525"/>
                  <a:pt x="38100" y="22324"/>
                  <a:pt x="38100" y="38100"/>
                </a:cubicBezTo>
                <a:lnTo>
                  <a:pt x="38100" y="47625"/>
                </a:lnTo>
                <a:cubicBezTo>
                  <a:pt x="38100" y="52894"/>
                  <a:pt x="42356" y="57150"/>
                  <a:pt x="47625" y="57150"/>
                </a:cubicBezTo>
                <a:cubicBezTo>
                  <a:pt x="52894" y="57150"/>
                  <a:pt x="57150" y="52894"/>
                  <a:pt x="57150" y="47625"/>
                </a:cubicBezTo>
                <a:lnTo>
                  <a:pt x="57150" y="38100"/>
                </a:lnTo>
                <a:close/>
                <a:moveTo>
                  <a:pt x="54412" y="90785"/>
                </a:moveTo>
                <a:lnTo>
                  <a:pt x="68997" y="86410"/>
                </a:lnTo>
                <a:cubicBezTo>
                  <a:pt x="65901" y="96470"/>
                  <a:pt x="61704" y="106174"/>
                  <a:pt x="56465" y="115342"/>
                </a:cubicBezTo>
                <a:lnTo>
                  <a:pt x="52328" y="122575"/>
                </a:lnTo>
                <a:cubicBezTo>
                  <a:pt x="51881" y="123349"/>
                  <a:pt x="51048" y="123855"/>
                  <a:pt x="50125" y="123855"/>
                </a:cubicBezTo>
                <a:cubicBezTo>
                  <a:pt x="48726" y="123855"/>
                  <a:pt x="47595" y="122724"/>
                  <a:pt x="47595" y="121325"/>
                </a:cubicBezTo>
                <a:lnTo>
                  <a:pt x="47595" y="99923"/>
                </a:lnTo>
                <a:cubicBezTo>
                  <a:pt x="47595" y="95726"/>
                  <a:pt x="50363" y="92006"/>
                  <a:pt x="54382" y="90785"/>
                </a:cubicBezTo>
                <a:close/>
                <a:moveTo>
                  <a:pt x="183356" y="123825"/>
                </a:moveTo>
                <a:cubicBezTo>
                  <a:pt x="187315" y="123825"/>
                  <a:pt x="190500" y="120640"/>
                  <a:pt x="190500" y="116681"/>
                </a:cubicBezTo>
                <a:cubicBezTo>
                  <a:pt x="190500" y="112722"/>
                  <a:pt x="187315" y="109537"/>
                  <a:pt x="183356" y="109537"/>
                </a:cubicBezTo>
                <a:lnTo>
                  <a:pt x="96173" y="109537"/>
                </a:lnTo>
                <a:cubicBezTo>
                  <a:pt x="94238" y="114389"/>
                  <a:pt x="92095" y="119152"/>
                  <a:pt x="89743" y="123825"/>
                </a:cubicBezTo>
                <a:lnTo>
                  <a:pt x="183356" y="1238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0"/>
          <p:cNvSpPr/>
          <p:nvPr/>
        </p:nvSpPr>
        <p:spPr>
          <a:xfrm>
            <a:off x="628560" y="5325840"/>
            <a:ext cx="348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Digital Signatures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9" name="Text 21"/>
          <p:cNvSpPr/>
          <p:nvPr/>
        </p:nvSpPr>
        <p:spPr>
          <a:xfrm>
            <a:off x="380880" y="5630400"/>
            <a:ext cx="3722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Attackers can forge signatures by finding colliding documents.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4286160" y="5363640"/>
            <a:ext cx="150840" cy="15084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23"/>
          <p:cNvSpPr/>
          <p:nvPr/>
        </p:nvSpPr>
        <p:spPr>
          <a:xfrm>
            <a:off x="4514760" y="5325840"/>
            <a:ext cx="348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Data Integrity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267080" y="5630400"/>
            <a:ext cx="3722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Malicious data can be substituted without detection.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8172360" y="5363640"/>
            <a:ext cx="150840" cy="15084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0013" y="104775"/>
                </a:moveTo>
                <a:cubicBezTo>
                  <a:pt x="128945" y="104775"/>
                  <a:pt x="152400" y="81320"/>
                  <a:pt x="152400" y="52388"/>
                </a:cubicBezTo>
                <a:cubicBezTo>
                  <a:pt x="152400" y="23455"/>
                  <a:pt x="128945" y="0"/>
                  <a:pt x="100013" y="0"/>
                </a:cubicBezTo>
                <a:cubicBezTo>
                  <a:pt x="71080" y="0"/>
                  <a:pt x="47625" y="23455"/>
                  <a:pt x="47625" y="52388"/>
                </a:cubicBezTo>
                <a:cubicBezTo>
                  <a:pt x="47625" y="57954"/>
                  <a:pt x="48488" y="63341"/>
                  <a:pt x="50096" y="68372"/>
                </a:cubicBezTo>
                <a:lnTo>
                  <a:pt x="2084" y="116384"/>
                </a:lnTo>
                <a:cubicBezTo>
                  <a:pt x="744" y="117723"/>
                  <a:pt x="0" y="119539"/>
                  <a:pt x="0" y="121444"/>
                </a:cubicBezTo>
                <a:lnTo>
                  <a:pt x="0" y="145256"/>
                </a:lnTo>
                <a:cubicBezTo>
                  <a:pt x="0" y="149215"/>
                  <a:pt x="3185" y="152400"/>
                  <a:pt x="7144" y="152400"/>
                </a:cubicBezTo>
                <a:lnTo>
                  <a:pt x="30956" y="152400"/>
                </a:lnTo>
                <a:cubicBezTo>
                  <a:pt x="34915" y="152400"/>
                  <a:pt x="38100" y="149215"/>
                  <a:pt x="38100" y="145256"/>
                </a:cubicBezTo>
                <a:lnTo>
                  <a:pt x="38100" y="133350"/>
                </a:lnTo>
                <a:lnTo>
                  <a:pt x="50006" y="133350"/>
                </a:lnTo>
                <a:cubicBezTo>
                  <a:pt x="53965" y="133350"/>
                  <a:pt x="57150" y="130165"/>
                  <a:pt x="57150" y="126206"/>
                </a:cubicBezTo>
                <a:lnTo>
                  <a:pt x="57150" y="114300"/>
                </a:lnTo>
                <a:lnTo>
                  <a:pt x="69056" y="114300"/>
                </a:lnTo>
                <a:cubicBezTo>
                  <a:pt x="70961" y="114300"/>
                  <a:pt x="72777" y="113556"/>
                  <a:pt x="74116" y="112216"/>
                </a:cubicBezTo>
                <a:lnTo>
                  <a:pt x="84028" y="102304"/>
                </a:lnTo>
                <a:cubicBezTo>
                  <a:pt x="89059" y="103912"/>
                  <a:pt x="94446" y="104775"/>
                  <a:pt x="100013" y="104775"/>
                </a:cubicBezTo>
                <a:close/>
                <a:moveTo>
                  <a:pt x="111919" y="28575"/>
                </a:moveTo>
                <a:cubicBezTo>
                  <a:pt x="118490" y="28575"/>
                  <a:pt x="123825" y="33910"/>
                  <a:pt x="123825" y="40481"/>
                </a:cubicBezTo>
                <a:cubicBezTo>
                  <a:pt x="123825" y="47052"/>
                  <a:pt x="118490" y="52388"/>
                  <a:pt x="111919" y="52388"/>
                </a:cubicBezTo>
                <a:cubicBezTo>
                  <a:pt x="105348" y="52388"/>
                  <a:pt x="100013" y="47052"/>
                  <a:pt x="100013" y="40481"/>
                </a:cubicBezTo>
                <a:cubicBezTo>
                  <a:pt x="100013" y="33910"/>
                  <a:pt x="105348" y="28575"/>
                  <a:pt x="111919" y="28575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6"/>
          <p:cNvSpPr/>
          <p:nvPr/>
        </p:nvSpPr>
        <p:spPr>
          <a:xfrm>
            <a:off x="8400960" y="5325840"/>
            <a:ext cx="348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Security Design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8153280" y="5630400"/>
            <a:ext cx="3722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Hash functions need twice the expected bit length for security.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380880" y="380880"/>
            <a:ext cx="1148580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59" strike="noStrike">
                <a:solidFill>
                  <a:srgbClr val="86868b"/>
                </a:solidFill>
                <a:latin typeface="Liter"/>
                <a:ea typeface="Liter"/>
              </a:rPr>
              <a:t>Broader Impact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380880" y="609480"/>
            <a:ext cx="115999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Other Practical Applications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Shape 2"/>
          <p:cNvSpPr/>
          <p:nvPr/>
        </p:nvSpPr>
        <p:spPr>
          <a:xfrm>
            <a:off x="380880" y="188604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3"/>
          <p:cNvSpPr/>
          <p:nvPr/>
        </p:nvSpPr>
        <p:spPr>
          <a:xfrm>
            <a:off x="409680" y="2081160"/>
            <a:ext cx="227160" cy="22716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14300" y="-14287"/>
                </a:moveTo>
                <a:cubicBezTo>
                  <a:pt x="122203" y="-14287"/>
                  <a:pt x="128588" y="-7903"/>
                  <a:pt x="128588" y="0"/>
                </a:cubicBezTo>
                <a:lnTo>
                  <a:pt x="128588" y="893"/>
                </a:lnTo>
                <a:cubicBezTo>
                  <a:pt x="184978" y="7903"/>
                  <a:pt x="228600" y="56034"/>
                  <a:pt x="228600" y="114300"/>
                </a:cubicBezTo>
                <a:cubicBezTo>
                  <a:pt x="228600" y="115997"/>
                  <a:pt x="228555" y="117649"/>
                  <a:pt x="228511" y="119345"/>
                </a:cubicBezTo>
                <a:cubicBezTo>
                  <a:pt x="228377" y="122426"/>
                  <a:pt x="226278" y="125060"/>
                  <a:pt x="223287" y="125909"/>
                </a:cubicBezTo>
                <a:cubicBezTo>
                  <a:pt x="220295" y="126757"/>
                  <a:pt x="217125" y="125596"/>
                  <a:pt x="215429" y="123006"/>
                </a:cubicBezTo>
                <a:cubicBezTo>
                  <a:pt x="208999" y="113452"/>
                  <a:pt x="198105" y="107156"/>
                  <a:pt x="185738" y="107156"/>
                </a:cubicBezTo>
                <a:cubicBezTo>
                  <a:pt x="172656" y="107156"/>
                  <a:pt x="161226" y="114166"/>
                  <a:pt x="154975" y="124703"/>
                </a:cubicBezTo>
                <a:cubicBezTo>
                  <a:pt x="153769" y="126757"/>
                  <a:pt x="151581" y="128096"/>
                  <a:pt x="149170" y="128186"/>
                </a:cubicBezTo>
                <a:cubicBezTo>
                  <a:pt x="146759" y="128275"/>
                  <a:pt x="144482" y="127203"/>
                  <a:pt x="143054" y="125284"/>
                </a:cubicBezTo>
                <a:cubicBezTo>
                  <a:pt x="136535" y="116443"/>
                  <a:pt x="126087" y="110728"/>
                  <a:pt x="114255" y="110728"/>
                </a:cubicBezTo>
                <a:cubicBezTo>
                  <a:pt x="102424" y="110728"/>
                  <a:pt x="91976" y="116443"/>
                  <a:pt x="85457" y="125284"/>
                </a:cubicBezTo>
                <a:cubicBezTo>
                  <a:pt x="84028" y="127203"/>
                  <a:pt x="81751" y="128320"/>
                  <a:pt x="79340" y="128186"/>
                </a:cubicBezTo>
                <a:cubicBezTo>
                  <a:pt x="76929" y="128052"/>
                  <a:pt x="74786" y="126757"/>
                  <a:pt x="73536" y="124703"/>
                </a:cubicBezTo>
                <a:cubicBezTo>
                  <a:pt x="67285" y="114166"/>
                  <a:pt x="55855" y="107156"/>
                  <a:pt x="42773" y="107156"/>
                </a:cubicBezTo>
                <a:cubicBezTo>
                  <a:pt x="30406" y="107156"/>
                  <a:pt x="19511" y="113452"/>
                  <a:pt x="13082" y="123006"/>
                </a:cubicBezTo>
                <a:cubicBezTo>
                  <a:pt x="11341" y="125551"/>
                  <a:pt x="8171" y="126757"/>
                  <a:pt x="5224" y="125909"/>
                </a:cubicBezTo>
                <a:cubicBezTo>
                  <a:pt x="2277" y="125060"/>
                  <a:pt x="223" y="122426"/>
                  <a:pt x="89" y="119345"/>
                </a:cubicBezTo>
                <a:cubicBezTo>
                  <a:pt x="45" y="117649"/>
                  <a:pt x="0" y="115997"/>
                  <a:pt x="0" y="114300"/>
                </a:cubicBezTo>
                <a:cubicBezTo>
                  <a:pt x="0" y="56034"/>
                  <a:pt x="43622" y="7903"/>
                  <a:pt x="100013" y="893"/>
                </a:cubicBezTo>
                <a:lnTo>
                  <a:pt x="100013" y="0"/>
                </a:lnTo>
                <a:cubicBezTo>
                  <a:pt x="100013" y="-7903"/>
                  <a:pt x="106397" y="-14287"/>
                  <a:pt x="114300" y="-14287"/>
                </a:cubicBezTo>
                <a:close/>
                <a:moveTo>
                  <a:pt x="128588" y="146447"/>
                </a:moveTo>
                <a:lnTo>
                  <a:pt x="128588" y="192256"/>
                </a:lnTo>
                <a:cubicBezTo>
                  <a:pt x="128588" y="212348"/>
                  <a:pt x="112291" y="228600"/>
                  <a:pt x="92244" y="228600"/>
                </a:cubicBezTo>
                <a:cubicBezTo>
                  <a:pt x="78492" y="228600"/>
                  <a:pt x="65901" y="220831"/>
                  <a:pt x="59740" y="208508"/>
                </a:cubicBezTo>
                <a:lnTo>
                  <a:pt x="58713" y="206410"/>
                </a:lnTo>
                <a:cubicBezTo>
                  <a:pt x="55185" y="199355"/>
                  <a:pt x="58043" y="190783"/>
                  <a:pt x="65097" y="187256"/>
                </a:cubicBezTo>
                <a:cubicBezTo>
                  <a:pt x="72152" y="183728"/>
                  <a:pt x="80724" y="186586"/>
                  <a:pt x="84252" y="193640"/>
                </a:cubicBezTo>
                <a:lnTo>
                  <a:pt x="85279" y="195739"/>
                </a:lnTo>
                <a:cubicBezTo>
                  <a:pt x="86618" y="198373"/>
                  <a:pt x="89297" y="200025"/>
                  <a:pt x="92244" y="200025"/>
                </a:cubicBezTo>
                <a:cubicBezTo>
                  <a:pt x="96530" y="200025"/>
                  <a:pt x="100013" y="196542"/>
                  <a:pt x="100013" y="192256"/>
                </a:cubicBezTo>
                <a:lnTo>
                  <a:pt x="100013" y="146447"/>
                </a:lnTo>
                <a:cubicBezTo>
                  <a:pt x="100013" y="138544"/>
                  <a:pt x="106397" y="132159"/>
                  <a:pt x="114300" y="132159"/>
                </a:cubicBezTo>
                <a:cubicBezTo>
                  <a:pt x="122203" y="132159"/>
                  <a:pt x="128588" y="138544"/>
                  <a:pt x="128588" y="146447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4"/>
          <p:cNvSpPr/>
          <p:nvPr/>
        </p:nvSpPr>
        <p:spPr>
          <a:xfrm>
            <a:off x="380880" y="242424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Insurance &amp; Risk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380880" y="2843280"/>
            <a:ext cx="37324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Actuaries use similar probability models to assess risk pools and calculate premiums for group policies.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4267080" y="188604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7"/>
          <p:cNvSpPr/>
          <p:nvPr/>
        </p:nvSpPr>
        <p:spPr>
          <a:xfrm>
            <a:off x="4324320" y="2081160"/>
            <a:ext cx="169920" cy="22716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8"/>
          <p:cNvSpPr/>
          <p:nvPr/>
        </p:nvSpPr>
        <p:spPr>
          <a:xfrm>
            <a:off x="4267080" y="242424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Understanding Coincidences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5" name="Text 9"/>
          <p:cNvSpPr/>
          <p:nvPr/>
        </p:nvSpPr>
        <p:spPr>
          <a:xfrm>
            <a:off x="4267080" y="2843280"/>
            <a:ext cx="37324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Helps explain why seemingly improbable coincidences happen more often than we expect in daily life.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6" name="Shape 10"/>
          <p:cNvSpPr/>
          <p:nvPr/>
        </p:nvSpPr>
        <p:spPr>
          <a:xfrm>
            <a:off x="8153280" y="188604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11"/>
          <p:cNvSpPr/>
          <p:nvPr/>
        </p:nvSpPr>
        <p:spPr>
          <a:xfrm>
            <a:off x="8182080" y="2081160"/>
            <a:ext cx="227160" cy="22716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171450"/>
                </a:lnTo>
                <a:cubicBezTo>
                  <a:pt x="0" y="187211"/>
                  <a:pt x="12814" y="200025"/>
                  <a:pt x="28575" y="200025"/>
                </a:cubicBezTo>
                <a:lnTo>
                  <a:pt x="200025" y="200025"/>
                </a:lnTo>
                <a:cubicBezTo>
                  <a:pt x="215786" y="200025"/>
                  <a:pt x="228600" y="187211"/>
                  <a:pt x="228600" y="171450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185738" y="82153"/>
                </a:moveTo>
                <a:lnTo>
                  <a:pt x="185738" y="146447"/>
                </a:lnTo>
                <a:cubicBezTo>
                  <a:pt x="185738" y="152385"/>
                  <a:pt x="180960" y="157163"/>
                  <a:pt x="175022" y="157163"/>
                </a:cubicBezTo>
                <a:cubicBezTo>
                  <a:pt x="171852" y="157163"/>
                  <a:pt x="168994" y="155778"/>
                  <a:pt x="167030" y="153591"/>
                </a:cubicBezTo>
                <a:cubicBezTo>
                  <a:pt x="162476" y="155868"/>
                  <a:pt x="157296" y="157163"/>
                  <a:pt x="151805" y="157163"/>
                </a:cubicBezTo>
                <a:cubicBezTo>
                  <a:pt x="133052" y="157163"/>
                  <a:pt x="117872" y="141982"/>
                  <a:pt x="117872" y="123230"/>
                </a:cubicBezTo>
                <a:cubicBezTo>
                  <a:pt x="117872" y="104477"/>
                  <a:pt x="133052" y="89297"/>
                  <a:pt x="151805" y="89297"/>
                </a:cubicBezTo>
                <a:cubicBezTo>
                  <a:pt x="156225" y="89297"/>
                  <a:pt x="160422" y="90145"/>
                  <a:pt x="164306" y="91663"/>
                </a:cubicBezTo>
                <a:lnTo>
                  <a:pt x="164306" y="82153"/>
                </a:lnTo>
                <a:cubicBezTo>
                  <a:pt x="164306" y="76215"/>
                  <a:pt x="169084" y="71438"/>
                  <a:pt x="175022" y="71438"/>
                </a:cubicBezTo>
                <a:cubicBezTo>
                  <a:pt x="180960" y="71438"/>
                  <a:pt x="185738" y="76215"/>
                  <a:pt x="185738" y="82153"/>
                </a:cubicBezTo>
                <a:close/>
                <a:moveTo>
                  <a:pt x="164306" y="123230"/>
                </a:moveTo>
                <a:cubicBezTo>
                  <a:pt x="164306" y="116330"/>
                  <a:pt x="158704" y="110728"/>
                  <a:pt x="151805" y="110728"/>
                </a:cubicBezTo>
                <a:cubicBezTo>
                  <a:pt x="144905" y="110728"/>
                  <a:pt x="139303" y="116330"/>
                  <a:pt x="139303" y="123230"/>
                </a:cubicBezTo>
                <a:cubicBezTo>
                  <a:pt x="139303" y="130129"/>
                  <a:pt x="144905" y="135731"/>
                  <a:pt x="151805" y="135731"/>
                </a:cubicBezTo>
                <a:cubicBezTo>
                  <a:pt x="158704" y="135731"/>
                  <a:pt x="164306" y="130129"/>
                  <a:pt x="164306" y="123230"/>
                </a:cubicBezTo>
                <a:close/>
                <a:moveTo>
                  <a:pt x="71438" y="92869"/>
                </a:moveTo>
                <a:cubicBezTo>
                  <a:pt x="67508" y="92869"/>
                  <a:pt x="64294" y="96083"/>
                  <a:pt x="64294" y="100013"/>
                </a:cubicBezTo>
                <a:lnTo>
                  <a:pt x="64294" y="114300"/>
                </a:lnTo>
                <a:lnTo>
                  <a:pt x="85725" y="114300"/>
                </a:lnTo>
                <a:lnTo>
                  <a:pt x="85725" y="100013"/>
                </a:lnTo>
                <a:cubicBezTo>
                  <a:pt x="85725" y="96083"/>
                  <a:pt x="82510" y="92869"/>
                  <a:pt x="78581" y="92869"/>
                </a:cubicBezTo>
                <a:lnTo>
                  <a:pt x="71438" y="92869"/>
                </a:lnTo>
                <a:close/>
                <a:moveTo>
                  <a:pt x="85725" y="135731"/>
                </a:moveTo>
                <a:lnTo>
                  <a:pt x="64294" y="135731"/>
                </a:lnTo>
                <a:lnTo>
                  <a:pt x="64294" y="146447"/>
                </a:lnTo>
                <a:cubicBezTo>
                  <a:pt x="64294" y="152385"/>
                  <a:pt x="59516" y="157163"/>
                  <a:pt x="53578" y="157163"/>
                </a:cubicBezTo>
                <a:cubicBezTo>
                  <a:pt x="47640" y="157163"/>
                  <a:pt x="42863" y="152385"/>
                  <a:pt x="42863" y="146447"/>
                </a:cubicBezTo>
                <a:lnTo>
                  <a:pt x="42863" y="100013"/>
                </a:lnTo>
                <a:cubicBezTo>
                  <a:pt x="42863" y="84252"/>
                  <a:pt x="55677" y="71438"/>
                  <a:pt x="71438" y="71438"/>
                </a:cubicBezTo>
                <a:lnTo>
                  <a:pt x="78581" y="71438"/>
                </a:lnTo>
                <a:cubicBezTo>
                  <a:pt x="94342" y="71438"/>
                  <a:pt x="107156" y="84252"/>
                  <a:pt x="107156" y="100013"/>
                </a:cubicBezTo>
                <a:lnTo>
                  <a:pt x="107156" y="146447"/>
                </a:lnTo>
                <a:cubicBezTo>
                  <a:pt x="107156" y="152385"/>
                  <a:pt x="102379" y="157163"/>
                  <a:pt x="96441" y="157163"/>
                </a:cubicBezTo>
                <a:cubicBezTo>
                  <a:pt x="90502" y="157163"/>
                  <a:pt x="85725" y="152385"/>
                  <a:pt x="85725" y="146447"/>
                </a:cubicBezTo>
                <a:lnTo>
                  <a:pt x="85725" y="13573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12"/>
          <p:cNvSpPr/>
          <p:nvPr/>
        </p:nvSpPr>
        <p:spPr>
          <a:xfrm>
            <a:off x="8153280" y="242424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Marketing Analytics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9" name="Text 13"/>
          <p:cNvSpPr/>
          <p:nvPr/>
        </p:nvSpPr>
        <p:spPr>
          <a:xfrm>
            <a:off x="8153280" y="2843280"/>
            <a:ext cx="37324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to analyze audience overlap and optimize ad targeting across different platforms and campaigns.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0" name="Shape 14"/>
          <p:cNvSpPr/>
          <p:nvPr/>
        </p:nvSpPr>
        <p:spPr>
          <a:xfrm>
            <a:off x="380880" y="357192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15"/>
          <p:cNvSpPr/>
          <p:nvPr/>
        </p:nvSpPr>
        <p:spPr>
          <a:xfrm>
            <a:off x="380880" y="3767040"/>
            <a:ext cx="284400" cy="227160"/>
          </a:xfrm>
          <a:custGeom>
            <a:avLst/>
            <a:gdLst/>
            <a:ah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16"/>
          <p:cNvSpPr/>
          <p:nvPr/>
        </p:nvSpPr>
        <p:spPr>
          <a:xfrm>
            <a:off x="380880" y="411012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Social Networks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380880" y="4529160"/>
            <a:ext cx="3732480" cy="74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Powers friend suggestion algorithms by calculating the probability of shared connections in large networks.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4" name="Shape 18"/>
          <p:cNvSpPr/>
          <p:nvPr/>
        </p:nvSpPr>
        <p:spPr>
          <a:xfrm>
            <a:off x="4267080" y="357192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19"/>
          <p:cNvSpPr/>
          <p:nvPr/>
        </p:nvSpPr>
        <p:spPr>
          <a:xfrm>
            <a:off x="4324320" y="3767040"/>
            <a:ext cx="169920" cy="22716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57163" y="0"/>
                </a:moveTo>
                <a:cubicBezTo>
                  <a:pt x="165065" y="0"/>
                  <a:pt x="171450" y="6385"/>
                  <a:pt x="171450" y="14288"/>
                </a:cubicBezTo>
                <a:cubicBezTo>
                  <a:pt x="171450" y="40094"/>
                  <a:pt x="160556" y="61079"/>
                  <a:pt x="145822" y="78804"/>
                </a:cubicBezTo>
                <a:cubicBezTo>
                  <a:pt x="135062" y="91708"/>
                  <a:pt x="121801" y="103406"/>
                  <a:pt x="108496" y="114300"/>
                </a:cubicBezTo>
                <a:cubicBezTo>
                  <a:pt x="121801" y="125239"/>
                  <a:pt x="135062" y="136892"/>
                  <a:pt x="145822" y="149796"/>
                </a:cubicBezTo>
                <a:cubicBezTo>
                  <a:pt x="160556" y="167476"/>
                  <a:pt x="171450" y="188506"/>
                  <a:pt x="171450" y="214313"/>
                </a:cubicBezTo>
                <a:cubicBezTo>
                  <a:pt x="171450" y="222215"/>
                  <a:pt x="165065" y="228600"/>
                  <a:pt x="157163" y="228600"/>
                </a:cubicBezTo>
                <a:cubicBezTo>
                  <a:pt x="149260" y="228600"/>
                  <a:pt x="142875" y="222215"/>
                  <a:pt x="142875" y="214313"/>
                </a:cubicBezTo>
                <a:lnTo>
                  <a:pt x="28575" y="214313"/>
                </a:lnTo>
                <a:cubicBezTo>
                  <a:pt x="28575" y="222215"/>
                  <a:pt x="22190" y="228600"/>
                  <a:pt x="14288" y="228600"/>
                </a:cubicBezTo>
                <a:cubicBezTo>
                  <a:pt x="6385" y="228600"/>
                  <a:pt x="0" y="222215"/>
                  <a:pt x="0" y="214313"/>
                </a:cubicBezTo>
                <a:cubicBezTo>
                  <a:pt x="0" y="188506"/>
                  <a:pt x="10894" y="167521"/>
                  <a:pt x="25628" y="149796"/>
                </a:cubicBezTo>
                <a:cubicBezTo>
                  <a:pt x="36388" y="136892"/>
                  <a:pt x="49649" y="125239"/>
                  <a:pt x="62954" y="114300"/>
                </a:cubicBezTo>
                <a:cubicBezTo>
                  <a:pt x="49649" y="103361"/>
                  <a:pt x="36388" y="91708"/>
                  <a:pt x="25628" y="78804"/>
                </a:cubicBezTo>
                <a:cubicBezTo>
                  <a:pt x="10894" y="61079"/>
                  <a:pt x="0" y="40094"/>
                  <a:pt x="0" y="14288"/>
                </a:cubicBezTo>
                <a:cubicBezTo>
                  <a:pt x="0" y="6385"/>
                  <a:pt x="6385" y="0"/>
                  <a:pt x="14288" y="0"/>
                </a:cubicBezTo>
                <a:cubicBezTo>
                  <a:pt x="22190" y="0"/>
                  <a:pt x="28575" y="6385"/>
                  <a:pt x="28575" y="14288"/>
                </a:cubicBezTo>
                <a:lnTo>
                  <a:pt x="142875" y="14288"/>
                </a:lnTo>
                <a:cubicBezTo>
                  <a:pt x="142875" y="6385"/>
                  <a:pt x="149260" y="0"/>
                  <a:pt x="157163" y="0"/>
                </a:cubicBezTo>
                <a:close/>
                <a:moveTo>
                  <a:pt x="126578" y="171450"/>
                </a:moveTo>
                <a:lnTo>
                  <a:pt x="44916" y="171450"/>
                </a:lnTo>
                <a:cubicBezTo>
                  <a:pt x="41255" y="176138"/>
                  <a:pt x="38174" y="180871"/>
                  <a:pt x="35719" y="185738"/>
                </a:cubicBezTo>
                <a:lnTo>
                  <a:pt x="135821" y="185738"/>
                </a:lnTo>
                <a:cubicBezTo>
                  <a:pt x="133320" y="180871"/>
                  <a:pt x="130239" y="176138"/>
                  <a:pt x="126623" y="171450"/>
                </a:cubicBezTo>
                <a:close/>
                <a:moveTo>
                  <a:pt x="106263" y="150019"/>
                </a:moveTo>
                <a:cubicBezTo>
                  <a:pt x="99879" y="144214"/>
                  <a:pt x="92958" y="138499"/>
                  <a:pt x="85725" y="132606"/>
                </a:cubicBezTo>
                <a:cubicBezTo>
                  <a:pt x="78492" y="138455"/>
                  <a:pt x="71571" y="144214"/>
                  <a:pt x="65187" y="150019"/>
                </a:cubicBezTo>
                <a:lnTo>
                  <a:pt x="106263" y="150019"/>
                </a:lnTo>
                <a:close/>
                <a:moveTo>
                  <a:pt x="44872" y="57150"/>
                </a:moveTo>
                <a:lnTo>
                  <a:pt x="126534" y="57150"/>
                </a:lnTo>
                <a:cubicBezTo>
                  <a:pt x="130195" y="52462"/>
                  <a:pt x="133276" y="47729"/>
                  <a:pt x="135731" y="42863"/>
                </a:cubicBezTo>
                <a:lnTo>
                  <a:pt x="35674" y="42863"/>
                </a:lnTo>
                <a:cubicBezTo>
                  <a:pt x="38174" y="47729"/>
                  <a:pt x="41255" y="52462"/>
                  <a:pt x="44872" y="57150"/>
                </a:cubicBezTo>
                <a:close/>
                <a:moveTo>
                  <a:pt x="65187" y="78581"/>
                </a:moveTo>
                <a:cubicBezTo>
                  <a:pt x="71571" y="84386"/>
                  <a:pt x="78492" y="90101"/>
                  <a:pt x="85725" y="95994"/>
                </a:cubicBezTo>
                <a:cubicBezTo>
                  <a:pt x="92958" y="90145"/>
                  <a:pt x="99879" y="84386"/>
                  <a:pt x="106263" y="78581"/>
                </a:cubicBezTo>
                <a:lnTo>
                  <a:pt x="65187" y="785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20"/>
          <p:cNvSpPr/>
          <p:nvPr/>
        </p:nvSpPr>
        <p:spPr>
          <a:xfrm>
            <a:off x="4267080" y="411012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DNA Analysis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7" name="Text 21"/>
          <p:cNvSpPr/>
          <p:nvPr/>
        </p:nvSpPr>
        <p:spPr>
          <a:xfrm>
            <a:off x="4267080" y="4529160"/>
            <a:ext cx="37324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in forensic science to calculate the probability of DNA profile matches in large databases.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8" name="Shape 22"/>
          <p:cNvSpPr/>
          <p:nvPr/>
        </p:nvSpPr>
        <p:spPr>
          <a:xfrm>
            <a:off x="8153280" y="3571920"/>
            <a:ext cx="3656160" cy="792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23"/>
          <p:cNvSpPr/>
          <p:nvPr/>
        </p:nvSpPr>
        <p:spPr>
          <a:xfrm>
            <a:off x="8182080" y="3767040"/>
            <a:ext cx="227160" cy="22716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24"/>
          <p:cNvSpPr/>
          <p:nvPr/>
        </p:nvSpPr>
        <p:spPr>
          <a:xfrm>
            <a:off x="8153280" y="4110120"/>
            <a:ext cx="3751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Random Sampling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91" name="Text 25"/>
          <p:cNvSpPr/>
          <p:nvPr/>
        </p:nvSpPr>
        <p:spPr>
          <a:xfrm>
            <a:off x="8153280" y="4529160"/>
            <a:ext cx="37324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Informs the design of statistical sampling methods and quality control processes in manufacturing.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2" name="Shape 26"/>
          <p:cNvSpPr/>
          <p:nvPr/>
        </p:nvSpPr>
        <p:spPr>
          <a:xfrm>
            <a:off x="380880" y="609120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27"/>
          <p:cNvSpPr/>
          <p:nvPr/>
        </p:nvSpPr>
        <p:spPr>
          <a:xfrm>
            <a:off x="399960" y="6286680"/>
            <a:ext cx="150840" cy="15084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28"/>
          <p:cNvSpPr/>
          <p:nvPr/>
        </p:nvSpPr>
        <p:spPr>
          <a:xfrm>
            <a:off x="628560" y="6248520"/>
            <a:ext cx="11257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Universal principle: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The mathematics of the birthday paradox appears wherever we need to understand collision probabilities in large sets.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380880" y="380880"/>
            <a:ext cx="608040" cy="1764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1"/>
          <p:cNvSpPr/>
          <p:nvPr/>
        </p:nvSpPr>
        <p:spPr>
          <a:xfrm>
            <a:off x="380880" y="628560"/>
            <a:ext cx="114951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4" strike="noStrike">
                <a:solidFill>
                  <a:srgbClr val="86868b"/>
                </a:solidFill>
                <a:latin typeface="Liter"/>
                <a:ea typeface="Liter"/>
              </a:rPr>
              <a:t>Conclusion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380880" y="971640"/>
            <a:ext cx="1171440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1d1d1d"/>
                </a:solidFill>
                <a:latin typeface="Liter"/>
                <a:ea typeface="Liter"/>
              </a:rPr>
              <a:t>Key Takeaways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385920" y="2714760"/>
            <a:ext cx="370080" cy="37008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4"/>
          <p:cNvSpPr/>
          <p:nvPr/>
        </p:nvSpPr>
        <p:spPr>
          <a:xfrm>
            <a:off x="338040" y="2709720"/>
            <a:ext cx="4464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1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914400" y="2709720"/>
            <a:ext cx="50468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Surprising Number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914400" y="3052800"/>
            <a:ext cx="502776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Only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23 people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are needed for a 50.7% chance of a shared birthday—far fewer than intuition suggests.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6329520" y="2714760"/>
            <a:ext cx="370080" cy="37008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8"/>
          <p:cNvSpPr/>
          <p:nvPr/>
        </p:nvSpPr>
        <p:spPr>
          <a:xfrm>
            <a:off x="6281640" y="2709720"/>
            <a:ext cx="4464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2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6858000" y="2709720"/>
            <a:ext cx="50468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Real Culprit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6858000" y="3052800"/>
            <a:ext cx="502776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 arises from counting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all possible pairs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(253 with 23 people), not just comparing to one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385920" y="3781440"/>
            <a:ext cx="370080" cy="37008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12"/>
          <p:cNvSpPr/>
          <p:nvPr/>
        </p:nvSpPr>
        <p:spPr>
          <a:xfrm>
            <a:off x="338040" y="3776760"/>
            <a:ext cx="4464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3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914400" y="3776760"/>
            <a:ext cx="50468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Intuition's Blind Spot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914400" y="4119480"/>
            <a:ext cx="502776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brains think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linearly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, but combinations grow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quadratically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. We underestimate exponential growth.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6329520" y="3781440"/>
            <a:ext cx="370080" cy="37008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6"/>
          <p:cNvSpPr/>
          <p:nvPr/>
        </p:nvSpPr>
        <p:spPr>
          <a:xfrm>
            <a:off x="6281640" y="3776760"/>
            <a:ext cx="4464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4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6858000" y="3776760"/>
            <a:ext cx="50468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Real-World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6858000" y="4119480"/>
            <a:ext cx="502776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mathematics underlies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birthday attacks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in cryptography, affecting digital security worldwide.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380880" y="5634000"/>
            <a:ext cx="11428560" cy="792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0"/>
          <p:cNvSpPr/>
          <p:nvPr/>
        </p:nvSpPr>
        <p:spPr>
          <a:xfrm>
            <a:off x="380880" y="5867280"/>
            <a:ext cx="77709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"The birthday paradox reminds us that intuition is a poor guide to probability."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16" name="Text 21"/>
          <p:cNvSpPr/>
          <p:nvPr/>
        </p:nvSpPr>
        <p:spPr>
          <a:xfrm>
            <a:off x="380880" y="6248520"/>
            <a:ext cx="7732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— 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 lesson in mathematical thinking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10064160" y="5981760"/>
            <a:ext cx="17416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Birthday Paradox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10073880" y="6210360"/>
            <a:ext cx="173196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6868b"/>
                </a:solidFill>
                <a:latin typeface="Liter"/>
                <a:ea typeface="Liter"/>
              </a:rPr>
              <a:t>Probability Theory &amp; Applications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2026-03-18T07:50:35Z</dcterms:created>
  <dc:creator>Kimi</dc:creator>
  <dc:description/>
  <dc:language>en-HK</dc:language>
  <cp:lastModifiedBy/>
  <dcterms:modified xsi:type="dcterms:W3CDTF">2026-04-18T14:46:21Z</dcterms:modified>
  <cp:revision>5</cp:revision>
  <dc:subject>The Birthday Paradox</dc:subject>
  <dc:title>The Birthday Paradox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Birthday Paradox","ContentProducer":"001191110108MACG2KBH8F10000","ProduceID":"19cffea4-4fe2-8fa2-8000-0000145c2f53","ReservedCode1":"","ContentPropagator":"001191110108MACG2KBH8F20000","PropagateID":"19cffea4-4fe2-8fa2-8000-0000145c2f53","ReservedCode2":""}</vt:lpwstr>
  </property>
  <property fmtid="{D5CDD505-2E9C-101B-9397-08002B2CF9AE}" pid="3" name="Notes">
    <vt:i4>17</vt:i4>
  </property>
  <property fmtid="{D5CDD505-2E9C-101B-9397-08002B2CF9AE}" pid="4" name="PresentationFormat">
    <vt:lpwstr>On-screen Show (16:9)</vt:lpwstr>
  </property>
  <property fmtid="{D5CDD505-2E9C-101B-9397-08002B2CF9AE}" pid="5" name="Slides">
    <vt:i4>17</vt:i4>
  </property>
</Properties>
</file>