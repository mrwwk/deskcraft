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6A24918-7986-4F55-A11C-997A54001393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429C06-678C-488D-8CDC-D5E02A6D8B5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1F2D75-521F-4D7D-A98F-5D5C89B8283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FA4A5C-B6D9-48DF-B2D9-18A5B69510C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451976-7C45-42BA-BC23-7A8EAC323C6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F1504B-40E4-41CB-A6D3-652CBEB0A7B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1865E6-869D-41C4-806F-F23E9CE1752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481D6B-B5D0-4683-9F2E-0F329EC5E3F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83B8F6-DC94-424C-BC5B-22C101ECFF4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356C38-8EA0-4DDF-AA42-1DFA06BA3B9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321D6D-6D10-4C74-9CC1-6BDCA5914D4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E0CFA0-43B8-4B6B-9BCD-2AC6799D097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5EDFDF-B29D-48C4-9817-A81618B814D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135C19-BDA3-49CD-A246-125601A9558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D4EA8A-4714-41D0-A32D-DDBA37B6566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7C3E45-607E-4712-A732-63DAF805FDE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5DD1DA-FCCC-425D-A818-493D9F8E48D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A2A298-8B96-4620-A8A0-A09259AED30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380880" y="1415520"/>
            <a:ext cx="607320" cy="1692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1980000" y="1663200"/>
            <a:ext cx="5515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i="1" lang="en-US" sz="1050" spc="299" strike="noStrike">
                <a:solidFill>
                  <a:srgbClr val="86868b"/>
                </a:solidFill>
                <a:latin typeface="Times New Roman"/>
                <a:ea typeface="Liter"/>
              </a:rPr>
              <a:t>Probability Theory</a:t>
            </a:r>
            <a:endParaRPr b="0" i="1" lang="en-HK" sz="105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140000" y="3590280"/>
            <a:ext cx="6608160" cy="21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i="1" lang="en-US" sz="9000" spc="-225" strike="noStrike">
                <a:solidFill>
                  <a:srgbClr val="1d1d1d"/>
                </a:solidFill>
                <a:latin typeface="Times New Roman"/>
                <a:ea typeface="Liter"/>
              </a:rPr>
              <a:t>The Birthday</a:t>
            </a:r>
            <a:endParaRPr b="0" i="1" lang="en-HK" sz="9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i="1" lang="en-US" sz="9000" spc="-225" strike="noStrike">
                <a:solidFill>
                  <a:srgbClr val="1d1d1d"/>
                </a:solidFill>
                <a:latin typeface="Times New Roman"/>
                <a:ea typeface="Liter"/>
              </a:rPr>
              <a:t>Paradox</a:t>
            </a:r>
            <a:endParaRPr b="0" i="1" lang="en-HK" sz="90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80880" y="4787640"/>
            <a:ext cx="4264920" cy="4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2250" spc="-1" strike="noStrike">
                <a:solidFill>
                  <a:srgbClr val="86868b"/>
                </a:solidFill>
                <a:latin typeface="Times New Roman"/>
                <a:ea typeface="Liter"/>
              </a:rPr>
              <a:t>When Probability Defies Intuition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26240" y="6296040"/>
            <a:ext cx="126360" cy="169200"/>
          </a:xfrm>
          <a:custGeom>
            <a:avLst/>
            <a:gdLst/>
            <a:ah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709560" y="6286680"/>
            <a:ext cx="15598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Times New Roman"/>
                <a:ea typeface="Liter"/>
              </a:rPr>
              <a:t>Mathematical Exploration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2689200" y="6296040"/>
            <a:ext cx="169200" cy="169200"/>
          </a:xfrm>
          <a:custGeom>
            <a:avLst/>
            <a:gdLst/>
            <a:ah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2994120" y="6286680"/>
            <a:ext cx="13978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Times New Roman"/>
                <a:ea typeface="Liter"/>
              </a:rPr>
              <a:t>Probability &amp; Statistics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Overview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80880" y="647640"/>
            <a:ext cx="11656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1d1d1d"/>
                </a:solidFill>
                <a:latin typeface="Liter"/>
                <a:ea typeface="Liter"/>
              </a:rPr>
              <a:t>Contents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80880" y="1714680"/>
            <a:ext cx="87408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202760" y="1790640"/>
            <a:ext cx="4627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What is the Birthday Paradox?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202760" y="2209680"/>
            <a:ext cx="45889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 that challenges our intuition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6477120" y="1714680"/>
            <a:ext cx="97884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7402320" y="1790640"/>
            <a:ext cx="4522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The Mathematics Behind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402320" y="2209680"/>
            <a:ext cx="44841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 using complementary approach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380880" y="4324320"/>
            <a:ext cx="9885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1311480" y="4400640"/>
            <a:ext cx="45126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Why Our Intuition Fails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311480" y="4819680"/>
            <a:ext cx="44744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 and cognitive biases at 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477120" y="4324320"/>
            <a:ext cx="98856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7407000" y="4400640"/>
            <a:ext cx="45126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Real-World Applications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7407000" y="4819680"/>
            <a:ext cx="44744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cryptography and beyond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380880" y="1665000"/>
            <a:ext cx="759960" cy="1692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"/>
          <p:cNvSpPr/>
          <p:nvPr/>
        </p:nvSpPr>
        <p:spPr>
          <a:xfrm>
            <a:off x="380880" y="1989000"/>
            <a:ext cx="95133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99" strike="noStrike">
                <a:solidFill>
                  <a:srgbClr val="86868b"/>
                </a:solidFill>
                <a:latin typeface="Liter"/>
                <a:ea typeface="Liter"/>
              </a:rPr>
              <a:t>Chapter One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380880" y="2408040"/>
            <a:ext cx="9903960" cy="17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What is the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Birthday Paradox?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380880" y="4449960"/>
            <a:ext cx="5598720" cy="7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9833760" y="2476440"/>
            <a:ext cx="2931480" cy="19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The Core Question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 u="sng">
                <a:solidFill>
                  <a:srgbClr val="800080"/>
                </a:solidFill>
                <a:uFillTx/>
                <a:latin typeface="Liter"/>
                <a:ea typeface="Liter"/>
              </a:rPr>
              <a:t>The Surprising Question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380880" y="1824120"/>
            <a:ext cx="8646480" cy="7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How many people must be in a room</a:t>
            </a: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 for there to be a greater than 50% chance that at least two of them share the same birthday?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380880" y="3338640"/>
            <a:ext cx="5484240" cy="1692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4"/>
          <p:cNvSpPr/>
          <p:nvPr/>
        </p:nvSpPr>
        <p:spPr>
          <a:xfrm>
            <a:off x="380880" y="3576600"/>
            <a:ext cx="55508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Intuitive Guess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380880" y="3919680"/>
            <a:ext cx="18360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86868b"/>
                </a:solidFill>
                <a:latin typeface="Liter"/>
                <a:ea typeface="Liter"/>
              </a:rPr>
              <a:t>~180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991160" y="4286160"/>
            <a:ext cx="6645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380880" y="4757760"/>
            <a:ext cx="55605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Most people assume you need about half the days in a year—seems logical, right?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6324480" y="3338640"/>
            <a:ext cx="5484240" cy="1692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9"/>
          <p:cNvSpPr/>
          <p:nvPr/>
        </p:nvSpPr>
        <p:spPr>
          <a:xfrm>
            <a:off x="6324480" y="3576600"/>
            <a:ext cx="55508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0071e3"/>
                </a:solidFill>
                <a:latin typeface="Liter"/>
                <a:ea typeface="Liter"/>
              </a:rPr>
              <a:t>Actual Answer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6324480" y="3919680"/>
            <a:ext cx="11408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7242120" y="4286160"/>
            <a:ext cx="6645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6324480" y="4757760"/>
            <a:ext cx="55605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Just 23 people gives you a </a:t>
            </a: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50.7%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probability of a shared birthday. This is why it's called a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380880" y="601488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14"/>
          <p:cNvSpPr/>
          <p:nvPr/>
        </p:nvSpPr>
        <p:spPr>
          <a:xfrm>
            <a:off x="419040" y="6286680"/>
            <a:ext cx="112320" cy="15012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5"/>
          <p:cNvSpPr/>
          <p:nvPr/>
        </p:nvSpPr>
        <p:spPr>
          <a:xfrm>
            <a:off x="628560" y="6248520"/>
            <a:ext cx="1125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paradox: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The result seems wrong but is mathematically proven true.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Probability Distribution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Key Probability Milestones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9" name="Image 0"/>
          <p:cNvSpPr/>
          <p:nvPr/>
        </p:nvSpPr>
        <p:spPr>
          <a:xfrm>
            <a:off x="380880" y="1219320"/>
            <a:ext cx="6112800" cy="5255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2"/>
          <p:cNvSpPr/>
          <p:nvPr/>
        </p:nvSpPr>
        <p:spPr>
          <a:xfrm>
            <a:off x="6814080" y="1504800"/>
            <a:ext cx="16920" cy="98856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"/>
          <p:cNvSpPr/>
          <p:nvPr/>
        </p:nvSpPr>
        <p:spPr>
          <a:xfrm>
            <a:off x="7014240" y="1504800"/>
            <a:ext cx="5695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7530120" y="1614600"/>
            <a:ext cx="597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014240" y="1924200"/>
            <a:ext cx="49413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50.7%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7014240" y="2305080"/>
            <a:ext cx="48650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50-50 threshold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6814080" y="2647800"/>
            <a:ext cx="16920" cy="72180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7014240" y="2647800"/>
            <a:ext cx="493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30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7479360" y="2747880"/>
            <a:ext cx="531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7014240" y="3029040"/>
            <a:ext cx="49129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70.6%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6814080" y="3524400"/>
            <a:ext cx="16920" cy="72180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7014240" y="3524400"/>
            <a:ext cx="48348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7475400" y="3624120"/>
            <a:ext cx="531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7014240" y="3905280"/>
            <a:ext cx="49129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97.0%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6814080" y="4400640"/>
            <a:ext cx="16920" cy="72180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7014240" y="4400640"/>
            <a:ext cx="493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60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7481880" y="4500720"/>
            <a:ext cx="531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7014240" y="4781520"/>
            <a:ext cx="49129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99.2%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6814080" y="5276880"/>
            <a:ext cx="16920" cy="912240"/>
          </a:xfrm>
          <a:custGeom>
            <a:avLst/>
            <a:gdLst/>
            <a:ah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0"/>
          <p:cNvSpPr/>
          <p:nvPr/>
        </p:nvSpPr>
        <p:spPr>
          <a:xfrm>
            <a:off x="7014240" y="5276880"/>
            <a:ext cx="4550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75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7439400" y="5376960"/>
            <a:ext cx="531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7014240" y="5657760"/>
            <a:ext cx="49129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99.9%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7014240" y="6000840"/>
            <a:ext cx="48650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Virtually guaranteed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380880" y="1850760"/>
            <a:ext cx="759960" cy="1692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"/>
          <p:cNvSpPr/>
          <p:nvPr/>
        </p:nvSpPr>
        <p:spPr>
          <a:xfrm>
            <a:off x="380880" y="2174760"/>
            <a:ext cx="91702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99" strike="noStrike">
                <a:solidFill>
                  <a:srgbClr val="86868b"/>
                </a:solidFill>
                <a:latin typeface="Liter"/>
                <a:ea typeface="Liter"/>
              </a:rPr>
              <a:t>Chapter Two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80880" y="2593800"/>
            <a:ext cx="9560880" cy="17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The Mathematics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Behind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380880" y="4635720"/>
            <a:ext cx="5598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9488880" y="2476440"/>
            <a:ext cx="3274560" cy="19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Mathematical Strategy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Complementary Approach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380880" y="1952640"/>
            <a:ext cx="862740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Instead of calculating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at least one match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directly, we calculate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no matches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and subtract from 1.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385920" y="2805120"/>
            <a:ext cx="4026960" cy="807480"/>
          </a:xfrm>
          <a:custGeom>
            <a:avLst/>
            <a:gdLst/>
            <a:ah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4"/>
          <p:cNvSpPr/>
          <p:nvPr/>
        </p:nvSpPr>
        <p:spPr>
          <a:xfrm>
            <a:off x="695160" y="3038400"/>
            <a:ext cx="355068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P(match) = 1 − P(no match)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380880" y="4000680"/>
            <a:ext cx="5589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Why This Works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380880" y="4343400"/>
            <a:ext cx="5598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There are only two possibilities: either at least two people share a birthday, or everyone has unique birthdays.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380880" y="499104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These are complementary events, so their probabilities must sum to 1 (or 100%).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6286680" y="4000680"/>
            <a:ext cx="5589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The Advantage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6286680" y="4343400"/>
            <a:ext cx="5598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Calculating "no matches" is much easier because we can build it step by step, person by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6286680" y="499104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sequential approach makes the complex problem tractable.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380880" y="612936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2"/>
          <p:cNvSpPr/>
          <p:nvPr/>
        </p:nvSpPr>
        <p:spPr>
          <a:xfrm>
            <a:off x="399960" y="6315120"/>
            <a:ext cx="131040" cy="13104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3"/>
          <p:cNvSpPr/>
          <p:nvPr/>
        </p:nvSpPr>
        <p:spPr>
          <a:xfrm>
            <a:off x="609480" y="6286680"/>
            <a:ext cx="112658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Key insight:</a:t>
            </a: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 This complementary approach is a fundamental technique in probability theory.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Step-by-Step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Building the Calculation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385920" y="1576440"/>
            <a:ext cx="445680" cy="44568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"/>
          <p:cNvSpPr/>
          <p:nvPr/>
        </p:nvSpPr>
        <p:spPr>
          <a:xfrm>
            <a:off x="333360" y="1571760"/>
            <a:ext cx="531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066680" y="1533600"/>
            <a:ext cx="108277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First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066680" y="183816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unique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365/365 = 1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385920" y="2262240"/>
            <a:ext cx="445680" cy="44568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7"/>
          <p:cNvSpPr/>
          <p:nvPr/>
        </p:nvSpPr>
        <p:spPr>
          <a:xfrm>
            <a:off x="333360" y="2257560"/>
            <a:ext cx="531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1066680" y="2219400"/>
            <a:ext cx="108277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Second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1066680" y="252396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364/365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85920" y="2948040"/>
            <a:ext cx="445680" cy="44568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1"/>
          <p:cNvSpPr/>
          <p:nvPr/>
        </p:nvSpPr>
        <p:spPr>
          <a:xfrm>
            <a:off x="333360" y="2943360"/>
            <a:ext cx="531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1066680" y="2905200"/>
            <a:ext cx="108277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Third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66680" y="320976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385920" y="3595680"/>
            <a:ext cx="445680" cy="44568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5"/>
          <p:cNvSpPr/>
          <p:nvPr/>
        </p:nvSpPr>
        <p:spPr>
          <a:xfrm>
            <a:off x="333360" y="3591000"/>
            <a:ext cx="531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...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1066680" y="3686040"/>
            <a:ext cx="108277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6868b"/>
                </a:solidFill>
                <a:latin typeface="Liter"/>
                <a:ea typeface="Liter"/>
              </a:rPr>
              <a:t>Pattern continues...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85920" y="4243320"/>
            <a:ext cx="445680" cy="44568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8"/>
          <p:cNvSpPr/>
          <p:nvPr/>
        </p:nvSpPr>
        <p:spPr>
          <a:xfrm>
            <a:off x="333360" y="4238640"/>
            <a:ext cx="5313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1066680" y="4200480"/>
            <a:ext cx="108277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23rd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1066680" y="4505400"/>
            <a:ext cx="10818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0071e3"/>
                </a:solidFill>
                <a:latin typeface="Liter"/>
                <a:ea typeface="Liter"/>
              </a:rPr>
              <a:t>343/365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52" name="Shape 21"/>
          <p:cNvSpPr/>
          <p:nvPr/>
        </p:nvSpPr>
        <p:spPr>
          <a:xfrm>
            <a:off x="380880" y="4971960"/>
            <a:ext cx="11427840" cy="16920"/>
          </a:xfrm>
          <a:custGeom>
            <a:avLst/>
            <a:gdLst/>
            <a:ah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2"/>
          <p:cNvSpPr/>
          <p:nvPr/>
        </p:nvSpPr>
        <p:spPr>
          <a:xfrm>
            <a:off x="380880" y="5210280"/>
            <a:ext cx="114944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The Complete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380880" y="5514840"/>
            <a:ext cx="115232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P(no match) = (365/365) × (364/365) × (363/365) × ... × (343/365)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380880" y="5896080"/>
            <a:ext cx="11513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P(at least one match) = 1 − 0.493 = </a:t>
            </a:r>
            <a:r>
              <a:rPr b="1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0.507 (50.7%)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The Key Insight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Power of Combinations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380880" y="1995480"/>
            <a:ext cx="56080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With 23 people, we're not making 23 comparisons. We're making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253 comparisons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—every possible pair of people.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385920" y="2786040"/>
            <a:ext cx="5512680" cy="1416960"/>
          </a:xfrm>
          <a:custGeom>
            <a:avLst/>
            <a:gdLst/>
            <a:ah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4"/>
          <p:cNvSpPr/>
          <p:nvPr/>
        </p:nvSpPr>
        <p:spPr>
          <a:xfrm>
            <a:off x="619200" y="3019320"/>
            <a:ext cx="51127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Number of Pairs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619200" y="3324240"/>
            <a:ext cx="51890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C(n,2) = n × (n−1) / 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619200" y="3743280"/>
            <a:ext cx="51224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For n = 23: 23 × 22 / 2 = 253 pairs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6296040" y="1995480"/>
            <a:ext cx="16920" cy="68364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8"/>
          <p:cNvSpPr/>
          <p:nvPr/>
        </p:nvSpPr>
        <p:spPr>
          <a:xfrm>
            <a:off x="6496200" y="1995480"/>
            <a:ext cx="43596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10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6906960" y="2095560"/>
            <a:ext cx="531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6496200" y="2376360"/>
            <a:ext cx="5427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45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6296040" y="2833560"/>
            <a:ext cx="16920" cy="98856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2"/>
          <p:cNvSpPr/>
          <p:nvPr/>
        </p:nvSpPr>
        <p:spPr>
          <a:xfrm>
            <a:off x="6496200" y="2833560"/>
            <a:ext cx="5695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7011720" y="2943360"/>
            <a:ext cx="5979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6496200" y="3252960"/>
            <a:ext cx="54558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253 pairs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6496200" y="363384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More than half the days in a year!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6296040" y="3976560"/>
            <a:ext cx="16920" cy="68364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7"/>
          <p:cNvSpPr/>
          <p:nvPr/>
        </p:nvSpPr>
        <p:spPr>
          <a:xfrm>
            <a:off x="6496200" y="3976560"/>
            <a:ext cx="48348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6957360" y="4076640"/>
            <a:ext cx="531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6496200" y="4357800"/>
            <a:ext cx="5427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1,225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6" name="Shape 20"/>
          <p:cNvSpPr/>
          <p:nvPr/>
        </p:nvSpPr>
        <p:spPr>
          <a:xfrm>
            <a:off x="380880" y="497196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21"/>
          <p:cNvSpPr/>
          <p:nvPr/>
        </p:nvSpPr>
        <p:spPr>
          <a:xfrm>
            <a:off x="390600" y="5253120"/>
            <a:ext cx="169200" cy="15012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2"/>
          <p:cNvSpPr/>
          <p:nvPr/>
        </p:nvSpPr>
        <p:spPr>
          <a:xfrm>
            <a:off x="628560" y="5205240"/>
            <a:ext cx="112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crucial insight: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While the probability for any single pair is low (1/365 ≈ 0.27%), having 253 chances makes a match likely. This is why combinations grow quadratically (n²), not linearly.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380880" y="1850760"/>
            <a:ext cx="759960" cy="1692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"/>
          <p:cNvSpPr/>
          <p:nvPr/>
        </p:nvSpPr>
        <p:spPr>
          <a:xfrm>
            <a:off x="380880" y="2174760"/>
            <a:ext cx="91512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99" strike="noStrike">
                <a:solidFill>
                  <a:srgbClr val="86868b"/>
                </a:solidFill>
                <a:latin typeface="Liter"/>
                <a:ea typeface="Liter"/>
              </a:rPr>
              <a:t>Chapter Three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380880" y="2593800"/>
            <a:ext cx="9541800" cy="17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Why Our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Intuition Fails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380880" y="4635720"/>
            <a:ext cx="5598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9471600" y="2476440"/>
            <a:ext cx="3293640" cy="19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Cognitive Bias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Self-Reference Trap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380880" y="2019240"/>
            <a:ext cx="862740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We naturally think about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"someone sharing MY birthday"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rather than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"any two people sharing a birthday."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This subtle shift in perspective completely changes the mathematics.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80880" y="3029040"/>
            <a:ext cx="5522400" cy="1692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380880" y="3267000"/>
            <a:ext cx="5589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Scenario A: Matching YOUR Birthday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380880" y="3610080"/>
            <a:ext cx="5751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86868b"/>
                </a:solidFill>
                <a:latin typeface="Liter"/>
                <a:ea typeface="Liter"/>
              </a:rPr>
              <a:t>253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380880" y="4143240"/>
            <a:ext cx="55987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380880" y="452448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Each person has a 1/365 chance of matching your specific birthday.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380880" y="488628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what our intuition expects—and it feels right.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6286680" y="3029040"/>
            <a:ext cx="5522400" cy="1692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0"/>
          <p:cNvSpPr/>
          <p:nvPr/>
        </p:nvSpPr>
        <p:spPr>
          <a:xfrm>
            <a:off x="6286680" y="3267000"/>
            <a:ext cx="5589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0071e3"/>
                </a:solidFill>
                <a:latin typeface="Liter"/>
                <a:ea typeface="Liter"/>
              </a:rPr>
              <a:t>Scenario B: Any Two People Match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6286680" y="3610080"/>
            <a:ext cx="57510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0071e3"/>
                </a:solidFill>
                <a:latin typeface="Liter"/>
                <a:ea typeface="Liter"/>
              </a:rPr>
              <a:t>23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6286680" y="4143240"/>
            <a:ext cx="55987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6286680" y="452448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With 23 people, there are 253 unique pairs, each a potential match.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6286680" y="488628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the actual birthday paradox—and it feels wrong.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9" name="Shape 15"/>
          <p:cNvSpPr/>
          <p:nvPr/>
        </p:nvSpPr>
        <p:spPr>
          <a:xfrm>
            <a:off x="380880" y="609120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16"/>
          <p:cNvSpPr/>
          <p:nvPr/>
        </p:nvSpPr>
        <p:spPr>
          <a:xfrm>
            <a:off x="399960" y="628668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7"/>
          <p:cNvSpPr/>
          <p:nvPr/>
        </p:nvSpPr>
        <p:spPr>
          <a:xfrm>
            <a:off x="628560" y="6248520"/>
            <a:ext cx="1125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psychological trap: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We're wired to think about ourselves as the reference point, not the entire group's pairwise combinations.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Cognitive Limitation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 vs. Linear Thinking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380880" y="1962000"/>
            <a:ext cx="862740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Human brains struggle with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. We expect probabilities to scale linearly, but combinations grow quadratically (n²).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380880" y="2886120"/>
            <a:ext cx="5589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How We Think (Linear)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380880" y="3228840"/>
            <a:ext cx="988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1447920" y="3305160"/>
            <a:ext cx="4455720" cy="7416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6"/>
          <p:cNvSpPr/>
          <p:nvPr/>
        </p:nvSpPr>
        <p:spPr>
          <a:xfrm>
            <a:off x="1447920" y="3305160"/>
            <a:ext cx="893160" cy="74160"/>
          </a:xfrm>
          <a:custGeom>
            <a:avLst/>
            <a:gdLst/>
            <a:ah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7"/>
          <p:cNvSpPr/>
          <p:nvPr/>
        </p:nvSpPr>
        <p:spPr>
          <a:xfrm>
            <a:off x="380880" y="3571920"/>
            <a:ext cx="988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1447920" y="3648240"/>
            <a:ext cx="4455720" cy="7416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9"/>
          <p:cNvSpPr/>
          <p:nvPr/>
        </p:nvSpPr>
        <p:spPr>
          <a:xfrm>
            <a:off x="1447920" y="3648240"/>
            <a:ext cx="1779120" cy="74160"/>
          </a:xfrm>
          <a:custGeom>
            <a:avLst/>
            <a:gdLst/>
            <a:ah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0"/>
          <p:cNvSpPr/>
          <p:nvPr/>
        </p:nvSpPr>
        <p:spPr>
          <a:xfrm>
            <a:off x="380880" y="3914640"/>
            <a:ext cx="988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30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1447920" y="3990960"/>
            <a:ext cx="4455720" cy="7416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12"/>
          <p:cNvSpPr/>
          <p:nvPr/>
        </p:nvSpPr>
        <p:spPr>
          <a:xfrm>
            <a:off x="1447920" y="3990960"/>
            <a:ext cx="2674440" cy="7416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3"/>
          <p:cNvSpPr/>
          <p:nvPr/>
        </p:nvSpPr>
        <p:spPr>
          <a:xfrm>
            <a:off x="380880" y="429588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intuition expects probability to increase proportionally with group size.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6286680" y="2886120"/>
            <a:ext cx="5589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0071e3"/>
                </a:solidFill>
                <a:latin typeface="Liter"/>
                <a:ea typeface="Liter"/>
              </a:rPr>
              <a:t>How It Actually Works (Quadratic)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6286680" y="3228840"/>
            <a:ext cx="988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7353360" y="3305160"/>
            <a:ext cx="3693600" cy="7416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17"/>
          <p:cNvSpPr/>
          <p:nvPr/>
        </p:nvSpPr>
        <p:spPr>
          <a:xfrm>
            <a:off x="7353360" y="3305160"/>
            <a:ext cx="445680" cy="74160"/>
          </a:xfrm>
          <a:custGeom>
            <a:avLst/>
            <a:gdLst/>
            <a:ah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8"/>
          <p:cNvSpPr/>
          <p:nvPr/>
        </p:nvSpPr>
        <p:spPr>
          <a:xfrm>
            <a:off x="11201400" y="3247920"/>
            <a:ext cx="6742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45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6286680" y="3571920"/>
            <a:ext cx="988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23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2" name="Shape 20"/>
          <p:cNvSpPr/>
          <p:nvPr/>
        </p:nvSpPr>
        <p:spPr>
          <a:xfrm>
            <a:off x="7353360" y="3648240"/>
            <a:ext cx="3693600" cy="7416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21"/>
          <p:cNvSpPr/>
          <p:nvPr/>
        </p:nvSpPr>
        <p:spPr>
          <a:xfrm>
            <a:off x="7353360" y="3648240"/>
            <a:ext cx="1845720" cy="74160"/>
          </a:xfrm>
          <a:custGeom>
            <a:avLst/>
            <a:gdLst/>
            <a:ah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2"/>
          <p:cNvSpPr/>
          <p:nvPr/>
        </p:nvSpPr>
        <p:spPr>
          <a:xfrm>
            <a:off x="11201400" y="3591000"/>
            <a:ext cx="6742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253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6286680" y="3990960"/>
            <a:ext cx="988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7353360" y="4067280"/>
            <a:ext cx="3693600" cy="7416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25"/>
          <p:cNvSpPr/>
          <p:nvPr/>
        </p:nvSpPr>
        <p:spPr>
          <a:xfrm>
            <a:off x="7353360" y="4067280"/>
            <a:ext cx="3579120" cy="74160"/>
          </a:xfrm>
          <a:custGeom>
            <a:avLst/>
            <a:gdLst/>
            <a:ah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26"/>
          <p:cNvSpPr/>
          <p:nvPr/>
        </p:nvSpPr>
        <p:spPr>
          <a:xfrm>
            <a:off x="11201400" y="3914640"/>
            <a:ext cx="674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1,225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9" name="Text 27"/>
          <p:cNvSpPr/>
          <p:nvPr/>
        </p:nvSpPr>
        <p:spPr>
          <a:xfrm>
            <a:off x="6286680" y="4448160"/>
            <a:ext cx="55987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number of pairs explodes quadratically, making matches inevitable.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380880" y="500544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29"/>
          <p:cNvSpPr/>
          <p:nvPr/>
        </p:nvSpPr>
        <p:spPr>
          <a:xfrm>
            <a:off x="399960" y="528624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0"/>
          <p:cNvSpPr/>
          <p:nvPr/>
        </p:nvSpPr>
        <p:spPr>
          <a:xfrm>
            <a:off x="628560" y="5238720"/>
            <a:ext cx="112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compounding effect: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Each new person doesn't just add one comparison—they add comparisons with everyone already in the room. This is why the probability curve rises so steeply.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380880" y="1850760"/>
            <a:ext cx="759960" cy="1692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"/>
          <p:cNvSpPr/>
          <p:nvPr/>
        </p:nvSpPr>
        <p:spPr>
          <a:xfrm>
            <a:off x="380880" y="2174760"/>
            <a:ext cx="91609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99" strike="noStrike">
                <a:solidFill>
                  <a:srgbClr val="86868b"/>
                </a:solidFill>
                <a:latin typeface="Liter"/>
                <a:ea typeface="Liter"/>
              </a:rPr>
              <a:t>Chapter Four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380880" y="2593800"/>
            <a:ext cx="9551520" cy="17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Real-World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Applications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380880" y="4635720"/>
            <a:ext cx="559872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practice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9473400" y="2476440"/>
            <a:ext cx="3283920" cy="19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Cybersecurity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Cryptography: The Birthday Attack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1848960"/>
            <a:ext cx="56080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The birthday paradox isn't just a mathematical curiosity—it has serious implications for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digital security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380880" y="2596680"/>
            <a:ext cx="5598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Hash functions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are used to verify data integrity. Finding two inputs that produce the same hash (a collision) follows the same mathematics as the birthday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380880" y="3244320"/>
            <a:ext cx="5598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vulnerability is exploited in "birthday attacks" to forge digital signatures and compromise security systems.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6296040" y="1848960"/>
            <a:ext cx="16920" cy="79812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6"/>
          <p:cNvSpPr/>
          <p:nvPr/>
        </p:nvSpPr>
        <p:spPr>
          <a:xfrm>
            <a:off x="6496200" y="184896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0071e3"/>
                </a:solidFill>
                <a:latin typeface="Liter"/>
                <a:ea typeface="Liter"/>
              </a:rPr>
              <a:t>MD5 (128-bit)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6496200" y="2115720"/>
            <a:ext cx="5427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2^64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6496200" y="245880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6296040" y="2801520"/>
            <a:ext cx="16920" cy="79812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0"/>
          <p:cNvSpPr/>
          <p:nvPr/>
        </p:nvSpPr>
        <p:spPr>
          <a:xfrm>
            <a:off x="6496200" y="280152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SHA-1 (160-bit)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6496200" y="3068280"/>
            <a:ext cx="5427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2^80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6496200" y="341100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6296040" y="3754080"/>
            <a:ext cx="16920" cy="79812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4"/>
          <p:cNvSpPr/>
          <p:nvPr/>
        </p:nvSpPr>
        <p:spPr>
          <a:xfrm>
            <a:off x="6496200" y="375408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SHA-256 (256-bit)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6496200" y="4020840"/>
            <a:ext cx="5427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2^128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6496200" y="4363560"/>
            <a:ext cx="5379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380880" y="478764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18"/>
          <p:cNvSpPr/>
          <p:nvPr/>
        </p:nvSpPr>
        <p:spPr>
          <a:xfrm>
            <a:off x="380880" y="5020920"/>
            <a:ext cx="114944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4" strike="noStrike">
                <a:solidFill>
                  <a:srgbClr val="86868b"/>
                </a:solidFill>
                <a:latin typeface="Liter"/>
                <a:ea typeface="Liter"/>
              </a:rPr>
              <a:t>Why This Matters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7" name="Shape 19"/>
          <p:cNvSpPr/>
          <p:nvPr/>
        </p:nvSpPr>
        <p:spPr>
          <a:xfrm>
            <a:off x="380880" y="5363640"/>
            <a:ext cx="188280" cy="15012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0"/>
          <p:cNvSpPr/>
          <p:nvPr/>
        </p:nvSpPr>
        <p:spPr>
          <a:xfrm>
            <a:off x="628560" y="5325840"/>
            <a:ext cx="3484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Digital Signatures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380880" y="5630400"/>
            <a:ext cx="37220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Attackers can forge signatures by finding colliding documents.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0" name="Shape 22"/>
          <p:cNvSpPr/>
          <p:nvPr/>
        </p:nvSpPr>
        <p:spPr>
          <a:xfrm>
            <a:off x="4286160" y="536364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23"/>
          <p:cNvSpPr/>
          <p:nvPr/>
        </p:nvSpPr>
        <p:spPr>
          <a:xfrm>
            <a:off x="4514760" y="5325840"/>
            <a:ext cx="3484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Data Integrity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4267080" y="5630400"/>
            <a:ext cx="37220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Malicious data can be substituted without detection.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8172360" y="536364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26"/>
          <p:cNvSpPr/>
          <p:nvPr/>
        </p:nvSpPr>
        <p:spPr>
          <a:xfrm>
            <a:off x="8400960" y="5325840"/>
            <a:ext cx="3484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Security Design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8153280" y="5630400"/>
            <a:ext cx="37220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Hash functions need twice the expected bit length for security.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380880" y="380880"/>
            <a:ext cx="114850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3" strike="noStrike">
                <a:solidFill>
                  <a:srgbClr val="86868b"/>
                </a:solidFill>
                <a:latin typeface="Liter"/>
                <a:ea typeface="Liter"/>
              </a:rPr>
              <a:t>Broader Impact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380880" y="609480"/>
            <a:ext cx="1159920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Other Practical Applications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380880" y="1886040"/>
            <a:ext cx="3655440" cy="720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3"/>
          <p:cNvSpPr/>
          <p:nvPr/>
        </p:nvSpPr>
        <p:spPr>
          <a:xfrm>
            <a:off x="409680" y="2081160"/>
            <a:ext cx="226440" cy="22644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4"/>
          <p:cNvSpPr/>
          <p:nvPr/>
        </p:nvSpPr>
        <p:spPr>
          <a:xfrm>
            <a:off x="380880" y="2424240"/>
            <a:ext cx="3750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Insurance &amp; Risk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380880" y="2843280"/>
            <a:ext cx="37317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Actuaries use similar probability models to assess risk pools and calculate premiums for group policies.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4267080" y="1886040"/>
            <a:ext cx="3655440" cy="720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7"/>
          <p:cNvSpPr/>
          <p:nvPr/>
        </p:nvSpPr>
        <p:spPr>
          <a:xfrm>
            <a:off x="4324320" y="2081160"/>
            <a:ext cx="169200" cy="22644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8"/>
          <p:cNvSpPr/>
          <p:nvPr/>
        </p:nvSpPr>
        <p:spPr>
          <a:xfrm>
            <a:off x="4267080" y="2424240"/>
            <a:ext cx="3750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Understanding Coincidences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4267080" y="2843280"/>
            <a:ext cx="37317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Helps explain why seemingly improbable coincidences happen more often than we expect in daily life.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8153280" y="1886040"/>
            <a:ext cx="3655440" cy="720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11"/>
          <p:cNvSpPr/>
          <p:nvPr/>
        </p:nvSpPr>
        <p:spPr>
          <a:xfrm>
            <a:off x="8182080" y="2081160"/>
            <a:ext cx="226440" cy="22644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2"/>
          <p:cNvSpPr/>
          <p:nvPr/>
        </p:nvSpPr>
        <p:spPr>
          <a:xfrm>
            <a:off x="8153280" y="2424240"/>
            <a:ext cx="3750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Marketing Analytics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8153280" y="2843280"/>
            <a:ext cx="37317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to analyze audience overlap and optimize ad targeting across different platforms and campaigns.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0" name="Shape 14"/>
          <p:cNvSpPr/>
          <p:nvPr/>
        </p:nvSpPr>
        <p:spPr>
          <a:xfrm>
            <a:off x="380880" y="3571920"/>
            <a:ext cx="3655440" cy="720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5"/>
          <p:cNvSpPr/>
          <p:nvPr/>
        </p:nvSpPr>
        <p:spPr>
          <a:xfrm>
            <a:off x="380880" y="3767040"/>
            <a:ext cx="283680" cy="226440"/>
          </a:xfrm>
          <a:custGeom>
            <a:avLst/>
            <a:gdLst/>
            <a:ah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6"/>
          <p:cNvSpPr/>
          <p:nvPr/>
        </p:nvSpPr>
        <p:spPr>
          <a:xfrm>
            <a:off x="380880" y="4110120"/>
            <a:ext cx="3750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Social Networks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380880" y="4529160"/>
            <a:ext cx="3731760" cy="7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Powers friend suggestion algorithms by calculating the probability of shared connections in large networks.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4267080" y="3571920"/>
            <a:ext cx="3655440" cy="720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9"/>
          <p:cNvSpPr/>
          <p:nvPr/>
        </p:nvSpPr>
        <p:spPr>
          <a:xfrm>
            <a:off x="4324320" y="3767040"/>
            <a:ext cx="169200" cy="22644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0"/>
          <p:cNvSpPr/>
          <p:nvPr/>
        </p:nvSpPr>
        <p:spPr>
          <a:xfrm>
            <a:off x="4267080" y="4110120"/>
            <a:ext cx="3750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DNA Analysis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7" name="Text 21"/>
          <p:cNvSpPr/>
          <p:nvPr/>
        </p:nvSpPr>
        <p:spPr>
          <a:xfrm>
            <a:off x="4267080" y="4529160"/>
            <a:ext cx="37317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in forensic science to calculate the probability of DNA profile matches in large databases.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8" name="Shape 22"/>
          <p:cNvSpPr/>
          <p:nvPr/>
        </p:nvSpPr>
        <p:spPr>
          <a:xfrm>
            <a:off x="8153280" y="3571920"/>
            <a:ext cx="3655440" cy="720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23"/>
          <p:cNvSpPr/>
          <p:nvPr/>
        </p:nvSpPr>
        <p:spPr>
          <a:xfrm>
            <a:off x="8182080" y="3767040"/>
            <a:ext cx="226440" cy="22644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24"/>
          <p:cNvSpPr/>
          <p:nvPr/>
        </p:nvSpPr>
        <p:spPr>
          <a:xfrm>
            <a:off x="8153280" y="4110120"/>
            <a:ext cx="3750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Random Sampling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91" name="Text 25"/>
          <p:cNvSpPr/>
          <p:nvPr/>
        </p:nvSpPr>
        <p:spPr>
          <a:xfrm>
            <a:off x="8153280" y="4529160"/>
            <a:ext cx="37317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Informs the design of statistical sampling methods and quality control processes in manufacturing.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2" name="Shape 26"/>
          <p:cNvSpPr/>
          <p:nvPr/>
        </p:nvSpPr>
        <p:spPr>
          <a:xfrm>
            <a:off x="380880" y="609120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27"/>
          <p:cNvSpPr/>
          <p:nvPr/>
        </p:nvSpPr>
        <p:spPr>
          <a:xfrm>
            <a:off x="399960" y="628668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8"/>
          <p:cNvSpPr/>
          <p:nvPr/>
        </p:nvSpPr>
        <p:spPr>
          <a:xfrm>
            <a:off x="628560" y="6248520"/>
            <a:ext cx="11256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Universal principle: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The mathematics of the birthday paradox appears wherever we need to understand collision probabilities in large sets.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380880" y="380880"/>
            <a:ext cx="607320" cy="1692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"/>
          <p:cNvSpPr/>
          <p:nvPr/>
        </p:nvSpPr>
        <p:spPr>
          <a:xfrm>
            <a:off x="380880" y="628560"/>
            <a:ext cx="114944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299" strike="noStrike">
                <a:solidFill>
                  <a:srgbClr val="86868b"/>
                </a:solidFill>
                <a:latin typeface="Liter"/>
                <a:ea typeface="Liter"/>
              </a:rPr>
              <a:t>Conclusion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380880" y="971640"/>
            <a:ext cx="11713680" cy="5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1d1d1d"/>
                </a:solidFill>
                <a:latin typeface="Liter"/>
                <a:ea typeface="Liter"/>
              </a:rPr>
              <a:t>Key Takeaways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385920" y="2714760"/>
            <a:ext cx="369360" cy="36936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4"/>
          <p:cNvSpPr/>
          <p:nvPr/>
        </p:nvSpPr>
        <p:spPr>
          <a:xfrm>
            <a:off x="338040" y="2709720"/>
            <a:ext cx="445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1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914400" y="2709720"/>
            <a:ext cx="5046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Surprising Number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914400" y="3052800"/>
            <a:ext cx="5027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Only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23 people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are needed for a 50.7% chance of a shared birthday—far fewer than intuition suggests.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329520" y="2714760"/>
            <a:ext cx="369360" cy="36936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8"/>
          <p:cNvSpPr/>
          <p:nvPr/>
        </p:nvSpPr>
        <p:spPr>
          <a:xfrm>
            <a:off x="6281640" y="2709720"/>
            <a:ext cx="445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2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6858000" y="2709720"/>
            <a:ext cx="5046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Real Culprit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6858000" y="3052800"/>
            <a:ext cx="5027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 arises from counting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all possible pairs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(253 with 23 people), not just comparing to one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385920" y="3781440"/>
            <a:ext cx="369360" cy="36936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2"/>
          <p:cNvSpPr/>
          <p:nvPr/>
        </p:nvSpPr>
        <p:spPr>
          <a:xfrm>
            <a:off x="338040" y="3776760"/>
            <a:ext cx="445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3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914400" y="3776760"/>
            <a:ext cx="5046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Intuition's Blind Spot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914400" y="4119480"/>
            <a:ext cx="5027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brains think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linearly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, but combinations grow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quadratically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. We underestimate exponential growth.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6329520" y="3781440"/>
            <a:ext cx="369360" cy="36936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6"/>
          <p:cNvSpPr/>
          <p:nvPr/>
        </p:nvSpPr>
        <p:spPr>
          <a:xfrm>
            <a:off x="6281640" y="3776760"/>
            <a:ext cx="445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4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6858000" y="3776760"/>
            <a:ext cx="5046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Real-World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6858000" y="4119480"/>
            <a:ext cx="5027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mathematics underlies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birthday attacks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in cryptography, affecting digital security worldwide.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80880" y="5634000"/>
            <a:ext cx="11427840" cy="720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0"/>
          <p:cNvSpPr/>
          <p:nvPr/>
        </p:nvSpPr>
        <p:spPr>
          <a:xfrm>
            <a:off x="380880" y="5867280"/>
            <a:ext cx="77702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"The birthday paradox reminds us that intuition is a poor guide to probability."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380880" y="6248520"/>
            <a:ext cx="77320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— 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 lesson in mathematical thinking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7" name="Text 22"/>
          <p:cNvSpPr/>
          <p:nvPr/>
        </p:nvSpPr>
        <p:spPr>
          <a:xfrm>
            <a:off x="10064160" y="5981760"/>
            <a:ext cx="17409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Birthday Paradox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10073880" y="6210360"/>
            <a:ext cx="173124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6868b"/>
                </a:solidFill>
                <a:latin typeface="Liter"/>
                <a:ea typeface="Liter"/>
              </a:rPr>
              <a:t>Probability Theory &amp; Applications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2026-03-18T07:50:35Z</dcterms:created>
  <dc:creator>Kimi</dc:creator>
  <dc:description/>
  <dc:language>en-HK</dc:language>
  <cp:lastModifiedBy/>
  <dcterms:modified xsi:type="dcterms:W3CDTF">2026-04-19T06:56:46Z</dcterms:modified>
  <cp:revision>7</cp:revision>
  <dc:subject>The Birthday Paradox</dc:subject>
  <dc:title>The Birthday Paradox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  <property fmtid="{D5CDD505-2E9C-101B-9397-08002B2CF9AE}" pid="3" name="Notes">
    <vt:i4>17</vt:i4>
  </property>
  <property fmtid="{D5CDD505-2E9C-101B-9397-08002B2CF9AE}" pid="4" name="PresentationFormat">
    <vt:lpwstr>On-screen Show (16:9)</vt:lpwstr>
  </property>
  <property fmtid="{D5CDD505-2E9C-101B-9397-08002B2CF9AE}" pid="5" name="Slides">
    <vt:i4>17</vt:i4>
  </property>
</Properties>
</file>