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7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7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3588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move the slide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HK" sz="2000" spc="-1" strike="noStrike">
                <a:latin typeface="Arial"/>
              </a:rPr>
              <a:t>Click to edit the notes format</a:t>
            </a:r>
            <a:endParaRPr b="0" lang="en-HK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HK" sz="1400" spc="-1" strike="noStrike">
                <a:latin typeface="Times New Roman"/>
              </a:rPr>
              <a:t>&lt;header&gt;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264ACDED-1FE3-466C-BE2A-21B7A8986AAF}" type="slidenum">
              <a:rPr b="0" lang="en-HK" sz="1400" spc="-1" strike="noStrike">
                <a:latin typeface="Times New Roman"/>
              </a:rPr>
              <a:t>&lt;number&gt;</a:t>
            </a:fld>
            <a:endParaRPr b="0" lang="en-HK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9FCC7AA-E511-43EC-B8B9-AEB87CA7753C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2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F5BD15B-0014-4ED7-8550-4BD2F31E1B98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A22B080-BC38-47E5-98A6-D89E8C7836F6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59EAD94-9E80-428F-92E7-F91F3C6151D5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3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B2A0CE9-F504-4152-9628-F7A7679D843F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HK" sz="1800" spc="-1" strike="noStrike">
                <a:latin typeface="Arial"/>
              </a:rPr>
              <a:t>The birthday paradox illustrates how human </a:t>
            </a:r>
            <a:r>
              <a:rPr b="0" lang="en-HK" sz="1800" spc="-1" strike="noStrike">
                <a:latin typeface="Arial"/>
              </a:rPr>
              <a:t>intuition about probability often fails when </a:t>
            </a:r>
            <a:r>
              <a:rPr b="0" lang="en-HK" sz="1800" spc="-1" strike="noStrike">
                <a:latin typeface="Arial"/>
              </a:rPr>
              <a:t>dealing with combinatorial problems.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33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76F5DE3-68DC-4A07-A5E3-93B05F6ECE94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8899325-C4FC-49CD-8E00-F2A3852487AD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2EF2C84-04EE-46D2-A8CB-2D8F215ADCFD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4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60B7AB3-E9D9-40D3-A066-457DE84298BF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9C825CA-1B5D-4F8E-990D-A17084BB73AE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5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5862B41-1193-48F1-9A08-19E495586ED4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5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5946839-8F79-4A54-9D20-8987FC810CC7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57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3A70282-BF47-4ADF-8318-7ACD55A6E084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60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8D2331E-0A3F-471B-AD54-6D80CCD4BF57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63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4A0A2DF-1E2F-4FDD-8513-AB26B48497C2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66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549172F-6574-4DE0-A338-34834B14FD37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69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B9A0B10-74C7-4BD7-AD87-C5A97968AAC4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26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352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26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26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26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26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352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352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352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26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26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20000" y="160452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30520" y="160452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20000" y="368208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30520" y="368208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edit the title text 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000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380880" y="1415520"/>
            <a:ext cx="608760" cy="18360"/>
          </a:xfrm>
          <a:custGeom>
            <a:avLst/>
            <a:gdLst/>
            <a:ahLst/>
            <a:rect l="l" t="t" r="r" b="b"/>
            <a:pathLst>
              <a:path w="609600" h="19050">
                <a:moveTo>
                  <a:pt x="0" y="0"/>
                </a:moveTo>
                <a:lnTo>
                  <a:pt x="609600" y="0"/>
                </a:lnTo>
                <a:lnTo>
                  <a:pt x="6096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Text 1"/>
          <p:cNvSpPr/>
          <p:nvPr/>
        </p:nvSpPr>
        <p:spPr>
          <a:xfrm>
            <a:off x="380880" y="1663200"/>
            <a:ext cx="215244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i="1" lang="en-US" sz="1050" spc="310" strike="noStrike">
                <a:solidFill>
                  <a:srgbClr val="86868b"/>
                </a:solidFill>
                <a:latin typeface="Times New Roman"/>
                <a:ea typeface="Liter"/>
              </a:rPr>
              <a:t>Probability Theory</a:t>
            </a:r>
            <a:endParaRPr b="1" i="1" lang="en-HK" sz="1050" spc="-1" strike="noStrike">
              <a:latin typeface="Times New Roman"/>
            </a:endParaRPr>
          </a:p>
        </p:txBody>
      </p:sp>
      <p:sp>
        <p:nvSpPr>
          <p:cNvPr id="46" name="Text 2"/>
          <p:cNvSpPr/>
          <p:nvPr/>
        </p:nvSpPr>
        <p:spPr>
          <a:xfrm>
            <a:off x="380880" y="2310840"/>
            <a:ext cx="6610320" cy="21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i="1" lang="en-US" sz="9000" spc="-225" strike="noStrike">
                <a:solidFill>
                  <a:srgbClr val="ffffff"/>
                </a:solidFill>
                <a:latin typeface="Times New Roman"/>
                <a:ea typeface="Liter"/>
              </a:rPr>
              <a:t>The Birthday</a:t>
            </a:r>
            <a:endParaRPr b="1" i="1" lang="en-HK" sz="9000" spc="-1" strike="noStrike">
              <a:latin typeface="Times New Roman"/>
            </a:endParaRPr>
          </a:p>
          <a:p>
            <a:pPr>
              <a:lnSpc>
                <a:spcPct val="80000"/>
              </a:lnSpc>
              <a:buNone/>
            </a:pPr>
            <a:r>
              <a:rPr b="1" i="1" lang="en-US" sz="9000" spc="-225" strike="noStrike">
                <a:solidFill>
                  <a:srgbClr val="ffffff"/>
                </a:solidFill>
                <a:latin typeface="Times New Roman"/>
                <a:ea typeface="Liter"/>
              </a:rPr>
              <a:t>Paradox</a:t>
            </a:r>
            <a:endParaRPr b="1" i="1" lang="en-HK" sz="9000" spc="-1" strike="noStrike">
              <a:latin typeface="Times New Roman"/>
            </a:endParaRPr>
          </a:p>
        </p:txBody>
      </p:sp>
      <p:sp>
        <p:nvSpPr>
          <p:cNvPr id="47" name="Text 3"/>
          <p:cNvSpPr/>
          <p:nvPr/>
        </p:nvSpPr>
        <p:spPr>
          <a:xfrm>
            <a:off x="380880" y="4787640"/>
            <a:ext cx="4266720" cy="4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1" i="1" lang="en-US" sz="2250" spc="-1" strike="noStrike">
                <a:solidFill>
                  <a:srgbClr val="86868b"/>
                </a:solidFill>
                <a:latin typeface="Times New Roman"/>
                <a:ea typeface="Liter"/>
              </a:rPr>
              <a:t>When Probability Defies Intuition</a:t>
            </a:r>
            <a:endParaRPr b="1" i="1" lang="en-HK" sz="2250" spc="-1" strike="noStrike">
              <a:latin typeface="Times New Roman"/>
            </a:endParaRPr>
          </a:p>
        </p:txBody>
      </p:sp>
      <p:sp>
        <p:nvSpPr>
          <p:cNvPr id="48" name="Shape 4"/>
          <p:cNvSpPr/>
          <p:nvPr/>
        </p:nvSpPr>
        <p:spPr>
          <a:xfrm>
            <a:off x="426240" y="6296040"/>
            <a:ext cx="127800" cy="170640"/>
          </a:xfrm>
          <a:custGeom>
            <a:avLst/>
            <a:gdLst/>
            <a:ahLst/>
            <a:rect l="l" t="t" r="r" b="b"/>
            <a:pathLst>
              <a:path w="128588" h="171450">
                <a:moveTo>
                  <a:pt x="21431" y="0"/>
                </a:moveTo>
                <a:cubicBezTo>
                  <a:pt x="9611" y="0"/>
                  <a:pt x="0" y="9611"/>
                  <a:pt x="0" y="21431"/>
                </a:cubicBezTo>
                <a:lnTo>
                  <a:pt x="0" y="150019"/>
                </a:lnTo>
                <a:cubicBezTo>
                  <a:pt x="0" y="161839"/>
                  <a:pt x="9611" y="171450"/>
                  <a:pt x="21431" y="171450"/>
                </a:cubicBezTo>
                <a:lnTo>
                  <a:pt x="107156" y="171450"/>
                </a:lnTo>
                <a:cubicBezTo>
                  <a:pt x="118977" y="171450"/>
                  <a:pt x="128588" y="161839"/>
                  <a:pt x="128588" y="150019"/>
                </a:cubicBezTo>
                <a:lnTo>
                  <a:pt x="128588" y="21431"/>
                </a:lnTo>
                <a:cubicBezTo>
                  <a:pt x="128588" y="9611"/>
                  <a:pt x="118977" y="0"/>
                  <a:pt x="107156" y="0"/>
                </a:cubicBezTo>
                <a:lnTo>
                  <a:pt x="21431" y="0"/>
                </a:lnTo>
                <a:close/>
                <a:moveTo>
                  <a:pt x="32147" y="21431"/>
                </a:moveTo>
                <a:lnTo>
                  <a:pt x="96441" y="21431"/>
                </a:lnTo>
                <a:cubicBezTo>
                  <a:pt x="102368" y="21431"/>
                  <a:pt x="107156" y="26220"/>
                  <a:pt x="107156" y="32147"/>
                </a:cubicBezTo>
                <a:lnTo>
                  <a:pt x="107156" y="42863"/>
                </a:lnTo>
                <a:cubicBezTo>
                  <a:pt x="107156" y="48790"/>
                  <a:pt x="102368" y="53578"/>
                  <a:pt x="96441" y="53578"/>
                </a:cubicBezTo>
                <a:lnTo>
                  <a:pt x="32147" y="53578"/>
                </a:lnTo>
                <a:cubicBezTo>
                  <a:pt x="26220" y="53578"/>
                  <a:pt x="21431" y="48790"/>
                  <a:pt x="21431" y="42863"/>
                </a:cubicBezTo>
                <a:lnTo>
                  <a:pt x="21431" y="32147"/>
                </a:lnTo>
                <a:cubicBezTo>
                  <a:pt x="21431" y="26220"/>
                  <a:pt x="26220" y="21431"/>
                  <a:pt x="32147" y="21431"/>
                </a:cubicBezTo>
                <a:close/>
                <a:moveTo>
                  <a:pt x="37505" y="77688"/>
                </a:moveTo>
                <a:cubicBezTo>
                  <a:pt x="37505" y="82124"/>
                  <a:pt x="33904" y="85725"/>
                  <a:pt x="29468" y="85725"/>
                </a:cubicBezTo>
                <a:cubicBezTo>
                  <a:pt x="25032" y="85725"/>
                  <a:pt x="21431" y="82124"/>
                  <a:pt x="21431" y="77688"/>
                </a:cubicBezTo>
                <a:cubicBezTo>
                  <a:pt x="21431" y="73253"/>
                  <a:pt x="25032" y="69652"/>
                  <a:pt x="29468" y="69652"/>
                </a:cubicBezTo>
                <a:cubicBezTo>
                  <a:pt x="33904" y="69652"/>
                  <a:pt x="37505" y="73253"/>
                  <a:pt x="37505" y="77688"/>
                </a:cubicBezTo>
                <a:close/>
                <a:moveTo>
                  <a:pt x="64294" y="85725"/>
                </a:moveTo>
                <a:cubicBezTo>
                  <a:pt x="59858" y="85725"/>
                  <a:pt x="56257" y="82124"/>
                  <a:pt x="56257" y="77688"/>
                </a:cubicBezTo>
                <a:cubicBezTo>
                  <a:pt x="56257" y="73253"/>
                  <a:pt x="59858" y="69652"/>
                  <a:pt x="64294" y="69652"/>
                </a:cubicBezTo>
                <a:cubicBezTo>
                  <a:pt x="68729" y="69652"/>
                  <a:pt x="72330" y="73253"/>
                  <a:pt x="72330" y="77688"/>
                </a:cubicBezTo>
                <a:cubicBezTo>
                  <a:pt x="72330" y="82124"/>
                  <a:pt x="68729" y="85725"/>
                  <a:pt x="64294" y="85725"/>
                </a:cubicBezTo>
                <a:close/>
                <a:moveTo>
                  <a:pt x="107156" y="77688"/>
                </a:moveTo>
                <a:cubicBezTo>
                  <a:pt x="107156" y="82124"/>
                  <a:pt x="103555" y="85725"/>
                  <a:pt x="99120" y="85725"/>
                </a:cubicBezTo>
                <a:cubicBezTo>
                  <a:pt x="94684" y="85725"/>
                  <a:pt x="91083" y="82124"/>
                  <a:pt x="91083" y="77688"/>
                </a:cubicBezTo>
                <a:cubicBezTo>
                  <a:pt x="91083" y="73253"/>
                  <a:pt x="94684" y="69652"/>
                  <a:pt x="99120" y="69652"/>
                </a:cubicBezTo>
                <a:cubicBezTo>
                  <a:pt x="103555" y="69652"/>
                  <a:pt x="107156" y="73253"/>
                  <a:pt x="107156" y="77688"/>
                </a:cubicBezTo>
                <a:close/>
                <a:moveTo>
                  <a:pt x="29468" y="117872"/>
                </a:moveTo>
                <a:cubicBezTo>
                  <a:pt x="25032" y="117872"/>
                  <a:pt x="21431" y="114271"/>
                  <a:pt x="21431" y="109835"/>
                </a:cubicBezTo>
                <a:cubicBezTo>
                  <a:pt x="21431" y="105400"/>
                  <a:pt x="25032" y="101798"/>
                  <a:pt x="29468" y="101798"/>
                </a:cubicBezTo>
                <a:cubicBezTo>
                  <a:pt x="33904" y="101798"/>
                  <a:pt x="37505" y="105400"/>
                  <a:pt x="37505" y="109835"/>
                </a:cubicBezTo>
                <a:cubicBezTo>
                  <a:pt x="37505" y="114271"/>
                  <a:pt x="33904" y="117872"/>
                  <a:pt x="29468" y="117872"/>
                </a:cubicBezTo>
                <a:close/>
                <a:moveTo>
                  <a:pt x="72330" y="109835"/>
                </a:moveTo>
                <a:cubicBezTo>
                  <a:pt x="72330" y="114271"/>
                  <a:pt x="68729" y="117872"/>
                  <a:pt x="64294" y="117872"/>
                </a:cubicBezTo>
                <a:cubicBezTo>
                  <a:pt x="59858" y="117872"/>
                  <a:pt x="56257" y="114271"/>
                  <a:pt x="56257" y="109835"/>
                </a:cubicBezTo>
                <a:cubicBezTo>
                  <a:pt x="56257" y="105400"/>
                  <a:pt x="59858" y="101798"/>
                  <a:pt x="64294" y="101798"/>
                </a:cubicBezTo>
                <a:cubicBezTo>
                  <a:pt x="68729" y="101798"/>
                  <a:pt x="72330" y="105400"/>
                  <a:pt x="72330" y="109835"/>
                </a:cubicBezTo>
                <a:close/>
                <a:moveTo>
                  <a:pt x="99120" y="117872"/>
                </a:moveTo>
                <a:cubicBezTo>
                  <a:pt x="94684" y="117872"/>
                  <a:pt x="91083" y="114271"/>
                  <a:pt x="91083" y="109835"/>
                </a:cubicBezTo>
                <a:cubicBezTo>
                  <a:pt x="91083" y="105400"/>
                  <a:pt x="94684" y="101798"/>
                  <a:pt x="99120" y="101798"/>
                </a:cubicBezTo>
                <a:cubicBezTo>
                  <a:pt x="103555" y="101798"/>
                  <a:pt x="107156" y="105400"/>
                  <a:pt x="107156" y="109835"/>
                </a:cubicBezTo>
                <a:cubicBezTo>
                  <a:pt x="107156" y="114271"/>
                  <a:pt x="103555" y="117872"/>
                  <a:pt x="99120" y="117872"/>
                </a:cubicBezTo>
                <a:close/>
                <a:moveTo>
                  <a:pt x="21431" y="141982"/>
                </a:moveTo>
                <a:cubicBezTo>
                  <a:pt x="21431" y="137528"/>
                  <a:pt x="25014" y="133945"/>
                  <a:pt x="29468" y="133945"/>
                </a:cubicBezTo>
                <a:lnTo>
                  <a:pt x="66973" y="133945"/>
                </a:lnTo>
                <a:cubicBezTo>
                  <a:pt x="71426" y="133945"/>
                  <a:pt x="75009" y="137528"/>
                  <a:pt x="75009" y="141982"/>
                </a:cubicBezTo>
                <a:cubicBezTo>
                  <a:pt x="75009" y="146436"/>
                  <a:pt x="71426" y="150019"/>
                  <a:pt x="66973" y="150019"/>
                </a:cubicBezTo>
                <a:lnTo>
                  <a:pt x="29468" y="150019"/>
                </a:lnTo>
                <a:cubicBezTo>
                  <a:pt x="25014" y="150019"/>
                  <a:pt x="21431" y="146436"/>
                  <a:pt x="21431" y="141982"/>
                </a:cubicBezTo>
                <a:close/>
                <a:moveTo>
                  <a:pt x="99120" y="133945"/>
                </a:moveTo>
                <a:cubicBezTo>
                  <a:pt x="103573" y="133945"/>
                  <a:pt x="107156" y="137528"/>
                  <a:pt x="107156" y="141982"/>
                </a:cubicBezTo>
                <a:cubicBezTo>
                  <a:pt x="107156" y="146436"/>
                  <a:pt x="103573" y="150019"/>
                  <a:pt x="99120" y="150019"/>
                </a:cubicBezTo>
                <a:cubicBezTo>
                  <a:pt x="94666" y="150019"/>
                  <a:pt x="91083" y="146436"/>
                  <a:pt x="91083" y="141982"/>
                </a:cubicBezTo>
                <a:cubicBezTo>
                  <a:pt x="91083" y="137528"/>
                  <a:pt x="94666" y="133945"/>
                  <a:pt x="99120" y="133945"/>
                </a:cubicBezTo>
                <a:close/>
              </a:path>
            </a:pathLst>
          </a:custGeom>
          <a:solidFill>
            <a:srgbClr val="8686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Text 5"/>
          <p:cNvSpPr/>
          <p:nvPr/>
        </p:nvSpPr>
        <p:spPr>
          <a:xfrm>
            <a:off x="709560" y="6286680"/>
            <a:ext cx="156132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i="1" lang="en-US" sz="1050" spc="-1" strike="noStrike">
                <a:solidFill>
                  <a:srgbClr val="86868b"/>
                </a:solidFill>
                <a:latin typeface="Times New Roman"/>
                <a:ea typeface="Liter"/>
              </a:rPr>
              <a:t>Mathematical Exploration</a:t>
            </a:r>
            <a:endParaRPr b="1" i="1" lang="en-HK" sz="1050" spc="-1" strike="noStrike">
              <a:latin typeface="Times New Roman"/>
            </a:endParaRPr>
          </a:p>
        </p:txBody>
      </p:sp>
      <p:sp>
        <p:nvSpPr>
          <p:cNvPr id="50" name="Shape 6"/>
          <p:cNvSpPr/>
          <p:nvPr/>
        </p:nvSpPr>
        <p:spPr>
          <a:xfrm>
            <a:off x="2689200" y="6296040"/>
            <a:ext cx="170640" cy="170640"/>
          </a:xfrm>
          <a:custGeom>
            <a:avLst/>
            <a:gdLst/>
            <a:ah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8686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" name="Text 7"/>
          <p:cNvSpPr/>
          <p:nvPr/>
        </p:nvSpPr>
        <p:spPr>
          <a:xfrm>
            <a:off x="2994120" y="6286680"/>
            <a:ext cx="139932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i="1" lang="en-US" sz="1050" spc="-1" strike="noStrike">
                <a:solidFill>
                  <a:srgbClr val="86868b"/>
                </a:solidFill>
                <a:latin typeface="Times New Roman"/>
                <a:ea typeface="Liter"/>
              </a:rPr>
              <a:t>Probability &amp; Statistics</a:t>
            </a:r>
            <a:endParaRPr b="1" i="1" lang="en-HK" sz="105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 0"/>
          <p:cNvSpPr/>
          <p:nvPr/>
        </p:nvSpPr>
        <p:spPr>
          <a:xfrm>
            <a:off x="380880" y="380880"/>
            <a:ext cx="1148760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265" strike="noStrike">
                <a:solidFill>
                  <a:srgbClr val="86868b"/>
                </a:solidFill>
                <a:latin typeface="Liter"/>
                <a:ea typeface="Liter"/>
              </a:rPr>
              <a:t>Overview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53" name="Text 1"/>
          <p:cNvSpPr/>
          <p:nvPr/>
        </p:nvSpPr>
        <p:spPr>
          <a:xfrm>
            <a:off x="380880" y="647640"/>
            <a:ext cx="116589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3600" spc="-1" strike="noStrike">
                <a:solidFill>
                  <a:srgbClr val="1d1d1d"/>
                </a:solidFill>
                <a:latin typeface="Liter"/>
                <a:ea typeface="Liter"/>
              </a:rPr>
              <a:t>Contents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54" name="Text 2"/>
          <p:cNvSpPr/>
          <p:nvPr/>
        </p:nvSpPr>
        <p:spPr>
          <a:xfrm>
            <a:off x="380880" y="1714680"/>
            <a:ext cx="875520" cy="57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4500" spc="-1" strike="noStrike">
                <a:solidFill>
                  <a:srgbClr val="e5e5e5"/>
                </a:solidFill>
                <a:latin typeface="Liter"/>
                <a:ea typeface="Liter"/>
              </a:rPr>
              <a:t>01</a:t>
            </a:r>
            <a:endParaRPr b="0" lang="en-HK" sz="4500" spc="-1" strike="noStrike">
              <a:latin typeface="Arial"/>
            </a:endParaRPr>
          </a:p>
        </p:txBody>
      </p:sp>
      <p:sp>
        <p:nvSpPr>
          <p:cNvPr id="55" name="Text 3"/>
          <p:cNvSpPr/>
          <p:nvPr/>
        </p:nvSpPr>
        <p:spPr>
          <a:xfrm>
            <a:off x="1202760" y="1790640"/>
            <a:ext cx="462888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1d1d1d"/>
                </a:solidFill>
                <a:latin typeface="Liter"/>
                <a:ea typeface="Liter"/>
              </a:rPr>
              <a:t>What is the Birthday Paradox?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56" name="Text 4"/>
          <p:cNvSpPr/>
          <p:nvPr/>
        </p:nvSpPr>
        <p:spPr>
          <a:xfrm>
            <a:off x="1202760" y="2209680"/>
            <a:ext cx="459072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Understanding the counterintuitive probability phenomenon that challenges our intuition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57" name="Text 5"/>
          <p:cNvSpPr/>
          <p:nvPr/>
        </p:nvSpPr>
        <p:spPr>
          <a:xfrm>
            <a:off x="6477480" y="1714680"/>
            <a:ext cx="980280" cy="57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4500" spc="-1" strike="noStrike">
                <a:solidFill>
                  <a:srgbClr val="e5e5e5"/>
                </a:solidFill>
                <a:latin typeface="Liter"/>
                <a:ea typeface="Liter"/>
              </a:rPr>
              <a:t>02</a:t>
            </a:r>
            <a:endParaRPr b="0" lang="en-HK" sz="4500" spc="-1" strike="noStrike">
              <a:latin typeface="Arial"/>
            </a:endParaRPr>
          </a:p>
        </p:txBody>
      </p:sp>
      <p:sp>
        <p:nvSpPr>
          <p:cNvPr id="58" name="Text 6"/>
          <p:cNvSpPr/>
          <p:nvPr/>
        </p:nvSpPr>
        <p:spPr>
          <a:xfrm>
            <a:off x="7402680" y="1790640"/>
            <a:ext cx="452412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1d1d1d"/>
                </a:solidFill>
                <a:latin typeface="Liter"/>
                <a:ea typeface="Liter"/>
              </a:rPr>
              <a:t>The Mathematics Behind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59" name="Text 7"/>
          <p:cNvSpPr/>
          <p:nvPr/>
        </p:nvSpPr>
        <p:spPr>
          <a:xfrm>
            <a:off x="7402680" y="2209680"/>
            <a:ext cx="448596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How the probability is calculated step by step using complementary approach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60" name="Text 8"/>
          <p:cNvSpPr/>
          <p:nvPr/>
        </p:nvSpPr>
        <p:spPr>
          <a:xfrm>
            <a:off x="380880" y="4324320"/>
            <a:ext cx="990000" cy="57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4500" spc="-1" strike="noStrike">
                <a:solidFill>
                  <a:srgbClr val="e5e5e5"/>
                </a:solidFill>
                <a:latin typeface="Liter"/>
                <a:ea typeface="Liter"/>
              </a:rPr>
              <a:t>03</a:t>
            </a:r>
            <a:endParaRPr b="0" lang="en-HK" sz="4500" spc="-1" strike="noStrike">
              <a:latin typeface="Arial"/>
            </a:endParaRPr>
          </a:p>
        </p:txBody>
      </p:sp>
      <p:sp>
        <p:nvSpPr>
          <p:cNvPr id="61" name="Text 9"/>
          <p:cNvSpPr/>
          <p:nvPr/>
        </p:nvSpPr>
        <p:spPr>
          <a:xfrm>
            <a:off x="1311480" y="4400640"/>
            <a:ext cx="451440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1d1d1d"/>
                </a:solidFill>
                <a:latin typeface="Liter"/>
                <a:ea typeface="Liter"/>
              </a:rPr>
              <a:t>Why Our Intuition Fails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62" name="Text 10"/>
          <p:cNvSpPr/>
          <p:nvPr/>
        </p:nvSpPr>
        <p:spPr>
          <a:xfrm>
            <a:off x="1311480" y="4819680"/>
            <a:ext cx="447624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Understanding the psychological traps and cognitive biases at play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63" name="Text 11"/>
          <p:cNvSpPr/>
          <p:nvPr/>
        </p:nvSpPr>
        <p:spPr>
          <a:xfrm>
            <a:off x="6477480" y="4324320"/>
            <a:ext cx="990000" cy="57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4500" spc="-1" strike="noStrike">
                <a:solidFill>
                  <a:srgbClr val="e5e5e5"/>
                </a:solidFill>
                <a:latin typeface="Liter"/>
                <a:ea typeface="Liter"/>
              </a:rPr>
              <a:t>04</a:t>
            </a:r>
            <a:endParaRPr b="0" lang="en-HK" sz="4500" spc="-1" strike="noStrike">
              <a:latin typeface="Arial"/>
            </a:endParaRPr>
          </a:p>
        </p:txBody>
      </p:sp>
      <p:sp>
        <p:nvSpPr>
          <p:cNvPr id="64" name="Text 12"/>
          <p:cNvSpPr/>
          <p:nvPr/>
        </p:nvSpPr>
        <p:spPr>
          <a:xfrm>
            <a:off x="7407360" y="4400640"/>
            <a:ext cx="451440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1d1d1d"/>
                </a:solidFill>
                <a:latin typeface="Liter"/>
                <a:ea typeface="Liter"/>
              </a:rPr>
              <a:t>Real-World Applications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65" name="Text 13"/>
          <p:cNvSpPr/>
          <p:nvPr/>
        </p:nvSpPr>
        <p:spPr>
          <a:xfrm>
            <a:off x="7407360" y="4819680"/>
            <a:ext cx="4476240" cy="2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Where the birthday paradox matters in cryptography and beyond</a:t>
            </a:r>
            <a:endParaRPr b="0" lang="en-HK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0"/>
          <p:cNvSpPr/>
          <p:nvPr/>
        </p:nvSpPr>
        <p:spPr>
          <a:xfrm>
            <a:off x="380880" y="1665000"/>
            <a:ext cx="761400" cy="18360"/>
          </a:xfrm>
          <a:custGeom>
            <a:avLst/>
            <a:gdLst/>
            <a:ahLst/>
            <a:rect l="l" t="t" r="r" b="b"/>
            <a:pathLst>
              <a:path w="762000" h="19050">
                <a:moveTo>
                  <a:pt x="0" y="0"/>
                </a:moveTo>
                <a:lnTo>
                  <a:pt x="762000" y="0"/>
                </a:lnTo>
                <a:lnTo>
                  <a:pt x="762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Text 1"/>
          <p:cNvSpPr/>
          <p:nvPr/>
        </p:nvSpPr>
        <p:spPr>
          <a:xfrm>
            <a:off x="380880" y="1989000"/>
            <a:ext cx="951552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310" strike="noStrike">
                <a:solidFill>
                  <a:srgbClr val="86868b"/>
                </a:solidFill>
                <a:latin typeface="Liter"/>
                <a:ea typeface="Liter"/>
              </a:rPr>
              <a:t>Chapter One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68" name="Text 2"/>
          <p:cNvSpPr/>
          <p:nvPr/>
        </p:nvSpPr>
        <p:spPr>
          <a:xfrm>
            <a:off x="380880" y="2408040"/>
            <a:ext cx="9906120" cy="173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7200" spc="-1" strike="noStrike">
                <a:solidFill>
                  <a:srgbClr val="1d1d1d"/>
                </a:solidFill>
                <a:latin typeface="Liter"/>
                <a:ea typeface="Liter"/>
              </a:rPr>
              <a:t>What is the</a:t>
            </a:r>
            <a:endParaRPr b="0" lang="en-HK" sz="7200" spc="-1" strike="noStrike">
              <a:latin typeface="Arial"/>
            </a:endParaRPr>
          </a:p>
          <a:p>
            <a:pPr>
              <a:lnSpc>
                <a:spcPct val="80000"/>
              </a:lnSpc>
              <a:buNone/>
            </a:pPr>
            <a:r>
              <a:rPr b="0" lang="en-US" sz="7200" spc="-1" strike="noStrike">
                <a:solidFill>
                  <a:srgbClr val="1d1d1d"/>
                </a:solidFill>
                <a:latin typeface="Liter"/>
                <a:ea typeface="Liter"/>
              </a:rPr>
              <a:t>Birthday Paradox?</a:t>
            </a:r>
            <a:endParaRPr b="0" lang="en-HK" sz="7200" spc="-1" strike="noStrike">
              <a:latin typeface="Arial"/>
            </a:endParaRPr>
          </a:p>
        </p:txBody>
      </p:sp>
      <p:sp>
        <p:nvSpPr>
          <p:cNvPr id="69" name="Text 3"/>
          <p:cNvSpPr/>
          <p:nvPr/>
        </p:nvSpPr>
        <p:spPr>
          <a:xfrm>
            <a:off x="380880" y="4449960"/>
            <a:ext cx="5600520" cy="74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800" spc="-1" strike="noStrike">
                <a:solidFill>
                  <a:srgbClr val="86868b"/>
                </a:solidFill>
                <a:latin typeface="Liter"/>
                <a:ea typeface="Liter"/>
              </a:rPr>
              <a:t>Understanding the counterintuitive probability phenomenon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70" name="Text 4"/>
          <p:cNvSpPr/>
          <p:nvPr/>
        </p:nvSpPr>
        <p:spPr>
          <a:xfrm>
            <a:off x="9834480" y="2476440"/>
            <a:ext cx="2933280" cy="19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15000" spc="-1" strike="noStrike">
                <a:solidFill>
                  <a:srgbClr val="e5e5e5"/>
                </a:solidFill>
                <a:latin typeface="Liter"/>
                <a:ea typeface="Liter"/>
              </a:rPr>
              <a:t>01</a:t>
            </a:r>
            <a:endParaRPr b="0" lang="en-HK" sz="15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 0"/>
          <p:cNvSpPr/>
          <p:nvPr/>
        </p:nvSpPr>
        <p:spPr>
          <a:xfrm>
            <a:off x="380880" y="380880"/>
            <a:ext cx="1148760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265" strike="noStrike">
                <a:solidFill>
                  <a:srgbClr val="86868b"/>
                </a:solidFill>
                <a:latin typeface="Liter"/>
                <a:ea typeface="Liter"/>
              </a:rPr>
              <a:t>The Core Question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72" name="Text 1"/>
          <p:cNvSpPr/>
          <p:nvPr/>
        </p:nvSpPr>
        <p:spPr>
          <a:xfrm>
            <a:off x="380880" y="609480"/>
            <a:ext cx="1160172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700" spc="-1" strike="noStrike">
                <a:solidFill>
                  <a:srgbClr val="7a97ef"/>
                </a:solidFill>
                <a:latin typeface="Liter"/>
                <a:ea typeface="Liter"/>
              </a:rPr>
              <a:t>The Surprising Question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73" name="Text 2"/>
          <p:cNvSpPr/>
          <p:nvPr/>
        </p:nvSpPr>
        <p:spPr>
          <a:xfrm>
            <a:off x="380880" y="1824120"/>
            <a:ext cx="8648640" cy="74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1" lang="en-US" sz="1800" spc="-1" strike="noStrike">
                <a:solidFill>
                  <a:srgbClr val="1d1d1d"/>
                </a:solidFill>
                <a:latin typeface="Liter"/>
                <a:ea typeface="Liter"/>
              </a:rPr>
              <a:t>How many people must be in a room</a:t>
            </a:r>
            <a:r>
              <a:rPr b="0" lang="en-US" sz="1800" spc="-1" strike="noStrike">
                <a:solidFill>
                  <a:srgbClr val="1d1d1d"/>
                </a:solidFill>
                <a:latin typeface="Liter"/>
                <a:ea typeface="Liter"/>
              </a:rPr>
              <a:t> for there to be a greater than 50% chance that at least two of them share the same birthday?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74" name="Shape 3"/>
          <p:cNvSpPr/>
          <p:nvPr/>
        </p:nvSpPr>
        <p:spPr>
          <a:xfrm>
            <a:off x="380880" y="3338640"/>
            <a:ext cx="5486040" cy="18360"/>
          </a:xfrm>
          <a:custGeom>
            <a:avLst/>
            <a:gdLst/>
            <a:ahLst/>
            <a:rect l="l" t="t" r="r" b="b"/>
            <a:pathLst>
              <a:path w="5486400" h="19050">
                <a:moveTo>
                  <a:pt x="0" y="0"/>
                </a:moveTo>
                <a:lnTo>
                  <a:pt x="5486400" y="0"/>
                </a:lnTo>
                <a:lnTo>
                  <a:pt x="5486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Text 4"/>
          <p:cNvSpPr/>
          <p:nvPr/>
        </p:nvSpPr>
        <p:spPr>
          <a:xfrm>
            <a:off x="380880" y="3576600"/>
            <a:ext cx="555264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205" strike="noStrike">
                <a:solidFill>
                  <a:srgbClr val="86868b"/>
                </a:solidFill>
                <a:latin typeface="Liter"/>
                <a:ea typeface="Liter"/>
              </a:rPr>
              <a:t>Intuitive Guess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76" name="Text 5"/>
          <p:cNvSpPr/>
          <p:nvPr/>
        </p:nvSpPr>
        <p:spPr>
          <a:xfrm>
            <a:off x="380880" y="3919680"/>
            <a:ext cx="183744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5400" spc="-1" strike="noStrike">
                <a:solidFill>
                  <a:srgbClr val="86868b"/>
                </a:solidFill>
                <a:latin typeface="Liter"/>
                <a:ea typeface="Liter"/>
              </a:rPr>
              <a:t>~180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77" name="Text 6"/>
          <p:cNvSpPr/>
          <p:nvPr/>
        </p:nvSpPr>
        <p:spPr>
          <a:xfrm>
            <a:off x="1991160" y="4286160"/>
            <a:ext cx="66600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86868b"/>
                </a:solidFill>
                <a:latin typeface="Liter"/>
                <a:ea typeface="Liter"/>
              </a:rPr>
              <a:t>people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78" name="Text 7"/>
          <p:cNvSpPr/>
          <p:nvPr/>
        </p:nvSpPr>
        <p:spPr>
          <a:xfrm>
            <a:off x="380880" y="4757760"/>
            <a:ext cx="5562360" cy="2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Most people assume you need about half the days in a year—seems logical, right?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79" name="Shape 8"/>
          <p:cNvSpPr/>
          <p:nvPr/>
        </p:nvSpPr>
        <p:spPr>
          <a:xfrm>
            <a:off x="6324840" y="3338640"/>
            <a:ext cx="5486040" cy="18360"/>
          </a:xfrm>
          <a:custGeom>
            <a:avLst/>
            <a:gdLst/>
            <a:ahLst/>
            <a:rect l="l" t="t" r="r" b="b"/>
            <a:pathLst>
              <a:path w="5486400" h="19050">
                <a:moveTo>
                  <a:pt x="0" y="0"/>
                </a:moveTo>
                <a:lnTo>
                  <a:pt x="5486400" y="0"/>
                </a:lnTo>
                <a:lnTo>
                  <a:pt x="5486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Text 9"/>
          <p:cNvSpPr/>
          <p:nvPr/>
        </p:nvSpPr>
        <p:spPr>
          <a:xfrm>
            <a:off x="6324840" y="3576600"/>
            <a:ext cx="555264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205" strike="noStrike">
                <a:solidFill>
                  <a:srgbClr val="0071e3"/>
                </a:solidFill>
                <a:latin typeface="Liter"/>
                <a:ea typeface="Liter"/>
              </a:rPr>
              <a:t>Actual Answer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81" name="Text 10"/>
          <p:cNvSpPr/>
          <p:nvPr/>
        </p:nvSpPr>
        <p:spPr>
          <a:xfrm>
            <a:off x="6324840" y="3919680"/>
            <a:ext cx="11422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5400" spc="-1" strike="noStrike">
                <a:solidFill>
                  <a:srgbClr val="0071e3"/>
                </a:solidFill>
                <a:latin typeface="Liter"/>
                <a:ea typeface="Liter"/>
              </a:rPr>
              <a:t>23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82" name="Text 11"/>
          <p:cNvSpPr/>
          <p:nvPr/>
        </p:nvSpPr>
        <p:spPr>
          <a:xfrm>
            <a:off x="7242480" y="4286160"/>
            <a:ext cx="66600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people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83" name="Text 12"/>
          <p:cNvSpPr/>
          <p:nvPr/>
        </p:nvSpPr>
        <p:spPr>
          <a:xfrm>
            <a:off x="6324840" y="4757760"/>
            <a:ext cx="556236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Just 23 people gives you a </a:t>
            </a:r>
            <a:r>
              <a:rPr b="1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50.7%</a:t>
            </a: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 probability of a shared birthday. This is why it's called a paradox.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84" name="Shape 13"/>
          <p:cNvSpPr/>
          <p:nvPr/>
        </p:nvSpPr>
        <p:spPr>
          <a:xfrm>
            <a:off x="380880" y="6014880"/>
            <a:ext cx="11430360" cy="8640"/>
          </a:xfrm>
          <a:custGeom>
            <a:avLst/>
            <a:gdLst/>
            <a:ah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Shape 14"/>
          <p:cNvSpPr/>
          <p:nvPr/>
        </p:nvSpPr>
        <p:spPr>
          <a:xfrm>
            <a:off x="419040" y="6286680"/>
            <a:ext cx="113760" cy="151560"/>
          </a:xfrm>
          <a:custGeom>
            <a:avLst/>
            <a:gdLst/>
            <a:ah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6" name="Text 15"/>
          <p:cNvSpPr/>
          <p:nvPr/>
        </p:nvSpPr>
        <p:spPr>
          <a:xfrm>
            <a:off x="628560" y="6248520"/>
            <a:ext cx="11259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The paradox:</a:t>
            </a: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 The result seems wrong but is mathematically proven true.</a:t>
            </a:r>
            <a:endParaRPr b="0" lang="en-HK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0"/>
          <p:cNvSpPr/>
          <p:nvPr/>
        </p:nvSpPr>
        <p:spPr>
          <a:xfrm>
            <a:off x="380880" y="380880"/>
            <a:ext cx="1148760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265" strike="noStrike">
                <a:solidFill>
                  <a:srgbClr val="86868b"/>
                </a:solidFill>
                <a:latin typeface="Liter"/>
                <a:ea typeface="Liter"/>
              </a:rPr>
              <a:t>Probability Distribution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88" name="Text 1"/>
          <p:cNvSpPr/>
          <p:nvPr/>
        </p:nvSpPr>
        <p:spPr>
          <a:xfrm>
            <a:off x="380880" y="609480"/>
            <a:ext cx="1160172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700" spc="-1" strike="noStrike">
                <a:solidFill>
                  <a:srgbClr val="1d1d1d"/>
                </a:solidFill>
                <a:latin typeface="Liter"/>
                <a:ea typeface="Liter"/>
              </a:rPr>
              <a:t>Key Probability Milestones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89" name="Image 0"/>
          <p:cNvSpPr/>
          <p:nvPr/>
        </p:nvSpPr>
        <p:spPr>
          <a:xfrm>
            <a:off x="380880" y="1219320"/>
            <a:ext cx="6114960" cy="525708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Shape 2"/>
          <p:cNvSpPr/>
          <p:nvPr/>
        </p:nvSpPr>
        <p:spPr>
          <a:xfrm>
            <a:off x="6814440" y="1504800"/>
            <a:ext cx="18360" cy="990000"/>
          </a:xfrm>
          <a:custGeom>
            <a:avLst/>
            <a:gdLst/>
            <a:ahLst/>
            <a:rect l="l" t="t" r="r" b="b"/>
            <a:pathLst>
              <a:path w="19050" h="990600">
                <a:moveTo>
                  <a:pt x="0" y="0"/>
                </a:moveTo>
                <a:lnTo>
                  <a:pt x="19050" y="0"/>
                </a:lnTo>
                <a:lnTo>
                  <a:pt x="19050" y="990600"/>
                </a:lnTo>
                <a:lnTo>
                  <a:pt x="0" y="99060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Text 3"/>
          <p:cNvSpPr/>
          <p:nvPr/>
        </p:nvSpPr>
        <p:spPr>
          <a:xfrm>
            <a:off x="7014600" y="1504800"/>
            <a:ext cx="57096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700" spc="-1" strike="noStrike">
                <a:solidFill>
                  <a:srgbClr val="0071e3"/>
                </a:solidFill>
                <a:latin typeface="Liter"/>
                <a:ea typeface="Liter"/>
              </a:rPr>
              <a:t>23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92" name="Text 4"/>
          <p:cNvSpPr/>
          <p:nvPr/>
        </p:nvSpPr>
        <p:spPr>
          <a:xfrm>
            <a:off x="7530480" y="1614600"/>
            <a:ext cx="59940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i="1" lang="en-US" sz="1350" spc="-1" strike="noStrike">
                <a:solidFill>
                  <a:srgbClr val="2a6099"/>
                </a:solidFill>
                <a:latin typeface="Liter"/>
                <a:ea typeface="Liter"/>
              </a:rPr>
              <a:t>people</a:t>
            </a:r>
            <a:endParaRPr b="0" i="1" lang="en-HK" sz="1350" spc="-1" strike="noStrike">
              <a:solidFill>
                <a:srgbClr val="2a6099"/>
              </a:solidFill>
              <a:latin typeface="Arial"/>
            </a:endParaRPr>
          </a:p>
        </p:txBody>
      </p:sp>
      <p:sp>
        <p:nvSpPr>
          <p:cNvPr id="93" name="Text 5"/>
          <p:cNvSpPr/>
          <p:nvPr/>
        </p:nvSpPr>
        <p:spPr>
          <a:xfrm>
            <a:off x="7014600" y="1924200"/>
            <a:ext cx="494316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0071e3"/>
                </a:solidFill>
                <a:latin typeface="Liter"/>
                <a:ea typeface="Liter"/>
              </a:rPr>
              <a:t>50.7%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94" name="Text 6"/>
          <p:cNvSpPr/>
          <p:nvPr/>
        </p:nvSpPr>
        <p:spPr>
          <a:xfrm>
            <a:off x="7014600" y="2305080"/>
            <a:ext cx="486684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6868b"/>
                </a:solidFill>
                <a:latin typeface="Liter"/>
                <a:ea typeface="Liter"/>
              </a:rPr>
              <a:t>The 50-50 threshold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95" name="Shape 7"/>
          <p:cNvSpPr/>
          <p:nvPr/>
        </p:nvSpPr>
        <p:spPr>
          <a:xfrm>
            <a:off x="6814440" y="2647800"/>
            <a:ext cx="18360" cy="723240"/>
          </a:xfrm>
          <a:custGeom>
            <a:avLst/>
            <a:gdLst/>
            <a:ahLst/>
            <a:rect l="l" t="t" r="r" b="b"/>
            <a:pathLst>
              <a:path w="19050" h="723900">
                <a:moveTo>
                  <a:pt x="0" y="0"/>
                </a:moveTo>
                <a:lnTo>
                  <a:pt x="19050" y="0"/>
                </a:lnTo>
                <a:lnTo>
                  <a:pt x="1905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Text 8"/>
          <p:cNvSpPr/>
          <p:nvPr/>
        </p:nvSpPr>
        <p:spPr>
          <a:xfrm>
            <a:off x="7014600" y="2647800"/>
            <a:ext cx="49464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1d1d1d"/>
                </a:solidFill>
                <a:latin typeface="Liter"/>
                <a:ea typeface="Liter"/>
              </a:rPr>
              <a:t>30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97" name="Text 9"/>
          <p:cNvSpPr/>
          <p:nvPr/>
        </p:nvSpPr>
        <p:spPr>
          <a:xfrm>
            <a:off x="7479720" y="2747880"/>
            <a:ext cx="532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people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98" name="Text 10"/>
          <p:cNvSpPr/>
          <p:nvPr/>
        </p:nvSpPr>
        <p:spPr>
          <a:xfrm>
            <a:off x="7014600" y="3029040"/>
            <a:ext cx="491472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1d1d1d"/>
                </a:solidFill>
                <a:latin typeface="Liter"/>
                <a:ea typeface="Liter"/>
              </a:rPr>
              <a:t>70.6%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99" name="Shape 11"/>
          <p:cNvSpPr/>
          <p:nvPr/>
        </p:nvSpPr>
        <p:spPr>
          <a:xfrm>
            <a:off x="6814440" y="3524400"/>
            <a:ext cx="18360" cy="723240"/>
          </a:xfrm>
          <a:custGeom>
            <a:avLst/>
            <a:gdLst/>
            <a:ahLst/>
            <a:rect l="l" t="t" r="r" b="b"/>
            <a:pathLst>
              <a:path w="19050" h="723900">
                <a:moveTo>
                  <a:pt x="0" y="0"/>
                </a:moveTo>
                <a:lnTo>
                  <a:pt x="19050" y="0"/>
                </a:lnTo>
                <a:lnTo>
                  <a:pt x="1905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Text 12"/>
          <p:cNvSpPr/>
          <p:nvPr/>
        </p:nvSpPr>
        <p:spPr>
          <a:xfrm>
            <a:off x="7014600" y="3524400"/>
            <a:ext cx="48492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1d1d1d"/>
                </a:solidFill>
                <a:latin typeface="Liter"/>
                <a:ea typeface="Liter"/>
              </a:rPr>
              <a:t>50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101" name="Text 13"/>
          <p:cNvSpPr/>
          <p:nvPr/>
        </p:nvSpPr>
        <p:spPr>
          <a:xfrm>
            <a:off x="7475760" y="3624120"/>
            <a:ext cx="532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people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02" name="Text 14"/>
          <p:cNvSpPr/>
          <p:nvPr/>
        </p:nvSpPr>
        <p:spPr>
          <a:xfrm>
            <a:off x="7014600" y="3905280"/>
            <a:ext cx="491472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1d1d1d"/>
                </a:solidFill>
                <a:latin typeface="Liter"/>
                <a:ea typeface="Liter"/>
              </a:rPr>
              <a:t>97.0%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03" name="Shape 15"/>
          <p:cNvSpPr/>
          <p:nvPr/>
        </p:nvSpPr>
        <p:spPr>
          <a:xfrm>
            <a:off x="6814440" y="4400640"/>
            <a:ext cx="18360" cy="723240"/>
          </a:xfrm>
          <a:custGeom>
            <a:avLst/>
            <a:gdLst/>
            <a:ahLst/>
            <a:rect l="l" t="t" r="r" b="b"/>
            <a:pathLst>
              <a:path w="19050" h="723900">
                <a:moveTo>
                  <a:pt x="0" y="0"/>
                </a:moveTo>
                <a:lnTo>
                  <a:pt x="19050" y="0"/>
                </a:lnTo>
                <a:lnTo>
                  <a:pt x="1905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Text 16"/>
          <p:cNvSpPr/>
          <p:nvPr/>
        </p:nvSpPr>
        <p:spPr>
          <a:xfrm>
            <a:off x="7014600" y="4400640"/>
            <a:ext cx="49464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1d1d1d"/>
                </a:solidFill>
                <a:latin typeface="Liter"/>
                <a:ea typeface="Liter"/>
              </a:rPr>
              <a:t>60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105" name="Text 17"/>
          <p:cNvSpPr/>
          <p:nvPr/>
        </p:nvSpPr>
        <p:spPr>
          <a:xfrm>
            <a:off x="7482240" y="4500720"/>
            <a:ext cx="532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people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06" name="Text 18"/>
          <p:cNvSpPr/>
          <p:nvPr/>
        </p:nvSpPr>
        <p:spPr>
          <a:xfrm>
            <a:off x="7014600" y="4781520"/>
            <a:ext cx="491472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1d1d1d"/>
                </a:solidFill>
                <a:latin typeface="Liter"/>
                <a:ea typeface="Liter"/>
              </a:rPr>
              <a:t>99.2%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07" name="Shape 19"/>
          <p:cNvSpPr/>
          <p:nvPr/>
        </p:nvSpPr>
        <p:spPr>
          <a:xfrm>
            <a:off x="6814440" y="5276880"/>
            <a:ext cx="18360" cy="913680"/>
          </a:xfrm>
          <a:custGeom>
            <a:avLst/>
            <a:gdLst/>
            <a:ahLst/>
            <a:rect l="l" t="t" r="r" b="b"/>
            <a:pathLst>
              <a:path w="19050" h="914400">
                <a:moveTo>
                  <a:pt x="0" y="0"/>
                </a:moveTo>
                <a:lnTo>
                  <a:pt x="19050" y="0"/>
                </a:lnTo>
                <a:lnTo>
                  <a:pt x="1905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Text 20"/>
          <p:cNvSpPr/>
          <p:nvPr/>
        </p:nvSpPr>
        <p:spPr>
          <a:xfrm>
            <a:off x="7014600" y="5276880"/>
            <a:ext cx="45648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1d1d1d"/>
                </a:solidFill>
                <a:latin typeface="Liter"/>
                <a:ea typeface="Liter"/>
              </a:rPr>
              <a:t>75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109" name="Text 21"/>
          <p:cNvSpPr/>
          <p:nvPr/>
        </p:nvSpPr>
        <p:spPr>
          <a:xfrm>
            <a:off x="7439760" y="5376960"/>
            <a:ext cx="532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people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10" name="Text 22"/>
          <p:cNvSpPr/>
          <p:nvPr/>
        </p:nvSpPr>
        <p:spPr>
          <a:xfrm>
            <a:off x="7014600" y="5657760"/>
            <a:ext cx="491472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1d1d1d"/>
                </a:solidFill>
                <a:latin typeface="Liter"/>
                <a:ea typeface="Liter"/>
              </a:rPr>
              <a:t>99.9%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11" name="Text 23"/>
          <p:cNvSpPr/>
          <p:nvPr/>
        </p:nvSpPr>
        <p:spPr>
          <a:xfrm>
            <a:off x="7014600" y="6000840"/>
            <a:ext cx="486684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6868b"/>
                </a:solidFill>
                <a:latin typeface="Liter"/>
                <a:ea typeface="Liter"/>
              </a:rPr>
              <a:t>Virtually guaranteed</a:t>
            </a:r>
            <a:endParaRPr b="0" lang="en-HK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9999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0"/>
          <p:cNvSpPr/>
          <p:nvPr/>
        </p:nvSpPr>
        <p:spPr>
          <a:xfrm>
            <a:off x="380880" y="1850760"/>
            <a:ext cx="761400" cy="18360"/>
          </a:xfrm>
          <a:custGeom>
            <a:avLst/>
            <a:gdLst/>
            <a:ahLst/>
            <a:rect l="l" t="t" r="r" b="b"/>
            <a:pathLst>
              <a:path w="762000" h="19050">
                <a:moveTo>
                  <a:pt x="0" y="0"/>
                </a:moveTo>
                <a:lnTo>
                  <a:pt x="762000" y="0"/>
                </a:lnTo>
                <a:lnTo>
                  <a:pt x="762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Text 1"/>
          <p:cNvSpPr/>
          <p:nvPr/>
        </p:nvSpPr>
        <p:spPr>
          <a:xfrm>
            <a:off x="380880" y="2174760"/>
            <a:ext cx="917244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310" strike="noStrike">
                <a:solidFill>
                  <a:srgbClr val="86868b"/>
                </a:solidFill>
                <a:latin typeface="Liter"/>
                <a:ea typeface="Liter"/>
              </a:rPr>
              <a:t>Chapter Two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114" name="Text 2"/>
          <p:cNvSpPr/>
          <p:nvPr/>
        </p:nvSpPr>
        <p:spPr>
          <a:xfrm>
            <a:off x="380880" y="2593800"/>
            <a:ext cx="9563040" cy="173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7200" spc="-1" strike="noStrike">
                <a:solidFill>
                  <a:srgbClr val="1d1d1d"/>
                </a:solidFill>
                <a:latin typeface="Liter"/>
                <a:ea typeface="Liter"/>
              </a:rPr>
              <a:t>The Mathematics</a:t>
            </a:r>
            <a:endParaRPr b="0" lang="en-HK" sz="7200" spc="-1" strike="noStrike">
              <a:latin typeface="Arial"/>
            </a:endParaRPr>
          </a:p>
          <a:p>
            <a:pPr>
              <a:lnSpc>
                <a:spcPct val="80000"/>
              </a:lnSpc>
              <a:buNone/>
            </a:pPr>
            <a:r>
              <a:rPr b="0" lang="en-US" sz="7200" spc="-1" strike="noStrike">
                <a:solidFill>
                  <a:srgbClr val="1d1d1d"/>
                </a:solidFill>
                <a:latin typeface="Liter"/>
                <a:ea typeface="Liter"/>
              </a:rPr>
              <a:t>Behind</a:t>
            </a:r>
            <a:endParaRPr b="0" lang="en-HK" sz="7200" spc="-1" strike="noStrike">
              <a:latin typeface="Arial"/>
            </a:endParaRPr>
          </a:p>
        </p:txBody>
      </p:sp>
      <p:sp>
        <p:nvSpPr>
          <p:cNvPr id="115" name="Text 3"/>
          <p:cNvSpPr/>
          <p:nvPr/>
        </p:nvSpPr>
        <p:spPr>
          <a:xfrm>
            <a:off x="380880" y="4635720"/>
            <a:ext cx="56005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800" spc="-1" strike="noStrike">
                <a:solidFill>
                  <a:srgbClr val="86868b"/>
                </a:solidFill>
                <a:latin typeface="Liter"/>
                <a:ea typeface="Liter"/>
              </a:rPr>
              <a:t>How the probability is calculated step by step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16" name="Text 4"/>
          <p:cNvSpPr/>
          <p:nvPr/>
        </p:nvSpPr>
        <p:spPr>
          <a:xfrm>
            <a:off x="9489600" y="2476440"/>
            <a:ext cx="3276360" cy="19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15000" spc="-1" strike="noStrike">
                <a:solidFill>
                  <a:srgbClr val="e5e5e5"/>
                </a:solidFill>
                <a:latin typeface="Liter"/>
                <a:ea typeface="Liter"/>
              </a:rPr>
              <a:t>02</a:t>
            </a:r>
            <a:endParaRPr b="0" lang="en-HK" sz="15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 0"/>
          <p:cNvSpPr/>
          <p:nvPr/>
        </p:nvSpPr>
        <p:spPr>
          <a:xfrm>
            <a:off x="380880" y="380880"/>
            <a:ext cx="1148760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3600" spc="265" strike="noStrike">
                <a:solidFill>
                  <a:srgbClr val="f10d0c"/>
                </a:solidFill>
                <a:latin typeface="Liter"/>
                <a:ea typeface="Liter"/>
              </a:rPr>
              <a:t>Mathematical Strategy</a:t>
            </a:r>
            <a:endParaRPr b="1" lang="en-HK" sz="3600" spc="-1" strike="noStrike">
              <a:solidFill>
                <a:srgbClr val="f10d0c"/>
              </a:solidFill>
              <a:latin typeface="Arial"/>
            </a:endParaRPr>
          </a:p>
        </p:txBody>
      </p:sp>
      <p:sp>
        <p:nvSpPr>
          <p:cNvPr id="118" name="Text 1"/>
          <p:cNvSpPr/>
          <p:nvPr/>
        </p:nvSpPr>
        <p:spPr>
          <a:xfrm>
            <a:off x="380880" y="609480"/>
            <a:ext cx="1160172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3600" spc="-1" strike="noStrike">
                <a:solidFill>
                  <a:srgbClr val="fafafa"/>
                </a:solidFill>
                <a:latin typeface="Liter"/>
                <a:ea typeface="Liter"/>
              </a:rPr>
              <a:t>The Complementary Approach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119" name="Text 2"/>
          <p:cNvSpPr/>
          <p:nvPr/>
        </p:nvSpPr>
        <p:spPr>
          <a:xfrm>
            <a:off x="380880" y="1952640"/>
            <a:ext cx="8629560" cy="61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Instead of calculating the probability of </a:t>
            </a:r>
            <a:r>
              <a:rPr b="1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at least one match</a:t>
            </a: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 directly, we calculate the probability of </a:t>
            </a:r>
            <a:r>
              <a:rPr b="1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no matches</a:t>
            </a: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 and subtract from 1.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20" name="Shape 3"/>
          <p:cNvSpPr/>
          <p:nvPr/>
        </p:nvSpPr>
        <p:spPr>
          <a:xfrm>
            <a:off x="385920" y="2805120"/>
            <a:ext cx="4028760" cy="808920"/>
          </a:xfrm>
          <a:custGeom>
            <a:avLst/>
            <a:gdLst/>
            <a:ahLst/>
            <a:rect l="l" t="t" r="r" b="b"/>
            <a:pathLst>
              <a:path w="4029075" h="809625">
                <a:moveTo>
                  <a:pt x="0" y="0"/>
                </a:moveTo>
                <a:lnTo>
                  <a:pt x="4029075" y="0"/>
                </a:lnTo>
                <a:lnTo>
                  <a:pt x="4029075" y="809625"/>
                </a:lnTo>
                <a:lnTo>
                  <a:pt x="0" y="809625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e5e5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Text 4"/>
          <p:cNvSpPr/>
          <p:nvPr/>
        </p:nvSpPr>
        <p:spPr>
          <a:xfrm>
            <a:off x="695160" y="3038400"/>
            <a:ext cx="355248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1d1d1d"/>
                </a:solidFill>
                <a:latin typeface="Liter"/>
                <a:ea typeface="Liter"/>
              </a:rPr>
              <a:t>P(match) = 1 − P(no match)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122" name="Text 5"/>
          <p:cNvSpPr/>
          <p:nvPr/>
        </p:nvSpPr>
        <p:spPr>
          <a:xfrm>
            <a:off x="380880" y="4000680"/>
            <a:ext cx="559080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205" strike="noStrike">
                <a:solidFill>
                  <a:srgbClr val="86868b"/>
                </a:solidFill>
                <a:latin typeface="Liter"/>
                <a:ea typeface="Liter"/>
              </a:rPr>
              <a:t>Why This Works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123" name="Text 6"/>
          <p:cNvSpPr/>
          <p:nvPr/>
        </p:nvSpPr>
        <p:spPr>
          <a:xfrm>
            <a:off x="380880" y="4343400"/>
            <a:ext cx="560052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There are only two possibilities: either at least two people share a birthday, or everyone has unique birthdays.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24" name="Text 7"/>
          <p:cNvSpPr/>
          <p:nvPr/>
        </p:nvSpPr>
        <p:spPr>
          <a:xfrm>
            <a:off x="380880" y="4991040"/>
            <a:ext cx="5600520" cy="2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These are complementary events, so their probabilities must sum to 1 (or 100%).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25" name="Text 8"/>
          <p:cNvSpPr/>
          <p:nvPr/>
        </p:nvSpPr>
        <p:spPr>
          <a:xfrm>
            <a:off x="6287040" y="4000680"/>
            <a:ext cx="559080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205" strike="noStrike">
                <a:solidFill>
                  <a:srgbClr val="86868b"/>
                </a:solidFill>
                <a:latin typeface="Liter"/>
                <a:ea typeface="Liter"/>
              </a:rPr>
              <a:t>The Advantage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126" name="Text 9"/>
          <p:cNvSpPr/>
          <p:nvPr/>
        </p:nvSpPr>
        <p:spPr>
          <a:xfrm>
            <a:off x="6287040" y="4343400"/>
            <a:ext cx="560052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Calculating "no matches" is much easier because we can build it step by step, person by person.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27" name="Text 10"/>
          <p:cNvSpPr/>
          <p:nvPr/>
        </p:nvSpPr>
        <p:spPr>
          <a:xfrm>
            <a:off x="6287040" y="4991040"/>
            <a:ext cx="5600520" cy="2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This sequential approach makes the complex problem tractable.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28" name="Shape 11"/>
          <p:cNvSpPr/>
          <p:nvPr/>
        </p:nvSpPr>
        <p:spPr>
          <a:xfrm>
            <a:off x="380880" y="6129360"/>
            <a:ext cx="11430360" cy="8640"/>
          </a:xfrm>
          <a:custGeom>
            <a:avLst/>
            <a:gdLst/>
            <a:ah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Shape 12"/>
          <p:cNvSpPr/>
          <p:nvPr/>
        </p:nvSpPr>
        <p:spPr>
          <a:xfrm>
            <a:off x="399960" y="6315120"/>
            <a:ext cx="132480" cy="132480"/>
          </a:xfrm>
          <a:custGeom>
            <a:avLst/>
            <a:gdLst/>
            <a:ah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58341" y="41672"/>
                </a:moveTo>
                <a:cubicBezTo>
                  <a:pt x="58341" y="37072"/>
                  <a:pt x="62075" y="33337"/>
                  <a:pt x="66675" y="33337"/>
                </a:cubicBezTo>
                <a:cubicBezTo>
                  <a:pt x="71275" y="33337"/>
                  <a:pt x="75009" y="37072"/>
                  <a:pt x="75009" y="41672"/>
                </a:cubicBezTo>
                <a:cubicBezTo>
                  <a:pt x="75009" y="46272"/>
                  <a:pt x="71275" y="50006"/>
                  <a:pt x="66675" y="50006"/>
                </a:cubicBezTo>
                <a:cubicBezTo>
                  <a:pt x="62075" y="50006"/>
                  <a:pt x="58341" y="46272"/>
                  <a:pt x="58341" y="41672"/>
                </a:cubicBezTo>
                <a:close/>
                <a:moveTo>
                  <a:pt x="56257" y="58341"/>
                </a:moveTo>
                <a:lnTo>
                  <a:pt x="68759" y="58341"/>
                </a:lnTo>
                <a:cubicBezTo>
                  <a:pt x="72223" y="58341"/>
                  <a:pt x="75009" y="61127"/>
                  <a:pt x="75009" y="64591"/>
                </a:cubicBezTo>
                <a:lnTo>
                  <a:pt x="75009" y="87511"/>
                </a:lnTo>
                <a:lnTo>
                  <a:pt x="77093" y="87511"/>
                </a:lnTo>
                <a:cubicBezTo>
                  <a:pt x="80557" y="87511"/>
                  <a:pt x="83344" y="90298"/>
                  <a:pt x="83344" y="93762"/>
                </a:cubicBezTo>
                <a:cubicBezTo>
                  <a:pt x="83344" y="97226"/>
                  <a:pt x="80557" y="100013"/>
                  <a:pt x="77093" y="100013"/>
                </a:cubicBezTo>
                <a:lnTo>
                  <a:pt x="56257" y="100013"/>
                </a:lnTo>
                <a:cubicBezTo>
                  <a:pt x="52793" y="100013"/>
                  <a:pt x="50006" y="97226"/>
                  <a:pt x="50006" y="93762"/>
                </a:cubicBezTo>
                <a:cubicBezTo>
                  <a:pt x="50006" y="90298"/>
                  <a:pt x="52793" y="87511"/>
                  <a:pt x="56257" y="87511"/>
                </a:cubicBezTo>
                <a:lnTo>
                  <a:pt x="62508" y="87511"/>
                </a:lnTo>
                <a:lnTo>
                  <a:pt x="62508" y="70842"/>
                </a:lnTo>
                <a:lnTo>
                  <a:pt x="56257" y="70842"/>
                </a:lnTo>
                <a:cubicBezTo>
                  <a:pt x="52793" y="70842"/>
                  <a:pt x="50006" y="68055"/>
                  <a:pt x="50006" y="64591"/>
                </a:cubicBezTo>
                <a:cubicBezTo>
                  <a:pt x="50006" y="61127"/>
                  <a:pt x="52793" y="58341"/>
                  <a:pt x="56257" y="58341"/>
                </a:cubicBez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Text 13"/>
          <p:cNvSpPr/>
          <p:nvPr/>
        </p:nvSpPr>
        <p:spPr>
          <a:xfrm>
            <a:off x="609480" y="6286680"/>
            <a:ext cx="1126836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050" spc="-1" strike="noStrike">
                <a:solidFill>
                  <a:srgbClr val="86868b"/>
                </a:solidFill>
                <a:latin typeface="Liter"/>
                <a:ea typeface="Liter"/>
              </a:rPr>
              <a:t>Key insight:</a:t>
            </a:r>
            <a:r>
              <a:rPr b="0" lang="en-US" sz="1050" spc="-1" strike="noStrike">
                <a:solidFill>
                  <a:srgbClr val="86868b"/>
                </a:solidFill>
                <a:latin typeface="Liter"/>
                <a:ea typeface="Liter"/>
              </a:rPr>
              <a:t> This complementary approach is a fundamental technique in probability theory.</a:t>
            </a:r>
            <a:endParaRPr b="0" lang="en-HK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 0"/>
          <p:cNvSpPr/>
          <p:nvPr/>
        </p:nvSpPr>
        <p:spPr>
          <a:xfrm>
            <a:off x="380880" y="380880"/>
            <a:ext cx="1148760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265" strike="noStrike">
                <a:solidFill>
                  <a:srgbClr val="86868b"/>
                </a:solidFill>
                <a:latin typeface="Liter"/>
                <a:ea typeface="Liter"/>
              </a:rPr>
              <a:t>Step-by-Step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132" name="Text 1"/>
          <p:cNvSpPr/>
          <p:nvPr/>
        </p:nvSpPr>
        <p:spPr>
          <a:xfrm>
            <a:off x="380880" y="609480"/>
            <a:ext cx="1160172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700" spc="-1" strike="noStrike">
                <a:solidFill>
                  <a:srgbClr val="1d1d1d"/>
                </a:solidFill>
                <a:latin typeface="Liter"/>
                <a:ea typeface="Liter"/>
              </a:rPr>
              <a:t>Building the Calculation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133" name="Shape 2"/>
          <p:cNvSpPr/>
          <p:nvPr/>
        </p:nvSpPr>
        <p:spPr>
          <a:xfrm>
            <a:off x="385920" y="1576440"/>
            <a:ext cx="447120" cy="447120"/>
          </a:xfrm>
          <a:custGeom>
            <a:avLst/>
            <a:gdLst/>
            <a:ah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e5e5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Text 3"/>
          <p:cNvSpPr/>
          <p:nvPr/>
        </p:nvSpPr>
        <p:spPr>
          <a:xfrm>
            <a:off x="333360" y="1571760"/>
            <a:ext cx="53280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1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35" name="Text 4"/>
          <p:cNvSpPr/>
          <p:nvPr/>
        </p:nvSpPr>
        <p:spPr>
          <a:xfrm>
            <a:off x="1066680" y="1533600"/>
            <a:ext cx="1083024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350" spc="-1" strike="noStrike">
                <a:solidFill>
                  <a:srgbClr val="1d1d1d"/>
                </a:solidFill>
                <a:latin typeface="Liter"/>
                <a:ea typeface="Liter"/>
              </a:rPr>
              <a:t>First person enters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136" name="Text 5"/>
          <p:cNvSpPr/>
          <p:nvPr/>
        </p:nvSpPr>
        <p:spPr>
          <a:xfrm>
            <a:off x="1066680" y="1838160"/>
            <a:ext cx="108208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Probability of unique birthday: </a:t>
            </a: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365/365 = 1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37" name="Shape 6"/>
          <p:cNvSpPr/>
          <p:nvPr/>
        </p:nvSpPr>
        <p:spPr>
          <a:xfrm>
            <a:off x="385920" y="2262240"/>
            <a:ext cx="447120" cy="447120"/>
          </a:xfrm>
          <a:custGeom>
            <a:avLst/>
            <a:gdLst/>
            <a:ah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e5e5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Text 7"/>
          <p:cNvSpPr/>
          <p:nvPr/>
        </p:nvSpPr>
        <p:spPr>
          <a:xfrm>
            <a:off x="333360" y="2257560"/>
            <a:ext cx="53280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2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39" name="Text 8"/>
          <p:cNvSpPr/>
          <p:nvPr/>
        </p:nvSpPr>
        <p:spPr>
          <a:xfrm>
            <a:off x="1066680" y="2219400"/>
            <a:ext cx="1083024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350" spc="-1" strike="noStrike">
                <a:solidFill>
                  <a:srgbClr val="1d1d1d"/>
                </a:solidFill>
                <a:latin typeface="Liter"/>
                <a:ea typeface="Liter"/>
              </a:rPr>
              <a:t>Second person enters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140" name="Text 9"/>
          <p:cNvSpPr/>
          <p:nvPr/>
        </p:nvSpPr>
        <p:spPr>
          <a:xfrm>
            <a:off x="1066680" y="2523960"/>
            <a:ext cx="108208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Probability of different birthday: </a:t>
            </a: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364/365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41" name="Shape 10"/>
          <p:cNvSpPr/>
          <p:nvPr/>
        </p:nvSpPr>
        <p:spPr>
          <a:xfrm>
            <a:off x="385920" y="2948040"/>
            <a:ext cx="447120" cy="447120"/>
          </a:xfrm>
          <a:custGeom>
            <a:avLst/>
            <a:gdLst/>
            <a:ah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e5e5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Text 11"/>
          <p:cNvSpPr/>
          <p:nvPr/>
        </p:nvSpPr>
        <p:spPr>
          <a:xfrm>
            <a:off x="333360" y="2943360"/>
            <a:ext cx="53280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3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43" name="Text 12"/>
          <p:cNvSpPr/>
          <p:nvPr/>
        </p:nvSpPr>
        <p:spPr>
          <a:xfrm>
            <a:off x="1066680" y="2905200"/>
            <a:ext cx="1083024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350" spc="-1" strike="noStrike">
                <a:solidFill>
                  <a:srgbClr val="1d1d1d"/>
                </a:solidFill>
                <a:latin typeface="Liter"/>
                <a:ea typeface="Liter"/>
              </a:rPr>
              <a:t>Third person enters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144" name="Text 13"/>
          <p:cNvSpPr/>
          <p:nvPr/>
        </p:nvSpPr>
        <p:spPr>
          <a:xfrm>
            <a:off x="1066680" y="3209760"/>
            <a:ext cx="108208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Probability of different birthday: </a:t>
            </a: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363/365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45" name="Shape 14"/>
          <p:cNvSpPr/>
          <p:nvPr/>
        </p:nvSpPr>
        <p:spPr>
          <a:xfrm>
            <a:off x="385920" y="3595680"/>
            <a:ext cx="447120" cy="447120"/>
          </a:xfrm>
          <a:custGeom>
            <a:avLst/>
            <a:gdLst/>
            <a:ah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e5e5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Text 15"/>
          <p:cNvSpPr/>
          <p:nvPr/>
        </p:nvSpPr>
        <p:spPr>
          <a:xfrm>
            <a:off x="333360" y="3591000"/>
            <a:ext cx="53280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86868b"/>
                </a:solidFill>
                <a:latin typeface="Liter"/>
                <a:ea typeface="Liter"/>
              </a:rPr>
              <a:t>...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47" name="Text 16"/>
          <p:cNvSpPr/>
          <p:nvPr/>
        </p:nvSpPr>
        <p:spPr>
          <a:xfrm>
            <a:off x="1066680" y="3686040"/>
            <a:ext cx="1083024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350" spc="-1" strike="noStrike">
                <a:solidFill>
                  <a:srgbClr val="86868b"/>
                </a:solidFill>
                <a:latin typeface="Liter"/>
                <a:ea typeface="Liter"/>
              </a:rPr>
              <a:t>Pattern continues...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148" name="Shape 17"/>
          <p:cNvSpPr/>
          <p:nvPr/>
        </p:nvSpPr>
        <p:spPr>
          <a:xfrm>
            <a:off x="385920" y="4243320"/>
            <a:ext cx="447120" cy="447120"/>
          </a:xfrm>
          <a:custGeom>
            <a:avLst/>
            <a:gdLst/>
            <a:ah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0071e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Text 18"/>
          <p:cNvSpPr/>
          <p:nvPr/>
        </p:nvSpPr>
        <p:spPr>
          <a:xfrm>
            <a:off x="333360" y="4238640"/>
            <a:ext cx="53280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0071e3"/>
                </a:solidFill>
                <a:latin typeface="Liter"/>
                <a:ea typeface="Liter"/>
              </a:rPr>
              <a:t>23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50" name="Text 19"/>
          <p:cNvSpPr/>
          <p:nvPr/>
        </p:nvSpPr>
        <p:spPr>
          <a:xfrm>
            <a:off x="1066680" y="4200480"/>
            <a:ext cx="1083024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350" spc="-1" strike="noStrike">
                <a:solidFill>
                  <a:srgbClr val="1d1d1d"/>
                </a:solidFill>
                <a:latin typeface="Liter"/>
                <a:ea typeface="Liter"/>
              </a:rPr>
              <a:t>23rd person enters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151" name="Text 20"/>
          <p:cNvSpPr/>
          <p:nvPr/>
        </p:nvSpPr>
        <p:spPr>
          <a:xfrm>
            <a:off x="1066680" y="4505400"/>
            <a:ext cx="108208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Probability of different birthday: </a:t>
            </a:r>
            <a:r>
              <a:rPr b="0" lang="en-US" sz="1200" spc="-1" strike="noStrike">
                <a:solidFill>
                  <a:srgbClr val="0071e3"/>
                </a:solidFill>
                <a:latin typeface="Liter"/>
                <a:ea typeface="Liter"/>
              </a:rPr>
              <a:t>343/365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52" name="Shape 21"/>
          <p:cNvSpPr/>
          <p:nvPr/>
        </p:nvSpPr>
        <p:spPr>
          <a:xfrm>
            <a:off x="380880" y="4971960"/>
            <a:ext cx="11430360" cy="18360"/>
          </a:xfrm>
          <a:custGeom>
            <a:avLst/>
            <a:gdLst/>
            <a:ahLst/>
            <a:rect l="l" t="t" r="r" b="b"/>
            <a:pathLst>
              <a:path w="11430000" h="19050">
                <a:moveTo>
                  <a:pt x="0" y="0"/>
                </a:moveTo>
                <a:lnTo>
                  <a:pt x="11430000" y="0"/>
                </a:lnTo>
                <a:lnTo>
                  <a:pt x="11430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3" name="Text 22"/>
          <p:cNvSpPr/>
          <p:nvPr/>
        </p:nvSpPr>
        <p:spPr>
          <a:xfrm>
            <a:off x="380880" y="5210280"/>
            <a:ext cx="1149696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205" strike="noStrike">
                <a:solidFill>
                  <a:srgbClr val="86868b"/>
                </a:solidFill>
                <a:latin typeface="Liter"/>
                <a:ea typeface="Liter"/>
              </a:rPr>
              <a:t>The Complete Formula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154" name="Text 23"/>
          <p:cNvSpPr/>
          <p:nvPr/>
        </p:nvSpPr>
        <p:spPr>
          <a:xfrm>
            <a:off x="380880" y="5514840"/>
            <a:ext cx="1152576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P(no match) = (365/365) × (364/365) × (363/365) × ... × (343/365)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55" name="Text 24"/>
          <p:cNvSpPr/>
          <p:nvPr/>
        </p:nvSpPr>
        <p:spPr>
          <a:xfrm>
            <a:off x="380880" y="5896080"/>
            <a:ext cx="1151604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350" spc="-1" strike="noStrike">
                <a:solidFill>
                  <a:srgbClr val="1d1d1d"/>
                </a:solidFill>
                <a:latin typeface="Liter"/>
                <a:ea typeface="Liter"/>
              </a:rPr>
              <a:t>P(at least one match) = 1 − 0.493 = </a:t>
            </a:r>
            <a:r>
              <a:rPr b="1" lang="en-US" sz="1350" spc="-1" strike="noStrike">
                <a:solidFill>
                  <a:srgbClr val="0071e3"/>
                </a:solidFill>
                <a:latin typeface="Liter"/>
                <a:ea typeface="Liter"/>
              </a:rPr>
              <a:t>0.507 (50.7%)</a:t>
            </a:r>
            <a:endParaRPr b="0" lang="en-HK" sz="13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 0"/>
          <p:cNvSpPr/>
          <p:nvPr/>
        </p:nvSpPr>
        <p:spPr>
          <a:xfrm>
            <a:off x="380880" y="380880"/>
            <a:ext cx="1148760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265" strike="noStrike">
                <a:solidFill>
                  <a:srgbClr val="86868b"/>
                </a:solidFill>
                <a:latin typeface="Liter"/>
                <a:ea typeface="Liter"/>
              </a:rPr>
              <a:t>The Key Insight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157" name="Text 1"/>
          <p:cNvSpPr/>
          <p:nvPr/>
        </p:nvSpPr>
        <p:spPr>
          <a:xfrm>
            <a:off x="380880" y="609480"/>
            <a:ext cx="1160172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700" spc="-1" strike="noStrike">
                <a:solidFill>
                  <a:srgbClr val="1d1d1d"/>
                </a:solidFill>
                <a:latin typeface="Liter"/>
                <a:ea typeface="Liter"/>
              </a:rPr>
              <a:t>The Power of Combinations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158" name="Text 2"/>
          <p:cNvSpPr/>
          <p:nvPr/>
        </p:nvSpPr>
        <p:spPr>
          <a:xfrm>
            <a:off x="380880" y="1995480"/>
            <a:ext cx="5609880" cy="5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350" spc="-1" strike="noStrike">
                <a:solidFill>
                  <a:srgbClr val="1d1d1d"/>
                </a:solidFill>
                <a:latin typeface="Liter"/>
                <a:ea typeface="Liter"/>
              </a:rPr>
              <a:t>With 23 people, we're not making 23 comparisons. We're making </a:t>
            </a:r>
            <a:r>
              <a:rPr b="1" lang="en-US" sz="1350" spc="-1" strike="noStrike">
                <a:solidFill>
                  <a:srgbClr val="1d1d1d"/>
                </a:solidFill>
                <a:latin typeface="Liter"/>
                <a:ea typeface="Liter"/>
              </a:rPr>
              <a:t>253 comparisons</a:t>
            </a:r>
            <a:r>
              <a:rPr b="0" lang="en-US" sz="1350" spc="-1" strike="noStrike">
                <a:solidFill>
                  <a:srgbClr val="1d1d1d"/>
                </a:solidFill>
                <a:latin typeface="Liter"/>
                <a:ea typeface="Liter"/>
              </a:rPr>
              <a:t>—every possible pair of people.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159" name="Shape 3"/>
          <p:cNvSpPr/>
          <p:nvPr/>
        </p:nvSpPr>
        <p:spPr>
          <a:xfrm>
            <a:off x="385920" y="2786040"/>
            <a:ext cx="5514480" cy="1418400"/>
          </a:xfrm>
          <a:custGeom>
            <a:avLst/>
            <a:gdLst/>
            <a:ahLst/>
            <a:rect l="l" t="t" r="r" b="b"/>
            <a:pathLst>
              <a:path w="5514975" h="1419225">
                <a:moveTo>
                  <a:pt x="0" y="0"/>
                </a:moveTo>
                <a:lnTo>
                  <a:pt x="5514975" y="0"/>
                </a:lnTo>
                <a:lnTo>
                  <a:pt x="5514975" y="1419225"/>
                </a:lnTo>
                <a:lnTo>
                  <a:pt x="0" y="1419225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e5e5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0" name="Text 4"/>
          <p:cNvSpPr/>
          <p:nvPr/>
        </p:nvSpPr>
        <p:spPr>
          <a:xfrm>
            <a:off x="619200" y="3019320"/>
            <a:ext cx="511452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205" strike="noStrike">
                <a:solidFill>
                  <a:srgbClr val="86868b"/>
                </a:solidFill>
                <a:latin typeface="Liter"/>
                <a:ea typeface="Liter"/>
              </a:rPr>
              <a:t>Number of Pairs Formula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161" name="Text 5"/>
          <p:cNvSpPr/>
          <p:nvPr/>
        </p:nvSpPr>
        <p:spPr>
          <a:xfrm>
            <a:off x="619200" y="3324240"/>
            <a:ext cx="519084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1d1d1d"/>
                </a:solidFill>
                <a:latin typeface="Liter"/>
                <a:ea typeface="Liter"/>
              </a:rPr>
              <a:t>C(n,2) = n × (n−1) / 2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162" name="Text 6"/>
          <p:cNvSpPr/>
          <p:nvPr/>
        </p:nvSpPr>
        <p:spPr>
          <a:xfrm>
            <a:off x="619200" y="3743280"/>
            <a:ext cx="51242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For n = 23: 23 × 22 / 2 = 253 pairs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63" name="Shape 7"/>
          <p:cNvSpPr/>
          <p:nvPr/>
        </p:nvSpPr>
        <p:spPr>
          <a:xfrm>
            <a:off x="6296400" y="1995480"/>
            <a:ext cx="18360" cy="685080"/>
          </a:xfrm>
          <a:custGeom>
            <a:avLst/>
            <a:gdLst/>
            <a:ahLst/>
            <a:rect l="l" t="t" r="r" b="b"/>
            <a:pathLst>
              <a:path w="19050" h="685800">
                <a:moveTo>
                  <a:pt x="0" y="0"/>
                </a:moveTo>
                <a:lnTo>
                  <a:pt x="19050" y="0"/>
                </a:lnTo>
                <a:lnTo>
                  <a:pt x="1905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Text 8"/>
          <p:cNvSpPr/>
          <p:nvPr/>
        </p:nvSpPr>
        <p:spPr>
          <a:xfrm>
            <a:off x="6496560" y="1995480"/>
            <a:ext cx="43740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1d1d1d"/>
                </a:solidFill>
                <a:latin typeface="Liter"/>
                <a:ea typeface="Liter"/>
              </a:rPr>
              <a:t>10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165" name="Text 9"/>
          <p:cNvSpPr/>
          <p:nvPr/>
        </p:nvSpPr>
        <p:spPr>
          <a:xfrm>
            <a:off x="6907320" y="2095560"/>
            <a:ext cx="532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people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66" name="Text 10"/>
          <p:cNvSpPr/>
          <p:nvPr/>
        </p:nvSpPr>
        <p:spPr>
          <a:xfrm>
            <a:off x="6496560" y="2376360"/>
            <a:ext cx="542880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1d1d1d"/>
                </a:solidFill>
                <a:latin typeface="Liter"/>
                <a:ea typeface="Liter"/>
              </a:rPr>
              <a:t>45 pairs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67" name="Shape 11"/>
          <p:cNvSpPr/>
          <p:nvPr/>
        </p:nvSpPr>
        <p:spPr>
          <a:xfrm>
            <a:off x="6296400" y="2833560"/>
            <a:ext cx="18360" cy="990000"/>
          </a:xfrm>
          <a:custGeom>
            <a:avLst/>
            <a:gdLst/>
            <a:ahLst/>
            <a:rect l="l" t="t" r="r" b="b"/>
            <a:pathLst>
              <a:path w="19050" h="990600">
                <a:moveTo>
                  <a:pt x="0" y="0"/>
                </a:moveTo>
                <a:lnTo>
                  <a:pt x="19050" y="0"/>
                </a:lnTo>
                <a:lnTo>
                  <a:pt x="19050" y="990600"/>
                </a:lnTo>
                <a:lnTo>
                  <a:pt x="0" y="99060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Text 12"/>
          <p:cNvSpPr/>
          <p:nvPr/>
        </p:nvSpPr>
        <p:spPr>
          <a:xfrm>
            <a:off x="6496560" y="2833560"/>
            <a:ext cx="57096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700" spc="-1" strike="noStrike">
                <a:solidFill>
                  <a:srgbClr val="0071e3"/>
                </a:solidFill>
                <a:latin typeface="Liter"/>
                <a:ea typeface="Liter"/>
              </a:rPr>
              <a:t>23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169" name="Text 13"/>
          <p:cNvSpPr/>
          <p:nvPr/>
        </p:nvSpPr>
        <p:spPr>
          <a:xfrm>
            <a:off x="7012080" y="2943360"/>
            <a:ext cx="59940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350" spc="-1" strike="noStrike">
                <a:solidFill>
                  <a:srgbClr val="1d1d1d"/>
                </a:solidFill>
                <a:latin typeface="Liter"/>
                <a:ea typeface="Liter"/>
              </a:rPr>
              <a:t>people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170" name="Text 14"/>
          <p:cNvSpPr/>
          <p:nvPr/>
        </p:nvSpPr>
        <p:spPr>
          <a:xfrm>
            <a:off x="6496560" y="3252960"/>
            <a:ext cx="545760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0071e3"/>
                </a:solidFill>
                <a:latin typeface="Liter"/>
                <a:ea typeface="Liter"/>
              </a:rPr>
              <a:t>253 pairs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171" name="Text 15"/>
          <p:cNvSpPr/>
          <p:nvPr/>
        </p:nvSpPr>
        <p:spPr>
          <a:xfrm>
            <a:off x="6496560" y="3633840"/>
            <a:ext cx="53812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6868b"/>
                </a:solidFill>
                <a:latin typeface="Liter"/>
                <a:ea typeface="Liter"/>
              </a:rPr>
              <a:t>More than half the days in a year!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172" name="Shape 16"/>
          <p:cNvSpPr/>
          <p:nvPr/>
        </p:nvSpPr>
        <p:spPr>
          <a:xfrm>
            <a:off x="6296400" y="3976560"/>
            <a:ext cx="18360" cy="685080"/>
          </a:xfrm>
          <a:custGeom>
            <a:avLst/>
            <a:gdLst/>
            <a:ahLst/>
            <a:rect l="l" t="t" r="r" b="b"/>
            <a:pathLst>
              <a:path w="19050" h="685800">
                <a:moveTo>
                  <a:pt x="0" y="0"/>
                </a:moveTo>
                <a:lnTo>
                  <a:pt x="19050" y="0"/>
                </a:lnTo>
                <a:lnTo>
                  <a:pt x="1905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Text 17"/>
          <p:cNvSpPr/>
          <p:nvPr/>
        </p:nvSpPr>
        <p:spPr>
          <a:xfrm>
            <a:off x="6496560" y="3976560"/>
            <a:ext cx="48492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1d1d1d"/>
                </a:solidFill>
                <a:latin typeface="Liter"/>
                <a:ea typeface="Liter"/>
              </a:rPr>
              <a:t>50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174" name="Text 18"/>
          <p:cNvSpPr/>
          <p:nvPr/>
        </p:nvSpPr>
        <p:spPr>
          <a:xfrm>
            <a:off x="6957720" y="4076640"/>
            <a:ext cx="532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people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75" name="Text 19"/>
          <p:cNvSpPr/>
          <p:nvPr/>
        </p:nvSpPr>
        <p:spPr>
          <a:xfrm>
            <a:off x="6496560" y="4357800"/>
            <a:ext cx="542880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1d1d1d"/>
                </a:solidFill>
                <a:latin typeface="Liter"/>
                <a:ea typeface="Liter"/>
              </a:rPr>
              <a:t>1,225 pairs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76" name="Shape 20"/>
          <p:cNvSpPr/>
          <p:nvPr/>
        </p:nvSpPr>
        <p:spPr>
          <a:xfrm>
            <a:off x="380880" y="4971960"/>
            <a:ext cx="11430360" cy="8640"/>
          </a:xfrm>
          <a:custGeom>
            <a:avLst/>
            <a:gdLst/>
            <a:ah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Shape 21"/>
          <p:cNvSpPr/>
          <p:nvPr/>
        </p:nvSpPr>
        <p:spPr>
          <a:xfrm>
            <a:off x="390600" y="5253120"/>
            <a:ext cx="170640" cy="151560"/>
          </a:xfrm>
          <a:custGeom>
            <a:avLst/>
            <a:gdLst/>
            <a:ahLst/>
            <a:rect l="l" t="t" r="r" b="b"/>
            <a:pathLst>
              <a:path w="171450" h="152400">
                <a:moveTo>
                  <a:pt x="114300" y="47625"/>
                </a:moveTo>
                <a:cubicBezTo>
                  <a:pt x="109031" y="47625"/>
                  <a:pt x="104775" y="43369"/>
                  <a:pt x="104775" y="38100"/>
                </a:cubicBezTo>
                <a:cubicBezTo>
                  <a:pt x="104775" y="32831"/>
                  <a:pt x="109031" y="28575"/>
                  <a:pt x="114300" y="28575"/>
                </a:cubicBezTo>
                <a:lnTo>
                  <a:pt x="161925" y="28575"/>
                </a:lnTo>
                <a:cubicBezTo>
                  <a:pt x="167194" y="28575"/>
                  <a:pt x="171450" y="32831"/>
                  <a:pt x="171450" y="38100"/>
                </a:cubicBezTo>
                <a:lnTo>
                  <a:pt x="171450" y="85725"/>
                </a:lnTo>
                <a:cubicBezTo>
                  <a:pt x="171450" y="90994"/>
                  <a:pt x="167194" y="95250"/>
                  <a:pt x="161925" y="95250"/>
                </a:cubicBezTo>
                <a:cubicBezTo>
                  <a:pt x="156656" y="95250"/>
                  <a:pt x="152400" y="90994"/>
                  <a:pt x="152400" y="85725"/>
                </a:cubicBezTo>
                <a:lnTo>
                  <a:pt x="152400" y="61109"/>
                </a:lnTo>
                <a:lnTo>
                  <a:pt x="101977" y="111532"/>
                </a:lnTo>
                <a:cubicBezTo>
                  <a:pt x="98256" y="115253"/>
                  <a:pt x="92214" y="115253"/>
                  <a:pt x="88493" y="111532"/>
                </a:cubicBezTo>
                <a:lnTo>
                  <a:pt x="57150" y="80159"/>
                </a:lnTo>
                <a:lnTo>
                  <a:pt x="16252" y="121027"/>
                </a:lnTo>
                <a:cubicBezTo>
                  <a:pt x="12531" y="124748"/>
                  <a:pt x="6489" y="124748"/>
                  <a:pt x="2768" y="121027"/>
                </a:cubicBezTo>
                <a:cubicBezTo>
                  <a:pt x="-952" y="117306"/>
                  <a:pt x="-952" y="111264"/>
                  <a:pt x="2768" y="107543"/>
                </a:cubicBezTo>
                <a:lnTo>
                  <a:pt x="50393" y="59918"/>
                </a:lnTo>
                <a:cubicBezTo>
                  <a:pt x="54114" y="56198"/>
                  <a:pt x="60156" y="56198"/>
                  <a:pt x="63877" y="59918"/>
                </a:cubicBezTo>
                <a:lnTo>
                  <a:pt x="95250" y="91291"/>
                </a:lnTo>
                <a:lnTo>
                  <a:pt x="138916" y="47625"/>
                </a:lnTo>
                <a:lnTo>
                  <a:pt x="114300" y="47625"/>
                </a:ln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Text 22"/>
          <p:cNvSpPr/>
          <p:nvPr/>
        </p:nvSpPr>
        <p:spPr>
          <a:xfrm>
            <a:off x="628560" y="5205240"/>
            <a:ext cx="1125900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1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The crucial insight:</a:t>
            </a: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 While the probability for any single pair is low (1/365 ≈ 0.27%), having 253 chances makes a match likely. This is why combinations grow quadratically (n²), not linearly.</a:t>
            </a:r>
            <a:endParaRPr b="0" lang="en-HK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hape 0"/>
          <p:cNvSpPr/>
          <p:nvPr/>
        </p:nvSpPr>
        <p:spPr>
          <a:xfrm>
            <a:off x="380880" y="1850760"/>
            <a:ext cx="761400" cy="18360"/>
          </a:xfrm>
          <a:custGeom>
            <a:avLst/>
            <a:gdLst/>
            <a:ahLst/>
            <a:rect l="l" t="t" r="r" b="b"/>
            <a:pathLst>
              <a:path w="762000" h="19050">
                <a:moveTo>
                  <a:pt x="0" y="0"/>
                </a:moveTo>
                <a:lnTo>
                  <a:pt x="762000" y="0"/>
                </a:lnTo>
                <a:lnTo>
                  <a:pt x="762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0" name="Text 1"/>
          <p:cNvSpPr/>
          <p:nvPr/>
        </p:nvSpPr>
        <p:spPr>
          <a:xfrm>
            <a:off x="380880" y="2174760"/>
            <a:ext cx="915336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310" strike="noStrike">
                <a:solidFill>
                  <a:srgbClr val="86868b"/>
                </a:solidFill>
                <a:latin typeface="Liter"/>
                <a:ea typeface="Liter"/>
              </a:rPr>
              <a:t>Chapter Three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181" name="Text 2"/>
          <p:cNvSpPr/>
          <p:nvPr/>
        </p:nvSpPr>
        <p:spPr>
          <a:xfrm>
            <a:off x="380880" y="2593800"/>
            <a:ext cx="9543960" cy="173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7200" spc="-1" strike="noStrike">
                <a:solidFill>
                  <a:srgbClr val="1d1d1d"/>
                </a:solidFill>
                <a:latin typeface="Liter"/>
                <a:ea typeface="Liter"/>
              </a:rPr>
              <a:t>Why Our</a:t>
            </a:r>
            <a:endParaRPr b="0" lang="en-HK" sz="7200" spc="-1" strike="noStrike">
              <a:latin typeface="Arial"/>
            </a:endParaRPr>
          </a:p>
          <a:p>
            <a:pPr>
              <a:lnSpc>
                <a:spcPct val="80000"/>
              </a:lnSpc>
              <a:buNone/>
            </a:pPr>
            <a:r>
              <a:rPr b="0" lang="en-US" sz="7200" spc="-1" strike="noStrike">
                <a:solidFill>
                  <a:srgbClr val="1d1d1d"/>
                </a:solidFill>
                <a:latin typeface="Liter"/>
                <a:ea typeface="Liter"/>
              </a:rPr>
              <a:t>Intuition Fails</a:t>
            </a:r>
            <a:endParaRPr b="0" lang="en-HK" sz="7200" spc="-1" strike="noStrike">
              <a:latin typeface="Arial"/>
            </a:endParaRPr>
          </a:p>
        </p:txBody>
      </p:sp>
      <p:sp>
        <p:nvSpPr>
          <p:cNvPr id="182" name="Text 3"/>
          <p:cNvSpPr/>
          <p:nvPr/>
        </p:nvSpPr>
        <p:spPr>
          <a:xfrm>
            <a:off x="380880" y="4635720"/>
            <a:ext cx="56005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800" spc="-1" strike="noStrike">
                <a:solidFill>
                  <a:srgbClr val="86868b"/>
                </a:solidFill>
                <a:latin typeface="Liter"/>
                <a:ea typeface="Liter"/>
              </a:rPr>
              <a:t>Understanding the psychological traps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83" name="Text 4"/>
          <p:cNvSpPr/>
          <p:nvPr/>
        </p:nvSpPr>
        <p:spPr>
          <a:xfrm>
            <a:off x="9472320" y="2476440"/>
            <a:ext cx="3295440" cy="19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15000" spc="-1" strike="noStrike">
                <a:solidFill>
                  <a:srgbClr val="e5e5e5"/>
                </a:solidFill>
                <a:latin typeface="Liter"/>
                <a:ea typeface="Liter"/>
              </a:rPr>
              <a:t>03</a:t>
            </a:r>
            <a:endParaRPr b="0" lang="en-HK" sz="15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ext 0"/>
          <p:cNvSpPr/>
          <p:nvPr/>
        </p:nvSpPr>
        <p:spPr>
          <a:xfrm>
            <a:off x="380880" y="380880"/>
            <a:ext cx="1148760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265" strike="noStrike">
                <a:solidFill>
                  <a:srgbClr val="86868b"/>
                </a:solidFill>
                <a:latin typeface="Liter"/>
                <a:ea typeface="Liter"/>
              </a:rPr>
              <a:t>Cognitive Bias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185" name="Text 1"/>
          <p:cNvSpPr/>
          <p:nvPr/>
        </p:nvSpPr>
        <p:spPr>
          <a:xfrm>
            <a:off x="380880" y="609480"/>
            <a:ext cx="1160172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700" spc="-1" strike="noStrike">
                <a:solidFill>
                  <a:srgbClr val="1d1d1d"/>
                </a:solidFill>
                <a:latin typeface="Liter"/>
                <a:ea typeface="Liter"/>
              </a:rPr>
              <a:t>The Self-Reference Trap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186" name="Text 2"/>
          <p:cNvSpPr/>
          <p:nvPr/>
        </p:nvSpPr>
        <p:spPr>
          <a:xfrm>
            <a:off x="380880" y="2019240"/>
            <a:ext cx="8629560" cy="61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We naturally think about </a:t>
            </a:r>
            <a:r>
              <a:rPr b="1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"someone sharing MY birthday"</a:t>
            </a: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 rather than </a:t>
            </a:r>
            <a:r>
              <a:rPr b="1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"any two people sharing a birthday."</a:t>
            </a: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 This subtle shift in perspective completely changes the mathematics.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87" name="Shape 3"/>
          <p:cNvSpPr/>
          <p:nvPr/>
        </p:nvSpPr>
        <p:spPr>
          <a:xfrm>
            <a:off x="380880" y="3029040"/>
            <a:ext cx="5524200" cy="18360"/>
          </a:xfrm>
          <a:custGeom>
            <a:avLst/>
            <a:gdLst/>
            <a:ahLst/>
            <a:rect l="l" t="t" r="r" b="b"/>
            <a:pathLst>
              <a:path w="5524500" h="19050">
                <a:moveTo>
                  <a:pt x="0" y="0"/>
                </a:moveTo>
                <a:lnTo>
                  <a:pt x="5524500" y="0"/>
                </a:lnTo>
                <a:lnTo>
                  <a:pt x="55245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8" name="Text 4"/>
          <p:cNvSpPr/>
          <p:nvPr/>
        </p:nvSpPr>
        <p:spPr>
          <a:xfrm>
            <a:off x="380880" y="3267000"/>
            <a:ext cx="559080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205" strike="noStrike">
                <a:solidFill>
                  <a:srgbClr val="86868b"/>
                </a:solidFill>
                <a:latin typeface="Liter"/>
                <a:ea typeface="Liter"/>
              </a:rPr>
              <a:t>Scenario A: Matching YOUR Birthday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189" name="Text 5"/>
          <p:cNvSpPr/>
          <p:nvPr/>
        </p:nvSpPr>
        <p:spPr>
          <a:xfrm>
            <a:off x="380880" y="3610080"/>
            <a:ext cx="57528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3600" spc="-1" strike="noStrike">
                <a:solidFill>
                  <a:srgbClr val="86868b"/>
                </a:solidFill>
                <a:latin typeface="Liter"/>
                <a:ea typeface="Liter"/>
              </a:rPr>
              <a:t>253 people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190" name="Text 6"/>
          <p:cNvSpPr/>
          <p:nvPr/>
        </p:nvSpPr>
        <p:spPr>
          <a:xfrm>
            <a:off x="380880" y="4143240"/>
            <a:ext cx="56005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needed for 50% probability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91" name="Text 7"/>
          <p:cNvSpPr/>
          <p:nvPr/>
        </p:nvSpPr>
        <p:spPr>
          <a:xfrm>
            <a:off x="380880" y="4524480"/>
            <a:ext cx="5600520" cy="2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Each person has a 1/365 chance of matching your specific birthday.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92" name="Text 8"/>
          <p:cNvSpPr/>
          <p:nvPr/>
        </p:nvSpPr>
        <p:spPr>
          <a:xfrm>
            <a:off x="380880" y="4886280"/>
            <a:ext cx="5600520" cy="2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This is what our intuition expects—and it feels right.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93" name="Shape 9"/>
          <p:cNvSpPr/>
          <p:nvPr/>
        </p:nvSpPr>
        <p:spPr>
          <a:xfrm>
            <a:off x="6287040" y="3029040"/>
            <a:ext cx="5524200" cy="18360"/>
          </a:xfrm>
          <a:custGeom>
            <a:avLst/>
            <a:gdLst/>
            <a:ahLst/>
            <a:rect l="l" t="t" r="r" b="b"/>
            <a:pathLst>
              <a:path w="5524500" h="19050">
                <a:moveTo>
                  <a:pt x="0" y="0"/>
                </a:moveTo>
                <a:lnTo>
                  <a:pt x="5524500" y="0"/>
                </a:lnTo>
                <a:lnTo>
                  <a:pt x="55245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4" name="Text 10"/>
          <p:cNvSpPr/>
          <p:nvPr/>
        </p:nvSpPr>
        <p:spPr>
          <a:xfrm>
            <a:off x="6287040" y="3267000"/>
            <a:ext cx="559080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205" strike="noStrike">
                <a:solidFill>
                  <a:srgbClr val="0071e3"/>
                </a:solidFill>
                <a:latin typeface="Liter"/>
                <a:ea typeface="Liter"/>
              </a:rPr>
              <a:t>Scenario B: Any Two People Match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195" name="Text 11"/>
          <p:cNvSpPr/>
          <p:nvPr/>
        </p:nvSpPr>
        <p:spPr>
          <a:xfrm>
            <a:off x="6287040" y="3610080"/>
            <a:ext cx="57528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3600" spc="-1" strike="noStrike">
                <a:solidFill>
                  <a:srgbClr val="0071e3"/>
                </a:solidFill>
                <a:latin typeface="Liter"/>
                <a:ea typeface="Liter"/>
              </a:rPr>
              <a:t>23 people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196" name="Text 12"/>
          <p:cNvSpPr/>
          <p:nvPr/>
        </p:nvSpPr>
        <p:spPr>
          <a:xfrm>
            <a:off x="6287040" y="4143240"/>
            <a:ext cx="56005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needed for 50% probability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97" name="Text 13"/>
          <p:cNvSpPr/>
          <p:nvPr/>
        </p:nvSpPr>
        <p:spPr>
          <a:xfrm>
            <a:off x="6287040" y="4524480"/>
            <a:ext cx="5600520" cy="2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With 23 people, there are 253 unique pairs, each a potential match.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98" name="Text 14"/>
          <p:cNvSpPr/>
          <p:nvPr/>
        </p:nvSpPr>
        <p:spPr>
          <a:xfrm>
            <a:off x="6287040" y="4886280"/>
            <a:ext cx="5600520" cy="2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This is the actual birthday paradox—and it feels wrong.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99" name="Shape 15"/>
          <p:cNvSpPr/>
          <p:nvPr/>
        </p:nvSpPr>
        <p:spPr>
          <a:xfrm>
            <a:off x="380880" y="6091200"/>
            <a:ext cx="11430360" cy="8640"/>
          </a:xfrm>
          <a:custGeom>
            <a:avLst/>
            <a:gdLst/>
            <a:ah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0" name="Shape 16"/>
          <p:cNvSpPr/>
          <p:nvPr/>
        </p:nvSpPr>
        <p:spPr>
          <a:xfrm>
            <a:off x="399960" y="6286680"/>
            <a:ext cx="151560" cy="15156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1" name="Text 17"/>
          <p:cNvSpPr/>
          <p:nvPr/>
        </p:nvSpPr>
        <p:spPr>
          <a:xfrm>
            <a:off x="628560" y="6248520"/>
            <a:ext cx="11259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The psychological trap:</a:t>
            </a: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 We're wired to think about ourselves as the reference point, not the entire group's pairwise combinations.</a:t>
            </a:r>
            <a:endParaRPr b="0" lang="en-HK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Text 0"/>
          <p:cNvSpPr/>
          <p:nvPr/>
        </p:nvSpPr>
        <p:spPr>
          <a:xfrm>
            <a:off x="380880" y="380880"/>
            <a:ext cx="1148760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265" strike="noStrike">
                <a:solidFill>
                  <a:srgbClr val="86868b"/>
                </a:solidFill>
                <a:latin typeface="Liter"/>
                <a:ea typeface="Liter"/>
              </a:rPr>
              <a:t>Cognitive Limitation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203" name="Text 1"/>
          <p:cNvSpPr/>
          <p:nvPr/>
        </p:nvSpPr>
        <p:spPr>
          <a:xfrm>
            <a:off x="380880" y="609480"/>
            <a:ext cx="1160172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700" spc="-1" strike="noStrike">
                <a:solidFill>
                  <a:srgbClr val="1d1d1d"/>
                </a:solidFill>
                <a:latin typeface="Liter"/>
                <a:ea typeface="Liter"/>
              </a:rPr>
              <a:t>Exponential Growth vs. Linear Thinking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04" name="Text 2"/>
          <p:cNvSpPr/>
          <p:nvPr/>
        </p:nvSpPr>
        <p:spPr>
          <a:xfrm>
            <a:off x="380880" y="1962000"/>
            <a:ext cx="8629560" cy="61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Human brains struggle with </a:t>
            </a:r>
            <a:r>
              <a:rPr b="1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exponential growth</a:t>
            </a: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. We expect probabilities to scale linearly, but combinations grow quadratically (n²).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05" name="Text 3"/>
          <p:cNvSpPr/>
          <p:nvPr/>
        </p:nvSpPr>
        <p:spPr>
          <a:xfrm>
            <a:off x="380880" y="2886120"/>
            <a:ext cx="559080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205" strike="noStrike">
                <a:solidFill>
                  <a:srgbClr val="86868b"/>
                </a:solidFill>
                <a:latin typeface="Liter"/>
                <a:ea typeface="Liter"/>
              </a:rPr>
              <a:t>How We Think (Linear)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06" name="Text 4"/>
          <p:cNvSpPr/>
          <p:nvPr/>
        </p:nvSpPr>
        <p:spPr>
          <a:xfrm>
            <a:off x="380880" y="3228840"/>
            <a:ext cx="990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10 people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07" name="Shape 5"/>
          <p:cNvSpPr/>
          <p:nvPr/>
        </p:nvSpPr>
        <p:spPr>
          <a:xfrm>
            <a:off x="1447920" y="3305160"/>
            <a:ext cx="4457520" cy="75600"/>
          </a:xfrm>
          <a:custGeom>
            <a:avLst/>
            <a:gdLst/>
            <a:ahLst/>
            <a:rect l="l" t="t" r="r" b="b"/>
            <a:pathLst>
              <a:path w="4457700" h="76200">
                <a:moveTo>
                  <a:pt x="0" y="0"/>
                </a:moveTo>
                <a:lnTo>
                  <a:pt x="4457700" y="0"/>
                </a:lnTo>
                <a:lnTo>
                  <a:pt x="44577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8" name="Shape 6"/>
          <p:cNvSpPr/>
          <p:nvPr/>
        </p:nvSpPr>
        <p:spPr>
          <a:xfrm>
            <a:off x="1447920" y="3305160"/>
            <a:ext cx="894600" cy="75600"/>
          </a:xfrm>
          <a:custGeom>
            <a:avLst/>
            <a:gdLst/>
            <a:ahLst/>
            <a:rect l="l" t="t" r="r" b="b"/>
            <a:pathLst>
              <a:path w="895350" h="76200">
                <a:moveTo>
                  <a:pt x="0" y="0"/>
                </a:moveTo>
                <a:lnTo>
                  <a:pt x="895350" y="0"/>
                </a:lnTo>
                <a:lnTo>
                  <a:pt x="89535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8686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9" name="Text 7"/>
          <p:cNvSpPr/>
          <p:nvPr/>
        </p:nvSpPr>
        <p:spPr>
          <a:xfrm>
            <a:off x="380880" y="3571920"/>
            <a:ext cx="990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20 people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10" name="Shape 8"/>
          <p:cNvSpPr/>
          <p:nvPr/>
        </p:nvSpPr>
        <p:spPr>
          <a:xfrm>
            <a:off x="1447920" y="3648240"/>
            <a:ext cx="4457520" cy="75600"/>
          </a:xfrm>
          <a:custGeom>
            <a:avLst/>
            <a:gdLst/>
            <a:ahLst/>
            <a:rect l="l" t="t" r="r" b="b"/>
            <a:pathLst>
              <a:path w="4457700" h="76200">
                <a:moveTo>
                  <a:pt x="0" y="0"/>
                </a:moveTo>
                <a:lnTo>
                  <a:pt x="4457700" y="0"/>
                </a:lnTo>
                <a:lnTo>
                  <a:pt x="44577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1" name="Shape 9"/>
          <p:cNvSpPr/>
          <p:nvPr/>
        </p:nvSpPr>
        <p:spPr>
          <a:xfrm>
            <a:off x="1447920" y="3648240"/>
            <a:ext cx="1780560" cy="75600"/>
          </a:xfrm>
          <a:custGeom>
            <a:avLst/>
            <a:gdLst/>
            <a:ahLst/>
            <a:rect l="l" t="t" r="r" b="b"/>
            <a:pathLst>
              <a:path w="1781175" h="76200">
                <a:moveTo>
                  <a:pt x="0" y="0"/>
                </a:moveTo>
                <a:lnTo>
                  <a:pt x="1781175" y="0"/>
                </a:lnTo>
                <a:lnTo>
                  <a:pt x="1781175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8686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Text 10"/>
          <p:cNvSpPr/>
          <p:nvPr/>
        </p:nvSpPr>
        <p:spPr>
          <a:xfrm>
            <a:off x="380880" y="3914640"/>
            <a:ext cx="990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30 people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13" name="Shape 11"/>
          <p:cNvSpPr/>
          <p:nvPr/>
        </p:nvSpPr>
        <p:spPr>
          <a:xfrm>
            <a:off x="1447920" y="3990960"/>
            <a:ext cx="4457520" cy="75600"/>
          </a:xfrm>
          <a:custGeom>
            <a:avLst/>
            <a:gdLst/>
            <a:ahLst/>
            <a:rect l="l" t="t" r="r" b="b"/>
            <a:pathLst>
              <a:path w="4457700" h="76200">
                <a:moveTo>
                  <a:pt x="0" y="0"/>
                </a:moveTo>
                <a:lnTo>
                  <a:pt x="4457700" y="0"/>
                </a:lnTo>
                <a:lnTo>
                  <a:pt x="44577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4" name="Shape 12"/>
          <p:cNvSpPr/>
          <p:nvPr/>
        </p:nvSpPr>
        <p:spPr>
          <a:xfrm>
            <a:off x="1447920" y="3990960"/>
            <a:ext cx="2676240" cy="75600"/>
          </a:xfrm>
          <a:custGeom>
            <a:avLst/>
            <a:gdLst/>
            <a:ahLst/>
            <a:rect l="l" t="t" r="r" b="b"/>
            <a:pathLst>
              <a:path w="2676525" h="76200">
                <a:moveTo>
                  <a:pt x="0" y="0"/>
                </a:moveTo>
                <a:lnTo>
                  <a:pt x="2676525" y="0"/>
                </a:lnTo>
                <a:lnTo>
                  <a:pt x="2676525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8686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5" name="Text 13"/>
          <p:cNvSpPr/>
          <p:nvPr/>
        </p:nvSpPr>
        <p:spPr>
          <a:xfrm>
            <a:off x="380880" y="4295880"/>
            <a:ext cx="5600520" cy="2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Our intuition expects probability to increase proportionally with group size.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16" name="Text 14"/>
          <p:cNvSpPr/>
          <p:nvPr/>
        </p:nvSpPr>
        <p:spPr>
          <a:xfrm>
            <a:off x="6287040" y="2886120"/>
            <a:ext cx="559080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205" strike="noStrike">
                <a:solidFill>
                  <a:srgbClr val="0071e3"/>
                </a:solidFill>
                <a:latin typeface="Liter"/>
                <a:ea typeface="Liter"/>
              </a:rPr>
              <a:t>How It Actually Works (Quadratic)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17" name="Text 15"/>
          <p:cNvSpPr/>
          <p:nvPr/>
        </p:nvSpPr>
        <p:spPr>
          <a:xfrm>
            <a:off x="6287040" y="3228840"/>
            <a:ext cx="990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10 people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18" name="Shape 16"/>
          <p:cNvSpPr/>
          <p:nvPr/>
        </p:nvSpPr>
        <p:spPr>
          <a:xfrm>
            <a:off x="7353720" y="3305160"/>
            <a:ext cx="3695400" cy="75600"/>
          </a:xfrm>
          <a:custGeom>
            <a:avLst/>
            <a:gdLst/>
            <a:ahLst/>
            <a:rect l="l" t="t" r="r" b="b"/>
            <a:pathLst>
              <a:path w="3695700" h="76200">
                <a:moveTo>
                  <a:pt x="0" y="0"/>
                </a:moveTo>
                <a:lnTo>
                  <a:pt x="3695700" y="0"/>
                </a:lnTo>
                <a:lnTo>
                  <a:pt x="36957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9" name="Shape 17"/>
          <p:cNvSpPr/>
          <p:nvPr/>
        </p:nvSpPr>
        <p:spPr>
          <a:xfrm>
            <a:off x="7353720" y="3305160"/>
            <a:ext cx="447120" cy="75600"/>
          </a:xfrm>
          <a:custGeom>
            <a:avLst/>
            <a:gdLst/>
            <a:ahLst/>
            <a:rect l="l" t="t" r="r" b="b"/>
            <a:pathLst>
              <a:path w="447675" h="76200">
                <a:moveTo>
                  <a:pt x="0" y="0"/>
                </a:moveTo>
                <a:lnTo>
                  <a:pt x="447675" y="0"/>
                </a:lnTo>
                <a:lnTo>
                  <a:pt x="447675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0" name="Text 18"/>
          <p:cNvSpPr/>
          <p:nvPr/>
        </p:nvSpPr>
        <p:spPr>
          <a:xfrm>
            <a:off x="11202120" y="3247920"/>
            <a:ext cx="67572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6868b"/>
                </a:solidFill>
                <a:latin typeface="Liter"/>
                <a:ea typeface="Liter"/>
              </a:rPr>
              <a:t>45 pairs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21" name="Text 19"/>
          <p:cNvSpPr/>
          <p:nvPr/>
        </p:nvSpPr>
        <p:spPr>
          <a:xfrm>
            <a:off x="6287040" y="3571920"/>
            <a:ext cx="990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23 people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22" name="Shape 20"/>
          <p:cNvSpPr/>
          <p:nvPr/>
        </p:nvSpPr>
        <p:spPr>
          <a:xfrm>
            <a:off x="7353720" y="3648240"/>
            <a:ext cx="3695400" cy="75600"/>
          </a:xfrm>
          <a:custGeom>
            <a:avLst/>
            <a:gdLst/>
            <a:ahLst/>
            <a:rect l="l" t="t" r="r" b="b"/>
            <a:pathLst>
              <a:path w="3695700" h="76200">
                <a:moveTo>
                  <a:pt x="0" y="0"/>
                </a:moveTo>
                <a:lnTo>
                  <a:pt x="3695700" y="0"/>
                </a:lnTo>
                <a:lnTo>
                  <a:pt x="36957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3" name="Shape 21"/>
          <p:cNvSpPr/>
          <p:nvPr/>
        </p:nvSpPr>
        <p:spPr>
          <a:xfrm>
            <a:off x="7353720" y="3648240"/>
            <a:ext cx="1847160" cy="75600"/>
          </a:xfrm>
          <a:custGeom>
            <a:avLst/>
            <a:gdLst/>
            <a:ahLst/>
            <a:rect l="l" t="t" r="r" b="b"/>
            <a:pathLst>
              <a:path w="1847850" h="76200">
                <a:moveTo>
                  <a:pt x="0" y="0"/>
                </a:moveTo>
                <a:lnTo>
                  <a:pt x="1847850" y="0"/>
                </a:lnTo>
                <a:lnTo>
                  <a:pt x="184785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4" name="Text 22"/>
          <p:cNvSpPr/>
          <p:nvPr/>
        </p:nvSpPr>
        <p:spPr>
          <a:xfrm>
            <a:off x="11202120" y="3591000"/>
            <a:ext cx="67572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6868b"/>
                </a:solidFill>
                <a:latin typeface="Liter"/>
                <a:ea typeface="Liter"/>
              </a:rPr>
              <a:t>253 pairs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25" name="Text 23"/>
          <p:cNvSpPr/>
          <p:nvPr/>
        </p:nvSpPr>
        <p:spPr>
          <a:xfrm>
            <a:off x="6287040" y="3990960"/>
            <a:ext cx="990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50 people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26" name="Shape 24"/>
          <p:cNvSpPr/>
          <p:nvPr/>
        </p:nvSpPr>
        <p:spPr>
          <a:xfrm>
            <a:off x="7353720" y="4067280"/>
            <a:ext cx="3695400" cy="75600"/>
          </a:xfrm>
          <a:custGeom>
            <a:avLst/>
            <a:gdLst/>
            <a:ahLst/>
            <a:rect l="l" t="t" r="r" b="b"/>
            <a:pathLst>
              <a:path w="3695700" h="76200">
                <a:moveTo>
                  <a:pt x="0" y="0"/>
                </a:moveTo>
                <a:lnTo>
                  <a:pt x="3695700" y="0"/>
                </a:lnTo>
                <a:lnTo>
                  <a:pt x="36957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7" name="Shape 25"/>
          <p:cNvSpPr/>
          <p:nvPr/>
        </p:nvSpPr>
        <p:spPr>
          <a:xfrm>
            <a:off x="7353720" y="4067280"/>
            <a:ext cx="3580920" cy="75600"/>
          </a:xfrm>
          <a:custGeom>
            <a:avLst/>
            <a:gdLst/>
            <a:ahLst/>
            <a:rect l="l" t="t" r="r" b="b"/>
            <a:pathLst>
              <a:path w="3581400" h="76200">
                <a:moveTo>
                  <a:pt x="0" y="0"/>
                </a:moveTo>
                <a:lnTo>
                  <a:pt x="3581400" y="0"/>
                </a:lnTo>
                <a:lnTo>
                  <a:pt x="35814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8" name="Text 26"/>
          <p:cNvSpPr/>
          <p:nvPr/>
        </p:nvSpPr>
        <p:spPr>
          <a:xfrm>
            <a:off x="11202120" y="3914640"/>
            <a:ext cx="67572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6868b"/>
                </a:solidFill>
                <a:latin typeface="Liter"/>
                <a:ea typeface="Liter"/>
              </a:rPr>
              <a:t>1,225 pairs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29" name="Text 27"/>
          <p:cNvSpPr/>
          <p:nvPr/>
        </p:nvSpPr>
        <p:spPr>
          <a:xfrm>
            <a:off x="6287040" y="4448160"/>
            <a:ext cx="5600520" cy="2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The number of pairs explodes quadratically, making matches inevitable.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30" name="Shape 28"/>
          <p:cNvSpPr/>
          <p:nvPr/>
        </p:nvSpPr>
        <p:spPr>
          <a:xfrm>
            <a:off x="380880" y="5005440"/>
            <a:ext cx="11430360" cy="8640"/>
          </a:xfrm>
          <a:custGeom>
            <a:avLst/>
            <a:gdLst/>
            <a:ah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1" name="Shape 29"/>
          <p:cNvSpPr/>
          <p:nvPr/>
        </p:nvSpPr>
        <p:spPr>
          <a:xfrm>
            <a:off x="399960" y="5286240"/>
            <a:ext cx="151560" cy="15156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2" name="Text 30"/>
          <p:cNvSpPr/>
          <p:nvPr/>
        </p:nvSpPr>
        <p:spPr>
          <a:xfrm>
            <a:off x="628560" y="5238720"/>
            <a:ext cx="1125900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1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The compounding effect:</a:t>
            </a: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 Each new person doesn't just add one comparison—they add comparisons with everyone already in the room. This is why the probability curve rises so steeply.</a:t>
            </a:r>
            <a:endParaRPr b="0" lang="en-HK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Shape 0"/>
          <p:cNvSpPr/>
          <p:nvPr/>
        </p:nvSpPr>
        <p:spPr>
          <a:xfrm>
            <a:off x="380880" y="1850760"/>
            <a:ext cx="761400" cy="18360"/>
          </a:xfrm>
          <a:custGeom>
            <a:avLst/>
            <a:gdLst/>
            <a:ahLst/>
            <a:rect l="l" t="t" r="r" b="b"/>
            <a:pathLst>
              <a:path w="762000" h="19050">
                <a:moveTo>
                  <a:pt x="0" y="0"/>
                </a:moveTo>
                <a:lnTo>
                  <a:pt x="762000" y="0"/>
                </a:lnTo>
                <a:lnTo>
                  <a:pt x="762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4" name="Text 1"/>
          <p:cNvSpPr/>
          <p:nvPr/>
        </p:nvSpPr>
        <p:spPr>
          <a:xfrm>
            <a:off x="380880" y="2174760"/>
            <a:ext cx="91630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310" strike="noStrike">
                <a:solidFill>
                  <a:srgbClr val="86868b"/>
                </a:solidFill>
                <a:latin typeface="Liter"/>
                <a:ea typeface="Liter"/>
              </a:rPr>
              <a:t>Chapter Four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35" name="Text 2"/>
          <p:cNvSpPr/>
          <p:nvPr/>
        </p:nvSpPr>
        <p:spPr>
          <a:xfrm>
            <a:off x="380880" y="2593800"/>
            <a:ext cx="9553680" cy="173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7200" spc="-1" strike="noStrike">
                <a:solidFill>
                  <a:srgbClr val="1d1d1d"/>
                </a:solidFill>
                <a:latin typeface="Liter"/>
                <a:ea typeface="Liter"/>
              </a:rPr>
              <a:t>Real-World</a:t>
            </a:r>
            <a:endParaRPr b="0" lang="en-HK" sz="7200" spc="-1" strike="noStrike">
              <a:latin typeface="Arial"/>
            </a:endParaRPr>
          </a:p>
          <a:p>
            <a:pPr>
              <a:lnSpc>
                <a:spcPct val="80000"/>
              </a:lnSpc>
              <a:buNone/>
            </a:pPr>
            <a:r>
              <a:rPr b="0" lang="en-US" sz="7200" spc="-1" strike="noStrike">
                <a:solidFill>
                  <a:srgbClr val="1d1d1d"/>
                </a:solidFill>
                <a:latin typeface="Liter"/>
                <a:ea typeface="Liter"/>
              </a:rPr>
              <a:t>Applications</a:t>
            </a:r>
            <a:endParaRPr b="0" lang="en-HK" sz="7200" spc="-1" strike="noStrike">
              <a:latin typeface="Arial"/>
            </a:endParaRPr>
          </a:p>
        </p:txBody>
      </p:sp>
      <p:sp>
        <p:nvSpPr>
          <p:cNvPr id="236" name="Text 3"/>
          <p:cNvSpPr/>
          <p:nvPr/>
        </p:nvSpPr>
        <p:spPr>
          <a:xfrm>
            <a:off x="380880" y="4635720"/>
            <a:ext cx="56005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800" spc="-1" strike="noStrike">
                <a:solidFill>
                  <a:srgbClr val="86868b"/>
                </a:solidFill>
                <a:latin typeface="Liter"/>
                <a:ea typeface="Liter"/>
              </a:rPr>
              <a:t>Where the birthday paradox matters in practice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237" name="Text 4"/>
          <p:cNvSpPr/>
          <p:nvPr/>
        </p:nvSpPr>
        <p:spPr>
          <a:xfrm>
            <a:off x="9474120" y="2476440"/>
            <a:ext cx="3285720" cy="19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15000" spc="-1" strike="noStrike">
                <a:solidFill>
                  <a:srgbClr val="e5e5e5"/>
                </a:solidFill>
                <a:latin typeface="Liter"/>
                <a:ea typeface="Liter"/>
              </a:rPr>
              <a:t>04</a:t>
            </a:r>
            <a:endParaRPr b="0" lang="en-HK" sz="15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ext 0"/>
          <p:cNvSpPr/>
          <p:nvPr/>
        </p:nvSpPr>
        <p:spPr>
          <a:xfrm>
            <a:off x="380880" y="380880"/>
            <a:ext cx="1148760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265" strike="noStrike">
                <a:solidFill>
                  <a:srgbClr val="86868b"/>
                </a:solidFill>
                <a:latin typeface="Liter"/>
                <a:ea typeface="Liter"/>
              </a:rPr>
              <a:t>Cybersecurity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239" name="Text 1"/>
          <p:cNvSpPr/>
          <p:nvPr/>
        </p:nvSpPr>
        <p:spPr>
          <a:xfrm>
            <a:off x="380880" y="609480"/>
            <a:ext cx="1160172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700" spc="-1" strike="noStrike">
                <a:solidFill>
                  <a:srgbClr val="1d1d1d"/>
                </a:solidFill>
                <a:latin typeface="Liter"/>
                <a:ea typeface="Liter"/>
              </a:rPr>
              <a:t>Cryptography: The Birthday Attack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40" name="Text 2"/>
          <p:cNvSpPr/>
          <p:nvPr/>
        </p:nvSpPr>
        <p:spPr>
          <a:xfrm>
            <a:off x="380880" y="1848960"/>
            <a:ext cx="5609880" cy="5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350" spc="-1" strike="noStrike">
                <a:solidFill>
                  <a:srgbClr val="1d1d1d"/>
                </a:solidFill>
                <a:latin typeface="Liter"/>
                <a:ea typeface="Liter"/>
              </a:rPr>
              <a:t>The birthday paradox isn't just a mathematical curiosity—it has serious implications for </a:t>
            </a:r>
            <a:r>
              <a:rPr b="1" lang="en-US" sz="1350" spc="-1" strike="noStrike">
                <a:solidFill>
                  <a:srgbClr val="1d1d1d"/>
                </a:solidFill>
                <a:latin typeface="Liter"/>
                <a:ea typeface="Liter"/>
              </a:rPr>
              <a:t>digital security</a:t>
            </a:r>
            <a:r>
              <a:rPr b="0" lang="en-US" sz="1350" spc="-1" strike="noStrike">
                <a:solidFill>
                  <a:srgbClr val="1d1d1d"/>
                </a:solidFill>
                <a:latin typeface="Liter"/>
                <a:ea typeface="Liter"/>
              </a:rPr>
              <a:t>.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241" name="Text 3"/>
          <p:cNvSpPr/>
          <p:nvPr/>
        </p:nvSpPr>
        <p:spPr>
          <a:xfrm>
            <a:off x="380880" y="2596680"/>
            <a:ext cx="560052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1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Hash functions</a:t>
            </a: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 are used to verify data integrity. Finding two inputs that produce the same hash (a collision) follows the same mathematics as the birthday paradox.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42" name="Text 4"/>
          <p:cNvSpPr/>
          <p:nvPr/>
        </p:nvSpPr>
        <p:spPr>
          <a:xfrm>
            <a:off x="380880" y="3244320"/>
            <a:ext cx="560052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This vulnerability is exploited in "birthday attacks" to forge digital signatures and compromise security systems.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43" name="Shape 5"/>
          <p:cNvSpPr/>
          <p:nvPr/>
        </p:nvSpPr>
        <p:spPr>
          <a:xfrm>
            <a:off x="6296400" y="1848960"/>
            <a:ext cx="18360" cy="799560"/>
          </a:xfrm>
          <a:custGeom>
            <a:avLst/>
            <a:gdLst/>
            <a:ahLst/>
            <a:rect l="l" t="t" r="r" b="b"/>
            <a:pathLst>
              <a:path w="19050" h="800100">
                <a:moveTo>
                  <a:pt x="0" y="0"/>
                </a:moveTo>
                <a:lnTo>
                  <a:pt x="19050" y="0"/>
                </a:lnTo>
                <a:lnTo>
                  <a:pt x="1905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4" name="Text 6"/>
          <p:cNvSpPr/>
          <p:nvPr/>
        </p:nvSpPr>
        <p:spPr>
          <a:xfrm>
            <a:off x="6496560" y="1848960"/>
            <a:ext cx="53812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205" strike="noStrike">
                <a:solidFill>
                  <a:srgbClr val="0071e3"/>
                </a:solidFill>
                <a:latin typeface="Liter"/>
                <a:ea typeface="Liter"/>
              </a:rPr>
              <a:t>MD5 (128-bit)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45" name="Text 7"/>
          <p:cNvSpPr/>
          <p:nvPr/>
        </p:nvSpPr>
        <p:spPr>
          <a:xfrm>
            <a:off x="6496560" y="2115720"/>
            <a:ext cx="542880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1d1d1d"/>
                </a:solidFill>
                <a:latin typeface="Liter"/>
                <a:ea typeface="Liter"/>
              </a:rPr>
              <a:t>2^64 attempts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246" name="Text 8"/>
          <p:cNvSpPr/>
          <p:nvPr/>
        </p:nvSpPr>
        <p:spPr>
          <a:xfrm>
            <a:off x="6496560" y="2458800"/>
            <a:ext cx="53812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6868b"/>
                </a:solidFill>
                <a:latin typeface="Liter"/>
                <a:ea typeface="Liter"/>
              </a:rPr>
              <a:t>for 50% collision chance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47" name="Shape 9"/>
          <p:cNvSpPr/>
          <p:nvPr/>
        </p:nvSpPr>
        <p:spPr>
          <a:xfrm>
            <a:off x="6296400" y="2801520"/>
            <a:ext cx="18360" cy="799560"/>
          </a:xfrm>
          <a:custGeom>
            <a:avLst/>
            <a:gdLst/>
            <a:ahLst/>
            <a:rect l="l" t="t" r="r" b="b"/>
            <a:pathLst>
              <a:path w="19050" h="800100">
                <a:moveTo>
                  <a:pt x="0" y="0"/>
                </a:moveTo>
                <a:lnTo>
                  <a:pt x="19050" y="0"/>
                </a:lnTo>
                <a:lnTo>
                  <a:pt x="1905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8" name="Text 10"/>
          <p:cNvSpPr/>
          <p:nvPr/>
        </p:nvSpPr>
        <p:spPr>
          <a:xfrm>
            <a:off x="6496560" y="2801520"/>
            <a:ext cx="53812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205" strike="noStrike">
                <a:solidFill>
                  <a:srgbClr val="86868b"/>
                </a:solidFill>
                <a:latin typeface="Liter"/>
                <a:ea typeface="Liter"/>
              </a:rPr>
              <a:t>SHA-1 (160-bit)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49" name="Text 11"/>
          <p:cNvSpPr/>
          <p:nvPr/>
        </p:nvSpPr>
        <p:spPr>
          <a:xfrm>
            <a:off x="6496560" y="3068280"/>
            <a:ext cx="542880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1d1d1d"/>
                </a:solidFill>
                <a:latin typeface="Liter"/>
                <a:ea typeface="Liter"/>
              </a:rPr>
              <a:t>2^80 attempts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250" name="Text 12"/>
          <p:cNvSpPr/>
          <p:nvPr/>
        </p:nvSpPr>
        <p:spPr>
          <a:xfrm>
            <a:off x="6496560" y="3411000"/>
            <a:ext cx="53812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6868b"/>
                </a:solidFill>
                <a:latin typeface="Liter"/>
                <a:ea typeface="Liter"/>
              </a:rPr>
              <a:t>for 50% collision chance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51" name="Shape 13"/>
          <p:cNvSpPr/>
          <p:nvPr/>
        </p:nvSpPr>
        <p:spPr>
          <a:xfrm>
            <a:off x="6296400" y="3754080"/>
            <a:ext cx="18360" cy="799560"/>
          </a:xfrm>
          <a:custGeom>
            <a:avLst/>
            <a:gdLst/>
            <a:ahLst/>
            <a:rect l="l" t="t" r="r" b="b"/>
            <a:pathLst>
              <a:path w="19050" h="800100">
                <a:moveTo>
                  <a:pt x="0" y="0"/>
                </a:moveTo>
                <a:lnTo>
                  <a:pt x="19050" y="0"/>
                </a:lnTo>
                <a:lnTo>
                  <a:pt x="1905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2" name="Text 14"/>
          <p:cNvSpPr/>
          <p:nvPr/>
        </p:nvSpPr>
        <p:spPr>
          <a:xfrm>
            <a:off x="6496560" y="3754080"/>
            <a:ext cx="53812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205" strike="noStrike">
                <a:solidFill>
                  <a:srgbClr val="86868b"/>
                </a:solidFill>
                <a:latin typeface="Liter"/>
                <a:ea typeface="Liter"/>
              </a:rPr>
              <a:t>SHA-256 (256-bit)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53" name="Text 15"/>
          <p:cNvSpPr/>
          <p:nvPr/>
        </p:nvSpPr>
        <p:spPr>
          <a:xfrm>
            <a:off x="6496560" y="4020840"/>
            <a:ext cx="542880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1d1d1d"/>
                </a:solidFill>
                <a:latin typeface="Liter"/>
                <a:ea typeface="Liter"/>
              </a:rPr>
              <a:t>2^128 attempts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254" name="Text 16"/>
          <p:cNvSpPr/>
          <p:nvPr/>
        </p:nvSpPr>
        <p:spPr>
          <a:xfrm>
            <a:off x="6496560" y="4363560"/>
            <a:ext cx="53812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6868b"/>
                </a:solidFill>
                <a:latin typeface="Liter"/>
                <a:ea typeface="Liter"/>
              </a:rPr>
              <a:t>for 50% collision chance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55" name="Shape 17"/>
          <p:cNvSpPr/>
          <p:nvPr/>
        </p:nvSpPr>
        <p:spPr>
          <a:xfrm>
            <a:off x="380880" y="4787640"/>
            <a:ext cx="11430360" cy="8640"/>
          </a:xfrm>
          <a:custGeom>
            <a:avLst/>
            <a:gdLst/>
            <a:ah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6" name="Text 18"/>
          <p:cNvSpPr/>
          <p:nvPr/>
        </p:nvSpPr>
        <p:spPr>
          <a:xfrm>
            <a:off x="380880" y="5020920"/>
            <a:ext cx="1149696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205" strike="noStrike">
                <a:solidFill>
                  <a:srgbClr val="86868b"/>
                </a:solidFill>
                <a:latin typeface="Liter"/>
                <a:ea typeface="Liter"/>
              </a:rPr>
              <a:t>Why This Matters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57" name="Shape 19"/>
          <p:cNvSpPr/>
          <p:nvPr/>
        </p:nvSpPr>
        <p:spPr>
          <a:xfrm>
            <a:off x="380880" y="5363640"/>
            <a:ext cx="189720" cy="151560"/>
          </a:xfrm>
          <a:custGeom>
            <a:avLst/>
            <a:gdLst/>
            <a:ahLst/>
            <a:rect l="l" t="t" r="r" b="b"/>
            <a:pathLst>
              <a:path w="190500" h="152400">
                <a:moveTo>
                  <a:pt x="57150" y="38100"/>
                </a:moveTo>
                <a:cubicBezTo>
                  <a:pt x="57150" y="32831"/>
                  <a:pt x="61406" y="28575"/>
                  <a:pt x="66675" y="28575"/>
                </a:cubicBezTo>
                <a:cubicBezTo>
                  <a:pt x="71944" y="28575"/>
                  <a:pt x="76200" y="32831"/>
                  <a:pt x="76200" y="38100"/>
                </a:cubicBezTo>
                <a:lnTo>
                  <a:pt x="76200" y="40422"/>
                </a:lnTo>
                <a:cubicBezTo>
                  <a:pt x="76200" y="48667"/>
                  <a:pt x="75486" y="56882"/>
                  <a:pt x="74087" y="64978"/>
                </a:cubicBezTo>
                <a:lnTo>
                  <a:pt x="48964" y="72509"/>
                </a:lnTo>
                <a:cubicBezTo>
                  <a:pt x="36880" y="76140"/>
                  <a:pt x="28605" y="87273"/>
                  <a:pt x="28605" y="99893"/>
                </a:cubicBezTo>
                <a:lnTo>
                  <a:pt x="28605" y="109537"/>
                </a:lnTo>
                <a:lnTo>
                  <a:pt x="7174" y="109537"/>
                </a:lnTo>
                <a:cubicBezTo>
                  <a:pt x="3215" y="109537"/>
                  <a:pt x="30" y="112722"/>
                  <a:pt x="30" y="116681"/>
                </a:cubicBezTo>
                <a:cubicBezTo>
                  <a:pt x="30" y="120640"/>
                  <a:pt x="3215" y="123825"/>
                  <a:pt x="7174" y="123825"/>
                </a:cubicBezTo>
                <a:lnTo>
                  <a:pt x="28754" y="123825"/>
                </a:lnTo>
                <a:cubicBezTo>
                  <a:pt x="30004" y="134541"/>
                  <a:pt x="39112" y="142875"/>
                  <a:pt x="50185" y="142875"/>
                </a:cubicBezTo>
                <a:cubicBezTo>
                  <a:pt x="57924" y="142875"/>
                  <a:pt x="65068" y="138738"/>
                  <a:pt x="68907" y="132011"/>
                </a:cubicBezTo>
                <a:lnTo>
                  <a:pt x="73045" y="124777"/>
                </a:lnTo>
                <a:cubicBezTo>
                  <a:pt x="81022" y="110788"/>
                  <a:pt x="86886" y="95696"/>
                  <a:pt x="90428" y="79980"/>
                </a:cubicBezTo>
                <a:lnTo>
                  <a:pt x="118527" y="71557"/>
                </a:lnTo>
                <a:lnTo>
                  <a:pt x="114806" y="82719"/>
                </a:lnTo>
                <a:cubicBezTo>
                  <a:pt x="113824" y="85636"/>
                  <a:pt x="114330" y="88821"/>
                  <a:pt x="116116" y="91291"/>
                </a:cubicBezTo>
                <a:cubicBezTo>
                  <a:pt x="117902" y="93762"/>
                  <a:pt x="120759" y="95250"/>
                  <a:pt x="123825" y="95250"/>
                </a:cubicBezTo>
                <a:lnTo>
                  <a:pt x="161925" y="95250"/>
                </a:lnTo>
                <a:cubicBezTo>
                  <a:pt x="167194" y="95250"/>
                  <a:pt x="171450" y="90994"/>
                  <a:pt x="171450" y="85725"/>
                </a:cubicBezTo>
                <a:cubicBezTo>
                  <a:pt x="171450" y="80456"/>
                  <a:pt x="167194" y="76200"/>
                  <a:pt x="161925" y="76200"/>
                </a:cubicBezTo>
                <a:lnTo>
                  <a:pt x="137041" y="76200"/>
                </a:lnTo>
                <a:lnTo>
                  <a:pt x="142399" y="60156"/>
                </a:lnTo>
                <a:cubicBezTo>
                  <a:pt x="143530" y="56793"/>
                  <a:pt x="142667" y="53072"/>
                  <a:pt x="140196" y="50512"/>
                </a:cubicBezTo>
                <a:cubicBezTo>
                  <a:pt x="137726" y="47952"/>
                  <a:pt x="134035" y="47000"/>
                  <a:pt x="130612" y="48012"/>
                </a:cubicBezTo>
                <a:lnTo>
                  <a:pt x="94178" y="58966"/>
                </a:lnTo>
                <a:cubicBezTo>
                  <a:pt x="94893" y="52804"/>
                  <a:pt x="95250" y="46643"/>
                  <a:pt x="95250" y="40422"/>
                </a:cubicBezTo>
                <a:lnTo>
                  <a:pt x="95250" y="38100"/>
                </a:lnTo>
                <a:cubicBezTo>
                  <a:pt x="95250" y="22324"/>
                  <a:pt x="82451" y="9525"/>
                  <a:pt x="66675" y="9525"/>
                </a:cubicBezTo>
                <a:cubicBezTo>
                  <a:pt x="50899" y="9525"/>
                  <a:pt x="38100" y="22324"/>
                  <a:pt x="38100" y="38100"/>
                </a:cubicBezTo>
                <a:lnTo>
                  <a:pt x="38100" y="47625"/>
                </a:lnTo>
                <a:cubicBezTo>
                  <a:pt x="38100" y="52894"/>
                  <a:pt x="42356" y="57150"/>
                  <a:pt x="47625" y="57150"/>
                </a:cubicBezTo>
                <a:cubicBezTo>
                  <a:pt x="52894" y="57150"/>
                  <a:pt x="57150" y="52894"/>
                  <a:pt x="57150" y="47625"/>
                </a:cubicBezTo>
                <a:lnTo>
                  <a:pt x="57150" y="38100"/>
                </a:lnTo>
                <a:close/>
                <a:moveTo>
                  <a:pt x="54412" y="90785"/>
                </a:moveTo>
                <a:lnTo>
                  <a:pt x="68997" y="86410"/>
                </a:lnTo>
                <a:cubicBezTo>
                  <a:pt x="65901" y="96470"/>
                  <a:pt x="61704" y="106174"/>
                  <a:pt x="56465" y="115342"/>
                </a:cubicBezTo>
                <a:lnTo>
                  <a:pt x="52328" y="122575"/>
                </a:lnTo>
                <a:cubicBezTo>
                  <a:pt x="51881" y="123349"/>
                  <a:pt x="51048" y="123855"/>
                  <a:pt x="50125" y="123855"/>
                </a:cubicBezTo>
                <a:cubicBezTo>
                  <a:pt x="48726" y="123855"/>
                  <a:pt x="47595" y="122724"/>
                  <a:pt x="47595" y="121325"/>
                </a:cubicBezTo>
                <a:lnTo>
                  <a:pt x="47595" y="99923"/>
                </a:lnTo>
                <a:cubicBezTo>
                  <a:pt x="47595" y="95726"/>
                  <a:pt x="50363" y="92006"/>
                  <a:pt x="54382" y="90785"/>
                </a:cubicBezTo>
                <a:close/>
                <a:moveTo>
                  <a:pt x="183356" y="123825"/>
                </a:moveTo>
                <a:cubicBezTo>
                  <a:pt x="187315" y="123825"/>
                  <a:pt x="190500" y="120640"/>
                  <a:pt x="190500" y="116681"/>
                </a:cubicBezTo>
                <a:cubicBezTo>
                  <a:pt x="190500" y="112722"/>
                  <a:pt x="187315" y="109537"/>
                  <a:pt x="183356" y="109537"/>
                </a:cubicBezTo>
                <a:lnTo>
                  <a:pt x="96173" y="109537"/>
                </a:lnTo>
                <a:cubicBezTo>
                  <a:pt x="94238" y="114389"/>
                  <a:pt x="92095" y="119152"/>
                  <a:pt x="89743" y="123825"/>
                </a:cubicBezTo>
                <a:lnTo>
                  <a:pt x="183356" y="123825"/>
                </a:ln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8" name="Text 20"/>
          <p:cNvSpPr/>
          <p:nvPr/>
        </p:nvSpPr>
        <p:spPr>
          <a:xfrm>
            <a:off x="628560" y="5325840"/>
            <a:ext cx="34858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Digital Signatures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59" name="Text 21"/>
          <p:cNvSpPr/>
          <p:nvPr/>
        </p:nvSpPr>
        <p:spPr>
          <a:xfrm>
            <a:off x="380880" y="5630400"/>
            <a:ext cx="372384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050" spc="-1" strike="noStrike">
                <a:solidFill>
                  <a:srgbClr val="86868b"/>
                </a:solidFill>
                <a:latin typeface="Liter"/>
                <a:ea typeface="Liter"/>
              </a:rPr>
              <a:t>Attackers can forge signatures by finding colliding documents.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60" name="Shape 22"/>
          <p:cNvSpPr/>
          <p:nvPr/>
        </p:nvSpPr>
        <p:spPr>
          <a:xfrm>
            <a:off x="4286520" y="5363640"/>
            <a:ext cx="151560" cy="15156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1" name="Text 23"/>
          <p:cNvSpPr/>
          <p:nvPr/>
        </p:nvSpPr>
        <p:spPr>
          <a:xfrm>
            <a:off x="4515120" y="5325840"/>
            <a:ext cx="34858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Data Integrity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62" name="Text 24"/>
          <p:cNvSpPr/>
          <p:nvPr/>
        </p:nvSpPr>
        <p:spPr>
          <a:xfrm>
            <a:off x="4267440" y="5630400"/>
            <a:ext cx="372384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050" spc="-1" strike="noStrike">
                <a:solidFill>
                  <a:srgbClr val="86868b"/>
                </a:solidFill>
                <a:latin typeface="Liter"/>
                <a:ea typeface="Liter"/>
              </a:rPr>
              <a:t>Malicious data can be substituted without detection.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63" name="Shape 25"/>
          <p:cNvSpPr/>
          <p:nvPr/>
        </p:nvSpPr>
        <p:spPr>
          <a:xfrm>
            <a:off x="8173080" y="5363640"/>
            <a:ext cx="151560" cy="15156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100013" y="104775"/>
                </a:moveTo>
                <a:cubicBezTo>
                  <a:pt x="128945" y="104775"/>
                  <a:pt x="152400" y="81320"/>
                  <a:pt x="152400" y="52388"/>
                </a:cubicBezTo>
                <a:cubicBezTo>
                  <a:pt x="152400" y="23455"/>
                  <a:pt x="128945" y="0"/>
                  <a:pt x="100013" y="0"/>
                </a:cubicBezTo>
                <a:cubicBezTo>
                  <a:pt x="71080" y="0"/>
                  <a:pt x="47625" y="23455"/>
                  <a:pt x="47625" y="52388"/>
                </a:cubicBezTo>
                <a:cubicBezTo>
                  <a:pt x="47625" y="57954"/>
                  <a:pt x="48488" y="63341"/>
                  <a:pt x="50096" y="68372"/>
                </a:cubicBezTo>
                <a:lnTo>
                  <a:pt x="2084" y="116384"/>
                </a:lnTo>
                <a:cubicBezTo>
                  <a:pt x="744" y="117723"/>
                  <a:pt x="0" y="119539"/>
                  <a:pt x="0" y="121444"/>
                </a:cubicBezTo>
                <a:lnTo>
                  <a:pt x="0" y="145256"/>
                </a:lnTo>
                <a:cubicBezTo>
                  <a:pt x="0" y="149215"/>
                  <a:pt x="3185" y="152400"/>
                  <a:pt x="7144" y="152400"/>
                </a:cubicBezTo>
                <a:lnTo>
                  <a:pt x="30956" y="152400"/>
                </a:lnTo>
                <a:cubicBezTo>
                  <a:pt x="34915" y="152400"/>
                  <a:pt x="38100" y="149215"/>
                  <a:pt x="38100" y="145256"/>
                </a:cubicBezTo>
                <a:lnTo>
                  <a:pt x="38100" y="133350"/>
                </a:lnTo>
                <a:lnTo>
                  <a:pt x="50006" y="133350"/>
                </a:lnTo>
                <a:cubicBezTo>
                  <a:pt x="53965" y="133350"/>
                  <a:pt x="57150" y="130165"/>
                  <a:pt x="57150" y="126206"/>
                </a:cubicBezTo>
                <a:lnTo>
                  <a:pt x="57150" y="114300"/>
                </a:lnTo>
                <a:lnTo>
                  <a:pt x="69056" y="114300"/>
                </a:lnTo>
                <a:cubicBezTo>
                  <a:pt x="70961" y="114300"/>
                  <a:pt x="72777" y="113556"/>
                  <a:pt x="74116" y="112216"/>
                </a:cubicBezTo>
                <a:lnTo>
                  <a:pt x="84028" y="102304"/>
                </a:lnTo>
                <a:cubicBezTo>
                  <a:pt x="89059" y="103912"/>
                  <a:pt x="94446" y="104775"/>
                  <a:pt x="100013" y="104775"/>
                </a:cubicBezTo>
                <a:close/>
                <a:moveTo>
                  <a:pt x="111919" y="28575"/>
                </a:moveTo>
                <a:cubicBezTo>
                  <a:pt x="118490" y="28575"/>
                  <a:pt x="123825" y="33910"/>
                  <a:pt x="123825" y="40481"/>
                </a:cubicBezTo>
                <a:cubicBezTo>
                  <a:pt x="123825" y="47052"/>
                  <a:pt x="118490" y="52388"/>
                  <a:pt x="111919" y="52388"/>
                </a:cubicBezTo>
                <a:cubicBezTo>
                  <a:pt x="105348" y="52388"/>
                  <a:pt x="100013" y="47052"/>
                  <a:pt x="100013" y="40481"/>
                </a:cubicBezTo>
                <a:cubicBezTo>
                  <a:pt x="100013" y="33910"/>
                  <a:pt x="105348" y="28575"/>
                  <a:pt x="111919" y="28575"/>
                </a:cubicBez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4" name="Text 26"/>
          <p:cNvSpPr/>
          <p:nvPr/>
        </p:nvSpPr>
        <p:spPr>
          <a:xfrm>
            <a:off x="8401680" y="5325840"/>
            <a:ext cx="34858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Security Design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65" name="Text 27"/>
          <p:cNvSpPr/>
          <p:nvPr/>
        </p:nvSpPr>
        <p:spPr>
          <a:xfrm>
            <a:off x="8154000" y="5630400"/>
            <a:ext cx="372384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050" spc="-1" strike="noStrike">
                <a:solidFill>
                  <a:srgbClr val="86868b"/>
                </a:solidFill>
                <a:latin typeface="Liter"/>
                <a:ea typeface="Liter"/>
              </a:rPr>
              <a:t>Hash functions need twice the expected bit length for security.</a:t>
            </a:r>
            <a:endParaRPr b="0" lang="en-HK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Text 0"/>
          <p:cNvSpPr/>
          <p:nvPr/>
        </p:nvSpPr>
        <p:spPr>
          <a:xfrm>
            <a:off x="380880" y="380880"/>
            <a:ext cx="1148760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265" strike="noStrike">
                <a:solidFill>
                  <a:srgbClr val="86868b"/>
                </a:solidFill>
                <a:latin typeface="Liter"/>
                <a:ea typeface="Liter"/>
              </a:rPr>
              <a:t>Broader Impact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267" name="Text 1"/>
          <p:cNvSpPr/>
          <p:nvPr/>
        </p:nvSpPr>
        <p:spPr>
          <a:xfrm>
            <a:off x="380880" y="609480"/>
            <a:ext cx="1160172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700" spc="-1" strike="noStrike">
                <a:solidFill>
                  <a:srgbClr val="1d1d1d"/>
                </a:solidFill>
                <a:latin typeface="Liter"/>
                <a:ea typeface="Liter"/>
              </a:rPr>
              <a:t>Other Practical Applications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68" name="Shape 2"/>
          <p:cNvSpPr/>
          <p:nvPr/>
        </p:nvSpPr>
        <p:spPr>
          <a:xfrm>
            <a:off x="380880" y="1886040"/>
            <a:ext cx="3657240" cy="8640"/>
          </a:xfrm>
          <a:custGeom>
            <a:avLst/>
            <a:gdLst/>
            <a:ahLst/>
            <a:rect l="l" t="t" r="r" b="b"/>
            <a:pathLst>
              <a:path w="3657600" h="9525">
                <a:moveTo>
                  <a:pt x="0" y="0"/>
                </a:moveTo>
                <a:lnTo>
                  <a:pt x="3657600" y="0"/>
                </a:lnTo>
                <a:lnTo>
                  <a:pt x="3657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9" name="Shape 3"/>
          <p:cNvSpPr/>
          <p:nvPr/>
        </p:nvSpPr>
        <p:spPr>
          <a:xfrm>
            <a:off x="409680" y="2081160"/>
            <a:ext cx="227880" cy="227880"/>
          </a:xfrm>
          <a:custGeom>
            <a:avLst/>
            <a:gdLst/>
            <a:ahLst/>
            <a:rect l="l" t="t" r="r" b="b"/>
            <a:pathLst>
              <a:path w="228600" h="228600">
                <a:moveTo>
                  <a:pt x="114300" y="-14287"/>
                </a:moveTo>
                <a:cubicBezTo>
                  <a:pt x="122203" y="-14287"/>
                  <a:pt x="128588" y="-7903"/>
                  <a:pt x="128588" y="0"/>
                </a:cubicBezTo>
                <a:lnTo>
                  <a:pt x="128588" y="893"/>
                </a:lnTo>
                <a:cubicBezTo>
                  <a:pt x="184978" y="7903"/>
                  <a:pt x="228600" y="56034"/>
                  <a:pt x="228600" y="114300"/>
                </a:cubicBezTo>
                <a:cubicBezTo>
                  <a:pt x="228600" y="115997"/>
                  <a:pt x="228555" y="117649"/>
                  <a:pt x="228511" y="119345"/>
                </a:cubicBezTo>
                <a:cubicBezTo>
                  <a:pt x="228377" y="122426"/>
                  <a:pt x="226278" y="125060"/>
                  <a:pt x="223287" y="125909"/>
                </a:cubicBezTo>
                <a:cubicBezTo>
                  <a:pt x="220295" y="126757"/>
                  <a:pt x="217125" y="125596"/>
                  <a:pt x="215429" y="123006"/>
                </a:cubicBezTo>
                <a:cubicBezTo>
                  <a:pt x="208999" y="113452"/>
                  <a:pt x="198105" y="107156"/>
                  <a:pt x="185738" y="107156"/>
                </a:cubicBezTo>
                <a:cubicBezTo>
                  <a:pt x="172656" y="107156"/>
                  <a:pt x="161226" y="114166"/>
                  <a:pt x="154975" y="124703"/>
                </a:cubicBezTo>
                <a:cubicBezTo>
                  <a:pt x="153769" y="126757"/>
                  <a:pt x="151581" y="128096"/>
                  <a:pt x="149170" y="128186"/>
                </a:cubicBezTo>
                <a:cubicBezTo>
                  <a:pt x="146759" y="128275"/>
                  <a:pt x="144482" y="127203"/>
                  <a:pt x="143054" y="125284"/>
                </a:cubicBezTo>
                <a:cubicBezTo>
                  <a:pt x="136535" y="116443"/>
                  <a:pt x="126087" y="110728"/>
                  <a:pt x="114255" y="110728"/>
                </a:cubicBezTo>
                <a:cubicBezTo>
                  <a:pt x="102424" y="110728"/>
                  <a:pt x="91976" y="116443"/>
                  <a:pt x="85457" y="125284"/>
                </a:cubicBezTo>
                <a:cubicBezTo>
                  <a:pt x="84028" y="127203"/>
                  <a:pt x="81751" y="128320"/>
                  <a:pt x="79340" y="128186"/>
                </a:cubicBezTo>
                <a:cubicBezTo>
                  <a:pt x="76929" y="128052"/>
                  <a:pt x="74786" y="126757"/>
                  <a:pt x="73536" y="124703"/>
                </a:cubicBezTo>
                <a:cubicBezTo>
                  <a:pt x="67285" y="114166"/>
                  <a:pt x="55855" y="107156"/>
                  <a:pt x="42773" y="107156"/>
                </a:cubicBezTo>
                <a:cubicBezTo>
                  <a:pt x="30406" y="107156"/>
                  <a:pt x="19511" y="113452"/>
                  <a:pt x="13082" y="123006"/>
                </a:cubicBezTo>
                <a:cubicBezTo>
                  <a:pt x="11341" y="125551"/>
                  <a:pt x="8171" y="126757"/>
                  <a:pt x="5224" y="125909"/>
                </a:cubicBezTo>
                <a:cubicBezTo>
                  <a:pt x="2277" y="125060"/>
                  <a:pt x="223" y="122426"/>
                  <a:pt x="89" y="119345"/>
                </a:cubicBezTo>
                <a:cubicBezTo>
                  <a:pt x="45" y="117649"/>
                  <a:pt x="0" y="115997"/>
                  <a:pt x="0" y="114300"/>
                </a:cubicBezTo>
                <a:cubicBezTo>
                  <a:pt x="0" y="56034"/>
                  <a:pt x="43622" y="7903"/>
                  <a:pt x="100013" y="893"/>
                </a:cubicBezTo>
                <a:lnTo>
                  <a:pt x="100013" y="0"/>
                </a:lnTo>
                <a:cubicBezTo>
                  <a:pt x="100013" y="-7903"/>
                  <a:pt x="106397" y="-14287"/>
                  <a:pt x="114300" y="-14287"/>
                </a:cubicBezTo>
                <a:close/>
                <a:moveTo>
                  <a:pt x="128588" y="146447"/>
                </a:moveTo>
                <a:lnTo>
                  <a:pt x="128588" y="192256"/>
                </a:lnTo>
                <a:cubicBezTo>
                  <a:pt x="128588" y="212348"/>
                  <a:pt x="112291" y="228600"/>
                  <a:pt x="92244" y="228600"/>
                </a:cubicBezTo>
                <a:cubicBezTo>
                  <a:pt x="78492" y="228600"/>
                  <a:pt x="65901" y="220831"/>
                  <a:pt x="59740" y="208508"/>
                </a:cubicBezTo>
                <a:lnTo>
                  <a:pt x="58713" y="206410"/>
                </a:lnTo>
                <a:cubicBezTo>
                  <a:pt x="55185" y="199355"/>
                  <a:pt x="58043" y="190783"/>
                  <a:pt x="65097" y="187256"/>
                </a:cubicBezTo>
                <a:cubicBezTo>
                  <a:pt x="72152" y="183728"/>
                  <a:pt x="80724" y="186586"/>
                  <a:pt x="84252" y="193640"/>
                </a:cubicBezTo>
                <a:lnTo>
                  <a:pt x="85279" y="195739"/>
                </a:lnTo>
                <a:cubicBezTo>
                  <a:pt x="86618" y="198373"/>
                  <a:pt x="89297" y="200025"/>
                  <a:pt x="92244" y="200025"/>
                </a:cubicBezTo>
                <a:cubicBezTo>
                  <a:pt x="96530" y="200025"/>
                  <a:pt x="100013" y="196542"/>
                  <a:pt x="100013" y="192256"/>
                </a:cubicBezTo>
                <a:lnTo>
                  <a:pt x="100013" y="146447"/>
                </a:lnTo>
                <a:cubicBezTo>
                  <a:pt x="100013" y="138544"/>
                  <a:pt x="106397" y="132159"/>
                  <a:pt x="114300" y="132159"/>
                </a:cubicBezTo>
                <a:cubicBezTo>
                  <a:pt x="122203" y="132159"/>
                  <a:pt x="128588" y="138544"/>
                  <a:pt x="128588" y="146447"/>
                </a:cubicBez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0" name="Text 4"/>
          <p:cNvSpPr/>
          <p:nvPr/>
        </p:nvSpPr>
        <p:spPr>
          <a:xfrm>
            <a:off x="380880" y="2424240"/>
            <a:ext cx="375264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Insurance &amp; Risk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71" name="Text 5"/>
          <p:cNvSpPr/>
          <p:nvPr/>
        </p:nvSpPr>
        <p:spPr>
          <a:xfrm>
            <a:off x="380880" y="2843280"/>
            <a:ext cx="373356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Actuaries use similar probability models to assess risk pools and calculate premiums for group policies.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72" name="Shape 6"/>
          <p:cNvSpPr/>
          <p:nvPr/>
        </p:nvSpPr>
        <p:spPr>
          <a:xfrm>
            <a:off x="4267440" y="1886040"/>
            <a:ext cx="3657240" cy="8640"/>
          </a:xfrm>
          <a:custGeom>
            <a:avLst/>
            <a:gdLst/>
            <a:ahLst/>
            <a:rect l="l" t="t" r="r" b="b"/>
            <a:pathLst>
              <a:path w="3657600" h="9525">
                <a:moveTo>
                  <a:pt x="0" y="0"/>
                </a:moveTo>
                <a:lnTo>
                  <a:pt x="3657600" y="0"/>
                </a:lnTo>
                <a:lnTo>
                  <a:pt x="3657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3" name="Shape 7"/>
          <p:cNvSpPr/>
          <p:nvPr/>
        </p:nvSpPr>
        <p:spPr>
          <a:xfrm>
            <a:off x="4324680" y="2081160"/>
            <a:ext cx="170640" cy="227880"/>
          </a:xfrm>
          <a:custGeom>
            <a:avLst/>
            <a:gdLst/>
            <a:ah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4" name="Text 8"/>
          <p:cNvSpPr/>
          <p:nvPr/>
        </p:nvSpPr>
        <p:spPr>
          <a:xfrm>
            <a:off x="4267440" y="2424240"/>
            <a:ext cx="375264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Understanding Coincidences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75" name="Text 9"/>
          <p:cNvSpPr/>
          <p:nvPr/>
        </p:nvSpPr>
        <p:spPr>
          <a:xfrm>
            <a:off x="4267440" y="2843280"/>
            <a:ext cx="373356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Helps explain why seemingly improbable coincidences happen more often than we expect in daily life.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76" name="Shape 10"/>
          <p:cNvSpPr/>
          <p:nvPr/>
        </p:nvSpPr>
        <p:spPr>
          <a:xfrm>
            <a:off x="8154000" y="1886040"/>
            <a:ext cx="3657240" cy="8640"/>
          </a:xfrm>
          <a:custGeom>
            <a:avLst/>
            <a:gdLst/>
            <a:ahLst/>
            <a:rect l="l" t="t" r="r" b="b"/>
            <a:pathLst>
              <a:path w="3657600" h="9525">
                <a:moveTo>
                  <a:pt x="0" y="0"/>
                </a:moveTo>
                <a:lnTo>
                  <a:pt x="3657600" y="0"/>
                </a:lnTo>
                <a:lnTo>
                  <a:pt x="3657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7" name="Shape 11"/>
          <p:cNvSpPr/>
          <p:nvPr/>
        </p:nvSpPr>
        <p:spPr>
          <a:xfrm>
            <a:off x="8182800" y="2081160"/>
            <a:ext cx="227880" cy="227880"/>
          </a:xfrm>
          <a:custGeom>
            <a:avLst/>
            <a:gdLst/>
            <a:ah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12814" y="28575"/>
                  <a:pt x="0" y="41389"/>
                  <a:pt x="0" y="57150"/>
                </a:cubicBezTo>
                <a:lnTo>
                  <a:pt x="0" y="171450"/>
                </a:lnTo>
                <a:cubicBezTo>
                  <a:pt x="0" y="187211"/>
                  <a:pt x="12814" y="200025"/>
                  <a:pt x="28575" y="200025"/>
                </a:cubicBezTo>
                <a:lnTo>
                  <a:pt x="200025" y="200025"/>
                </a:lnTo>
                <a:cubicBezTo>
                  <a:pt x="215786" y="200025"/>
                  <a:pt x="228600" y="187211"/>
                  <a:pt x="228600" y="171450"/>
                </a:cubicBezTo>
                <a:lnTo>
                  <a:pt x="228600" y="57150"/>
                </a:lnTo>
                <a:cubicBezTo>
                  <a:pt x="228600" y="41389"/>
                  <a:pt x="215786" y="28575"/>
                  <a:pt x="200025" y="28575"/>
                </a:cubicBezTo>
                <a:lnTo>
                  <a:pt x="28575" y="28575"/>
                </a:lnTo>
                <a:close/>
                <a:moveTo>
                  <a:pt x="185738" y="82153"/>
                </a:moveTo>
                <a:lnTo>
                  <a:pt x="185738" y="146447"/>
                </a:lnTo>
                <a:cubicBezTo>
                  <a:pt x="185738" y="152385"/>
                  <a:pt x="180960" y="157163"/>
                  <a:pt x="175022" y="157163"/>
                </a:cubicBezTo>
                <a:cubicBezTo>
                  <a:pt x="171852" y="157163"/>
                  <a:pt x="168994" y="155778"/>
                  <a:pt x="167030" y="153591"/>
                </a:cubicBezTo>
                <a:cubicBezTo>
                  <a:pt x="162476" y="155868"/>
                  <a:pt x="157296" y="157163"/>
                  <a:pt x="151805" y="157163"/>
                </a:cubicBezTo>
                <a:cubicBezTo>
                  <a:pt x="133052" y="157163"/>
                  <a:pt x="117872" y="141982"/>
                  <a:pt x="117872" y="123230"/>
                </a:cubicBezTo>
                <a:cubicBezTo>
                  <a:pt x="117872" y="104477"/>
                  <a:pt x="133052" y="89297"/>
                  <a:pt x="151805" y="89297"/>
                </a:cubicBezTo>
                <a:cubicBezTo>
                  <a:pt x="156225" y="89297"/>
                  <a:pt x="160422" y="90145"/>
                  <a:pt x="164306" y="91663"/>
                </a:cubicBezTo>
                <a:lnTo>
                  <a:pt x="164306" y="82153"/>
                </a:lnTo>
                <a:cubicBezTo>
                  <a:pt x="164306" y="76215"/>
                  <a:pt x="169084" y="71438"/>
                  <a:pt x="175022" y="71438"/>
                </a:cubicBezTo>
                <a:cubicBezTo>
                  <a:pt x="180960" y="71438"/>
                  <a:pt x="185738" y="76215"/>
                  <a:pt x="185738" y="82153"/>
                </a:cubicBezTo>
                <a:close/>
                <a:moveTo>
                  <a:pt x="164306" y="123230"/>
                </a:moveTo>
                <a:cubicBezTo>
                  <a:pt x="164306" y="116330"/>
                  <a:pt x="158704" y="110728"/>
                  <a:pt x="151805" y="110728"/>
                </a:cubicBezTo>
                <a:cubicBezTo>
                  <a:pt x="144905" y="110728"/>
                  <a:pt x="139303" y="116330"/>
                  <a:pt x="139303" y="123230"/>
                </a:cubicBezTo>
                <a:cubicBezTo>
                  <a:pt x="139303" y="130129"/>
                  <a:pt x="144905" y="135731"/>
                  <a:pt x="151805" y="135731"/>
                </a:cubicBezTo>
                <a:cubicBezTo>
                  <a:pt x="158704" y="135731"/>
                  <a:pt x="164306" y="130129"/>
                  <a:pt x="164306" y="123230"/>
                </a:cubicBezTo>
                <a:close/>
                <a:moveTo>
                  <a:pt x="71438" y="92869"/>
                </a:moveTo>
                <a:cubicBezTo>
                  <a:pt x="67508" y="92869"/>
                  <a:pt x="64294" y="96083"/>
                  <a:pt x="64294" y="100013"/>
                </a:cubicBezTo>
                <a:lnTo>
                  <a:pt x="64294" y="114300"/>
                </a:lnTo>
                <a:lnTo>
                  <a:pt x="85725" y="114300"/>
                </a:lnTo>
                <a:lnTo>
                  <a:pt x="85725" y="100013"/>
                </a:lnTo>
                <a:cubicBezTo>
                  <a:pt x="85725" y="96083"/>
                  <a:pt x="82510" y="92869"/>
                  <a:pt x="78581" y="92869"/>
                </a:cubicBezTo>
                <a:lnTo>
                  <a:pt x="71438" y="92869"/>
                </a:lnTo>
                <a:close/>
                <a:moveTo>
                  <a:pt x="85725" y="135731"/>
                </a:moveTo>
                <a:lnTo>
                  <a:pt x="64294" y="135731"/>
                </a:lnTo>
                <a:lnTo>
                  <a:pt x="64294" y="146447"/>
                </a:lnTo>
                <a:cubicBezTo>
                  <a:pt x="64294" y="152385"/>
                  <a:pt x="59516" y="157163"/>
                  <a:pt x="53578" y="157163"/>
                </a:cubicBezTo>
                <a:cubicBezTo>
                  <a:pt x="47640" y="157163"/>
                  <a:pt x="42863" y="152385"/>
                  <a:pt x="42863" y="146447"/>
                </a:cubicBezTo>
                <a:lnTo>
                  <a:pt x="42863" y="100013"/>
                </a:lnTo>
                <a:cubicBezTo>
                  <a:pt x="42863" y="84252"/>
                  <a:pt x="55677" y="71438"/>
                  <a:pt x="71438" y="71438"/>
                </a:cubicBezTo>
                <a:lnTo>
                  <a:pt x="78581" y="71438"/>
                </a:lnTo>
                <a:cubicBezTo>
                  <a:pt x="94342" y="71438"/>
                  <a:pt x="107156" y="84252"/>
                  <a:pt x="107156" y="100013"/>
                </a:cubicBezTo>
                <a:lnTo>
                  <a:pt x="107156" y="146447"/>
                </a:lnTo>
                <a:cubicBezTo>
                  <a:pt x="107156" y="152385"/>
                  <a:pt x="102379" y="157163"/>
                  <a:pt x="96441" y="157163"/>
                </a:cubicBezTo>
                <a:cubicBezTo>
                  <a:pt x="90502" y="157163"/>
                  <a:pt x="85725" y="152385"/>
                  <a:pt x="85725" y="146447"/>
                </a:cubicBezTo>
                <a:lnTo>
                  <a:pt x="85725" y="135731"/>
                </a:ln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8" name="Text 12"/>
          <p:cNvSpPr/>
          <p:nvPr/>
        </p:nvSpPr>
        <p:spPr>
          <a:xfrm>
            <a:off x="8154000" y="2424240"/>
            <a:ext cx="375264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Marketing Analytics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79" name="Text 13"/>
          <p:cNvSpPr/>
          <p:nvPr/>
        </p:nvSpPr>
        <p:spPr>
          <a:xfrm>
            <a:off x="8154000" y="2843280"/>
            <a:ext cx="373356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Used to analyze audience overlap and optimize ad targeting across different platforms and campaigns.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80" name="Shape 14"/>
          <p:cNvSpPr/>
          <p:nvPr/>
        </p:nvSpPr>
        <p:spPr>
          <a:xfrm>
            <a:off x="380880" y="3571920"/>
            <a:ext cx="3657240" cy="8640"/>
          </a:xfrm>
          <a:custGeom>
            <a:avLst/>
            <a:gdLst/>
            <a:ahLst/>
            <a:rect l="l" t="t" r="r" b="b"/>
            <a:pathLst>
              <a:path w="3657600" h="9525">
                <a:moveTo>
                  <a:pt x="0" y="0"/>
                </a:moveTo>
                <a:lnTo>
                  <a:pt x="3657600" y="0"/>
                </a:lnTo>
                <a:lnTo>
                  <a:pt x="3657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1" name="Shape 15"/>
          <p:cNvSpPr/>
          <p:nvPr/>
        </p:nvSpPr>
        <p:spPr>
          <a:xfrm>
            <a:off x="380880" y="3767040"/>
            <a:ext cx="285120" cy="227880"/>
          </a:xfrm>
          <a:custGeom>
            <a:avLst/>
            <a:gdLst/>
            <a:ah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2" name="Text 16"/>
          <p:cNvSpPr/>
          <p:nvPr/>
        </p:nvSpPr>
        <p:spPr>
          <a:xfrm>
            <a:off x="380880" y="4110120"/>
            <a:ext cx="375264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Social Networks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83" name="Text 17"/>
          <p:cNvSpPr/>
          <p:nvPr/>
        </p:nvSpPr>
        <p:spPr>
          <a:xfrm>
            <a:off x="380880" y="4529160"/>
            <a:ext cx="3733560" cy="74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Powers friend suggestion algorithms by calculating the probability of shared connections in large networks.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84" name="Shape 18"/>
          <p:cNvSpPr/>
          <p:nvPr/>
        </p:nvSpPr>
        <p:spPr>
          <a:xfrm>
            <a:off x="4267440" y="3571920"/>
            <a:ext cx="3657240" cy="8640"/>
          </a:xfrm>
          <a:custGeom>
            <a:avLst/>
            <a:gdLst/>
            <a:ahLst/>
            <a:rect l="l" t="t" r="r" b="b"/>
            <a:pathLst>
              <a:path w="3657600" h="9525">
                <a:moveTo>
                  <a:pt x="0" y="0"/>
                </a:moveTo>
                <a:lnTo>
                  <a:pt x="3657600" y="0"/>
                </a:lnTo>
                <a:lnTo>
                  <a:pt x="3657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5" name="Shape 19"/>
          <p:cNvSpPr/>
          <p:nvPr/>
        </p:nvSpPr>
        <p:spPr>
          <a:xfrm>
            <a:off x="4324680" y="3767040"/>
            <a:ext cx="170640" cy="227880"/>
          </a:xfrm>
          <a:custGeom>
            <a:avLst/>
            <a:gdLst/>
            <a:ahLst/>
            <a:rect l="l" t="t" r="r" b="b"/>
            <a:pathLst>
              <a:path w="171450" h="228600">
                <a:moveTo>
                  <a:pt x="157163" y="0"/>
                </a:moveTo>
                <a:cubicBezTo>
                  <a:pt x="165065" y="0"/>
                  <a:pt x="171450" y="6385"/>
                  <a:pt x="171450" y="14288"/>
                </a:cubicBezTo>
                <a:cubicBezTo>
                  <a:pt x="171450" y="40094"/>
                  <a:pt x="160556" y="61079"/>
                  <a:pt x="145822" y="78804"/>
                </a:cubicBezTo>
                <a:cubicBezTo>
                  <a:pt x="135062" y="91708"/>
                  <a:pt x="121801" y="103406"/>
                  <a:pt x="108496" y="114300"/>
                </a:cubicBezTo>
                <a:cubicBezTo>
                  <a:pt x="121801" y="125239"/>
                  <a:pt x="135062" y="136892"/>
                  <a:pt x="145822" y="149796"/>
                </a:cubicBezTo>
                <a:cubicBezTo>
                  <a:pt x="160556" y="167476"/>
                  <a:pt x="171450" y="188506"/>
                  <a:pt x="171450" y="214313"/>
                </a:cubicBezTo>
                <a:cubicBezTo>
                  <a:pt x="171450" y="222215"/>
                  <a:pt x="165065" y="228600"/>
                  <a:pt x="157163" y="228600"/>
                </a:cubicBezTo>
                <a:cubicBezTo>
                  <a:pt x="149260" y="228600"/>
                  <a:pt x="142875" y="222215"/>
                  <a:pt x="142875" y="214313"/>
                </a:cubicBezTo>
                <a:lnTo>
                  <a:pt x="28575" y="214313"/>
                </a:lnTo>
                <a:cubicBezTo>
                  <a:pt x="28575" y="222215"/>
                  <a:pt x="22190" y="228600"/>
                  <a:pt x="14288" y="228600"/>
                </a:cubicBezTo>
                <a:cubicBezTo>
                  <a:pt x="6385" y="228600"/>
                  <a:pt x="0" y="222215"/>
                  <a:pt x="0" y="214313"/>
                </a:cubicBezTo>
                <a:cubicBezTo>
                  <a:pt x="0" y="188506"/>
                  <a:pt x="10894" y="167521"/>
                  <a:pt x="25628" y="149796"/>
                </a:cubicBezTo>
                <a:cubicBezTo>
                  <a:pt x="36388" y="136892"/>
                  <a:pt x="49649" y="125239"/>
                  <a:pt x="62954" y="114300"/>
                </a:cubicBezTo>
                <a:cubicBezTo>
                  <a:pt x="49649" y="103361"/>
                  <a:pt x="36388" y="91708"/>
                  <a:pt x="25628" y="78804"/>
                </a:cubicBezTo>
                <a:cubicBezTo>
                  <a:pt x="10894" y="61079"/>
                  <a:pt x="0" y="40094"/>
                  <a:pt x="0" y="14288"/>
                </a:cubicBezTo>
                <a:cubicBezTo>
                  <a:pt x="0" y="6385"/>
                  <a:pt x="6385" y="0"/>
                  <a:pt x="14288" y="0"/>
                </a:cubicBezTo>
                <a:cubicBezTo>
                  <a:pt x="22190" y="0"/>
                  <a:pt x="28575" y="6385"/>
                  <a:pt x="28575" y="14288"/>
                </a:cubicBezTo>
                <a:lnTo>
                  <a:pt x="142875" y="14288"/>
                </a:lnTo>
                <a:cubicBezTo>
                  <a:pt x="142875" y="6385"/>
                  <a:pt x="149260" y="0"/>
                  <a:pt x="157163" y="0"/>
                </a:cubicBezTo>
                <a:close/>
                <a:moveTo>
                  <a:pt x="126578" y="171450"/>
                </a:moveTo>
                <a:lnTo>
                  <a:pt x="44916" y="171450"/>
                </a:lnTo>
                <a:cubicBezTo>
                  <a:pt x="41255" y="176138"/>
                  <a:pt x="38174" y="180871"/>
                  <a:pt x="35719" y="185738"/>
                </a:cubicBezTo>
                <a:lnTo>
                  <a:pt x="135821" y="185738"/>
                </a:lnTo>
                <a:cubicBezTo>
                  <a:pt x="133320" y="180871"/>
                  <a:pt x="130239" y="176138"/>
                  <a:pt x="126623" y="171450"/>
                </a:cubicBezTo>
                <a:close/>
                <a:moveTo>
                  <a:pt x="106263" y="150019"/>
                </a:moveTo>
                <a:cubicBezTo>
                  <a:pt x="99879" y="144214"/>
                  <a:pt x="92958" y="138499"/>
                  <a:pt x="85725" y="132606"/>
                </a:cubicBezTo>
                <a:cubicBezTo>
                  <a:pt x="78492" y="138455"/>
                  <a:pt x="71571" y="144214"/>
                  <a:pt x="65187" y="150019"/>
                </a:cubicBezTo>
                <a:lnTo>
                  <a:pt x="106263" y="150019"/>
                </a:lnTo>
                <a:close/>
                <a:moveTo>
                  <a:pt x="44872" y="57150"/>
                </a:moveTo>
                <a:lnTo>
                  <a:pt x="126534" y="57150"/>
                </a:lnTo>
                <a:cubicBezTo>
                  <a:pt x="130195" y="52462"/>
                  <a:pt x="133276" y="47729"/>
                  <a:pt x="135731" y="42863"/>
                </a:cubicBezTo>
                <a:lnTo>
                  <a:pt x="35674" y="42863"/>
                </a:lnTo>
                <a:cubicBezTo>
                  <a:pt x="38174" y="47729"/>
                  <a:pt x="41255" y="52462"/>
                  <a:pt x="44872" y="57150"/>
                </a:cubicBezTo>
                <a:close/>
                <a:moveTo>
                  <a:pt x="65187" y="78581"/>
                </a:moveTo>
                <a:cubicBezTo>
                  <a:pt x="71571" y="84386"/>
                  <a:pt x="78492" y="90101"/>
                  <a:pt x="85725" y="95994"/>
                </a:cubicBezTo>
                <a:cubicBezTo>
                  <a:pt x="92958" y="90145"/>
                  <a:pt x="99879" y="84386"/>
                  <a:pt x="106263" y="78581"/>
                </a:cubicBezTo>
                <a:lnTo>
                  <a:pt x="65187" y="78581"/>
                </a:ln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6" name="Text 20"/>
          <p:cNvSpPr/>
          <p:nvPr/>
        </p:nvSpPr>
        <p:spPr>
          <a:xfrm>
            <a:off x="4267440" y="4110120"/>
            <a:ext cx="375264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DNA Analysis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87" name="Text 21"/>
          <p:cNvSpPr/>
          <p:nvPr/>
        </p:nvSpPr>
        <p:spPr>
          <a:xfrm>
            <a:off x="4267440" y="4529160"/>
            <a:ext cx="373356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Used in forensic science to calculate the probability of DNA profile matches in large databases.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88" name="Shape 22"/>
          <p:cNvSpPr/>
          <p:nvPr/>
        </p:nvSpPr>
        <p:spPr>
          <a:xfrm>
            <a:off x="8154000" y="3571920"/>
            <a:ext cx="3657240" cy="8640"/>
          </a:xfrm>
          <a:custGeom>
            <a:avLst/>
            <a:gdLst/>
            <a:ahLst/>
            <a:rect l="l" t="t" r="r" b="b"/>
            <a:pathLst>
              <a:path w="3657600" h="9525">
                <a:moveTo>
                  <a:pt x="0" y="0"/>
                </a:moveTo>
                <a:lnTo>
                  <a:pt x="3657600" y="0"/>
                </a:lnTo>
                <a:lnTo>
                  <a:pt x="3657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9" name="Shape 23"/>
          <p:cNvSpPr/>
          <p:nvPr/>
        </p:nvSpPr>
        <p:spPr>
          <a:xfrm>
            <a:off x="8182800" y="3767040"/>
            <a:ext cx="227880" cy="227880"/>
          </a:xfrm>
          <a:custGeom>
            <a:avLst/>
            <a:gdLst/>
            <a:ahLst/>
            <a:rect l="l" t="t" r="r" b="b"/>
            <a:pathLst>
              <a:path w="228600" h="228600">
                <a:moveTo>
                  <a:pt x="180290" y="15359"/>
                </a:moveTo>
                <a:cubicBezTo>
                  <a:pt x="185648" y="13127"/>
                  <a:pt x="191765" y="14377"/>
                  <a:pt x="195873" y="18440"/>
                </a:cubicBezTo>
                <a:lnTo>
                  <a:pt x="224448" y="47015"/>
                </a:lnTo>
                <a:cubicBezTo>
                  <a:pt x="227127" y="49694"/>
                  <a:pt x="228645" y="53310"/>
                  <a:pt x="228645" y="57105"/>
                </a:cubicBezTo>
                <a:cubicBezTo>
                  <a:pt x="228645" y="60900"/>
                  <a:pt x="227127" y="64517"/>
                  <a:pt x="224448" y="67196"/>
                </a:cubicBezTo>
                <a:lnTo>
                  <a:pt x="195873" y="95771"/>
                </a:lnTo>
                <a:cubicBezTo>
                  <a:pt x="191765" y="99879"/>
                  <a:pt x="185648" y="101084"/>
                  <a:pt x="180290" y="98852"/>
                </a:cubicBezTo>
                <a:cubicBezTo>
                  <a:pt x="174933" y="96619"/>
                  <a:pt x="171450" y="91485"/>
                  <a:pt x="171450" y="85725"/>
                </a:cubicBezTo>
                <a:lnTo>
                  <a:pt x="171450" y="71438"/>
                </a:lnTo>
                <a:lnTo>
                  <a:pt x="157163" y="71438"/>
                </a:lnTo>
                <a:cubicBezTo>
                  <a:pt x="152653" y="71438"/>
                  <a:pt x="148411" y="73536"/>
                  <a:pt x="145733" y="77153"/>
                </a:cubicBezTo>
                <a:lnTo>
                  <a:pt x="131266" y="96441"/>
                </a:lnTo>
                <a:lnTo>
                  <a:pt x="113407" y="72643"/>
                </a:lnTo>
                <a:lnTo>
                  <a:pt x="122873" y="60007"/>
                </a:lnTo>
                <a:cubicBezTo>
                  <a:pt x="130954" y="49203"/>
                  <a:pt x="143679" y="42863"/>
                  <a:pt x="157163" y="42863"/>
                </a:cubicBezTo>
                <a:lnTo>
                  <a:pt x="171450" y="42863"/>
                </a:lnTo>
                <a:lnTo>
                  <a:pt x="171450" y="28575"/>
                </a:lnTo>
                <a:cubicBezTo>
                  <a:pt x="171450" y="22815"/>
                  <a:pt x="174933" y="17591"/>
                  <a:pt x="180290" y="15359"/>
                </a:cubicBezTo>
                <a:close/>
                <a:moveTo>
                  <a:pt x="68759" y="132159"/>
                </a:moveTo>
                <a:lnTo>
                  <a:pt x="86618" y="155957"/>
                </a:lnTo>
                <a:lnTo>
                  <a:pt x="77153" y="168593"/>
                </a:lnTo>
                <a:cubicBezTo>
                  <a:pt x="69071" y="179397"/>
                  <a:pt x="56346" y="185738"/>
                  <a:pt x="42863" y="185738"/>
                </a:cubicBezTo>
                <a:lnTo>
                  <a:pt x="14288" y="185738"/>
                </a:lnTo>
                <a:cubicBezTo>
                  <a:pt x="6385" y="185738"/>
                  <a:pt x="0" y="179353"/>
                  <a:pt x="0" y="171450"/>
                </a:cubicBezTo>
                <a:cubicBezTo>
                  <a:pt x="0" y="163547"/>
                  <a:pt x="6385" y="157163"/>
                  <a:pt x="14288" y="157163"/>
                </a:cubicBezTo>
                <a:lnTo>
                  <a:pt x="42863" y="157163"/>
                </a:lnTo>
                <a:cubicBezTo>
                  <a:pt x="47372" y="157163"/>
                  <a:pt x="51614" y="155064"/>
                  <a:pt x="54293" y="151448"/>
                </a:cubicBezTo>
                <a:lnTo>
                  <a:pt x="68759" y="132159"/>
                </a:lnTo>
                <a:close/>
                <a:moveTo>
                  <a:pt x="195828" y="210116"/>
                </a:moveTo>
                <a:cubicBezTo>
                  <a:pt x="191720" y="214223"/>
                  <a:pt x="185604" y="215429"/>
                  <a:pt x="180246" y="213196"/>
                </a:cubicBezTo>
                <a:cubicBezTo>
                  <a:pt x="174888" y="210964"/>
                  <a:pt x="171450" y="205785"/>
                  <a:pt x="171450" y="200025"/>
                </a:cubicBezTo>
                <a:lnTo>
                  <a:pt x="171450" y="185738"/>
                </a:lnTo>
                <a:lnTo>
                  <a:pt x="157163" y="185738"/>
                </a:lnTo>
                <a:cubicBezTo>
                  <a:pt x="143679" y="185738"/>
                  <a:pt x="130954" y="179397"/>
                  <a:pt x="122873" y="168593"/>
                </a:cubicBezTo>
                <a:lnTo>
                  <a:pt x="54293" y="77153"/>
                </a:lnTo>
                <a:cubicBezTo>
                  <a:pt x="51614" y="73536"/>
                  <a:pt x="47372" y="71438"/>
                  <a:pt x="42863" y="71438"/>
                </a:cubicBezTo>
                <a:lnTo>
                  <a:pt x="14288" y="71438"/>
                </a:lnTo>
                <a:cubicBezTo>
                  <a:pt x="6385" y="71438"/>
                  <a:pt x="0" y="65053"/>
                  <a:pt x="0" y="57150"/>
                </a:cubicBezTo>
                <a:cubicBezTo>
                  <a:pt x="0" y="49247"/>
                  <a:pt x="6385" y="42863"/>
                  <a:pt x="14288" y="42863"/>
                </a:cubicBezTo>
                <a:lnTo>
                  <a:pt x="42863" y="42863"/>
                </a:lnTo>
                <a:cubicBezTo>
                  <a:pt x="56346" y="42863"/>
                  <a:pt x="69071" y="49203"/>
                  <a:pt x="77153" y="60008"/>
                </a:cubicBezTo>
                <a:lnTo>
                  <a:pt x="145733" y="151448"/>
                </a:lnTo>
                <a:cubicBezTo>
                  <a:pt x="148411" y="155064"/>
                  <a:pt x="152653" y="157163"/>
                  <a:pt x="157163" y="157163"/>
                </a:cubicBezTo>
                <a:lnTo>
                  <a:pt x="171450" y="157163"/>
                </a:lnTo>
                <a:lnTo>
                  <a:pt x="171450" y="142875"/>
                </a:lnTo>
                <a:cubicBezTo>
                  <a:pt x="171450" y="137115"/>
                  <a:pt x="174933" y="131891"/>
                  <a:pt x="180290" y="129659"/>
                </a:cubicBezTo>
                <a:cubicBezTo>
                  <a:pt x="185648" y="127427"/>
                  <a:pt x="191765" y="128677"/>
                  <a:pt x="195873" y="132740"/>
                </a:cubicBezTo>
                <a:lnTo>
                  <a:pt x="224448" y="161315"/>
                </a:lnTo>
                <a:cubicBezTo>
                  <a:pt x="227127" y="163994"/>
                  <a:pt x="228645" y="167610"/>
                  <a:pt x="228645" y="171405"/>
                </a:cubicBezTo>
                <a:cubicBezTo>
                  <a:pt x="228645" y="175200"/>
                  <a:pt x="227127" y="178817"/>
                  <a:pt x="224448" y="181496"/>
                </a:cubicBezTo>
                <a:lnTo>
                  <a:pt x="195873" y="210071"/>
                </a:ln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0" name="Text 24"/>
          <p:cNvSpPr/>
          <p:nvPr/>
        </p:nvSpPr>
        <p:spPr>
          <a:xfrm>
            <a:off x="8154000" y="4110120"/>
            <a:ext cx="375264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Random Sampling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91" name="Text 25"/>
          <p:cNvSpPr/>
          <p:nvPr/>
        </p:nvSpPr>
        <p:spPr>
          <a:xfrm>
            <a:off x="8154000" y="4529160"/>
            <a:ext cx="373356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Informs the design of statistical sampling methods and quality control processes in manufacturing.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92" name="Shape 26"/>
          <p:cNvSpPr/>
          <p:nvPr/>
        </p:nvSpPr>
        <p:spPr>
          <a:xfrm>
            <a:off x="380880" y="6091200"/>
            <a:ext cx="11430360" cy="8640"/>
          </a:xfrm>
          <a:custGeom>
            <a:avLst/>
            <a:gdLst/>
            <a:ah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3" name="Shape 27"/>
          <p:cNvSpPr/>
          <p:nvPr/>
        </p:nvSpPr>
        <p:spPr>
          <a:xfrm>
            <a:off x="399960" y="6286680"/>
            <a:ext cx="151560" cy="15156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104745" y="83344"/>
                </a:moveTo>
                <a:lnTo>
                  <a:pt x="47923" y="83344"/>
                </a:lnTo>
                <a:cubicBezTo>
                  <a:pt x="48786" y="102543"/>
                  <a:pt x="53042" y="120223"/>
                  <a:pt x="59085" y="133171"/>
                </a:cubicBezTo>
                <a:cubicBezTo>
                  <a:pt x="62478" y="140464"/>
                  <a:pt x="66139" y="145613"/>
                  <a:pt x="69533" y="148769"/>
                </a:cubicBezTo>
                <a:cubicBezTo>
                  <a:pt x="72866" y="151894"/>
                  <a:pt x="75158" y="152400"/>
                  <a:pt x="76349" y="152400"/>
                </a:cubicBezTo>
                <a:cubicBezTo>
                  <a:pt x="77539" y="152400"/>
                  <a:pt x="79831" y="151894"/>
                  <a:pt x="83165" y="148769"/>
                </a:cubicBezTo>
                <a:cubicBezTo>
                  <a:pt x="86558" y="145613"/>
                  <a:pt x="90220" y="140434"/>
                  <a:pt x="93613" y="133171"/>
                </a:cubicBezTo>
                <a:cubicBezTo>
                  <a:pt x="99655" y="120223"/>
                  <a:pt x="103912" y="102543"/>
                  <a:pt x="104775" y="83344"/>
                </a:cubicBezTo>
                <a:close/>
                <a:moveTo>
                  <a:pt x="47893" y="69056"/>
                </a:moveTo>
                <a:lnTo>
                  <a:pt x="104715" y="69056"/>
                </a:lnTo>
                <a:cubicBezTo>
                  <a:pt x="103882" y="49857"/>
                  <a:pt x="99626" y="32177"/>
                  <a:pt x="93583" y="19229"/>
                </a:cubicBezTo>
                <a:cubicBezTo>
                  <a:pt x="90190" y="11966"/>
                  <a:pt x="86529" y="6787"/>
                  <a:pt x="83135" y="3631"/>
                </a:cubicBezTo>
                <a:cubicBezTo>
                  <a:pt x="79802" y="506"/>
                  <a:pt x="77510" y="0"/>
                  <a:pt x="76319" y="0"/>
                </a:cubicBezTo>
                <a:cubicBezTo>
                  <a:pt x="75128" y="0"/>
                  <a:pt x="72836" y="506"/>
                  <a:pt x="69503" y="3631"/>
                </a:cubicBezTo>
                <a:cubicBezTo>
                  <a:pt x="66109" y="6787"/>
                  <a:pt x="62448" y="11966"/>
                  <a:pt x="59055" y="19229"/>
                </a:cubicBezTo>
                <a:cubicBezTo>
                  <a:pt x="53013" y="32177"/>
                  <a:pt x="48756" y="49857"/>
                  <a:pt x="47893" y="69056"/>
                </a:cubicBezTo>
                <a:close/>
                <a:moveTo>
                  <a:pt x="33605" y="69056"/>
                </a:moveTo>
                <a:cubicBezTo>
                  <a:pt x="34647" y="43577"/>
                  <a:pt x="41225" y="19913"/>
                  <a:pt x="50840" y="4376"/>
                </a:cubicBezTo>
                <a:cubicBezTo>
                  <a:pt x="23426" y="14079"/>
                  <a:pt x="3244" y="39052"/>
                  <a:pt x="446" y="69056"/>
                </a:cubicBezTo>
                <a:lnTo>
                  <a:pt x="33605" y="69056"/>
                </a:lnTo>
                <a:close/>
                <a:moveTo>
                  <a:pt x="446" y="83344"/>
                </a:moveTo>
                <a:cubicBezTo>
                  <a:pt x="3244" y="113348"/>
                  <a:pt x="23426" y="138321"/>
                  <a:pt x="50840" y="148024"/>
                </a:cubicBezTo>
                <a:cubicBezTo>
                  <a:pt x="41225" y="132487"/>
                  <a:pt x="34647" y="108823"/>
                  <a:pt x="33605" y="83344"/>
                </a:cubicBezTo>
                <a:lnTo>
                  <a:pt x="446" y="83344"/>
                </a:lnTo>
                <a:close/>
                <a:moveTo>
                  <a:pt x="119033" y="83344"/>
                </a:moveTo>
                <a:cubicBezTo>
                  <a:pt x="117991" y="108823"/>
                  <a:pt x="111413" y="132487"/>
                  <a:pt x="101798" y="148024"/>
                </a:cubicBezTo>
                <a:cubicBezTo>
                  <a:pt x="129213" y="138291"/>
                  <a:pt x="149394" y="113348"/>
                  <a:pt x="152192" y="83344"/>
                </a:cubicBezTo>
                <a:lnTo>
                  <a:pt x="119033" y="83344"/>
                </a:lnTo>
                <a:close/>
                <a:moveTo>
                  <a:pt x="152192" y="69056"/>
                </a:moveTo>
                <a:cubicBezTo>
                  <a:pt x="149394" y="39052"/>
                  <a:pt x="129213" y="14079"/>
                  <a:pt x="101798" y="4376"/>
                </a:cubicBezTo>
                <a:cubicBezTo>
                  <a:pt x="111413" y="19913"/>
                  <a:pt x="117991" y="43577"/>
                  <a:pt x="119033" y="69056"/>
                </a:cubicBezTo>
                <a:lnTo>
                  <a:pt x="152192" y="69056"/>
                </a:ln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4" name="Text 28"/>
          <p:cNvSpPr/>
          <p:nvPr/>
        </p:nvSpPr>
        <p:spPr>
          <a:xfrm>
            <a:off x="628560" y="6248520"/>
            <a:ext cx="11259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Universal principle:</a:t>
            </a: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 The mathematics of the birthday paradox appears wherever we need to understand collision probabilities in large sets.</a:t>
            </a:r>
            <a:endParaRPr b="0" lang="en-HK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Shape 0"/>
          <p:cNvSpPr/>
          <p:nvPr/>
        </p:nvSpPr>
        <p:spPr>
          <a:xfrm>
            <a:off x="380880" y="380880"/>
            <a:ext cx="608760" cy="18360"/>
          </a:xfrm>
          <a:custGeom>
            <a:avLst/>
            <a:gdLst/>
            <a:ahLst/>
            <a:rect l="l" t="t" r="r" b="b"/>
            <a:pathLst>
              <a:path w="609600" h="19050">
                <a:moveTo>
                  <a:pt x="0" y="0"/>
                </a:moveTo>
                <a:lnTo>
                  <a:pt x="609600" y="0"/>
                </a:lnTo>
                <a:lnTo>
                  <a:pt x="6096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6" name="Text 1"/>
          <p:cNvSpPr/>
          <p:nvPr/>
        </p:nvSpPr>
        <p:spPr>
          <a:xfrm>
            <a:off x="380880" y="628560"/>
            <a:ext cx="1149696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310" strike="noStrike">
                <a:solidFill>
                  <a:srgbClr val="86868b"/>
                </a:solidFill>
                <a:latin typeface="Liter"/>
                <a:ea typeface="Liter"/>
              </a:rPr>
              <a:t>Conclusion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97" name="Text 2"/>
          <p:cNvSpPr/>
          <p:nvPr/>
        </p:nvSpPr>
        <p:spPr>
          <a:xfrm>
            <a:off x="380880" y="971640"/>
            <a:ext cx="11716200" cy="57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4500" spc="-1" strike="noStrike">
                <a:solidFill>
                  <a:srgbClr val="1d1d1d"/>
                </a:solidFill>
                <a:latin typeface="Liter"/>
                <a:ea typeface="Liter"/>
              </a:rPr>
              <a:t>Key Takeaways</a:t>
            </a:r>
            <a:endParaRPr b="0" lang="en-HK" sz="4500" spc="-1" strike="noStrike">
              <a:latin typeface="Arial"/>
            </a:endParaRPr>
          </a:p>
        </p:txBody>
      </p:sp>
      <p:sp>
        <p:nvSpPr>
          <p:cNvPr id="298" name="Shape 3"/>
          <p:cNvSpPr/>
          <p:nvPr/>
        </p:nvSpPr>
        <p:spPr>
          <a:xfrm>
            <a:off x="385920" y="2714760"/>
            <a:ext cx="370800" cy="370800"/>
          </a:xfrm>
          <a:custGeom>
            <a:avLst/>
            <a:gdLst/>
            <a:ahLst/>
            <a:rect l="l" t="t" r="r" b="b"/>
            <a:pathLst>
              <a:path w="371475" h="371475">
                <a:moveTo>
                  <a:pt x="0" y="0"/>
                </a:moveTo>
                <a:lnTo>
                  <a:pt x="371475" y="0"/>
                </a:lnTo>
                <a:lnTo>
                  <a:pt x="371475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0071e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9" name="Text 4"/>
          <p:cNvSpPr/>
          <p:nvPr/>
        </p:nvSpPr>
        <p:spPr>
          <a:xfrm>
            <a:off x="338040" y="2709720"/>
            <a:ext cx="447120" cy="3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350" spc="-1" strike="noStrike">
                <a:solidFill>
                  <a:srgbClr val="0071e3"/>
                </a:solidFill>
                <a:latin typeface="Liter"/>
                <a:ea typeface="Liter"/>
              </a:rPr>
              <a:t>1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300" name="Text 5"/>
          <p:cNvSpPr/>
          <p:nvPr/>
        </p:nvSpPr>
        <p:spPr>
          <a:xfrm>
            <a:off x="914400" y="2709720"/>
            <a:ext cx="504792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The Surprising Number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301" name="Text 6"/>
          <p:cNvSpPr/>
          <p:nvPr/>
        </p:nvSpPr>
        <p:spPr>
          <a:xfrm>
            <a:off x="914400" y="3052800"/>
            <a:ext cx="502884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Only </a:t>
            </a:r>
            <a:r>
              <a:rPr b="1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23 people</a:t>
            </a: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 are needed for a 50.7% chance of a shared birthday—far fewer than intuition suggests.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02" name="Shape 7"/>
          <p:cNvSpPr/>
          <p:nvPr/>
        </p:nvSpPr>
        <p:spPr>
          <a:xfrm>
            <a:off x="6329880" y="2714760"/>
            <a:ext cx="370800" cy="370800"/>
          </a:xfrm>
          <a:custGeom>
            <a:avLst/>
            <a:gdLst/>
            <a:ahLst/>
            <a:rect l="l" t="t" r="r" b="b"/>
            <a:pathLst>
              <a:path w="371475" h="371475">
                <a:moveTo>
                  <a:pt x="0" y="0"/>
                </a:moveTo>
                <a:lnTo>
                  <a:pt x="371475" y="0"/>
                </a:lnTo>
                <a:lnTo>
                  <a:pt x="371475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0071e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3" name="Text 8"/>
          <p:cNvSpPr/>
          <p:nvPr/>
        </p:nvSpPr>
        <p:spPr>
          <a:xfrm>
            <a:off x="6282000" y="2709720"/>
            <a:ext cx="447120" cy="3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350" spc="-1" strike="noStrike">
                <a:solidFill>
                  <a:srgbClr val="0071e3"/>
                </a:solidFill>
                <a:latin typeface="Liter"/>
                <a:ea typeface="Liter"/>
              </a:rPr>
              <a:t>2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304" name="Text 9"/>
          <p:cNvSpPr/>
          <p:nvPr/>
        </p:nvSpPr>
        <p:spPr>
          <a:xfrm>
            <a:off x="6858360" y="2709720"/>
            <a:ext cx="504792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The Real Culprit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305" name="Text 10"/>
          <p:cNvSpPr/>
          <p:nvPr/>
        </p:nvSpPr>
        <p:spPr>
          <a:xfrm>
            <a:off x="6858360" y="3052800"/>
            <a:ext cx="502884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The paradox arises from counting </a:t>
            </a:r>
            <a:r>
              <a:rPr b="1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all possible pairs</a:t>
            </a: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 (253 with 23 people), not just comparing to one person.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06" name="Shape 11"/>
          <p:cNvSpPr/>
          <p:nvPr/>
        </p:nvSpPr>
        <p:spPr>
          <a:xfrm>
            <a:off x="385920" y="3781440"/>
            <a:ext cx="370800" cy="370800"/>
          </a:xfrm>
          <a:custGeom>
            <a:avLst/>
            <a:gdLst/>
            <a:ahLst/>
            <a:rect l="l" t="t" r="r" b="b"/>
            <a:pathLst>
              <a:path w="371475" h="371475">
                <a:moveTo>
                  <a:pt x="0" y="0"/>
                </a:moveTo>
                <a:lnTo>
                  <a:pt x="371475" y="0"/>
                </a:lnTo>
                <a:lnTo>
                  <a:pt x="371475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0071e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7" name="Text 12"/>
          <p:cNvSpPr/>
          <p:nvPr/>
        </p:nvSpPr>
        <p:spPr>
          <a:xfrm>
            <a:off x="338040" y="3776760"/>
            <a:ext cx="447120" cy="3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350" spc="-1" strike="noStrike">
                <a:solidFill>
                  <a:srgbClr val="0071e3"/>
                </a:solidFill>
                <a:latin typeface="Liter"/>
                <a:ea typeface="Liter"/>
              </a:rPr>
              <a:t>3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308" name="Text 13"/>
          <p:cNvSpPr/>
          <p:nvPr/>
        </p:nvSpPr>
        <p:spPr>
          <a:xfrm>
            <a:off x="914400" y="3776760"/>
            <a:ext cx="504792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Intuition's Blind Spot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309" name="Text 14"/>
          <p:cNvSpPr/>
          <p:nvPr/>
        </p:nvSpPr>
        <p:spPr>
          <a:xfrm>
            <a:off x="914400" y="4119480"/>
            <a:ext cx="502884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Our brains think </a:t>
            </a:r>
            <a:r>
              <a:rPr b="1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linearly</a:t>
            </a: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, but combinations grow </a:t>
            </a:r>
            <a:r>
              <a:rPr b="1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quadratically</a:t>
            </a: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. We underestimate exponential growth.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10" name="Shape 15"/>
          <p:cNvSpPr/>
          <p:nvPr/>
        </p:nvSpPr>
        <p:spPr>
          <a:xfrm>
            <a:off x="6329880" y="3781440"/>
            <a:ext cx="370800" cy="370800"/>
          </a:xfrm>
          <a:custGeom>
            <a:avLst/>
            <a:gdLst/>
            <a:ahLst/>
            <a:rect l="l" t="t" r="r" b="b"/>
            <a:pathLst>
              <a:path w="371475" h="371475">
                <a:moveTo>
                  <a:pt x="0" y="0"/>
                </a:moveTo>
                <a:lnTo>
                  <a:pt x="371475" y="0"/>
                </a:lnTo>
                <a:lnTo>
                  <a:pt x="371475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0071e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1" name="Text 16"/>
          <p:cNvSpPr/>
          <p:nvPr/>
        </p:nvSpPr>
        <p:spPr>
          <a:xfrm>
            <a:off x="6282000" y="3776760"/>
            <a:ext cx="447120" cy="3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350" spc="-1" strike="noStrike">
                <a:solidFill>
                  <a:srgbClr val="0071e3"/>
                </a:solidFill>
                <a:latin typeface="Liter"/>
                <a:ea typeface="Liter"/>
              </a:rPr>
              <a:t>4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312" name="Text 17"/>
          <p:cNvSpPr/>
          <p:nvPr/>
        </p:nvSpPr>
        <p:spPr>
          <a:xfrm>
            <a:off x="6858360" y="3776760"/>
            <a:ext cx="504792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Real-World Impact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313" name="Text 18"/>
          <p:cNvSpPr/>
          <p:nvPr/>
        </p:nvSpPr>
        <p:spPr>
          <a:xfrm>
            <a:off x="6858360" y="4119480"/>
            <a:ext cx="502884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This mathematics underlies </a:t>
            </a:r>
            <a:r>
              <a:rPr b="1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birthday attacks</a:t>
            </a: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 in cryptography, affecting digital security worldwide.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14" name="Shape 19"/>
          <p:cNvSpPr/>
          <p:nvPr/>
        </p:nvSpPr>
        <p:spPr>
          <a:xfrm>
            <a:off x="380880" y="5634000"/>
            <a:ext cx="11430360" cy="8640"/>
          </a:xfrm>
          <a:custGeom>
            <a:avLst/>
            <a:gdLst/>
            <a:ah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5" name="Text 20"/>
          <p:cNvSpPr/>
          <p:nvPr/>
        </p:nvSpPr>
        <p:spPr>
          <a:xfrm>
            <a:off x="380880" y="5867280"/>
            <a:ext cx="777240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1d1d1d"/>
                </a:solidFill>
                <a:latin typeface="Liter"/>
                <a:ea typeface="Liter"/>
              </a:rPr>
              <a:t>"The birthday paradox reminds us that intuition is a poor guide to probability."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316" name="Text 21"/>
          <p:cNvSpPr/>
          <p:nvPr/>
        </p:nvSpPr>
        <p:spPr>
          <a:xfrm>
            <a:off x="380880" y="6248520"/>
            <a:ext cx="77342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— </a:t>
            </a: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A lesson in mathematical thinking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17" name="Text 22"/>
          <p:cNvSpPr/>
          <p:nvPr/>
        </p:nvSpPr>
        <p:spPr>
          <a:xfrm>
            <a:off x="10064880" y="5981760"/>
            <a:ext cx="174240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6868b"/>
                </a:solidFill>
                <a:latin typeface="Liter"/>
                <a:ea typeface="Liter"/>
              </a:rPr>
              <a:t>The Birthday Paradox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318" name="Text 23"/>
          <p:cNvSpPr/>
          <p:nvPr/>
        </p:nvSpPr>
        <p:spPr>
          <a:xfrm>
            <a:off x="10074600" y="6210360"/>
            <a:ext cx="173268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10000"/>
              </a:lnSpc>
              <a:buNone/>
            </a:pPr>
            <a:r>
              <a:rPr b="0" lang="en-US" sz="900" spc="-1" strike="noStrike">
                <a:solidFill>
                  <a:srgbClr val="86868b"/>
                </a:solidFill>
                <a:latin typeface="Liter"/>
                <a:ea typeface="Liter"/>
              </a:rPr>
              <a:t>Probability Theory &amp; Applications</a:t>
            </a:r>
            <a:endParaRPr b="0" lang="en-HK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LibreOffice/7.3.7.2$Linux_X86_64 LibreOffice_project/30$Build-2</Application>
  <AppVersion>15.0000</AppVersion>
  <Words>0</Words>
  <Paragraphs>0</Paragraphs>
  <Company>Moonshot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2026-03-18T07:50:35Z</dcterms:created>
  <dc:creator>Kimi</dc:creator>
  <dc:description/>
  <dc:language>en-HK</dc:language>
  <cp:lastModifiedBy/>
  <dcterms:modified xsi:type="dcterms:W3CDTF">2026-04-18T20:17:27Z</dcterms:modified>
  <cp:revision>3</cp:revision>
  <dc:subject>The Birthday Paradox</dc:subject>
  <dc:title>The Birthday Paradox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{"Label":"The Birthday Paradox","ContentProducer":"001191110108MACG2KBH8F10000","ProduceID":"19cffea4-4fe2-8fa2-8000-0000145c2f53","ReservedCode1":"","ContentPropagator":"001191110108MACG2KBH8F20000","PropagateID":"19cffea4-4fe2-8fa2-8000-0000145c2f53","ReservedCode2":""}</vt:lpwstr>
  </property>
  <property fmtid="{D5CDD505-2E9C-101B-9397-08002B2CF9AE}" pid="3" name="Notes">
    <vt:i4>17</vt:i4>
  </property>
  <property fmtid="{D5CDD505-2E9C-101B-9397-08002B2CF9AE}" pid="4" name="PresentationFormat">
    <vt:lpwstr>On-screen Show (16:9)</vt:lpwstr>
  </property>
  <property fmtid="{D5CDD505-2E9C-101B-9397-08002B2CF9AE}" pid="5" name="Slides">
    <vt:i4>17</vt:i4>
  </property>
</Properties>
</file>