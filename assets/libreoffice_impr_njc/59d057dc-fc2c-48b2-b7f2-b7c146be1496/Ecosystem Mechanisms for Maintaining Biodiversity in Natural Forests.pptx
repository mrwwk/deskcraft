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D47CBF5B-CFB4-42B2-9990-45B56D14EE7E}"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4960" cy="3084840"/>
          </a:xfrm>
          <a:prstGeom prst="rect">
            <a:avLst/>
          </a:prstGeom>
          <a:ln w="0">
            <a:noFill/>
          </a:ln>
        </p:spPr>
      </p:sp>
      <p:sp>
        <p:nvSpPr>
          <p:cNvPr id="820"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21" name="PlaceHolder 3"/>
          <p:cNvSpPr>
            <a:spLocks noGrp="1"/>
          </p:cNvSpPr>
          <p:nvPr>
            <p:ph type="sldNum" idx="4"/>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0E59070-9360-4468-A96B-9597E594D23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4960" cy="3084840"/>
          </a:xfrm>
          <a:prstGeom prst="rect">
            <a:avLst/>
          </a:prstGeom>
          <a:ln w="0">
            <a:noFill/>
          </a:ln>
        </p:spPr>
      </p:sp>
      <p:sp>
        <p:nvSpPr>
          <p:cNvPr id="823"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24" name="PlaceHolder 3"/>
          <p:cNvSpPr>
            <a:spLocks noGrp="1"/>
          </p:cNvSpPr>
          <p:nvPr>
            <p:ph type="sldNum" idx="5"/>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6EBDF19-0C61-4F08-A691-AB53DF3CEC1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4960" cy="3084840"/>
          </a:xfrm>
          <a:prstGeom prst="rect">
            <a:avLst/>
          </a:prstGeom>
          <a:ln w="0">
            <a:noFill/>
          </a:ln>
        </p:spPr>
      </p:sp>
      <p:sp>
        <p:nvSpPr>
          <p:cNvPr id="826"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27" name="PlaceHolder 3"/>
          <p:cNvSpPr>
            <a:spLocks noGrp="1"/>
          </p:cNvSpPr>
          <p:nvPr>
            <p:ph type="sldNum" idx="6"/>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08E4E70-4EF4-4940-AFA1-B601C351424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685800" y="1143000"/>
            <a:ext cx="5484960" cy="3084840"/>
          </a:xfrm>
          <a:prstGeom prst="rect">
            <a:avLst/>
          </a:prstGeom>
          <a:ln w="0">
            <a:noFill/>
          </a:ln>
        </p:spPr>
      </p:sp>
      <p:sp>
        <p:nvSpPr>
          <p:cNvPr id="829"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30" name="PlaceHolder 3"/>
          <p:cNvSpPr>
            <a:spLocks noGrp="1"/>
          </p:cNvSpPr>
          <p:nvPr>
            <p:ph type="sldNum" idx="7"/>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F4347F0-FC4A-48C4-9AE1-CA7B382E8A4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685800" y="1143000"/>
            <a:ext cx="5484960" cy="3084840"/>
          </a:xfrm>
          <a:prstGeom prst="rect">
            <a:avLst/>
          </a:prstGeom>
          <a:ln w="0">
            <a:noFill/>
          </a:ln>
        </p:spPr>
      </p:sp>
      <p:sp>
        <p:nvSpPr>
          <p:cNvPr id="832"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33" name="PlaceHolder 3"/>
          <p:cNvSpPr>
            <a:spLocks noGrp="1"/>
          </p:cNvSpPr>
          <p:nvPr>
            <p:ph type="sldNum" idx="8"/>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F31E679-9ED2-4E50-B078-CDA1DD0DAFE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685800" y="1143000"/>
            <a:ext cx="5484960" cy="3084840"/>
          </a:xfrm>
          <a:prstGeom prst="rect">
            <a:avLst/>
          </a:prstGeom>
          <a:ln w="0">
            <a:noFill/>
          </a:ln>
        </p:spPr>
      </p:sp>
      <p:sp>
        <p:nvSpPr>
          <p:cNvPr id="835"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36" name="PlaceHolder 3"/>
          <p:cNvSpPr>
            <a:spLocks noGrp="1"/>
          </p:cNvSpPr>
          <p:nvPr>
            <p:ph type="sldNum" idx="9"/>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5DD06C7-A62F-405B-B5BF-67875E38C9F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4960" cy="3084840"/>
          </a:xfrm>
          <a:prstGeom prst="rect">
            <a:avLst/>
          </a:prstGeom>
          <a:ln w="0">
            <a:noFill/>
          </a:ln>
        </p:spPr>
      </p:sp>
      <p:sp>
        <p:nvSpPr>
          <p:cNvPr id="838"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39" name="PlaceHolder 3"/>
          <p:cNvSpPr>
            <a:spLocks noGrp="1"/>
          </p:cNvSpPr>
          <p:nvPr>
            <p:ph type="sldNum" idx="10"/>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AC11F8A-2B15-426C-8CE0-6E68F39E99C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685800" y="1143000"/>
            <a:ext cx="5484960" cy="3084840"/>
          </a:xfrm>
          <a:prstGeom prst="rect">
            <a:avLst/>
          </a:prstGeom>
          <a:ln w="0">
            <a:noFill/>
          </a:ln>
        </p:spPr>
      </p:sp>
      <p:sp>
        <p:nvSpPr>
          <p:cNvPr id="841"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42" name="PlaceHolder 3"/>
          <p:cNvSpPr>
            <a:spLocks noGrp="1"/>
          </p:cNvSpPr>
          <p:nvPr>
            <p:ph type="sldNum" idx="11"/>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A83CFCC-1D9F-4689-99DA-A2C4375DDFA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685800" y="1143000"/>
            <a:ext cx="5484960" cy="3084840"/>
          </a:xfrm>
          <a:prstGeom prst="rect">
            <a:avLst/>
          </a:prstGeom>
          <a:ln w="0">
            <a:noFill/>
          </a:ln>
        </p:spPr>
      </p:sp>
      <p:sp>
        <p:nvSpPr>
          <p:cNvPr id="844"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45" name="PlaceHolder 3"/>
          <p:cNvSpPr>
            <a:spLocks noGrp="1"/>
          </p:cNvSpPr>
          <p:nvPr>
            <p:ph type="sldNum" idx="12"/>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6E2C05B-15BC-4439-A5FE-18E48C6FC57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685800" y="1143000"/>
            <a:ext cx="5484960" cy="3084840"/>
          </a:xfrm>
          <a:prstGeom prst="rect">
            <a:avLst/>
          </a:prstGeom>
          <a:ln w="0">
            <a:noFill/>
          </a:ln>
        </p:spPr>
      </p:sp>
      <p:sp>
        <p:nvSpPr>
          <p:cNvPr id="847"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48" name="PlaceHolder 3"/>
          <p:cNvSpPr>
            <a:spLocks noGrp="1"/>
          </p:cNvSpPr>
          <p:nvPr>
            <p:ph type="sldNum" idx="13"/>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2917628-3406-4CF5-8875-90AD18A3175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685800" y="1143000"/>
            <a:ext cx="5484960" cy="3084840"/>
          </a:xfrm>
          <a:prstGeom prst="rect">
            <a:avLst/>
          </a:prstGeom>
          <a:ln w="0">
            <a:noFill/>
          </a:ln>
        </p:spPr>
      </p:sp>
      <p:sp>
        <p:nvSpPr>
          <p:cNvPr id="850"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51" name="PlaceHolder 3"/>
          <p:cNvSpPr>
            <a:spLocks noGrp="1"/>
          </p:cNvSpPr>
          <p:nvPr>
            <p:ph type="sldNum" idx="14"/>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E9245AF-7E62-4934-91D3-937F87A032E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685800" y="1143000"/>
            <a:ext cx="5484960" cy="3084840"/>
          </a:xfrm>
          <a:prstGeom prst="rect">
            <a:avLst/>
          </a:prstGeom>
          <a:ln w="0">
            <a:noFill/>
          </a:ln>
        </p:spPr>
      </p:sp>
      <p:sp>
        <p:nvSpPr>
          <p:cNvPr id="853"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54" name="PlaceHolder 3"/>
          <p:cNvSpPr>
            <a:spLocks noGrp="1"/>
          </p:cNvSpPr>
          <p:nvPr>
            <p:ph type="sldNum" idx="15"/>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65B3DE4-E718-4EBF-B8AA-57162E9C979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685800" y="1143000"/>
            <a:ext cx="5484960" cy="3084840"/>
          </a:xfrm>
          <a:prstGeom prst="rect">
            <a:avLst/>
          </a:prstGeom>
          <a:ln w="0">
            <a:noFill/>
          </a:ln>
        </p:spPr>
      </p:sp>
      <p:sp>
        <p:nvSpPr>
          <p:cNvPr id="856"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57" name="PlaceHolder 3"/>
          <p:cNvSpPr>
            <a:spLocks noGrp="1"/>
          </p:cNvSpPr>
          <p:nvPr>
            <p:ph type="sldNum" idx="16"/>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D582FA7-0216-4545-A4D5-B24F37D5E2A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685800" y="1143000"/>
            <a:ext cx="5484960" cy="3084840"/>
          </a:xfrm>
          <a:prstGeom prst="rect">
            <a:avLst/>
          </a:prstGeom>
          <a:ln w="0">
            <a:noFill/>
          </a:ln>
        </p:spPr>
      </p:sp>
      <p:sp>
        <p:nvSpPr>
          <p:cNvPr id="859"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60" name="PlaceHolder 3"/>
          <p:cNvSpPr>
            <a:spLocks noGrp="1"/>
          </p:cNvSpPr>
          <p:nvPr>
            <p:ph type="sldNum" idx="17"/>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D82A696-22E6-430C-BEE6-956991AF2E3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685800" y="1143000"/>
            <a:ext cx="5484960" cy="3084840"/>
          </a:xfrm>
          <a:prstGeom prst="rect">
            <a:avLst/>
          </a:prstGeom>
          <a:ln w="0">
            <a:noFill/>
          </a:ln>
        </p:spPr>
      </p:sp>
      <p:sp>
        <p:nvSpPr>
          <p:cNvPr id="862"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63" name="PlaceHolder 3"/>
          <p:cNvSpPr>
            <a:spLocks noGrp="1"/>
          </p:cNvSpPr>
          <p:nvPr>
            <p:ph type="sldNum" idx="18"/>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86163C4-B9D7-4B85-A71C-2C1C8C0B038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4960" cy="3084840"/>
          </a:xfrm>
          <a:prstGeom prst="rect">
            <a:avLst/>
          </a:prstGeom>
          <a:ln w="0">
            <a:noFill/>
          </a:ln>
        </p:spPr>
      </p:sp>
      <p:sp>
        <p:nvSpPr>
          <p:cNvPr id="865"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66" name="PlaceHolder 3"/>
          <p:cNvSpPr>
            <a:spLocks noGrp="1"/>
          </p:cNvSpPr>
          <p:nvPr>
            <p:ph type="sldNum" idx="19"/>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F2866B7-B7E3-4A2A-94B3-C364A1763DD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4960" cy="3084840"/>
          </a:xfrm>
          <a:prstGeom prst="rect">
            <a:avLst/>
          </a:prstGeom>
          <a:ln w="0">
            <a:noFill/>
          </a:ln>
        </p:spPr>
      </p:sp>
      <p:sp>
        <p:nvSpPr>
          <p:cNvPr id="868"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69" name="PlaceHolder 3"/>
          <p:cNvSpPr>
            <a:spLocks noGrp="1"/>
          </p:cNvSpPr>
          <p:nvPr>
            <p:ph type="sldNum" idx="20"/>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C1216E5-0F83-4DC0-AB9F-4ACA5FBC52B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4960" cy="3084840"/>
          </a:xfrm>
          <a:prstGeom prst="rect">
            <a:avLst/>
          </a:prstGeom>
          <a:ln w="0">
            <a:noFill/>
          </a:ln>
        </p:spPr>
      </p:sp>
      <p:sp>
        <p:nvSpPr>
          <p:cNvPr id="871"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72" name="PlaceHolder 3"/>
          <p:cNvSpPr>
            <a:spLocks noGrp="1"/>
          </p:cNvSpPr>
          <p:nvPr>
            <p:ph type="sldNum" idx="21"/>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C071E63-0134-43F5-95DA-32DA09207B3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4960" cy="3084840"/>
          </a:xfrm>
          <a:prstGeom prst="rect">
            <a:avLst/>
          </a:prstGeom>
          <a:ln w="0">
            <a:noFill/>
          </a:ln>
        </p:spPr>
      </p:sp>
      <p:sp>
        <p:nvSpPr>
          <p:cNvPr id="874"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875" name="PlaceHolder 3"/>
          <p:cNvSpPr>
            <a:spLocks noGrp="1"/>
          </p:cNvSpPr>
          <p:nvPr>
            <p:ph type="sldNum" idx="22"/>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9FCE5CE-3A1B-4223-BE83-5A32D61185B8}"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4" name="Image 0"/>
          <p:cNvSpPr/>
          <p:nvPr/>
        </p:nvSpPr>
        <p:spPr>
          <a:xfrm>
            <a:off x="0" y="0"/>
            <a:ext cx="12190680" cy="685656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90680" cy="68565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80000"/>
                </a:srgbClr>
              </a:gs>
            </a:gsLst>
            <a:lin ang="0"/>
          </a:gradFill>
          <a:ln w="0">
            <a:noFill/>
          </a:ln>
        </p:spPr>
        <p:style>
          <a:lnRef idx="0"/>
          <a:fillRef idx="0"/>
          <a:effectRef idx="0"/>
          <a:fontRef idx="minor"/>
        </p:style>
      </p:sp>
      <p:sp>
        <p:nvSpPr>
          <p:cNvPr id="46" name="Shape 1"/>
          <p:cNvSpPr/>
          <p:nvPr/>
        </p:nvSpPr>
        <p:spPr>
          <a:xfrm>
            <a:off x="380880" y="615240"/>
            <a:ext cx="2722680" cy="379440"/>
          </a:xfrm>
          <a:custGeom>
            <a:avLst/>
            <a:gdLst/>
            <a:ah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00"/>
            </a:srgbClr>
          </a:solidFill>
          <a:ln w="0">
            <a:noFill/>
          </a:ln>
        </p:spPr>
        <p:style>
          <a:lnRef idx="0"/>
          <a:fillRef idx="0"/>
          <a:effectRef idx="0"/>
          <a:fontRef idx="minor"/>
        </p:style>
      </p:sp>
      <p:sp>
        <p:nvSpPr>
          <p:cNvPr id="47" name="Text 2"/>
          <p:cNvSpPr/>
          <p:nvPr/>
        </p:nvSpPr>
        <p:spPr>
          <a:xfrm>
            <a:off x="571680" y="691560"/>
            <a:ext cx="241776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09" strike="noStrike">
                <a:solidFill>
                  <a:srgbClr val="8fb7ac"/>
                </a:solidFill>
                <a:latin typeface="Quattrocento Sans"/>
                <a:ea typeface="Quattrocento Sans"/>
              </a:rPr>
              <a:t>Forest Ecology Research</a:t>
            </a:r>
            <a:endParaRPr b="0" lang="en-HK" sz="1200" spc="-1" strike="noStrike">
              <a:latin typeface="Arial"/>
            </a:endParaRPr>
          </a:p>
        </p:txBody>
      </p:sp>
      <p:sp>
        <p:nvSpPr>
          <p:cNvPr id="48" name="Text 3"/>
          <p:cNvSpPr/>
          <p:nvPr/>
        </p:nvSpPr>
        <p:spPr>
          <a:xfrm>
            <a:off x="380880" y="1225080"/>
            <a:ext cx="7485120" cy="3017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4000" spc="-1" strike="noStrike">
                <a:solidFill>
                  <a:srgbClr val="ffffff"/>
                </a:solidFill>
                <a:latin typeface="Georgia"/>
                <a:ea typeface="Sorts Mill Goudy"/>
              </a:rPr>
              <a:t>Ecosystem Mechanisms for Maintaining Biodiversity in Natural Forests</a:t>
            </a:r>
            <a:endParaRPr b="0" lang="en-HK" sz="4000" spc="-1" strike="noStrike">
              <a:latin typeface="Arial"/>
            </a:endParaRPr>
          </a:p>
        </p:txBody>
      </p:sp>
      <p:sp>
        <p:nvSpPr>
          <p:cNvPr id="49" name="Text 4"/>
          <p:cNvSpPr/>
          <p:nvPr/>
        </p:nvSpPr>
        <p:spPr>
          <a:xfrm>
            <a:off x="380880" y="4470840"/>
            <a:ext cx="5828040" cy="741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8fb7ac"/>
                </a:solidFill>
                <a:latin typeface="Quattrocento Sans"/>
                <a:ea typeface="Quattrocento Sans"/>
              </a:rPr>
              <a:t>An Exploration of Ecological Processes Sustaining Forest Biological Diversity</a:t>
            </a:r>
            <a:endParaRPr b="0" lang="en-HK" sz="1800" spc="-1" strike="noStrike">
              <a:latin typeface="Arial"/>
            </a:endParaRPr>
          </a:p>
        </p:txBody>
      </p:sp>
      <p:sp>
        <p:nvSpPr>
          <p:cNvPr id="50" name="Shape 5"/>
          <p:cNvSpPr/>
          <p:nvPr/>
        </p:nvSpPr>
        <p:spPr>
          <a:xfrm>
            <a:off x="416880" y="6014160"/>
            <a:ext cx="165240" cy="189000"/>
          </a:xfrm>
          <a:custGeom>
            <a:avLst/>
            <a:gdLst/>
            <a:ah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w="0">
            <a:noFill/>
          </a:ln>
        </p:spPr>
        <p:style>
          <a:lnRef idx="0"/>
          <a:fillRef idx="0"/>
          <a:effectRef idx="0"/>
          <a:fontRef idx="minor"/>
        </p:style>
      </p:sp>
      <p:sp>
        <p:nvSpPr>
          <p:cNvPr id="51" name="Text 6"/>
          <p:cNvSpPr/>
          <p:nvPr/>
        </p:nvSpPr>
        <p:spPr>
          <a:xfrm>
            <a:off x="733320" y="5976000"/>
            <a:ext cx="46512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2026</a:t>
            </a:r>
            <a:endParaRPr b="0" lang="en-HK" sz="1350" spc="-1" strike="noStrike">
              <a:latin typeface="Arial"/>
            </a:endParaRPr>
          </a:p>
        </p:txBody>
      </p:sp>
      <p:sp>
        <p:nvSpPr>
          <p:cNvPr id="52" name="Shape 7"/>
          <p:cNvSpPr/>
          <p:nvPr/>
        </p:nvSpPr>
        <p:spPr>
          <a:xfrm>
            <a:off x="1442520" y="6014160"/>
            <a:ext cx="189000" cy="189000"/>
          </a:xfrm>
          <a:custGeom>
            <a:avLst/>
            <a:gdLst/>
            <a:ah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w="0">
            <a:noFill/>
          </a:ln>
        </p:spPr>
        <p:style>
          <a:lnRef idx="0"/>
          <a:fillRef idx="0"/>
          <a:effectRef idx="0"/>
          <a:fontRef idx="minor"/>
        </p:style>
      </p:sp>
      <p:sp>
        <p:nvSpPr>
          <p:cNvPr id="53" name="Text 8"/>
          <p:cNvSpPr/>
          <p:nvPr/>
        </p:nvSpPr>
        <p:spPr>
          <a:xfrm>
            <a:off x="1770840" y="5976000"/>
            <a:ext cx="144648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Ecological Science</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4" name="Text 0"/>
          <p:cNvSpPr/>
          <p:nvPr/>
        </p:nvSpPr>
        <p:spPr>
          <a:xfrm>
            <a:off x="380880" y="380880"/>
            <a:ext cx="11495160" cy="189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4" strike="noStrike">
                <a:solidFill>
                  <a:srgbClr val="4c8a7a"/>
                </a:solidFill>
                <a:latin typeface="Quattrocento Sans"/>
                <a:ea typeface="Quattrocento Sans"/>
              </a:rPr>
              <a:t>Overview</a:t>
            </a:r>
            <a:endParaRPr b="0" lang="en-HK" sz="1050" spc="-1" strike="noStrike">
              <a:latin typeface="Arial"/>
            </a:endParaRPr>
          </a:p>
        </p:txBody>
      </p:sp>
      <p:sp>
        <p:nvSpPr>
          <p:cNvPr id="55" name="Text 1"/>
          <p:cNvSpPr/>
          <p:nvPr/>
        </p:nvSpPr>
        <p:spPr>
          <a:xfrm>
            <a:off x="380880" y="64764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f3e3b"/>
                </a:solidFill>
                <a:latin typeface="Sorts Mill Goudy"/>
                <a:ea typeface="Sorts Mill Goudy"/>
              </a:rPr>
              <a:t>Contents</a:t>
            </a:r>
            <a:endParaRPr b="0" lang="en-HK" sz="3600" spc="-1" strike="noStrike">
              <a:latin typeface="Arial"/>
            </a:endParaRPr>
          </a:p>
        </p:txBody>
      </p:sp>
      <p:sp>
        <p:nvSpPr>
          <p:cNvPr id="56" name="Shape 2"/>
          <p:cNvSpPr/>
          <p:nvPr/>
        </p:nvSpPr>
        <p:spPr>
          <a:xfrm>
            <a:off x="399960" y="140976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57" name="Shape 3"/>
          <p:cNvSpPr/>
          <p:nvPr/>
        </p:nvSpPr>
        <p:spPr>
          <a:xfrm>
            <a:off x="399960" y="140976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58" name="Shape 4"/>
          <p:cNvSpPr/>
          <p:nvPr/>
        </p:nvSpPr>
        <p:spPr>
          <a:xfrm>
            <a:off x="571680" y="1562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59" name="Text 5"/>
          <p:cNvSpPr/>
          <p:nvPr/>
        </p:nvSpPr>
        <p:spPr>
          <a:xfrm>
            <a:off x="523800" y="1562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01</a:t>
            </a:r>
            <a:endParaRPr b="0" lang="en-HK" sz="1500" spc="-1" strike="noStrike">
              <a:latin typeface="Arial"/>
            </a:endParaRPr>
          </a:p>
        </p:txBody>
      </p:sp>
      <p:sp>
        <p:nvSpPr>
          <p:cNvPr id="60" name="Text 6"/>
          <p:cNvSpPr/>
          <p:nvPr/>
        </p:nvSpPr>
        <p:spPr>
          <a:xfrm>
            <a:off x="1181160" y="1562040"/>
            <a:ext cx="322740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Introduction to Forest Biodiversity</a:t>
            </a:r>
            <a:endParaRPr b="0" lang="en-HK" sz="1500" spc="-1" strike="noStrike">
              <a:latin typeface="Arial"/>
            </a:endParaRPr>
          </a:p>
        </p:txBody>
      </p:sp>
      <p:sp>
        <p:nvSpPr>
          <p:cNvPr id="61" name="Text 7"/>
          <p:cNvSpPr/>
          <p:nvPr/>
        </p:nvSpPr>
        <p:spPr>
          <a:xfrm>
            <a:off x="1181160" y="1866960"/>
            <a:ext cx="32083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Global significance and conservation challenges</a:t>
            </a:r>
            <a:endParaRPr b="0" lang="en-HK" sz="1200" spc="-1" strike="noStrike">
              <a:latin typeface="Arial"/>
            </a:endParaRPr>
          </a:p>
        </p:txBody>
      </p:sp>
      <p:sp>
        <p:nvSpPr>
          <p:cNvPr id="62" name="Shape 8"/>
          <p:cNvSpPr/>
          <p:nvPr/>
        </p:nvSpPr>
        <p:spPr>
          <a:xfrm>
            <a:off x="6267600" y="140976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3" name="Shape 9"/>
          <p:cNvSpPr/>
          <p:nvPr/>
        </p:nvSpPr>
        <p:spPr>
          <a:xfrm>
            <a:off x="6267600" y="140976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64" name="Shape 10"/>
          <p:cNvSpPr/>
          <p:nvPr/>
        </p:nvSpPr>
        <p:spPr>
          <a:xfrm>
            <a:off x="6438960" y="1562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65" name="Text 11"/>
          <p:cNvSpPr/>
          <p:nvPr/>
        </p:nvSpPr>
        <p:spPr>
          <a:xfrm>
            <a:off x="6391440" y="1562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02</a:t>
            </a:r>
            <a:endParaRPr b="0" lang="en-HK" sz="1500" spc="-1" strike="noStrike">
              <a:latin typeface="Arial"/>
            </a:endParaRPr>
          </a:p>
        </p:txBody>
      </p:sp>
      <p:sp>
        <p:nvSpPr>
          <p:cNvPr id="66" name="Text 12"/>
          <p:cNvSpPr/>
          <p:nvPr/>
        </p:nvSpPr>
        <p:spPr>
          <a:xfrm>
            <a:off x="7048440" y="1562040"/>
            <a:ext cx="29512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Structural Complexity</a:t>
            </a:r>
            <a:endParaRPr b="0" lang="en-HK" sz="1500" spc="-1" strike="noStrike">
              <a:latin typeface="Arial"/>
            </a:endParaRPr>
          </a:p>
        </p:txBody>
      </p:sp>
      <p:sp>
        <p:nvSpPr>
          <p:cNvPr id="67" name="Text 13"/>
          <p:cNvSpPr/>
          <p:nvPr/>
        </p:nvSpPr>
        <p:spPr>
          <a:xfrm>
            <a:off x="7048440" y="1866960"/>
            <a:ext cx="29322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Habitat heterogeneity and vertical structure</a:t>
            </a:r>
            <a:endParaRPr b="0" lang="en-HK" sz="1200" spc="-1" strike="noStrike">
              <a:latin typeface="Arial"/>
            </a:endParaRPr>
          </a:p>
        </p:txBody>
      </p:sp>
      <p:sp>
        <p:nvSpPr>
          <p:cNvPr id="68" name="Shape 14"/>
          <p:cNvSpPr/>
          <p:nvPr/>
        </p:nvSpPr>
        <p:spPr>
          <a:xfrm>
            <a:off x="399960" y="271476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9" name="Shape 15"/>
          <p:cNvSpPr/>
          <p:nvPr/>
        </p:nvSpPr>
        <p:spPr>
          <a:xfrm>
            <a:off x="399960" y="271476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0" name="Shape 16"/>
          <p:cNvSpPr/>
          <p:nvPr/>
        </p:nvSpPr>
        <p:spPr>
          <a:xfrm>
            <a:off x="571680" y="2867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1" name="Text 17"/>
          <p:cNvSpPr/>
          <p:nvPr/>
        </p:nvSpPr>
        <p:spPr>
          <a:xfrm>
            <a:off x="523800" y="2867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03</a:t>
            </a:r>
            <a:endParaRPr b="0" lang="en-HK" sz="1500" spc="-1" strike="noStrike">
              <a:latin typeface="Arial"/>
            </a:endParaRPr>
          </a:p>
        </p:txBody>
      </p:sp>
      <p:sp>
        <p:nvSpPr>
          <p:cNvPr id="72" name="Text 18"/>
          <p:cNvSpPr/>
          <p:nvPr/>
        </p:nvSpPr>
        <p:spPr>
          <a:xfrm>
            <a:off x="1181160" y="2867040"/>
            <a:ext cx="279900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Species Interactions</a:t>
            </a:r>
            <a:endParaRPr b="0" lang="en-HK" sz="1500" spc="-1" strike="noStrike">
              <a:latin typeface="Arial"/>
            </a:endParaRPr>
          </a:p>
        </p:txBody>
      </p:sp>
      <p:sp>
        <p:nvSpPr>
          <p:cNvPr id="73" name="Text 19"/>
          <p:cNvSpPr/>
          <p:nvPr/>
        </p:nvSpPr>
        <p:spPr>
          <a:xfrm>
            <a:off x="1181160" y="3171960"/>
            <a:ext cx="27799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Competition, facilitation, and coexistence</a:t>
            </a:r>
            <a:endParaRPr b="0" lang="en-HK" sz="1200" spc="-1" strike="noStrike">
              <a:latin typeface="Arial"/>
            </a:endParaRPr>
          </a:p>
        </p:txBody>
      </p:sp>
      <p:sp>
        <p:nvSpPr>
          <p:cNvPr id="74" name="Shape 20"/>
          <p:cNvSpPr/>
          <p:nvPr/>
        </p:nvSpPr>
        <p:spPr>
          <a:xfrm>
            <a:off x="6267600" y="271476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75" name="Shape 21"/>
          <p:cNvSpPr/>
          <p:nvPr/>
        </p:nvSpPr>
        <p:spPr>
          <a:xfrm>
            <a:off x="6267600" y="271476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6" name="Shape 22"/>
          <p:cNvSpPr/>
          <p:nvPr/>
        </p:nvSpPr>
        <p:spPr>
          <a:xfrm>
            <a:off x="6438960" y="2867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7" name="Text 23"/>
          <p:cNvSpPr/>
          <p:nvPr/>
        </p:nvSpPr>
        <p:spPr>
          <a:xfrm>
            <a:off x="6391440" y="2867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04</a:t>
            </a:r>
            <a:endParaRPr b="0" lang="en-HK" sz="1500" spc="-1" strike="noStrike">
              <a:latin typeface="Arial"/>
            </a:endParaRPr>
          </a:p>
        </p:txBody>
      </p:sp>
      <p:sp>
        <p:nvSpPr>
          <p:cNvPr id="78" name="Text 24"/>
          <p:cNvSpPr/>
          <p:nvPr/>
        </p:nvSpPr>
        <p:spPr>
          <a:xfrm>
            <a:off x="7048440" y="2867040"/>
            <a:ext cx="277020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Disturbance Regimes</a:t>
            </a:r>
            <a:endParaRPr b="0" lang="en-HK" sz="1500" spc="-1" strike="noStrike">
              <a:latin typeface="Arial"/>
            </a:endParaRPr>
          </a:p>
        </p:txBody>
      </p:sp>
      <p:sp>
        <p:nvSpPr>
          <p:cNvPr id="79" name="Text 25"/>
          <p:cNvSpPr/>
          <p:nvPr/>
        </p:nvSpPr>
        <p:spPr>
          <a:xfrm>
            <a:off x="7048440" y="3171960"/>
            <a:ext cx="27511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Gap dynamics and succession processes</a:t>
            </a:r>
            <a:endParaRPr b="0" lang="en-HK" sz="1200" spc="-1" strike="noStrike">
              <a:latin typeface="Arial"/>
            </a:endParaRPr>
          </a:p>
        </p:txBody>
      </p:sp>
      <p:sp>
        <p:nvSpPr>
          <p:cNvPr id="80" name="Shape 26"/>
          <p:cNvSpPr/>
          <p:nvPr/>
        </p:nvSpPr>
        <p:spPr>
          <a:xfrm>
            <a:off x="399960" y="401940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1" name="Shape 27"/>
          <p:cNvSpPr/>
          <p:nvPr/>
        </p:nvSpPr>
        <p:spPr>
          <a:xfrm>
            <a:off x="399960" y="401940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2" name="Shape 28"/>
          <p:cNvSpPr/>
          <p:nvPr/>
        </p:nvSpPr>
        <p:spPr>
          <a:xfrm>
            <a:off x="571680" y="4172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3" name="Text 29"/>
          <p:cNvSpPr/>
          <p:nvPr/>
        </p:nvSpPr>
        <p:spPr>
          <a:xfrm>
            <a:off x="523800" y="4172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05</a:t>
            </a:r>
            <a:endParaRPr b="0" lang="en-HK" sz="1500" spc="-1" strike="noStrike">
              <a:latin typeface="Arial"/>
            </a:endParaRPr>
          </a:p>
        </p:txBody>
      </p:sp>
      <p:sp>
        <p:nvSpPr>
          <p:cNvPr id="84" name="Text 30"/>
          <p:cNvSpPr/>
          <p:nvPr/>
        </p:nvSpPr>
        <p:spPr>
          <a:xfrm>
            <a:off x="1181160" y="4172040"/>
            <a:ext cx="284652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Belowground Processes</a:t>
            </a:r>
            <a:endParaRPr b="0" lang="en-HK" sz="1500" spc="-1" strike="noStrike">
              <a:latin typeface="Arial"/>
            </a:endParaRPr>
          </a:p>
        </p:txBody>
      </p:sp>
      <p:sp>
        <p:nvSpPr>
          <p:cNvPr id="85" name="Text 31"/>
          <p:cNvSpPr/>
          <p:nvPr/>
        </p:nvSpPr>
        <p:spPr>
          <a:xfrm>
            <a:off x="1181160" y="4476600"/>
            <a:ext cx="28274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Mycorrhizal networks and nutrient cycling</a:t>
            </a:r>
            <a:endParaRPr b="0" lang="en-HK" sz="1200" spc="-1" strike="noStrike">
              <a:latin typeface="Arial"/>
            </a:endParaRPr>
          </a:p>
        </p:txBody>
      </p:sp>
      <p:sp>
        <p:nvSpPr>
          <p:cNvPr id="86" name="Shape 32"/>
          <p:cNvSpPr/>
          <p:nvPr/>
        </p:nvSpPr>
        <p:spPr>
          <a:xfrm>
            <a:off x="6267600" y="401940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7" name="Shape 33"/>
          <p:cNvSpPr/>
          <p:nvPr/>
        </p:nvSpPr>
        <p:spPr>
          <a:xfrm>
            <a:off x="6267600" y="401940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8" name="Shape 34"/>
          <p:cNvSpPr/>
          <p:nvPr/>
        </p:nvSpPr>
        <p:spPr>
          <a:xfrm>
            <a:off x="6438960" y="4172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9" name="Text 35"/>
          <p:cNvSpPr/>
          <p:nvPr/>
        </p:nvSpPr>
        <p:spPr>
          <a:xfrm>
            <a:off x="6391440" y="4172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06</a:t>
            </a:r>
            <a:endParaRPr b="0" lang="en-HK" sz="1500" spc="-1" strike="noStrike">
              <a:latin typeface="Arial"/>
            </a:endParaRPr>
          </a:p>
        </p:txBody>
      </p:sp>
      <p:sp>
        <p:nvSpPr>
          <p:cNvPr id="90" name="Text 36"/>
          <p:cNvSpPr/>
          <p:nvPr/>
        </p:nvSpPr>
        <p:spPr>
          <a:xfrm>
            <a:off x="7048440" y="4172040"/>
            <a:ext cx="24940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Animal-Mediated Processes</a:t>
            </a:r>
            <a:endParaRPr b="0" lang="en-HK" sz="1500" spc="-1" strike="noStrike">
              <a:latin typeface="Arial"/>
            </a:endParaRPr>
          </a:p>
        </p:txBody>
      </p:sp>
      <p:sp>
        <p:nvSpPr>
          <p:cNvPr id="91" name="Text 37"/>
          <p:cNvSpPr/>
          <p:nvPr/>
        </p:nvSpPr>
        <p:spPr>
          <a:xfrm>
            <a:off x="7048440" y="4476600"/>
            <a:ext cx="24750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Seed dispersal and keystone species</a:t>
            </a:r>
            <a:endParaRPr b="0" lang="en-HK" sz="1200" spc="-1" strike="noStrike">
              <a:latin typeface="Arial"/>
            </a:endParaRPr>
          </a:p>
        </p:txBody>
      </p:sp>
      <p:sp>
        <p:nvSpPr>
          <p:cNvPr id="92" name="Shape 38"/>
          <p:cNvSpPr/>
          <p:nvPr/>
        </p:nvSpPr>
        <p:spPr>
          <a:xfrm>
            <a:off x="399960" y="532440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3" name="Shape 39"/>
          <p:cNvSpPr/>
          <p:nvPr/>
        </p:nvSpPr>
        <p:spPr>
          <a:xfrm>
            <a:off x="399960" y="532440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94" name="Shape 40"/>
          <p:cNvSpPr/>
          <p:nvPr/>
        </p:nvSpPr>
        <p:spPr>
          <a:xfrm>
            <a:off x="571680" y="5477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95" name="Text 41"/>
          <p:cNvSpPr/>
          <p:nvPr/>
        </p:nvSpPr>
        <p:spPr>
          <a:xfrm>
            <a:off x="523800" y="5477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07</a:t>
            </a:r>
            <a:endParaRPr b="0" lang="en-HK" sz="1500" spc="-1" strike="noStrike">
              <a:latin typeface="Arial"/>
            </a:endParaRPr>
          </a:p>
        </p:txBody>
      </p:sp>
      <p:sp>
        <p:nvSpPr>
          <p:cNvPr id="96" name="Text 42"/>
          <p:cNvSpPr/>
          <p:nvPr/>
        </p:nvSpPr>
        <p:spPr>
          <a:xfrm>
            <a:off x="1181160" y="5477040"/>
            <a:ext cx="27226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Latitudinal Gradients</a:t>
            </a:r>
            <a:endParaRPr b="0" lang="en-HK" sz="1500" spc="-1" strike="noStrike">
              <a:latin typeface="Arial"/>
            </a:endParaRPr>
          </a:p>
        </p:txBody>
      </p:sp>
      <p:sp>
        <p:nvSpPr>
          <p:cNvPr id="97" name="Text 43"/>
          <p:cNvSpPr/>
          <p:nvPr/>
        </p:nvSpPr>
        <p:spPr>
          <a:xfrm>
            <a:off x="1181160" y="5781600"/>
            <a:ext cx="27036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Biome variation and climate adaptations</a:t>
            </a:r>
            <a:endParaRPr b="0" lang="en-HK" sz="1200" spc="-1" strike="noStrike">
              <a:latin typeface="Arial"/>
            </a:endParaRPr>
          </a:p>
        </p:txBody>
      </p:sp>
      <p:sp>
        <p:nvSpPr>
          <p:cNvPr id="98" name="Shape 44"/>
          <p:cNvSpPr/>
          <p:nvPr/>
        </p:nvSpPr>
        <p:spPr>
          <a:xfrm>
            <a:off x="6267600" y="5324400"/>
            <a:ext cx="5542200" cy="115092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9" name="Shape 45"/>
          <p:cNvSpPr/>
          <p:nvPr/>
        </p:nvSpPr>
        <p:spPr>
          <a:xfrm>
            <a:off x="6267600" y="5324400"/>
            <a:ext cx="36720" cy="115092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100" name="Shape 46"/>
          <p:cNvSpPr/>
          <p:nvPr/>
        </p:nvSpPr>
        <p:spPr>
          <a:xfrm>
            <a:off x="6438960" y="5477040"/>
            <a:ext cx="455760" cy="45576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101" name="Text 47"/>
          <p:cNvSpPr/>
          <p:nvPr/>
        </p:nvSpPr>
        <p:spPr>
          <a:xfrm>
            <a:off x="6391440" y="5477040"/>
            <a:ext cx="551160" cy="455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08</a:t>
            </a:r>
            <a:endParaRPr b="0" lang="en-HK" sz="1500" spc="-1" strike="noStrike">
              <a:latin typeface="Arial"/>
            </a:endParaRPr>
          </a:p>
        </p:txBody>
      </p:sp>
      <p:sp>
        <p:nvSpPr>
          <p:cNvPr id="102" name="Text 48"/>
          <p:cNvSpPr/>
          <p:nvPr/>
        </p:nvSpPr>
        <p:spPr>
          <a:xfrm>
            <a:off x="7048440" y="5477040"/>
            <a:ext cx="30178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Conservation Implications</a:t>
            </a:r>
            <a:endParaRPr b="0" lang="en-HK" sz="1500" spc="-1" strike="noStrike">
              <a:latin typeface="Arial"/>
            </a:endParaRPr>
          </a:p>
        </p:txBody>
      </p:sp>
      <p:sp>
        <p:nvSpPr>
          <p:cNvPr id="103" name="Text 49"/>
          <p:cNvSpPr/>
          <p:nvPr/>
        </p:nvSpPr>
        <p:spPr>
          <a:xfrm>
            <a:off x="7048440" y="5781600"/>
            <a:ext cx="29988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Management strategies and future directions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04" name="Text 0"/>
          <p:cNvSpPr/>
          <p:nvPr/>
        </p:nvSpPr>
        <p:spPr>
          <a:xfrm>
            <a:off x="380880" y="380880"/>
            <a:ext cx="11495160" cy="189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4" strike="noStrike">
                <a:solidFill>
                  <a:srgbClr val="4c8a7a"/>
                </a:solidFill>
                <a:latin typeface="Quattrocento Sans"/>
                <a:ea typeface="Quattrocento Sans"/>
              </a:rPr>
              <a:t>01 • Introduction</a:t>
            </a:r>
            <a:endParaRPr b="0" lang="en-HK" sz="1050" spc="-1" strike="noStrike">
              <a:latin typeface="Arial"/>
            </a:endParaRPr>
          </a:p>
        </p:txBody>
      </p:sp>
      <p:sp>
        <p:nvSpPr>
          <p:cNvPr id="105" name="Text 1"/>
          <p:cNvSpPr/>
          <p:nvPr/>
        </p:nvSpPr>
        <p:spPr>
          <a:xfrm>
            <a:off x="380880" y="647640"/>
            <a:ext cx="11599920" cy="379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2f3e3b"/>
                </a:solidFill>
                <a:latin typeface="Sorts Mill Goudy"/>
                <a:ea typeface="Sorts Mill Goudy"/>
              </a:rPr>
              <a:t>Forests as Biodiversity Reservoirs</a:t>
            </a:r>
            <a:endParaRPr b="0" lang="en-HK" sz="2700" spc="-1" strike="noStrike">
              <a:latin typeface="Arial"/>
            </a:endParaRPr>
          </a:p>
        </p:txBody>
      </p:sp>
      <p:sp>
        <p:nvSpPr>
          <p:cNvPr id="106" name="Text 2"/>
          <p:cNvSpPr/>
          <p:nvPr/>
        </p:nvSpPr>
        <p:spPr>
          <a:xfrm>
            <a:off x="380880" y="1143000"/>
            <a:ext cx="1151424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Understanding the global significance of forests for terrestrial biodiversity conservation</a:t>
            </a:r>
            <a:endParaRPr b="0" lang="en-HK" sz="1350" spc="-1" strike="noStrike">
              <a:latin typeface="Arial"/>
            </a:endParaRPr>
          </a:p>
        </p:txBody>
      </p:sp>
      <p:sp>
        <p:nvSpPr>
          <p:cNvPr id="107" name="Shape 3"/>
          <p:cNvSpPr/>
          <p:nvPr/>
        </p:nvSpPr>
        <p:spPr>
          <a:xfrm>
            <a:off x="399960" y="1638360"/>
            <a:ext cx="7523280" cy="2360880"/>
          </a:xfrm>
          <a:custGeom>
            <a:avLst/>
            <a:gdLst/>
            <a:ah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08" name="Shape 4"/>
          <p:cNvSpPr/>
          <p:nvPr/>
        </p:nvSpPr>
        <p:spPr>
          <a:xfrm>
            <a:off x="399960" y="1638360"/>
            <a:ext cx="36720" cy="2360880"/>
          </a:xfrm>
          <a:custGeom>
            <a:avLst/>
            <a:gdLst/>
            <a:ah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09" name="Shape 5"/>
          <p:cNvSpPr/>
          <p:nvPr/>
        </p:nvSpPr>
        <p:spPr>
          <a:xfrm>
            <a:off x="633240" y="1866960"/>
            <a:ext cx="189000" cy="189000"/>
          </a:xfrm>
          <a:custGeom>
            <a:avLst/>
            <a:gdLst/>
            <a:ah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w="0">
            <a:noFill/>
          </a:ln>
        </p:spPr>
        <p:style>
          <a:lnRef idx="0"/>
          <a:fillRef idx="0"/>
          <a:effectRef idx="0"/>
          <a:fontRef idx="minor"/>
        </p:style>
      </p:sp>
      <p:sp>
        <p:nvSpPr>
          <p:cNvPr id="110" name="Text 6"/>
          <p:cNvSpPr/>
          <p:nvPr/>
        </p:nvSpPr>
        <p:spPr>
          <a:xfrm>
            <a:off x="847800" y="1828800"/>
            <a:ext cx="698040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Global Forest Coverage</a:t>
            </a:r>
            <a:endParaRPr b="0" lang="en-HK" sz="1500" spc="-1" strike="noStrike">
              <a:latin typeface="Arial"/>
            </a:endParaRPr>
          </a:p>
        </p:txBody>
      </p:sp>
      <p:sp>
        <p:nvSpPr>
          <p:cNvPr id="111" name="Text 7"/>
          <p:cNvSpPr/>
          <p:nvPr/>
        </p:nvSpPr>
        <p:spPr>
          <a:xfrm>
            <a:off x="609480" y="2209680"/>
            <a:ext cx="7199640" cy="741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Forests cover approximately </a:t>
            </a:r>
            <a:r>
              <a:rPr b="1" lang="en-US" sz="1200" spc="-1" strike="noStrike">
                <a:solidFill>
                  <a:srgbClr val="1f2a28"/>
                </a:solidFill>
                <a:latin typeface="Quattrocento Sans"/>
                <a:ea typeface="Quattrocento Sans"/>
              </a:rPr>
              <a:t>31% of Earth's land surface</a:t>
            </a:r>
            <a:r>
              <a:rPr b="0" lang="en-US" sz="1200" spc="-1" strike="noStrike">
                <a:solidFill>
                  <a:srgbClr val="1f2a28"/>
                </a:solidFill>
                <a:latin typeface="Quattrocento Sans"/>
                <a:ea typeface="Quattrocento Sans"/>
              </a:rPr>
              <a:t>, representing one of the most extensive terrestrial ecosystems. These complex biological systems harbor </a:t>
            </a:r>
            <a:r>
              <a:rPr b="1" lang="en-US" sz="1200" spc="-1" strike="noStrike">
                <a:solidFill>
                  <a:srgbClr val="1f2a28"/>
                </a:solidFill>
                <a:latin typeface="Quattrocento Sans"/>
                <a:ea typeface="Quattrocento Sans"/>
              </a:rPr>
              <a:t>over 80% of terrestrial biodiversity</a:t>
            </a:r>
            <a:r>
              <a:rPr b="0" lang="en-US" sz="1200" spc="-1" strike="noStrike">
                <a:solidFill>
                  <a:srgbClr val="1f2a28"/>
                </a:solidFill>
                <a:latin typeface="Quattrocento Sans"/>
                <a:ea typeface="Quattrocento Sans"/>
              </a:rPr>
              <a:t>, providing habitat for millions of species across all taxonomic groups.</a:t>
            </a:r>
            <a:endParaRPr b="0" lang="en-HK" sz="1200" spc="-1" strike="noStrike">
              <a:latin typeface="Arial"/>
            </a:endParaRPr>
          </a:p>
        </p:txBody>
      </p:sp>
      <p:sp>
        <p:nvSpPr>
          <p:cNvPr id="112" name="Text 8"/>
          <p:cNvSpPr/>
          <p:nvPr/>
        </p:nvSpPr>
        <p:spPr>
          <a:xfrm>
            <a:off x="609480" y="3067200"/>
            <a:ext cx="7199640" cy="741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From the towering emergent trees of tropical rainforests to the resilient conifers of boreal zones, forests create three-dimensional habitats that support intricate food webs and ecological interactions essential for planetary health.</a:t>
            </a:r>
            <a:endParaRPr b="0" lang="en-HK" sz="1200" spc="-1" strike="noStrike">
              <a:latin typeface="Arial"/>
            </a:endParaRPr>
          </a:p>
        </p:txBody>
      </p:sp>
      <p:sp>
        <p:nvSpPr>
          <p:cNvPr id="113" name="Shape 9"/>
          <p:cNvSpPr/>
          <p:nvPr/>
        </p:nvSpPr>
        <p:spPr>
          <a:xfrm>
            <a:off x="399960" y="4152960"/>
            <a:ext cx="7523280" cy="1751040"/>
          </a:xfrm>
          <a:custGeom>
            <a:avLst/>
            <a:gdLst/>
            <a:ah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14" name="Shape 10"/>
          <p:cNvSpPr/>
          <p:nvPr/>
        </p:nvSpPr>
        <p:spPr>
          <a:xfrm>
            <a:off x="399960" y="4152960"/>
            <a:ext cx="36720" cy="1751040"/>
          </a:xfrm>
          <a:custGeom>
            <a:avLst/>
            <a:gdLst/>
            <a:ah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15" name="Shape 11"/>
          <p:cNvSpPr/>
          <p:nvPr/>
        </p:nvSpPr>
        <p:spPr>
          <a:xfrm>
            <a:off x="645480" y="4381560"/>
            <a:ext cx="165240" cy="189000"/>
          </a:xfrm>
          <a:custGeom>
            <a:avLst/>
            <a:gdLst/>
            <a:ah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w="0">
            <a:noFill/>
          </a:ln>
        </p:spPr>
        <p:style>
          <a:lnRef idx="0"/>
          <a:fillRef idx="0"/>
          <a:effectRef idx="0"/>
          <a:fontRef idx="minor"/>
        </p:style>
      </p:sp>
      <p:sp>
        <p:nvSpPr>
          <p:cNvPr id="116" name="Text 12"/>
          <p:cNvSpPr/>
          <p:nvPr/>
        </p:nvSpPr>
        <p:spPr>
          <a:xfrm>
            <a:off x="847800" y="4343400"/>
            <a:ext cx="698040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The Biodiversity Challenge</a:t>
            </a:r>
            <a:endParaRPr b="0" lang="en-HK" sz="1500" spc="-1" strike="noStrike">
              <a:latin typeface="Arial"/>
            </a:endParaRPr>
          </a:p>
        </p:txBody>
      </p:sp>
      <p:sp>
        <p:nvSpPr>
          <p:cNvPr id="117" name="Text 13"/>
          <p:cNvSpPr/>
          <p:nvPr/>
        </p:nvSpPr>
        <p:spPr>
          <a:xfrm>
            <a:off x="609480" y="4724280"/>
            <a:ext cx="7199640" cy="98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b="0" lang="en-HK" sz="1200" spc="-1" strike="noStrike">
              <a:latin typeface="Arial"/>
            </a:endParaRPr>
          </a:p>
        </p:txBody>
      </p:sp>
      <p:sp>
        <p:nvSpPr>
          <p:cNvPr id="118" name="Shape 14"/>
          <p:cNvSpPr/>
          <p:nvPr/>
        </p:nvSpPr>
        <p:spPr>
          <a:xfrm>
            <a:off x="8153280" y="1638360"/>
            <a:ext cx="3656160" cy="137016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w="0">
            <a:noFill/>
          </a:ln>
        </p:spPr>
        <p:style>
          <a:lnRef idx="0"/>
          <a:fillRef idx="0"/>
          <a:effectRef idx="0"/>
          <a:fontRef idx="minor"/>
        </p:style>
      </p:sp>
      <p:sp>
        <p:nvSpPr>
          <p:cNvPr id="119" name="Text 15"/>
          <p:cNvSpPr/>
          <p:nvPr/>
        </p:nvSpPr>
        <p:spPr>
          <a:xfrm>
            <a:off x="8344080" y="1828800"/>
            <a:ext cx="350388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31%</a:t>
            </a:r>
            <a:endParaRPr b="0" lang="en-HK" sz="3600" spc="-1" strike="noStrike">
              <a:latin typeface="Arial"/>
            </a:endParaRPr>
          </a:p>
        </p:txBody>
      </p:sp>
      <p:sp>
        <p:nvSpPr>
          <p:cNvPr id="120" name="Text 16"/>
          <p:cNvSpPr/>
          <p:nvPr/>
        </p:nvSpPr>
        <p:spPr>
          <a:xfrm>
            <a:off x="8344080" y="2362320"/>
            <a:ext cx="33512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Global Land Coverage</a:t>
            </a:r>
            <a:endParaRPr b="0" lang="en-HK" sz="1200" spc="-1" strike="noStrike">
              <a:latin typeface="Arial"/>
            </a:endParaRPr>
          </a:p>
        </p:txBody>
      </p:sp>
      <p:sp>
        <p:nvSpPr>
          <p:cNvPr id="121" name="Text 17"/>
          <p:cNvSpPr/>
          <p:nvPr/>
        </p:nvSpPr>
        <p:spPr>
          <a:xfrm>
            <a:off x="8344080" y="2629080"/>
            <a:ext cx="3341880" cy="189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~4 billion hectares</a:t>
            </a:r>
            <a:endParaRPr b="0" lang="en-HK" sz="1050" spc="-1" strike="noStrike">
              <a:latin typeface="Arial"/>
            </a:endParaRPr>
          </a:p>
        </p:txBody>
      </p:sp>
      <p:sp>
        <p:nvSpPr>
          <p:cNvPr id="122" name="Shape 18"/>
          <p:cNvSpPr/>
          <p:nvPr/>
        </p:nvSpPr>
        <p:spPr>
          <a:xfrm>
            <a:off x="8153280" y="3162240"/>
            <a:ext cx="3656160" cy="137016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w="0">
            <a:noFill/>
          </a:ln>
        </p:spPr>
        <p:style>
          <a:lnRef idx="0"/>
          <a:fillRef idx="0"/>
          <a:effectRef idx="0"/>
          <a:fontRef idx="minor"/>
        </p:style>
      </p:sp>
      <p:sp>
        <p:nvSpPr>
          <p:cNvPr id="123" name="Text 19"/>
          <p:cNvSpPr/>
          <p:nvPr/>
        </p:nvSpPr>
        <p:spPr>
          <a:xfrm>
            <a:off x="8344080" y="3352680"/>
            <a:ext cx="350388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80%</a:t>
            </a:r>
            <a:endParaRPr b="0" lang="en-HK" sz="3600" spc="-1" strike="noStrike">
              <a:latin typeface="Arial"/>
            </a:endParaRPr>
          </a:p>
        </p:txBody>
      </p:sp>
      <p:sp>
        <p:nvSpPr>
          <p:cNvPr id="124" name="Text 20"/>
          <p:cNvSpPr/>
          <p:nvPr/>
        </p:nvSpPr>
        <p:spPr>
          <a:xfrm>
            <a:off x="8344080" y="3886200"/>
            <a:ext cx="33512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Terrestrial Biodiversity</a:t>
            </a:r>
            <a:endParaRPr b="0" lang="en-HK" sz="1200" spc="-1" strike="noStrike">
              <a:latin typeface="Arial"/>
            </a:endParaRPr>
          </a:p>
        </p:txBody>
      </p:sp>
      <p:sp>
        <p:nvSpPr>
          <p:cNvPr id="125" name="Text 21"/>
          <p:cNvSpPr/>
          <p:nvPr/>
        </p:nvSpPr>
        <p:spPr>
          <a:xfrm>
            <a:off x="8344080" y="4152960"/>
            <a:ext cx="3341880" cy="189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Species habitat</a:t>
            </a:r>
            <a:endParaRPr b="0" lang="en-HK" sz="1050" spc="-1" strike="noStrike">
              <a:latin typeface="Arial"/>
            </a:endParaRPr>
          </a:p>
        </p:txBody>
      </p:sp>
      <p:sp>
        <p:nvSpPr>
          <p:cNvPr id="126" name="Shape 22"/>
          <p:cNvSpPr/>
          <p:nvPr/>
        </p:nvSpPr>
        <p:spPr>
          <a:xfrm>
            <a:off x="8153280" y="4686480"/>
            <a:ext cx="3656160" cy="1903680"/>
          </a:xfrm>
          <a:custGeom>
            <a:avLst/>
            <a:gdLst/>
            <a:ah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27" name="Text 23"/>
          <p:cNvSpPr/>
          <p:nvPr/>
        </p:nvSpPr>
        <p:spPr>
          <a:xfrm>
            <a:off x="8344080" y="4876920"/>
            <a:ext cx="336096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Ecosystem Services</a:t>
            </a:r>
            <a:endParaRPr b="0" lang="en-HK" sz="1350" spc="-1" strike="noStrike">
              <a:latin typeface="Arial"/>
            </a:endParaRPr>
          </a:p>
        </p:txBody>
      </p:sp>
      <p:sp>
        <p:nvSpPr>
          <p:cNvPr id="128" name="Shape 24"/>
          <p:cNvSpPr/>
          <p:nvPr/>
        </p:nvSpPr>
        <p:spPr>
          <a:xfrm>
            <a:off x="8372520" y="5295960"/>
            <a:ext cx="131760" cy="15084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29" name="Text 25"/>
          <p:cNvSpPr/>
          <p:nvPr/>
        </p:nvSpPr>
        <p:spPr>
          <a:xfrm>
            <a:off x="8610480" y="5257800"/>
            <a:ext cx="14846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Carbon sequestration</a:t>
            </a:r>
            <a:endParaRPr b="0" lang="en-HK" sz="1200" spc="-1" strike="noStrike">
              <a:latin typeface="Arial"/>
            </a:endParaRPr>
          </a:p>
        </p:txBody>
      </p:sp>
      <p:sp>
        <p:nvSpPr>
          <p:cNvPr id="130" name="Shape 26"/>
          <p:cNvSpPr/>
          <p:nvPr/>
        </p:nvSpPr>
        <p:spPr>
          <a:xfrm>
            <a:off x="8372520" y="5600880"/>
            <a:ext cx="131760" cy="15084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1" name="Text 27"/>
          <p:cNvSpPr/>
          <p:nvPr/>
        </p:nvSpPr>
        <p:spPr>
          <a:xfrm>
            <a:off x="8610480" y="5562720"/>
            <a:ext cx="11890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Water regulation</a:t>
            </a:r>
            <a:endParaRPr b="0" lang="en-HK" sz="1200" spc="-1" strike="noStrike">
              <a:latin typeface="Arial"/>
            </a:endParaRPr>
          </a:p>
        </p:txBody>
      </p:sp>
      <p:sp>
        <p:nvSpPr>
          <p:cNvPr id="132" name="Shape 28"/>
          <p:cNvSpPr/>
          <p:nvPr/>
        </p:nvSpPr>
        <p:spPr>
          <a:xfrm>
            <a:off x="8372520" y="5905440"/>
            <a:ext cx="131760" cy="15084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3" name="Text 29"/>
          <p:cNvSpPr/>
          <p:nvPr/>
        </p:nvSpPr>
        <p:spPr>
          <a:xfrm>
            <a:off x="8610480" y="5867280"/>
            <a:ext cx="10368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Soil protection</a:t>
            </a:r>
            <a:endParaRPr b="0" lang="en-HK" sz="1200" spc="-1" strike="noStrike">
              <a:latin typeface="Arial"/>
            </a:endParaRPr>
          </a:p>
        </p:txBody>
      </p:sp>
      <p:sp>
        <p:nvSpPr>
          <p:cNvPr id="134" name="Shape 30"/>
          <p:cNvSpPr/>
          <p:nvPr/>
        </p:nvSpPr>
        <p:spPr>
          <a:xfrm>
            <a:off x="8372520" y="6210360"/>
            <a:ext cx="131760" cy="15084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5" name="Text 31"/>
          <p:cNvSpPr/>
          <p:nvPr/>
        </p:nvSpPr>
        <p:spPr>
          <a:xfrm>
            <a:off x="8610480" y="6172200"/>
            <a:ext cx="127476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Climate regulation</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36" name="Text 0"/>
          <p:cNvSpPr/>
          <p:nvPr/>
        </p:nvSpPr>
        <p:spPr>
          <a:xfrm>
            <a:off x="380880" y="380880"/>
            <a:ext cx="11495160" cy="189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4" strike="noStrike">
                <a:solidFill>
                  <a:srgbClr val="4c8a7a"/>
                </a:solidFill>
                <a:latin typeface="Quattrocento Sans"/>
                <a:ea typeface="Quattrocento Sans"/>
              </a:rPr>
              <a:t>02 • Structural Complexity</a:t>
            </a:r>
            <a:endParaRPr b="0" lang="en-HK" sz="1050" spc="-1" strike="noStrike">
              <a:latin typeface="Arial"/>
            </a:endParaRPr>
          </a:p>
        </p:txBody>
      </p:sp>
      <p:sp>
        <p:nvSpPr>
          <p:cNvPr id="137" name="Text 1"/>
          <p:cNvSpPr/>
          <p:nvPr/>
        </p:nvSpPr>
        <p:spPr>
          <a:xfrm>
            <a:off x="380880" y="647640"/>
            <a:ext cx="11599920" cy="379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2f3e3b"/>
                </a:solidFill>
                <a:latin typeface="Sorts Mill Goudy"/>
                <a:ea typeface="Sorts Mill Goudy"/>
              </a:rPr>
              <a:t>The Foundation of Forest Biodiversity</a:t>
            </a:r>
            <a:endParaRPr b="0" lang="en-HK" sz="2700" spc="-1" strike="noStrike">
              <a:latin typeface="Arial"/>
            </a:endParaRPr>
          </a:p>
        </p:txBody>
      </p:sp>
      <p:sp>
        <p:nvSpPr>
          <p:cNvPr id="138" name="Text 2"/>
          <p:cNvSpPr/>
          <p:nvPr/>
        </p:nvSpPr>
        <p:spPr>
          <a:xfrm>
            <a:off x="380880" y="1104840"/>
            <a:ext cx="1151424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How forest structural heterogeneity creates diverse habitats</a:t>
            </a:r>
            <a:endParaRPr b="0" lang="en-HK" sz="1350" spc="-1" strike="noStrike">
              <a:latin typeface="Arial"/>
            </a:endParaRPr>
          </a:p>
        </p:txBody>
      </p:sp>
      <p:sp>
        <p:nvSpPr>
          <p:cNvPr id="139" name="Shape 3"/>
          <p:cNvSpPr/>
          <p:nvPr/>
        </p:nvSpPr>
        <p:spPr>
          <a:xfrm>
            <a:off x="380880" y="1562040"/>
            <a:ext cx="6780240" cy="2665440"/>
          </a:xfrm>
          <a:custGeom>
            <a:avLst/>
            <a:gdLst/>
            <a:ah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0" name="Shape 4"/>
          <p:cNvSpPr/>
          <p:nvPr/>
        </p:nvSpPr>
        <p:spPr>
          <a:xfrm>
            <a:off x="595440" y="1790640"/>
            <a:ext cx="189000" cy="189000"/>
          </a:xfrm>
          <a:custGeom>
            <a:avLst/>
            <a:gdLst/>
            <a:ah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w="0">
            <a:noFill/>
          </a:ln>
        </p:spPr>
        <p:style>
          <a:lnRef idx="0"/>
          <a:fillRef idx="0"/>
          <a:effectRef idx="0"/>
          <a:fontRef idx="minor"/>
        </p:style>
      </p:sp>
      <p:sp>
        <p:nvSpPr>
          <p:cNvPr id="141" name="Text 5"/>
          <p:cNvSpPr/>
          <p:nvPr/>
        </p:nvSpPr>
        <p:spPr>
          <a:xfrm>
            <a:off x="809640" y="1752480"/>
            <a:ext cx="625644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Habitat-Heterogeneity Hypothesis</a:t>
            </a:r>
            <a:endParaRPr b="0" lang="en-HK" sz="1500" spc="-1" strike="noStrike">
              <a:latin typeface="Arial"/>
            </a:endParaRPr>
          </a:p>
        </p:txBody>
      </p:sp>
      <p:sp>
        <p:nvSpPr>
          <p:cNvPr id="142" name="Text 6"/>
          <p:cNvSpPr/>
          <p:nvPr/>
        </p:nvSpPr>
        <p:spPr>
          <a:xfrm>
            <a:off x="571680" y="2133720"/>
            <a:ext cx="6475680" cy="98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First proposed by MacArthur and MacArthur (1961), this foundational theory posits that </a:t>
            </a:r>
            <a:r>
              <a:rPr b="0" lang="en-US" sz="1200" spc="-1" strike="noStrike">
                <a:solidFill>
                  <a:srgbClr val="2f3e3b"/>
                </a:solidFill>
                <a:highlight>
                  <a:srgbClr val="8fb7ac"/>
                </a:highlight>
                <a:latin typeface="Quattrocento Sans"/>
                <a:ea typeface="Quattrocento Sans"/>
              </a:rPr>
              <a:t>increased environmental heterogeneity supports greater species diversity </a:t>
            </a:r>
            <a:r>
              <a:rPr b="0" lang="en-US" sz="1200" spc="-1" strike="noStrike">
                <a:solidFill>
                  <a:srgbClr val="1f2a28"/>
                </a:solidFill>
                <a:latin typeface="Quattrocento Sans"/>
                <a:ea typeface="Quattrocento Sans"/>
              </a:rPr>
              <a:t>by creating more ecological niches. Forests with complex structures provide diverse microhabitats that accommodate species with varying ecological requirements.</a:t>
            </a:r>
            <a:endParaRPr b="0" lang="en-HK" sz="1200" spc="-1" strike="noStrike">
              <a:latin typeface="Arial"/>
            </a:endParaRPr>
          </a:p>
        </p:txBody>
      </p:sp>
      <p:sp>
        <p:nvSpPr>
          <p:cNvPr id="143" name="Shape 7"/>
          <p:cNvSpPr/>
          <p:nvPr/>
        </p:nvSpPr>
        <p:spPr>
          <a:xfrm>
            <a:off x="571680" y="3238560"/>
            <a:ext cx="6399360" cy="798840"/>
          </a:xfrm>
          <a:custGeom>
            <a:avLst/>
            <a:gdLst/>
            <a:ah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w="0">
            <a:noFill/>
          </a:ln>
        </p:spPr>
        <p:style>
          <a:lnRef idx="0"/>
          <a:fillRef idx="0"/>
          <a:effectRef idx="0"/>
          <a:fontRef idx="minor"/>
        </p:style>
      </p:sp>
      <p:sp>
        <p:nvSpPr>
          <p:cNvPr id="144" name="Text 8"/>
          <p:cNvSpPr/>
          <p:nvPr/>
        </p:nvSpPr>
        <p:spPr>
          <a:xfrm>
            <a:off x="723960" y="3390840"/>
            <a:ext cx="617076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"Structural complexity promotes biodiversity by increasing environmental heterogeneity, microclimate, and microhabitat variations."</a:t>
            </a:r>
            <a:endParaRPr b="0" lang="en-HK" sz="1200" spc="-1" strike="noStrike">
              <a:latin typeface="Arial"/>
            </a:endParaRPr>
          </a:p>
        </p:txBody>
      </p:sp>
      <p:sp>
        <p:nvSpPr>
          <p:cNvPr id="145" name="Shape 9"/>
          <p:cNvSpPr/>
          <p:nvPr/>
        </p:nvSpPr>
        <p:spPr>
          <a:xfrm>
            <a:off x="380880" y="4400640"/>
            <a:ext cx="3313440" cy="218916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6" name="Shape 10"/>
          <p:cNvSpPr/>
          <p:nvPr/>
        </p:nvSpPr>
        <p:spPr>
          <a:xfrm>
            <a:off x="380880" y="4400640"/>
            <a:ext cx="3313440" cy="3672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47" name="Shape 11"/>
          <p:cNvSpPr/>
          <p:nvPr/>
        </p:nvSpPr>
        <p:spPr>
          <a:xfrm>
            <a:off x="533520" y="4572000"/>
            <a:ext cx="379440" cy="37944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5000"/>
            </a:srgbClr>
          </a:solidFill>
          <a:ln w="0">
            <a:noFill/>
          </a:ln>
        </p:spPr>
        <p:style>
          <a:lnRef idx="0"/>
          <a:fillRef idx="0"/>
          <a:effectRef idx="0"/>
          <a:fontRef idx="minor"/>
        </p:style>
      </p:sp>
      <p:sp>
        <p:nvSpPr>
          <p:cNvPr id="148" name="Shape 12"/>
          <p:cNvSpPr/>
          <p:nvPr/>
        </p:nvSpPr>
        <p:spPr>
          <a:xfrm>
            <a:off x="640440" y="4676760"/>
            <a:ext cx="169920" cy="169920"/>
          </a:xfrm>
          <a:custGeom>
            <a:avLst/>
            <a:gdLst/>
            <a:ah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w="0">
            <a:noFill/>
          </a:ln>
        </p:spPr>
        <p:style>
          <a:lnRef idx="0"/>
          <a:fillRef idx="0"/>
          <a:effectRef idx="0"/>
          <a:fontRef idx="minor"/>
        </p:style>
      </p:sp>
      <p:sp>
        <p:nvSpPr>
          <p:cNvPr id="149" name="Text 13"/>
          <p:cNvSpPr/>
          <p:nvPr/>
        </p:nvSpPr>
        <p:spPr>
          <a:xfrm>
            <a:off x="1028880" y="4629240"/>
            <a:ext cx="141768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Vertical Structure</a:t>
            </a:r>
            <a:endParaRPr b="0" lang="en-HK" sz="1350" spc="-1" strike="noStrike">
              <a:latin typeface="Arial"/>
            </a:endParaRPr>
          </a:p>
        </p:txBody>
      </p:sp>
      <p:sp>
        <p:nvSpPr>
          <p:cNvPr id="150" name="Text 14"/>
          <p:cNvSpPr/>
          <p:nvPr/>
        </p:nvSpPr>
        <p:spPr>
          <a:xfrm>
            <a:off x="533520" y="506736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Emergent layer (&gt;40m)</a:t>
            </a:r>
            <a:endParaRPr b="0" lang="en-HK" sz="1200" spc="-1" strike="noStrike">
              <a:latin typeface="Arial"/>
            </a:endParaRPr>
          </a:p>
        </p:txBody>
      </p:sp>
      <p:sp>
        <p:nvSpPr>
          <p:cNvPr id="151" name="Text 15"/>
          <p:cNvSpPr/>
          <p:nvPr/>
        </p:nvSpPr>
        <p:spPr>
          <a:xfrm>
            <a:off x="533520" y="535320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Main canopy (20-40m)</a:t>
            </a:r>
            <a:endParaRPr b="0" lang="en-HK" sz="1200" spc="-1" strike="noStrike">
              <a:latin typeface="Arial"/>
            </a:endParaRPr>
          </a:p>
        </p:txBody>
      </p:sp>
      <p:sp>
        <p:nvSpPr>
          <p:cNvPr id="152" name="Text 16"/>
          <p:cNvSpPr/>
          <p:nvPr/>
        </p:nvSpPr>
        <p:spPr>
          <a:xfrm>
            <a:off x="533520" y="563868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Subcanopy (10-20m)</a:t>
            </a:r>
            <a:endParaRPr b="0" lang="en-HK" sz="1200" spc="-1" strike="noStrike">
              <a:latin typeface="Arial"/>
            </a:endParaRPr>
          </a:p>
        </p:txBody>
      </p:sp>
      <p:sp>
        <p:nvSpPr>
          <p:cNvPr id="153" name="Text 17"/>
          <p:cNvSpPr/>
          <p:nvPr/>
        </p:nvSpPr>
        <p:spPr>
          <a:xfrm>
            <a:off x="533520" y="592452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Understory (&lt;10m)</a:t>
            </a:r>
            <a:endParaRPr b="0" lang="en-HK" sz="1200" spc="-1" strike="noStrike">
              <a:latin typeface="Arial"/>
            </a:endParaRPr>
          </a:p>
        </p:txBody>
      </p:sp>
      <p:sp>
        <p:nvSpPr>
          <p:cNvPr id="154" name="Text 18"/>
          <p:cNvSpPr/>
          <p:nvPr/>
        </p:nvSpPr>
        <p:spPr>
          <a:xfrm>
            <a:off x="533520" y="621036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Ground vegetation</a:t>
            </a:r>
            <a:endParaRPr b="0" lang="en-HK" sz="1200" spc="-1" strike="noStrike">
              <a:latin typeface="Arial"/>
            </a:endParaRPr>
          </a:p>
        </p:txBody>
      </p:sp>
      <p:sp>
        <p:nvSpPr>
          <p:cNvPr id="155" name="Shape 19"/>
          <p:cNvSpPr/>
          <p:nvPr/>
        </p:nvSpPr>
        <p:spPr>
          <a:xfrm>
            <a:off x="3848040" y="4400640"/>
            <a:ext cx="3313440" cy="218916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56" name="Shape 20"/>
          <p:cNvSpPr/>
          <p:nvPr/>
        </p:nvSpPr>
        <p:spPr>
          <a:xfrm>
            <a:off x="3848040" y="4400640"/>
            <a:ext cx="3313440" cy="3672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57" name="Shape 21"/>
          <p:cNvSpPr/>
          <p:nvPr/>
        </p:nvSpPr>
        <p:spPr>
          <a:xfrm>
            <a:off x="4000680" y="4572000"/>
            <a:ext cx="379440" cy="37944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5000"/>
            </a:srgbClr>
          </a:solidFill>
          <a:ln w="0">
            <a:noFill/>
          </a:ln>
        </p:spPr>
        <p:style>
          <a:lnRef idx="0"/>
          <a:fillRef idx="0"/>
          <a:effectRef idx="0"/>
          <a:fontRef idx="minor"/>
        </p:style>
      </p:sp>
      <p:sp>
        <p:nvSpPr>
          <p:cNvPr id="158" name="Shape 22"/>
          <p:cNvSpPr/>
          <p:nvPr/>
        </p:nvSpPr>
        <p:spPr>
          <a:xfrm>
            <a:off x="4107600" y="4676760"/>
            <a:ext cx="169920" cy="169920"/>
          </a:xfrm>
          <a:custGeom>
            <a:avLst/>
            <a:gdLst/>
            <a:ah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w="0">
            <a:noFill/>
          </a:ln>
        </p:spPr>
        <p:style>
          <a:lnRef idx="0"/>
          <a:fillRef idx="0"/>
          <a:effectRef idx="0"/>
          <a:fontRef idx="minor"/>
        </p:style>
      </p:sp>
      <p:sp>
        <p:nvSpPr>
          <p:cNvPr id="159" name="Text 23"/>
          <p:cNvSpPr/>
          <p:nvPr/>
        </p:nvSpPr>
        <p:spPr>
          <a:xfrm>
            <a:off x="4495680" y="4629240"/>
            <a:ext cx="160812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Horizontal Structure</a:t>
            </a:r>
            <a:endParaRPr b="0" lang="en-HK" sz="1350" spc="-1" strike="noStrike">
              <a:latin typeface="Arial"/>
            </a:endParaRPr>
          </a:p>
        </p:txBody>
      </p:sp>
      <p:sp>
        <p:nvSpPr>
          <p:cNvPr id="160" name="Text 24"/>
          <p:cNvSpPr/>
          <p:nvPr/>
        </p:nvSpPr>
        <p:spPr>
          <a:xfrm>
            <a:off x="4000680" y="506736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Canopy gaps</a:t>
            </a:r>
            <a:endParaRPr b="0" lang="en-HK" sz="1200" spc="-1" strike="noStrike">
              <a:latin typeface="Arial"/>
            </a:endParaRPr>
          </a:p>
        </p:txBody>
      </p:sp>
      <p:sp>
        <p:nvSpPr>
          <p:cNvPr id="161" name="Text 25"/>
          <p:cNvSpPr/>
          <p:nvPr/>
        </p:nvSpPr>
        <p:spPr>
          <a:xfrm>
            <a:off x="4000680" y="535320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Forest edges</a:t>
            </a:r>
            <a:endParaRPr b="0" lang="en-HK" sz="1200" spc="-1" strike="noStrike">
              <a:latin typeface="Arial"/>
            </a:endParaRPr>
          </a:p>
        </p:txBody>
      </p:sp>
      <p:sp>
        <p:nvSpPr>
          <p:cNvPr id="162" name="Text 26"/>
          <p:cNvSpPr/>
          <p:nvPr/>
        </p:nvSpPr>
        <p:spPr>
          <a:xfrm>
            <a:off x="4000680" y="563868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Interior habitats</a:t>
            </a:r>
            <a:endParaRPr b="0" lang="en-HK" sz="1200" spc="-1" strike="noStrike">
              <a:latin typeface="Arial"/>
            </a:endParaRPr>
          </a:p>
        </p:txBody>
      </p:sp>
      <p:sp>
        <p:nvSpPr>
          <p:cNvPr id="163" name="Text 27"/>
          <p:cNvSpPr/>
          <p:nvPr/>
        </p:nvSpPr>
        <p:spPr>
          <a:xfrm>
            <a:off x="4000680" y="592452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Stand mosaics</a:t>
            </a:r>
            <a:endParaRPr b="0" lang="en-HK" sz="1200" spc="-1" strike="noStrike">
              <a:latin typeface="Arial"/>
            </a:endParaRPr>
          </a:p>
        </p:txBody>
      </p:sp>
      <p:sp>
        <p:nvSpPr>
          <p:cNvPr id="164" name="Text 28"/>
          <p:cNvSpPr/>
          <p:nvPr/>
        </p:nvSpPr>
        <p:spPr>
          <a:xfrm>
            <a:off x="4000680" y="6210360"/>
            <a:ext cx="30848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Microtopography</a:t>
            </a:r>
            <a:endParaRPr b="0" lang="en-HK" sz="1200" spc="-1" strike="noStrike">
              <a:latin typeface="Arial"/>
            </a:endParaRPr>
          </a:p>
        </p:txBody>
      </p:sp>
      <p:sp>
        <p:nvSpPr>
          <p:cNvPr id="165" name="Shape 29"/>
          <p:cNvSpPr/>
          <p:nvPr/>
        </p:nvSpPr>
        <p:spPr>
          <a:xfrm>
            <a:off x="7353360" y="1562040"/>
            <a:ext cx="4456440" cy="2970360"/>
          </a:xfrm>
          <a:custGeom>
            <a:avLst/>
            <a:gdLst/>
            <a:ah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66" name="Image 0"/>
          <p:cNvSpPr/>
          <p:nvPr/>
        </p:nvSpPr>
        <p:spPr>
          <a:xfrm>
            <a:off x="7353360" y="1562040"/>
            <a:ext cx="4456440" cy="2970360"/>
          </a:xfrm>
          <a:prstGeom prst="roundRect">
            <a:avLst>
              <a:gd name="adj" fmla="val 3846"/>
            </a:avLst>
          </a:prstGeom>
          <a:blipFill rotWithShape="0">
            <a:blip r:embed="rId1"/>
            <a:srcRect/>
            <a:stretch/>
          </a:blipFill>
          <a:ln w="0">
            <a:noFill/>
          </a:ln>
        </p:spPr>
        <p:style>
          <a:lnRef idx="0"/>
          <a:fillRef idx="0"/>
          <a:effectRef idx="0"/>
          <a:fontRef idx="minor"/>
        </p:style>
      </p:sp>
      <p:sp>
        <p:nvSpPr>
          <p:cNvPr id="167" name="Shape 30"/>
          <p:cNvSpPr/>
          <p:nvPr/>
        </p:nvSpPr>
        <p:spPr>
          <a:xfrm>
            <a:off x="7353360" y="4686480"/>
            <a:ext cx="4456440" cy="1903680"/>
          </a:xfrm>
          <a:custGeom>
            <a:avLst/>
            <a:gdLst/>
            <a:ah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w="0">
            <a:noFill/>
          </a:ln>
        </p:spPr>
        <p:style>
          <a:lnRef idx="0"/>
          <a:fillRef idx="0"/>
          <a:effectRef idx="0"/>
          <a:fontRef idx="minor"/>
        </p:style>
      </p:sp>
      <p:sp>
        <p:nvSpPr>
          <p:cNvPr id="168" name="Text 31"/>
          <p:cNvSpPr/>
          <p:nvPr/>
        </p:nvSpPr>
        <p:spPr>
          <a:xfrm>
            <a:off x="7543800" y="4876920"/>
            <a:ext cx="416088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Key Structural Elements</a:t>
            </a:r>
            <a:endParaRPr b="0" lang="en-HK" sz="1350" spc="-1" strike="noStrike">
              <a:latin typeface="Arial"/>
            </a:endParaRPr>
          </a:p>
        </p:txBody>
      </p:sp>
      <p:sp>
        <p:nvSpPr>
          <p:cNvPr id="169" name="Shape 32"/>
          <p:cNvSpPr/>
          <p:nvPr/>
        </p:nvSpPr>
        <p:spPr>
          <a:xfrm>
            <a:off x="7558200" y="5315040"/>
            <a:ext cx="113040" cy="11304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0" name="Text 33"/>
          <p:cNvSpPr/>
          <p:nvPr/>
        </p:nvSpPr>
        <p:spPr>
          <a:xfrm>
            <a:off x="7800840" y="5257800"/>
            <a:ext cx="35514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Dead Wood:</a:t>
            </a:r>
            <a:r>
              <a:rPr b="0" lang="en-US" sz="1200" spc="-1" strike="noStrike">
                <a:solidFill>
                  <a:srgbClr val="ffffff"/>
                </a:solidFill>
                <a:latin typeface="Quattrocento Sans"/>
                <a:ea typeface="Quattrocento Sans"/>
              </a:rPr>
              <a:t> Critical habitat for saproxylic organisms</a:t>
            </a:r>
            <a:endParaRPr b="0" lang="en-HK" sz="1200" spc="-1" strike="noStrike">
              <a:latin typeface="Arial"/>
            </a:endParaRPr>
          </a:p>
        </p:txBody>
      </p:sp>
      <p:sp>
        <p:nvSpPr>
          <p:cNvPr id="171" name="Shape 34"/>
          <p:cNvSpPr/>
          <p:nvPr/>
        </p:nvSpPr>
        <p:spPr>
          <a:xfrm>
            <a:off x="7558200" y="5619600"/>
            <a:ext cx="113040" cy="11304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2" name="Text 35"/>
          <p:cNvSpPr/>
          <p:nvPr/>
        </p:nvSpPr>
        <p:spPr>
          <a:xfrm>
            <a:off x="7800840" y="5562720"/>
            <a:ext cx="35038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Veteran Trees:</a:t>
            </a:r>
            <a:r>
              <a:rPr b="0" lang="en-US" sz="1200" spc="-1" strike="noStrike">
                <a:solidFill>
                  <a:srgbClr val="ffffff"/>
                </a:solidFill>
                <a:latin typeface="Quattrocento Sans"/>
                <a:ea typeface="Quattrocento Sans"/>
              </a:rPr>
              <a:t> Support epiphytes and cavity nesters</a:t>
            </a:r>
            <a:endParaRPr b="0" lang="en-HK" sz="1200" spc="-1" strike="noStrike">
              <a:latin typeface="Arial"/>
            </a:endParaRPr>
          </a:p>
        </p:txBody>
      </p:sp>
      <p:sp>
        <p:nvSpPr>
          <p:cNvPr id="173" name="Shape 36"/>
          <p:cNvSpPr/>
          <p:nvPr/>
        </p:nvSpPr>
        <p:spPr>
          <a:xfrm>
            <a:off x="7558200" y="5924520"/>
            <a:ext cx="113040" cy="11304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4" name="Text 37"/>
          <p:cNvSpPr/>
          <p:nvPr/>
        </p:nvSpPr>
        <p:spPr>
          <a:xfrm>
            <a:off x="7800840" y="5867280"/>
            <a:ext cx="32464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Canopy Gaps:</a:t>
            </a:r>
            <a:r>
              <a:rPr b="0" lang="en-US" sz="1200" spc="-1" strike="noStrike">
                <a:solidFill>
                  <a:srgbClr val="ffffff"/>
                </a:solidFill>
                <a:latin typeface="Quattrocento Sans"/>
                <a:ea typeface="Quattrocento Sans"/>
              </a:rPr>
              <a:t> Create regeneration opportunities</a:t>
            </a:r>
            <a:endParaRPr b="0" lang="en-HK" sz="1200" spc="-1" strike="noStrike">
              <a:latin typeface="Arial"/>
            </a:endParaRPr>
          </a:p>
        </p:txBody>
      </p:sp>
      <p:sp>
        <p:nvSpPr>
          <p:cNvPr id="175" name="Shape 38"/>
          <p:cNvSpPr/>
          <p:nvPr/>
        </p:nvSpPr>
        <p:spPr>
          <a:xfrm>
            <a:off x="7558200" y="6229440"/>
            <a:ext cx="113040" cy="11304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6" name="Text 39"/>
          <p:cNvSpPr/>
          <p:nvPr/>
        </p:nvSpPr>
        <p:spPr>
          <a:xfrm>
            <a:off x="7800840" y="6172200"/>
            <a:ext cx="336096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Bark Diversity:</a:t>
            </a:r>
            <a:r>
              <a:rPr b="0" lang="en-US" sz="1200" spc="-1" strike="noStrike">
                <a:solidFill>
                  <a:srgbClr val="ffffff"/>
                </a:solidFill>
                <a:latin typeface="Quattrocento Sans"/>
                <a:ea typeface="Quattrocento Sans"/>
              </a:rPr>
              <a:t> Various textures support epiphytes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77" name="Text 0"/>
          <p:cNvSpPr/>
          <p:nvPr/>
        </p:nvSpPr>
        <p:spPr>
          <a:xfrm>
            <a:off x="317520" y="317520"/>
            <a:ext cx="116110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77" strike="noStrike">
                <a:solidFill>
                  <a:srgbClr val="4c8a7a"/>
                </a:solidFill>
                <a:latin typeface="Quattrocento Sans"/>
                <a:ea typeface="Quattrocento Sans"/>
              </a:rPr>
              <a:t>02 • Structural Complexity</a:t>
            </a:r>
            <a:endParaRPr b="0" lang="en-HK" sz="880" spc="-1" strike="noStrike">
              <a:latin typeface="Arial"/>
            </a:endParaRPr>
          </a:p>
        </p:txBody>
      </p:sp>
      <p:sp>
        <p:nvSpPr>
          <p:cNvPr id="178" name="Text 1"/>
          <p:cNvSpPr/>
          <p:nvPr/>
        </p:nvSpPr>
        <p:spPr>
          <a:xfrm>
            <a:off x="317520" y="539640"/>
            <a:ext cx="11698560" cy="3160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Vertical Structure &amp; Canopy Layering</a:t>
            </a:r>
            <a:endParaRPr b="0" lang="en-HK" sz="2250" spc="-1" strike="noStrike">
              <a:latin typeface="Arial"/>
            </a:endParaRPr>
          </a:p>
        </p:txBody>
      </p:sp>
      <p:sp>
        <p:nvSpPr>
          <p:cNvPr id="179" name="Text 2"/>
          <p:cNvSpPr/>
          <p:nvPr/>
        </p:nvSpPr>
        <p:spPr>
          <a:xfrm>
            <a:off x="317520" y="920880"/>
            <a:ext cx="1162692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Three-dimensional stratification creates distinct microclimates and niche spaces</a:t>
            </a:r>
            <a:endParaRPr b="0" lang="en-HK" sz="1130" spc="-1" strike="noStrike">
              <a:latin typeface="Arial"/>
            </a:endParaRPr>
          </a:p>
        </p:txBody>
      </p:sp>
      <p:sp>
        <p:nvSpPr>
          <p:cNvPr id="180" name="Shape 3"/>
          <p:cNvSpPr/>
          <p:nvPr/>
        </p:nvSpPr>
        <p:spPr>
          <a:xfrm>
            <a:off x="317520" y="1301760"/>
            <a:ext cx="5681880" cy="3189600"/>
          </a:xfrm>
          <a:custGeom>
            <a:avLst/>
            <a:gdLst/>
            <a:ah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81" name="Text 4"/>
          <p:cNvSpPr/>
          <p:nvPr/>
        </p:nvSpPr>
        <p:spPr>
          <a:xfrm>
            <a:off x="476280" y="1460520"/>
            <a:ext cx="5443560" cy="220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Forest Stratification</a:t>
            </a:r>
            <a:endParaRPr b="0" lang="en-HK" sz="1250" spc="-1" strike="noStrike">
              <a:latin typeface="Arial"/>
            </a:endParaRPr>
          </a:p>
        </p:txBody>
      </p:sp>
      <p:sp>
        <p:nvSpPr>
          <p:cNvPr id="182" name="Text 5"/>
          <p:cNvSpPr/>
          <p:nvPr/>
        </p:nvSpPr>
        <p:spPr>
          <a:xfrm>
            <a:off x="476280" y="1778040"/>
            <a:ext cx="5427720" cy="617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Vertical stratification in forests creates </a:t>
            </a:r>
            <a:r>
              <a:rPr b="1" lang="en-US" sz="1000" spc="-1" strike="noStrike">
                <a:solidFill>
                  <a:srgbClr val="1f2a28"/>
                </a:solidFill>
                <a:latin typeface="Quattrocento Sans"/>
                <a:ea typeface="Quattrocento Sans"/>
              </a:rPr>
              <a:t>distinct microclimates and niche spaces</a:t>
            </a:r>
            <a:r>
              <a:rPr b="0" lang="en-US" sz="1000" spc="-1" strike="noStrike">
                <a:solidFill>
                  <a:srgbClr val="1f2a28"/>
                </a:solidFill>
                <a:latin typeface="Quattrocento Sans"/>
                <a:ea typeface="Quattrocento Sans"/>
              </a:rPr>
              <a:t> that support specialized communities. Each layer differs in light availability, temperature, humidity, and wind exposure—factors that determine which species can thrive.</a:t>
            </a:r>
            <a:endParaRPr b="0" lang="en-HK" sz="1000" spc="-1" strike="noStrike">
              <a:latin typeface="Arial"/>
            </a:endParaRPr>
          </a:p>
        </p:txBody>
      </p:sp>
      <p:sp>
        <p:nvSpPr>
          <p:cNvPr id="183" name="Shape 6"/>
          <p:cNvSpPr/>
          <p:nvPr/>
        </p:nvSpPr>
        <p:spPr>
          <a:xfrm>
            <a:off x="476280" y="2523960"/>
            <a:ext cx="5364360" cy="53820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184" name="Shape 7"/>
          <p:cNvSpPr/>
          <p:nvPr/>
        </p:nvSpPr>
        <p:spPr>
          <a:xfrm>
            <a:off x="571680" y="2619360"/>
            <a:ext cx="252720" cy="25272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w="0">
            <a:noFill/>
          </a:ln>
        </p:spPr>
        <p:style>
          <a:lnRef idx="0"/>
          <a:fillRef idx="0"/>
          <a:effectRef idx="0"/>
          <a:fontRef idx="minor"/>
        </p:style>
      </p:sp>
      <p:sp>
        <p:nvSpPr>
          <p:cNvPr id="185" name="Text 8"/>
          <p:cNvSpPr/>
          <p:nvPr/>
        </p:nvSpPr>
        <p:spPr>
          <a:xfrm>
            <a:off x="543600" y="2619360"/>
            <a:ext cx="308160" cy="252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E</a:t>
            </a:r>
            <a:endParaRPr b="0" lang="en-HK" sz="880" spc="-1" strike="noStrike">
              <a:latin typeface="Arial"/>
            </a:endParaRPr>
          </a:p>
        </p:txBody>
      </p:sp>
      <p:sp>
        <p:nvSpPr>
          <p:cNvPr id="186" name="Text 9"/>
          <p:cNvSpPr/>
          <p:nvPr/>
        </p:nvSpPr>
        <p:spPr>
          <a:xfrm>
            <a:off x="920880" y="2619360"/>
            <a:ext cx="244332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Emergent Layer (&gt;40m)</a:t>
            </a:r>
            <a:endParaRPr b="0" lang="en-HK" sz="1000" spc="-1" strike="noStrike">
              <a:latin typeface="Arial"/>
            </a:endParaRPr>
          </a:p>
        </p:txBody>
      </p:sp>
      <p:sp>
        <p:nvSpPr>
          <p:cNvPr id="187" name="Text 10"/>
          <p:cNvSpPr/>
          <p:nvPr/>
        </p:nvSpPr>
        <p:spPr>
          <a:xfrm>
            <a:off x="920880" y="2809800"/>
            <a:ext cx="243540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Full sun exposure, wind-resistant species, raptors</a:t>
            </a:r>
            <a:endParaRPr b="0" lang="en-HK" sz="880" spc="-1" strike="noStrike">
              <a:latin typeface="Arial"/>
            </a:endParaRPr>
          </a:p>
        </p:txBody>
      </p:sp>
      <p:sp>
        <p:nvSpPr>
          <p:cNvPr id="188" name="Shape 11"/>
          <p:cNvSpPr/>
          <p:nvPr/>
        </p:nvSpPr>
        <p:spPr>
          <a:xfrm>
            <a:off x="476280" y="3159000"/>
            <a:ext cx="5364360" cy="53820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189" name="Shape 12"/>
          <p:cNvSpPr/>
          <p:nvPr/>
        </p:nvSpPr>
        <p:spPr>
          <a:xfrm>
            <a:off x="571680" y="3254400"/>
            <a:ext cx="252720" cy="25272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w="0">
            <a:noFill/>
          </a:ln>
        </p:spPr>
        <p:style>
          <a:lnRef idx="0"/>
          <a:fillRef idx="0"/>
          <a:effectRef idx="0"/>
          <a:fontRef idx="minor"/>
        </p:style>
      </p:sp>
      <p:sp>
        <p:nvSpPr>
          <p:cNvPr id="190" name="Text 13"/>
          <p:cNvSpPr/>
          <p:nvPr/>
        </p:nvSpPr>
        <p:spPr>
          <a:xfrm>
            <a:off x="543600" y="3254400"/>
            <a:ext cx="308160" cy="252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C</a:t>
            </a:r>
            <a:endParaRPr b="0" lang="en-HK" sz="880" spc="-1" strike="noStrike">
              <a:latin typeface="Arial"/>
            </a:endParaRPr>
          </a:p>
        </p:txBody>
      </p:sp>
      <p:sp>
        <p:nvSpPr>
          <p:cNvPr id="191" name="Text 14"/>
          <p:cNvSpPr/>
          <p:nvPr/>
        </p:nvSpPr>
        <p:spPr>
          <a:xfrm>
            <a:off x="920880" y="3254400"/>
            <a:ext cx="28958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Canopy Layer (20-40m)</a:t>
            </a:r>
            <a:endParaRPr b="0" lang="en-HK" sz="1000" spc="-1" strike="noStrike">
              <a:latin typeface="Arial"/>
            </a:endParaRPr>
          </a:p>
        </p:txBody>
      </p:sp>
      <p:sp>
        <p:nvSpPr>
          <p:cNvPr id="192" name="Text 15"/>
          <p:cNvSpPr/>
          <p:nvPr/>
        </p:nvSpPr>
        <p:spPr>
          <a:xfrm>
            <a:off x="920880" y="3444840"/>
            <a:ext cx="288792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Filtered light, primary productivity zone, arboreal mammals</a:t>
            </a:r>
            <a:endParaRPr b="0" lang="en-HK" sz="880" spc="-1" strike="noStrike">
              <a:latin typeface="Arial"/>
            </a:endParaRPr>
          </a:p>
        </p:txBody>
      </p:sp>
      <p:sp>
        <p:nvSpPr>
          <p:cNvPr id="193" name="Shape 16"/>
          <p:cNvSpPr/>
          <p:nvPr/>
        </p:nvSpPr>
        <p:spPr>
          <a:xfrm>
            <a:off x="476280" y="3794040"/>
            <a:ext cx="5364360" cy="53820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000"/>
            </a:srgbClr>
          </a:solidFill>
          <a:ln w="0">
            <a:noFill/>
          </a:ln>
        </p:spPr>
        <p:style>
          <a:lnRef idx="0"/>
          <a:fillRef idx="0"/>
          <a:effectRef idx="0"/>
          <a:fontRef idx="minor"/>
        </p:style>
      </p:sp>
      <p:sp>
        <p:nvSpPr>
          <p:cNvPr id="194" name="Shape 17"/>
          <p:cNvSpPr/>
          <p:nvPr/>
        </p:nvSpPr>
        <p:spPr>
          <a:xfrm>
            <a:off x="571680" y="3889440"/>
            <a:ext cx="252720" cy="25272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w="0">
            <a:noFill/>
          </a:ln>
        </p:spPr>
        <p:style>
          <a:lnRef idx="0"/>
          <a:fillRef idx="0"/>
          <a:effectRef idx="0"/>
          <a:fontRef idx="minor"/>
        </p:style>
      </p:sp>
      <p:sp>
        <p:nvSpPr>
          <p:cNvPr id="195" name="Text 18"/>
          <p:cNvSpPr/>
          <p:nvPr/>
        </p:nvSpPr>
        <p:spPr>
          <a:xfrm>
            <a:off x="543600" y="3889440"/>
            <a:ext cx="308160" cy="252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U</a:t>
            </a:r>
            <a:endParaRPr b="0" lang="en-HK" sz="880" spc="-1" strike="noStrike">
              <a:latin typeface="Arial"/>
            </a:endParaRPr>
          </a:p>
        </p:txBody>
      </p:sp>
      <p:sp>
        <p:nvSpPr>
          <p:cNvPr id="196" name="Text 19"/>
          <p:cNvSpPr/>
          <p:nvPr/>
        </p:nvSpPr>
        <p:spPr>
          <a:xfrm>
            <a:off x="920880" y="3889440"/>
            <a:ext cx="23558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Understory (&lt;20m)</a:t>
            </a:r>
            <a:endParaRPr b="0" lang="en-HK" sz="1000" spc="-1" strike="noStrike">
              <a:latin typeface="Arial"/>
            </a:endParaRPr>
          </a:p>
        </p:txBody>
      </p:sp>
      <p:sp>
        <p:nvSpPr>
          <p:cNvPr id="197" name="Text 20"/>
          <p:cNvSpPr/>
          <p:nvPr/>
        </p:nvSpPr>
        <p:spPr>
          <a:xfrm>
            <a:off x="920880" y="4079880"/>
            <a:ext cx="234792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Low light, shade-tolerant species, high humidity</a:t>
            </a:r>
            <a:endParaRPr b="0" lang="en-HK" sz="880" spc="-1" strike="noStrike">
              <a:latin typeface="Arial"/>
            </a:endParaRPr>
          </a:p>
        </p:txBody>
      </p:sp>
      <p:sp>
        <p:nvSpPr>
          <p:cNvPr id="198" name="Shape 21"/>
          <p:cNvSpPr/>
          <p:nvPr/>
        </p:nvSpPr>
        <p:spPr>
          <a:xfrm>
            <a:off x="6191280" y="1301760"/>
            <a:ext cx="5681880" cy="7650360"/>
          </a:xfrm>
          <a:custGeom>
            <a:avLst/>
            <a:gdLst/>
            <a:ah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99" name="Image 0"/>
          <p:cNvSpPr/>
          <p:nvPr/>
        </p:nvSpPr>
        <p:spPr>
          <a:xfrm>
            <a:off x="6191280" y="1301760"/>
            <a:ext cx="5681880" cy="7650360"/>
          </a:xfrm>
          <a:prstGeom prst="roundRect">
            <a:avLst>
              <a:gd name="adj" fmla="val 1676"/>
            </a:avLst>
          </a:prstGeom>
          <a:blipFill rotWithShape="0">
            <a:blip r:embed="rId1"/>
            <a:srcRect/>
            <a:stretch/>
          </a:blipFill>
          <a:ln w="0">
            <a:noFill/>
          </a:ln>
        </p:spPr>
        <p:style>
          <a:lnRef idx="0"/>
          <a:fillRef idx="0"/>
          <a:effectRef idx="0"/>
          <a:fontRef idx="minor"/>
        </p:style>
      </p:sp>
      <p:sp>
        <p:nvSpPr>
          <p:cNvPr id="200" name="Shape 22"/>
          <p:cNvSpPr/>
          <p:nvPr/>
        </p:nvSpPr>
        <p:spPr>
          <a:xfrm>
            <a:off x="6191280" y="9079200"/>
            <a:ext cx="5681880" cy="1332000"/>
          </a:xfrm>
          <a:custGeom>
            <a:avLst/>
            <a:gdLst/>
            <a:ah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w="0">
            <a:noFill/>
          </a:ln>
        </p:spPr>
        <p:style>
          <a:lnRef idx="0"/>
          <a:fillRef idx="0"/>
          <a:effectRef idx="0"/>
          <a:fontRef idx="minor"/>
        </p:style>
      </p:sp>
      <p:sp>
        <p:nvSpPr>
          <p:cNvPr id="201" name="Text 23"/>
          <p:cNvSpPr/>
          <p:nvPr/>
        </p:nvSpPr>
        <p:spPr>
          <a:xfrm>
            <a:off x="6350040" y="9237960"/>
            <a:ext cx="543564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Research Evidence</a:t>
            </a:r>
            <a:endParaRPr b="0" lang="en-HK" sz="1130" spc="-1" strike="noStrike">
              <a:latin typeface="Arial"/>
            </a:endParaRPr>
          </a:p>
        </p:txBody>
      </p:sp>
      <p:sp>
        <p:nvSpPr>
          <p:cNvPr id="202" name="Shape 24"/>
          <p:cNvSpPr/>
          <p:nvPr/>
        </p:nvSpPr>
        <p:spPr>
          <a:xfrm>
            <a:off x="6365880" y="9587160"/>
            <a:ext cx="125640" cy="12564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3" name="Text 25"/>
          <p:cNvSpPr/>
          <p:nvPr/>
        </p:nvSpPr>
        <p:spPr>
          <a:xfrm>
            <a:off x="6572160" y="9555480"/>
            <a:ext cx="419760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Foliage Height Diversity (FHD)</a:t>
            </a:r>
            <a:r>
              <a:rPr b="0" lang="en-US" sz="1000" spc="-1" strike="noStrike">
                <a:solidFill>
                  <a:srgbClr val="ffffff"/>
                </a:solidFill>
                <a:latin typeface="Quattrocento Sans"/>
                <a:ea typeface="Quattrocento Sans"/>
              </a:rPr>
              <a:t> strongly correlates with bird species richness</a:t>
            </a:r>
            <a:endParaRPr b="0" lang="en-HK" sz="1000" spc="-1" strike="noStrike">
              <a:latin typeface="Arial"/>
            </a:endParaRPr>
          </a:p>
        </p:txBody>
      </p:sp>
      <p:sp>
        <p:nvSpPr>
          <p:cNvPr id="204" name="Shape 26"/>
          <p:cNvSpPr/>
          <p:nvPr/>
        </p:nvSpPr>
        <p:spPr>
          <a:xfrm>
            <a:off x="6365880" y="9841320"/>
            <a:ext cx="125640" cy="12564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5" name="Text 27"/>
          <p:cNvSpPr/>
          <p:nvPr/>
        </p:nvSpPr>
        <p:spPr>
          <a:xfrm>
            <a:off x="6572160" y="9809640"/>
            <a:ext cx="423720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Vertical structural diversity</a:t>
            </a:r>
            <a:r>
              <a:rPr b="0" lang="en-US" sz="1000" spc="-1" strike="noStrike">
                <a:solidFill>
                  <a:srgbClr val="ffffff"/>
                </a:solidFill>
                <a:latin typeface="Quattrocento Sans"/>
                <a:ea typeface="Quattrocento Sans"/>
              </a:rPr>
              <a:t> explains 41.8% of variance in community stability</a:t>
            </a:r>
            <a:endParaRPr b="0" lang="en-HK" sz="1000" spc="-1" strike="noStrike">
              <a:latin typeface="Arial"/>
            </a:endParaRPr>
          </a:p>
        </p:txBody>
      </p:sp>
      <p:sp>
        <p:nvSpPr>
          <p:cNvPr id="206" name="Shape 28"/>
          <p:cNvSpPr/>
          <p:nvPr/>
        </p:nvSpPr>
        <p:spPr>
          <a:xfrm>
            <a:off x="6365880" y="10095120"/>
            <a:ext cx="125640" cy="12564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7" name="Text 29"/>
          <p:cNvSpPr/>
          <p:nvPr/>
        </p:nvSpPr>
        <p:spPr>
          <a:xfrm>
            <a:off x="6572160" y="10063440"/>
            <a:ext cx="401508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Simpson's Diversity Index</a:t>
            </a:r>
            <a:r>
              <a:rPr b="0" lang="en-US" sz="1000" spc="-1" strike="noStrike">
                <a:solidFill>
                  <a:srgbClr val="ffffff"/>
                </a:solidFill>
                <a:latin typeface="Quattrocento Sans"/>
                <a:ea typeface="Quattrocento Sans"/>
              </a:rPr>
              <a:t> on tree heights best differentiates forest types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08" name="Text 0"/>
          <p:cNvSpPr/>
          <p:nvPr/>
        </p:nvSpPr>
        <p:spPr>
          <a:xfrm>
            <a:off x="353520" y="353520"/>
            <a:ext cx="1154556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80" spc="86" strike="noStrike">
                <a:solidFill>
                  <a:srgbClr val="4c8a7a"/>
                </a:solidFill>
                <a:latin typeface="Quattrocento Sans"/>
                <a:ea typeface="Quattrocento Sans"/>
              </a:rPr>
              <a:t>02 • Structural Complexity</a:t>
            </a:r>
            <a:endParaRPr b="0" lang="en-HK" sz="980" spc="-1" strike="noStrike">
              <a:latin typeface="Arial"/>
            </a:endParaRPr>
          </a:p>
        </p:txBody>
      </p:sp>
      <p:sp>
        <p:nvSpPr>
          <p:cNvPr id="209" name="Text 1"/>
          <p:cNvSpPr/>
          <p:nvPr/>
        </p:nvSpPr>
        <p:spPr>
          <a:xfrm>
            <a:off x="353520" y="600840"/>
            <a:ext cx="11642760" cy="3520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10" spc="-1" strike="noStrike">
                <a:solidFill>
                  <a:srgbClr val="2f3e3b"/>
                </a:solidFill>
                <a:latin typeface="Sorts Mill Goudy"/>
                <a:ea typeface="Sorts Mill Goudy"/>
              </a:rPr>
              <a:t>Microhabitat Heterogeneity &amp; Niche Provision</a:t>
            </a:r>
            <a:endParaRPr b="0" lang="en-HK" sz="2510" spc="-1" strike="noStrike">
              <a:latin typeface="Arial"/>
            </a:endParaRPr>
          </a:p>
        </p:txBody>
      </p:sp>
      <p:sp>
        <p:nvSpPr>
          <p:cNvPr id="210" name="Text 2"/>
          <p:cNvSpPr/>
          <p:nvPr/>
        </p:nvSpPr>
        <p:spPr>
          <a:xfrm>
            <a:off x="353520" y="1024920"/>
            <a:ext cx="1156320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Fine-scale habitat diversity enables species coexistence</a:t>
            </a:r>
            <a:endParaRPr b="0" lang="en-HK" sz="1250" spc="-1" strike="noStrike">
              <a:latin typeface="Arial"/>
            </a:endParaRPr>
          </a:p>
        </p:txBody>
      </p:sp>
      <p:sp>
        <p:nvSpPr>
          <p:cNvPr id="211" name="Shape 3"/>
          <p:cNvSpPr/>
          <p:nvPr/>
        </p:nvSpPr>
        <p:spPr>
          <a:xfrm>
            <a:off x="353520" y="1449000"/>
            <a:ext cx="7596360" cy="3338280"/>
          </a:xfrm>
          <a:custGeom>
            <a:avLst/>
            <a:gdLst/>
            <a:ah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12" name="Text 4"/>
          <p:cNvSpPr/>
          <p:nvPr/>
        </p:nvSpPr>
        <p:spPr>
          <a:xfrm>
            <a:off x="529920" y="1625760"/>
            <a:ext cx="733140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Microhabitat Types &amp; Their Biodiversity Value</a:t>
            </a:r>
            <a:endParaRPr b="0" lang="en-HK" sz="1390" spc="-1" strike="noStrike">
              <a:latin typeface="Arial"/>
            </a:endParaRPr>
          </a:p>
        </p:txBody>
      </p:sp>
      <p:sp>
        <p:nvSpPr>
          <p:cNvPr id="213" name="Text 5"/>
          <p:cNvSpPr/>
          <p:nvPr/>
        </p:nvSpPr>
        <p:spPr>
          <a:xfrm>
            <a:off x="529920" y="1978920"/>
            <a:ext cx="7313760" cy="687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Research demonstrates that </a:t>
            </a:r>
            <a:r>
              <a:rPr b="0" lang="en-US" sz="1110" spc="-1" strike="noStrike">
                <a:solidFill>
                  <a:srgbClr val="2f3e3b"/>
                </a:solidFill>
                <a:highlight>
                  <a:srgbClr val="8fb7ac"/>
                </a:highlight>
                <a:latin typeface="Quattrocento Sans"/>
                <a:ea typeface="Quattrocento Sans"/>
              </a:rPr>
              <a:t>microhabitat heterogeneity is a stronger predictor of species richness than microhabitat frequency alone </a:t>
            </a:r>
            <a:r>
              <a:rPr b="0" lang="en-US" sz="1110" spc="-1" strike="noStrike">
                <a:solidFill>
                  <a:srgbClr val="1f2a28"/>
                </a:solidFill>
                <a:latin typeface="Quattrocento Sans"/>
                <a:ea typeface="Quattrocento Sans"/>
              </a:rPr>
              <a:t>. Natural forests contain numerous specialized microhabitats that support distinct ecological communities.</a:t>
            </a:r>
            <a:endParaRPr b="0" lang="en-HK" sz="1110" spc="-1" strike="noStrike">
              <a:latin typeface="Arial"/>
            </a:endParaRPr>
          </a:p>
        </p:txBody>
      </p:sp>
      <p:sp>
        <p:nvSpPr>
          <p:cNvPr id="214" name="Shape 6"/>
          <p:cNvSpPr/>
          <p:nvPr/>
        </p:nvSpPr>
        <p:spPr>
          <a:xfrm>
            <a:off x="529920" y="2809440"/>
            <a:ext cx="3567960" cy="84672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15" name="Shape 7"/>
          <p:cNvSpPr/>
          <p:nvPr/>
        </p:nvSpPr>
        <p:spPr>
          <a:xfrm>
            <a:off x="662760" y="2950920"/>
            <a:ext cx="122400" cy="140040"/>
          </a:xfrm>
          <a:custGeom>
            <a:avLst/>
            <a:gdLst/>
            <a:ah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w="0">
            <a:noFill/>
          </a:ln>
        </p:spPr>
        <p:style>
          <a:lnRef idx="0"/>
          <a:fillRef idx="0"/>
          <a:effectRef idx="0"/>
          <a:fontRef idx="minor"/>
        </p:style>
      </p:sp>
      <p:sp>
        <p:nvSpPr>
          <p:cNvPr id="216" name="Text 8"/>
          <p:cNvSpPr/>
          <p:nvPr/>
        </p:nvSpPr>
        <p:spPr>
          <a:xfrm>
            <a:off x="812880" y="2915640"/>
            <a:ext cx="324972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Bark Surfaces</a:t>
            </a:r>
            <a:endParaRPr b="0" lang="en-HK" sz="1110" spc="-1" strike="noStrike">
              <a:latin typeface="Arial"/>
            </a:endParaRPr>
          </a:p>
        </p:txBody>
      </p:sp>
      <p:sp>
        <p:nvSpPr>
          <p:cNvPr id="217" name="Text 9"/>
          <p:cNvSpPr/>
          <p:nvPr/>
        </p:nvSpPr>
        <p:spPr>
          <a:xfrm>
            <a:off x="636120" y="3198240"/>
            <a:ext cx="3417480" cy="35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epiphytic lichens, mosses, and invertebrates. Chemistry and texture determine species composition.</a:t>
            </a:r>
            <a:endParaRPr b="0" lang="en-HK" sz="980" spc="-1" strike="noStrike">
              <a:latin typeface="Arial"/>
            </a:endParaRPr>
          </a:p>
        </p:txBody>
      </p:sp>
      <p:sp>
        <p:nvSpPr>
          <p:cNvPr id="218" name="Shape 10"/>
          <p:cNvSpPr/>
          <p:nvPr/>
        </p:nvSpPr>
        <p:spPr>
          <a:xfrm>
            <a:off x="4204080" y="2809440"/>
            <a:ext cx="3567960" cy="84672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000"/>
            </a:srgbClr>
          </a:solidFill>
          <a:ln w="0">
            <a:noFill/>
          </a:ln>
        </p:spPr>
        <p:style>
          <a:lnRef idx="0"/>
          <a:fillRef idx="0"/>
          <a:effectRef idx="0"/>
          <a:fontRef idx="minor"/>
        </p:style>
      </p:sp>
      <p:sp>
        <p:nvSpPr>
          <p:cNvPr id="219" name="Shape 11"/>
          <p:cNvSpPr/>
          <p:nvPr/>
        </p:nvSpPr>
        <p:spPr>
          <a:xfrm>
            <a:off x="4327560" y="2950920"/>
            <a:ext cx="140040" cy="140040"/>
          </a:xfrm>
          <a:custGeom>
            <a:avLst/>
            <a:gdLst/>
            <a:ah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w="0">
            <a:noFill/>
          </a:ln>
        </p:spPr>
        <p:style>
          <a:lnRef idx="0"/>
          <a:fillRef idx="0"/>
          <a:effectRef idx="0"/>
          <a:fontRef idx="minor"/>
        </p:style>
      </p:sp>
      <p:sp>
        <p:nvSpPr>
          <p:cNvPr id="220" name="Text 12"/>
          <p:cNvSpPr/>
          <p:nvPr/>
        </p:nvSpPr>
        <p:spPr>
          <a:xfrm>
            <a:off x="4486680" y="2915640"/>
            <a:ext cx="324972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Dead Wood</a:t>
            </a:r>
            <a:endParaRPr b="0" lang="en-HK" sz="1110" spc="-1" strike="noStrike">
              <a:latin typeface="Arial"/>
            </a:endParaRPr>
          </a:p>
        </p:txBody>
      </p:sp>
      <p:sp>
        <p:nvSpPr>
          <p:cNvPr id="221" name="Text 13"/>
          <p:cNvSpPr/>
          <p:nvPr/>
        </p:nvSpPr>
        <p:spPr>
          <a:xfrm>
            <a:off x="4309920" y="3198240"/>
            <a:ext cx="3417480" cy="35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Critical for saproxylic beetles, fungi, and cavity-nesting birds. Decay stages create temporal niches.</a:t>
            </a:r>
            <a:endParaRPr b="0" lang="en-HK" sz="980" spc="-1" strike="noStrike">
              <a:latin typeface="Arial"/>
            </a:endParaRPr>
          </a:p>
        </p:txBody>
      </p:sp>
      <p:sp>
        <p:nvSpPr>
          <p:cNvPr id="222" name="Shape 14"/>
          <p:cNvSpPr/>
          <p:nvPr/>
        </p:nvSpPr>
        <p:spPr>
          <a:xfrm>
            <a:off x="529920" y="3763440"/>
            <a:ext cx="3567960" cy="84672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000"/>
            </a:srgbClr>
          </a:solidFill>
          <a:ln w="0">
            <a:noFill/>
          </a:ln>
        </p:spPr>
        <p:style>
          <a:lnRef idx="0"/>
          <a:fillRef idx="0"/>
          <a:effectRef idx="0"/>
          <a:fontRef idx="minor"/>
        </p:style>
      </p:sp>
      <p:sp>
        <p:nvSpPr>
          <p:cNvPr id="223" name="Shape 15"/>
          <p:cNvSpPr/>
          <p:nvPr/>
        </p:nvSpPr>
        <p:spPr>
          <a:xfrm>
            <a:off x="653760" y="3904920"/>
            <a:ext cx="140040" cy="140040"/>
          </a:xfrm>
          <a:custGeom>
            <a:avLst/>
            <a:gdLst/>
            <a:ah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w="0">
            <a:noFill/>
          </a:ln>
        </p:spPr>
        <p:style>
          <a:lnRef idx="0"/>
          <a:fillRef idx="0"/>
          <a:effectRef idx="0"/>
          <a:fontRef idx="minor"/>
        </p:style>
      </p:sp>
      <p:sp>
        <p:nvSpPr>
          <p:cNvPr id="224" name="Text 16"/>
          <p:cNvSpPr/>
          <p:nvPr/>
        </p:nvSpPr>
        <p:spPr>
          <a:xfrm>
            <a:off x="812880" y="3869640"/>
            <a:ext cx="324972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Tree Cavities</a:t>
            </a:r>
            <a:endParaRPr b="0" lang="en-HK" sz="1110" spc="-1" strike="noStrike">
              <a:latin typeface="Arial"/>
            </a:endParaRPr>
          </a:p>
        </p:txBody>
      </p:sp>
      <p:sp>
        <p:nvSpPr>
          <p:cNvPr id="225" name="Text 17"/>
          <p:cNvSpPr/>
          <p:nvPr/>
        </p:nvSpPr>
        <p:spPr>
          <a:xfrm>
            <a:off x="636120" y="4152240"/>
            <a:ext cx="3417480" cy="35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Rot holes and woodpecker cavities provide nesting sites for birds, mammals, and insects.</a:t>
            </a:r>
            <a:endParaRPr b="0" lang="en-HK" sz="980" spc="-1" strike="noStrike">
              <a:latin typeface="Arial"/>
            </a:endParaRPr>
          </a:p>
        </p:txBody>
      </p:sp>
      <p:sp>
        <p:nvSpPr>
          <p:cNvPr id="226" name="Shape 18"/>
          <p:cNvSpPr/>
          <p:nvPr/>
        </p:nvSpPr>
        <p:spPr>
          <a:xfrm>
            <a:off x="4204080" y="3763440"/>
            <a:ext cx="3567960" cy="84672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27" name="Shape 19"/>
          <p:cNvSpPr/>
          <p:nvPr/>
        </p:nvSpPr>
        <p:spPr>
          <a:xfrm>
            <a:off x="4345560" y="3904920"/>
            <a:ext cx="104400" cy="140040"/>
          </a:xfrm>
          <a:custGeom>
            <a:avLst/>
            <a:gdLst/>
            <a:ah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w="0">
            <a:noFill/>
          </a:ln>
        </p:spPr>
        <p:style>
          <a:lnRef idx="0"/>
          <a:fillRef idx="0"/>
          <a:effectRef idx="0"/>
          <a:fontRef idx="minor"/>
        </p:style>
      </p:sp>
      <p:sp>
        <p:nvSpPr>
          <p:cNvPr id="228" name="Text 20"/>
          <p:cNvSpPr/>
          <p:nvPr/>
        </p:nvSpPr>
        <p:spPr>
          <a:xfrm>
            <a:off x="4486680" y="3869640"/>
            <a:ext cx="324972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Moist Microsites</a:t>
            </a:r>
            <a:endParaRPr b="0" lang="en-HK" sz="1110" spc="-1" strike="noStrike">
              <a:latin typeface="Arial"/>
            </a:endParaRPr>
          </a:p>
        </p:txBody>
      </p:sp>
      <p:sp>
        <p:nvSpPr>
          <p:cNvPr id="229" name="Text 21"/>
          <p:cNvSpPr/>
          <p:nvPr/>
        </p:nvSpPr>
        <p:spPr>
          <a:xfrm>
            <a:off x="4309920" y="4152240"/>
            <a:ext cx="3417480" cy="35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bryophytes and moisture-dependent species. Critical in fragmented landscapes.</a:t>
            </a:r>
            <a:endParaRPr b="0" lang="en-HK" sz="980" spc="-1" strike="noStrike">
              <a:latin typeface="Arial"/>
            </a:endParaRPr>
          </a:p>
        </p:txBody>
      </p:sp>
      <p:sp>
        <p:nvSpPr>
          <p:cNvPr id="230" name="Shape 22"/>
          <p:cNvSpPr/>
          <p:nvPr/>
        </p:nvSpPr>
        <p:spPr>
          <a:xfrm>
            <a:off x="353520" y="4929840"/>
            <a:ext cx="7596360" cy="1394280"/>
          </a:xfrm>
          <a:custGeom>
            <a:avLst/>
            <a:gdLst/>
            <a:ah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1" name="Text 23"/>
          <p:cNvSpPr/>
          <p:nvPr/>
        </p:nvSpPr>
        <p:spPr>
          <a:xfrm>
            <a:off x="529920" y="5106600"/>
            <a:ext cx="733140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Habitat Continuity Importance</a:t>
            </a:r>
            <a:endParaRPr b="0" lang="en-HK" sz="1390" spc="-1" strike="noStrike">
              <a:latin typeface="Arial"/>
            </a:endParaRPr>
          </a:p>
        </p:txBody>
      </p:sp>
      <p:sp>
        <p:nvSpPr>
          <p:cNvPr id="232" name="Text 24"/>
          <p:cNvSpPr/>
          <p:nvPr/>
        </p:nvSpPr>
        <p:spPr>
          <a:xfrm>
            <a:off x="529920" y="5459760"/>
            <a:ext cx="7313760" cy="687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Studies of epiphytic lichens in fragmented temperate forests reveal that </a:t>
            </a:r>
            <a:r>
              <a:rPr b="1" lang="en-US" sz="1110" spc="-1" strike="noStrike">
                <a:solidFill>
                  <a:srgbClr val="1f2a28"/>
                </a:solidFill>
                <a:latin typeface="Quattrocento Sans"/>
                <a:ea typeface="Quattrocento Sans"/>
              </a:rPr>
              <a:t>spatiotemporal habitat continuity</a:t>
            </a:r>
            <a:r>
              <a:rPr b="0" lang="en-US" sz="1110" spc="-1" strike="noStrike">
                <a:solidFill>
                  <a:srgbClr val="1f2a28"/>
                </a:solidFill>
                <a:latin typeface="Quattrocento Sans"/>
                <a:ea typeface="Quattrocento Sans"/>
              </a:rPr>
              <a:t> is crucial for maintaining species-rich communities. Hotspots of diversity capture substantial portions of regional species pools but require ongoing protection to ensure long-term persistence.</a:t>
            </a:r>
            <a:endParaRPr b="0" lang="en-HK" sz="1110" spc="-1" strike="noStrike">
              <a:latin typeface="Arial"/>
            </a:endParaRPr>
          </a:p>
        </p:txBody>
      </p:sp>
      <p:sp>
        <p:nvSpPr>
          <p:cNvPr id="233" name="Shape 25"/>
          <p:cNvSpPr/>
          <p:nvPr/>
        </p:nvSpPr>
        <p:spPr>
          <a:xfrm>
            <a:off x="8125200" y="1449000"/>
            <a:ext cx="3709080" cy="1624320"/>
          </a:xfrm>
          <a:custGeom>
            <a:avLst/>
            <a:gdLst/>
            <a:ah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w="0">
            <a:noFill/>
          </a:ln>
        </p:spPr>
        <p:style>
          <a:lnRef idx="0"/>
          <a:fillRef idx="0"/>
          <a:effectRef idx="0"/>
          <a:fontRef idx="minor"/>
        </p:style>
      </p:sp>
      <p:sp>
        <p:nvSpPr>
          <p:cNvPr id="234" name="Text 26"/>
          <p:cNvSpPr/>
          <p:nvPr/>
        </p:nvSpPr>
        <p:spPr>
          <a:xfrm>
            <a:off x="8301960" y="1625760"/>
            <a:ext cx="343512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Key Finding</a:t>
            </a:r>
            <a:endParaRPr b="0" lang="en-HK" sz="1250" spc="-1" strike="noStrike">
              <a:latin typeface="Arial"/>
            </a:endParaRPr>
          </a:p>
        </p:txBody>
      </p:sp>
      <p:sp>
        <p:nvSpPr>
          <p:cNvPr id="235" name="Text 27"/>
          <p:cNvSpPr/>
          <p:nvPr/>
        </p:nvSpPr>
        <p:spPr>
          <a:xfrm>
            <a:off x="8301960" y="1978920"/>
            <a:ext cx="3426480" cy="917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Microhabitat heterogeneity in unmanaged forests (mean = 15 types) exceeds that in managed forests (mean = 12 types), explaining higher biodiversity in natural stands.</a:t>
            </a:r>
            <a:endParaRPr b="0" lang="en-HK" sz="1110" spc="-1" strike="noStrike">
              <a:latin typeface="Arial"/>
            </a:endParaRPr>
          </a:p>
        </p:txBody>
      </p:sp>
      <p:sp>
        <p:nvSpPr>
          <p:cNvPr id="236" name="Shape 28"/>
          <p:cNvSpPr/>
          <p:nvPr/>
        </p:nvSpPr>
        <p:spPr>
          <a:xfrm>
            <a:off x="8125200" y="3215880"/>
            <a:ext cx="3709080" cy="2189520"/>
          </a:xfrm>
          <a:custGeom>
            <a:avLst/>
            <a:gdLst/>
            <a:ah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7" name="Text 29"/>
          <p:cNvSpPr/>
          <p:nvPr/>
        </p:nvSpPr>
        <p:spPr>
          <a:xfrm>
            <a:off x="8301960" y="3392640"/>
            <a:ext cx="343512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Research Insights</a:t>
            </a:r>
            <a:endParaRPr b="0" lang="en-HK" sz="1250" spc="-1" strike="noStrike">
              <a:latin typeface="Arial"/>
            </a:endParaRPr>
          </a:p>
        </p:txBody>
      </p:sp>
      <p:sp>
        <p:nvSpPr>
          <p:cNvPr id="238" name="Shape 30"/>
          <p:cNvSpPr/>
          <p:nvPr/>
        </p:nvSpPr>
        <p:spPr>
          <a:xfrm>
            <a:off x="8284320" y="3781440"/>
            <a:ext cx="140040" cy="14004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39" name="Text 31"/>
          <p:cNvSpPr/>
          <p:nvPr/>
        </p:nvSpPr>
        <p:spPr>
          <a:xfrm>
            <a:off x="8482680" y="3745800"/>
            <a:ext cx="3241080" cy="422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Amphibian communities can change abruptly across microclimate gradients of only a few meters</a:t>
            </a:r>
            <a:endParaRPr b="0" lang="en-HK" sz="1110" spc="-1" strike="noStrike">
              <a:latin typeface="Arial"/>
            </a:endParaRPr>
          </a:p>
        </p:txBody>
      </p:sp>
      <p:sp>
        <p:nvSpPr>
          <p:cNvPr id="240" name="Shape 32"/>
          <p:cNvSpPr/>
          <p:nvPr/>
        </p:nvSpPr>
        <p:spPr>
          <a:xfrm>
            <a:off x="8284320" y="4311360"/>
            <a:ext cx="140040" cy="14004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1" name="Text 33"/>
          <p:cNvSpPr/>
          <p:nvPr/>
        </p:nvSpPr>
        <p:spPr>
          <a:xfrm>
            <a:off x="8482680" y="4276080"/>
            <a:ext cx="3241080" cy="422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Old-growth stands offer higher substrate density, quality, and diversity for epiphytes</a:t>
            </a:r>
            <a:endParaRPr b="0" lang="en-HK" sz="1110" spc="-1" strike="noStrike">
              <a:latin typeface="Arial"/>
            </a:endParaRPr>
          </a:p>
        </p:txBody>
      </p:sp>
      <p:sp>
        <p:nvSpPr>
          <p:cNvPr id="242" name="Shape 34"/>
          <p:cNvSpPr/>
          <p:nvPr/>
        </p:nvSpPr>
        <p:spPr>
          <a:xfrm>
            <a:off x="8289000" y="4841640"/>
            <a:ext cx="140040" cy="14004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3" name="Text 35"/>
          <p:cNvSpPr/>
          <p:nvPr/>
        </p:nvSpPr>
        <p:spPr>
          <a:xfrm>
            <a:off x="8489520" y="4806000"/>
            <a:ext cx="3241080" cy="422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Veteran trees host unique microhabitats including rot holes and dead branches</a:t>
            </a:r>
            <a:endParaRPr b="0" lang="en-HK" sz="1110" spc="-1" strike="noStrike">
              <a:latin typeface="Arial"/>
            </a:endParaRPr>
          </a:p>
        </p:txBody>
      </p:sp>
      <p:sp>
        <p:nvSpPr>
          <p:cNvPr id="244" name="Shape 36"/>
          <p:cNvSpPr/>
          <p:nvPr/>
        </p:nvSpPr>
        <p:spPr>
          <a:xfrm>
            <a:off x="8125200" y="5548320"/>
            <a:ext cx="3709080" cy="1094040"/>
          </a:xfrm>
          <a:custGeom>
            <a:avLst/>
            <a:gdLst/>
            <a:ah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w="0">
            <a:noFill/>
          </a:ln>
        </p:spPr>
        <p:style>
          <a:lnRef idx="0"/>
          <a:fillRef idx="0"/>
          <a:effectRef idx="0"/>
          <a:fontRef idx="minor"/>
        </p:style>
      </p:sp>
      <p:sp>
        <p:nvSpPr>
          <p:cNvPr id="245" name="Text 37"/>
          <p:cNvSpPr/>
          <p:nvPr/>
        </p:nvSpPr>
        <p:spPr>
          <a:xfrm>
            <a:off x="8187120" y="5689440"/>
            <a:ext cx="3585600" cy="35208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510" spc="-1" strike="noStrike">
                <a:solidFill>
                  <a:srgbClr val="ffffff"/>
                </a:solidFill>
                <a:latin typeface="Sorts Mill Goudy"/>
                <a:ea typeface="Sorts Mill Goudy"/>
              </a:rPr>
              <a:t>19</a:t>
            </a:r>
            <a:endParaRPr b="0" lang="en-HK" sz="2510" spc="-1" strike="noStrike">
              <a:latin typeface="Arial"/>
            </a:endParaRPr>
          </a:p>
        </p:txBody>
      </p:sp>
      <p:sp>
        <p:nvSpPr>
          <p:cNvPr id="246" name="Text 38"/>
          <p:cNvSpPr/>
          <p:nvPr/>
        </p:nvSpPr>
        <p:spPr>
          <a:xfrm>
            <a:off x="8231400" y="6078240"/>
            <a:ext cx="3497040" cy="2106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Microhabitat Types Identified</a:t>
            </a:r>
            <a:endParaRPr b="0" lang="en-HK" sz="1110" spc="-1" strike="noStrike">
              <a:latin typeface="Arial"/>
            </a:endParaRPr>
          </a:p>
        </p:txBody>
      </p:sp>
      <p:sp>
        <p:nvSpPr>
          <p:cNvPr id="247" name="Text 39"/>
          <p:cNvSpPr/>
          <p:nvPr/>
        </p:nvSpPr>
        <p:spPr>
          <a:xfrm>
            <a:off x="8235720" y="6325560"/>
            <a:ext cx="3488400" cy="175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0" spc="-1" strike="noStrike">
                <a:solidFill>
                  <a:srgbClr val="ffffff">
                    <a:alpha val="75000"/>
                  </a:srgbClr>
                </a:solidFill>
                <a:latin typeface="Quattrocento Sans"/>
                <a:ea typeface="Quattrocento Sans"/>
              </a:rPr>
              <a:t>in Central European forests</a:t>
            </a:r>
            <a:endParaRPr b="0" lang="en-HK" sz="98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48" name="Text 0"/>
          <p:cNvSpPr/>
          <p:nvPr/>
        </p:nvSpPr>
        <p:spPr>
          <a:xfrm>
            <a:off x="349200" y="349200"/>
            <a:ext cx="11553480" cy="17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86" strike="noStrike">
                <a:solidFill>
                  <a:srgbClr val="8fb7ac"/>
                </a:solidFill>
                <a:latin typeface="Quattrocento Sans"/>
                <a:ea typeface="Quattrocento Sans"/>
              </a:rPr>
              <a:t>03 • Species Interactions</a:t>
            </a:r>
            <a:endParaRPr b="0" lang="en-HK" sz="960" spc="-1" strike="noStrike">
              <a:latin typeface="Arial"/>
            </a:endParaRPr>
          </a:p>
        </p:txBody>
      </p:sp>
      <p:sp>
        <p:nvSpPr>
          <p:cNvPr id="249" name="Text 1"/>
          <p:cNvSpPr/>
          <p:nvPr/>
        </p:nvSpPr>
        <p:spPr>
          <a:xfrm>
            <a:off x="349200" y="593280"/>
            <a:ext cx="11649600" cy="3477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70" spc="-1" strike="noStrike">
                <a:solidFill>
                  <a:srgbClr val="2f3e3b"/>
                </a:solidFill>
                <a:latin typeface="Sorts Mill Goudy"/>
                <a:ea typeface="Sorts Mill Goudy"/>
              </a:rPr>
              <a:t>Competition &amp; Facilitation</a:t>
            </a:r>
            <a:endParaRPr b="0" lang="en-HK" sz="2470" spc="-1" strike="noStrike">
              <a:latin typeface="Arial"/>
            </a:endParaRPr>
          </a:p>
        </p:txBody>
      </p:sp>
      <p:sp>
        <p:nvSpPr>
          <p:cNvPr id="250" name="Text 2"/>
          <p:cNvSpPr/>
          <p:nvPr/>
        </p:nvSpPr>
        <p:spPr>
          <a:xfrm>
            <a:off x="349200" y="1012320"/>
            <a:ext cx="11570760" cy="243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40" spc="-1" strike="noStrike">
                <a:solidFill>
                  <a:srgbClr val="5f6f6b"/>
                </a:solidFill>
                <a:latin typeface="Quattrocento Sans"/>
                <a:ea typeface="Quattrocento Sans"/>
              </a:rPr>
              <a:t>Dual processes structuring forest communities</a:t>
            </a:r>
            <a:endParaRPr b="0" lang="en-HK" sz="1240" spc="-1" strike="noStrike">
              <a:latin typeface="Arial"/>
            </a:endParaRPr>
          </a:p>
        </p:txBody>
      </p:sp>
      <p:sp>
        <p:nvSpPr>
          <p:cNvPr id="251" name="Shape 3"/>
          <p:cNvSpPr/>
          <p:nvPr/>
        </p:nvSpPr>
        <p:spPr>
          <a:xfrm>
            <a:off x="349200" y="1431360"/>
            <a:ext cx="5645160" cy="2424600"/>
          </a:xfrm>
          <a:custGeom>
            <a:avLst/>
            <a:gdLst/>
            <a:ah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52" name="Shape 4"/>
          <p:cNvSpPr/>
          <p:nvPr/>
        </p:nvSpPr>
        <p:spPr>
          <a:xfrm>
            <a:off x="523800" y="1640880"/>
            <a:ext cx="216720" cy="173160"/>
          </a:xfrm>
          <a:custGeom>
            <a:avLst/>
            <a:gdLst/>
            <a:ah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w="0">
            <a:noFill/>
          </a:ln>
        </p:spPr>
        <p:style>
          <a:lnRef idx="0"/>
          <a:fillRef idx="0"/>
          <a:effectRef idx="0"/>
          <a:fontRef idx="minor"/>
        </p:style>
      </p:sp>
      <p:sp>
        <p:nvSpPr>
          <p:cNvPr id="253" name="Text 5"/>
          <p:cNvSpPr/>
          <p:nvPr/>
        </p:nvSpPr>
        <p:spPr>
          <a:xfrm>
            <a:off x="741960" y="1605960"/>
            <a:ext cx="5165280" cy="243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The Stress-Gradient Hypothesis</a:t>
            </a:r>
            <a:endParaRPr b="0" lang="en-HK" sz="1370" spc="-1" strike="noStrike">
              <a:latin typeface="Arial"/>
            </a:endParaRPr>
          </a:p>
        </p:txBody>
      </p:sp>
      <p:sp>
        <p:nvSpPr>
          <p:cNvPr id="254" name="Text 6"/>
          <p:cNvSpPr/>
          <p:nvPr/>
        </p:nvSpPr>
        <p:spPr>
          <a:xfrm>
            <a:off x="523800" y="1954800"/>
            <a:ext cx="5365800" cy="679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The </a:t>
            </a:r>
            <a:r>
              <a:rPr b="1" lang="en-US" sz="1100" spc="-1" strike="noStrike">
                <a:solidFill>
                  <a:srgbClr val="1f2a28"/>
                </a:solidFill>
                <a:latin typeface="Quattrocento Sans"/>
                <a:ea typeface="Quattrocento Sans"/>
              </a:rPr>
              <a:t>stress-gradient hypothesis</a:t>
            </a:r>
            <a:r>
              <a:rPr b="0" lang="en-US" sz="1100" spc="-1" strike="noStrike">
                <a:solidFill>
                  <a:srgbClr val="1f2a28"/>
                </a:solidFill>
                <a:latin typeface="Quattrocento Sans"/>
                <a:ea typeface="Quattrocento Sans"/>
              </a:rPr>
              <a:t> predicts that </a:t>
            </a:r>
            <a:r>
              <a:rPr b="0" lang="en-US" sz="1100" spc="-1" strike="noStrike">
                <a:solidFill>
                  <a:srgbClr val="2f3e3b"/>
                </a:solidFill>
                <a:highlight>
                  <a:srgbClr val="8fb7ac"/>
                </a:highlight>
                <a:latin typeface="Quattrocento Sans"/>
                <a:ea typeface="Quattrocento Sans"/>
              </a:rPr>
              <a:t>competitive interactions decrease and facilitation increases under harsh environmental conditions </a:t>
            </a:r>
            <a:r>
              <a:rPr b="0" lang="en-US" sz="1100" spc="-1" strike="noStrike">
                <a:solidFill>
                  <a:srgbClr val="1f2a28"/>
                </a:solidFill>
                <a:latin typeface="Quattrocento Sans"/>
                <a:ea typeface="Quattrocento Sans"/>
              </a:rPr>
              <a:t>. This dynamic shift shapes community assembly across environmental gradients.</a:t>
            </a:r>
            <a:endParaRPr b="0" lang="en-HK" sz="1100" spc="-1" strike="noStrike">
              <a:latin typeface="Arial"/>
            </a:endParaRPr>
          </a:p>
        </p:txBody>
      </p:sp>
      <p:sp>
        <p:nvSpPr>
          <p:cNvPr id="255" name="Shape 7"/>
          <p:cNvSpPr/>
          <p:nvPr/>
        </p:nvSpPr>
        <p:spPr>
          <a:xfrm>
            <a:off x="523800" y="2775240"/>
            <a:ext cx="2573280" cy="90612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000"/>
            </a:srgbClr>
          </a:solidFill>
          <a:ln w="0">
            <a:noFill/>
          </a:ln>
        </p:spPr>
        <p:style>
          <a:lnRef idx="0"/>
          <a:fillRef idx="0"/>
          <a:effectRef idx="0"/>
          <a:fontRef idx="minor"/>
        </p:style>
      </p:sp>
      <p:sp>
        <p:nvSpPr>
          <p:cNvPr id="256" name="Text 8"/>
          <p:cNvSpPr/>
          <p:nvPr/>
        </p:nvSpPr>
        <p:spPr>
          <a:xfrm>
            <a:off x="663120" y="2914920"/>
            <a:ext cx="2363760" cy="208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Favorable Conditions</a:t>
            </a:r>
            <a:endParaRPr b="0" lang="en-HK" sz="1100" spc="-1" strike="noStrike">
              <a:latin typeface="Arial"/>
            </a:endParaRPr>
          </a:p>
        </p:txBody>
      </p:sp>
      <p:sp>
        <p:nvSpPr>
          <p:cNvPr id="257" name="Text 9"/>
          <p:cNvSpPr/>
          <p:nvPr/>
        </p:nvSpPr>
        <p:spPr>
          <a:xfrm>
            <a:off x="663120" y="3194280"/>
            <a:ext cx="2354760" cy="347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Competition dominates as species vie for abundant resources</a:t>
            </a:r>
            <a:endParaRPr b="0" lang="en-HK" sz="960" spc="-1" strike="noStrike">
              <a:latin typeface="Arial"/>
            </a:endParaRPr>
          </a:p>
        </p:txBody>
      </p:sp>
      <p:sp>
        <p:nvSpPr>
          <p:cNvPr id="258" name="Shape 10"/>
          <p:cNvSpPr/>
          <p:nvPr/>
        </p:nvSpPr>
        <p:spPr>
          <a:xfrm>
            <a:off x="3240720" y="2775240"/>
            <a:ext cx="2573280" cy="90612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000"/>
            </a:srgbClr>
          </a:solidFill>
          <a:ln w="0">
            <a:noFill/>
          </a:ln>
        </p:spPr>
        <p:style>
          <a:lnRef idx="0"/>
          <a:fillRef idx="0"/>
          <a:effectRef idx="0"/>
          <a:fontRef idx="minor"/>
        </p:style>
      </p:sp>
      <p:sp>
        <p:nvSpPr>
          <p:cNvPr id="259" name="Text 11"/>
          <p:cNvSpPr/>
          <p:nvPr/>
        </p:nvSpPr>
        <p:spPr>
          <a:xfrm>
            <a:off x="3380400" y="2914920"/>
            <a:ext cx="2363760" cy="208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Stressful Conditions</a:t>
            </a:r>
            <a:endParaRPr b="0" lang="en-HK" sz="1100" spc="-1" strike="noStrike">
              <a:latin typeface="Arial"/>
            </a:endParaRPr>
          </a:p>
        </p:txBody>
      </p:sp>
      <p:sp>
        <p:nvSpPr>
          <p:cNvPr id="260" name="Text 12"/>
          <p:cNvSpPr/>
          <p:nvPr/>
        </p:nvSpPr>
        <p:spPr>
          <a:xfrm>
            <a:off x="3380400" y="3194280"/>
            <a:ext cx="2354760" cy="347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Facilitation increases as species benefit from mutual support</a:t>
            </a:r>
            <a:endParaRPr b="0" lang="en-HK" sz="960" spc="-1" strike="noStrike">
              <a:latin typeface="Arial"/>
            </a:endParaRPr>
          </a:p>
        </p:txBody>
      </p:sp>
      <p:sp>
        <p:nvSpPr>
          <p:cNvPr id="261" name="Shape 13"/>
          <p:cNvSpPr/>
          <p:nvPr/>
        </p:nvSpPr>
        <p:spPr>
          <a:xfrm>
            <a:off x="349200" y="3997080"/>
            <a:ext cx="5645160" cy="2686680"/>
          </a:xfrm>
          <a:custGeom>
            <a:avLst/>
            <a:gdLst/>
            <a:ah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62" name="Text 14"/>
          <p:cNvSpPr/>
          <p:nvPr/>
        </p:nvSpPr>
        <p:spPr>
          <a:xfrm>
            <a:off x="523800" y="4171680"/>
            <a:ext cx="5383440" cy="243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Interaction Types in Forests</a:t>
            </a:r>
            <a:endParaRPr b="0" lang="en-HK" sz="1370" spc="-1" strike="noStrike">
              <a:latin typeface="Arial"/>
            </a:endParaRPr>
          </a:p>
        </p:txBody>
      </p:sp>
      <p:sp>
        <p:nvSpPr>
          <p:cNvPr id="263" name="Shape 15"/>
          <p:cNvSpPr/>
          <p:nvPr/>
        </p:nvSpPr>
        <p:spPr>
          <a:xfrm>
            <a:off x="523800" y="4520880"/>
            <a:ext cx="5295960" cy="59184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4" name="Shape 16"/>
          <p:cNvSpPr/>
          <p:nvPr/>
        </p:nvSpPr>
        <p:spPr>
          <a:xfrm>
            <a:off x="628200" y="4625280"/>
            <a:ext cx="347760" cy="34776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w="0">
            <a:noFill/>
          </a:ln>
        </p:spPr>
        <p:style>
          <a:lnRef idx="0"/>
          <a:fillRef idx="0"/>
          <a:effectRef idx="0"/>
          <a:fontRef idx="minor"/>
        </p:style>
      </p:sp>
      <p:sp>
        <p:nvSpPr>
          <p:cNvPr id="265" name="Shape 17"/>
          <p:cNvSpPr/>
          <p:nvPr/>
        </p:nvSpPr>
        <p:spPr>
          <a:xfrm>
            <a:off x="741960" y="4730040"/>
            <a:ext cx="120600" cy="138240"/>
          </a:xfrm>
          <a:custGeom>
            <a:avLst/>
            <a:gdLst/>
            <a:ah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w="0">
            <a:noFill/>
          </a:ln>
        </p:spPr>
        <p:style>
          <a:lnRef idx="0"/>
          <a:fillRef idx="0"/>
          <a:effectRef idx="0"/>
          <a:fontRef idx="minor"/>
        </p:style>
      </p:sp>
      <p:sp>
        <p:nvSpPr>
          <p:cNvPr id="266" name="Text 18"/>
          <p:cNvSpPr/>
          <p:nvPr/>
        </p:nvSpPr>
        <p:spPr>
          <a:xfrm>
            <a:off x="1082160" y="4625280"/>
            <a:ext cx="3890880" cy="208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Competition</a:t>
            </a:r>
            <a:endParaRPr b="0" lang="en-HK" sz="1100" spc="-1" strike="noStrike">
              <a:latin typeface="Arial"/>
            </a:endParaRPr>
          </a:p>
        </p:txBody>
      </p:sp>
      <p:sp>
        <p:nvSpPr>
          <p:cNvPr id="267" name="Text 19"/>
          <p:cNvSpPr/>
          <p:nvPr/>
        </p:nvSpPr>
        <p:spPr>
          <a:xfrm>
            <a:off x="1082160" y="4834800"/>
            <a:ext cx="3882240" cy="17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Negative effects on growth/survival; strongest among similar-sized trees</a:t>
            </a:r>
            <a:endParaRPr b="0" lang="en-HK" sz="960" spc="-1" strike="noStrike">
              <a:latin typeface="Arial"/>
            </a:endParaRPr>
          </a:p>
        </p:txBody>
      </p:sp>
      <p:sp>
        <p:nvSpPr>
          <p:cNvPr id="268" name="Shape 20"/>
          <p:cNvSpPr/>
          <p:nvPr/>
        </p:nvSpPr>
        <p:spPr>
          <a:xfrm>
            <a:off x="523800" y="5218920"/>
            <a:ext cx="5295960" cy="59184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9" name="Shape 21"/>
          <p:cNvSpPr/>
          <p:nvPr/>
        </p:nvSpPr>
        <p:spPr>
          <a:xfrm>
            <a:off x="628200" y="5323680"/>
            <a:ext cx="347760" cy="34776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w="0">
            <a:noFill/>
          </a:ln>
        </p:spPr>
        <p:style>
          <a:lnRef idx="0"/>
          <a:fillRef idx="0"/>
          <a:effectRef idx="0"/>
          <a:fontRef idx="minor"/>
        </p:style>
      </p:sp>
      <p:sp>
        <p:nvSpPr>
          <p:cNvPr id="270" name="Shape 22"/>
          <p:cNvSpPr/>
          <p:nvPr/>
        </p:nvSpPr>
        <p:spPr>
          <a:xfrm>
            <a:off x="741960" y="5428440"/>
            <a:ext cx="120600" cy="138240"/>
          </a:xfrm>
          <a:custGeom>
            <a:avLst/>
            <a:gdLst/>
            <a:ah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w="0">
            <a:noFill/>
          </a:ln>
        </p:spPr>
        <p:style>
          <a:lnRef idx="0"/>
          <a:fillRef idx="0"/>
          <a:effectRef idx="0"/>
          <a:fontRef idx="minor"/>
        </p:style>
      </p:sp>
      <p:sp>
        <p:nvSpPr>
          <p:cNvPr id="271" name="Text 23"/>
          <p:cNvSpPr/>
          <p:nvPr/>
        </p:nvSpPr>
        <p:spPr>
          <a:xfrm>
            <a:off x="1082160" y="5323680"/>
            <a:ext cx="4100400" cy="208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Facilitation</a:t>
            </a:r>
            <a:endParaRPr b="0" lang="en-HK" sz="1100" spc="-1" strike="noStrike">
              <a:latin typeface="Arial"/>
            </a:endParaRPr>
          </a:p>
        </p:txBody>
      </p:sp>
      <p:sp>
        <p:nvSpPr>
          <p:cNvPr id="272" name="Text 24"/>
          <p:cNvSpPr/>
          <p:nvPr/>
        </p:nvSpPr>
        <p:spPr>
          <a:xfrm>
            <a:off x="1082160" y="5533200"/>
            <a:ext cx="4091760" cy="17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Positive effects; nurse plants, hydraulic redistribution, microclimate buffering</a:t>
            </a:r>
            <a:endParaRPr b="0" lang="en-HK" sz="960" spc="-1" strike="noStrike">
              <a:latin typeface="Arial"/>
            </a:endParaRPr>
          </a:p>
        </p:txBody>
      </p:sp>
      <p:sp>
        <p:nvSpPr>
          <p:cNvPr id="273" name="Shape 25"/>
          <p:cNvSpPr/>
          <p:nvPr/>
        </p:nvSpPr>
        <p:spPr>
          <a:xfrm>
            <a:off x="523800" y="5916960"/>
            <a:ext cx="5295960" cy="59184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74" name="Shape 26"/>
          <p:cNvSpPr/>
          <p:nvPr/>
        </p:nvSpPr>
        <p:spPr>
          <a:xfrm>
            <a:off x="628200" y="6021720"/>
            <a:ext cx="347760" cy="34776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w="0">
            <a:noFill/>
          </a:ln>
        </p:spPr>
        <p:style>
          <a:lnRef idx="0"/>
          <a:fillRef idx="0"/>
          <a:effectRef idx="0"/>
          <a:fontRef idx="minor"/>
        </p:style>
      </p:sp>
      <p:sp>
        <p:nvSpPr>
          <p:cNvPr id="275" name="Shape 27"/>
          <p:cNvSpPr/>
          <p:nvPr/>
        </p:nvSpPr>
        <p:spPr>
          <a:xfrm>
            <a:off x="732960" y="6126480"/>
            <a:ext cx="138240" cy="138240"/>
          </a:xfrm>
          <a:custGeom>
            <a:avLst/>
            <a:gdLst/>
            <a:ah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w="0">
            <a:noFill/>
          </a:ln>
        </p:spPr>
        <p:style>
          <a:lnRef idx="0"/>
          <a:fillRef idx="0"/>
          <a:effectRef idx="0"/>
          <a:fontRef idx="minor"/>
        </p:style>
      </p:sp>
      <p:sp>
        <p:nvSpPr>
          <p:cNvPr id="276" name="Text 28"/>
          <p:cNvSpPr/>
          <p:nvPr/>
        </p:nvSpPr>
        <p:spPr>
          <a:xfrm>
            <a:off x="1082160" y="6021720"/>
            <a:ext cx="3987000" cy="208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Competitive Reduction</a:t>
            </a:r>
            <a:endParaRPr b="0" lang="en-HK" sz="1100" spc="-1" strike="noStrike">
              <a:latin typeface="Arial"/>
            </a:endParaRPr>
          </a:p>
        </p:txBody>
      </p:sp>
      <p:sp>
        <p:nvSpPr>
          <p:cNvPr id="277" name="Text 29"/>
          <p:cNvSpPr/>
          <p:nvPr/>
        </p:nvSpPr>
        <p:spPr>
          <a:xfrm>
            <a:off x="1082160" y="6231240"/>
            <a:ext cx="3978360" cy="17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Interspecific competition less than intraspecific due to niche differentiation</a:t>
            </a:r>
            <a:endParaRPr b="0" lang="en-HK" sz="960" spc="-1" strike="noStrike">
              <a:latin typeface="Arial"/>
            </a:endParaRPr>
          </a:p>
        </p:txBody>
      </p:sp>
      <p:sp>
        <p:nvSpPr>
          <p:cNvPr id="278" name="Shape 30"/>
          <p:cNvSpPr/>
          <p:nvPr/>
        </p:nvSpPr>
        <p:spPr>
          <a:xfrm>
            <a:off x="6202080" y="1431360"/>
            <a:ext cx="5645160" cy="2232720"/>
          </a:xfrm>
          <a:custGeom>
            <a:avLst/>
            <a:gdLst/>
            <a:ah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w="0">
            <a:noFill/>
          </a:ln>
        </p:spPr>
        <p:style>
          <a:lnRef idx="0"/>
          <a:fillRef idx="0"/>
          <a:effectRef idx="0"/>
          <a:fontRef idx="minor"/>
        </p:style>
      </p:sp>
      <p:sp>
        <p:nvSpPr>
          <p:cNvPr id="279" name="Text 31"/>
          <p:cNvSpPr/>
          <p:nvPr/>
        </p:nvSpPr>
        <p:spPr>
          <a:xfrm>
            <a:off x="6376680" y="1605960"/>
            <a:ext cx="5374440" cy="243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ffffff"/>
                </a:solidFill>
                <a:latin typeface="Sorts Mill Goudy"/>
                <a:ea typeface="Sorts Mill Goudy"/>
              </a:rPr>
              <a:t>Research Evidence: Boreal Forest</a:t>
            </a:r>
            <a:endParaRPr b="0" lang="en-HK" sz="1240" spc="-1" strike="noStrike">
              <a:latin typeface="Arial"/>
            </a:endParaRPr>
          </a:p>
        </p:txBody>
      </p:sp>
      <p:sp>
        <p:nvSpPr>
          <p:cNvPr id="280" name="Text 32"/>
          <p:cNvSpPr/>
          <p:nvPr/>
        </p:nvSpPr>
        <p:spPr>
          <a:xfrm>
            <a:off x="6376680" y="1954800"/>
            <a:ext cx="5365800" cy="452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ffffff"/>
                </a:solidFill>
                <a:latin typeface="Quattrocento Sans"/>
                <a:ea typeface="Quattrocento Sans"/>
              </a:rPr>
              <a:t>Studies in Kanas boreal forest reveal that </a:t>
            </a:r>
            <a:r>
              <a:rPr b="1" lang="en-US" sz="1100" spc="-1" strike="noStrike">
                <a:solidFill>
                  <a:srgbClr val="ffffff"/>
                </a:solidFill>
                <a:latin typeface="Quattrocento Sans"/>
                <a:ea typeface="Quattrocento Sans"/>
              </a:rPr>
              <a:t>positive interactions are more common than competition</a:t>
            </a:r>
            <a:r>
              <a:rPr b="0" lang="en-US" sz="1100" spc="-1" strike="noStrike">
                <a:solidFill>
                  <a:srgbClr val="ffffff"/>
                </a:solidFill>
                <a:latin typeface="Quattrocento Sans"/>
                <a:ea typeface="Quattrocento Sans"/>
              </a:rPr>
              <a:t> for tree survival and growth:</a:t>
            </a:r>
            <a:endParaRPr b="0" lang="en-HK" sz="1100" spc="-1" strike="noStrike">
              <a:latin typeface="Arial"/>
            </a:endParaRPr>
          </a:p>
        </p:txBody>
      </p:sp>
      <p:sp>
        <p:nvSpPr>
          <p:cNvPr id="281" name="Shape 33"/>
          <p:cNvSpPr/>
          <p:nvPr/>
        </p:nvSpPr>
        <p:spPr>
          <a:xfrm>
            <a:off x="6389640" y="2548440"/>
            <a:ext cx="138240" cy="13824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2" name="Text 34"/>
          <p:cNvSpPr/>
          <p:nvPr/>
        </p:nvSpPr>
        <p:spPr>
          <a:xfrm>
            <a:off x="6616080" y="2513520"/>
            <a:ext cx="5121360" cy="417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Most intra- and interspecific interactions showed positive or no significant correlations</a:t>
            </a:r>
            <a:endParaRPr b="0" lang="en-HK" sz="1100" spc="-1" strike="noStrike">
              <a:latin typeface="Arial"/>
            </a:endParaRPr>
          </a:p>
        </p:txBody>
      </p:sp>
      <p:sp>
        <p:nvSpPr>
          <p:cNvPr id="283" name="Shape 35"/>
          <p:cNvSpPr/>
          <p:nvPr/>
        </p:nvSpPr>
        <p:spPr>
          <a:xfrm>
            <a:off x="6394320" y="3036960"/>
            <a:ext cx="138240" cy="13824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4" name="Text 36"/>
          <p:cNvSpPr/>
          <p:nvPr/>
        </p:nvSpPr>
        <p:spPr>
          <a:xfrm>
            <a:off x="6621120" y="3002040"/>
            <a:ext cx="4667760" cy="208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Facilitation mainly exists between individuals with different shade tolerances</a:t>
            </a:r>
            <a:endParaRPr b="0" lang="en-HK" sz="1100" spc="-1" strike="noStrike">
              <a:latin typeface="Arial"/>
            </a:endParaRPr>
          </a:p>
        </p:txBody>
      </p:sp>
      <p:sp>
        <p:nvSpPr>
          <p:cNvPr id="285" name="Shape 37"/>
          <p:cNvSpPr/>
          <p:nvPr/>
        </p:nvSpPr>
        <p:spPr>
          <a:xfrm>
            <a:off x="6394320" y="3316320"/>
            <a:ext cx="138240" cy="13824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6" name="Text 38"/>
          <p:cNvSpPr/>
          <p:nvPr/>
        </p:nvSpPr>
        <p:spPr>
          <a:xfrm>
            <a:off x="6621120" y="3281400"/>
            <a:ext cx="3777480" cy="208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Negative associations less common than positive associations</a:t>
            </a:r>
            <a:endParaRPr b="0" lang="en-HK" sz="1100" spc="-1" strike="noStrike">
              <a:latin typeface="Arial"/>
            </a:endParaRPr>
          </a:p>
        </p:txBody>
      </p:sp>
      <p:sp>
        <p:nvSpPr>
          <p:cNvPr id="287" name="Shape 39"/>
          <p:cNvSpPr/>
          <p:nvPr/>
        </p:nvSpPr>
        <p:spPr>
          <a:xfrm>
            <a:off x="6202080" y="3805200"/>
            <a:ext cx="5645160" cy="1866240"/>
          </a:xfrm>
          <a:custGeom>
            <a:avLst/>
            <a:gdLst/>
            <a:ah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88" name="Text 40"/>
          <p:cNvSpPr/>
          <p:nvPr/>
        </p:nvSpPr>
        <p:spPr>
          <a:xfrm>
            <a:off x="6376680" y="3979800"/>
            <a:ext cx="5374440" cy="243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2f3e3b"/>
                </a:solidFill>
                <a:latin typeface="Sorts Mill Goudy"/>
                <a:ea typeface="Sorts Mill Goudy"/>
              </a:rPr>
              <a:t>Hydraulic Redistribution Example</a:t>
            </a:r>
            <a:endParaRPr b="0" lang="en-HK" sz="1240" spc="-1" strike="noStrike">
              <a:latin typeface="Arial"/>
            </a:endParaRPr>
          </a:p>
        </p:txBody>
      </p:sp>
      <p:sp>
        <p:nvSpPr>
          <p:cNvPr id="289" name="Text 41"/>
          <p:cNvSpPr/>
          <p:nvPr/>
        </p:nvSpPr>
        <p:spPr>
          <a:xfrm>
            <a:off x="6376680" y="4328640"/>
            <a:ext cx="5365800" cy="679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Oak species with deep taproots uptake water and release it in upper soil layers at night, providing additional water for shallow-rooted species like beech—a clear facilitation mechanism.</a:t>
            </a:r>
            <a:endParaRPr b="0" lang="en-HK" sz="1100" spc="-1" strike="noStrike">
              <a:latin typeface="Arial"/>
            </a:endParaRPr>
          </a:p>
        </p:txBody>
      </p:sp>
      <p:sp>
        <p:nvSpPr>
          <p:cNvPr id="290" name="Shape 42"/>
          <p:cNvSpPr/>
          <p:nvPr/>
        </p:nvSpPr>
        <p:spPr>
          <a:xfrm>
            <a:off x="6376680" y="5114160"/>
            <a:ext cx="5295960" cy="382680"/>
          </a:xfrm>
          <a:custGeom>
            <a:avLst/>
            <a:gdLst/>
            <a:ah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w="0">
            <a:noFill/>
          </a:ln>
        </p:spPr>
        <p:style>
          <a:lnRef idx="0"/>
          <a:fillRef idx="0"/>
          <a:effectRef idx="0"/>
          <a:fontRef idx="minor"/>
        </p:style>
      </p:sp>
      <p:sp>
        <p:nvSpPr>
          <p:cNvPr id="291" name="Text 43"/>
          <p:cNvSpPr/>
          <p:nvPr/>
        </p:nvSpPr>
        <p:spPr>
          <a:xfrm>
            <a:off x="6481440" y="5218920"/>
            <a:ext cx="5147640" cy="17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Source: Caldwell &amp; Richards (1989); Loreau &amp; Hector (2001)</a:t>
            </a:r>
            <a:endParaRPr b="0" lang="en-HK" sz="960" spc="-1" strike="noStrike">
              <a:latin typeface="Arial"/>
            </a:endParaRPr>
          </a:p>
        </p:txBody>
      </p:sp>
      <p:sp>
        <p:nvSpPr>
          <p:cNvPr id="292" name="Shape 44"/>
          <p:cNvSpPr/>
          <p:nvPr/>
        </p:nvSpPr>
        <p:spPr>
          <a:xfrm>
            <a:off x="6202080" y="5812200"/>
            <a:ext cx="5645160" cy="836280"/>
          </a:xfrm>
          <a:custGeom>
            <a:avLst/>
            <a:gdLst/>
            <a:ah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w="0">
            <a:noFill/>
          </a:ln>
        </p:spPr>
        <p:style>
          <a:lnRef idx="0"/>
          <a:fillRef idx="0"/>
          <a:effectRef idx="0"/>
          <a:fontRef idx="minor"/>
        </p:style>
      </p:sp>
      <p:sp>
        <p:nvSpPr>
          <p:cNvPr id="293" name="Text 45"/>
          <p:cNvSpPr/>
          <p:nvPr/>
        </p:nvSpPr>
        <p:spPr>
          <a:xfrm>
            <a:off x="6276240" y="5951880"/>
            <a:ext cx="5496840" cy="3128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60" spc="-1" strike="noStrike">
                <a:solidFill>
                  <a:srgbClr val="ffffff"/>
                </a:solidFill>
                <a:latin typeface="Sorts Mill Goudy"/>
                <a:ea typeface="Sorts Mill Goudy"/>
              </a:rPr>
              <a:t>Co-regulation</a:t>
            </a:r>
            <a:endParaRPr b="0" lang="en-HK" sz="2060" spc="-1" strike="noStrike">
              <a:latin typeface="Arial"/>
            </a:endParaRPr>
          </a:p>
        </p:txBody>
      </p:sp>
      <p:sp>
        <p:nvSpPr>
          <p:cNvPr id="294" name="Text 46"/>
          <p:cNvSpPr/>
          <p:nvPr/>
        </p:nvSpPr>
        <p:spPr>
          <a:xfrm>
            <a:off x="6306840" y="6301080"/>
            <a:ext cx="5435640" cy="208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00" spc="-1" strike="noStrike">
                <a:solidFill>
                  <a:srgbClr val="ffffff"/>
                </a:solidFill>
                <a:latin typeface="Quattrocento Sans"/>
                <a:ea typeface="Quattrocento Sans"/>
              </a:rPr>
              <a:t>Competition &amp; facilitation simultaneously influence spatial patterns</a:t>
            </a:r>
            <a:endParaRPr b="0" lang="en-HK" sz="11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95" name="Text 0"/>
          <p:cNvSpPr/>
          <p:nvPr/>
        </p:nvSpPr>
        <p:spPr>
          <a:xfrm>
            <a:off x="336240" y="336240"/>
            <a:ext cx="1157724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3" strike="noStrike">
                <a:solidFill>
                  <a:srgbClr val="8fb7ac"/>
                </a:solidFill>
                <a:latin typeface="Quattrocento Sans"/>
                <a:ea typeface="Quattrocento Sans"/>
              </a:rPr>
              <a:t>03 • Species Interactions</a:t>
            </a:r>
            <a:endParaRPr b="0" lang="en-HK" sz="920" spc="-1" strike="noStrike">
              <a:latin typeface="Arial"/>
            </a:endParaRPr>
          </a:p>
        </p:txBody>
      </p:sp>
      <p:sp>
        <p:nvSpPr>
          <p:cNvPr id="296" name="Text 1"/>
          <p:cNvSpPr/>
          <p:nvPr/>
        </p:nvSpPr>
        <p:spPr>
          <a:xfrm>
            <a:off x="336240" y="571320"/>
            <a:ext cx="11669760" cy="334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Community Assembly &amp; Coexistence Mechanisms</a:t>
            </a:r>
            <a:endParaRPr b="0" lang="en-HK" sz="2380" spc="-1" strike="noStrike">
              <a:latin typeface="Arial"/>
            </a:endParaRPr>
          </a:p>
        </p:txBody>
      </p:sp>
      <p:sp>
        <p:nvSpPr>
          <p:cNvPr id="297" name="Text 2"/>
          <p:cNvSpPr/>
          <p:nvPr/>
        </p:nvSpPr>
        <p:spPr>
          <a:xfrm>
            <a:off x="336240" y="974520"/>
            <a:ext cx="1159416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How diverse species coexist in forest communities</a:t>
            </a:r>
            <a:endParaRPr b="0" lang="en-HK" sz="1190" spc="-1" strike="noStrike">
              <a:latin typeface="Arial"/>
            </a:endParaRPr>
          </a:p>
        </p:txBody>
      </p:sp>
      <p:sp>
        <p:nvSpPr>
          <p:cNvPr id="298" name="Shape 3"/>
          <p:cNvSpPr/>
          <p:nvPr/>
        </p:nvSpPr>
        <p:spPr>
          <a:xfrm>
            <a:off x="336240" y="1378080"/>
            <a:ext cx="7619760" cy="2284200"/>
          </a:xfrm>
          <a:custGeom>
            <a:avLst/>
            <a:gdLst/>
            <a:ah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299" name="Text 4"/>
          <p:cNvSpPr/>
          <p:nvPr/>
        </p:nvSpPr>
        <p:spPr>
          <a:xfrm>
            <a:off x="504000" y="1546200"/>
            <a:ext cx="7367400" cy="234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Niche Differentiation &amp; Resource Partitioning</a:t>
            </a:r>
            <a:endParaRPr b="0" lang="en-HK" sz="1320" spc="-1" strike="noStrike">
              <a:latin typeface="Arial"/>
            </a:endParaRPr>
          </a:p>
        </p:txBody>
      </p:sp>
      <p:sp>
        <p:nvSpPr>
          <p:cNvPr id="300" name="Text 5"/>
          <p:cNvSpPr/>
          <p:nvPr/>
        </p:nvSpPr>
        <p:spPr>
          <a:xfrm>
            <a:off x="504000" y="1882080"/>
            <a:ext cx="7350840" cy="435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Species coexistence is enabled through </a:t>
            </a:r>
            <a:r>
              <a:rPr b="0" lang="en-US" sz="1060" spc="-1" strike="noStrike">
                <a:solidFill>
                  <a:srgbClr val="2f3e3b"/>
                </a:solidFill>
                <a:highlight>
                  <a:srgbClr val="8fb7ac"/>
                </a:highlight>
                <a:latin typeface="Quattrocento Sans"/>
                <a:ea typeface="Quattrocento Sans"/>
              </a:rPr>
              <a:t>niche differentiation </a:t>
            </a:r>
            <a:r>
              <a:rPr b="0" lang="en-US" sz="1060" spc="-1" strike="noStrike">
                <a:solidFill>
                  <a:srgbClr val="1f2a28"/>
                </a:solidFill>
                <a:latin typeface="Quattrocento Sans"/>
                <a:ea typeface="Quattrocento Sans"/>
              </a:rPr>
              <a:t>—the partitioning of limited resources along multiple dimensions. This reduces competitive overlap and allows multiple species to occupy the same landscape.</a:t>
            </a:r>
            <a:endParaRPr b="0" lang="en-HK" sz="1060" spc="-1" strike="noStrike">
              <a:latin typeface="Arial"/>
            </a:endParaRPr>
          </a:p>
        </p:txBody>
      </p:sp>
      <p:sp>
        <p:nvSpPr>
          <p:cNvPr id="301" name="Shape 6"/>
          <p:cNvSpPr/>
          <p:nvPr/>
        </p:nvSpPr>
        <p:spPr>
          <a:xfrm>
            <a:off x="504000" y="2453400"/>
            <a:ext cx="2359800" cy="104040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000"/>
            </a:srgbClr>
          </a:solidFill>
          <a:ln w="0">
            <a:noFill/>
          </a:ln>
        </p:spPr>
        <p:style>
          <a:lnRef idx="0"/>
          <a:fillRef idx="0"/>
          <a:effectRef idx="0"/>
          <a:fontRef idx="minor"/>
        </p:style>
      </p:sp>
      <p:sp>
        <p:nvSpPr>
          <p:cNvPr id="302" name="Shape 7"/>
          <p:cNvSpPr/>
          <p:nvPr/>
        </p:nvSpPr>
        <p:spPr>
          <a:xfrm>
            <a:off x="1571400" y="2554200"/>
            <a:ext cx="225360" cy="200160"/>
          </a:xfrm>
          <a:custGeom>
            <a:avLst/>
            <a:gdLst/>
            <a:ah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w="0">
            <a:noFill/>
          </a:ln>
        </p:spPr>
        <p:style>
          <a:lnRef idx="0"/>
          <a:fillRef idx="0"/>
          <a:effectRef idx="0"/>
          <a:fontRef idx="minor"/>
        </p:style>
      </p:sp>
      <p:sp>
        <p:nvSpPr>
          <p:cNvPr id="303" name="Text 8"/>
          <p:cNvSpPr/>
          <p:nvPr/>
        </p:nvSpPr>
        <p:spPr>
          <a:xfrm>
            <a:off x="571320" y="2823120"/>
            <a:ext cx="222516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Light</a:t>
            </a:r>
            <a:endParaRPr b="0" lang="en-HK" sz="1060" spc="-1" strike="noStrike">
              <a:latin typeface="Arial"/>
            </a:endParaRPr>
          </a:p>
        </p:txBody>
      </p:sp>
      <p:sp>
        <p:nvSpPr>
          <p:cNvPr id="304" name="Text 9"/>
          <p:cNvSpPr/>
          <p:nvPr/>
        </p:nvSpPr>
        <p:spPr>
          <a:xfrm>
            <a:off x="575640" y="3058560"/>
            <a:ext cx="2216880" cy="334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vs. shade-intolerant species partition light gradients</a:t>
            </a:r>
            <a:endParaRPr b="0" lang="en-HK" sz="920" spc="-1" strike="noStrike">
              <a:latin typeface="Arial"/>
            </a:endParaRPr>
          </a:p>
        </p:txBody>
      </p:sp>
      <p:sp>
        <p:nvSpPr>
          <p:cNvPr id="305" name="Shape 10"/>
          <p:cNvSpPr/>
          <p:nvPr/>
        </p:nvSpPr>
        <p:spPr>
          <a:xfrm>
            <a:off x="2966400" y="2453400"/>
            <a:ext cx="2359800" cy="104040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000"/>
            </a:srgbClr>
          </a:solidFill>
          <a:ln w="0">
            <a:noFill/>
          </a:ln>
        </p:spPr>
        <p:style>
          <a:lnRef idx="0"/>
          <a:fillRef idx="0"/>
          <a:effectRef idx="0"/>
          <a:fontRef idx="minor"/>
        </p:style>
      </p:sp>
      <p:sp>
        <p:nvSpPr>
          <p:cNvPr id="306" name="Shape 11"/>
          <p:cNvSpPr/>
          <p:nvPr/>
        </p:nvSpPr>
        <p:spPr>
          <a:xfrm>
            <a:off x="4071240" y="2554200"/>
            <a:ext cx="149760" cy="200160"/>
          </a:xfrm>
          <a:custGeom>
            <a:avLst/>
            <a:gdLst/>
            <a:ah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w="0">
            <a:noFill/>
          </a:ln>
        </p:spPr>
        <p:style>
          <a:lnRef idx="0"/>
          <a:fillRef idx="0"/>
          <a:effectRef idx="0"/>
          <a:fontRef idx="minor"/>
        </p:style>
      </p:sp>
      <p:sp>
        <p:nvSpPr>
          <p:cNvPr id="307" name="Text 12"/>
          <p:cNvSpPr/>
          <p:nvPr/>
        </p:nvSpPr>
        <p:spPr>
          <a:xfrm>
            <a:off x="3033720" y="2823120"/>
            <a:ext cx="222516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Water</a:t>
            </a:r>
            <a:endParaRPr b="0" lang="en-HK" sz="1060" spc="-1" strike="noStrike">
              <a:latin typeface="Arial"/>
            </a:endParaRPr>
          </a:p>
        </p:txBody>
      </p:sp>
      <p:sp>
        <p:nvSpPr>
          <p:cNvPr id="308" name="Text 13"/>
          <p:cNvSpPr/>
          <p:nvPr/>
        </p:nvSpPr>
        <p:spPr>
          <a:xfrm>
            <a:off x="3037680" y="3058560"/>
            <a:ext cx="2216880" cy="334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Deep vs. shallow rooting strategies access different soil layers</a:t>
            </a:r>
            <a:endParaRPr b="0" lang="en-HK" sz="920" spc="-1" strike="noStrike">
              <a:latin typeface="Arial"/>
            </a:endParaRPr>
          </a:p>
        </p:txBody>
      </p:sp>
      <p:sp>
        <p:nvSpPr>
          <p:cNvPr id="309" name="Shape 14"/>
          <p:cNvSpPr/>
          <p:nvPr/>
        </p:nvSpPr>
        <p:spPr>
          <a:xfrm>
            <a:off x="5428440" y="2453400"/>
            <a:ext cx="2359800" cy="104040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000"/>
            </a:srgbClr>
          </a:solidFill>
          <a:ln w="0">
            <a:noFill/>
          </a:ln>
        </p:spPr>
        <p:style>
          <a:lnRef idx="0"/>
          <a:fillRef idx="0"/>
          <a:effectRef idx="0"/>
          <a:fontRef idx="minor"/>
        </p:style>
      </p:sp>
      <p:sp>
        <p:nvSpPr>
          <p:cNvPr id="310" name="Shape 15"/>
          <p:cNvSpPr/>
          <p:nvPr/>
        </p:nvSpPr>
        <p:spPr>
          <a:xfrm>
            <a:off x="6508440" y="2554200"/>
            <a:ext cx="200160" cy="200160"/>
          </a:xfrm>
          <a:custGeom>
            <a:avLst/>
            <a:gdLst/>
            <a:ah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w="0">
            <a:noFill/>
          </a:ln>
        </p:spPr>
        <p:style>
          <a:lnRef idx="0"/>
          <a:fillRef idx="0"/>
          <a:effectRef idx="0"/>
          <a:fontRef idx="minor"/>
        </p:style>
      </p:sp>
      <p:sp>
        <p:nvSpPr>
          <p:cNvPr id="311" name="Text 16"/>
          <p:cNvSpPr/>
          <p:nvPr/>
        </p:nvSpPr>
        <p:spPr>
          <a:xfrm>
            <a:off x="5495760" y="2823120"/>
            <a:ext cx="222516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Nutrients</a:t>
            </a:r>
            <a:endParaRPr b="0" lang="en-HK" sz="1060" spc="-1" strike="noStrike">
              <a:latin typeface="Arial"/>
            </a:endParaRPr>
          </a:p>
        </p:txBody>
      </p:sp>
      <p:sp>
        <p:nvSpPr>
          <p:cNvPr id="312" name="Text 17"/>
          <p:cNvSpPr/>
          <p:nvPr/>
        </p:nvSpPr>
        <p:spPr>
          <a:xfrm>
            <a:off x="5500080" y="3058560"/>
            <a:ext cx="2216880" cy="334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Species vary in N, P requirements and use efficiency</a:t>
            </a:r>
            <a:endParaRPr b="0" lang="en-HK" sz="920" spc="-1" strike="noStrike">
              <a:latin typeface="Arial"/>
            </a:endParaRPr>
          </a:p>
        </p:txBody>
      </p:sp>
      <p:sp>
        <p:nvSpPr>
          <p:cNvPr id="313" name="Shape 18"/>
          <p:cNvSpPr/>
          <p:nvPr/>
        </p:nvSpPr>
        <p:spPr>
          <a:xfrm>
            <a:off x="336240" y="3798000"/>
            <a:ext cx="3746160" cy="272088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14" name="Text 19"/>
          <p:cNvSpPr/>
          <p:nvPr/>
        </p:nvSpPr>
        <p:spPr>
          <a:xfrm>
            <a:off x="470520" y="3932280"/>
            <a:ext cx="355284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Temporal Partitioning</a:t>
            </a:r>
            <a:endParaRPr b="0" lang="en-HK" sz="1190" spc="-1" strike="noStrike">
              <a:latin typeface="Arial"/>
            </a:endParaRPr>
          </a:p>
        </p:txBody>
      </p:sp>
      <p:sp>
        <p:nvSpPr>
          <p:cNvPr id="315" name="Text 20"/>
          <p:cNvSpPr/>
          <p:nvPr/>
        </p:nvSpPr>
        <p:spPr>
          <a:xfrm>
            <a:off x="470520" y="4268520"/>
            <a:ext cx="3544560" cy="435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Phenological differences</a:t>
            </a:r>
            <a:r>
              <a:rPr b="0" lang="en-US" sz="1060" spc="-1" strike="noStrike">
                <a:solidFill>
                  <a:srgbClr val="1f2a28"/>
                </a:solidFill>
                <a:latin typeface="Quattrocento Sans"/>
                <a:ea typeface="Quattrocento Sans"/>
              </a:rPr>
              <a:t> reduce competition by separating resource demands in time:</a:t>
            </a:r>
            <a:endParaRPr b="0" lang="en-HK" sz="1060" spc="-1" strike="noStrike">
              <a:latin typeface="Arial"/>
            </a:endParaRPr>
          </a:p>
        </p:txBody>
      </p:sp>
      <p:sp>
        <p:nvSpPr>
          <p:cNvPr id="316" name="Text 21"/>
          <p:cNvSpPr/>
          <p:nvPr/>
        </p:nvSpPr>
        <p:spPr>
          <a:xfrm>
            <a:off x="470520" y="4806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Early vs. late growing season activity</a:t>
            </a:r>
            <a:endParaRPr b="0" lang="en-HK" sz="1060" spc="-1" strike="noStrike">
              <a:latin typeface="Arial"/>
            </a:endParaRPr>
          </a:p>
        </p:txBody>
      </p:sp>
      <p:sp>
        <p:nvSpPr>
          <p:cNvPr id="317" name="Text 22"/>
          <p:cNvSpPr/>
          <p:nvPr/>
        </p:nvSpPr>
        <p:spPr>
          <a:xfrm>
            <a:off x="470520" y="5058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Different flowering and fruiting times</a:t>
            </a:r>
            <a:endParaRPr b="0" lang="en-HK" sz="1060" spc="-1" strike="noStrike">
              <a:latin typeface="Arial"/>
            </a:endParaRPr>
          </a:p>
        </p:txBody>
      </p:sp>
      <p:sp>
        <p:nvSpPr>
          <p:cNvPr id="318" name="Text 23"/>
          <p:cNvSpPr/>
          <p:nvPr/>
        </p:nvSpPr>
        <p:spPr>
          <a:xfrm>
            <a:off x="470520" y="5310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Seasonal leaf senescence patterns</a:t>
            </a:r>
            <a:endParaRPr b="0" lang="en-HK" sz="1060" spc="-1" strike="noStrike">
              <a:latin typeface="Arial"/>
            </a:endParaRPr>
          </a:p>
        </p:txBody>
      </p:sp>
      <p:sp>
        <p:nvSpPr>
          <p:cNvPr id="319" name="Text 24"/>
          <p:cNvSpPr/>
          <p:nvPr/>
        </p:nvSpPr>
        <p:spPr>
          <a:xfrm>
            <a:off x="470520" y="5562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Staggered germination periods</a:t>
            </a:r>
            <a:endParaRPr b="0" lang="en-HK" sz="1060" spc="-1" strike="noStrike">
              <a:latin typeface="Arial"/>
            </a:endParaRPr>
          </a:p>
        </p:txBody>
      </p:sp>
      <p:sp>
        <p:nvSpPr>
          <p:cNvPr id="320" name="Shape 25"/>
          <p:cNvSpPr/>
          <p:nvPr/>
        </p:nvSpPr>
        <p:spPr>
          <a:xfrm>
            <a:off x="4214160" y="3798000"/>
            <a:ext cx="3746160" cy="272088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21" name="Text 26"/>
          <p:cNvSpPr/>
          <p:nvPr/>
        </p:nvSpPr>
        <p:spPr>
          <a:xfrm>
            <a:off x="4348800" y="3932280"/>
            <a:ext cx="355284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Spatial Partitioning</a:t>
            </a:r>
            <a:endParaRPr b="0" lang="en-HK" sz="1190" spc="-1" strike="noStrike">
              <a:latin typeface="Arial"/>
            </a:endParaRPr>
          </a:p>
        </p:txBody>
      </p:sp>
      <p:sp>
        <p:nvSpPr>
          <p:cNvPr id="322" name="Text 27"/>
          <p:cNvSpPr/>
          <p:nvPr/>
        </p:nvSpPr>
        <p:spPr>
          <a:xfrm>
            <a:off x="4348800" y="4268520"/>
            <a:ext cx="3544560" cy="435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Microhabitat specialization</a:t>
            </a:r>
            <a:r>
              <a:rPr b="0" lang="en-US" sz="1060" spc="-1" strike="noStrike">
                <a:solidFill>
                  <a:srgbClr val="1f2a28"/>
                </a:solidFill>
                <a:latin typeface="Quattrocento Sans"/>
                <a:ea typeface="Quattrocento Sans"/>
              </a:rPr>
              <a:t> allows species to occupy distinct physical spaces:</a:t>
            </a:r>
            <a:endParaRPr b="0" lang="en-HK" sz="1060" spc="-1" strike="noStrike">
              <a:latin typeface="Arial"/>
            </a:endParaRPr>
          </a:p>
        </p:txBody>
      </p:sp>
      <p:sp>
        <p:nvSpPr>
          <p:cNvPr id="323" name="Text 28"/>
          <p:cNvSpPr/>
          <p:nvPr/>
        </p:nvSpPr>
        <p:spPr>
          <a:xfrm>
            <a:off x="4348800" y="4806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Topographic preferences (ridge vs. valley)</a:t>
            </a:r>
            <a:endParaRPr b="0" lang="en-HK" sz="1060" spc="-1" strike="noStrike">
              <a:latin typeface="Arial"/>
            </a:endParaRPr>
          </a:p>
        </p:txBody>
      </p:sp>
      <p:sp>
        <p:nvSpPr>
          <p:cNvPr id="324" name="Text 29"/>
          <p:cNvSpPr/>
          <p:nvPr/>
        </p:nvSpPr>
        <p:spPr>
          <a:xfrm>
            <a:off x="4348800" y="5058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Soil moisture gradients</a:t>
            </a:r>
            <a:endParaRPr b="0" lang="en-HK" sz="1060" spc="-1" strike="noStrike">
              <a:latin typeface="Arial"/>
            </a:endParaRPr>
          </a:p>
        </p:txBody>
      </p:sp>
      <p:sp>
        <p:nvSpPr>
          <p:cNvPr id="325" name="Text 30"/>
          <p:cNvSpPr/>
          <p:nvPr/>
        </p:nvSpPr>
        <p:spPr>
          <a:xfrm>
            <a:off x="4348800" y="5310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Distance to streams or gaps</a:t>
            </a:r>
            <a:endParaRPr b="0" lang="en-HK" sz="1060" spc="-1" strike="noStrike">
              <a:latin typeface="Arial"/>
            </a:endParaRPr>
          </a:p>
        </p:txBody>
      </p:sp>
      <p:sp>
        <p:nvSpPr>
          <p:cNvPr id="326" name="Text 31"/>
          <p:cNvSpPr/>
          <p:nvPr/>
        </p:nvSpPr>
        <p:spPr>
          <a:xfrm>
            <a:off x="4348800" y="5562360"/>
            <a:ext cx="35445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Vertical stratification niches</a:t>
            </a:r>
            <a:endParaRPr b="0" lang="en-HK" sz="1060" spc="-1" strike="noStrike">
              <a:latin typeface="Arial"/>
            </a:endParaRPr>
          </a:p>
        </p:txBody>
      </p:sp>
      <p:sp>
        <p:nvSpPr>
          <p:cNvPr id="327" name="Shape 32"/>
          <p:cNvSpPr/>
          <p:nvPr/>
        </p:nvSpPr>
        <p:spPr>
          <a:xfrm>
            <a:off x="8126280" y="1378080"/>
            <a:ext cx="3729240" cy="1679040"/>
          </a:xfrm>
          <a:custGeom>
            <a:avLst/>
            <a:gdLst/>
            <a:ah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328" name="Text 33"/>
          <p:cNvSpPr/>
          <p:nvPr/>
        </p:nvSpPr>
        <p:spPr>
          <a:xfrm>
            <a:off x="8294040" y="1546200"/>
            <a:ext cx="346896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Mass-Ratio Hypothesis</a:t>
            </a:r>
            <a:endParaRPr b="0" lang="en-HK" sz="1190" spc="-1" strike="noStrike">
              <a:latin typeface="Arial"/>
            </a:endParaRPr>
          </a:p>
        </p:txBody>
      </p:sp>
      <p:sp>
        <p:nvSpPr>
          <p:cNvPr id="329" name="Text 34"/>
          <p:cNvSpPr/>
          <p:nvPr/>
        </p:nvSpPr>
        <p:spPr>
          <a:xfrm>
            <a:off x="8294040" y="1882080"/>
            <a:ext cx="3460320" cy="435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ffffff"/>
                </a:solidFill>
                <a:latin typeface="Quattrocento Sans"/>
                <a:ea typeface="Quattrocento Sans"/>
              </a:rPr>
              <a:t>Dominant species drive ecosystem processes through their traits. Species with:</a:t>
            </a:r>
            <a:endParaRPr b="0" lang="en-HK" sz="1060" spc="-1" strike="noStrike">
              <a:latin typeface="Arial"/>
            </a:endParaRPr>
          </a:p>
        </p:txBody>
      </p:sp>
      <p:sp>
        <p:nvSpPr>
          <p:cNvPr id="330" name="Shape 35"/>
          <p:cNvSpPr/>
          <p:nvPr/>
        </p:nvSpPr>
        <p:spPr>
          <a:xfrm>
            <a:off x="8310960" y="2453400"/>
            <a:ext cx="132840" cy="13284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1" name="Text 36"/>
          <p:cNvSpPr/>
          <p:nvPr/>
        </p:nvSpPr>
        <p:spPr>
          <a:xfrm>
            <a:off x="8529480" y="2419920"/>
            <a:ext cx="224208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Acquisitive traits:</a:t>
            </a:r>
            <a:r>
              <a:rPr b="0" lang="en-US" sz="1060" spc="-1" strike="noStrike">
                <a:solidFill>
                  <a:srgbClr val="ffffff"/>
                </a:solidFill>
                <a:latin typeface="Quattrocento Sans"/>
                <a:ea typeface="Quattrocento Sans"/>
              </a:rPr>
              <a:t> Fast carbon capture</a:t>
            </a:r>
            <a:endParaRPr b="0" lang="en-HK" sz="1060" spc="-1" strike="noStrike">
              <a:latin typeface="Arial"/>
            </a:endParaRPr>
          </a:p>
        </p:txBody>
      </p:sp>
      <p:sp>
        <p:nvSpPr>
          <p:cNvPr id="332" name="Shape 37"/>
          <p:cNvSpPr/>
          <p:nvPr/>
        </p:nvSpPr>
        <p:spPr>
          <a:xfrm>
            <a:off x="8310960" y="2722320"/>
            <a:ext cx="132840" cy="13284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3" name="Text 38"/>
          <p:cNvSpPr/>
          <p:nvPr/>
        </p:nvSpPr>
        <p:spPr>
          <a:xfrm>
            <a:off x="8529480" y="2688840"/>
            <a:ext cx="30992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Conservative traits:</a:t>
            </a:r>
            <a:r>
              <a:rPr b="0" lang="en-US" sz="1060" spc="-1" strike="noStrike">
                <a:solidFill>
                  <a:srgbClr val="ffffff"/>
                </a:solidFill>
                <a:latin typeface="Quattrocento Sans"/>
                <a:ea typeface="Quattrocento Sans"/>
              </a:rPr>
              <a:t> Long-term carbon sequestration</a:t>
            </a:r>
            <a:endParaRPr b="0" lang="en-HK" sz="1060" spc="-1" strike="noStrike">
              <a:latin typeface="Arial"/>
            </a:endParaRPr>
          </a:p>
        </p:txBody>
      </p:sp>
      <p:sp>
        <p:nvSpPr>
          <p:cNvPr id="334" name="Shape 39"/>
          <p:cNvSpPr/>
          <p:nvPr/>
        </p:nvSpPr>
        <p:spPr>
          <a:xfrm>
            <a:off x="8126280" y="3192840"/>
            <a:ext cx="3729240" cy="2149560"/>
          </a:xfrm>
          <a:custGeom>
            <a:avLst/>
            <a:gdLst/>
            <a:ah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35" name="Text 40"/>
          <p:cNvSpPr/>
          <p:nvPr/>
        </p:nvSpPr>
        <p:spPr>
          <a:xfrm>
            <a:off x="8294040" y="3360960"/>
            <a:ext cx="346896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Diversity Effects</a:t>
            </a:r>
            <a:endParaRPr b="0" lang="en-HK" sz="1190" spc="-1" strike="noStrike">
              <a:latin typeface="Arial"/>
            </a:endParaRPr>
          </a:p>
        </p:txBody>
      </p:sp>
      <p:sp>
        <p:nvSpPr>
          <p:cNvPr id="336" name="Shape 41"/>
          <p:cNvSpPr/>
          <p:nvPr/>
        </p:nvSpPr>
        <p:spPr>
          <a:xfrm>
            <a:off x="8294040" y="3697200"/>
            <a:ext cx="3393000" cy="603360"/>
          </a:xfrm>
          <a:custGeom>
            <a:avLst/>
            <a:gdLst/>
            <a:ah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w="0">
            <a:noFill/>
          </a:ln>
        </p:spPr>
        <p:style>
          <a:lnRef idx="0"/>
          <a:fillRef idx="0"/>
          <a:effectRef idx="0"/>
          <a:fontRef idx="minor"/>
        </p:style>
      </p:sp>
      <p:sp>
        <p:nvSpPr>
          <p:cNvPr id="337" name="Text 42"/>
          <p:cNvSpPr/>
          <p:nvPr/>
        </p:nvSpPr>
        <p:spPr>
          <a:xfrm>
            <a:off x="8394840" y="3798000"/>
            <a:ext cx="325872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Complementarity Effect</a:t>
            </a:r>
            <a:endParaRPr b="0" lang="en-HK" sz="1060" spc="-1" strike="noStrike">
              <a:latin typeface="Arial"/>
            </a:endParaRPr>
          </a:p>
        </p:txBody>
      </p:sp>
      <p:sp>
        <p:nvSpPr>
          <p:cNvPr id="338" name="Text 43"/>
          <p:cNvSpPr/>
          <p:nvPr/>
        </p:nvSpPr>
        <p:spPr>
          <a:xfrm>
            <a:off x="8394840" y="4033080"/>
            <a:ext cx="325044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Resource partitioning and facilitation enhance productivity</a:t>
            </a:r>
            <a:endParaRPr b="0" lang="en-HK" sz="920" spc="-1" strike="noStrike">
              <a:latin typeface="Arial"/>
            </a:endParaRPr>
          </a:p>
        </p:txBody>
      </p:sp>
      <p:sp>
        <p:nvSpPr>
          <p:cNvPr id="339" name="Shape 44"/>
          <p:cNvSpPr/>
          <p:nvPr/>
        </p:nvSpPr>
        <p:spPr>
          <a:xfrm>
            <a:off x="8294040" y="4402800"/>
            <a:ext cx="3393000" cy="771480"/>
          </a:xfrm>
          <a:custGeom>
            <a:avLst/>
            <a:gdLst/>
            <a:ah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w="0">
            <a:noFill/>
          </a:ln>
        </p:spPr>
        <p:style>
          <a:lnRef idx="0"/>
          <a:fillRef idx="0"/>
          <a:effectRef idx="0"/>
          <a:fontRef idx="minor"/>
        </p:style>
      </p:sp>
      <p:sp>
        <p:nvSpPr>
          <p:cNvPr id="340" name="Text 45"/>
          <p:cNvSpPr/>
          <p:nvPr/>
        </p:nvSpPr>
        <p:spPr>
          <a:xfrm>
            <a:off x="8394840" y="4503600"/>
            <a:ext cx="325872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Selection Effect</a:t>
            </a:r>
            <a:endParaRPr b="0" lang="en-HK" sz="1060" spc="-1" strike="noStrike">
              <a:latin typeface="Arial"/>
            </a:endParaRPr>
          </a:p>
        </p:txBody>
      </p:sp>
      <p:sp>
        <p:nvSpPr>
          <p:cNvPr id="341" name="Text 46"/>
          <p:cNvSpPr/>
          <p:nvPr/>
        </p:nvSpPr>
        <p:spPr>
          <a:xfrm>
            <a:off x="8394840" y="4739040"/>
            <a:ext cx="3250440" cy="334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Higher diversity increases probability of including productive species</a:t>
            </a:r>
            <a:endParaRPr b="0" lang="en-HK" sz="920" spc="-1" strike="noStrike">
              <a:latin typeface="Arial"/>
            </a:endParaRPr>
          </a:p>
        </p:txBody>
      </p:sp>
      <p:sp>
        <p:nvSpPr>
          <p:cNvPr id="342" name="Shape 47"/>
          <p:cNvSpPr/>
          <p:nvPr/>
        </p:nvSpPr>
        <p:spPr>
          <a:xfrm>
            <a:off x="8126280" y="5478480"/>
            <a:ext cx="3729240" cy="80532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w="0">
            <a:noFill/>
          </a:ln>
        </p:spPr>
        <p:style>
          <a:lnRef idx="0"/>
          <a:fillRef idx="0"/>
          <a:effectRef idx="0"/>
          <a:fontRef idx="minor"/>
        </p:style>
      </p:sp>
      <p:sp>
        <p:nvSpPr>
          <p:cNvPr id="343" name="Text 48"/>
          <p:cNvSpPr/>
          <p:nvPr/>
        </p:nvSpPr>
        <p:spPr>
          <a:xfrm>
            <a:off x="8197560" y="5612760"/>
            <a:ext cx="3586320" cy="3009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Phylogenetic Diversity</a:t>
            </a:r>
            <a:endParaRPr b="0" lang="en-HK" sz="1979" spc="-1" strike="noStrike">
              <a:latin typeface="Arial"/>
            </a:endParaRPr>
          </a:p>
        </p:txBody>
      </p:sp>
      <p:sp>
        <p:nvSpPr>
          <p:cNvPr id="344" name="Text 49"/>
          <p:cNvSpPr/>
          <p:nvPr/>
        </p:nvSpPr>
        <p:spPr>
          <a:xfrm>
            <a:off x="8227080" y="5949000"/>
            <a:ext cx="352764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Stronger predictor of biomass than species richness alone</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45" name="Text 0"/>
          <p:cNvSpPr/>
          <p:nvPr/>
        </p:nvSpPr>
        <p:spPr>
          <a:xfrm>
            <a:off x="346320" y="346320"/>
            <a:ext cx="1155852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86" strike="noStrike">
                <a:solidFill>
                  <a:srgbClr val="8fb7ac"/>
                </a:solidFill>
                <a:latin typeface="Quattrocento Sans"/>
                <a:ea typeface="Quattrocento Sans"/>
              </a:rPr>
              <a:t>04 • Disturbance Regimes</a:t>
            </a:r>
            <a:endParaRPr b="0" lang="en-HK" sz="960" spc="-1" strike="noStrike">
              <a:latin typeface="Arial"/>
            </a:endParaRPr>
          </a:p>
        </p:txBody>
      </p:sp>
      <p:sp>
        <p:nvSpPr>
          <p:cNvPr id="346" name="Text 1"/>
          <p:cNvSpPr/>
          <p:nvPr/>
        </p:nvSpPr>
        <p:spPr>
          <a:xfrm>
            <a:off x="346320" y="588960"/>
            <a:ext cx="11653560" cy="344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50" spc="-1" strike="noStrike">
                <a:solidFill>
                  <a:srgbClr val="2f3e3b"/>
                </a:solidFill>
                <a:latin typeface="Sorts Mill Goudy"/>
                <a:ea typeface="Sorts Mill Goudy"/>
              </a:rPr>
              <a:t>Gap Dynamics &amp; Forest Regeneration</a:t>
            </a:r>
            <a:endParaRPr b="0" lang="en-HK" sz="2450" spc="-1" strike="noStrike">
              <a:latin typeface="Arial"/>
            </a:endParaRPr>
          </a:p>
        </p:txBody>
      </p:sp>
      <p:sp>
        <p:nvSpPr>
          <p:cNvPr id="347" name="Text 2"/>
          <p:cNvSpPr/>
          <p:nvPr/>
        </p:nvSpPr>
        <p:spPr>
          <a:xfrm>
            <a:off x="346320" y="1004400"/>
            <a:ext cx="11575800" cy="240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20" spc="-1" strike="noStrike">
                <a:solidFill>
                  <a:srgbClr val="5f6f6b"/>
                </a:solidFill>
                <a:latin typeface="Quattrocento Sans"/>
                <a:ea typeface="Quattrocento Sans"/>
              </a:rPr>
              <a:t>Natural disturbances maintain diversity through regeneration opportunities</a:t>
            </a:r>
            <a:endParaRPr b="0" lang="en-HK" sz="1220" spc="-1" strike="noStrike">
              <a:latin typeface="Arial"/>
            </a:endParaRPr>
          </a:p>
        </p:txBody>
      </p:sp>
      <p:sp>
        <p:nvSpPr>
          <p:cNvPr id="348" name="Shape 3"/>
          <p:cNvSpPr/>
          <p:nvPr/>
        </p:nvSpPr>
        <p:spPr>
          <a:xfrm>
            <a:off x="346320" y="1420200"/>
            <a:ext cx="5644440" cy="2405880"/>
          </a:xfrm>
          <a:custGeom>
            <a:avLst/>
            <a:gdLst/>
            <a:ah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49" name="Text 4"/>
          <p:cNvSpPr/>
          <p:nvPr/>
        </p:nvSpPr>
        <p:spPr>
          <a:xfrm>
            <a:off x="519480" y="1593360"/>
            <a:ext cx="5384520" cy="240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Gap-Phase Regeneration Theory</a:t>
            </a:r>
            <a:endParaRPr b="0" lang="en-HK" sz="1370" spc="-1" strike="noStrike">
              <a:latin typeface="Arial"/>
            </a:endParaRPr>
          </a:p>
        </p:txBody>
      </p:sp>
      <p:sp>
        <p:nvSpPr>
          <p:cNvPr id="350" name="Text 5"/>
          <p:cNvSpPr/>
          <p:nvPr/>
        </p:nvSpPr>
        <p:spPr>
          <a:xfrm>
            <a:off x="519480" y="1939680"/>
            <a:ext cx="5367240" cy="67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90" spc="-1" strike="noStrike">
                <a:solidFill>
                  <a:srgbClr val="1f2a28"/>
                </a:solidFill>
                <a:latin typeface="Quattrocento Sans"/>
                <a:ea typeface="Quattrocento Sans"/>
              </a:rPr>
              <a:t>First proposed by Watt (1947), the </a:t>
            </a:r>
            <a:r>
              <a:rPr b="1" lang="en-US" sz="1090" spc="-1" strike="noStrike">
                <a:solidFill>
                  <a:srgbClr val="1f2a28"/>
                </a:solidFill>
                <a:latin typeface="Quattrocento Sans"/>
                <a:ea typeface="Quattrocento Sans"/>
              </a:rPr>
              <a:t>gap-phase regeneration theory</a:t>
            </a:r>
            <a:r>
              <a:rPr b="0" lang="en-US" sz="1090" spc="-1" strike="noStrike">
                <a:solidFill>
                  <a:srgbClr val="1f2a28"/>
                </a:solidFill>
                <a:latin typeface="Quattrocento Sans"/>
                <a:ea typeface="Quattrocento Sans"/>
              </a:rPr>
              <a:t> explains how </a:t>
            </a:r>
            <a:r>
              <a:rPr b="0" lang="en-US" sz="1090" spc="-1" strike="noStrike">
                <a:solidFill>
                  <a:srgbClr val="2f3e3b"/>
                </a:solidFill>
                <a:highlight>
                  <a:srgbClr val="8fb7ac"/>
                </a:highlight>
                <a:latin typeface="Quattrocento Sans"/>
                <a:ea typeface="Quattrocento Sans"/>
              </a:rPr>
              <a:t>canopy gaps created by tree death drive forest dynamics </a:t>
            </a:r>
            <a:r>
              <a:rPr b="0" lang="en-US" sz="1090" spc="-1" strike="noStrike">
                <a:solidFill>
                  <a:srgbClr val="1f2a28"/>
                </a:solidFill>
                <a:latin typeface="Quattrocento Sans"/>
                <a:ea typeface="Quattrocento Sans"/>
              </a:rPr>
              <a:t>. These gaps initiate localized succession, preventing competitive exclusion and maintaining species diversity.</a:t>
            </a:r>
            <a:endParaRPr b="0" lang="en-HK" sz="1090" spc="-1" strike="noStrike">
              <a:latin typeface="Arial"/>
            </a:endParaRPr>
          </a:p>
        </p:txBody>
      </p:sp>
      <p:sp>
        <p:nvSpPr>
          <p:cNvPr id="351" name="Shape 6"/>
          <p:cNvSpPr/>
          <p:nvPr/>
        </p:nvSpPr>
        <p:spPr>
          <a:xfrm>
            <a:off x="519480" y="2753640"/>
            <a:ext cx="2579040" cy="89928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000"/>
            </a:srgbClr>
          </a:solidFill>
          <a:ln w="0">
            <a:noFill/>
          </a:ln>
        </p:spPr>
        <p:style>
          <a:lnRef idx="0"/>
          <a:fillRef idx="0"/>
          <a:effectRef idx="0"/>
          <a:fontRef idx="minor"/>
        </p:style>
      </p:sp>
      <p:sp>
        <p:nvSpPr>
          <p:cNvPr id="352" name="Text 7"/>
          <p:cNvSpPr/>
          <p:nvPr/>
        </p:nvSpPr>
        <p:spPr>
          <a:xfrm>
            <a:off x="658080" y="2892240"/>
            <a:ext cx="2371320" cy="206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Canopy Gap (CG)</a:t>
            </a:r>
            <a:endParaRPr b="0" lang="en-HK" sz="1090" spc="-1" strike="noStrike">
              <a:latin typeface="Arial"/>
            </a:endParaRPr>
          </a:p>
        </p:txBody>
      </p:sp>
      <p:sp>
        <p:nvSpPr>
          <p:cNvPr id="353" name="Text 8"/>
          <p:cNvSpPr/>
          <p:nvPr/>
        </p:nvSpPr>
        <p:spPr>
          <a:xfrm>
            <a:off x="658080" y="3169080"/>
            <a:ext cx="2362320" cy="34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Area directly under canopy opening. Average: 52-75 m²</a:t>
            </a:r>
            <a:endParaRPr b="0" lang="en-HK" sz="960" spc="-1" strike="noStrike">
              <a:latin typeface="Arial"/>
            </a:endParaRPr>
          </a:p>
        </p:txBody>
      </p:sp>
      <p:sp>
        <p:nvSpPr>
          <p:cNvPr id="354" name="Shape 9"/>
          <p:cNvSpPr/>
          <p:nvPr/>
        </p:nvSpPr>
        <p:spPr>
          <a:xfrm>
            <a:off x="3238560" y="2753640"/>
            <a:ext cx="2579040" cy="89928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000"/>
            </a:srgbClr>
          </a:solidFill>
          <a:ln w="0">
            <a:noFill/>
          </a:ln>
        </p:spPr>
        <p:style>
          <a:lnRef idx="0"/>
          <a:fillRef idx="0"/>
          <a:effectRef idx="0"/>
          <a:fontRef idx="minor"/>
        </p:style>
      </p:sp>
      <p:sp>
        <p:nvSpPr>
          <p:cNvPr id="355" name="Text 10"/>
          <p:cNvSpPr/>
          <p:nvPr/>
        </p:nvSpPr>
        <p:spPr>
          <a:xfrm>
            <a:off x="3377160" y="2892240"/>
            <a:ext cx="2371320" cy="206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Expanded Gap (EG)</a:t>
            </a:r>
            <a:endParaRPr b="0" lang="en-HK" sz="1090" spc="-1" strike="noStrike">
              <a:latin typeface="Arial"/>
            </a:endParaRPr>
          </a:p>
        </p:txBody>
      </p:sp>
      <p:sp>
        <p:nvSpPr>
          <p:cNvPr id="356" name="Text 11"/>
          <p:cNvSpPr/>
          <p:nvPr/>
        </p:nvSpPr>
        <p:spPr>
          <a:xfrm>
            <a:off x="3377160" y="3169080"/>
            <a:ext cx="2362320" cy="34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Includes CG plus area to surrounding tree trunks</a:t>
            </a:r>
            <a:endParaRPr b="0" lang="en-HK" sz="960" spc="-1" strike="noStrike">
              <a:latin typeface="Arial"/>
            </a:endParaRPr>
          </a:p>
        </p:txBody>
      </p:sp>
      <p:sp>
        <p:nvSpPr>
          <p:cNvPr id="357" name="Shape 12"/>
          <p:cNvSpPr/>
          <p:nvPr/>
        </p:nvSpPr>
        <p:spPr>
          <a:xfrm>
            <a:off x="346320" y="3965760"/>
            <a:ext cx="5644440" cy="2665440"/>
          </a:xfrm>
          <a:custGeom>
            <a:avLst/>
            <a:gdLst/>
            <a:ah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58" name="Text 13"/>
          <p:cNvSpPr/>
          <p:nvPr/>
        </p:nvSpPr>
        <p:spPr>
          <a:xfrm>
            <a:off x="519480" y="4138920"/>
            <a:ext cx="5384520" cy="240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 Formation Mechanisms</a:t>
            </a:r>
            <a:endParaRPr b="0" lang="en-HK" sz="1370" spc="-1" strike="noStrike">
              <a:latin typeface="Arial"/>
            </a:endParaRPr>
          </a:p>
        </p:txBody>
      </p:sp>
      <p:sp>
        <p:nvSpPr>
          <p:cNvPr id="359" name="Shape 14"/>
          <p:cNvSpPr/>
          <p:nvPr/>
        </p:nvSpPr>
        <p:spPr>
          <a:xfrm>
            <a:off x="519480" y="4485240"/>
            <a:ext cx="5297760" cy="58752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0" name="Shape 15"/>
          <p:cNvSpPr/>
          <p:nvPr/>
        </p:nvSpPr>
        <p:spPr>
          <a:xfrm>
            <a:off x="654840" y="4623840"/>
            <a:ext cx="135000" cy="15444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w="0">
            <a:noFill/>
          </a:ln>
        </p:spPr>
        <p:style>
          <a:lnRef idx="0"/>
          <a:fillRef idx="0"/>
          <a:effectRef idx="0"/>
          <a:fontRef idx="minor"/>
        </p:style>
      </p:sp>
      <p:sp>
        <p:nvSpPr>
          <p:cNvPr id="361" name="Text 16"/>
          <p:cNvSpPr/>
          <p:nvPr/>
        </p:nvSpPr>
        <p:spPr>
          <a:xfrm>
            <a:off x="922320" y="4589280"/>
            <a:ext cx="2821320" cy="206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Uprooting</a:t>
            </a:r>
            <a:endParaRPr b="0" lang="en-HK" sz="1090" spc="-1" strike="noStrike">
              <a:latin typeface="Arial"/>
            </a:endParaRPr>
          </a:p>
        </p:txBody>
      </p:sp>
      <p:sp>
        <p:nvSpPr>
          <p:cNvPr id="362" name="Text 17"/>
          <p:cNvSpPr/>
          <p:nvPr/>
        </p:nvSpPr>
        <p:spPr>
          <a:xfrm>
            <a:off x="922320" y="4797000"/>
            <a:ext cx="28126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Creates pit-mound topography, exposes mineral soil</a:t>
            </a:r>
            <a:endParaRPr b="0" lang="en-HK" sz="960" spc="-1" strike="noStrike">
              <a:latin typeface="Arial"/>
            </a:endParaRPr>
          </a:p>
        </p:txBody>
      </p:sp>
      <p:sp>
        <p:nvSpPr>
          <p:cNvPr id="363" name="Shape 18"/>
          <p:cNvSpPr/>
          <p:nvPr/>
        </p:nvSpPr>
        <p:spPr>
          <a:xfrm>
            <a:off x="519480" y="5178240"/>
            <a:ext cx="5297760" cy="58752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4" name="Shape 19"/>
          <p:cNvSpPr/>
          <p:nvPr/>
        </p:nvSpPr>
        <p:spPr>
          <a:xfrm>
            <a:off x="654840" y="5316840"/>
            <a:ext cx="135000" cy="15444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w="0">
            <a:noFill/>
          </a:ln>
        </p:spPr>
        <p:style>
          <a:lnRef idx="0"/>
          <a:fillRef idx="0"/>
          <a:effectRef idx="0"/>
          <a:fontRef idx="minor"/>
        </p:style>
      </p:sp>
      <p:sp>
        <p:nvSpPr>
          <p:cNvPr id="365" name="Text 20"/>
          <p:cNvSpPr/>
          <p:nvPr/>
        </p:nvSpPr>
        <p:spPr>
          <a:xfrm>
            <a:off x="922320" y="5281920"/>
            <a:ext cx="2726280" cy="206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Stem Breakage</a:t>
            </a:r>
            <a:endParaRPr b="0" lang="en-HK" sz="1090" spc="-1" strike="noStrike">
              <a:latin typeface="Arial"/>
            </a:endParaRPr>
          </a:p>
        </p:txBody>
      </p:sp>
      <p:sp>
        <p:nvSpPr>
          <p:cNvPr id="366" name="Text 21"/>
          <p:cNvSpPr/>
          <p:nvPr/>
        </p:nvSpPr>
        <p:spPr>
          <a:xfrm>
            <a:off x="922320" y="5490000"/>
            <a:ext cx="271764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Leaves standing dead wood (snags), creates debris</a:t>
            </a:r>
            <a:endParaRPr b="0" lang="en-HK" sz="960" spc="-1" strike="noStrike">
              <a:latin typeface="Arial"/>
            </a:endParaRPr>
          </a:p>
        </p:txBody>
      </p:sp>
      <p:sp>
        <p:nvSpPr>
          <p:cNvPr id="367" name="Shape 22"/>
          <p:cNvSpPr/>
          <p:nvPr/>
        </p:nvSpPr>
        <p:spPr>
          <a:xfrm>
            <a:off x="519480" y="5870880"/>
            <a:ext cx="5297760" cy="58752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8" name="Shape 23"/>
          <p:cNvSpPr/>
          <p:nvPr/>
        </p:nvSpPr>
        <p:spPr>
          <a:xfrm>
            <a:off x="654840" y="6009480"/>
            <a:ext cx="135000" cy="15444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w="0">
            <a:noFill/>
          </a:ln>
        </p:spPr>
        <p:style>
          <a:lnRef idx="0"/>
          <a:fillRef idx="0"/>
          <a:effectRef idx="0"/>
          <a:fontRef idx="minor"/>
        </p:style>
      </p:sp>
      <p:sp>
        <p:nvSpPr>
          <p:cNvPr id="369" name="Text 24"/>
          <p:cNvSpPr/>
          <p:nvPr/>
        </p:nvSpPr>
        <p:spPr>
          <a:xfrm>
            <a:off x="922320" y="5974920"/>
            <a:ext cx="2094120" cy="206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Natural Mortality</a:t>
            </a:r>
            <a:endParaRPr b="0" lang="en-HK" sz="1090" spc="-1" strike="noStrike">
              <a:latin typeface="Arial"/>
            </a:endParaRPr>
          </a:p>
        </p:txBody>
      </p:sp>
      <p:sp>
        <p:nvSpPr>
          <p:cNvPr id="370" name="Text 25"/>
          <p:cNvSpPr/>
          <p:nvPr/>
        </p:nvSpPr>
        <p:spPr>
          <a:xfrm>
            <a:off x="922320" y="6182640"/>
            <a:ext cx="20854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Senescence, disease, or insect damage</a:t>
            </a:r>
            <a:endParaRPr b="0" lang="en-HK" sz="960" spc="-1" strike="noStrike">
              <a:latin typeface="Arial"/>
            </a:endParaRPr>
          </a:p>
        </p:txBody>
      </p:sp>
      <p:sp>
        <p:nvSpPr>
          <p:cNvPr id="371" name="Shape 26"/>
          <p:cNvSpPr/>
          <p:nvPr/>
        </p:nvSpPr>
        <p:spPr>
          <a:xfrm>
            <a:off x="6199920" y="1420200"/>
            <a:ext cx="5644440" cy="2111400"/>
          </a:xfrm>
          <a:custGeom>
            <a:avLst/>
            <a:gdLst/>
            <a:ah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w="0">
            <a:noFill/>
          </a:ln>
        </p:spPr>
        <p:style>
          <a:lnRef idx="0"/>
          <a:fillRef idx="0"/>
          <a:effectRef idx="0"/>
          <a:fontRef idx="minor"/>
        </p:style>
      </p:sp>
      <p:sp>
        <p:nvSpPr>
          <p:cNvPr id="372" name="Text 27"/>
          <p:cNvSpPr/>
          <p:nvPr/>
        </p:nvSpPr>
        <p:spPr>
          <a:xfrm>
            <a:off x="6373080" y="1593360"/>
            <a:ext cx="5375880" cy="240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ffffff"/>
                </a:solidFill>
                <a:latin typeface="Sorts Mill Goudy"/>
                <a:ea typeface="Sorts Mill Goudy"/>
              </a:rPr>
              <a:t>Gap Characteristics: Korean Pine Forest</a:t>
            </a:r>
            <a:endParaRPr b="0" lang="en-HK" sz="1220" spc="-1" strike="noStrike">
              <a:latin typeface="Arial"/>
            </a:endParaRPr>
          </a:p>
        </p:txBody>
      </p:sp>
      <p:sp>
        <p:nvSpPr>
          <p:cNvPr id="373" name="Shape 28"/>
          <p:cNvSpPr/>
          <p:nvPr/>
        </p:nvSpPr>
        <p:spPr>
          <a:xfrm>
            <a:off x="6373080" y="1939680"/>
            <a:ext cx="2596320" cy="65664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4" name="Text 29"/>
          <p:cNvSpPr/>
          <p:nvPr/>
        </p:nvSpPr>
        <p:spPr>
          <a:xfrm>
            <a:off x="6477120" y="2043720"/>
            <a:ext cx="2492280" cy="275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18.1%</a:t>
            </a:r>
            <a:endParaRPr b="0" lang="en-HK" sz="1640" spc="-1" strike="noStrike">
              <a:latin typeface="Arial"/>
            </a:endParaRPr>
          </a:p>
        </p:txBody>
      </p:sp>
      <p:sp>
        <p:nvSpPr>
          <p:cNvPr id="375" name="Text 30"/>
          <p:cNvSpPr/>
          <p:nvPr/>
        </p:nvSpPr>
        <p:spPr>
          <a:xfrm>
            <a:off x="6477120" y="2320560"/>
            <a:ext cx="24490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Expanded gaps in landscape</a:t>
            </a:r>
            <a:endParaRPr b="0" lang="en-HK" sz="960" spc="-1" strike="noStrike">
              <a:latin typeface="Arial"/>
            </a:endParaRPr>
          </a:p>
        </p:txBody>
      </p:sp>
      <p:sp>
        <p:nvSpPr>
          <p:cNvPr id="376" name="Shape 31"/>
          <p:cNvSpPr/>
          <p:nvPr/>
        </p:nvSpPr>
        <p:spPr>
          <a:xfrm>
            <a:off x="9074880" y="1939680"/>
            <a:ext cx="2596320" cy="65664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7" name="Text 32"/>
          <p:cNvSpPr/>
          <p:nvPr/>
        </p:nvSpPr>
        <p:spPr>
          <a:xfrm>
            <a:off x="9178560" y="2043720"/>
            <a:ext cx="2492280" cy="275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12.5%</a:t>
            </a:r>
            <a:endParaRPr b="0" lang="en-HK" sz="1640" spc="-1" strike="noStrike">
              <a:latin typeface="Arial"/>
            </a:endParaRPr>
          </a:p>
        </p:txBody>
      </p:sp>
      <p:sp>
        <p:nvSpPr>
          <p:cNvPr id="378" name="Text 33"/>
          <p:cNvSpPr/>
          <p:nvPr/>
        </p:nvSpPr>
        <p:spPr>
          <a:xfrm>
            <a:off x="9178560" y="2320560"/>
            <a:ext cx="24490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Canopy gaps in landscape</a:t>
            </a:r>
            <a:endParaRPr b="0" lang="en-HK" sz="960" spc="-1" strike="noStrike">
              <a:latin typeface="Arial"/>
            </a:endParaRPr>
          </a:p>
        </p:txBody>
      </p:sp>
      <p:sp>
        <p:nvSpPr>
          <p:cNvPr id="379" name="Shape 34"/>
          <p:cNvSpPr/>
          <p:nvPr/>
        </p:nvSpPr>
        <p:spPr>
          <a:xfrm>
            <a:off x="6373080" y="2701800"/>
            <a:ext cx="2596320" cy="65664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0" name="Text 35"/>
          <p:cNvSpPr/>
          <p:nvPr/>
        </p:nvSpPr>
        <p:spPr>
          <a:xfrm>
            <a:off x="6477120" y="2805480"/>
            <a:ext cx="2492280" cy="275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~700 yr</a:t>
            </a:r>
            <a:endParaRPr b="0" lang="en-HK" sz="1640" spc="-1" strike="noStrike">
              <a:latin typeface="Arial"/>
            </a:endParaRPr>
          </a:p>
        </p:txBody>
      </p:sp>
      <p:sp>
        <p:nvSpPr>
          <p:cNvPr id="381" name="Text 36"/>
          <p:cNvSpPr/>
          <p:nvPr/>
        </p:nvSpPr>
        <p:spPr>
          <a:xfrm>
            <a:off x="6477120" y="3082680"/>
            <a:ext cx="24490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return interval</a:t>
            </a:r>
            <a:endParaRPr b="0" lang="en-HK" sz="960" spc="-1" strike="noStrike">
              <a:latin typeface="Arial"/>
            </a:endParaRPr>
          </a:p>
        </p:txBody>
      </p:sp>
      <p:sp>
        <p:nvSpPr>
          <p:cNvPr id="382" name="Shape 37"/>
          <p:cNvSpPr/>
          <p:nvPr/>
        </p:nvSpPr>
        <p:spPr>
          <a:xfrm>
            <a:off x="9074880" y="2701800"/>
            <a:ext cx="2596320" cy="65664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3" name="Text 38"/>
          <p:cNvSpPr/>
          <p:nvPr/>
        </p:nvSpPr>
        <p:spPr>
          <a:xfrm>
            <a:off x="9178560" y="2805480"/>
            <a:ext cx="2492280" cy="275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20-60%</a:t>
            </a:r>
            <a:endParaRPr b="0" lang="en-HK" sz="1640" spc="-1" strike="noStrike">
              <a:latin typeface="Arial"/>
            </a:endParaRPr>
          </a:p>
        </p:txBody>
      </p:sp>
      <p:sp>
        <p:nvSpPr>
          <p:cNvPr id="384" name="Text 39"/>
          <p:cNvSpPr/>
          <p:nvPr/>
        </p:nvSpPr>
        <p:spPr>
          <a:xfrm>
            <a:off x="9178560" y="3082680"/>
            <a:ext cx="24490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diameter/canopy height</a:t>
            </a:r>
            <a:endParaRPr b="0" lang="en-HK" sz="960" spc="-1" strike="noStrike">
              <a:latin typeface="Arial"/>
            </a:endParaRPr>
          </a:p>
        </p:txBody>
      </p:sp>
      <p:sp>
        <p:nvSpPr>
          <p:cNvPr id="385" name="Shape 40"/>
          <p:cNvSpPr/>
          <p:nvPr/>
        </p:nvSpPr>
        <p:spPr>
          <a:xfrm>
            <a:off x="6199920" y="3671280"/>
            <a:ext cx="5644440" cy="1591920"/>
          </a:xfrm>
          <a:custGeom>
            <a:avLst/>
            <a:gdLst/>
            <a:ah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86" name="Text 41"/>
          <p:cNvSpPr/>
          <p:nvPr/>
        </p:nvSpPr>
        <p:spPr>
          <a:xfrm>
            <a:off x="6373080" y="3844800"/>
            <a:ext cx="5375880" cy="240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2f3e3b"/>
                </a:solidFill>
                <a:latin typeface="Sorts Mill Goudy"/>
                <a:ea typeface="Sorts Mill Goudy"/>
              </a:rPr>
              <a:t>Gap Closure Timeline</a:t>
            </a:r>
            <a:endParaRPr b="0" lang="en-HK" sz="1220" spc="-1" strike="noStrike">
              <a:latin typeface="Arial"/>
            </a:endParaRPr>
          </a:p>
        </p:txBody>
      </p:sp>
      <p:sp>
        <p:nvSpPr>
          <p:cNvPr id="387" name="Text 42"/>
          <p:cNvSpPr/>
          <p:nvPr/>
        </p:nvSpPr>
        <p:spPr>
          <a:xfrm>
            <a:off x="6373080" y="4191120"/>
            <a:ext cx="75204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Small gaps</a:t>
            </a:r>
            <a:endParaRPr b="0" lang="en-HK" sz="960" spc="-1" strike="noStrike">
              <a:latin typeface="Arial"/>
            </a:endParaRPr>
          </a:p>
        </p:txBody>
      </p:sp>
      <p:sp>
        <p:nvSpPr>
          <p:cNvPr id="388" name="Shape 43"/>
          <p:cNvSpPr/>
          <p:nvPr/>
        </p:nvSpPr>
        <p:spPr>
          <a:xfrm>
            <a:off x="7169760" y="4208400"/>
            <a:ext cx="3566160" cy="13716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89" name="Shape 44"/>
          <p:cNvSpPr/>
          <p:nvPr/>
        </p:nvSpPr>
        <p:spPr>
          <a:xfrm>
            <a:off x="7169760" y="4208400"/>
            <a:ext cx="890280" cy="137160"/>
          </a:xfrm>
          <a:custGeom>
            <a:avLst/>
            <a:gdLst/>
            <a:ah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w="0">
            <a:noFill/>
          </a:ln>
        </p:spPr>
        <p:style>
          <a:lnRef idx="0"/>
          <a:fillRef idx="0"/>
          <a:effectRef idx="0"/>
          <a:fontRef idx="minor"/>
        </p:style>
      </p:sp>
      <p:sp>
        <p:nvSpPr>
          <p:cNvPr id="390" name="Text 45"/>
          <p:cNvSpPr/>
          <p:nvPr/>
        </p:nvSpPr>
        <p:spPr>
          <a:xfrm>
            <a:off x="10841040" y="4191120"/>
            <a:ext cx="8902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t>
            </a:r>
            <a:r>
              <a:rPr b="0" lang="en-US" sz="960" spc="-1" strike="noStrike">
                <a:solidFill>
                  <a:srgbClr val="5f6f6b"/>
                </a:solidFill>
                <a:latin typeface="Quattrocento Sans"/>
                <a:ea typeface="Quattrocento Sans"/>
              </a:rPr>
              <a:t>10 years</a:t>
            </a:r>
            <a:endParaRPr b="0" lang="en-HK" sz="960" spc="-1" strike="noStrike">
              <a:latin typeface="Arial"/>
            </a:endParaRPr>
          </a:p>
        </p:txBody>
      </p:sp>
      <p:sp>
        <p:nvSpPr>
          <p:cNvPr id="391" name="Text 46"/>
          <p:cNvSpPr/>
          <p:nvPr/>
        </p:nvSpPr>
        <p:spPr>
          <a:xfrm>
            <a:off x="6373080" y="4467960"/>
            <a:ext cx="75204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Large gaps</a:t>
            </a:r>
            <a:endParaRPr b="0" lang="en-HK" sz="960" spc="-1" strike="noStrike">
              <a:latin typeface="Arial"/>
            </a:endParaRPr>
          </a:p>
        </p:txBody>
      </p:sp>
      <p:sp>
        <p:nvSpPr>
          <p:cNvPr id="392" name="Shape 47"/>
          <p:cNvSpPr/>
          <p:nvPr/>
        </p:nvSpPr>
        <p:spPr>
          <a:xfrm>
            <a:off x="7169760" y="4485240"/>
            <a:ext cx="3566160" cy="13716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93" name="Shape 48"/>
          <p:cNvSpPr/>
          <p:nvPr/>
        </p:nvSpPr>
        <p:spPr>
          <a:xfrm>
            <a:off x="7169760" y="4485240"/>
            <a:ext cx="2674080" cy="137160"/>
          </a:xfrm>
          <a:custGeom>
            <a:avLst/>
            <a:gdLst/>
            <a:ah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w="0">
            <a:noFill/>
          </a:ln>
        </p:spPr>
        <p:style>
          <a:lnRef idx="0"/>
          <a:fillRef idx="0"/>
          <a:effectRef idx="0"/>
          <a:fontRef idx="minor"/>
        </p:style>
      </p:sp>
      <p:sp>
        <p:nvSpPr>
          <p:cNvPr id="394" name="Text 49"/>
          <p:cNvSpPr/>
          <p:nvPr/>
        </p:nvSpPr>
        <p:spPr>
          <a:xfrm>
            <a:off x="10841040" y="4467960"/>
            <a:ext cx="8902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30-40 years</a:t>
            </a:r>
            <a:endParaRPr b="0" lang="en-HK" sz="960" spc="-1" strike="noStrike">
              <a:latin typeface="Arial"/>
            </a:endParaRPr>
          </a:p>
        </p:txBody>
      </p:sp>
      <p:sp>
        <p:nvSpPr>
          <p:cNvPr id="395" name="Text 50"/>
          <p:cNvSpPr/>
          <p:nvPr/>
        </p:nvSpPr>
        <p:spPr>
          <a:xfrm>
            <a:off x="6373080" y="4745160"/>
            <a:ext cx="5358600" cy="34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Gap closure occurs through lateral canopy expansion of surrounding trees and vertical growth of gap-fillers.</a:t>
            </a:r>
            <a:endParaRPr b="0" lang="en-HK" sz="960" spc="-1" strike="noStrike">
              <a:latin typeface="Arial"/>
            </a:endParaRPr>
          </a:p>
        </p:txBody>
      </p:sp>
      <p:sp>
        <p:nvSpPr>
          <p:cNvPr id="396" name="Shape 51"/>
          <p:cNvSpPr/>
          <p:nvPr/>
        </p:nvSpPr>
        <p:spPr>
          <a:xfrm>
            <a:off x="6199920" y="5403240"/>
            <a:ext cx="5644440" cy="829800"/>
          </a:xfrm>
          <a:custGeom>
            <a:avLst/>
            <a:gdLst/>
            <a:ah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w="0">
            <a:noFill/>
          </a:ln>
        </p:spPr>
        <p:style>
          <a:lnRef idx="0"/>
          <a:fillRef idx="0"/>
          <a:effectRef idx="0"/>
          <a:fontRef idx="minor"/>
        </p:style>
      </p:sp>
      <p:sp>
        <p:nvSpPr>
          <p:cNvPr id="397" name="Text 52"/>
          <p:cNvSpPr/>
          <p:nvPr/>
        </p:nvSpPr>
        <p:spPr>
          <a:xfrm>
            <a:off x="6273360" y="5541840"/>
            <a:ext cx="5497200" cy="3103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40" spc="-1" strike="noStrike">
                <a:solidFill>
                  <a:srgbClr val="ffffff"/>
                </a:solidFill>
                <a:latin typeface="Sorts Mill Goudy"/>
                <a:ea typeface="Sorts Mill Goudy"/>
              </a:rPr>
              <a:t>Intermediate Disturbance</a:t>
            </a:r>
            <a:endParaRPr b="0" lang="en-HK" sz="2040" spc="-1" strike="noStrike">
              <a:latin typeface="Arial"/>
            </a:endParaRPr>
          </a:p>
        </p:txBody>
      </p:sp>
      <p:sp>
        <p:nvSpPr>
          <p:cNvPr id="398" name="Text 53"/>
          <p:cNvSpPr/>
          <p:nvPr/>
        </p:nvSpPr>
        <p:spPr>
          <a:xfrm>
            <a:off x="6303960" y="5888160"/>
            <a:ext cx="5436360" cy="2062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90" spc="-1" strike="noStrike">
                <a:solidFill>
                  <a:srgbClr val="ffffff"/>
                </a:solidFill>
                <a:latin typeface="Quattrocento Sans"/>
                <a:ea typeface="Quattrocento Sans"/>
              </a:rPr>
              <a:t>Maximizes diversity by preventing competitive exclusion</a:t>
            </a:r>
            <a:endParaRPr b="0" lang="en-HK" sz="109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99" name="Text 0"/>
          <p:cNvSpPr/>
          <p:nvPr/>
        </p:nvSpPr>
        <p:spPr>
          <a:xfrm>
            <a:off x="334440" y="334440"/>
            <a:ext cx="1158012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0" strike="noStrike">
                <a:solidFill>
                  <a:srgbClr val="8fb7ac"/>
                </a:solidFill>
                <a:latin typeface="Quattrocento Sans"/>
                <a:ea typeface="Quattrocento Sans"/>
              </a:rPr>
              <a:t>04 • Disturbance Regimes</a:t>
            </a:r>
            <a:endParaRPr b="0" lang="en-HK" sz="920" spc="-1" strike="noStrike">
              <a:latin typeface="Arial"/>
            </a:endParaRPr>
          </a:p>
        </p:txBody>
      </p:sp>
      <p:sp>
        <p:nvSpPr>
          <p:cNvPr id="400" name="Text 1"/>
          <p:cNvSpPr/>
          <p:nvPr/>
        </p:nvSpPr>
        <p:spPr>
          <a:xfrm>
            <a:off x="334440" y="568800"/>
            <a:ext cx="11672280" cy="333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70" spc="-1" strike="noStrike">
                <a:solidFill>
                  <a:srgbClr val="2f3e3b"/>
                </a:solidFill>
                <a:latin typeface="Sorts Mill Goudy"/>
                <a:ea typeface="Sorts Mill Goudy"/>
              </a:rPr>
              <a:t>Succession &amp; Regeneration Dynamics</a:t>
            </a:r>
            <a:endParaRPr b="0" lang="en-HK" sz="2370" spc="-1" strike="noStrike">
              <a:latin typeface="Arial"/>
            </a:endParaRPr>
          </a:p>
        </p:txBody>
      </p:sp>
      <p:sp>
        <p:nvSpPr>
          <p:cNvPr id="401" name="Text 2"/>
          <p:cNvSpPr/>
          <p:nvPr/>
        </p:nvSpPr>
        <p:spPr>
          <a:xfrm>
            <a:off x="334440" y="969840"/>
            <a:ext cx="1159668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80" spc="-1" strike="noStrike">
                <a:solidFill>
                  <a:srgbClr val="5f6f6b"/>
                </a:solidFill>
                <a:latin typeface="Quattrocento Sans"/>
                <a:ea typeface="Quattrocento Sans"/>
              </a:rPr>
              <a:t>Forest development pathways maintain biodiversity over time</a:t>
            </a:r>
            <a:endParaRPr b="0" lang="en-HK" sz="1180" spc="-1" strike="noStrike">
              <a:latin typeface="Arial"/>
            </a:endParaRPr>
          </a:p>
        </p:txBody>
      </p:sp>
      <p:sp>
        <p:nvSpPr>
          <p:cNvPr id="402" name="Shape 3"/>
          <p:cNvSpPr/>
          <p:nvPr/>
        </p:nvSpPr>
        <p:spPr>
          <a:xfrm>
            <a:off x="334440" y="1371240"/>
            <a:ext cx="6847200" cy="2473920"/>
          </a:xfrm>
          <a:custGeom>
            <a:avLst/>
            <a:gdLst/>
            <a:ah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03" name="Text 4"/>
          <p:cNvSpPr/>
          <p:nvPr/>
        </p:nvSpPr>
        <p:spPr>
          <a:xfrm>
            <a:off x="501840" y="1538640"/>
            <a:ext cx="659628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Successional Pathways</a:t>
            </a:r>
            <a:endParaRPr b="0" lang="en-HK" sz="1320" spc="-1" strike="noStrike">
              <a:latin typeface="Arial"/>
            </a:endParaRPr>
          </a:p>
        </p:txBody>
      </p:sp>
      <p:sp>
        <p:nvSpPr>
          <p:cNvPr id="404" name="Text 5"/>
          <p:cNvSpPr/>
          <p:nvPr/>
        </p:nvSpPr>
        <p:spPr>
          <a:xfrm>
            <a:off x="501840" y="1873080"/>
            <a:ext cx="6579720" cy="433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Forest succession progresses from </a:t>
            </a:r>
            <a:r>
              <a:rPr b="0" lang="en-US" sz="1050" spc="-1" strike="noStrike">
                <a:solidFill>
                  <a:srgbClr val="2f3e3b"/>
                </a:solidFill>
                <a:highlight>
                  <a:srgbClr val="8fb7ac"/>
                </a:highlight>
                <a:latin typeface="Quattrocento Sans"/>
                <a:ea typeface="Quattrocento Sans"/>
              </a:rPr>
              <a:t>pioneer to climax communities </a:t>
            </a:r>
            <a:r>
              <a:rPr b="0" lang="en-US" sz="1050" spc="-1" strike="noStrike">
                <a:solidFill>
                  <a:srgbClr val="1f2a28"/>
                </a:solidFill>
                <a:latin typeface="Quattrocento Sans"/>
                <a:ea typeface="Quattrocento Sans"/>
              </a:rPr>
              <a:t>, with gap dynamics creating a mosaic of successional stages that supports diverse species assemblages.</a:t>
            </a:r>
            <a:endParaRPr b="0" lang="en-HK" sz="1050" spc="-1" strike="noStrike">
              <a:latin typeface="Arial"/>
            </a:endParaRPr>
          </a:p>
        </p:txBody>
      </p:sp>
      <p:sp>
        <p:nvSpPr>
          <p:cNvPr id="405" name="Shape 6"/>
          <p:cNvSpPr/>
          <p:nvPr/>
        </p:nvSpPr>
        <p:spPr>
          <a:xfrm>
            <a:off x="501840" y="2441880"/>
            <a:ext cx="2105640" cy="123624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000"/>
            </a:srgbClr>
          </a:solidFill>
          <a:ln w="0">
            <a:noFill/>
          </a:ln>
        </p:spPr>
        <p:style>
          <a:lnRef idx="0"/>
          <a:fillRef idx="0"/>
          <a:effectRef idx="0"/>
          <a:fontRef idx="minor"/>
        </p:style>
      </p:sp>
      <p:sp>
        <p:nvSpPr>
          <p:cNvPr id="406" name="Shape 7"/>
          <p:cNvSpPr/>
          <p:nvPr/>
        </p:nvSpPr>
        <p:spPr>
          <a:xfrm>
            <a:off x="1352880" y="2541960"/>
            <a:ext cx="399960" cy="39996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w="0">
            <a:noFill/>
          </a:ln>
        </p:spPr>
        <p:style>
          <a:lnRef idx="0"/>
          <a:fillRef idx="0"/>
          <a:effectRef idx="0"/>
          <a:fontRef idx="minor"/>
        </p:style>
      </p:sp>
      <p:sp>
        <p:nvSpPr>
          <p:cNvPr id="407" name="Shape 8"/>
          <p:cNvSpPr/>
          <p:nvPr/>
        </p:nvSpPr>
        <p:spPr>
          <a:xfrm>
            <a:off x="1469880" y="2659320"/>
            <a:ext cx="165960" cy="165960"/>
          </a:xfrm>
          <a:custGeom>
            <a:avLst/>
            <a:gdLst/>
            <a:ah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w="0">
            <a:noFill/>
          </a:ln>
        </p:spPr>
        <p:style>
          <a:lnRef idx="0"/>
          <a:fillRef idx="0"/>
          <a:effectRef idx="0"/>
          <a:fontRef idx="minor"/>
        </p:style>
      </p:sp>
      <p:sp>
        <p:nvSpPr>
          <p:cNvPr id="408" name="Text 9"/>
          <p:cNvSpPr/>
          <p:nvPr/>
        </p:nvSpPr>
        <p:spPr>
          <a:xfrm>
            <a:off x="568800" y="3010320"/>
            <a:ext cx="197208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Pioneer Stage</a:t>
            </a:r>
            <a:endParaRPr b="0" lang="en-HK" sz="1050" spc="-1" strike="noStrike">
              <a:latin typeface="Arial"/>
            </a:endParaRPr>
          </a:p>
        </p:txBody>
      </p:sp>
      <p:sp>
        <p:nvSpPr>
          <p:cNvPr id="409" name="Text 10"/>
          <p:cNvSpPr/>
          <p:nvPr/>
        </p:nvSpPr>
        <p:spPr>
          <a:xfrm>
            <a:off x="572760" y="3244680"/>
            <a:ext cx="1963800" cy="333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Fast-growing, light-demanding species colonize gaps</a:t>
            </a:r>
            <a:endParaRPr b="0" lang="en-HK" sz="920" spc="-1" strike="noStrike">
              <a:latin typeface="Arial"/>
            </a:endParaRPr>
          </a:p>
        </p:txBody>
      </p:sp>
      <p:sp>
        <p:nvSpPr>
          <p:cNvPr id="410" name="Shape 11"/>
          <p:cNvSpPr/>
          <p:nvPr/>
        </p:nvSpPr>
        <p:spPr>
          <a:xfrm>
            <a:off x="2705760" y="2441880"/>
            <a:ext cx="2105640" cy="123624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000"/>
            </a:srgbClr>
          </a:solidFill>
          <a:ln w="0">
            <a:noFill/>
          </a:ln>
        </p:spPr>
        <p:style>
          <a:lnRef idx="0"/>
          <a:fillRef idx="0"/>
          <a:effectRef idx="0"/>
          <a:fontRef idx="minor"/>
        </p:style>
      </p:sp>
      <p:sp>
        <p:nvSpPr>
          <p:cNvPr id="411" name="Shape 12"/>
          <p:cNvSpPr/>
          <p:nvPr/>
        </p:nvSpPr>
        <p:spPr>
          <a:xfrm>
            <a:off x="3556800" y="2541960"/>
            <a:ext cx="399960" cy="39996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w="0">
            <a:noFill/>
          </a:ln>
        </p:spPr>
        <p:style>
          <a:lnRef idx="0"/>
          <a:fillRef idx="0"/>
          <a:effectRef idx="0"/>
          <a:fontRef idx="minor"/>
        </p:style>
      </p:sp>
      <p:sp>
        <p:nvSpPr>
          <p:cNvPr id="412" name="Shape 13"/>
          <p:cNvSpPr/>
          <p:nvPr/>
        </p:nvSpPr>
        <p:spPr>
          <a:xfrm>
            <a:off x="3684240" y="2659320"/>
            <a:ext cx="144720" cy="165960"/>
          </a:xfrm>
          <a:custGeom>
            <a:avLst/>
            <a:gdLst/>
            <a:ah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w="0">
            <a:noFill/>
          </a:ln>
        </p:spPr>
        <p:style>
          <a:lnRef idx="0"/>
          <a:fillRef idx="0"/>
          <a:effectRef idx="0"/>
          <a:fontRef idx="minor"/>
        </p:style>
      </p:sp>
      <p:sp>
        <p:nvSpPr>
          <p:cNvPr id="413" name="Text 14"/>
          <p:cNvSpPr/>
          <p:nvPr/>
        </p:nvSpPr>
        <p:spPr>
          <a:xfrm>
            <a:off x="2772360" y="3010320"/>
            <a:ext cx="197208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Mid-Successional</a:t>
            </a:r>
            <a:endParaRPr b="0" lang="en-HK" sz="1050" spc="-1" strike="noStrike">
              <a:latin typeface="Arial"/>
            </a:endParaRPr>
          </a:p>
        </p:txBody>
      </p:sp>
      <p:sp>
        <p:nvSpPr>
          <p:cNvPr id="414" name="Text 15"/>
          <p:cNvSpPr/>
          <p:nvPr/>
        </p:nvSpPr>
        <p:spPr>
          <a:xfrm>
            <a:off x="2776680" y="3244680"/>
            <a:ext cx="1963800" cy="333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Intermediate shade-tolerant species establish</a:t>
            </a:r>
            <a:endParaRPr b="0" lang="en-HK" sz="920" spc="-1" strike="noStrike">
              <a:latin typeface="Arial"/>
            </a:endParaRPr>
          </a:p>
        </p:txBody>
      </p:sp>
      <p:sp>
        <p:nvSpPr>
          <p:cNvPr id="415" name="Shape 16"/>
          <p:cNvSpPr/>
          <p:nvPr/>
        </p:nvSpPr>
        <p:spPr>
          <a:xfrm>
            <a:off x="4909320" y="2441880"/>
            <a:ext cx="2105640" cy="123624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000"/>
            </a:srgbClr>
          </a:solidFill>
          <a:ln w="0">
            <a:noFill/>
          </a:ln>
        </p:spPr>
        <p:style>
          <a:lnRef idx="0"/>
          <a:fillRef idx="0"/>
          <a:effectRef idx="0"/>
          <a:fontRef idx="minor"/>
        </p:style>
      </p:sp>
      <p:sp>
        <p:nvSpPr>
          <p:cNvPr id="416" name="Shape 17"/>
          <p:cNvSpPr/>
          <p:nvPr/>
        </p:nvSpPr>
        <p:spPr>
          <a:xfrm>
            <a:off x="5760360" y="2541960"/>
            <a:ext cx="399960" cy="39996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w="0">
            <a:noFill/>
          </a:ln>
        </p:spPr>
        <p:style>
          <a:lnRef idx="0"/>
          <a:fillRef idx="0"/>
          <a:effectRef idx="0"/>
          <a:fontRef idx="minor"/>
        </p:style>
      </p:sp>
      <p:sp>
        <p:nvSpPr>
          <p:cNvPr id="417" name="Shape 18"/>
          <p:cNvSpPr/>
          <p:nvPr/>
        </p:nvSpPr>
        <p:spPr>
          <a:xfrm>
            <a:off x="5877720" y="2659320"/>
            <a:ext cx="165960" cy="165960"/>
          </a:xfrm>
          <a:custGeom>
            <a:avLst/>
            <a:gdLst/>
            <a:ah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w="0">
            <a:noFill/>
          </a:ln>
        </p:spPr>
        <p:style>
          <a:lnRef idx="0"/>
          <a:fillRef idx="0"/>
          <a:effectRef idx="0"/>
          <a:fontRef idx="minor"/>
        </p:style>
      </p:sp>
      <p:sp>
        <p:nvSpPr>
          <p:cNvPr id="418" name="Text 19"/>
          <p:cNvSpPr/>
          <p:nvPr/>
        </p:nvSpPr>
        <p:spPr>
          <a:xfrm>
            <a:off x="4976280" y="3010320"/>
            <a:ext cx="197208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Late-Successional</a:t>
            </a:r>
            <a:endParaRPr b="0" lang="en-HK" sz="1050" spc="-1" strike="noStrike">
              <a:latin typeface="Arial"/>
            </a:endParaRPr>
          </a:p>
        </p:txBody>
      </p:sp>
      <p:sp>
        <p:nvSpPr>
          <p:cNvPr id="419" name="Text 20"/>
          <p:cNvSpPr/>
          <p:nvPr/>
        </p:nvSpPr>
        <p:spPr>
          <a:xfrm>
            <a:off x="4980600" y="3244680"/>
            <a:ext cx="1963800" cy="333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climax species dominate</a:t>
            </a:r>
            <a:endParaRPr b="0" lang="en-HK" sz="920" spc="-1" strike="noStrike">
              <a:latin typeface="Arial"/>
            </a:endParaRPr>
          </a:p>
        </p:txBody>
      </p:sp>
      <p:sp>
        <p:nvSpPr>
          <p:cNvPr id="420" name="Shape 21"/>
          <p:cNvSpPr/>
          <p:nvPr/>
        </p:nvSpPr>
        <p:spPr>
          <a:xfrm>
            <a:off x="334440" y="3980520"/>
            <a:ext cx="6847200" cy="2682720"/>
          </a:xfrm>
          <a:custGeom>
            <a:avLst/>
            <a:gdLst/>
            <a:ah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21" name="Text 22"/>
          <p:cNvSpPr/>
          <p:nvPr/>
        </p:nvSpPr>
        <p:spPr>
          <a:xfrm>
            <a:off x="501840" y="4147560"/>
            <a:ext cx="659628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Ontogenetic Strategies</a:t>
            </a:r>
            <a:endParaRPr b="0" lang="en-HK" sz="1320" spc="-1" strike="noStrike">
              <a:latin typeface="Arial"/>
            </a:endParaRPr>
          </a:p>
        </p:txBody>
      </p:sp>
      <p:sp>
        <p:nvSpPr>
          <p:cNvPr id="422" name="Text 23"/>
          <p:cNvSpPr/>
          <p:nvPr/>
        </p:nvSpPr>
        <p:spPr>
          <a:xfrm>
            <a:off x="501840" y="4482000"/>
            <a:ext cx="6579720" cy="216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Tree species employ different regeneration strategies based on their shade tolerance and growth patterns:</a:t>
            </a:r>
            <a:endParaRPr b="0" lang="en-HK" sz="1050" spc="-1" strike="noStrike">
              <a:latin typeface="Arial"/>
            </a:endParaRPr>
          </a:p>
        </p:txBody>
      </p:sp>
      <p:sp>
        <p:nvSpPr>
          <p:cNvPr id="423" name="Shape 24"/>
          <p:cNvSpPr/>
          <p:nvPr/>
        </p:nvSpPr>
        <p:spPr>
          <a:xfrm>
            <a:off x="501840" y="4833360"/>
            <a:ext cx="3184560" cy="130320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000"/>
            </a:srgbClr>
          </a:solidFill>
          <a:ln w="0">
            <a:noFill/>
          </a:ln>
        </p:spPr>
        <p:style>
          <a:lnRef idx="0"/>
          <a:fillRef idx="0"/>
          <a:effectRef idx="0"/>
          <a:fontRef idx="minor"/>
        </p:style>
      </p:sp>
      <p:sp>
        <p:nvSpPr>
          <p:cNvPr id="424" name="Shape 25"/>
          <p:cNvSpPr/>
          <p:nvPr/>
        </p:nvSpPr>
        <p:spPr>
          <a:xfrm>
            <a:off x="644040" y="5000400"/>
            <a:ext cx="149040" cy="132480"/>
          </a:xfrm>
          <a:custGeom>
            <a:avLst/>
            <a:gdLst/>
            <a:ah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w="0">
            <a:noFill/>
          </a:ln>
        </p:spPr>
        <p:style>
          <a:lnRef idx="0"/>
          <a:fillRef idx="0"/>
          <a:effectRef idx="0"/>
          <a:fontRef idx="minor"/>
        </p:style>
      </p:sp>
      <p:sp>
        <p:nvSpPr>
          <p:cNvPr id="425" name="Text 26"/>
          <p:cNvSpPr/>
          <p:nvPr/>
        </p:nvSpPr>
        <p:spPr>
          <a:xfrm>
            <a:off x="802800" y="4967280"/>
            <a:ext cx="28166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Shade-Intolerant</a:t>
            </a:r>
            <a:endParaRPr b="0" lang="en-HK" sz="1050" spc="-1" strike="noStrike">
              <a:latin typeface="Arial"/>
            </a:endParaRPr>
          </a:p>
        </p:txBody>
      </p:sp>
      <p:sp>
        <p:nvSpPr>
          <p:cNvPr id="426" name="Text 27"/>
          <p:cNvSpPr/>
          <p:nvPr/>
        </p:nvSpPr>
        <p:spPr>
          <a:xfrm>
            <a:off x="635400" y="523476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Require full light for establishment</a:t>
            </a:r>
            <a:endParaRPr b="0" lang="en-HK" sz="920" spc="-1" strike="noStrike">
              <a:latin typeface="Arial"/>
            </a:endParaRPr>
          </a:p>
        </p:txBody>
      </p:sp>
      <p:sp>
        <p:nvSpPr>
          <p:cNvPr id="427" name="Text 28"/>
          <p:cNvSpPr/>
          <p:nvPr/>
        </p:nvSpPr>
        <p:spPr>
          <a:xfrm>
            <a:off x="635400" y="543528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Fast initial growth rates</a:t>
            </a:r>
            <a:endParaRPr b="0" lang="en-HK" sz="920" spc="-1" strike="noStrike">
              <a:latin typeface="Arial"/>
            </a:endParaRPr>
          </a:p>
        </p:txBody>
      </p:sp>
      <p:sp>
        <p:nvSpPr>
          <p:cNvPr id="428" name="Text 29"/>
          <p:cNvSpPr/>
          <p:nvPr/>
        </p:nvSpPr>
        <p:spPr>
          <a:xfrm>
            <a:off x="635400" y="563616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Depend on large gaps</a:t>
            </a:r>
            <a:endParaRPr b="0" lang="en-HK" sz="920" spc="-1" strike="noStrike">
              <a:latin typeface="Arial"/>
            </a:endParaRPr>
          </a:p>
        </p:txBody>
      </p:sp>
      <p:sp>
        <p:nvSpPr>
          <p:cNvPr id="429" name="Text 30"/>
          <p:cNvSpPr/>
          <p:nvPr/>
        </p:nvSpPr>
        <p:spPr>
          <a:xfrm>
            <a:off x="635400" y="583668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Early successional species</a:t>
            </a:r>
            <a:endParaRPr b="0" lang="en-HK" sz="920" spc="-1" strike="noStrike">
              <a:latin typeface="Arial"/>
            </a:endParaRPr>
          </a:p>
        </p:txBody>
      </p:sp>
      <p:sp>
        <p:nvSpPr>
          <p:cNvPr id="430" name="Shape 31"/>
          <p:cNvSpPr/>
          <p:nvPr/>
        </p:nvSpPr>
        <p:spPr>
          <a:xfrm>
            <a:off x="3824280" y="4833360"/>
            <a:ext cx="3184560" cy="130320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000"/>
            </a:srgbClr>
          </a:solidFill>
          <a:ln w="0">
            <a:noFill/>
          </a:ln>
        </p:spPr>
        <p:style>
          <a:lnRef idx="0"/>
          <a:fillRef idx="0"/>
          <a:effectRef idx="0"/>
          <a:fontRef idx="minor"/>
        </p:style>
      </p:sp>
      <p:sp>
        <p:nvSpPr>
          <p:cNvPr id="431" name="Shape 32"/>
          <p:cNvSpPr/>
          <p:nvPr/>
        </p:nvSpPr>
        <p:spPr>
          <a:xfrm>
            <a:off x="3966480" y="5000400"/>
            <a:ext cx="149040" cy="132480"/>
          </a:xfrm>
          <a:custGeom>
            <a:avLst/>
            <a:gdLst/>
            <a:ah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w="0">
            <a:noFill/>
          </a:ln>
        </p:spPr>
        <p:style>
          <a:lnRef idx="0"/>
          <a:fillRef idx="0"/>
          <a:effectRef idx="0"/>
          <a:fontRef idx="minor"/>
        </p:style>
      </p:sp>
      <p:sp>
        <p:nvSpPr>
          <p:cNvPr id="432" name="Text 33"/>
          <p:cNvSpPr/>
          <p:nvPr/>
        </p:nvSpPr>
        <p:spPr>
          <a:xfrm>
            <a:off x="4125240" y="4967280"/>
            <a:ext cx="28166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Shade-Tolerant</a:t>
            </a:r>
            <a:endParaRPr b="0" lang="en-HK" sz="1050" spc="-1" strike="noStrike">
              <a:latin typeface="Arial"/>
            </a:endParaRPr>
          </a:p>
        </p:txBody>
      </p:sp>
      <p:sp>
        <p:nvSpPr>
          <p:cNvPr id="433" name="Text 34"/>
          <p:cNvSpPr/>
          <p:nvPr/>
        </p:nvSpPr>
        <p:spPr>
          <a:xfrm>
            <a:off x="3958200" y="523476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Can establish under canopy</a:t>
            </a:r>
            <a:endParaRPr b="0" lang="en-HK" sz="920" spc="-1" strike="noStrike">
              <a:latin typeface="Arial"/>
            </a:endParaRPr>
          </a:p>
        </p:txBody>
      </p:sp>
      <p:sp>
        <p:nvSpPr>
          <p:cNvPr id="434" name="Text 35"/>
          <p:cNvSpPr/>
          <p:nvPr/>
        </p:nvSpPr>
        <p:spPr>
          <a:xfrm>
            <a:off x="3958200" y="543528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Slow but sustained growth</a:t>
            </a:r>
            <a:endParaRPr b="0" lang="en-HK" sz="920" spc="-1" strike="noStrike">
              <a:latin typeface="Arial"/>
            </a:endParaRPr>
          </a:p>
        </p:txBody>
      </p:sp>
      <p:sp>
        <p:nvSpPr>
          <p:cNvPr id="435" name="Text 36"/>
          <p:cNvSpPr/>
          <p:nvPr/>
        </p:nvSpPr>
        <p:spPr>
          <a:xfrm>
            <a:off x="3958200" y="563616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Survive in small gaps</a:t>
            </a:r>
            <a:endParaRPr b="0" lang="en-HK" sz="920" spc="-1" strike="noStrike">
              <a:latin typeface="Arial"/>
            </a:endParaRPr>
          </a:p>
        </p:txBody>
      </p:sp>
      <p:sp>
        <p:nvSpPr>
          <p:cNvPr id="436" name="Text 37"/>
          <p:cNvSpPr/>
          <p:nvPr/>
        </p:nvSpPr>
        <p:spPr>
          <a:xfrm>
            <a:off x="3958200" y="5836680"/>
            <a:ext cx="29754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Late successional species</a:t>
            </a:r>
            <a:endParaRPr b="0" lang="en-HK" sz="920" spc="-1" strike="noStrike">
              <a:latin typeface="Arial"/>
            </a:endParaRPr>
          </a:p>
        </p:txBody>
      </p:sp>
      <p:sp>
        <p:nvSpPr>
          <p:cNvPr id="437" name="Shape 38"/>
          <p:cNvSpPr/>
          <p:nvPr/>
        </p:nvSpPr>
        <p:spPr>
          <a:xfrm>
            <a:off x="7347600" y="1371240"/>
            <a:ext cx="4505760" cy="1988640"/>
          </a:xfrm>
          <a:custGeom>
            <a:avLst/>
            <a:gdLst/>
            <a:ah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w="0">
            <a:noFill/>
          </a:ln>
        </p:spPr>
        <p:style>
          <a:lnRef idx="0"/>
          <a:fillRef idx="0"/>
          <a:effectRef idx="0"/>
          <a:fontRef idx="minor"/>
        </p:style>
      </p:sp>
      <p:sp>
        <p:nvSpPr>
          <p:cNvPr id="438" name="Text 39"/>
          <p:cNvSpPr/>
          <p:nvPr/>
        </p:nvSpPr>
        <p:spPr>
          <a:xfrm>
            <a:off x="7514640" y="1538640"/>
            <a:ext cx="424656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Sorts Mill Goudy"/>
                <a:ea typeface="Sorts Mill Goudy"/>
              </a:rPr>
              <a:t>Diversity Maintenance</a:t>
            </a:r>
            <a:endParaRPr b="0" lang="en-HK" sz="1180" spc="-1" strike="noStrike">
              <a:latin typeface="Arial"/>
            </a:endParaRPr>
          </a:p>
        </p:txBody>
      </p:sp>
      <p:sp>
        <p:nvSpPr>
          <p:cNvPr id="439" name="Text 40"/>
          <p:cNvSpPr/>
          <p:nvPr/>
        </p:nvSpPr>
        <p:spPr>
          <a:xfrm>
            <a:off x="7514640" y="1873080"/>
            <a:ext cx="4238280" cy="216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ffffff"/>
                </a:solidFill>
                <a:latin typeface="Quattrocento Sans"/>
                <a:ea typeface="Quattrocento Sans"/>
              </a:rPr>
              <a:t>Gap dynamics prevent competitive exclusion by:</a:t>
            </a:r>
            <a:endParaRPr b="0" lang="en-HK" sz="1050" spc="-1" strike="noStrike">
              <a:latin typeface="Arial"/>
            </a:endParaRPr>
          </a:p>
        </p:txBody>
      </p:sp>
      <p:sp>
        <p:nvSpPr>
          <p:cNvPr id="440" name="Shape 41"/>
          <p:cNvSpPr/>
          <p:nvPr/>
        </p:nvSpPr>
        <p:spPr>
          <a:xfrm>
            <a:off x="7531560" y="2224440"/>
            <a:ext cx="132480" cy="13248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1" name="Text 42"/>
          <p:cNvSpPr/>
          <p:nvPr/>
        </p:nvSpPr>
        <p:spPr>
          <a:xfrm>
            <a:off x="7749000" y="2190960"/>
            <a:ext cx="248220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Creating opportunities for pioneer species</a:t>
            </a:r>
            <a:endParaRPr b="0" lang="en-HK" sz="1050" spc="-1" strike="noStrike">
              <a:latin typeface="Arial"/>
            </a:endParaRPr>
          </a:p>
        </p:txBody>
      </p:sp>
      <p:sp>
        <p:nvSpPr>
          <p:cNvPr id="442" name="Shape 43"/>
          <p:cNvSpPr/>
          <p:nvPr/>
        </p:nvSpPr>
        <p:spPr>
          <a:xfrm>
            <a:off x="7531560" y="2491920"/>
            <a:ext cx="132480" cy="13248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3" name="Text 44"/>
          <p:cNvSpPr/>
          <p:nvPr/>
        </p:nvSpPr>
        <p:spPr>
          <a:xfrm>
            <a:off x="7749000" y="2458440"/>
            <a:ext cx="303408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Allowing late-successional species to reach canopy</a:t>
            </a:r>
            <a:endParaRPr b="0" lang="en-HK" sz="1050" spc="-1" strike="noStrike">
              <a:latin typeface="Arial"/>
            </a:endParaRPr>
          </a:p>
        </p:txBody>
      </p:sp>
      <p:sp>
        <p:nvSpPr>
          <p:cNvPr id="444" name="Shape 45"/>
          <p:cNvSpPr/>
          <p:nvPr/>
        </p:nvSpPr>
        <p:spPr>
          <a:xfrm>
            <a:off x="7531560" y="2759400"/>
            <a:ext cx="132480" cy="13248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5" name="Text 46"/>
          <p:cNvSpPr/>
          <p:nvPr/>
        </p:nvSpPr>
        <p:spPr>
          <a:xfrm>
            <a:off x="7749000" y="2725920"/>
            <a:ext cx="209736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Maintaining resource heterogeneity</a:t>
            </a:r>
            <a:endParaRPr b="0" lang="en-HK" sz="1050" spc="-1" strike="noStrike">
              <a:latin typeface="Arial"/>
            </a:endParaRPr>
          </a:p>
        </p:txBody>
      </p:sp>
      <p:sp>
        <p:nvSpPr>
          <p:cNvPr id="446" name="Shape 47"/>
          <p:cNvSpPr/>
          <p:nvPr/>
        </p:nvSpPr>
        <p:spPr>
          <a:xfrm>
            <a:off x="7531560" y="3027240"/>
            <a:ext cx="132480" cy="13248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7" name="Text 48"/>
          <p:cNvSpPr/>
          <p:nvPr/>
        </p:nvSpPr>
        <p:spPr>
          <a:xfrm>
            <a:off x="7749000" y="2993760"/>
            <a:ext cx="269100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Supporting species with different life histories</a:t>
            </a:r>
            <a:endParaRPr b="0" lang="en-HK" sz="1050" spc="-1" strike="noStrike">
              <a:latin typeface="Arial"/>
            </a:endParaRPr>
          </a:p>
        </p:txBody>
      </p:sp>
      <p:sp>
        <p:nvSpPr>
          <p:cNvPr id="448" name="Shape 49"/>
          <p:cNvSpPr/>
          <p:nvPr/>
        </p:nvSpPr>
        <p:spPr>
          <a:xfrm>
            <a:off x="7347600" y="3495240"/>
            <a:ext cx="4505760" cy="2231280"/>
          </a:xfrm>
          <a:custGeom>
            <a:avLst/>
            <a:gdLst/>
            <a:ah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49" name="Text 50"/>
          <p:cNvSpPr/>
          <p:nvPr/>
        </p:nvSpPr>
        <p:spPr>
          <a:xfrm>
            <a:off x="7514640" y="3662640"/>
            <a:ext cx="424656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2f3e3b"/>
                </a:solidFill>
                <a:latin typeface="Sorts Mill Goudy"/>
                <a:ea typeface="Sorts Mill Goudy"/>
              </a:rPr>
              <a:t>Research Findings</a:t>
            </a:r>
            <a:endParaRPr b="0" lang="en-HK" sz="1180" spc="-1" strike="noStrike">
              <a:latin typeface="Arial"/>
            </a:endParaRPr>
          </a:p>
        </p:txBody>
      </p:sp>
      <p:sp>
        <p:nvSpPr>
          <p:cNvPr id="450" name="Shape 51"/>
          <p:cNvSpPr/>
          <p:nvPr/>
        </p:nvSpPr>
        <p:spPr>
          <a:xfrm>
            <a:off x="7514640" y="3997080"/>
            <a:ext cx="4171320" cy="583920"/>
          </a:xfrm>
          <a:custGeom>
            <a:avLst/>
            <a:gdLst/>
            <a:ah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w="0">
            <a:noFill/>
          </a:ln>
        </p:spPr>
        <p:style>
          <a:lnRef idx="0"/>
          <a:fillRef idx="0"/>
          <a:effectRef idx="0"/>
          <a:fontRef idx="minor"/>
        </p:style>
      </p:sp>
      <p:sp>
        <p:nvSpPr>
          <p:cNvPr id="451" name="Text 52"/>
          <p:cNvSpPr/>
          <p:nvPr/>
        </p:nvSpPr>
        <p:spPr>
          <a:xfrm>
            <a:off x="7615080" y="4097520"/>
            <a:ext cx="4029120" cy="383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Gap regeneration promotes renewal</a:t>
            </a:r>
            <a:r>
              <a:rPr b="0" lang="en-US" sz="920" spc="-1" strike="noStrike">
                <a:solidFill>
                  <a:srgbClr val="5f6f6b"/>
                </a:solidFill>
                <a:latin typeface="Quattrocento Sans"/>
                <a:ea typeface="Quattrocento Sans"/>
              </a:rPr>
              <a:t> of late-successional species in secondary forests</a:t>
            </a:r>
            <a:endParaRPr b="0" lang="en-HK" sz="920" spc="-1" strike="noStrike">
              <a:latin typeface="Arial"/>
            </a:endParaRPr>
          </a:p>
        </p:txBody>
      </p:sp>
      <p:sp>
        <p:nvSpPr>
          <p:cNvPr id="452" name="Shape 53"/>
          <p:cNvSpPr/>
          <p:nvPr/>
        </p:nvSpPr>
        <p:spPr>
          <a:xfrm>
            <a:off x="7514640" y="4678560"/>
            <a:ext cx="4171320" cy="39168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3" name="Text 54"/>
          <p:cNvSpPr/>
          <p:nvPr/>
        </p:nvSpPr>
        <p:spPr>
          <a:xfrm>
            <a:off x="7615080" y="4779000"/>
            <a:ext cx="4029120" cy="190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Resource heterogeneity</a:t>
            </a:r>
            <a:r>
              <a:rPr b="0" lang="en-US" sz="920" spc="-1" strike="noStrike">
                <a:solidFill>
                  <a:srgbClr val="5f6f6b"/>
                </a:solidFill>
                <a:latin typeface="Quattrocento Sans"/>
                <a:ea typeface="Quattrocento Sans"/>
              </a:rPr>
              <a:t> allows early- and late-successional species to coexist</a:t>
            </a:r>
            <a:endParaRPr b="0" lang="en-HK" sz="920" spc="-1" strike="noStrike">
              <a:latin typeface="Arial"/>
            </a:endParaRPr>
          </a:p>
        </p:txBody>
      </p:sp>
      <p:sp>
        <p:nvSpPr>
          <p:cNvPr id="454" name="Shape 55"/>
          <p:cNvSpPr/>
          <p:nvPr/>
        </p:nvSpPr>
        <p:spPr>
          <a:xfrm>
            <a:off x="7514640" y="5169960"/>
            <a:ext cx="4171320" cy="39168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5" name="Text 56"/>
          <p:cNvSpPr/>
          <p:nvPr/>
        </p:nvSpPr>
        <p:spPr>
          <a:xfrm>
            <a:off x="7615080" y="5270400"/>
            <a:ext cx="4029120" cy="190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Functional traits</a:t>
            </a:r>
            <a:r>
              <a:rPr b="0" lang="en-US" sz="920" spc="-1" strike="noStrike">
                <a:solidFill>
                  <a:srgbClr val="5f6f6b"/>
                </a:solidFill>
                <a:latin typeface="Quattrocento Sans"/>
                <a:ea typeface="Quattrocento Sans"/>
              </a:rPr>
              <a:t> of shade-tolerant species shift less under drought</a:t>
            </a:r>
            <a:endParaRPr b="0" lang="en-HK" sz="920" spc="-1" strike="noStrike">
              <a:latin typeface="Arial"/>
            </a:endParaRPr>
          </a:p>
        </p:txBody>
      </p:sp>
      <p:sp>
        <p:nvSpPr>
          <p:cNvPr id="456" name="Shape 57"/>
          <p:cNvSpPr/>
          <p:nvPr/>
        </p:nvSpPr>
        <p:spPr>
          <a:xfrm>
            <a:off x="7347600" y="5861880"/>
            <a:ext cx="4505760" cy="801360"/>
          </a:xfrm>
          <a:custGeom>
            <a:avLst/>
            <a:gdLst/>
            <a:ah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w="0">
            <a:noFill/>
          </a:ln>
        </p:spPr>
        <p:style>
          <a:lnRef idx="0"/>
          <a:fillRef idx="0"/>
          <a:effectRef idx="0"/>
          <a:fontRef idx="minor"/>
        </p:style>
      </p:sp>
      <p:sp>
        <p:nvSpPr>
          <p:cNvPr id="457" name="Text 58"/>
          <p:cNvSpPr/>
          <p:nvPr/>
        </p:nvSpPr>
        <p:spPr>
          <a:xfrm>
            <a:off x="7418520" y="5995800"/>
            <a:ext cx="4363560" cy="2995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Mosaic Structure</a:t>
            </a:r>
            <a:endParaRPr b="0" lang="en-HK" sz="1979" spc="-1" strike="noStrike">
              <a:latin typeface="Arial"/>
            </a:endParaRPr>
          </a:p>
        </p:txBody>
      </p:sp>
      <p:sp>
        <p:nvSpPr>
          <p:cNvPr id="458" name="Text 59"/>
          <p:cNvSpPr/>
          <p:nvPr/>
        </p:nvSpPr>
        <p:spPr>
          <a:xfrm>
            <a:off x="7447680" y="6330240"/>
            <a:ext cx="430524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50" spc="-1" strike="noStrike">
                <a:solidFill>
                  <a:srgbClr val="ffffff"/>
                </a:solidFill>
                <a:latin typeface="Quattrocento Sans"/>
                <a:ea typeface="Quattrocento Sans"/>
              </a:rPr>
              <a:t>Multiple successional stages support higher diversity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59" name="Text 0"/>
          <p:cNvSpPr/>
          <p:nvPr/>
        </p:nvSpPr>
        <p:spPr>
          <a:xfrm>
            <a:off x="317520" y="317520"/>
            <a:ext cx="116110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77" strike="noStrike">
                <a:solidFill>
                  <a:srgbClr val="5f6f6b"/>
                </a:solidFill>
                <a:latin typeface="Quattrocento Sans"/>
                <a:ea typeface="Quattrocento Sans"/>
              </a:rPr>
              <a:t>05 • Belowground Processes</a:t>
            </a:r>
            <a:endParaRPr b="0" lang="en-HK" sz="880" spc="-1" strike="noStrike">
              <a:latin typeface="Arial"/>
            </a:endParaRPr>
          </a:p>
        </p:txBody>
      </p:sp>
      <p:sp>
        <p:nvSpPr>
          <p:cNvPr id="460" name="Text 1"/>
          <p:cNvSpPr/>
          <p:nvPr/>
        </p:nvSpPr>
        <p:spPr>
          <a:xfrm>
            <a:off x="317520" y="539640"/>
            <a:ext cx="11698560" cy="3160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Mycorrhizal Networks: The Wood Wide Web</a:t>
            </a:r>
            <a:endParaRPr b="0" lang="en-HK" sz="2250" spc="-1" strike="noStrike">
              <a:latin typeface="Arial"/>
            </a:endParaRPr>
          </a:p>
        </p:txBody>
      </p:sp>
      <p:sp>
        <p:nvSpPr>
          <p:cNvPr id="461" name="Text 2"/>
          <p:cNvSpPr/>
          <p:nvPr/>
        </p:nvSpPr>
        <p:spPr>
          <a:xfrm>
            <a:off x="317520" y="920880"/>
            <a:ext cx="1162692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Belowground fungal connections facilitate inter-plant communication and resource sharing</a:t>
            </a:r>
            <a:endParaRPr b="0" lang="en-HK" sz="1130" spc="-1" strike="noStrike">
              <a:latin typeface="Arial"/>
            </a:endParaRPr>
          </a:p>
        </p:txBody>
      </p:sp>
      <p:sp>
        <p:nvSpPr>
          <p:cNvPr id="462" name="Shape 3"/>
          <p:cNvSpPr/>
          <p:nvPr/>
        </p:nvSpPr>
        <p:spPr>
          <a:xfrm>
            <a:off x="317520" y="1301760"/>
            <a:ext cx="5681880" cy="2681280"/>
          </a:xfrm>
          <a:custGeom>
            <a:avLst/>
            <a:gdLst/>
            <a:ah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3" name="Text 4"/>
          <p:cNvSpPr/>
          <p:nvPr/>
        </p:nvSpPr>
        <p:spPr>
          <a:xfrm>
            <a:off x="476280" y="1460520"/>
            <a:ext cx="5443560" cy="220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The Hidden Network</a:t>
            </a:r>
            <a:endParaRPr b="0" lang="en-HK" sz="1250" spc="-1" strike="noStrike">
              <a:latin typeface="Arial"/>
            </a:endParaRPr>
          </a:p>
        </p:txBody>
      </p:sp>
      <p:sp>
        <p:nvSpPr>
          <p:cNvPr id="464" name="Text 5"/>
          <p:cNvSpPr/>
          <p:nvPr/>
        </p:nvSpPr>
        <p:spPr>
          <a:xfrm>
            <a:off x="476280" y="1778040"/>
            <a:ext cx="5427720" cy="824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Research by Simard et al. (1997) revealed that </a:t>
            </a:r>
            <a:r>
              <a:rPr b="0" lang="en-US" sz="1000" spc="-1" strike="noStrike">
                <a:solidFill>
                  <a:srgbClr val="2f3e3b"/>
                </a:solidFill>
                <a:highlight>
                  <a:srgbClr val="8fb7ac"/>
                </a:highlight>
                <a:latin typeface="Quattrocento Sans"/>
                <a:ea typeface="Quattrocento Sans"/>
              </a:rPr>
              <a:t>trees communicate and share resources through mycorrhizal fungal networks </a:t>
            </a:r>
            <a:r>
              <a:rPr b="0" lang="en-US" sz="1000" spc="-1" strike="noStrike">
                <a:solidFill>
                  <a:srgbClr val="1f2a28"/>
                </a:solidFill>
                <a:latin typeface="Quattrocento Sans"/>
                <a:ea typeface="Quattrocento Sans"/>
              </a:rPr>
              <a:t>—the "wood wide web." These belowground connections enable carbon and nutrient transfer between plants, fundamentally changing our understanding of forest communities.</a:t>
            </a:r>
            <a:endParaRPr b="0" lang="en-HK" sz="1000" spc="-1" strike="noStrike">
              <a:latin typeface="Arial"/>
            </a:endParaRPr>
          </a:p>
        </p:txBody>
      </p:sp>
      <p:sp>
        <p:nvSpPr>
          <p:cNvPr id="465" name="Shape 6"/>
          <p:cNvSpPr/>
          <p:nvPr/>
        </p:nvSpPr>
        <p:spPr>
          <a:xfrm>
            <a:off x="476280" y="2730600"/>
            <a:ext cx="5364360" cy="1094040"/>
          </a:xfrm>
          <a:custGeom>
            <a:avLst/>
            <a:gdLst/>
            <a:ah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w="0">
            <a:noFill/>
          </a:ln>
        </p:spPr>
        <p:style>
          <a:lnRef idx="0"/>
          <a:fillRef idx="0"/>
          <a:effectRef idx="0"/>
          <a:fontRef idx="minor"/>
        </p:style>
      </p:sp>
      <p:sp>
        <p:nvSpPr>
          <p:cNvPr id="466" name="Text 7"/>
          <p:cNvSpPr/>
          <p:nvPr/>
        </p:nvSpPr>
        <p:spPr>
          <a:xfrm>
            <a:off x="603360" y="2857680"/>
            <a:ext cx="5173920" cy="617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5f6f6b"/>
                </a:solidFill>
                <a:latin typeface="Quattrocento Sans"/>
                <a:ea typeface="Quattrocento Sans"/>
              </a:rPr>
              <a:t>"A more even distribution of carbon among plants as a result of belowground transfer may have implications for local interspecific interactions, maintenance of biodiversity, and therefore for ecosystem productivity, stability and sustainability."</a:t>
            </a:r>
            <a:endParaRPr b="0" lang="en-HK" sz="1000" spc="-1" strike="noStrike">
              <a:latin typeface="Arial"/>
            </a:endParaRPr>
          </a:p>
        </p:txBody>
      </p:sp>
      <p:sp>
        <p:nvSpPr>
          <p:cNvPr id="467" name="Text 8"/>
          <p:cNvSpPr/>
          <p:nvPr/>
        </p:nvSpPr>
        <p:spPr>
          <a:xfrm>
            <a:off x="603360" y="3540240"/>
            <a:ext cx="516600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Simard et al. (1997)</a:t>
            </a:r>
            <a:endParaRPr b="0" lang="en-HK" sz="880" spc="-1" strike="noStrike">
              <a:latin typeface="Arial"/>
            </a:endParaRPr>
          </a:p>
        </p:txBody>
      </p:sp>
      <p:sp>
        <p:nvSpPr>
          <p:cNvPr id="468" name="Shape 9"/>
          <p:cNvSpPr/>
          <p:nvPr/>
        </p:nvSpPr>
        <p:spPr>
          <a:xfrm>
            <a:off x="317520" y="4111560"/>
            <a:ext cx="5681880" cy="3578400"/>
          </a:xfrm>
          <a:custGeom>
            <a:avLst/>
            <a:gdLst/>
            <a:ah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9" name="Text 10"/>
          <p:cNvSpPr/>
          <p:nvPr/>
        </p:nvSpPr>
        <p:spPr>
          <a:xfrm>
            <a:off x="476280" y="4270320"/>
            <a:ext cx="5443560" cy="220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Mycorrhizal Types</a:t>
            </a:r>
            <a:endParaRPr b="0" lang="en-HK" sz="1250" spc="-1" strike="noStrike">
              <a:latin typeface="Arial"/>
            </a:endParaRPr>
          </a:p>
        </p:txBody>
      </p:sp>
      <p:sp>
        <p:nvSpPr>
          <p:cNvPr id="470" name="Shape 11"/>
          <p:cNvSpPr/>
          <p:nvPr/>
        </p:nvSpPr>
        <p:spPr>
          <a:xfrm>
            <a:off x="476280" y="4587840"/>
            <a:ext cx="5364360" cy="53820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471" name="Shape 12"/>
          <p:cNvSpPr/>
          <p:nvPr/>
        </p:nvSpPr>
        <p:spPr>
          <a:xfrm>
            <a:off x="571680" y="4683240"/>
            <a:ext cx="316080" cy="31608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w="0">
            <a:noFill/>
          </a:ln>
        </p:spPr>
        <p:style>
          <a:lnRef idx="0"/>
          <a:fillRef idx="0"/>
          <a:effectRef idx="0"/>
          <a:fontRef idx="minor"/>
        </p:style>
      </p:sp>
      <p:sp>
        <p:nvSpPr>
          <p:cNvPr id="472" name="Text 13"/>
          <p:cNvSpPr/>
          <p:nvPr/>
        </p:nvSpPr>
        <p:spPr>
          <a:xfrm>
            <a:off x="539640" y="4683240"/>
            <a:ext cx="379440" cy="316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AM</a:t>
            </a:r>
            <a:endParaRPr b="0" lang="en-HK" sz="1000" spc="-1" strike="noStrike">
              <a:latin typeface="Arial"/>
            </a:endParaRPr>
          </a:p>
        </p:txBody>
      </p:sp>
      <p:sp>
        <p:nvSpPr>
          <p:cNvPr id="473" name="Text 14"/>
          <p:cNvSpPr/>
          <p:nvPr/>
        </p:nvSpPr>
        <p:spPr>
          <a:xfrm>
            <a:off x="984240" y="4683240"/>
            <a:ext cx="406260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Arbuscular Mycorrhizal</a:t>
            </a:r>
            <a:endParaRPr b="0" lang="en-HK" sz="1000" spc="-1" strike="noStrike">
              <a:latin typeface="Arial"/>
            </a:endParaRPr>
          </a:p>
        </p:txBody>
      </p:sp>
      <p:sp>
        <p:nvSpPr>
          <p:cNvPr id="474" name="Text 15"/>
          <p:cNvSpPr/>
          <p:nvPr/>
        </p:nvSpPr>
        <p:spPr>
          <a:xfrm>
            <a:off x="984240" y="4873680"/>
            <a:ext cx="405468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Most common; penetrate root cells. Associated with tropical diversity maintenance.</a:t>
            </a:r>
            <a:endParaRPr b="0" lang="en-HK" sz="880" spc="-1" strike="noStrike">
              <a:latin typeface="Arial"/>
            </a:endParaRPr>
          </a:p>
        </p:txBody>
      </p:sp>
      <p:sp>
        <p:nvSpPr>
          <p:cNvPr id="475" name="Shape 16"/>
          <p:cNvSpPr/>
          <p:nvPr/>
        </p:nvSpPr>
        <p:spPr>
          <a:xfrm>
            <a:off x="476280" y="5222880"/>
            <a:ext cx="5364360" cy="53820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476" name="Shape 17"/>
          <p:cNvSpPr/>
          <p:nvPr/>
        </p:nvSpPr>
        <p:spPr>
          <a:xfrm>
            <a:off x="571680" y="5318280"/>
            <a:ext cx="316080" cy="31608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w="0">
            <a:noFill/>
          </a:ln>
        </p:spPr>
        <p:style>
          <a:lnRef idx="0"/>
          <a:fillRef idx="0"/>
          <a:effectRef idx="0"/>
          <a:fontRef idx="minor"/>
        </p:style>
      </p:sp>
      <p:sp>
        <p:nvSpPr>
          <p:cNvPr id="477" name="Text 18"/>
          <p:cNvSpPr/>
          <p:nvPr/>
        </p:nvSpPr>
        <p:spPr>
          <a:xfrm>
            <a:off x="539640" y="5318280"/>
            <a:ext cx="379440" cy="316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ECM</a:t>
            </a:r>
            <a:endParaRPr b="0" lang="en-HK" sz="1000" spc="-1" strike="noStrike">
              <a:latin typeface="Arial"/>
            </a:endParaRPr>
          </a:p>
        </p:txBody>
      </p:sp>
      <p:sp>
        <p:nvSpPr>
          <p:cNvPr id="478" name="Text 19"/>
          <p:cNvSpPr/>
          <p:nvPr/>
        </p:nvSpPr>
        <p:spPr>
          <a:xfrm>
            <a:off x="984240" y="5318280"/>
            <a:ext cx="45309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Ectomycorrhizal</a:t>
            </a:r>
            <a:endParaRPr b="0" lang="en-HK" sz="1000" spc="-1" strike="noStrike">
              <a:latin typeface="Arial"/>
            </a:endParaRPr>
          </a:p>
        </p:txBody>
      </p:sp>
      <p:sp>
        <p:nvSpPr>
          <p:cNvPr id="479" name="Text 20"/>
          <p:cNvSpPr/>
          <p:nvPr/>
        </p:nvSpPr>
        <p:spPr>
          <a:xfrm>
            <a:off x="984240" y="5508720"/>
            <a:ext cx="4523040" cy="157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Form sheath around roots; dominate temperate/boreal forests. Protect hosts from pathogens.</a:t>
            </a:r>
            <a:endParaRPr b="0" lang="en-HK" sz="880" spc="-1" strike="noStrike">
              <a:latin typeface="Arial"/>
            </a:endParaRPr>
          </a:p>
        </p:txBody>
      </p:sp>
      <p:sp>
        <p:nvSpPr>
          <p:cNvPr id="480" name="Shape 21"/>
          <p:cNvSpPr/>
          <p:nvPr/>
        </p:nvSpPr>
        <p:spPr>
          <a:xfrm>
            <a:off x="6191280" y="1301760"/>
            <a:ext cx="5681880" cy="3784680"/>
          </a:xfrm>
          <a:custGeom>
            <a:avLst/>
            <a:gdLst/>
            <a:ah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81" name="Image 0"/>
          <p:cNvSpPr/>
          <p:nvPr/>
        </p:nvSpPr>
        <p:spPr>
          <a:xfrm>
            <a:off x="6191280" y="1301760"/>
            <a:ext cx="5681880" cy="3784680"/>
          </a:xfrm>
          <a:prstGeom prst="roundRect">
            <a:avLst>
              <a:gd name="adj" fmla="val 2516"/>
            </a:avLst>
          </a:prstGeom>
          <a:blipFill rotWithShape="0">
            <a:blip r:embed="rId1"/>
            <a:srcRect/>
            <a:stretch/>
          </a:blipFill>
          <a:ln w="0">
            <a:noFill/>
          </a:ln>
        </p:spPr>
        <p:style>
          <a:lnRef idx="0"/>
          <a:fillRef idx="0"/>
          <a:effectRef idx="0"/>
          <a:fontRef idx="minor"/>
        </p:style>
      </p:sp>
      <p:sp>
        <p:nvSpPr>
          <p:cNvPr id="482" name="Shape 22"/>
          <p:cNvSpPr/>
          <p:nvPr/>
        </p:nvSpPr>
        <p:spPr>
          <a:xfrm>
            <a:off x="6191280" y="5217480"/>
            <a:ext cx="5681880" cy="1586160"/>
          </a:xfrm>
          <a:custGeom>
            <a:avLst/>
            <a:gdLst/>
            <a:ah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w="0">
            <a:noFill/>
          </a:ln>
        </p:spPr>
        <p:style>
          <a:lnRef idx="0"/>
          <a:fillRef idx="0"/>
          <a:effectRef idx="0"/>
          <a:fontRef idx="minor"/>
        </p:style>
      </p:sp>
      <p:sp>
        <p:nvSpPr>
          <p:cNvPr id="483" name="Text 23"/>
          <p:cNvSpPr/>
          <p:nvPr/>
        </p:nvSpPr>
        <p:spPr>
          <a:xfrm>
            <a:off x="6350040" y="5376240"/>
            <a:ext cx="543564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Network Functions</a:t>
            </a:r>
            <a:endParaRPr b="0" lang="en-HK" sz="1130" spc="-1" strike="noStrike">
              <a:latin typeface="Arial"/>
            </a:endParaRPr>
          </a:p>
        </p:txBody>
      </p:sp>
      <p:sp>
        <p:nvSpPr>
          <p:cNvPr id="484" name="Shape 24"/>
          <p:cNvSpPr/>
          <p:nvPr/>
        </p:nvSpPr>
        <p:spPr>
          <a:xfrm>
            <a:off x="6365880" y="5725440"/>
            <a:ext cx="125640" cy="125640"/>
          </a:xfrm>
          <a:custGeom>
            <a:avLst/>
            <a:gdLst/>
            <a:ah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w="0">
            <a:noFill/>
          </a:ln>
        </p:spPr>
        <p:style>
          <a:lnRef idx="0"/>
          <a:fillRef idx="0"/>
          <a:effectRef idx="0"/>
          <a:fontRef idx="minor"/>
        </p:style>
      </p:sp>
      <p:sp>
        <p:nvSpPr>
          <p:cNvPr id="485" name="Text 25"/>
          <p:cNvSpPr/>
          <p:nvPr/>
        </p:nvSpPr>
        <p:spPr>
          <a:xfrm>
            <a:off x="6572160" y="5693760"/>
            <a:ext cx="40071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Carbon Transfer:</a:t>
            </a:r>
            <a:r>
              <a:rPr b="0" lang="en-US" sz="1000" spc="-1" strike="noStrike">
                <a:solidFill>
                  <a:srgbClr val="ffffff"/>
                </a:solidFill>
                <a:latin typeface="Quattrocento Sans"/>
                <a:ea typeface="Quattrocento Sans"/>
              </a:rPr>
              <a:t> Photosynthates move between trees via fungal hyphae</a:t>
            </a:r>
            <a:endParaRPr b="0" lang="en-HK" sz="1000" spc="-1" strike="noStrike">
              <a:latin typeface="Arial"/>
            </a:endParaRPr>
          </a:p>
        </p:txBody>
      </p:sp>
      <p:sp>
        <p:nvSpPr>
          <p:cNvPr id="486" name="Shape 26"/>
          <p:cNvSpPr/>
          <p:nvPr/>
        </p:nvSpPr>
        <p:spPr>
          <a:xfrm>
            <a:off x="6365880" y="5979600"/>
            <a:ext cx="125640" cy="12564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w="0">
            <a:noFill/>
          </a:ln>
        </p:spPr>
        <p:style>
          <a:lnRef idx="0"/>
          <a:fillRef idx="0"/>
          <a:effectRef idx="0"/>
          <a:fontRef idx="minor"/>
        </p:style>
      </p:sp>
      <p:sp>
        <p:nvSpPr>
          <p:cNvPr id="487" name="Text 27"/>
          <p:cNvSpPr/>
          <p:nvPr/>
        </p:nvSpPr>
        <p:spPr>
          <a:xfrm>
            <a:off x="6572160" y="5947920"/>
            <a:ext cx="42213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Pathogen Protection:</a:t>
            </a:r>
            <a:r>
              <a:rPr b="0" lang="en-US" sz="1000" spc="-1" strike="noStrike">
                <a:solidFill>
                  <a:srgbClr val="ffffff"/>
                </a:solidFill>
                <a:latin typeface="Quattrocento Sans"/>
                <a:ea typeface="Quattrocento Sans"/>
              </a:rPr>
              <a:t> ECM fungi defend host plants from soil-borne diseases</a:t>
            </a:r>
            <a:endParaRPr b="0" lang="en-HK" sz="1000" spc="-1" strike="noStrike">
              <a:latin typeface="Arial"/>
            </a:endParaRPr>
          </a:p>
        </p:txBody>
      </p:sp>
      <p:sp>
        <p:nvSpPr>
          <p:cNvPr id="488" name="Shape 28"/>
          <p:cNvSpPr/>
          <p:nvPr/>
        </p:nvSpPr>
        <p:spPr>
          <a:xfrm>
            <a:off x="6373800" y="6233400"/>
            <a:ext cx="109800" cy="125640"/>
          </a:xfrm>
          <a:custGeom>
            <a:avLst/>
            <a:gdLst/>
            <a:ah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w="0">
            <a:noFill/>
          </a:ln>
        </p:spPr>
        <p:style>
          <a:lnRef idx="0"/>
          <a:fillRef idx="0"/>
          <a:effectRef idx="0"/>
          <a:fontRef idx="minor"/>
        </p:style>
      </p:sp>
      <p:sp>
        <p:nvSpPr>
          <p:cNvPr id="489" name="Text 29"/>
          <p:cNvSpPr/>
          <p:nvPr/>
        </p:nvSpPr>
        <p:spPr>
          <a:xfrm>
            <a:off x="6572160" y="6201720"/>
            <a:ext cx="366552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Warning Signals:</a:t>
            </a:r>
            <a:r>
              <a:rPr b="0" lang="en-US" sz="1000" spc="-1" strike="noStrike">
                <a:solidFill>
                  <a:srgbClr val="ffffff"/>
                </a:solidFill>
                <a:latin typeface="Quattrocento Sans"/>
                <a:ea typeface="Quattrocento Sans"/>
              </a:rPr>
              <a:t> Trees communicate stress and herbivore attacks</a:t>
            </a:r>
            <a:endParaRPr b="0" lang="en-HK" sz="1000" spc="-1" strike="noStrike">
              <a:latin typeface="Arial"/>
            </a:endParaRPr>
          </a:p>
        </p:txBody>
      </p:sp>
      <p:sp>
        <p:nvSpPr>
          <p:cNvPr id="490" name="Shape 30"/>
          <p:cNvSpPr/>
          <p:nvPr/>
        </p:nvSpPr>
        <p:spPr>
          <a:xfrm>
            <a:off x="6350040" y="6487560"/>
            <a:ext cx="157320" cy="125640"/>
          </a:xfrm>
          <a:custGeom>
            <a:avLst/>
            <a:gdLst/>
            <a:ah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w="0">
            <a:noFill/>
          </a:ln>
        </p:spPr>
        <p:style>
          <a:lnRef idx="0"/>
          <a:fillRef idx="0"/>
          <a:effectRef idx="0"/>
          <a:fontRef idx="minor"/>
        </p:style>
      </p:sp>
      <p:sp>
        <p:nvSpPr>
          <p:cNvPr id="491" name="Text 31"/>
          <p:cNvSpPr/>
          <p:nvPr/>
        </p:nvSpPr>
        <p:spPr>
          <a:xfrm>
            <a:off x="6572160" y="6455880"/>
            <a:ext cx="376092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Resource Sharing:</a:t>
            </a:r>
            <a:r>
              <a:rPr b="0" lang="en-US" sz="1000" spc="-1" strike="noStrike">
                <a:solidFill>
                  <a:srgbClr val="ffffff"/>
                </a:solidFill>
                <a:latin typeface="Quattrocento Sans"/>
                <a:ea typeface="Quattrocento Sans"/>
              </a:rPr>
              <a:t> Nutrients redistributed from source to sink plants</a:t>
            </a:r>
            <a:endParaRPr b="0" lang="en-HK" sz="1000" spc="-1" strike="noStrike">
              <a:latin typeface="Arial"/>
            </a:endParaRPr>
          </a:p>
        </p:txBody>
      </p:sp>
      <p:sp>
        <p:nvSpPr>
          <p:cNvPr id="492" name="Shape 32"/>
          <p:cNvSpPr/>
          <p:nvPr/>
        </p:nvSpPr>
        <p:spPr>
          <a:xfrm>
            <a:off x="6191280" y="6932160"/>
            <a:ext cx="5681880" cy="760680"/>
          </a:xfrm>
          <a:custGeom>
            <a:avLst/>
            <a:gdLst/>
            <a:ah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w="0">
            <a:noFill/>
          </a:ln>
        </p:spPr>
        <p:style>
          <a:lnRef idx="0"/>
          <a:fillRef idx="0"/>
          <a:effectRef idx="0"/>
          <a:fontRef idx="minor"/>
        </p:style>
      </p:sp>
      <p:sp>
        <p:nvSpPr>
          <p:cNvPr id="493" name="Text 33"/>
          <p:cNvSpPr/>
          <p:nvPr/>
        </p:nvSpPr>
        <p:spPr>
          <a:xfrm>
            <a:off x="6258600" y="7058880"/>
            <a:ext cx="5546880" cy="2844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70" spc="-1" strike="noStrike">
                <a:solidFill>
                  <a:srgbClr val="ffffff"/>
                </a:solidFill>
                <a:latin typeface="Sorts Mill Goudy"/>
                <a:ea typeface="Sorts Mill Goudy"/>
              </a:rPr>
              <a:t>Latitudinal Variation</a:t>
            </a:r>
            <a:endParaRPr b="0" lang="en-HK" sz="1870" spc="-1" strike="noStrike">
              <a:latin typeface="Arial"/>
            </a:endParaRPr>
          </a:p>
        </p:txBody>
      </p:sp>
      <p:sp>
        <p:nvSpPr>
          <p:cNvPr id="494" name="Text 34"/>
          <p:cNvSpPr/>
          <p:nvPr/>
        </p:nvSpPr>
        <p:spPr>
          <a:xfrm>
            <a:off x="6286680" y="7376400"/>
            <a:ext cx="5491440" cy="189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00" spc="-1" strike="noStrike">
                <a:solidFill>
                  <a:srgbClr val="ffffff"/>
                </a:solidFill>
                <a:latin typeface="Quattrocento Sans"/>
                <a:ea typeface="Quattrocento Sans"/>
              </a:rPr>
              <a:t>AM-tropical, ECM-temperate associations explain biodiversity patterns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95" name="Text 0"/>
          <p:cNvSpPr/>
          <p:nvPr/>
        </p:nvSpPr>
        <p:spPr>
          <a:xfrm>
            <a:off x="352800" y="352800"/>
            <a:ext cx="1154700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86" strike="noStrike">
                <a:solidFill>
                  <a:srgbClr val="5f6f6b"/>
                </a:solidFill>
                <a:latin typeface="Quattrocento Sans"/>
                <a:ea typeface="Quattrocento Sans"/>
              </a:rPr>
              <a:t>05 • Belowground Processes</a:t>
            </a:r>
            <a:endParaRPr b="0" lang="en-HK" sz="970" spc="-1" strike="noStrike">
              <a:latin typeface="Arial"/>
            </a:endParaRPr>
          </a:p>
        </p:txBody>
      </p:sp>
      <p:sp>
        <p:nvSpPr>
          <p:cNvPr id="496" name="Text 1"/>
          <p:cNvSpPr/>
          <p:nvPr/>
        </p:nvSpPr>
        <p:spPr>
          <a:xfrm>
            <a:off x="352800" y="599400"/>
            <a:ext cx="11643840" cy="3513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00" spc="-1" strike="noStrike">
                <a:solidFill>
                  <a:srgbClr val="2f3e3b"/>
                </a:solidFill>
                <a:latin typeface="Sorts Mill Goudy"/>
                <a:ea typeface="Sorts Mill Goudy"/>
              </a:rPr>
              <a:t>Nutrient Cycling &amp; Resource Partitioning</a:t>
            </a:r>
            <a:endParaRPr b="0" lang="en-HK" sz="2500" spc="-1" strike="noStrike">
              <a:latin typeface="Arial"/>
            </a:endParaRPr>
          </a:p>
        </p:txBody>
      </p:sp>
      <p:sp>
        <p:nvSpPr>
          <p:cNvPr id="497" name="Text 2"/>
          <p:cNvSpPr/>
          <p:nvPr/>
        </p:nvSpPr>
        <p:spPr>
          <a:xfrm>
            <a:off x="352800" y="1022760"/>
            <a:ext cx="11564640" cy="245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Biogeochemical processes support diverse forest communities</a:t>
            </a:r>
            <a:endParaRPr b="0" lang="en-HK" sz="1250" spc="-1" strike="noStrike">
              <a:latin typeface="Arial"/>
            </a:endParaRPr>
          </a:p>
        </p:txBody>
      </p:sp>
      <p:sp>
        <p:nvSpPr>
          <p:cNvPr id="498" name="Shape 3"/>
          <p:cNvSpPr/>
          <p:nvPr/>
        </p:nvSpPr>
        <p:spPr>
          <a:xfrm>
            <a:off x="352800" y="1445760"/>
            <a:ext cx="7597800" cy="2220120"/>
          </a:xfrm>
          <a:custGeom>
            <a:avLst/>
            <a:gdLst/>
            <a:ah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499" name="Text 4"/>
          <p:cNvSpPr/>
          <p:nvPr/>
        </p:nvSpPr>
        <p:spPr>
          <a:xfrm>
            <a:off x="528840" y="1622160"/>
            <a:ext cx="7333200" cy="245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Forest Nutrient Cycling</a:t>
            </a:r>
            <a:endParaRPr b="0" lang="en-HK" sz="1390" spc="-1" strike="noStrike">
              <a:latin typeface="Arial"/>
            </a:endParaRPr>
          </a:p>
        </p:txBody>
      </p:sp>
      <p:sp>
        <p:nvSpPr>
          <p:cNvPr id="500" name="Text 5"/>
          <p:cNvSpPr/>
          <p:nvPr/>
        </p:nvSpPr>
        <p:spPr>
          <a:xfrm>
            <a:off x="528840" y="1974600"/>
            <a:ext cx="7315560" cy="456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Nutrient cycling is the exchange of elements between living and non-living components of ecosystems. </a:t>
            </a:r>
            <a:r>
              <a:rPr b="0" lang="en-US" sz="1110" spc="-1" strike="noStrike">
                <a:solidFill>
                  <a:srgbClr val="2f3e3b"/>
                </a:solidFill>
                <a:highlight>
                  <a:srgbClr val="8fb7ac"/>
                </a:highlight>
                <a:latin typeface="Quattrocento Sans"/>
                <a:ea typeface="Quattrocento Sans"/>
              </a:rPr>
              <a:t>Different tree species have varying nutrient requirements and strategies </a:t>
            </a:r>
            <a:r>
              <a:rPr b="0" lang="en-US" sz="1110" spc="-1" strike="noStrike">
                <a:solidFill>
                  <a:srgbClr val="1f2a28"/>
                </a:solidFill>
                <a:latin typeface="Quattrocento Sans"/>
                <a:ea typeface="Quattrocento Sans"/>
              </a:rPr>
              <a:t>, enabling coexistence through resource partitioning.</a:t>
            </a:r>
            <a:endParaRPr b="0" lang="en-HK" sz="1110" spc="-1" strike="noStrike">
              <a:latin typeface="Arial"/>
            </a:endParaRPr>
          </a:p>
        </p:txBody>
      </p:sp>
      <p:sp>
        <p:nvSpPr>
          <p:cNvPr id="501" name="Shape 6"/>
          <p:cNvSpPr/>
          <p:nvPr/>
        </p:nvSpPr>
        <p:spPr>
          <a:xfrm>
            <a:off x="528840" y="2574000"/>
            <a:ext cx="2343600" cy="91548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000"/>
            </a:srgbClr>
          </a:solidFill>
          <a:ln w="0">
            <a:noFill/>
          </a:ln>
        </p:spPr>
        <p:style>
          <a:lnRef idx="0"/>
          <a:fillRef idx="0"/>
          <a:effectRef idx="0"/>
          <a:fontRef idx="minor"/>
        </p:style>
      </p:sp>
      <p:sp>
        <p:nvSpPr>
          <p:cNvPr id="502" name="Shape 7"/>
          <p:cNvSpPr/>
          <p:nvPr/>
        </p:nvSpPr>
        <p:spPr>
          <a:xfrm>
            <a:off x="1595520" y="2679840"/>
            <a:ext cx="210240" cy="210240"/>
          </a:xfrm>
          <a:custGeom>
            <a:avLst/>
            <a:gdLst/>
            <a:ah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w="0">
            <a:noFill/>
          </a:ln>
        </p:spPr>
        <p:style>
          <a:lnRef idx="0"/>
          <a:fillRef idx="0"/>
          <a:effectRef idx="0"/>
          <a:fontRef idx="minor"/>
        </p:style>
      </p:sp>
      <p:sp>
        <p:nvSpPr>
          <p:cNvPr id="503" name="Text 8"/>
          <p:cNvSpPr/>
          <p:nvPr/>
        </p:nvSpPr>
        <p:spPr>
          <a:xfrm>
            <a:off x="599400" y="2962080"/>
            <a:ext cx="2202480" cy="210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Uptake</a:t>
            </a:r>
            <a:endParaRPr b="0" lang="en-HK" sz="1110" spc="-1" strike="noStrike">
              <a:latin typeface="Arial"/>
            </a:endParaRPr>
          </a:p>
        </p:txBody>
      </p:sp>
      <p:sp>
        <p:nvSpPr>
          <p:cNvPr id="504" name="Text 9"/>
          <p:cNvSpPr/>
          <p:nvPr/>
        </p:nvSpPr>
        <p:spPr>
          <a:xfrm>
            <a:off x="603720" y="3209040"/>
            <a:ext cx="2193480" cy="174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Root absorption of N, P, K from soil</a:t>
            </a:r>
            <a:endParaRPr b="0" lang="en-HK" sz="970" spc="-1" strike="noStrike">
              <a:latin typeface="Arial"/>
            </a:endParaRPr>
          </a:p>
        </p:txBody>
      </p:sp>
      <p:sp>
        <p:nvSpPr>
          <p:cNvPr id="505" name="Shape 10"/>
          <p:cNvSpPr/>
          <p:nvPr/>
        </p:nvSpPr>
        <p:spPr>
          <a:xfrm>
            <a:off x="2979720" y="2574000"/>
            <a:ext cx="2343600" cy="91548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000"/>
            </a:srgbClr>
          </a:solidFill>
          <a:ln w="0">
            <a:noFill/>
          </a:ln>
        </p:spPr>
        <p:style>
          <a:lnRef idx="0"/>
          <a:fillRef idx="0"/>
          <a:effectRef idx="0"/>
          <a:fontRef idx="minor"/>
        </p:style>
      </p:sp>
      <p:sp>
        <p:nvSpPr>
          <p:cNvPr id="506" name="Shape 11"/>
          <p:cNvSpPr/>
          <p:nvPr/>
        </p:nvSpPr>
        <p:spPr>
          <a:xfrm>
            <a:off x="4046760" y="2679840"/>
            <a:ext cx="210240" cy="210240"/>
          </a:xfrm>
          <a:custGeom>
            <a:avLst/>
            <a:gdLst/>
            <a:ah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w="0">
            <a:noFill/>
          </a:ln>
        </p:spPr>
        <p:style>
          <a:lnRef idx="0"/>
          <a:fillRef idx="0"/>
          <a:effectRef idx="0"/>
          <a:fontRef idx="minor"/>
        </p:style>
      </p:sp>
      <p:sp>
        <p:nvSpPr>
          <p:cNvPr id="507" name="Text 12"/>
          <p:cNvSpPr/>
          <p:nvPr/>
        </p:nvSpPr>
        <p:spPr>
          <a:xfrm>
            <a:off x="3050280" y="2962080"/>
            <a:ext cx="2202480" cy="210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Cycling</a:t>
            </a:r>
            <a:endParaRPr b="0" lang="en-HK" sz="1110" spc="-1" strike="noStrike">
              <a:latin typeface="Arial"/>
            </a:endParaRPr>
          </a:p>
        </p:txBody>
      </p:sp>
      <p:sp>
        <p:nvSpPr>
          <p:cNvPr id="508" name="Text 13"/>
          <p:cNvSpPr/>
          <p:nvPr/>
        </p:nvSpPr>
        <p:spPr>
          <a:xfrm>
            <a:off x="3054960" y="3209040"/>
            <a:ext cx="2193480" cy="174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Litter decomposition, mineralization</a:t>
            </a:r>
            <a:endParaRPr b="0" lang="en-HK" sz="970" spc="-1" strike="noStrike">
              <a:latin typeface="Arial"/>
            </a:endParaRPr>
          </a:p>
        </p:txBody>
      </p:sp>
      <p:sp>
        <p:nvSpPr>
          <p:cNvPr id="509" name="Shape 14"/>
          <p:cNvSpPr/>
          <p:nvPr/>
        </p:nvSpPr>
        <p:spPr>
          <a:xfrm>
            <a:off x="5430960" y="2574000"/>
            <a:ext cx="2343600" cy="91548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000"/>
            </a:srgbClr>
          </a:solidFill>
          <a:ln w="0">
            <a:noFill/>
          </a:ln>
        </p:spPr>
        <p:style>
          <a:lnRef idx="0"/>
          <a:fillRef idx="0"/>
          <a:effectRef idx="0"/>
          <a:fontRef idx="minor"/>
        </p:style>
      </p:sp>
      <p:sp>
        <p:nvSpPr>
          <p:cNvPr id="510" name="Shape 15"/>
          <p:cNvSpPr/>
          <p:nvPr/>
        </p:nvSpPr>
        <p:spPr>
          <a:xfrm>
            <a:off x="6497640" y="2679840"/>
            <a:ext cx="210240" cy="210240"/>
          </a:xfrm>
          <a:custGeom>
            <a:avLst/>
            <a:gdLst/>
            <a:ah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w="0">
            <a:noFill/>
          </a:ln>
        </p:spPr>
        <p:style>
          <a:lnRef idx="0"/>
          <a:fillRef idx="0"/>
          <a:effectRef idx="0"/>
          <a:fontRef idx="minor"/>
        </p:style>
      </p:sp>
      <p:sp>
        <p:nvSpPr>
          <p:cNvPr id="511" name="Text 16"/>
          <p:cNvSpPr/>
          <p:nvPr/>
        </p:nvSpPr>
        <p:spPr>
          <a:xfrm>
            <a:off x="5501520" y="2962080"/>
            <a:ext cx="2202480" cy="210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Return</a:t>
            </a:r>
            <a:endParaRPr b="0" lang="en-HK" sz="1110" spc="-1" strike="noStrike">
              <a:latin typeface="Arial"/>
            </a:endParaRPr>
          </a:p>
        </p:txBody>
      </p:sp>
      <p:sp>
        <p:nvSpPr>
          <p:cNvPr id="512" name="Text 17"/>
          <p:cNvSpPr/>
          <p:nvPr/>
        </p:nvSpPr>
        <p:spPr>
          <a:xfrm>
            <a:off x="5505840" y="3209040"/>
            <a:ext cx="2193480" cy="174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Nutrient release to soil for reuse</a:t>
            </a:r>
            <a:endParaRPr b="0" lang="en-HK" sz="970" spc="-1" strike="noStrike">
              <a:latin typeface="Arial"/>
            </a:endParaRPr>
          </a:p>
        </p:txBody>
      </p:sp>
      <p:sp>
        <p:nvSpPr>
          <p:cNvPr id="513" name="Shape 18"/>
          <p:cNvSpPr/>
          <p:nvPr/>
        </p:nvSpPr>
        <p:spPr>
          <a:xfrm>
            <a:off x="352800" y="3808440"/>
            <a:ext cx="3727440" cy="304884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14" name="Text 19"/>
          <p:cNvSpPr/>
          <p:nvPr/>
        </p:nvSpPr>
        <p:spPr>
          <a:xfrm>
            <a:off x="493560" y="3949560"/>
            <a:ext cx="3524760" cy="245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Species-Specific Strategies</a:t>
            </a:r>
            <a:endParaRPr b="0" lang="en-HK" sz="1250" spc="-1" strike="noStrike">
              <a:latin typeface="Arial"/>
            </a:endParaRPr>
          </a:p>
        </p:txBody>
      </p:sp>
      <p:sp>
        <p:nvSpPr>
          <p:cNvPr id="515" name="Shape 20"/>
          <p:cNvSpPr/>
          <p:nvPr/>
        </p:nvSpPr>
        <p:spPr>
          <a:xfrm>
            <a:off x="493560" y="4302000"/>
            <a:ext cx="3445560" cy="45684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000"/>
            </a:srgbClr>
          </a:solidFill>
          <a:ln w="0">
            <a:noFill/>
          </a:ln>
        </p:spPr>
        <p:style>
          <a:lnRef idx="0"/>
          <a:fillRef idx="0"/>
          <a:effectRef idx="0"/>
          <a:fontRef idx="minor"/>
        </p:style>
      </p:sp>
      <p:sp>
        <p:nvSpPr>
          <p:cNvPr id="516" name="Text 21"/>
          <p:cNvSpPr/>
          <p:nvPr/>
        </p:nvSpPr>
        <p:spPr>
          <a:xfrm>
            <a:off x="564120" y="4372560"/>
            <a:ext cx="336600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Nitrogen Fixers</a:t>
            </a:r>
            <a:endParaRPr b="0" lang="en-HK" sz="970" spc="-1" strike="noStrike">
              <a:latin typeface="Arial"/>
            </a:endParaRPr>
          </a:p>
        </p:txBody>
      </p:sp>
      <p:sp>
        <p:nvSpPr>
          <p:cNvPr id="517" name="Text 22"/>
          <p:cNvSpPr/>
          <p:nvPr/>
        </p:nvSpPr>
        <p:spPr>
          <a:xfrm>
            <a:off x="564120" y="4548960"/>
            <a:ext cx="3357360" cy="139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Legumes enhance soil N availability for neighbors</a:t>
            </a:r>
            <a:endParaRPr b="0" lang="en-HK" sz="839" spc="-1" strike="noStrike">
              <a:latin typeface="Arial"/>
            </a:endParaRPr>
          </a:p>
        </p:txBody>
      </p:sp>
      <p:sp>
        <p:nvSpPr>
          <p:cNvPr id="518" name="Shape 23"/>
          <p:cNvSpPr/>
          <p:nvPr/>
        </p:nvSpPr>
        <p:spPr>
          <a:xfrm>
            <a:off x="493560" y="4830840"/>
            <a:ext cx="3445560" cy="45684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000"/>
            </a:srgbClr>
          </a:solidFill>
          <a:ln w="0">
            <a:noFill/>
          </a:ln>
        </p:spPr>
        <p:style>
          <a:lnRef idx="0"/>
          <a:fillRef idx="0"/>
          <a:effectRef idx="0"/>
          <a:fontRef idx="minor"/>
        </p:style>
      </p:sp>
      <p:sp>
        <p:nvSpPr>
          <p:cNvPr id="519" name="Text 24"/>
          <p:cNvSpPr/>
          <p:nvPr/>
        </p:nvSpPr>
        <p:spPr>
          <a:xfrm>
            <a:off x="564120" y="4901400"/>
            <a:ext cx="336600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Phosphorus Specialists</a:t>
            </a:r>
            <a:endParaRPr b="0" lang="en-HK" sz="970" spc="-1" strike="noStrike">
              <a:latin typeface="Arial"/>
            </a:endParaRPr>
          </a:p>
        </p:txBody>
      </p:sp>
      <p:sp>
        <p:nvSpPr>
          <p:cNvPr id="520" name="Text 25"/>
          <p:cNvSpPr/>
          <p:nvPr/>
        </p:nvSpPr>
        <p:spPr>
          <a:xfrm>
            <a:off x="564120" y="5077800"/>
            <a:ext cx="3357360" cy="139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Mycorrhizal associations improve P uptake</a:t>
            </a:r>
            <a:endParaRPr b="0" lang="en-HK" sz="839" spc="-1" strike="noStrike">
              <a:latin typeface="Arial"/>
            </a:endParaRPr>
          </a:p>
        </p:txBody>
      </p:sp>
      <p:sp>
        <p:nvSpPr>
          <p:cNvPr id="521" name="Shape 26"/>
          <p:cNvSpPr/>
          <p:nvPr/>
        </p:nvSpPr>
        <p:spPr>
          <a:xfrm>
            <a:off x="493560" y="5360040"/>
            <a:ext cx="3445560" cy="45684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000"/>
            </a:srgbClr>
          </a:solidFill>
          <a:ln w="0">
            <a:noFill/>
          </a:ln>
        </p:spPr>
        <p:style>
          <a:lnRef idx="0"/>
          <a:fillRef idx="0"/>
          <a:effectRef idx="0"/>
          <a:fontRef idx="minor"/>
        </p:style>
      </p:sp>
      <p:sp>
        <p:nvSpPr>
          <p:cNvPr id="522" name="Text 27"/>
          <p:cNvSpPr/>
          <p:nvPr/>
        </p:nvSpPr>
        <p:spPr>
          <a:xfrm>
            <a:off x="564120" y="5430600"/>
            <a:ext cx="336600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Conservative Species</a:t>
            </a:r>
            <a:endParaRPr b="0" lang="en-HK" sz="970" spc="-1" strike="noStrike">
              <a:latin typeface="Arial"/>
            </a:endParaRPr>
          </a:p>
        </p:txBody>
      </p:sp>
      <p:sp>
        <p:nvSpPr>
          <p:cNvPr id="523" name="Text 28"/>
          <p:cNvSpPr/>
          <p:nvPr/>
        </p:nvSpPr>
        <p:spPr>
          <a:xfrm>
            <a:off x="564120" y="5606640"/>
            <a:ext cx="3357360" cy="139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Slow growth, nutrient retention, high lignin litter</a:t>
            </a:r>
            <a:endParaRPr b="0" lang="en-HK" sz="839" spc="-1" strike="noStrike">
              <a:latin typeface="Arial"/>
            </a:endParaRPr>
          </a:p>
        </p:txBody>
      </p:sp>
      <p:sp>
        <p:nvSpPr>
          <p:cNvPr id="524" name="Shape 29"/>
          <p:cNvSpPr/>
          <p:nvPr/>
        </p:nvSpPr>
        <p:spPr>
          <a:xfrm>
            <a:off x="4222800" y="3808440"/>
            <a:ext cx="3727440" cy="304884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25" name="Text 30"/>
          <p:cNvSpPr/>
          <p:nvPr/>
        </p:nvSpPr>
        <p:spPr>
          <a:xfrm>
            <a:off x="4363920" y="3949560"/>
            <a:ext cx="3524760" cy="245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Biome Variation</a:t>
            </a:r>
            <a:endParaRPr b="0" lang="en-HK" sz="1250" spc="-1" strike="noStrike">
              <a:latin typeface="Arial"/>
            </a:endParaRPr>
          </a:p>
        </p:txBody>
      </p:sp>
      <p:sp>
        <p:nvSpPr>
          <p:cNvPr id="526" name="Shape 31"/>
          <p:cNvSpPr/>
          <p:nvPr/>
        </p:nvSpPr>
        <p:spPr>
          <a:xfrm>
            <a:off x="4363920" y="4302000"/>
            <a:ext cx="3445560" cy="31608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27" name="Text 32"/>
          <p:cNvSpPr/>
          <p:nvPr/>
        </p:nvSpPr>
        <p:spPr>
          <a:xfrm>
            <a:off x="4434480" y="4372560"/>
            <a:ext cx="49212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Tropical</a:t>
            </a:r>
            <a:endParaRPr b="0" lang="en-HK" sz="970" spc="-1" strike="noStrike">
              <a:latin typeface="Arial"/>
            </a:endParaRPr>
          </a:p>
        </p:txBody>
      </p:sp>
      <p:sp>
        <p:nvSpPr>
          <p:cNvPr id="528" name="Text 33"/>
          <p:cNvSpPr/>
          <p:nvPr/>
        </p:nvSpPr>
        <p:spPr>
          <a:xfrm>
            <a:off x="6060240" y="4372560"/>
            <a:ext cx="174420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Rapid cycling, low soil nutrients</a:t>
            </a:r>
            <a:endParaRPr b="0" lang="en-HK" sz="970" spc="-1" strike="noStrike">
              <a:latin typeface="Arial"/>
            </a:endParaRPr>
          </a:p>
        </p:txBody>
      </p:sp>
      <p:sp>
        <p:nvSpPr>
          <p:cNvPr id="529" name="Shape 34"/>
          <p:cNvSpPr/>
          <p:nvPr/>
        </p:nvSpPr>
        <p:spPr>
          <a:xfrm>
            <a:off x="4363920" y="4725000"/>
            <a:ext cx="3445560" cy="31608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0" name="Text 35"/>
          <p:cNvSpPr/>
          <p:nvPr/>
        </p:nvSpPr>
        <p:spPr>
          <a:xfrm>
            <a:off x="4434480" y="4795560"/>
            <a:ext cx="64224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Temperate</a:t>
            </a:r>
            <a:endParaRPr b="0" lang="en-HK" sz="970" spc="-1" strike="noStrike">
              <a:latin typeface="Arial"/>
            </a:endParaRPr>
          </a:p>
        </p:txBody>
      </p:sp>
      <p:sp>
        <p:nvSpPr>
          <p:cNvPr id="531" name="Text 36"/>
          <p:cNvSpPr/>
          <p:nvPr/>
        </p:nvSpPr>
        <p:spPr>
          <a:xfrm>
            <a:off x="5828400" y="4795560"/>
            <a:ext cx="197316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Moderate cycling, seasonal patterns</a:t>
            </a:r>
            <a:endParaRPr b="0" lang="en-HK" sz="970" spc="-1" strike="noStrike">
              <a:latin typeface="Arial"/>
            </a:endParaRPr>
          </a:p>
        </p:txBody>
      </p:sp>
      <p:sp>
        <p:nvSpPr>
          <p:cNvPr id="532" name="Shape 37"/>
          <p:cNvSpPr/>
          <p:nvPr/>
        </p:nvSpPr>
        <p:spPr>
          <a:xfrm>
            <a:off x="4363920" y="5148360"/>
            <a:ext cx="3445560" cy="31608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3" name="Text 38"/>
          <p:cNvSpPr/>
          <p:nvPr/>
        </p:nvSpPr>
        <p:spPr>
          <a:xfrm>
            <a:off x="4434480" y="5218920"/>
            <a:ext cx="39528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Boreal</a:t>
            </a:r>
            <a:endParaRPr b="0" lang="en-HK" sz="970" spc="-1" strike="noStrike">
              <a:latin typeface="Arial"/>
            </a:endParaRPr>
          </a:p>
        </p:txBody>
      </p:sp>
      <p:sp>
        <p:nvSpPr>
          <p:cNvPr id="534" name="Text 39"/>
          <p:cNvSpPr/>
          <p:nvPr/>
        </p:nvSpPr>
        <p:spPr>
          <a:xfrm>
            <a:off x="5974920" y="5218920"/>
            <a:ext cx="1823400" cy="17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Slow cycling, high organic matter</a:t>
            </a:r>
            <a:endParaRPr b="0" lang="en-HK" sz="970" spc="-1" strike="noStrike">
              <a:latin typeface="Arial"/>
            </a:endParaRPr>
          </a:p>
        </p:txBody>
      </p:sp>
      <p:sp>
        <p:nvSpPr>
          <p:cNvPr id="535" name="Text 40"/>
          <p:cNvSpPr/>
          <p:nvPr/>
        </p:nvSpPr>
        <p:spPr>
          <a:xfrm>
            <a:off x="4363920" y="5571360"/>
            <a:ext cx="3498480" cy="139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Climate is the primary driver of nutrient cycling rates</a:t>
            </a:r>
            <a:endParaRPr b="0" lang="en-HK" sz="839" spc="-1" strike="noStrike">
              <a:latin typeface="Arial"/>
            </a:endParaRPr>
          </a:p>
        </p:txBody>
      </p:sp>
      <p:sp>
        <p:nvSpPr>
          <p:cNvPr id="536" name="Shape 41"/>
          <p:cNvSpPr/>
          <p:nvPr/>
        </p:nvSpPr>
        <p:spPr>
          <a:xfrm>
            <a:off x="8128800" y="1445760"/>
            <a:ext cx="3709800" cy="1955520"/>
          </a:xfrm>
          <a:custGeom>
            <a:avLst/>
            <a:gdLst/>
            <a:ah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w="0">
            <a:noFill/>
          </a:ln>
        </p:spPr>
        <p:style>
          <a:lnRef idx="0"/>
          <a:fillRef idx="0"/>
          <a:effectRef idx="0"/>
          <a:fontRef idx="minor"/>
        </p:style>
      </p:sp>
      <p:sp>
        <p:nvSpPr>
          <p:cNvPr id="537" name="Text 42"/>
          <p:cNvSpPr/>
          <p:nvPr/>
        </p:nvSpPr>
        <p:spPr>
          <a:xfrm>
            <a:off x="8304840" y="1622160"/>
            <a:ext cx="3436560" cy="245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Litter Quality Effects</a:t>
            </a:r>
            <a:endParaRPr b="0" lang="en-HK" sz="1250" spc="-1" strike="noStrike">
              <a:latin typeface="Arial"/>
            </a:endParaRPr>
          </a:p>
        </p:txBody>
      </p:sp>
      <p:sp>
        <p:nvSpPr>
          <p:cNvPr id="538" name="Text 43"/>
          <p:cNvSpPr/>
          <p:nvPr/>
        </p:nvSpPr>
        <p:spPr>
          <a:xfrm>
            <a:off x="8304840" y="1974600"/>
            <a:ext cx="3427920" cy="227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Litter chemistry determines decomposition rates:</a:t>
            </a:r>
            <a:endParaRPr b="0" lang="en-HK" sz="1110" spc="-1" strike="noStrike">
              <a:latin typeface="Arial"/>
            </a:endParaRPr>
          </a:p>
        </p:txBody>
      </p:sp>
      <p:sp>
        <p:nvSpPr>
          <p:cNvPr id="539" name="Shape 44"/>
          <p:cNvSpPr/>
          <p:nvPr/>
        </p:nvSpPr>
        <p:spPr>
          <a:xfrm>
            <a:off x="8318160" y="2345040"/>
            <a:ext cx="122040" cy="139680"/>
          </a:xfrm>
          <a:custGeom>
            <a:avLst/>
            <a:gdLst/>
            <a:ah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w="0">
            <a:noFill/>
          </a:ln>
        </p:spPr>
        <p:style>
          <a:lnRef idx="0"/>
          <a:fillRef idx="0"/>
          <a:effectRef idx="0"/>
          <a:fontRef idx="minor"/>
        </p:style>
      </p:sp>
      <p:sp>
        <p:nvSpPr>
          <p:cNvPr id="540" name="Text 45"/>
          <p:cNvSpPr/>
          <p:nvPr/>
        </p:nvSpPr>
        <p:spPr>
          <a:xfrm>
            <a:off x="8525520" y="2309760"/>
            <a:ext cx="3207600" cy="42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High-quality litter:</a:t>
            </a:r>
            <a:r>
              <a:rPr b="0" lang="en-US" sz="1110" spc="-1" strike="noStrike">
                <a:solidFill>
                  <a:srgbClr val="ffffff"/>
                </a:solidFill>
                <a:latin typeface="Quattrocento Sans"/>
                <a:ea typeface="Quattrocento Sans"/>
              </a:rPr>
              <a:t> Fast decomposition, rapid nutrient release</a:t>
            </a:r>
            <a:endParaRPr b="0" lang="en-HK" sz="1110" spc="-1" strike="noStrike">
              <a:latin typeface="Arial"/>
            </a:endParaRPr>
          </a:p>
        </p:txBody>
      </p:sp>
      <p:sp>
        <p:nvSpPr>
          <p:cNvPr id="541" name="Shape 46"/>
          <p:cNvSpPr/>
          <p:nvPr/>
        </p:nvSpPr>
        <p:spPr>
          <a:xfrm>
            <a:off x="8322480" y="2838600"/>
            <a:ext cx="104400" cy="139680"/>
          </a:xfrm>
          <a:custGeom>
            <a:avLst/>
            <a:gdLst/>
            <a:ah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w="0">
            <a:noFill/>
          </a:ln>
        </p:spPr>
        <p:style>
          <a:lnRef idx="0"/>
          <a:fillRef idx="0"/>
          <a:effectRef idx="0"/>
          <a:fontRef idx="minor"/>
        </p:style>
      </p:sp>
      <p:sp>
        <p:nvSpPr>
          <p:cNvPr id="542" name="Text 47"/>
          <p:cNvSpPr/>
          <p:nvPr/>
        </p:nvSpPr>
        <p:spPr>
          <a:xfrm>
            <a:off x="8519760" y="2803320"/>
            <a:ext cx="3216240" cy="42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Low-quality litter:</a:t>
            </a:r>
            <a:r>
              <a:rPr b="0" lang="en-US" sz="1110" spc="-1" strike="noStrike">
                <a:solidFill>
                  <a:srgbClr val="ffffff"/>
                </a:solidFill>
                <a:latin typeface="Quattrocento Sans"/>
                <a:ea typeface="Quattrocento Sans"/>
              </a:rPr>
              <a:t> Slow decomposition, nutrient immobilization</a:t>
            </a:r>
            <a:endParaRPr b="0" lang="en-HK" sz="1110" spc="-1" strike="noStrike">
              <a:latin typeface="Arial"/>
            </a:endParaRPr>
          </a:p>
        </p:txBody>
      </p:sp>
      <p:sp>
        <p:nvSpPr>
          <p:cNvPr id="543" name="Shape 48"/>
          <p:cNvSpPr/>
          <p:nvPr/>
        </p:nvSpPr>
        <p:spPr>
          <a:xfrm>
            <a:off x="8128800" y="3543840"/>
            <a:ext cx="3709800" cy="2325960"/>
          </a:xfrm>
          <a:custGeom>
            <a:avLst/>
            <a:gdLst/>
            <a:ah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44" name="Text 49"/>
          <p:cNvSpPr/>
          <p:nvPr/>
        </p:nvSpPr>
        <p:spPr>
          <a:xfrm>
            <a:off x="8304840" y="3720240"/>
            <a:ext cx="3436560" cy="245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Microbial Diversity</a:t>
            </a:r>
            <a:endParaRPr b="0" lang="en-HK" sz="1250" spc="-1" strike="noStrike">
              <a:latin typeface="Arial"/>
            </a:endParaRPr>
          </a:p>
        </p:txBody>
      </p:sp>
      <p:sp>
        <p:nvSpPr>
          <p:cNvPr id="545" name="Text 50"/>
          <p:cNvSpPr/>
          <p:nvPr/>
        </p:nvSpPr>
        <p:spPr>
          <a:xfrm>
            <a:off x="8304840" y="4072680"/>
            <a:ext cx="3427920" cy="456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Diverse forests support more diverse soil microbial communities, which:</a:t>
            </a:r>
            <a:endParaRPr b="0" lang="en-HK" sz="1110" spc="-1" strike="noStrike">
              <a:latin typeface="Arial"/>
            </a:endParaRPr>
          </a:p>
        </p:txBody>
      </p:sp>
      <p:sp>
        <p:nvSpPr>
          <p:cNvPr id="546" name="Shape 51"/>
          <p:cNvSpPr/>
          <p:nvPr/>
        </p:nvSpPr>
        <p:spPr>
          <a:xfrm>
            <a:off x="8331480" y="4672440"/>
            <a:ext cx="122040" cy="13968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7" name="Text 52"/>
          <p:cNvSpPr/>
          <p:nvPr/>
        </p:nvSpPr>
        <p:spPr>
          <a:xfrm>
            <a:off x="8551800" y="4637160"/>
            <a:ext cx="1858680" cy="210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Control nitrogen cycling rates</a:t>
            </a:r>
            <a:endParaRPr b="0" lang="en-HK" sz="1110" spc="-1" strike="noStrike">
              <a:latin typeface="Arial"/>
            </a:endParaRPr>
          </a:p>
        </p:txBody>
      </p:sp>
      <p:sp>
        <p:nvSpPr>
          <p:cNvPr id="548" name="Shape 53"/>
          <p:cNvSpPr/>
          <p:nvPr/>
        </p:nvSpPr>
        <p:spPr>
          <a:xfrm>
            <a:off x="8331480" y="4954320"/>
            <a:ext cx="122040" cy="13968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9" name="Text 54"/>
          <p:cNvSpPr/>
          <p:nvPr/>
        </p:nvSpPr>
        <p:spPr>
          <a:xfrm>
            <a:off x="8551800" y="4919040"/>
            <a:ext cx="1841040" cy="210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Enhance litter decomposition</a:t>
            </a:r>
            <a:endParaRPr b="0" lang="en-HK" sz="1110" spc="-1" strike="noStrike">
              <a:latin typeface="Arial"/>
            </a:endParaRPr>
          </a:p>
        </p:txBody>
      </p:sp>
      <p:sp>
        <p:nvSpPr>
          <p:cNvPr id="550" name="Shape 55"/>
          <p:cNvSpPr/>
          <p:nvPr/>
        </p:nvSpPr>
        <p:spPr>
          <a:xfrm>
            <a:off x="8331480" y="5236560"/>
            <a:ext cx="122040" cy="13968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1" name="Text 56"/>
          <p:cNvSpPr/>
          <p:nvPr/>
        </p:nvSpPr>
        <p:spPr>
          <a:xfrm>
            <a:off x="8551800" y="5201280"/>
            <a:ext cx="1285560" cy="210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Increase soil fertility</a:t>
            </a:r>
            <a:endParaRPr b="0" lang="en-HK" sz="1110" spc="-1" strike="noStrike">
              <a:latin typeface="Arial"/>
            </a:endParaRPr>
          </a:p>
        </p:txBody>
      </p:sp>
      <p:sp>
        <p:nvSpPr>
          <p:cNvPr id="552" name="Shape 57"/>
          <p:cNvSpPr/>
          <p:nvPr/>
        </p:nvSpPr>
        <p:spPr>
          <a:xfrm>
            <a:off x="8331480" y="5518440"/>
            <a:ext cx="122040" cy="13968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3" name="Text 58"/>
          <p:cNvSpPr/>
          <p:nvPr/>
        </p:nvSpPr>
        <p:spPr>
          <a:xfrm>
            <a:off x="8551800" y="5483160"/>
            <a:ext cx="1946880" cy="210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Create positive feedback loops</a:t>
            </a:r>
            <a:endParaRPr b="0" lang="en-HK" sz="1110" spc="-1" strike="noStrike">
              <a:latin typeface="Arial"/>
            </a:endParaRPr>
          </a:p>
        </p:txBody>
      </p:sp>
      <p:sp>
        <p:nvSpPr>
          <p:cNvPr id="554" name="Shape 59"/>
          <p:cNvSpPr/>
          <p:nvPr/>
        </p:nvSpPr>
        <p:spPr>
          <a:xfrm>
            <a:off x="8128800" y="6012360"/>
            <a:ext cx="3709800" cy="844920"/>
          </a:xfrm>
          <a:custGeom>
            <a:avLst/>
            <a:gdLst/>
            <a:ah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w="0">
            <a:noFill/>
          </a:ln>
        </p:spPr>
        <p:style>
          <a:lnRef idx="0"/>
          <a:fillRef idx="0"/>
          <a:effectRef idx="0"/>
          <a:fontRef idx="minor"/>
        </p:style>
      </p:sp>
      <p:sp>
        <p:nvSpPr>
          <p:cNvPr id="555" name="Text 60"/>
          <p:cNvSpPr/>
          <p:nvPr/>
        </p:nvSpPr>
        <p:spPr>
          <a:xfrm>
            <a:off x="8203680" y="6153480"/>
            <a:ext cx="3560040" cy="3160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80" spc="-1" strike="noStrike">
                <a:solidFill>
                  <a:srgbClr val="ffffff"/>
                </a:solidFill>
                <a:latin typeface="Sorts Mill Goudy"/>
                <a:ea typeface="Sorts Mill Goudy"/>
              </a:rPr>
              <a:t>Key Drivers</a:t>
            </a:r>
            <a:endParaRPr b="0" lang="en-HK" sz="2080" spc="-1" strike="noStrike">
              <a:latin typeface="Arial"/>
            </a:endParaRPr>
          </a:p>
        </p:txBody>
      </p:sp>
      <p:sp>
        <p:nvSpPr>
          <p:cNvPr id="556" name="Text 61"/>
          <p:cNvSpPr/>
          <p:nvPr/>
        </p:nvSpPr>
        <p:spPr>
          <a:xfrm>
            <a:off x="8234280" y="6505920"/>
            <a:ext cx="3498480" cy="210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Climate &gt; Species composition &gt; Soil properties</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57" name="Text 0"/>
          <p:cNvSpPr/>
          <p:nvPr/>
        </p:nvSpPr>
        <p:spPr>
          <a:xfrm>
            <a:off x="320760" y="320760"/>
            <a:ext cx="1160496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77" strike="noStrike">
                <a:solidFill>
                  <a:srgbClr val="5f6f6b"/>
                </a:solidFill>
                <a:latin typeface="Quattrocento Sans"/>
                <a:ea typeface="Quattrocento Sans"/>
              </a:rPr>
              <a:t>06 • Animal-Mediated Processes</a:t>
            </a:r>
            <a:endParaRPr b="0" lang="en-HK" sz="880" spc="-1" strike="noStrike">
              <a:latin typeface="Arial"/>
            </a:endParaRPr>
          </a:p>
        </p:txBody>
      </p:sp>
      <p:sp>
        <p:nvSpPr>
          <p:cNvPr id="558" name="Text 1"/>
          <p:cNvSpPr/>
          <p:nvPr/>
        </p:nvSpPr>
        <p:spPr>
          <a:xfrm>
            <a:off x="320760" y="545400"/>
            <a:ext cx="11693160" cy="3193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80" spc="-1" strike="noStrike">
                <a:solidFill>
                  <a:srgbClr val="2f3e3b"/>
                </a:solidFill>
                <a:latin typeface="Sorts Mill Goudy"/>
                <a:ea typeface="Sorts Mill Goudy"/>
              </a:rPr>
              <a:t>Animal-Mediated Seed Dispersal</a:t>
            </a:r>
            <a:endParaRPr b="0" lang="en-HK" sz="2280" spc="-1" strike="noStrike">
              <a:latin typeface="Arial"/>
            </a:endParaRPr>
          </a:p>
        </p:txBody>
      </p:sp>
      <p:sp>
        <p:nvSpPr>
          <p:cNvPr id="559" name="Text 2"/>
          <p:cNvSpPr/>
          <p:nvPr/>
        </p:nvSpPr>
        <p:spPr>
          <a:xfrm>
            <a:off x="320760" y="930600"/>
            <a:ext cx="11621160" cy="223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Critical role of animals in forest regeneration and diversity maintenance</a:t>
            </a:r>
            <a:endParaRPr b="0" lang="en-HK" sz="1130" spc="-1" strike="noStrike">
              <a:latin typeface="Arial"/>
            </a:endParaRPr>
          </a:p>
        </p:txBody>
      </p:sp>
      <p:sp>
        <p:nvSpPr>
          <p:cNvPr id="560" name="Shape 3"/>
          <p:cNvSpPr/>
          <p:nvPr/>
        </p:nvSpPr>
        <p:spPr>
          <a:xfrm>
            <a:off x="320760" y="1315440"/>
            <a:ext cx="5677560" cy="2292480"/>
          </a:xfrm>
          <a:custGeom>
            <a:avLst/>
            <a:gdLst/>
            <a:ah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1" name="Shape 4"/>
          <p:cNvSpPr/>
          <p:nvPr/>
        </p:nvSpPr>
        <p:spPr>
          <a:xfrm>
            <a:off x="501480" y="1508040"/>
            <a:ext cx="159120" cy="159120"/>
          </a:xfrm>
          <a:custGeom>
            <a:avLst/>
            <a:gdLst/>
            <a:ah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w="0">
            <a:noFill/>
          </a:ln>
        </p:spPr>
        <p:style>
          <a:lnRef idx="0"/>
          <a:fillRef idx="0"/>
          <a:effectRef idx="0"/>
          <a:fontRef idx="minor"/>
        </p:style>
      </p:sp>
      <p:sp>
        <p:nvSpPr>
          <p:cNvPr id="562" name="Text 5"/>
          <p:cNvSpPr/>
          <p:nvPr/>
        </p:nvSpPr>
        <p:spPr>
          <a:xfrm>
            <a:off x="681840" y="1476000"/>
            <a:ext cx="523620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The 81% Finding</a:t>
            </a:r>
            <a:endParaRPr b="0" lang="en-HK" sz="1260" spc="-1" strike="noStrike">
              <a:latin typeface="Arial"/>
            </a:endParaRPr>
          </a:p>
        </p:txBody>
      </p:sp>
      <p:sp>
        <p:nvSpPr>
          <p:cNvPr id="563" name="Text 6"/>
          <p:cNvSpPr/>
          <p:nvPr/>
        </p:nvSpPr>
        <p:spPr>
          <a:xfrm>
            <a:off x="481320" y="1796760"/>
            <a:ext cx="5420880" cy="624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Recent research reveals that </a:t>
            </a:r>
            <a:r>
              <a:rPr b="0" lang="en-US" sz="1010" spc="-1" strike="noStrike">
                <a:solidFill>
                  <a:srgbClr val="2f3e3b"/>
                </a:solidFill>
                <a:highlight>
                  <a:srgbClr val="8fb7ac"/>
                </a:highlight>
                <a:latin typeface="Quattrocento Sans"/>
                <a:ea typeface="Quattrocento Sans"/>
              </a:rPr>
              <a:t>81% of tropical tree species depend on animals for seed dispersal </a:t>
            </a:r>
            <a:r>
              <a:rPr b="0" lang="en-US" sz="1010" spc="-1" strike="noStrike">
                <a:solidFill>
                  <a:srgbClr val="1f2a28"/>
                </a:solidFill>
                <a:latin typeface="Quattrocento Sans"/>
                <a:ea typeface="Quattrocento Sans"/>
              </a:rPr>
              <a:t>. This mutualistic interaction is fundamental to forest dynamics, with frugivores increasing seed rain diversity and accelerating community turnover during succession.</a:t>
            </a:r>
            <a:endParaRPr b="0" lang="en-HK" sz="1010" spc="-1" strike="noStrike">
              <a:latin typeface="Arial"/>
            </a:endParaRPr>
          </a:p>
        </p:txBody>
      </p:sp>
      <p:sp>
        <p:nvSpPr>
          <p:cNvPr id="564" name="Shape 7"/>
          <p:cNvSpPr/>
          <p:nvPr/>
        </p:nvSpPr>
        <p:spPr>
          <a:xfrm>
            <a:off x="481320" y="2550600"/>
            <a:ext cx="5356800" cy="896760"/>
          </a:xfrm>
          <a:custGeom>
            <a:avLst/>
            <a:gdLst/>
            <a:ah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w="0">
            <a:noFill/>
          </a:ln>
        </p:spPr>
        <p:style>
          <a:lnRef idx="0"/>
          <a:fillRef idx="0"/>
          <a:effectRef idx="0"/>
          <a:fontRef idx="minor"/>
        </p:style>
      </p:sp>
      <p:sp>
        <p:nvSpPr>
          <p:cNvPr id="565" name="Text 8"/>
          <p:cNvSpPr/>
          <p:nvPr/>
        </p:nvSpPr>
        <p:spPr>
          <a:xfrm>
            <a:off x="609480" y="2679120"/>
            <a:ext cx="5164200" cy="415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5f6f6b"/>
                </a:solidFill>
                <a:latin typeface="Quattrocento Sans"/>
                <a:ea typeface="Quattrocento Sans"/>
              </a:rPr>
              <a:t>"Without animal seed dispersal, trees have lower survival rates and a harder time keeping up with environmental changes."</a:t>
            </a:r>
            <a:endParaRPr b="0" lang="en-HK" sz="1010" spc="-1" strike="noStrike">
              <a:latin typeface="Arial"/>
            </a:endParaRPr>
          </a:p>
        </p:txBody>
      </p:sp>
      <p:sp>
        <p:nvSpPr>
          <p:cNvPr id="566" name="Text 9"/>
          <p:cNvSpPr/>
          <p:nvPr/>
        </p:nvSpPr>
        <p:spPr>
          <a:xfrm>
            <a:off x="609480" y="3160440"/>
            <a:ext cx="51559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Fricke et al. (2025)</a:t>
            </a:r>
            <a:endParaRPr b="0" lang="en-HK" sz="880" spc="-1" strike="noStrike">
              <a:latin typeface="Arial"/>
            </a:endParaRPr>
          </a:p>
        </p:txBody>
      </p:sp>
      <p:sp>
        <p:nvSpPr>
          <p:cNvPr id="567" name="Shape 10"/>
          <p:cNvSpPr/>
          <p:nvPr/>
        </p:nvSpPr>
        <p:spPr>
          <a:xfrm>
            <a:off x="320760" y="3737880"/>
            <a:ext cx="5677560" cy="3656160"/>
          </a:xfrm>
          <a:custGeom>
            <a:avLst/>
            <a:gdLst/>
            <a:ah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8" name="Text 11"/>
          <p:cNvSpPr/>
          <p:nvPr/>
        </p:nvSpPr>
        <p:spPr>
          <a:xfrm>
            <a:off x="481320" y="3898080"/>
            <a:ext cx="5436720" cy="223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Disperser Groups</a:t>
            </a:r>
            <a:endParaRPr b="0" lang="en-HK" sz="1260" spc="-1" strike="noStrike">
              <a:latin typeface="Arial"/>
            </a:endParaRPr>
          </a:p>
        </p:txBody>
      </p:sp>
      <p:sp>
        <p:nvSpPr>
          <p:cNvPr id="569" name="Shape 12"/>
          <p:cNvSpPr/>
          <p:nvPr/>
        </p:nvSpPr>
        <p:spPr>
          <a:xfrm>
            <a:off x="481320" y="4219200"/>
            <a:ext cx="5356800" cy="70452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000"/>
            </a:srgbClr>
          </a:solidFill>
          <a:ln w="0">
            <a:noFill/>
          </a:ln>
        </p:spPr>
        <p:style>
          <a:lnRef idx="0"/>
          <a:fillRef idx="0"/>
          <a:effectRef idx="0"/>
          <a:fontRef idx="minor"/>
        </p:style>
      </p:sp>
      <p:sp>
        <p:nvSpPr>
          <p:cNvPr id="570" name="Shape 13"/>
          <p:cNvSpPr/>
          <p:nvPr/>
        </p:nvSpPr>
        <p:spPr>
          <a:xfrm>
            <a:off x="577440" y="4347360"/>
            <a:ext cx="199080" cy="159120"/>
          </a:xfrm>
          <a:custGeom>
            <a:avLst/>
            <a:gdLst/>
            <a:ah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w="0">
            <a:noFill/>
          </a:ln>
        </p:spPr>
        <p:style>
          <a:lnRef idx="0"/>
          <a:fillRef idx="0"/>
          <a:effectRef idx="0"/>
          <a:fontRef idx="minor"/>
        </p:style>
      </p:sp>
      <p:sp>
        <p:nvSpPr>
          <p:cNvPr id="571" name="Text 14"/>
          <p:cNvSpPr/>
          <p:nvPr/>
        </p:nvSpPr>
        <p:spPr>
          <a:xfrm>
            <a:off x="873000" y="4315320"/>
            <a:ext cx="49316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Birds</a:t>
            </a:r>
            <a:endParaRPr b="0" lang="en-HK" sz="1010" spc="-1" strike="noStrike">
              <a:latin typeface="Arial"/>
            </a:endParaRPr>
          </a:p>
        </p:txBody>
      </p:sp>
      <p:sp>
        <p:nvSpPr>
          <p:cNvPr id="572" name="Text 15"/>
          <p:cNvSpPr/>
          <p:nvPr/>
        </p:nvSpPr>
        <p:spPr>
          <a:xfrm>
            <a:off x="873000" y="4507920"/>
            <a:ext cx="4923360" cy="319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Small birds colonize early; large birds increase in older forests. Generalist species play keystone roles.</a:t>
            </a:r>
            <a:endParaRPr b="0" lang="en-HK" sz="880" spc="-1" strike="noStrike">
              <a:latin typeface="Arial"/>
            </a:endParaRPr>
          </a:p>
        </p:txBody>
      </p:sp>
      <p:sp>
        <p:nvSpPr>
          <p:cNvPr id="573" name="Shape 16"/>
          <p:cNvSpPr/>
          <p:nvPr/>
        </p:nvSpPr>
        <p:spPr>
          <a:xfrm>
            <a:off x="481320" y="5021280"/>
            <a:ext cx="5356800" cy="70452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000"/>
            </a:srgbClr>
          </a:solidFill>
          <a:ln w="0">
            <a:noFill/>
          </a:ln>
        </p:spPr>
        <p:style>
          <a:lnRef idx="0"/>
          <a:fillRef idx="0"/>
          <a:effectRef idx="0"/>
          <a:fontRef idx="minor"/>
        </p:style>
      </p:sp>
      <p:sp>
        <p:nvSpPr>
          <p:cNvPr id="574" name="Shape 17"/>
          <p:cNvSpPr/>
          <p:nvPr/>
        </p:nvSpPr>
        <p:spPr>
          <a:xfrm>
            <a:off x="597600" y="5149440"/>
            <a:ext cx="159120" cy="159120"/>
          </a:xfrm>
          <a:custGeom>
            <a:avLst/>
            <a:gdLst/>
            <a:ah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w="0">
            <a:noFill/>
          </a:ln>
        </p:spPr>
        <p:style>
          <a:lnRef idx="0"/>
          <a:fillRef idx="0"/>
          <a:effectRef idx="0"/>
          <a:fontRef idx="minor"/>
        </p:style>
      </p:sp>
      <p:sp>
        <p:nvSpPr>
          <p:cNvPr id="575" name="Text 18"/>
          <p:cNvSpPr/>
          <p:nvPr/>
        </p:nvSpPr>
        <p:spPr>
          <a:xfrm>
            <a:off x="870840" y="5117400"/>
            <a:ext cx="49316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Mammals</a:t>
            </a:r>
            <a:endParaRPr b="0" lang="en-HK" sz="1010" spc="-1" strike="noStrike">
              <a:latin typeface="Arial"/>
            </a:endParaRPr>
          </a:p>
        </p:txBody>
      </p:sp>
      <p:sp>
        <p:nvSpPr>
          <p:cNvPr id="576" name="Text 19"/>
          <p:cNvSpPr/>
          <p:nvPr/>
        </p:nvSpPr>
        <p:spPr>
          <a:xfrm>
            <a:off x="870840" y="5310000"/>
            <a:ext cx="4923360" cy="319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Flightless mammals dominate in well-preserved landscapes. Dispersal of large-seeded species critical.</a:t>
            </a:r>
            <a:endParaRPr b="0" lang="en-HK" sz="880" spc="-1" strike="noStrike">
              <a:latin typeface="Arial"/>
            </a:endParaRPr>
          </a:p>
        </p:txBody>
      </p:sp>
      <p:sp>
        <p:nvSpPr>
          <p:cNvPr id="577" name="Shape 20"/>
          <p:cNvSpPr/>
          <p:nvPr/>
        </p:nvSpPr>
        <p:spPr>
          <a:xfrm>
            <a:off x="481320" y="5823360"/>
            <a:ext cx="5356800" cy="543960"/>
          </a:xfrm>
          <a:custGeom>
            <a:avLst/>
            <a:gdLst/>
            <a:ah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000"/>
            </a:srgbClr>
          </a:solidFill>
          <a:ln w="0">
            <a:noFill/>
          </a:ln>
        </p:spPr>
        <p:style>
          <a:lnRef idx="0"/>
          <a:fillRef idx="0"/>
          <a:effectRef idx="0"/>
          <a:fontRef idx="minor"/>
        </p:style>
      </p:sp>
      <p:sp>
        <p:nvSpPr>
          <p:cNvPr id="578" name="Shape 21"/>
          <p:cNvSpPr/>
          <p:nvPr/>
        </p:nvSpPr>
        <p:spPr>
          <a:xfrm>
            <a:off x="577440" y="5951520"/>
            <a:ext cx="199080" cy="159120"/>
          </a:xfrm>
          <a:custGeom>
            <a:avLst/>
            <a:gdLst/>
            <a:ah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w="0">
            <a:noFill/>
          </a:ln>
        </p:spPr>
        <p:style>
          <a:lnRef idx="0"/>
          <a:fillRef idx="0"/>
          <a:effectRef idx="0"/>
          <a:fontRef idx="minor"/>
        </p:style>
      </p:sp>
      <p:sp>
        <p:nvSpPr>
          <p:cNvPr id="579" name="Text 22"/>
          <p:cNvSpPr/>
          <p:nvPr/>
        </p:nvSpPr>
        <p:spPr>
          <a:xfrm>
            <a:off x="874440" y="5919480"/>
            <a:ext cx="341568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Bats</a:t>
            </a:r>
            <a:endParaRPr b="0" lang="en-HK" sz="1010" spc="-1" strike="noStrike">
              <a:latin typeface="Arial"/>
            </a:endParaRPr>
          </a:p>
        </p:txBody>
      </p:sp>
      <p:sp>
        <p:nvSpPr>
          <p:cNvPr id="580" name="Text 23"/>
          <p:cNvSpPr/>
          <p:nvPr/>
        </p:nvSpPr>
        <p:spPr>
          <a:xfrm>
            <a:off x="874440" y="6112080"/>
            <a:ext cx="340740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Key during early succession. Decline in importance as forests mature.</a:t>
            </a:r>
            <a:endParaRPr b="0" lang="en-HK" sz="880" spc="-1" strike="noStrike">
              <a:latin typeface="Arial"/>
            </a:endParaRPr>
          </a:p>
        </p:txBody>
      </p:sp>
      <p:sp>
        <p:nvSpPr>
          <p:cNvPr id="581" name="Shape 24"/>
          <p:cNvSpPr/>
          <p:nvPr/>
        </p:nvSpPr>
        <p:spPr>
          <a:xfrm>
            <a:off x="6192360" y="1315440"/>
            <a:ext cx="5677560" cy="3191040"/>
          </a:xfrm>
          <a:custGeom>
            <a:avLst/>
            <a:gdLst/>
            <a:ah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82" name="Image 0"/>
          <p:cNvSpPr/>
          <p:nvPr/>
        </p:nvSpPr>
        <p:spPr>
          <a:xfrm>
            <a:off x="6192360" y="1315440"/>
            <a:ext cx="5677560" cy="3191040"/>
          </a:xfrm>
          <a:prstGeom prst="roundRect">
            <a:avLst>
              <a:gd name="adj" fmla="val 3015"/>
            </a:avLst>
          </a:prstGeom>
          <a:blipFill rotWithShape="0">
            <a:blip r:embed="rId1"/>
            <a:srcRect/>
            <a:stretch/>
          </a:blipFill>
          <a:ln w="0">
            <a:noFill/>
          </a:ln>
        </p:spPr>
        <p:style>
          <a:lnRef idx="0"/>
          <a:fillRef idx="0"/>
          <a:effectRef idx="0"/>
          <a:fontRef idx="minor"/>
        </p:style>
      </p:sp>
      <p:sp>
        <p:nvSpPr>
          <p:cNvPr id="583" name="Shape 25"/>
          <p:cNvSpPr/>
          <p:nvPr/>
        </p:nvSpPr>
        <p:spPr>
          <a:xfrm>
            <a:off x="6192360" y="4638240"/>
            <a:ext cx="5677560" cy="1859400"/>
          </a:xfrm>
          <a:custGeom>
            <a:avLst/>
            <a:gdLst/>
            <a:ah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w="0">
            <a:noFill/>
          </a:ln>
        </p:spPr>
        <p:style>
          <a:lnRef idx="0"/>
          <a:fillRef idx="0"/>
          <a:effectRef idx="0"/>
          <a:fontRef idx="minor"/>
        </p:style>
      </p:sp>
      <p:sp>
        <p:nvSpPr>
          <p:cNvPr id="584" name="Text 26"/>
          <p:cNvSpPr/>
          <p:nvPr/>
        </p:nvSpPr>
        <p:spPr>
          <a:xfrm>
            <a:off x="6352560" y="4798440"/>
            <a:ext cx="5428800" cy="223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Rare-Biased Dispersal</a:t>
            </a:r>
            <a:endParaRPr b="0" lang="en-HK" sz="1130" spc="-1" strike="noStrike">
              <a:latin typeface="Arial"/>
            </a:endParaRPr>
          </a:p>
        </p:txBody>
      </p:sp>
      <p:sp>
        <p:nvSpPr>
          <p:cNvPr id="585" name="Text 27"/>
          <p:cNvSpPr/>
          <p:nvPr/>
        </p:nvSpPr>
        <p:spPr>
          <a:xfrm>
            <a:off x="6352560" y="5119560"/>
            <a:ext cx="5420880" cy="415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ffffff"/>
                </a:solidFill>
                <a:latin typeface="Quattrocento Sans"/>
                <a:ea typeface="Quattrocento Sans"/>
              </a:rPr>
              <a:t>Generalist birds increase plant diversity through </a:t>
            </a:r>
            <a:r>
              <a:rPr b="1" lang="en-US" sz="1010" spc="-1" strike="noStrike">
                <a:solidFill>
                  <a:srgbClr val="ffffff"/>
                </a:solidFill>
                <a:latin typeface="Quattrocento Sans"/>
                <a:ea typeface="Quattrocento Sans"/>
              </a:rPr>
              <a:t>antiapostatic foraging</a:t>
            </a:r>
            <a:r>
              <a:rPr b="0" lang="en-US" sz="1010" spc="-1" strike="noStrike">
                <a:solidFill>
                  <a:srgbClr val="ffffff"/>
                </a:solidFill>
                <a:latin typeface="Quattrocento Sans"/>
                <a:ea typeface="Quattrocento Sans"/>
              </a:rPr>
              <a:t>—preferentially consuming fruits of rare species:</a:t>
            </a:r>
            <a:endParaRPr b="0" lang="en-HK" sz="1010" spc="-1" strike="noStrike">
              <a:latin typeface="Arial"/>
            </a:endParaRPr>
          </a:p>
        </p:txBody>
      </p:sp>
      <p:sp>
        <p:nvSpPr>
          <p:cNvPr id="586" name="Shape 28"/>
          <p:cNvSpPr/>
          <p:nvPr/>
        </p:nvSpPr>
        <p:spPr>
          <a:xfrm>
            <a:off x="6384600" y="5664960"/>
            <a:ext cx="94680" cy="12672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7" name="Text 29"/>
          <p:cNvSpPr/>
          <p:nvPr/>
        </p:nvSpPr>
        <p:spPr>
          <a:xfrm>
            <a:off x="6577200" y="5632920"/>
            <a:ext cx="258948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Increases odds for rare species establishment</a:t>
            </a:r>
            <a:endParaRPr b="0" lang="en-HK" sz="1010" spc="-1" strike="noStrike">
              <a:latin typeface="Arial"/>
            </a:endParaRPr>
          </a:p>
        </p:txBody>
      </p:sp>
      <p:sp>
        <p:nvSpPr>
          <p:cNvPr id="588" name="Shape 30"/>
          <p:cNvSpPr/>
          <p:nvPr/>
        </p:nvSpPr>
        <p:spPr>
          <a:xfrm>
            <a:off x="6384600" y="5921640"/>
            <a:ext cx="94680" cy="12672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9" name="Text 31"/>
          <p:cNvSpPr/>
          <p:nvPr/>
        </p:nvSpPr>
        <p:spPr>
          <a:xfrm>
            <a:off x="6577200" y="5889600"/>
            <a:ext cx="293436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Prevents competitive exclusion by common species</a:t>
            </a:r>
            <a:endParaRPr b="0" lang="en-HK" sz="1010" spc="-1" strike="noStrike">
              <a:latin typeface="Arial"/>
            </a:endParaRPr>
          </a:p>
        </p:txBody>
      </p:sp>
      <p:sp>
        <p:nvSpPr>
          <p:cNvPr id="590" name="Shape 32"/>
          <p:cNvSpPr/>
          <p:nvPr/>
        </p:nvSpPr>
        <p:spPr>
          <a:xfrm>
            <a:off x="6384600" y="6178320"/>
            <a:ext cx="94680" cy="12672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91" name="Text 33"/>
          <p:cNvSpPr/>
          <p:nvPr/>
        </p:nvSpPr>
        <p:spPr>
          <a:xfrm>
            <a:off x="6577200" y="6146280"/>
            <a:ext cx="270180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Maintains diversity in regenerating communities</a:t>
            </a:r>
            <a:endParaRPr b="0" lang="en-HK" sz="1010" spc="-1" strike="noStrike">
              <a:latin typeface="Arial"/>
            </a:endParaRPr>
          </a:p>
        </p:txBody>
      </p:sp>
      <p:sp>
        <p:nvSpPr>
          <p:cNvPr id="592" name="Shape 34"/>
          <p:cNvSpPr/>
          <p:nvPr/>
        </p:nvSpPr>
        <p:spPr>
          <a:xfrm>
            <a:off x="6192360" y="6627240"/>
            <a:ext cx="5677560" cy="768600"/>
          </a:xfrm>
          <a:custGeom>
            <a:avLst/>
            <a:gdLst/>
            <a:ah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w="0">
            <a:noFill/>
          </a:ln>
        </p:spPr>
        <p:style>
          <a:lnRef idx="0"/>
          <a:fillRef idx="0"/>
          <a:effectRef idx="0"/>
          <a:fontRef idx="minor"/>
        </p:style>
      </p:sp>
      <p:sp>
        <p:nvSpPr>
          <p:cNvPr id="593" name="Text 35"/>
          <p:cNvSpPr/>
          <p:nvPr/>
        </p:nvSpPr>
        <p:spPr>
          <a:xfrm>
            <a:off x="6260400" y="6755760"/>
            <a:ext cx="554112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00" spc="-1" strike="noStrike">
                <a:solidFill>
                  <a:srgbClr val="ffffff"/>
                </a:solidFill>
                <a:latin typeface="Sorts Mill Goudy"/>
                <a:ea typeface="Sorts Mill Goudy"/>
              </a:rPr>
              <a:t>Carbon Connection</a:t>
            </a:r>
            <a:endParaRPr b="0" lang="en-HK" sz="1900" spc="-1" strike="noStrike">
              <a:latin typeface="Arial"/>
            </a:endParaRPr>
          </a:p>
        </p:txBody>
      </p:sp>
      <p:sp>
        <p:nvSpPr>
          <p:cNvPr id="594" name="Text 36"/>
          <p:cNvSpPr/>
          <p:nvPr/>
        </p:nvSpPr>
        <p:spPr>
          <a:xfrm>
            <a:off x="6288480" y="7076520"/>
            <a:ext cx="5484960" cy="191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Seed dispersal affects forest carbon storage capacity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95" name="Text 0"/>
          <p:cNvSpPr/>
          <p:nvPr/>
        </p:nvSpPr>
        <p:spPr>
          <a:xfrm>
            <a:off x="336240" y="336240"/>
            <a:ext cx="1157724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3" strike="noStrike">
                <a:solidFill>
                  <a:srgbClr val="5f6f6b"/>
                </a:solidFill>
                <a:latin typeface="Quattrocento Sans"/>
                <a:ea typeface="Quattrocento Sans"/>
              </a:rPr>
              <a:t>06 • Animal-Mediated Processes</a:t>
            </a:r>
            <a:endParaRPr b="0" lang="en-HK" sz="920" spc="-1" strike="noStrike">
              <a:latin typeface="Arial"/>
            </a:endParaRPr>
          </a:p>
        </p:txBody>
      </p:sp>
      <p:sp>
        <p:nvSpPr>
          <p:cNvPr id="596" name="Text 1"/>
          <p:cNvSpPr/>
          <p:nvPr/>
        </p:nvSpPr>
        <p:spPr>
          <a:xfrm>
            <a:off x="336240" y="571320"/>
            <a:ext cx="11669760" cy="334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Keystone Species &amp; Ecosystem Engineers</a:t>
            </a:r>
            <a:endParaRPr b="0" lang="en-HK" sz="2380" spc="-1" strike="noStrike">
              <a:latin typeface="Arial"/>
            </a:endParaRPr>
          </a:p>
        </p:txBody>
      </p:sp>
      <p:sp>
        <p:nvSpPr>
          <p:cNvPr id="597" name="Text 2"/>
          <p:cNvSpPr/>
          <p:nvPr/>
        </p:nvSpPr>
        <p:spPr>
          <a:xfrm>
            <a:off x="336240" y="974520"/>
            <a:ext cx="1159416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Species with disproportionate impacts on forest biodiversity</a:t>
            </a:r>
            <a:endParaRPr b="0" lang="en-HK" sz="1190" spc="-1" strike="noStrike">
              <a:latin typeface="Arial"/>
            </a:endParaRPr>
          </a:p>
        </p:txBody>
      </p:sp>
      <p:sp>
        <p:nvSpPr>
          <p:cNvPr id="598" name="Shape 3"/>
          <p:cNvSpPr/>
          <p:nvPr/>
        </p:nvSpPr>
        <p:spPr>
          <a:xfrm>
            <a:off x="336240" y="1378080"/>
            <a:ext cx="7619760" cy="2166480"/>
          </a:xfrm>
          <a:custGeom>
            <a:avLst/>
            <a:gdLst/>
            <a:ah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599" name="Text 4"/>
          <p:cNvSpPr/>
          <p:nvPr/>
        </p:nvSpPr>
        <p:spPr>
          <a:xfrm>
            <a:off x="504000" y="1546200"/>
            <a:ext cx="7367400" cy="234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Defining Keystone Species</a:t>
            </a:r>
            <a:endParaRPr b="0" lang="en-HK" sz="1320" spc="-1" strike="noStrike">
              <a:latin typeface="Arial"/>
            </a:endParaRPr>
          </a:p>
        </p:txBody>
      </p:sp>
      <p:sp>
        <p:nvSpPr>
          <p:cNvPr id="600" name="Text 5"/>
          <p:cNvSpPr/>
          <p:nvPr/>
        </p:nvSpPr>
        <p:spPr>
          <a:xfrm>
            <a:off x="504000" y="1882080"/>
            <a:ext cx="7350840" cy="435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Keystone species</a:t>
            </a:r>
            <a:r>
              <a:rPr b="0" lang="en-US" sz="1060" spc="-1" strike="noStrike">
                <a:solidFill>
                  <a:srgbClr val="1f2a28"/>
                </a:solidFill>
                <a:latin typeface="Quattrocento Sans"/>
                <a:ea typeface="Quattrocento Sans"/>
              </a:rPr>
              <a:t> have a disproportionate impact on ecosystem structure and function relative to their abundance. Their presence or absence can cause </a:t>
            </a:r>
            <a:r>
              <a:rPr b="0" lang="en-US" sz="1060" spc="-1" strike="noStrike">
                <a:solidFill>
                  <a:srgbClr val="2f3e3b"/>
                </a:solidFill>
                <a:highlight>
                  <a:srgbClr val="8fb7ac"/>
                </a:highlight>
                <a:latin typeface="Quattrocento Sans"/>
                <a:ea typeface="Quattrocento Sans"/>
              </a:rPr>
              <a:t>cascading effects on community composition and ecosystem processes </a:t>
            </a:r>
            <a:r>
              <a:rPr b="0" lang="en-US" sz="1060" spc="-1" strike="noStrike">
                <a:solidFill>
                  <a:srgbClr val="1f2a28"/>
                </a:solidFill>
                <a:latin typeface="Quattrocento Sans"/>
                <a:ea typeface="Quattrocento Sans"/>
              </a:rPr>
              <a:t>.</a:t>
            </a:r>
            <a:endParaRPr b="0" lang="en-HK" sz="1060" spc="-1" strike="noStrike">
              <a:latin typeface="Arial"/>
            </a:endParaRPr>
          </a:p>
        </p:txBody>
      </p:sp>
      <p:sp>
        <p:nvSpPr>
          <p:cNvPr id="601" name="Shape 6"/>
          <p:cNvSpPr/>
          <p:nvPr/>
        </p:nvSpPr>
        <p:spPr>
          <a:xfrm>
            <a:off x="504000" y="2453400"/>
            <a:ext cx="3578040" cy="92268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000"/>
            </a:srgbClr>
          </a:solidFill>
          <a:ln w="0">
            <a:noFill/>
          </a:ln>
        </p:spPr>
        <p:style>
          <a:lnRef idx="0"/>
          <a:fillRef idx="0"/>
          <a:effectRef idx="0"/>
          <a:fontRef idx="minor"/>
        </p:style>
      </p:sp>
      <p:sp>
        <p:nvSpPr>
          <p:cNvPr id="602" name="Text 7"/>
          <p:cNvSpPr/>
          <p:nvPr/>
        </p:nvSpPr>
        <p:spPr>
          <a:xfrm>
            <a:off x="638640" y="2588040"/>
            <a:ext cx="33764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Keystone vs. Dominant</a:t>
            </a:r>
            <a:endParaRPr b="0" lang="en-HK" sz="1060" spc="-1" strike="noStrike">
              <a:latin typeface="Arial"/>
            </a:endParaRPr>
          </a:p>
        </p:txBody>
      </p:sp>
      <p:sp>
        <p:nvSpPr>
          <p:cNvPr id="603" name="Text 8"/>
          <p:cNvSpPr/>
          <p:nvPr/>
        </p:nvSpPr>
        <p:spPr>
          <a:xfrm>
            <a:off x="638640" y="2856960"/>
            <a:ext cx="3367800" cy="38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Keystone:</a:t>
            </a:r>
            <a:r>
              <a:rPr b="0" lang="en-US" sz="920" spc="-1" strike="noStrike">
                <a:solidFill>
                  <a:srgbClr val="5f6f6b"/>
                </a:solidFill>
                <a:latin typeface="Quattrocento Sans"/>
                <a:ea typeface="Quattrocento Sans"/>
              </a:rPr>
              <a:t> Low abundance, high impact</a:t>
            </a:r>
            <a:endParaRPr b="0" lang="en-HK" sz="920" spc="-1" strike="noStrike">
              <a:latin typeface="Arial"/>
            </a:endParaRPr>
          </a:p>
          <a:p>
            <a:pPr>
              <a:lnSpc>
                <a:spcPct val="140000"/>
              </a:lnSpc>
              <a:buNone/>
            </a:pPr>
            <a:r>
              <a:rPr b="1" lang="en-US" sz="920" spc="-1" strike="noStrike">
                <a:solidFill>
                  <a:srgbClr val="5f6f6b"/>
                </a:solidFill>
                <a:latin typeface="Quattrocento Sans"/>
                <a:ea typeface="Quattrocento Sans"/>
              </a:rPr>
              <a:t>Dominant:</a:t>
            </a:r>
            <a:r>
              <a:rPr b="0" lang="en-US" sz="920" spc="-1" strike="noStrike">
                <a:solidFill>
                  <a:srgbClr val="5f6f6b"/>
                </a:solidFill>
                <a:latin typeface="Quattrocento Sans"/>
                <a:ea typeface="Quattrocento Sans"/>
              </a:rPr>
              <a:t> High abundance, proportional impact</a:t>
            </a:r>
            <a:endParaRPr b="0" lang="en-HK" sz="920" spc="-1" strike="noStrike">
              <a:latin typeface="Arial"/>
            </a:endParaRPr>
          </a:p>
        </p:txBody>
      </p:sp>
      <p:sp>
        <p:nvSpPr>
          <p:cNvPr id="604" name="Shape 9"/>
          <p:cNvSpPr/>
          <p:nvPr/>
        </p:nvSpPr>
        <p:spPr>
          <a:xfrm>
            <a:off x="4214160" y="2453400"/>
            <a:ext cx="3578040" cy="92268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000"/>
            </a:srgbClr>
          </a:solidFill>
          <a:ln w="0">
            <a:noFill/>
          </a:ln>
        </p:spPr>
        <p:style>
          <a:lnRef idx="0"/>
          <a:fillRef idx="0"/>
          <a:effectRef idx="0"/>
          <a:fontRef idx="minor"/>
        </p:style>
      </p:sp>
      <p:sp>
        <p:nvSpPr>
          <p:cNvPr id="605" name="Text 10"/>
          <p:cNvSpPr/>
          <p:nvPr/>
        </p:nvSpPr>
        <p:spPr>
          <a:xfrm>
            <a:off x="4348800" y="2588040"/>
            <a:ext cx="33764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Ecosystem Engineers</a:t>
            </a:r>
            <a:endParaRPr b="0" lang="en-HK" sz="1060" spc="-1" strike="noStrike">
              <a:latin typeface="Arial"/>
            </a:endParaRPr>
          </a:p>
        </p:txBody>
      </p:sp>
      <p:sp>
        <p:nvSpPr>
          <p:cNvPr id="606" name="Text 11"/>
          <p:cNvSpPr/>
          <p:nvPr/>
        </p:nvSpPr>
        <p:spPr>
          <a:xfrm>
            <a:off x="4348800" y="2856960"/>
            <a:ext cx="3367800" cy="38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5f6f6b"/>
                </a:solidFill>
                <a:latin typeface="Quattrocento Sans"/>
                <a:ea typeface="Quattrocento Sans"/>
              </a:rPr>
              <a:t>Species that physically modify habitats, creating resources for other species</a:t>
            </a:r>
            <a:endParaRPr b="0" lang="en-HK" sz="920" spc="-1" strike="noStrike">
              <a:latin typeface="Arial"/>
            </a:endParaRPr>
          </a:p>
        </p:txBody>
      </p:sp>
      <p:sp>
        <p:nvSpPr>
          <p:cNvPr id="607" name="Shape 12"/>
          <p:cNvSpPr/>
          <p:nvPr/>
        </p:nvSpPr>
        <p:spPr>
          <a:xfrm>
            <a:off x="336240" y="3692880"/>
            <a:ext cx="3746160" cy="296460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08" name="Shape 13"/>
          <p:cNvSpPr/>
          <p:nvPr/>
        </p:nvSpPr>
        <p:spPr>
          <a:xfrm>
            <a:off x="336240" y="3692880"/>
            <a:ext cx="3746160" cy="3204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w="0">
            <a:noFill/>
          </a:ln>
        </p:spPr>
        <p:style>
          <a:lnRef idx="0"/>
          <a:fillRef idx="0"/>
          <a:effectRef idx="0"/>
          <a:fontRef idx="minor"/>
        </p:style>
      </p:sp>
      <p:sp>
        <p:nvSpPr>
          <p:cNvPr id="609" name="Shape 14"/>
          <p:cNvSpPr/>
          <p:nvPr/>
        </p:nvSpPr>
        <p:spPr>
          <a:xfrm>
            <a:off x="502200" y="3877920"/>
            <a:ext cx="145440" cy="166680"/>
          </a:xfrm>
          <a:custGeom>
            <a:avLst/>
            <a:gdLst/>
            <a:ah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w="0">
            <a:noFill/>
          </a:ln>
        </p:spPr>
        <p:style>
          <a:lnRef idx="0"/>
          <a:fillRef idx="0"/>
          <a:effectRef idx="0"/>
          <a:fontRef idx="minor"/>
        </p:style>
      </p:sp>
      <p:sp>
        <p:nvSpPr>
          <p:cNvPr id="610" name="Text 15"/>
          <p:cNvSpPr/>
          <p:nvPr/>
        </p:nvSpPr>
        <p:spPr>
          <a:xfrm>
            <a:off x="781560" y="3844080"/>
            <a:ext cx="114120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Fig Trees (Ficus)</a:t>
            </a:r>
            <a:endParaRPr b="0" lang="en-HK" sz="1190" spc="-1" strike="noStrike">
              <a:latin typeface="Arial"/>
            </a:endParaRPr>
          </a:p>
        </p:txBody>
      </p:sp>
      <p:sp>
        <p:nvSpPr>
          <p:cNvPr id="611" name="Text 16"/>
          <p:cNvSpPr/>
          <p:nvPr/>
        </p:nvSpPr>
        <p:spPr>
          <a:xfrm>
            <a:off x="470520" y="4180320"/>
            <a:ext cx="3544560" cy="435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Keystone resource in tropical forests. Fruit available year-round when other foods are scarce.</a:t>
            </a:r>
            <a:endParaRPr b="0" lang="en-HK" sz="1060" spc="-1" strike="noStrike">
              <a:latin typeface="Arial"/>
            </a:endParaRPr>
          </a:p>
        </p:txBody>
      </p:sp>
      <p:sp>
        <p:nvSpPr>
          <p:cNvPr id="612" name="Text 17"/>
          <p:cNvSpPr/>
          <p:nvPr/>
        </p:nvSpPr>
        <p:spPr>
          <a:xfrm>
            <a:off x="470520" y="4684320"/>
            <a:ext cx="353592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Mutualists:</a:t>
            </a:r>
            <a:r>
              <a:rPr b="0" lang="en-US" sz="920" spc="-1" strike="noStrike">
                <a:solidFill>
                  <a:srgbClr val="5f6f6b"/>
                </a:solidFill>
                <a:latin typeface="Quattrocento Sans"/>
                <a:ea typeface="Quattrocento Sans"/>
              </a:rPr>
              <a:t> Fig wasps (pollinators), fruit bats, primates, birds</a:t>
            </a:r>
            <a:endParaRPr b="0" lang="en-HK" sz="920" spc="-1" strike="noStrike">
              <a:latin typeface="Arial"/>
            </a:endParaRPr>
          </a:p>
        </p:txBody>
      </p:sp>
      <p:sp>
        <p:nvSpPr>
          <p:cNvPr id="613" name="Shape 18"/>
          <p:cNvSpPr/>
          <p:nvPr/>
        </p:nvSpPr>
        <p:spPr>
          <a:xfrm>
            <a:off x="4214160" y="3692880"/>
            <a:ext cx="3746160" cy="296460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14" name="Shape 19"/>
          <p:cNvSpPr/>
          <p:nvPr/>
        </p:nvSpPr>
        <p:spPr>
          <a:xfrm>
            <a:off x="4214160" y="3692880"/>
            <a:ext cx="3746160" cy="3204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w="0">
            <a:noFill/>
          </a:ln>
        </p:spPr>
        <p:style>
          <a:lnRef idx="0"/>
          <a:fillRef idx="0"/>
          <a:effectRef idx="0"/>
          <a:fontRef idx="minor"/>
        </p:style>
      </p:sp>
      <p:sp>
        <p:nvSpPr>
          <p:cNvPr id="615" name="Shape 20"/>
          <p:cNvSpPr/>
          <p:nvPr/>
        </p:nvSpPr>
        <p:spPr>
          <a:xfrm>
            <a:off x="4359240" y="3877920"/>
            <a:ext cx="187560" cy="166680"/>
          </a:xfrm>
          <a:custGeom>
            <a:avLst/>
            <a:gdLst/>
            <a:ah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w="0">
            <a:noFill/>
          </a:ln>
        </p:spPr>
        <p:style>
          <a:lnRef idx="0"/>
          <a:fillRef idx="0"/>
          <a:effectRef idx="0"/>
          <a:fontRef idx="minor"/>
        </p:style>
      </p:sp>
      <p:sp>
        <p:nvSpPr>
          <p:cNvPr id="616" name="Text 21"/>
          <p:cNvSpPr/>
          <p:nvPr/>
        </p:nvSpPr>
        <p:spPr>
          <a:xfrm>
            <a:off x="4659480" y="3844080"/>
            <a:ext cx="98172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Woodpeckers</a:t>
            </a:r>
            <a:endParaRPr b="0" lang="en-HK" sz="1190" spc="-1" strike="noStrike">
              <a:latin typeface="Arial"/>
            </a:endParaRPr>
          </a:p>
        </p:txBody>
      </p:sp>
      <p:sp>
        <p:nvSpPr>
          <p:cNvPr id="617" name="Text 22"/>
          <p:cNvSpPr/>
          <p:nvPr/>
        </p:nvSpPr>
        <p:spPr>
          <a:xfrm>
            <a:off x="4348800" y="4180320"/>
            <a:ext cx="3544560" cy="435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Ecosystem engineers creating cavities used by birds, mammals, insects, and amphibians.</a:t>
            </a:r>
            <a:endParaRPr b="0" lang="en-HK" sz="1060" spc="-1" strike="noStrike">
              <a:latin typeface="Arial"/>
            </a:endParaRPr>
          </a:p>
        </p:txBody>
      </p:sp>
      <p:sp>
        <p:nvSpPr>
          <p:cNvPr id="618" name="Text 23"/>
          <p:cNvSpPr/>
          <p:nvPr/>
        </p:nvSpPr>
        <p:spPr>
          <a:xfrm>
            <a:off x="4348800" y="4684320"/>
            <a:ext cx="3535920" cy="16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Cavity users:</a:t>
            </a:r>
            <a:r>
              <a:rPr b="0" lang="en-US" sz="920" spc="-1" strike="noStrike">
                <a:solidFill>
                  <a:srgbClr val="5f6f6b"/>
                </a:solidFill>
                <a:latin typeface="Quattrocento Sans"/>
                <a:ea typeface="Quattrocento Sans"/>
              </a:rPr>
              <a:t> Owls, squirrels, bats, bees</a:t>
            </a:r>
            <a:endParaRPr b="0" lang="en-HK" sz="920" spc="-1" strike="noStrike">
              <a:latin typeface="Arial"/>
            </a:endParaRPr>
          </a:p>
        </p:txBody>
      </p:sp>
      <p:sp>
        <p:nvSpPr>
          <p:cNvPr id="619" name="Shape 24"/>
          <p:cNvSpPr/>
          <p:nvPr/>
        </p:nvSpPr>
        <p:spPr>
          <a:xfrm>
            <a:off x="8126280" y="1378080"/>
            <a:ext cx="3729240" cy="1611720"/>
          </a:xfrm>
          <a:custGeom>
            <a:avLst/>
            <a:gdLst/>
            <a:ah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20" name="Image 0"/>
          <p:cNvSpPr/>
          <p:nvPr/>
        </p:nvSpPr>
        <p:spPr>
          <a:xfrm>
            <a:off x="8126280" y="1378080"/>
            <a:ext cx="3729240" cy="1611720"/>
          </a:xfrm>
          <a:prstGeom prst="roundRect">
            <a:avLst>
              <a:gd name="adj" fmla="val 6250"/>
            </a:avLst>
          </a:prstGeom>
          <a:blipFill rotWithShape="0">
            <a:blip r:embed="rId1"/>
            <a:srcRect/>
            <a:stretch/>
          </a:blipFill>
          <a:ln w="0">
            <a:noFill/>
          </a:ln>
        </p:spPr>
        <p:style>
          <a:lnRef idx="0"/>
          <a:fillRef idx="0"/>
          <a:effectRef idx="0"/>
          <a:fontRef idx="minor"/>
        </p:style>
      </p:sp>
      <p:sp>
        <p:nvSpPr>
          <p:cNvPr id="621" name="Shape 25"/>
          <p:cNvSpPr/>
          <p:nvPr/>
        </p:nvSpPr>
        <p:spPr>
          <a:xfrm>
            <a:off x="8126280" y="3125880"/>
            <a:ext cx="3729240" cy="2586600"/>
          </a:xfrm>
          <a:custGeom>
            <a:avLst/>
            <a:gdLst/>
            <a:ah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w="0">
            <a:noFill/>
          </a:ln>
        </p:spPr>
        <p:style>
          <a:lnRef idx="0"/>
          <a:fillRef idx="0"/>
          <a:effectRef idx="0"/>
          <a:fontRef idx="minor"/>
        </p:style>
      </p:sp>
      <p:sp>
        <p:nvSpPr>
          <p:cNvPr id="622" name="Text 26"/>
          <p:cNvSpPr/>
          <p:nvPr/>
        </p:nvSpPr>
        <p:spPr>
          <a:xfrm>
            <a:off x="8294040" y="3293640"/>
            <a:ext cx="3468960" cy="234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Additional Examples</a:t>
            </a:r>
            <a:endParaRPr b="0" lang="en-HK" sz="1190" spc="-1" strike="noStrike">
              <a:latin typeface="Arial"/>
            </a:endParaRPr>
          </a:p>
        </p:txBody>
      </p:sp>
      <p:sp>
        <p:nvSpPr>
          <p:cNvPr id="623" name="Shape 27"/>
          <p:cNvSpPr/>
          <p:nvPr/>
        </p:nvSpPr>
        <p:spPr>
          <a:xfrm>
            <a:off x="8285760" y="3663360"/>
            <a:ext cx="149760" cy="13284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4" name="Text 28"/>
          <p:cNvSpPr/>
          <p:nvPr/>
        </p:nvSpPr>
        <p:spPr>
          <a:xfrm>
            <a:off x="8528760" y="3629880"/>
            <a:ext cx="3225240" cy="40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Old-Growth Trees:</a:t>
            </a:r>
            <a:r>
              <a:rPr b="0" lang="en-US" sz="1060" spc="-1" strike="noStrike">
                <a:solidFill>
                  <a:srgbClr val="ffffff"/>
                </a:solidFill>
                <a:latin typeface="Quattrocento Sans"/>
                <a:ea typeface="Quattrocento Sans"/>
              </a:rPr>
              <a:t> Support epiphytes, lichens, saproxylic organisms</a:t>
            </a:r>
            <a:endParaRPr b="0" lang="en-HK" sz="1060" spc="-1" strike="noStrike">
              <a:latin typeface="Arial"/>
            </a:endParaRPr>
          </a:p>
        </p:txBody>
      </p:sp>
      <p:sp>
        <p:nvSpPr>
          <p:cNvPr id="625" name="Shape 29"/>
          <p:cNvSpPr/>
          <p:nvPr/>
        </p:nvSpPr>
        <p:spPr>
          <a:xfrm>
            <a:off x="8290080" y="4167720"/>
            <a:ext cx="149760" cy="13284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6" name="Text 30"/>
          <p:cNvSpPr/>
          <p:nvPr/>
        </p:nvSpPr>
        <p:spPr>
          <a:xfrm>
            <a:off x="8541000" y="4133880"/>
            <a:ext cx="3208320" cy="40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Large Mammals:</a:t>
            </a:r>
            <a:r>
              <a:rPr b="0" lang="en-US" sz="1060" spc="-1" strike="noStrike">
                <a:solidFill>
                  <a:srgbClr val="ffffff"/>
                </a:solidFill>
                <a:latin typeface="Quattrocento Sans"/>
                <a:ea typeface="Quattrocento Sans"/>
              </a:rPr>
              <a:t> Dispersers of large-seeded trees, create trails</a:t>
            </a:r>
            <a:endParaRPr b="0" lang="en-HK" sz="1060" spc="-1" strike="noStrike">
              <a:latin typeface="Arial"/>
            </a:endParaRPr>
          </a:p>
        </p:txBody>
      </p:sp>
      <p:sp>
        <p:nvSpPr>
          <p:cNvPr id="627" name="Shape 31"/>
          <p:cNvSpPr/>
          <p:nvPr/>
        </p:nvSpPr>
        <p:spPr>
          <a:xfrm>
            <a:off x="8285760" y="4671720"/>
            <a:ext cx="149760" cy="13284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8" name="Text 32"/>
          <p:cNvSpPr/>
          <p:nvPr/>
        </p:nvSpPr>
        <p:spPr>
          <a:xfrm>
            <a:off x="8529840" y="4638240"/>
            <a:ext cx="3216600" cy="40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Beavers:</a:t>
            </a:r>
            <a:r>
              <a:rPr b="0" lang="en-US" sz="1060" spc="-1" strike="noStrike">
                <a:solidFill>
                  <a:srgbClr val="ffffff"/>
                </a:solidFill>
                <a:latin typeface="Quattrocento Sans"/>
                <a:ea typeface="Quattrocento Sans"/>
              </a:rPr>
              <a:t> Create wetlands, alter hydrology, increase habitat diversity</a:t>
            </a:r>
            <a:endParaRPr b="0" lang="en-HK" sz="1060" spc="-1" strike="noStrike">
              <a:latin typeface="Arial"/>
            </a:endParaRPr>
          </a:p>
        </p:txBody>
      </p:sp>
      <p:sp>
        <p:nvSpPr>
          <p:cNvPr id="629" name="Shape 33"/>
          <p:cNvSpPr/>
          <p:nvPr/>
        </p:nvSpPr>
        <p:spPr>
          <a:xfrm>
            <a:off x="8298360" y="5176080"/>
            <a:ext cx="149760" cy="13284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30" name="Text 34"/>
          <p:cNvSpPr/>
          <p:nvPr/>
        </p:nvSpPr>
        <p:spPr>
          <a:xfrm>
            <a:off x="8551800" y="5142240"/>
            <a:ext cx="3200040" cy="40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Acacia Trees:</a:t>
            </a:r>
            <a:r>
              <a:rPr b="0" lang="en-US" sz="1060" spc="-1" strike="noStrike">
                <a:solidFill>
                  <a:srgbClr val="ffffff"/>
                </a:solidFill>
                <a:latin typeface="Quattrocento Sans"/>
                <a:ea typeface="Quattrocento Sans"/>
              </a:rPr>
              <a:t> Provide specialized niches for ant mutualists</a:t>
            </a:r>
            <a:endParaRPr b="0" lang="en-HK" sz="1060" spc="-1" strike="noStrike">
              <a:latin typeface="Arial"/>
            </a:endParaRPr>
          </a:p>
        </p:txBody>
      </p:sp>
      <p:sp>
        <p:nvSpPr>
          <p:cNvPr id="631" name="Shape 35"/>
          <p:cNvSpPr/>
          <p:nvPr/>
        </p:nvSpPr>
        <p:spPr>
          <a:xfrm>
            <a:off x="8126280" y="5848200"/>
            <a:ext cx="3729240" cy="80532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632" name="Text 36"/>
          <p:cNvSpPr/>
          <p:nvPr/>
        </p:nvSpPr>
        <p:spPr>
          <a:xfrm>
            <a:off x="8197560" y="5982480"/>
            <a:ext cx="3586320" cy="3009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Cascading Effects</a:t>
            </a:r>
            <a:endParaRPr b="0" lang="en-HK" sz="1979" spc="-1" strike="noStrike">
              <a:latin typeface="Arial"/>
            </a:endParaRPr>
          </a:p>
        </p:txBody>
      </p:sp>
      <p:sp>
        <p:nvSpPr>
          <p:cNvPr id="633" name="Text 37"/>
          <p:cNvSpPr/>
          <p:nvPr/>
        </p:nvSpPr>
        <p:spPr>
          <a:xfrm>
            <a:off x="8227080" y="6318720"/>
            <a:ext cx="352764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Loss of keystone species triggers community-wide changes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34" name="Text 0"/>
          <p:cNvSpPr/>
          <p:nvPr/>
        </p:nvSpPr>
        <p:spPr>
          <a:xfrm>
            <a:off x="323280" y="323280"/>
            <a:ext cx="1160028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77" strike="noStrike">
                <a:solidFill>
                  <a:srgbClr val="2f3e3b"/>
                </a:solidFill>
                <a:latin typeface="Quattrocento Sans"/>
                <a:ea typeface="Quattrocento Sans"/>
              </a:rPr>
              <a:t>07 • Latitudinal Gradients</a:t>
            </a:r>
            <a:endParaRPr b="0" lang="en-HK" sz="889" spc="-1" strike="noStrike">
              <a:latin typeface="Arial"/>
            </a:endParaRPr>
          </a:p>
        </p:txBody>
      </p:sp>
      <p:sp>
        <p:nvSpPr>
          <p:cNvPr id="635" name="Text 1"/>
          <p:cNvSpPr/>
          <p:nvPr/>
        </p:nvSpPr>
        <p:spPr>
          <a:xfrm>
            <a:off x="323280" y="549720"/>
            <a:ext cx="11689200" cy="3218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90" spc="-1" strike="noStrike">
                <a:solidFill>
                  <a:srgbClr val="2f3e3b"/>
                </a:solidFill>
                <a:latin typeface="Sorts Mill Goudy"/>
                <a:ea typeface="Sorts Mill Goudy"/>
              </a:rPr>
              <a:t>Tropical to Boreal: Biome Variation</a:t>
            </a:r>
            <a:endParaRPr b="0" lang="en-HK" sz="2290" spc="-1" strike="noStrike">
              <a:latin typeface="Arial"/>
            </a:endParaRPr>
          </a:p>
        </p:txBody>
      </p:sp>
      <p:sp>
        <p:nvSpPr>
          <p:cNvPr id="636" name="Text 2"/>
          <p:cNvSpPr/>
          <p:nvPr/>
        </p:nvSpPr>
        <p:spPr>
          <a:xfrm>
            <a:off x="323280" y="937800"/>
            <a:ext cx="1161648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50" spc="-1" strike="noStrike">
                <a:solidFill>
                  <a:srgbClr val="5f6f6b"/>
                </a:solidFill>
                <a:latin typeface="Quattrocento Sans"/>
                <a:ea typeface="Quattrocento Sans"/>
              </a:rPr>
              <a:t>Different mechanisms dominate across forest biomes</a:t>
            </a:r>
            <a:endParaRPr b="0" lang="en-HK" sz="1150" spc="-1" strike="noStrike">
              <a:latin typeface="Arial"/>
            </a:endParaRPr>
          </a:p>
        </p:txBody>
      </p:sp>
      <p:sp>
        <p:nvSpPr>
          <p:cNvPr id="637" name="Shape 3"/>
          <p:cNvSpPr/>
          <p:nvPr/>
        </p:nvSpPr>
        <p:spPr>
          <a:xfrm>
            <a:off x="323280" y="1325880"/>
            <a:ext cx="5674320" cy="2521080"/>
          </a:xfrm>
          <a:custGeom>
            <a:avLst/>
            <a:gdLst/>
            <a:ah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38" name="Text 4"/>
          <p:cNvSpPr/>
          <p:nvPr/>
        </p:nvSpPr>
        <p:spPr>
          <a:xfrm>
            <a:off x="484920" y="1487520"/>
            <a:ext cx="5431680" cy="225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2f3e3b"/>
                </a:solidFill>
                <a:latin typeface="Sorts Mill Goudy"/>
                <a:ea typeface="Sorts Mill Goudy"/>
              </a:rPr>
              <a:t>The Latitudinal Diversity Gradient</a:t>
            </a:r>
            <a:endParaRPr b="0" lang="en-HK" sz="1280" spc="-1" strike="noStrike">
              <a:latin typeface="Arial"/>
            </a:endParaRPr>
          </a:p>
        </p:txBody>
      </p:sp>
      <p:sp>
        <p:nvSpPr>
          <p:cNvPr id="639" name="Text 5"/>
          <p:cNvSpPr/>
          <p:nvPr/>
        </p:nvSpPr>
        <p:spPr>
          <a:xfrm>
            <a:off x="484920" y="1811160"/>
            <a:ext cx="5415480" cy="62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1f2a28"/>
                </a:solidFill>
                <a:latin typeface="Quattrocento Sans"/>
                <a:ea typeface="Quattrocento Sans"/>
              </a:rPr>
              <a:t>One of ecology's most consistent patterns: </a:t>
            </a:r>
            <a:r>
              <a:rPr b="0" lang="en-US" sz="1020" spc="-1" strike="noStrike">
                <a:solidFill>
                  <a:srgbClr val="2f3e3b"/>
                </a:solidFill>
                <a:highlight>
                  <a:srgbClr val="8fb7ac"/>
                </a:highlight>
                <a:latin typeface="Quattrocento Sans"/>
                <a:ea typeface="Quattrocento Sans"/>
              </a:rPr>
              <a:t>species diversity declines from tropics to poles </a:t>
            </a:r>
            <a:r>
              <a:rPr b="0" lang="en-US" sz="1020" spc="-1" strike="noStrike">
                <a:solidFill>
                  <a:srgbClr val="1f2a28"/>
                </a:solidFill>
                <a:latin typeface="Quattrocento Sans"/>
                <a:ea typeface="Quattrocento Sans"/>
              </a:rPr>
              <a:t>. Recent research reveals that different mechanisms maintain biodiversity in tropical vs. temperate forests.</a:t>
            </a:r>
            <a:endParaRPr b="0" lang="en-HK" sz="1020" spc="-1" strike="noStrike">
              <a:latin typeface="Arial"/>
            </a:endParaRPr>
          </a:p>
        </p:txBody>
      </p:sp>
      <p:sp>
        <p:nvSpPr>
          <p:cNvPr id="640" name="Shape 6"/>
          <p:cNvSpPr/>
          <p:nvPr/>
        </p:nvSpPr>
        <p:spPr>
          <a:xfrm>
            <a:off x="484920" y="2571120"/>
            <a:ext cx="5350680" cy="1114200"/>
          </a:xfrm>
          <a:custGeom>
            <a:avLst/>
            <a:gdLst/>
            <a:ah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w="0">
            <a:noFill/>
          </a:ln>
        </p:spPr>
        <p:style>
          <a:lnRef idx="0"/>
          <a:fillRef idx="0"/>
          <a:effectRef idx="0"/>
          <a:fontRef idx="minor"/>
        </p:style>
      </p:sp>
      <p:sp>
        <p:nvSpPr>
          <p:cNvPr id="641" name="Text 7"/>
          <p:cNvSpPr/>
          <p:nvPr/>
        </p:nvSpPr>
        <p:spPr>
          <a:xfrm>
            <a:off x="614520" y="2700360"/>
            <a:ext cx="5156640" cy="62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5f6f6b"/>
                </a:solidFill>
                <a:latin typeface="Quattrocento Sans"/>
                <a:ea typeface="Quattrocento Sans"/>
              </a:rPr>
              <a:t>"The combination of animal seed dispersal and mycorrhizal associations underpins the negative aggregation–abundance relationship and supports biodiversity maintenance across forest biomes."</a:t>
            </a:r>
            <a:endParaRPr b="0" lang="en-HK" sz="1020" spc="-1" strike="noStrike">
              <a:latin typeface="Arial"/>
            </a:endParaRPr>
          </a:p>
        </p:txBody>
      </p:sp>
      <p:sp>
        <p:nvSpPr>
          <p:cNvPr id="642" name="Text 8"/>
          <p:cNvSpPr/>
          <p:nvPr/>
        </p:nvSpPr>
        <p:spPr>
          <a:xfrm>
            <a:off x="614520" y="3395520"/>
            <a:ext cx="514872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 </a:t>
            </a:r>
            <a:r>
              <a:rPr b="0" lang="en-US" sz="889" spc="-1" strike="noStrike">
                <a:solidFill>
                  <a:srgbClr val="5f6f6b"/>
                </a:solidFill>
                <a:latin typeface="Quattrocento Sans"/>
                <a:ea typeface="Quattrocento Sans"/>
              </a:rPr>
              <a:t>Wang et al. (2025), Nature</a:t>
            </a:r>
            <a:endParaRPr b="0" lang="en-HK" sz="889" spc="-1" strike="noStrike">
              <a:latin typeface="Arial"/>
            </a:endParaRPr>
          </a:p>
        </p:txBody>
      </p:sp>
      <p:sp>
        <p:nvSpPr>
          <p:cNvPr id="643" name="Shape 9"/>
          <p:cNvSpPr/>
          <p:nvPr/>
        </p:nvSpPr>
        <p:spPr>
          <a:xfrm>
            <a:off x="323280" y="3993840"/>
            <a:ext cx="1825920" cy="345888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000"/>
            </a:srgbClr>
          </a:solidFill>
          <a:ln w="0">
            <a:noFill/>
          </a:ln>
        </p:spPr>
        <p:style>
          <a:lnRef idx="0"/>
          <a:fillRef idx="0"/>
          <a:effectRef idx="0"/>
          <a:fontRef idx="minor"/>
        </p:style>
      </p:sp>
      <p:sp>
        <p:nvSpPr>
          <p:cNvPr id="644" name="Shape 10"/>
          <p:cNvSpPr/>
          <p:nvPr/>
        </p:nvSpPr>
        <p:spPr>
          <a:xfrm>
            <a:off x="323280" y="3993840"/>
            <a:ext cx="1825920" cy="3096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w="0">
            <a:noFill/>
          </a:ln>
        </p:spPr>
        <p:style>
          <a:lnRef idx="0"/>
          <a:fillRef idx="0"/>
          <a:effectRef idx="0"/>
          <a:fontRef idx="minor"/>
        </p:style>
      </p:sp>
      <p:sp>
        <p:nvSpPr>
          <p:cNvPr id="645" name="Text 11"/>
          <p:cNvSpPr/>
          <p:nvPr/>
        </p:nvSpPr>
        <p:spPr>
          <a:xfrm>
            <a:off x="416520" y="4139280"/>
            <a:ext cx="1639800" cy="225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Tropical</a:t>
            </a:r>
            <a:endParaRPr b="0" lang="en-HK" sz="1150" spc="-1" strike="noStrike">
              <a:latin typeface="Arial"/>
            </a:endParaRPr>
          </a:p>
        </p:txBody>
      </p:sp>
      <p:sp>
        <p:nvSpPr>
          <p:cNvPr id="646" name="Text 12"/>
          <p:cNvSpPr/>
          <p:nvPr/>
        </p:nvSpPr>
        <p:spPr>
          <a:xfrm>
            <a:off x="452880" y="4446720"/>
            <a:ext cx="115452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47" name="Text 13"/>
          <p:cNvSpPr/>
          <p:nvPr/>
        </p:nvSpPr>
        <p:spPr>
          <a:xfrm>
            <a:off x="452880" y="465696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Animal seed dispersal</a:t>
            </a:r>
            <a:endParaRPr b="0" lang="en-HK" sz="889" spc="-1" strike="noStrike">
              <a:latin typeface="Arial"/>
            </a:endParaRPr>
          </a:p>
        </p:txBody>
      </p:sp>
      <p:sp>
        <p:nvSpPr>
          <p:cNvPr id="648" name="Text 14"/>
          <p:cNvSpPr/>
          <p:nvPr/>
        </p:nvSpPr>
        <p:spPr>
          <a:xfrm>
            <a:off x="452880" y="4899600"/>
            <a:ext cx="65556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49" name="Text 15"/>
          <p:cNvSpPr/>
          <p:nvPr/>
        </p:nvSpPr>
        <p:spPr>
          <a:xfrm>
            <a:off x="452880" y="510948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Arbuscular (AM)</a:t>
            </a:r>
            <a:endParaRPr b="0" lang="en-HK" sz="889" spc="-1" strike="noStrike">
              <a:latin typeface="Arial"/>
            </a:endParaRPr>
          </a:p>
        </p:txBody>
      </p:sp>
      <p:sp>
        <p:nvSpPr>
          <p:cNvPr id="650" name="Text 16"/>
          <p:cNvSpPr/>
          <p:nvPr/>
        </p:nvSpPr>
        <p:spPr>
          <a:xfrm>
            <a:off x="452880" y="5352120"/>
            <a:ext cx="51552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51" name="Text 17"/>
          <p:cNvSpPr/>
          <p:nvPr/>
        </p:nvSpPr>
        <p:spPr>
          <a:xfrm>
            <a:off x="452880" y="556236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Highest (&gt;200 tree species/ha)</a:t>
            </a:r>
            <a:endParaRPr b="0" lang="en-HK" sz="889" spc="-1" strike="noStrike">
              <a:latin typeface="Arial"/>
            </a:endParaRPr>
          </a:p>
        </p:txBody>
      </p:sp>
      <p:sp>
        <p:nvSpPr>
          <p:cNvPr id="652" name="Shape 18"/>
          <p:cNvSpPr/>
          <p:nvPr/>
        </p:nvSpPr>
        <p:spPr>
          <a:xfrm>
            <a:off x="2247120" y="3993840"/>
            <a:ext cx="1825920" cy="345888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000"/>
            </a:srgbClr>
          </a:solidFill>
          <a:ln w="0">
            <a:noFill/>
          </a:ln>
        </p:spPr>
        <p:style>
          <a:lnRef idx="0"/>
          <a:fillRef idx="0"/>
          <a:effectRef idx="0"/>
          <a:fontRef idx="minor"/>
        </p:style>
      </p:sp>
      <p:sp>
        <p:nvSpPr>
          <p:cNvPr id="653" name="Shape 19"/>
          <p:cNvSpPr/>
          <p:nvPr/>
        </p:nvSpPr>
        <p:spPr>
          <a:xfrm>
            <a:off x="2247120" y="3993840"/>
            <a:ext cx="1825920" cy="3096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w="0">
            <a:noFill/>
          </a:ln>
        </p:spPr>
        <p:style>
          <a:lnRef idx="0"/>
          <a:fillRef idx="0"/>
          <a:effectRef idx="0"/>
          <a:fontRef idx="minor"/>
        </p:style>
      </p:sp>
      <p:sp>
        <p:nvSpPr>
          <p:cNvPr id="654" name="Text 20"/>
          <p:cNvSpPr/>
          <p:nvPr/>
        </p:nvSpPr>
        <p:spPr>
          <a:xfrm>
            <a:off x="2340000" y="4139280"/>
            <a:ext cx="1639800" cy="225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Temperate</a:t>
            </a:r>
            <a:endParaRPr b="0" lang="en-HK" sz="1150" spc="-1" strike="noStrike">
              <a:latin typeface="Arial"/>
            </a:endParaRPr>
          </a:p>
        </p:txBody>
      </p:sp>
      <p:sp>
        <p:nvSpPr>
          <p:cNvPr id="655" name="Text 21"/>
          <p:cNvSpPr/>
          <p:nvPr/>
        </p:nvSpPr>
        <p:spPr>
          <a:xfrm>
            <a:off x="2376360" y="4446720"/>
            <a:ext cx="115452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56" name="Text 22"/>
          <p:cNvSpPr/>
          <p:nvPr/>
        </p:nvSpPr>
        <p:spPr>
          <a:xfrm>
            <a:off x="2376360" y="465696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Mycorrhizal associations</a:t>
            </a:r>
            <a:endParaRPr b="0" lang="en-HK" sz="889" spc="-1" strike="noStrike">
              <a:latin typeface="Arial"/>
            </a:endParaRPr>
          </a:p>
        </p:txBody>
      </p:sp>
      <p:sp>
        <p:nvSpPr>
          <p:cNvPr id="657" name="Text 23"/>
          <p:cNvSpPr/>
          <p:nvPr/>
        </p:nvSpPr>
        <p:spPr>
          <a:xfrm>
            <a:off x="2376360" y="4899600"/>
            <a:ext cx="65556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58" name="Text 24"/>
          <p:cNvSpPr/>
          <p:nvPr/>
        </p:nvSpPr>
        <p:spPr>
          <a:xfrm>
            <a:off x="2376360" y="510948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59" name="Text 25"/>
          <p:cNvSpPr/>
          <p:nvPr/>
        </p:nvSpPr>
        <p:spPr>
          <a:xfrm>
            <a:off x="2376360" y="5352120"/>
            <a:ext cx="51552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0" name="Text 26"/>
          <p:cNvSpPr/>
          <p:nvPr/>
        </p:nvSpPr>
        <p:spPr>
          <a:xfrm>
            <a:off x="2376360" y="556236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Moderate (10-30 species/ha)</a:t>
            </a:r>
            <a:endParaRPr b="0" lang="en-HK" sz="889" spc="-1" strike="noStrike">
              <a:latin typeface="Arial"/>
            </a:endParaRPr>
          </a:p>
        </p:txBody>
      </p:sp>
      <p:sp>
        <p:nvSpPr>
          <p:cNvPr id="661" name="Shape 27"/>
          <p:cNvSpPr/>
          <p:nvPr/>
        </p:nvSpPr>
        <p:spPr>
          <a:xfrm>
            <a:off x="4170600" y="3993840"/>
            <a:ext cx="1825920" cy="345888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000"/>
            </a:srgbClr>
          </a:solidFill>
          <a:ln w="0">
            <a:noFill/>
          </a:ln>
        </p:spPr>
        <p:style>
          <a:lnRef idx="0"/>
          <a:fillRef idx="0"/>
          <a:effectRef idx="0"/>
          <a:fontRef idx="minor"/>
        </p:style>
      </p:sp>
      <p:sp>
        <p:nvSpPr>
          <p:cNvPr id="662" name="Shape 28"/>
          <p:cNvSpPr/>
          <p:nvPr/>
        </p:nvSpPr>
        <p:spPr>
          <a:xfrm>
            <a:off x="4170600" y="3993840"/>
            <a:ext cx="1825920" cy="3096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w="0">
            <a:noFill/>
          </a:ln>
        </p:spPr>
        <p:style>
          <a:lnRef idx="0"/>
          <a:fillRef idx="0"/>
          <a:effectRef idx="0"/>
          <a:fontRef idx="minor"/>
        </p:style>
      </p:sp>
      <p:sp>
        <p:nvSpPr>
          <p:cNvPr id="663" name="Text 29"/>
          <p:cNvSpPr/>
          <p:nvPr/>
        </p:nvSpPr>
        <p:spPr>
          <a:xfrm>
            <a:off x="4263480" y="4139280"/>
            <a:ext cx="1639800" cy="225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Boreal</a:t>
            </a:r>
            <a:endParaRPr b="0" lang="en-HK" sz="1150" spc="-1" strike="noStrike">
              <a:latin typeface="Arial"/>
            </a:endParaRPr>
          </a:p>
        </p:txBody>
      </p:sp>
      <p:sp>
        <p:nvSpPr>
          <p:cNvPr id="664" name="Text 30"/>
          <p:cNvSpPr/>
          <p:nvPr/>
        </p:nvSpPr>
        <p:spPr>
          <a:xfrm>
            <a:off x="4299840" y="4446720"/>
            <a:ext cx="115452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65" name="Text 31"/>
          <p:cNvSpPr/>
          <p:nvPr/>
        </p:nvSpPr>
        <p:spPr>
          <a:xfrm>
            <a:off x="4299840" y="465696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Disturbance regimes</a:t>
            </a:r>
            <a:endParaRPr b="0" lang="en-HK" sz="889" spc="-1" strike="noStrike">
              <a:latin typeface="Arial"/>
            </a:endParaRPr>
          </a:p>
        </p:txBody>
      </p:sp>
      <p:sp>
        <p:nvSpPr>
          <p:cNvPr id="666" name="Text 32"/>
          <p:cNvSpPr/>
          <p:nvPr/>
        </p:nvSpPr>
        <p:spPr>
          <a:xfrm>
            <a:off x="4299840" y="4899600"/>
            <a:ext cx="65556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67" name="Text 33"/>
          <p:cNvSpPr/>
          <p:nvPr/>
        </p:nvSpPr>
        <p:spPr>
          <a:xfrm>
            <a:off x="4299840" y="510948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68" name="Text 34"/>
          <p:cNvSpPr/>
          <p:nvPr/>
        </p:nvSpPr>
        <p:spPr>
          <a:xfrm>
            <a:off x="4299840" y="5352120"/>
            <a:ext cx="515520" cy="12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9" name="Text 35"/>
          <p:cNvSpPr/>
          <p:nvPr/>
        </p:nvSpPr>
        <p:spPr>
          <a:xfrm>
            <a:off x="4299840" y="5562360"/>
            <a:ext cx="16236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Lowest (1-5 species/ha)</a:t>
            </a:r>
            <a:endParaRPr b="0" lang="en-HK" sz="889" spc="-1" strike="noStrike">
              <a:latin typeface="Arial"/>
            </a:endParaRPr>
          </a:p>
        </p:txBody>
      </p:sp>
      <p:sp>
        <p:nvSpPr>
          <p:cNvPr id="670" name="Shape 36"/>
          <p:cNvSpPr/>
          <p:nvPr/>
        </p:nvSpPr>
        <p:spPr>
          <a:xfrm>
            <a:off x="6191280" y="1325880"/>
            <a:ext cx="5674320" cy="3685320"/>
          </a:xfrm>
          <a:custGeom>
            <a:avLst/>
            <a:gdLst/>
            <a:ah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71" name="Image 0"/>
          <p:cNvSpPr/>
          <p:nvPr/>
        </p:nvSpPr>
        <p:spPr>
          <a:xfrm>
            <a:off x="6191280" y="1325880"/>
            <a:ext cx="5674320" cy="3685320"/>
          </a:xfrm>
          <a:prstGeom prst="roundRect">
            <a:avLst>
              <a:gd name="adj" fmla="val 2632"/>
            </a:avLst>
          </a:prstGeom>
          <a:blipFill rotWithShape="0">
            <a:blip r:embed="rId1"/>
            <a:srcRect/>
            <a:stretch/>
          </a:blipFill>
          <a:ln w="0">
            <a:noFill/>
          </a:ln>
        </p:spPr>
        <p:style>
          <a:lnRef idx="0"/>
          <a:fillRef idx="0"/>
          <a:effectRef idx="0"/>
          <a:fontRef idx="minor"/>
        </p:style>
      </p:sp>
      <p:sp>
        <p:nvSpPr>
          <p:cNvPr id="672" name="Shape 37"/>
          <p:cNvSpPr/>
          <p:nvPr/>
        </p:nvSpPr>
        <p:spPr>
          <a:xfrm>
            <a:off x="6191280" y="5138640"/>
            <a:ext cx="5674320" cy="1405440"/>
          </a:xfrm>
          <a:custGeom>
            <a:avLst/>
            <a:gdLst/>
            <a:ah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w="0">
            <a:noFill/>
          </a:ln>
        </p:spPr>
        <p:style>
          <a:lnRef idx="0"/>
          <a:fillRef idx="0"/>
          <a:effectRef idx="0"/>
          <a:fontRef idx="minor"/>
        </p:style>
      </p:sp>
      <p:sp>
        <p:nvSpPr>
          <p:cNvPr id="673" name="Text 38"/>
          <p:cNvSpPr/>
          <p:nvPr/>
        </p:nvSpPr>
        <p:spPr>
          <a:xfrm>
            <a:off x="6352920" y="5300640"/>
            <a:ext cx="5423400" cy="225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Sorts Mill Goudy"/>
                <a:ea typeface="Sorts Mill Goudy"/>
              </a:rPr>
              <a:t>Aggregation-Abundance Relationship</a:t>
            </a:r>
            <a:endParaRPr b="0" lang="en-HK" sz="1150" spc="-1" strike="noStrike">
              <a:latin typeface="Arial"/>
            </a:endParaRPr>
          </a:p>
        </p:txBody>
      </p:sp>
      <p:sp>
        <p:nvSpPr>
          <p:cNvPr id="674" name="Text 39"/>
          <p:cNvSpPr/>
          <p:nvPr/>
        </p:nvSpPr>
        <p:spPr>
          <a:xfrm>
            <a:off x="6352920" y="5623920"/>
            <a:ext cx="5415480" cy="208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solidFill>
                <a:latin typeface="Quattrocento Sans"/>
                <a:ea typeface="Quattrocento Sans"/>
              </a:rPr>
              <a:t>Abundant species tend to be less spatially aggregated than rare species:</a:t>
            </a:r>
            <a:endParaRPr b="0" lang="en-HK" sz="1020" spc="-1" strike="noStrike">
              <a:latin typeface="Arial"/>
            </a:endParaRPr>
          </a:p>
        </p:txBody>
      </p:sp>
      <p:sp>
        <p:nvSpPr>
          <p:cNvPr id="675" name="Shape 40"/>
          <p:cNvSpPr/>
          <p:nvPr/>
        </p:nvSpPr>
        <p:spPr>
          <a:xfrm>
            <a:off x="6369120" y="5963400"/>
            <a:ext cx="127800" cy="12780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6" name="Text 41"/>
          <p:cNvSpPr/>
          <p:nvPr/>
        </p:nvSpPr>
        <p:spPr>
          <a:xfrm>
            <a:off x="6579360" y="5931000"/>
            <a:ext cx="415404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Temperate:</a:t>
            </a:r>
            <a:r>
              <a:rPr b="0" lang="en-US" sz="1020" spc="-1" strike="noStrike">
                <a:solidFill>
                  <a:srgbClr val="ffffff"/>
                </a:solidFill>
                <a:latin typeface="Quattrocento Sans"/>
                <a:ea typeface="Quattrocento Sans"/>
              </a:rPr>
              <a:t> Stronger negative relationship—ECM fungi promote clustering</a:t>
            </a:r>
            <a:endParaRPr b="0" lang="en-HK" sz="1020" spc="-1" strike="noStrike">
              <a:latin typeface="Arial"/>
            </a:endParaRPr>
          </a:p>
        </p:txBody>
      </p:sp>
      <p:sp>
        <p:nvSpPr>
          <p:cNvPr id="677" name="Shape 42"/>
          <p:cNvSpPr/>
          <p:nvPr/>
        </p:nvSpPr>
        <p:spPr>
          <a:xfrm>
            <a:off x="6369120" y="6222240"/>
            <a:ext cx="127800" cy="12780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8" name="Text 43"/>
          <p:cNvSpPr/>
          <p:nvPr/>
        </p:nvSpPr>
        <p:spPr>
          <a:xfrm>
            <a:off x="6579360" y="6189840"/>
            <a:ext cx="394416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Tropical:</a:t>
            </a:r>
            <a:r>
              <a:rPr b="0" lang="en-US" sz="1020" spc="-1" strike="noStrike">
                <a:solidFill>
                  <a:srgbClr val="ffffff"/>
                </a:solidFill>
                <a:latin typeface="Quattrocento Sans"/>
                <a:ea typeface="Quattrocento Sans"/>
              </a:rPr>
              <a:t> Weaker relationship—animal dispersal stabilizes coexistence</a:t>
            </a:r>
            <a:endParaRPr b="0" lang="en-HK" sz="1020" spc="-1" strike="noStrike">
              <a:latin typeface="Arial"/>
            </a:endParaRPr>
          </a:p>
        </p:txBody>
      </p:sp>
      <p:sp>
        <p:nvSpPr>
          <p:cNvPr id="679" name="Shape 44"/>
          <p:cNvSpPr/>
          <p:nvPr/>
        </p:nvSpPr>
        <p:spPr>
          <a:xfrm>
            <a:off x="6191280" y="6674760"/>
            <a:ext cx="5674320" cy="774720"/>
          </a:xfrm>
          <a:custGeom>
            <a:avLst/>
            <a:gdLst/>
            <a:ah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w="0">
            <a:noFill/>
          </a:ln>
        </p:spPr>
        <p:style>
          <a:lnRef idx="0"/>
          <a:fillRef idx="0"/>
          <a:effectRef idx="0"/>
          <a:fontRef idx="minor"/>
        </p:style>
      </p:sp>
      <p:sp>
        <p:nvSpPr>
          <p:cNvPr id="680" name="Text 45"/>
          <p:cNvSpPr/>
          <p:nvPr/>
        </p:nvSpPr>
        <p:spPr>
          <a:xfrm>
            <a:off x="6260040" y="6804360"/>
            <a:ext cx="5536800" cy="2894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10" spc="-1" strike="noStrike">
                <a:solidFill>
                  <a:srgbClr val="ffffff"/>
                </a:solidFill>
                <a:latin typeface="Sorts Mill Goudy"/>
                <a:ea typeface="Sorts Mill Goudy"/>
              </a:rPr>
              <a:t>Biome-Specific</a:t>
            </a:r>
            <a:endParaRPr b="0" lang="en-HK" sz="1910" spc="-1" strike="noStrike">
              <a:latin typeface="Arial"/>
            </a:endParaRPr>
          </a:p>
        </p:txBody>
      </p:sp>
      <p:sp>
        <p:nvSpPr>
          <p:cNvPr id="681" name="Text 46"/>
          <p:cNvSpPr/>
          <p:nvPr/>
        </p:nvSpPr>
        <p:spPr>
          <a:xfrm>
            <a:off x="6288120" y="7127640"/>
            <a:ext cx="5480280" cy="1926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20" spc="-1" strike="noStrike">
                <a:solidFill>
                  <a:srgbClr val="ffffff"/>
                </a:solidFill>
                <a:latin typeface="Quattrocento Sans"/>
                <a:ea typeface="Quattrocento Sans"/>
              </a:rPr>
              <a:t>Conservation must account for regional mechanisms</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82" name="Text 0"/>
          <p:cNvSpPr/>
          <p:nvPr/>
        </p:nvSpPr>
        <p:spPr>
          <a:xfrm>
            <a:off x="329760" y="329760"/>
            <a:ext cx="115887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80" strike="noStrike">
                <a:solidFill>
                  <a:srgbClr val="2f3e3b"/>
                </a:solidFill>
                <a:latin typeface="Quattrocento Sans"/>
                <a:ea typeface="Quattrocento Sans"/>
              </a:rPr>
              <a:t>08 • Conservation Implications</a:t>
            </a:r>
            <a:endParaRPr b="0" lang="en-HK" sz="910" spc="-1" strike="noStrike">
              <a:latin typeface="Arial"/>
            </a:endParaRPr>
          </a:p>
        </p:txBody>
      </p:sp>
      <p:sp>
        <p:nvSpPr>
          <p:cNvPr id="683" name="Text 1"/>
          <p:cNvSpPr/>
          <p:nvPr/>
        </p:nvSpPr>
        <p:spPr>
          <a:xfrm>
            <a:off x="329760" y="560520"/>
            <a:ext cx="11679480" cy="3283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40" spc="-1" strike="noStrike">
                <a:solidFill>
                  <a:srgbClr val="2f3e3b"/>
                </a:solidFill>
                <a:latin typeface="Sorts Mill Goudy"/>
                <a:ea typeface="Sorts Mill Goudy"/>
              </a:rPr>
              <a:t>Climate Change &amp; Biodiversity Trade-offs</a:t>
            </a:r>
            <a:endParaRPr b="0" lang="en-HK" sz="2340" spc="-1" strike="noStrike">
              <a:latin typeface="Arial"/>
            </a:endParaRPr>
          </a:p>
        </p:txBody>
      </p:sp>
      <p:sp>
        <p:nvSpPr>
          <p:cNvPr id="684" name="Text 2"/>
          <p:cNvSpPr/>
          <p:nvPr/>
        </p:nvSpPr>
        <p:spPr>
          <a:xfrm>
            <a:off x="329760" y="956160"/>
            <a:ext cx="11605320" cy="229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5f6f6b"/>
                </a:solidFill>
                <a:latin typeface="Quattrocento Sans"/>
                <a:ea typeface="Quattrocento Sans"/>
              </a:rPr>
              <a:t>Emerging challenges to forest biodiversity maintenance</a:t>
            </a:r>
            <a:endParaRPr b="0" lang="en-HK" sz="1170" spc="-1" strike="noStrike">
              <a:latin typeface="Arial"/>
            </a:endParaRPr>
          </a:p>
        </p:txBody>
      </p:sp>
      <p:sp>
        <p:nvSpPr>
          <p:cNvPr id="685" name="Shape 3"/>
          <p:cNvSpPr/>
          <p:nvPr/>
        </p:nvSpPr>
        <p:spPr>
          <a:xfrm>
            <a:off x="329760" y="1351800"/>
            <a:ext cx="5670000" cy="3312360"/>
          </a:xfrm>
          <a:custGeom>
            <a:avLst/>
            <a:gdLst/>
            <a:ah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686" name="Text 4"/>
          <p:cNvSpPr/>
          <p:nvPr/>
        </p:nvSpPr>
        <p:spPr>
          <a:xfrm>
            <a:off x="494640" y="1516680"/>
            <a:ext cx="5422680" cy="229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Climate Change Impacts</a:t>
            </a:r>
            <a:endParaRPr b="0" lang="en-HK" sz="1300" spc="-1" strike="noStrike">
              <a:latin typeface="Arial"/>
            </a:endParaRPr>
          </a:p>
        </p:txBody>
      </p:sp>
      <p:sp>
        <p:nvSpPr>
          <p:cNvPr id="687" name="Text 5"/>
          <p:cNvSpPr/>
          <p:nvPr/>
        </p:nvSpPr>
        <p:spPr>
          <a:xfrm>
            <a:off x="494640" y="1846440"/>
            <a:ext cx="5406120" cy="641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Climate change threatens forest biodiversity through </a:t>
            </a:r>
            <a:r>
              <a:rPr b="0" lang="en-US" sz="1040" spc="-1" strike="noStrike">
                <a:solidFill>
                  <a:srgbClr val="2f3e3b"/>
                </a:solidFill>
                <a:highlight>
                  <a:srgbClr val="8fb7ac"/>
                </a:highlight>
                <a:latin typeface="Quattrocento Sans"/>
                <a:ea typeface="Quattrocento Sans"/>
              </a:rPr>
              <a:t>altered disturbance regimes, shifting species distributions, and changing ecosystem stability </a:t>
            </a:r>
            <a:r>
              <a:rPr b="0" lang="en-US" sz="1040" spc="-1" strike="noStrike">
                <a:solidFill>
                  <a:srgbClr val="1f2a28"/>
                </a:solidFill>
                <a:latin typeface="Quattrocento Sans"/>
                <a:ea typeface="Quattrocento Sans"/>
              </a:rPr>
              <a:t>. Understanding these impacts is critical for conservation planning.</a:t>
            </a:r>
            <a:endParaRPr b="0" lang="en-HK" sz="1040" spc="-1" strike="noStrike">
              <a:latin typeface="Arial"/>
            </a:endParaRPr>
          </a:p>
        </p:txBody>
      </p:sp>
      <p:sp>
        <p:nvSpPr>
          <p:cNvPr id="688" name="Shape 6"/>
          <p:cNvSpPr/>
          <p:nvPr/>
        </p:nvSpPr>
        <p:spPr>
          <a:xfrm>
            <a:off x="494640" y="2621520"/>
            <a:ext cx="5340240" cy="55908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000"/>
            </a:srgbClr>
          </a:solidFill>
          <a:ln w="0">
            <a:noFill/>
          </a:ln>
        </p:spPr>
        <p:style>
          <a:lnRef idx="0"/>
          <a:fillRef idx="0"/>
          <a:effectRef idx="0"/>
          <a:fontRef idx="minor"/>
        </p:style>
      </p:sp>
      <p:sp>
        <p:nvSpPr>
          <p:cNvPr id="689" name="Shape 7"/>
          <p:cNvSpPr/>
          <p:nvPr/>
        </p:nvSpPr>
        <p:spPr>
          <a:xfrm>
            <a:off x="623520" y="2753280"/>
            <a:ext cx="128520" cy="146880"/>
          </a:xfrm>
          <a:custGeom>
            <a:avLst/>
            <a:gdLst/>
            <a:ah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w="0">
            <a:noFill/>
          </a:ln>
        </p:spPr>
        <p:style>
          <a:lnRef idx="0"/>
          <a:fillRef idx="0"/>
          <a:effectRef idx="0"/>
          <a:fontRef idx="minor"/>
        </p:style>
      </p:sp>
      <p:sp>
        <p:nvSpPr>
          <p:cNvPr id="690" name="Text 8"/>
          <p:cNvSpPr/>
          <p:nvPr/>
        </p:nvSpPr>
        <p:spPr>
          <a:xfrm>
            <a:off x="878040" y="2720160"/>
            <a:ext cx="333720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Altered Disturbance Regimes</a:t>
            </a:r>
            <a:endParaRPr b="0" lang="en-HK" sz="1040" spc="-1" strike="noStrike">
              <a:latin typeface="Arial"/>
            </a:endParaRPr>
          </a:p>
        </p:txBody>
      </p:sp>
      <p:sp>
        <p:nvSpPr>
          <p:cNvPr id="691" name="Text 9"/>
          <p:cNvSpPr/>
          <p:nvPr/>
        </p:nvSpPr>
        <p:spPr>
          <a:xfrm>
            <a:off x="878040" y="2918160"/>
            <a:ext cx="332892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Increased fire frequency, extreme weather events, pest outbreaks</a:t>
            </a:r>
            <a:endParaRPr b="0" lang="en-HK" sz="910" spc="-1" strike="noStrike">
              <a:latin typeface="Arial"/>
            </a:endParaRPr>
          </a:p>
        </p:txBody>
      </p:sp>
      <p:sp>
        <p:nvSpPr>
          <p:cNvPr id="692" name="Shape 10"/>
          <p:cNvSpPr/>
          <p:nvPr/>
        </p:nvSpPr>
        <p:spPr>
          <a:xfrm>
            <a:off x="494640" y="3281040"/>
            <a:ext cx="5340240" cy="55908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000"/>
            </a:srgbClr>
          </a:solidFill>
          <a:ln w="0">
            <a:noFill/>
          </a:ln>
        </p:spPr>
        <p:style>
          <a:lnRef idx="0"/>
          <a:fillRef idx="0"/>
          <a:effectRef idx="0"/>
          <a:fontRef idx="minor"/>
        </p:style>
      </p:sp>
      <p:sp>
        <p:nvSpPr>
          <p:cNvPr id="693" name="Shape 11"/>
          <p:cNvSpPr/>
          <p:nvPr/>
        </p:nvSpPr>
        <p:spPr>
          <a:xfrm>
            <a:off x="614160" y="3412800"/>
            <a:ext cx="146880" cy="146880"/>
          </a:xfrm>
          <a:custGeom>
            <a:avLst/>
            <a:gdLst/>
            <a:ah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w="0">
            <a:noFill/>
          </a:ln>
        </p:spPr>
        <p:style>
          <a:lnRef idx="0"/>
          <a:fillRef idx="0"/>
          <a:effectRef idx="0"/>
          <a:fontRef idx="minor"/>
        </p:style>
      </p:sp>
      <p:sp>
        <p:nvSpPr>
          <p:cNvPr id="694" name="Text 12"/>
          <p:cNvSpPr/>
          <p:nvPr/>
        </p:nvSpPr>
        <p:spPr>
          <a:xfrm>
            <a:off x="878040" y="3379680"/>
            <a:ext cx="367524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Range Shifts</a:t>
            </a:r>
            <a:endParaRPr b="0" lang="en-HK" sz="1040" spc="-1" strike="noStrike">
              <a:latin typeface="Arial"/>
            </a:endParaRPr>
          </a:p>
        </p:txBody>
      </p:sp>
      <p:sp>
        <p:nvSpPr>
          <p:cNvPr id="695" name="Text 13"/>
          <p:cNvSpPr/>
          <p:nvPr/>
        </p:nvSpPr>
        <p:spPr>
          <a:xfrm>
            <a:off x="878040" y="3577680"/>
            <a:ext cx="36669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Species migrate poleward and upslope; trailing edge populations decline</a:t>
            </a:r>
            <a:endParaRPr b="0" lang="en-HK" sz="910" spc="-1" strike="noStrike">
              <a:latin typeface="Arial"/>
            </a:endParaRPr>
          </a:p>
        </p:txBody>
      </p:sp>
      <p:sp>
        <p:nvSpPr>
          <p:cNvPr id="696" name="Shape 14"/>
          <p:cNvSpPr/>
          <p:nvPr/>
        </p:nvSpPr>
        <p:spPr>
          <a:xfrm>
            <a:off x="494640" y="3940200"/>
            <a:ext cx="5340240" cy="55908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000"/>
            </a:srgbClr>
          </a:solidFill>
          <a:ln w="0">
            <a:noFill/>
          </a:ln>
        </p:spPr>
        <p:style>
          <a:lnRef idx="0"/>
          <a:fillRef idx="0"/>
          <a:effectRef idx="0"/>
          <a:fontRef idx="minor"/>
        </p:style>
      </p:sp>
      <p:sp>
        <p:nvSpPr>
          <p:cNvPr id="697" name="Shape 15"/>
          <p:cNvSpPr/>
          <p:nvPr/>
        </p:nvSpPr>
        <p:spPr>
          <a:xfrm>
            <a:off x="614160" y="4072320"/>
            <a:ext cx="146880" cy="146880"/>
          </a:xfrm>
          <a:custGeom>
            <a:avLst/>
            <a:gdLst/>
            <a:ah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w="0">
            <a:noFill/>
          </a:ln>
        </p:spPr>
        <p:style>
          <a:lnRef idx="0"/>
          <a:fillRef idx="0"/>
          <a:effectRef idx="0"/>
          <a:fontRef idx="minor"/>
        </p:style>
      </p:sp>
      <p:sp>
        <p:nvSpPr>
          <p:cNvPr id="698" name="Text 16"/>
          <p:cNvSpPr/>
          <p:nvPr/>
        </p:nvSpPr>
        <p:spPr>
          <a:xfrm>
            <a:off x="878040" y="4039200"/>
            <a:ext cx="477144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Ecosystem Stability</a:t>
            </a:r>
            <a:endParaRPr b="0" lang="en-HK" sz="1040" spc="-1" strike="noStrike">
              <a:latin typeface="Arial"/>
            </a:endParaRPr>
          </a:p>
        </p:txBody>
      </p:sp>
      <p:sp>
        <p:nvSpPr>
          <p:cNvPr id="699" name="Text 17"/>
          <p:cNvSpPr/>
          <p:nvPr/>
        </p:nvSpPr>
        <p:spPr>
          <a:xfrm>
            <a:off x="878040" y="4237200"/>
            <a:ext cx="476316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Forest stability increases with climate predictability; low stability areas need protection priority</a:t>
            </a:r>
            <a:endParaRPr b="0" lang="en-HK" sz="910" spc="-1" strike="noStrike">
              <a:latin typeface="Arial"/>
            </a:endParaRPr>
          </a:p>
        </p:txBody>
      </p:sp>
      <p:sp>
        <p:nvSpPr>
          <p:cNvPr id="700" name="Shape 18"/>
          <p:cNvSpPr/>
          <p:nvPr/>
        </p:nvSpPr>
        <p:spPr>
          <a:xfrm>
            <a:off x="329760" y="4797720"/>
            <a:ext cx="5670000" cy="2059560"/>
          </a:xfrm>
          <a:custGeom>
            <a:avLst/>
            <a:gdLst/>
            <a:ah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01" name="Text 19"/>
          <p:cNvSpPr/>
          <p:nvPr/>
        </p:nvSpPr>
        <p:spPr>
          <a:xfrm>
            <a:off x="494640" y="4962600"/>
            <a:ext cx="5422680" cy="229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The Vicious Cycle</a:t>
            </a:r>
            <a:endParaRPr b="0" lang="en-HK" sz="1300" spc="-1" strike="noStrike">
              <a:latin typeface="Arial"/>
            </a:endParaRPr>
          </a:p>
        </p:txBody>
      </p:sp>
      <p:sp>
        <p:nvSpPr>
          <p:cNvPr id="702" name="Text 20"/>
          <p:cNvSpPr/>
          <p:nvPr/>
        </p:nvSpPr>
        <p:spPr>
          <a:xfrm>
            <a:off x="494640" y="5292360"/>
            <a:ext cx="5406120" cy="212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Biodiversity loss and climate change form a </a:t>
            </a:r>
            <a:r>
              <a:rPr b="1" lang="en-US" sz="1040" spc="-1" strike="noStrike">
                <a:solidFill>
                  <a:srgbClr val="1f2a28"/>
                </a:solidFill>
                <a:latin typeface="Quattrocento Sans"/>
                <a:ea typeface="Quattrocento Sans"/>
              </a:rPr>
              <a:t>positive feedback loop</a:t>
            </a:r>
            <a:r>
              <a:rPr b="0" lang="en-US" sz="1040" spc="-1" strike="noStrike">
                <a:solidFill>
                  <a:srgbClr val="1f2a28"/>
                </a:solidFill>
                <a:latin typeface="Quattrocento Sans"/>
                <a:ea typeface="Quattrocento Sans"/>
              </a:rPr>
              <a:t>:</a:t>
            </a:r>
            <a:endParaRPr b="0" lang="en-HK" sz="1040" spc="-1" strike="noStrike">
              <a:latin typeface="Arial"/>
            </a:endParaRPr>
          </a:p>
        </p:txBody>
      </p:sp>
      <p:sp>
        <p:nvSpPr>
          <p:cNvPr id="703" name="Shape 21"/>
          <p:cNvSpPr/>
          <p:nvPr/>
        </p:nvSpPr>
        <p:spPr>
          <a:xfrm>
            <a:off x="1051920" y="5605560"/>
            <a:ext cx="525960" cy="52596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04" name="Shape 22"/>
          <p:cNvSpPr/>
          <p:nvPr/>
        </p:nvSpPr>
        <p:spPr>
          <a:xfrm>
            <a:off x="1216440" y="5770440"/>
            <a:ext cx="196560" cy="196560"/>
          </a:xfrm>
          <a:custGeom>
            <a:avLst/>
            <a:gdLst/>
            <a:ah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w="0">
            <a:noFill/>
          </a:ln>
        </p:spPr>
        <p:style>
          <a:lnRef idx="0"/>
          <a:fillRef idx="0"/>
          <a:effectRef idx="0"/>
          <a:fontRef idx="minor"/>
        </p:style>
      </p:sp>
      <p:sp>
        <p:nvSpPr>
          <p:cNvPr id="705" name="Text 23"/>
          <p:cNvSpPr/>
          <p:nvPr/>
        </p:nvSpPr>
        <p:spPr>
          <a:xfrm>
            <a:off x="465840" y="6199200"/>
            <a:ext cx="1696680" cy="163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Biodiversity Loss</a:t>
            </a:r>
            <a:endParaRPr b="0" lang="en-HK" sz="910" spc="-1" strike="noStrike">
              <a:latin typeface="Arial"/>
            </a:endParaRPr>
          </a:p>
        </p:txBody>
      </p:sp>
      <p:sp>
        <p:nvSpPr>
          <p:cNvPr id="706" name="Shape 24"/>
          <p:cNvSpPr/>
          <p:nvPr/>
        </p:nvSpPr>
        <p:spPr>
          <a:xfrm>
            <a:off x="2157120" y="5902200"/>
            <a:ext cx="163440" cy="16344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07" name="Shape 25"/>
          <p:cNvSpPr/>
          <p:nvPr/>
        </p:nvSpPr>
        <p:spPr>
          <a:xfrm>
            <a:off x="2899800" y="5605560"/>
            <a:ext cx="525960" cy="52596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w="0">
            <a:noFill/>
          </a:ln>
        </p:spPr>
        <p:style>
          <a:lnRef idx="0"/>
          <a:fillRef idx="0"/>
          <a:effectRef idx="0"/>
          <a:fontRef idx="minor"/>
        </p:style>
      </p:sp>
      <p:sp>
        <p:nvSpPr>
          <p:cNvPr id="708" name="Shape 26"/>
          <p:cNvSpPr/>
          <p:nvPr/>
        </p:nvSpPr>
        <p:spPr>
          <a:xfrm>
            <a:off x="3052440" y="5770440"/>
            <a:ext cx="221040" cy="196560"/>
          </a:xfrm>
          <a:custGeom>
            <a:avLst/>
            <a:gdLst/>
            <a:ah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w="0">
            <a:noFill/>
          </a:ln>
        </p:spPr>
        <p:style>
          <a:lnRef idx="0"/>
          <a:fillRef idx="0"/>
          <a:effectRef idx="0"/>
          <a:fontRef idx="minor"/>
        </p:style>
      </p:sp>
      <p:sp>
        <p:nvSpPr>
          <p:cNvPr id="709" name="Text 27"/>
          <p:cNvSpPr/>
          <p:nvPr/>
        </p:nvSpPr>
        <p:spPr>
          <a:xfrm>
            <a:off x="2313720" y="6199200"/>
            <a:ext cx="1696680" cy="163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Reduced Carbon Storage</a:t>
            </a:r>
            <a:endParaRPr b="0" lang="en-HK" sz="910" spc="-1" strike="noStrike">
              <a:latin typeface="Arial"/>
            </a:endParaRPr>
          </a:p>
        </p:txBody>
      </p:sp>
      <p:sp>
        <p:nvSpPr>
          <p:cNvPr id="710" name="Shape 28"/>
          <p:cNvSpPr/>
          <p:nvPr/>
        </p:nvSpPr>
        <p:spPr>
          <a:xfrm>
            <a:off x="4005360" y="5902200"/>
            <a:ext cx="163440" cy="16344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11" name="Shape 29"/>
          <p:cNvSpPr/>
          <p:nvPr/>
        </p:nvSpPr>
        <p:spPr>
          <a:xfrm>
            <a:off x="4748040" y="5605560"/>
            <a:ext cx="525960" cy="52596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12" name="Shape 30"/>
          <p:cNvSpPr/>
          <p:nvPr/>
        </p:nvSpPr>
        <p:spPr>
          <a:xfrm>
            <a:off x="4912920" y="5770440"/>
            <a:ext cx="196560" cy="196560"/>
          </a:xfrm>
          <a:custGeom>
            <a:avLst/>
            <a:gdLst/>
            <a:ah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w="0">
            <a:noFill/>
          </a:ln>
        </p:spPr>
        <p:style>
          <a:lnRef idx="0"/>
          <a:fillRef idx="0"/>
          <a:effectRef idx="0"/>
          <a:fontRef idx="minor"/>
        </p:style>
      </p:sp>
      <p:sp>
        <p:nvSpPr>
          <p:cNvPr id="713" name="Text 31"/>
          <p:cNvSpPr/>
          <p:nvPr/>
        </p:nvSpPr>
        <p:spPr>
          <a:xfrm>
            <a:off x="4161960" y="6199200"/>
            <a:ext cx="1696680" cy="163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Climate Change</a:t>
            </a:r>
            <a:endParaRPr b="0" lang="en-HK" sz="910" spc="-1" strike="noStrike">
              <a:latin typeface="Arial"/>
            </a:endParaRPr>
          </a:p>
        </p:txBody>
      </p:sp>
      <p:sp>
        <p:nvSpPr>
          <p:cNvPr id="714" name="Shape 32"/>
          <p:cNvSpPr/>
          <p:nvPr/>
        </p:nvSpPr>
        <p:spPr>
          <a:xfrm>
            <a:off x="6195240" y="1351800"/>
            <a:ext cx="5670000" cy="1910880"/>
          </a:xfrm>
          <a:custGeom>
            <a:avLst/>
            <a:gdLst/>
            <a:ah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w="0">
            <a:noFill/>
          </a:ln>
        </p:spPr>
        <p:style>
          <a:lnRef idx="0"/>
          <a:fillRef idx="0"/>
          <a:effectRef idx="0"/>
          <a:fontRef idx="minor"/>
        </p:style>
      </p:sp>
      <p:sp>
        <p:nvSpPr>
          <p:cNvPr id="715" name="Text 33"/>
          <p:cNvSpPr/>
          <p:nvPr/>
        </p:nvSpPr>
        <p:spPr>
          <a:xfrm>
            <a:off x="6360120" y="1516680"/>
            <a:ext cx="5414400" cy="229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Sorts Mill Goudy"/>
                <a:ea typeface="Sorts Mill Goudy"/>
              </a:rPr>
              <a:t>The Mitigation-Conservation Trade-off</a:t>
            </a:r>
            <a:endParaRPr b="0" lang="en-HK" sz="1170" spc="-1" strike="noStrike">
              <a:latin typeface="Arial"/>
            </a:endParaRPr>
          </a:p>
        </p:txBody>
      </p:sp>
      <p:sp>
        <p:nvSpPr>
          <p:cNvPr id="716" name="Text 34"/>
          <p:cNvSpPr/>
          <p:nvPr/>
        </p:nvSpPr>
        <p:spPr>
          <a:xfrm>
            <a:off x="6360120" y="1846440"/>
            <a:ext cx="5406120" cy="42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solidFill>
                <a:latin typeface="Quattrocento Sans"/>
                <a:ea typeface="Quattrocento Sans"/>
              </a:rPr>
              <a:t>Higher climate change mitigation scenarios (RCP1.9) show </a:t>
            </a:r>
            <a:r>
              <a:rPr b="1" lang="en-US" sz="1040" spc="-1" strike="noStrike">
                <a:solidFill>
                  <a:srgbClr val="ffffff"/>
                </a:solidFill>
                <a:latin typeface="Quattrocento Sans"/>
                <a:ea typeface="Quattrocento Sans"/>
              </a:rPr>
              <a:t>more biodiversity loss</a:t>
            </a:r>
            <a:r>
              <a:rPr b="0" lang="en-US" sz="1040" spc="-1" strike="noStrike">
                <a:solidFill>
                  <a:srgbClr val="ffffff"/>
                </a:solidFill>
                <a:latin typeface="Quattrocento Sans"/>
                <a:ea typeface="Quattrocento Sans"/>
              </a:rPr>
              <a:t> than reference scenarios (RCP7.0) due to:</a:t>
            </a:r>
            <a:endParaRPr b="0" lang="en-HK" sz="1040" spc="-1" strike="noStrike">
              <a:latin typeface="Arial"/>
            </a:endParaRPr>
          </a:p>
        </p:txBody>
      </p:sp>
      <p:sp>
        <p:nvSpPr>
          <p:cNvPr id="717" name="Shape 35"/>
          <p:cNvSpPr/>
          <p:nvPr/>
        </p:nvSpPr>
        <p:spPr>
          <a:xfrm>
            <a:off x="6376680" y="2406960"/>
            <a:ext cx="130320" cy="13032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18" name="Text 36"/>
          <p:cNvSpPr/>
          <p:nvPr/>
        </p:nvSpPr>
        <p:spPr>
          <a:xfrm>
            <a:off x="6590880" y="2374200"/>
            <a:ext cx="172980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Increased bioenergy demand</a:t>
            </a:r>
            <a:endParaRPr b="0" lang="en-HK" sz="1040" spc="-1" strike="noStrike">
              <a:latin typeface="Arial"/>
            </a:endParaRPr>
          </a:p>
        </p:txBody>
      </p:sp>
      <p:sp>
        <p:nvSpPr>
          <p:cNvPr id="719" name="Shape 37"/>
          <p:cNvSpPr/>
          <p:nvPr/>
        </p:nvSpPr>
        <p:spPr>
          <a:xfrm>
            <a:off x="6376680" y="2670840"/>
            <a:ext cx="130320" cy="13032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0" name="Text 38"/>
          <p:cNvSpPr/>
          <p:nvPr/>
        </p:nvSpPr>
        <p:spPr>
          <a:xfrm>
            <a:off x="6590880" y="2637720"/>
            <a:ext cx="179568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Intensified forest management</a:t>
            </a:r>
            <a:endParaRPr b="0" lang="en-HK" sz="1040" spc="-1" strike="noStrike">
              <a:latin typeface="Arial"/>
            </a:endParaRPr>
          </a:p>
        </p:txBody>
      </p:sp>
      <p:sp>
        <p:nvSpPr>
          <p:cNvPr id="721" name="Shape 39"/>
          <p:cNvSpPr/>
          <p:nvPr/>
        </p:nvSpPr>
        <p:spPr>
          <a:xfrm>
            <a:off x="6376680" y="2934720"/>
            <a:ext cx="130320" cy="13032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2" name="Text 40"/>
          <p:cNvSpPr/>
          <p:nvPr/>
        </p:nvSpPr>
        <p:spPr>
          <a:xfrm>
            <a:off x="6590880" y="2901600"/>
            <a:ext cx="194400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Habitat conversion to plantations</a:t>
            </a:r>
            <a:endParaRPr b="0" lang="en-HK" sz="1040" spc="-1" strike="noStrike">
              <a:latin typeface="Arial"/>
            </a:endParaRPr>
          </a:p>
        </p:txBody>
      </p:sp>
      <p:sp>
        <p:nvSpPr>
          <p:cNvPr id="723" name="Shape 41"/>
          <p:cNvSpPr/>
          <p:nvPr/>
        </p:nvSpPr>
        <p:spPr>
          <a:xfrm>
            <a:off x="6195240" y="3396240"/>
            <a:ext cx="5670000" cy="2537640"/>
          </a:xfrm>
          <a:custGeom>
            <a:avLst/>
            <a:gdLst/>
            <a:ah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24" name="Text 42"/>
          <p:cNvSpPr/>
          <p:nvPr/>
        </p:nvSpPr>
        <p:spPr>
          <a:xfrm>
            <a:off x="6360120" y="3561120"/>
            <a:ext cx="5414400" cy="229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2f3e3b"/>
                </a:solidFill>
                <a:latin typeface="Sorts Mill Goudy"/>
                <a:ea typeface="Sorts Mill Goudy"/>
              </a:rPr>
              <a:t>Solutions</a:t>
            </a:r>
            <a:endParaRPr b="0" lang="en-HK" sz="1170" spc="-1" strike="noStrike">
              <a:latin typeface="Arial"/>
            </a:endParaRPr>
          </a:p>
        </p:txBody>
      </p:sp>
      <p:sp>
        <p:nvSpPr>
          <p:cNvPr id="725" name="Shape 43"/>
          <p:cNvSpPr/>
          <p:nvPr/>
        </p:nvSpPr>
        <p:spPr>
          <a:xfrm>
            <a:off x="6360120" y="3890880"/>
            <a:ext cx="5340240" cy="592200"/>
          </a:xfrm>
          <a:custGeom>
            <a:avLst/>
            <a:gdLst/>
            <a:ah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000"/>
            </a:srgbClr>
          </a:solidFill>
          <a:ln w="0">
            <a:noFill/>
          </a:ln>
        </p:spPr>
        <p:style>
          <a:lnRef idx="0"/>
          <a:fillRef idx="0"/>
          <a:effectRef idx="0"/>
          <a:fontRef idx="minor"/>
        </p:style>
      </p:sp>
      <p:sp>
        <p:nvSpPr>
          <p:cNvPr id="726" name="Text 44"/>
          <p:cNvSpPr/>
          <p:nvPr/>
        </p:nvSpPr>
        <p:spPr>
          <a:xfrm>
            <a:off x="6459120" y="3989880"/>
            <a:ext cx="520848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Biodiversity-Conscious Management</a:t>
            </a:r>
            <a:endParaRPr b="0" lang="en-HK" sz="1040" spc="-1" strike="noStrike">
              <a:latin typeface="Arial"/>
            </a:endParaRPr>
          </a:p>
        </p:txBody>
      </p:sp>
      <p:sp>
        <p:nvSpPr>
          <p:cNvPr id="727" name="Text 45"/>
          <p:cNvSpPr/>
          <p:nvPr/>
        </p:nvSpPr>
        <p:spPr>
          <a:xfrm>
            <a:off x="6459120" y="4220640"/>
            <a:ext cx="520020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Can reduce global biodiversity loss by 10% with minor economic changes</a:t>
            </a:r>
            <a:endParaRPr b="0" lang="en-HK" sz="910" spc="-1" strike="noStrike">
              <a:latin typeface="Arial"/>
            </a:endParaRPr>
          </a:p>
        </p:txBody>
      </p:sp>
      <p:sp>
        <p:nvSpPr>
          <p:cNvPr id="728" name="Shape 46"/>
          <p:cNvSpPr/>
          <p:nvPr/>
        </p:nvSpPr>
        <p:spPr>
          <a:xfrm>
            <a:off x="6360120" y="4583160"/>
            <a:ext cx="5340240" cy="1185480"/>
          </a:xfrm>
          <a:custGeom>
            <a:avLst/>
            <a:gdLst/>
            <a:ah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000"/>
            </a:srgbClr>
          </a:solidFill>
          <a:ln w="0">
            <a:noFill/>
          </a:ln>
        </p:spPr>
        <p:style>
          <a:lnRef idx="0"/>
          <a:fillRef idx="0"/>
          <a:effectRef idx="0"/>
          <a:fontRef idx="minor"/>
        </p:style>
      </p:sp>
      <p:sp>
        <p:nvSpPr>
          <p:cNvPr id="729" name="Text 47"/>
          <p:cNvSpPr/>
          <p:nvPr/>
        </p:nvSpPr>
        <p:spPr>
          <a:xfrm>
            <a:off x="6459120" y="4682160"/>
            <a:ext cx="5208480" cy="196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Strategic Approaches</a:t>
            </a:r>
            <a:endParaRPr b="0" lang="en-HK" sz="1040" spc="-1" strike="noStrike">
              <a:latin typeface="Arial"/>
            </a:endParaRPr>
          </a:p>
        </p:txBody>
      </p:sp>
      <p:sp>
        <p:nvSpPr>
          <p:cNvPr id="730" name="Text 48"/>
          <p:cNvSpPr/>
          <p:nvPr/>
        </p:nvSpPr>
        <p:spPr>
          <a:xfrm>
            <a:off x="6459120" y="4912920"/>
            <a:ext cx="520020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Shift bioenergy production to energy crops</a:t>
            </a:r>
            <a:endParaRPr b="0" lang="en-HK" sz="910" spc="-1" strike="noStrike">
              <a:latin typeface="Arial"/>
            </a:endParaRPr>
          </a:p>
        </p:txBody>
      </p:sp>
      <p:sp>
        <p:nvSpPr>
          <p:cNvPr id="731" name="Text 49"/>
          <p:cNvSpPr/>
          <p:nvPr/>
        </p:nvSpPr>
        <p:spPr>
          <a:xfrm>
            <a:off x="6459120" y="5110920"/>
            <a:ext cx="520020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Increase unmanaged secondary forest areas</a:t>
            </a:r>
            <a:endParaRPr b="0" lang="en-HK" sz="910" spc="-1" strike="noStrike">
              <a:latin typeface="Arial"/>
            </a:endParaRPr>
          </a:p>
        </p:txBody>
      </p:sp>
      <p:sp>
        <p:nvSpPr>
          <p:cNvPr id="732" name="Text 50"/>
          <p:cNvSpPr/>
          <p:nvPr/>
        </p:nvSpPr>
        <p:spPr>
          <a:xfrm>
            <a:off x="6459120" y="5308920"/>
            <a:ext cx="520020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Reduce management intensity</a:t>
            </a:r>
            <a:endParaRPr b="0" lang="en-HK" sz="910" spc="-1" strike="noStrike">
              <a:latin typeface="Arial"/>
            </a:endParaRPr>
          </a:p>
        </p:txBody>
      </p:sp>
      <p:sp>
        <p:nvSpPr>
          <p:cNvPr id="733" name="Text 51"/>
          <p:cNvSpPr/>
          <p:nvPr/>
        </p:nvSpPr>
        <p:spPr>
          <a:xfrm>
            <a:off x="6459120" y="5506560"/>
            <a:ext cx="5200200" cy="16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Reallocate biomass production regionally</a:t>
            </a:r>
            <a:endParaRPr b="0" lang="en-HK" sz="910" spc="-1" strike="noStrike">
              <a:latin typeface="Arial"/>
            </a:endParaRPr>
          </a:p>
        </p:txBody>
      </p:sp>
      <p:sp>
        <p:nvSpPr>
          <p:cNvPr id="734" name="Shape 52"/>
          <p:cNvSpPr/>
          <p:nvPr/>
        </p:nvSpPr>
        <p:spPr>
          <a:xfrm>
            <a:off x="6195240" y="6067080"/>
            <a:ext cx="5670000" cy="789840"/>
          </a:xfrm>
          <a:custGeom>
            <a:avLst/>
            <a:gdLst/>
            <a:ah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w="0">
            <a:noFill/>
          </a:ln>
        </p:spPr>
        <p:style>
          <a:lnRef idx="0"/>
          <a:fillRef idx="0"/>
          <a:effectRef idx="0"/>
          <a:fontRef idx="minor"/>
        </p:style>
      </p:sp>
      <p:sp>
        <p:nvSpPr>
          <p:cNvPr id="735" name="Text 53"/>
          <p:cNvSpPr/>
          <p:nvPr/>
        </p:nvSpPr>
        <p:spPr>
          <a:xfrm>
            <a:off x="6265440" y="6199200"/>
            <a:ext cx="5529960" cy="2952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ffffff"/>
                </a:solidFill>
                <a:latin typeface="Sorts Mill Goudy"/>
                <a:ea typeface="Sorts Mill Goudy"/>
              </a:rPr>
              <a:t>Integrated Solutions</a:t>
            </a:r>
            <a:endParaRPr b="0" lang="en-HK" sz="1940" spc="-1" strike="noStrike">
              <a:latin typeface="Arial"/>
            </a:endParaRPr>
          </a:p>
        </p:txBody>
      </p:sp>
      <p:sp>
        <p:nvSpPr>
          <p:cNvPr id="736" name="Text 54"/>
          <p:cNvSpPr/>
          <p:nvPr/>
        </p:nvSpPr>
        <p:spPr>
          <a:xfrm>
            <a:off x="6294240" y="6528600"/>
            <a:ext cx="5472360" cy="1965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40" spc="-1" strike="noStrike">
                <a:solidFill>
                  <a:srgbClr val="ffffff"/>
                </a:solidFill>
                <a:latin typeface="Quattrocento Sans"/>
                <a:ea typeface="Quattrocento Sans"/>
              </a:rPr>
              <a:t>Address biodiversity and climate together</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37" name="Text 0"/>
          <p:cNvSpPr/>
          <p:nvPr/>
        </p:nvSpPr>
        <p:spPr>
          <a:xfrm>
            <a:off x="318960" y="318960"/>
            <a:ext cx="1160856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77" strike="noStrike">
                <a:solidFill>
                  <a:srgbClr val="2f3e3b"/>
                </a:solidFill>
                <a:latin typeface="Quattrocento Sans"/>
                <a:ea typeface="Quattrocento Sans"/>
              </a:rPr>
              <a:t>08 • Conservation Implications</a:t>
            </a:r>
            <a:endParaRPr b="0" lang="en-HK" sz="880" spc="-1" strike="noStrike">
              <a:latin typeface="Arial"/>
            </a:endParaRPr>
          </a:p>
        </p:txBody>
      </p:sp>
      <p:sp>
        <p:nvSpPr>
          <p:cNvPr id="738" name="Text 1"/>
          <p:cNvSpPr/>
          <p:nvPr/>
        </p:nvSpPr>
        <p:spPr>
          <a:xfrm>
            <a:off x="318960" y="542160"/>
            <a:ext cx="11696040" cy="3175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60" spc="-1" strike="noStrike">
                <a:solidFill>
                  <a:srgbClr val="2f3e3b"/>
                </a:solidFill>
                <a:latin typeface="Sorts Mill Goudy"/>
                <a:ea typeface="Sorts Mill Goudy"/>
              </a:rPr>
              <a:t>Conservation Strategies &amp; Management</a:t>
            </a:r>
            <a:endParaRPr b="0" lang="en-HK" sz="2260" spc="-1" strike="noStrike">
              <a:latin typeface="Arial"/>
            </a:endParaRPr>
          </a:p>
        </p:txBody>
      </p:sp>
      <p:sp>
        <p:nvSpPr>
          <p:cNvPr id="739" name="Text 2"/>
          <p:cNvSpPr/>
          <p:nvPr/>
        </p:nvSpPr>
        <p:spPr>
          <a:xfrm>
            <a:off x="318960" y="924840"/>
            <a:ext cx="116244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Translating ecological mechanisms into practical approaches</a:t>
            </a:r>
            <a:endParaRPr b="0" lang="en-HK" sz="1130" spc="-1" strike="noStrike">
              <a:latin typeface="Arial"/>
            </a:endParaRPr>
          </a:p>
        </p:txBody>
      </p:sp>
      <p:sp>
        <p:nvSpPr>
          <p:cNvPr id="740" name="Shape 3"/>
          <p:cNvSpPr/>
          <p:nvPr/>
        </p:nvSpPr>
        <p:spPr>
          <a:xfrm>
            <a:off x="318960" y="1307880"/>
            <a:ext cx="7645320" cy="2422440"/>
          </a:xfrm>
          <a:custGeom>
            <a:avLst/>
            <a:gdLst/>
            <a:ah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41" name="Text 4"/>
          <p:cNvSpPr/>
          <p:nvPr/>
        </p:nvSpPr>
        <p:spPr>
          <a:xfrm>
            <a:off x="478440" y="1467360"/>
            <a:ext cx="740628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Ecosystem-Based Management Strategies</a:t>
            </a:r>
            <a:endParaRPr b="0" lang="en-HK" sz="1260" spc="-1" strike="noStrike">
              <a:latin typeface="Arial"/>
            </a:endParaRPr>
          </a:p>
        </p:txBody>
      </p:sp>
      <p:sp>
        <p:nvSpPr>
          <p:cNvPr id="742" name="Text 5"/>
          <p:cNvSpPr/>
          <p:nvPr/>
        </p:nvSpPr>
        <p:spPr>
          <a:xfrm>
            <a:off x="478440" y="1786320"/>
            <a:ext cx="7390440" cy="413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Effective forest conservation requires </a:t>
            </a:r>
            <a:r>
              <a:rPr b="0" lang="en-US" sz="1010" spc="-1" strike="noStrike">
                <a:solidFill>
                  <a:srgbClr val="2f3e3b"/>
                </a:solidFill>
                <a:highlight>
                  <a:srgbClr val="8fb7ac"/>
                </a:highlight>
                <a:latin typeface="Quattrocento Sans"/>
                <a:ea typeface="Quattrocento Sans"/>
              </a:rPr>
              <a:t>management approaches that maintain the ecological mechanisms sustaining biodiversity </a:t>
            </a:r>
            <a:r>
              <a:rPr b="0" lang="en-US" sz="1010" spc="-1" strike="noStrike">
                <a:solidFill>
                  <a:srgbClr val="1f2a28"/>
                </a:solidFill>
                <a:latin typeface="Quattrocento Sans"/>
                <a:ea typeface="Quattrocento Sans"/>
              </a:rPr>
              <a:t>. Close-to-nature forestry and retention forestry aim to preserve structural complexity and natural processes.</a:t>
            </a:r>
            <a:endParaRPr b="0" lang="en-HK" sz="1010" spc="-1" strike="noStrike">
              <a:latin typeface="Arial"/>
            </a:endParaRPr>
          </a:p>
        </p:txBody>
      </p:sp>
      <p:sp>
        <p:nvSpPr>
          <p:cNvPr id="743" name="Shape 6"/>
          <p:cNvSpPr/>
          <p:nvPr/>
        </p:nvSpPr>
        <p:spPr>
          <a:xfrm>
            <a:off x="478440" y="2328480"/>
            <a:ext cx="3602880" cy="124236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000"/>
            </a:srgbClr>
          </a:solidFill>
          <a:ln w="0">
            <a:noFill/>
          </a:ln>
        </p:spPr>
        <p:style>
          <a:lnRef idx="0"/>
          <a:fillRef idx="0"/>
          <a:effectRef idx="0"/>
          <a:fontRef idx="minor"/>
        </p:style>
      </p:sp>
      <p:sp>
        <p:nvSpPr>
          <p:cNvPr id="744" name="Shape 7"/>
          <p:cNvSpPr/>
          <p:nvPr/>
        </p:nvSpPr>
        <p:spPr>
          <a:xfrm>
            <a:off x="630000" y="2487960"/>
            <a:ext cx="110160" cy="126000"/>
          </a:xfrm>
          <a:custGeom>
            <a:avLst/>
            <a:gdLst/>
            <a:ah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w="0">
            <a:noFill/>
          </a:ln>
        </p:spPr>
        <p:style>
          <a:lnRef idx="0"/>
          <a:fillRef idx="0"/>
          <a:effectRef idx="0"/>
          <a:fontRef idx="minor"/>
        </p:style>
      </p:sp>
      <p:sp>
        <p:nvSpPr>
          <p:cNvPr id="745" name="Text 8"/>
          <p:cNvSpPr/>
          <p:nvPr/>
        </p:nvSpPr>
        <p:spPr>
          <a:xfrm>
            <a:off x="765360" y="2455920"/>
            <a:ext cx="3251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Structural Complexity</a:t>
            </a:r>
            <a:endParaRPr b="0" lang="en-HK" sz="1010" spc="-1" strike="noStrike">
              <a:latin typeface="Arial"/>
            </a:endParaRPr>
          </a:p>
        </p:txBody>
      </p:sp>
      <p:sp>
        <p:nvSpPr>
          <p:cNvPr id="746" name="Text 9"/>
          <p:cNvSpPr/>
          <p:nvPr/>
        </p:nvSpPr>
        <p:spPr>
          <a:xfrm>
            <a:off x="605880" y="271116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vertical layering</a:t>
            </a:r>
            <a:endParaRPr b="0" lang="en-HK" sz="880" spc="-1" strike="noStrike">
              <a:latin typeface="Arial"/>
            </a:endParaRPr>
          </a:p>
        </p:txBody>
      </p:sp>
      <p:sp>
        <p:nvSpPr>
          <p:cNvPr id="747" name="Text 10"/>
          <p:cNvSpPr/>
          <p:nvPr/>
        </p:nvSpPr>
        <p:spPr>
          <a:xfrm>
            <a:off x="605880" y="290232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Retain dead wood and snags</a:t>
            </a:r>
            <a:endParaRPr b="0" lang="en-HK" sz="880" spc="-1" strike="noStrike">
              <a:latin typeface="Arial"/>
            </a:endParaRPr>
          </a:p>
        </p:txBody>
      </p:sp>
      <p:sp>
        <p:nvSpPr>
          <p:cNvPr id="748" name="Text 11"/>
          <p:cNvSpPr/>
          <p:nvPr/>
        </p:nvSpPr>
        <p:spPr>
          <a:xfrm>
            <a:off x="605880" y="309384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Preserve veteran trees</a:t>
            </a:r>
            <a:endParaRPr b="0" lang="en-HK" sz="880" spc="-1" strike="noStrike">
              <a:latin typeface="Arial"/>
            </a:endParaRPr>
          </a:p>
        </p:txBody>
      </p:sp>
      <p:sp>
        <p:nvSpPr>
          <p:cNvPr id="749" name="Text 12"/>
          <p:cNvSpPr/>
          <p:nvPr/>
        </p:nvSpPr>
        <p:spPr>
          <a:xfrm>
            <a:off x="605880" y="328536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Create canopy gaps</a:t>
            </a:r>
            <a:endParaRPr b="0" lang="en-HK" sz="880" spc="-1" strike="noStrike">
              <a:latin typeface="Arial"/>
            </a:endParaRPr>
          </a:p>
        </p:txBody>
      </p:sp>
      <p:sp>
        <p:nvSpPr>
          <p:cNvPr id="750" name="Shape 13"/>
          <p:cNvSpPr/>
          <p:nvPr/>
        </p:nvSpPr>
        <p:spPr>
          <a:xfrm>
            <a:off x="4207320" y="2328480"/>
            <a:ext cx="3602880" cy="124236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000"/>
            </a:srgbClr>
          </a:solidFill>
          <a:ln w="0">
            <a:noFill/>
          </a:ln>
        </p:spPr>
        <p:style>
          <a:lnRef idx="0"/>
          <a:fillRef idx="0"/>
          <a:effectRef idx="0"/>
          <a:fontRef idx="minor"/>
        </p:style>
      </p:sp>
      <p:sp>
        <p:nvSpPr>
          <p:cNvPr id="751" name="Shape 14"/>
          <p:cNvSpPr/>
          <p:nvPr/>
        </p:nvSpPr>
        <p:spPr>
          <a:xfrm>
            <a:off x="4350600" y="2487960"/>
            <a:ext cx="126000" cy="126000"/>
          </a:xfrm>
          <a:custGeom>
            <a:avLst/>
            <a:gdLst/>
            <a:ah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w="0">
            <a:noFill/>
          </a:ln>
        </p:spPr>
        <p:style>
          <a:lnRef idx="0"/>
          <a:fillRef idx="0"/>
          <a:effectRef idx="0"/>
          <a:fontRef idx="minor"/>
        </p:style>
      </p:sp>
      <p:sp>
        <p:nvSpPr>
          <p:cNvPr id="752" name="Text 15"/>
          <p:cNvSpPr/>
          <p:nvPr/>
        </p:nvSpPr>
        <p:spPr>
          <a:xfrm>
            <a:off x="4494240" y="2455920"/>
            <a:ext cx="32518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Natural Regeneration</a:t>
            </a:r>
            <a:endParaRPr b="0" lang="en-HK" sz="1010" spc="-1" strike="noStrike">
              <a:latin typeface="Arial"/>
            </a:endParaRPr>
          </a:p>
        </p:txBody>
      </p:sp>
      <p:sp>
        <p:nvSpPr>
          <p:cNvPr id="753" name="Text 16"/>
          <p:cNvSpPr/>
          <p:nvPr/>
        </p:nvSpPr>
        <p:spPr>
          <a:xfrm>
            <a:off x="4334760" y="271116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Promote native species</a:t>
            </a:r>
            <a:endParaRPr b="0" lang="en-HK" sz="880" spc="-1" strike="noStrike">
              <a:latin typeface="Arial"/>
            </a:endParaRPr>
          </a:p>
        </p:txBody>
      </p:sp>
      <p:sp>
        <p:nvSpPr>
          <p:cNvPr id="754" name="Text 17"/>
          <p:cNvSpPr/>
          <p:nvPr/>
        </p:nvSpPr>
        <p:spPr>
          <a:xfrm>
            <a:off x="4334760" y="290232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seed sources</a:t>
            </a:r>
            <a:endParaRPr b="0" lang="en-HK" sz="880" spc="-1" strike="noStrike">
              <a:latin typeface="Arial"/>
            </a:endParaRPr>
          </a:p>
        </p:txBody>
      </p:sp>
      <p:sp>
        <p:nvSpPr>
          <p:cNvPr id="755" name="Text 18"/>
          <p:cNvSpPr/>
          <p:nvPr/>
        </p:nvSpPr>
        <p:spPr>
          <a:xfrm>
            <a:off x="4334760" y="309384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Protect dispersers</a:t>
            </a:r>
            <a:endParaRPr b="0" lang="en-HK" sz="880" spc="-1" strike="noStrike">
              <a:latin typeface="Arial"/>
            </a:endParaRPr>
          </a:p>
        </p:txBody>
      </p:sp>
      <p:sp>
        <p:nvSpPr>
          <p:cNvPr id="756" name="Text 19"/>
          <p:cNvSpPr/>
          <p:nvPr/>
        </p:nvSpPr>
        <p:spPr>
          <a:xfrm>
            <a:off x="4334760" y="3285360"/>
            <a:ext cx="340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Minimize soil disturbance</a:t>
            </a:r>
            <a:endParaRPr b="0" lang="en-HK" sz="880" spc="-1" strike="noStrike">
              <a:latin typeface="Arial"/>
            </a:endParaRPr>
          </a:p>
        </p:txBody>
      </p:sp>
      <p:sp>
        <p:nvSpPr>
          <p:cNvPr id="757" name="Shape 20"/>
          <p:cNvSpPr/>
          <p:nvPr/>
        </p:nvSpPr>
        <p:spPr>
          <a:xfrm>
            <a:off x="318960" y="3859200"/>
            <a:ext cx="3762360" cy="299664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58" name="Text 21"/>
          <p:cNvSpPr/>
          <p:nvPr/>
        </p:nvSpPr>
        <p:spPr>
          <a:xfrm>
            <a:off x="446400" y="3987000"/>
            <a:ext cx="35787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Certification Schemes</a:t>
            </a:r>
            <a:endParaRPr b="0" lang="en-HK" sz="1130" spc="-1" strike="noStrike">
              <a:latin typeface="Arial"/>
            </a:endParaRPr>
          </a:p>
        </p:txBody>
      </p:sp>
      <p:sp>
        <p:nvSpPr>
          <p:cNvPr id="759" name="Shape 22"/>
          <p:cNvSpPr/>
          <p:nvPr/>
        </p:nvSpPr>
        <p:spPr>
          <a:xfrm>
            <a:off x="446400" y="4305960"/>
            <a:ext cx="3507120" cy="70020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0" name="Text 23"/>
          <p:cNvSpPr/>
          <p:nvPr/>
        </p:nvSpPr>
        <p:spPr>
          <a:xfrm>
            <a:off x="542160" y="4401720"/>
            <a:ext cx="33793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FSC (Forest Stewardship Council)</a:t>
            </a:r>
            <a:endParaRPr b="0" lang="en-HK" sz="1010" spc="-1" strike="noStrike">
              <a:latin typeface="Arial"/>
            </a:endParaRPr>
          </a:p>
        </p:txBody>
      </p:sp>
      <p:sp>
        <p:nvSpPr>
          <p:cNvPr id="761" name="Text 24"/>
          <p:cNvSpPr/>
          <p:nvPr/>
        </p:nvSpPr>
        <p:spPr>
          <a:xfrm>
            <a:off x="542160" y="4592880"/>
            <a:ext cx="3371400" cy="317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Environmental, social, economic standards for responsible management</a:t>
            </a:r>
            <a:endParaRPr b="0" lang="en-HK" sz="880" spc="-1" strike="noStrike">
              <a:latin typeface="Arial"/>
            </a:endParaRPr>
          </a:p>
        </p:txBody>
      </p:sp>
      <p:sp>
        <p:nvSpPr>
          <p:cNvPr id="762" name="Shape 25"/>
          <p:cNvSpPr/>
          <p:nvPr/>
        </p:nvSpPr>
        <p:spPr>
          <a:xfrm>
            <a:off x="446400" y="5071320"/>
            <a:ext cx="3507120" cy="70020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3" name="Text 26"/>
          <p:cNvSpPr/>
          <p:nvPr/>
        </p:nvSpPr>
        <p:spPr>
          <a:xfrm>
            <a:off x="542160" y="5167080"/>
            <a:ext cx="33793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PEFC (Programme for Endorsement of Forest Certification)</a:t>
            </a:r>
            <a:endParaRPr b="0" lang="en-HK" sz="1010" spc="-1" strike="noStrike">
              <a:latin typeface="Arial"/>
            </a:endParaRPr>
          </a:p>
        </p:txBody>
      </p:sp>
      <p:sp>
        <p:nvSpPr>
          <p:cNvPr id="764" name="Text 27"/>
          <p:cNvSpPr/>
          <p:nvPr/>
        </p:nvSpPr>
        <p:spPr>
          <a:xfrm>
            <a:off x="542160" y="5358600"/>
            <a:ext cx="3371400" cy="317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Promotes sustainable forest management through independent certification</a:t>
            </a:r>
            <a:endParaRPr b="0" lang="en-HK" sz="880" spc="-1" strike="noStrike">
              <a:latin typeface="Arial"/>
            </a:endParaRPr>
          </a:p>
        </p:txBody>
      </p:sp>
      <p:sp>
        <p:nvSpPr>
          <p:cNvPr id="765" name="Shape 28"/>
          <p:cNvSpPr/>
          <p:nvPr/>
        </p:nvSpPr>
        <p:spPr>
          <a:xfrm>
            <a:off x="4207320" y="3859200"/>
            <a:ext cx="3762360" cy="299664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66" name="Text 29"/>
          <p:cNvSpPr/>
          <p:nvPr/>
        </p:nvSpPr>
        <p:spPr>
          <a:xfrm>
            <a:off x="4334760" y="3987000"/>
            <a:ext cx="357876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Key Interventions</a:t>
            </a:r>
            <a:endParaRPr b="0" lang="en-HK" sz="1130" spc="-1" strike="noStrike">
              <a:latin typeface="Arial"/>
            </a:endParaRPr>
          </a:p>
        </p:txBody>
      </p:sp>
      <p:sp>
        <p:nvSpPr>
          <p:cNvPr id="767" name="Shape 30"/>
          <p:cNvSpPr/>
          <p:nvPr/>
        </p:nvSpPr>
        <p:spPr>
          <a:xfrm>
            <a:off x="4350600" y="4337640"/>
            <a:ext cx="126000" cy="12600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68" name="Text 31"/>
          <p:cNvSpPr/>
          <p:nvPr/>
        </p:nvSpPr>
        <p:spPr>
          <a:xfrm>
            <a:off x="4557960" y="4305960"/>
            <a:ext cx="28371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Extended rotations:</a:t>
            </a:r>
            <a:r>
              <a:rPr b="0" lang="en-US" sz="1010" spc="-1" strike="noStrike">
                <a:solidFill>
                  <a:srgbClr val="5f6f6b"/>
                </a:solidFill>
                <a:latin typeface="Quattrocento Sans"/>
                <a:ea typeface="Quattrocento Sans"/>
              </a:rPr>
              <a:t> Promote structural complexity</a:t>
            </a:r>
            <a:endParaRPr b="0" lang="en-HK" sz="1010" spc="-1" strike="noStrike">
              <a:latin typeface="Arial"/>
            </a:endParaRPr>
          </a:p>
        </p:txBody>
      </p:sp>
      <p:sp>
        <p:nvSpPr>
          <p:cNvPr id="769" name="Shape 32"/>
          <p:cNvSpPr/>
          <p:nvPr/>
        </p:nvSpPr>
        <p:spPr>
          <a:xfrm>
            <a:off x="4350600" y="4592880"/>
            <a:ext cx="126000" cy="12600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0" name="Text 33"/>
          <p:cNvSpPr/>
          <p:nvPr/>
        </p:nvSpPr>
        <p:spPr>
          <a:xfrm>
            <a:off x="4557960" y="4561200"/>
            <a:ext cx="23029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Mixed-species stands:</a:t>
            </a:r>
            <a:r>
              <a:rPr b="0" lang="en-US" sz="1010" spc="-1" strike="noStrike">
                <a:solidFill>
                  <a:srgbClr val="5f6f6b"/>
                </a:solidFill>
                <a:latin typeface="Quattrocento Sans"/>
                <a:ea typeface="Quattrocento Sans"/>
              </a:rPr>
              <a:t> Enhance diversity</a:t>
            </a:r>
            <a:endParaRPr b="0" lang="en-HK" sz="1010" spc="-1" strike="noStrike">
              <a:latin typeface="Arial"/>
            </a:endParaRPr>
          </a:p>
        </p:txBody>
      </p:sp>
      <p:sp>
        <p:nvSpPr>
          <p:cNvPr id="771" name="Shape 34"/>
          <p:cNvSpPr/>
          <p:nvPr/>
        </p:nvSpPr>
        <p:spPr>
          <a:xfrm>
            <a:off x="4350600" y="4848120"/>
            <a:ext cx="126000" cy="12600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2" name="Text 35"/>
          <p:cNvSpPr/>
          <p:nvPr/>
        </p:nvSpPr>
        <p:spPr>
          <a:xfrm>
            <a:off x="4557960" y="4816080"/>
            <a:ext cx="21513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Retention forestry:</a:t>
            </a:r>
            <a:r>
              <a:rPr b="0" lang="en-US" sz="1010" spc="-1" strike="noStrike">
                <a:solidFill>
                  <a:srgbClr val="5f6f6b"/>
                </a:solidFill>
                <a:latin typeface="Quattrocento Sans"/>
                <a:ea typeface="Quattrocento Sans"/>
              </a:rPr>
              <a:t> Leave habitat trees</a:t>
            </a:r>
            <a:endParaRPr b="0" lang="en-HK" sz="1010" spc="-1" strike="noStrike">
              <a:latin typeface="Arial"/>
            </a:endParaRPr>
          </a:p>
        </p:txBody>
      </p:sp>
      <p:sp>
        <p:nvSpPr>
          <p:cNvPr id="773" name="Shape 36"/>
          <p:cNvSpPr/>
          <p:nvPr/>
        </p:nvSpPr>
        <p:spPr>
          <a:xfrm>
            <a:off x="4350600" y="5103360"/>
            <a:ext cx="126000" cy="12600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4" name="Text 37"/>
          <p:cNvSpPr/>
          <p:nvPr/>
        </p:nvSpPr>
        <p:spPr>
          <a:xfrm>
            <a:off x="4557960" y="5071320"/>
            <a:ext cx="22629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Ecological corridors:</a:t>
            </a:r>
            <a:r>
              <a:rPr b="0" lang="en-US" sz="1010" spc="-1" strike="noStrike">
                <a:solidFill>
                  <a:srgbClr val="5f6f6b"/>
                </a:solidFill>
                <a:latin typeface="Quattrocento Sans"/>
                <a:ea typeface="Quattrocento Sans"/>
              </a:rPr>
              <a:t> Connect fragments</a:t>
            </a:r>
            <a:endParaRPr b="0" lang="en-HK" sz="1010" spc="-1" strike="noStrike">
              <a:latin typeface="Arial"/>
            </a:endParaRPr>
          </a:p>
        </p:txBody>
      </p:sp>
      <p:sp>
        <p:nvSpPr>
          <p:cNvPr id="775" name="Shape 38"/>
          <p:cNvSpPr/>
          <p:nvPr/>
        </p:nvSpPr>
        <p:spPr>
          <a:xfrm>
            <a:off x="8127360" y="1307880"/>
            <a:ext cx="3746160" cy="1976040"/>
          </a:xfrm>
          <a:custGeom>
            <a:avLst/>
            <a:gdLst/>
            <a:ah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w="0">
            <a:noFill/>
          </a:ln>
        </p:spPr>
        <p:style>
          <a:lnRef idx="0"/>
          <a:fillRef idx="0"/>
          <a:effectRef idx="0"/>
          <a:fontRef idx="minor"/>
        </p:style>
      </p:sp>
      <p:sp>
        <p:nvSpPr>
          <p:cNvPr id="776" name="Text 39"/>
          <p:cNvSpPr/>
          <p:nvPr/>
        </p:nvSpPr>
        <p:spPr>
          <a:xfrm>
            <a:off x="8286840" y="1467360"/>
            <a:ext cx="34992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Protected Area Strategies</a:t>
            </a:r>
            <a:endParaRPr b="0" lang="en-HK" sz="1130" spc="-1" strike="noStrike">
              <a:latin typeface="Arial"/>
            </a:endParaRPr>
          </a:p>
        </p:txBody>
      </p:sp>
      <p:sp>
        <p:nvSpPr>
          <p:cNvPr id="777" name="Shape 40"/>
          <p:cNvSpPr/>
          <p:nvPr/>
        </p:nvSpPr>
        <p:spPr>
          <a:xfrm>
            <a:off x="8294760" y="1818000"/>
            <a:ext cx="126000" cy="12600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78" name="Text 41"/>
          <p:cNvSpPr/>
          <p:nvPr/>
        </p:nvSpPr>
        <p:spPr>
          <a:xfrm>
            <a:off x="8496000" y="1786320"/>
            <a:ext cx="3275640" cy="38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Prioritize unprotected hotspots:</a:t>
            </a:r>
            <a:r>
              <a:rPr b="0" lang="en-US" sz="1010" spc="-1" strike="noStrike">
                <a:solidFill>
                  <a:srgbClr val="ffffff"/>
                </a:solidFill>
                <a:latin typeface="Quattrocento Sans"/>
                <a:ea typeface="Quattrocento Sans"/>
              </a:rPr>
              <a:t> High biodiversity + carbon areas</a:t>
            </a:r>
            <a:endParaRPr b="0" lang="en-HK" sz="1010" spc="-1" strike="noStrike">
              <a:latin typeface="Arial"/>
            </a:endParaRPr>
          </a:p>
        </p:txBody>
      </p:sp>
      <p:sp>
        <p:nvSpPr>
          <p:cNvPr id="779" name="Shape 42"/>
          <p:cNvSpPr/>
          <p:nvPr/>
        </p:nvSpPr>
        <p:spPr>
          <a:xfrm>
            <a:off x="8290800" y="2296440"/>
            <a:ext cx="126000" cy="12600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0" name="Text 43"/>
          <p:cNvSpPr/>
          <p:nvPr/>
        </p:nvSpPr>
        <p:spPr>
          <a:xfrm>
            <a:off x="8485920" y="2264400"/>
            <a:ext cx="3291840" cy="38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Manage low-stability areas:</a:t>
            </a:r>
            <a:r>
              <a:rPr b="0" lang="en-US" sz="1010" spc="-1" strike="noStrike">
                <a:solidFill>
                  <a:srgbClr val="ffffff"/>
                </a:solidFill>
                <a:latin typeface="Quattrocento Sans"/>
                <a:ea typeface="Quattrocento Sans"/>
              </a:rPr>
              <a:t> Active intervention in protected hotspots</a:t>
            </a:r>
            <a:endParaRPr b="0" lang="en-HK" sz="1010" spc="-1" strike="noStrike">
              <a:latin typeface="Arial"/>
            </a:endParaRPr>
          </a:p>
        </p:txBody>
      </p:sp>
      <p:sp>
        <p:nvSpPr>
          <p:cNvPr id="781" name="Shape 44"/>
          <p:cNvSpPr/>
          <p:nvPr/>
        </p:nvSpPr>
        <p:spPr>
          <a:xfrm>
            <a:off x="8294760" y="2774880"/>
            <a:ext cx="126000" cy="12600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2" name="Text 45"/>
          <p:cNvSpPr/>
          <p:nvPr/>
        </p:nvSpPr>
        <p:spPr>
          <a:xfrm>
            <a:off x="8492040" y="2742840"/>
            <a:ext cx="3283920" cy="38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Comprehensive protection:</a:t>
            </a:r>
            <a:r>
              <a:rPr b="0" lang="en-US" sz="1010" spc="-1" strike="noStrike">
                <a:solidFill>
                  <a:srgbClr val="ffffff"/>
                </a:solidFill>
                <a:latin typeface="Quattrocento Sans"/>
                <a:ea typeface="Quattrocento Sans"/>
              </a:rPr>
              <a:t> Integrated regime for vulnerable areas</a:t>
            </a:r>
            <a:endParaRPr b="0" lang="en-HK" sz="1010" spc="-1" strike="noStrike">
              <a:latin typeface="Arial"/>
            </a:endParaRPr>
          </a:p>
        </p:txBody>
      </p:sp>
      <p:sp>
        <p:nvSpPr>
          <p:cNvPr id="783" name="Shape 46"/>
          <p:cNvSpPr/>
          <p:nvPr/>
        </p:nvSpPr>
        <p:spPr>
          <a:xfrm>
            <a:off x="8127360" y="3412800"/>
            <a:ext cx="3746160" cy="2550240"/>
          </a:xfrm>
          <a:custGeom>
            <a:avLst/>
            <a:gdLst/>
            <a:ah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84" name="Text 47"/>
          <p:cNvSpPr/>
          <p:nvPr/>
        </p:nvSpPr>
        <p:spPr>
          <a:xfrm>
            <a:off x="8286840" y="3572280"/>
            <a:ext cx="34992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Community Engagement</a:t>
            </a:r>
            <a:endParaRPr b="0" lang="en-HK" sz="1130" spc="-1" strike="noStrike">
              <a:latin typeface="Arial"/>
            </a:endParaRPr>
          </a:p>
        </p:txBody>
      </p:sp>
      <p:sp>
        <p:nvSpPr>
          <p:cNvPr id="785" name="Shape 48"/>
          <p:cNvSpPr/>
          <p:nvPr/>
        </p:nvSpPr>
        <p:spPr>
          <a:xfrm>
            <a:off x="8286840" y="3891240"/>
            <a:ext cx="3427200" cy="57276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6" name="Text 49"/>
          <p:cNvSpPr/>
          <p:nvPr/>
        </p:nvSpPr>
        <p:spPr>
          <a:xfrm>
            <a:off x="8382600" y="3987000"/>
            <a:ext cx="32997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Community Forestry</a:t>
            </a:r>
            <a:endParaRPr b="0" lang="en-HK" sz="1010" spc="-1" strike="noStrike">
              <a:latin typeface="Arial"/>
            </a:endParaRPr>
          </a:p>
        </p:txBody>
      </p:sp>
      <p:sp>
        <p:nvSpPr>
          <p:cNvPr id="787" name="Text 50"/>
          <p:cNvSpPr/>
          <p:nvPr/>
        </p:nvSpPr>
        <p:spPr>
          <a:xfrm>
            <a:off x="8382600" y="4210200"/>
            <a:ext cx="32918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Local stewardship and sustainable livelihoods</a:t>
            </a:r>
            <a:endParaRPr b="0" lang="en-HK" sz="880" spc="-1" strike="noStrike">
              <a:latin typeface="Arial"/>
            </a:endParaRPr>
          </a:p>
        </p:txBody>
      </p:sp>
      <p:sp>
        <p:nvSpPr>
          <p:cNvPr id="788" name="Shape 51"/>
          <p:cNvSpPr/>
          <p:nvPr/>
        </p:nvSpPr>
        <p:spPr>
          <a:xfrm>
            <a:off x="8286840" y="4561200"/>
            <a:ext cx="3427200" cy="57276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9" name="Text 52"/>
          <p:cNvSpPr/>
          <p:nvPr/>
        </p:nvSpPr>
        <p:spPr>
          <a:xfrm>
            <a:off x="8382600" y="4656600"/>
            <a:ext cx="32997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Indigenous Rights</a:t>
            </a:r>
            <a:endParaRPr b="0" lang="en-HK" sz="1010" spc="-1" strike="noStrike">
              <a:latin typeface="Arial"/>
            </a:endParaRPr>
          </a:p>
        </p:txBody>
      </p:sp>
      <p:sp>
        <p:nvSpPr>
          <p:cNvPr id="790" name="Text 53"/>
          <p:cNvSpPr/>
          <p:nvPr/>
        </p:nvSpPr>
        <p:spPr>
          <a:xfrm>
            <a:off x="8382600" y="4880160"/>
            <a:ext cx="32918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Recognize traditional knowledge and land tenure</a:t>
            </a:r>
            <a:endParaRPr b="0" lang="en-HK" sz="880" spc="-1" strike="noStrike">
              <a:latin typeface="Arial"/>
            </a:endParaRPr>
          </a:p>
        </p:txBody>
      </p:sp>
      <p:sp>
        <p:nvSpPr>
          <p:cNvPr id="791" name="Shape 54"/>
          <p:cNvSpPr/>
          <p:nvPr/>
        </p:nvSpPr>
        <p:spPr>
          <a:xfrm>
            <a:off x="8286840" y="5230800"/>
            <a:ext cx="3427200" cy="57276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92" name="Text 55"/>
          <p:cNvSpPr/>
          <p:nvPr/>
        </p:nvSpPr>
        <p:spPr>
          <a:xfrm>
            <a:off x="8382600" y="5326560"/>
            <a:ext cx="32997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Payment for Ecosystem Services</a:t>
            </a:r>
            <a:endParaRPr b="0" lang="en-HK" sz="1010" spc="-1" strike="noStrike">
              <a:latin typeface="Arial"/>
            </a:endParaRPr>
          </a:p>
        </p:txBody>
      </p:sp>
      <p:sp>
        <p:nvSpPr>
          <p:cNvPr id="793" name="Text 56"/>
          <p:cNvSpPr/>
          <p:nvPr/>
        </p:nvSpPr>
        <p:spPr>
          <a:xfrm>
            <a:off x="8382600" y="5549760"/>
            <a:ext cx="32918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Compensate landowners for conservation</a:t>
            </a:r>
            <a:endParaRPr b="0" lang="en-HK" sz="880" spc="-1" strike="noStrike">
              <a:latin typeface="Arial"/>
            </a:endParaRPr>
          </a:p>
        </p:txBody>
      </p:sp>
      <p:sp>
        <p:nvSpPr>
          <p:cNvPr id="794" name="Shape 57"/>
          <p:cNvSpPr/>
          <p:nvPr/>
        </p:nvSpPr>
        <p:spPr>
          <a:xfrm>
            <a:off x="8127360" y="6091920"/>
            <a:ext cx="3746160" cy="763920"/>
          </a:xfrm>
          <a:custGeom>
            <a:avLst/>
            <a:gdLst/>
            <a:ah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w="0">
            <a:noFill/>
          </a:ln>
        </p:spPr>
        <p:style>
          <a:lnRef idx="0"/>
          <a:fillRef idx="0"/>
          <a:effectRef idx="0"/>
          <a:fontRef idx="minor"/>
        </p:style>
      </p:sp>
      <p:sp>
        <p:nvSpPr>
          <p:cNvPr id="795" name="Text 58"/>
          <p:cNvSpPr/>
          <p:nvPr/>
        </p:nvSpPr>
        <p:spPr>
          <a:xfrm>
            <a:off x="8195040" y="6219720"/>
            <a:ext cx="3610800" cy="2854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90" spc="-1" strike="noStrike">
                <a:solidFill>
                  <a:srgbClr val="ffffff"/>
                </a:solidFill>
                <a:latin typeface="Sorts Mill Goudy"/>
                <a:ea typeface="Sorts Mill Goudy"/>
              </a:rPr>
              <a:t>Nature Restoration</a:t>
            </a:r>
            <a:endParaRPr b="0" lang="en-HK" sz="1890" spc="-1" strike="noStrike">
              <a:latin typeface="Arial"/>
            </a:endParaRPr>
          </a:p>
        </p:txBody>
      </p:sp>
      <p:sp>
        <p:nvSpPr>
          <p:cNvPr id="796" name="Text 59"/>
          <p:cNvSpPr/>
          <p:nvPr/>
        </p:nvSpPr>
        <p:spPr>
          <a:xfrm>
            <a:off x="8223120" y="6538680"/>
            <a:ext cx="3555000" cy="190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EU targets: 30% by 2030, 90% by 2050</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97" name="Image 0"/>
          <p:cNvSpPr/>
          <p:nvPr/>
        </p:nvSpPr>
        <p:spPr>
          <a:xfrm>
            <a:off x="0" y="0"/>
            <a:ext cx="12190680" cy="6856560"/>
          </a:xfrm>
          <a:prstGeom prst="roundRect">
            <a:avLst>
              <a:gd name="adj" fmla="val 0"/>
            </a:avLst>
          </a:prstGeom>
          <a:blipFill rotWithShape="0">
            <a:blip r:embed="rId1"/>
            <a:srcRect/>
            <a:stretch/>
          </a:blipFill>
          <a:ln w="0">
            <a:noFill/>
          </a:ln>
        </p:spPr>
        <p:style>
          <a:lnRef idx="0"/>
          <a:fillRef idx="0"/>
          <a:effectRef idx="0"/>
          <a:fontRef idx="minor"/>
        </p:style>
      </p:sp>
      <p:sp>
        <p:nvSpPr>
          <p:cNvPr id="798" name="Shape 0"/>
          <p:cNvSpPr/>
          <p:nvPr/>
        </p:nvSpPr>
        <p:spPr>
          <a:xfrm>
            <a:off x="0" y="0"/>
            <a:ext cx="12190680" cy="685656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70196"/>
                </a:srgbClr>
              </a:gs>
            </a:gsLst>
            <a:lin ang="16200000"/>
          </a:gradFill>
          <a:ln w="0">
            <a:noFill/>
          </a:ln>
        </p:spPr>
        <p:style>
          <a:lnRef idx="0"/>
          <a:fillRef idx="0"/>
          <a:effectRef idx="0"/>
          <a:fontRef idx="minor"/>
        </p:style>
      </p:sp>
      <p:sp>
        <p:nvSpPr>
          <p:cNvPr id="799" name="Shape 1"/>
          <p:cNvSpPr/>
          <p:nvPr/>
        </p:nvSpPr>
        <p:spPr>
          <a:xfrm>
            <a:off x="380880" y="182160"/>
            <a:ext cx="1274760" cy="379440"/>
          </a:xfrm>
          <a:custGeom>
            <a:avLst/>
            <a:gdLst/>
            <a:ah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000"/>
            </a:srgbClr>
          </a:solidFill>
          <a:ln w="0">
            <a:noFill/>
          </a:ln>
        </p:spPr>
        <p:style>
          <a:lnRef idx="0"/>
          <a:fillRef idx="0"/>
          <a:effectRef idx="0"/>
          <a:fontRef idx="minor"/>
        </p:style>
      </p:sp>
      <p:sp>
        <p:nvSpPr>
          <p:cNvPr id="800" name="Text 2"/>
          <p:cNvSpPr/>
          <p:nvPr/>
        </p:nvSpPr>
        <p:spPr>
          <a:xfrm>
            <a:off x="571680" y="258480"/>
            <a:ext cx="9702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09" strike="noStrike">
                <a:solidFill>
                  <a:srgbClr val="8fb7ac"/>
                </a:solidFill>
                <a:latin typeface="Quattrocento Sans"/>
                <a:ea typeface="Quattrocento Sans"/>
              </a:rPr>
              <a:t>Synthesis</a:t>
            </a:r>
            <a:endParaRPr b="0" lang="en-HK" sz="1200" spc="-1" strike="noStrike">
              <a:latin typeface="Arial"/>
            </a:endParaRPr>
          </a:p>
        </p:txBody>
      </p:sp>
      <p:sp>
        <p:nvSpPr>
          <p:cNvPr id="801" name="Text 3"/>
          <p:cNvSpPr/>
          <p:nvPr/>
        </p:nvSpPr>
        <p:spPr>
          <a:xfrm>
            <a:off x="380880" y="791640"/>
            <a:ext cx="8799840" cy="11415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Sorts Mill Goudy"/>
                <a:ea typeface="Sorts Mill Goudy"/>
              </a:rPr>
              <a:t>Integrated Mechanisms for Forest Biodiversity</a:t>
            </a:r>
            <a:endParaRPr b="0" lang="en-HK" sz="3600" spc="-1" strike="noStrike">
              <a:latin typeface="Arial"/>
            </a:endParaRPr>
          </a:p>
        </p:txBody>
      </p:sp>
      <p:sp>
        <p:nvSpPr>
          <p:cNvPr id="802" name="Shape 4"/>
          <p:cNvSpPr/>
          <p:nvPr/>
        </p:nvSpPr>
        <p:spPr>
          <a:xfrm>
            <a:off x="380880" y="2163240"/>
            <a:ext cx="8571240" cy="1694160"/>
          </a:xfrm>
          <a:custGeom>
            <a:avLst/>
            <a:gdLst/>
            <a:ah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000"/>
            </a:srgbClr>
          </a:solidFill>
          <a:ln w="0">
            <a:noFill/>
          </a:ln>
        </p:spPr>
        <p:style>
          <a:lnRef idx="0"/>
          <a:fillRef idx="0"/>
          <a:effectRef idx="0"/>
          <a:fontRef idx="minor"/>
        </p:style>
      </p:sp>
      <p:sp>
        <p:nvSpPr>
          <p:cNvPr id="803" name="Text 5"/>
          <p:cNvSpPr/>
          <p:nvPr/>
        </p:nvSpPr>
        <p:spPr>
          <a:xfrm>
            <a:off x="609480" y="2391840"/>
            <a:ext cx="8209080" cy="1236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500" spc="-1" strike="noStrike">
                <a:solidFill>
                  <a:srgbClr val="ffffff"/>
                </a:solidFill>
                <a:latin typeface="Quattrocento Sans"/>
                <a:ea typeface="Quattrocento Sans"/>
              </a:rPr>
              <a:t>Forest biodiversity emerges from the </a:t>
            </a:r>
            <a:r>
              <a:rPr b="1" lang="en-US" sz="1500" spc="-1" strike="noStrike">
                <a:solidFill>
                  <a:srgbClr val="ffffff"/>
                </a:solidFill>
                <a:latin typeface="Quattrocento Sans"/>
                <a:ea typeface="Quattrocento Sans"/>
              </a:rPr>
              <a:t>interplay of multiple mechanisms</a:t>
            </a:r>
            <a:r>
              <a:rPr b="0" lang="en-US" sz="1500" spc="-1" strike="noStrike">
                <a:solidFill>
                  <a:srgbClr val="ffffff"/>
                </a:solidFill>
                <a:latin typeface="Quattrocento Sans"/>
                <a:ea typeface="Quattrocento Sans"/>
              </a:rPr>
              <a:t>—structural complexity creates habitat diversity, species interactions enable coexistence, disturbances reset competitive hierarchies, belowground networks facilitate resource sharing, and animal-mediated processes drive regeneration.</a:t>
            </a:r>
            <a:endParaRPr b="0" lang="en-HK" sz="1500" spc="-1" strike="noStrike">
              <a:latin typeface="Arial"/>
            </a:endParaRPr>
          </a:p>
        </p:txBody>
      </p:sp>
      <p:sp>
        <p:nvSpPr>
          <p:cNvPr id="804" name="Shape 6"/>
          <p:cNvSpPr/>
          <p:nvPr/>
        </p:nvSpPr>
        <p:spPr>
          <a:xfrm>
            <a:off x="380880" y="4087440"/>
            <a:ext cx="2751120" cy="114156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5" name="Shape 7"/>
          <p:cNvSpPr/>
          <p:nvPr/>
        </p:nvSpPr>
        <p:spPr>
          <a:xfrm>
            <a:off x="561960" y="4239720"/>
            <a:ext cx="227160" cy="227160"/>
          </a:xfrm>
          <a:custGeom>
            <a:avLst/>
            <a:gdLst/>
            <a:ah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w="0">
            <a:noFill/>
          </a:ln>
        </p:spPr>
        <p:style>
          <a:lnRef idx="0"/>
          <a:fillRef idx="0"/>
          <a:effectRef idx="0"/>
          <a:fontRef idx="minor"/>
        </p:style>
      </p:sp>
      <p:sp>
        <p:nvSpPr>
          <p:cNvPr id="806" name="Text 8"/>
          <p:cNvSpPr/>
          <p:nvPr/>
        </p:nvSpPr>
        <p:spPr>
          <a:xfrm>
            <a:off x="533520" y="4544640"/>
            <a:ext cx="253224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Structure</a:t>
            </a:r>
            <a:endParaRPr b="0" lang="en-HK" sz="1350" spc="-1" strike="noStrike">
              <a:latin typeface="Arial"/>
            </a:endParaRPr>
          </a:p>
        </p:txBody>
      </p:sp>
      <p:sp>
        <p:nvSpPr>
          <p:cNvPr id="807" name="Text 9"/>
          <p:cNvSpPr/>
          <p:nvPr/>
        </p:nvSpPr>
        <p:spPr>
          <a:xfrm>
            <a:off x="533520" y="4849560"/>
            <a:ext cx="2522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Vertical &amp; horizontal heterogeneity</a:t>
            </a:r>
            <a:endParaRPr b="0" lang="en-HK" sz="1200" spc="-1" strike="noStrike">
              <a:latin typeface="Arial"/>
            </a:endParaRPr>
          </a:p>
        </p:txBody>
      </p:sp>
      <p:sp>
        <p:nvSpPr>
          <p:cNvPr id="808" name="Shape 10"/>
          <p:cNvSpPr/>
          <p:nvPr/>
        </p:nvSpPr>
        <p:spPr>
          <a:xfrm>
            <a:off x="3289320" y="4087440"/>
            <a:ext cx="2751120" cy="114156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9" name="Shape 11"/>
          <p:cNvSpPr/>
          <p:nvPr/>
        </p:nvSpPr>
        <p:spPr>
          <a:xfrm>
            <a:off x="3470400" y="4239720"/>
            <a:ext cx="227160" cy="227160"/>
          </a:xfrm>
          <a:custGeom>
            <a:avLst/>
            <a:gdLst/>
            <a:ah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w="0">
            <a:noFill/>
          </a:ln>
        </p:spPr>
        <p:style>
          <a:lnRef idx="0"/>
          <a:fillRef idx="0"/>
          <a:effectRef idx="0"/>
          <a:fontRef idx="minor"/>
        </p:style>
      </p:sp>
      <p:sp>
        <p:nvSpPr>
          <p:cNvPr id="810" name="Text 12"/>
          <p:cNvSpPr/>
          <p:nvPr/>
        </p:nvSpPr>
        <p:spPr>
          <a:xfrm>
            <a:off x="3441600" y="4544640"/>
            <a:ext cx="253224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Interactions</a:t>
            </a:r>
            <a:endParaRPr b="0" lang="en-HK" sz="1350" spc="-1" strike="noStrike">
              <a:latin typeface="Arial"/>
            </a:endParaRPr>
          </a:p>
        </p:txBody>
      </p:sp>
      <p:sp>
        <p:nvSpPr>
          <p:cNvPr id="811" name="Text 13"/>
          <p:cNvSpPr/>
          <p:nvPr/>
        </p:nvSpPr>
        <p:spPr>
          <a:xfrm>
            <a:off x="3441600" y="4849560"/>
            <a:ext cx="2522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Competition, facilitation, networks</a:t>
            </a:r>
            <a:endParaRPr b="0" lang="en-HK" sz="1200" spc="-1" strike="noStrike">
              <a:latin typeface="Arial"/>
            </a:endParaRPr>
          </a:p>
        </p:txBody>
      </p:sp>
      <p:sp>
        <p:nvSpPr>
          <p:cNvPr id="812" name="Shape 14"/>
          <p:cNvSpPr/>
          <p:nvPr/>
        </p:nvSpPr>
        <p:spPr>
          <a:xfrm>
            <a:off x="6197400" y="4087440"/>
            <a:ext cx="2751120" cy="114156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13" name="Shape 15"/>
          <p:cNvSpPr/>
          <p:nvPr/>
        </p:nvSpPr>
        <p:spPr>
          <a:xfrm>
            <a:off x="6378480" y="4239720"/>
            <a:ext cx="227160" cy="227160"/>
          </a:xfrm>
          <a:custGeom>
            <a:avLst/>
            <a:gdLst/>
            <a:ah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w="0">
            <a:noFill/>
          </a:ln>
        </p:spPr>
        <p:style>
          <a:lnRef idx="0"/>
          <a:fillRef idx="0"/>
          <a:effectRef idx="0"/>
          <a:fontRef idx="minor"/>
        </p:style>
      </p:sp>
      <p:sp>
        <p:nvSpPr>
          <p:cNvPr id="814" name="Text 16"/>
          <p:cNvSpPr/>
          <p:nvPr/>
        </p:nvSpPr>
        <p:spPr>
          <a:xfrm>
            <a:off x="6350040" y="4544640"/>
            <a:ext cx="253224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Dynamics</a:t>
            </a:r>
            <a:endParaRPr b="0" lang="en-HK" sz="1350" spc="-1" strike="noStrike">
              <a:latin typeface="Arial"/>
            </a:endParaRPr>
          </a:p>
        </p:txBody>
      </p:sp>
      <p:sp>
        <p:nvSpPr>
          <p:cNvPr id="815" name="Text 17"/>
          <p:cNvSpPr/>
          <p:nvPr/>
        </p:nvSpPr>
        <p:spPr>
          <a:xfrm>
            <a:off x="6350040" y="4849560"/>
            <a:ext cx="2522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Disturbance, succession, dispersal</a:t>
            </a:r>
            <a:endParaRPr b="0" lang="en-HK" sz="1200" spc="-1" strike="noStrike">
              <a:latin typeface="Arial"/>
            </a:endParaRPr>
          </a:p>
        </p:txBody>
      </p:sp>
      <p:sp>
        <p:nvSpPr>
          <p:cNvPr id="816" name="Shape 18"/>
          <p:cNvSpPr/>
          <p:nvPr/>
        </p:nvSpPr>
        <p:spPr>
          <a:xfrm>
            <a:off x="380880" y="5459040"/>
            <a:ext cx="8571240" cy="1217880"/>
          </a:xfrm>
          <a:custGeom>
            <a:avLst/>
            <a:gdLst/>
            <a:ah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w="0">
            <a:noFill/>
          </a:ln>
        </p:spPr>
        <p:style>
          <a:lnRef idx="0"/>
          <a:fillRef idx="0"/>
          <a:effectRef idx="0"/>
          <a:fontRef idx="minor"/>
        </p:style>
      </p:sp>
      <p:sp>
        <p:nvSpPr>
          <p:cNvPr id="817" name="Shape 19"/>
          <p:cNvSpPr/>
          <p:nvPr/>
        </p:nvSpPr>
        <p:spPr>
          <a:xfrm>
            <a:off x="605880" y="5702040"/>
            <a:ext cx="148680" cy="169920"/>
          </a:xfrm>
          <a:custGeom>
            <a:avLst/>
            <a:gdLst/>
            <a:ah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w="0">
            <a:noFill/>
          </a:ln>
        </p:spPr>
        <p:style>
          <a:lnRef idx="0"/>
          <a:fillRef idx="0"/>
          <a:effectRef idx="0"/>
          <a:fontRef idx="minor"/>
        </p:style>
      </p:sp>
      <p:sp>
        <p:nvSpPr>
          <p:cNvPr id="818" name="Text 20"/>
          <p:cNvSpPr/>
          <p:nvPr/>
        </p:nvSpPr>
        <p:spPr>
          <a:xfrm>
            <a:off x="847800" y="5649480"/>
            <a:ext cx="7999560" cy="836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ffffff"/>
                </a:solidFill>
                <a:latin typeface="Quattrocento Sans"/>
                <a:ea typeface="Quattrocento Sans"/>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2026-03-18T10:33:32Z</dcterms:created>
  <dc:creator>Kimi</dc:creator>
  <dc:description/>
  <dc:language>en-HK</dc:language>
  <cp:lastModifiedBy/>
  <dcterms:modified xsi:type="dcterms:W3CDTF">2026-04-05T16:24:56Z</dcterms:modified>
  <cp:revision>3</cp:revision>
  <dc:subject>Ecosystem Mechanisms for Maintaining Biodiversity in Natural Forests</dc:subject>
  <dc:title>Ecosystem Mechanisms for Maintaining Biodiversity in Natural 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